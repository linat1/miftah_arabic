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D5-L01 (Hobbies and Free Time — Vocabulary and Present Habits) — new practice tasks built on the lesson’s own word bank and grammar (the right verb for each hobby: yalʿabu (games, ball sports) · yumārisu (sport in general) · yaʿzifu ʿalā (an instrument) · yastamiʿu ilā (music) · yaqraʾu · yarsumu; frequency (marratan · marratayni · thalātha marrātin fī al-usbūʿ); preference: ufaḍḍilu … ʿalā … li-anna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D5-L01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leader to a girl: هِوَايَاتُكِ · تَلْعَبِينَ · تُفَضِّلِينَ · عِنْدَكِ. yalʿabu + game · yaʿzifu ʿalā + instrument · ufaḍḍilu X ʿalā 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Hobbies and Free Time — Vocabulary and Present Habits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الهِوَايَاتُ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50" dirty="0">
                <a:solidFill>
                  <a:srgbClr val="C6D2E6"/>
                </a:solidFill>
                <a:latin typeface="Calibri" pitchFamily="34" charset="0"/>
                <a:cs typeface="Amiri" pitchFamily="2" charset="-78"/>
              </a:rPr>
              <a:t>Students run their own speaking and writing practice about hobbies: say each hobby with its verb, act a short dialogue, answer question cards, do a role-play card joining a youth club, give a one-minute talk about free time, then build, fix and write a profile for a pen-pal website.</a:t>
            </a:r>
            <a:endParaRPr lang="en-US" sz="13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D5-L01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(1)</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 / هِوَايَاتٌ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hobby / hobbies</a:t>
            </a:r>
            <a:endParaRPr lang="en-US" sz="1350" dirty="0"/>
          </a:p>
          <a:p>
            <a:pPr indent="0" marL="0">
              <a:buNone/>
            </a:pPr>
            <a:r>
              <a:rPr lang="en-US" sz="1100" i="1" dirty="0">
                <a:solidFill>
                  <a:srgbClr val="5A6472"/>
                </a:solidFill>
                <a:latin typeface="Calibri" pitchFamily="34" charset="0"/>
                <a:cs typeface="Amiri" pitchFamily="2" charset="-78"/>
              </a:rPr>
              <a:t>hi-wā-ya-tun / hi-wā-yā-tun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the plural is sound feminine.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الفَرَاغِ</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al-fa-rā-ghi</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An iḍāfa: no tanwīn on </a:t>
            </a:r>
            <a:pPr algn="l" indent="0" marL="0">
              <a:buNone/>
            </a:pPr>
            <a:r>
              <a:rPr lang="ar-SA" altLang="en-US" sz="1300" dirty="0">
                <a:solidFill>
                  <a:srgbClr val="8A6D1E"/>
                </a:solidFill>
                <a:latin typeface="Amiri" pitchFamily="2" charset="-78"/>
                <a:ea typeface="Amiri" pitchFamily="2" charset="-78"/>
                <a:cs typeface="Amiri" pitchFamily="2" charset="-78"/>
              </a:rPr>
              <a:t>وَقْتُ</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36" name="Shape 3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8" name="Text 3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يُمَارِسُ الرِّيَاضَةَ</a:t>
            </a:r>
            <a:endParaRPr lang="ar-SA" sz="3000" dirty="0"/>
          </a:p>
        </p:txBody>
      </p:sp>
      <p:sp>
        <p:nvSpPr>
          <p:cNvPr id="39" name="Text 3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practises sport</a:t>
            </a:r>
            <a:endParaRPr lang="en-US" sz="1350" dirty="0"/>
          </a:p>
          <a:p>
            <a:pPr indent="0" marL="0">
              <a:buNone/>
            </a:pPr>
            <a:r>
              <a:rPr lang="en-US" sz="1100" i="1" dirty="0">
                <a:solidFill>
                  <a:srgbClr val="5A6472"/>
                </a:solidFill>
                <a:latin typeface="Calibri" pitchFamily="34" charset="0"/>
                <a:cs typeface="Amiri" pitchFamily="2" charset="-78"/>
              </a:rPr>
              <a:t>yu-mā-ri-su ar-ri-yā-ḍa-ta</a:t>
            </a:r>
            <a:endParaRPr lang="en-US" sz="1350" dirty="0"/>
          </a:p>
        </p:txBody>
      </p:sp>
      <p:sp>
        <p:nvSpPr>
          <p:cNvPr id="40" name="Shape 3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2" name="Text 3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تُمَارِسُ</a:t>
            </a:r>
            <a:endParaRPr lang="ar-SA" sz="1500" dirty="0"/>
          </a:p>
        </p:txBody>
      </p:sp>
      <p:sp>
        <p:nvSpPr>
          <p:cNvPr id="43" name="Shape 4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45" name="Text 4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أُمَارِسُ</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50" name="Text 4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51" name="Shape 4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3" name="Text 50"/>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يَلْعَبُ كُرَةَ القَدَمِ</a:t>
            </a:r>
            <a:endParaRPr lang="ar-SA" sz="3000" dirty="0"/>
          </a:p>
        </p:txBody>
      </p:sp>
      <p:sp>
        <p:nvSpPr>
          <p:cNvPr id="54" name="Text 51"/>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football</a:t>
            </a:r>
            <a:endParaRPr lang="en-US" sz="1350" dirty="0"/>
          </a:p>
          <a:p>
            <a:pPr indent="0" marL="0">
              <a:buNone/>
            </a:pPr>
            <a:r>
              <a:rPr lang="en-US" sz="1100" i="1" dirty="0">
                <a:solidFill>
                  <a:srgbClr val="5A6472"/>
                </a:solidFill>
                <a:latin typeface="Calibri" pitchFamily="34" charset="0"/>
                <a:cs typeface="Amiri" pitchFamily="2" charset="-78"/>
              </a:rPr>
              <a:t>yal-ʿa-bu ku-ra-ta al-qa-da-mi</a:t>
            </a:r>
            <a:endParaRPr lang="en-US" sz="1350" dirty="0"/>
          </a:p>
        </p:txBody>
      </p:sp>
      <p:sp>
        <p:nvSpPr>
          <p:cNvPr id="55" name="Shape 52"/>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57" name="Text 54"/>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تَلْعَبُ</a:t>
            </a:r>
            <a:endParaRPr lang="ar-SA" sz="1500" dirty="0"/>
          </a:p>
        </p:txBody>
      </p:sp>
      <p:sp>
        <p:nvSpPr>
          <p:cNvPr id="58" name="Shape 55"/>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9" name="Text 56"/>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60" name="Text 57"/>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أَلْعَبُ</a:t>
            </a:r>
            <a:endParaRPr lang="ar-SA" sz="1500" dirty="0"/>
          </a:p>
        </p:txBody>
      </p:sp>
      <p:sp>
        <p:nvSpPr>
          <p:cNvPr id="61" name="Shape 5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4389120"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4" name="Shape 6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5" name="Text 6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6" name="Text 6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السِّبَاحَةُ / يَسْبَحُ</a:t>
            </a:r>
            <a:endParaRPr lang="ar-SA" sz="3000" dirty="0"/>
          </a:p>
        </p:txBody>
      </p:sp>
      <p:sp>
        <p:nvSpPr>
          <p:cNvPr id="67" name="Text 6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swimming / swims</a:t>
            </a:r>
            <a:endParaRPr lang="en-US" sz="1350" dirty="0"/>
          </a:p>
          <a:p>
            <a:pPr indent="0" marL="0">
              <a:buNone/>
            </a:pPr>
            <a:r>
              <a:rPr lang="en-US" sz="1100" i="1" dirty="0">
                <a:solidFill>
                  <a:srgbClr val="5A6472"/>
                </a:solidFill>
                <a:latin typeface="Calibri" pitchFamily="34" charset="0"/>
                <a:cs typeface="Amiri" pitchFamily="2" charset="-78"/>
              </a:rPr>
              <a:t>as-si-bā-ḥa-tu / yas-ba-ḥu</a:t>
            </a:r>
            <a:endParaRPr lang="en-US" sz="1350" dirty="0"/>
          </a:p>
        </p:txBody>
      </p:sp>
      <p:sp>
        <p:nvSpPr>
          <p:cNvPr id="68" name="Text 6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syllabus lists the verbal noun </a:t>
            </a:r>
            <a:pPr algn="l" indent="0" marL="0">
              <a:buNone/>
            </a:pPr>
            <a:r>
              <a:rPr lang="ar-SA" altLang="en-US" sz="1300" dirty="0">
                <a:solidFill>
                  <a:srgbClr val="8A6D1E"/>
                </a:solidFill>
                <a:latin typeface="Amiri" pitchFamily="2" charset="-78"/>
                <a:ea typeface="Amiri" pitchFamily="2" charset="-78"/>
                <a:cs typeface="Amiri" pitchFamily="2" charset="-78"/>
              </a:rPr>
              <a:t>السِّبَاحَةُ</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69" name="Shape 6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66928"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2" name="Shape 69"/>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3" name="Text 70"/>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4" name="Text 7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الرَّسْمُ / يَرْسُمُ</a:t>
            </a:r>
            <a:endParaRPr lang="ar-SA" sz="3000" dirty="0"/>
          </a:p>
        </p:txBody>
      </p:sp>
      <p:sp>
        <p:nvSpPr>
          <p:cNvPr id="75" name="Text 7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drawing / draws</a:t>
            </a:r>
            <a:endParaRPr lang="en-US" sz="1350" dirty="0"/>
          </a:p>
          <a:p>
            <a:pPr indent="0" marL="0">
              <a:buNone/>
            </a:pPr>
            <a:r>
              <a:rPr lang="en-US" sz="1100" i="1" dirty="0">
                <a:solidFill>
                  <a:srgbClr val="5A6472"/>
                </a:solidFill>
                <a:latin typeface="Calibri" pitchFamily="34" charset="0"/>
                <a:cs typeface="Amiri" pitchFamily="2" charset="-78"/>
              </a:rPr>
              <a:t>ar-ras-mu / yar-su-mu</a:t>
            </a:r>
            <a:endParaRPr lang="en-US" sz="1350" dirty="0"/>
          </a:p>
        </p:txBody>
      </p:sp>
      <p:sp>
        <p:nvSpPr>
          <p:cNvPr id="76" name="Text 7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syllabus lists the verbal noun </a:t>
            </a:r>
            <a:pPr algn="l" indent="0" marL="0">
              <a:buNone/>
            </a:pPr>
            <a:r>
              <a:rPr lang="ar-SA" altLang="en-US" sz="1300" dirty="0">
                <a:solidFill>
                  <a:srgbClr val="8A6D1E"/>
                </a:solidFill>
                <a:latin typeface="Amiri" pitchFamily="2" charset="-78"/>
                <a:ea typeface="Amiri" pitchFamily="2" charset="-78"/>
                <a:cs typeface="Amiri" pitchFamily="2" charset="-78"/>
              </a:rPr>
              <a:t>الرَّسْمُ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Hobbies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يَعْزِفُ عَلَى العُودِ</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plays the oud</a:t>
            </a:r>
            <a:endParaRPr lang="en-US" sz="1350" dirty="0"/>
          </a:p>
          <a:p>
            <a:pPr indent="0" marL="0">
              <a:buNone/>
            </a:pPr>
            <a:r>
              <a:rPr lang="en-US" sz="1100" i="1" dirty="0">
                <a:solidFill>
                  <a:srgbClr val="5A6472"/>
                </a:solidFill>
                <a:latin typeface="Calibri" pitchFamily="34" charset="0"/>
                <a:cs typeface="Amiri" pitchFamily="2" charset="-78"/>
              </a:rPr>
              <a:t>yaʿ-zi-fu ʿa-lā al-ʿū-di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تَعْزِفُ</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أَعْزِفُ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القِرَاءَةُ / يَقْرَأُ</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reading / reads</a:t>
            </a:r>
            <a:endParaRPr lang="en-US" sz="1350" dirty="0"/>
          </a:p>
          <a:p>
            <a:pPr indent="0" marL="0">
              <a:buNone/>
            </a:pPr>
            <a:r>
              <a:rPr lang="en-US" sz="1100" i="1" dirty="0">
                <a:solidFill>
                  <a:srgbClr val="5A6472"/>
                </a:solidFill>
                <a:latin typeface="Calibri" pitchFamily="34" charset="0"/>
                <a:cs typeface="Amiri" pitchFamily="2" charset="-78"/>
              </a:rPr>
              <a:t>al-qi-rā-ʾa-tu / yaq-ra-ʾu</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 · she</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يَسْتَمِعُ إِلَى المُوسِيقَى</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listens to music</a:t>
            </a:r>
            <a:endParaRPr lang="en-US" sz="1350" dirty="0"/>
          </a:p>
          <a:p>
            <a:pPr indent="0" marL="0">
              <a:buNone/>
            </a:pPr>
            <a:r>
              <a:rPr lang="en-US" sz="1100" i="1" dirty="0">
                <a:solidFill>
                  <a:srgbClr val="5A6472"/>
                </a:solidFill>
                <a:latin typeface="Calibri" pitchFamily="34" charset="0"/>
                <a:cs typeface="Amiri" pitchFamily="2" charset="-78"/>
              </a:rPr>
              <a:t>yas-ta-mi-ʿu i-lā al-mū-sī-qā</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تَسْتَمِعُ</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I</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أَسْتَمِعُ</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5" name="Shape 5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6" name="Text 5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7" name="Text 5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فِي الأُسْبُوعِ</a:t>
            </a:r>
            <a:endParaRPr lang="ar-SA" sz="3000" dirty="0"/>
          </a:p>
        </p:txBody>
      </p:sp>
      <p:sp>
        <p:nvSpPr>
          <p:cNvPr id="58" name="Text 5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a week</a:t>
            </a:r>
            <a:endParaRPr lang="en-US" sz="1350" dirty="0"/>
          </a:p>
          <a:p>
            <a:pPr indent="0" marL="0">
              <a:buNone/>
            </a:pPr>
            <a:r>
              <a:rPr lang="en-US" sz="1100" i="1" dirty="0">
                <a:solidFill>
                  <a:srgbClr val="5A6472"/>
                </a:solidFill>
                <a:latin typeface="Calibri" pitchFamily="34" charset="0"/>
                <a:cs typeface="Amiri" pitchFamily="2" charset="-78"/>
              </a:rPr>
              <a:t>mar-ra-tan fī al-us-bū-ʿi</a:t>
            </a:r>
            <a:endParaRPr lang="en-US" sz="1350" dirty="0"/>
          </a:p>
        </p:txBody>
      </p:sp>
      <p:sp>
        <p:nvSpPr>
          <p:cNvPr id="59" name="Text 56"/>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مَرَّةً</a:t>
            </a:r>
            <a:pPr algn="l" indent="0" marL="0">
              <a:buNone/>
            </a:pPr>
            <a:r>
              <a:rPr lang="en-US" sz="1000" i="1" dirty="0">
                <a:solidFill>
                  <a:srgbClr val="8A6D1E"/>
                </a:solidFill>
                <a:latin typeface="Calibri" pitchFamily="34" charset="0"/>
                <a:cs typeface="Amiri" pitchFamily="2" charset="-78"/>
              </a:rPr>
              <a:t> is adverbial, so it is accusative.</a:t>
            </a:r>
            <a:endParaRPr lang="en-US" sz="1000" dirty="0"/>
          </a:p>
        </p:txBody>
      </p:sp>
      <p:sp>
        <p:nvSpPr>
          <p:cNvPr id="60" name="Shape 5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4389120"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63" name="Shape 6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مَرَّتَيْنِ فِي الأُسْبُوعِ</a:t>
            </a:r>
            <a:endParaRPr lang="ar-SA" sz="3000" dirty="0"/>
          </a:p>
        </p:txBody>
      </p:sp>
      <p:sp>
        <p:nvSpPr>
          <p:cNvPr id="66" name="Text 6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twice a week</a:t>
            </a:r>
            <a:endParaRPr lang="en-US" sz="1350" dirty="0"/>
          </a:p>
          <a:p>
            <a:pPr indent="0" marL="0">
              <a:buNone/>
            </a:pPr>
            <a:r>
              <a:rPr lang="en-US" sz="1100" i="1" dirty="0">
                <a:solidFill>
                  <a:srgbClr val="5A6472"/>
                </a:solidFill>
                <a:latin typeface="Calibri" pitchFamily="34" charset="0"/>
                <a:cs typeface="Amiri" pitchFamily="2" charset="-78"/>
              </a:rPr>
              <a:t>mar-ra-tay-ni fī al-us-bū-ʿi</a:t>
            </a:r>
            <a:endParaRPr lang="en-US" sz="1350" dirty="0"/>
          </a:p>
        </p:txBody>
      </p:sp>
      <p:sp>
        <p:nvSpPr>
          <p:cNvPr id="67" name="Text 6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مَرَّتَيْنِ</a:t>
            </a:r>
            <a:pPr algn="l" indent="0" marL="0">
              <a:buNone/>
            </a:pPr>
            <a:r>
              <a:rPr lang="en-US" sz="1000" i="1" dirty="0">
                <a:solidFill>
                  <a:srgbClr val="8A6D1E"/>
                </a:solidFill>
                <a:latin typeface="Calibri" pitchFamily="34" charset="0"/>
                <a:cs typeface="Amiri" pitchFamily="2" charset="-78"/>
              </a:rPr>
              <a:t> is the dual — revise the dual from F3.</a:t>
            </a:r>
            <a:endParaRPr lang="en-US" sz="1000" dirty="0"/>
          </a:p>
        </p:txBody>
      </p:sp>
      <p:sp>
        <p:nvSpPr>
          <p:cNvPr id="68" name="Shape 6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566928"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71" name="Shape 6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72" name="Text 6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3" name="Text 7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 عَلَى …</a:t>
            </a:r>
            <a:endParaRPr lang="ar-SA" sz="3000" dirty="0"/>
          </a:p>
        </p:txBody>
      </p:sp>
      <p:sp>
        <p:nvSpPr>
          <p:cNvPr id="74" name="Text 7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prefer … to …</a:t>
            </a:r>
            <a:endParaRPr lang="en-US" sz="1350" dirty="0"/>
          </a:p>
          <a:p>
            <a:pPr indent="0" marL="0">
              <a:buNone/>
            </a:pPr>
            <a:r>
              <a:rPr lang="en-US" sz="1100" i="1" dirty="0">
                <a:solidFill>
                  <a:srgbClr val="5A6472"/>
                </a:solidFill>
                <a:latin typeface="Calibri" pitchFamily="34" charset="0"/>
                <a:cs typeface="Amiri" pitchFamily="2" charset="-78"/>
              </a:rPr>
              <a:t>u-faḍ-ḍi-lu … ʿa-lā …</a:t>
            </a:r>
            <a:endParaRPr lang="en-US" sz="1350" dirty="0"/>
          </a:p>
        </p:txBody>
      </p:sp>
      <p:sp>
        <p:nvSpPr>
          <p:cNvPr id="75" name="Text 72"/>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thing preferred less follows </a:t>
            </a:r>
            <a:pPr algn="l" indent="0" marL="0">
              <a:buNone/>
            </a:pPr>
            <a:r>
              <a:rPr lang="ar-SA" altLang="en-US" sz="1300" dirty="0">
                <a:solidFill>
                  <a:srgbClr val="8A6D1E"/>
                </a:solidFill>
                <a:latin typeface="Amiri" pitchFamily="2" charset="-78"/>
                <a:ea typeface="Amiri" pitchFamily="2" charset="-78"/>
                <a:cs typeface="Amiri" pitchFamily="2" charset="-78"/>
              </a:rPr>
              <a:t>عَلَى</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do in your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تَفْعَلِينَ فِي وَقْتِ فَرَاغِكِ؟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do in your free time?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تَفْعَلِينَ فِي وَقْتِ فَرَاغِكِ؟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play the oud, and I listen to Arabic music.</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أَعْزِفُ عَلَى العُودِ، وَأَسْتَمِعُ إِلَى المُوسِيقَى العَرَبِيَّةِ.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practise?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كَمْ مَرَّةً تَتَدَرَّبِينَ؟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Three times a week, with my teacher.</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ثَلَاثَ مَرَّاتٍ فِي الأُسْبُوعِ، مَعَ مُعَلِّمَتِي.</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do sport?</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تُمَارِسِينَ الرِّيَاضَةَ؟</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 I play volleyball, but I prefer music to sport because it relaxes me.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أَلْعَبُ كُرَةَ الطَّائِرَةِ، وَلٰكِنْ أُفَضِّلُ المُوسِيقَى عَلَى الرِّيَاضَةِ لِأَنَّهَا تُرِيحُنِي.</a:t>
            </a:r>
            <a:endParaRPr lang="ar-SA" sz="18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hobbies — change the questions for a boy (</a:t>
            </a:r>
            <a:pPr algn="l" indent="0" marL="0">
              <a:buNone/>
            </a:pPr>
            <a:r>
              <a:rPr lang="ar-SA" altLang="en-US" sz="1500" b="1" dirty="0">
                <a:solidFill>
                  <a:srgbClr val="1B3B6F"/>
                </a:solidFill>
                <a:latin typeface="Amiri" pitchFamily="2" charset="-78"/>
                <a:ea typeface="Amiri" pitchFamily="2" charset="-78"/>
                <a:cs typeface="Amiri" pitchFamily="2" charset="-78"/>
              </a:rPr>
              <a:t>تَفْعَلُ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تَتَدَرَّبُ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وَأُحِبُّ أَيْضًا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أَلْعَبُ … / أَرْسُمُ … / أَقْرَأُ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are your hobbies?</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هِوَايَاتُكَ؟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56648" y="3004718"/>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lnSpc>
                <a:spcPct val="120000"/>
              </a:lnSpc>
              <a:buNone/>
            </a:pPr>
            <a:r>
              <a:rPr lang="ar-SA" altLang="en-US" sz="1300" b="1" dirty="0">
                <a:solidFill>
                  <a:srgbClr val="1B3B6F"/>
                </a:solidFill>
                <a:latin typeface="Amiri" pitchFamily="2" charset="-78"/>
                <a:ea typeface="Amiri" pitchFamily="2" charset="-78"/>
                <a:cs typeface="Amiri" pitchFamily="2" charset="-78"/>
              </a:rPr>
              <a:t>نَعَمْ، أَعْزِفُ عَلَى … / لَا، وَلٰكِنْ أَسْتَمِعُ إِلَى …</a:t>
            </a:r>
            <a:endParaRPr lang="ar-SA" sz="13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play an instrument?</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تَعْزِفُ عَلَى آلَةٍ مُوسِيقِيَّةٍ؟</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عَادَةً فِي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أُمَارِسُ الرِّيَاضَةَ … مَرَّاتٍ فِي الأُسْبُوعِ</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do you do sport?</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تُمَارِسُ الرِّيَاضَةَ؟</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56648" y="4478731"/>
            <a:ext cx="190195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أُحِبُّ … لِأَنَّهُ / لِأَنَّهَا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hobby don’t you like?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الهِوَايَةُ الَّتِي لَا تُحِبُّهَا؟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عَلَى … لِأَنَّ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Reading or video games?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أَيُّهُمَا تُفَضِّلُ: القِرَاءَةَ أَمِ الأَلْعَابَ الإِلِكْتِرُونِيَّةَ؟</a:t>
            </a:r>
            <a:endParaRPr lang="ar-SA" sz="155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Role-play card — joining a youth club</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نَادِي الشَّبَابِ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هِوَايَاتِي ← أَلْعَبُ … وَأَرْسُمُ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hobbies, right verbs.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مَرْحَبًا! مَا هِوَايَاتُكَ؟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 مَرَّاتٍ فِي الأُسْبُوعِ</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Frequency.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تَلْعَبُ الشِّطْرَنْجَ؟</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Preference + reason.</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lnSpc>
                <a:spcPct val="120000"/>
              </a:lnSpc>
              <a:buNone/>
            </a:pPr>
            <a:r>
              <a:rPr lang="ar-SA" altLang="en-US" sz="1600" b="1" dirty="0">
                <a:solidFill>
                  <a:srgbClr val="1B3B6F"/>
                </a:solidFill>
                <a:latin typeface="Amiri" pitchFamily="2" charset="-78"/>
                <a:ea typeface="Amiri" pitchFamily="2" charset="-78"/>
                <a:cs typeface="Amiri" pitchFamily="2" charset="-78"/>
              </a:rPr>
              <a:t>عِنْدَنَا نَادِي المُوسِيقَى وَنَادِي الرِّيَاضَةِ. أَيُّهُمَا تُفَضِّلُ؟</a:t>
            </a:r>
            <a:endParaRPr lang="ar-SA" sz="16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مَتَى عِنْدَكَ وَقْتُ فَرَاغٍ؟</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new member · Leader = the club leader.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my free time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وَقْتُ فَرَاغِي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four hobbies: what, how often, with whom, and which you prefer.</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hobbies with the right verb.</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frequency (</a:t>
            </a:r>
            <a:pPr algn="l" indent="0" marL="0">
              <a:buNone/>
            </a:pPr>
            <a:r>
              <a:rPr lang="ar-SA" altLang="en-US" sz="1500" dirty="0">
                <a:solidFill>
                  <a:srgbClr val="1F2A37"/>
                </a:solidFill>
                <a:latin typeface="Amiri" pitchFamily="2" charset="-78"/>
                <a:ea typeface="Amiri" pitchFamily="2" charset="-78"/>
                <a:cs typeface="Amiri" pitchFamily="2" charset="-78"/>
              </a:rPr>
              <a:t>مَرَّتَيْنِ / ثَلَاثَ مَرَّاتٍ</a:t>
            </a:r>
            <a:pPr algn="l" indent="0" marL="0">
              <a:buNone/>
            </a:pPr>
            <a:r>
              <a:rPr lang="en-US" sz="1150" dirty="0">
                <a:solidFill>
                  <a:srgbClr val="1F2A37"/>
                </a:solidFill>
                <a:latin typeface="Calibri" pitchFamily="34" charset="0"/>
                <a:cs typeface="Amiri" pitchFamily="2" charset="-78"/>
              </a:rPr>
              <a:t>) and with whom.</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أُفَضِّلُ … عَلَى … لِأَنَّ</a:t>
            </a:r>
            <a:pPr algn="l" indent="0" marL="0">
              <a:buNone/>
            </a:pPr>
            <a:r>
              <a:rPr lang="en-US" sz="1150" dirty="0">
                <a:solidFill>
                  <a:srgbClr val="1F2A37"/>
                </a:solidFill>
                <a:latin typeface="Calibri" pitchFamily="34" charset="0"/>
                <a:cs typeface="Amiri" pitchFamily="2" charset="-78"/>
              </a:rPr>
              <a:t> … and a hobby you want to try.</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play the oud twice a week.</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أَعْزِفُ</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أَلْعَبُ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العُودِ</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العُودَ</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مَرَّتَيْنِ فِي الأُسْبُوعِ.</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مَرَّتَانِ فِي الأُسْبُوعِ.</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brother listens to the radio.</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أَخِي</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يَسْتَمِعُ أَخُو</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الرَّادْيُو.</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بِالرَّادْيُو.</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prefer swimming to running.</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أُفَضِّلَ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السِّبَاحَةَ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السِّبَاحَةُ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الجَرْيِ.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الجَرْيِ.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play the oud twice a week.</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Instrument → </a:t>
            </a:r>
            <a:pPr algn="l" indent="0" marL="0">
              <a:buNone/>
            </a:pPr>
            <a:r>
              <a:rPr lang="ar-SA" altLang="en-US" sz="1350" dirty="0">
                <a:solidFill>
                  <a:srgbClr val="5A6472"/>
                </a:solidFill>
                <a:latin typeface="Amiri" pitchFamily="2" charset="-78"/>
                <a:ea typeface="Amiri" pitchFamily="2" charset="-78"/>
                <a:cs typeface="Amiri" pitchFamily="2" charset="-78"/>
              </a:rPr>
              <a:t>أَعْزِفُ عَلَى</a:t>
            </a:r>
            <a:pPr algn="l" indent="0" marL="0">
              <a:buNone/>
            </a:pPr>
            <a:r>
              <a:rPr lang="en-US" sz="1050" i="1" dirty="0">
                <a:solidFill>
                  <a:srgbClr val="5A6472"/>
                </a:solidFill>
                <a:latin typeface="Calibri" pitchFamily="34" charset="0"/>
                <a:cs typeface="Amiri" pitchFamily="2" charset="-78"/>
              </a:rPr>
              <a:t>; twice = </a:t>
            </a:r>
            <a:pPr algn="l" indent="0" marL="0">
              <a:buNone/>
            </a:pPr>
            <a:r>
              <a:rPr lang="ar-SA" altLang="en-US" sz="1350" dirty="0">
                <a:solidFill>
                  <a:srgbClr val="5A6472"/>
                </a:solidFill>
                <a:latin typeface="Amiri" pitchFamily="2" charset="-78"/>
                <a:ea typeface="Amiri" pitchFamily="2" charset="-78"/>
                <a:cs typeface="Amiri" pitchFamily="2" charset="-78"/>
              </a:rPr>
              <a:t>مَرَّتَيْنِ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أَعْزِفُ عَلَى العُودِ مَرَّتَيْنِ فِي الأُسْبُوعِ.</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brother listens to the radio.</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يَسْتَمِعُ إِلَى</a:t>
            </a:r>
            <a:pPr algn="l" indent="0" marL="0">
              <a:buNone/>
            </a:pPr>
            <a:r>
              <a:rPr lang="en-US" sz="1050" i="1" dirty="0">
                <a:solidFill>
                  <a:srgbClr val="5A6472"/>
                </a:solidFill>
                <a:latin typeface="Calibri" pitchFamily="34" charset="0"/>
                <a:cs typeface="Amiri" pitchFamily="2" charset="-78"/>
              </a:rPr>
              <a:t> …</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يَسْتَمِعُ أَخِي إِلَى الرَّادْيُو.</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prefer swimming to running.</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أُفَضِّلُ</a:t>
            </a:r>
            <a:pPr algn="l" indent="0" marL="0">
              <a:buNone/>
            </a:pPr>
            <a:r>
              <a:rPr lang="en-US" sz="1050" i="1" dirty="0">
                <a:solidFill>
                  <a:srgbClr val="5A6472"/>
                </a:solidFill>
                <a:latin typeface="Calibri" pitchFamily="34" charset="0"/>
                <a:cs typeface="Amiri" pitchFamily="2" charset="-78"/>
              </a:rPr>
              <a:t> X (-a) </a:t>
            </a:r>
            <a:pPr algn="l" indent="0" marL="0">
              <a:buNone/>
            </a:pPr>
            <a:r>
              <a:rPr lang="ar-SA" altLang="en-US" sz="1350" dirty="0">
                <a:solidFill>
                  <a:srgbClr val="5A6472"/>
                </a:solidFill>
                <a:latin typeface="Amiri" pitchFamily="2" charset="-78"/>
                <a:ea typeface="Amiri" pitchFamily="2" charset="-78"/>
                <a:cs typeface="Amiri" pitchFamily="2" charset="-78"/>
              </a:rPr>
              <a:t>عَلَى</a:t>
            </a:r>
            <a:pPr algn="l" indent="0" marL="0">
              <a:buNone/>
            </a:pPr>
            <a:r>
              <a:rPr lang="en-US" sz="1050" i="1" dirty="0">
                <a:solidFill>
                  <a:srgbClr val="5A6472"/>
                </a:solidFill>
                <a:latin typeface="Calibri" pitchFamily="34" charset="0"/>
                <a:cs typeface="Amiri" pitchFamily="2" charset="-78"/>
              </a:rPr>
              <a:t> Y.</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أُفَضِّلُ السِّبَاحَةَ عَلَى الجَرْيِ.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أَلْعَبُ عَلَى الجِيتَارِ.</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Instruments take another verb.</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أَسْتَمِعُ المُوسِيقَى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Missing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أَسْبَحُ ثَلَاثَةَ مَرَّاتٍ.</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مَرَّةٌ</a:t>
            </a:r>
            <a:pPr algn="l" indent="0" marL="0">
              <a:buNone/>
            </a:pPr>
            <a:r>
              <a:rPr lang="en-US" sz="1300" i="1" dirty="0">
                <a:solidFill>
                  <a:srgbClr val="5A6472"/>
                </a:solidFill>
                <a:latin typeface="Calibri" pitchFamily="34" charset="0"/>
                <a:cs typeface="Amiri" pitchFamily="2" charset="-78"/>
              </a:rPr>
              <a:t> is feminine.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أَلْعَبُ عَلَى الجِيتَارِ.</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أَعْزِفُ عَلَى الجِيتَارِ.</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يَعْزِفُ عَلَى</a:t>
            </a:r>
            <a:pPr algn="l" indent="0" marL="0">
              <a:buNone/>
            </a:pPr>
            <a:r>
              <a:rPr lang="en-US" sz="1150" b="1" dirty="0">
                <a:solidFill>
                  <a:srgbClr val="1B3B6F"/>
                </a:solidFill>
                <a:latin typeface="Calibri" pitchFamily="34" charset="0"/>
                <a:cs typeface="Amiri" pitchFamily="2" charset="-78"/>
              </a:rPr>
              <a:t> + instrument.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أَسْتَمِعُ المُوسِيقَى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أَسْتَمِعُ إِلَى المُوسِيقَى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rtl="1" algn="r" indent="0" marL="0">
              <a:buNone/>
            </a:pPr>
            <a:r>
              <a:rPr lang="ar-SA" altLang="en-US" sz="1450" dirty="0">
                <a:solidFill>
                  <a:srgbClr val="1B3B6F"/>
                </a:solidFill>
                <a:latin typeface="Amiri" pitchFamily="2" charset="-78"/>
                <a:ea typeface="Amiri" pitchFamily="2" charset="-78"/>
                <a:cs typeface="Amiri" pitchFamily="2" charset="-78"/>
              </a:rPr>
              <a:t>يَسْتَمِعُ إِلَى …</a:t>
            </a:r>
            <a:endParaRPr lang="ar-SA" sz="14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أَسْبَحُ ثَلَاثَةَ مَرَّاتٍ.</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أَسْبَحُ ثَلَاثَ مَرَّاتٍ.</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counted noun → </a:t>
            </a:r>
            <a:pPr algn="l" indent="0" marL="0">
              <a:buNone/>
            </a:pPr>
            <a:r>
              <a:rPr lang="ar-SA" altLang="en-US" sz="1500" b="1" dirty="0">
                <a:solidFill>
                  <a:srgbClr val="1B3B6F"/>
                </a:solidFill>
                <a:latin typeface="Amiri" pitchFamily="2" charset="-78"/>
                <a:ea typeface="Amiri" pitchFamily="2" charset="-78"/>
                <a:cs typeface="Amiri" pitchFamily="2" charset="-78"/>
              </a:rPr>
              <a:t>ثَلَاثَ</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______ عَلَى ______ ، لِأَنَّ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أُجَرِّبَ ______ فِي المُسْتَقْبَلِ.</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try … in future.</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وَقْتِ فَرَاغِي أَلْعَبُ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free time I play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أَعْزِفُ عَلَى ______ / أَسْتَمِعُ إِلَى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play … / I listen to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أُمَارِسُ ______ ______ فِي الأُسْبُوعِ مَعَ ______ .</a:t>
            </a:r>
            <a:endParaRPr lang="ar-SA" sz="15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 … … times a week with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هِوَايَةٌ · هِوَايَاتٌ  ·  وَقْتُ الفَرَاغِ  ·  أَلْعَبُ · أُمَارِسُ  ·  أَعْزِفُ عَلَى  ·  أَسْتَمِعُ إِلَى  ·  أَسْبَحُ · أَرْسُمُ  ·  مَرَّتَيْنِ · ثَلَاثَ مَرَّاتٍ  ·  أُفَضِّلُ … عَلَى …</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pen-pal profile: my hobbies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مَلَفِّي: هِوَايَاتِي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profile (about 60–80 words) for a pen-pal website. Include: • four hobbies, each with the right verb • frequency for two of them • who you do them with • one preference (</a:t>
            </a:r>
            <a:pPr algn="l" indent="0" marL="0">
              <a:buNone/>
            </a:pPr>
            <a:r>
              <a:rPr lang="ar-SA" altLang="en-US" sz="1750" b="1" dirty="0">
                <a:solidFill>
                  <a:srgbClr val="1F2A37"/>
                </a:solidFill>
                <a:latin typeface="Amiri" pitchFamily="2" charset="-78"/>
                <a:ea typeface="Amiri" pitchFamily="2" charset="-78"/>
                <a:cs typeface="Amiri" pitchFamily="2" charset="-78"/>
              </a:rPr>
              <a:t>أُفَضِّلُ … عَلَى … لِأَنَّ</a:t>
            </a:r>
            <a:pPr algn="l" indent="0" marL="0">
              <a:buNone/>
            </a:pPr>
            <a:r>
              <a:rPr lang="en-US" sz="1350" b="1" dirty="0">
                <a:solidFill>
                  <a:srgbClr val="1F2A37"/>
                </a:solidFill>
                <a:latin typeface="Calibri" pitchFamily="34" charset="0"/>
                <a:cs typeface="Amiri" pitchFamily="2" charset="-78"/>
              </a:rPr>
              <a:t> …) • a hobby you don’t like and why.</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أَلْعَبُ … · أُمَارِسُ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play … · I do (sport)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أَعْزِفُ عَلَى … · أَسْتَمِعُ إِلَى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play (instrument) … · I listen to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مَرَّتَيْنِ / ثَلَاثَ مَرَّاتٍ فِي الأُسْبُوعِ</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twice / three times a week</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أُفَضِّلُ … عَلَى … لِأَنَّ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prefer … to … because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for every hobby (</a:t>
            </a:r>
            <a:pPr algn="l" indent="0" marL="0">
              <a:buNone/>
            </a:pPr>
            <a:r>
              <a:rPr lang="ar-SA" altLang="en-US" sz="1450" dirty="0">
                <a:solidFill>
                  <a:srgbClr val="5A6472"/>
                </a:solidFill>
                <a:latin typeface="Amiri" pitchFamily="2" charset="-78"/>
                <a:ea typeface="Amiri" pitchFamily="2" charset="-78"/>
                <a:cs typeface="Amiri" pitchFamily="2" charset="-78"/>
              </a:rPr>
              <a:t>أَلْعَبُ</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أَعْزِفُ عَلَى</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أَسْتَمِعُ إِلَى</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frequencies and a preference with </a:t>
            </a:r>
            <a:pPr algn="l" indent="0" marL="0">
              <a:buNone/>
            </a:pPr>
            <a:r>
              <a:rPr lang="ar-SA" altLang="en-US" sz="1450" dirty="0">
                <a:solidFill>
                  <a:srgbClr val="5A6472"/>
                </a:solidFill>
                <a:latin typeface="Amiri" pitchFamily="2" charset="-78"/>
                <a:ea typeface="Amiri" pitchFamily="2" charset="-78"/>
                <a:cs typeface="Amiri" pitchFamily="2" charset="-78"/>
              </a:rPr>
              <a:t>عَلَى</a:t>
            </a:r>
            <a:pPr algn="l" indent="0" marL="0">
              <a:buNone/>
            </a:pPr>
            <a:r>
              <a:rPr lang="en-US" sz="1100" dirty="0">
                <a:solidFill>
                  <a:srgbClr val="5A6472"/>
                </a:solidFill>
                <a:latin typeface="Calibri" pitchFamily="34" charset="0"/>
                <a:cs typeface="Amiri" pitchFamily="2" charset="-78"/>
              </a:rPr>
              <a:t> and a reason?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أَلْعَبُ الشِّطْرَنْجَ، وَأَرْسُمُ بِالأَلْوَانِ المَائِيَّةِ.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play chess, and I paint with watercolours.</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مَرْحَبًا! مَا هِوَايَاتُكَ؟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مَرَّتَيْنِ فِي الأُسْبُوعِ، عَادَةً مَعَ جَدِّي.</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Twice a week, usually with my grandfather.</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تَلْعَبُ الشِّطْرَنْجَ؟</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نَادِي المُوسِيقَى عَلَى نَادِي الرِّيَاضَةِ، لِأَنَّنِي أُرِيدُ أَنْ أَتَعَلَّمَ العَزْفَ عَلَى النَّايِ.</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prefer the music club to the sports club, because I want to learn to play the nay.</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عِنْدَنَا نَادِي المُوسِيقَى وَنَادِي الرِّيَاضَةِ. أَيُّهُمَا تُفَضِّلُ؟</a:t>
            </a:r>
            <a:endParaRPr lang="ar-SA" sz="15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عِنْدِي وَقْتُ فَرَاغٍ يَوْمَ الأَرْبِعَاءِ بَعْدَ الرَّابِعَةِ، وَفِي نِهَايَةِ الأُسْبُوعِ.</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free on Wednesday after four, and at the weekend.</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مَتَى عِنْدَكَ وَقْتُ فَرَاغٍ؟</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مَرْحَبًا! اسْمِي حَمْزَةُ، وَعِنْدِي هِوَايَاتٌ كَثِيرَةٌ. فِي وَقْتِ فَرَاغِي أَلْعَبُ كُرَةَ القَدَمِ مَعَ أَصْدِقَائِي ثَلَاثَ مَرَّاتٍ فِي الأُسْبُوعِ. أَعْزِفُ عَلَى العُودِ مَرَّتَيْنِ فِي الأُسْبُوعِ مَعَ خَالِي، وَأَسْتَمِعُ إِلَى المُوسِيقَى قَبْلَ النَّوْمِ. كَمَا أَنَّنِي أَرْسُمُ أَحْيَانًا فِي نِهَايَةِ الأُسْبُوعِ. أُفَضِّلُ كُرَةَ القَدَمِ عَلَى الرَّسْمِ، لِأَنَّهَا جَمَاعِيَّةٌ وَمُمْتِعَةٌ. لَا أُحِبُّ الأَلْعَابَ الإِلِكْتِرُونِيَّةَ كَثِيرًا، لِأَنَّهَا تُتْعِبُ عَيْنَيَّ. وَأَنْتَ، مَا هِوَايَاتُكَ؟</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My name is Hamza, and I have lots of hobbies. In my free time I play football with my friends three times a week. I play the oud twice a week with my uncle, and I listen to music before bed. I also sometimes draw at the weekend. I prefer football to drawing, because it is a team game and fun. I don’t like video games much, because they tire my eyes. And you, what are your hobbies?”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ثَلَاثَ مَرَّاتٍ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أَعْزِفُ عَلَى العُودِ</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وَأَسْتَمِعُ إِلَى</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أُفَضِّلُ كُرَةَ القَدَمِ عَلَى</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D5-L02 · Sport — Vocabulary, Famous Athletes and Cultural Context</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الرِّيَاضَةُ وَالرِّيَاضِيُّونَ المَشْهُورُونَ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D5-L01 · Practice Room — Hobbies and Free Time — Vocabulary and Present Habits</dc:title>
  <dc:subject>PptxGenJS Presentation</dc:subject>
  <dc:creator>Al Madina Online School · Arabic Department</dc:creator>
  <cp:lastModifiedBy>Al Madina Online School · Arabic Department</cp:lastModifiedBy>
  <cp:revision>1</cp:revision>
  <dcterms:created xsi:type="dcterms:W3CDTF">2026-10-25T18:36:40Z</dcterms:created>
  <dcterms:modified xsi:type="dcterms:W3CDTF">2026-10-25T18:36:40Z</dcterms:modified>
</cp:coreProperties>
</file>