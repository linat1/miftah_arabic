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D5-L09 (Writing — My Leisure Life (Extended Writing)) — new practice tasks built on the lesson’s own word bank and grammar (three time zones: past (fī al-ṭufūlati laʿibtu · kuntu alʿabu) → present (ammā al-āna fa-umārisu …) → future (sa-ashtariku · anwī an …); ending with an opinion (aʿtaqidu anna …); connectors (bi-l-iḍāfati ilā dhālika · wa-fī al-khitām); planning, drafting and checking).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D5-L09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to a girl writer: اسْتَخْدَمْتِ · عِنْدَكِ · اكْتُبِي · كَتَبْتِ · اخْتِمِي. Feedback on tense variety: past · present · future · opinion.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(64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D5  ·  D5-L09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D5-L09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Writing — My Leisure Life (Extended Writing)</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حَيَاتِي التَّرْفِيهِيَّةُ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00" dirty="0">
                <a:solidFill>
                  <a:srgbClr val="C6D2E6"/>
                </a:solidFill>
                <a:latin typeface="Calibri" pitchFamily="34" charset="0"/>
                <a:cs typeface="Amiri" pitchFamily="2" charset="-78"/>
              </a:rPr>
              <a:t>Students run their own writing workshop, with speaking first: say the time-zone toolkit, act a past–present–future dialogue, plan each time zone aloud with cards, do a role-play card giving peer feedback on tense variety, rehearse the text aloud for one minute, then build, fix and write an extended text about their leisure life.</a:t>
            </a:r>
            <a:endParaRPr lang="en-US" sz="11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D5-L09 · Development D5 · Hobbies, Sport and Leisure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D5 › D5-L09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Planning and time zones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An iḍāfa.</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تَنَوُّعُ الأَزْمِنَةِ</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tense variety</a:t>
            </a:r>
            <a:endParaRPr lang="en-US" sz="1350" dirty="0"/>
          </a:p>
          <a:p>
            <a:pPr indent="0" marL="0">
              <a:buNone/>
            </a:pPr>
            <a:r>
              <a:rPr lang="en-US" sz="1100" i="1" dirty="0">
                <a:solidFill>
                  <a:srgbClr val="5A6472"/>
                </a:solidFill>
                <a:latin typeface="Calibri" pitchFamily="34" charset="0"/>
                <a:cs typeface="Amiri" pitchFamily="2" charset="-78"/>
              </a:rPr>
              <a:t>ta-naw-wu-ʿu al-az-mi-na-ti</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فِقْرَةٌ</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paragraph</a:t>
            </a:r>
            <a:endParaRPr lang="en-US" sz="1350" dirty="0"/>
          </a:p>
          <a:p>
            <a:pPr indent="0" marL="0">
              <a:buNone/>
            </a:pPr>
            <a:r>
              <a:rPr lang="en-US" sz="1100" i="1" dirty="0">
                <a:solidFill>
                  <a:srgbClr val="5A6472"/>
                </a:solidFill>
                <a:latin typeface="Calibri" pitchFamily="34" charset="0"/>
                <a:cs typeface="Amiri" pitchFamily="2" charset="-78"/>
              </a:rPr>
              <a:t>fiq-ra-tun</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المُسَوَّدَةُ</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draft</a:t>
            </a:r>
            <a:endParaRPr lang="en-US" sz="1350" dirty="0"/>
          </a:p>
          <a:p>
            <a:pPr indent="0" marL="0">
              <a:buNone/>
            </a:pPr>
            <a:r>
              <a:rPr lang="en-US" sz="1100" i="1" dirty="0">
                <a:solidFill>
                  <a:srgbClr val="5A6472"/>
                </a:solidFill>
                <a:latin typeface="Calibri" pitchFamily="34" charset="0"/>
                <a:cs typeface="Amiri" pitchFamily="2" charset="-78"/>
              </a:rPr>
              <a:t>al-mu-saw-wa-da-tu</a:t>
            </a:r>
            <a:endParaRPr lang="en-US" sz="1350" dirty="0"/>
          </a:p>
        </p:txBody>
      </p:sp>
      <p:sp>
        <p:nvSpPr>
          <p:cNvPr id="38" name="Shape 3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11312" y="4261104"/>
            <a:ext cx="310896" cy="310896"/>
          </a:xfrm>
          <a:prstGeom prst="ellipse">
            <a:avLst/>
          </a:prstGeom>
          <a:solidFill>
            <a:srgbClr val="F4F1EA"/>
          </a:solidFill>
          <a:ln w="12700">
            <a:solidFill>
              <a:srgbClr val="F4F1EA"/>
            </a:solidFill>
            <a:prstDash val="solid"/>
          </a:ln>
        </p:spPr>
      </p:sp>
      <p:sp>
        <p:nvSpPr>
          <p:cNvPr id="40" name="Text 3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1" name="Shape 3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3" name="Text 4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الطُّفُولَةِ</a:t>
            </a:r>
            <a:endParaRPr lang="ar-SA" sz="3000" dirty="0"/>
          </a:p>
        </p:txBody>
      </p:sp>
      <p:sp>
        <p:nvSpPr>
          <p:cNvPr id="44" name="Text 4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childhood</a:t>
            </a:r>
            <a:endParaRPr lang="en-US" sz="1350" dirty="0"/>
          </a:p>
          <a:p>
            <a:pPr indent="0" marL="0">
              <a:buNone/>
            </a:pPr>
            <a:r>
              <a:rPr lang="en-US" sz="1100" i="1" dirty="0">
                <a:solidFill>
                  <a:srgbClr val="5A6472"/>
                </a:solidFill>
                <a:latin typeface="Calibri" pitchFamily="34" charset="0"/>
                <a:cs typeface="Amiri" pitchFamily="2" charset="-78"/>
              </a:rPr>
              <a:t>fī aṭ-ṭu-fū-la-ti</a:t>
            </a:r>
            <a:endParaRPr lang="en-US" sz="1350" dirty="0"/>
          </a:p>
        </p:txBody>
      </p:sp>
      <p:sp>
        <p:nvSpPr>
          <p:cNvPr id="45" name="Shape 4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4389120"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8" name="Shape 4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أَمَّا الآنَ فَـ</a:t>
            </a:r>
            <a:endParaRPr lang="ar-SA" sz="3000" dirty="0"/>
          </a:p>
        </p:txBody>
      </p:sp>
      <p:sp>
        <p:nvSpPr>
          <p:cNvPr id="51" name="Text 4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 for now,</a:t>
            </a:r>
            <a:endParaRPr lang="en-US" sz="1350" dirty="0"/>
          </a:p>
          <a:p>
            <a:pPr indent="0" marL="0">
              <a:buNone/>
            </a:pPr>
            <a:r>
              <a:rPr lang="en-US" sz="1100" i="1" dirty="0">
                <a:solidFill>
                  <a:srgbClr val="5A6472"/>
                </a:solidFill>
                <a:latin typeface="Calibri" pitchFamily="34" charset="0"/>
                <a:cs typeface="Amiri" pitchFamily="2" charset="-78"/>
              </a:rPr>
              <a:t>am-mā al-ʾā-na fa</a:t>
            </a:r>
            <a:endParaRPr lang="en-US" sz="1350" dirty="0"/>
          </a:p>
        </p:txBody>
      </p:sp>
      <p:sp>
        <p:nvSpPr>
          <p:cNvPr id="52" name="Text 49"/>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أَمَّا … فَـ</a:t>
            </a:r>
            <a:pPr algn="l" indent="0" marL="0">
              <a:buNone/>
            </a:pPr>
            <a:r>
              <a:rPr lang="en-US" sz="1000" i="1" dirty="0">
                <a:solidFill>
                  <a:srgbClr val="8A6D1E"/>
                </a:solidFill>
                <a:latin typeface="Calibri" pitchFamily="34" charset="0"/>
                <a:cs typeface="Amiri" pitchFamily="2" charset="-78"/>
              </a:rPr>
              <a:t> marks a contrast.</a:t>
            </a:r>
            <a:endParaRPr lang="en-US" sz="1000" dirty="0"/>
          </a:p>
        </p:txBody>
      </p:sp>
      <p:sp>
        <p:nvSpPr>
          <p:cNvPr id="53" name="Shape 5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566928"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6" name="Shape 53"/>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المُسْتَقْبَلِ</a:t>
            </a:r>
            <a:endParaRPr lang="ar-SA" sz="3000" dirty="0"/>
          </a:p>
        </p:txBody>
      </p:sp>
      <p:sp>
        <p:nvSpPr>
          <p:cNvPr id="59" name="Text 56"/>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the future</a:t>
            </a:r>
            <a:endParaRPr lang="en-US" sz="1350" dirty="0"/>
          </a:p>
          <a:p>
            <a:pPr indent="0" marL="0">
              <a:buNone/>
            </a:pPr>
            <a:r>
              <a:rPr lang="en-US" sz="1100" i="1" dirty="0">
                <a:solidFill>
                  <a:srgbClr val="5A6472"/>
                </a:solidFill>
                <a:latin typeface="Calibri" pitchFamily="34" charset="0"/>
                <a:cs typeface="Amiri" pitchFamily="2" charset="-78"/>
              </a:rPr>
              <a:t>fī al-mus-taq-ba-li</a:t>
            </a:r>
            <a:endParaRPr lang="en-US" sz="135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Connectors and opinion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بِالإِضَافَةِ إِلَى ذٰلِكَ</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addition to that</a:t>
            </a:r>
            <a:endParaRPr lang="en-US" sz="1350" dirty="0"/>
          </a:p>
          <a:p>
            <a:pPr indent="0" marL="0">
              <a:buNone/>
            </a:pPr>
            <a:r>
              <a:rPr lang="en-US" sz="1100" i="1" dirty="0">
                <a:solidFill>
                  <a:srgbClr val="5A6472"/>
                </a:solidFill>
                <a:latin typeface="Calibri" pitchFamily="34" charset="0"/>
                <a:cs typeface="Amiri" pitchFamily="2" charset="-78"/>
              </a:rPr>
              <a:t>bil-ʾi-ḍā-fa-ti i-lā dhā-li-ka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وَفِي الخِتَامِ</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and in conclusion</a:t>
            </a:r>
            <a:endParaRPr lang="en-US" sz="1350" dirty="0"/>
          </a:p>
          <a:p>
            <a:pPr indent="0" marL="0">
              <a:buNone/>
            </a:pPr>
            <a:r>
              <a:rPr lang="en-US" sz="1100" i="1" dirty="0">
                <a:solidFill>
                  <a:srgbClr val="5A6472"/>
                </a:solidFill>
                <a:latin typeface="Calibri" pitchFamily="34" charset="0"/>
                <a:cs typeface="Amiri" pitchFamily="2" charset="-78"/>
              </a:rPr>
              <a:t>wa-fī al-khi-tā-mi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رَأْيِي</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my opinion</a:t>
            </a:r>
            <a:endParaRPr lang="en-US" sz="1350" dirty="0"/>
          </a:p>
          <a:p>
            <a:pPr indent="0" marL="0">
              <a:buNone/>
            </a:pPr>
            <a:r>
              <a:rPr lang="en-US" sz="1100" i="1" dirty="0">
                <a:solidFill>
                  <a:srgbClr val="5A6472"/>
                </a:solidFill>
                <a:latin typeface="Calibri" pitchFamily="34" charset="0"/>
                <a:cs typeface="Amiri" pitchFamily="2" charset="-78"/>
              </a:rPr>
              <a:t>fī raʾ-yī</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أَعْتَقِدُ أَنَّ</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believe that</a:t>
            </a:r>
            <a:endParaRPr lang="en-US" sz="1350" dirty="0"/>
          </a:p>
          <a:p>
            <a:pPr indent="0" marL="0">
              <a:buNone/>
            </a:pPr>
            <a:r>
              <a:rPr lang="en-US" sz="1100" i="1" dirty="0">
                <a:solidFill>
                  <a:srgbClr val="5A6472"/>
                </a:solidFill>
                <a:latin typeface="Calibri" pitchFamily="34" charset="0"/>
                <a:cs typeface="Amiri" pitchFamily="2" charset="-78"/>
              </a:rPr>
              <a:t>aʿ-ta-qi-du an-na</a:t>
            </a:r>
            <a:endParaRPr lang="en-US" sz="1350" dirty="0"/>
          </a:p>
        </p:txBody>
      </p:sp>
      <p:sp>
        <p:nvSpPr>
          <p:cNvPr id="43" name="Text 40"/>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أَنَّ</a:t>
            </a:r>
            <a:pPr algn="l" indent="0" marL="0">
              <a:buNone/>
            </a:pPr>
            <a:r>
              <a:rPr lang="en-US" sz="1000" i="1" dirty="0">
                <a:solidFill>
                  <a:srgbClr val="8A6D1E"/>
                </a:solidFill>
                <a:latin typeface="Calibri" pitchFamily="34" charset="0"/>
                <a:cs typeface="Amiri" pitchFamily="2" charset="-78"/>
              </a:rPr>
              <a:t> takes an accusative subject.</a:t>
            </a:r>
            <a:endParaRPr lang="en-US" sz="1000" dirty="0"/>
          </a:p>
        </p:txBody>
      </p:sp>
      <p:sp>
        <p:nvSpPr>
          <p:cNvPr id="44" name="Shape 4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4389120"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7" name="Shape 44"/>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أَتَمَنَّى أَنْ</a:t>
            </a:r>
            <a:endParaRPr lang="ar-SA" sz="3000" dirty="0"/>
          </a:p>
        </p:txBody>
      </p:sp>
      <p:sp>
        <p:nvSpPr>
          <p:cNvPr id="50" name="Text 47"/>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hope to</a:t>
            </a:r>
            <a:endParaRPr lang="en-US" sz="1350" dirty="0"/>
          </a:p>
          <a:p>
            <a:pPr indent="0" marL="0">
              <a:buNone/>
            </a:pPr>
            <a:r>
              <a:rPr lang="en-US" sz="1100" i="1" dirty="0">
                <a:solidFill>
                  <a:srgbClr val="5A6472"/>
                </a:solidFill>
                <a:latin typeface="Calibri" pitchFamily="34" charset="0"/>
                <a:cs typeface="Amiri" pitchFamily="2" charset="-78"/>
              </a:rPr>
              <a:t>a-ta-man-nā an</a:t>
            </a:r>
            <a:endParaRPr lang="en-US" sz="1350" dirty="0"/>
          </a:p>
        </p:txBody>
      </p:sp>
      <p:sp>
        <p:nvSpPr>
          <p:cNvPr id="51" name="Shape 4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4" name="Shape 51"/>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أَنْوِي أَنْ</a:t>
            </a:r>
            <a:endParaRPr lang="ar-SA" sz="3000" dirty="0"/>
          </a:p>
        </p:txBody>
      </p:sp>
      <p:sp>
        <p:nvSpPr>
          <p:cNvPr id="57" name="Text 54"/>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intend to</a:t>
            </a:r>
            <a:endParaRPr lang="en-US" sz="1350" dirty="0"/>
          </a:p>
          <a:p>
            <a:pPr indent="0" marL="0">
              <a:buNone/>
            </a:pPr>
            <a:r>
              <a:rPr lang="en-US" sz="1100" i="1" dirty="0">
                <a:solidFill>
                  <a:srgbClr val="5A6472"/>
                </a:solidFill>
                <a:latin typeface="Calibri" pitchFamily="34" charset="0"/>
                <a:cs typeface="Amiri" pitchFamily="2" charset="-78"/>
              </a:rPr>
              <a:t>an-wī an</a:t>
            </a:r>
            <a:endParaRPr lang="en-US" sz="13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Then, now and next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المَاضِي وَالحَاضِرُ وَالمُسْتَقْبَلُ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did you use to do in your free time as a child?</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مَاذَا كُنْتَ تَفْعَلُ فِي وَقْتِ فَرَاغِكَ عِنْدَمَا كُنْتَ صَغِيرًا؟</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childhood I used to play with blocks, and I watched lots of cartoons.</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فِي الطُّفُولَةِ كُنْتُ أَلْعَبُ بِالمُكَعَّبَاتِ، وَشَاهَدْتُ الرُّسُومَ المُتَحَرِّكَةَ كَثِيرًا.</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now?</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وَالآنَ؟</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 for now, I do karate and read novels.</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أَمَّا الآنَ فَأُمَارِسُ الكَارَاتِيهِ، وَأَقْرَأُ الرِّوَايَاتِ.</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in the future?</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وَفِي المُسْتَقْبَلِ؟</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will join the photography club, and I intend to travel to photograph nature. I think hobbies change us over time.</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سَأَشْتَرِكُ فِي نَادِي التَّصْوِيرِ، وَأَنْوِي أَنْ أُسَافِرَ لِأُصَوِّرَ الطَّبِيعَةَ. أَعْتَقِدُ أَنَّ الهِوَايَاتِ تُغَيِّرُنَا مَعَ الوَقْتِ.</a:t>
            </a:r>
            <a:endParaRPr lang="ar-SA" sz="135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YOUR three time zones — the Coach checks every verb’s tense.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Plan aloud — one time zone per card</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وَمَرَّةً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الطُّفُولَةِ كُنْتُ أَلْعَبُ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What did you use to do as a child?</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¶١ مَاذَا كُنْتَ تَفْعَلُ فِي الطُّفُولَةِ؟</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56648" y="3004718"/>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أَتَذَكَّرُ يَوْمًا عِنْدَمَا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Mention a special memory.</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¶١ اذْكُرْ ذِكْرَى خَاصَّةً.</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بِالإِضَافَةِ إِلَى ذٰلِكَ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أَمَّا الآنَ فَأُمَارِسُ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What do you do now?</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¶٢ مَاذَا تَفْعَلُ الآنَ؟</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لِكَيْ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سَأَشْتَرِكُ فِي … / أَنْوِي أَنْ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Your future plans?</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¶٣ مَا خُطَطُكَ لِلْمُسْتَقْبَلِ؟</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وَفِي الخِتَامِ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أَعْتَقِدُ أَنَّ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Your opinion on hobbies?</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¶٤ مَا رَأْيُكَ فِي أَهَمِّيَّةِ الهِوَايَاتِ؟</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Role-play card — peer feedback on tense variety</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تَغْذِيَةٌ رَاجِعَةٌ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الأَزْمِنَةُ ← اسْتَخْدَمْتَ المَاضِيَ وَالحَاضِرَ، وَلٰكِنْ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Check the three tenses.</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اسْتَخْدَمْتُ أَزْمِنَةً مُتَنَوِّعَةً؟</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اقْتِرَاحٌ ← اكْتُبْ: «سَأَشْتَرِكُ فِي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Suggest a sentence.</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أُضِيفُ المُسْتَقْبَلَ؟</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Correct one tense error.</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وَهَلْ هُنَاكَ خَطَأٌ؟</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Advise on the ending.</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أَخْتِمُ النَّصَّ؟</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reviewer · Leader = a writer.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say your text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أَقُولُ نَصِّي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Speak your text aloud for one minute from your plan: past → present → future → opinion. The Coach ticks one verb in each time zone.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sentences in each time zone.</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كُنْتُ</a:t>
            </a:r>
            <a:pPr algn="l" indent="0" marL="0">
              <a:buNone/>
            </a:pPr>
            <a:r>
              <a:rPr lang="en-US" sz="1150" dirty="0">
                <a:solidFill>
                  <a:srgbClr val="1F2A37"/>
                </a:solidFill>
                <a:latin typeface="Calibri" pitchFamily="34" charset="0"/>
                <a:cs typeface="Amiri" pitchFamily="2" charset="-78"/>
              </a:rPr>
              <a:t> + present (used to) and </a:t>
            </a:r>
            <a:pPr algn="l" indent="0" marL="0">
              <a:buNone/>
            </a:pPr>
            <a:r>
              <a:rPr lang="ar-SA" altLang="en-US" sz="1500" dirty="0">
                <a:solidFill>
                  <a:srgbClr val="1F2A37"/>
                </a:solidFill>
                <a:latin typeface="Amiri" pitchFamily="2" charset="-78"/>
                <a:ea typeface="Amiri" pitchFamily="2" charset="-78"/>
                <a:cs typeface="Amiri" pitchFamily="2" charset="-78"/>
              </a:rPr>
              <a:t>أَمَّا الآنَ فَ</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أَنْوِي أَنْ</a:t>
            </a:r>
            <a:pPr algn="l" indent="0" marL="0">
              <a:buNone/>
            </a:pPr>
            <a:r>
              <a:rPr lang="en-US" sz="1150" dirty="0">
                <a:solidFill>
                  <a:srgbClr val="1F2A37"/>
                </a:solidFill>
                <a:latin typeface="Calibri" pitchFamily="34" charset="0"/>
                <a:cs typeface="Amiri" pitchFamily="2" charset="-78"/>
              </a:rPr>
              <a:t> … , a connector and </a:t>
            </a:r>
            <a:pPr algn="l" indent="0" marL="0">
              <a:buNone/>
            </a:pPr>
            <a:r>
              <a:rPr lang="ar-SA" altLang="en-US" sz="1500" dirty="0">
                <a:solidFill>
                  <a:srgbClr val="1F2A37"/>
                </a:solidFill>
                <a:latin typeface="Amiri" pitchFamily="2" charset="-78"/>
                <a:ea typeface="Amiri" pitchFamily="2" charset="-78"/>
                <a:cs typeface="Amiri" pitchFamily="2" charset="-78"/>
              </a:rPr>
              <a:t>أَعْتَقِدُ أَنَّ</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As a child I used to draw a lot.</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الطُّفُولَةِ</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المُسْتَقْبَلِ</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كُنْتُ أَرْسُمُ</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سَأَرْسُمُ</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كَثِيرًا.</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كَثِيرٌ.</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As for now, I play tennis.</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أَمَّا الآنَ</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أَمَّا الآنُ</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فَأَلْعَبُ</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أَلْعَبُ</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التِّنِسَ.</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التِّنِسُ.</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intend to join a club.</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أَنْوِي</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نَوَيْتُ</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أَشْتَرِكَ</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أَشْتَرِكُ</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نَادٍ.</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نَادِي.</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As a child I used to draw a lot.</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Used to = </a:t>
            </a:r>
            <a:pPr algn="l" indent="0" marL="0">
              <a:buNone/>
            </a:pPr>
            <a:r>
              <a:rPr lang="ar-SA" altLang="en-US" sz="1350" dirty="0">
                <a:solidFill>
                  <a:srgbClr val="5A6472"/>
                </a:solidFill>
                <a:latin typeface="Amiri" pitchFamily="2" charset="-78"/>
                <a:ea typeface="Amiri" pitchFamily="2" charset="-78"/>
                <a:cs typeface="Amiri" pitchFamily="2" charset="-78"/>
              </a:rPr>
              <a:t>كُنْتُ</a:t>
            </a:r>
            <a:pPr algn="l" indent="0" marL="0">
              <a:buNone/>
            </a:pPr>
            <a:r>
              <a:rPr lang="en-US" sz="1050" i="1" dirty="0">
                <a:solidFill>
                  <a:srgbClr val="5A6472"/>
                </a:solidFill>
                <a:latin typeface="Calibri" pitchFamily="34" charset="0"/>
                <a:cs typeface="Amiri" pitchFamily="2" charset="-78"/>
              </a:rPr>
              <a:t> + present.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فِي الطُّفُولَةِ كُنْتُ أَرْسُمُ كَثِيرًا.</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As for now, I play tennis.</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أَمَّا</a:t>
            </a:r>
            <a:pPr algn="l" indent="0" marL="0">
              <a:buNone/>
            </a:pPr>
            <a:r>
              <a:rPr lang="en-US" sz="1050" i="1" dirty="0">
                <a:solidFill>
                  <a:srgbClr val="5A6472"/>
                </a:solidFill>
                <a:latin typeface="Calibri" pitchFamily="34" charset="0"/>
                <a:cs typeface="Amiri" pitchFamily="2" charset="-78"/>
              </a:rPr>
              <a:t> … + fa-.</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أَمَّا الآنَ فَأَلْعَبُ التِّنِسَ.</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intend to join a club.</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 -a; </a:t>
            </a:r>
            <a:pPr algn="l" indent="0" marL="0">
              <a:buNone/>
            </a:pPr>
            <a:r>
              <a:rPr lang="ar-SA" altLang="en-US" sz="1350" dirty="0">
                <a:solidFill>
                  <a:srgbClr val="5A6472"/>
                </a:solidFill>
                <a:latin typeface="Amiri" pitchFamily="2" charset="-78"/>
                <a:ea typeface="Amiri" pitchFamily="2" charset="-78"/>
                <a:cs typeface="Amiri" pitchFamily="2" charset="-78"/>
              </a:rPr>
              <a:t>نَادٍ</a:t>
            </a:r>
            <a:pPr algn="l" indent="0" marL="0">
              <a:buNone/>
            </a:pPr>
            <a:r>
              <a:rPr lang="en-US" sz="1050" i="1" dirty="0">
                <a:solidFill>
                  <a:srgbClr val="5A6472"/>
                </a:solidFill>
                <a:latin typeface="Calibri" pitchFamily="34" charset="0"/>
                <a:cs typeface="Amiri" pitchFamily="2" charset="-78"/>
              </a:rPr>
              <a:t> after </a:t>
            </a:r>
            <a:pPr algn="l" indent="0" marL="0">
              <a:buNone/>
            </a:pPr>
            <a:r>
              <a:rPr lang="ar-SA" altLang="en-US" sz="1350" dirty="0">
                <a:solidFill>
                  <a:srgbClr val="5A6472"/>
                </a:solidFill>
                <a:latin typeface="Amiri" pitchFamily="2" charset="-78"/>
                <a:ea typeface="Amiri" pitchFamily="2" charset="-78"/>
                <a:cs typeface="Amiri" pitchFamily="2" charset="-78"/>
              </a:rPr>
              <a:t>فِي</a:t>
            </a:r>
            <a:pPr algn="l" indent="0" marL="0">
              <a:buNone/>
            </a:pPr>
            <a:r>
              <a:rPr lang="en-US" sz="1050" i="1" dirty="0">
                <a:solidFill>
                  <a:srgbClr val="5A6472"/>
                </a:solidFill>
                <a:latin typeface="Calibri" pitchFamily="34" charset="0"/>
                <a:cs typeface="Amiri" pitchFamily="2" charset="-78"/>
              </a:rPr>
              <a:t> (indefinite).</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أَنْوِي أَنْ أَشْتَرِكَ فِي نَادٍ.</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فِي الطُّفُولَةِ أَلْعَبُ فِي الحَدِيقَةِ.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Childhood = the past.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أَمَّا الآنَ أُمَارِسُ السِّبَاحَةَ.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أَمَّا</a:t>
            </a:r>
            <a:pPr algn="l" indent="0" marL="0">
              <a:buNone/>
            </a:pPr>
            <a:r>
              <a:rPr lang="en-US" sz="1300" i="1" dirty="0">
                <a:solidFill>
                  <a:srgbClr val="5A6472"/>
                </a:solidFill>
                <a:latin typeface="Calibri" pitchFamily="34" charset="0"/>
                <a:cs typeface="Amiri" pitchFamily="2" charset="-78"/>
              </a:rPr>
              <a:t> needs its partner.</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أَعْتَقِدُ أَنَّ الهِوَايَاتُ مُهِمَّةٌ.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فِي الطُّفُولَةِ أَلْعَبُ فِي الحَدِيقَةِ.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فِي الطُّفُولَةِ كُنْتُ أَلْعَبُ فِي الحَدِيقَةِ.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Habit in the past → </a:t>
            </a:r>
            <a:pPr algn="l" indent="0" marL="0">
              <a:buNone/>
            </a:pPr>
            <a:r>
              <a:rPr lang="ar-SA" altLang="en-US" sz="1500" b="1" dirty="0">
                <a:solidFill>
                  <a:srgbClr val="1B3B6F"/>
                </a:solidFill>
                <a:latin typeface="Amiri" pitchFamily="2" charset="-78"/>
                <a:ea typeface="Amiri" pitchFamily="2" charset="-78"/>
                <a:cs typeface="Amiri" pitchFamily="2" charset="-78"/>
              </a:rPr>
              <a:t>كُنْتُ</a:t>
            </a:r>
            <a:pPr algn="l" indent="0" marL="0">
              <a:buNone/>
            </a:pPr>
            <a:r>
              <a:rPr lang="en-US" sz="1150" b="1" dirty="0">
                <a:solidFill>
                  <a:srgbClr val="1B3B6F"/>
                </a:solidFill>
                <a:latin typeface="Calibri" pitchFamily="34" charset="0"/>
                <a:cs typeface="Amiri" pitchFamily="2" charset="-78"/>
              </a:rPr>
              <a:t> + present.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أَمَّا الآنَ أُمَارِسُ السِّبَاحَةَ.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أَمَّا الآنَ فَأُمَارِسُ السِّبَاحَةَ.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أَمَّا</a:t>
            </a:r>
            <a:pPr algn="l" indent="0" marL="0">
              <a:buNone/>
            </a:pPr>
            <a:r>
              <a:rPr lang="en-US" sz="1150" b="1" dirty="0">
                <a:solidFill>
                  <a:srgbClr val="1B3B6F"/>
                </a:solidFill>
                <a:latin typeface="Calibri" pitchFamily="34" charset="0"/>
                <a:cs typeface="Amiri" pitchFamily="2" charset="-78"/>
              </a:rPr>
              <a:t> … + fa-.</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أَعْتَقِدُ أَنَّ الهِوَايَاتُ مُهِمَّةٌ.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أَعْتَقِدُ أَنَّ الهِوَايَاتِ مُهِمَّةٌ.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 noun in -a (sound f. pl. → -i).</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أَتَذَكَّرُ يَوْمًا عِنْدَمَا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remember a day when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بِالإِضَافَةِ إِلَى ذٰلِكَ، أَنْوِي أَنْ ______ لِكَيْ ______ .</a:t>
            </a:r>
            <a:endParaRPr lang="ar-SA" sz="14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addition, I intend to … in order to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¶١ فِي الطُّفُولَةِ كُنْتُ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In childhood I used to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¶٢ أَمَّا الآنَ فَ______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As for now,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¶٣ فِي المُسْتَقْبَلِ سَوْفَ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In the future I will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¶٤ أَعْتَقِدُ أَنَّ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I think that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فِي الطُّفُولَةِ  ·  كُنْتُ أَلْعَبُ  ·  أَمَّا الآنَ فَ…  ·  فِي المُسْتَقْبَلِ  ·  سَأَشْتَرِكُ فِي  ·  أَنْوِي أَنْ  ·  بِالإِضَافَةِ إِلَى ذٰلِكَ  ·  أَعْتَقِدُ أَنَّ</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My leisure life: then, now and next</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حَيَاتِي التَّرْفِيهِيَّةُ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Write a text (about 70–90 words) in four short paragraphs about your free time. ¶1 past: what you used to do + one memory. ¶2 present: </a:t>
            </a:r>
            <a:pPr algn="l" indent="0" marL="0">
              <a:buNone/>
            </a:pPr>
            <a:r>
              <a:rPr lang="ar-SA" altLang="en-US" sz="1550" b="1" dirty="0">
                <a:solidFill>
                  <a:srgbClr val="1F2A37"/>
                </a:solidFill>
                <a:latin typeface="Amiri" pitchFamily="2" charset="-78"/>
                <a:ea typeface="Amiri" pitchFamily="2" charset="-78"/>
                <a:cs typeface="Amiri" pitchFamily="2" charset="-78"/>
              </a:rPr>
              <a:t>أَمَّا الآنَ فَ</a:t>
            </a:r>
            <a:pPr algn="l" indent="0" marL="0">
              <a:buNone/>
            </a:pPr>
            <a:r>
              <a:rPr lang="en-US" sz="1200" b="1" dirty="0">
                <a:solidFill>
                  <a:srgbClr val="1F2A37"/>
                </a:solidFill>
                <a:latin typeface="Calibri" pitchFamily="34" charset="0"/>
                <a:cs typeface="Amiri" pitchFamily="2" charset="-78"/>
              </a:rPr>
              <a:t>… + two hobbies. ¶3 future: </a:t>
            </a:r>
            <a:pPr algn="l" indent="0" marL="0">
              <a:buNone/>
            </a:pPr>
            <a:r>
              <a:rPr lang="ar-SA" altLang="en-US" sz="1550" b="1" dirty="0">
                <a:solidFill>
                  <a:srgbClr val="1F2A37"/>
                </a:solidFill>
                <a:latin typeface="Amiri" pitchFamily="2" charset="-78"/>
                <a:ea typeface="Amiri" pitchFamily="2" charset="-78"/>
                <a:cs typeface="Amiri" pitchFamily="2" charset="-78"/>
              </a:rPr>
              <a:t>سَأَ… / أَنْوِي أَنْ</a:t>
            </a:r>
            <a:pPr algn="l" indent="0" marL="0">
              <a:buNone/>
            </a:pPr>
            <a:r>
              <a:rPr lang="en-US" sz="1200" b="1" dirty="0">
                <a:solidFill>
                  <a:srgbClr val="1F2A37"/>
                </a:solidFill>
                <a:latin typeface="Calibri" pitchFamily="34" charset="0"/>
                <a:cs typeface="Amiri" pitchFamily="2" charset="-78"/>
              </a:rPr>
              <a:t> … ¶4 opinion: </a:t>
            </a:r>
            <a:pPr algn="l" indent="0" marL="0">
              <a:buNone/>
            </a:pPr>
            <a:r>
              <a:rPr lang="ar-SA" altLang="en-US" sz="1550" b="1" dirty="0">
                <a:solidFill>
                  <a:srgbClr val="1F2A37"/>
                </a:solidFill>
                <a:latin typeface="Amiri" pitchFamily="2" charset="-78"/>
                <a:ea typeface="Amiri" pitchFamily="2" charset="-78"/>
                <a:cs typeface="Amiri" pitchFamily="2" charset="-78"/>
              </a:rPr>
              <a:t>أَعْتَقِدُ أَنَّ</a:t>
            </a:r>
            <a:pPr algn="l" indent="0" marL="0">
              <a:buNone/>
            </a:pPr>
            <a:r>
              <a:rPr lang="en-US" sz="1200" b="1" dirty="0">
                <a:solidFill>
                  <a:srgbClr val="1F2A37"/>
                </a:solidFill>
                <a:latin typeface="Calibri" pitchFamily="34" charset="0"/>
                <a:cs typeface="Amiri" pitchFamily="2" charset="-78"/>
              </a:rPr>
              <a:t> … Then check every verb’s tense with your buddy.</a:t>
            </a:r>
            <a:endParaRPr lang="en-US" sz="12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الطُّفُولَةِ كُنْتُ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childhood I used to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 الآنَ فَ…</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as for now,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سَأَشْتَرِكُ فِي … · أَنْوِي 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join … · I intend to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أَعْتَقِدُ أَنَّ … · وَفِي الخِتَامِ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think that … · and in conclusion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in three time zones with the right tense in each?</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كُنْتُ</a:t>
            </a:r>
            <a:pPr algn="l" indent="0" marL="0">
              <a:buNone/>
            </a:pPr>
            <a:r>
              <a:rPr lang="en-US" sz="1100" dirty="0">
                <a:solidFill>
                  <a:srgbClr val="5A6472"/>
                </a:solidFill>
                <a:latin typeface="Calibri" pitchFamily="34" charset="0"/>
                <a:cs typeface="Amiri" pitchFamily="2" charset="-78"/>
              </a:rPr>
              <a:t> + present, </a:t>
            </a:r>
            <a:pPr algn="l" indent="0" marL="0">
              <a:buNone/>
            </a:pPr>
            <a:r>
              <a:rPr lang="ar-SA" altLang="en-US" sz="1450" dirty="0">
                <a:solidFill>
                  <a:srgbClr val="5A6472"/>
                </a:solidFill>
                <a:latin typeface="Amiri" pitchFamily="2" charset="-78"/>
                <a:ea typeface="Amiri" pitchFamily="2" charset="-78"/>
                <a:cs typeface="Amiri" pitchFamily="2" charset="-78"/>
              </a:rPr>
              <a:t>أَمَّا … فَ</a:t>
            </a:r>
            <a:pPr algn="l" indent="0" marL="0">
              <a:buNone/>
            </a:pPr>
            <a:r>
              <a:rPr lang="en-US" sz="1100" dirty="0">
                <a:solidFill>
                  <a:srgbClr val="5A6472"/>
                </a:solidFill>
                <a:latin typeface="Calibri" pitchFamily="34" charset="0"/>
                <a:cs typeface="Amiri" pitchFamily="2" charset="-78"/>
              </a:rPr>
              <a:t>… and finish with an opinion?</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اسْتَخْدَمْتَ المَاضِيَ وَالحَاضِرَ، وَلٰكِنْ لَيْسَ عِنْدَكَ مُسْتَقْبَلٌ.</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You used past and present, but you have no future.</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اسْتَخْدَمْتُ أَزْمِنَةً مُتَنَوِّعَةً؟</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اكْتُبْ مَثَلًا: «فِي الصَّيْفِ القَادِمِ سَأَشْتَرِكُ فِي دَوْرَةِ سِبَاحَةٍ».</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Write for example: “Next summer I will join a swimming course.”</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أُضِيفُ المُسْتَقْبَلَ؟</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كَتَبْتَ «فِي الطُّفُولَةِ أَلْعَبُ»، وَالصَّوَابُ «كُنْتُ أَلْعَبُ».</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You wrote “in childhood I play”; correct is “I used to play”.</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وَهَلْ هُنَاكَ خَطَأٌ؟</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اخْتِمْ بِرَأْيٍ: «أَعْتَقِدُ أَنَّ الهِوَايَاتِ تُعَلِّمُنَا الصَّبْرَ».</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End with an opinion: “I think hobbies teach us patience.”</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أَخْتِمُ النَّصَّ؟</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فِي الطُّفُولَةِ كُنْتُ أَلْعَبُ بِالدَّرَّاجَةِ فِي الشَّارِعِ مَعَ أَوْلَادِ الجِيرَانِ. أَتَذَكَّرُ يَوْمًا عِنْدَمَا سَقَطْتُ وَكَسَرْتُ يَدِي!</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أَمَّا الآنَ فَأُمَارِسُ كُرَةَ الطَّائِرَةِ فِي نَادِي المَدْرَسَةِ مَرَّتَيْنِ فِي الأُسْبُوعِ. بِالإِضَافَةِ إِلَى ذٰلِكَ، أَتَعَلَّمُ الخَطَّ العَرَبِيَّ مَعَ أُسْتَاذٍ عَلَى الإِنْتَرْنِت.</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فِي الصَّيْفِ القَادِمِ سَأَشْتَرِكُ فِي مُخَيَّمٍ رِيَاضِيٍّ، وَأَنْوِي أَنْ أُشَارِكَ فِي مَعْرِضٍ لِلْخَطِّ.</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وَفِي الخِتَامِ، أَعْتَقِدُ أَنَّ الهِوَايَاتِ مُهِمَّةٌ جِدًّا، لِأَنَّهَا تُعَلِّمُنَا الصَّبْرَ وَتُرِيحُنَا مِنْ ضَغْطِ الدِّرَاسَةِ.</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childhood I used to ride my bike in the street with the neighbours’ children. I remember a day when I fell and broke my hand! As for now, I play volleyball at the school club twice a week. In addition, I am learning Arabic calligraphy with a teacher online. Next summer I will join a sports camp, and I intend to take part in a calligraphy exhibition. In conclusion, I think hobbies are very important, because they teach us patience and relieve the pressure of study.”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كُنْتُ أَلْعَبُ</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أَمَّا الآنَ فَأُمَارِسُ</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سَأَشْتَرِكُ فِي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أَعْتَقِدُ أَنَّ الهِوَايَاتِ</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D5-L09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cs typeface="Amiri" pitchFamily="2" charset="-78"/>
              </a:rPr>
              <a:t>D5-L10 · Listening — Sport, Leisure and Past Events</a:t>
            </a:r>
            <a:endParaRPr lang="en-US" sz="19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الاِسْتِمَاعُ — الرِّيَاضَةُ وَالتَّرْفِيهُ وَالأَحْدَاثُ المَاضِيَةُ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D5-L09 · Practice Room — Writing — My Leisure Life (Extended Writing)</dc:title>
  <dc:subject>PptxGenJS Presentation</dc:subject>
  <dc:creator>Al Madina Online School · Arabic Department</dc:creator>
  <cp:lastModifiedBy>Al Madina Online School · Arabic Department</cp:lastModifiedBy>
  <cp:revision>1</cp:revision>
  <dcterms:created xsi:type="dcterms:W3CDTF">2026-10-25T18:45:26Z</dcterms:created>
  <dcterms:modified xsi:type="dcterms:W3CDTF">2026-10-25T18:45:26Z</dcterms:modified>
</cp:coreProperties>
</file>