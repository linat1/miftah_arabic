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D5-L11 (D5 Consolidation — Past Tense Mastery and Speaking Preparation) — new practice tasks built on the lesson’s own word bank and grammar (answer a past question in the past (kayfa badaʾta? — badaʾtu …); fix the stem before the suffix (zāra → zurtu · mashā → mashaytu · nāma → nimtu); extend every answer with a reason and an example; buy time or repair in Arabic (daʿnī ufakkiru · ʿafwan, aqṣidu … · fī al-ḥaqīqa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D5-L11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examiner to a girl: فَعَلْتِ · أَصْدِقَاؤُكِ · سَتَفْعَلِينَ. Past question → past answer; then switch tense when the question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(65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D5-L11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D5 Consolidation — Past Tense Mastery and Speaking Preparation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إِتْقَانُ المَاضِي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consolidation of the whole D5 unit: say the speaking-strategy phrases, act a dialogue with a hesitation and a repair, answer past-tense examiner cards, do a role-play card as examiner and candidate, give a one-minute extended past answer under pressure, then build, fix and write a polished answer to an exam-style question.</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D5-L11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Accuracy and fluency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الحَدِيثُ بِالفِعْلِ المَاضِي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speaking in the past tense</a:t>
            </a:r>
            <a:endParaRPr lang="en-US" sz="1350" dirty="0"/>
          </a:p>
          <a:p>
            <a:pPr indent="0" marL="0">
              <a:buNone/>
            </a:pPr>
            <a:r>
              <a:rPr lang="en-US" sz="1100" i="1" dirty="0">
                <a:solidFill>
                  <a:srgbClr val="5A6472"/>
                </a:solidFill>
                <a:latin typeface="Calibri" pitchFamily="34" charset="0"/>
                <a:cs typeface="Amiri" pitchFamily="2" charset="-78"/>
              </a:rPr>
              <a:t>al-ḥa-dī-thu bil-fiʿ-li al-mā-ḍī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الدِّقَّةُ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الطَّلَاقَةُ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fluency</a:t>
            </a:r>
            <a:endParaRPr lang="en-US" sz="1350" dirty="0"/>
          </a:p>
          <a:p>
            <a:pPr indent="0" marL="0">
              <a:buNone/>
            </a:pPr>
            <a:r>
              <a:rPr lang="en-US" sz="1100" i="1" dirty="0">
                <a:solidFill>
                  <a:srgbClr val="5A6472"/>
                </a:solidFill>
                <a:latin typeface="Calibri" pitchFamily="34" charset="0"/>
                <a:cs typeface="Amiri" pitchFamily="2" charset="-78"/>
              </a:rPr>
              <a:t>aṭ-ṭa-lā-qa-tu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التَّرَدُّدُ</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hesitation</a:t>
            </a:r>
            <a:endParaRPr lang="en-US" sz="1350" dirty="0"/>
          </a:p>
          <a:p>
            <a:pPr indent="0" marL="0">
              <a:buNone/>
            </a:pPr>
            <a:r>
              <a:rPr lang="en-US" sz="1100" i="1" dirty="0">
                <a:solidFill>
                  <a:srgbClr val="5A6472"/>
                </a:solidFill>
                <a:latin typeface="Calibri" pitchFamily="34" charset="0"/>
                <a:cs typeface="Amiri" pitchFamily="2" charset="-78"/>
              </a:rPr>
              <a:t>at-ta-rad-du-du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سَبِيلِ المِثَالِ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الحَقِيقَةِ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fact</a:t>
            </a:r>
            <a:endParaRPr lang="en-US" sz="1350" dirty="0"/>
          </a:p>
          <a:p>
            <a:pPr indent="0" marL="0">
              <a:buNone/>
            </a:pPr>
            <a:r>
              <a:rPr lang="en-US" sz="1100" i="1" dirty="0">
                <a:solidFill>
                  <a:srgbClr val="5A6472"/>
                </a:solidFill>
                <a:latin typeface="Calibri" pitchFamily="34" charset="0"/>
                <a:cs typeface="Amiri" pitchFamily="2" charset="-78"/>
              </a:rPr>
              <a:t>fī al-ḥa-qī-qa-ti</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Buying time and repairing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repair phrase.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عَفْوًا، أَقْصِدُ</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sorry, I mean</a:t>
            </a:r>
            <a:endParaRPr lang="en-US" sz="1350" dirty="0"/>
          </a:p>
          <a:p>
            <a:pPr indent="0" marL="0">
              <a:buNone/>
            </a:pPr>
            <a:r>
              <a:rPr lang="en-US" sz="1100" i="1" dirty="0">
                <a:solidFill>
                  <a:srgbClr val="5A6472"/>
                </a:solidFill>
                <a:latin typeface="Calibri" pitchFamily="34" charset="0"/>
                <a:cs typeface="Amiri" pitchFamily="2" charset="-78"/>
              </a:rPr>
              <a:t>ʿaf-wan, aq-ṣi-du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دَعْنِي أُفَكِّرُ</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let me think</a:t>
            </a:r>
            <a:endParaRPr lang="en-US" sz="1350" dirty="0"/>
          </a:p>
          <a:p>
            <a:pPr indent="0" marL="0">
              <a:buNone/>
            </a:pPr>
            <a:r>
              <a:rPr lang="en-US" sz="1100" i="1" dirty="0">
                <a:solidFill>
                  <a:srgbClr val="5A6472"/>
                </a:solidFill>
                <a:latin typeface="Calibri" pitchFamily="34" charset="0"/>
                <a:cs typeface="Amiri" pitchFamily="2" charset="-78"/>
              </a:rPr>
              <a:t>daʿ-nī u-fak-ki-ru</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4" name="Shape 31"/>
          <p:cNvSpPr/>
          <p:nvPr/>
        </p:nvSpPr>
        <p:spPr>
          <a:xfrm>
            <a:off x="960120" y="1938528"/>
            <a:ext cx="1455725"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Buys thinking time.</a:t>
            </a:r>
            <a:endParaRPr lang="en-US" sz="8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سُؤَالٌ جَيِّدٌ</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good question</a:t>
            </a:r>
            <a:endParaRPr lang="en-US" sz="1350" dirty="0"/>
          </a:p>
          <a:p>
            <a:pPr indent="0" marL="0">
              <a:buNone/>
            </a:pPr>
            <a:r>
              <a:rPr lang="en-US" sz="1100" i="1" dirty="0">
                <a:solidFill>
                  <a:srgbClr val="5A6472"/>
                </a:solidFill>
                <a:latin typeface="Calibri" pitchFamily="34" charset="0"/>
                <a:cs typeface="Amiri" pitchFamily="2" charset="-78"/>
              </a:rPr>
              <a:t>su-ʾā-lun jay-yi-dun</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3" name="Shape 4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كَمَا قُلْتُ</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I said</a:t>
            </a:r>
            <a:endParaRPr lang="en-US" sz="1350" dirty="0"/>
          </a:p>
          <a:p>
            <a:pPr indent="0" marL="0">
              <a:buNone/>
            </a:pPr>
            <a:r>
              <a:rPr lang="en-US" sz="1100" i="1" dirty="0">
                <a:solidFill>
                  <a:srgbClr val="5A6472"/>
                </a:solidFill>
                <a:latin typeface="Calibri" pitchFamily="34" charset="0"/>
                <a:cs typeface="Amiri" pitchFamily="2" charset="-78"/>
              </a:rPr>
              <a:t>ka-mā qul-tu</a:t>
            </a:r>
            <a:endParaRPr lang="en-US" sz="135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0" name="Shape 47"/>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2" name="Shape 4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2" charset="-78"/>
                <a:ea typeface="Amiri" pitchFamily="2" charset="-78"/>
                <a:cs typeface="Amiri" pitchFamily="2" charset="-78"/>
              </a:rPr>
              <a:t>هَلْ يُمْكِنُ أَنْ تُعِيدَ السُّؤَالَ؟</a:t>
            </a:r>
            <a:endParaRPr lang="ar-SA" sz="2900" dirty="0"/>
          </a:p>
        </p:txBody>
      </p:sp>
      <p:sp>
        <p:nvSpPr>
          <p:cNvPr id="55" name="Text 5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could you repeat the question?</a:t>
            </a:r>
            <a:endParaRPr lang="en-US" sz="1350" dirty="0"/>
          </a:p>
          <a:p>
            <a:pPr indent="0" marL="0">
              <a:buNone/>
            </a:pPr>
            <a:r>
              <a:rPr lang="en-US" sz="1100" i="1" dirty="0">
                <a:solidFill>
                  <a:srgbClr val="5A6472"/>
                </a:solidFill>
                <a:latin typeface="Calibri" pitchFamily="34" charset="0"/>
                <a:cs typeface="Amiri" pitchFamily="2" charset="-78"/>
              </a:rPr>
              <a:t>hal yum-ki-nu an tu-ʿī-da as-su-ʾā-la?</a:t>
            </a:r>
            <a:endParaRPr lang="en-US" sz="1350" dirty="0"/>
          </a:p>
        </p:txBody>
      </p:sp>
      <p:sp>
        <p:nvSpPr>
          <p:cNvPr id="56" name="Shape 53"/>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a woman</a:t>
            </a:r>
            <a:endParaRPr lang="en-US" sz="700" dirty="0"/>
          </a:p>
        </p:txBody>
      </p:sp>
      <p:sp>
        <p:nvSpPr>
          <p:cNvPr id="58" name="Text 55"/>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هَلْ يُمْكِنُ أَنْ تُعِيدِي السُّؤَالَ؟</a:t>
            </a:r>
            <a:endParaRPr lang="ar-SA" sz="1350" dirty="0"/>
          </a:p>
        </p:txBody>
      </p:sp>
      <p:sp>
        <p:nvSpPr>
          <p:cNvPr id="59" name="Shape 5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566928"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2" name="Shape 59"/>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4" name="Shape 6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لَسْتُ مُتَأَكِّدًا</a:t>
            </a:r>
            <a:endParaRPr lang="ar-SA" sz="3000" dirty="0"/>
          </a:p>
        </p:txBody>
      </p:sp>
      <p:sp>
        <p:nvSpPr>
          <p:cNvPr id="67" name="Text 6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not sure</a:t>
            </a:r>
            <a:endParaRPr lang="en-US" sz="1350" dirty="0"/>
          </a:p>
          <a:p>
            <a:pPr indent="0" marL="0">
              <a:buNone/>
            </a:pPr>
            <a:r>
              <a:rPr lang="en-US" sz="1100" i="1" dirty="0">
                <a:solidFill>
                  <a:srgbClr val="5A6472"/>
                </a:solidFill>
                <a:latin typeface="Calibri" pitchFamily="34" charset="0"/>
                <a:cs typeface="Amiri" pitchFamily="2" charset="-78"/>
              </a:rPr>
              <a:t>las-tu mu-ta-ʾak-ki-dan</a:t>
            </a:r>
            <a:endParaRPr lang="en-US" sz="1350" dirty="0"/>
          </a:p>
        </p:txBody>
      </p:sp>
      <p:sp>
        <p:nvSpPr>
          <p:cNvPr id="68" name="Shape 65"/>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0" name="Text 67"/>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لَسْتُ مُتَأَكِّدَةً</a:t>
            </a:r>
            <a:endParaRPr lang="ar-SA" sz="15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 me think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دَعْنِي أُفَكِّرُ …</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did you start your hobby?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بَدَأْتَ هِوَايَتَكَ؟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Let me think… I started drawing when I was seven.</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دَعْنِي أُفَكِّرُ… بَدَأْتُ الرَّسْمَ عِنْدَمَا كُنْتُ فِي السَّابِعَةِ.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who encouraged you?</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وَمَنْ شَجَّعَكَ؟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sister encouraged me, because she… sorry, I mean: because he — no, my sister! Because she is an artist.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شَجَّعَتْنِي أُخْتِي، لِأَنَّهَا… عَفْوًا، أَقْصِدُ: لِأَنَّهُ — لَا، أُخْتِي! لِأَنَّهَا فَنَّانَةٌ.</a:t>
            </a:r>
            <a:endParaRPr lang="ar-SA" sz="195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Have you visited an exhibition?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زُرْتَ مَعْرِضًا؟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 visited an exhibition in London. In fact, it was the best day of the year.</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زُرْتُ مَعْرِضًا فِي لَنْدَنَ. فِي الحَقِيقَةِ، كَانَ أَجْمَلَ يَوْمٍ فِي السَّنَةِ.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answer about YOUR hobby — use </a:t>
            </a:r>
            <a:pPr algn="l" indent="0" marL="0">
              <a:buNone/>
            </a:pPr>
            <a:r>
              <a:rPr lang="ar-SA" altLang="en-US" sz="1500" b="1" dirty="0">
                <a:solidFill>
                  <a:srgbClr val="1B3B6F"/>
                </a:solidFill>
                <a:latin typeface="Amiri" pitchFamily="2" charset="-78"/>
                <a:ea typeface="Amiri" pitchFamily="2" charset="-78"/>
                <a:cs typeface="Amiri" pitchFamily="2" charset="-78"/>
              </a:rPr>
              <a:t>دَعْنِي أُفَكِّرُ</a:t>
            </a:r>
            <a:pPr algn="l" indent="0" marL="0">
              <a:buNone/>
            </a:pPr>
            <a:r>
              <a:rPr lang="en-US" sz="1150" b="1" dirty="0">
                <a:solidFill>
                  <a:srgbClr val="1B3B6F"/>
                </a:solidFill>
                <a:latin typeface="Calibri" pitchFamily="34" charset="0"/>
                <a:cs typeface="Amiri" pitchFamily="2" charset="-78"/>
              </a:rPr>
              <a:t> once and </a:t>
            </a:r>
            <a:pPr algn="l" indent="0" marL="0">
              <a:buNone/>
            </a:pPr>
            <a:r>
              <a:rPr lang="ar-SA" altLang="en-US" sz="1500" b="1" dirty="0">
                <a:solidFill>
                  <a:srgbClr val="1B3B6F"/>
                </a:solidFill>
                <a:latin typeface="Amiri" pitchFamily="2" charset="-78"/>
                <a:ea typeface="Amiri" pitchFamily="2" charset="-78"/>
                <a:cs typeface="Amiri" pitchFamily="2" charset="-78"/>
              </a:rPr>
              <a:t>عَفْوًا، أَقْصِدُ</a:t>
            </a:r>
            <a:pPr algn="l" indent="0" marL="0">
              <a:buNone/>
            </a:pPr>
            <a:r>
              <a:rPr lang="en-US" sz="1150" b="1" dirty="0">
                <a:solidFill>
                  <a:srgbClr val="1B3B6F"/>
                </a:solidFill>
                <a:latin typeface="Calibri" pitchFamily="34" charset="0"/>
                <a:cs typeface="Amiri" pitchFamily="2" charset="-78"/>
              </a:rPr>
              <a:t> once.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Examiner cards — past question, past answer, extended</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lnSpc>
                <a:spcPct val="120000"/>
              </a:lnSpc>
              <a:buNone/>
            </a:pPr>
            <a:r>
              <a:rPr lang="ar-SA" altLang="en-US" sz="1350" b="1" dirty="0">
                <a:solidFill>
                  <a:srgbClr val="1B3B6F"/>
                </a:solidFill>
                <a:latin typeface="Amiri" pitchFamily="2" charset="-78"/>
                <a:ea typeface="Amiri" pitchFamily="2" charset="-78"/>
                <a:cs typeface="Amiri" pitchFamily="2" charset="-78"/>
              </a:rPr>
              <a:t>… لِأَنَّ … · عَلَى سَبِيلِ المِثَالِ …</a:t>
            </a:r>
            <a:endParaRPr lang="ar-SA" sz="135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العُطْلَةِ المَاضِيَةِ زُرْتُ / سَافَرْتُ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do last holiday?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 فِي العُطْلَةِ المَاضِيَةِ؟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بَدَأْتُ … عِنْدَمَا كُنْتُ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did you start your favourite sport?</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بَدَأْتَ رِيَاضَتَكَ المُفَضَّلَةَ؟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وَرَأَيْنَا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ذَهَبْنَا إِلَى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did you all go on the last school trip?</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ذَهَبْتُمْ فِي آخِرِ رِحْلَةٍ مَدْرَسِيَّةٍ؟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أَمَّا الآنَ فَ…</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أُمَارِسُ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hobby did you use to do as a child?</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الهِوَايَةُ الَّتِي كُنْتَ تُمَارِسُهَا فِي الصِّغَرِ؟</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مَا زِلْتُ أَتَذَكَّرُ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كَانَ الجَوُّ … وَفَجْأَةً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sports day you won’t forget.</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يَوْمًا رِيَاضِيًّا لَا تَنْسَاهُ.</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Role-play card — the D5 speaking test (practice)</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اخْتِبَارُ المُحَادَثَةِ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المَاضِي ← … ثُمَّ … لِأَنَّ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past actions + reason.</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 فِي نِهَايَةِ الأُسْبُوعِ المَاضِيَةِ؟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هُمْ ← ذَهَبُوا … وَشَاهَدُوا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(-ū).</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فَعَلَ أَصْدِقَاؤُكَ؟</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Judgement + example.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كَانَتْ نِهَايَةُ أُسْبُوعٍ جَيِّدَةً؟</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Switch to the future.</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سَتَفْعَلُ نِهَايَةَ الأُسْبُوعِ القَادِمَةَ؟</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candidate · Leader = the examiner.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One minute under pressure: a past answer</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دَقِيقَةٌ تَحْتَ الضَّغْطِ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asks a past question from the cards with no warning. Answer for one minute in the past, with a reason and an example. The Coach counts stem errors and rewards one smooth repair.</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past verbs, no stem errors.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one irregular verb (</a:t>
            </a:r>
            <a:pPr algn="l" indent="0" marL="0">
              <a:buNone/>
            </a:pPr>
            <a:r>
              <a:rPr lang="ar-SA" altLang="en-US" sz="1500" dirty="0">
                <a:solidFill>
                  <a:srgbClr val="1F2A37"/>
                </a:solidFill>
                <a:latin typeface="Amiri" pitchFamily="2" charset="-78"/>
                <a:ea typeface="Amiri" pitchFamily="2" charset="-78"/>
                <a:cs typeface="Amiri" pitchFamily="2" charset="-78"/>
              </a:rPr>
              <a:t>زُرْتُ</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مَشَيْتُ</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نِمْتُ</a:t>
            </a:r>
            <a:pPr algn="l" indent="0" marL="0">
              <a:buNone/>
            </a:pPr>
            <a:r>
              <a:rPr lang="en-US" sz="1150" dirty="0">
                <a:solidFill>
                  <a:srgbClr val="1F2A37"/>
                </a:solidFill>
                <a:latin typeface="Calibri" pitchFamily="34" charset="0"/>
                <a:cs typeface="Amiri" pitchFamily="2" charset="-78"/>
              </a:rPr>
              <a:t>) and a reason.</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كَانَ</a:t>
            </a:r>
            <a:pPr algn="l" indent="0" marL="0">
              <a:buNone/>
            </a:pPr>
            <a:r>
              <a:rPr lang="en-US" sz="1150" dirty="0">
                <a:solidFill>
                  <a:srgbClr val="1F2A37"/>
                </a:solidFill>
                <a:latin typeface="Calibri" pitchFamily="34" charset="0"/>
                <a:cs typeface="Amiri" pitchFamily="2" charset="-78"/>
              </a:rPr>
              <a:t> + -an, a used-to and a smooth repair (</a:t>
            </a:r>
            <a:pPr algn="l" indent="0" marL="0">
              <a:buNone/>
            </a:pPr>
            <a:r>
              <a:rPr lang="ar-SA" altLang="en-US" sz="1500" dirty="0">
                <a:solidFill>
                  <a:srgbClr val="1F2A37"/>
                </a:solidFill>
                <a:latin typeface="Amiri" pitchFamily="2" charset="-78"/>
                <a:ea typeface="Amiri" pitchFamily="2" charset="-78"/>
                <a:cs typeface="Amiri" pitchFamily="2" charset="-78"/>
              </a:rPr>
              <a:t>عَفْوًا، أَقْصِدُ</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slept early because I was tired.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نِمْتُ</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نَامْتُ</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مُبَكِّرًا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مُبَكِّرٌ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لِأَنَّنِي كُنْتُ مُتْعَبًا.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لِأَنَّنِي كُنْتُ مُتْعَبٌ.</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walked to the stadium.</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مَشَيْنَا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مَشَانَا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المَلْعَبِ.</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المَلْعَبُ.</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Sorry, I mean she won the match.</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عَفْوًا، أَقْصِدُ</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شُكْرًا، أَقْصِدُ</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أَنَّهَا فَازَتْ</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أَنَّهَا فَازَ</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بِالمُبَارَاةِ.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بِالمُبَارَاةُ.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slept early because I was tired.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نَامَ</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نِمْتُ</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كُنْتُ</a:t>
            </a:r>
            <a:pPr algn="l" indent="0" marL="0">
              <a:buNone/>
            </a:pPr>
            <a:r>
              <a:rPr lang="en-US" sz="1050" i="1" dirty="0">
                <a:solidFill>
                  <a:srgbClr val="5A6472"/>
                </a:solidFill>
                <a:latin typeface="Calibri" pitchFamily="34" charset="0"/>
                <a:cs typeface="Amiri" pitchFamily="2" charset="-78"/>
              </a:rPr>
              <a:t> + -an.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نِمْتُ مُبَكِّرًا لِأَنَّنِي كُنْتُ مُتْعَبًا.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walked to the stadium.</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مَشَى</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مَشَيْنَا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مَشَيْنَا إِلَى المَلْعَبِ.</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Sorry, I mean she won the match.</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فَازَتْ</a:t>
            </a:r>
            <a:pPr algn="l" indent="0" marL="0">
              <a:buNone/>
            </a:pPr>
            <a:r>
              <a:rPr lang="en-US" sz="1050" i="1" dirty="0">
                <a:solidFill>
                  <a:srgbClr val="5A6472"/>
                </a:solidFill>
                <a:latin typeface="Calibri" pitchFamily="34" charset="0"/>
                <a:cs typeface="Amiri" pitchFamily="2" charset="-78"/>
              </a:rPr>
              <a:t>; repair phrase = </a:t>
            </a:r>
            <a:pPr algn="l" indent="0" marL="0">
              <a:buNone/>
            </a:pPr>
            <a:r>
              <a:rPr lang="ar-SA" altLang="en-US" sz="1350" dirty="0">
                <a:solidFill>
                  <a:srgbClr val="5A6472"/>
                </a:solidFill>
                <a:latin typeface="Amiri" pitchFamily="2" charset="-78"/>
                <a:ea typeface="Amiri" pitchFamily="2" charset="-78"/>
                <a:cs typeface="Amiri" pitchFamily="2" charset="-78"/>
              </a:rPr>
              <a:t>عَفْوًا، أَقْصِدُ</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عَفْوًا، أَقْصِدُ أَنَّهَا فَازَتْ بِالمُبَارَاةِ.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كَيْفَ بَدَأْتَ؟ — أَبْدَأُ فِي السَّابِعَةِ.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Past question →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زَارْتُ عَمِّي أَمْسِ.</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Fix the stem first.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لَعِبْتُ.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Too short — extend!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كَيْفَ بَدَأْتَ؟ — أَبْدَأُ فِي السَّابِعَةِ.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بَدَأْتُ فِي السَّابِعَةِ.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Answer a past question in the past.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زَارْتُ عَمِّي أَمْسِ.</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زُرْتُ عَمِّي أَمْسِ.</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زَارَ → زُرْتُ.</a:t>
            </a:r>
            <a:endParaRPr lang="ar-SA" sz="14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لَعِبْتُ.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350" b="1" dirty="0">
                <a:solidFill>
                  <a:srgbClr val="1E6B52"/>
                </a:solidFill>
                <a:latin typeface="Amiri" pitchFamily="2" charset="-78"/>
                <a:ea typeface="Amiri" pitchFamily="2" charset="-78"/>
                <a:cs typeface="Amiri" pitchFamily="2" charset="-78"/>
              </a:rPr>
              <a:t>لَعِبْتُ التِّنِسَ مَعَ أَبِي، لِأَنَّ الجَوَّ كَانَ جَمِيلًا.</a:t>
            </a:r>
            <a:endParaRPr lang="ar-SA" sz="235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answer: verb + detail + reason.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فِي الحَقِيقَةِ ______ ؛ عَلَى سَبِيلِ المِثَالِ ______ .</a:t>
            </a:r>
            <a:endParaRPr lang="ar-SA" sz="15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fact …; for example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 / قَالَتْ / قَالُوا إِنَّ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 they said that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يَوْمٍ فِي حَيَاتِي كَانَ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best day of my life was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الجَوُّ ______ ، وَكُنَّا فِي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weather was …, and we were in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______ ، ثُمَّ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First …, then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زِلْتُ أَتَذَكَّرُ ______ ، لِأَنَّ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still remember …,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زُرْتُ · زُرْنَا  ·  نِمْتُ · نِمْنَا  ·  مَشَيْتُ · مَشَيْنَا  ·  قُلْتُ · قَالُوا  ·  كَانَ الجَوُّ جَمِيلًا  ·  عَلَى سَبِيلِ المِثَالِ  ·  فِي الحَقِيقَةِ  ·  مَا زِلْتُ أَتَذَكَّرُ</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polished exam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إِجَابَةٌ مُتْقَنَةٌ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Exam question: «</a:t>
            </a:r>
            <a:pPr algn="l" indent="0" marL="0">
              <a:buNone/>
            </a:pPr>
            <a:r>
              <a:rPr lang="ar-SA" altLang="en-US" sz="1450" b="1" dirty="0">
                <a:solidFill>
                  <a:srgbClr val="1F2A37"/>
                </a:solidFill>
                <a:latin typeface="Amiri" pitchFamily="2" charset="-78"/>
                <a:ea typeface="Amiri" pitchFamily="2" charset="-78"/>
                <a:cs typeface="Amiri" pitchFamily="2" charset="-78"/>
              </a:rPr>
              <a:t>صِفْ أَفْضَلَ يَوْمٍ فِي حَيَاتِكَ</a:t>
            </a:r>
            <a:pPr algn="l" indent="0" marL="0">
              <a:buNone/>
            </a:pPr>
            <a:r>
              <a:rPr lang="en-US" sz="1100" b="1" dirty="0">
                <a:solidFill>
                  <a:srgbClr val="1F2A37"/>
                </a:solidFill>
                <a:latin typeface="Calibri" pitchFamily="34" charset="0"/>
                <a:cs typeface="Amiri" pitchFamily="2" charset="-78"/>
              </a:rPr>
              <a:t>.» Write a polished answer (about 60–80 words). Include: • the scene (</a:t>
            </a:r>
            <a:pPr algn="l" indent="0" marL="0">
              <a:buNone/>
            </a:pPr>
            <a:r>
              <a:rPr lang="ar-SA" altLang="en-US" sz="1450" b="1" dirty="0">
                <a:solidFill>
                  <a:srgbClr val="1F2A37"/>
                </a:solidFill>
                <a:latin typeface="Amiri" pitchFamily="2" charset="-78"/>
                <a:ea typeface="Amiri" pitchFamily="2" charset="-78"/>
                <a:cs typeface="Amiri" pitchFamily="2" charset="-78"/>
              </a:rPr>
              <a:t>كَانَ</a:t>
            </a:r>
            <a:pPr algn="l" indent="0" marL="0">
              <a:buNone/>
            </a:pPr>
            <a:r>
              <a:rPr lang="en-US" sz="1100" b="1" dirty="0">
                <a:solidFill>
                  <a:srgbClr val="1F2A37"/>
                </a:solidFill>
                <a:latin typeface="Calibri" pitchFamily="34" charset="0"/>
                <a:cs typeface="Amiri" pitchFamily="2" charset="-78"/>
              </a:rPr>
              <a:t> + -an) • five past verbs, two of them irregular • a “we” action and a “they” action • a reason and an example • a reflection (</a:t>
            </a:r>
            <a:pPr algn="l" indent="0" marL="0">
              <a:buNone/>
            </a:pPr>
            <a:r>
              <a:rPr lang="ar-SA" altLang="en-US" sz="1450" b="1" dirty="0">
                <a:solidFill>
                  <a:srgbClr val="1F2A37"/>
                </a:solidFill>
                <a:latin typeface="Amiri" pitchFamily="2" charset="-78"/>
                <a:ea typeface="Amiri" pitchFamily="2" charset="-78"/>
                <a:cs typeface="Amiri" pitchFamily="2" charset="-78"/>
              </a:rPr>
              <a:t>مَا زِلْتُ أَتَذَكَّرُ</a:t>
            </a:r>
            <a:pPr algn="l" indent="0" marL="0">
              <a:buNone/>
            </a:pPr>
            <a:r>
              <a:rPr lang="en-US" sz="1100" b="1" dirty="0">
                <a:solidFill>
                  <a:srgbClr val="1F2A37"/>
                </a:solidFill>
                <a:latin typeface="Calibri" pitchFamily="34" charset="0"/>
                <a:cs typeface="Amiri" pitchFamily="2" charset="-78"/>
              </a:rPr>
              <a:t> …). Then check every stem with your buddy.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ذٰلِكَ اليَوْمُ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that day was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زُرْنَا … · نِمْنَا … · قَالُوا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visited … · we slept … · they said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سَبِيلِ المِثَالِ … · فِي الحَقِيقَةِ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example … · in fact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زِلْتُ أَتَذَكَّرُ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still remember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past questions in the past with correct stems?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extend with a reason and an example, and repair smoothly?</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لَعِبْتُ مُبَارَاةً مَعَ فَرِيقِي، ثُمَّ زُرْتُ جَدِّي لِأَنَّهُ كَانَ مَرِيضًا.</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played a match with my team, then visited my grandfather because he was ill.</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فَعَلْتَ فِي نِهَايَةِ الأُسْبُوعِ المَاضِيَةِ؟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ذَهَبُوا إِلَى السِّينِمَا، وَشَاهَدُوا فِيلْمًا جَدِيدًا.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They went to the cinema and watched a new film.</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فَعَلَ أَصْدِقَاؤُكَ؟</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الحَقِيقَةِ نَعَمْ؛ عَلَى سَبِيلِ المِثَالِ، سَجَّلْتُ هَدَفَيْنِ!</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fact yes — for example, I scored two goals!</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كَانَتْ نِهَايَةُ أُسْبُوعٍ جَيِّدَةً؟</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دَعْنِي أُفَكِّرُ… سَأُرَاجِعُ لِلِامْتِحَانَاتِ، وَسَأَلْعَبُ مُبَارَاةً أُخْرَى يَوْمَ الأَحَدِ.</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Let me think… I will revise for exams, and play another match on Sunday.</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سَتَفْعَلُ نِهَايَةَ الأُسْبُوعِ القَادِمَةَ؟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أَفْضَلُ يَوْمٍ فِي حَيَاتِي كَانَ يَوْمَ فَازَ فَرِيقُ مَدْرَسَتِنَا بِالكَأْسِ. كَانَ الجَوُّ بَارِدًا، وَكُنَّا فِي مَلْعَبِ المَدِينَةِ. أَوَّلًا مَشَيْنَا مَعَ المُدَرِّبِ إِلَى المَلْعَبِ، ثُمَّ لَعِبْنَا مُبَارَاةً صَعْبَةً جِدًّا. فِي الحَقِيقَةِ كُنَّا خَائِفِينَ؛ عَلَى سَبِيلِ المِثَالِ، خَسِرْنَا الشَّوْطَ الأَوَّلَ. وَلٰكِنْ فِي النِّهَايَةِ سَجَّلْتُ هَدَفَ الفَوْزِ! قَالَ أَصْدِقَائِي إِنَّنِي بَطَلُ اليَوْمِ. فِي تِلْكَ اللَّيْلَةِ لَمْ أَنَمْ مِنَ الفَرَحِ. مَا زِلْتُ أَتَذَكَّرُ ذٰلِكَ اليَوْمَ، لِأَنَّهُ عَلَّمَنِي أَلَّا أَسْتَسْلِمَ.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best day of my life was the day our school team won the cup. The weather was cold, and we were at the city stadium. First we walked with the coach to the stadium, then played a very hard match. In fact we were scared; for example, we lost the first half. But in the end I scored the winning goal! My friends said I was the hero of the day. That night I couldn’t sleep from happiness. I still remember that day, because it taught me never to give up.”</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الجَوُّ بَارِدًا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مَشَيْنَا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قَالَ أَصْدِقَائِي إِنَّنِي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 أَنَمْ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D5-L12 · Review and Unit Assessment: Hobbies, Sport and Leisure</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المُرَاجَعَةُ وَتَقْيِيمُ الوَحْدَةِ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D5-L11 · Practice Room — D5 Consolidation — Past Tense Mastery and Speaking Preparation</dc:title>
  <dc:subject>PptxGenJS Presentation</dc:subject>
  <dc:creator>Al Madina Online School · Arabic Department</dc:creator>
  <cp:lastModifiedBy>Al Madina Online School · Arabic Department</cp:lastModifiedBy>
  <cp:revision>1</cp:revision>
  <dcterms:created xsi:type="dcterms:W3CDTF">2026-10-25T18:44:21Z</dcterms:created>
  <dcterms:modified xsi:type="dcterms:W3CDTF">2026-10-25T18:44:21Z</dcterms:modified>
</cp:coreProperties>
</file>