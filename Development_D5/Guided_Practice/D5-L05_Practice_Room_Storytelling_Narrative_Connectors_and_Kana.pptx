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D5-L05 (Storytelling — Narrative Connectors and كَانَ Description) — new practice tasks built on the lesson’s own word bank and grammar (story shape: setting (kāna al-ṭaqsu jamīlan — kāna + adjective in -an) → background / used to (kāna yalʿabu · kuntu aqraʾu) → the turn (fajʾatan · fī tilka al-laḥẓa) → ending (fī al-nihāya · li-l-asaf) → reflection (mā ziltu atadhakkaru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friend to a girl: كُنْتِ تَفْعَلِينَ · شَعَرْتِ · كُنْتُ وَحْدِي (no change). kāna + adjective in -an for the scene; kuntu + present verb for “was …-ing”.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Storytelling — Narrative Connectors and </a:t>
            </a:r>
            <a:pPr algn="l" indent="0" marL="0">
              <a:buNone/>
            </a:pPr>
            <a:r>
              <a:rPr lang="ar-SA" altLang="en-US" sz="3450" b="1" dirty="0">
                <a:solidFill>
                  <a:srgbClr val="FFFFFF"/>
                </a:solidFill>
                <a:latin typeface="Amiri" pitchFamily="2" charset="-78"/>
                <a:ea typeface="Amiri" pitchFamily="2" charset="-78"/>
                <a:cs typeface="Amiri" pitchFamily="2" charset="-78"/>
              </a:rPr>
              <a:t>كَانَ</a:t>
            </a:r>
            <a:pPr algn="l" indent="0" marL="0">
              <a:buNone/>
            </a:pPr>
            <a:r>
              <a:rPr lang="en-US" sz="2650" b="1" dirty="0">
                <a:solidFill>
                  <a:srgbClr val="FFFFFF"/>
                </a:solidFill>
                <a:latin typeface="Cambria" pitchFamily="34" charset="0"/>
                <a:cs typeface="Amiri" pitchFamily="2" charset="-78"/>
              </a:rPr>
              <a:t> Description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رِوَايَةُ القِصَصِ</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telling stories: say the story connectors, act a short story dialogue, answer question cards about a memory, do a role-play card telling a friend about a surprising day, give a one-minute story with a twist, then build, fix and write a short memory story.</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D5-L05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Story 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البِدَايَةِ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beginning</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accusative; marks the turning point.</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تِلْكَ اللَّحْظَةِ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that moment</a:t>
            </a:r>
            <a:endParaRPr lang="en-US" sz="1350" dirty="0"/>
          </a:p>
          <a:p>
            <a:pPr indent="0" marL="0">
              <a:buNone/>
            </a:pPr>
            <a:r>
              <a:rPr lang="en-US" sz="1100" i="1" dirty="0">
                <a:solidFill>
                  <a:srgbClr val="5A6472"/>
                </a:solidFill>
                <a:latin typeface="Calibri" pitchFamily="34" charset="0"/>
                <a:cs typeface="Amiri" pitchFamily="2" charset="-78"/>
              </a:rPr>
              <a:t>fī til-ka all-laḥ-ẓa-ti</a:t>
            </a:r>
            <a:endParaRPr lang="en-US" sz="1350" dirty="0"/>
          </a:p>
        </p:txBody>
      </p:sp>
      <p:sp>
        <p:nvSpPr>
          <p:cNvPr id="44" name="Shape 4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389120"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7" name="Shape 4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لِلْأَسَفِ</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unfortunately</a:t>
            </a:r>
            <a:endParaRPr lang="en-US" sz="1350" dirty="0"/>
          </a:p>
          <a:p>
            <a:pPr indent="0" marL="0">
              <a:buNone/>
            </a:pPr>
            <a:r>
              <a:rPr lang="en-US" sz="1100" i="1" dirty="0">
                <a:solidFill>
                  <a:srgbClr val="5A6472"/>
                </a:solidFill>
                <a:latin typeface="Calibri" pitchFamily="34" charset="0"/>
                <a:cs typeface="Amiri" pitchFamily="2" charset="-78"/>
              </a:rPr>
              <a:t>lil-ʾa-sa-fi</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kāna and memories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(m. sing.)</a:t>
            </a:r>
            <a:endParaRPr lang="en-US" sz="1350" dirty="0"/>
          </a:p>
          <a:p>
            <a:pPr indent="0" marL="0">
              <a:buNone/>
            </a:pPr>
            <a:r>
              <a:rPr lang="en-US" sz="1100" i="1" dirty="0">
                <a:solidFill>
                  <a:srgbClr val="5A6472"/>
                </a:solidFill>
                <a:latin typeface="Calibri" pitchFamily="34" charset="0"/>
                <a:cs typeface="Amiri" pitchFamily="2" charset="-78"/>
              </a:rPr>
              <a:t>kā-na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كَانُوا</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كَانَتْ</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(f. sing.)</a:t>
            </a:r>
            <a:endParaRPr lang="en-US" sz="1350" dirty="0"/>
          </a:p>
          <a:p>
            <a:pPr indent="0" marL="0">
              <a:buNone/>
            </a:pPr>
            <a:r>
              <a:rPr lang="en-US" sz="1100" i="1" dirty="0">
                <a:solidFill>
                  <a:srgbClr val="5A6472"/>
                </a:solidFill>
                <a:latin typeface="Calibri" pitchFamily="34" charset="0"/>
                <a:cs typeface="Amiri" pitchFamily="2" charset="-78"/>
              </a:rPr>
              <a:t>kā-nat</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was</a:t>
            </a:r>
            <a:endParaRPr lang="en-US" sz="1350" dirty="0"/>
          </a:p>
          <a:p>
            <a:pPr indent="0" marL="0">
              <a:buNone/>
            </a:pPr>
            <a:r>
              <a:rPr lang="en-US" sz="1100" i="1" dirty="0">
                <a:solidFill>
                  <a:srgbClr val="5A6472"/>
                </a:solidFill>
                <a:latin typeface="Calibri" pitchFamily="34" charset="0"/>
                <a:cs typeface="Amiri" pitchFamily="2" charset="-78"/>
              </a:rPr>
              <a:t>kun-tu</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كُنَّا</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يَلْعَبُ</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used to play</a:t>
            </a:r>
            <a:endParaRPr lang="en-US" sz="1350" dirty="0"/>
          </a:p>
          <a:p>
            <a:pPr indent="0" marL="0">
              <a:buNone/>
            </a:pPr>
            <a:r>
              <a:rPr lang="en-US" sz="1100" i="1" dirty="0">
                <a:solidFill>
                  <a:srgbClr val="5A6472"/>
                </a:solidFill>
                <a:latin typeface="Calibri" pitchFamily="34" charset="0"/>
                <a:cs typeface="Amiri" pitchFamily="2" charset="-78"/>
              </a:rPr>
              <a:t>kā-na yal-ʿa-bu</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كَانُوا يَلْعَبُونَ</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تَلْعَبُ</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ذِكْرَى / ذِكْرَيَاتٌ</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memory / memories</a:t>
            </a:r>
            <a:endParaRPr lang="en-US" sz="1350" dirty="0"/>
          </a:p>
          <a:p>
            <a:pPr indent="0" marL="0">
              <a:buNone/>
            </a:pPr>
            <a:r>
              <a:rPr lang="en-US" sz="1100" i="1" dirty="0">
                <a:solidFill>
                  <a:srgbClr val="5A6472"/>
                </a:solidFill>
                <a:latin typeface="Calibri" pitchFamily="34" charset="0"/>
                <a:cs typeface="Amiri" pitchFamily="2" charset="-78"/>
              </a:rPr>
              <a:t>dhik-rā / dhik-ra-yā-tun</a:t>
            </a:r>
            <a:endParaRPr lang="en-US"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6" name="Shape 7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زِلْتُ أَتَذَكَّرُ</a:t>
            </a:r>
            <a:endParaRPr lang="ar-SA" sz="3000" dirty="0"/>
          </a:p>
        </p:txBody>
      </p:sp>
      <p:sp>
        <p:nvSpPr>
          <p:cNvPr id="79" name="Text 7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still remember</a:t>
            </a:r>
            <a:endParaRPr lang="en-US" sz="1350" dirty="0"/>
          </a:p>
          <a:p>
            <a:pPr indent="0" marL="0">
              <a:buNone/>
            </a:pPr>
            <a:r>
              <a:rPr lang="en-US" sz="1100" i="1" dirty="0">
                <a:solidFill>
                  <a:srgbClr val="5A6472"/>
                </a:solidFill>
                <a:latin typeface="Calibri" pitchFamily="34" charset="0"/>
                <a:cs typeface="Amiri" pitchFamily="2" charset="-78"/>
              </a:rPr>
              <a:t>mā zil-tu a-ta-dhak-ka-ru</a:t>
            </a:r>
            <a:endParaRPr lang="en-US" sz="1350" dirty="0"/>
          </a:p>
        </p:txBody>
      </p:sp>
      <p:sp>
        <p:nvSpPr>
          <p:cNvPr id="80" name="Text 7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مَا زَالَ</a:t>
            </a:r>
            <a:pPr algn="l" indent="0" marL="0">
              <a:buNone/>
            </a:pPr>
            <a:r>
              <a:rPr lang="en-US" sz="1000" i="1" dirty="0">
                <a:solidFill>
                  <a:srgbClr val="8A6D1E"/>
                </a:solidFill>
                <a:latin typeface="Calibri" pitchFamily="34" charset="0"/>
                <a:cs typeface="Amiri" pitchFamily="2" charset="-78"/>
              </a:rPr>
              <a:t> plus a present verb.</a:t>
            </a:r>
            <a:endParaRPr lang="en-US" sz="10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day I will never forget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لَنْ أَنْسَاهُ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me about a day you won’t forget.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احْكِ لِي عَنْ يَوْمٍ لَا تَنْسَاهُ.</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was ten, and the weather was lovely. We were at the zoo.</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كُنْتُ فِي العَاشِرَةِ، وَكَانَ الطَّقْسُ جَمِيلًا. كُنَّا فِي حَدِيقَةِ الحَيَوَانَاتِ.</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happened?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حَدَثَ؟</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 was eating an ice cream, and suddenly a monkey snatched it from his hand!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أَخِي يَأْكُلُ الآيِسْ كِرِيم، وَفَجْأَةً خَطَفَهُ قِرْدٌ مِنْ يَدِهِ!</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in the end?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وَفِي النِّهَايَةِ؟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end we all laughed, and I still remember my brother’s face to this 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النِّهَايَةِ ضَحِكْنَا كُلُّنَا، وَمَا زِلْتُ أَتَذَكَّرُ وَجْهَ أَخِي حَتَّى الآنَ!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tell YOUR memory with the same five steps.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Story cards — one step per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كُنَّا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فِي … ، وَكَانَ الطَّقْسُ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When and where were you?</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مَتَى وَأَيْنَ كُنْتَ؟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كُنَّا نَلْعَبُ / كَانَ أَبِي يَقْرَأُ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What were you doing?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مَاذَا كُنْتُمْ تَفْعَلُونَ؟</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تِلْكَ اللَّحْظَةِ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فَجْأَةً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What suddenly happened?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مَاذَا حَدَثَ فَجْأَةً؟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النِّهَايَةِ … / لِلْأَسَفِ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How did the story 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كَيْفَ انْتَهَتِ القِصَّةُ؟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زِلْتُ أَتَذَكَّرُهُ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Why do you remember this 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٥) لِمَاذَا تَتَذَكَّرُ هٰذَا اليَوْمَ؟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telling a friend about a surprising day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مُفَاجِئٌ</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المَشْهَدُ ← كَانَ الجَوُّ … وَكُنْتُ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Set the scene.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كَانَ يَوْمُ السَّبْتِ؟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الخَلْفِيَّةُ ← كُنْتُ أُشَاهِدُ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Background (was …-ing).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كُنْتَ تَفْعَلُ؟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twist.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Feeling + reflection.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وَكَيْفَ شَعَرْتَ؟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storyteller · Leader = a curious friend.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 story with a twist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قِصَّةٌ فِيهَا مُفَاجَأَةٌ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Tell a true or invented story for one minute with the five steps: scene → background → twist → ending → reflection.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Scene with </a:t>
            </a:r>
            <a:pPr algn="l" indent="0" marL="0">
              <a:buNone/>
            </a:pPr>
            <a:r>
              <a:rPr lang="ar-SA" altLang="en-US" sz="1500" dirty="0">
                <a:solidFill>
                  <a:srgbClr val="1F2A37"/>
                </a:solidFill>
                <a:latin typeface="Amiri" pitchFamily="2" charset="-78"/>
                <a:ea typeface="Amiri" pitchFamily="2" charset="-78"/>
                <a:cs typeface="Amiri" pitchFamily="2" charset="-78"/>
              </a:rPr>
              <a:t>كَانَ</a:t>
            </a:r>
            <a:pPr algn="l" indent="0" marL="0">
              <a:buNone/>
            </a:pPr>
            <a:r>
              <a:rPr lang="en-US" sz="1150" dirty="0">
                <a:solidFill>
                  <a:srgbClr val="1F2A37"/>
                </a:solidFill>
                <a:latin typeface="Calibri" pitchFamily="34" charset="0"/>
                <a:cs typeface="Amiri" pitchFamily="2" charset="-78"/>
              </a:rPr>
              <a:t> + -an and three past verbs.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كُنْتُ / كَانَ</a:t>
            </a:r>
            <a:pPr algn="l" indent="0" marL="0">
              <a:buNone/>
            </a:pPr>
            <a:r>
              <a:rPr lang="en-US" sz="1150" dirty="0">
                <a:solidFill>
                  <a:srgbClr val="1F2A37"/>
                </a:solidFill>
                <a:latin typeface="Calibri" pitchFamily="34" charset="0"/>
                <a:cs typeface="Amiri" pitchFamily="2" charset="-78"/>
              </a:rPr>
              <a:t> + present verb (was …-ing) and </a:t>
            </a:r>
            <a:pPr algn="l" indent="0" marL="0">
              <a:buNone/>
            </a:pPr>
            <a:r>
              <a:rPr lang="ar-SA" altLang="en-US" sz="1500" dirty="0">
                <a:solidFill>
                  <a:srgbClr val="1F2A37"/>
                </a:solidFill>
                <a:latin typeface="Amiri" pitchFamily="2" charset="-78"/>
                <a:ea typeface="Amiri" pitchFamily="2" charset="-78"/>
                <a:cs typeface="Amiri" pitchFamily="2" charset="-78"/>
              </a:rPr>
              <a:t>فَجْأَةً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فِي تِلْكَ اللَّحْظَةِ</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لِلْأَسَفِ</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مَا زِلْتُ أَتَذَكَّرُ</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weather was hot.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الطَّقْسُ</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الطَّقْسَ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حَارًّا.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حَارٌّ.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were playing when suddenly it rained.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 نَلْعَبُ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 لَعِبْنَا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سَقَطَ المَطَرُ فَجْأَةً.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يَسْقُطُ المَطَرُ فَجْأَةً.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still remember that trip.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 زِلْتُ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 زَالَ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أَتَذَكَّرُ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تَذَكَّرْتُ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تِلْكَ الرِّحْلَةَ.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ذٰلِكَ الرِّحْلَةَ.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weather was hot.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 subject (-u) + adjective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 الطَّقْسُ حَارًّا.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were playing when suddenly it rained.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Background = </a:t>
            </a:r>
            <a:pPr algn="l" indent="0" marL="0">
              <a:buNone/>
            </a:pPr>
            <a:r>
              <a:rPr lang="ar-SA" altLang="en-US" sz="1350" dirty="0">
                <a:solidFill>
                  <a:srgbClr val="5A6472"/>
                </a:solidFill>
                <a:latin typeface="Amiri" pitchFamily="2" charset="-78"/>
                <a:ea typeface="Amiri" pitchFamily="2" charset="-78"/>
                <a:cs typeface="Amiri" pitchFamily="2" charset="-78"/>
              </a:rPr>
              <a:t>كُنَّا</a:t>
            </a:r>
            <a:pPr algn="l" indent="0" marL="0">
              <a:buNone/>
            </a:pPr>
            <a:r>
              <a:rPr lang="en-US" sz="1050" i="1" dirty="0">
                <a:solidFill>
                  <a:srgbClr val="5A6472"/>
                </a:solidFill>
                <a:latin typeface="Calibri" pitchFamily="34" charset="0"/>
                <a:cs typeface="Amiri" pitchFamily="2" charset="-78"/>
              </a:rPr>
              <a:t> + present; the event = past.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كُنَّا نَلْعَبُ عِنْدَمَا سَقَطَ المَطَرُ فَجْأَةً.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still remember that trip.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مَا زِلْتُ</a:t>
            </a:r>
            <a:pPr algn="l" indent="0" marL="0">
              <a:buNone/>
            </a:pPr>
            <a:r>
              <a:rPr lang="en-US" sz="1050" i="1" dirty="0">
                <a:solidFill>
                  <a:srgbClr val="5A6472"/>
                </a:solidFill>
                <a:latin typeface="Calibri" pitchFamily="34" charset="0"/>
                <a:cs typeface="Amiri" pitchFamily="2" charset="-78"/>
              </a:rPr>
              <a:t> + present; </a:t>
            </a:r>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مَا زِلْتُ أَتَذَكَّرُ تِلْكَ الرِّحْلَةَ.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الجَوُّ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لَعِبْتُ فِي الحَدِيقَةِ عِنْدَمَا …</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Was …-ing.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أُمِّي تَطْبُخُ.</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الجَوُّ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الجَوُّ جَمِيلًا.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adjective in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كُنْتُ لَعِبْتُ فِي الحَدِيقَةِ عِنْدَمَا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أَلْعَبُ فِي الحَدِيقَةِ عِنْدَمَا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أُمِّي تَطْبُخُ.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كَانَتْ أُمِّي تَطْبُخُ.</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a:r>
            <a:pPr algn="l" indent="0" marL="0">
              <a:buNone/>
            </a:pPr>
            <a:r>
              <a:rPr lang="ar-SA" altLang="en-US" sz="1500" b="1" dirty="0">
                <a:solidFill>
                  <a:srgbClr val="1B3B6F"/>
                </a:solidFill>
                <a:latin typeface="Amiri" pitchFamily="2" charset="-78"/>
                <a:ea typeface="Amiri" pitchFamily="2" charset="-78"/>
                <a:cs typeface="Amiri" pitchFamily="2" charset="-78"/>
              </a:rPr>
              <a:t>كَانَتْ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تِلْكَ اللَّحْظَةِ ______ ،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that moment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______ ،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still remember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فِي ______ مِنْ عُمُرِي، وَكَانَ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was … years old, and … was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______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were …-ing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Suddenly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البِدَايَةِ  ·  ثُمَّ  ·  فَجْأَةً  ·  فِي تِلْكَ اللَّحْظَةِ  ·  لِلْأَسَفِ  ·  فِي النِّهَايَةِ  ·  كَانَ · كَانَتْ · كُنْتُ  ·  مَا زِلْتُ أَتَذَكَّرُ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memory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قِصَّةٌ مِنْ ذِكْرَيَاتِي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story (about 60–80 words) about a memory for a class anthology. Follow the five steps: scene (</a:t>
            </a:r>
            <a:pPr algn="l" indent="0" marL="0">
              <a:buNone/>
            </a:pPr>
            <a:r>
              <a:rPr lang="ar-SA" altLang="en-US" sz="1750" b="1" dirty="0">
                <a:solidFill>
                  <a:srgbClr val="1F2A37"/>
                </a:solidFill>
                <a:latin typeface="Amiri" pitchFamily="2" charset="-78"/>
                <a:ea typeface="Amiri" pitchFamily="2" charset="-78"/>
                <a:cs typeface="Amiri" pitchFamily="2" charset="-78"/>
              </a:rPr>
              <a:t>كَانَ</a:t>
            </a:r>
            <a:pPr algn="l" indent="0" marL="0">
              <a:buNone/>
            </a:pPr>
            <a:r>
              <a:rPr lang="en-US" sz="1350" b="1" dirty="0">
                <a:solidFill>
                  <a:srgbClr val="1F2A37"/>
                </a:solidFill>
                <a:latin typeface="Calibri" pitchFamily="34" charset="0"/>
                <a:cs typeface="Amiri" pitchFamily="2" charset="-78"/>
              </a:rPr>
              <a:t> + -an) → background (</a:t>
            </a:r>
            <a:pPr algn="l" indent="0" marL="0">
              <a:buNone/>
            </a:pPr>
            <a:r>
              <a:rPr lang="ar-SA" altLang="en-US" sz="1750" b="1" dirty="0">
                <a:solidFill>
                  <a:srgbClr val="1F2A37"/>
                </a:solidFill>
                <a:latin typeface="Amiri" pitchFamily="2" charset="-78"/>
                <a:ea typeface="Amiri" pitchFamily="2" charset="-78"/>
                <a:cs typeface="Amiri" pitchFamily="2" charset="-78"/>
              </a:rPr>
              <a:t>كُنْتُ / كَانَ</a:t>
            </a:r>
            <a:pPr algn="l" indent="0" marL="0">
              <a:buNone/>
            </a:pPr>
            <a:r>
              <a:rPr lang="en-US" sz="1350" b="1" dirty="0">
                <a:solidFill>
                  <a:srgbClr val="1F2A37"/>
                </a:solidFill>
                <a:latin typeface="Calibri" pitchFamily="34" charset="0"/>
                <a:cs typeface="Amiri" pitchFamily="2" charset="-78"/>
              </a:rPr>
              <a:t> + present) → twist (</a:t>
            </a:r>
            <a:pPr algn="l" indent="0" marL="0">
              <a:buNone/>
            </a:pPr>
            <a:r>
              <a:rPr lang="ar-SA" altLang="en-US" sz="1750" b="1" dirty="0">
                <a:solidFill>
                  <a:srgbClr val="1F2A37"/>
                </a:solidFill>
                <a:latin typeface="Amiri" pitchFamily="2" charset="-78"/>
                <a:ea typeface="Amiri" pitchFamily="2" charset="-78"/>
                <a:cs typeface="Amiri" pitchFamily="2" charset="-78"/>
              </a:rPr>
              <a:t>فَجْأَةً</a:t>
            </a:r>
            <a:pPr algn="l" indent="0" marL="0">
              <a:buNone/>
            </a:pPr>
            <a:r>
              <a:rPr lang="en-US" sz="1350" b="1" dirty="0">
                <a:solidFill>
                  <a:srgbClr val="1F2A37"/>
                </a:solidFill>
                <a:latin typeface="Calibri" pitchFamily="34" charset="0"/>
                <a:cs typeface="Amiri" pitchFamily="2" charset="-78"/>
              </a:rPr>
              <a:t>) → ending (</a:t>
            </a:r>
            <a:pPr algn="l" indent="0" marL="0">
              <a:buNone/>
            </a:pPr>
            <a:r>
              <a:rPr lang="ar-SA" altLang="en-US" sz="1750" b="1" dirty="0">
                <a:solidFill>
                  <a:srgbClr val="1F2A37"/>
                </a:solidFill>
                <a:latin typeface="Amiri" pitchFamily="2" charset="-78"/>
                <a:ea typeface="Amiri" pitchFamily="2" charset="-78"/>
                <a:cs typeface="Amiri" pitchFamily="2" charset="-78"/>
              </a:rPr>
              <a:t>فِي النِّهَايَةِ / لِلْأَسَفِ</a:t>
            </a:r>
            <a:pPr algn="l" indent="0" marL="0">
              <a:buNone/>
            </a:pPr>
            <a:r>
              <a:rPr lang="en-US" sz="1350" b="1" dirty="0">
                <a:solidFill>
                  <a:srgbClr val="1F2A37"/>
                </a:solidFill>
                <a:latin typeface="Calibri" pitchFamily="34" charset="0"/>
                <a:cs typeface="Amiri" pitchFamily="2" charset="-78"/>
              </a:rPr>
              <a:t>) → reflection (</a:t>
            </a:r>
            <a:pPr algn="l" indent="0" marL="0">
              <a:buNone/>
            </a:pPr>
            <a:r>
              <a:rPr lang="ar-SA" altLang="en-US" sz="1750" b="1" dirty="0">
                <a:solidFill>
                  <a:srgbClr val="1F2A37"/>
                </a:solidFill>
                <a:latin typeface="Amiri" pitchFamily="2" charset="-78"/>
                <a:ea typeface="Amiri" pitchFamily="2" charset="-78"/>
                <a:cs typeface="Amiri" pitchFamily="2" charset="-78"/>
              </a:rPr>
              <a:t>مَا زِلْتُ أَتَذَكَّرُ</a:t>
            </a:r>
            <a:pPr algn="l" indent="0" marL="0">
              <a:buNone/>
            </a:pPr>
            <a:r>
              <a:rPr lang="en-US" sz="1350" b="1" dirty="0">
                <a:solidFill>
                  <a:srgbClr val="1F2A37"/>
                </a:solidFill>
                <a:latin typeface="Calibri" pitchFamily="34" charset="0"/>
                <a:cs typeface="Amiri" pitchFamily="2" charset="-78"/>
              </a:rPr>
              <a:t> …).</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الطَّقْسُ … · كُنْتُ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was … · I was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 / كَانَ أَبِي 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were …-ing / my dad was …-ing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 · فِي تِلْكَ اللَّحْظَةِ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suddenly … · at that moment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still remember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set the scene with </a:t>
            </a:r>
            <a:pPr algn="l" indent="0" marL="0">
              <a:buNone/>
            </a:pPr>
            <a:r>
              <a:rPr lang="ar-SA" altLang="en-US" sz="1450" dirty="0">
                <a:solidFill>
                  <a:srgbClr val="5A6472"/>
                </a:solidFill>
                <a:latin typeface="Amiri" pitchFamily="2" charset="-78"/>
                <a:ea typeface="Amiri" pitchFamily="2" charset="-78"/>
                <a:cs typeface="Amiri" pitchFamily="2" charset="-78"/>
              </a:rPr>
              <a:t>كَانَ</a:t>
            </a:r>
            <a:pPr algn="l" indent="0" marL="0">
              <a:buNone/>
            </a:pPr>
            <a:r>
              <a:rPr lang="en-US" sz="1100" dirty="0">
                <a:solidFill>
                  <a:srgbClr val="5A6472"/>
                </a:solidFill>
                <a:latin typeface="Calibri" pitchFamily="34" charset="0"/>
                <a:cs typeface="Amiri" pitchFamily="2" charset="-78"/>
              </a:rPr>
              <a:t> + -an and tell events in the past?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كُنْتُ</a:t>
            </a:r>
            <a:pPr algn="l" indent="0" marL="0">
              <a:buNone/>
            </a:pPr>
            <a:r>
              <a:rPr lang="en-US" sz="1100" dirty="0">
                <a:solidFill>
                  <a:srgbClr val="5A6472"/>
                </a:solidFill>
                <a:latin typeface="Calibri" pitchFamily="34" charset="0"/>
                <a:cs typeface="Amiri" pitchFamily="2" charset="-78"/>
              </a:rPr>
              <a:t> + present for background, a twist and a reflection?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الجَوُّ بَارِدًا، وَكُنْتُ فِي البَيْتِ وَحْدِي.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weather was cold, and I was at home alone.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 يَوْمُ السَّبْتِ؟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أُشَاهِدُ مُبَارَاةً عَلَى التِّلْفَازِ.</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watching a match on TV.</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كُنْتَ تَفْعَلُ؟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فَجْأَةً رَنَّ الجَرَسُ، وَفِي تِلْكَ اللَّحْظَةِ رَأَيْتُ خَالِي مِنْ أَمْرِيكَا!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Suddenly the doorbell rang, and at that moment I saw my uncle from America!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فَرِحْتُ جِدًّا، لِأَنَّنِي لَمْ أَرَهُ مُنْذُ خَمْسِ سَنَوَاتٍ. مَا زِلْتُ أَتَذَكَّرُ ذٰلِكَ اليَوْمَ.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so happy, because I hadn’t seen him for five years. I still remember that day.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وَكَيْفَ شَعَرْتَ؟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كُنْتُ فِي الثَّامِنَةِ مِنْ عُمُرِي، وَكَانَ اليَوْمُ أَوَّلَ أَيَّامِ العِيدِ. كَانَ الجَوُّ مُشْمِسًا، وَكُنَّا نَلْعَبُ فِي حَدِيقَةِ جَدِّي. كَانَتْ أُمِّي تُحَضِّرُ الحَلْوَى، وَكَانَ أَبِي يُصَوِّرُنَا. فَجْأَةً سَقَطْتُ فِي بِرْكَةِ المَاءِ بِمَلَابِسِ العِيدِ الجَدِيدَةِ! فِي تِلْكَ اللَّحْظَةِ بَكَيْتُ كَثِيرًا. وَلٰكِنْ فِي النِّهَايَةِ أَعْطَانِي جَدِّي قَمِيصَهُ الكَبِيرَ، فَضَحِكَ الجَمِيعُ. مَا زِلْتُ أَتَذَكَّرُ ذٰلِكَ اليَوْمَ، لِأَنَّهُ كَانَ مُضْحِكًا وَدَافِئًا.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was eight years old, and it was the first day of Eid. The weather was sunny, and we were playing in my grandfather’s garden. My mum was preparing sweets, and my dad was filming us. Suddenly I fell into the pond in my new Eid clothes! At that moment I cried a lot. But in the end my grandfather gave me his big shirt, and everyone laughed. I still remember that day, because it was funny and warm.”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الجَوُّ مُشْمِسًا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وَكُنَّا نَلْعَبُ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فَجْأَةً سَقَطْتُ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زِلْتُ أَتَذَكَّرُ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D5-L06 · Music, Arts and Arabic Culture</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المُوسِيقَى وَالفُنُونُ وَالثَّقَافَةُ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D5-L05 · Practice Room — Storytelling — Narrative Connectors and كَانَ Description</dc:title>
  <dc:subject>PptxGenJS Presentation</dc:subject>
  <dc:creator>Al Madina Online School · Arabic Department</dc:creator>
  <cp:lastModifiedBy>Al Madina Online School · Arabic Department</cp:lastModifiedBy>
  <cp:revision>1</cp:revision>
  <dcterms:created xsi:type="dcterms:W3CDTF">2026-10-25T18:39:44Z</dcterms:created>
  <dcterms:modified xsi:type="dcterms:W3CDTF">2026-10-25T18:39:44Z</dcterms:modified>
</cp:coreProperties>
</file>