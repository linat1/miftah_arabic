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D5-L08. The website lesson “Reading — Leisure, Sport and Past Experience Texts”: vocabulary, grammar rules and quiz, patterns, common mistakes, sorter, listening, reading, speaking prompts and model, writing task and model, differentiation, final check and the lesson mission. Picture match: website visual game “Reading — Leisure, Sport and Past Experience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sporting life story is the main You Do task (6 questions).
• Core: questions 1–3 (where · at the beginning · last year) and the text type from the verbs. Develop: all questions + the sequence of events. Stretch: the website ~70-word summary with quoted evidence and يُشِيرُ إِلَى.
• Reading routine: (1) Look at the verb ENDINGS: who is it about? (2) Find the sequence markers. (3) For each answer, find the time marker and quote the Arabic.
• Builds on D5-L03–L05 (past endings, كَانَ + habit) and D5-L07 (past → future switch).
• TEACHER-WRITTEN ITEMS: one vowel-only quiz distractor replaced and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D5-L07. Questions 4–5 retrieve D5-L07 (future) and D5-L04 (-nā).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the verb endings first: they tell you WHO the text is about — and what kind of text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سیرت النبی ﷺ = the life of the Prophet), دلیل، تفصیل are shared. CAREFUL: Urdu تقریر = a speech; Arabic تَقْرِيرٌ = a written report (a speech is خِطَابٌ / كَلِمَةٌ).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the words exam questions use (“What type of text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the words exam questions use (“What type of text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strategy language (website vocabulary (1 of 2)). Hear → Say → See → Use. Transliteration is printed for Core students (cover it for Develop/Stretch).
Reading strategy language: يُشِيرُ إِلَى (refers to) and يَسْتَنْتِجُ (deduces) are for explaining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strategy language (website vocabulary (2 of 2)). Hear → Say → See → Use. Transliteration is printed for Core students (cover it for Develop/Stretch).
Reading strategy language: يُشِيرُ إِلَى (refers to) and يَسْتَنْتِجُ (deduces) are for explaining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 markers to scan for (website vocabulary (1 of 2)). Hear → Say → See → Use. Transliteration is printed for Core students (cover it for Develop/Stretch).
Past markers to scan for: these decide the tense of the verb in a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 markers to scan for (website vocabulary (2 of 2)). Hear → Say → See → Use. Transliteration is printed for Core students (cover it for Develop/Stretch).
Past markers to scan for: these decide the tense of the verb in a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“Third-person clusters” (a text built on third-person past verbs is usually about someone else: a biography, a report or a news item) and “First-person clusters” (a personal account, a review or a diary). Website teaching point: “Verb clusters name the text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“Sequence markers” (a question about what happened first or last is usually answered by locating one of them) and “Choosing the tense in a gap-fill” (find the nearest time expression: a past marker requires a past verb; فِي المُسْتَقْبَلِ / غَدًا requires سَـ + present). Website teaching point: “Time expressions confirm what the suffixes suggest.”
Website mistakes: فِي العَامِ المَاضِي يَنْتَقِلُ ✗ · يُشِيرُ النَّصُّ عَنْ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moves make these texts manageable: identify the text type from the verbs, follow the sequence with the connectors, and prove each answer from the Arabic.”
• Third-person clusters: A text built on third-person past verbs is usually about someone else: a biography, a report or a news item.
• First-person clusters: A text built on first-person past verbs is a personal account, a review or a diary.
• Sequence markers: These fix the order of events. A question about what happened first or last is usually answered by locating one of them.
• Choosing the tense in a gap-fill: Find the nearest time expression. A past marker requires a past verb; فِي المُسْتَقْبَلِ or غَدًا requires سَـ with a present verb.
Website common error: Do not choose an answer because it repeats a word from the text. Check that the whole clause matches, and that the tense of the verb agrees with the nearest time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on the website reading text: endings → type; markers → order; time word → tense; quote. Students then answer the 6 questions themselves in the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how you know: “ـَتْ / ـَ = someone else” · “ـْتُ / ـْنَا = me / us” · “سَـ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how you know: “ـَتْ / ـَ = someone else” · “ـْتُ / ـْنَا = me / us” · “سَـ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list the sequence markers in order.
Listen 1: just listen. Listen 2: note answers. Then chat the letters.
Support: after the second listening, show the read-along slide (Arabic + English, line by line) for Core students.
SCRIPT (read aloud):
فِي البِدَايَةِ نَظَّمَ النَّادِي بُطُولَةً صَغِيرَةً لِلشَّبَابِ فِي العَامِ المَاضِي. شَارَكَ فِيهَا سِتُّونَ لَاعِبًا مِنْ مَدَارِسَ مُخْتَلِفَةٍ. ثُمَّ لَعِبَتِ الفِرَقُ ثَلَاثَ مُبَارَيَاتٍ فِي كُلِّ أُسْبُوعٍ. فَازَ فَرِيقُ المَدْرَسَةِ الشَّرْقِيَّةِ بِالمُبَارَاةِ النِّهَائِيَّةِ، وَتَعَادَلَ فَرِيقَانِ فِي المَرْكَزِ الثَّالِثِ. بَعْدَ ذٰلِكَ وَزَّعَ المُدِيرُ المِيدَالِيَاتِ عَلَى اللَّاعِبِينَ. وَفِي النِّهَايَةِ شَكَرَ المُدَرِّبِينَ وَالأُسَرَ. وَفِي المُسْتَقْبَلِ سَيُنَظِّمُ النَّادِي بُطُولَةً أَكْبَرَ.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sporting life story. Before reading: underline every verb ending and every time marker.
Core: questions 1–3. Develop: all questions + the order of events. Stretch: then the written summary with quoted evidence and يُشِيرُ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الدَّلِيلُ عَلَى ذٰلِكَ؟ (And what is the evidence for that?)
B: يَقُولُ النَّصُّ: فَازَ بِالمِيدَالِيَةِ الذَّهَبِيَّةِ، وَهٰذَا يُشِيرُ إِلَى إِنْجَازٍ فِي المَاضِي. (The text says: “he won the gold medal”, and this refers to an achievement in the past.)
Website prompts and model: students explain HOW they read. Core may answer with one Arabic phrase + English. To a girl: عَرَفْتِ · إِجَابَتِكِ.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the text type and answer four comprehension questions using the text. · Develop — Add the sequence of events and quote one phrase as evidence for each answer. · Stretch — Complete the gap-fill by justifying each tense choice from the nearest time marker.
Website writing task (Stretch): Write about seventy words summarising a past-tense text you have read. Name the text type, state the sequence of events, quote one Arabic phrase as evidence, and say what the text refers to using يُشِيرُ إِلَى.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سِيرَةً رِيَاضِيَّةً · فِي البِدَايَةِ · ثُمَّ · فِي العَامِ المَاضِي · بَعْدَ ذٰلِكَ · فِي النِّهَايَةِ · وَالدَّلِيلُ مِنَ النَّصِّ: … · يُشِيرُ النَّصُّ إِلَى أَهَمِّيَّةِ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(D5-L09 · Writing — My Leisure Life (Extended Writing)) will spend class time USING this language, so students prepare it tonight — short, simple, easy to access (school guidance: “Simple, Short, Interesting, Relevant, Easy to access”). The five words come from the website D5-L09 vocabulary (planning an extended piece of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 Leisure, Sport and Past Experience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التَّرْفِيهِ وَالرِّيَاضَةِ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past-tense texts like an examiner: let the verb endings tell you the text type (</a:t>
            </a:r>
            <a:pPr algn="l" indent="0" marL="0">
              <a:buNone/>
            </a:pPr>
            <a:r>
              <a:rPr lang="ar-SA" altLang="en-US" sz="1800" dirty="0">
                <a:solidFill>
                  <a:srgbClr val="C6D2E6"/>
                </a:solidFill>
                <a:latin typeface="Amiri" pitchFamily="34" charset="0"/>
                <a:ea typeface="Amiri" pitchFamily="34" charset="-122"/>
                <a:cs typeface="Amiri" pitchFamily="34" charset="-120"/>
              </a:rPr>
              <a:t>فَازَ / فَازَتْ</a:t>
            </a:r>
            <a:pPr algn="l" indent="0" marL="0">
              <a:buNone/>
            </a:pPr>
            <a:r>
              <a:rPr lang="en-US" sz="1400" dirty="0">
                <a:solidFill>
                  <a:srgbClr val="C6D2E6"/>
                </a:solidFill>
                <a:latin typeface="Calibri" pitchFamily="34" charset="0"/>
                <a:ea typeface="Calibri" pitchFamily="34" charset="-122"/>
                <a:cs typeface="Calibri" pitchFamily="34" charset="-120"/>
              </a:rPr>
              <a:t> = biography · </a:t>
            </a:r>
            <a:pPr algn="l" indent="0" marL="0">
              <a:buNone/>
            </a:pPr>
            <a:r>
              <a:rPr lang="ar-SA" altLang="en-US" sz="1800" dirty="0">
                <a:solidFill>
                  <a:srgbClr val="C6D2E6"/>
                </a:solidFill>
                <a:latin typeface="Amiri" pitchFamily="34" charset="0"/>
                <a:ea typeface="Amiri" pitchFamily="34" charset="-122"/>
                <a:cs typeface="Amiri" pitchFamily="34" charset="-120"/>
              </a:rPr>
              <a:t>حَجَزْتُ / أَقَمْنَا</a:t>
            </a:r>
            <a:pPr algn="l" indent="0" marL="0">
              <a:buNone/>
            </a:pPr>
            <a:r>
              <a:rPr lang="en-US" sz="1400" dirty="0">
                <a:solidFill>
                  <a:srgbClr val="C6D2E6"/>
                </a:solidFill>
                <a:latin typeface="Calibri" pitchFamily="34" charset="0"/>
                <a:ea typeface="Calibri" pitchFamily="34" charset="-122"/>
                <a:cs typeface="Calibri" pitchFamily="34" charset="-120"/>
              </a:rPr>
              <a:t> = personal review), follow the sequence markers, choose the tense from the nearest time marker, and prove every answer from the Arabic.</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D5-L08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Text type from verbs, sequence, tense from time markers,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text-type signals, fix tense slips, then a sports-club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biography, life story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تَسَلْسُلُ الأَحْدَاثِ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order of events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main idea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evidence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يَسْتَنْتِجُ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refers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summarises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deduces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سَزُرْتُ المَدِينَةَ غَدًا.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المَدِينَةَ غَدًا.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 المَدِينَةَ غَدًا.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زُرْنَا المَعَالِمَ</a:t>
            </a:r>
            <a:pPr algn="l" indent="0" marL="0">
              <a:buNone/>
            </a:pPr>
            <a:r>
              <a:rPr lang="en-US" sz="1250" b="1" dirty="0">
                <a:solidFill>
                  <a:srgbClr val="1B3B6F"/>
                </a:solidFill>
                <a:latin typeface="Calibri" pitchFamily="34" charset="0"/>
                <a:ea typeface="Calibri" pitchFamily="34" charset="-122"/>
                <a:cs typeface="Calibri" pitchFamily="34" charset="-120"/>
              </a:rPr>
              <a:t> — who visited?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biography, life story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تَسَلْسُلُ الأَحْدَاثِ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order of events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main idea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evidence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يَسْتَنْتِجُ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refers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summarises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deduces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سَزُرْتُ المَدِينَةَ غَدًا.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المَدِينَةَ غَدًا.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سَأَزُورُ المَدِينَةَ غَدًا.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D5-L07: future.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زُرْنَا المَعَالِمَ</a:t>
            </a:r>
            <a:pPr algn="l" indent="0" marL="0">
              <a:buNone/>
            </a:pPr>
            <a:r>
              <a:rPr lang="en-US" sz="1250" b="1" dirty="0">
                <a:solidFill>
                  <a:srgbClr val="1B3B6F"/>
                </a:solidFill>
                <a:latin typeface="Calibri" pitchFamily="34" charset="0"/>
                <a:ea typeface="Calibri" pitchFamily="34" charset="-122"/>
                <a:cs typeface="Calibri" pitchFamily="34" charset="-120"/>
              </a:rPr>
              <a:t> — who visited?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D5-L04 / L07: -nā.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Read the verb endings first: they tell you WHO the text is about — and what kind of text it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فَازَتْ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انْتَقَلَ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سِيرَةٌ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حَجَزْتُ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أَقَمْنَا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مُرَاجَعَةٌ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the text type from the verb endings.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Follow the sequence of events with markers.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right tense from the nearest time marker.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Prove answers with a quoted Arabic phrase (</a:t>
            </a:r>
            <a:pPr algn="l" indent="0" marL="0">
              <a:buNone/>
            </a:pPr>
            <a:r>
              <a:rPr lang="ar-SA" altLang="en-US" sz="1700" dirty="0">
                <a:solidFill>
                  <a:srgbClr val="1F2A37"/>
                </a:solidFill>
                <a:latin typeface="Amiri" pitchFamily="34" charset="0"/>
                <a:ea typeface="Amiri" pitchFamily="34" charset="-122"/>
                <a:cs typeface="Amiri" pitchFamily="34" charset="-120"/>
              </a:rPr>
              <a:t>يُشِيرُ إِلَى</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if a text is about “him / her” or “me / us”.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 time marker and a past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put the events in order.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quote one Arabic phrase as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each tense choice.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a text in 70 words with </a:t>
            </a:r>
            <a:pPr algn="l" indent="0" marL="0">
              <a:buNone/>
            </a:pPr>
            <a:r>
              <a:rPr lang="ar-SA" altLang="en-US" sz="1700" b="1" dirty="0">
                <a:solidFill>
                  <a:srgbClr val="B83227"/>
                </a:solidFill>
                <a:latin typeface="Amiri" pitchFamily="34" charset="0"/>
                <a:ea typeface="Amiri" pitchFamily="34" charset="-122"/>
                <a:cs typeface="Amiri" pitchFamily="34" charset="-120"/>
              </a:rPr>
              <a:t>يُشِيرُ إِلَى</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strategy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Past markers to scan for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‎سیرت‎ </a:t>
            </a:r>
            <a:pPr indent="0" marL="0">
              <a:buNone/>
            </a:pPr>
            <a:r>
              <a:rPr lang="en-US" sz="950" b="1" dirty="0">
                <a:solidFill>
                  <a:srgbClr val="2E8B57"/>
                </a:solidFill>
                <a:latin typeface="Calibri" pitchFamily="34" charset="0"/>
                <a:ea typeface="Calibri" pitchFamily="34" charset="-122"/>
                <a:cs typeface="Calibri" pitchFamily="34" charset="-120"/>
              </a:rPr>
              <a:t> sīrat · life story (Urdu also: character, the Sīrah)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نَتِيجَةٌ / اسْتِنْتَاجٌ</a:t>
            </a:r>
            <a:endParaRPr lang="ar-SA" sz="185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 /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تَقْرِيرٌ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‎تقریر‎ </a:t>
            </a:r>
            <a:pPr indent="0" marL="0">
              <a:buNone/>
            </a:pPr>
            <a:r>
              <a:rPr lang="en-US" sz="950" b="1" dirty="0">
                <a:solidFill>
                  <a:srgbClr val="2E8B57"/>
                </a:solidFill>
                <a:latin typeface="Calibri" pitchFamily="34" charset="0"/>
                <a:ea typeface="Calibri" pitchFamily="34" charset="-122"/>
                <a:cs typeface="Calibri" pitchFamily="34" charset="-120"/>
              </a:rPr>
              <a:t> taqrīr · Urdu: a speech · Arabic: a report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biography, life story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sī-ra-tun dhā-tiy-ya-tun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both words agree.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سِيرَةٌ رِيَاضِيَّةٌ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sporting biography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sī-ra-tun ri-yā-ḍiy-ya-tun</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1" name="Shape 28"/>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مُرَاجَعَاتٌ.</a:t>
            </a:r>
            <a:endParaRPr lang="en-US" sz="8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a:t>
            </a:r>
            <a:endParaRPr lang="en-US" sz="1350" dirty="0"/>
          </a:p>
        </p:txBody>
      </p:sp>
      <p:sp>
        <p:nvSpPr>
          <p:cNvPr id="44" name="Text 4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a:t>
            </a:r>
            <a:pPr algn="l" indent="0" marL="0">
              <a:buNone/>
            </a:pPr>
            <a:r>
              <a:rPr lang="ar-SA" altLang="en-US" sz="1300" dirty="0">
                <a:solidFill>
                  <a:srgbClr val="8A6D1E"/>
                </a:solidFill>
                <a:latin typeface="Amiri" pitchFamily="34" charset="0"/>
                <a:ea typeface="Amiri" pitchFamily="34" charset="-122"/>
                <a:cs typeface="Amiri" pitchFamily="34" charset="-120"/>
              </a:rPr>
              <a:t>تَقَارِيرُ</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نُصُوصٌ.</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paragraph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fiq-ra-tun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strategy language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الأَحْدَاثُ المَاضِيَةُ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al-aḥ-dā-thu al-mā-ḍi-ya-tu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تَسَلْسُلُ الأَحْدَاثِ</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sequence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ta-sal-su-lu al-aḥ-dā-thi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مِنَ النَّصِّ</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 from the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mi-na an-naṣ-ṣi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deduces, 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strategy language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yu-shī-ru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الفِكْرَةُ الرَّئِيسِيَّةُ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main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al-fik-ra-tu ar-ra-ʾī-siy-ya-tu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التَّفَاصِيلُ الدَّقِيقَةُ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precise details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at-ta-fā-ṣī-lu ad-da-qī-qa-tu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الهَدَفُ مِنَ النَّصِّ</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purpose of the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al-ha-da-fu mi-na an-naṣ-ṣi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Past markers to scan for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أَمْسِ</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yesterday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am-si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3" name="Shape 20"/>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Adverbial accusative.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الأُسْبُوعَ المَاضِيَ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last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al-us-bū-ʿa al-mā-ḍi-ya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العَامِ المَاضِي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last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al-ʿā-mi al-mā-ḍī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سَنَوَاتٍ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years ago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sa-na-wā-tin</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مُنْذُ</a:t>
            </a:r>
            <a:pPr algn="l" indent="0" marL="0">
              <a:buNone/>
            </a:pPr>
            <a:r>
              <a:rPr lang="en-US" sz="1000" i="1" dirty="0">
                <a:solidFill>
                  <a:srgbClr val="8A6D1E"/>
                </a:solidFill>
                <a:latin typeface="Calibri" pitchFamily="34" charset="0"/>
                <a:ea typeface="Calibri" pitchFamily="34" charset="-122"/>
                <a:cs typeface="Calibri" pitchFamily="34" charset="-120"/>
              </a:rPr>
              <a:t> takes the genitive.</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Past markers to scan for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الطُّفُولَةِ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childhood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aṭ-ṭu-fū-la-ti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البِدَايَةِ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the beginning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al-bi-dā-ya-ti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النِّهَايَةِ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an-ni-hā-ya-ti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WHAT KIND OF TEXT?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The verb endings tell you the text type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نَوْعُ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type</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cluster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biography / report</a:t>
            </a:r>
            <a:endParaRPr lang="en-US" sz="1100" dirty="0"/>
          </a:p>
        </p:txBody>
      </p:sp>
      <p:sp>
        <p:nvSpPr>
          <p:cNvPr id="21" name="Text 18"/>
          <p:cNvSpPr txBox="1"/>
          <p:nvPr/>
        </p:nvSpPr>
        <p:spPr>
          <a:xfrm>
            <a:off x="3291840" y="2286000"/>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بَدَأَ</a:t>
            </a:r>
            <a:pPr rtl="1" algn="ctr" indent="0" marL="0">
              <a:buNone/>
            </a:pPr>
            <a:r>
              <a:rPr lang="ar-SA" altLang="en-US" sz="2100" b="1" dirty="0">
                <a:solidFill>
                  <a:srgbClr val="1B3B6F"/>
                </a:solidFill>
                <a:latin typeface="Amiri" pitchFamily="34" charset="0"/>
                <a:ea typeface="Amiri" pitchFamily="34" charset="-122"/>
                <a:cs typeface="Amiri" pitchFamily="34" charset="-120"/>
              </a:rPr>
              <a:t> مَسِيرَتَهُ مُبَكِّرًا · </a:t>
            </a:r>
            <a:pPr rtl="1" algn="ctr" indent="0" marL="0">
              <a:buNone/>
            </a:pPr>
            <a:r>
              <a:rPr lang="ar-SA" altLang="en-US" sz="2100" b="1" dirty="0">
                <a:solidFill>
                  <a:srgbClr val="0E7C86"/>
                </a:solidFill>
                <a:latin typeface="Amiri" pitchFamily="34" charset="0"/>
                <a:ea typeface="Amiri" pitchFamily="34" charset="-122"/>
                <a:cs typeface="Amiri" pitchFamily="34" charset="-120"/>
              </a:rPr>
              <a:t>فَازَتْ</a:t>
            </a:r>
            <a:pPr rtl="1" algn="ctr" indent="0" marL="0">
              <a:buNone/>
            </a:pPr>
            <a:r>
              <a:rPr lang="ar-SA" altLang="en-US" sz="2100" b="1" dirty="0">
                <a:solidFill>
                  <a:srgbClr val="1B3B6F"/>
                </a:solidFill>
                <a:latin typeface="Amiri" pitchFamily="34" charset="0"/>
                <a:ea typeface="Amiri" pitchFamily="34" charset="-122"/>
                <a:cs typeface="Amiri" pitchFamily="34" charset="-120"/>
              </a:rPr>
              <a:t> بِالمِيدَالِيَةِ</a:t>
            </a:r>
            <a:endParaRPr lang="ar-SA" sz="2100" dirty="0"/>
          </a:p>
        </p:txBody>
      </p:sp>
      <p:sp>
        <p:nvSpPr>
          <p:cNvPr id="22" name="Text 19"/>
          <p:cNvSpPr txBox="1"/>
          <p:nvPr/>
        </p:nvSpPr>
        <p:spPr>
          <a:xfrm>
            <a:off x="3246120" y="2706624"/>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began his career early · she won the medal</a:t>
            </a:r>
            <a:endParaRPr lang="en-US" sz="950" dirty="0"/>
          </a:p>
        </p:txBody>
      </p:sp>
      <p:sp>
        <p:nvSpPr>
          <p:cNvPr id="23" name="Text 20"/>
          <p:cNvSpPr txBox="1"/>
          <p:nvPr/>
        </p:nvSpPr>
        <p:spPr>
          <a:xfrm>
            <a:off x="548640"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فَعَلَ · فَعَلَتْ</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 / news</a:t>
            </a:r>
            <a:endParaRPr lang="en-US" sz="1100" dirty="0"/>
          </a:p>
        </p:txBody>
      </p:sp>
      <p:sp>
        <p:nvSpPr>
          <p:cNvPr id="28" name="Text 25"/>
          <p:cNvSpPr txBox="1"/>
          <p:nvPr/>
        </p:nvSpPr>
        <p:spPr>
          <a:xfrm>
            <a:off x="3291840" y="3072384"/>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لَعِبُوا</a:t>
            </a:r>
            <a:pPr rtl="1" algn="ctr" indent="0" marL="0">
              <a:buNone/>
            </a:pPr>
            <a:r>
              <a:rPr lang="ar-SA" altLang="en-US" sz="2100" b="1" dirty="0">
                <a:solidFill>
                  <a:srgbClr val="1B3B6F"/>
                </a:solidFill>
                <a:latin typeface="Amiri" pitchFamily="34" charset="0"/>
                <a:ea typeface="Amiri" pitchFamily="34" charset="-122"/>
                <a:cs typeface="Amiri" pitchFamily="34" charset="-120"/>
              </a:rPr>
              <a:t> ثَلَاثَ مُبَارَيَاتٍ</a:t>
            </a:r>
            <a:endParaRPr lang="ar-SA" sz="2100" dirty="0"/>
          </a:p>
        </p:txBody>
      </p:sp>
      <p:sp>
        <p:nvSpPr>
          <p:cNvPr id="29" name="Text 26"/>
          <p:cNvSpPr txBox="1"/>
          <p:nvPr/>
        </p:nvSpPr>
        <p:spPr>
          <a:xfrm>
            <a:off x="3246120" y="3493008"/>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They played three matches</a:t>
            </a:r>
            <a:endParaRPr lang="en-US" sz="950" dirty="0"/>
          </a:p>
        </p:txBody>
      </p:sp>
      <p:sp>
        <p:nvSpPr>
          <p:cNvPr id="30" name="Text 27"/>
          <p:cNvSpPr txBox="1"/>
          <p:nvPr/>
        </p:nvSpPr>
        <p:spPr>
          <a:xfrm>
            <a:off x="548640"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فَعَلُوا</a:t>
            </a:r>
            <a:endParaRPr lang="ar-SA" sz="22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personal review / diary</a:t>
            </a:r>
            <a:endParaRPr lang="en-US" sz="1100" dirty="0"/>
          </a:p>
        </p:txBody>
      </p:sp>
      <p:sp>
        <p:nvSpPr>
          <p:cNvPr id="33" name="Text 30"/>
          <p:cNvSpPr txBox="1"/>
          <p:nvPr/>
        </p:nvSpPr>
        <p:spPr>
          <a:xfrm>
            <a:off x="3291840" y="3858768"/>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حَجَزْتُ</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الفُنْدُقَ · </a:t>
            </a:r>
            <a:pPr rtl="1" algn="ctr" indent="0" marL="0">
              <a:buNone/>
            </a:pPr>
            <a:r>
              <a:rPr lang="ar-SA" altLang="en-US" sz="2100" b="1" dirty="0">
                <a:solidFill>
                  <a:srgbClr val="D6336C"/>
                </a:solidFill>
                <a:latin typeface="Amiri" pitchFamily="34" charset="0"/>
                <a:ea typeface="Amiri" pitchFamily="34" charset="-122"/>
                <a:cs typeface="Amiri" pitchFamily="34" charset="-120"/>
              </a:rPr>
              <a:t>أَقَمْنَا</a:t>
            </a:r>
            <a:pPr rtl="1" algn="ctr" indent="0" marL="0">
              <a:buNone/>
            </a:pPr>
            <a:r>
              <a:rPr lang="ar-SA" altLang="en-US" sz="2100" b="1" dirty="0">
                <a:solidFill>
                  <a:srgbClr val="1B3B6F"/>
                </a:solidFill>
                <a:latin typeface="Amiri" pitchFamily="34" charset="0"/>
                <a:ea typeface="Amiri" pitchFamily="34" charset="-122"/>
                <a:cs typeface="Amiri" pitchFamily="34" charset="-120"/>
              </a:rPr>
              <a:t> ثَلَاثَ لَيَالٍ</a:t>
            </a:r>
            <a:endParaRPr lang="ar-SA" sz="2100" dirty="0"/>
          </a:p>
        </p:txBody>
      </p:sp>
      <p:sp>
        <p:nvSpPr>
          <p:cNvPr id="34" name="Text 31"/>
          <p:cNvSpPr txBox="1"/>
          <p:nvPr/>
        </p:nvSpPr>
        <p:spPr>
          <a:xfrm>
            <a:off x="3246120" y="4279392"/>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booked the hotel · we stayed three nights</a:t>
            </a:r>
            <a:endParaRPr lang="en-US" sz="950" dirty="0"/>
          </a:p>
        </p:txBody>
      </p:sp>
      <p:sp>
        <p:nvSpPr>
          <p:cNvPr id="35" name="Text 32"/>
          <p:cNvSpPr txBox="1"/>
          <p:nvPr/>
        </p:nvSpPr>
        <p:spPr>
          <a:xfrm>
            <a:off x="548640"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فَعَلْتُ · فَعَلْنَا</a:t>
            </a:r>
            <a:endParaRPr lang="ar-SA" sz="2200" dirty="0"/>
          </a:p>
        </p:txBody>
      </p:sp>
      <p:sp>
        <p:nvSpPr>
          <p:cNvPr id="36" name="Shape 3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plan</a:t>
            </a:r>
            <a:endParaRPr lang="en-US" sz="1100" dirty="0"/>
          </a:p>
        </p:txBody>
      </p:sp>
      <p:sp>
        <p:nvSpPr>
          <p:cNvPr id="40" name="Text 37"/>
          <p:cNvSpPr txBox="1"/>
          <p:nvPr/>
        </p:nvSpPr>
        <p:spPr>
          <a:xfrm>
            <a:off x="3291840" y="4645152"/>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سَيُدَرِّبُ</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الشَّبَابَ · </a:t>
            </a:r>
            <a:pPr rtl="1" algn="ctr" indent="0" marL="0">
              <a:buNone/>
            </a:pPr>
            <a:r>
              <a:rPr lang="ar-SA" altLang="en-US" sz="2100" b="1" dirty="0">
                <a:solidFill>
                  <a:srgbClr val="1D5FBF"/>
                </a:solidFill>
                <a:latin typeface="Amiri" pitchFamily="34" charset="0"/>
                <a:ea typeface="Amiri" pitchFamily="34" charset="-122"/>
                <a:cs typeface="Amiri" pitchFamily="34" charset="-120"/>
              </a:rPr>
              <a:t>سَوْفَ</a:t>
            </a:r>
            <a:pPr rtl="1" algn="ctr" indent="0" marL="0">
              <a:buNone/>
            </a:pPr>
            <a:r>
              <a:rPr lang="ar-SA" altLang="en-US" sz="2100" b="1" dirty="0">
                <a:solidFill>
                  <a:srgbClr val="1B3B6F"/>
                </a:solidFill>
                <a:latin typeface="Amiri" pitchFamily="34" charset="0"/>
                <a:ea typeface="Amiri" pitchFamily="34" charset="-122"/>
                <a:cs typeface="Amiri" pitchFamily="34" charset="-120"/>
              </a:rPr>
              <a:t> نَحْجِزُ</a:t>
            </a:r>
            <a:endParaRPr lang="ar-SA" sz="2100" dirty="0"/>
          </a:p>
        </p:txBody>
      </p:sp>
      <p:sp>
        <p:nvSpPr>
          <p:cNvPr id="41" name="Text 38"/>
          <p:cNvSpPr txBox="1"/>
          <p:nvPr/>
        </p:nvSpPr>
        <p:spPr>
          <a:xfrm>
            <a:off x="3246120" y="5065776"/>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will coach young people · we will book</a:t>
            </a:r>
            <a:endParaRPr lang="en-US" sz="950" dirty="0"/>
          </a:p>
        </p:txBody>
      </p:sp>
      <p:sp>
        <p:nvSpPr>
          <p:cNvPr id="42" name="Text 39"/>
          <p:cNvSpPr txBox="1"/>
          <p:nvPr/>
        </p:nvSpPr>
        <p:spPr>
          <a:xfrm>
            <a:off x="548640"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سَـ / سَوْفَ</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the endings BEFORE the details: they tell you who and what kind of text.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SEQUENCE, TENSE,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Order, tense and proof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التَّسَلْسُلُ وَالزَّمَنُ وَالدَّلِيلُ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SEQUENCE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34" charset="0"/>
                <a:ea typeface="Amiri" pitchFamily="34" charset="-122"/>
                <a:cs typeface="Amiri" pitchFamily="34" charset="-120"/>
              </a:rPr>
              <a:t>فِي البِدَايَةِ … ثُمَّ … فِي النِّهَايَةِ</a:t>
            </a:r>
            <a:endParaRPr lang="ar-SA" sz="14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ثُمَّ انْتَقَلَ إِلَى فَرِيقٍ آخَرَ.</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Then he moved to another team.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First or last?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TENSE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time marker = tense</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العَامِ المَاضِي انْتَقَلَ إِلَى نَادٍ جَدِيدٍ.</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Last year he moved to a new club.</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marker → past verb.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يُشِيرُ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يُشِيرُ النَّصُّ إِلَى أَهَمِّيَّةِ التَّدْرِيبِ.</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text refers to the importance of training.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ilā + genitive.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future marker needs sa- + present.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فِي المُسْتَقْبَلِ سَيُدَرِّبُ الشَّبَابَ.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فِي المُسْتَقْبَلِ دَرَّبَ الشَّبَابَ.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Reading past-tense texts with evidence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النُّصُوصِ المَاضِيَةِ بِالدَّلِيلِ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Third-person clusters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 فَعَلَتْ / فَعَلُوا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بَدَأَ مَسِيرَتَهُ مُبَكِّرًا   ·   فَازَتْ بِالمِيدَالِيَةِ الذَّهَبِيَّةِ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First-person clusters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فَعَلْتُ / فَعَلْنَا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حَجَزْتُ الفُنْدُقَ عَبْرَ الإِنْتِرْنِتْ   ·   أَقَمْنَا ثَلَاثَ لَيَالٍ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Sequence markers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البِدَايَةِ … ثُمَّ … بَعْدَ ذٰلِكَ … فِي النِّهَايَةِ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ثُمَّ انْتَقَلَ إِلَى فَرِيقٍ آخَرَ   ·   بَعْدَ ذٰلِكَ اعْتَزَلَ اللَّعِبَ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Choosing the tense in a gap-fill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time marker → tense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العَامِ المَاضِي انْتَقَلَ إِلَى نَادٍ جَدِيدٍ   ·   فِي المُسْتَقْبَلِ سَيُدَرِّبُ الشَّبَابَ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uses </a:t>
            </a:r>
            <a:pPr algn="l" indent="0" marL="0">
              <a:buNone/>
            </a:pPr>
            <a:r>
              <a:rPr lang="ar-SA" altLang="en-US" sz="1650" b="1" dirty="0">
                <a:solidFill>
                  <a:srgbClr val="1B3B6F"/>
                </a:solidFill>
                <a:latin typeface="Amiri" pitchFamily="34" charset="0"/>
                <a:ea typeface="Amiri" pitchFamily="34" charset="-122"/>
                <a:cs typeface="Amiri" pitchFamily="34" charset="-120"/>
              </a:rPr>
              <a:t>فَازَ، انْتَقَلَ، اعْتَزَلَ</a:t>
            </a:r>
            <a:pPr algn="l" indent="0" marL="0">
              <a:buNone/>
            </a:pPr>
            <a:r>
              <a:rPr lang="en-US" sz="1250" b="1" dirty="0">
                <a:solidFill>
                  <a:srgbClr val="1B3B6F"/>
                </a:solidFill>
                <a:latin typeface="Calibri" pitchFamily="34" charset="0"/>
                <a:ea typeface="Calibri" pitchFamily="34" charset="-122"/>
                <a:cs typeface="Calibri" pitchFamily="34" charset="-120"/>
              </a:rPr>
              <a:t>. What type is it most likely to 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diary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set of instructions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sporting biography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uses </a:t>
            </a:r>
            <a:pPr algn="l" indent="0" marL="0">
              <a:buNone/>
            </a:pPr>
            <a:r>
              <a:rPr lang="ar-SA" altLang="en-US" sz="1650" b="1" dirty="0">
                <a:solidFill>
                  <a:srgbClr val="1B3B6F"/>
                </a:solidFill>
                <a:latin typeface="Amiri" pitchFamily="34" charset="0"/>
                <a:ea typeface="Amiri" pitchFamily="34" charset="-122"/>
                <a:cs typeface="Amiri" pitchFamily="34" charset="-120"/>
              </a:rPr>
              <a:t>حَجَزْتُ، أَقَمْنَا، اسْتَمْتَعْنَا</a:t>
            </a:r>
            <a:pPr algn="l" indent="0" marL="0">
              <a:buNone/>
            </a:pPr>
            <a:r>
              <a:rPr lang="en-US" sz="1250" b="1" dirty="0">
                <a:solidFill>
                  <a:srgbClr val="1B3B6F"/>
                </a:solidFill>
                <a:latin typeface="Calibri" pitchFamily="34" charset="0"/>
                <a:ea typeface="Calibri" pitchFamily="34" charset="-122"/>
                <a:cs typeface="Calibri" pitchFamily="34" charset="-120"/>
              </a:rPr>
              <a:t>. What type is it most likely to be?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review</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official report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news bulletin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gap-fill: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العَامِ المَاضِي ___ إِلَى نَادٍ جَدِيدٍ.</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يَنْتَقِلُ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انْتَقَلَ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سَيَنْتَقِلُ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gap-fill: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المُسْتَقْبَلِ ___ الشَّبَابَ.</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يُدَرِّبُ أَمْسِ</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uses </a:t>
            </a:r>
            <a:pPr algn="l" indent="0" marL="0">
              <a:buNone/>
            </a:pPr>
            <a:r>
              <a:rPr lang="ar-SA" altLang="en-US" sz="1650" b="1" dirty="0">
                <a:solidFill>
                  <a:srgbClr val="1B3B6F"/>
                </a:solidFill>
                <a:latin typeface="Amiri" pitchFamily="34" charset="0"/>
                <a:ea typeface="Amiri" pitchFamily="34" charset="-122"/>
                <a:cs typeface="Amiri" pitchFamily="34" charset="-120"/>
              </a:rPr>
              <a:t>فَازَ، انْتَقَلَ، اعْتَزَلَ</a:t>
            </a:r>
            <a:pPr algn="l" indent="0" marL="0">
              <a:buNone/>
            </a:pPr>
            <a:r>
              <a:rPr lang="en-US" sz="1250" b="1" dirty="0">
                <a:solidFill>
                  <a:srgbClr val="1B3B6F"/>
                </a:solidFill>
                <a:latin typeface="Calibri" pitchFamily="34" charset="0"/>
                <a:ea typeface="Calibri" pitchFamily="34" charset="-122"/>
                <a:cs typeface="Calibri" pitchFamily="34" charset="-120"/>
              </a:rPr>
              <a:t>. What type is it most likely to be?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diary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set of instructions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sporting biography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past verbs about one person signal a biography.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uses </a:t>
            </a:r>
            <a:pPr algn="l" indent="0" marL="0">
              <a:buNone/>
            </a:pPr>
            <a:r>
              <a:rPr lang="ar-SA" altLang="en-US" sz="1650" b="1" dirty="0">
                <a:solidFill>
                  <a:srgbClr val="1B3B6F"/>
                </a:solidFill>
                <a:latin typeface="Amiri" pitchFamily="34" charset="0"/>
                <a:ea typeface="Amiri" pitchFamily="34" charset="-122"/>
                <a:cs typeface="Amiri" pitchFamily="34" charset="-120"/>
              </a:rPr>
              <a:t>حَجَزْتُ، أَقَمْنَا، اسْتَمْتَعْنَا</a:t>
            </a:r>
            <a:pPr algn="l" indent="0" marL="0">
              <a:buNone/>
            </a:pPr>
            <a:r>
              <a:rPr lang="en-US" sz="1250" b="1" dirty="0">
                <a:solidFill>
                  <a:srgbClr val="1B3B6F"/>
                </a:solidFill>
                <a:latin typeface="Calibri" pitchFamily="34" charset="0"/>
                <a:ea typeface="Calibri" pitchFamily="34" charset="-122"/>
                <a:cs typeface="Calibri" pitchFamily="34" charset="-120"/>
              </a:rPr>
              <a:t>. What type is it most likely to be?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travel review</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official report</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news bulletin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First-person past verbs signal a personal account or review.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gap-fill: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العَامِ المَاضِي ___ إِلَى نَادٍ جَدِيدٍ.</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يَنْتَقِلُ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انْتَقَلَ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سَيَنْتَقِلُ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العَامِ المَاضِي</a:t>
            </a:r>
            <a:pPr algn="l" indent="0" marL="0">
              <a:buNone/>
            </a:pPr>
            <a:r>
              <a:rPr lang="en-US" sz="1050" i="1" dirty="0">
                <a:solidFill>
                  <a:srgbClr val="8A6D1E"/>
                </a:solidFill>
                <a:latin typeface="Calibri" pitchFamily="34" charset="0"/>
                <a:ea typeface="Calibri" pitchFamily="34" charset="-122"/>
                <a:cs typeface="Calibri" pitchFamily="34" charset="-120"/>
              </a:rPr>
              <a:t> is a past marker, so the verb must be past.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gap-fill: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المُسْتَقْبَلِ ___ الشَّبَابَ.</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سَيُدَرِّبُ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دَرَّبَ</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يُدَرِّبُ أَمْسِ</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المُسْتَقْبَلِ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Watch me read a life story like an examiner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Endings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بَدَأَ · تَدَرَّبَ · انْتَقَلَ</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 a biography.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Sequence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فِي البِدَايَةِ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ثُمَّ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فِي النِّهَايَةِ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Order of events.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34" charset="0"/>
                <a:ea typeface="Amiri" pitchFamily="34" charset="-122"/>
                <a:cs typeface="Amiri" pitchFamily="34" charset="-120"/>
              </a:rPr>
              <a:t>فِي العَامِ المَاضِي</a:t>
            </a:r>
            <a:pPr rtl="1" algn="ctr" indent="0" marL="0">
              <a:buNone/>
            </a:pPr>
            <a:r>
              <a:rPr lang="ar-SA" altLang="en-US" sz="2550" b="1" dirty="0">
                <a:solidFill>
                  <a:srgbClr val="1B3B6F"/>
                </a:solidFill>
                <a:latin typeface="Amiri" pitchFamily="34" charset="0"/>
                <a:ea typeface="Amiri" pitchFamily="34" charset="-122"/>
                <a:cs typeface="Amiri" pitchFamily="34" charset="-120"/>
              </a:rPr>
              <a:t> فَازَ</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marker, past verb.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أَثَّرَ فِي جِيلٍ كَامِلٍ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Quote the Arabic.</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SEQUENCE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هٰذَا النَّصُّ سِيرَةٌ رِيَاضِيَّةٌ، لِأَنَّ الأَفْعَالَ بِصِيغَةِ الغَائِبِ.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البِدَايَةِ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 يَتَدَرَّبُ فِي نَادٍ صَغِيرٍ،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ثُمَّ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انْتَقَلَ إِلَى فَرِيقٍ أَكْبَرَ،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فِي العَامِ المَاضِي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فَازَ بِالمِيدَالِيَةِ الذَّهَبِيَّةِ. وَالدَّلِيلُ مِنَ النَّصِّ: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أَثَّرَ فِي جِيلٍ كَامِلٍ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text is a sporting biography, because the verbs are in the third person. At the beginning he used to train at a small club, then he moved to a bigger team, and last year he won the gold medal. The evidence from the text: “he influenced a whole generation”.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فَازَتْ بِالمِيدَالِيَةِ الذَّهَبِيَّةِ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won the gold medal (biography)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third-person past cluster points to a biography.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أَقَمْنَا ثَلَاثَ لَيَالٍ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stayed three nights (personal review)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first-person past cluster points to a personal review.</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العَامِ المَاضِي انْتَقَلَ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last year he moved (time confirms tense)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time marker confirms the tense of the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بَدَأَ مَسِيرَتَهُ</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فَازَتْ بِالبُطُولَةِ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اعْتَزَلَ اللَّعِبَ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 الفُنْدُقَ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أَقَمْنَا ثَلَاثَ لَيَالٍ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اسْتَمْتَعْنَا بِالجَوِّ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سَيُشَارِكُ غَدًا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نَحْجِزُ</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المُسْتَقْبَلِ سَأَعُودُ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Biography signal</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Personal review signal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signal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Biography signal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بَدَأَ مَسِيرَتَهُ</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فَازَتْ بِالبُطُولَةِ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اعْتَزَلَ اللَّعِبَ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Personal review signal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 الفُنْدُقَ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أَقَمْنَا ثَلَاثَ لَيَالٍ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اسْتَمْتَعْنَا بِالجَوِّ</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signal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سَيُشَارِكُ 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نَحْجِزُ</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المُسْتَقْبَلِ سَأَعُودُ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sequence of events”?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الفِكْرَةُ الرَّئِيسِيَّةُ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الهَدَفُ مِنَ 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تَسَلْسُلُ الأَحْدَاثِ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يُشِيرُ النَّصُّ ___ أَهَمِّيَّةِ التَّدْرِيبِ.</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tells you an event came last?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النِّهَايَةِ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سِيرَةً ذَاتِيٌّ مُمْتِعَةً.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سِيرَةً ذَاتِيَّةً مُمْتِعِينَ.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سِيرَةً ذَاتِيَّةً مُمْتِعَةً.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sequence of events”?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الفِكْرَةُ الرَّئِيسِيَّةُ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الهَدَفُ مِنَ النَّصِّ</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تَسَلْسُلُ الأَحْدَاثِ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تَسَلْسُلُ الأَحْدَاثِ</a:t>
            </a:r>
            <a:pPr algn="l" indent="0" marL="0">
              <a:buNone/>
            </a:pPr>
            <a:r>
              <a:rPr lang="en-US" sz="1050" i="1" dirty="0">
                <a:solidFill>
                  <a:srgbClr val="8A6D1E"/>
                </a:solidFill>
                <a:latin typeface="Calibri" pitchFamily="34" charset="0"/>
                <a:ea typeface="Calibri" pitchFamily="34" charset="-122"/>
                <a:cs typeface="Calibri" pitchFamily="34" charset="-120"/>
              </a:rPr>
              <a:t> is the sequence of events.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يُشِيرُ النَّصُّ ___ أَهَمِّيَّةِ التَّدْرِيبِ.</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يُشِيرُ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tells you an event came last?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البِدَايَةِ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النِّهَايَةِ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النِّهَايَةِ</a:t>
            </a:r>
            <a:pPr algn="l" indent="0" marL="0">
              <a:buNone/>
            </a:pPr>
            <a:r>
              <a:rPr lang="en-US" sz="1050" i="1" dirty="0">
                <a:solidFill>
                  <a:srgbClr val="8A6D1E"/>
                </a:solidFill>
                <a:latin typeface="Calibri" pitchFamily="34" charset="0"/>
                <a:ea typeface="Calibri" pitchFamily="34" charset="-122"/>
                <a:cs typeface="Calibri" pitchFamily="34" charset="-120"/>
              </a:rPr>
              <a:t> marks the final event.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سِيرَةً ذَاتِيٌّ مُمْتِعَةً.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سِيرَةً ذَاتِيَّةً مُمْتِعِينَ.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قَرَأْتُ سِيرَةً ذَاتِيَّةً مُمْتِعَةً.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سِيرَة</a:t>
            </a:r>
            <a:pPr algn="l" indent="0" marL="0">
              <a:buNone/>
            </a:pPr>
            <a:r>
              <a:rPr lang="en-US" sz="1050" i="1" dirty="0">
                <a:solidFill>
                  <a:srgbClr val="8A6D1E"/>
                </a:solidFill>
                <a:latin typeface="Calibri" pitchFamily="34" charset="0"/>
                <a:ea typeface="Calibri" pitchFamily="34" charset="-122"/>
                <a:cs typeface="Calibri" pitchFamily="34" charset="-120"/>
              </a:rPr>
              <a:t> is the accusative object, and both adjectives agree with it.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العَامِ المَاضِي يَنْتَقِلُ إِلَى نَادٍ جَدِيدٍ.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Past marker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يُشِيرُ النَّصُّ عَنْ أَهَمِّيَّةِ التَّدْرِيبِ.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yushīru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المُسْتَقْبَلِ دَرَّبَ الشَّبَابَ.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Future marker → sa-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فِي العَامِ المَاضِي يَنْتَقِلُ إِلَى نَادٍ جَدِيدٍ.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العَامِ المَاضِي انْتَقَلَ إِلَى نَادٍ جَدِيدٍ.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time marker requires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يُشِيرُ النَّصُّ عَنْ أَهَمِّيَّةِ التَّدْرِيبِ.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يُشِيرُ النَّصُّ إِلَى أَهَمِّيَّةِ التَّدْرِيبِ.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يُشِيرُ</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المُسْتَقْبَلِ دَرَّبَ الشَّبَابَ.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المُسْتَقْبَلِ سَيُدَرِّبُ الشَّبَابَ.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future marker requires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with a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Listening: an activity report from the sports club</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activity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diary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hotel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players took part?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Sixteen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won the final?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western school team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 it was drawn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eastern school team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the medals?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coaches and families were thanked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tournament restarted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club closed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more tournaments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larger tournament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change of venue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is it about? Which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البِدَايَةِ نَظَّمَ النَّادِي بُطُولَةً صَغِيرَةً لِلشَّبَابِ فِي العَامِ المَاضِي. شَارَكَ فِيهَا سِتُّونَ لَاعِبًا مِنْ مَدَارِسَ مُخْتَلِفَةٍ.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beginning the club organised a small tournament for young people last year. Sixty players from different schools took part.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لَعِبَتِ الفِرَقُ ثَلَاثَ مُبَارَيَاتٍ فِي كُلِّ أُسْبُوعٍ.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the teams played three matches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فَازَ فَرِيقُ المَدْرَسَةِ الشَّرْقِيَّةِ بِالمُبَارَاةِ النِّهَائِيَّةِ، وَتَعَادَلَ فَرِيقَانِ فِي المَرْكَزِ الثَّالِثِ.</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eastern school team won the final, and two teams drew for third place.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بَعْدَ ذٰلِكَ وَزَّعَ المُدِيرُ المِيدَالِيَاتِ عَلَى اللَّاعِبِينَ. وَفِي النِّهَايَةِ شَكَرَ المُدَرِّبِينَ وَالأُسَرَ.</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the director handed out the medals to the players. In the end he thanked the coaches and families.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المُسْتَقْبَلِ سَيُنَظِّمُ النَّادِي بُطُولَةً أَكْبَرَ.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future the club will organise a bigger tournament.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activity report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diary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hotel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past verbs about an organisation signal a report.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players took part?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Sixteen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شَارَكَ فِيهَا سِتُّونَ لَاعِبًا.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won the final?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western school team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 it was drawn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eastern school team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فَازَ فَرِيقُ المَدْرَسَةِ الشَّرْقِيَّةِ بِالمُبَارَاةِ النِّهَائِيَّةِ.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the medals?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coaches and families were thanked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tournament restarted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club closed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وَفِي النِّهَايَةِ شَكَرَ المُدَرِّبِينَ وَالأُسَرَ.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the future?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more tournaments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larger tournament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change of venue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المُسْتَقْبَلِ سَيُنَظِّمُ النَّادِي بُطُولَةً أَكْبَرَ.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is it about? Which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sporting life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بَدَأَ مَسِيرَتَهُ الرِّيَاضِيَّةَ مُنْذُ سَنَوَاتٍ، وَكَانَ فِي الطُّفُولَةِ يَتَدَرَّبُ فِي نَادٍ صَغِيرٍ قُرْبَ بَيْتِهِ. فِي البِدَايَةِ لَمْ يَكُنْ مَشْهُورًا، وَلٰكِنَّهُ تَدَرَّبَ يَوْمِيًّا وَلَمْ يَسْتَسْلِمْ. ثُمَّ انْتَقَلَ إِلَى فَرِيقٍ أَكْبَرَ، وَفِي العَامِ المَاضِي فَازَ بِالمِيدَالِيَةِ الذَّهَبِيَّةِ فِي بُطُولَةٍ كَبِيرَةٍ. وَقَدْ أَثَّرَ فِي جِيلٍ كَامِلٍ مِنَ اللَّاعِبِينَ الصِّغَارِ. بَعْدَ ذٰلِكَ اعْتَزَلَ اللَّعِبَ، وَفِي النِّهَايَةِ عَادَ إِلَى نَادِيهِ الأَوَّلِ. وَفِي المُسْتَقْبَلِ سَيُدَرِّبُ الشَّبَابَ هُنَاكَ.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مَسِيرَتَهُ الرِّيَاضِيَّةَ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sports career</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قُرْبَ بَيْتِهِ</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near his home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يَكُنْ مَشْهُورًا</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was not famous</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يَسْتَسْلِمْ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did not give up</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انْتَقَلَ إِلَى</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moved to</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أَثَّرَ فِي</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influenced</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جِيلٍ كَامِلٍ</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whole generation</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اعْتَزَلَ اللَّعِبَ</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retired from playing</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نَادِيهِ الأَوَّلِ</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first club</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سَيُدَرِّبُ</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will coach</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he train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national stadium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club near his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true at the beginning?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was already a champion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disliked 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was not famous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won a gold medal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retired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moved abroad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his influence?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influenced no one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influenced a whole generation of young players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influenced only his own team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he do in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Coach young people at his first club</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to competition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the sport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he train in childhood?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national stadium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club near his home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فِي الطُّفُولَةِ يَتَدَرَّبُ فِي نَادٍ صَغِيرٍ قُرْبَ بَيْتِهِ.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true at the beginning?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was already a champion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disliked 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was not famous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البِدَايَةِ لَمْ يَكُنْ مَشْهُورًا.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won a gold medal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retired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moved abroad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العَامِ المَاضِي فَازَ بِالمِيدَالِيَةِ الذَّهَبِيَّةِ.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his influence?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influenced no one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influenced a whole generation of young players</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influenced only his own team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أَثَّرَ فِي جِيلٍ كَامِلٍ مِنَ اللَّاعِبِينَ الصِّغَارِ.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he do in the future?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Coach young people at his first club</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 to competition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the sport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وَفِي المُسْتَقْبَلِ سَيُدَرِّبُ الشَّبَابَ هُنَاكَ.</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explain a text to a partner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هٰذَا النَّصِّ؟ وَكَيْفَ عَرَفْتَ ذٰلِكَ؟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تَسَلْسُلُ الأَحْدَاثِ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الدَّلِيلُ مِنَ النَّصِّ عَلَى إِجَابَتِكَ؟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النَّصُّ ___ ، لِأَنَّ الأَفْعَالَ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فِي البِدَايَةِ ___ ، ثُمَّ ___ ، وَفِي النِّهَايَةِ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الدَّلِيلُ مِنَ النَّصِّ: « ___ » ، وَهٰذَا يُشِيرُ إِلَى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نَوْعُ هٰذَا النَّصِّ؟</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type of text is this?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أَظُنُّ أَنَّهُ سِيرَةٌ رِيَاضِيَّةٌ، لِأَنَّ الأَفْعَالَ كُلَّهَا بِصِيغَةِ الغَائِبِ.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think it is a sporting biography, because all the verbs are in the third person.</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the text type and answer four comprehension questions using the text.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Text type + three events in order + one quote.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the sequence of events and quote one phrase as evidence for each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summary with two sequence markers and a quoted phrase.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the gap-fill by justifying each tense choice from the nearest time marker.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type · sequence · quoted evidence · yushīru ilā.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وَالدَّلِيلُ مِنَ النَّصِّ: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from the text: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يُشِيرُ النَّصُّ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text refers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______ عَنْ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a … about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 كَانَ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beginning he used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انْتَقَلَ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he moved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العَامِ المَاضِي فَازَ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year he won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سِيرَةٌ رِيَاضِيَّةٌ  ·  مُرَاجَعَةٌ  ·  تَقْرِيرٌ  ·  فِي البِدَايَةِ  ·  ثُمَّ  ·  بَعْدَ ذٰلِكَ  ·  فِي النِّهَايَةِ  ·  فِي العَامِ المَاضِي  ·  مُنْذُ سَنَوَاتٍ  ·  الدَّلِيلُ مِنَ النَّصِّ  ·  يُشِيرُ إِلَى  ·  يَسْتَنْتِجُ</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seventy words summarising a past-tense text you have read. Name the text type, state the sequence of events, quote one Arabic phrase as evidence, and say what the text refers to using </a:t>
            </a:r>
            <a:pPr algn="l" indent="0" marL="0">
              <a:buNone/>
            </a:pPr>
            <a:r>
              <a:rPr lang="ar-SA" altLang="en-US" sz="1750" b="1" dirty="0">
                <a:solidFill>
                  <a:srgbClr val="1F2A37"/>
                </a:solidFill>
                <a:latin typeface="Amiri" pitchFamily="34" charset="0"/>
                <a:ea typeface="Amiri" pitchFamily="34" charset="-122"/>
                <a:cs typeface="Amiri" pitchFamily="34" charset="-120"/>
              </a:rPr>
              <a:t>يُشِيرُ إِلَى</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text type named with </a:t>
            </a:r>
            <a:pPr algn="l" indent="0" marL="0">
              <a:buNone/>
            </a:pPr>
            <a:r>
              <a:rPr lang="ar-SA" altLang="en-US" sz="1550" dirty="0">
                <a:solidFill>
                  <a:srgbClr val="1F2A37"/>
                </a:solidFill>
                <a:latin typeface="Amiri" pitchFamily="34" charset="0"/>
                <a:ea typeface="Amiri" pitchFamily="34" charset="-122"/>
                <a:cs typeface="Amiri" pitchFamily="34" charset="-120"/>
              </a:rPr>
              <a:t>سِيرَةٌ، مُرَاجَعَةٌ</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تَقْرِيرٌ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sequence markers from </a:t>
            </a:r>
            <a:pPr algn="l" indent="0" marL="0">
              <a:buNone/>
            </a:pPr>
            <a:r>
              <a:rPr lang="ar-SA" altLang="en-US" sz="1550" dirty="0">
                <a:solidFill>
                  <a:srgbClr val="1F2A37"/>
                </a:solidFill>
                <a:latin typeface="Amiri" pitchFamily="34" charset="0"/>
                <a:ea typeface="Amiri" pitchFamily="34" charset="-122"/>
                <a:cs typeface="Amiri" pitchFamily="34" charset="-120"/>
              </a:rPr>
              <a:t>فِي البِدَايَةِ، ثُمَّ، بَعْدَ ذٰلِكَ، فِي النِّهَايَةِ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quoted Arabic phrase as evidence.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يُشِيرُ إِلَى</a:t>
            </a:r>
            <a:pPr algn="l" indent="0" marL="0">
              <a:buNone/>
            </a:pPr>
            <a:r>
              <a:rPr lang="en-US" sz="1200" dirty="0">
                <a:solidFill>
                  <a:srgbClr val="1F2A37"/>
                </a:solidFill>
                <a:latin typeface="Calibri" pitchFamily="34" charset="0"/>
                <a:ea typeface="Calibri" pitchFamily="34" charset="-122"/>
                <a:cs typeface="Calibri" pitchFamily="34" charset="-120"/>
              </a:rPr>
              <a:t> and the genitive.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الأَفْعَالَ بِصِيغَةِ الغَائِبِ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the verbs are in the third person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 يَكُنْ مَشْهُورًا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was not famous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تَدَرَّبَ يَوْمِيًّا وَلَمْ يَسْتَسْلِمْ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trained daily and did not give up</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أَهَمِّيَّةُ الصَّبْرِ وَالتَّدْرِيبِ المُنْتَظِمِ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importance of patience and regular training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نَسْتَنْتِجُ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deduce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قَرَأْتُ سِيرَةً رِيَاضِيَّةً قَصِيرَةً عَنْ لَاعِبٍ مَشْهُورٍ. فِي البِدَايَةِ كَانَ يَتَدَرَّبُ فِي نَادٍ صَغِيرٍ، وَلَمْ يَكُنْ مَشْهُورًا. ثُمَّ انْتَقَلَ إِلَى فَرِيقٍ أَكْبَرَ، وَفِي العَامِ المَاضِي فَازَ بِالمِيدَالِيَةِ الذَّهَبِيَّةِ. بَعْدَ ذٰلِكَ اعْتَزَلَ اللَّعِبَ، وَفِي النِّهَايَةِ عَادَ إِلَى نَادِيهِ الأَوَّلِ. وَالدَّلِيلُ مِنَ النَّصِّ: أَثَّرَ فِي جِيلٍ كَامِلٍ. يُشِيرُ النَّصُّ إِلَى أَهَمِّيَّةِ الصَّبْرِ وَالتَّدْرِيبِ المُنْتَظِمِ.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read a short sporting biography about a famous player. At the beginning he used to train at a small club, and he was not famous. Then he moved to a bigger team, and last year he won the gold medal. After that he retired, and in the end he returned to his first club. The evidence from the text: “he influenced a whole generation”. The text refers to the importance of patience and regular training.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text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sequence markers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quoted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يُشِيرُ إِلَى + genitive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text type from the verb endings.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answers match the time markers.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the events in the right order.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quoted one Arabic phrase 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يُشِيرُ إِلَى</a:t>
            </a:r>
            <a:pPr algn="l" indent="0" marL="0">
              <a:buNone/>
            </a:pPr>
            <a:r>
              <a:rPr lang="en-US" sz="1300" dirty="0">
                <a:solidFill>
                  <a:srgbClr val="1F2A37"/>
                </a:solidFill>
                <a:latin typeface="Calibri" pitchFamily="34" charset="0"/>
                <a:ea typeface="Calibri" pitchFamily="34" charset="-122"/>
                <a:cs typeface="Calibri" pitchFamily="34" charset="-120"/>
              </a:rPr>
              <a:t> with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is full of </a:t>
            </a:r>
            <a:pPr algn="l" indent="0" marL="0">
              <a:buNone/>
            </a:pPr>
            <a:r>
              <a:rPr lang="ar-SA" altLang="en-US" sz="1650" b="1" dirty="0">
                <a:solidFill>
                  <a:srgbClr val="1B3B6F"/>
                </a:solidFill>
                <a:latin typeface="Amiri" pitchFamily="34" charset="0"/>
                <a:ea typeface="Amiri" pitchFamily="34" charset="-122"/>
                <a:cs typeface="Amiri" pitchFamily="34" charset="-120"/>
              </a:rPr>
              <a:t>فَعَلْتُ</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فَعَلْنَا</a:t>
            </a:r>
            <a:pPr algn="l" indent="0" marL="0">
              <a:buNone/>
            </a:pPr>
            <a:r>
              <a:rPr lang="en-US" sz="1250" b="1" dirty="0">
                <a:solidFill>
                  <a:srgbClr val="1B3B6F"/>
                </a:solidFill>
                <a:latin typeface="Calibri" pitchFamily="34" charset="0"/>
                <a:ea typeface="Calibri" pitchFamily="34" charset="-122"/>
                <a:cs typeface="Calibri" pitchFamily="34" charset="-120"/>
              </a:rPr>
              <a:t>. What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account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official biography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الفَرِيقُ بِالبُطُولَةِ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يَفُوزُ</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سَيَفُوزُ</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النَّصُّ</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is full of </a:t>
            </a:r>
            <a:pPr algn="l" indent="0" marL="0">
              <a:buNone/>
            </a:pPr>
            <a:r>
              <a:rPr lang="ar-SA" altLang="en-US" sz="1650" b="1" dirty="0">
                <a:solidFill>
                  <a:srgbClr val="1B3B6F"/>
                </a:solidFill>
                <a:latin typeface="Amiri" pitchFamily="34" charset="0"/>
                <a:ea typeface="Amiri" pitchFamily="34" charset="-122"/>
                <a:cs typeface="Amiri" pitchFamily="34" charset="-120"/>
              </a:rPr>
              <a:t>فَعَلْتُ</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فَعَلْنَا</a:t>
            </a:r>
            <a:pPr algn="l" indent="0" marL="0">
              <a:buNone/>
            </a:pPr>
            <a:r>
              <a:rPr lang="en-US" sz="1250" b="1" dirty="0">
                <a:solidFill>
                  <a:srgbClr val="1B3B6F"/>
                </a:solidFill>
                <a:latin typeface="Calibri" pitchFamily="34" charset="0"/>
                <a:ea typeface="Calibri" pitchFamily="34" charset="-122"/>
                <a:cs typeface="Calibri" pitchFamily="34" charset="-120"/>
              </a:rPr>
              <a:t>. What is it?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personal account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official biography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First-person past verbs signal a personal account.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الفَرِيقُ بِالبُطُولَةِ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يَفُوزُ</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فَازَ</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سَيَفُوزُ</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أَمْسِ</a:t>
            </a:r>
            <a:pPr algn="l" indent="0" marL="0">
              <a:buNone/>
            </a:pPr>
            <a:r>
              <a:rPr lang="en-US" sz="1050" i="1" dirty="0">
                <a:solidFill>
                  <a:srgbClr val="8A6D1E"/>
                </a:solidFill>
                <a:latin typeface="Calibri" pitchFamily="34" charset="0"/>
                <a:ea typeface="Calibri" pitchFamily="34" charset="-122"/>
                <a:cs typeface="Calibri" pitchFamily="34" charset="-120"/>
              </a:rPr>
              <a:t> requires a past-tense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النَّصُّ</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يُشِيرُ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Reading Mission — Text Type, Sequence and Tense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Text type: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فَازَ، انْتَقَلَ، اعْتَزَلَ</a:t>
            </a:r>
            <a:pPr algn="l" indent="0" marL="0">
              <a:buNone/>
            </a:pPr>
            <a:r>
              <a:rPr lang="en-US" sz="1250" b="1" dirty="0">
                <a:solidFill>
                  <a:srgbClr val="1F2A37"/>
                </a:solidFill>
                <a:latin typeface="Calibri" pitchFamily="34" charset="0"/>
                <a:ea typeface="Calibri" pitchFamily="34" charset="-122"/>
                <a:cs typeface="Calibri" pitchFamily="34" charset="-120"/>
              </a:rPr>
              <a:t> signal what?</a:t>
            </a:r>
            <a:endParaRPr lang="en-US" sz="12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recipe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biography</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Text type: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34" charset="0"/>
                <a:ea typeface="Amiri" pitchFamily="34" charset="-122"/>
                <a:cs typeface="Amiri" pitchFamily="34" charset="-120"/>
              </a:rPr>
              <a:t>حَجَزْتُ، أَقَمْتُ، اسْتَمْتَعْتُ</a:t>
            </a:r>
            <a:pPr algn="l" indent="0" marL="0">
              <a:buNone/>
            </a:pPr>
            <a:r>
              <a:rPr lang="en-US" sz="1050" b="1" dirty="0">
                <a:solidFill>
                  <a:srgbClr val="1F2A37"/>
                </a:solidFill>
                <a:latin typeface="Calibri" pitchFamily="34" charset="0"/>
                <a:ea typeface="Calibri" pitchFamily="34" charset="-122"/>
                <a:cs typeface="Calibri" pitchFamily="34" charset="-120"/>
              </a:rPr>
              <a:t> signal what?</a:t>
            </a:r>
            <a:endParaRPr lang="en-US" sz="10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review</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news report</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advertisement</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المَاضِيَ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الفَرِيقُ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يَتَدَرَّبُ</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سَيَتَدَرَّبُ</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تَدَرَّبَ</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غَدًا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الفَرِيقُ فِي البُطُولَةِ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أَمْسِ</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سَيُشَارِكُ</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“review”?</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مُرَاجَعَةٌ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تَقْرِيرٌ</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فِقْرَةٌ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تَجْرِبَتِهِ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Text type: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فَازَ، انْتَقَلَ، اعْتَزَلَ</a:t>
            </a:r>
            <a:pPr algn="l" indent="0" marL="0">
              <a:buNone/>
            </a:pPr>
            <a:r>
              <a:rPr lang="en-US" sz="1250" b="1" dirty="0">
                <a:solidFill>
                  <a:srgbClr val="1F2A37"/>
                </a:solidFill>
                <a:latin typeface="Calibri" pitchFamily="34" charset="0"/>
                <a:ea typeface="Calibri" pitchFamily="34" charset="-122"/>
                <a:cs typeface="Calibri" pitchFamily="34" charset="-120"/>
              </a:rPr>
              <a:t> signal what?</a:t>
            </a:r>
            <a:endParaRPr lang="en-US" sz="12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recipe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biography</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past verbs about one person signal a biography.</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Text type:</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34" charset="0"/>
                <a:ea typeface="Amiri" pitchFamily="34" charset="-122"/>
                <a:cs typeface="Amiri" pitchFamily="34" charset="-120"/>
              </a:rPr>
              <a:t>حَجَزْتُ، أَقَمْتُ، اسْتَمْتَعْتُ</a:t>
            </a:r>
            <a:pPr algn="l" indent="0" marL="0">
              <a:buNone/>
            </a:pPr>
            <a:r>
              <a:rPr lang="en-US" sz="1050" b="1" dirty="0">
                <a:solidFill>
                  <a:srgbClr val="1F2A37"/>
                </a:solidFill>
                <a:latin typeface="Calibri" pitchFamily="34" charset="0"/>
                <a:ea typeface="Calibri" pitchFamily="34" charset="-122"/>
                <a:cs typeface="Calibri" pitchFamily="34" charset="-120"/>
              </a:rPr>
              <a:t> signal what?</a:t>
            </a:r>
            <a:endParaRPr lang="en-US" sz="10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personal review</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news report</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advertisement</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First-person past verbs signal a personal account.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المَاضِيَ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الفَرِيقُ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يَتَدَرَّبُ</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سَيَتَدَرَّبُ</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تَدَرَّبَ</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time marker requires a past verb.</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غَدًا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الفَرِيقُ فِي البُطُولَةِ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شَارَكَ</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أَمْسِ</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سَيُشَارِكُ</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غَدًا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“review”?</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مُرَاجَعَةٌ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تَقْرِيرٌ</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فِقْرَةٌ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مُرَاجَعَةٌ</a:t>
            </a:r>
            <a:pPr algn="l" indent="0" marL="0">
              <a:buNone/>
            </a:pPr>
            <a:r>
              <a:rPr lang="en-US" sz="1050" i="1" dirty="0">
                <a:solidFill>
                  <a:srgbClr val="8A6D1E"/>
                </a:solidFill>
                <a:latin typeface="Calibri" pitchFamily="34" charset="0"/>
                <a:ea typeface="Calibri" pitchFamily="34" charset="-122"/>
                <a:cs typeface="Calibri" pitchFamily="34" charset="-120"/>
              </a:rPr>
              <a:t> is a review.</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تَجْرِبَتِهِ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يُشِيرُ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D5-L09 · Writing — My Leisure Life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تَنَوُّعُ الأَزْمِنَةِ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tense variety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المُسَوَّدَةُ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draft</a:t>
            </a:r>
            <a:pPr indent="0" marL="0">
              <a:buNone/>
            </a:pPr>
            <a:r>
              <a:rPr lang="en-US" sz="1000" i="1" dirty="0">
                <a:solidFill>
                  <a:srgbClr val="5A6472"/>
                </a:solidFill>
                <a:latin typeface="Calibri" pitchFamily="34" charset="0"/>
                <a:ea typeface="Calibri" pitchFamily="34" charset="-122"/>
                <a:cs typeface="Calibri" pitchFamily="34" charset="-120"/>
              </a:rPr>
              <a:t>  pl. المُسَوَّدَاتُ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الآنَ فَـ</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for now, …</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أَنْوِي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intend to</a:t>
            </a:r>
            <a:pPr indent="0" marL="0">
              <a:buNone/>
            </a:pPr>
            <a:r>
              <a:rPr lang="en-US" sz="1000" i="1" dirty="0">
                <a:solidFill>
                  <a:srgbClr val="5A6472"/>
                </a:solidFill>
                <a:latin typeface="Calibri" pitchFamily="34" charset="0"/>
                <a:ea typeface="Calibri" pitchFamily="34" charset="-122"/>
                <a:cs typeface="Calibri" pitchFamily="34" charset="-120"/>
              </a:rPr>
              <a:t>  يَنْوِي 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بِصَرَاحَةٍ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frankly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your leisure life: one thing you did as a child, one thing you do now, one thing you will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الطُّفُولَةِ كُنْتُ … · أَمَّا الآنَ فَـ … · فِي المُسْتَقْبَلِ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text-type and marker words;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summary of the life story with two markers and a quote.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 70-word evidence-based summary.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D5-L09 · Writing — My Leisure Life (Extended Writing)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حَيَاتِي التَّرْفِيهِيَّةُ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endings → text type · markers → order · time word → tense · and prove it with the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D5-L08 · Reading — Leisure, Sport and Past Experience Texts</dc:title>
  <dc:subject>PptxGenJS Presentation</dc:subject>
  <dc:creator>Al Madina Online School · Arabic Department</dc:creator>
  <cp:lastModifiedBy>Al Madina Online School · Arabic Department</cp:lastModifiedBy>
  <cp:revision>1</cp:revision>
  <dcterms:created xsi:type="dcterms:W3CDTF">2026-10-03T10:05:13Z</dcterms:created>
  <dcterms:modified xsi:type="dcterms:W3CDTF">2026-10-03T10:05:13Z</dcterms:modified>
</cp:coreProperties>
</file>