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Pathways › Development › D5 Hobbies, Sport and Leisure › D5-L08. The website lesson “Reading — Leisure, Sport and Past Experience Texts”: vocabulary, grammar rules and quiz, patterns, common mistakes, sorter, listening, reading, speaking prompts and model, writing task and model, differentiation, final check and the lesson mission. Picture match: website visual game “Reading — Leisure, Sport and Past Experience Texts”.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This is a READING-SKILLS lesson: the website sporting life story is the main You Do task (6 questions).
• Core: questions 1–3 (where · at the beginning · last year) and the text type from the verbs. Develop: all questions + the sequence of events. Stretch: the website ~70-word summary with quoted evidence and يُشِيرُ إِلَى.
• Reading routine: (1) Look at the verb ENDINGS: who is it about? (2) Find the sequence markers. (3) For each answer, find the time marker and quote the Arabic.
• Builds on D5-L03–L05 (past endings, كَانَ + habit) and D5-L07 (past → future switch).
• TEACHER-WRITTEN ITEMS: one vowel-only quiz distractor replaced and English added to the patterns and speaking model; the website visual game repeats D5-L03 and is skipped.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test three of the five words prepared at home at the end of D5-L07. Questions 4–5 retrieve D5-L07 (future) and D5-L04 (-nā).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Read the verb endings first: they tell you WHO the text is about — and what kind of text it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سیرت (as in سیرت النبی ﷺ = the life of the Prophet), دلیل، تفصیل are shared. CAREFUL: Urdu تقریر = a speech; Arabic تَقْرِيرٌ = a written report (a speech is خِطَابٌ / كَلِمَةٌ).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Text types (website vocabulary (1 of 2)). Hear → Say → See → Use. Transliteration is printed for Core students (cover it for Develop/Stretch).
Text types: the words exam questions use (“What type of text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Text types (website vocabulary (2 of 2)). Hear → Say → See → Use. Transliteration is printed for Core students (cover it for Develop/Stretch).
Text types: the words exam questions use (“What type of text is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strategy language (website vocabulary (1 of 2)). Hear → Say → See → Use. Transliteration is printed for Core students (cover it for Develop/Stretch).
Reading strategy language: يُشِيرُ إِلَى (refers to) and يَسْتَنْتِجُ (deduces) are for explaining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Reading strategy language (website vocabulary (2 of 2)). Hear → Say → See → Use. Transliteration is printed for Core students (cover it for Develop/Stretch).
Reading strategy language: يُشِيرُ إِلَى (refers to) and يَسْتَنْتِجُ (deduces) are for explaining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Past markers to scan for (website vocabulary (1 of 2)). Hear → Say → See → Use. Transliteration is printed for Core students (cover it for Develop/Stretch).
Past markers to scan for: these decide the tense of the verb in a gap-fill.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Past markers to scan for (website vocabulary (2 of 2)). Hear → Say → See → Use. Transliteration is printed for Core students (cover it for Develop/Stretch).
Past markers to scan for: these decide the tense of the verb in a gap-fill.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PART 1 — website rules “Third-person clusters” (a text built on third-person past verbs is usually about someone else: a biography, a report or a news item) and “First-person clusters” (a personal account, a review or a diary). Website teaching point: “Verb clusters name the text 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“Sequence markers” (a question about what happened first or last is usually answered by locating one of them) and “Choosing the tense in a gap-fill” (find the nearest time expression: a past marker requires a past verb; فِي المُسْتَقْبَلِ / غَدًا requires سَـ + present). Website teaching point: “Time expressions confirm what the suffixes suggest.”
Website mistakes: فِي العَامِ المَاضِي يَنْتَقِلُ ✗ · يُشِيرُ النَّصُّ عَنْ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“Three moves make these texts manageable: identify the text type from the verbs, follow the sequence with the connectors, and prove each answer from the Arabic.”
• Third-person clusters: A text built on third-person past verbs is usually about someone else: a biography, a report or a news item.
• First-person clusters: A text built on first-person past verbs is a personal account, a review or a diary.
• Sequence markers: These fix the order of events. A question about what happened first or last is usually answered by locating one of them.
• Choosing the tense in a gap-fill: Find the nearest time expression. A past marker requires a past verb; فِي المُسْتَقْبَلِ or غَدًا requires سَـ with a present verb.
Website common error: Do not choose an answer because it repeats a word from the text. Check that the whole clause matches, and that the tense of the verb agrees with the nearest time marker.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(3 min) — think aloud on the website reading text: endings → type; markers → order; time word → tense; quote. Students then answer the 6 questions themselves in the You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how you know: “ـَتْ / ـَ = someone else” · “ـْتُ / ـْنَا = me / us” · “سَـ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sort each item into the right group.
Then say how you know: “ـَتْ / ـَ = someone else” · “ـْتُ / ـْنَا = me / us” · “سَـ = future”.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2 and 5. Develop / Stretch: all 5 — and list the sequence markers in order.
Listen 1: just listen. Listen 2: note answers. Then chat the letters.
Support: after the second listening, show the read-along slide (Arabic + English, line by line) for Core students.
SCRIPT (read aloud):
فِي البِدَايَةِ نَظَّمَ النَّادِي بُطُولَةً صَغِيرَةً لِلشَّبَابِ فِي العَامِ المَاضِي. شَارَكَ فِيهَا سِتُّونَ لَاعِبًا مِنْ مَدَارِسَ مُخْتَلِفَةٍ. ثُمَّ لَعِبَتِ الفِرَقُ ثَلَاثَ مُبَارَيَاتٍ فِي كُلِّ أُسْبُوعٍ. فَازَ فَرِيقُ المَدْرَسَةِ الشَّرْقِيَّةِ بِالمُبَارَاةِ النِّهَائِيَّةِ، وَتَعَادَلَ فَرِيقَانِ فِي المَرْكَزِ الثَّالِثِ. بَعْدَ ذٰلِكَ وَزَّعَ المُدِيرُ المِيدَالِيَاتِ عَلَى اللَّاعِبِينَ. وَفِي النِّهَايَةِ شَكَرَ المُدَرِّبِينَ وَالأُسَرَ. وَفِي المُسْتَقْبَلِ سَيُنَظِّمُ النَّادِي بُطُولَةً أَكْبَرَ.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 READING (main task): the website sporting life story. Before reading: underline every verb ending and every time marker.
Core: questions 1–3. Develop: all questions + the order of events. Stretch: then the written summary with quoted evidence and يُشِيرُ إِلَى.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وَمَا الدَّلِيلُ عَلَى ذٰلِكَ؟ (And what is the evidence for that?)
B: يَقُولُ النَّصُّ: فَازَ بِالمِيدَالِيَةِ الذَّهَبِيَّةِ، وَهٰذَا يُشِيرُ إِلَى إِنْجَازٍ فِي المَاضِي. (The text says: “he won the gold medal”, and this refers to an achievement in the past.)
Website prompts and model: students explain HOW they read. Core may answer with one Arabic phrase + English. To a girl: عَرَفْتِ · إِجَابَتِكِ.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Identify the text type and answer four comprehension questions using the text. · Develop — Add the sequence of events and quote one phrase as evidence for each answer. · Stretch — Complete the gap-fill by justifying each tense choice from the nearest time marker.
Website writing task (Stretch): Write about seventy words summarising a past-tense text you have read. Name the text type, state the sequence of events, quote one Arabic phrase as evidence, and say what the text refers to using يُشِيرُ إِلَى.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Website writing model. Evidence: سِيرَةً رِيَاضِيَّةً · فِي البِدَايَةِ · ثُمَّ · فِي العَامِ المَاضِي · بَعْدَ ذٰلِكَ · فِي النِّهَايَةِ · وَالدَّلِيلُ مِنَ النَّصِّ: … · يُشِيرُ النَّصُّ إِلَى أَهَمِّيَّةِ …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4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WEBSITE LESSON MISSION (FLEX) — fast finishers or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(D5-L09 · Writing — My Leisure Life (Extended Writing)) will spend class time USING this language, so students prepare it tonight — short, simple, easy to access (school guidance: “Simple, Short, Interesting, Relevant, Easy to access”). The five words come from the website D5-L09 vocabulary (planning an extended piece of writing).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8  ·  DEVELOPMENT D5  ·  D5-L08</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D5-L08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Reading — Leisure, Sport and Past Experience Texts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القِرَاءَةُ — نُصُوصُ التَّرْفِيهِ وَالرِّيَاضَةِ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Read past-tense texts like an examiner: let the verb endings tell you the text type (</a:t>
            </a:r>
            <a:pPr algn="l" indent="0" marL="0">
              <a:buNone/>
            </a:pPr>
            <a:r>
              <a:rPr lang="ar-SA" altLang="en-US" sz="1800" dirty="0">
                <a:solidFill>
                  <a:srgbClr val="C6D2E6"/>
                </a:solidFill>
                <a:latin typeface="Amiri" pitchFamily="2" charset="-78"/>
                <a:ea typeface="Amiri" pitchFamily="2" charset="-78"/>
                <a:cs typeface="Amiri" pitchFamily="2" charset="-78"/>
              </a:rPr>
              <a:t>فَازَ / فَازَتْ</a:t>
            </a:r>
            <a:pPr algn="l" indent="0" marL="0">
              <a:buNone/>
            </a:pPr>
            <a:r>
              <a:rPr lang="en-US" sz="1400" dirty="0">
                <a:solidFill>
                  <a:srgbClr val="C6D2E6"/>
                </a:solidFill>
                <a:latin typeface="Calibri" pitchFamily="34" charset="0"/>
                <a:cs typeface="Amiri" pitchFamily="2" charset="-78"/>
              </a:rPr>
              <a:t> = biography · </a:t>
            </a:r>
            <a:pPr algn="l" indent="0" marL="0">
              <a:buNone/>
            </a:pPr>
            <a:r>
              <a:rPr lang="ar-SA" altLang="en-US" sz="1800" dirty="0">
                <a:solidFill>
                  <a:srgbClr val="C6D2E6"/>
                </a:solidFill>
                <a:latin typeface="Amiri" pitchFamily="2" charset="-78"/>
                <a:ea typeface="Amiri" pitchFamily="2" charset="-78"/>
                <a:cs typeface="Amiri" pitchFamily="2" charset="-78"/>
              </a:rPr>
              <a:t>حَجَزْتُ / أَقَمْنَا</a:t>
            </a:r>
            <a:pPr algn="l" indent="0" marL="0">
              <a:buNone/>
            </a:pPr>
            <a:r>
              <a:rPr lang="en-US" sz="1400" dirty="0">
                <a:solidFill>
                  <a:srgbClr val="C6D2E6"/>
                </a:solidFill>
                <a:latin typeface="Calibri" pitchFamily="34" charset="0"/>
                <a:cs typeface="Amiri" pitchFamily="2" charset="-78"/>
              </a:rPr>
              <a:t> = personal review), follow the sequence markers, choose the tense from the nearest time marker, and prove every answer from the Arabic.</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D5-L08 · Development D5 · Hobbies, Sport and Leisure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Development · A2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Development › D5 › D5-L08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44</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Text type from verbs, sequence, tense from time markers, evidence.</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Sort text-type signals, fix tense slips, then a sports-club report.</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D5-L09.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44</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review</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biography, life story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report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تَسَلْسُلُ الأَحْدَاثِ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order of events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main idea</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evidence</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يَسْتَنْتِجُ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refers to</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summarises</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deduces</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سَزُرْتُ المَدِينَةَ غَدًا.</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زُرْتُ المَدِينَةَ غَدًا.</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سَأَزُورُ المَدِينَةَ غَدًا.</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زُرْنَا المَعَالِمَ</a:t>
            </a:r>
            <a:pPr algn="l" indent="0" marL="0">
              <a:buNone/>
            </a:pPr>
            <a:r>
              <a:rPr lang="en-US" sz="1250" b="1" dirty="0">
                <a:solidFill>
                  <a:srgbClr val="1B3B6F"/>
                </a:solidFill>
                <a:latin typeface="Calibri" pitchFamily="34" charset="0"/>
                <a:cs typeface="Amiri" pitchFamily="2" charset="-78"/>
              </a:rPr>
              <a:t> — who visited?</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44</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سِيرَةٌ ذَاتِيَّةٌ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review</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biography, life story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report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(D5-L07).</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تَسَلْسُلُ الأَحْدَاثِ</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order of events</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main idea</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evidence</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(D5-L07).</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يَسْتَنْتِجُ</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refers to</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summarises</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deduces</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(D5-L07).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sentence.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سَزُرْتُ المَدِينَةَ غَدًا.</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زُرْتُ المَدِينَةَ غَدًا.</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سَأَزُورُ المَدِينَةَ غَدًا.</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D5-L07: future.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ar-SA" altLang="en-US" sz="1650" b="1" dirty="0">
                <a:solidFill>
                  <a:srgbClr val="1B3B6F"/>
                </a:solidFill>
                <a:latin typeface="Amiri" pitchFamily="2" charset="-78"/>
                <a:ea typeface="Amiri" pitchFamily="2" charset="-78"/>
                <a:cs typeface="Amiri" pitchFamily="2" charset="-78"/>
              </a:rPr>
              <a:t>زُرْنَا المَعَالِمَ</a:t>
            </a:r>
            <a:pPr algn="l" indent="0" marL="0">
              <a:buNone/>
            </a:pPr>
            <a:r>
              <a:rPr lang="en-US" sz="1250" b="1" dirty="0">
                <a:solidFill>
                  <a:srgbClr val="1B3B6F"/>
                </a:solidFill>
                <a:latin typeface="Calibri" pitchFamily="34" charset="0"/>
                <a:cs typeface="Amiri" pitchFamily="2" charset="-78"/>
              </a:rPr>
              <a:t> — who visited?</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D5-L04 / L07: -nā.</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Read the verb endings first: they tell you WHO the text is about — and what kind of text it is.</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فَازَتْ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0E7C86"/>
                </a:solidFill>
                <a:latin typeface="Amiri" pitchFamily="2" charset="-78"/>
                <a:ea typeface="Amiri" pitchFamily="2" charset="-78"/>
                <a:cs typeface="Amiri" pitchFamily="2" charset="-78"/>
              </a:rPr>
              <a:t>انْتَقَلَ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سِيرَةٌ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حَجَزْتُ</a:t>
            </a:r>
            <a:pPr rtl="1" algn="ctr" indent="0" marL="0">
              <a:lnSpc>
                <a:spcPct val="120000"/>
              </a:lnSpc>
              <a:buNone/>
            </a:pPr>
            <a:r>
              <a:rPr lang="ar-SA" altLang="en-US" sz="1950" b="1" dirty="0">
                <a:solidFill>
                  <a:srgbClr val="1B3B6F"/>
                </a:solidFill>
                <a:latin typeface="Amiri" pitchFamily="2" charset="-78"/>
                <a:cs typeface="Amiri" pitchFamily="2" charset="-78"/>
              </a:rPr>
              <a:t> · </a:t>
            </a:r>
            <a:pPr rtl="1" algn="ctr" indent="0" marL="0">
              <a:lnSpc>
                <a:spcPct val="120000"/>
              </a:lnSpc>
              <a:buNone/>
            </a:pPr>
            <a:r>
              <a:rPr lang="ar-SA" altLang="en-US" sz="1950" b="1" dirty="0">
                <a:solidFill>
                  <a:srgbClr val="D6336C"/>
                </a:solidFill>
                <a:latin typeface="Amiri" pitchFamily="2" charset="-78"/>
                <a:ea typeface="Amiri" pitchFamily="2" charset="-78"/>
                <a:cs typeface="Amiri" pitchFamily="2" charset="-78"/>
              </a:rPr>
              <a:t>أَقَمْنَا</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 مُرَاجَعَةٌ</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44</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Identify the text type from the verb endings.</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Follow the sequence of events with markers.</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Choose the right tense from the nearest time marker.</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Prove answers with a quoted Arabic phrase (</a:t>
            </a:r>
            <a:pPr algn="l" indent="0" marL="0">
              <a:buNone/>
            </a:pPr>
            <a:r>
              <a:rPr lang="ar-SA" altLang="en-US" sz="1700" dirty="0">
                <a:solidFill>
                  <a:srgbClr val="1F2A37"/>
                </a:solidFill>
                <a:latin typeface="Amiri" pitchFamily="2" charset="-78"/>
                <a:ea typeface="Amiri" pitchFamily="2" charset="-78"/>
                <a:cs typeface="Amiri" pitchFamily="2" charset="-78"/>
              </a:rPr>
              <a:t>يُشِيرُ إِلَى</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if a text is about “him / her” or “me / us”.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find a time marker and a past verb.</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put the events in order.</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quote one Arabic phrase as evidence.</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justify each tense choice.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summarise a text in 70 words with </a:t>
            </a:r>
            <a:pPr algn="l" indent="0" marL="0">
              <a:buNone/>
            </a:pPr>
            <a:r>
              <a:rPr lang="ar-SA" altLang="en-US" sz="1700" b="1" dirty="0">
                <a:solidFill>
                  <a:srgbClr val="B83227"/>
                </a:solidFill>
                <a:latin typeface="Amiri" pitchFamily="2" charset="-78"/>
                <a:ea typeface="Amiri" pitchFamily="2" charset="-78"/>
                <a:cs typeface="Amiri" pitchFamily="2" charset="-78"/>
              </a:rPr>
              <a:t>يُشِيرُ إِلَى</a:t>
            </a:r>
            <a:pPr algn="l" indent="0" marL="0">
              <a:buNone/>
            </a:pPr>
            <a:r>
              <a:rPr lang="en-US" sz="1300" b="1" dirty="0">
                <a:solidFill>
                  <a:srgbClr val="B83227"/>
                </a:solidFill>
                <a:latin typeface="Calibri" pitchFamily="34" charset="0"/>
                <a:cs typeface="Amiri" pitchFamily="2" charset="-78"/>
              </a:rPr>
              <a:t>.</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44</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24 words from the website in 3 groups. Learn the CORE words first. Hear it → say it → see it → use it.</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Text types · 8</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Reading strategy language · 8</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Past markers to scan for · 8</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سِيرَةٌ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‎سیرت‎ </a:t>
            </a:r>
            <a:pPr indent="0" marL="0">
              <a:buNone/>
            </a:pPr>
            <a:r>
              <a:rPr lang="en-US" sz="950" b="1" dirty="0">
                <a:solidFill>
                  <a:srgbClr val="2E8B57"/>
                </a:solidFill>
                <a:latin typeface="Calibri" pitchFamily="34" charset="0"/>
                <a:cs typeface="Amiri" pitchFamily="2" charset="-78"/>
              </a:rPr>
              <a:t> sīrat · life story (Urdu also: character, the Sīrah)</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دَلِيلٌ</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‎دلیل‎ </a:t>
            </a:r>
            <a:pPr indent="0" marL="0">
              <a:buNone/>
            </a:pPr>
            <a:r>
              <a:rPr lang="en-US" sz="950" b="1" dirty="0">
                <a:solidFill>
                  <a:srgbClr val="2E8B57"/>
                </a:solidFill>
                <a:latin typeface="Calibri" pitchFamily="34" charset="0"/>
                <a:cs typeface="Amiri" pitchFamily="2" charset="-78"/>
              </a:rPr>
              <a:t> dalīl · evidence, proof</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850" b="1" dirty="0">
                <a:solidFill>
                  <a:srgbClr val="1B3B6F"/>
                </a:solidFill>
                <a:latin typeface="Amiri" pitchFamily="2" charset="-78"/>
                <a:ea typeface="Amiri" pitchFamily="2" charset="-78"/>
                <a:cs typeface="Amiri" pitchFamily="2" charset="-78"/>
              </a:rPr>
              <a:t>نَتِيجَةٌ / اسْتِنْتَاجٌ</a:t>
            </a:r>
            <a:endParaRPr lang="ar-SA" sz="185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‎نتیجہ‎ </a:t>
            </a:r>
            <a:pPr indent="0" marL="0">
              <a:buNone/>
            </a:pPr>
            <a:r>
              <a:rPr lang="en-US" sz="950" b="1" dirty="0">
                <a:solidFill>
                  <a:srgbClr val="2E8B57"/>
                </a:solidFill>
                <a:latin typeface="Calibri" pitchFamily="34" charset="0"/>
                <a:cs typeface="Amiri" pitchFamily="2" charset="-78"/>
              </a:rPr>
              <a:t> natīja · result / conclusion</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تَفْصِيلٌ</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‎تفصیل‎ </a:t>
            </a:r>
            <a:pPr indent="0" marL="0">
              <a:buNone/>
            </a:pPr>
            <a:r>
              <a:rPr lang="en-US" sz="950" b="1" dirty="0">
                <a:solidFill>
                  <a:srgbClr val="2E8B57"/>
                </a:solidFill>
                <a:latin typeface="Calibri" pitchFamily="34" charset="0"/>
                <a:cs typeface="Amiri" pitchFamily="2" charset="-78"/>
              </a:rPr>
              <a:t> tafṣīl · detail</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تَقْرِيرٌ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‎تقریر‎ </a:t>
            </a:r>
            <a:pPr indent="0" marL="0">
              <a:buNone/>
            </a:pPr>
            <a:r>
              <a:rPr lang="en-US" sz="950" b="1" dirty="0">
                <a:solidFill>
                  <a:srgbClr val="2E8B57"/>
                </a:solidFill>
                <a:latin typeface="Calibri" pitchFamily="34" charset="0"/>
                <a:cs typeface="Amiri" pitchFamily="2" charset="-78"/>
              </a:rPr>
              <a:t> taqrīr · Urdu: a speech · Arabic: a report</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44</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ذَاتِيَّةٌ</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biography, life story</a:t>
            </a:r>
            <a:endParaRPr lang="en-US" sz="1350" dirty="0"/>
          </a:p>
          <a:p>
            <a:pPr indent="0" marL="0">
              <a:buNone/>
            </a:pPr>
            <a:r>
              <a:rPr lang="en-US" sz="1100" i="1" dirty="0">
                <a:solidFill>
                  <a:srgbClr val="5A6472"/>
                </a:solidFill>
                <a:latin typeface="Calibri" pitchFamily="34" charset="0"/>
                <a:cs typeface="Amiri" pitchFamily="2" charset="-78"/>
              </a:rPr>
              <a:t>sī-ra-tun dhā-tiy-ya-tun</a:t>
            </a:r>
            <a:endParaRPr lang="en-US" sz="1350" dirty="0"/>
          </a:p>
        </p:txBody>
      </p:sp>
      <p:sp>
        <p:nvSpPr>
          <p:cNvPr id="22" name="Text 19"/>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Feminine; both words agree.</a:t>
            </a:r>
            <a:endParaRPr lang="en-US" sz="1000" dirty="0"/>
          </a:p>
        </p:txBody>
      </p:sp>
      <p:sp>
        <p:nvSpPr>
          <p:cNvPr id="23" name="Shape 2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389120" y="1920240"/>
            <a:ext cx="310896" cy="310896"/>
          </a:xfrm>
          <a:prstGeom prst="ellipse">
            <a:avLst/>
          </a:prstGeom>
          <a:solidFill>
            <a:srgbClr val="F4F1EA"/>
          </a:solidFill>
          <a:ln w="12700">
            <a:solidFill>
              <a:srgbClr val="F4F1EA"/>
            </a:solidFill>
            <a:prstDash val="solid"/>
          </a:ln>
        </p:spPr>
      </p:sp>
      <p:sp>
        <p:nvSpPr>
          <p:cNvPr id="25" name="Text 2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6" name="Text 23"/>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سِيرَةٌ رِيَاضِيَّةٌ</a:t>
            </a:r>
            <a:endParaRPr lang="ar-SA" sz="3000" dirty="0"/>
          </a:p>
        </p:txBody>
      </p:sp>
      <p:sp>
        <p:nvSpPr>
          <p:cNvPr id="27" name="Text 24"/>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sporting biography</a:t>
            </a:r>
            <a:endParaRPr lang="en-US" sz="1350" dirty="0"/>
          </a:p>
          <a:p>
            <a:pPr indent="0" marL="0">
              <a:buNone/>
            </a:pPr>
            <a:r>
              <a:rPr lang="en-US" sz="1100" i="1" dirty="0">
                <a:solidFill>
                  <a:srgbClr val="5A6472"/>
                </a:solidFill>
                <a:latin typeface="Calibri" pitchFamily="34" charset="0"/>
                <a:cs typeface="Amiri" pitchFamily="2" charset="-78"/>
              </a:rPr>
              <a:t>sī-ra-tun ri-yā-ḍiy-ya-tun</a:t>
            </a:r>
            <a:endParaRPr lang="en-US" sz="1350" dirty="0"/>
          </a:p>
        </p:txBody>
      </p:sp>
      <p:sp>
        <p:nvSpPr>
          <p:cNvPr id="28" name="Shape 2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566928" y="1920240"/>
            <a:ext cx="310896" cy="310896"/>
          </a:xfrm>
          <a:prstGeom prst="ellipse">
            <a:avLst/>
          </a:prstGeom>
          <a:solidFill>
            <a:srgbClr val="F4F1EA"/>
          </a:solidFill>
          <a:ln w="12700">
            <a:solidFill>
              <a:srgbClr val="F4F1EA"/>
            </a:solidFill>
            <a:prstDash val="solid"/>
          </a:ln>
        </p:spPr>
      </p:sp>
      <p:sp>
        <p:nvSpPr>
          <p:cNvPr id="30" name="Text 2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1" name="Shape 28"/>
          <p:cNvSpPr/>
          <p:nvPr/>
        </p:nvSpPr>
        <p:spPr>
          <a:xfrm>
            <a:off x="960120" y="1938528"/>
            <a:ext cx="1517904" cy="256032"/>
          </a:xfrm>
          <a:prstGeom prst="roundRect">
            <a:avLst>
              <a:gd name="adj" fmla="val 50000"/>
            </a:avLst>
          </a:prstGeom>
          <a:solidFill>
            <a:srgbClr val="EFE7D2"/>
          </a:solidFill>
          <a:ln w="12700">
            <a:solidFill>
              <a:srgbClr val="EFE7D2"/>
            </a:solidFill>
            <a:prstDash val="solid"/>
          </a:ln>
        </p:spPr>
      </p:sp>
      <p:sp>
        <p:nvSpPr>
          <p:cNvPr id="32" name="Text 29"/>
          <p:cNvSpPr txBox="1"/>
          <p:nvPr/>
        </p:nvSpPr>
        <p:spPr>
          <a:xfrm>
            <a:off x="960120" y="1938528"/>
            <a:ext cx="1517904"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مُرَاجَعَاتٌ.</a:t>
            </a:r>
            <a:endParaRPr lang="en-US" sz="800" dirty="0"/>
          </a:p>
        </p:txBody>
      </p:sp>
      <p:sp>
        <p:nvSpPr>
          <p:cNvPr id="33" name="Shape 3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مُرَاجَعَةٌ</a:t>
            </a:r>
            <a:endParaRPr lang="ar-SA" sz="3000" dirty="0"/>
          </a:p>
        </p:txBody>
      </p:sp>
      <p:sp>
        <p:nvSpPr>
          <p:cNvPr id="36" name="Text 3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review</a:t>
            </a:r>
            <a:endParaRPr lang="en-US" sz="1350" dirty="0"/>
          </a:p>
          <a:p>
            <a:pPr indent="0" marL="0">
              <a:buNone/>
            </a:pPr>
            <a:r>
              <a:rPr lang="en-US" sz="1100" i="1" dirty="0">
                <a:solidFill>
                  <a:srgbClr val="5A6472"/>
                </a:solidFill>
                <a:latin typeface="Calibri" pitchFamily="34" charset="0"/>
                <a:cs typeface="Amiri" pitchFamily="2" charset="-78"/>
              </a:rPr>
              <a:t>mu-rā-ja-ʿa-tun</a:t>
            </a:r>
            <a:endParaRPr lang="en-US" sz="1350" dirty="0"/>
          </a:p>
        </p:txBody>
      </p:sp>
      <p:sp>
        <p:nvSpPr>
          <p:cNvPr id="37" name="Shape 34"/>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8211312"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0" name="Shape 37"/>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تَقْرِيرٌ</a:t>
            </a:r>
            <a:endParaRPr lang="ar-SA" sz="3000" dirty="0"/>
          </a:p>
        </p:txBody>
      </p:sp>
      <p:sp>
        <p:nvSpPr>
          <p:cNvPr id="43" name="Text 40"/>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report</a:t>
            </a:r>
            <a:endParaRPr lang="en-US" sz="1350" dirty="0"/>
          </a:p>
          <a:p>
            <a:pPr indent="0" marL="0">
              <a:buNone/>
            </a:pPr>
            <a:r>
              <a:rPr lang="en-US" sz="1100" i="1" dirty="0">
                <a:solidFill>
                  <a:srgbClr val="5A6472"/>
                </a:solidFill>
                <a:latin typeface="Calibri" pitchFamily="34" charset="0"/>
                <a:cs typeface="Amiri" pitchFamily="2" charset="-78"/>
              </a:rPr>
              <a:t>taq-rī-run</a:t>
            </a:r>
            <a:endParaRPr lang="en-US" sz="1350" dirty="0"/>
          </a:p>
        </p:txBody>
      </p:sp>
      <p:sp>
        <p:nvSpPr>
          <p:cNvPr id="44" name="Text 41"/>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Plural </a:t>
            </a:r>
            <a:pPr algn="l" indent="0" marL="0">
              <a:buNone/>
            </a:pPr>
            <a:r>
              <a:rPr lang="ar-SA" altLang="en-US" sz="1300" dirty="0">
                <a:solidFill>
                  <a:srgbClr val="8A6D1E"/>
                </a:solidFill>
                <a:latin typeface="Amiri" pitchFamily="2" charset="-78"/>
                <a:ea typeface="Amiri" pitchFamily="2" charset="-78"/>
                <a:cs typeface="Amiri" pitchFamily="2" charset="-78"/>
              </a:rPr>
              <a:t>تَقَارِيرُ</a:t>
            </a:r>
            <a:pPr algn="l" indent="0" marL="0">
              <a:buNone/>
            </a:pPr>
            <a:r>
              <a:rPr lang="en-US" sz="1000" i="1" dirty="0">
                <a:solidFill>
                  <a:srgbClr val="8A6D1E"/>
                </a:solidFill>
                <a:latin typeface="Calibri" pitchFamily="34" charset="0"/>
                <a:cs typeface="Amiri" pitchFamily="2" charset="-78"/>
              </a:rPr>
              <a:t>, a diptote.</a:t>
            </a:r>
            <a:endParaRPr lang="en-US" sz="100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44</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Text types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مَقَالٌ</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article</a:t>
            </a:r>
            <a:endParaRPr lang="en-US" sz="1350" dirty="0"/>
          </a:p>
          <a:p>
            <a:pPr indent="0" marL="0">
              <a:buNone/>
            </a:pPr>
            <a:r>
              <a:rPr lang="en-US" sz="1100" i="1" dirty="0">
                <a:solidFill>
                  <a:srgbClr val="5A6472"/>
                </a:solidFill>
                <a:latin typeface="Calibri" pitchFamily="34" charset="0"/>
                <a:cs typeface="Amiri" pitchFamily="2" charset="-78"/>
              </a:rPr>
              <a:t>ma-qā-lun</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23" name="Text 20"/>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مُدَوَّنَةٌ</a:t>
            </a:r>
            <a:endParaRPr lang="ar-SA" sz="3000" dirty="0"/>
          </a:p>
        </p:txBody>
      </p:sp>
      <p:sp>
        <p:nvSpPr>
          <p:cNvPr id="24" name="Text 21"/>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blog</a:t>
            </a:r>
            <a:endParaRPr lang="en-US" sz="1350" dirty="0"/>
          </a:p>
          <a:p>
            <a:pPr indent="0" marL="0">
              <a:buNone/>
            </a:pPr>
            <a:r>
              <a:rPr lang="en-US" sz="1100" i="1" dirty="0">
                <a:solidFill>
                  <a:srgbClr val="5A6472"/>
                </a:solidFill>
                <a:latin typeface="Calibri" pitchFamily="34" charset="0"/>
                <a:cs typeface="Amiri" pitchFamily="2" charset="-78"/>
              </a:rPr>
              <a:t>mu-daw-wa-na-tun</a:t>
            </a:r>
            <a:endParaRPr lang="en-US" sz="1350" dirty="0"/>
          </a:p>
        </p:txBody>
      </p:sp>
      <p:sp>
        <p:nvSpPr>
          <p:cNvPr id="25" name="Shape 2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566928"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8" name="Shape 25"/>
          <p:cNvSpPr/>
          <p:nvPr/>
        </p:nvSpPr>
        <p:spPr>
          <a:xfrm>
            <a:off x="960120" y="1938528"/>
            <a:ext cx="1207008"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960120" y="1938528"/>
            <a:ext cx="1207008"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Plural نُصُوصٌ.</a:t>
            </a:r>
            <a:endParaRPr lang="en-US" sz="8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نَصٌّ</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text</a:t>
            </a:r>
            <a:endParaRPr lang="en-US" sz="1350" dirty="0"/>
          </a:p>
          <a:p>
            <a:pPr indent="0" marL="0">
              <a:buNone/>
            </a:pPr>
            <a:r>
              <a:rPr lang="en-US" sz="1100" i="1" dirty="0">
                <a:solidFill>
                  <a:srgbClr val="5A6472"/>
                </a:solidFill>
                <a:latin typeface="Calibri" pitchFamily="34" charset="0"/>
                <a:cs typeface="Amiri" pitchFamily="2" charset="-78"/>
              </a:rPr>
              <a:t>naṣ-ṣun</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فِقْرَةٌ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paragraph</a:t>
            </a:r>
            <a:endParaRPr lang="en-US" sz="1350" dirty="0"/>
          </a:p>
          <a:p>
            <a:pPr indent="0" marL="0">
              <a:buNone/>
            </a:pPr>
            <a:r>
              <a:rPr lang="en-US" sz="1100" i="1" dirty="0">
                <a:solidFill>
                  <a:srgbClr val="5A6472"/>
                </a:solidFill>
                <a:latin typeface="Calibri" pitchFamily="34" charset="0"/>
                <a:cs typeface="Amiri" pitchFamily="2" charset="-78"/>
              </a:rPr>
              <a:t>fiq-ra-tun</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44</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strategy language (1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الأَحْدَاثُ المَاضِيَةُ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 events</a:t>
            </a:r>
            <a:endParaRPr lang="en-US" sz="1350" dirty="0"/>
          </a:p>
          <a:p>
            <a:pPr indent="0" marL="0">
              <a:buNone/>
            </a:pPr>
            <a:r>
              <a:rPr lang="en-US" sz="1100" i="1" dirty="0">
                <a:solidFill>
                  <a:srgbClr val="5A6472"/>
                </a:solidFill>
                <a:latin typeface="Calibri" pitchFamily="34" charset="0"/>
                <a:cs typeface="Amiri" pitchFamily="2" charset="-78"/>
              </a:rPr>
              <a:t>al-aḥ-dā-thu al-mā-ḍi-ya-tu</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3" name="Shape 20"/>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An iḍāfa.</a:t>
            </a:r>
            <a:endParaRPr lang="en-US" sz="8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تَسَلْسُلُ الأَحْدَاثِ</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sequence of events</a:t>
            </a:r>
            <a:endParaRPr lang="en-US" sz="1350" dirty="0"/>
          </a:p>
          <a:p>
            <a:pPr indent="0" marL="0">
              <a:buNone/>
            </a:pPr>
            <a:r>
              <a:rPr lang="en-US" sz="1100" i="1" dirty="0">
                <a:solidFill>
                  <a:srgbClr val="5A6472"/>
                </a:solidFill>
                <a:latin typeface="Calibri" pitchFamily="34" charset="0"/>
                <a:cs typeface="Amiri" pitchFamily="2" charset="-78"/>
              </a:rPr>
              <a:t>ta-sal-su-lu al-aḥ-dā-thi</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دَلِيلٌ مِنَ النَّصِّ</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evidence from the text</a:t>
            </a:r>
            <a:endParaRPr lang="en-US" sz="1350" dirty="0"/>
          </a:p>
          <a:p>
            <a:pPr indent="0" marL="0">
              <a:buNone/>
            </a:pPr>
            <a:r>
              <a:rPr lang="en-US" sz="1100" i="1" dirty="0">
                <a:solidFill>
                  <a:srgbClr val="5A6472"/>
                </a:solidFill>
                <a:latin typeface="Calibri" pitchFamily="34" charset="0"/>
                <a:cs typeface="Amiri" pitchFamily="2" charset="-78"/>
              </a:rPr>
              <a:t>da-lī-lun mi-na an-naṣ-ṣi</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39" name="Shape 36"/>
          <p:cNvSpPr/>
          <p:nvPr/>
        </p:nvSpPr>
        <p:spPr>
          <a:xfrm>
            <a:off x="8604504" y="4279392"/>
            <a:ext cx="709574" cy="256032"/>
          </a:xfrm>
          <a:prstGeom prst="roundRect">
            <a:avLst>
              <a:gd name="adj" fmla="val 50000"/>
            </a:avLst>
          </a:prstGeom>
          <a:solidFill>
            <a:srgbClr val="EFE7D2"/>
          </a:solidFill>
          <a:ln w="12700">
            <a:solidFill>
              <a:srgbClr val="EFE7D2"/>
            </a:solidFill>
            <a:prstDash val="solid"/>
          </a:ln>
        </p:spPr>
      </p:sp>
      <p:sp>
        <p:nvSpPr>
          <p:cNvPr id="40" name="Text 37"/>
          <p:cNvSpPr txBox="1"/>
          <p:nvPr/>
        </p:nvSpPr>
        <p:spPr>
          <a:xfrm>
            <a:off x="8604504"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X.</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يَسْتَنْتِجُ</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deduces, infers</a:t>
            </a:r>
            <a:endParaRPr lang="en-US" sz="1350" dirty="0"/>
          </a:p>
          <a:p>
            <a:pPr indent="0" marL="0">
              <a:buNone/>
            </a:pPr>
            <a:r>
              <a:rPr lang="en-US" sz="1100" i="1" dirty="0">
                <a:solidFill>
                  <a:srgbClr val="5A6472"/>
                </a:solidFill>
                <a:latin typeface="Calibri" pitchFamily="34" charset="0"/>
                <a:cs typeface="Amiri" pitchFamily="2" charset="-78"/>
              </a:rPr>
              <a:t>yas-tan-ti-ju</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44</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00" b="1" dirty="0">
                <a:solidFill>
                  <a:srgbClr val="1B3B6F"/>
                </a:solidFill>
                <a:latin typeface="Cambria" pitchFamily="34" charset="0"/>
                <a:cs typeface="Amiri" pitchFamily="2" charset="-78"/>
              </a:rPr>
              <a:t>Reading strategy language (2 of 2)</a:t>
            </a:r>
            <a:endParaRPr lang="en-US" sz="27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18" name="Shape 15"/>
          <p:cNvSpPr/>
          <p:nvPr/>
        </p:nvSpPr>
        <p:spPr>
          <a:xfrm>
            <a:off x="8604504" y="1938528"/>
            <a:ext cx="1331366"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331366" cy="256032"/>
          </a:xfrm>
          <a:prstGeom prst="rect">
            <a:avLst/>
          </a:prstGeom>
          <a:noFill/>
          <a:ln/>
        </p:spPr>
        <p:txBody>
          <a:bodyPr wrap="square" lIns="0" tIns="0" rIns="0" bIns="0" rtlCol="0" anchor="ctr"/>
          <a:lstStyle/>
          <a:p>
            <a:pPr algn="ctr" indent="0" marL="0">
              <a:buNone/>
            </a:pPr>
            <a:r>
              <a:rPr lang="ar-SA" sz="800" b="1" dirty="0">
                <a:solidFill>
                  <a:srgbClr val="8A6D1E"/>
                </a:solidFill>
                <a:latin typeface="Calibri" pitchFamily="34" charset="0"/>
                <a:ea typeface="Amiri" pitchFamily="2" charset="-78"/>
                <a:cs typeface="Amiri" pitchFamily="2" charset="-78"/>
              </a:rPr>
              <a:t>Fixed with إِلَى.</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يُشِيرُ إِلَى</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refers to</a:t>
            </a:r>
            <a:endParaRPr lang="en-US" sz="1350" dirty="0"/>
          </a:p>
          <a:p>
            <a:pPr indent="0" marL="0">
              <a:buNone/>
            </a:pPr>
            <a:r>
              <a:rPr lang="en-US" sz="1100" i="1" dirty="0">
                <a:solidFill>
                  <a:srgbClr val="5A6472"/>
                </a:solidFill>
                <a:latin typeface="Calibri" pitchFamily="34" charset="0"/>
                <a:cs typeface="Amiri" pitchFamily="2" charset="-78"/>
              </a:rPr>
              <a:t>yu-shī-ru i-lā</a:t>
            </a:r>
            <a:endParaRPr lang="en-US" sz="1350" dirty="0"/>
          </a:p>
        </p:txBody>
      </p:sp>
      <p:sp>
        <p:nvSpPr>
          <p:cNvPr id="24" name="Shape 21"/>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Shape 22"/>
          <p:cNvSpPr/>
          <p:nvPr/>
        </p:nvSpPr>
        <p:spPr>
          <a:xfrm>
            <a:off x="4389120" y="1920240"/>
            <a:ext cx="310896" cy="310896"/>
          </a:xfrm>
          <a:prstGeom prst="ellipse">
            <a:avLst/>
          </a:prstGeom>
          <a:solidFill>
            <a:srgbClr val="F4F1EA"/>
          </a:solidFill>
          <a:ln w="12700">
            <a:solidFill>
              <a:srgbClr val="F4F1EA"/>
            </a:solidFill>
            <a:prstDash val="solid"/>
          </a:ln>
        </p:spPr>
      </p:sp>
      <p:sp>
        <p:nvSpPr>
          <p:cNvPr id="26" name="Text 23"/>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الفِكْرَةُ الرَّئِيسِيَّةُ</a:t>
            </a:r>
            <a:endParaRPr lang="ar-SA" sz="3000" dirty="0"/>
          </a:p>
        </p:txBody>
      </p:sp>
      <p:sp>
        <p:nvSpPr>
          <p:cNvPr id="30" name="Text 27"/>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main idea</a:t>
            </a:r>
            <a:endParaRPr lang="en-US" sz="1350" dirty="0"/>
          </a:p>
          <a:p>
            <a:pPr indent="0" marL="0">
              <a:buNone/>
            </a:pPr>
            <a:r>
              <a:rPr lang="en-US" sz="1100" i="1" dirty="0">
                <a:solidFill>
                  <a:srgbClr val="5A6472"/>
                </a:solidFill>
                <a:latin typeface="Calibri" pitchFamily="34" charset="0"/>
                <a:cs typeface="Amiri" pitchFamily="2" charset="-78"/>
              </a:rPr>
              <a:t>al-fik-ra-tu ar-ra-ʾī-siy-ya-tu</a:t>
            </a:r>
            <a:endParaRPr lang="en-US" sz="1350" dirty="0"/>
          </a:p>
        </p:txBody>
      </p:sp>
      <p:sp>
        <p:nvSpPr>
          <p:cNvPr id="31" name="Shape 28"/>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66928" y="1920240"/>
            <a:ext cx="310896" cy="310896"/>
          </a:xfrm>
          <a:prstGeom prst="ellipse">
            <a:avLst/>
          </a:prstGeom>
          <a:solidFill>
            <a:srgbClr val="F4F1EA"/>
          </a:solidFill>
          <a:ln w="12700">
            <a:solidFill>
              <a:srgbClr val="F4F1EA"/>
            </a:solidFill>
            <a:prstDash val="solid"/>
          </a:ln>
        </p:spPr>
      </p:sp>
      <p:sp>
        <p:nvSpPr>
          <p:cNvPr id="33" name="Text 30"/>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التَّفَاصِيلُ الدَّقِيقَةُ</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precise details</a:t>
            </a:r>
            <a:endParaRPr lang="en-US" sz="1350" dirty="0"/>
          </a:p>
          <a:p>
            <a:pPr indent="0" marL="0">
              <a:buNone/>
            </a:pPr>
            <a:r>
              <a:rPr lang="en-US" sz="1100" i="1" dirty="0">
                <a:solidFill>
                  <a:srgbClr val="5A6472"/>
                </a:solidFill>
                <a:latin typeface="Calibri" pitchFamily="34" charset="0"/>
                <a:cs typeface="Amiri" pitchFamily="2" charset="-78"/>
              </a:rPr>
              <a:t>at-ta-fā-ṣī-lu ad-da-qī-qa-tu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الهَدَفُ مِنَ النَّصِّ</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the purpose of the text</a:t>
            </a:r>
            <a:endParaRPr lang="en-US" sz="1350" dirty="0"/>
          </a:p>
          <a:p>
            <a:pPr indent="0" marL="0">
              <a:buNone/>
            </a:pPr>
            <a:r>
              <a:rPr lang="en-US" sz="1100" i="1" dirty="0">
                <a:solidFill>
                  <a:srgbClr val="5A6472"/>
                </a:solidFill>
                <a:latin typeface="Calibri" pitchFamily="34" charset="0"/>
                <a:cs typeface="Amiri" pitchFamily="2" charset="-78"/>
              </a:rPr>
              <a:t>al-ha-da-fu mi-na an-naṣ-ṣi</a:t>
            </a:r>
            <a:endParaRPr lang="en-US" sz="13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44</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Past markers to scan for (1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أَمْسِ</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yesterday</a:t>
            </a:r>
            <a:endParaRPr lang="en-US" sz="1350" dirty="0"/>
          </a:p>
          <a:p>
            <a:pPr indent="0" marL="0">
              <a:buNone/>
            </a:pPr>
            <a:r>
              <a:rPr lang="en-US" sz="1100" i="1" dirty="0">
                <a:solidFill>
                  <a:srgbClr val="5A6472"/>
                </a:solidFill>
                <a:latin typeface="Calibri" pitchFamily="34" charset="0"/>
                <a:cs typeface="Amiri" pitchFamily="2" charset="-78"/>
              </a:rPr>
              <a:t>am-si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23" name="Shape 20"/>
          <p:cNvSpPr/>
          <p:nvPr/>
        </p:nvSpPr>
        <p:spPr>
          <a:xfrm>
            <a:off x="4782312" y="1938528"/>
            <a:ext cx="1580083"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158008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Adverbial accusative.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الأُسْبُوعَ المَاضِيَ</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week</a:t>
            </a:r>
            <a:endParaRPr lang="en-US" sz="1350" dirty="0"/>
          </a:p>
          <a:p>
            <a:pPr indent="0" marL="0">
              <a:buNone/>
            </a:pPr>
            <a:r>
              <a:rPr lang="en-US" sz="1100" i="1" dirty="0">
                <a:solidFill>
                  <a:srgbClr val="5A6472"/>
                </a:solidFill>
                <a:latin typeface="Calibri" pitchFamily="34" charset="0"/>
                <a:cs typeface="Amiri" pitchFamily="2" charset="-78"/>
              </a:rPr>
              <a:t>al-us-bū-ʿa al-mā-ḍi-ya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0" name="Shape 2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العَامِ المَاضِي</a:t>
            </a:r>
            <a:endParaRPr lang="ar-SA" sz="3000" dirty="0"/>
          </a:p>
        </p:txBody>
      </p:sp>
      <p:sp>
        <p:nvSpPr>
          <p:cNvPr id="33" name="Text 30"/>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last year</a:t>
            </a:r>
            <a:endParaRPr lang="en-US" sz="1350" dirty="0"/>
          </a:p>
          <a:p>
            <a:pPr indent="0" marL="0">
              <a:buNone/>
            </a:pPr>
            <a:r>
              <a:rPr lang="en-US" sz="1100" i="1" dirty="0">
                <a:solidFill>
                  <a:srgbClr val="5A6472"/>
                </a:solidFill>
                <a:latin typeface="Calibri" pitchFamily="34" charset="0"/>
                <a:cs typeface="Amiri" pitchFamily="2" charset="-78"/>
              </a:rPr>
              <a:t>fī al-ʿā-mi al-mā-ḍī</a:t>
            </a:r>
            <a:endParaRPr lang="en-US" sz="1350" dirty="0"/>
          </a:p>
        </p:txBody>
      </p:sp>
      <p:sp>
        <p:nvSpPr>
          <p:cNvPr id="34" name="Shape 31"/>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8211312" y="4261104"/>
            <a:ext cx="310896" cy="310896"/>
          </a:xfrm>
          <a:prstGeom prst="ellipse">
            <a:avLst/>
          </a:prstGeom>
          <a:solidFill>
            <a:srgbClr val="F4F1EA"/>
          </a:solidFill>
          <a:ln w="12700">
            <a:solidFill>
              <a:srgbClr val="F4F1EA"/>
            </a:solidFill>
            <a:prstDash val="solid"/>
          </a:ln>
        </p:spPr>
      </p:sp>
      <p:sp>
        <p:nvSpPr>
          <p:cNvPr id="36" name="Text 33"/>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37" name="Shape 3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8" name="Text 3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9" name="Text 36"/>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مُنْذُ سَنَوَاتٍ</a:t>
            </a:r>
            <a:endParaRPr lang="ar-SA" sz="3000" dirty="0"/>
          </a:p>
        </p:txBody>
      </p:sp>
      <p:sp>
        <p:nvSpPr>
          <p:cNvPr id="40" name="Text 37"/>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years ago</a:t>
            </a:r>
            <a:endParaRPr lang="en-US" sz="1350" dirty="0"/>
          </a:p>
          <a:p>
            <a:pPr indent="0" marL="0">
              <a:buNone/>
            </a:pPr>
            <a:r>
              <a:rPr lang="en-US" sz="1100" i="1" dirty="0">
                <a:solidFill>
                  <a:srgbClr val="5A6472"/>
                </a:solidFill>
                <a:latin typeface="Calibri" pitchFamily="34" charset="0"/>
                <a:cs typeface="Amiri" pitchFamily="2" charset="-78"/>
              </a:rPr>
              <a:t>mun-dhu sa-na-wā-tin</a:t>
            </a:r>
            <a:endParaRPr lang="en-US" sz="1350" dirty="0"/>
          </a:p>
        </p:txBody>
      </p:sp>
      <p:sp>
        <p:nvSpPr>
          <p:cNvPr id="41" name="Text 38"/>
          <p:cNvSpPr txBox="1"/>
          <p:nvPr/>
        </p:nvSpPr>
        <p:spPr>
          <a:xfrm>
            <a:off x="8238744"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مُنْذُ</a:t>
            </a:r>
            <a:pPr algn="l" indent="0" marL="0">
              <a:buNone/>
            </a:pPr>
            <a:r>
              <a:rPr lang="en-US" sz="1000" i="1" dirty="0">
                <a:solidFill>
                  <a:srgbClr val="8A6D1E"/>
                </a:solidFill>
                <a:latin typeface="Calibri" pitchFamily="34" charset="0"/>
                <a:cs typeface="Amiri" pitchFamily="2" charset="-78"/>
              </a:rPr>
              <a:t> takes the genitive.</a:t>
            </a:r>
            <a:endParaRPr lang="en-US" sz="10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44</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Past markers to scan for (2 of 2)</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الطُّفُولَةِ</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childhood</a:t>
            </a:r>
            <a:endParaRPr lang="en-US" sz="1350" dirty="0"/>
          </a:p>
          <a:p>
            <a:pPr indent="0" marL="0">
              <a:buNone/>
            </a:pPr>
            <a:r>
              <a:rPr lang="en-US" sz="1100" i="1" dirty="0">
                <a:solidFill>
                  <a:srgbClr val="5A6472"/>
                </a:solidFill>
                <a:latin typeface="Calibri" pitchFamily="34" charset="0"/>
                <a:cs typeface="Amiri" pitchFamily="2" charset="-78"/>
              </a:rPr>
              <a:t>fī aṭ-ṭu-fū-la-ti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23" name="Shape 2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بَعْدَ ذٰلِكَ</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after that</a:t>
            </a:r>
            <a:endParaRPr lang="en-US" sz="1350" dirty="0"/>
          </a:p>
          <a:p>
            <a:pPr indent="0" marL="0">
              <a:buNone/>
            </a:pPr>
            <a:r>
              <a:rPr lang="en-US" sz="1100" i="1" dirty="0">
                <a:solidFill>
                  <a:srgbClr val="5A6472"/>
                </a:solidFill>
                <a:latin typeface="Calibri" pitchFamily="34" charset="0"/>
                <a:cs typeface="Amiri" pitchFamily="2" charset="-78"/>
              </a:rPr>
              <a:t>baʿ-da dhā-li-ka</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البِدَايَةِ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at the beginning</a:t>
            </a:r>
            <a:endParaRPr lang="en-US" sz="1350" dirty="0"/>
          </a:p>
          <a:p>
            <a:pPr indent="0" marL="0">
              <a:buNone/>
            </a:pPr>
            <a:r>
              <a:rPr lang="en-US" sz="1100" i="1" dirty="0">
                <a:solidFill>
                  <a:srgbClr val="5A6472"/>
                </a:solidFill>
                <a:latin typeface="Calibri" pitchFamily="34" charset="0"/>
                <a:cs typeface="Amiri" pitchFamily="2" charset="-78"/>
              </a:rPr>
              <a:t>fī al-bi-dā-ya-ti</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35" name="Shape 3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النِّهَايَةِ</a:t>
            </a:r>
            <a:endParaRPr lang="ar-SA" sz="3000" dirty="0"/>
          </a:p>
        </p:txBody>
      </p:sp>
      <p:sp>
        <p:nvSpPr>
          <p:cNvPr id="38" name="Text 35"/>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the end</a:t>
            </a:r>
            <a:endParaRPr lang="en-US" sz="1350" dirty="0"/>
          </a:p>
          <a:p>
            <a:pPr indent="0" marL="0">
              <a:buNone/>
            </a:pPr>
            <a:r>
              <a:rPr lang="en-US" sz="1100" i="1" dirty="0">
                <a:solidFill>
                  <a:srgbClr val="5A6472"/>
                </a:solidFill>
                <a:latin typeface="Calibri" pitchFamily="34" charset="0"/>
                <a:cs typeface="Amiri" pitchFamily="2" charset="-78"/>
              </a:rPr>
              <a:t>fī an-ni-hā-ya-ti</a:t>
            </a:r>
            <a:endParaRPr lang="en-US" sz="13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44</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PART 1 · WHAT KIND OF TEXT? (WEBSITE RULES 1–2)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The verb endings tell you the text type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نَوْعُ النَّصِّ</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308592" y="1810512"/>
            <a:ext cx="23500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Text type</a:t>
            </a:r>
            <a:endParaRPr lang="en-US" sz="1100" dirty="0"/>
          </a:p>
        </p:txBody>
      </p:sp>
      <p:sp>
        <p:nvSpPr>
          <p:cNvPr id="17" name="Text 14"/>
          <p:cNvSpPr txBox="1"/>
          <p:nvPr/>
        </p:nvSpPr>
        <p:spPr>
          <a:xfrm>
            <a:off x="32735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Example (website)</a:t>
            </a:r>
            <a:endParaRPr lang="en-US" sz="1100" dirty="0"/>
          </a:p>
        </p:txBody>
      </p:sp>
      <p:sp>
        <p:nvSpPr>
          <p:cNvPr id="18" name="Text 15"/>
          <p:cNvSpPr txBox="1"/>
          <p:nvPr/>
        </p:nvSpPr>
        <p:spPr>
          <a:xfrm>
            <a:off x="53035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Verb cluster</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345168" y="2267712"/>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biography / report</a:t>
            </a:r>
            <a:endParaRPr lang="en-US" sz="1100" dirty="0"/>
          </a:p>
        </p:txBody>
      </p:sp>
      <p:sp>
        <p:nvSpPr>
          <p:cNvPr id="21" name="Text 18"/>
          <p:cNvSpPr txBox="1"/>
          <p:nvPr/>
        </p:nvSpPr>
        <p:spPr>
          <a:xfrm>
            <a:off x="3291840" y="2286000"/>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بَدَأَ</a:t>
            </a:r>
            <a:pPr rtl="1" algn="ctr" indent="0" marL="0">
              <a:buNone/>
            </a:pPr>
            <a:r>
              <a:rPr lang="ar-SA" altLang="en-US" sz="2100" b="1" dirty="0">
                <a:solidFill>
                  <a:srgbClr val="1B3B6F"/>
                </a:solidFill>
                <a:latin typeface="Amiri" pitchFamily="2" charset="-78"/>
                <a:ea typeface="Amiri" pitchFamily="2" charset="-78"/>
                <a:cs typeface="Amiri" pitchFamily="2" charset="-78"/>
              </a:rPr>
              <a:t> مَسِيرَتَهُ مُبَكِّرًا · </a:t>
            </a:r>
            <a:pPr rtl="1" algn="ctr" indent="0" marL="0">
              <a:buNone/>
            </a:pPr>
            <a:r>
              <a:rPr lang="ar-SA" altLang="en-US" sz="2100" b="1" dirty="0">
                <a:solidFill>
                  <a:srgbClr val="0E7C86"/>
                </a:solidFill>
                <a:latin typeface="Amiri" pitchFamily="2" charset="-78"/>
                <a:ea typeface="Amiri" pitchFamily="2" charset="-78"/>
                <a:cs typeface="Amiri" pitchFamily="2" charset="-78"/>
              </a:rPr>
              <a:t>فَازَتْ</a:t>
            </a:r>
            <a:pPr rtl="1" algn="ctr" indent="0" marL="0">
              <a:buNone/>
            </a:pPr>
            <a:r>
              <a:rPr lang="ar-SA" altLang="en-US" sz="2100" b="1" dirty="0">
                <a:solidFill>
                  <a:srgbClr val="1B3B6F"/>
                </a:solidFill>
                <a:latin typeface="Amiri" pitchFamily="2" charset="-78"/>
                <a:ea typeface="Amiri" pitchFamily="2" charset="-78"/>
                <a:cs typeface="Amiri" pitchFamily="2" charset="-78"/>
              </a:rPr>
              <a:t> بِالمِيدَالِيَةِ</a:t>
            </a:r>
            <a:endParaRPr lang="ar-SA" sz="2100" dirty="0"/>
          </a:p>
        </p:txBody>
      </p:sp>
      <p:sp>
        <p:nvSpPr>
          <p:cNvPr id="22" name="Text 19"/>
          <p:cNvSpPr txBox="1"/>
          <p:nvPr/>
        </p:nvSpPr>
        <p:spPr>
          <a:xfrm>
            <a:off x="3246120" y="2706624"/>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began his career early · she won the medal</a:t>
            </a:r>
            <a:endParaRPr lang="en-US" sz="950" dirty="0"/>
          </a:p>
        </p:txBody>
      </p:sp>
      <p:sp>
        <p:nvSpPr>
          <p:cNvPr id="23" name="Text 20"/>
          <p:cNvSpPr txBox="1"/>
          <p:nvPr/>
        </p:nvSpPr>
        <p:spPr>
          <a:xfrm>
            <a:off x="548640" y="2267712"/>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فَعَلَ · فَعَلَتْ</a:t>
            </a:r>
            <a:endParaRPr lang="ar-SA" sz="2200" dirty="0"/>
          </a:p>
        </p:txBody>
      </p:sp>
      <p:sp>
        <p:nvSpPr>
          <p:cNvPr id="24" name="Shape 21"/>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5" name="Text 22"/>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6" name="Shape 23"/>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7" name="Text 24"/>
          <p:cNvSpPr txBox="1"/>
          <p:nvPr/>
        </p:nvSpPr>
        <p:spPr>
          <a:xfrm>
            <a:off x="9345168" y="3054096"/>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report / news</a:t>
            </a:r>
            <a:endParaRPr lang="en-US" sz="1100" dirty="0"/>
          </a:p>
        </p:txBody>
      </p:sp>
      <p:sp>
        <p:nvSpPr>
          <p:cNvPr id="28" name="Text 25"/>
          <p:cNvSpPr txBox="1"/>
          <p:nvPr/>
        </p:nvSpPr>
        <p:spPr>
          <a:xfrm>
            <a:off x="3291840" y="3072384"/>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0E7C86"/>
                </a:solidFill>
                <a:latin typeface="Amiri" pitchFamily="2" charset="-78"/>
                <a:ea typeface="Amiri" pitchFamily="2" charset="-78"/>
                <a:cs typeface="Amiri" pitchFamily="2" charset="-78"/>
              </a:rPr>
              <a:t>لَعِبُوا</a:t>
            </a:r>
            <a:pPr rtl="1" algn="ctr" indent="0" marL="0">
              <a:buNone/>
            </a:pPr>
            <a:r>
              <a:rPr lang="ar-SA" altLang="en-US" sz="2100" b="1" dirty="0">
                <a:solidFill>
                  <a:srgbClr val="1B3B6F"/>
                </a:solidFill>
                <a:latin typeface="Amiri" pitchFamily="2" charset="-78"/>
                <a:ea typeface="Amiri" pitchFamily="2" charset="-78"/>
                <a:cs typeface="Amiri" pitchFamily="2" charset="-78"/>
              </a:rPr>
              <a:t> ثَلَاثَ مُبَارَيَاتٍ</a:t>
            </a:r>
            <a:endParaRPr lang="ar-SA" sz="2100" dirty="0"/>
          </a:p>
        </p:txBody>
      </p:sp>
      <p:sp>
        <p:nvSpPr>
          <p:cNvPr id="29" name="Text 26"/>
          <p:cNvSpPr txBox="1"/>
          <p:nvPr/>
        </p:nvSpPr>
        <p:spPr>
          <a:xfrm>
            <a:off x="3246120" y="3493008"/>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They played three matches</a:t>
            </a:r>
            <a:endParaRPr lang="en-US" sz="950" dirty="0"/>
          </a:p>
        </p:txBody>
      </p:sp>
      <p:sp>
        <p:nvSpPr>
          <p:cNvPr id="30" name="Text 27"/>
          <p:cNvSpPr txBox="1"/>
          <p:nvPr/>
        </p:nvSpPr>
        <p:spPr>
          <a:xfrm>
            <a:off x="548640" y="3054096"/>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فَعَلُوا</a:t>
            </a:r>
            <a:endParaRPr lang="ar-SA" sz="220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345168" y="3840480"/>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personal review / diary</a:t>
            </a:r>
            <a:endParaRPr lang="en-US" sz="1100" dirty="0"/>
          </a:p>
        </p:txBody>
      </p:sp>
      <p:sp>
        <p:nvSpPr>
          <p:cNvPr id="33" name="Text 30"/>
          <p:cNvSpPr txBox="1"/>
          <p:nvPr/>
        </p:nvSpPr>
        <p:spPr>
          <a:xfrm>
            <a:off x="3291840" y="3858768"/>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D6336C"/>
                </a:solidFill>
                <a:latin typeface="Amiri" pitchFamily="2" charset="-78"/>
                <a:ea typeface="Amiri" pitchFamily="2" charset="-78"/>
                <a:cs typeface="Amiri" pitchFamily="2" charset="-78"/>
              </a:rPr>
              <a:t>حَجَزْتُ</a:t>
            </a:r>
            <a:pPr rtl="1" algn="ctr" indent="0" marL="0">
              <a:buNone/>
            </a:pPr>
            <a:r>
              <a:rPr lang="ar-SA" altLang="en-US" sz="2100" b="1" dirty="0">
                <a:solidFill>
                  <a:srgbClr val="1B3B6F"/>
                </a:solidFill>
                <a:latin typeface="Amiri" pitchFamily="2" charset="-78"/>
                <a:ea typeface="Amiri" pitchFamily="2" charset="-78"/>
                <a:cs typeface="Amiri" pitchFamily="2" charset="-78"/>
              </a:rPr>
              <a:t> الفُنْدُقَ · </a:t>
            </a:r>
            <a:pPr rtl="1" algn="ctr" indent="0" marL="0">
              <a:buNone/>
            </a:pPr>
            <a:r>
              <a:rPr lang="ar-SA" altLang="en-US" sz="2100" b="1" dirty="0">
                <a:solidFill>
                  <a:srgbClr val="D6336C"/>
                </a:solidFill>
                <a:latin typeface="Amiri" pitchFamily="2" charset="-78"/>
                <a:ea typeface="Amiri" pitchFamily="2" charset="-78"/>
                <a:cs typeface="Amiri" pitchFamily="2" charset="-78"/>
              </a:rPr>
              <a:t>أَقَمْنَا</a:t>
            </a:r>
            <a:pPr rtl="1" algn="ctr" indent="0" marL="0">
              <a:buNone/>
            </a:pPr>
            <a:r>
              <a:rPr lang="ar-SA" altLang="en-US" sz="2100" b="1" dirty="0">
                <a:solidFill>
                  <a:srgbClr val="1B3B6F"/>
                </a:solidFill>
                <a:latin typeface="Amiri" pitchFamily="2" charset="-78"/>
                <a:ea typeface="Amiri" pitchFamily="2" charset="-78"/>
                <a:cs typeface="Amiri" pitchFamily="2" charset="-78"/>
              </a:rPr>
              <a:t> ثَلَاثَ لَيَالٍ</a:t>
            </a:r>
            <a:endParaRPr lang="ar-SA" sz="2100" dirty="0"/>
          </a:p>
        </p:txBody>
      </p:sp>
      <p:sp>
        <p:nvSpPr>
          <p:cNvPr id="34" name="Text 31"/>
          <p:cNvSpPr txBox="1"/>
          <p:nvPr/>
        </p:nvSpPr>
        <p:spPr>
          <a:xfrm>
            <a:off x="3246120" y="4279392"/>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I booked the hotel · we stayed three nights</a:t>
            </a:r>
            <a:endParaRPr lang="en-US" sz="950" dirty="0"/>
          </a:p>
        </p:txBody>
      </p:sp>
      <p:sp>
        <p:nvSpPr>
          <p:cNvPr id="35" name="Text 32"/>
          <p:cNvSpPr txBox="1"/>
          <p:nvPr/>
        </p:nvSpPr>
        <p:spPr>
          <a:xfrm>
            <a:off x="548640" y="3840480"/>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فَعَلْتُ · فَعَلْنَا</a:t>
            </a:r>
            <a:endParaRPr lang="ar-SA" sz="2200" dirty="0"/>
          </a:p>
        </p:txBody>
      </p:sp>
      <p:sp>
        <p:nvSpPr>
          <p:cNvPr id="36" name="Shape 33"/>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7" name="Text 34"/>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8" name="Shape 35"/>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9" name="Text 36"/>
          <p:cNvSpPr txBox="1"/>
          <p:nvPr/>
        </p:nvSpPr>
        <p:spPr>
          <a:xfrm>
            <a:off x="9345168" y="4626864"/>
            <a:ext cx="23134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future plan</a:t>
            </a:r>
            <a:endParaRPr lang="en-US" sz="1100" dirty="0"/>
          </a:p>
        </p:txBody>
      </p:sp>
      <p:sp>
        <p:nvSpPr>
          <p:cNvPr id="40" name="Text 37"/>
          <p:cNvSpPr txBox="1"/>
          <p:nvPr/>
        </p:nvSpPr>
        <p:spPr>
          <a:xfrm>
            <a:off x="3291840" y="4645152"/>
            <a:ext cx="5852160" cy="453542"/>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سَيُدَرِّبُ</a:t>
            </a:r>
            <a:pPr rtl="1" algn="ctr" indent="0" marL="0">
              <a:buNone/>
            </a:pPr>
            <a:r>
              <a:rPr lang="ar-SA" altLang="en-US" sz="2100" b="1" dirty="0">
                <a:solidFill>
                  <a:srgbClr val="1B3B6F"/>
                </a:solidFill>
                <a:latin typeface="Amiri" pitchFamily="2" charset="-78"/>
                <a:ea typeface="Amiri" pitchFamily="2" charset="-78"/>
                <a:cs typeface="Amiri" pitchFamily="2" charset="-78"/>
              </a:rPr>
              <a:t> الشَّبَابَ · </a:t>
            </a:r>
            <a:pPr rtl="1" algn="ctr" indent="0" marL="0">
              <a:buNone/>
            </a:pPr>
            <a:r>
              <a:rPr lang="ar-SA" altLang="en-US" sz="2100" b="1" dirty="0">
                <a:solidFill>
                  <a:srgbClr val="1D5FBF"/>
                </a:solidFill>
                <a:latin typeface="Amiri" pitchFamily="2" charset="-78"/>
                <a:ea typeface="Amiri" pitchFamily="2" charset="-78"/>
                <a:cs typeface="Amiri" pitchFamily="2" charset="-78"/>
              </a:rPr>
              <a:t>سَوْفَ</a:t>
            </a:r>
            <a:pPr rtl="1" algn="ctr" indent="0" marL="0">
              <a:buNone/>
            </a:pPr>
            <a:r>
              <a:rPr lang="ar-SA" altLang="en-US" sz="2100" b="1" dirty="0">
                <a:solidFill>
                  <a:srgbClr val="1B3B6F"/>
                </a:solidFill>
                <a:latin typeface="Amiri" pitchFamily="2" charset="-78"/>
                <a:ea typeface="Amiri" pitchFamily="2" charset="-78"/>
                <a:cs typeface="Amiri" pitchFamily="2" charset="-78"/>
              </a:rPr>
              <a:t> نَحْجِزُ</a:t>
            </a:r>
            <a:endParaRPr lang="ar-SA" sz="2100" dirty="0"/>
          </a:p>
        </p:txBody>
      </p:sp>
      <p:sp>
        <p:nvSpPr>
          <p:cNvPr id="41" name="Text 38"/>
          <p:cNvSpPr txBox="1"/>
          <p:nvPr/>
        </p:nvSpPr>
        <p:spPr>
          <a:xfrm>
            <a:off x="3246120" y="5065776"/>
            <a:ext cx="5943600"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will coach young people · we will book</a:t>
            </a:r>
            <a:endParaRPr lang="en-US" sz="950" dirty="0"/>
          </a:p>
        </p:txBody>
      </p:sp>
      <p:sp>
        <p:nvSpPr>
          <p:cNvPr id="42" name="Text 39"/>
          <p:cNvSpPr txBox="1"/>
          <p:nvPr/>
        </p:nvSpPr>
        <p:spPr>
          <a:xfrm>
            <a:off x="548640" y="4626864"/>
            <a:ext cx="256032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سَـ / سَوْفَ</a:t>
            </a:r>
            <a:endParaRPr lang="ar-SA" sz="22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Read the endings BEFORE the details: they tell you who and what kind of text.</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44</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1B3B6F"/>
                </a:solidFill>
                <a:latin typeface="Calibri" pitchFamily="34" charset="0"/>
                <a:cs typeface="Amiri" pitchFamily="2" charset="-78"/>
              </a:rPr>
              <a:t>GRAMMAR FOCUS · PART 2 · SEQUENCE, TENSE, EVIDENCE (WEBSITE RULES 3–4) · DEVELOP / STRETCH</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Order, tense and proof</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التَّسَلْسُلُ وَالزَّمَنُ وَالدَّلِيلُ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E6B52"/>
          </a:solidFill>
          <a:ln w="12700">
            <a:solidFill>
              <a:srgbClr val="1E6B52"/>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SEQUENCE · CORE</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400" b="1" dirty="0">
                <a:solidFill>
                  <a:srgbClr val="8A6D1E"/>
                </a:solidFill>
                <a:latin typeface="Amiri" pitchFamily="2" charset="-78"/>
                <a:ea typeface="Amiri" pitchFamily="2" charset="-78"/>
                <a:cs typeface="Amiri" pitchFamily="2" charset="-78"/>
              </a:rPr>
              <a:t>فِي البِدَايَةِ … ثُمَّ … فِي النِّهَايَةِ</a:t>
            </a:r>
            <a:endParaRPr lang="ar-SA" sz="14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000" b="1" dirty="0">
                <a:solidFill>
                  <a:srgbClr val="1B3B6F"/>
                </a:solidFill>
                <a:latin typeface="Amiri" pitchFamily="2" charset="-78"/>
                <a:ea typeface="Amiri" pitchFamily="2" charset="-78"/>
                <a:cs typeface="Amiri" pitchFamily="2" charset="-78"/>
              </a:rPr>
              <a:t>ثُمَّ انْتَقَلَ إِلَى فَرِيقٍ آخَرَ.</a:t>
            </a:r>
            <a:endParaRPr lang="ar-SA" sz="30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Then he moved to another team.</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First or last?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303020" cy="274320"/>
          </a:xfrm>
          <a:prstGeom prst="roundRect">
            <a:avLst>
              <a:gd name="adj" fmla="val 50000"/>
            </a:avLst>
          </a:prstGeom>
          <a:solidFill>
            <a:srgbClr val="1D5FBF"/>
          </a:solidFill>
          <a:ln w="12700">
            <a:solidFill>
              <a:srgbClr val="1D5FBF"/>
            </a:solidFill>
            <a:prstDash val="solid"/>
          </a:ln>
        </p:spPr>
      </p:sp>
      <p:sp>
        <p:nvSpPr>
          <p:cNvPr id="25" name="Text 22"/>
          <p:cNvSpPr txBox="1"/>
          <p:nvPr/>
        </p:nvSpPr>
        <p:spPr>
          <a:xfrm>
            <a:off x="4413504"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TENSE · DEVELOP</a:t>
            </a:r>
            <a:endParaRPr lang="en-US" sz="850" dirty="0"/>
          </a:p>
        </p:txBody>
      </p:sp>
      <p:sp>
        <p:nvSpPr>
          <p:cNvPr id="26" name="Text 23"/>
          <p:cNvSpPr txBox="1"/>
          <p:nvPr/>
        </p:nvSpPr>
        <p:spPr>
          <a:xfrm>
            <a:off x="5762244" y="1874520"/>
            <a:ext cx="201320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time marker = tense</a:t>
            </a:r>
            <a:endParaRPr lang="en-US"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فِي العَامِ المَاضِي انْتَقَلَ إِلَى نَادٍ جَدِيدٍ.</a:t>
            </a:r>
            <a:endParaRPr lang="ar-SA" sz="21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Last year he moved to a new club.</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Past marker → past verb.</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EVIDENCE · STRETCH</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يُشِيرُ إِلَى</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350" b="1" dirty="0">
                <a:solidFill>
                  <a:srgbClr val="1B3B6F"/>
                </a:solidFill>
                <a:latin typeface="Amiri" pitchFamily="2" charset="-78"/>
                <a:ea typeface="Amiri" pitchFamily="2" charset="-78"/>
                <a:cs typeface="Amiri" pitchFamily="2" charset="-78"/>
              </a:rPr>
              <a:t>يُشِيرُ النَّصُّ إِلَى أَهَمِّيَّةِ التَّدْرِيبِ.</a:t>
            </a:r>
            <a:endParaRPr lang="ar-SA" sz="23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text refers to the importance of training.</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ilā + genitive.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mistake: a future marker needs sa- + present.</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1B3B6F"/>
                </a:solidFill>
                <a:latin typeface="Amiri" pitchFamily="2" charset="-78"/>
                <a:ea typeface="Amiri" pitchFamily="2" charset="-78"/>
                <a:cs typeface="Amiri" pitchFamily="2" charset="-78"/>
              </a:rPr>
              <a:t>فِي المُسْتَقْبَلِ سَيُدَرِّبُ الشَّبَابَ.</a:t>
            </a:r>
            <a:endParaRPr lang="ar-SA" sz="165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650" b="1" dirty="0">
                <a:solidFill>
                  <a:srgbClr val="B83227"/>
                </a:solidFill>
                <a:latin typeface="Amiri" pitchFamily="2" charset="-78"/>
                <a:ea typeface="Amiri" pitchFamily="2" charset="-78"/>
                <a:cs typeface="Amiri" pitchFamily="2" charset="-78"/>
              </a:rPr>
              <a:t>فِي المُسْتَقْبَلِ دَرَّبَ الشَّبَابَ.</a:t>
            </a:r>
            <a:endParaRPr lang="ar-SA" sz="165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44</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Reading past-tense texts with evidence</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قِرَاءَةُ النُّصُوصِ المَاضِيَةِ بِالدَّلِيلِ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Third-person clusters</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فَعَلَ / فَعَلَتْ / فَعَلُوا</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بَدَأَ مَسِيرَتَهُ مُبَكِّرًا   ·   فَازَتْ بِالمِيدَالِيَةِ الذَّهَبِيَّةِ</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First-person clusters</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فَعَلْتُ / فَعَلْنَا</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حَجَزْتُ الفُنْدُقَ عَبْرَ الإِنْتِرْنِتْ   ·   أَقَمْنَا ثَلَاثَ لَيَالٍ</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Sequence markers</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فِي البِدَايَةِ … ثُمَّ … بَعْدَ ذٰلِكَ … فِي النِّهَايَةِ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ثُمَّ انْتَقَلَ إِلَى فَرِيقٍ آخَرَ   ·   بَعْدَ ذٰلِكَ اعْتَزَلَ اللَّعِبَ</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Choosing the tense in a gap-fill</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algn="l" indent="0" marL="0">
              <a:buNone/>
            </a:pPr>
            <a:r>
              <a:rPr lang="en-US" sz="1050" dirty="0">
                <a:solidFill>
                  <a:srgbClr val="5A6472"/>
                </a:solidFill>
                <a:latin typeface="Calibri" pitchFamily="34" charset="0"/>
                <a:cs typeface="Amiri" pitchFamily="2" charset="-78"/>
              </a:rPr>
              <a:t>time marker → tense</a:t>
            </a:r>
            <a:endParaRPr lang="en-US" sz="10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فِي العَامِ المَاضِي انْتَقَلَ إِلَى نَادٍ جَدِيدٍ   ·   فِي المُسْتَقْبَلِ سَيُدَرِّبُ الشَّبَابَ</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44</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uses </a:t>
            </a:r>
            <a:pPr algn="l" indent="0" marL="0">
              <a:buNone/>
            </a:pPr>
            <a:r>
              <a:rPr lang="ar-SA" altLang="en-US" sz="1650" b="1" dirty="0">
                <a:solidFill>
                  <a:srgbClr val="1B3B6F"/>
                </a:solidFill>
                <a:latin typeface="Amiri" pitchFamily="2" charset="-78"/>
                <a:ea typeface="Amiri" pitchFamily="2" charset="-78"/>
                <a:cs typeface="Amiri" pitchFamily="2" charset="-78"/>
              </a:rPr>
              <a:t>فَازَ، انْتَقَلَ، اعْتَزَلَ</a:t>
            </a:r>
            <a:pPr algn="l" indent="0" marL="0">
              <a:buNone/>
            </a:pPr>
            <a:r>
              <a:rPr lang="en-US" sz="1250" b="1" dirty="0">
                <a:solidFill>
                  <a:srgbClr val="1B3B6F"/>
                </a:solidFill>
                <a:latin typeface="Calibri" pitchFamily="34" charset="0"/>
                <a:cs typeface="Amiri" pitchFamily="2" charset="-78"/>
              </a:rPr>
              <a:t>. What type is it most likely to be?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diary</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set of instructions</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sporting biography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uses </a:t>
            </a:r>
            <a:pPr algn="l" indent="0" marL="0">
              <a:buNone/>
            </a:pPr>
            <a:r>
              <a:rPr lang="ar-SA" altLang="en-US" sz="1650" b="1" dirty="0">
                <a:solidFill>
                  <a:srgbClr val="1B3B6F"/>
                </a:solidFill>
                <a:latin typeface="Amiri" pitchFamily="2" charset="-78"/>
                <a:ea typeface="Amiri" pitchFamily="2" charset="-78"/>
                <a:cs typeface="Amiri" pitchFamily="2" charset="-78"/>
              </a:rPr>
              <a:t>حَجَزْتُ، أَقَمْنَا، اسْتَمْتَعْنَا</a:t>
            </a:r>
            <a:pPr algn="l" indent="0" marL="0">
              <a:buNone/>
            </a:pPr>
            <a:r>
              <a:rPr lang="en-US" sz="1250" b="1" dirty="0">
                <a:solidFill>
                  <a:srgbClr val="1B3B6F"/>
                </a:solidFill>
                <a:latin typeface="Calibri" pitchFamily="34" charset="0"/>
                <a:cs typeface="Amiri" pitchFamily="2" charset="-78"/>
              </a:rPr>
              <a:t>. What type is it most likely to be?</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travel review</a:t>
            </a:r>
            <a:endParaRPr lang="en-US" sz="12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official report</a:t>
            </a:r>
            <a:endParaRPr lang="en-US" sz="12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news bulletin</a:t>
            </a:r>
            <a:endParaRPr lang="en-US" sz="12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gap-fill:</a:t>
            </a:r>
            <a:endParaRPr lang="en-US" sz="1200" dirty="0"/>
          </a:p>
        </p:txBody>
      </p:sp>
      <p:sp>
        <p:nvSpPr>
          <p:cNvPr id="45" name="Text 42"/>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العَامِ المَاضِي ___ إِلَى نَادٍ جَدِيدٍ.</a:t>
            </a:r>
            <a:endParaRPr lang="ar-SA" sz="150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يَنْتَقِلُ</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انْتَقَلَ</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سَيَنْتَقِلُ</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gap-fill:</a:t>
            </a:r>
            <a:endParaRPr lang="en-US" sz="1200" dirty="0"/>
          </a:p>
        </p:txBody>
      </p:sp>
      <p:sp>
        <p:nvSpPr>
          <p:cNvPr id="59" name="Text 56"/>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المُسْتَقْبَلِ ___ الشَّبَابَ.</a:t>
            </a:r>
            <a:endParaRPr lang="ar-SA" sz="1500" dirty="0"/>
          </a:p>
        </p:txBody>
      </p:sp>
      <p:sp>
        <p:nvSpPr>
          <p:cNvPr id="60" name="Shape 57"/>
          <p:cNvSpPr/>
          <p:nvPr/>
        </p:nvSpPr>
        <p:spPr>
          <a:xfrm>
            <a:off x="6368796" y="4873752"/>
            <a:ext cx="256032" cy="256032"/>
          </a:xfrm>
          <a:prstGeom prst="ellipse">
            <a:avLst/>
          </a:prstGeom>
          <a:solidFill>
            <a:srgbClr val="F4F1EA"/>
          </a:solidFill>
          <a:ln w="12700">
            <a:solidFill>
              <a:srgbClr val="F4F1EA"/>
            </a:solidFill>
            <a:prstDash val="solid"/>
          </a:ln>
        </p:spPr>
      </p:sp>
      <p:sp>
        <p:nvSpPr>
          <p:cNvPr id="61" name="Text 58"/>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سَيُدَرِّبُ</a:t>
            </a:r>
            <a:endParaRPr lang="ar-SA" sz="2050" dirty="0"/>
          </a:p>
        </p:txBody>
      </p:sp>
      <p:sp>
        <p:nvSpPr>
          <p:cNvPr id="63" name="Shape 60"/>
          <p:cNvSpPr/>
          <p:nvPr/>
        </p:nvSpPr>
        <p:spPr>
          <a:xfrm>
            <a:off x="6368796" y="5330952"/>
            <a:ext cx="256032" cy="256032"/>
          </a:xfrm>
          <a:prstGeom prst="ellipse">
            <a:avLst/>
          </a:prstGeom>
          <a:solidFill>
            <a:srgbClr val="F4F1EA"/>
          </a:solidFill>
          <a:ln w="12700">
            <a:solidFill>
              <a:srgbClr val="F4F1EA"/>
            </a:solidFill>
            <a:prstDash val="solid"/>
          </a:ln>
        </p:spPr>
      </p:sp>
      <p:sp>
        <p:nvSpPr>
          <p:cNvPr id="64" name="Text 61"/>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دَرَّبَ</a:t>
            </a:r>
            <a:endParaRPr lang="ar-SA" sz="2050" dirty="0"/>
          </a:p>
        </p:txBody>
      </p:sp>
      <p:sp>
        <p:nvSpPr>
          <p:cNvPr id="66" name="Shape 63"/>
          <p:cNvSpPr/>
          <p:nvPr/>
        </p:nvSpPr>
        <p:spPr>
          <a:xfrm>
            <a:off x="6368796" y="5788152"/>
            <a:ext cx="256032" cy="256032"/>
          </a:xfrm>
          <a:prstGeom prst="ellipse">
            <a:avLst/>
          </a:prstGeom>
          <a:solidFill>
            <a:srgbClr val="F4F1EA"/>
          </a:solidFill>
          <a:ln w="12700">
            <a:solidFill>
              <a:srgbClr val="F4F1EA"/>
            </a:solidFill>
            <a:prstDash val="solid"/>
          </a:ln>
        </p:spPr>
      </p:sp>
      <p:sp>
        <p:nvSpPr>
          <p:cNvPr id="67" name="Text 64"/>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يُدَرِّبُ أَمْسِ</a:t>
            </a:r>
            <a:endParaRPr lang="ar-SA" sz="2050" dirty="0"/>
          </a:p>
        </p:txBody>
      </p:sp>
      <p:sp>
        <p:nvSpPr>
          <p:cNvPr id="69" name="Text 6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44</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uses </a:t>
            </a:r>
            <a:pPr algn="l" indent="0" marL="0">
              <a:buNone/>
            </a:pPr>
            <a:r>
              <a:rPr lang="ar-SA" altLang="en-US" sz="1650" b="1" dirty="0">
                <a:solidFill>
                  <a:srgbClr val="1B3B6F"/>
                </a:solidFill>
                <a:latin typeface="Amiri" pitchFamily="2" charset="-78"/>
                <a:ea typeface="Amiri" pitchFamily="2" charset="-78"/>
                <a:cs typeface="Amiri" pitchFamily="2" charset="-78"/>
              </a:rPr>
              <a:t>فَازَ، انْتَقَلَ، اعْتَزَلَ</a:t>
            </a:r>
            <a:pPr algn="l" indent="0" marL="0">
              <a:buNone/>
            </a:pPr>
            <a:r>
              <a:rPr lang="en-US" sz="1250" b="1" dirty="0">
                <a:solidFill>
                  <a:srgbClr val="1B3B6F"/>
                </a:solidFill>
                <a:latin typeface="Calibri" pitchFamily="34" charset="0"/>
                <a:cs typeface="Amiri" pitchFamily="2" charset="-78"/>
              </a:rPr>
              <a:t>. What type is it most likely to be?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diary</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set of instructions</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sporting biography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past verbs about one person signal a biography.</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uses </a:t>
            </a:r>
            <a:pPr algn="l" indent="0" marL="0">
              <a:buNone/>
            </a:pPr>
            <a:r>
              <a:rPr lang="ar-SA" altLang="en-US" sz="1650" b="1" dirty="0">
                <a:solidFill>
                  <a:srgbClr val="1B3B6F"/>
                </a:solidFill>
                <a:latin typeface="Amiri" pitchFamily="2" charset="-78"/>
                <a:ea typeface="Amiri" pitchFamily="2" charset="-78"/>
                <a:cs typeface="Amiri" pitchFamily="2" charset="-78"/>
              </a:rPr>
              <a:t>حَجَزْتُ، أَقَمْنَا، اسْتَمْتَعْنَا</a:t>
            </a:r>
            <a:pPr algn="l" indent="0" marL="0">
              <a:buNone/>
            </a:pPr>
            <a:r>
              <a:rPr lang="en-US" sz="1250" b="1" dirty="0">
                <a:solidFill>
                  <a:srgbClr val="1B3B6F"/>
                </a:solidFill>
                <a:latin typeface="Calibri" pitchFamily="34" charset="0"/>
                <a:cs typeface="Amiri" pitchFamily="2" charset="-78"/>
              </a:rPr>
              <a:t>. What type is it most likely to be?</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travel review</a:t>
            </a:r>
            <a:endParaRPr lang="en-US" sz="125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official report</a:t>
            </a:r>
            <a:endParaRPr lang="en-US" sz="125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news bulletin</a:t>
            </a:r>
            <a:endParaRPr lang="en-US" sz="125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First-person past verbs signal a personal account or review.</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gap-fill:</a:t>
            </a:r>
            <a:endParaRPr lang="en-US" sz="1200" dirty="0"/>
          </a:p>
        </p:txBody>
      </p:sp>
      <p:sp>
        <p:nvSpPr>
          <p:cNvPr id="49" name="Text 46"/>
          <p:cNvSpPr txBox="1"/>
          <p:nvPr/>
        </p:nvSpPr>
        <p:spPr>
          <a:xfrm>
            <a:off x="3323295"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العَامِ المَاضِي ___ إِلَى نَادٍ جَدِيدٍ.</a:t>
            </a:r>
            <a:endParaRPr lang="ar-SA" sz="150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يَنْتَقِلُ</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انْتَقَلَ</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سَيَنْتَقِلُ</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العَامِ المَاضِي</a:t>
            </a:r>
            <a:pPr algn="l" indent="0" marL="0">
              <a:buNone/>
            </a:pPr>
            <a:r>
              <a:rPr lang="en-US" sz="1050" i="1" dirty="0">
                <a:solidFill>
                  <a:srgbClr val="8A6D1E"/>
                </a:solidFill>
                <a:latin typeface="Calibri" pitchFamily="34" charset="0"/>
                <a:cs typeface="Amiri" pitchFamily="2" charset="-78"/>
              </a:rPr>
              <a:t> is a past marker, so the verb must be past.</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 the gap-fill:</a:t>
            </a:r>
            <a:endParaRPr lang="en-US" sz="1200" dirty="0"/>
          </a:p>
        </p:txBody>
      </p:sp>
      <p:sp>
        <p:nvSpPr>
          <p:cNvPr id="65" name="Text 62"/>
          <p:cNvSpPr txBox="1"/>
          <p:nvPr/>
        </p:nvSpPr>
        <p:spPr>
          <a:xfrm>
            <a:off x="9052011" y="4224528"/>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فِي المُسْتَقْبَلِ ___ الشَّبَابَ.</a:t>
            </a:r>
            <a:endParaRPr lang="ar-SA" sz="1500" dirty="0"/>
          </a:p>
        </p:txBody>
      </p:sp>
      <p:sp>
        <p:nvSpPr>
          <p:cNvPr id="66" name="Shape 63"/>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7" name="Shape 64"/>
          <p:cNvSpPr/>
          <p:nvPr/>
        </p:nvSpPr>
        <p:spPr>
          <a:xfrm>
            <a:off x="6368796" y="4831080"/>
            <a:ext cx="256032" cy="256032"/>
          </a:xfrm>
          <a:prstGeom prst="ellipse">
            <a:avLst/>
          </a:prstGeom>
          <a:solidFill>
            <a:srgbClr val="2E8B57"/>
          </a:solidFill>
          <a:ln w="12700">
            <a:solidFill>
              <a:srgbClr val="2E8B57"/>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سَيُدَرِّبُ</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دَرَّبَ</a:t>
            </a:r>
            <a:endParaRPr lang="ar-SA" sz="1700" dirty="0"/>
          </a:p>
        </p:txBody>
      </p:sp>
      <p:sp>
        <p:nvSpPr>
          <p:cNvPr id="73" name="Shape 70"/>
          <p:cNvSpPr/>
          <p:nvPr/>
        </p:nvSpPr>
        <p:spPr>
          <a:xfrm>
            <a:off x="6368796" y="5574792"/>
            <a:ext cx="256032" cy="256032"/>
          </a:xfrm>
          <a:prstGeom prst="ellipse">
            <a:avLst/>
          </a:prstGeom>
          <a:solidFill>
            <a:srgbClr val="C9CED6"/>
          </a:solidFill>
          <a:ln w="12700">
            <a:solidFill>
              <a:srgbClr val="C9CED6"/>
            </a:solidFill>
            <a:prstDash val="solid"/>
          </a:ln>
        </p:spPr>
      </p:sp>
      <p:sp>
        <p:nvSpPr>
          <p:cNvPr id="74" name="Text 71"/>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يُدَرِّبُ أَمْسِ</a:t>
            </a:r>
            <a:endParaRPr lang="ar-SA" sz="1700" dirty="0"/>
          </a:p>
        </p:txBody>
      </p:sp>
      <p:sp>
        <p:nvSpPr>
          <p:cNvPr id="76" name="Text 73"/>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المُسْتَقْبَلِ</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77" name="Text 7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44</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Watch me read a life story like an examiner</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Endings</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700" b="1" dirty="0">
                <a:solidFill>
                  <a:srgbClr val="1B3B6F"/>
                </a:solidFill>
                <a:latin typeface="Amiri" pitchFamily="2" charset="-78"/>
                <a:ea typeface="Amiri" pitchFamily="2" charset="-78"/>
                <a:cs typeface="Amiri" pitchFamily="2" charset="-78"/>
              </a:rPr>
              <a:t>بَدَأَ · تَدَرَّبَ · انْتَقَلَ</a:t>
            </a:r>
            <a:endParaRPr lang="ar-SA" sz="27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He → a biography.</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Sequence</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فِي البِدَايَةِ</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ثُمَّ</a:t>
            </a:r>
            <a:pPr rtl="1" algn="ctr" indent="0" marL="0">
              <a:lnSpc>
                <a:spcPct val="120000"/>
              </a:lnSpc>
              <a:buNone/>
            </a:pPr>
            <a:r>
              <a:rPr lang="ar-SA" altLang="en-US" sz="1750" b="1" dirty="0">
                <a:solidFill>
                  <a:srgbClr val="1B3B6F"/>
                </a:solidFill>
                <a:latin typeface="Amiri" pitchFamily="2" charset="-78"/>
                <a:cs typeface="Amiri" pitchFamily="2" charset="-78"/>
              </a:rPr>
              <a:t> …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فِي النِّهَايَةِ</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Order of events.</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Time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550" b="1" dirty="0">
                <a:solidFill>
                  <a:srgbClr val="D6336C"/>
                </a:solidFill>
                <a:latin typeface="Amiri" pitchFamily="2" charset="-78"/>
                <a:ea typeface="Amiri" pitchFamily="2" charset="-78"/>
                <a:cs typeface="Amiri" pitchFamily="2" charset="-78"/>
              </a:rPr>
              <a:t>فِي العَامِ المَاضِي</a:t>
            </a:r>
            <a:pPr rtl="1" algn="ctr" indent="0" marL="0">
              <a:buNone/>
            </a:pPr>
            <a:r>
              <a:rPr lang="ar-SA" altLang="en-US" sz="2550" b="1" dirty="0">
                <a:solidFill>
                  <a:srgbClr val="1B3B6F"/>
                </a:solidFill>
                <a:latin typeface="Amiri" pitchFamily="2" charset="-78"/>
                <a:ea typeface="Amiri" pitchFamily="2" charset="-78"/>
                <a:cs typeface="Amiri" pitchFamily="2" charset="-78"/>
              </a:rPr>
              <a:t> فَازَ</a:t>
            </a:r>
            <a:endParaRPr lang="ar-SA" sz="255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Past marker, past verb.</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Proof</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أَثَّرَ فِي جِيلٍ كَامِلٍ</a:t>
            </a:r>
            <a:endParaRPr lang="ar-SA" sz="280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Quote the Arabic.</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SEQUENCE</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TIME</a:t>
            </a:r>
            <a:endParaRPr lang="en-US" sz="800" dirty="0"/>
          </a:p>
        </p:txBody>
      </p:sp>
      <p:sp>
        <p:nvSpPr>
          <p:cNvPr id="49" name="Shape 45"/>
          <p:cNvSpPr/>
          <p:nvPr/>
        </p:nvSpPr>
        <p:spPr>
          <a:xfrm>
            <a:off x="10515600" y="4736592"/>
            <a:ext cx="914400" cy="237744"/>
          </a:xfrm>
          <a:prstGeom prst="roundRect">
            <a:avLst>
              <a:gd name="adj" fmla="val 50000"/>
            </a:avLst>
          </a:prstGeom>
          <a:solidFill>
            <a:srgbClr val="1D5FBF"/>
          </a:solidFill>
          <a:ln w="12700">
            <a:solidFill>
              <a:srgbClr val="1D5FBF"/>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EVIDENCE</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هٰذَا النَّصُّ سِيرَةٌ رِيَاضِيَّةٌ، لِأَنَّ الأَفْعَالَ بِصِيغَةِ الغَائِبِ.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فِي البِدَايَةِ</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كَانَ يَتَدَرَّبُ فِي نَادٍ صَغِيرٍ، </a:t>
            </a:r>
            <a:pPr rtl="1" algn="r" indent="0" marL="0">
              <a:lnSpc>
                <a:spcPct val="120000"/>
              </a:lnSpc>
              <a:buNone/>
            </a:pPr>
            <a:r>
              <a:rPr lang="ar-SA" altLang="en-US" sz="1400" b="1" dirty="0">
                <a:solidFill>
                  <a:srgbClr val="0E7C86"/>
                </a:solidFill>
                <a:latin typeface="Amiri" pitchFamily="2" charset="-78"/>
                <a:ea typeface="Amiri" pitchFamily="2" charset="-78"/>
                <a:cs typeface="Amiri" pitchFamily="2" charset="-78"/>
              </a:rPr>
              <a:t>ثُمَّ</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انْتَقَلَ إِلَى فَرِيقٍ أَكْبَرَ، وَ</a:t>
            </a:r>
            <a:pPr rtl="1" algn="r" indent="0" marL="0">
              <a:lnSpc>
                <a:spcPct val="120000"/>
              </a:lnSpc>
              <a:buNone/>
            </a:pPr>
            <a:r>
              <a:rPr lang="ar-SA" altLang="en-US" sz="1400" b="1" dirty="0">
                <a:solidFill>
                  <a:srgbClr val="D6336C"/>
                </a:solidFill>
                <a:latin typeface="Amiri" pitchFamily="2" charset="-78"/>
                <a:ea typeface="Amiri" pitchFamily="2" charset="-78"/>
                <a:cs typeface="Amiri" pitchFamily="2" charset="-78"/>
              </a:rPr>
              <a:t>فِي العَامِ المَاضِي</a:t>
            </a:r>
            <a:pPr rtl="1" algn="r" indent="0" marL="0">
              <a:lnSpc>
                <a:spcPct val="120000"/>
              </a:lnSpc>
              <a:buNone/>
            </a:pPr>
            <a:r>
              <a:rPr lang="ar-SA" altLang="en-US" sz="1400" b="1" dirty="0">
                <a:solidFill>
                  <a:srgbClr val="1B3B6F"/>
                </a:solidFill>
                <a:latin typeface="Amiri" pitchFamily="2" charset="-78"/>
                <a:ea typeface="Amiri" pitchFamily="2" charset="-78"/>
                <a:cs typeface="Amiri" pitchFamily="2" charset="-78"/>
              </a:rPr>
              <a:t> فَازَ بِالمِيدَالِيَةِ الذَّهَبِيَّةِ. وَالدَّلِيلُ مِنَ النَّصِّ: </a:t>
            </a:r>
            <a:pPr rtl="1" algn="r" indent="0" marL="0">
              <a:lnSpc>
                <a:spcPct val="120000"/>
              </a:lnSpc>
              <a:buNone/>
            </a:pPr>
            <a:r>
              <a:rPr lang="ar-SA" altLang="en-US" sz="1400" b="1" dirty="0">
                <a:solidFill>
                  <a:srgbClr val="1D5FBF"/>
                </a:solidFill>
                <a:latin typeface="Amiri" pitchFamily="2" charset="-78"/>
                <a:ea typeface="Amiri" pitchFamily="2" charset="-78"/>
                <a:cs typeface="Amiri" pitchFamily="2" charset="-78"/>
              </a:rPr>
              <a:t>أَثَّرَ فِي جِيلٍ كَامِلٍ</a:t>
            </a:r>
            <a:pPr rtl="1" algn="r" indent="0" marL="0">
              <a:lnSpc>
                <a:spcPct val="120000"/>
              </a:lnSpc>
              <a:buNone/>
            </a:pPr>
            <a:r>
              <a:rPr lang="ar-SA" altLang="en-US" sz="1400" b="1" dirty="0">
                <a:solidFill>
                  <a:srgbClr val="1B3B6F"/>
                </a:solidFill>
                <a:latin typeface="Amiri" pitchFamily="2" charset="-78"/>
                <a:cs typeface="Amiri" pitchFamily="2" charset="-78"/>
              </a:rPr>
              <a:t>.</a:t>
            </a:r>
            <a:endParaRPr lang="ar-SA" sz="140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text is a sporting biography, because the verbs are in the third person. At the beginning he used to train at a small club, then he moved to a bigger team, and last year he won the gold medal. The evidence from the text: “he influenced a whole generation”.</a:t>
            </a:r>
            <a:endParaRPr lang="en-US" sz="110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44</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316480"/>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31648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فَازَتْ بِالمِيدَالِيَةِ الذَّهَبِيَّةِ</a:t>
            </a:r>
            <a:endParaRPr lang="ar-SA" sz="2600" dirty="0"/>
          </a:p>
        </p:txBody>
      </p:sp>
      <p:sp>
        <p:nvSpPr>
          <p:cNvPr id="19" name="Text 16"/>
          <p:cNvSpPr txBox="1"/>
          <p:nvPr/>
        </p:nvSpPr>
        <p:spPr>
          <a:xfrm>
            <a:off x="685800" y="1856232"/>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she won the gold medal (biography)</a:t>
            </a:r>
            <a:endParaRPr lang="en-US" sz="1250" dirty="0"/>
          </a:p>
          <a:p>
            <a:pPr indent="0" marL="0">
              <a:buNone/>
            </a:pPr>
            <a:r>
              <a:rPr lang="en-US" sz="1050" i="1" dirty="0">
                <a:solidFill>
                  <a:srgbClr val="8A6D1E"/>
                </a:solidFill>
                <a:latin typeface="Calibri" pitchFamily="34" charset="0"/>
                <a:cs typeface="Amiri" pitchFamily="2" charset="-78"/>
              </a:rPr>
              <a:t>A third-person past cluster points to a biography.</a:t>
            </a:r>
            <a:endParaRPr lang="en-US" sz="1250" dirty="0"/>
          </a:p>
        </p:txBody>
      </p:sp>
      <p:sp>
        <p:nvSpPr>
          <p:cNvPr id="20" name="Shape 17"/>
          <p:cNvSpPr/>
          <p:nvPr/>
        </p:nvSpPr>
        <p:spPr>
          <a:xfrm>
            <a:off x="457200" y="3352800"/>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858768"/>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85876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389376"/>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أَقَمْنَا ثَلَاثَ لَيَالٍ</a:t>
            </a:r>
            <a:endParaRPr lang="ar-SA" sz="2600" dirty="0"/>
          </a:p>
        </p:txBody>
      </p:sp>
      <p:sp>
        <p:nvSpPr>
          <p:cNvPr id="24" name="Text 21"/>
          <p:cNvSpPr txBox="1"/>
          <p:nvPr/>
        </p:nvSpPr>
        <p:spPr>
          <a:xfrm>
            <a:off x="685800" y="3398520"/>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we stayed three nights (personal review)</a:t>
            </a:r>
            <a:endParaRPr lang="en-US" sz="1250" dirty="0"/>
          </a:p>
          <a:p>
            <a:pPr indent="0" marL="0">
              <a:buNone/>
            </a:pPr>
            <a:r>
              <a:rPr lang="en-US" sz="1050" i="1" dirty="0">
                <a:solidFill>
                  <a:srgbClr val="8A6D1E"/>
                </a:solidFill>
                <a:latin typeface="Calibri" pitchFamily="34" charset="0"/>
                <a:cs typeface="Amiri" pitchFamily="2" charset="-78"/>
              </a:rPr>
              <a:t>A first-person past cluster points to a personal review.</a:t>
            </a:r>
            <a:endParaRPr lang="en-US" sz="1250" dirty="0"/>
          </a:p>
        </p:txBody>
      </p:sp>
      <p:sp>
        <p:nvSpPr>
          <p:cNvPr id="25" name="Shape 22"/>
          <p:cNvSpPr/>
          <p:nvPr/>
        </p:nvSpPr>
        <p:spPr>
          <a:xfrm>
            <a:off x="457200" y="4895088"/>
            <a:ext cx="11274552" cy="1414272"/>
          </a:xfrm>
          <a:prstGeom prst="roundRect">
            <a:avLst>
              <a:gd name="adj" fmla="val 5172"/>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540105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540105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931664"/>
            <a:ext cx="6492240" cy="1341120"/>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فِي العَامِ المَاضِي انْتَقَلَ</a:t>
            </a:r>
            <a:endParaRPr lang="ar-SA" sz="2600" dirty="0"/>
          </a:p>
        </p:txBody>
      </p:sp>
      <p:sp>
        <p:nvSpPr>
          <p:cNvPr id="29" name="Text 26"/>
          <p:cNvSpPr txBox="1"/>
          <p:nvPr/>
        </p:nvSpPr>
        <p:spPr>
          <a:xfrm>
            <a:off x="685800" y="4940808"/>
            <a:ext cx="3749040" cy="1322832"/>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last year he moved (time confirms tense)</a:t>
            </a:r>
            <a:endParaRPr lang="en-US" sz="1250" dirty="0"/>
          </a:p>
          <a:p>
            <a:pPr indent="0" marL="0">
              <a:buNone/>
            </a:pPr>
            <a:r>
              <a:rPr lang="en-US" sz="1050" i="1" dirty="0">
                <a:solidFill>
                  <a:srgbClr val="8A6D1E"/>
                </a:solidFill>
                <a:latin typeface="Calibri" pitchFamily="34" charset="0"/>
                <a:cs typeface="Amiri" pitchFamily="2" charset="-78"/>
              </a:rPr>
              <a:t>The time marker confirms the tense of the verb.</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44</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 مَسِيرَتَهُ</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فَازَتْ بِالبُطُولَةِ</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اعْتَزَلَ اللَّعِبَ</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 الفُنْدُقَ</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ثَلَاثَ لَيَالٍ</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اسْتَمْتَعْنَا بِالجَوِّ</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سَيُشَارِكُ غَدًا</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a:t>
            </a:r>
            <a:endParaRPr lang="ar-SA" sz="1800" dirty="0"/>
          </a:p>
        </p:txBody>
      </p:sp>
      <p:sp>
        <p:nvSpPr>
          <p:cNvPr id="31" name="Shape 28"/>
          <p:cNvSpPr/>
          <p:nvPr/>
        </p:nvSpPr>
        <p:spPr>
          <a:xfrm>
            <a:off x="9015984" y="2834640"/>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2" name="Text 29"/>
          <p:cNvSpPr txBox="1"/>
          <p:nvPr/>
        </p:nvSpPr>
        <p:spPr>
          <a:xfrm>
            <a:off x="9107424" y="2834640"/>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المُسْتَقْبَلِ سَأَعُودُ</a:t>
            </a:r>
            <a:endParaRPr lang="ar-SA" sz="1800" dirty="0"/>
          </a:p>
        </p:txBody>
      </p:sp>
      <p:sp>
        <p:nvSpPr>
          <p:cNvPr id="33" name="Shape 30"/>
          <p:cNvSpPr/>
          <p:nvPr/>
        </p:nvSpPr>
        <p:spPr>
          <a:xfrm>
            <a:off x="8095488" y="3529584"/>
            <a:ext cx="3636264" cy="2779776"/>
          </a:xfrm>
          <a:prstGeom prst="roundRect">
            <a:avLst>
              <a:gd name="adj" fmla="val 2632"/>
            </a:avLst>
          </a:prstGeom>
          <a:solidFill>
            <a:srgbClr val="EEF3FA"/>
          </a:solidFill>
          <a:ln w="9525">
            <a:solidFill>
              <a:srgbClr val="C9D6EA"/>
            </a:solidFill>
            <a:prstDash val="solid"/>
          </a:ln>
        </p:spPr>
      </p:sp>
      <p:sp>
        <p:nvSpPr>
          <p:cNvPr id="34" name="Shape 31"/>
          <p:cNvSpPr/>
          <p:nvPr/>
        </p:nvSpPr>
        <p:spPr>
          <a:xfrm>
            <a:off x="8232648" y="3639312"/>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8232648"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Biography signal</a:t>
            </a:r>
            <a:endParaRPr lang="en-US" sz="950" dirty="0"/>
          </a:p>
        </p:txBody>
      </p:sp>
      <p:sp>
        <p:nvSpPr>
          <p:cNvPr id="36" name="Shape 33"/>
          <p:cNvSpPr/>
          <p:nvPr/>
        </p:nvSpPr>
        <p:spPr>
          <a:xfrm>
            <a:off x="4276344" y="3529584"/>
            <a:ext cx="3636264" cy="2779776"/>
          </a:xfrm>
          <a:prstGeom prst="roundRect">
            <a:avLst>
              <a:gd name="adj" fmla="val 2632"/>
            </a:avLst>
          </a:prstGeom>
          <a:solidFill>
            <a:srgbClr val="EEF3FA"/>
          </a:solidFill>
          <a:ln w="9525">
            <a:solidFill>
              <a:srgbClr val="C9D6EA"/>
            </a:solidFill>
            <a:prstDash val="solid"/>
          </a:ln>
        </p:spPr>
      </p:sp>
      <p:sp>
        <p:nvSpPr>
          <p:cNvPr id="37" name="Shape 34"/>
          <p:cNvSpPr/>
          <p:nvPr/>
        </p:nvSpPr>
        <p:spPr>
          <a:xfrm>
            <a:off x="4413504" y="3639312"/>
            <a:ext cx="3361944" cy="310896"/>
          </a:xfrm>
          <a:prstGeom prst="roundRect">
            <a:avLst>
              <a:gd name="adj" fmla="val 50000"/>
            </a:avLst>
          </a:prstGeom>
          <a:solidFill>
            <a:srgbClr val="2F6FB0"/>
          </a:solidFill>
          <a:ln w="12700">
            <a:solidFill>
              <a:srgbClr val="2F6FB0"/>
            </a:solidFill>
            <a:prstDash val="solid"/>
          </a:ln>
        </p:spPr>
      </p:sp>
      <p:sp>
        <p:nvSpPr>
          <p:cNvPr id="38" name="Text 35"/>
          <p:cNvSpPr txBox="1"/>
          <p:nvPr/>
        </p:nvSpPr>
        <p:spPr>
          <a:xfrm>
            <a:off x="4413504"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Personal review signal</a:t>
            </a:r>
            <a:endParaRPr lang="en-US" sz="950" dirty="0"/>
          </a:p>
        </p:txBody>
      </p:sp>
      <p:sp>
        <p:nvSpPr>
          <p:cNvPr id="39" name="Shape 36"/>
          <p:cNvSpPr/>
          <p:nvPr/>
        </p:nvSpPr>
        <p:spPr>
          <a:xfrm>
            <a:off x="457200" y="3529584"/>
            <a:ext cx="3636264" cy="2779776"/>
          </a:xfrm>
          <a:prstGeom prst="roundRect">
            <a:avLst>
              <a:gd name="adj" fmla="val 2632"/>
            </a:avLst>
          </a:prstGeom>
          <a:solidFill>
            <a:srgbClr val="EEF3FA"/>
          </a:solidFill>
          <a:ln w="9525">
            <a:solidFill>
              <a:srgbClr val="C9D6EA"/>
            </a:solidFill>
            <a:prstDash val="solid"/>
          </a:ln>
        </p:spPr>
      </p:sp>
      <p:sp>
        <p:nvSpPr>
          <p:cNvPr id="40" name="Shape 37"/>
          <p:cNvSpPr/>
          <p:nvPr/>
        </p:nvSpPr>
        <p:spPr>
          <a:xfrm>
            <a:off x="594360" y="3639312"/>
            <a:ext cx="3361944" cy="310896"/>
          </a:xfrm>
          <a:prstGeom prst="roundRect">
            <a:avLst>
              <a:gd name="adj" fmla="val 50000"/>
            </a:avLst>
          </a:prstGeom>
          <a:solidFill>
            <a:srgbClr val="2F6FB0"/>
          </a:solidFill>
          <a:ln w="12700">
            <a:solidFill>
              <a:srgbClr val="2F6FB0"/>
            </a:solidFill>
            <a:prstDash val="solid"/>
          </a:ln>
        </p:spPr>
      </p:sp>
      <p:sp>
        <p:nvSpPr>
          <p:cNvPr id="41" name="Text 38"/>
          <p:cNvSpPr txBox="1"/>
          <p:nvPr/>
        </p:nvSpPr>
        <p:spPr>
          <a:xfrm>
            <a:off x="594360" y="3639312"/>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signal</a:t>
            </a:r>
            <a:endParaRPr lang="en-US" sz="9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44</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8095488" y="1810512"/>
            <a:ext cx="3636264" cy="4498848"/>
          </a:xfrm>
          <a:prstGeom prst="roundRect">
            <a:avLst>
              <a:gd name="adj" fmla="val 2012"/>
            </a:avLst>
          </a:prstGeom>
          <a:solidFill>
            <a:srgbClr val="EEF3FA"/>
          </a:solidFill>
          <a:ln w="9525">
            <a:solidFill>
              <a:srgbClr val="C9D6EA"/>
            </a:solidFill>
            <a:prstDash val="solid"/>
          </a:ln>
        </p:spPr>
      </p:sp>
      <p:sp>
        <p:nvSpPr>
          <p:cNvPr id="16" name="Shape 13"/>
          <p:cNvSpPr/>
          <p:nvPr/>
        </p:nvSpPr>
        <p:spPr>
          <a:xfrm>
            <a:off x="8232648" y="1920240"/>
            <a:ext cx="3361944"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8232648"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1 · Biography signal</a:t>
            </a:r>
            <a:endParaRPr lang="en-US" sz="950" dirty="0"/>
          </a:p>
        </p:txBody>
      </p:sp>
      <p:sp>
        <p:nvSpPr>
          <p:cNvPr id="18" name="Shape 15"/>
          <p:cNvSpPr/>
          <p:nvPr/>
        </p:nvSpPr>
        <p:spPr>
          <a:xfrm>
            <a:off x="8232648" y="2377440"/>
            <a:ext cx="3361944"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8324088"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بَدَأَ مَسِيرَتَهُ</a:t>
            </a:r>
            <a:endParaRPr lang="ar-SA" sz="1800" dirty="0"/>
          </a:p>
        </p:txBody>
      </p:sp>
      <p:sp>
        <p:nvSpPr>
          <p:cNvPr id="20" name="Shape 17"/>
          <p:cNvSpPr/>
          <p:nvPr/>
        </p:nvSpPr>
        <p:spPr>
          <a:xfrm>
            <a:off x="8232648" y="2889504"/>
            <a:ext cx="3361944"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8324088"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فَازَتْ بِالبُطُولَةِ</a:t>
            </a:r>
            <a:endParaRPr lang="ar-SA" sz="1800" dirty="0"/>
          </a:p>
        </p:txBody>
      </p:sp>
      <p:sp>
        <p:nvSpPr>
          <p:cNvPr id="22" name="Shape 19"/>
          <p:cNvSpPr/>
          <p:nvPr/>
        </p:nvSpPr>
        <p:spPr>
          <a:xfrm>
            <a:off x="8232648" y="3401568"/>
            <a:ext cx="3361944"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8324088"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اعْتَزَلَ اللَّعِبَ</a:t>
            </a:r>
            <a:endParaRPr lang="ar-SA" sz="1800" dirty="0"/>
          </a:p>
        </p:txBody>
      </p:sp>
      <p:sp>
        <p:nvSpPr>
          <p:cNvPr id="24" name="Shape 21"/>
          <p:cNvSpPr/>
          <p:nvPr/>
        </p:nvSpPr>
        <p:spPr>
          <a:xfrm>
            <a:off x="4276344" y="1810512"/>
            <a:ext cx="3636264" cy="4498848"/>
          </a:xfrm>
          <a:prstGeom prst="roundRect">
            <a:avLst>
              <a:gd name="adj" fmla="val 2012"/>
            </a:avLst>
          </a:prstGeom>
          <a:solidFill>
            <a:srgbClr val="EEF3FA"/>
          </a:solidFill>
          <a:ln w="9525">
            <a:solidFill>
              <a:srgbClr val="C9D6EA"/>
            </a:solidFill>
            <a:prstDash val="solid"/>
          </a:ln>
        </p:spPr>
      </p:sp>
      <p:sp>
        <p:nvSpPr>
          <p:cNvPr id="25" name="Shape 22"/>
          <p:cNvSpPr/>
          <p:nvPr/>
        </p:nvSpPr>
        <p:spPr>
          <a:xfrm>
            <a:off x="4413504" y="1920240"/>
            <a:ext cx="3361944" cy="310896"/>
          </a:xfrm>
          <a:prstGeom prst="roundRect">
            <a:avLst>
              <a:gd name="adj" fmla="val 50000"/>
            </a:avLst>
          </a:prstGeom>
          <a:solidFill>
            <a:srgbClr val="2F6FB0"/>
          </a:solidFill>
          <a:ln w="12700">
            <a:solidFill>
              <a:srgbClr val="2F6FB0"/>
            </a:solidFill>
            <a:prstDash val="solid"/>
          </a:ln>
        </p:spPr>
      </p:sp>
      <p:sp>
        <p:nvSpPr>
          <p:cNvPr id="26" name="Text 23"/>
          <p:cNvSpPr txBox="1"/>
          <p:nvPr/>
        </p:nvSpPr>
        <p:spPr>
          <a:xfrm>
            <a:off x="4413504"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2 · Personal review signal</a:t>
            </a:r>
            <a:endParaRPr lang="en-US" sz="950" dirty="0"/>
          </a:p>
        </p:txBody>
      </p:sp>
      <p:sp>
        <p:nvSpPr>
          <p:cNvPr id="27" name="Shape 24"/>
          <p:cNvSpPr/>
          <p:nvPr/>
        </p:nvSpPr>
        <p:spPr>
          <a:xfrm>
            <a:off x="4413504" y="2377440"/>
            <a:ext cx="3361944" cy="438912"/>
          </a:xfrm>
          <a:prstGeom prst="roundRect">
            <a:avLst>
              <a:gd name="adj" fmla="val 12500"/>
            </a:avLst>
          </a:prstGeom>
          <a:solidFill>
            <a:srgbClr val="FFF4DC"/>
          </a:solidFill>
          <a:ln w="9525">
            <a:solidFill>
              <a:srgbClr val="E6C98A"/>
            </a:solidFill>
            <a:prstDash val="solid"/>
          </a:ln>
        </p:spPr>
      </p:sp>
      <p:sp>
        <p:nvSpPr>
          <p:cNvPr id="28" name="Text 25"/>
          <p:cNvSpPr txBox="1"/>
          <p:nvPr/>
        </p:nvSpPr>
        <p:spPr>
          <a:xfrm>
            <a:off x="4504944"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حَجَزْتُ الفُنْدُقَ</a:t>
            </a:r>
            <a:endParaRPr lang="ar-SA" sz="1800" dirty="0"/>
          </a:p>
        </p:txBody>
      </p:sp>
      <p:sp>
        <p:nvSpPr>
          <p:cNvPr id="29" name="Shape 26"/>
          <p:cNvSpPr/>
          <p:nvPr/>
        </p:nvSpPr>
        <p:spPr>
          <a:xfrm>
            <a:off x="4413504" y="2889504"/>
            <a:ext cx="3361944"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4504944"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أَقَمْنَا ثَلَاثَ لَيَالٍ</a:t>
            </a:r>
            <a:endParaRPr lang="ar-SA" sz="1800" dirty="0"/>
          </a:p>
        </p:txBody>
      </p:sp>
      <p:sp>
        <p:nvSpPr>
          <p:cNvPr id="31" name="Shape 28"/>
          <p:cNvSpPr/>
          <p:nvPr/>
        </p:nvSpPr>
        <p:spPr>
          <a:xfrm>
            <a:off x="4413504" y="3401568"/>
            <a:ext cx="3361944"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4504944"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اسْتَمْتَعْنَا بِالجَوِّ</a:t>
            </a:r>
            <a:endParaRPr lang="ar-SA" sz="1800" dirty="0"/>
          </a:p>
        </p:txBody>
      </p:sp>
      <p:sp>
        <p:nvSpPr>
          <p:cNvPr id="33" name="Shape 30"/>
          <p:cNvSpPr/>
          <p:nvPr/>
        </p:nvSpPr>
        <p:spPr>
          <a:xfrm>
            <a:off x="457200" y="1810512"/>
            <a:ext cx="3636264" cy="4498848"/>
          </a:xfrm>
          <a:prstGeom prst="roundRect">
            <a:avLst>
              <a:gd name="adj" fmla="val 2012"/>
            </a:avLst>
          </a:prstGeom>
          <a:solidFill>
            <a:srgbClr val="EEF3FA"/>
          </a:solidFill>
          <a:ln w="9525">
            <a:solidFill>
              <a:srgbClr val="C9D6EA"/>
            </a:solidFill>
            <a:prstDash val="solid"/>
          </a:ln>
        </p:spPr>
      </p:sp>
      <p:sp>
        <p:nvSpPr>
          <p:cNvPr id="34" name="Shape 31"/>
          <p:cNvSpPr/>
          <p:nvPr/>
        </p:nvSpPr>
        <p:spPr>
          <a:xfrm>
            <a:off x="594360" y="1920240"/>
            <a:ext cx="3361944" cy="310896"/>
          </a:xfrm>
          <a:prstGeom prst="roundRect">
            <a:avLst>
              <a:gd name="adj" fmla="val 50000"/>
            </a:avLst>
          </a:prstGeom>
          <a:solidFill>
            <a:srgbClr val="2F6FB0"/>
          </a:solidFill>
          <a:ln w="12700">
            <a:solidFill>
              <a:srgbClr val="2F6FB0"/>
            </a:solidFill>
            <a:prstDash val="solid"/>
          </a:ln>
        </p:spPr>
      </p:sp>
      <p:sp>
        <p:nvSpPr>
          <p:cNvPr id="35" name="Text 32"/>
          <p:cNvSpPr txBox="1"/>
          <p:nvPr/>
        </p:nvSpPr>
        <p:spPr>
          <a:xfrm>
            <a:off x="594360" y="1920240"/>
            <a:ext cx="3361944" cy="310896"/>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3 · Future signal</a:t>
            </a:r>
            <a:endParaRPr lang="en-US" sz="950" dirty="0"/>
          </a:p>
        </p:txBody>
      </p:sp>
      <p:sp>
        <p:nvSpPr>
          <p:cNvPr id="36" name="Shape 33"/>
          <p:cNvSpPr/>
          <p:nvPr/>
        </p:nvSpPr>
        <p:spPr>
          <a:xfrm>
            <a:off x="594360" y="2377440"/>
            <a:ext cx="3361944" cy="438912"/>
          </a:xfrm>
          <a:prstGeom prst="roundRect">
            <a:avLst>
              <a:gd name="adj" fmla="val 12500"/>
            </a:avLst>
          </a:prstGeom>
          <a:solidFill>
            <a:srgbClr val="FFF4DC"/>
          </a:solidFill>
          <a:ln w="9525">
            <a:solidFill>
              <a:srgbClr val="E6C98A"/>
            </a:solidFill>
            <a:prstDash val="solid"/>
          </a:ln>
        </p:spPr>
      </p:sp>
      <p:sp>
        <p:nvSpPr>
          <p:cNvPr id="37" name="Text 34"/>
          <p:cNvSpPr txBox="1"/>
          <p:nvPr/>
        </p:nvSpPr>
        <p:spPr>
          <a:xfrm>
            <a:off x="685800" y="2377440"/>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سَيُشَارِكُ غَدًا</a:t>
            </a:r>
            <a:endParaRPr lang="ar-SA" sz="1800" dirty="0"/>
          </a:p>
        </p:txBody>
      </p:sp>
      <p:sp>
        <p:nvSpPr>
          <p:cNvPr id="38" name="Shape 35"/>
          <p:cNvSpPr/>
          <p:nvPr/>
        </p:nvSpPr>
        <p:spPr>
          <a:xfrm>
            <a:off x="594360" y="2889504"/>
            <a:ext cx="3361944" cy="438912"/>
          </a:xfrm>
          <a:prstGeom prst="roundRect">
            <a:avLst>
              <a:gd name="adj" fmla="val 12500"/>
            </a:avLst>
          </a:prstGeom>
          <a:solidFill>
            <a:srgbClr val="FFF4DC"/>
          </a:solidFill>
          <a:ln w="9525">
            <a:solidFill>
              <a:srgbClr val="E6C98A"/>
            </a:solidFill>
            <a:prstDash val="solid"/>
          </a:ln>
        </p:spPr>
      </p:sp>
      <p:sp>
        <p:nvSpPr>
          <p:cNvPr id="39" name="Text 36"/>
          <p:cNvSpPr txBox="1"/>
          <p:nvPr/>
        </p:nvSpPr>
        <p:spPr>
          <a:xfrm>
            <a:off x="685800" y="2889504"/>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سَوْفَ نَحْجِزُ</a:t>
            </a:r>
            <a:endParaRPr lang="ar-SA" sz="1800" dirty="0"/>
          </a:p>
        </p:txBody>
      </p:sp>
      <p:sp>
        <p:nvSpPr>
          <p:cNvPr id="40" name="Shape 37"/>
          <p:cNvSpPr/>
          <p:nvPr/>
        </p:nvSpPr>
        <p:spPr>
          <a:xfrm>
            <a:off x="594360" y="3401568"/>
            <a:ext cx="3361944" cy="438912"/>
          </a:xfrm>
          <a:prstGeom prst="roundRect">
            <a:avLst>
              <a:gd name="adj" fmla="val 12500"/>
            </a:avLst>
          </a:prstGeom>
          <a:solidFill>
            <a:srgbClr val="FFF4DC"/>
          </a:solidFill>
          <a:ln w="9525">
            <a:solidFill>
              <a:srgbClr val="E6C98A"/>
            </a:solidFill>
            <a:prstDash val="solid"/>
          </a:ln>
        </p:spPr>
      </p:sp>
      <p:sp>
        <p:nvSpPr>
          <p:cNvPr id="41" name="Text 38"/>
          <p:cNvSpPr txBox="1"/>
          <p:nvPr/>
        </p:nvSpPr>
        <p:spPr>
          <a:xfrm>
            <a:off x="685800" y="3401568"/>
            <a:ext cx="3179064"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فِي المُسْتَقْبَلِ سَأَعُودُ</a:t>
            </a:r>
            <a:endParaRPr lang="ar-SA" sz="18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44</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sequence of events”?</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الفِكْرَةُ الرَّئِيسِيَّةُ</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الهَدَفُ مِنَ النَّصِّ</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تَسَلْسُلُ الأَحْدَاثِ</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يُشِيرُ النَّصُّ ___ أَهَمِّيَّةِ التَّدْرِيبِ.</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tells you an event came last?</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البِدَايَةِ</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النِّهَايَةِ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ثُمَّ</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سِيرَةً ذَاتِيٌّ مُمْتِعَةً.</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سِيرَةً ذَاتِيَّةً مُمْتِعِينَ.</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قَرَأْتُ سِيرَةً ذَاتِيَّةً مُمْتِعَةً.</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44</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means “the sequence of events”?</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الفِكْرَةُ الرَّئِيسِيَّةُ</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الهَدَفُ مِنَ النَّصِّ</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تَسَلْسُلُ الأَحْدَاثِ</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تَسَلْسُلُ الأَحْدَاثِ</a:t>
            </a:r>
            <a:pPr algn="l" indent="0" marL="0">
              <a:buNone/>
            </a:pPr>
            <a:r>
              <a:rPr lang="en-US" sz="1050" i="1" dirty="0">
                <a:solidFill>
                  <a:srgbClr val="8A6D1E"/>
                </a:solidFill>
                <a:latin typeface="Calibri" pitchFamily="34" charset="0"/>
                <a:cs typeface="Amiri" pitchFamily="2" charset="-78"/>
              </a:rPr>
              <a:t> is the sequence of events.</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يُشِيرُ النَّصُّ ___ أَهَمِّيَّةِ التَّدْرِيبِ.</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connector tells you an event came last?</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 البِدَايَةِ</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النِّهَايَةِ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ثُمَّ</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النِّهَايَةِ</a:t>
            </a:r>
            <a:pPr algn="l" indent="0" marL="0">
              <a:buNone/>
            </a:pPr>
            <a:r>
              <a:rPr lang="en-US" sz="1050" i="1" dirty="0">
                <a:solidFill>
                  <a:srgbClr val="8A6D1E"/>
                </a:solidFill>
                <a:latin typeface="Calibri" pitchFamily="34" charset="0"/>
                <a:cs typeface="Amiri" pitchFamily="2" charset="-78"/>
              </a:rPr>
              <a:t> marks the final event.</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agreement.</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 سِيرَةً ذَاتِيٌّ مُمْتِعَةً.</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قَرَأْتُ سِيرَةً ذَاتِيَّةً مُمْتِعِينَ.</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قَرَأْتُ سِيرَةً ذَاتِيَّةً مُمْتِعَةً.</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سِيرَة</a:t>
            </a:r>
            <a:pPr algn="l" indent="0" marL="0">
              <a:buNone/>
            </a:pPr>
            <a:r>
              <a:rPr lang="en-US" sz="1050" i="1" dirty="0">
                <a:solidFill>
                  <a:srgbClr val="8A6D1E"/>
                </a:solidFill>
                <a:latin typeface="Calibri" pitchFamily="34" charset="0"/>
                <a:cs typeface="Amiri" pitchFamily="2" charset="-78"/>
              </a:rPr>
              <a:t> is the accusative object, and both adjectives agree with it.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44</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العَامِ المَاضِي يَنْتَقِلُ إِلَى نَادٍ جَدِيدٍ.</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Past marker → which tense?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يُشِيرُ النَّصُّ عَنْ أَهَمِّيَّةِ التَّدْرِيبِ.</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yushīru + which preposition?</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فِي المُسْتَقْبَلِ دَرَّبَ الشَّبَابَ.</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Future marker → sa- + ?</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44</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فِي العَامِ المَاضِي يَنْتَقِلُ إِلَى نَادٍ جَدِيدٍ.</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العَامِ المَاضِي انْتَقَلَ إِلَى نَادٍ جَدِيدٍ.</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past time marker requires a past verb.</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يُشِيرُ النَّصُّ عَنْ أَهَمِّيَّةِ التَّدْرِيبِ.</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يُشِيرُ النَّصُّ إِلَى أَهَمِّيَّةِ التَّدْرِيبِ.</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يُشِيرُ</a:t>
            </a:r>
            <a:pPr algn="l" indent="0" marL="0">
              <a:buNone/>
            </a:pPr>
            <a:r>
              <a:rPr lang="en-US" sz="1150" b="1" dirty="0">
                <a:solidFill>
                  <a:srgbClr val="1B3B6F"/>
                </a:solidFill>
                <a:latin typeface="Calibri" pitchFamily="34" charset="0"/>
                <a:cs typeface="Amiri" pitchFamily="2" charset="-78"/>
              </a:rPr>
              <a:t> is fixed with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فِي المُسْتَقْبَلِ دَرَّبَ الشَّبَابَ.</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فِي المُسْتَقْبَلِ سَيُدَرِّبُ الشَّبَابَ.</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future marker requires </a:t>
            </a:r>
            <a:pPr algn="l" indent="0" marL="0">
              <a:buNone/>
            </a:pPr>
            <a:r>
              <a:rPr lang="ar-SA" altLang="en-US" sz="1500" b="1" dirty="0">
                <a:solidFill>
                  <a:srgbClr val="1B3B6F"/>
                </a:solidFill>
                <a:latin typeface="Amiri" pitchFamily="2" charset="-78"/>
                <a:ea typeface="Amiri" pitchFamily="2" charset="-78"/>
                <a:cs typeface="Amiri" pitchFamily="2" charset="-78"/>
              </a:rPr>
              <a:t>سَـ</a:t>
            </a:r>
            <a:pPr algn="l" indent="0" marL="0">
              <a:buNone/>
            </a:pPr>
            <a:r>
              <a:rPr lang="en-US" sz="1150" b="1" dirty="0">
                <a:solidFill>
                  <a:srgbClr val="1B3B6F"/>
                </a:solidFill>
                <a:latin typeface="Calibri" pitchFamily="34" charset="0"/>
                <a:cs typeface="Amiri" pitchFamily="2" charset="-78"/>
              </a:rPr>
              <a:t> with a present verb.</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44</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00" b="1" dirty="0">
                <a:solidFill>
                  <a:srgbClr val="1B3B6F"/>
                </a:solidFill>
                <a:latin typeface="Cambria" pitchFamily="34" charset="0"/>
                <a:cs typeface="Amiri" pitchFamily="2" charset="-78"/>
              </a:rPr>
              <a:t>Listening: an activity report from the sports club</a:t>
            </a:r>
            <a:endParaRPr lang="en-US" sz="19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activity report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diary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hotel review</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players took part?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Sixteen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Sixty</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won the final?</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western school team</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one; it was drawn</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eastern school team</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the medals?</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coaches and families were thanked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tournament restarted</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club closed</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the future?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No more tournaments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larger tournament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change of venue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Who is it about? Which verbs?</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44</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lnSpc>
                <a:spcPct val="120000"/>
              </a:lnSpc>
              <a:buNone/>
            </a:pPr>
            <a:r>
              <a:rPr lang="ar-SA" altLang="en-US" sz="1550" b="1" dirty="0">
                <a:solidFill>
                  <a:srgbClr val="1B3B6F"/>
                </a:solidFill>
                <a:latin typeface="Amiri" pitchFamily="2" charset="-78"/>
                <a:ea typeface="Amiri" pitchFamily="2" charset="-78"/>
                <a:cs typeface="Amiri" pitchFamily="2" charset="-78"/>
              </a:rPr>
              <a:t>فِي البِدَايَةِ نَظَّمَ النَّادِي بُطُولَةً صَغِيرَةً لِلشَّبَابِ فِي العَامِ المَاضِي. شَارَكَ فِيهَا سِتُّونَ لَاعِبًا مِنْ مَدَارِسَ مُخْتَلِفَةٍ.</a:t>
            </a:r>
            <a:endParaRPr lang="ar-SA" sz="155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the beginning the club organised a small tournament for young people last year. Sixty players from different schools took part.</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لَعِبَتِ الفِرَقُ ثَلَاثَ مُبَارَيَاتٍ فِي كُلِّ أُسْبُوعٍ.</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the teams played three matches every week.</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فَازَ فَرِيقُ المَدْرَسَةِ الشَّرْقِيَّةِ بِالمُبَارَاةِ النِّهَائِيَّةِ، وَتَعَادَلَ فَرِيقَانِ فِي المَرْكَزِ الثَّالِثِ.</a:t>
            </a:r>
            <a:endParaRPr lang="ar-SA" sz="17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eastern school team won the final, and two teams drew for third place.</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بَعْدَ ذٰلِكَ وَزَّعَ المُدِيرُ المِيدَالِيَاتِ عَلَى اللَّاعِبِينَ. وَفِي النِّهَايَةِ شَكَرَ المُدَرِّبِينَ وَالأُسَرَ.</a:t>
            </a:r>
            <a:endParaRPr lang="ar-SA" sz="17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After that the director handed out the medals to the players. In the end he thanked the coaches and families.</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وَفِي المُسْتَقْبَلِ سَيُنَظِّمُ النَّادِي بُطُولَةً أَكْبَرَ.</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In the future the club will organise a bigger tournament.</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44</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kind of text is this?</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An activity report</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diary</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hotel review</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past verbs about an organisation signal a report.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many players took part?</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Sixteen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Six</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Sixty</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شَارَكَ فِيهَا سِتُّونَ لَاعِبًا.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won the final?</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western school team</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one; it was drawn</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eastern school team</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فَازَ فَرِيقُ المَدْرَسَةِ الشَّرْقِيَّةِ بِالمُبَارَاةِ النِّهَائِيَّةِ.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after the medals?</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coaches and families were thanked</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tournament restarted</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club closed</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وَفِي النِّهَايَةِ شَكَرَ المُدَرِّبِينَ وَالأُسَرَ.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happen in the future?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No more tournaments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larger tournament</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change of venue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المُسْتَقْبَلِ سَيُنَظِّمُ النَّادِي بُطُولَةً أَكْبَرَ.</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Listen twice. Core: questions 1, 2 and 5.</a:t>
            </a:r>
            <a:endParaRPr lang="en-US" sz="1250" dirty="0"/>
          </a:p>
          <a:p>
            <a:pPr algn="l" indent="0" marL="0">
              <a:buNone/>
            </a:pPr>
            <a:r>
              <a:rPr lang="en-US" sz="1250" dirty="0">
                <a:solidFill>
                  <a:srgbClr val="1E6B52"/>
                </a:solidFill>
                <a:latin typeface="Calibri" pitchFamily="34" charset="0"/>
                <a:cs typeface="Amiri" pitchFamily="2" charset="-78"/>
              </a:rPr>
              <a:t>Who is it about? Which verbs?</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44</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YOU DO · READING · READ THE WHOLE TEXT ONCE, THEN HUNT FOR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 sporting life story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بَدَأَ مَسِيرَتَهُ الرِّيَاضِيَّةَ مُنْذُ سَنَوَاتٍ، وَكَانَ فِي الطُّفُولَةِ يَتَدَرَّبُ فِي نَادٍ صَغِيرٍ قُرْبَ بَيْتِهِ. فِي البِدَايَةِ لَمْ يَكُنْ مَشْهُورًا، وَلٰكِنَّهُ تَدَرَّبَ يَوْمِيًّا وَلَمْ يَسْتَسْلِمْ. ثُمَّ انْتَقَلَ إِلَى فَرِيقٍ أَكْبَرَ، وَفِي العَامِ المَاضِي فَازَ بِالمِيدَالِيَةِ الذَّهَبِيَّةِ فِي بُطُولَةٍ كَبِيرَةٍ. وَقَدْ أَثَّرَ فِي جِيلٍ كَامِلٍ مِنَ اللَّاعِبِينَ الصِّغَارِ. بَعْدَ ذٰلِكَ اعْتَزَلَ اللَّعِبَ، وَفِي النِّهَايَةِ عَادَ إِلَى نَادِيهِ الأَوَّلِ. وَفِي المُسْتَقْبَلِ سَيُدَرِّبُ الشَّبَابَ هُنَاكَ.</a:t>
            </a:r>
            <a:endParaRPr lang="ar-SA" sz="2600" dirty="0"/>
          </a:p>
        </p:txBody>
      </p:sp>
      <p:sp>
        <p:nvSpPr>
          <p:cNvPr id="17" name="Shape 14"/>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19" name="Text 16"/>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مَسِيرَتَهُ الرِّيَاضِيَّةَ</a:t>
            </a:r>
            <a:endParaRPr lang="ar-SA" sz="1600" dirty="0"/>
          </a:p>
        </p:txBody>
      </p:sp>
      <p:sp>
        <p:nvSpPr>
          <p:cNvPr id="20" name="Text 17"/>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sports career</a:t>
            </a:r>
            <a:endParaRPr lang="en-US" sz="1050" dirty="0"/>
          </a:p>
        </p:txBody>
      </p:sp>
      <p:sp>
        <p:nvSpPr>
          <p:cNvPr id="21" name="Text 18"/>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قُرْبَ بَيْتِهِ</a:t>
            </a:r>
            <a:endParaRPr lang="ar-SA" sz="1600" dirty="0"/>
          </a:p>
        </p:txBody>
      </p:sp>
      <p:sp>
        <p:nvSpPr>
          <p:cNvPr id="22" name="Text 19"/>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near his home</a:t>
            </a:r>
            <a:endParaRPr lang="en-US" sz="1050" dirty="0"/>
          </a:p>
        </p:txBody>
      </p:sp>
      <p:sp>
        <p:nvSpPr>
          <p:cNvPr id="23" name="Text 20"/>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 يَكُنْ مَشْهُورًا</a:t>
            </a:r>
            <a:endParaRPr lang="ar-SA" sz="1600" dirty="0"/>
          </a:p>
        </p:txBody>
      </p:sp>
      <p:sp>
        <p:nvSpPr>
          <p:cNvPr id="24" name="Text 21"/>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was not famous</a:t>
            </a:r>
            <a:endParaRPr lang="en-US" sz="1050" dirty="0"/>
          </a:p>
        </p:txBody>
      </p:sp>
      <p:sp>
        <p:nvSpPr>
          <p:cNvPr id="25" name="Text 22"/>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لَمْ يَسْتَسْلِمْ</a:t>
            </a:r>
            <a:endParaRPr lang="ar-SA" sz="1600" dirty="0"/>
          </a:p>
        </p:txBody>
      </p:sp>
      <p:sp>
        <p:nvSpPr>
          <p:cNvPr id="26" name="Text 23"/>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did not give up</a:t>
            </a:r>
            <a:endParaRPr lang="en-US" sz="1050" dirty="0"/>
          </a:p>
        </p:txBody>
      </p:sp>
      <p:sp>
        <p:nvSpPr>
          <p:cNvPr id="27" name="Text 24"/>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انْتَقَلَ إِلَى</a:t>
            </a:r>
            <a:endParaRPr lang="ar-SA" sz="1600" dirty="0"/>
          </a:p>
        </p:txBody>
      </p:sp>
      <p:sp>
        <p:nvSpPr>
          <p:cNvPr id="28" name="Text 25"/>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moved to</a:t>
            </a:r>
            <a:endParaRPr lang="en-US" sz="1050" dirty="0"/>
          </a:p>
        </p:txBody>
      </p:sp>
      <p:sp>
        <p:nvSpPr>
          <p:cNvPr id="29" name="Text 26"/>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أَثَّرَ فِي</a:t>
            </a:r>
            <a:endParaRPr lang="ar-SA" sz="1600" dirty="0"/>
          </a:p>
        </p:txBody>
      </p:sp>
      <p:sp>
        <p:nvSpPr>
          <p:cNvPr id="30" name="Text 27"/>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influenced</a:t>
            </a:r>
            <a:endParaRPr lang="en-US" sz="1050" dirty="0"/>
          </a:p>
        </p:txBody>
      </p:sp>
      <p:sp>
        <p:nvSpPr>
          <p:cNvPr id="31" name="Text 28"/>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جِيلٍ كَامِلٍ</a:t>
            </a:r>
            <a:endParaRPr lang="ar-SA" sz="1600" dirty="0"/>
          </a:p>
        </p:txBody>
      </p:sp>
      <p:sp>
        <p:nvSpPr>
          <p:cNvPr id="32" name="Text 29"/>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whole generation</a:t>
            </a:r>
            <a:endParaRPr lang="en-US" sz="1050" dirty="0"/>
          </a:p>
        </p:txBody>
      </p:sp>
      <p:sp>
        <p:nvSpPr>
          <p:cNvPr id="33" name="Text 30"/>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اعْتَزَلَ اللَّعِبَ</a:t>
            </a:r>
            <a:endParaRPr lang="ar-SA" sz="1600" dirty="0"/>
          </a:p>
        </p:txBody>
      </p:sp>
      <p:sp>
        <p:nvSpPr>
          <p:cNvPr id="34" name="Text 31"/>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retired from playing</a:t>
            </a:r>
            <a:endParaRPr lang="en-US" sz="1050" dirty="0"/>
          </a:p>
        </p:txBody>
      </p:sp>
      <p:sp>
        <p:nvSpPr>
          <p:cNvPr id="35" name="Text 32"/>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نَادِيهِ الأَوَّلِ</a:t>
            </a:r>
            <a:endParaRPr lang="ar-SA" sz="1600" dirty="0"/>
          </a:p>
        </p:txBody>
      </p:sp>
      <p:sp>
        <p:nvSpPr>
          <p:cNvPr id="36" name="Text 33"/>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his first club</a:t>
            </a:r>
            <a:endParaRPr lang="en-US" sz="1050" dirty="0"/>
          </a:p>
        </p:txBody>
      </p:sp>
      <p:sp>
        <p:nvSpPr>
          <p:cNvPr id="37" name="Text 34"/>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سَيُدَرِّبُ</a:t>
            </a:r>
            <a:endParaRPr lang="ar-SA" sz="1600" dirty="0"/>
          </a:p>
        </p:txBody>
      </p:sp>
      <p:sp>
        <p:nvSpPr>
          <p:cNvPr id="38" name="Text 35"/>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he will coach</a:t>
            </a:r>
            <a:endParaRPr lang="en-US" sz="105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44</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6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READING QUESTIONS · FIND THE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he train in childhood?</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national stadium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small club near his home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At school only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true at the beginning?</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already a champion</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disliked training</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was not famous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won a gold medal</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retired</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moved abroad</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his influence?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influenced no one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influenced a whole generation of young players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influenced only his own team</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he do in the future?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Coach young people at his first club</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Return to competition</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Leave the sport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44</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FEEDBACK · READING ANSWERS WITH EVIDENCE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did he train in childhood?</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national stadium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small club near his home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At school only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كَانَ فِي الطُّفُولَةِ يَتَدَرَّبُ فِي نَادٍ صَغِيرٍ قُرْبَ بَيْتِهِ.</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true at the beginning?</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was already a champion</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disliked training</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was not famous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البِدَايَةِ لَمْ يَكُنْ مَشْهُورًا.</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happened last year?</a:t>
            </a:r>
            <a:endParaRPr lang="en-US" sz="125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 won a gold medal</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retired</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moved abroad</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العَامِ المَاضِي فَازَ بِالمِيدَالِيَةِ الذَّهَبِيَّةِ.</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text say about his influence?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influenced no one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He influenced a whole generation of young players</a:t>
            </a:r>
            <a:endParaRPr lang="en-US" sz="11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influenced only his own team</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أَثَّرَ فِي جِيلٍ كَامِلٍ مِنَ اللَّاعِبِينَ الصِّغَارِ.</a:t>
            </a:r>
            <a:endParaRPr lang="ar-SA" sz="13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will he do in the future?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Coach young people at his first club</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Return to competition</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Leave the sport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وَفِي المُسْتَقْبَلِ سَيُدَرِّبُ الشَّبَابَ هُنَاكَ.</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READ LIKE A DETECTIVE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1. Read the question first.</a:t>
            </a:r>
            <a:endParaRPr lang="en-US" sz="1250" dirty="0"/>
          </a:p>
          <a:p>
            <a:pPr algn="l" indent="0" marL="0">
              <a:buNone/>
            </a:pPr>
            <a:r>
              <a:rPr lang="en-US" sz="1250" dirty="0">
                <a:solidFill>
                  <a:srgbClr val="1F2A37"/>
                </a:solidFill>
                <a:latin typeface="Calibri" pitchFamily="34" charset="0"/>
                <a:cs typeface="Amiri" pitchFamily="2" charset="-78"/>
              </a:rPr>
              <a:t>2. Find ONE key word from the question in the text.</a:t>
            </a:r>
            <a:endParaRPr lang="en-US" sz="1250" dirty="0"/>
          </a:p>
          <a:p>
            <a:pPr algn="l" indent="0" marL="0">
              <a:buNone/>
            </a:pPr>
            <a:r>
              <a:rPr lang="en-US" sz="1250" dirty="0">
                <a:solidFill>
                  <a:srgbClr val="1F2A37"/>
                </a:solidFill>
                <a:latin typeface="Calibri" pitchFamily="34" charset="0"/>
                <a:cs typeface="Amiri" pitchFamily="2" charset="-78"/>
              </a:rPr>
              <a:t>3. Read only that sentence again, then choose.</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44</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Speaking: explain a text to a partner</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نَوْعُ هٰذَا النَّصِّ؟ وَكَيْفَ عَرَفْتَ ذٰلِكَ؟</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تَسَلْسُلُ الأَحْدَاثِ فِي النَّصِّ؟</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B83227"/>
          </a:solidFill>
          <a:ln w="12700">
            <a:solidFill>
              <a:srgbClr val="B83227"/>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الدَّلِيلُ مِنَ النَّصِّ عَلَى إِجَابَتِكَ؟</a:t>
            </a:r>
            <a:endParaRPr lang="ar-SA" sz="1800" dirty="0"/>
          </a:p>
        </p:txBody>
      </p:sp>
      <p:sp>
        <p:nvSpPr>
          <p:cNvPr id="42" name="Shape 39"/>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44" name="Shape 41"/>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5" name="Text 42"/>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6" name="Text 43"/>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هٰذَا النَّصُّ ___ ، لِأَنَّ الأَفْعَالَ ___ .</a:t>
            </a:r>
            <a:endParaRPr lang="ar-SA" sz="1600" dirty="0"/>
          </a:p>
        </p:txBody>
      </p:sp>
      <p:sp>
        <p:nvSpPr>
          <p:cNvPr id="47" name="Shape 44"/>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48" name="Text 45"/>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9" name="Text 46"/>
          <p:cNvSpPr txBox="1"/>
          <p:nvPr/>
        </p:nvSpPr>
        <p:spPr>
          <a:xfrm>
            <a:off x="1783080" y="3410712"/>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فِي البِدَايَةِ ___ ، ثُمَّ ___ ، وَفِي النِّهَايَةِ ___ .</a:t>
            </a:r>
            <a:endParaRPr lang="ar-SA" sz="1200" dirty="0"/>
          </a:p>
        </p:txBody>
      </p:sp>
      <p:sp>
        <p:nvSpPr>
          <p:cNvPr id="50" name="Shape 47"/>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1" name="Text 48"/>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2" name="Text 49"/>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150" b="1" dirty="0">
                <a:solidFill>
                  <a:srgbClr val="1F2A37"/>
                </a:solidFill>
                <a:latin typeface="Amiri" pitchFamily="2" charset="-78"/>
                <a:ea typeface="Amiri" pitchFamily="2" charset="-78"/>
                <a:cs typeface="Amiri" pitchFamily="2" charset="-78"/>
              </a:rPr>
              <a:t>الدَّلِيلُ مِنَ النَّصِّ: « ___ » ، وَهٰذَا يُشِيرُ إِلَى ___ .</a:t>
            </a:r>
            <a:endParaRPr lang="ar-SA" sz="1150" dirty="0"/>
          </a:p>
        </p:txBody>
      </p:sp>
      <p:sp>
        <p:nvSpPr>
          <p:cNvPr id="53" name="Shape 50"/>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54" name="Text 51"/>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55" name="Shape 52"/>
          <p:cNvSpPr/>
          <p:nvPr/>
        </p:nvSpPr>
        <p:spPr>
          <a:xfrm>
            <a:off x="11274552" y="5559552"/>
            <a:ext cx="292608" cy="292608"/>
          </a:xfrm>
          <a:prstGeom prst="ellipse">
            <a:avLst/>
          </a:prstGeom>
          <a:solidFill>
            <a:srgbClr val="1E6B52"/>
          </a:solidFill>
          <a:ln w="12700">
            <a:solidFill>
              <a:srgbClr val="1E6B52"/>
            </a:solidFill>
            <a:prstDash val="solid"/>
          </a:ln>
        </p:spPr>
      </p:sp>
      <p:sp>
        <p:nvSpPr>
          <p:cNvPr id="56" name="Text 53"/>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57" name="Text 54"/>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مَا نَوْعُ هٰذَا النَّصِّ؟</a:t>
            </a:r>
            <a:endParaRPr lang="ar-SA" sz="1550" dirty="0"/>
          </a:p>
        </p:txBody>
      </p:sp>
      <p:sp>
        <p:nvSpPr>
          <p:cNvPr id="58" name="Text 55"/>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What type of text is this?</a:t>
            </a:r>
            <a:endParaRPr lang="en-US" sz="950" dirty="0"/>
          </a:p>
        </p:txBody>
      </p:sp>
      <p:sp>
        <p:nvSpPr>
          <p:cNvPr id="59" name="Shape 56"/>
          <p:cNvSpPr/>
          <p:nvPr/>
        </p:nvSpPr>
        <p:spPr>
          <a:xfrm>
            <a:off x="11274552" y="5925312"/>
            <a:ext cx="292608" cy="292608"/>
          </a:xfrm>
          <a:prstGeom prst="ellipse">
            <a:avLst/>
          </a:prstGeom>
          <a:solidFill>
            <a:srgbClr val="1E6B52"/>
          </a:solidFill>
          <a:ln w="12700">
            <a:solidFill>
              <a:srgbClr val="1E6B52"/>
            </a:solidFill>
            <a:prstDash val="solid"/>
          </a:ln>
        </p:spPr>
      </p:sp>
      <p:sp>
        <p:nvSpPr>
          <p:cNvPr id="60" name="Text 57"/>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61" name="Text 58"/>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أَظُنُّ أَنَّهُ سِيرَةٌ رِيَاضِيَّةٌ، لِأَنَّ الأَفْعَالَ كُلَّهَا بِصِيغَةِ الغَائِبِ.</a:t>
            </a:r>
            <a:endParaRPr lang="ar-SA" sz="1550" dirty="0"/>
          </a:p>
        </p:txBody>
      </p:sp>
      <p:sp>
        <p:nvSpPr>
          <p:cNvPr id="62" name="Text 59"/>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850" i="1" dirty="0">
                <a:solidFill>
                  <a:srgbClr val="5A6472"/>
                </a:solidFill>
                <a:latin typeface="Calibri" pitchFamily="34" charset="0"/>
                <a:cs typeface="Amiri" pitchFamily="2" charset="-78"/>
              </a:rPr>
              <a:t>I think it is a sporting biography, because all the verbs are in the third person.</a:t>
            </a:r>
            <a:endParaRPr lang="en-US" sz="8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44</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5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Identify the text type and answer four comprehension questions using the text.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Text type + three events in order + one quote.</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50–60 words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Add the sequence of events and quote one phrase as evidence for each answer.</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summary with two sequence markers and a quoted phrase.</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 70 words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Complete the gap-fill by justifying each tense choice from the nearest time marker.</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type · sequence · quoted evidence · yushīru ilā.</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44</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ذٰلِكَ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that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النِّهَايَةِ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the end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وَالدَّلِيلُ مِنَ النَّصِّ: «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evidence from the text: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يُشِيرُ النَّصُّ إِلَى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 text refers to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قَرَأْتُ ______ عَنْ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read a … about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كَانَ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At the beginning he used to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ثُمَّ انْتَقَلَ إِلَى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Then he moved to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العَامِ المَاضِي فَازَ بِـ ______ .</a:t>
            </a:r>
            <a:endParaRPr lang="ar-SA" sz="180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Last year he won …</a:t>
            </a:r>
            <a:endParaRPr lang="en-US" sz="1050" dirty="0"/>
          </a:p>
        </p:txBody>
      </p:sp>
      <p:sp>
        <p:nvSpPr>
          <p:cNvPr id="37" name="Shape 34"/>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Text 35"/>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9" name="Text 36"/>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550" b="1" dirty="0">
                <a:solidFill>
                  <a:srgbClr val="1B3B6F"/>
                </a:solidFill>
                <a:latin typeface="Amiri" pitchFamily="2" charset="-78"/>
                <a:ea typeface="Amiri" pitchFamily="2" charset="-78"/>
                <a:cs typeface="Amiri" pitchFamily="2" charset="-78"/>
              </a:rPr>
              <a:t>سِيرَةٌ رِيَاضِيَّةٌ  ·  مُرَاجَعَةٌ  ·  تَقْرِيرٌ  ·  فِي البِدَايَةِ  ·  ثُمَّ  ·  بَعْدَ ذٰلِكَ  ·  فِي النِّهَايَةِ  ·  فِي العَامِ المَاضِي  ·  مُنْذُ سَنَوَاتٍ  ·  الدَّلِيلُ مِنَ النَّصِّ  ·  يُشِيرُ إِلَى  ·  يَسْتَنْتِجُ</a:t>
            </a:r>
            <a:endParaRPr lang="ar-SA" sz="15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44</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about seventy words summarising a past-tense text you have read. Name the text type, state the sequence of events, quote one Arabic phrase as evidence, and say what the text refers to using </a:t>
            </a:r>
            <a:pPr algn="l" indent="0" marL="0">
              <a:buNone/>
            </a:pPr>
            <a:r>
              <a:rPr lang="ar-SA" altLang="en-US" sz="1750" b="1" dirty="0">
                <a:solidFill>
                  <a:srgbClr val="1F2A37"/>
                </a:solidFill>
                <a:latin typeface="Amiri" pitchFamily="2" charset="-78"/>
                <a:ea typeface="Amiri" pitchFamily="2" charset="-78"/>
                <a:cs typeface="Amiri" pitchFamily="2" charset="-78"/>
              </a:rPr>
              <a:t>يُشِيرُ إِلَى</a:t>
            </a:r>
            <a:pPr algn="l" indent="0" marL="0">
              <a:buNone/>
            </a:pPr>
            <a:r>
              <a:rPr lang="en-US" sz="1350" b="1" dirty="0">
                <a:solidFill>
                  <a:srgbClr val="1F2A37"/>
                </a:solidFill>
                <a:latin typeface="Calibri" pitchFamily="34" charset="0"/>
                <a:cs typeface="Amiri" pitchFamily="2" charset="-78"/>
              </a:rPr>
              <a: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text type named with </a:t>
            </a:r>
            <a:pPr algn="l" indent="0" marL="0">
              <a:buNone/>
            </a:pPr>
            <a:r>
              <a:rPr lang="ar-SA" altLang="en-US" sz="1550" dirty="0">
                <a:solidFill>
                  <a:srgbClr val="1F2A37"/>
                </a:solidFill>
                <a:latin typeface="Amiri" pitchFamily="2" charset="-78"/>
                <a:ea typeface="Amiri" pitchFamily="2" charset="-78"/>
                <a:cs typeface="Amiri" pitchFamily="2" charset="-78"/>
              </a:rPr>
              <a:t>سِيرَةٌ، مُرَاجَعَةٌ</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تَقْرِيرٌ</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two sequence markers from </a:t>
            </a:r>
            <a:pPr algn="l" indent="0" marL="0">
              <a:buNone/>
            </a:pPr>
            <a:r>
              <a:rPr lang="ar-SA" altLang="en-US" sz="1550" dirty="0">
                <a:solidFill>
                  <a:srgbClr val="1F2A37"/>
                </a:solidFill>
                <a:latin typeface="Amiri" pitchFamily="2" charset="-78"/>
                <a:ea typeface="Amiri" pitchFamily="2" charset="-78"/>
                <a:cs typeface="Amiri" pitchFamily="2" charset="-78"/>
              </a:rPr>
              <a:t>فِي البِدَايَةِ، ثُمَّ، بَعْدَ ذٰلِكَ، فِي النِّهَايَةِ</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quoted Arabic phrase as evidence.</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One sentence with </a:t>
            </a:r>
            <a:pPr algn="l" indent="0" marL="0">
              <a:buNone/>
            </a:pPr>
            <a:r>
              <a:rPr lang="ar-SA" altLang="en-US" sz="1550" dirty="0">
                <a:solidFill>
                  <a:srgbClr val="1F2A37"/>
                </a:solidFill>
                <a:latin typeface="Amiri" pitchFamily="2" charset="-78"/>
                <a:ea typeface="Amiri" pitchFamily="2" charset="-78"/>
                <a:cs typeface="Amiri" pitchFamily="2" charset="-78"/>
              </a:rPr>
              <a:t>يُشِيرُ إِلَى</a:t>
            </a:r>
            <a:pPr algn="l" indent="0" marL="0">
              <a:buNone/>
            </a:pPr>
            <a:r>
              <a:rPr lang="en-US" sz="1200" dirty="0">
                <a:solidFill>
                  <a:srgbClr val="1F2A37"/>
                </a:solidFill>
                <a:latin typeface="Calibri" pitchFamily="34" charset="0"/>
                <a:cs typeface="Amiri" pitchFamily="2" charset="-78"/>
              </a:rPr>
              <a:t> and the genitive.</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لِأَنَّ الأَفْعَالَ بِصِيغَةِ الغَائِبِ</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because the verbs are in the third person</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 يَكُنْ مَشْهُورًا</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was not famous</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تَدَرَّبَ يَوْمِيًّا وَلَمْ يَسْتَسْلِمْ</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trained daily and did not give up</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أَهَمِّيَّةُ الصَّبْرِ وَالتَّدْرِيبِ المُنْتَظِمِ</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importance of patience and regular training</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نَسْتَنْتِجُ أَنَّ …</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we deduce that …</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44</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قَرَأْتُ سِيرَةً رِيَاضِيَّةً قَصِيرَةً عَنْ لَاعِبٍ مَشْهُورٍ. فِي البِدَايَةِ كَانَ يَتَدَرَّبُ فِي نَادٍ صَغِيرٍ، وَلَمْ يَكُنْ مَشْهُورًا. ثُمَّ انْتَقَلَ إِلَى فَرِيقٍ أَكْبَرَ، وَفِي العَامِ المَاضِي فَازَ بِالمِيدَالِيَةِ الذَّهَبِيَّةِ. بَعْدَ ذٰلِكَ اعْتَزَلَ اللَّعِبَ، وَفِي النِّهَايَةِ عَادَ إِلَى نَادِيهِ الأَوَّلِ. وَالدَّلِيلُ مِنَ النَّصِّ: أَثَّرَ فِي جِيلٍ كَامِلٍ. يُشِيرُ النَّصُّ إِلَى أَهَمِّيَّةِ الصَّبْرِ وَالتَّدْرِيبِ المُنْتَظِمِ.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read a short sporting biography about a famous player. At the beginning he used to train at a small club, and he was not famous. Then he moved to a bigger team, and last year he won the gold medal. After that he retired, and in the end he returned to his first club. The evidence from the text: “he influenced a whole generation”. The text refers to the importance of patience and regular training.</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the text type</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three sequence markers</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quoted phrase</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يُشِيرُ إِلَى + genitive</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44</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named the text type from the verb endings.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answers match the time markers.</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put the events in the right order.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quoted one Arabic phrase as evidence.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a:r>
            <a:pPr algn="l" indent="0" marL="0">
              <a:buNone/>
            </a:pPr>
            <a:r>
              <a:rPr lang="ar-SA" altLang="en-US" sz="1700" dirty="0">
                <a:solidFill>
                  <a:srgbClr val="1F2A37"/>
                </a:solidFill>
                <a:latin typeface="Amiri" pitchFamily="2" charset="-78"/>
                <a:ea typeface="Amiri" pitchFamily="2" charset="-78"/>
                <a:cs typeface="Amiri" pitchFamily="2" charset="-78"/>
              </a:rPr>
              <a:t>يُشِيرُ إِلَى</a:t>
            </a:r>
            <a:pPr algn="l" indent="0" marL="0">
              <a:buNone/>
            </a:pPr>
            <a:r>
              <a:rPr lang="en-US" sz="1300" dirty="0">
                <a:solidFill>
                  <a:srgbClr val="1F2A37"/>
                </a:solidFill>
                <a:latin typeface="Calibri" pitchFamily="34" charset="0"/>
                <a:cs typeface="Amiri" pitchFamily="2" charset="-78"/>
              </a:rPr>
              <a:t> with the genitive.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44</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is full of </a:t>
            </a:r>
            <a:pPr algn="l" indent="0" marL="0">
              <a:buNone/>
            </a:pPr>
            <a:r>
              <a:rPr lang="ar-SA" altLang="en-US" sz="1650" b="1" dirty="0">
                <a:solidFill>
                  <a:srgbClr val="1B3B6F"/>
                </a:solidFill>
                <a:latin typeface="Amiri" pitchFamily="2" charset="-78"/>
                <a:ea typeface="Amiri" pitchFamily="2" charset="-78"/>
                <a:cs typeface="Amiri" pitchFamily="2" charset="-78"/>
              </a:rPr>
              <a:t>فَعَلْتُ</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فَعَلْنَا</a:t>
            </a:r>
            <a:pPr algn="l" indent="0" marL="0">
              <a:buNone/>
            </a:pPr>
            <a:r>
              <a:rPr lang="en-US" sz="1250" b="1" dirty="0">
                <a:solidFill>
                  <a:srgbClr val="1B3B6F"/>
                </a:solidFill>
                <a:latin typeface="Calibri" pitchFamily="34" charset="0"/>
                <a:cs typeface="Amiri" pitchFamily="2" charset="-78"/>
              </a:rPr>
              <a:t>. What is it?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account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official biography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 بِالبُطُولَةِ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يَفُوزُ</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فَازَ</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سَيَفُوزُ</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يُشِيرُ النَّصُّ</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أَهَمِّيَّةِ 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بِـ</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44</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 text is full of </a:t>
            </a:r>
            <a:pPr algn="l" indent="0" marL="0">
              <a:buNone/>
            </a:pPr>
            <a:r>
              <a:rPr lang="ar-SA" altLang="en-US" sz="1650" b="1" dirty="0">
                <a:solidFill>
                  <a:srgbClr val="1B3B6F"/>
                </a:solidFill>
                <a:latin typeface="Amiri" pitchFamily="2" charset="-78"/>
                <a:ea typeface="Amiri" pitchFamily="2" charset="-78"/>
                <a:cs typeface="Amiri" pitchFamily="2" charset="-78"/>
              </a:rPr>
              <a:t>فَعَلْتُ</a:t>
            </a:r>
            <a:pPr algn="l" indent="0" marL="0">
              <a:buNone/>
            </a:pPr>
            <a:r>
              <a:rPr lang="en-US" sz="1250" b="1" dirty="0">
                <a:solidFill>
                  <a:srgbClr val="1B3B6F"/>
                </a:solidFill>
                <a:latin typeface="Calibri" pitchFamily="34" charset="0"/>
                <a:cs typeface="Amiri" pitchFamily="2" charset="-78"/>
              </a:rPr>
              <a:t> and </a:t>
            </a:r>
            <a:pPr algn="l" indent="0" marL="0">
              <a:buNone/>
            </a:pPr>
            <a:r>
              <a:rPr lang="ar-SA" altLang="en-US" sz="1650" b="1" dirty="0">
                <a:solidFill>
                  <a:srgbClr val="1B3B6F"/>
                </a:solidFill>
                <a:latin typeface="Amiri" pitchFamily="2" charset="-78"/>
                <a:ea typeface="Amiri" pitchFamily="2" charset="-78"/>
                <a:cs typeface="Amiri" pitchFamily="2" charset="-78"/>
              </a:rPr>
              <a:t>فَعَلْنَا</a:t>
            </a:r>
            <a:pPr algn="l" indent="0" marL="0">
              <a:buNone/>
            </a:pPr>
            <a:r>
              <a:rPr lang="en-US" sz="1250" b="1" dirty="0">
                <a:solidFill>
                  <a:srgbClr val="1B3B6F"/>
                </a:solidFill>
                <a:latin typeface="Calibri" pitchFamily="34" charset="0"/>
                <a:cs typeface="Amiri" pitchFamily="2" charset="-78"/>
              </a:rPr>
              <a:t>. What is it?</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personal account</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official biography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First-person past verbs signal a personal account.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أَمْسِ</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 بِالبُطُولَةِ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يَفُوزُ</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فَازَ</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سَيَفُوزُ</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أَمْسِ</a:t>
            </a:r>
            <a:pPr algn="l" indent="0" marL="0">
              <a:buNone/>
            </a:pPr>
            <a:r>
              <a:rPr lang="en-US" sz="1050" i="1" dirty="0">
                <a:solidFill>
                  <a:srgbClr val="8A6D1E"/>
                </a:solidFill>
                <a:latin typeface="Calibri" pitchFamily="34" charset="0"/>
                <a:cs typeface="Amiri" pitchFamily="2" charset="-78"/>
              </a:rPr>
              <a:t> requires a past-tense verb.</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يُشِيرُ النَّصُّ</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أَهَمِّيَّةِ الصَّبْرِ</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إِلَى</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عَنْ</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بِـ</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is fixed with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44</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WEBSITE MISSION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cs typeface="Amiri" pitchFamily="2" charset="-78"/>
              </a:rPr>
              <a:t>Reading Mission — Text Type, Sequence and Tense</a:t>
            </a:r>
            <a:endParaRPr lang="en-US" sz="19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المُهِمَّةُ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7"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Text type:</a:t>
            </a:r>
            <a:endParaRPr lang="en-US" sz="1200" dirty="0"/>
          </a:p>
        </p:txBody>
      </p:sp>
      <p:sp>
        <p:nvSpPr>
          <p:cNvPr id="21"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فَازَ، انْتَقَلَ، اعْتَزَلَ</a:t>
            </a:r>
            <a:pPr algn="l" indent="0" marL="0">
              <a:buNone/>
            </a:pPr>
            <a:r>
              <a:rPr lang="en-US" sz="1250" b="1" dirty="0">
                <a:solidFill>
                  <a:srgbClr val="1F2A37"/>
                </a:solidFill>
                <a:latin typeface="Calibri" pitchFamily="34" charset="0"/>
                <a:cs typeface="Amiri" pitchFamily="2" charset="-78"/>
              </a:rPr>
              <a:t> signal what?</a:t>
            </a:r>
            <a:endParaRPr lang="en-US" sz="1250" dirty="0"/>
          </a:p>
        </p:txBody>
      </p:sp>
      <p:sp>
        <p:nvSpPr>
          <p:cNvPr id="22" name="Shape 19"/>
          <p:cNvSpPr/>
          <p:nvPr/>
        </p:nvSpPr>
        <p:spPr>
          <a:xfrm>
            <a:off x="640080" y="25328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4" name="Text 21"/>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recipe</a:t>
            </a:r>
            <a:endParaRPr lang="en-US" sz="1250" dirty="0"/>
          </a:p>
        </p:txBody>
      </p:sp>
      <p:sp>
        <p:nvSpPr>
          <p:cNvPr id="25" name="Shape 22"/>
          <p:cNvSpPr/>
          <p:nvPr/>
        </p:nvSpPr>
        <p:spPr>
          <a:xfrm>
            <a:off x="640080" y="29900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7" name="Text 24"/>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biography</a:t>
            </a:r>
            <a:endParaRPr lang="en-US" sz="1250" dirty="0"/>
          </a:p>
        </p:txBody>
      </p:sp>
      <p:sp>
        <p:nvSpPr>
          <p:cNvPr id="28" name="Shape 25"/>
          <p:cNvSpPr/>
          <p:nvPr/>
        </p:nvSpPr>
        <p:spPr>
          <a:xfrm>
            <a:off x="640080" y="3447288"/>
            <a:ext cx="256032" cy="256032"/>
          </a:xfrm>
          <a:prstGeom prst="ellipse">
            <a:avLst/>
          </a:prstGeom>
          <a:solidFill>
            <a:srgbClr val="F4F1EA"/>
          </a:solidFill>
          <a:ln w="12700">
            <a:solidFill>
              <a:srgbClr val="F4F1EA"/>
            </a:solidFill>
            <a:prstDash val="solid"/>
          </a:ln>
        </p:spPr>
      </p:sp>
      <p:sp>
        <p:nvSpPr>
          <p:cNvPr id="29" name="Text 26"/>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timetable</a:t>
            </a:r>
            <a:endParaRPr lang="en-US" sz="12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Text type:</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50" b="1" dirty="0">
                <a:solidFill>
                  <a:srgbClr val="1F2A37"/>
                </a:solidFill>
                <a:latin typeface="Amiri" pitchFamily="2" charset="-78"/>
                <a:ea typeface="Amiri" pitchFamily="2" charset="-78"/>
                <a:cs typeface="Amiri" pitchFamily="2" charset="-78"/>
              </a:rPr>
              <a:t>حَجَزْتُ، أَقَمْتُ، اسْتَمْتَعْتُ</a:t>
            </a:r>
            <a:pPr algn="l" indent="0" marL="0">
              <a:buNone/>
            </a:pPr>
            <a:r>
              <a:rPr lang="en-US" sz="1050" b="1" dirty="0">
                <a:solidFill>
                  <a:srgbClr val="1F2A37"/>
                </a:solidFill>
                <a:latin typeface="Calibri" pitchFamily="34" charset="0"/>
                <a:cs typeface="Amiri" pitchFamily="2" charset="-78"/>
              </a:rPr>
              <a:t> signal what?</a:t>
            </a:r>
            <a:endParaRPr lang="en-US" sz="1050" dirty="0"/>
          </a:p>
        </p:txBody>
      </p:sp>
      <p:sp>
        <p:nvSpPr>
          <p:cNvPr id="36" name="Shape 33"/>
          <p:cNvSpPr/>
          <p:nvPr/>
        </p:nvSpPr>
        <p:spPr>
          <a:xfrm>
            <a:off x="4459224" y="25328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review</a:t>
            </a:r>
            <a:endParaRPr lang="en-US" sz="1250" dirty="0"/>
          </a:p>
        </p:txBody>
      </p:sp>
      <p:sp>
        <p:nvSpPr>
          <p:cNvPr id="39" name="Shape 36"/>
          <p:cNvSpPr/>
          <p:nvPr/>
        </p:nvSpPr>
        <p:spPr>
          <a:xfrm>
            <a:off x="4459224" y="29900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news report</a:t>
            </a:r>
            <a:endParaRPr lang="en-US" sz="1250" dirty="0"/>
          </a:p>
        </p:txBody>
      </p:sp>
      <p:sp>
        <p:nvSpPr>
          <p:cNvPr id="42" name="Shape 39"/>
          <p:cNvSpPr/>
          <p:nvPr/>
        </p:nvSpPr>
        <p:spPr>
          <a:xfrm>
            <a:off x="4459224" y="34472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 advertisement</a:t>
            </a:r>
            <a:endParaRPr lang="en-US" sz="12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الأُسْبُوعَ المَاضِيَ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49" name="Shape 46"/>
          <p:cNvSpPr/>
          <p:nvPr/>
        </p:nvSpPr>
        <p:spPr>
          <a:xfrm>
            <a:off x="8278368" y="2532888"/>
            <a:ext cx="256032" cy="256032"/>
          </a:xfrm>
          <a:prstGeom prst="ellipse">
            <a:avLst/>
          </a:prstGeom>
          <a:solidFill>
            <a:srgbClr val="F4F1EA"/>
          </a:solidFill>
          <a:ln w="12700">
            <a:solidFill>
              <a:srgbClr val="F4F1EA"/>
            </a:solidFill>
            <a:prstDash val="solid"/>
          </a:ln>
        </p:spPr>
      </p:sp>
      <p:sp>
        <p:nvSpPr>
          <p:cNvPr id="50" name="Text 47"/>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يَتَدَرَّبُ</a:t>
            </a:r>
            <a:endParaRPr lang="ar-SA" sz="2050" dirty="0"/>
          </a:p>
        </p:txBody>
      </p:sp>
      <p:sp>
        <p:nvSpPr>
          <p:cNvPr id="52" name="Shape 49"/>
          <p:cNvSpPr/>
          <p:nvPr/>
        </p:nvSpPr>
        <p:spPr>
          <a:xfrm>
            <a:off x="8278368" y="2990088"/>
            <a:ext cx="256032" cy="256032"/>
          </a:xfrm>
          <a:prstGeom prst="ellipse">
            <a:avLst/>
          </a:prstGeom>
          <a:solidFill>
            <a:srgbClr val="F4F1EA"/>
          </a:solidFill>
          <a:ln w="12700">
            <a:solidFill>
              <a:srgbClr val="F4F1EA"/>
            </a:solidFill>
            <a:prstDash val="solid"/>
          </a:ln>
        </p:spPr>
      </p:sp>
      <p:sp>
        <p:nvSpPr>
          <p:cNvPr id="53" name="Text 50"/>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سَيَتَدَرَّبُ</a:t>
            </a:r>
            <a:endParaRPr lang="ar-SA" sz="2050" dirty="0"/>
          </a:p>
        </p:txBody>
      </p:sp>
      <p:sp>
        <p:nvSpPr>
          <p:cNvPr id="55" name="Shape 52"/>
          <p:cNvSpPr/>
          <p:nvPr/>
        </p:nvSpPr>
        <p:spPr>
          <a:xfrm>
            <a:off x="8278368" y="3447288"/>
            <a:ext cx="256032" cy="256032"/>
          </a:xfrm>
          <a:prstGeom prst="ellipse">
            <a:avLst/>
          </a:prstGeom>
          <a:solidFill>
            <a:srgbClr val="F4F1EA"/>
          </a:solidFill>
          <a:ln w="12700">
            <a:solidFill>
              <a:srgbClr val="F4F1EA"/>
            </a:solidFill>
            <a:prstDash val="solid"/>
          </a:ln>
        </p:spPr>
      </p:sp>
      <p:sp>
        <p:nvSpPr>
          <p:cNvPr id="56" name="Text 53"/>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7" name="Text 54"/>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تَدَرَّبَ</a:t>
            </a:r>
            <a:endParaRPr lang="ar-SA" sz="2050" dirty="0"/>
          </a:p>
        </p:txBody>
      </p:sp>
      <p:sp>
        <p:nvSpPr>
          <p:cNvPr id="58" name="Shape 55"/>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585216" y="4288536"/>
            <a:ext cx="310896" cy="310896"/>
          </a:xfrm>
          <a:prstGeom prst="ellipse">
            <a:avLst/>
          </a:prstGeom>
          <a:solidFill>
            <a:srgbClr val="1B3B6F"/>
          </a:solidFill>
          <a:ln w="12700">
            <a:solidFill>
              <a:srgbClr val="1B3B6F"/>
            </a:solidFill>
            <a:prstDash val="solid"/>
          </a:ln>
        </p:spPr>
      </p:sp>
      <p:sp>
        <p:nvSpPr>
          <p:cNvPr id="60" name="Text 5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1" name="Text 58"/>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 فِي البُطُولَةِ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شَارَكَ</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يُشَارِكُ أَمْسِ</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سَيُشَارِكُ</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4" name="Text 71"/>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“review”?</a:t>
            </a:r>
            <a:endParaRPr lang="en-US" sz="1250" dirty="0"/>
          </a:p>
        </p:txBody>
      </p:sp>
      <p:sp>
        <p:nvSpPr>
          <p:cNvPr id="75" name="Shape 72"/>
          <p:cNvSpPr/>
          <p:nvPr/>
        </p:nvSpPr>
        <p:spPr>
          <a:xfrm>
            <a:off x="4459224" y="4873752"/>
            <a:ext cx="256032" cy="256032"/>
          </a:xfrm>
          <a:prstGeom prst="ellipse">
            <a:avLst/>
          </a:prstGeom>
          <a:solidFill>
            <a:srgbClr val="F4F1EA"/>
          </a:solidFill>
          <a:ln w="12700">
            <a:solidFill>
              <a:srgbClr val="F4F1EA"/>
            </a:solidFill>
            <a:prstDash val="solid"/>
          </a:ln>
        </p:spPr>
      </p:sp>
      <p:sp>
        <p:nvSpPr>
          <p:cNvPr id="76" name="Text 73"/>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7" name="Text 74"/>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مُرَاجَعَةٌ</a:t>
            </a:r>
            <a:endParaRPr lang="ar-SA" sz="2050" dirty="0"/>
          </a:p>
        </p:txBody>
      </p:sp>
      <p:sp>
        <p:nvSpPr>
          <p:cNvPr id="78" name="Shape 75"/>
          <p:cNvSpPr/>
          <p:nvPr/>
        </p:nvSpPr>
        <p:spPr>
          <a:xfrm>
            <a:off x="4459224" y="5330952"/>
            <a:ext cx="256032" cy="256032"/>
          </a:xfrm>
          <a:prstGeom prst="ellipse">
            <a:avLst/>
          </a:prstGeom>
          <a:solidFill>
            <a:srgbClr val="F4F1EA"/>
          </a:solidFill>
          <a:ln w="12700">
            <a:solidFill>
              <a:srgbClr val="F4F1EA"/>
            </a:solidFill>
            <a:prstDash val="solid"/>
          </a:ln>
        </p:spPr>
      </p:sp>
      <p:sp>
        <p:nvSpPr>
          <p:cNvPr id="79" name="Text 76"/>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0" name="Text 77"/>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تَقْرِيرٌ</a:t>
            </a:r>
            <a:endParaRPr lang="ar-SA" sz="2050" dirty="0"/>
          </a:p>
        </p:txBody>
      </p:sp>
      <p:sp>
        <p:nvSpPr>
          <p:cNvPr id="81" name="Shape 78"/>
          <p:cNvSpPr/>
          <p:nvPr/>
        </p:nvSpPr>
        <p:spPr>
          <a:xfrm>
            <a:off x="4459224" y="5788152"/>
            <a:ext cx="256032" cy="256032"/>
          </a:xfrm>
          <a:prstGeom prst="ellipse">
            <a:avLst/>
          </a:prstGeom>
          <a:solidFill>
            <a:srgbClr val="F4F1EA"/>
          </a:solidFill>
          <a:ln w="12700">
            <a:solidFill>
              <a:srgbClr val="F4F1EA"/>
            </a:solidFill>
            <a:prstDash val="solid"/>
          </a:ln>
        </p:spPr>
      </p:sp>
      <p:sp>
        <p:nvSpPr>
          <p:cNvPr id="82" name="Text 79"/>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3" name="Text 80"/>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فِقْرَةٌ</a:t>
            </a:r>
            <a:endParaRPr lang="ar-SA" sz="2050" dirty="0"/>
          </a:p>
        </p:txBody>
      </p:sp>
      <p:sp>
        <p:nvSpPr>
          <p:cNvPr id="84" name="Shape 8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5" name="Shape 82"/>
          <p:cNvSpPr/>
          <p:nvPr/>
        </p:nvSpPr>
        <p:spPr>
          <a:xfrm>
            <a:off x="8223504" y="4288536"/>
            <a:ext cx="310896" cy="310896"/>
          </a:xfrm>
          <a:prstGeom prst="ellipse">
            <a:avLst/>
          </a:prstGeom>
          <a:solidFill>
            <a:srgbClr val="1B3B6F"/>
          </a:solidFill>
          <a:ln w="12700">
            <a:solidFill>
              <a:srgbClr val="1B3B6F"/>
            </a:solidFill>
            <a:prstDash val="solid"/>
          </a:ln>
        </p:spPr>
      </p:sp>
      <p:sp>
        <p:nvSpPr>
          <p:cNvPr id="86" name="Text 8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7" name="Text 8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تَجْرِبَتِهِ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88" name="Shape 85"/>
          <p:cNvSpPr/>
          <p:nvPr/>
        </p:nvSpPr>
        <p:spPr>
          <a:xfrm>
            <a:off x="8278368" y="4873752"/>
            <a:ext cx="256032" cy="256032"/>
          </a:xfrm>
          <a:prstGeom prst="ellipse">
            <a:avLst/>
          </a:prstGeom>
          <a:solidFill>
            <a:srgbClr val="F4F1EA"/>
          </a:solidFill>
          <a:ln w="12700">
            <a:solidFill>
              <a:srgbClr val="F4F1EA"/>
            </a:solidFill>
            <a:prstDash val="solid"/>
          </a:ln>
        </p:spPr>
      </p:sp>
      <p:sp>
        <p:nvSpPr>
          <p:cNvPr id="89" name="Text 86"/>
          <p:cNvSpPr txBox="1"/>
          <p:nvPr/>
        </p:nvSpPr>
        <p:spPr>
          <a:xfrm>
            <a:off x="827836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0" name="Text 87"/>
          <p:cNvSpPr txBox="1"/>
          <p:nvPr/>
        </p:nvSpPr>
        <p:spPr>
          <a:xfrm>
            <a:off x="8607552"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عَنْ</a:t>
            </a:r>
            <a:endParaRPr lang="ar-SA" sz="2050" dirty="0"/>
          </a:p>
        </p:txBody>
      </p:sp>
      <p:sp>
        <p:nvSpPr>
          <p:cNvPr id="91" name="Shape 88"/>
          <p:cNvSpPr/>
          <p:nvPr/>
        </p:nvSpPr>
        <p:spPr>
          <a:xfrm>
            <a:off x="8278368" y="5330952"/>
            <a:ext cx="256032" cy="256032"/>
          </a:xfrm>
          <a:prstGeom prst="ellipse">
            <a:avLst/>
          </a:prstGeom>
          <a:solidFill>
            <a:srgbClr val="F4F1EA"/>
          </a:solidFill>
          <a:ln w="12700">
            <a:solidFill>
              <a:srgbClr val="F4F1EA"/>
            </a:solidFill>
            <a:prstDash val="solid"/>
          </a:ln>
        </p:spPr>
      </p:sp>
      <p:sp>
        <p:nvSpPr>
          <p:cNvPr id="92" name="Text 89"/>
          <p:cNvSpPr txBox="1"/>
          <p:nvPr/>
        </p:nvSpPr>
        <p:spPr>
          <a:xfrm>
            <a:off x="827836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3" name="Text 90"/>
          <p:cNvSpPr txBox="1"/>
          <p:nvPr/>
        </p:nvSpPr>
        <p:spPr>
          <a:xfrm>
            <a:off x="8607552"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إِلَى</a:t>
            </a:r>
            <a:endParaRPr lang="ar-SA" sz="2050" dirty="0"/>
          </a:p>
        </p:txBody>
      </p:sp>
      <p:sp>
        <p:nvSpPr>
          <p:cNvPr id="94" name="Shape 91"/>
          <p:cNvSpPr/>
          <p:nvPr/>
        </p:nvSpPr>
        <p:spPr>
          <a:xfrm>
            <a:off x="8278368" y="5788152"/>
            <a:ext cx="256032" cy="256032"/>
          </a:xfrm>
          <a:prstGeom prst="ellipse">
            <a:avLst/>
          </a:prstGeom>
          <a:solidFill>
            <a:srgbClr val="F4F1EA"/>
          </a:solidFill>
          <a:ln w="12700">
            <a:solidFill>
              <a:srgbClr val="F4F1EA"/>
            </a:solidFill>
            <a:prstDash val="solid"/>
          </a:ln>
        </p:spPr>
      </p:sp>
      <p:sp>
        <p:nvSpPr>
          <p:cNvPr id="95" name="Text 92"/>
          <p:cNvSpPr txBox="1"/>
          <p:nvPr/>
        </p:nvSpPr>
        <p:spPr>
          <a:xfrm>
            <a:off x="827836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6" name="Text 93"/>
          <p:cNvSpPr txBox="1"/>
          <p:nvPr/>
        </p:nvSpPr>
        <p:spPr>
          <a:xfrm>
            <a:off x="8607552"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a:t>
            </a:r>
            <a:endParaRPr lang="ar-SA" sz="2050" dirty="0"/>
          </a:p>
        </p:txBody>
      </p:sp>
      <p:sp>
        <p:nvSpPr>
          <p:cNvPr id="97" name="Text 9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44</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MISSION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Mission: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6" name="Shape 14"/>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7"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8"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9" name="Text 17"/>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Text type:</a:t>
            </a:r>
            <a:endParaRPr lang="en-US" sz="1200" dirty="0"/>
          </a:p>
        </p:txBody>
      </p:sp>
      <p:sp>
        <p:nvSpPr>
          <p:cNvPr id="20" name="Text 18"/>
          <p:cNvSpPr txBox="1"/>
          <p:nvPr/>
        </p:nvSpPr>
        <p:spPr>
          <a:xfrm>
            <a:off x="2406701" y="1883664"/>
            <a:ext cx="1577035" cy="475488"/>
          </a:xfrm>
          <a:prstGeom prst="rect">
            <a:avLst/>
          </a:prstGeom>
          <a:noFill/>
          <a:ln/>
        </p:spPr>
        <p:txBody>
          <a:bodyPr wrap="square" lIns="0" tIns="0" rIns="0" bIns="0" rtlCol="0" anchor="ctr"/>
          <a:lstStyle/>
          <a:p>
            <a:pPr algn="l" indent="0" marL="0">
              <a:buNone/>
            </a:pPr>
            <a:r>
              <a:rPr lang="ar-SA" altLang="en-US" sz="1650" b="1" dirty="0">
                <a:solidFill>
                  <a:srgbClr val="1F2A37"/>
                </a:solidFill>
                <a:latin typeface="Amiri" pitchFamily="2" charset="-78"/>
                <a:ea typeface="Amiri" pitchFamily="2" charset="-78"/>
                <a:cs typeface="Amiri" pitchFamily="2" charset="-78"/>
              </a:rPr>
              <a:t>فَازَ، انْتَقَلَ، اعْتَزَلَ</a:t>
            </a:r>
            <a:pPr algn="l" indent="0" marL="0">
              <a:buNone/>
            </a:pPr>
            <a:r>
              <a:rPr lang="en-US" sz="1250" b="1" dirty="0">
                <a:solidFill>
                  <a:srgbClr val="1F2A37"/>
                </a:solidFill>
                <a:latin typeface="Calibri" pitchFamily="34" charset="0"/>
                <a:cs typeface="Amiri" pitchFamily="2" charset="-78"/>
              </a:rPr>
              <a:t> signal what?</a:t>
            </a:r>
            <a:endParaRPr lang="en-US" sz="1250" dirty="0"/>
          </a:p>
        </p:txBody>
      </p:sp>
      <p:sp>
        <p:nvSpPr>
          <p:cNvPr id="21" name="Shape 19"/>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20"/>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1"/>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recipe</a:t>
            </a:r>
            <a:endParaRPr lang="en-US" sz="1250" dirty="0"/>
          </a:p>
        </p:txBody>
      </p:sp>
      <p:sp>
        <p:nvSpPr>
          <p:cNvPr id="24" name="Shape 22"/>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5" name="Shape 23"/>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4"/>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5"/>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biography</a:t>
            </a:r>
            <a:endParaRPr lang="en-US" sz="1250" dirty="0"/>
          </a:p>
        </p:txBody>
      </p:sp>
      <p:sp>
        <p:nvSpPr>
          <p:cNvPr id="28" name="Shape 26"/>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7"/>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8"/>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timetable</a:t>
            </a:r>
            <a:endParaRPr lang="en-US" sz="1250" dirty="0"/>
          </a:p>
        </p:txBody>
      </p:sp>
      <p:sp>
        <p:nvSpPr>
          <p:cNvPr id="31" name="Text 29"/>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Third-person past verbs about one person signal a biography.</a:t>
            </a:r>
            <a:endParaRPr lang="en-US" sz="1050" dirty="0"/>
          </a:p>
        </p:txBody>
      </p:sp>
      <p:sp>
        <p:nvSpPr>
          <p:cNvPr id="32" name="Shape 30"/>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1"/>
          <p:cNvSpPr/>
          <p:nvPr/>
        </p:nvSpPr>
        <p:spPr>
          <a:xfrm>
            <a:off x="4404360" y="1947672"/>
            <a:ext cx="310896" cy="310896"/>
          </a:xfrm>
          <a:prstGeom prst="ellipse">
            <a:avLst/>
          </a:prstGeom>
          <a:solidFill>
            <a:srgbClr val="1B3B6F"/>
          </a:solidFill>
          <a:ln w="12700">
            <a:solidFill>
              <a:srgbClr val="1B3B6F"/>
            </a:solidFill>
            <a:prstDash val="solid"/>
          </a:ln>
        </p:spPr>
      </p:sp>
      <p:sp>
        <p:nvSpPr>
          <p:cNvPr id="34" name="Text 32"/>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3"/>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Text type:</a:t>
            </a:r>
            <a:endParaRPr lang="en-US" sz="1200" dirty="0"/>
          </a:p>
        </p:txBody>
      </p:sp>
      <p:sp>
        <p:nvSpPr>
          <p:cNvPr id="36" name="Text 34"/>
          <p:cNvSpPr txBox="1"/>
          <p:nvPr/>
        </p:nvSpPr>
        <p:spPr>
          <a:xfrm>
            <a:off x="6225845" y="1883664"/>
            <a:ext cx="1577035" cy="475488"/>
          </a:xfrm>
          <a:prstGeom prst="rect">
            <a:avLst/>
          </a:prstGeom>
          <a:noFill/>
          <a:ln/>
        </p:spPr>
        <p:txBody>
          <a:bodyPr wrap="square" lIns="0" tIns="0" rIns="0" bIns="0" rtlCol="0" anchor="ctr"/>
          <a:lstStyle/>
          <a:p>
            <a:pPr algn="l" indent="0" marL="0">
              <a:buNone/>
            </a:pPr>
            <a:r>
              <a:rPr lang="ar-SA" altLang="en-US" sz="1350" b="1" dirty="0">
                <a:solidFill>
                  <a:srgbClr val="1F2A37"/>
                </a:solidFill>
                <a:latin typeface="Amiri" pitchFamily="2" charset="-78"/>
                <a:ea typeface="Amiri" pitchFamily="2" charset="-78"/>
                <a:cs typeface="Amiri" pitchFamily="2" charset="-78"/>
              </a:rPr>
              <a:t>حَجَزْتُ، أَقَمْتُ، اسْتَمْتَعْتُ</a:t>
            </a:r>
            <a:pPr algn="l" indent="0" marL="0">
              <a:buNone/>
            </a:pPr>
            <a:r>
              <a:rPr lang="en-US" sz="1050" b="1" dirty="0">
                <a:solidFill>
                  <a:srgbClr val="1F2A37"/>
                </a:solidFill>
                <a:latin typeface="Calibri" pitchFamily="34" charset="0"/>
                <a:cs typeface="Amiri" pitchFamily="2" charset="-78"/>
              </a:rPr>
              <a:t> signal what?</a:t>
            </a:r>
            <a:endParaRPr lang="en-US" sz="1050" dirty="0"/>
          </a:p>
        </p:txBody>
      </p:sp>
      <p:sp>
        <p:nvSpPr>
          <p:cNvPr id="37" name="Shape 35"/>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8" name="Shape 36"/>
          <p:cNvSpPr/>
          <p:nvPr/>
        </p:nvSpPr>
        <p:spPr>
          <a:xfrm>
            <a:off x="4459224" y="2490216"/>
            <a:ext cx="256032" cy="256032"/>
          </a:xfrm>
          <a:prstGeom prst="ellipse">
            <a:avLst/>
          </a:prstGeom>
          <a:solidFill>
            <a:srgbClr val="2E8B57"/>
          </a:solidFill>
          <a:ln w="12700">
            <a:solidFill>
              <a:srgbClr val="2E8B57"/>
            </a:solidFill>
            <a:prstDash val="solid"/>
          </a:ln>
        </p:spPr>
      </p:sp>
      <p:sp>
        <p:nvSpPr>
          <p:cNvPr id="39" name="Text 37"/>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40" name="Text 38"/>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personal review</a:t>
            </a:r>
            <a:endParaRPr lang="en-US" sz="1250" dirty="0"/>
          </a:p>
        </p:txBody>
      </p:sp>
      <p:sp>
        <p:nvSpPr>
          <p:cNvPr id="41" name="Shape 39"/>
          <p:cNvSpPr/>
          <p:nvPr/>
        </p:nvSpPr>
        <p:spPr>
          <a:xfrm>
            <a:off x="4459224" y="2862072"/>
            <a:ext cx="256032" cy="256032"/>
          </a:xfrm>
          <a:prstGeom prst="ellipse">
            <a:avLst/>
          </a:prstGeom>
          <a:solidFill>
            <a:srgbClr val="C9CED6"/>
          </a:solidFill>
          <a:ln w="12700">
            <a:solidFill>
              <a:srgbClr val="C9CED6"/>
            </a:solidFill>
            <a:prstDash val="solid"/>
          </a:ln>
        </p:spPr>
      </p:sp>
      <p:sp>
        <p:nvSpPr>
          <p:cNvPr id="42" name="Text 40"/>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3" name="Text 41"/>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news report</a:t>
            </a:r>
            <a:endParaRPr lang="en-US" sz="1250" dirty="0"/>
          </a:p>
        </p:txBody>
      </p:sp>
      <p:sp>
        <p:nvSpPr>
          <p:cNvPr id="44" name="Shape 42"/>
          <p:cNvSpPr/>
          <p:nvPr/>
        </p:nvSpPr>
        <p:spPr>
          <a:xfrm>
            <a:off x="4459224" y="3233928"/>
            <a:ext cx="256032" cy="256032"/>
          </a:xfrm>
          <a:prstGeom prst="ellipse">
            <a:avLst/>
          </a:prstGeom>
          <a:solidFill>
            <a:srgbClr val="C9CED6"/>
          </a:solidFill>
          <a:ln w="12700">
            <a:solidFill>
              <a:srgbClr val="C9CED6"/>
            </a:solidFill>
            <a:prstDash val="solid"/>
          </a:ln>
        </p:spPr>
      </p:sp>
      <p:sp>
        <p:nvSpPr>
          <p:cNvPr id="45" name="Text 43"/>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4"/>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An advertisement</a:t>
            </a:r>
            <a:endParaRPr lang="en-US" sz="1250" dirty="0"/>
          </a:p>
        </p:txBody>
      </p:sp>
      <p:sp>
        <p:nvSpPr>
          <p:cNvPr id="47" name="Text 45"/>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First-person past verbs signal a personal account.</a:t>
            </a:r>
            <a:endParaRPr lang="en-US" sz="1050" dirty="0"/>
          </a:p>
        </p:txBody>
      </p:sp>
      <p:sp>
        <p:nvSpPr>
          <p:cNvPr id="48" name="Shape 46"/>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7"/>
          <p:cNvSpPr/>
          <p:nvPr/>
        </p:nvSpPr>
        <p:spPr>
          <a:xfrm>
            <a:off x="8223504" y="1947672"/>
            <a:ext cx="310896" cy="310896"/>
          </a:xfrm>
          <a:prstGeom prst="ellipse">
            <a:avLst/>
          </a:prstGeom>
          <a:solidFill>
            <a:srgbClr val="1B3B6F"/>
          </a:solidFill>
          <a:ln w="12700">
            <a:solidFill>
              <a:srgbClr val="1B3B6F"/>
            </a:solidFill>
            <a:prstDash val="solid"/>
          </a:ln>
        </p:spPr>
      </p:sp>
      <p:sp>
        <p:nvSpPr>
          <p:cNvPr id="50" name="Text 48"/>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1" name="Text 49"/>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الأُسْبُوعَ المَاضِيَ</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52" name="Shape 50"/>
          <p:cNvSpPr/>
          <p:nvPr/>
        </p:nvSpPr>
        <p:spPr>
          <a:xfrm>
            <a:off x="8278368" y="2490216"/>
            <a:ext cx="256032" cy="256032"/>
          </a:xfrm>
          <a:prstGeom prst="ellipse">
            <a:avLst/>
          </a:prstGeom>
          <a:solidFill>
            <a:srgbClr val="C9CED6"/>
          </a:solidFill>
          <a:ln w="12700">
            <a:solidFill>
              <a:srgbClr val="C9CED6"/>
            </a:solidFill>
            <a:prstDash val="solid"/>
          </a:ln>
        </p:spPr>
      </p:sp>
      <p:sp>
        <p:nvSpPr>
          <p:cNvPr id="53"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يَتَدَرَّبُ</a:t>
            </a:r>
            <a:endParaRPr lang="ar-SA" sz="1700" dirty="0"/>
          </a:p>
        </p:txBody>
      </p:sp>
      <p:sp>
        <p:nvSpPr>
          <p:cNvPr id="55"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6"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سَيَتَدَرَّبُ</a:t>
            </a:r>
            <a:endParaRPr lang="ar-SA" sz="1700" dirty="0"/>
          </a:p>
        </p:txBody>
      </p:sp>
      <p:sp>
        <p:nvSpPr>
          <p:cNvPr id="58" name="Shape 56"/>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9" name="Shape 57"/>
          <p:cNvSpPr/>
          <p:nvPr/>
        </p:nvSpPr>
        <p:spPr>
          <a:xfrm>
            <a:off x="8278368" y="3233928"/>
            <a:ext cx="256032" cy="256032"/>
          </a:xfrm>
          <a:prstGeom prst="ellipse">
            <a:avLst/>
          </a:prstGeom>
          <a:solidFill>
            <a:srgbClr val="2E8B57"/>
          </a:solidFill>
          <a:ln w="12700">
            <a:solidFill>
              <a:srgbClr val="2E8B57"/>
            </a:solidFill>
            <a:prstDash val="solid"/>
          </a:ln>
        </p:spPr>
      </p:sp>
      <p:sp>
        <p:nvSpPr>
          <p:cNvPr id="60" name="Text 58"/>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61" name="Text 59"/>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تَدَرَّبَ</a:t>
            </a:r>
            <a:endParaRPr lang="ar-SA" sz="1700" dirty="0"/>
          </a:p>
        </p:txBody>
      </p:sp>
      <p:sp>
        <p:nvSpPr>
          <p:cNvPr id="62" name="Text 60"/>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 past time marker requires a past verb.</a:t>
            </a:r>
            <a:endParaRPr lang="en-US" sz="1050" dirty="0"/>
          </a:p>
        </p:txBody>
      </p:sp>
      <p:sp>
        <p:nvSpPr>
          <p:cNvPr id="63" name="Shape 6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2"/>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6" name="Text 6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Tense: complete — </a:t>
            </a:r>
            <a:pPr algn="l" indent="0" marL="0">
              <a:buNone/>
            </a:pPr>
            <a:r>
              <a:rPr lang="ar-SA" altLang="en-US" sz="1650" b="1" dirty="0">
                <a:solidFill>
                  <a:srgbClr val="1B3B6F"/>
                </a:solidFill>
                <a:latin typeface="Amiri" pitchFamily="2" charset="-78"/>
                <a:ea typeface="Amiri" pitchFamily="2" charset="-78"/>
                <a:cs typeface="Amiri" pitchFamily="2" charset="-78"/>
              </a:rPr>
              <a:t>غَدًا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الفَرِيقُ فِي البُطُولَةِ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67"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8"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شَارَكَ</a:t>
            </a:r>
            <a:endParaRPr lang="ar-SA" sz="1700" dirty="0"/>
          </a:p>
        </p:txBody>
      </p:sp>
      <p:sp>
        <p:nvSpPr>
          <p:cNvPr id="70" name="Shape 68"/>
          <p:cNvSpPr/>
          <p:nvPr/>
        </p:nvSpPr>
        <p:spPr>
          <a:xfrm>
            <a:off x="640080" y="5202936"/>
            <a:ext cx="256032" cy="256032"/>
          </a:xfrm>
          <a:prstGeom prst="ellipse">
            <a:avLst/>
          </a:prstGeom>
          <a:solidFill>
            <a:srgbClr val="C9CED6"/>
          </a:solidFill>
          <a:ln w="12700">
            <a:solidFill>
              <a:srgbClr val="C9CED6"/>
            </a:solidFill>
            <a:prstDash val="solid"/>
          </a:ln>
        </p:spPr>
      </p:sp>
      <p:sp>
        <p:nvSpPr>
          <p:cNvPr id="71" name="Text 69"/>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70"/>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يُشَارِكُ أَمْسِ</a:t>
            </a:r>
            <a:endParaRPr lang="ar-SA" sz="1700" dirty="0"/>
          </a:p>
        </p:txBody>
      </p:sp>
      <p:sp>
        <p:nvSpPr>
          <p:cNvPr id="73" name="Shape 71"/>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4" name="Shape 72"/>
          <p:cNvSpPr/>
          <p:nvPr/>
        </p:nvSpPr>
        <p:spPr>
          <a:xfrm>
            <a:off x="640080" y="5574792"/>
            <a:ext cx="256032" cy="256032"/>
          </a:xfrm>
          <a:prstGeom prst="ellipse">
            <a:avLst/>
          </a:prstGeom>
          <a:solidFill>
            <a:srgbClr val="2E8B57"/>
          </a:solidFill>
          <a:ln w="12700">
            <a:solidFill>
              <a:srgbClr val="2E8B57"/>
            </a:solidFill>
            <a:prstDash val="solid"/>
          </a:ln>
        </p:spPr>
      </p:sp>
      <p:sp>
        <p:nvSpPr>
          <p:cNvPr id="75"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سَيُشَارِكُ</a:t>
            </a:r>
            <a:endParaRPr lang="ar-SA" sz="1700" dirty="0"/>
          </a:p>
        </p:txBody>
      </p:sp>
      <p:sp>
        <p:nvSpPr>
          <p:cNvPr id="77"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غَدًا</a:t>
            </a:r>
            <a:pPr algn="l" indent="0" marL="0">
              <a:buNone/>
            </a:pPr>
            <a:r>
              <a:rPr lang="en-US" sz="1050" i="1" dirty="0">
                <a:solidFill>
                  <a:srgbClr val="8A6D1E"/>
                </a:solidFill>
                <a:latin typeface="Calibri" pitchFamily="34" charset="0"/>
                <a:cs typeface="Amiri" pitchFamily="2" charset="-78"/>
              </a:rPr>
              <a:t> requires </a:t>
            </a:r>
            <a:pPr algn="l" indent="0" marL="0">
              <a:buNone/>
            </a:pPr>
            <a:r>
              <a:rPr lang="ar-SA" altLang="en-US" sz="1350" dirty="0">
                <a:solidFill>
                  <a:srgbClr val="8A6D1E"/>
                </a:solidFill>
                <a:latin typeface="Amiri" pitchFamily="2" charset="-78"/>
                <a:ea typeface="Amiri" pitchFamily="2" charset="-78"/>
                <a:cs typeface="Amiri" pitchFamily="2" charset="-78"/>
              </a:rPr>
              <a:t>سَـ</a:t>
            </a:r>
            <a:pPr algn="l" indent="0" marL="0">
              <a:buNone/>
            </a:pPr>
            <a:r>
              <a:rPr lang="en-US" sz="1050" i="1" dirty="0">
                <a:solidFill>
                  <a:srgbClr val="8A6D1E"/>
                </a:solidFill>
                <a:latin typeface="Calibri" pitchFamily="34" charset="0"/>
                <a:cs typeface="Amiri" pitchFamily="2" charset="-78"/>
              </a:rPr>
              <a:t> with a present verb.</a:t>
            </a:r>
            <a:endParaRPr lang="en-US" sz="1050" dirty="0"/>
          </a:p>
        </p:txBody>
      </p:sp>
      <p:sp>
        <p:nvSpPr>
          <p:cNvPr id="78"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0"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1" name="Text 79"/>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Vocabulary: which means “review”?</a:t>
            </a:r>
            <a:endParaRPr lang="en-US" sz="1250" dirty="0"/>
          </a:p>
        </p:txBody>
      </p:sp>
      <p:sp>
        <p:nvSpPr>
          <p:cNvPr id="82" name="Shape 80"/>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3" name="Shape 81"/>
          <p:cNvSpPr/>
          <p:nvPr/>
        </p:nvSpPr>
        <p:spPr>
          <a:xfrm>
            <a:off x="4459224" y="4831080"/>
            <a:ext cx="256032" cy="256032"/>
          </a:xfrm>
          <a:prstGeom prst="ellipse">
            <a:avLst/>
          </a:prstGeom>
          <a:solidFill>
            <a:srgbClr val="2E8B57"/>
          </a:solidFill>
          <a:ln w="12700">
            <a:solidFill>
              <a:srgbClr val="2E8B57"/>
            </a:solidFill>
            <a:prstDash val="solid"/>
          </a:ln>
        </p:spPr>
      </p:sp>
      <p:sp>
        <p:nvSpPr>
          <p:cNvPr id="84" name="Text 82"/>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5" name="Text 83"/>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مُرَاجَعَةٌ</a:t>
            </a:r>
            <a:endParaRPr lang="ar-SA" sz="1700" dirty="0"/>
          </a:p>
        </p:txBody>
      </p:sp>
      <p:sp>
        <p:nvSpPr>
          <p:cNvPr id="86" name="Shape 84"/>
          <p:cNvSpPr/>
          <p:nvPr/>
        </p:nvSpPr>
        <p:spPr>
          <a:xfrm>
            <a:off x="4459224" y="5202936"/>
            <a:ext cx="256032" cy="256032"/>
          </a:xfrm>
          <a:prstGeom prst="ellipse">
            <a:avLst/>
          </a:prstGeom>
          <a:solidFill>
            <a:srgbClr val="C9CED6"/>
          </a:solidFill>
          <a:ln w="12700">
            <a:solidFill>
              <a:srgbClr val="C9CED6"/>
            </a:solidFill>
            <a:prstDash val="solid"/>
          </a:ln>
        </p:spPr>
      </p:sp>
      <p:sp>
        <p:nvSpPr>
          <p:cNvPr id="87" name="Text 85"/>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8" name="Text 86"/>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تَقْرِيرٌ</a:t>
            </a:r>
            <a:endParaRPr lang="ar-SA" sz="1700" dirty="0"/>
          </a:p>
        </p:txBody>
      </p:sp>
      <p:sp>
        <p:nvSpPr>
          <p:cNvPr id="89" name="Shape 87"/>
          <p:cNvSpPr/>
          <p:nvPr/>
        </p:nvSpPr>
        <p:spPr>
          <a:xfrm>
            <a:off x="4459224" y="5574792"/>
            <a:ext cx="256032" cy="256032"/>
          </a:xfrm>
          <a:prstGeom prst="ellipse">
            <a:avLst/>
          </a:prstGeom>
          <a:solidFill>
            <a:srgbClr val="C9CED6"/>
          </a:solidFill>
          <a:ln w="12700">
            <a:solidFill>
              <a:srgbClr val="C9CED6"/>
            </a:solidFill>
            <a:prstDash val="solid"/>
          </a:ln>
        </p:spPr>
      </p:sp>
      <p:sp>
        <p:nvSpPr>
          <p:cNvPr id="90" name="Text 88"/>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1" name="Text 89"/>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فِقْرَةٌ</a:t>
            </a:r>
            <a:endParaRPr lang="ar-SA" sz="1700" dirty="0"/>
          </a:p>
        </p:txBody>
      </p:sp>
      <p:sp>
        <p:nvSpPr>
          <p:cNvPr id="92" name="Text 90"/>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مُرَاجَعَةٌ</a:t>
            </a:r>
            <a:pPr algn="l" indent="0" marL="0">
              <a:buNone/>
            </a:pPr>
            <a:r>
              <a:rPr lang="en-US" sz="1050" i="1" dirty="0">
                <a:solidFill>
                  <a:srgbClr val="8A6D1E"/>
                </a:solidFill>
                <a:latin typeface="Calibri" pitchFamily="34" charset="0"/>
                <a:cs typeface="Amiri" pitchFamily="2" charset="-78"/>
              </a:rPr>
              <a:t> is a review.</a:t>
            </a:r>
            <a:endParaRPr lang="en-US" sz="1050" dirty="0"/>
          </a:p>
        </p:txBody>
      </p:sp>
      <p:sp>
        <p:nvSpPr>
          <p:cNvPr id="93" name="Shape 91"/>
          <p:cNvSpPr/>
          <p:nvPr/>
        </p:nvSpPr>
        <p:spPr>
          <a:xfrm>
            <a:off x="8095488"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4" name="Shape 92"/>
          <p:cNvSpPr/>
          <p:nvPr/>
        </p:nvSpPr>
        <p:spPr>
          <a:xfrm>
            <a:off x="8223504" y="4288536"/>
            <a:ext cx="310896" cy="310896"/>
          </a:xfrm>
          <a:prstGeom prst="ellipse">
            <a:avLst/>
          </a:prstGeom>
          <a:solidFill>
            <a:srgbClr val="1B3B6F"/>
          </a:solidFill>
          <a:ln w="12700">
            <a:solidFill>
              <a:srgbClr val="1B3B6F"/>
            </a:solidFill>
            <a:prstDash val="solid"/>
          </a:ln>
        </p:spPr>
      </p:sp>
      <p:sp>
        <p:nvSpPr>
          <p:cNvPr id="95" name="Text 93"/>
          <p:cNvSpPr txBox="1"/>
          <p:nvPr/>
        </p:nvSpPr>
        <p:spPr>
          <a:xfrm>
            <a:off x="822350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6" name="Text 94"/>
          <p:cNvSpPr txBox="1"/>
          <p:nvPr/>
        </p:nvSpPr>
        <p:spPr>
          <a:xfrm>
            <a:off x="8589264"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Preposition: complete — </a:t>
            </a:r>
            <a:pPr algn="l" indent="0" marL="0">
              <a:buNone/>
            </a:pPr>
            <a:r>
              <a:rPr lang="ar-SA" altLang="en-US" sz="1650" b="1" dirty="0">
                <a:solidFill>
                  <a:srgbClr val="1B3B6F"/>
                </a:solidFill>
                <a:latin typeface="Amiri" pitchFamily="2" charset="-78"/>
                <a:ea typeface="Amiri" pitchFamily="2" charset="-78"/>
                <a:cs typeface="Amiri" pitchFamily="2" charset="-78"/>
              </a:rPr>
              <a:t>يُشِيرُ الكَاتِبُ</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تَجْرِبَتِهِ</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97" name="Shape 95"/>
          <p:cNvSpPr/>
          <p:nvPr/>
        </p:nvSpPr>
        <p:spPr>
          <a:xfrm>
            <a:off x="8278368" y="4831080"/>
            <a:ext cx="256032" cy="256032"/>
          </a:xfrm>
          <a:prstGeom prst="ellipse">
            <a:avLst/>
          </a:prstGeom>
          <a:solidFill>
            <a:srgbClr val="C9CED6"/>
          </a:solidFill>
          <a:ln w="12700">
            <a:solidFill>
              <a:srgbClr val="C9CED6"/>
            </a:solidFill>
            <a:prstDash val="solid"/>
          </a:ln>
        </p:spPr>
      </p:sp>
      <p:sp>
        <p:nvSpPr>
          <p:cNvPr id="98" name="Text 96"/>
          <p:cNvSpPr txBox="1"/>
          <p:nvPr/>
        </p:nvSpPr>
        <p:spPr>
          <a:xfrm>
            <a:off x="827836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9" name="Text 97"/>
          <p:cNvSpPr txBox="1"/>
          <p:nvPr/>
        </p:nvSpPr>
        <p:spPr>
          <a:xfrm>
            <a:off x="8607552"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عَنْ</a:t>
            </a:r>
            <a:endParaRPr lang="ar-SA" sz="1700" dirty="0"/>
          </a:p>
        </p:txBody>
      </p:sp>
      <p:sp>
        <p:nvSpPr>
          <p:cNvPr id="100" name="Shape 98"/>
          <p:cNvSpPr/>
          <p:nvPr/>
        </p:nvSpPr>
        <p:spPr>
          <a:xfrm>
            <a:off x="8186928" y="5166360"/>
            <a:ext cx="3453384" cy="347472"/>
          </a:xfrm>
          <a:prstGeom prst="roundRect">
            <a:avLst>
              <a:gd name="adj" fmla="val 15789"/>
            </a:avLst>
          </a:prstGeom>
          <a:solidFill>
            <a:srgbClr val="E6F4EC"/>
          </a:solidFill>
          <a:ln w="9525">
            <a:solidFill>
              <a:srgbClr val="2E8B57"/>
            </a:solidFill>
            <a:prstDash val="solid"/>
          </a:ln>
        </p:spPr>
      </p:sp>
      <p:sp>
        <p:nvSpPr>
          <p:cNvPr id="101" name="Shape 99"/>
          <p:cNvSpPr/>
          <p:nvPr/>
        </p:nvSpPr>
        <p:spPr>
          <a:xfrm>
            <a:off x="8278368" y="5202936"/>
            <a:ext cx="256032" cy="256032"/>
          </a:xfrm>
          <a:prstGeom prst="ellipse">
            <a:avLst/>
          </a:prstGeom>
          <a:solidFill>
            <a:srgbClr val="2E8B57"/>
          </a:solidFill>
          <a:ln w="12700">
            <a:solidFill>
              <a:srgbClr val="2E8B57"/>
            </a:solidFill>
            <a:prstDash val="solid"/>
          </a:ln>
        </p:spPr>
      </p:sp>
      <p:sp>
        <p:nvSpPr>
          <p:cNvPr id="102" name="Text 100"/>
          <p:cNvSpPr txBox="1"/>
          <p:nvPr/>
        </p:nvSpPr>
        <p:spPr>
          <a:xfrm>
            <a:off x="8278368"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103" name="Text 101"/>
          <p:cNvSpPr txBox="1"/>
          <p:nvPr/>
        </p:nvSpPr>
        <p:spPr>
          <a:xfrm>
            <a:off x="8607552"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إِلَى</a:t>
            </a:r>
            <a:endParaRPr lang="ar-SA" sz="1700" dirty="0"/>
          </a:p>
        </p:txBody>
      </p:sp>
      <p:sp>
        <p:nvSpPr>
          <p:cNvPr id="104" name="Shape 102"/>
          <p:cNvSpPr/>
          <p:nvPr/>
        </p:nvSpPr>
        <p:spPr>
          <a:xfrm>
            <a:off x="8278368" y="5574792"/>
            <a:ext cx="256032" cy="256032"/>
          </a:xfrm>
          <a:prstGeom prst="ellipse">
            <a:avLst/>
          </a:prstGeom>
          <a:solidFill>
            <a:srgbClr val="C9CED6"/>
          </a:solidFill>
          <a:ln w="12700">
            <a:solidFill>
              <a:srgbClr val="C9CED6"/>
            </a:solidFill>
            <a:prstDash val="solid"/>
          </a:ln>
        </p:spPr>
      </p:sp>
      <p:sp>
        <p:nvSpPr>
          <p:cNvPr id="105" name="Text 103"/>
          <p:cNvSpPr txBox="1"/>
          <p:nvPr/>
        </p:nvSpPr>
        <p:spPr>
          <a:xfrm>
            <a:off x="8278368"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6" name="Text 104"/>
          <p:cNvSpPr txBox="1"/>
          <p:nvPr/>
        </p:nvSpPr>
        <p:spPr>
          <a:xfrm>
            <a:off x="8607552"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فِي</a:t>
            </a:r>
            <a:endParaRPr lang="ar-SA" sz="1700" dirty="0"/>
          </a:p>
        </p:txBody>
      </p:sp>
      <p:sp>
        <p:nvSpPr>
          <p:cNvPr id="107" name="Text 105"/>
          <p:cNvSpPr txBox="1"/>
          <p:nvPr/>
        </p:nvSpPr>
        <p:spPr>
          <a:xfrm>
            <a:off x="8223504"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يُشِيرُ</a:t>
            </a:r>
            <a:pPr algn="l" indent="0" marL="0">
              <a:buNone/>
            </a:pPr>
            <a:r>
              <a:rPr lang="en-US" sz="1050" i="1" dirty="0">
                <a:solidFill>
                  <a:srgbClr val="8A6D1E"/>
                </a:solidFill>
                <a:latin typeface="Calibri" pitchFamily="34" charset="0"/>
                <a:cs typeface="Amiri" pitchFamily="2" charset="-78"/>
              </a:rPr>
              <a:t> takes </a:t>
            </a:r>
            <a:pPr algn="l" indent="0" marL="0">
              <a:buNone/>
            </a:pPr>
            <a:r>
              <a:rPr lang="ar-SA" altLang="en-US" sz="1350" dirty="0">
                <a:solidFill>
                  <a:srgbClr val="8A6D1E"/>
                </a:solidFill>
                <a:latin typeface="Amiri" pitchFamily="2" charset="-78"/>
                <a:ea typeface="Amiri" pitchFamily="2" charset="-78"/>
                <a:cs typeface="Amiri" pitchFamily="2" charset="-78"/>
              </a:rPr>
              <a:t>إِلَى</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8" name="Text 10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44</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D5-L08 · Reading Skills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D5-L09: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Development D5 · Hobbies, Sport and Leisure · D5-L08</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D5-L09 · Writing — My Leisure Life (Extended Writing)</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تَنَوُّعُ الأَزْمِنَةِ</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tense variety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المُسَوَّدَةُ</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draft</a:t>
            </a:r>
            <a:pPr indent="0" marL="0">
              <a:buNone/>
            </a:pPr>
            <a:r>
              <a:rPr lang="ar-SA" sz="1000" i="1" dirty="0">
                <a:solidFill>
                  <a:srgbClr val="5A6472"/>
                </a:solidFill>
                <a:latin typeface="Calibri" pitchFamily="34" charset="0"/>
                <a:ea typeface="Amiri" pitchFamily="2" charset="-78"/>
                <a:cs typeface="Amiri" pitchFamily="2" charset="-78"/>
              </a:rPr>
              <a:t>  pl. المُسَوَّدَاتُ</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أَمَّا الآنَ فَـ</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as for now, …</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أَنْوِي أَنْ</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intend to</a:t>
            </a:r>
            <a:pPr indent="0" marL="0">
              <a:buNone/>
            </a:pPr>
            <a:r>
              <a:rPr lang="ar-SA" sz="1000" i="1" dirty="0">
                <a:solidFill>
                  <a:srgbClr val="5A6472"/>
                </a:solidFill>
                <a:latin typeface="Calibri" pitchFamily="34" charset="0"/>
                <a:ea typeface="Amiri" pitchFamily="2" charset="-78"/>
                <a:cs typeface="Amiri" pitchFamily="2" charset="-78"/>
              </a:rPr>
              <a:t>  يَنْوِي he</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بِصَرَاحَةٍ</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frankly</a:t>
            </a:r>
            <a:pPr indent="0" marL="0">
              <a:buNone/>
            </a:pPr>
            <a:r>
              <a:rPr lang="en-US" sz="1000" i="1" dirty="0">
                <a:solidFill>
                  <a:srgbClr val="5A6472"/>
                </a:solidFill>
                <a:latin typeface="Calibri" pitchFamily="34" charset="0"/>
                <a:cs typeface="Amiri" pitchFamily="2" charset="-78"/>
              </a:rPr>
              <a:t>  —</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Plan your leisure life: one thing you did as a child, one thing you do now, one thing you will do.</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lnSpc>
                <a:spcPct val="120000"/>
              </a:lnSpc>
              <a:buNone/>
            </a:pPr>
            <a:r>
              <a:rPr lang="ar-SA" altLang="en-US" sz="1700" b="1" dirty="0">
                <a:solidFill>
                  <a:srgbClr val="1B3B6F"/>
                </a:solidFill>
                <a:latin typeface="Amiri" pitchFamily="2" charset="-78"/>
                <a:ea typeface="Amiri" pitchFamily="2" charset="-78"/>
                <a:cs typeface="Amiri" pitchFamily="2" charset="-78"/>
              </a:rPr>
              <a:t>فِي الطُّفُولَةِ كُنْتُ … · أَمَّا الآنَ فَـ … · فِي المُسْتَقْبَلِ سَـ …</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Learn the text-type and marker words; redo reading questions 1–3.</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A 50–60-word summary of the life story with two markers and a quote.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a ≈ 70-word evidence-based summary.</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44</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D5-L08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1800" b="1" dirty="0">
                <a:solidFill>
                  <a:srgbClr val="FFFFFF"/>
                </a:solidFill>
                <a:latin typeface="Cambria" pitchFamily="34" charset="0"/>
                <a:cs typeface="Amiri" pitchFamily="2" charset="-78"/>
              </a:rPr>
              <a:t>D5-L09 · Writing — My Leisure Life (Extended Writing)</a:t>
            </a:r>
            <a:endParaRPr lang="en-US" sz="18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الكِتَابَةُ — حَيَاتِي التَّرْفِيهِيَّةُ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endings → text type · markers → order · time word → tense · and prove it with the Arabic.</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D5-L08 · Reading — Leisure, Sport and Past Experience Texts</dc:title>
  <dc:subject>PptxGenJS Presentation</dc:subject>
  <dc:creator>Al Madina Online School · Arabic Department</dc:creator>
  <cp:lastModifiedBy>Al Madina Online School · Arabic Department</cp:lastModifiedBy>
  <cp:revision>1</cp:revision>
  <dcterms:created xsi:type="dcterms:W3CDTF">2026-10-11T06:41:02Z</dcterms:created>
  <dcterms:modified xsi:type="dcterms:W3CDTF">2026-10-11T06:41:02Z</dcterms:modified>
</cp:coreProperties>
</file>