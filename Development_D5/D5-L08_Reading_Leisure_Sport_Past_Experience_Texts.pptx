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D5-L08. The website lesson “Reading — Leisure, Sport and Past Experience Texts”: vocabulary, grammar rules and quiz, patterns, common mistakes, sorter, listening, reading, speaking prompts and model, writing task and model, differentiation, final check and the lesson mission. Picture match: website visual game “Reading — Leisure, Sport and Past Experience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READING-SKILLS lesson: the website sporting life story is the main You Do task (6 questions).
• Core: questions 1–3 (where · at the beginning · last year) and the text type from the verbs. Develop: all questions + the sequence of events. Stretch: the website ~70-word summary with quoted evidence and يُشِيرُ إِلَى.
• Reading routine: (1) Look at the verb ENDINGS: who is it about? (2) Find the sequence markers. (3) For each answer, find the time marker and quote the Arabic.
• Builds on D5-L03–L05 (past endings, كَانَ + habit) and D5-L07 (past → future switch).
• TEACHER-WRITTEN ITEMS: one vowel-only quiz distractor replaced and English added to the patterns and speaking model; the website visual game repeats D5-L03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D5-L07. Questions 4–5 retrieve D5-L07 (future) and D5-L04 (-nā).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Read the verb endings first: they tell you WHO the text is about — and what kind of text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سیرت (as in سیرت النبی ﷺ = the life of the Prophet), دلیل، تفصیل are shared. CAREFUL: Urdu تقریر = a speech; Arabic تَقْرِيرٌ = a written report (a speech is خِطَابٌ / كَلِمَةٌ).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(1 of 2)). Hear → Say → See → Use. Transliteration is printed for Core students (cover it for Develop/Stretch).
Text types: the words exam questions use (“What type of text is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(2 of 2)). Hear → Say → See → Use. Transliteration is printed for Core students (cover it for Develop/Stretch).
Text types: the words exam questions use (“What type of text is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strategy language (website vocabulary (1 of 2)). Hear → Say → See → Use. Transliteration is printed for Core students (cover it for Develop/Stretch).
Reading strategy language: يُشِيرُ إِلَى (refers to) and يَسْتَنْتِجُ (deduces) are for explaining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strategy language (website vocabulary (2 of 2)). Hear → Say → See → Use. Transliteration is printed for Core students (cover it for Develop/Stretch).
Reading strategy language: يُشِيرُ إِلَى (refers to) and يَسْتَنْتِجُ (deduces) are for explaining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Past markers to scan for (website vocabulary (1 of 2)). Hear → Say → See → Use. Transliteration is printed for Core students (cover it for Develop/Stretch).
Past markers to scan for: these decide the tense of the verb in a gap-fill.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Past markers to scan for (website vocabulary (2 of 2)). Hear → Say → See → Use. Transliteration is printed for Core students (cover it for Develop/Stretch).
Past markers to scan for: these decide the tense of the verb in a gap-fill.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“Third-person clusters” (a text built on third-person past verbs is usually about someone else: a biography, a report or a news item) and “First-person clusters” (a personal account, a review or a diary). Website teaching point: “Verb clusters name the text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“Sequence markers” (a question about what happened first or last is usually answered by locating one of them) and “Choosing the tense in a gap-fill” (find the nearest time expression: a past marker requires a past verb; فِي المُسْتَقْبَلِ / غَدًا requires سَـ + present). Website teaching point: “Time expressions confirm what the suffixes suggest.”
Website mistakes: فِي العَامِ المَاضِي يَنْتَقِلُ ✗ · يُشِيرُ النَّصُّ عَنْ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moves make these texts manageable: identify the text type from the verbs, follow the sequence with the connectors, and prove each answer from the Arabic.”
• Third-person clusters: A text built on third-person past verbs is usually about someone else: a biography, a report or a news item.
• First-person clusters: A text built on first-person past verbs is a personal account, a review or a diary.
• Sequence markers: These fix the order of events. A question about what happened first or last is usually answered by locating one of them.
• Choosing the tense in a gap-fill: Find the nearest time expression. A past marker requires a past verb; فِي المُسْتَقْبَلِ or غَدًا requires سَـ with a present verb.
Website common error: Do not choose an answer because it repeats a word from the text. Check that the whole clause matches, and that the tense of the verb agrees with the nearest time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on the website reading text: endings → type; markers → order; time word → tense; quote. Students then answer the 6 questions themselves in the You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how you know: “ـَتْ / ـَ = someone else” · “ـْتُ / ـْنَا = me / us” · “سَـ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how you know: “ـَتْ / ـَ = someone else” · “ـْتُ / ـْنَا = me / us” · “سَـ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list the sequence markers in order.
Listen 1: just listen. Listen 2: note answers. Then chat the letters.
Support: after the second listening, show the read-along slide (Arabic + English, line by line) for Core students.
SCRIPT (read aloud):
فِي البِدَايَةِ نَظَّمَ النَّادِي بُطُولَةً صَغِيرَةً لِلشَّبَابِ فِي العَامِ المَاضِي. شَارَكَ فِيهَا سِتُّونَ لَاعِبًا مِنْ مَدَارِسَ مُخْتَلِفَةٍ. ثُمَّ لَعِبَتِ الفِرَقُ ثَلَاثَ مُبَارَيَاتٍ فِي كُلِّ أُسْبُوعٍ. فَازَ فَرِيقُ المَدْرَسَةِ الشَّرْقِيَّةِ بِالمُبَارَاةِ النِّهَائِيَّةِ، وَتَعَادَلَ فَرِيقَانِ فِي المَرْكَزِ الثَّالِثِ. بَعْدَ ذٰلِكَ وَزَّعَ المُدِيرُ المِيدَالِيَاتِ عَلَى اللَّاعِبِينَ. وَفِي النِّهَايَةِ شَكَرَ المُدَرِّبِينَ وَالأُسَرَ. وَفِي المُسْتَقْبَلِ سَيُنَظِّمُ النَّادِي بُطُولَةً أَكْبَرَ.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sporting life story. Before reading: underline every verb ending and every time marker.
Core: questions 1–3. Develop: all questions + the order of events. Stretch: then the written summary with quoted evidence and يُشِيرُ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الدَّلِيلُ عَلَى ذٰلِكَ؟ (And what is the evidence for that?)
B: يَقُولُ النَّصُّ: فَازَ بِالمِيدَالِيَةِ الذَّهَبِيَّةِ، وَهٰذَا يُشِيرُ إِلَى إِنْجَازٍ فِي المَاضِي. (The text says: “he won the gold medal”, and this refers to an achievement in the past.)
Website prompts and model: students explain HOW they read. Core may answer with one Arabic phrase + English. To a girl: عَرَفْتِ · إِجَابَتِكِ.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Identify the text type and answer four comprehension questions using the text. · Develop — Add the sequence of events and quote one phrase as evidence for each answer. · Stretch — Complete the gap-fill by justifying each tense choice from the nearest time marker.
Website writing task (Stretch): Write about seventy words summarising a past-tense text you have read. Name the text type, state the sequence of events, quote one Arabic phrase as evidence, and say what the text refers to using يُشِيرُ إِلَى.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سِيرَةً رِيَاضِيَّةً · فِي البِدَايَةِ · ثُمَّ · فِي العَامِ المَاضِي · بَعْدَ ذٰلِكَ · فِي النِّهَايَةِ · وَالدَّلِيلُ مِنَ النَّصِّ: … · يُشِيرُ النَّصُّ إِلَى أَهَمِّيَّةِ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(D5-L09 · Writing — My Leisure Life (Extended Writing)) will spend class time USING this language, so students prepare it tonight — short, simple, easy to access (school guidance: “Simple, Short, Interesting, Relevant, Easy to access”). The five words come from the website D5-L09 vocabulary (planning an extended piece of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Reading — Leisure, Sport and Past Experience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القِرَاءَةُ — نُصُوصُ التَّرْفِيهِ وَالرِّيَاضَةِ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past-tense texts like an examiner: let the verb endings tell you the text type (</a:t>
            </a:r>
            <a:pPr algn="l" indent="0" marL="0">
              <a:buNone/>
            </a:pPr>
            <a:r>
              <a:rPr lang="ar-SA" altLang="en-US" sz="1800" dirty="0">
                <a:solidFill>
                  <a:srgbClr val="C6D2E6"/>
                </a:solidFill>
                <a:latin typeface="Amiri" pitchFamily="2" charset="-78"/>
                <a:cs typeface="Amiri" pitchFamily="2" charset="-78"/>
              </a:rPr>
              <a:t>فَازَ / فَازَتْ</a:t>
            </a:r>
            <a:pPr algn="l" indent="0" marL="0">
              <a:buNone/>
            </a:pPr>
            <a:r>
              <a:rPr lang="en-US" sz="1400" dirty="0">
                <a:solidFill>
                  <a:srgbClr val="C6D2E6"/>
                </a:solidFill>
                <a:latin typeface="Calibri" pitchFamily="34" charset="0"/>
                <a:cs typeface="Amiri" pitchFamily="2" charset="-78"/>
              </a:rPr>
              <a:t> = biography · </a:t>
            </a:r>
            <a:pPr algn="l" indent="0" marL="0">
              <a:buNone/>
            </a:pPr>
            <a:r>
              <a:rPr lang="ar-SA" altLang="en-US" sz="1800" dirty="0">
                <a:solidFill>
                  <a:srgbClr val="C6D2E6"/>
                </a:solidFill>
                <a:latin typeface="Amiri" pitchFamily="2" charset="-78"/>
                <a:cs typeface="Amiri" pitchFamily="2" charset="-78"/>
              </a:rPr>
              <a:t>حَجَزْتُ / أَقَمْنَا</a:t>
            </a:r>
            <a:pPr algn="l" indent="0" marL="0">
              <a:buNone/>
            </a:pPr>
            <a:r>
              <a:rPr lang="en-US" sz="1400" dirty="0">
                <a:solidFill>
                  <a:srgbClr val="C6D2E6"/>
                </a:solidFill>
                <a:latin typeface="Calibri" pitchFamily="34" charset="0"/>
                <a:cs typeface="Amiri" pitchFamily="2" charset="-78"/>
              </a:rPr>
              <a:t> = personal review), follow the sequence markers, choose the tense from the nearest time marker, and prove every answer from the Arabic.</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D5-L08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Text type from verbs, sequence, tense from time markers,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text-type signals, fix tense slips, then a sports-club report.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سِيرَةٌ ذَاتِيَّةٌ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biography, life story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تَسَلْسُلُ الأَحْدَاثِ</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order of events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main idea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evidence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يَسْتَنْتِجُ</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refers to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summarises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deduces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سَزُرْتُ المَدِينَةَ غَدًا.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المَدِينَةَ غَدًا.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سَأَزُورُ المَدِينَةَ غَدًا.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cs typeface="Amiri" pitchFamily="2" charset="-78"/>
              </a:rPr>
              <a:t>زُرْنَا المَعَالِمَ</a:t>
            </a:r>
            <a:pPr algn="l" indent="0" marL="0">
              <a:buNone/>
            </a:pPr>
            <a:r>
              <a:rPr lang="en-US" sz="1250" b="1" dirty="0">
                <a:solidFill>
                  <a:srgbClr val="1B3B6F"/>
                </a:solidFill>
                <a:latin typeface="Calibri" pitchFamily="34" charset="0"/>
                <a:cs typeface="Amiri" pitchFamily="2" charset="-78"/>
              </a:rPr>
              <a:t> — who visited?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سِيرَةٌ ذَاتِيَّةٌ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biography, life story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تَسَلْسُلُ الأَحْدَاثِ</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order of events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main idea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evidence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يَسْتَنْتِجُ</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refers to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summarises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deduces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سَزُرْتُ المَدِينَةَ غَدًا.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زُرْتُ المَدِينَةَ غَدًا.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سَأَزُورُ المَدِينَةَ غَدًا.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D5-L07: future.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cs typeface="Amiri" pitchFamily="2" charset="-78"/>
              </a:rPr>
              <a:t>زُرْنَا المَعَالِمَ</a:t>
            </a:r>
            <a:pPr algn="l" indent="0" marL="0">
              <a:buNone/>
            </a:pPr>
            <a:r>
              <a:rPr lang="en-US" sz="1250" b="1" dirty="0">
                <a:solidFill>
                  <a:srgbClr val="1B3B6F"/>
                </a:solidFill>
                <a:latin typeface="Calibri" pitchFamily="34" charset="0"/>
                <a:cs typeface="Amiri" pitchFamily="2" charset="-78"/>
              </a:rPr>
              <a:t> — who visited?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D5-L04 / L07: -nā.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Read the verb endings first: they tell you WHO the text is about — and what kind of text it is.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فَازَتْ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انْتَقَلَ</a:t>
            </a:r>
            <a:pPr rtl="1" algn="ctr" indent="0" marL="0">
              <a:lnSpc>
                <a:spcPct val="120000"/>
              </a:lnSpc>
              <a:buNone/>
            </a:pPr>
            <a:r>
              <a:rPr lang="ar-SA" altLang="en-US" sz="1950" b="1" dirty="0">
                <a:solidFill>
                  <a:srgbClr val="1B3B6F"/>
                </a:solidFill>
                <a:latin typeface="Amiri" pitchFamily="2" charset="-78"/>
                <a:cs typeface="Amiri" pitchFamily="2" charset="-78"/>
              </a:rPr>
              <a:t> = سِيرَةٌ ‖ </a:t>
            </a:r>
            <a:pPr rtl="1" algn="ctr" indent="0" marL="0">
              <a:lnSpc>
                <a:spcPct val="120000"/>
              </a:lnSpc>
              <a:buNone/>
            </a:pPr>
            <a:r>
              <a:rPr lang="ar-SA" altLang="en-US" sz="1950" b="1" dirty="0">
                <a:solidFill>
                  <a:srgbClr val="D6336C"/>
                </a:solidFill>
                <a:latin typeface="Amiri" pitchFamily="2" charset="-78"/>
                <a:cs typeface="Amiri" pitchFamily="2" charset="-78"/>
              </a:rPr>
              <a:t>حَجَزْتُ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أَقَمْنَا</a:t>
            </a:r>
            <a:pPr rtl="1" algn="ctr" indent="0" marL="0">
              <a:lnSpc>
                <a:spcPct val="120000"/>
              </a:lnSpc>
              <a:buNone/>
            </a:pPr>
            <a:r>
              <a:rPr lang="ar-SA" altLang="en-US" sz="1950" b="1" dirty="0">
                <a:solidFill>
                  <a:srgbClr val="1B3B6F"/>
                </a:solidFill>
                <a:latin typeface="Amiri" pitchFamily="2" charset="-78"/>
                <a:cs typeface="Amiri" pitchFamily="2" charset="-78"/>
              </a:rPr>
              <a:t> = مُرَاجَعَةٌ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the text type from the verb endings.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Follow the sequence of events with markers.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right tense from the nearest time marker.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Prove answers with a quoted Arabic phrase (</a:t>
            </a:r>
            <a:pPr algn="l" indent="0" marL="0">
              <a:buNone/>
            </a:pPr>
            <a:r>
              <a:rPr lang="ar-SA" altLang="en-US" sz="1700" dirty="0">
                <a:solidFill>
                  <a:srgbClr val="1F2A37"/>
                </a:solidFill>
                <a:latin typeface="Amiri" pitchFamily="2" charset="-78"/>
                <a:cs typeface="Amiri" pitchFamily="2" charset="-78"/>
              </a:rPr>
              <a:t>يُشِيرُ إِلَى</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if a text is about “him / her” or “me / us”.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a time marker and a past verb.</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put the events in order.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quote one Arabic phrase as evidence.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justify each tense choice.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summarise a text in 70 words with </a:t>
            </a:r>
            <a:pPr algn="l" indent="0" marL="0">
              <a:buNone/>
            </a:pPr>
            <a:r>
              <a:rPr lang="ar-SA" altLang="en-US" sz="1700" b="1" dirty="0">
                <a:solidFill>
                  <a:srgbClr val="B83227"/>
                </a:solidFill>
                <a:latin typeface="Amiri" pitchFamily="2" charset="-78"/>
                <a:cs typeface="Amiri" pitchFamily="2" charset="-78"/>
              </a:rPr>
              <a:t>يُشِيرُ إِلَى</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Text types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Reading strategy language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Past markers to scan for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سِيرَةٌ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‎سیرت‎ </a:t>
            </a:r>
            <a:pPr indent="0" marL="0">
              <a:buNone/>
            </a:pPr>
            <a:r>
              <a:rPr lang="en-US" sz="950" b="1" dirty="0">
                <a:solidFill>
                  <a:srgbClr val="2E8B57"/>
                </a:solidFill>
                <a:latin typeface="Calibri" pitchFamily="34" charset="0"/>
                <a:cs typeface="Amiri" pitchFamily="2" charset="-78"/>
              </a:rPr>
              <a:t> sīrat · life story (Urdu also: character, the Sīrah)</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دَلِيلٌ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proof</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نَتِيجَةٌ / اسْتِنْتَاجٌ</a:t>
            </a:r>
            <a:endParaRPr lang="ar-SA" sz="185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‎نتیجہ‎ </a:t>
            </a:r>
            <a:pPr indent="0" marL="0">
              <a:buNone/>
            </a:pPr>
            <a:r>
              <a:rPr lang="en-US" sz="950" b="1" dirty="0">
                <a:solidFill>
                  <a:srgbClr val="2E8B57"/>
                </a:solidFill>
                <a:latin typeface="Calibri" pitchFamily="34" charset="0"/>
                <a:cs typeface="Amiri" pitchFamily="2" charset="-78"/>
              </a:rPr>
              <a:t> natīja · result /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تَفْصِيلٌ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tafṣīl · detail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تَقْرِيرٌ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‎تقریر‎ </a:t>
            </a:r>
            <a:pPr indent="0" marL="0">
              <a:buNone/>
            </a:pPr>
            <a:r>
              <a:rPr lang="en-US" sz="950" b="1" dirty="0">
                <a:solidFill>
                  <a:srgbClr val="2E8B57"/>
                </a:solidFill>
                <a:latin typeface="Calibri" pitchFamily="34" charset="0"/>
                <a:cs typeface="Amiri" pitchFamily="2" charset="-78"/>
              </a:rPr>
              <a:t> taqrīr · Urdu: a speech · Arabic: a report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سِيرَةٌ ذَاتِيَّةٌ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biography, life story</a:t>
            </a:r>
            <a:endParaRPr lang="en-US" sz="1350" dirty="0"/>
          </a:p>
          <a:p>
            <a:pPr indent="0" marL="0">
              <a:buNone/>
            </a:pPr>
            <a:r>
              <a:rPr lang="en-US" sz="1100" i="1" dirty="0">
                <a:solidFill>
                  <a:srgbClr val="5A6472"/>
                </a:solidFill>
                <a:latin typeface="Calibri" pitchFamily="34" charset="0"/>
                <a:cs typeface="Amiri" pitchFamily="2" charset="-78"/>
              </a:rPr>
              <a:t>sī-ra-tun dhā-tiy-ya-tun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Feminine; both words agree.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سِيرَةٌ رِيَاضِيَّةٌ</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sporting biography</a:t>
            </a:r>
            <a:endParaRPr lang="en-US" sz="1350" dirty="0"/>
          </a:p>
          <a:p>
            <a:pPr indent="0" marL="0">
              <a:buNone/>
            </a:pPr>
            <a:r>
              <a:rPr lang="en-US" sz="1100" i="1" dirty="0">
                <a:solidFill>
                  <a:srgbClr val="5A6472"/>
                </a:solidFill>
                <a:latin typeface="Calibri" pitchFamily="34" charset="0"/>
                <a:cs typeface="Amiri" pitchFamily="2" charset="-78"/>
              </a:rPr>
              <a:t>sī-ra-tun ri-yā-ḍiy-ya-tun</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1" name="Shape 28"/>
          <p:cNvSpPr/>
          <p:nvPr/>
        </p:nvSpPr>
        <p:spPr>
          <a:xfrm>
            <a:off x="960120" y="1938528"/>
            <a:ext cx="1517904"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960120"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 مُرَاجَعَاتٌ.</a:t>
            </a:r>
            <a:endParaRPr lang="en-US" sz="8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مُرَاجَعَةٌ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review</a:t>
            </a:r>
            <a:endParaRPr lang="en-US" sz="1350" dirty="0"/>
          </a:p>
          <a:p>
            <a:pPr indent="0" marL="0">
              <a:buNone/>
            </a:pPr>
            <a:r>
              <a:rPr lang="en-US" sz="1100" i="1" dirty="0">
                <a:solidFill>
                  <a:srgbClr val="5A6472"/>
                </a:solidFill>
                <a:latin typeface="Calibri" pitchFamily="34" charset="0"/>
                <a:cs typeface="Amiri" pitchFamily="2" charset="-78"/>
              </a:rPr>
              <a:t>mu-rā-ja-ʿa-tun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تَقْرِيرٌ</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a:t>
            </a:r>
            <a:endParaRPr lang="en-US" sz="1350" dirty="0"/>
          </a:p>
          <a:p>
            <a:pPr indent="0" marL="0">
              <a:buNone/>
            </a:pPr>
            <a:r>
              <a:rPr lang="en-US" sz="1100" i="1" dirty="0">
                <a:solidFill>
                  <a:srgbClr val="5A6472"/>
                </a:solidFill>
                <a:latin typeface="Calibri" pitchFamily="34" charset="0"/>
                <a:cs typeface="Amiri" pitchFamily="2" charset="-78"/>
              </a:rPr>
              <a:t>taq-rī-run</a:t>
            </a:r>
            <a:endParaRPr lang="en-US" sz="1350" dirty="0"/>
          </a:p>
        </p:txBody>
      </p:sp>
      <p:sp>
        <p:nvSpPr>
          <p:cNvPr id="44" name="Text 41"/>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Plural </a:t>
            </a:r>
            <a:pPr algn="l" indent="0" marL="0">
              <a:buNone/>
            </a:pPr>
            <a:r>
              <a:rPr lang="ar-SA" altLang="en-US" sz="1300" dirty="0">
                <a:solidFill>
                  <a:srgbClr val="8A6D1E"/>
                </a:solidFill>
                <a:latin typeface="Amiri" pitchFamily="2" charset="-78"/>
                <a:cs typeface="Amiri" pitchFamily="2" charset="-78"/>
              </a:rPr>
              <a:t>تَقَارِيرُ</a:t>
            </a:r>
            <a:pPr algn="l" indent="0" marL="0">
              <a:buNone/>
            </a:pPr>
            <a:r>
              <a:rPr lang="en-US" sz="1000" i="1" dirty="0">
                <a:solidFill>
                  <a:srgbClr val="8A6D1E"/>
                </a:solidFill>
                <a:latin typeface="Calibri" pitchFamily="34" charset="0"/>
                <a:cs typeface="Amiri" pitchFamily="2" charset="-78"/>
              </a:rPr>
              <a:t>, a diptote.</a:t>
            </a:r>
            <a:endParaRPr lang="en-US" sz="10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مَقَالٌ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article</a:t>
            </a:r>
            <a:endParaRPr lang="en-US" sz="1350" dirty="0"/>
          </a:p>
          <a:p>
            <a:pPr indent="0" marL="0">
              <a:buNone/>
            </a:pPr>
            <a:r>
              <a:rPr lang="en-US" sz="1100" i="1" dirty="0">
                <a:solidFill>
                  <a:srgbClr val="5A6472"/>
                </a:solidFill>
                <a:latin typeface="Calibri" pitchFamily="34" charset="0"/>
                <a:cs typeface="Amiri" pitchFamily="2" charset="-78"/>
              </a:rPr>
              <a:t>ma-qā-lun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مُدَوَّنَةٌ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blog</a:t>
            </a:r>
            <a:endParaRPr lang="en-US" sz="1350" dirty="0"/>
          </a:p>
          <a:p>
            <a:pPr indent="0" marL="0">
              <a:buNone/>
            </a:pPr>
            <a:r>
              <a:rPr lang="en-US" sz="1100" i="1" dirty="0">
                <a:solidFill>
                  <a:srgbClr val="5A6472"/>
                </a:solidFill>
                <a:latin typeface="Calibri" pitchFamily="34" charset="0"/>
                <a:cs typeface="Amiri" pitchFamily="2" charset="-78"/>
              </a:rPr>
              <a:t>mu-daw-wa-na-tun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 نُصُوصٌ.</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نَصٌّ</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text</a:t>
            </a:r>
            <a:endParaRPr lang="en-US" sz="1350" dirty="0"/>
          </a:p>
          <a:p>
            <a:pPr indent="0" marL="0">
              <a:buNone/>
            </a:pPr>
            <a:r>
              <a:rPr lang="en-US" sz="1100" i="1" dirty="0">
                <a:solidFill>
                  <a:srgbClr val="5A6472"/>
                </a:solidFill>
                <a:latin typeface="Calibri" pitchFamily="34" charset="0"/>
                <a:cs typeface="Amiri" pitchFamily="2" charset="-78"/>
              </a:rPr>
              <a:t>naṣ-ṣun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فِقْرَةٌ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paragraph</a:t>
            </a:r>
            <a:endParaRPr lang="en-US" sz="1350" dirty="0"/>
          </a:p>
          <a:p>
            <a:pPr indent="0" marL="0">
              <a:buNone/>
            </a:pPr>
            <a:r>
              <a:rPr lang="en-US" sz="1100" i="1" dirty="0">
                <a:solidFill>
                  <a:srgbClr val="5A6472"/>
                </a:solidFill>
                <a:latin typeface="Calibri" pitchFamily="34" charset="0"/>
                <a:cs typeface="Amiri" pitchFamily="2" charset="-78"/>
              </a:rPr>
              <a:t>fiq-ra-tun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strategy language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الأَحْدَاثُ المَاضِيَةُ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 events</a:t>
            </a:r>
            <a:endParaRPr lang="en-US" sz="1350" dirty="0"/>
          </a:p>
          <a:p>
            <a:pPr indent="0" marL="0">
              <a:buNone/>
            </a:pPr>
            <a:r>
              <a:rPr lang="en-US" sz="1100" i="1" dirty="0">
                <a:solidFill>
                  <a:srgbClr val="5A6472"/>
                </a:solidFill>
                <a:latin typeface="Calibri" pitchFamily="34" charset="0"/>
                <a:cs typeface="Amiri" pitchFamily="2" charset="-78"/>
              </a:rPr>
              <a:t>al-aḥ-dā-thu al-mā-ḍi-ya-tu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Shape 2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تَسَلْسُلُ الأَحْدَاثِ</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sequence of events</a:t>
            </a:r>
            <a:endParaRPr lang="en-US" sz="1350" dirty="0"/>
          </a:p>
          <a:p>
            <a:pPr indent="0" marL="0">
              <a:buNone/>
            </a:pPr>
            <a:r>
              <a:rPr lang="en-US" sz="1100" i="1" dirty="0">
                <a:solidFill>
                  <a:srgbClr val="5A6472"/>
                </a:solidFill>
                <a:latin typeface="Calibri" pitchFamily="34" charset="0"/>
                <a:cs typeface="Amiri" pitchFamily="2" charset="-78"/>
              </a:rPr>
              <a:t>ta-sal-su-lu al-aḥ-dā-thi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دَلِيلٌ مِنَ النَّصِّ</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 from the text</a:t>
            </a:r>
            <a:endParaRPr lang="en-US" sz="1350" dirty="0"/>
          </a:p>
          <a:p>
            <a:pPr indent="0" marL="0">
              <a:buNone/>
            </a:pPr>
            <a:r>
              <a:rPr lang="en-US" sz="1100" i="1" dirty="0">
                <a:solidFill>
                  <a:srgbClr val="5A6472"/>
                </a:solidFill>
                <a:latin typeface="Calibri" pitchFamily="34" charset="0"/>
                <a:cs typeface="Amiri" pitchFamily="2" charset="-78"/>
              </a:rPr>
              <a:t>da-lī-lun mi-na an-naṣ-ṣi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X.</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يَسْتَنْتِجُ</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deduces, infers</a:t>
            </a:r>
            <a:endParaRPr lang="en-US" sz="1350" dirty="0"/>
          </a:p>
          <a:p>
            <a:pPr indent="0" marL="0">
              <a:buNone/>
            </a:pPr>
            <a:r>
              <a:rPr lang="en-US" sz="1100" i="1" dirty="0">
                <a:solidFill>
                  <a:srgbClr val="5A6472"/>
                </a:solidFill>
                <a:latin typeface="Calibri" pitchFamily="34" charset="0"/>
                <a:cs typeface="Amiri" pitchFamily="2" charset="-78"/>
              </a:rPr>
              <a:t>yas-tan-ti-ju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strategy language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Fixed with إِلَى.</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يُشِيرُ إِلَى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refers to</a:t>
            </a:r>
            <a:endParaRPr lang="en-US" sz="1350" dirty="0"/>
          </a:p>
          <a:p>
            <a:pPr indent="0" marL="0">
              <a:buNone/>
            </a:pPr>
            <a:r>
              <a:rPr lang="en-US" sz="1100" i="1" dirty="0">
                <a:solidFill>
                  <a:srgbClr val="5A6472"/>
                </a:solidFill>
                <a:latin typeface="Calibri" pitchFamily="34" charset="0"/>
                <a:cs typeface="Amiri" pitchFamily="2" charset="-78"/>
              </a:rPr>
              <a:t>yu-shī-ru i-lā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الفِكْرَةُ الرَّئِيسِيَّةُ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main idea</a:t>
            </a:r>
            <a:endParaRPr lang="en-US" sz="1350" dirty="0"/>
          </a:p>
          <a:p>
            <a:pPr indent="0" marL="0">
              <a:buNone/>
            </a:pPr>
            <a:r>
              <a:rPr lang="en-US" sz="1100" i="1" dirty="0">
                <a:solidFill>
                  <a:srgbClr val="5A6472"/>
                </a:solidFill>
                <a:latin typeface="Calibri" pitchFamily="34" charset="0"/>
                <a:cs typeface="Amiri" pitchFamily="2" charset="-78"/>
              </a:rPr>
              <a:t>al-fik-ra-tu ar-ra-ʾī-siy-ya-tu</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التَّفَاصِيلُ الدَّقِيقَةُ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precise details</a:t>
            </a:r>
            <a:endParaRPr lang="en-US" sz="1350" dirty="0"/>
          </a:p>
          <a:p>
            <a:pPr indent="0" marL="0">
              <a:buNone/>
            </a:pPr>
            <a:r>
              <a:rPr lang="en-US" sz="1100" i="1" dirty="0">
                <a:solidFill>
                  <a:srgbClr val="5A6472"/>
                </a:solidFill>
                <a:latin typeface="Calibri" pitchFamily="34" charset="0"/>
                <a:cs typeface="Amiri" pitchFamily="2" charset="-78"/>
              </a:rPr>
              <a:t>at-ta-fā-ṣī-lu ad-da-qī-qa-tu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الهَدَفُ مِنَ النَّصِّ</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purpose of the text</a:t>
            </a:r>
            <a:endParaRPr lang="en-US" sz="1350" dirty="0"/>
          </a:p>
          <a:p>
            <a:pPr indent="0" marL="0">
              <a:buNone/>
            </a:pPr>
            <a:r>
              <a:rPr lang="en-US" sz="1100" i="1" dirty="0">
                <a:solidFill>
                  <a:srgbClr val="5A6472"/>
                </a:solidFill>
                <a:latin typeface="Calibri" pitchFamily="34" charset="0"/>
                <a:cs typeface="Amiri" pitchFamily="2" charset="-78"/>
              </a:rPr>
              <a:t>al-ha-da-fu mi-na an-naṣ-ṣi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Past markers to scan for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أَمْسِ</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yesterday</a:t>
            </a:r>
            <a:endParaRPr lang="en-US" sz="1350" dirty="0"/>
          </a:p>
          <a:p>
            <a:pPr indent="0" marL="0">
              <a:buNone/>
            </a:pPr>
            <a:r>
              <a:rPr lang="en-US" sz="1100" i="1" dirty="0">
                <a:solidFill>
                  <a:srgbClr val="5A6472"/>
                </a:solidFill>
                <a:latin typeface="Calibri" pitchFamily="34" charset="0"/>
                <a:cs typeface="Amiri" pitchFamily="2" charset="-78"/>
              </a:rPr>
              <a:t>am-si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3" name="Shape 20"/>
          <p:cNvSpPr/>
          <p:nvPr/>
        </p:nvSpPr>
        <p:spPr>
          <a:xfrm>
            <a:off x="4782312" y="1938528"/>
            <a:ext cx="1580083"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Adverbial accusative.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الأُسْبُوعَ المَاضِيَ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last week</a:t>
            </a:r>
            <a:endParaRPr lang="en-US" sz="1350" dirty="0"/>
          </a:p>
          <a:p>
            <a:pPr indent="0" marL="0">
              <a:buNone/>
            </a:pPr>
            <a:r>
              <a:rPr lang="en-US" sz="1100" i="1" dirty="0">
                <a:solidFill>
                  <a:srgbClr val="5A6472"/>
                </a:solidFill>
                <a:latin typeface="Calibri" pitchFamily="34" charset="0"/>
                <a:cs typeface="Amiri" pitchFamily="2" charset="-78"/>
              </a:rPr>
              <a:t>al-us-bū-ʿa al-mā-ḍi-ya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العَامِ المَاضِي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last year</a:t>
            </a:r>
            <a:endParaRPr lang="en-US" sz="1350" dirty="0"/>
          </a:p>
          <a:p>
            <a:pPr indent="0" marL="0">
              <a:buNone/>
            </a:pPr>
            <a:r>
              <a:rPr lang="en-US" sz="1100" i="1" dirty="0">
                <a:solidFill>
                  <a:srgbClr val="5A6472"/>
                </a:solidFill>
                <a:latin typeface="Calibri" pitchFamily="34" charset="0"/>
                <a:cs typeface="Amiri" pitchFamily="2" charset="-78"/>
              </a:rPr>
              <a:t>fī al-ʿā-mi al-mā-ḍī</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مُنْذُ سَنَوَاتٍ</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years ago</a:t>
            </a:r>
            <a:endParaRPr lang="en-US" sz="1350" dirty="0"/>
          </a:p>
          <a:p>
            <a:pPr indent="0" marL="0">
              <a:buNone/>
            </a:pPr>
            <a:r>
              <a:rPr lang="en-US" sz="1100" i="1" dirty="0">
                <a:solidFill>
                  <a:srgbClr val="5A6472"/>
                </a:solidFill>
                <a:latin typeface="Calibri" pitchFamily="34" charset="0"/>
                <a:cs typeface="Amiri" pitchFamily="2" charset="-78"/>
              </a:rPr>
              <a:t>mun-dhu sa-na-wā-tin</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مُنْذُ</a:t>
            </a:r>
            <a:pPr algn="l" indent="0" marL="0">
              <a:buNone/>
            </a:pPr>
            <a:r>
              <a:rPr lang="en-US" sz="1000" i="1" dirty="0">
                <a:solidFill>
                  <a:srgbClr val="8A6D1E"/>
                </a:solidFill>
                <a:latin typeface="Calibri" pitchFamily="34" charset="0"/>
                <a:cs typeface="Amiri" pitchFamily="2" charset="-78"/>
              </a:rPr>
              <a:t> takes the genitive.</a:t>
            </a:r>
            <a:endParaRPr lang="en-US" sz="10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Past markers to scan for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الطُّفُولَةِ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childhood</a:t>
            </a:r>
            <a:endParaRPr lang="en-US" sz="1350" dirty="0"/>
          </a:p>
          <a:p>
            <a:pPr indent="0" marL="0">
              <a:buNone/>
            </a:pPr>
            <a:r>
              <a:rPr lang="en-US" sz="1100" i="1" dirty="0">
                <a:solidFill>
                  <a:srgbClr val="5A6472"/>
                </a:solidFill>
                <a:latin typeface="Calibri" pitchFamily="34" charset="0"/>
                <a:cs typeface="Amiri" pitchFamily="2" charset="-78"/>
              </a:rPr>
              <a:t>fī aṭ-ṭu-fū-la-ti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بَعْدَ 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that</a:t>
            </a:r>
            <a:endParaRPr lang="en-US" sz="1350" dirty="0"/>
          </a:p>
          <a:p>
            <a:pPr indent="0" marL="0">
              <a:buNone/>
            </a:pPr>
            <a:r>
              <a:rPr lang="en-US" sz="1100" i="1" dirty="0">
                <a:solidFill>
                  <a:srgbClr val="5A6472"/>
                </a:solidFill>
                <a:latin typeface="Calibri" pitchFamily="34" charset="0"/>
                <a:cs typeface="Amiri" pitchFamily="2" charset="-78"/>
              </a:rPr>
              <a:t>baʿ-da 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البِدَايَةِ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the beginning</a:t>
            </a:r>
            <a:endParaRPr lang="en-US" sz="1350" dirty="0"/>
          </a:p>
          <a:p>
            <a:pPr indent="0" marL="0">
              <a:buNone/>
            </a:pPr>
            <a:r>
              <a:rPr lang="en-US" sz="1100" i="1" dirty="0">
                <a:solidFill>
                  <a:srgbClr val="5A6472"/>
                </a:solidFill>
                <a:latin typeface="Calibri" pitchFamily="34" charset="0"/>
                <a:cs typeface="Amiri" pitchFamily="2" charset="-78"/>
              </a:rPr>
              <a:t>fī al-bi-dā-ya-ti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النِّهَايَةِ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end</a:t>
            </a:r>
            <a:endParaRPr lang="en-US" sz="1350" dirty="0"/>
          </a:p>
          <a:p>
            <a:pPr indent="0" marL="0">
              <a:buNone/>
            </a:pPr>
            <a:r>
              <a:rPr lang="en-US" sz="1100" i="1" dirty="0">
                <a:solidFill>
                  <a:srgbClr val="5A6472"/>
                </a:solidFill>
                <a:latin typeface="Calibri" pitchFamily="34" charset="0"/>
                <a:cs typeface="Amiri" pitchFamily="2" charset="-78"/>
              </a:rPr>
              <a:t>fī an-ni-hā-ya-ti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WHAT KIND OF TEXT?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The verb endings tell you the text type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نَوْعُ 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Text type</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cluster</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34516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biography / report</a:t>
            </a:r>
            <a:endParaRPr lang="en-US" sz="1100" dirty="0"/>
          </a:p>
        </p:txBody>
      </p:sp>
      <p:sp>
        <p:nvSpPr>
          <p:cNvPr id="21" name="Text 18"/>
          <p:cNvSpPr txBox="1"/>
          <p:nvPr/>
        </p:nvSpPr>
        <p:spPr>
          <a:xfrm>
            <a:off x="3291840" y="2286000"/>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بَدَأَ</a:t>
            </a:r>
            <a:pPr rtl="1" algn="ctr" indent="0" marL="0">
              <a:buNone/>
            </a:pPr>
            <a:r>
              <a:rPr lang="ar-SA" altLang="en-US" sz="2100" b="1" dirty="0">
                <a:solidFill>
                  <a:srgbClr val="1B3B6F"/>
                </a:solidFill>
                <a:latin typeface="Amiri" pitchFamily="2" charset="-78"/>
                <a:cs typeface="Amiri" pitchFamily="2" charset="-78"/>
              </a:rPr>
              <a:t> مَسِيرَتَهُ مُبَكِّرًا · </a:t>
            </a:r>
            <a:pPr rtl="1" algn="ctr" indent="0" marL="0">
              <a:buNone/>
            </a:pPr>
            <a:r>
              <a:rPr lang="ar-SA" altLang="en-US" sz="2100" b="1" dirty="0">
                <a:solidFill>
                  <a:srgbClr val="0E7C86"/>
                </a:solidFill>
                <a:latin typeface="Amiri" pitchFamily="2" charset="-78"/>
                <a:cs typeface="Amiri" pitchFamily="2" charset="-78"/>
              </a:rPr>
              <a:t>فَازَتْ</a:t>
            </a:r>
            <a:pPr rtl="1" algn="ctr" indent="0" marL="0">
              <a:buNone/>
            </a:pPr>
            <a:r>
              <a:rPr lang="ar-SA" altLang="en-US" sz="2100" b="1" dirty="0">
                <a:solidFill>
                  <a:srgbClr val="1B3B6F"/>
                </a:solidFill>
                <a:latin typeface="Amiri" pitchFamily="2" charset="-78"/>
                <a:cs typeface="Amiri" pitchFamily="2" charset="-78"/>
              </a:rPr>
              <a:t> بِالمِيدَالِيَةِ</a:t>
            </a:r>
            <a:endParaRPr lang="ar-SA" sz="2100" dirty="0"/>
          </a:p>
        </p:txBody>
      </p:sp>
      <p:sp>
        <p:nvSpPr>
          <p:cNvPr id="22" name="Text 19"/>
          <p:cNvSpPr txBox="1"/>
          <p:nvPr/>
        </p:nvSpPr>
        <p:spPr>
          <a:xfrm>
            <a:off x="3246120" y="2706624"/>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began his career early · she won the medal</a:t>
            </a:r>
            <a:endParaRPr lang="en-US" sz="950" dirty="0"/>
          </a:p>
        </p:txBody>
      </p:sp>
      <p:sp>
        <p:nvSpPr>
          <p:cNvPr id="23" name="Text 20"/>
          <p:cNvSpPr txBox="1"/>
          <p:nvPr/>
        </p:nvSpPr>
        <p:spPr>
          <a:xfrm>
            <a:off x="548640" y="2267712"/>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فَعَلَ · فَعَلَتْ</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34516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 news</a:t>
            </a:r>
            <a:endParaRPr lang="en-US" sz="1100" dirty="0"/>
          </a:p>
        </p:txBody>
      </p:sp>
      <p:sp>
        <p:nvSpPr>
          <p:cNvPr id="28" name="Text 25"/>
          <p:cNvSpPr txBox="1"/>
          <p:nvPr/>
        </p:nvSpPr>
        <p:spPr>
          <a:xfrm>
            <a:off x="3291840" y="3072384"/>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لَعِبُوا</a:t>
            </a:r>
            <a:pPr rtl="1" algn="ctr" indent="0" marL="0">
              <a:buNone/>
            </a:pPr>
            <a:r>
              <a:rPr lang="ar-SA" altLang="en-US" sz="2100" b="1" dirty="0">
                <a:solidFill>
                  <a:srgbClr val="1B3B6F"/>
                </a:solidFill>
                <a:latin typeface="Amiri" pitchFamily="2" charset="-78"/>
                <a:cs typeface="Amiri" pitchFamily="2" charset="-78"/>
              </a:rPr>
              <a:t> ثَلَاثَ مُبَارَيَاتٍ</a:t>
            </a:r>
            <a:endParaRPr lang="ar-SA" sz="2100" dirty="0"/>
          </a:p>
        </p:txBody>
      </p:sp>
      <p:sp>
        <p:nvSpPr>
          <p:cNvPr id="29" name="Text 26"/>
          <p:cNvSpPr txBox="1"/>
          <p:nvPr/>
        </p:nvSpPr>
        <p:spPr>
          <a:xfrm>
            <a:off x="3246120" y="3493008"/>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They played three matches</a:t>
            </a:r>
            <a:endParaRPr lang="en-US" sz="950" dirty="0"/>
          </a:p>
        </p:txBody>
      </p:sp>
      <p:sp>
        <p:nvSpPr>
          <p:cNvPr id="30" name="Text 27"/>
          <p:cNvSpPr txBox="1"/>
          <p:nvPr/>
        </p:nvSpPr>
        <p:spPr>
          <a:xfrm>
            <a:off x="548640" y="3054096"/>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فَعَلُوا</a:t>
            </a:r>
            <a:endParaRPr lang="ar-SA" sz="22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34516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personal review / diary</a:t>
            </a:r>
            <a:endParaRPr lang="en-US" sz="1100" dirty="0"/>
          </a:p>
        </p:txBody>
      </p:sp>
      <p:sp>
        <p:nvSpPr>
          <p:cNvPr id="33" name="Text 30"/>
          <p:cNvSpPr txBox="1"/>
          <p:nvPr/>
        </p:nvSpPr>
        <p:spPr>
          <a:xfrm>
            <a:off x="3291840" y="3858768"/>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حَجَزْتُ</a:t>
            </a:r>
            <a:pPr rtl="1" algn="ctr" indent="0" marL="0">
              <a:buNone/>
            </a:pPr>
            <a:r>
              <a:rPr lang="ar-SA" altLang="en-US" sz="2100" b="1" dirty="0">
                <a:solidFill>
                  <a:srgbClr val="1B3B6F"/>
                </a:solidFill>
                <a:latin typeface="Amiri" pitchFamily="2" charset="-78"/>
                <a:cs typeface="Amiri" pitchFamily="2" charset="-78"/>
              </a:rPr>
              <a:t> الفُنْدُقَ · </a:t>
            </a:r>
            <a:pPr rtl="1" algn="ctr" indent="0" marL="0">
              <a:buNone/>
            </a:pPr>
            <a:r>
              <a:rPr lang="ar-SA" altLang="en-US" sz="2100" b="1" dirty="0">
                <a:solidFill>
                  <a:srgbClr val="D6336C"/>
                </a:solidFill>
                <a:latin typeface="Amiri" pitchFamily="2" charset="-78"/>
                <a:cs typeface="Amiri" pitchFamily="2" charset="-78"/>
              </a:rPr>
              <a:t>أَقَمْنَا</a:t>
            </a:r>
            <a:pPr rtl="1" algn="ctr" indent="0" marL="0">
              <a:buNone/>
            </a:pPr>
            <a:r>
              <a:rPr lang="ar-SA" altLang="en-US" sz="2100" b="1" dirty="0">
                <a:solidFill>
                  <a:srgbClr val="1B3B6F"/>
                </a:solidFill>
                <a:latin typeface="Amiri" pitchFamily="2" charset="-78"/>
                <a:cs typeface="Amiri" pitchFamily="2" charset="-78"/>
              </a:rPr>
              <a:t> ثَلَاثَ لَيَالٍ</a:t>
            </a:r>
            <a:endParaRPr lang="ar-SA" sz="2100" dirty="0"/>
          </a:p>
        </p:txBody>
      </p:sp>
      <p:sp>
        <p:nvSpPr>
          <p:cNvPr id="34" name="Text 31"/>
          <p:cNvSpPr txBox="1"/>
          <p:nvPr/>
        </p:nvSpPr>
        <p:spPr>
          <a:xfrm>
            <a:off x="3246120" y="4279392"/>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booked the hotel · we stayed three nights</a:t>
            </a:r>
            <a:endParaRPr lang="en-US" sz="950" dirty="0"/>
          </a:p>
        </p:txBody>
      </p:sp>
      <p:sp>
        <p:nvSpPr>
          <p:cNvPr id="35" name="Text 32"/>
          <p:cNvSpPr txBox="1"/>
          <p:nvPr/>
        </p:nvSpPr>
        <p:spPr>
          <a:xfrm>
            <a:off x="548640" y="3840480"/>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فَعَلْتُ · فَعَلْنَا</a:t>
            </a:r>
            <a:endParaRPr lang="ar-SA" sz="2200" dirty="0"/>
          </a:p>
        </p:txBody>
      </p:sp>
      <p:sp>
        <p:nvSpPr>
          <p:cNvPr id="36" name="Shape 33"/>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34516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plan</a:t>
            </a:r>
            <a:endParaRPr lang="en-US" sz="1100" dirty="0"/>
          </a:p>
        </p:txBody>
      </p:sp>
      <p:sp>
        <p:nvSpPr>
          <p:cNvPr id="40" name="Text 37"/>
          <p:cNvSpPr txBox="1"/>
          <p:nvPr/>
        </p:nvSpPr>
        <p:spPr>
          <a:xfrm>
            <a:off x="3291840" y="4645152"/>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سَيُدَرِّبُ</a:t>
            </a:r>
            <a:pPr rtl="1" algn="ctr" indent="0" marL="0">
              <a:buNone/>
            </a:pPr>
            <a:r>
              <a:rPr lang="ar-SA" altLang="en-US" sz="2100" b="1" dirty="0">
                <a:solidFill>
                  <a:srgbClr val="1B3B6F"/>
                </a:solidFill>
                <a:latin typeface="Amiri" pitchFamily="2" charset="-78"/>
                <a:cs typeface="Amiri" pitchFamily="2" charset="-78"/>
              </a:rPr>
              <a:t> الشَّبَابَ · </a:t>
            </a:r>
            <a:pPr rtl="1" algn="ctr" indent="0" marL="0">
              <a:buNone/>
            </a:pPr>
            <a:r>
              <a:rPr lang="ar-SA" altLang="en-US" sz="2100" b="1" dirty="0">
                <a:solidFill>
                  <a:srgbClr val="1D5FBF"/>
                </a:solidFill>
                <a:latin typeface="Amiri" pitchFamily="2" charset="-78"/>
                <a:cs typeface="Amiri" pitchFamily="2" charset="-78"/>
              </a:rPr>
              <a:t>سَوْفَ</a:t>
            </a:r>
            <a:pPr rtl="1" algn="ctr" indent="0" marL="0">
              <a:buNone/>
            </a:pPr>
            <a:r>
              <a:rPr lang="ar-SA" altLang="en-US" sz="2100" b="1" dirty="0">
                <a:solidFill>
                  <a:srgbClr val="1B3B6F"/>
                </a:solidFill>
                <a:latin typeface="Amiri" pitchFamily="2" charset="-78"/>
                <a:cs typeface="Amiri" pitchFamily="2" charset="-78"/>
              </a:rPr>
              <a:t> نَحْجِزُ</a:t>
            </a:r>
            <a:endParaRPr lang="ar-SA" sz="2100" dirty="0"/>
          </a:p>
        </p:txBody>
      </p:sp>
      <p:sp>
        <p:nvSpPr>
          <p:cNvPr id="41" name="Text 38"/>
          <p:cNvSpPr txBox="1"/>
          <p:nvPr/>
        </p:nvSpPr>
        <p:spPr>
          <a:xfrm>
            <a:off x="3246120" y="5065776"/>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will coach young people · we will book</a:t>
            </a:r>
            <a:endParaRPr lang="en-US" sz="950" dirty="0"/>
          </a:p>
        </p:txBody>
      </p:sp>
      <p:sp>
        <p:nvSpPr>
          <p:cNvPr id="42" name="Text 39"/>
          <p:cNvSpPr txBox="1"/>
          <p:nvPr/>
        </p:nvSpPr>
        <p:spPr>
          <a:xfrm>
            <a:off x="548640" y="4626864"/>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سَـ / سَوْفَ</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Read the endings BEFORE the details: they tell you who and what kind of text.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SEQUENCE, TENSE,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Order, tense and proof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التَّسَلْسُلُ وَالزَّمَنُ وَالدَّلِيلُ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SEQUENCE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2" charset="-78"/>
                <a:cs typeface="Amiri" pitchFamily="2" charset="-78"/>
              </a:rPr>
              <a:t>فِي البِدَايَةِ … ثُمَّ … فِي النِّهَايَةِ</a:t>
            </a:r>
            <a:endParaRPr lang="ar-SA" sz="14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ثُمَّ انْتَقَلَ إِلَى فَرِيقٍ آخَرَ.</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Then he moved to another team.</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First or last?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TENSE · DEVELOP</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time marker = tense</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فِي العَامِ المَاضِي انْتَقَلَ إِلَى نَادٍ جَدِيدٍ.</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Last year he moved to a new club.</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marker → past verb.</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يُشِيرُ إِلَى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يُشِيرُ النَّصُّ إِلَى أَهَمِّيَّةِ التَّدْرِيبِ.</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text refers to the importance of training.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ilā + genitive.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future marker needs sa- + present.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فِي المُسْتَقْبَلِ سَيُدَرِّبُ الشَّبَابَ.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فِي المُسْتَقْبَلِ دَرَّبَ الشَّبَابَ.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Reading past-tense texts with evidence</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قِرَاءَةُ النُّصُوصِ المَاضِيَةِ بِالدَّلِيلِ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Third-person clusters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فَعَلَ / فَعَلَتْ / فَعَلُوا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بَدَأَ مَسِيرَتَهُ مُبَكِّرًا   ·   فَازَتْ بِالمِيدَالِيَةِ الذَّهَبِيَّةِ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First-person clusters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فَعَلْتُ / فَعَلْنَا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حَجَزْتُ الفُنْدُقَ عَبْرَ الإِنْتِرْنِتْ   ·   أَقَمْنَا ثَلَاثَ لَيَالٍ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Sequence markers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فِي البِدَايَةِ … ثُمَّ … بَعْدَ ذٰلِكَ … فِي النِّهَايَةِ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ثُمَّ انْتَقَلَ إِلَى فَرِيقٍ آخَرَ   ·   بَعْدَ ذٰلِكَ اعْتَزَلَ اللَّعِبَ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Choosing the tense in a gap-fill</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time marker → tense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فِي العَامِ المَاضِي انْتَقَلَ إِلَى نَادٍ جَدِيدٍ   ·   فِي المُسْتَقْبَلِ سَيُدَرِّبُ الشَّبَابَ</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text uses </a:t>
            </a:r>
            <a:pPr algn="l" indent="0" marL="0">
              <a:buNone/>
            </a:pPr>
            <a:r>
              <a:rPr lang="ar-SA" altLang="en-US" sz="1650" b="1" dirty="0">
                <a:solidFill>
                  <a:srgbClr val="1B3B6F"/>
                </a:solidFill>
                <a:latin typeface="Amiri" pitchFamily="2" charset="-78"/>
                <a:cs typeface="Amiri" pitchFamily="2" charset="-78"/>
              </a:rPr>
              <a:t>فَازَ، انْتَقَلَ، اعْتَزَلَ</a:t>
            </a:r>
            <a:pPr algn="l" indent="0" marL="0">
              <a:buNone/>
            </a:pPr>
            <a:r>
              <a:rPr lang="en-US" sz="1250" b="1" dirty="0">
                <a:solidFill>
                  <a:srgbClr val="1B3B6F"/>
                </a:solidFill>
                <a:latin typeface="Calibri" pitchFamily="34" charset="0"/>
                <a:cs typeface="Amiri" pitchFamily="2" charset="-78"/>
              </a:rPr>
              <a:t>. What type is it most likely to 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diary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set of instructions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sporting biography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text uses </a:t>
            </a:r>
            <a:pPr algn="l" indent="0" marL="0">
              <a:buNone/>
            </a:pPr>
            <a:r>
              <a:rPr lang="ar-SA" altLang="en-US" sz="1650" b="1" dirty="0">
                <a:solidFill>
                  <a:srgbClr val="1B3B6F"/>
                </a:solidFill>
                <a:latin typeface="Amiri" pitchFamily="2" charset="-78"/>
                <a:cs typeface="Amiri" pitchFamily="2" charset="-78"/>
              </a:rPr>
              <a:t>حَجَزْتُ، أَقَمْنَا، اسْتَمْتَعْنَا</a:t>
            </a:r>
            <a:pPr algn="l" indent="0" marL="0">
              <a:buNone/>
            </a:pPr>
            <a:r>
              <a:rPr lang="en-US" sz="1250" b="1" dirty="0">
                <a:solidFill>
                  <a:srgbClr val="1B3B6F"/>
                </a:solidFill>
                <a:latin typeface="Calibri" pitchFamily="34" charset="0"/>
                <a:cs typeface="Amiri" pitchFamily="2" charset="-78"/>
              </a:rPr>
              <a:t>. What type is it most likely to be?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review</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official report</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news bulletin</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gap-fill:</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فِي العَامِ المَاضِي ___ إِلَى نَادٍ جَدِيدٍ.</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يَنْتَقِلُ</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انْتَقَلَ</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سَيَنْتَقِلُ</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gap-fill:</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فِي المُسْتَقْبَلِ ___ الشَّبَابَ.</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سَيُدَرِّبُ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يُدَرِّبُ أَمْسِ</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text uses </a:t>
            </a:r>
            <a:pPr algn="l" indent="0" marL="0">
              <a:buNone/>
            </a:pPr>
            <a:r>
              <a:rPr lang="ar-SA" altLang="en-US" sz="1650" b="1" dirty="0">
                <a:solidFill>
                  <a:srgbClr val="1B3B6F"/>
                </a:solidFill>
                <a:latin typeface="Amiri" pitchFamily="2" charset="-78"/>
                <a:cs typeface="Amiri" pitchFamily="2" charset="-78"/>
              </a:rPr>
              <a:t>فَازَ، انْتَقَلَ، اعْتَزَلَ</a:t>
            </a:r>
            <a:pPr algn="l" indent="0" marL="0">
              <a:buNone/>
            </a:pPr>
            <a:r>
              <a:rPr lang="en-US" sz="1250" b="1" dirty="0">
                <a:solidFill>
                  <a:srgbClr val="1B3B6F"/>
                </a:solidFill>
                <a:latin typeface="Calibri" pitchFamily="34" charset="0"/>
                <a:cs typeface="Amiri" pitchFamily="2" charset="-78"/>
              </a:rPr>
              <a:t>. What type is it most likely to be?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diary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set of instructions</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sporting biography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Third-person past verbs about one person signal a biography.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text uses </a:t>
            </a:r>
            <a:pPr algn="l" indent="0" marL="0">
              <a:buNone/>
            </a:pPr>
            <a:r>
              <a:rPr lang="ar-SA" altLang="en-US" sz="1650" b="1" dirty="0">
                <a:solidFill>
                  <a:srgbClr val="1B3B6F"/>
                </a:solidFill>
                <a:latin typeface="Amiri" pitchFamily="2" charset="-78"/>
                <a:cs typeface="Amiri" pitchFamily="2" charset="-78"/>
              </a:rPr>
              <a:t>حَجَزْتُ، أَقَمْنَا، اسْتَمْتَعْنَا</a:t>
            </a:r>
            <a:pPr algn="l" indent="0" marL="0">
              <a:buNone/>
            </a:pPr>
            <a:r>
              <a:rPr lang="en-US" sz="1250" b="1" dirty="0">
                <a:solidFill>
                  <a:srgbClr val="1B3B6F"/>
                </a:solidFill>
                <a:latin typeface="Calibri" pitchFamily="34" charset="0"/>
                <a:cs typeface="Amiri" pitchFamily="2" charset="-78"/>
              </a:rPr>
              <a:t>. What type is it most likely to be?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travel review</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official report</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news bulletin</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First-person past verbs signal a personal account or review.</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gap-fill:</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فِي العَامِ المَاضِي ___ إِلَى نَادٍ جَدِيدٍ.</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يَنْتَقِلُ</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انْتَقَلَ</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سَيَنْتَقِلُ</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العَامِ المَاضِي</a:t>
            </a:r>
            <a:pPr algn="l" indent="0" marL="0">
              <a:buNone/>
            </a:pPr>
            <a:r>
              <a:rPr lang="en-US" sz="1050" i="1" dirty="0">
                <a:solidFill>
                  <a:srgbClr val="8A6D1E"/>
                </a:solidFill>
                <a:latin typeface="Calibri" pitchFamily="34" charset="0"/>
                <a:cs typeface="Amiri" pitchFamily="2" charset="-78"/>
              </a:rPr>
              <a:t> is a past marker, so the verb must be past.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gap-fill:</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فِي المُسْتَقْبَلِ ___ الشَّبَابَ.</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سَيُدَرِّبُ</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دَرَّبَ</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يُدَرِّبُ أَمْسِ</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المُسْتَقْبَلِ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with a present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Watch me read a life story like an examiner</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Endings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بَدَأَ · تَدَرَّبَ · انْتَقَلَ</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 → a biography.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Sequence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فِي البِدَايَةِ</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0E7C86"/>
                </a:solidFill>
                <a:latin typeface="Amiri" pitchFamily="2" charset="-78"/>
                <a:cs typeface="Amiri" pitchFamily="2" charset="-78"/>
              </a:rPr>
              <a:t>ثُمَّ</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0E7C86"/>
                </a:solidFill>
                <a:latin typeface="Amiri" pitchFamily="2" charset="-78"/>
                <a:cs typeface="Amiri" pitchFamily="2" charset="-78"/>
              </a:rPr>
              <a:t>فِي النِّهَايَةِ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Order of events.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Time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D6336C"/>
                </a:solidFill>
                <a:latin typeface="Amiri" pitchFamily="2" charset="-78"/>
                <a:cs typeface="Amiri" pitchFamily="2" charset="-78"/>
              </a:rPr>
              <a:t>فِي العَامِ المَاضِي</a:t>
            </a:r>
            <a:pPr rtl="1" algn="ctr" indent="0" marL="0">
              <a:buNone/>
            </a:pPr>
            <a:r>
              <a:rPr lang="ar-SA" altLang="en-US" sz="2550" b="1" dirty="0">
                <a:solidFill>
                  <a:srgbClr val="1B3B6F"/>
                </a:solidFill>
                <a:latin typeface="Amiri" pitchFamily="2" charset="-78"/>
                <a:cs typeface="Amiri" pitchFamily="2" charset="-78"/>
              </a:rPr>
              <a:t> فَازَ</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marker, past verb.</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Proof</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أَثَّرَ فِي جِيلٍ كَامِلٍ</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Quote the Arabic.</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SEQUENCE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TIME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هٰذَا النَّصُّ سِيرَةٌ رِيَاضِيَّةٌ، لِأَنَّ الأَفْعَالَ بِصِيغَةِ الغَائِبِ. </a:t>
            </a:r>
            <a:pPr rtl="1" algn="r" indent="0" marL="0">
              <a:lnSpc>
                <a:spcPct val="120000"/>
              </a:lnSpc>
              <a:buNone/>
            </a:pPr>
            <a:r>
              <a:rPr lang="ar-SA" altLang="en-US" sz="1400" b="1" dirty="0">
                <a:solidFill>
                  <a:srgbClr val="0E7C86"/>
                </a:solidFill>
                <a:latin typeface="Amiri" pitchFamily="2" charset="-78"/>
                <a:cs typeface="Amiri" pitchFamily="2" charset="-78"/>
              </a:rPr>
              <a:t>فِي البِدَايَةِ</a:t>
            </a:r>
            <a:pPr rtl="1" algn="r" indent="0" marL="0">
              <a:lnSpc>
                <a:spcPct val="120000"/>
              </a:lnSpc>
              <a:buNone/>
            </a:pPr>
            <a:r>
              <a:rPr lang="ar-SA" altLang="en-US" sz="1400" b="1" dirty="0">
                <a:solidFill>
                  <a:srgbClr val="1B3B6F"/>
                </a:solidFill>
                <a:latin typeface="Amiri" pitchFamily="2" charset="-78"/>
                <a:cs typeface="Amiri" pitchFamily="2" charset="-78"/>
              </a:rPr>
              <a:t> كَانَ يَتَدَرَّبُ فِي نَادٍ صَغِيرٍ، </a:t>
            </a:r>
            <a:pPr rtl="1" algn="r" indent="0" marL="0">
              <a:lnSpc>
                <a:spcPct val="120000"/>
              </a:lnSpc>
              <a:buNone/>
            </a:pPr>
            <a:r>
              <a:rPr lang="ar-SA" altLang="en-US" sz="1400" b="1" dirty="0">
                <a:solidFill>
                  <a:srgbClr val="0E7C86"/>
                </a:solidFill>
                <a:latin typeface="Amiri" pitchFamily="2" charset="-78"/>
                <a:cs typeface="Amiri" pitchFamily="2" charset="-78"/>
              </a:rPr>
              <a:t>ثُمَّ</a:t>
            </a:r>
            <a:pPr rtl="1" algn="r" indent="0" marL="0">
              <a:lnSpc>
                <a:spcPct val="120000"/>
              </a:lnSpc>
              <a:buNone/>
            </a:pPr>
            <a:r>
              <a:rPr lang="ar-SA" altLang="en-US" sz="1400" b="1" dirty="0">
                <a:solidFill>
                  <a:srgbClr val="1B3B6F"/>
                </a:solidFill>
                <a:latin typeface="Amiri" pitchFamily="2" charset="-78"/>
                <a:cs typeface="Amiri" pitchFamily="2" charset="-78"/>
              </a:rPr>
              <a:t> انْتَقَلَ إِلَى فَرِيقٍ أَكْبَرَ، وَ</a:t>
            </a:r>
            <a:pPr rtl="1" algn="r" indent="0" marL="0">
              <a:lnSpc>
                <a:spcPct val="120000"/>
              </a:lnSpc>
              <a:buNone/>
            </a:pPr>
            <a:r>
              <a:rPr lang="ar-SA" altLang="en-US" sz="1400" b="1" dirty="0">
                <a:solidFill>
                  <a:srgbClr val="D6336C"/>
                </a:solidFill>
                <a:latin typeface="Amiri" pitchFamily="2" charset="-78"/>
                <a:cs typeface="Amiri" pitchFamily="2" charset="-78"/>
              </a:rPr>
              <a:t>فِي العَامِ المَاضِي</a:t>
            </a:r>
            <a:pPr rtl="1" algn="r" indent="0" marL="0">
              <a:lnSpc>
                <a:spcPct val="120000"/>
              </a:lnSpc>
              <a:buNone/>
            </a:pPr>
            <a:r>
              <a:rPr lang="ar-SA" altLang="en-US" sz="1400" b="1" dirty="0">
                <a:solidFill>
                  <a:srgbClr val="1B3B6F"/>
                </a:solidFill>
                <a:latin typeface="Amiri" pitchFamily="2" charset="-78"/>
                <a:cs typeface="Amiri" pitchFamily="2" charset="-78"/>
              </a:rPr>
              <a:t> فَازَ بِالمِيدَالِيَةِ الذَّهَبِيَّةِ. وَالدَّلِيلُ مِنَ النَّصِّ: </a:t>
            </a:r>
            <a:pPr rtl="1" algn="r" indent="0" marL="0">
              <a:lnSpc>
                <a:spcPct val="120000"/>
              </a:lnSpc>
              <a:buNone/>
            </a:pPr>
            <a:r>
              <a:rPr lang="ar-SA" altLang="en-US" sz="1400" b="1" dirty="0">
                <a:solidFill>
                  <a:srgbClr val="1D5FBF"/>
                </a:solidFill>
                <a:latin typeface="Amiri" pitchFamily="2" charset="-78"/>
                <a:cs typeface="Amiri" pitchFamily="2" charset="-78"/>
              </a:rPr>
              <a:t>أَثَّرَ فِي جِيلٍ كَامِلٍ</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text is a sporting biography, because the verbs are in the third person. At the beginning he used to train at a small club, then he moved to a bigger team, and last year he won the gold medal. The evidence from the text: “he influenced a whole generation”.</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فَازَتْ بِالمِيدَالِيَةِ الذَّهَبِيَّةِ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won the gold medal (biography)</a:t>
            </a:r>
            <a:endParaRPr lang="en-US" sz="1250" dirty="0"/>
          </a:p>
          <a:p>
            <a:pPr indent="0" marL="0">
              <a:buNone/>
            </a:pPr>
            <a:r>
              <a:rPr lang="en-US" sz="1050" i="1" dirty="0">
                <a:solidFill>
                  <a:srgbClr val="8A6D1E"/>
                </a:solidFill>
                <a:latin typeface="Calibri" pitchFamily="34" charset="0"/>
                <a:cs typeface="Amiri" pitchFamily="2" charset="-78"/>
              </a:rPr>
              <a:t>A third-person past cluster points to a biography.</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أَقَمْنَا ثَلَاثَ لَيَالٍ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stayed three nights (personal review)</a:t>
            </a:r>
            <a:endParaRPr lang="en-US" sz="1250" dirty="0"/>
          </a:p>
          <a:p>
            <a:pPr indent="0" marL="0">
              <a:buNone/>
            </a:pPr>
            <a:r>
              <a:rPr lang="en-US" sz="1050" i="1" dirty="0">
                <a:solidFill>
                  <a:srgbClr val="8A6D1E"/>
                </a:solidFill>
                <a:latin typeface="Calibri" pitchFamily="34" charset="0"/>
                <a:cs typeface="Amiri" pitchFamily="2" charset="-78"/>
              </a:rPr>
              <a:t>A first-person past cluster points to a personal review.</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العَامِ المَاضِي انْتَقَلَ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last year he moved (time confirms tense)</a:t>
            </a:r>
            <a:endParaRPr lang="en-US" sz="1250" dirty="0"/>
          </a:p>
          <a:p>
            <a:pPr indent="0" marL="0">
              <a:buNone/>
            </a:pPr>
            <a:r>
              <a:rPr lang="en-US" sz="1050" i="1" dirty="0">
                <a:solidFill>
                  <a:srgbClr val="8A6D1E"/>
                </a:solidFill>
                <a:latin typeface="Calibri" pitchFamily="34" charset="0"/>
                <a:cs typeface="Amiri" pitchFamily="2" charset="-78"/>
              </a:rPr>
              <a:t>The time marker confirms the tense of the verb.</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بَدَأَ مَسِيرَتَهُ</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فَازَتْ بِالبُطُولَةِ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اعْتَزَلَ اللَّعِبَ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حَجَزْتُ الفُنْدُقَ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أَقَمْنَا ثَلَاثَ لَيَالٍ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اسْتَمْتَعْنَا بِالجَوِّ</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سَيُشَارِكُ غَدًا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نَحْجِزُ</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المُسْتَقْبَلِ سَأَعُودُ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Biography signal</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Personal review signal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signal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Biography signal</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بَدَأَ مَسِيرَتَهُ</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فَازَتْ بِالبُطُولَةِ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اعْتَزَلَ اللَّعِبَ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Personal review signal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حَجَزْتُ الفُنْدُقَ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أَقَمْنَا ثَلَاثَ لَيَالٍ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اسْتَمْتَعْنَا بِالجَوِّ</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signal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سَيُشَارِكُ غَدًا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نَحْجِزُ</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المُسْتَقْبَلِ سَأَعُودُ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sequence of events”?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الفِكْرَةُ الرَّئِيسِيَّةُ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الهَدَفُ مِنَ النَّصِّ</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تَسَلْسُلُ الأَحْدَاثِ</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يُشِيرُ النَّصُّ ___ أَهَمِّيَّةِ التَّدْرِيبِ.</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tells you an event came last?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البِدَايَةِ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النِّهَايَةِ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قَرَأْتُ سِيرَةً ذَاتِيٌّ مُمْتِعَةً.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قَرَأْتُ سِيرَةً ذَاتِيَّةً مُمْتِعِينَ.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قَرَأْتُ سِيرَةً ذَاتِيَّةً مُمْتِعَةً.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sequence of events”?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الفِكْرَةُ الرَّئِيسِيَّةُ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الهَدَفُ مِنَ النَّصِّ</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تَسَلْسُلُ الأَحْدَاثِ</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تَسَلْسُلُ الأَحْدَاثِ</a:t>
            </a:r>
            <a:pPr algn="l" indent="0" marL="0">
              <a:buNone/>
            </a:pPr>
            <a:r>
              <a:rPr lang="en-US" sz="1050" i="1" dirty="0">
                <a:solidFill>
                  <a:srgbClr val="8A6D1E"/>
                </a:solidFill>
                <a:latin typeface="Calibri" pitchFamily="34" charset="0"/>
                <a:cs typeface="Amiri" pitchFamily="2" charset="-78"/>
              </a:rPr>
              <a:t> is the sequence of events.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يُشِيرُ النَّصُّ ___ أَهَمِّيَّةِ التَّدْرِيبِ.</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يُشِيرُ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tells you an event came last?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البِدَايَةِ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النِّهَايَةِ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النِّهَايَةِ</a:t>
            </a:r>
            <a:pPr algn="l" indent="0" marL="0">
              <a:buNone/>
            </a:pPr>
            <a:r>
              <a:rPr lang="en-US" sz="1050" i="1" dirty="0">
                <a:solidFill>
                  <a:srgbClr val="8A6D1E"/>
                </a:solidFill>
                <a:latin typeface="Calibri" pitchFamily="34" charset="0"/>
                <a:cs typeface="Amiri" pitchFamily="2" charset="-78"/>
              </a:rPr>
              <a:t> marks the final event.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قَرَأْتُ سِيرَةً ذَاتِيٌّ مُمْتِعَةً.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قَرَأْتُ سِيرَةً ذَاتِيَّةً مُمْتِعِينَ.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قَرَأْتُ سِيرَةً ذَاتِيَّةً مُمْتِعَةً.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سِيرَة</a:t>
            </a:r>
            <a:pPr algn="l" indent="0" marL="0">
              <a:buNone/>
            </a:pPr>
            <a:r>
              <a:rPr lang="en-US" sz="1050" i="1" dirty="0">
                <a:solidFill>
                  <a:srgbClr val="8A6D1E"/>
                </a:solidFill>
                <a:latin typeface="Calibri" pitchFamily="34" charset="0"/>
                <a:cs typeface="Amiri" pitchFamily="2" charset="-78"/>
              </a:rPr>
              <a:t> is the accusative object, and both adjectives agree with it.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فِي العَامِ المَاضِي يَنْتَقِلُ إِلَى نَادٍ جَدِيدٍ.</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Past marker → which tense?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يُشِيرُ النَّصُّ عَنْ أَهَمِّيَّةِ التَّدْرِيبِ.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yushīru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فِي المُسْتَقْبَلِ دَرَّبَ الشَّبَابَ.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Future marker → sa-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فِي العَامِ المَاضِي يَنْتَقِلُ إِلَى نَادٍ جَدِيدٍ.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فِي العَامِ المَاضِي انْتَقَلَ إِلَى نَادٍ جَدِيدٍ.</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past time marker requires a past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يُشِيرُ النَّصُّ عَنْ أَهَمِّيَّةِ التَّدْرِيبِ.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يُشِيرُ النَّصُّ إِلَى أَهَمِّيَّةِ التَّدْرِيبِ.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يُشِيرُ</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فِي المُسْتَقْبَلِ دَرَّبَ الشَّبَابَ.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فِي المُسْتَقْبَلِ سَيُدَرِّبُ الشَّبَابَ.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future marker requires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 with a present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Listening: an activity report from the sports club</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activity report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diary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hotel review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players took part?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Sixteen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won the final?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western school team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 it was drawn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eastern school team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after the medals?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coaches and families were thanked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tournament restarted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club closed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the future?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more tournaments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larger tournament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change of venue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Who is it about? Which verbs?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فِي البِدَايَةِ نَظَّمَ النَّادِي بُطُولَةً صَغِيرَةً لِلشَّبَابِ فِي العَامِ المَاضِي. شَارَكَ فِيهَا سِتُّونَ لَاعِبًا مِنْ مَدَارِسَ مُخْتَلِفَةٍ.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beginning the club organised a small tournament for young people last year. Sixty players from different schools took part.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ثُمَّ لَعِبَتِ الفِرَقُ ثَلَاثَ مُبَارَيَاتٍ فِي كُلِّ أُسْبُوعٍ.</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the teams played three matches every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فَازَ فَرِيقُ المَدْرَسَةِ الشَّرْقِيَّةِ بِالمُبَارَاةِ النِّهَائِيَّةِ، وَتَعَادَلَ فَرِيقَانِ فِي المَرْكَزِ الثَّالِثِ.</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eastern school team won the final, and two teams drew for third place.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بَعْدَ ذٰلِكَ وَزَّعَ المُدِيرُ المِيدَالِيَاتِ عَلَى اللَّاعِبِينَ. وَفِي النِّهَايَةِ شَكَرَ المُدَرِّبِينَ وَالأُسَرَ.</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 the director handed out the medals to the players. In the end he thanked the coaches and families.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وَفِي المُسْتَقْبَلِ سَيُنَظِّمُ النَّادِي بُطُولَةً أَكْبَرَ.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future the club will organise a bigger tournament.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activity report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diary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hotel review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Third-person past verbs about an organisation signal a report.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players took part?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Sixteen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شَارَكَ فِيهَا سِتُّونَ لَاعِبًا.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won the final?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western school team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 it was drawn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eastern school team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فَازَ فَرِيقُ المَدْرَسَةِ الشَّرْقِيَّةِ بِالمُبَارَاةِ النِّهَائِيَّةِ.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after the medals?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coaches and families were thanked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tournament restarted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club closed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وَفِي النِّهَايَةِ شَكَرَ المُدَرِّبِينَ وَالأُسَرَ.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the future?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more tournaments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larger tournament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change of venue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المُسْتَقْبَلِ سَيُنَظِّمُ النَّادِي بُطُولَةً أَكْبَرَ.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Who is it about? Which verbs?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sporting life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بَدَأَ مَسِيرَتَهُ الرِّيَاضِيَّةَ مُنْذُ سَنَوَاتٍ، وَكَانَ فِي الطُّفُولَةِ يَتَدَرَّبُ فِي نَادٍ صَغِيرٍ قُرْبَ بَيْتِهِ. فِي البِدَايَةِ لَمْ يَكُنْ مَشْهُورًا، وَلٰكِنَّهُ تَدَرَّبَ يَوْمِيًّا وَلَمْ يَسْتَسْلِمْ. ثُمَّ انْتَقَلَ إِلَى فَرِيقٍ أَكْبَرَ، وَفِي العَامِ المَاضِي فَازَ بِالمِيدَالِيَةِ الذَّهَبِيَّةِ فِي بُطُولَةٍ كَبِيرَةٍ. وَقَدْ أَثَّرَ فِي جِيلٍ كَامِلٍ مِنَ اللَّاعِبِينَ الصِّغَارِ. بَعْدَ ذٰلِكَ اعْتَزَلَ اللَّعِبَ، وَفِي النِّهَايَةِ عَادَ إِلَى نَادِيهِ الأَوَّلِ. وَفِي المُسْتَقْبَلِ سَيُدَرِّبُ الشَّبَابَ هُنَاكَ.</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مَسِيرَتَهُ الرِّيَاضِيَّةَ</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sports career</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قُرْبَ بَيْتِهِ</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near his home</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لَمْ يَكُنْ مَشْهُورًا</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was not famous</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لَمْ يَسْتَسْلِمْ</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did not give up</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انْتَقَلَ إِلَى</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moved to</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أَثَّرَ فِي</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influenced</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جِيلٍ كَامِلٍ</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whole generation</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اعْتَزَلَ اللَّعِبَ</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retired from playing</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نَادِيهِ الأَوَّلِ</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first club</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سَيُدَرِّبُ</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will coach</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he train in childhood?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national stadium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club near his home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true at the beginning?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was already a champion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disliked training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was not famous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won a gold medal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retired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moved abroad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his influence?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influenced no one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influenced a whole generation of young players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influenced only his own team</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he do in the future?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Coach young people at his first club</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 to competition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the sport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he train in childhood?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national stadium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small club near his home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school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 فِي الطُّفُولَةِ يَتَدَرَّبُ فِي نَادٍ صَغِيرٍ قُرْبَ بَيْتِهِ.</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true at the beginning?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was already a champion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disliked training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was not famous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البِدَايَةِ لَمْ يَكُنْ مَشْهُورًا.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won a gold medal</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retired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moved abroad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العَامِ المَاضِي فَازَ بِالمِيدَالِيَةِ الذَّهَبِيَّةِ.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his influence?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influenced no one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 influenced a whole generation of young players</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influenced only his own team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أَثَّرَ فِي جِيلٍ كَامِلٍ مِنَ اللَّاعِبِينَ الصِّغَارِ.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he do in the future?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Coach young people at his first club</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Return to competition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the sport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وَفِي المُسْتَقْبَلِ سَيُدَرِّبُ الشَّبَابَ هُنَاكَ.</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explain a text to a partner</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نَوْعُ هٰذَا النَّصِّ؟ وَكَيْفَ عَرَفْتَ ذٰلِكَ؟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تَسَلْسُلُ الأَحْدَاثِ فِي النَّصِّ؟</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الدَّلِيلُ مِنَ النَّصِّ عَلَى إِجَابَتِكَ؟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هٰذَا النَّصُّ ___ ، لِأَنَّ الأَفْعَالَ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cs typeface="Amiri" pitchFamily="2" charset="-78"/>
              </a:rPr>
              <a:t>فِي البِدَايَةِ ___ ، ثُمَّ ___ ، وَفِي النِّهَايَةِ ___ .</a:t>
            </a:r>
            <a:endParaRPr lang="ar-SA" sz="12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2" charset="-78"/>
                <a:cs typeface="Amiri" pitchFamily="2" charset="-78"/>
              </a:rPr>
              <a:t>الدَّلِيلُ مِنَ النَّصِّ: « ___ » ، وَهٰذَا يُشِيرُ إِلَى ___ .</a:t>
            </a:r>
            <a:endParaRPr lang="ar-SA" sz="11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نَوْعُ هٰذَا النَّصِّ؟</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type of text is this?</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أَظُنُّ أَنَّهُ سِيرَةٌ رِيَاضِيَّةٌ، لِأَنَّ الأَفْعَالَ كُلَّهَا بِصِيغَةِ الغَائِبِ.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 think it is a sporting biography, because all the verbs are in the third person.</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Identify the text type and answer four comprehension questions using the text.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Text type + three events in order + one quote.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the sequence of events and quote one phrase as evidence for each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summary with two sequence markers and a quoted phrase.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 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the gap-fill by justifying each tense choice from the nearest time marker.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type · sequence · quoted evidence · yushīru ilā.</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ذٰلِكَ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النِّهَايَةِ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وَالدَّلِيلُ مِنَ النَّصِّ: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evidence from the text: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يُشِيرُ النَّصُّ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text refers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قَرَأْتُ ______ عَنْ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a … about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البِدَايَةِ كَانَ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the beginning he used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 انْتَقَلَ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he moved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العَامِ المَاضِي فَازَ بِـ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year he won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سِيرَةٌ رِيَاضِيَّةٌ  ·  مُرَاجَعَةٌ  ·  تَقْرِيرٌ  ·  فِي البِدَايَةِ  ·  ثُمَّ  ·  بَعْدَ ذٰلِكَ  ·  فِي النِّهَايَةِ  ·  فِي العَامِ المَاضِي  ·  مُنْذُ سَنَوَاتٍ  ·  الدَّلِيلُ مِنَ النَّصِّ  ·  يُشِيرُ إِلَى  ·  يَسْتَنْتِجُ</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seventy words summarising a past-tense text you have read. Name the text type, state the sequence of events, quote one Arabic phrase as evidence, and say what the text refers to using </a:t>
            </a:r>
            <a:pPr algn="l" indent="0" marL="0">
              <a:buNone/>
            </a:pPr>
            <a:r>
              <a:rPr lang="ar-SA" altLang="en-US" sz="1750" b="1" dirty="0">
                <a:solidFill>
                  <a:srgbClr val="1F2A37"/>
                </a:solidFill>
                <a:latin typeface="Amiri" pitchFamily="2" charset="-78"/>
                <a:cs typeface="Amiri" pitchFamily="2" charset="-78"/>
              </a:rPr>
              <a:t>يُشِيرُ إِلَى</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text type named with </a:t>
            </a:r>
            <a:pPr algn="l" indent="0" marL="0">
              <a:buNone/>
            </a:pPr>
            <a:r>
              <a:rPr lang="ar-SA" altLang="en-US" sz="1550" dirty="0">
                <a:solidFill>
                  <a:srgbClr val="1F2A37"/>
                </a:solidFill>
                <a:latin typeface="Amiri" pitchFamily="2" charset="-78"/>
                <a:cs typeface="Amiri" pitchFamily="2" charset="-78"/>
              </a:rPr>
              <a:t>سِيرَةٌ، مُرَاجَعَةٌ</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تَقْرِيرٌ</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sequence markers from </a:t>
            </a:r>
            <a:pPr algn="l" indent="0" marL="0">
              <a:buNone/>
            </a:pPr>
            <a:r>
              <a:rPr lang="ar-SA" altLang="en-US" sz="1550" dirty="0">
                <a:solidFill>
                  <a:srgbClr val="1F2A37"/>
                </a:solidFill>
                <a:latin typeface="Amiri" pitchFamily="2" charset="-78"/>
                <a:cs typeface="Amiri" pitchFamily="2" charset="-78"/>
              </a:rPr>
              <a:t>فِي البِدَايَةِ، ثُمَّ، بَعْدَ ذٰلِكَ، فِي النِّهَايَةِ</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quoted Arabic phrase as evidence.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a:t>
            </a:r>
            <a:pPr algn="l" indent="0" marL="0">
              <a:buNone/>
            </a:pPr>
            <a:r>
              <a:rPr lang="ar-SA" altLang="en-US" sz="1550" dirty="0">
                <a:solidFill>
                  <a:srgbClr val="1F2A37"/>
                </a:solidFill>
                <a:latin typeface="Amiri" pitchFamily="2" charset="-78"/>
                <a:cs typeface="Amiri" pitchFamily="2" charset="-78"/>
              </a:rPr>
              <a:t>يُشِيرُ إِلَى</a:t>
            </a:r>
            <a:pPr algn="l" indent="0" marL="0">
              <a:buNone/>
            </a:pPr>
            <a:r>
              <a:rPr lang="en-US" sz="1200" dirty="0">
                <a:solidFill>
                  <a:srgbClr val="1F2A37"/>
                </a:solidFill>
                <a:latin typeface="Calibri" pitchFamily="34" charset="0"/>
                <a:cs typeface="Amiri" pitchFamily="2" charset="-78"/>
              </a:rPr>
              <a:t> and the genitive.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لِأَنَّ الأَفْعَالَ بِصِيغَةِ الغَائِبِ</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the verbs are in the third person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 يَكُنْ مَشْهُورًا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was not famous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تَدَرَّبَ يَوْمِيًّا وَلَمْ يَسْتَسْلِمْ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trained daily and did not give up</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أَهَمِّيَّةُ الصَّبْرِ وَالتَّدْرِيبِ المُنْتَظِمِ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importance of patience and regular training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نَسْتَنْتِجُ أَنَّ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deduce that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قَرَأْتُ سِيرَةً رِيَاضِيَّةً قَصِيرَةً عَنْ لَاعِبٍ مَشْهُورٍ. فِي البِدَايَةِ كَانَ يَتَدَرَّبُ فِي نَادٍ صَغِيرٍ، وَلَمْ يَكُنْ مَشْهُورًا. ثُمَّ انْتَقَلَ إِلَى فَرِيقٍ أَكْبَرَ، وَفِي العَامِ المَاضِي فَازَ بِالمِيدَالِيَةِ الذَّهَبِيَّةِ. بَعْدَ ذٰلِكَ اعْتَزَلَ اللَّعِبَ، وَفِي النِّهَايَةِ عَادَ إِلَى نَادِيهِ الأَوَّلِ. وَالدَّلِيلُ مِنَ النَّصِّ: أَثَّرَ فِي جِيلٍ كَامِلٍ. يُشِيرُ النَّصُّ إِلَى أَهَمِّيَّةِ الصَّبْرِ وَالتَّدْرِيبِ المُنْتَظِمِ.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read a short sporting biography about a famous player. At the beginning he used to train at a small club, and he was not famous. Then he moved to a bigger team, and last year he won the gold medal. After that he retired, and in the end he returned to his first club. The evidence from the text: “he influenced a whole generation”. The text refers to the importance of patience and regular training.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text type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sequence markers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quoted phrase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يُشِيرُ إِلَى + genitive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the text type from the verb endings.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answers match the time markers.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put the events in the right order.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quoted one Arabic phrase 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cs typeface="Amiri" pitchFamily="2" charset="-78"/>
              </a:rPr>
              <a:t>يُشِيرُ إِلَى</a:t>
            </a:r>
            <a:pPr algn="l" indent="0" marL="0">
              <a:buNone/>
            </a:pPr>
            <a:r>
              <a:rPr lang="en-US" sz="1300" dirty="0">
                <a:solidFill>
                  <a:srgbClr val="1F2A37"/>
                </a:solidFill>
                <a:latin typeface="Calibri" pitchFamily="34" charset="0"/>
                <a:cs typeface="Amiri" pitchFamily="2" charset="-78"/>
              </a:rPr>
              <a:t> with the genitive.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text is full of </a:t>
            </a:r>
            <a:pPr algn="l" indent="0" marL="0">
              <a:buNone/>
            </a:pPr>
            <a:r>
              <a:rPr lang="ar-SA" altLang="en-US" sz="1650" b="1" dirty="0">
                <a:solidFill>
                  <a:srgbClr val="1B3B6F"/>
                </a:solidFill>
                <a:latin typeface="Amiri" pitchFamily="2" charset="-78"/>
                <a:cs typeface="Amiri" pitchFamily="2" charset="-78"/>
              </a:rPr>
              <a:t>فَعَلْتُ</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cs typeface="Amiri" pitchFamily="2" charset="-78"/>
              </a:rPr>
              <a:t>فَعَلْنَا</a:t>
            </a:r>
            <a:pPr algn="l" indent="0" marL="0">
              <a:buNone/>
            </a:pPr>
            <a:r>
              <a:rPr lang="en-US" sz="1250" b="1" dirty="0">
                <a:solidFill>
                  <a:srgbClr val="1B3B6F"/>
                </a:solidFill>
                <a:latin typeface="Calibri" pitchFamily="34" charset="0"/>
                <a:cs typeface="Amiri" pitchFamily="2" charset="-78"/>
              </a:rPr>
              <a:t>. What is 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account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official biography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الفَرِيقُ بِالبُطُولَةِ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يَفُوزُ</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فَازَ</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سَيَفُوزُ</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يُشِيرُ النَّصُّ</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أَهَمِّيَّةِ 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text is full of </a:t>
            </a:r>
            <a:pPr algn="l" indent="0" marL="0">
              <a:buNone/>
            </a:pPr>
            <a:r>
              <a:rPr lang="ar-SA" altLang="en-US" sz="1650" b="1" dirty="0">
                <a:solidFill>
                  <a:srgbClr val="1B3B6F"/>
                </a:solidFill>
                <a:latin typeface="Amiri" pitchFamily="2" charset="-78"/>
                <a:cs typeface="Amiri" pitchFamily="2" charset="-78"/>
              </a:rPr>
              <a:t>فَعَلْتُ</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cs typeface="Amiri" pitchFamily="2" charset="-78"/>
              </a:rPr>
              <a:t>فَعَلْنَا</a:t>
            </a:r>
            <a:pPr algn="l" indent="0" marL="0">
              <a:buNone/>
            </a:pPr>
            <a:r>
              <a:rPr lang="en-US" sz="1250" b="1" dirty="0">
                <a:solidFill>
                  <a:srgbClr val="1B3B6F"/>
                </a:solidFill>
                <a:latin typeface="Calibri" pitchFamily="34" charset="0"/>
                <a:cs typeface="Amiri" pitchFamily="2" charset="-78"/>
              </a:rPr>
              <a:t>. What is it?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personal account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official biography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First-person past verbs signal a personal account.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الفَرِيقُ بِالبُطُولَةِ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يَفُوزُ</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فَازَ</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سَيَفُوزُ</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أَمْسِ</a:t>
            </a:r>
            <a:pPr algn="l" indent="0" marL="0">
              <a:buNone/>
            </a:pPr>
            <a:r>
              <a:rPr lang="en-US" sz="1050" i="1" dirty="0">
                <a:solidFill>
                  <a:srgbClr val="8A6D1E"/>
                </a:solidFill>
                <a:latin typeface="Calibri" pitchFamily="34" charset="0"/>
                <a:cs typeface="Amiri" pitchFamily="2" charset="-78"/>
              </a:rPr>
              <a:t> requires a past-tense verb.</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يُشِيرُ النَّصُّ</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أَهَمِّيَّةِ 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يُشِيرُ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Reading Mission — Text Type, Sequence and Tense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Text type: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فَازَ، انْتَقَلَ، اعْتَزَلَ</a:t>
            </a:r>
            <a:pPr algn="l" indent="0" marL="0">
              <a:buNone/>
            </a:pPr>
            <a:r>
              <a:rPr lang="en-US" sz="1250" b="1" dirty="0">
                <a:solidFill>
                  <a:srgbClr val="1F2A37"/>
                </a:solidFill>
                <a:latin typeface="Calibri" pitchFamily="34" charset="0"/>
                <a:cs typeface="Amiri" pitchFamily="2" charset="-78"/>
              </a:rPr>
              <a:t> signal what?</a:t>
            </a:r>
            <a:endParaRPr lang="en-US" sz="12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recipe</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biography</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Text type: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50" b="1" dirty="0">
                <a:solidFill>
                  <a:srgbClr val="1F2A37"/>
                </a:solidFill>
                <a:latin typeface="Amiri" pitchFamily="2" charset="-78"/>
                <a:cs typeface="Amiri" pitchFamily="2" charset="-78"/>
              </a:rPr>
              <a:t>حَجَزْتُ، أَقَمْتُ، اسْتَمْتَعْتُ</a:t>
            </a:r>
            <a:pPr algn="l" indent="0" marL="0">
              <a:buNone/>
            </a:pPr>
            <a:r>
              <a:rPr lang="en-US" sz="1050" b="1" dirty="0">
                <a:solidFill>
                  <a:srgbClr val="1F2A37"/>
                </a:solidFill>
                <a:latin typeface="Calibri" pitchFamily="34" charset="0"/>
                <a:cs typeface="Amiri" pitchFamily="2" charset="-78"/>
              </a:rPr>
              <a:t> signal what?</a:t>
            </a:r>
            <a:endParaRPr lang="en-US" sz="10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review</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news report</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advertisement</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cs typeface="Amiri" pitchFamily="2" charset="-78"/>
              </a:rPr>
              <a:t>الأُسْبُوعَ المَاضِيَ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الفَرِيقُ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يَتَدَرَّبُ</a:t>
            </a:r>
            <a:endParaRPr lang="ar-SA" sz="20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سَيَتَدَرَّبُ</a:t>
            </a:r>
            <a:endParaRPr lang="ar-SA" sz="20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تَدَرَّبَ</a:t>
            </a:r>
            <a:endParaRPr lang="ar-SA" sz="20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cs typeface="Amiri" pitchFamily="2" charset="-78"/>
              </a:rPr>
              <a:t>غَدًا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الفَرِيقُ فِي البُطُولَةِ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شَارَكَ</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يُشَارِكُ أَمْسِ</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سَيُشَارِكُ</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“review”?</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مُرَاجَعَةٌ</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تَقْرِيرٌ</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فِقْرَةٌ</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يُشِيرُ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تَجْرِبَتِهِ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Text type:</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فَازَ، انْتَقَلَ، اعْتَزَلَ</a:t>
            </a:r>
            <a:pPr algn="l" indent="0" marL="0">
              <a:buNone/>
            </a:pPr>
            <a:r>
              <a:rPr lang="en-US" sz="1250" b="1" dirty="0">
                <a:solidFill>
                  <a:srgbClr val="1F2A37"/>
                </a:solidFill>
                <a:latin typeface="Calibri" pitchFamily="34" charset="0"/>
                <a:cs typeface="Amiri" pitchFamily="2" charset="-78"/>
              </a:rPr>
              <a:t> signal what?</a:t>
            </a:r>
            <a:endParaRPr lang="en-US" sz="125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recipe</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biography</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Third-person past verbs about one person signal a biography.</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Text type:</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50" b="1" dirty="0">
                <a:solidFill>
                  <a:srgbClr val="1F2A37"/>
                </a:solidFill>
                <a:latin typeface="Amiri" pitchFamily="2" charset="-78"/>
                <a:cs typeface="Amiri" pitchFamily="2" charset="-78"/>
              </a:rPr>
              <a:t>حَجَزْتُ، أَقَمْتُ، اسْتَمْتَعْتُ</a:t>
            </a:r>
            <a:pPr algn="l" indent="0" marL="0">
              <a:buNone/>
            </a:pPr>
            <a:r>
              <a:rPr lang="en-US" sz="1050" b="1" dirty="0">
                <a:solidFill>
                  <a:srgbClr val="1F2A37"/>
                </a:solidFill>
                <a:latin typeface="Calibri" pitchFamily="34" charset="0"/>
                <a:cs typeface="Amiri" pitchFamily="2" charset="-78"/>
              </a:rPr>
              <a:t> signal what?</a:t>
            </a:r>
            <a:endParaRPr lang="en-US" sz="10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personal review</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news report</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advertisement</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First-person past verbs signal a personal account.</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cs typeface="Amiri" pitchFamily="2" charset="-78"/>
              </a:rPr>
              <a:t>الأُسْبُوعَ المَاضِيَ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الفَرِيقُ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يَتَدَرَّبُ</a:t>
            </a:r>
            <a:endParaRPr lang="ar-SA" sz="170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سَيَتَدَرَّبُ</a:t>
            </a:r>
            <a:endParaRPr lang="ar-SA" sz="170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تَدَرَّبَ</a:t>
            </a:r>
            <a:endParaRPr lang="ar-SA" sz="170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past time marker requires a past verb.</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cs typeface="Amiri" pitchFamily="2" charset="-78"/>
              </a:rPr>
              <a:t>غَدًا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الفَرِيقُ فِي البُطُولَةِ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شَارَكَ</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يُشَارِكُ أَمْسِ</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سَيُشَارِكُ</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غَدًا</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with a present verb.</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“review”?</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مُرَاجَعَةٌ</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تَقْرِيرٌ</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فِقْرَةٌ</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مُرَاجَعَةٌ</a:t>
            </a:r>
            <a:pPr algn="l" indent="0" marL="0">
              <a:buNone/>
            </a:pPr>
            <a:r>
              <a:rPr lang="en-US" sz="1050" i="1" dirty="0">
                <a:solidFill>
                  <a:srgbClr val="8A6D1E"/>
                </a:solidFill>
                <a:latin typeface="Calibri" pitchFamily="34" charset="0"/>
                <a:cs typeface="Amiri" pitchFamily="2" charset="-78"/>
              </a:rPr>
              <a:t> is a review.</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يُشِيرُ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تَجْرِبَتِهِ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يُشِيرُ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D5-L09 · Writing — My Leisure Life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تَنَوُّعُ الأَزْمِنَةِ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tense variety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المُسَوَّدَةُ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draft</a:t>
            </a:r>
            <a:pPr indent="0" marL="0">
              <a:buNone/>
            </a:pPr>
            <a:r>
              <a:rPr lang="en-US" sz="1000" i="1" dirty="0">
                <a:solidFill>
                  <a:srgbClr val="5A6472"/>
                </a:solidFill>
                <a:latin typeface="Calibri" pitchFamily="34" charset="0"/>
                <a:cs typeface="Amiri" pitchFamily="2" charset="-78"/>
              </a:rPr>
              <a:t>  pl. المُسَوَّدَاتُ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الآنَ فَـ</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 for now, …</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أَنْوِي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intend to</a:t>
            </a:r>
            <a:pPr indent="0" marL="0">
              <a:buNone/>
            </a:pPr>
            <a:r>
              <a:rPr lang="en-US" sz="1000" i="1" dirty="0">
                <a:solidFill>
                  <a:srgbClr val="5A6472"/>
                </a:solidFill>
                <a:latin typeface="Calibri" pitchFamily="34" charset="0"/>
                <a:cs typeface="Amiri" pitchFamily="2" charset="-78"/>
              </a:rPr>
              <a:t>  يَنْوِي 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بِصَرَاحَةٍ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frankly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Plan your leisure life: one thing you did as a child, one thing you do now, one thing you will do.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فِي الطُّفُولَةِ كُنْتُ … · أَمَّا الآنَ فَـ … · فِي المُسْتَقْبَلِ سَـ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text-type and marker words; redo reading questions 1–3.</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50–60-word summary of the life story with two markers and a quote.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 70-word evidence-based summary.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D5-L09 · Writing — My Leisure Life (Extended Writing)</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الكِتَابَةُ — حَيَاتِي التَّرْفِيهِيَّةُ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endings → text type · markers → order · time word → tense · and prove it with the Arabic.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D5-L08 · Reading — Leisure, Sport and Past Experience Texts</dc:title>
  <dc:subject>PptxGenJS Presentation</dc:subject>
  <dc:creator>Al Madina Online School · Arabic Department</dc:creator>
  <cp:lastModifiedBy>Al Madina Online School · Arabic Department</cp:lastModifiedBy>
  <cp:revision>1</cp:revision>
  <dcterms:created xsi:type="dcterms:W3CDTF">2026-10-11T06:41:02Z</dcterms:created>
  <dcterms:modified xsi:type="dcterms:W3CDTF">2026-10-11T06:41:02Z</dcterms:modified>
</cp:coreProperties>
</file>