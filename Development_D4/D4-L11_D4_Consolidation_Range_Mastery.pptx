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D4-L11. The website lesson “D4 Consolidation — Range Mastery and Speaking Preparation”: vocabulary, grammar rules and quiz, patterns, common mistakes, sorter, listening, reading, speaking prompts and model, writing task and model, differentiation, final check and the lesson mission. Picture match: website visual game “D4 Consolidation — Range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D4 review before the D4-L12 assessment.
• Core: one accurate sentence for each link of the chain (climate · problem · solution) with frames. Develop: the full chain in a paragraph with one passive, one cause–effect and one purpose. Stretch: the website writing task (130–140 words, seven meaningful D4 features) + a qualified judgement and a self-audit.
• Speaking focus: self-correction phrases (لِأُصَحِّحْ ذٰلِكَ · أَقْصِدُ أَنَّ · بِعِبَارَةٍ أُخْرَى) — a recovered mistake is better than silence.
• Use the Do Now and quick-check results to choose each student’s route for the final You Do.
• TEACHER-WRITTEN ITEMS: two quiz distractors replaced (they differed only in vowels), “D4” written out in Arabic inside the Arabic texts,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D4-L10. Questions 3–5 retrieve D4-L10, D4-L02 and D4-L03. Note which of 3–5 each student gets wrong: it points to their revision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top answer is a CHAIN, not a list: every feature links to the next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نقطہ، قوت، عبارت are shared. CAREFUL: Urdu تحسین = praise; Arabic تَحْسِينٌ = improvement (مَجَالُ تَحْسِينٍ = an area for improvement). Urdu اعداد (aʿdād) = numbers; Arabic إِعْدَادٌ (iʿdād, with kasra) =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and performance (website vocabulary (1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and performance (website vocabulary (2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(1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(2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“Climate and weather accuracy” (keep climate description and weather events distinct), “Problem, cause and passive” (use a true passive where the affected thing is foregrounded) and “Solution and purpose” (state who must act and why). Rule 4 (“Qualified academic judgement”) is row 5. Colours: blue = climate, pink = problem chain, purple = solution / condition.
Core: rows 1, 2 and 4 are enough for a strong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three website common mistakes for this lesson, turned into a hand-in checklist. Students copy the three heads into the margin of their writing and tick each one.
Card 3 in full (website): عَلَى الرَّغْمِ مِنْ أَنَّ المَشْرُوعَ مُكَلِّفٌ، فَإِنَّهُ يُقَلِّلُ الهَدْرَ عَلَى المَدَى البَعِيدِ.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Climate and weather accuracy: Keep climate description and weather events distinct.
• Problem, cause and passive: Use a true passive where the affected thing is foregrounded.
• Solution and purpose: State who must act and why.
• Qualified academic judgement: A strong answer recognises limits and states conditions.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build the chain aloud. At step 4, deliberately say لِكَيْ تَحْمِي المَوَارِدَ with the wrong ending, stop, and model: لِأُصَحِّحْ ذٰلِكَ — لِكَيْ تَحْمِيَ. The copy box is the middle of the website writing model (the full model is on the Write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 question 2 is the corrected detail.
Listen 1: just listen. Listen 2: note answers. Then chat the letters.
Support: after the second listening, show the read-along slide (Arabic + English, line by line) for Core students.
SCRIPT (read aloud):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60 seconds each in pairs; the partner counts the D4 features heard and notes one self-correction phrase. If a student freezes: لِأُصَحِّحْ ذٰلِكَ / بِعِبَارَةٍ أُخْرَى and try again. To a girl: مَا نُقْطَةُ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D4 features: يَسُودُ · تَشِحُّ … نَتِيجَةً لِـ · يَجِبُ عَلَى … أَنْ تَسْتَثْمِرَ … لِكَيْ تَحْمِيَ · عَلَاوَةً عَلَى ذٰلِكَ · يُمْكِنُ أَنْ يُسْتَخْدَمَ (passive) · عَلَى الرَّغْمِ مِنْ أَنَّ … فَإِنَّهَا · فِي رَأْيِي. Count them with the class: seven or more, each with a job.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(D4-L12 · D4 Review and Unit Assessment) will spend class time USING this language, so students prepare it tonight — short, simple, easy to access (school guidance: “Simple, Short, Interesting, Relevant, Easy to access”). The five words are the instruction words of the D4-L12 assessment (its listening, reading and marking sections).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D4 Consolidation — Range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تَرْسِيخُ الوَحْدَةِ — إِتْقَانُ النِّطَاقِ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Pull the whole of D4 together in one chain — climate → problem → cause → solution → qualified judgement — accurately and under pressure, and practise recovering in speaking (</a:t>
            </a:r>
            <a:pPr algn="l" indent="0" marL="0">
              <a:buNone/>
            </a:pPr>
            <a:r>
              <a:rPr lang="ar-SA" altLang="en-US" sz="1800" dirty="0">
                <a:solidFill>
                  <a:srgbClr val="C6D2E6"/>
                </a:solidFill>
                <a:latin typeface="Amiri" pitchFamily="2" charset="-78"/>
                <a:cs typeface="Amiri" pitchFamily="2" charset="-78"/>
              </a:rPr>
              <a:t>لِأُصَحِّحْ ذٰلِكَ</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بِعِبَارَةٍ أُخْرَى</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D4 chain: climate → problem → solution → judgement.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range, fix three classic D4 slips, then two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نُقْطَةُ قُوَّةٍ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area for improvement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point of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بِعِبَارَةٍ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other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 me correct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 mean 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حَذَّرَ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شُحِّ المِيَاهِ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يَهُبُّ الرِّيَاحُ بِقُوَّةٍ.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الرِّيَاحِ بِقُوَّةٍ.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الرِّيَاحُ بِقُوَّةٍ.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يَقْطَعُ النَّاسُ الأَشْجَارَ.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قَطَعْنَا الأَشْجَارَ.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نُقْطَةُ قُوَّةٍ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area for improvement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strength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point of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بِعِبَارَةٍ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other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 me correct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 mean is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حَذَّرَ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شُحِّ المِيَاهِ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يَهُبُّ الرِّيَاحُ بِقُوَّةٍ.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تَهُبُّ الرِّيَاحِ بِقُوَّةٍ.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تَهُبُّ الرِّيَاحُ بِقُوَّةٍ.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D4-L02: weather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تُقْطَعُ الأَشْجَارُ.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يَقْطَعُ النَّاسُ الأَشْجَارَ.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قَطَعْنَا الأَشْجَارَ.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top answer is a CHAIN, not a list: every feature links to the next idea.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يَسُودُ</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D6336C"/>
                </a:solidFill>
                <a:latin typeface="Amiri" pitchFamily="2" charset="-78"/>
                <a:cs typeface="Amiri" pitchFamily="2" charset="-78"/>
              </a:rPr>
              <a:t>يُلَوَّثُ</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بِسَبَبِ</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1D5FBF"/>
                </a:solidFill>
                <a:latin typeface="Amiri" pitchFamily="2" charset="-78"/>
                <a:cs typeface="Amiri" pitchFamily="2" charset="-78"/>
              </a:rPr>
              <a:t>يَجِبُ عَلَى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لِكَيْ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climate and weather accurately (</a:t>
            </a:r>
            <a:pPr algn="l" indent="0" marL="0">
              <a:buNone/>
            </a:pPr>
            <a:r>
              <a:rPr lang="ar-SA" altLang="en-US" sz="1700" dirty="0">
                <a:solidFill>
                  <a:srgbClr val="1F2A37"/>
                </a:solidFill>
                <a:latin typeface="Amiri" pitchFamily="2" charset="-78"/>
                <a:cs typeface="Amiri" pitchFamily="2" charset="-78"/>
              </a:rPr>
              <a:t>يَسُودُ</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تَهُبُّ الرِّيَاحُ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 problem with a passive and a cause–effect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Propose a solution with obligation + purpose and give a qualified judgement.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Recover from a mistake in speaking with a self-correction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accurate sentence for climate, problem and solution.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D4 frames.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problem, cause and solution in a paragraph.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passive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qualified judgement (</a:t>
            </a:r>
            <a:pPr algn="l" indent="0" marL="0">
              <a:buNone/>
            </a:pPr>
            <a:r>
              <a:rPr lang="ar-SA" altLang="en-US" sz="1700" b="1" dirty="0">
                <a:solidFill>
                  <a:srgbClr val="B83227"/>
                </a:solidFill>
                <a:latin typeface="Amiri" pitchFamily="2" charset="-78"/>
                <a:cs typeface="Amiri" pitchFamily="2" charset="-78"/>
              </a:rPr>
              <a:t>شَرِيطَةَ 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self-correct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Range and performance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D4 grammar bank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and self-correction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نُقْطَةٌ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‎نقطہ‎ </a:t>
            </a:r>
            <a:pPr indent="0" marL="0">
              <a:buNone/>
            </a:pPr>
            <a:r>
              <a:rPr lang="en-US" sz="950" b="1" dirty="0">
                <a:solidFill>
                  <a:srgbClr val="2E8B57"/>
                </a:solidFill>
                <a:latin typeface="Calibri" pitchFamily="34" charset="0"/>
                <a:cs typeface="Amiri" pitchFamily="2" charset="-78"/>
              </a:rPr>
              <a:t> nuqta · point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‎قوت‎ </a:t>
            </a:r>
            <a:pPr indent="0" marL="0">
              <a:buNone/>
            </a:pPr>
            <a:r>
              <a:rPr lang="en-US" sz="950" b="1" dirty="0">
                <a:solidFill>
                  <a:srgbClr val="2E8B57"/>
                </a:solidFill>
                <a:latin typeface="Calibri" pitchFamily="34" charset="0"/>
                <a:cs typeface="Amiri" pitchFamily="2" charset="-78"/>
              </a:rPr>
              <a:t> quwwat · strength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تَحْسِينٌ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‎تحسین‎ </a:t>
            </a:r>
            <a:pPr indent="0" marL="0">
              <a:buNone/>
            </a:pPr>
            <a:r>
              <a:rPr lang="en-US" sz="950" b="1" dirty="0">
                <a:solidFill>
                  <a:srgbClr val="2E8B57"/>
                </a:solidFill>
                <a:latin typeface="Calibri" pitchFamily="34" charset="0"/>
                <a:cs typeface="Amiri" pitchFamily="2" charset="-78"/>
              </a:rPr>
              <a:t> taḥsīn · Urdu: praise · Arabic: improvement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إِعْدَادٌ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‎اعداد‎ </a:t>
            </a:r>
            <a:pPr indent="0" marL="0">
              <a:buNone/>
            </a:pPr>
            <a:r>
              <a:rPr lang="en-US" sz="950" b="1" dirty="0">
                <a:solidFill>
                  <a:srgbClr val="2E8B57"/>
                </a:solidFill>
                <a:latin typeface="Calibri" pitchFamily="34" charset="0"/>
                <a:cs typeface="Amiri" pitchFamily="2" charset="-78"/>
              </a:rPr>
              <a:t> aʿdād · Urdu: numbers · Arabic: preparation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عِبَارَةٌ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‎عبارت‎ </a:t>
            </a:r>
            <a:pPr indent="0" marL="0">
              <a:buNone/>
            </a:pPr>
            <a:r>
              <a:rPr lang="en-US" sz="950" b="1" dirty="0">
                <a:solidFill>
                  <a:srgbClr val="2E8B57"/>
                </a:solidFill>
                <a:latin typeface="Calibri" pitchFamily="34" charset="0"/>
                <a:cs typeface="Amiri" pitchFamily="2" charset="-78"/>
              </a:rPr>
              <a:t> ʿibārat · expression, wording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and performance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النِّطَاقُ اللُّغَوِيُّ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an-ni-ṭā-qu all-lu-gha-wiy-yu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التَّكَامُلُ اللُّغَوِيُّ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integration</a:t>
            </a:r>
            <a:endParaRPr lang="en-US" sz="1350" dirty="0"/>
          </a:p>
          <a:p>
            <a:pPr indent="0" marL="0">
              <a:buNone/>
            </a:pPr>
            <a:r>
              <a:rPr lang="en-US" sz="1100" i="1" dirty="0">
                <a:solidFill>
                  <a:srgbClr val="5A6472"/>
                </a:solidFill>
                <a:latin typeface="Calibri" pitchFamily="34" charset="0"/>
                <a:cs typeface="Amiri" pitchFamily="2" charset="-78"/>
              </a:rPr>
              <a:t>at-ta-kā-mu-lu all-lu-gha-wiy-yu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 under pressure</a:t>
            </a:r>
            <a:endParaRPr lang="en-US" sz="1350" dirty="0"/>
          </a:p>
          <a:p>
            <a:pPr indent="0" marL="0">
              <a:buNone/>
            </a:pPr>
            <a:r>
              <a:rPr lang="en-US" sz="1100" i="1" dirty="0">
                <a:solidFill>
                  <a:srgbClr val="5A6472"/>
                </a:solidFill>
                <a:latin typeface="Calibri" pitchFamily="34" charset="0"/>
                <a:cs typeface="Amiri" pitchFamily="2" charset="-78"/>
              </a:rPr>
              <a:t>ad-diq-qa-tu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التَّعَمُّقُ الأَكَادِيمِيُّ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depth</a:t>
            </a:r>
            <a:endParaRPr lang="en-US" sz="1350" dirty="0"/>
          </a:p>
          <a:p>
            <a:pPr indent="0" marL="0">
              <a:buNone/>
            </a:pPr>
            <a:r>
              <a:rPr lang="en-US" sz="1100" i="1" dirty="0">
                <a:solidFill>
                  <a:srgbClr val="5A6472"/>
                </a:solidFill>
                <a:latin typeface="Calibri" pitchFamily="34" charset="0"/>
                <a:cs typeface="Amiri" pitchFamily="2" charset="-78"/>
              </a:rPr>
              <a:t>at-ta-ʿam-mu-qu al-a-kā-dī-miy-yu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إِعْدَادُ الامْتِحَانِ</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 preparation</a:t>
            </a:r>
            <a:endParaRPr lang="en-US" sz="1350" dirty="0"/>
          </a:p>
          <a:p>
            <a:pPr indent="0" marL="0">
              <a:buNone/>
            </a:pPr>
            <a:r>
              <a:rPr lang="en-US" sz="1100" i="1" dirty="0">
                <a:solidFill>
                  <a:srgbClr val="5A6472"/>
                </a:solidFill>
                <a:latin typeface="Calibri" pitchFamily="34" charset="0"/>
                <a:cs typeface="Amiri" pitchFamily="2" charset="-78"/>
              </a:rPr>
              <a:t>iʿ-dā-du alm-ti-ḥā-ni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and performance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نُقْطَةُ قُوَّةٍ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مَجَالُ تَحْسِينٍ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area for improvement</a:t>
            </a:r>
            <a:endParaRPr lang="en-US" sz="1350" dirty="0"/>
          </a:p>
          <a:p>
            <a:pPr indent="0" marL="0">
              <a:buNone/>
            </a:pPr>
            <a:r>
              <a:rPr lang="en-US" sz="1100" i="1" dirty="0">
                <a:solidFill>
                  <a:srgbClr val="5A6472"/>
                </a:solidFill>
                <a:latin typeface="Calibri" pitchFamily="34" charset="0"/>
                <a:cs typeface="Amiri" pitchFamily="2" charset="-78"/>
              </a:rPr>
              <a:t>ma-jā-lu taḥ-sī-nin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 لُغَوِيٌّ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evidence</a:t>
            </a:r>
            <a:endParaRPr lang="en-US" sz="1350" dirty="0"/>
          </a:p>
          <a:p>
            <a:pPr indent="0" marL="0">
              <a:buNone/>
            </a:pPr>
            <a:r>
              <a:rPr lang="en-US" sz="1100" i="1" dirty="0">
                <a:solidFill>
                  <a:srgbClr val="5A6472"/>
                </a:solidFill>
                <a:latin typeface="Calibri" pitchFamily="34" charset="0"/>
                <a:cs typeface="Amiri" pitchFamily="2" charset="-78"/>
              </a:rPr>
              <a:t>da-lī-lun lu-gha-wiy-yun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إِجَابَةٌ مُطَوَّرَةٌ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developed answer</a:t>
            </a:r>
            <a:endParaRPr lang="en-US" sz="1350" dirty="0"/>
          </a:p>
          <a:p>
            <a:pPr indent="0" marL="0">
              <a:buNone/>
            </a:pPr>
            <a:r>
              <a:rPr lang="en-US" sz="1100" i="1" dirty="0">
                <a:solidFill>
                  <a:srgbClr val="5A6472"/>
                </a:solidFill>
                <a:latin typeface="Calibri" pitchFamily="34" charset="0"/>
                <a:cs typeface="Amiri" pitchFamily="2" charset="-78"/>
              </a:rPr>
              <a:t>i-jā-ba-tun mu-ṭaw-wa-ra-tun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and self-correction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أَقْصِدُ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 mean is</a:t>
            </a:r>
            <a:endParaRPr lang="en-US" sz="1350" dirty="0"/>
          </a:p>
          <a:p>
            <a:pPr indent="0" marL="0">
              <a:buNone/>
            </a:pPr>
            <a:r>
              <a:rPr lang="en-US" sz="1100" i="1" dirty="0">
                <a:solidFill>
                  <a:srgbClr val="5A6472"/>
                </a:solidFill>
                <a:latin typeface="Calibri" pitchFamily="34" charset="0"/>
                <a:cs typeface="Amiri" pitchFamily="2" charset="-78"/>
              </a:rPr>
              <a:t>aq-ṣi-du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بِعِبَارَةٍ أُخْرَى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لِأُصَحِّحْ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correct that</a:t>
            </a:r>
            <a:endParaRPr lang="en-US" sz="1350" dirty="0"/>
          </a:p>
          <a:p>
            <a:pPr indent="0" marL="0">
              <a:buNone/>
            </a:pPr>
            <a:r>
              <a:rPr lang="en-US" sz="1100" i="1" dirty="0">
                <a:solidFill>
                  <a:srgbClr val="5A6472"/>
                </a:solidFill>
                <a:latin typeface="Calibri" pitchFamily="34" charset="0"/>
                <a:cs typeface="Amiri" pitchFamily="2" charset="-78"/>
              </a:rPr>
              <a:t>li-ʾu-ṣaḥ-ḥiḥ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سَأُعْطِي مِثَالًا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give an example</a:t>
            </a:r>
            <a:endParaRPr lang="en-US" sz="1350" dirty="0"/>
          </a:p>
          <a:p>
            <a:pPr indent="0" marL="0">
              <a:buNone/>
            </a:pPr>
            <a:r>
              <a:rPr lang="en-US" sz="1100" i="1" dirty="0">
                <a:solidFill>
                  <a:srgbClr val="5A6472"/>
                </a:solidFill>
                <a:latin typeface="Calibri" pitchFamily="34" charset="0"/>
                <a:cs typeface="Amiri" pitchFamily="2" charset="-78"/>
              </a:rPr>
              <a:t>sa-ʾuʿ-ṭī mi-thā-lan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and self-correction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الدَّلِيلُ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evidence for that</a:t>
            </a:r>
            <a:endParaRPr lang="en-US" sz="1350" dirty="0"/>
          </a:p>
          <a:p>
            <a:pPr indent="0" marL="0">
              <a:buNone/>
            </a:pPr>
            <a:r>
              <a:rPr lang="en-US" sz="1100" i="1" dirty="0">
                <a:solidFill>
                  <a:srgbClr val="5A6472"/>
                </a:solidFill>
                <a:latin typeface="Calibri" pitchFamily="34" charset="0"/>
                <a:cs typeface="Amiri" pitchFamily="2" charset="-78"/>
              </a:rPr>
              <a:t>ad-da-lī-lu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وَجْهَةِ نَظَرِي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waj-ha-ti na-ẓa-rī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إِلَى حَدٍّ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some extent</a:t>
            </a:r>
            <a:endParaRPr lang="en-US" sz="1350" dirty="0"/>
          </a:p>
          <a:p>
            <a:pPr indent="0" marL="0">
              <a:buNone/>
            </a:pPr>
            <a:r>
              <a:rPr lang="en-US" sz="1100" i="1" dirty="0">
                <a:solidFill>
                  <a:srgbClr val="5A6472"/>
                </a:solidFill>
                <a:latin typeface="Calibri" pitchFamily="34" charset="0"/>
                <a:cs typeface="Amiri" pitchFamily="2" charset="-78"/>
              </a:rPr>
              <a:t>i-lā ḥad-din mā</a:t>
            </a:r>
            <a:endParaRPr lang="en-US" sz="13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D4 CHAIN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 problem →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سِلْسِلَةُ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263347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D4-L01 · L02</a:t>
            </a:r>
            <a:endParaRPr lang="en-US" sz="1100" dirty="0"/>
          </a:p>
        </p:txBody>
      </p:sp>
      <p:sp>
        <p:nvSpPr>
          <p:cNvPr id="21" name="Text 18"/>
          <p:cNvSpPr txBox="1"/>
          <p:nvPr/>
        </p:nvSpPr>
        <p:spPr>
          <a:xfrm>
            <a:off x="2651760" y="2286000"/>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يَسُودُ</a:t>
            </a:r>
            <a:pPr rtl="1" algn="ctr" indent="0" marL="0">
              <a:buNone/>
            </a:pPr>
            <a:r>
              <a:rPr lang="ar-SA" altLang="en-US" sz="1950" b="1" dirty="0">
                <a:solidFill>
                  <a:srgbClr val="1B3B6F"/>
                </a:solidFill>
                <a:latin typeface="Amiri" pitchFamily="2" charset="-78"/>
                <a:cs typeface="Amiri" pitchFamily="2" charset="-78"/>
              </a:rPr>
              <a:t> مَنَاخٌ جَافٌّ فِي الدَّاخِلِ، وَ</a:t>
            </a:r>
            <a:pPr rtl="1" algn="ctr" indent="0" marL="0">
              <a:buNone/>
            </a:pPr>
            <a:r>
              <a:rPr lang="ar-SA" altLang="en-US" sz="1950" b="1" dirty="0">
                <a:solidFill>
                  <a:srgbClr val="0E7C86"/>
                </a:solidFill>
                <a:latin typeface="Amiri" pitchFamily="2" charset="-78"/>
                <a:cs typeface="Amiri" pitchFamily="2" charset="-78"/>
              </a:rPr>
              <a:t>تَهُبُّ</a:t>
            </a:r>
            <a:pPr rtl="1" algn="ctr" indent="0" marL="0">
              <a:buNone/>
            </a:pPr>
            <a:r>
              <a:rPr lang="ar-SA" altLang="en-US" sz="1950" b="1" dirty="0">
                <a:solidFill>
                  <a:srgbClr val="1B3B6F"/>
                </a:solidFill>
                <a:latin typeface="Amiri" pitchFamily="2" charset="-78"/>
                <a:cs typeface="Amiri" pitchFamily="2" charset="-78"/>
              </a:rPr>
              <a:t> الرِّيَاحُ بِقُوَّةٍ فِي الرَّبِيعِ.</a:t>
            </a:r>
            <a:endParaRPr lang="ar-SA" sz="1950" dirty="0"/>
          </a:p>
        </p:txBody>
      </p:sp>
      <p:sp>
        <p:nvSpPr>
          <p:cNvPr id="22" name="Text 19"/>
          <p:cNvSpPr txBox="1"/>
          <p:nvPr/>
        </p:nvSpPr>
        <p:spPr>
          <a:xfrm>
            <a:off x="2606040" y="267699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dry climate prevails inland, and winds blow strongly in spring.</a:t>
            </a:r>
            <a:endParaRPr lang="en-US" sz="950" dirty="0"/>
          </a:p>
        </p:txBody>
      </p:sp>
      <p:sp>
        <p:nvSpPr>
          <p:cNvPr id="23" name="Text 20"/>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climate + weather</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D4-L03</a:t>
            </a:r>
            <a:endParaRPr lang="en-US" sz="1100" dirty="0"/>
          </a:p>
        </p:txBody>
      </p:sp>
      <p:sp>
        <p:nvSpPr>
          <p:cNvPr id="28" name="Text 25"/>
          <p:cNvSpPr txBox="1"/>
          <p:nvPr/>
        </p:nvSpPr>
        <p:spPr>
          <a:xfrm>
            <a:off x="2651760" y="302300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يُلَوَّثُ</a:t>
            </a:r>
            <a:pPr rtl="1" algn="ctr" indent="0" marL="0">
              <a:buNone/>
            </a:pPr>
            <a:r>
              <a:rPr lang="ar-SA" altLang="en-US" sz="1950" b="1" dirty="0">
                <a:solidFill>
                  <a:srgbClr val="1B3B6F"/>
                </a:solidFill>
                <a:latin typeface="Amiri" pitchFamily="2" charset="-78"/>
                <a:cs typeface="Amiri" pitchFamily="2" charset="-78"/>
              </a:rPr>
              <a:t> الهَوَاءُ </a:t>
            </a:r>
            <a:pPr rtl="1" algn="ctr" indent="0" marL="0">
              <a:buNone/>
            </a:pPr>
            <a:r>
              <a:rPr lang="ar-SA" altLang="en-US" sz="1950" b="1" dirty="0">
                <a:solidFill>
                  <a:srgbClr val="D6336C"/>
                </a:solidFill>
                <a:latin typeface="Amiri" pitchFamily="2" charset="-78"/>
                <a:cs typeface="Amiri" pitchFamily="2" charset="-78"/>
              </a:rPr>
              <a:t>بِسَبَبِ</a:t>
            </a:r>
            <a:pPr rtl="1" algn="ctr" indent="0" marL="0">
              <a:buNone/>
            </a:pPr>
            <a:r>
              <a:rPr lang="ar-SA" altLang="en-US" sz="1950" b="1" dirty="0">
                <a:solidFill>
                  <a:srgbClr val="1B3B6F"/>
                </a:solidFill>
                <a:latin typeface="Amiri" pitchFamily="2" charset="-78"/>
                <a:cs typeface="Amiri" pitchFamily="2" charset="-78"/>
              </a:rPr>
              <a:t> عَوَادِمِ السَّيَّارَاتِ،</a:t>
            </a:r>
            <a:endParaRPr lang="ar-SA" sz="1950" dirty="0"/>
          </a:p>
        </p:txBody>
      </p:sp>
      <p:sp>
        <p:nvSpPr>
          <p:cNvPr id="29" name="Text 26"/>
          <p:cNvSpPr txBox="1"/>
          <p:nvPr/>
        </p:nvSpPr>
        <p:spPr>
          <a:xfrm>
            <a:off x="2606040" y="3414004"/>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air is polluted because of car exhaust,</a:t>
            </a:r>
            <a:endParaRPr lang="en-US" sz="950" dirty="0"/>
          </a:p>
        </p:txBody>
      </p:sp>
      <p:sp>
        <p:nvSpPr>
          <p:cNvPr id="30" name="Text 27"/>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problem + cause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D4-L03 · L07</a:t>
            </a:r>
            <a:endParaRPr lang="en-US" sz="1100" dirty="0"/>
          </a:p>
        </p:txBody>
      </p:sp>
      <p:sp>
        <p:nvSpPr>
          <p:cNvPr id="35" name="Text 32"/>
          <p:cNvSpPr txBox="1"/>
          <p:nvPr/>
        </p:nvSpPr>
        <p:spPr>
          <a:xfrm>
            <a:off x="2651760" y="3760013"/>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مِمَّا يُؤَدِّي إِلَى</a:t>
            </a:r>
            <a:pPr rtl="1" algn="ctr" indent="0" marL="0">
              <a:buNone/>
            </a:pPr>
            <a:r>
              <a:rPr lang="ar-SA" altLang="en-US" sz="1950" b="1" dirty="0">
                <a:solidFill>
                  <a:srgbClr val="1B3B6F"/>
                </a:solidFill>
                <a:latin typeface="Amiri" pitchFamily="2" charset="-78"/>
                <a:cs typeface="Amiri" pitchFamily="2" charset="-78"/>
              </a:rPr>
              <a:t> أَمْرَاضٍ تَنَفُّسِيَّةٍ.</a:t>
            </a:r>
            <a:endParaRPr lang="ar-SA" sz="1950" dirty="0"/>
          </a:p>
        </p:txBody>
      </p:sp>
      <p:sp>
        <p:nvSpPr>
          <p:cNvPr id="36" name="Text 33"/>
          <p:cNvSpPr txBox="1"/>
          <p:nvPr/>
        </p:nvSpPr>
        <p:spPr>
          <a:xfrm>
            <a:off x="2606040" y="4151010"/>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which leads to respiratory diseases.</a:t>
            </a:r>
            <a:endParaRPr lang="en-US" sz="950" dirty="0"/>
          </a:p>
        </p:txBody>
      </p:sp>
      <p:sp>
        <p:nvSpPr>
          <p:cNvPr id="37" name="Text 34"/>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result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D4-L04</a:t>
            </a:r>
            <a:endParaRPr lang="en-US" sz="1100" dirty="0"/>
          </a:p>
        </p:txBody>
      </p:sp>
      <p:sp>
        <p:nvSpPr>
          <p:cNvPr id="40" name="Text 37"/>
          <p:cNvSpPr txBox="1"/>
          <p:nvPr/>
        </p:nvSpPr>
        <p:spPr>
          <a:xfrm>
            <a:off x="2651760" y="4497019"/>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يَجِبُ عَلَى</a:t>
            </a:r>
            <a:pPr rtl="1" algn="ctr" indent="0" marL="0">
              <a:buNone/>
            </a:pPr>
            <a:r>
              <a:rPr lang="ar-SA" altLang="en-US" sz="1950" b="1" dirty="0">
                <a:solidFill>
                  <a:srgbClr val="1B3B6F"/>
                </a:solidFill>
                <a:latin typeface="Amiri" pitchFamily="2" charset="-78"/>
                <a:cs typeface="Amiri" pitchFamily="2" charset="-78"/>
              </a:rPr>
              <a:t> الحُكُومَةِ </a:t>
            </a:r>
            <a:pPr rtl="1" algn="ctr" indent="0" marL="0">
              <a:buNone/>
            </a:pPr>
            <a:r>
              <a:rPr lang="ar-SA" altLang="en-US" sz="1950" b="1" dirty="0">
                <a:solidFill>
                  <a:srgbClr val="1D5FBF"/>
                </a:solidFill>
                <a:latin typeface="Amiri" pitchFamily="2" charset="-78"/>
                <a:cs typeface="Amiri" pitchFamily="2" charset="-78"/>
              </a:rPr>
              <a:t>أَنْ تُوَسِّعَ</a:t>
            </a:r>
            <a:pPr rtl="1" algn="ctr" indent="0" marL="0">
              <a:buNone/>
            </a:pPr>
            <a:r>
              <a:rPr lang="ar-SA" altLang="en-US" sz="1950" b="1" dirty="0">
                <a:solidFill>
                  <a:srgbClr val="1B3B6F"/>
                </a:solidFill>
                <a:latin typeface="Amiri" pitchFamily="2" charset="-78"/>
                <a:cs typeface="Amiri" pitchFamily="2" charset="-78"/>
              </a:rPr>
              <a:t> النَّقْلَ العَامَّ </a:t>
            </a:r>
            <a:pPr rtl="1" algn="ctr" indent="0" marL="0">
              <a:buNone/>
            </a:pPr>
            <a:r>
              <a:rPr lang="ar-SA" altLang="en-US" sz="1950" b="1" dirty="0">
                <a:solidFill>
                  <a:srgbClr val="1D5FBF"/>
                </a:solidFill>
                <a:latin typeface="Amiri" pitchFamily="2" charset="-78"/>
                <a:cs typeface="Amiri" pitchFamily="2" charset="-78"/>
              </a:rPr>
              <a:t>لِكَيْ تُقَلِّلَ</a:t>
            </a:r>
            <a:pPr rtl="1" algn="ctr" indent="0" marL="0">
              <a:buNone/>
            </a:pPr>
            <a:r>
              <a:rPr lang="ar-SA" altLang="en-US" sz="1950" b="1" dirty="0">
                <a:solidFill>
                  <a:srgbClr val="1B3B6F"/>
                </a:solidFill>
                <a:latin typeface="Amiri" pitchFamily="2" charset="-78"/>
                <a:cs typeface="Amiri" pitchFamily="2" charset="-78"/>
              </a:rPr>
              <a:t> الانْبِعَاثَاتِ.</a:t>
            </a:r>
            <a:endParaRPr lang="ar-SA" sz="1950" dirty="0"/>
          </a:p>
        </p:txBody>
      </p:sp>
      <p:sp>
        <p:nvSpPr>
          <p:cNvPr id="41" name="Text 38"/>
          <p:cNvSpPr txBox="1"/>
          <p:nvPr/>
        </p:nvSpPr>
        <p:spPr>
          <a:xfrm>
            <a:off x="2606040" y="488801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government must expand public transport to reduce emissions.</a:t>
            </a:r>
            <a:endParaRPr lang="en-US" sz="950" dirty="0"/>
          </a:p>
        </p:txBody>
      </p:sp>
      <p:sp>
        <p:nvSpPr>
          <p:cNvPr id="42" name="Text 39"/>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solution + purpose</a:t>
            </a:r>
            <a:endParaRPr lang="en-US" sz="11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D4-L06 · L09</a:t>
            </a:r>
            <a:endParaRPr lang="en-US" sz="1100" dirty="0"/>
          </a:p>
        </p:txBody>
      </p:sp>
      <p:sp>
        <p:nvSpPr>
          <p:cNvPr id="47" name="Text 44"/>
          <p:cNvSpPr txBox="1"/>
          <p:nvPr/>
        </p:nvSpPr>
        <p:spPr>
          <a:xfrm>
            <a:off x="2651760" y="523402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عَلَى الرَّغْمِ مِنْ أَنَّهَا مُكَلِّفَةٌ، فَإِنَّهَا مُفِيدَةٌ </a:t>
            </a:r>
            <a:pPr rtl="1" algn="ctr" indent="0" marL="0">
              <a:buNone/>
            </a:pPr>
            <a:r>
              <a:rPr lang="ar-SA" altLang="en-US" sz="1950" b="1" dirty="0">
                <a:solidFill>
                  <a:srgbClr val="1D5FBF"/>
                </a:solidFill>
                <a:latin typeface="Amiri" pitchFamily="2" charset="-78"/>
                <a:cs typeface="Amiri" pitchFamily="2" charset="-78"/>
              </a:rPr>
              <a:t>شَرِيطَةَ أَنْ</a:t>
            </a:r>
            <a:pPr rtl="1" algn="ctr" indent="0" marL="0">
              <a:buNone/>
            </a:pPr>
            <a:r>
              <a:rPr lang="ar-SA" altLang="en-US" sz="1950" b="1" dirty="0">
                <a:solidFill>
                  <a:srgbClr val="1B3B6F"/>
                </a:solidFill>
                <a:latin typeface="Amiri" pitchFamily="2" charset="-78"/>
                <a:cs typeface="Amiri" pitchFamily="2" charset="-78"/>
              </a:rPr>
              <a:t> تُطَبَّقَ بِمَسْؤُولِيَّةٍ.</a:t>
            </a:r>
            <a:endParaRPr lang="ar-SA" sz="1950" dirty="0"/>
          </a:p>
        </p:txBody>
      </p:sp>
      <p:sp>
        <p:nvSpPr>
          <p:cNvPr id="48" name="Text 45"/>
          <p:cNvSpPr txBox="1"/>
          <p:nvPr/>
        </p:nvSpPr>
        <p:spPr>
          <a:xfrm>
            <a:off x="2606040" y="5625023"/>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Although it is expensive, it is useful provided that it is applied responsibly.</a:t>
            </a:r>
            <a:endParaRPr lang="en-US" sz="950" dirty="0"/>
          </a:p>
        </p:txBody>
      </p:sp>
      <p:sp>
        <p:nvSpPr>
          <p:cNvPr id="49" name="Text 46"/>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judgement</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plural non-human subjects: </a:t>
            </a:r>
            <a:pPr algn="l" indent="0" marL="0">
              <a:buNone/>
            </a:pPr>
            <a:r>
              <a:rPr lang="ar-SA" altLang="en-US" sz="1500" b="1" dirty="0">
                <a:solidFill>
                  <a:srgbClr val="1B3B6F"/>
                </a:solidFill>
                <a:latin typeface="Amiri" pitchFamily="2" charset="-78"/>
                <a:cs typeface="Amiri" pitchFamily="2" charset="-78"/>
              </a:rPr>
              <a:t>تَهُبُّ الرِّيَاحُ</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تَشِحُّ المِيَاهُ</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تُقْطَعُ الأَشْجَارُ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THE THREE CLASSIC D4 SLIPS (WEBSITE MISTAKES) · ALL ROUTES</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Check these three before you hand in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ثَلَاثَةُ 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 / LI-KAY + -A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 لِكَيْ + مَنْصُوبٌ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أَنْ تُوَسِّعَ … لِكَيْ تُقَلِّلَ</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to expand … in order to reduce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verbs end in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ANNA + -A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يُشَارُ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يُشَارُ إِلَى أَنَّ المَنَاخَ يَتَغَيَّرُ.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indicated that the climate is changing.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then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CONTRAST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2" charset="-78"/>
                <a:cs typeface="Amiri" pitchFamily="2" charset="-78"/>
              </a:rPr>
              <a:t>عَلَى الرَّغْمِ مِنْ أَنَّ … فَإِنَّ</a:t>
            </a:r>
            <a:endParaRPr lang="ar-SA" sz="13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المَشْرُوعُ مُكَلِّفٌ، فَإِنَّهُ يُقَلِّلُ الهَدْرَ.</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 costly, it reduces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“costly, so costly”.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لِكَيْ تُقَلِّلَ الانْبِعَاثَاتِ</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لِكَيْ تُقَلِّلُ الانْبِعَاثَاتِ</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D4 integrated grammar and range mastery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قَوَاعِدُ الوَحْدَةِ الرَّابِعَةِ مُتَكَامِلَةً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يَهُبُّ الرِّيَاحُ وَيَسْقُطُ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الرِّيَاحُ وَتَسْقُطُ المَنَاخُ.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الرِّيَاحُ وَتَسْقُطُ الثُّلُوجُ.</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بِعَوَادِمِ السَّيَّارَاتِ.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يَنْبَعِثُ الهَوَاءُ السَّيَّارَاتِ.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عَوَادِمَ السَّيَّارَاتِ.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 قَطْعِ الأَشْجَارِ، تَزْدَادُ الغَابَاتُ.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 قَطْعِ الأَشْجَارِ، تَفْقِدُ الحَيَوَانَاتُ مَوَائِلَهَا.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 قَطْعِ الأَشْجَارِ، تَنْخَفِضُ الحَاجَةُ إِلَى الحِمَايَةِ.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يَجِبُ عَلَى المَدِينَةِ أَنْ تُوَسِّعَ النَّقْلَ لِكَيْ تَزِيدَ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يَهُبُّ الرِّيَاحُ وَيَسْقُطُ الثُّلُوجُ.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تَهُبُّ الرِّيَاحُ وَتَسْقُطُ المَنَاخُ.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تَهُبُّ الرِّيَاحُ وَتَسْقُطُ الثُّلُوجُ.</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take feminine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يُلَوَّثُ الهَوَاءُ بِعَوَادِمِ السَّيَّارَاتِ.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يَنْبَعِثُ الهَوَاءُ السَّيَّارَاتِ.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يَلَوِّثُ الهَوَاءُ عَوَادِمَ السَّيَّارَاتِ.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subject in </a:t>
            </a:r>
            <a:pPr algn="l" indent="0" marL="0">
              <a:buNone/>
            </a:pPr>
            <a:r>
              <a:rPr lang="ar-SA" altLang="en-US" sz="1350" dirty="0">
                <a:solidFill>
                  <a:srgbClr val="8A6D1E"/>
                </a:solidFill>
                <a:latin typeface="Amiri" pitchFamily="2" charset="-78"/>
                <a:cs typeface="Amiri" pitchFamily="2" charset="-78"/>
              </a:rPr>
              <a:t>يُلوَّث الهواء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 قَطْعِ الأَشْجَارِ، تَزْدَادُ الغَابَاتُ.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بِسَبَبِ قَطْعِ الأَشْجَارِ، تَفْقِدُ الحَيَوَانَاتُ مَوَائِلَهَا.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 قَطْعِ الأَشْجَارِ، تَنْخَفِضُ الحَاجَةُ إِلَى الحِمَايَةِ.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Deforestation causes habitat loss.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عَلَى المَدِينَةِ أَنْ تُوَسِّعَ النَّقْلَ لِكَيْ تَزِيدَ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Watch me build the D4 chain — and recover from a slip</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Climate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يَسُودُ</a:t>
            </a:r>
            <a:pPr rtl="1" algn="ctr" indent="0" marL="0">
              <a:buNone/>
            </a:pPr>
            <a:r>
              <a:rPr lang="ar-SA" altLang="en-US" sz="2800" b="1" dirty="0">
                <a:solidFill>
                  <a:srgbClr val="1B3B6F"/>
                </a:solidFill>
                <a:latin typeface="Amiri" pitchFamily="2" charset="-78"/>
                <a:cs typeface="Amiri" pitchFamily="2" charset="-78"/>
              </a:rPr>
              <a:t> مَنَاخٌ جَافٌّ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climate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تَشِحُّ</a:t>
            </a:r>
            <a:pPr rtl="1" algn="ctr" indent="0" marL="0">
              <a:lnSpc>
                <a:spcPct val="120000"/>
              </a:lnSpc>
              <a:buNone/>
            </a:pPr>
            <a:r>
              <a:rPr lang="ar-SA" altLang="en-US" sz="1750" b="1" dirty="0">
                <a:solidFill>
                  <a:srgbClr val="1B3B6F"/>
                </a:solidFill>
                <a:latin typeface="Amiri" pitchFamily="2" charset="-78"/>
                <a:cs typeface="Amiri" pitchFamily="2" charset="-78"/>
              </a:rPr>
              <a:t> المِيَاهُ </a:t>
            </a:r>
            <a:pPr rtl="1" algn="ctr" indent="0" marL="0">
              <a:lnSpc>
                <a:spcPct val="120000"/>
              </a:lnSpc>
              <a:buNone/>
            </a:pPr>
            <a:r>
              <a:rPr lang="ar-SA" altLang="en-US" sz="1750" b="1" dirty="0">
                <a:solidFill>
                  <a:srgbClr val="D6336C"/>
                </a:solidFill>
                <a:latin typeface="Amiri" pitchFamily="2" charset="-78"/>
                <a:cs typeface="Amiri" pitchFamily="2" charset="-78"/>
              </a:rPr>
              <a:t>نَتِيجَةً لِقِلَّةِ</a:t>
            </a:r>
            <a:pPr rtl="1" algn="ctr" indent="0" marL="0">
              <a:lnSpc>
                <a:spcPct val="120000"/>
              </a:lnSpc>
              <a:buNone/>
            </a:pPr>
            <a:r>
              <a:rPr lang="ar-SA" altLang="en-US" sz="1750" b="1" dirty="0">
                <a:solidFill>
                  <a:srgbClr val="1B3B6F"/>
                </a:solidFill>
                <a:latin typeface="Amiri" pitchFamily="2" charset="-78"/>
                <a:cs typeface="Amiri" pitchFamily="2" charset="-78"/>
              </a:rPr>
              <a:t> الأَمْطَارِ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Cause → result.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Solution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cs typeface="Amiri" pitchFamily="2" charset="-78"/>
              </a:rPr>
              <a:t>يَجِبُ عَلَى</a:t>
            </a:r>
            <a:pPr rtl="1" algn="ctr" indent="0" marL="0">
              <a:lnSpc>
                <a:spcPct val="120000"/>
              </a:lnSpc>
              <a:buNone/>
            </a:pPr>
            <a:r>
              <a:rPr lang="ar-SA" altLang="en-US" sz="1850" b="1" dirty="0">
                <a:solidFill>
                  <a:srgbClr val="1B3B6F"/>
                </a:solidFill>
                <a:latin typeface="Amiri" pitchFamily="2" charset="-78"/>
                <a:cs typeface="Amiri" pitchFamily="2" charset="-78"/>
              </a:rPr>
              <a:t> الحُكُومَاتِ </a:t>
            </a:r>
            <a:pPr rtl="1" algn="ctr" indent="0" marL="0">
              <a:lnSpc>
                <a:spcPct val="120000"/>
              </a:lnSpc>
              <a:buNone/>
            </a:pPr>
            <a:r>
              <a:rPr lang="ar-SA" altLang="en-US" sz="1850" b="1" dirty="0">
                <a:solidFill>
                  <a:srgbClr val="1D5FBF"/>
                </a:solidFill>
                <a:latin typeface="Amiri" pitchFamily="2" charset="-78"/>
                <a:cs typeface="Amiri" pitchFamily="2" charset="-78"/>
              </a:rPr>
              <a:t>أَنْ تَسْتَثْمِرَ</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must act.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لِأُصَحِّحْ ذٰلِكَ: لِكَيْ تَحْمِيَ المَوَارِدَ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it aloud.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CLIMATE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PROBLEM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SOLUTION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يَسُودُ</a:t>
            </a:r>
            <a:pPr rtl="1" algn="r" indent="0" marL="0">
              <a:lnSpc>
                <a:spcPct val="120000"/>
              </a:lnSpc>
              <a:buNone/>
            </a:pPr>
            <a:r>
              <a:rPr lang="ar-SA" altLang="en-US" sz="1400" b="1" dirty="0">
                <a:solidFill>
                  <a:srgbClr val="1B3B6F"/>
                </a:solidFill>
                <a:latin typeface="Amiri" pitchFamily="2" charset="-78"/>
                <a:cs typeface="Amiri" pitchFamily="2" charset="-78"/>
              </a:rPr>
              <a:t> مَنَاخٌ جَافٌّ فِي مَنَاطِقَ كَثِيرَةٍ، وَ</a:t>
            </a:r>
            <a:pPr rtl="1" algn="r" indent="0" marL="0">
              <a:lnSpc>
                <a:spcPct val="120000"/>
              </a:lnSpc>
              <a:buNone/>
            </a:pPr>
            <a:r>
              <a:rPr lang="ar-SA" altLang="en-US" sz="1400" b="1" dirty="0">
                <a:solidFill>
                  <a:srgbClr val="D6336C"/>
                </a:solidFill>
                <a:latin typeface="Amiri" pitchFamily="2" charset="-78"/>
                <a:cs typeface="Amiri" pitchFamily="2" charset="-78"/>
              </a:rPr>
              <a:t>تَشِحُّ</a:t>
            </a:r>
            <a:pPr rtl="1" algn="r" indent="0" marL="0">
              <a:lnSpc>
                <a:spcPct val="120000"/>
              </a:lnSpc>
              <a:buNone/>
            </a:pPr>
            <a:r>
              <a:rPr lang="ar-SA" altLang="en-US" sz="1400" b="1" dirty="0">
                <a:solidFill>
                  <a:srgbClr val="1B3B6F"/>
                </a:solidFill>
                <a:latin typeface="Amiri" pitchFamily="2" charset="-78"/>
                <a:cs typeface="Amiri" pitchFamily="2" charset="-78"/>
              </a:rPr>
              <a:t> المِيَاهُ </a:t>
            </a:r>
            <a:pPr rtl="1" algn="r" indent="0" marL="0">
              <a:lnSpc>
                <a:spcPct val="120000"/>
              </a:lnSpc>
              <a:buNone/>
            </a:pPr>
            <a:r>
              <a:rPr lang="ar-SA" altLang="en-US" sz="1400" b="1" dirty="0">
                <a:solidFill>
                  <a:srgbClr val="D6336C"/>
                </a:solidFill>
                <a:latin typeface="Amiri" pitchFamily="2" charset="-78"/>
                <a:cs typeface="Amiri" pitchFamily="2" charset="-78"/>
              </a:rPr>
              <a:t>نَتِيجَةً لِقِلَّةِ</a:t>
            </a:r>
            <a:pPr rtl="1" algn="r" indent="0" marL="0">
              <a:lnSpc>
                <a:spcPct val="120000"/>
              </a:lnSpc>
              <a:buNone/>
            </a:pPr>
            <a:r>
              <a:rPr lang="ar-SA" altLang="en-US" sz="1400" b="1" dirty="0">
                <a:solidFill>
                  <a:srgbClr val="1B3B6F"/>
                </a:solidFill>
                <a:latin typeface="Amiri" pitchFamily="2" charset="-78"/>
                <a:cs typeface="Amiri" pitchFamily="2" charset="-78"/>
              </a:rPr>
              <a:t> الأَمْطَارِ وَزِيَادَةِ الاسْتِهْلَاكِ. لِذٰلِكَ </a:t>
            </a:r>
            <a:pPr rtl="1" algn="r" indent="0" marL="0">
              <a:lnSpc>
                <a:spcPct val="120000"/>
              </a:lnSpc>
              <a:buNone/>
            </a:pPr>
            <a:r>
              <a:rPr lang="ar-SA" altLang="en-US" sz="1400" b="1" dirty="0">
                <a:solidFill>
                  <a:srgbClr val="1D5FBF"/>
                </a:solidFill>
                <a:latin typeface="Amiri" pitchFamily="2" charset="-78"/>
                <a:cs typeface="Amiri" pitchFamily="2" charset="-78"/>
              </a:rPr>
              <a:t>يَجِبُ عَلَى</a:t>
            </a:r>
            <a:pPr rtl="1" algn="r" indent="0" marL="0">
              <a:lnSpc>
                <a:spcPct val="120000"/>
              </a:lnSpc>
              <a:buNone/>
            </a:pPr>
            <a:r>
              <a:rPr lang="ar-SA" altLang="en-US" sz="1400" b="1" dirty="0">
                <a:solidFill>
                  <a:srgbClr val="1B3B6F"/>
                </a:solidFill>
                <a:latin typeface="Amiri" pitchFamily="2" charset="-78"/>
                <a:cs typeface="Amiri" pitchFamily="2" charset="-78"/>
              </a:rPr>
              <a:t> الحُكُومَاتِ </a:t>
            </a:r>
            <a:pPr rtl="1" algn="r" indent="0" marL="0">
              <a:lnSpc>
                <a:spcPct val="120000"/>
              </a:lnSpc>
              <a:buNone/>
            </a:pPr>
            <a:r>
              <a:rPr lang="ar-SA" altLang="en-US" sz="1400" b="1" dirty="0">
                <a:solidFill>
                  <a:srgbClr val="1D5FBF"/>
                </a:solidFill>
                <a:latin typeface="Amiri" pitchFamily="2" charset="-78"/>
                <a:cs typeface="Amiri" pitchFamily="2" charset="-78"/>
              </a:rPr>
              <a:t>أَنْ تَسْتَثْمِرَ</a:t>
            </a:r>
            <a:pPr rtl="1" algn="r" indent="0" marL="0">
              <a:lnSpc>
                <a:spcPct val="120000"/>
              </a:lnSpc>
              <a:buNone/>
            </a:pPr>
            <a:r>
              <a:rPr lang="ar-SA" altLang="en-US" sz="1400" b="1" dirty="0">
                <a:solidFill>
                  <a:srgbClr val="1B3B6F"/>
                </a:solidFill>
                <a:latin typeface="Amiri" pitchFamily="2" charset="-78"/>
                <a:cs typeface="Amiri" pitchFamily="2" charset="-78"/>
              </a:rPr>
              <a:t> فِي إِعَادَةِ اسْتِخْدَامِ المِيَاهِ </a:t>
            </a:r>
            <a:pPr rtl="1" algn="r" indent="0" marL="0">
              <a:lnSpc>
                <a:spcPct val="120000"/>
              </a:lnSpc>
              <a:buNone/>
            </a:pPr>
            <a:r>
              <a:rPr lang="ar-SA" altLang="en-US" sz="1400" b="1" dirty="0">
                <a:solidFill>
                  <a:srgbClr val="1D5FBF"/>
                </a:solidFill>
                <a:latin typeface="Amiri" pitchFamily="2" charset="-78"/>
                <a:cs typeface="Amiri" pitchFamily="2" charset="-78"/>
              </a:rPr>
              <a:t>لِكَيْ تَحْمِيَ</a:t>
            </a:r>
            <a:pPr rtl="1" algn="r" indent="0" marL="0">
              <a:lnSpc>
                <a:spcPct val="120000"/>
              </a:lnSpc>
              <a:buNone/>
            </a:pPr>
            <a:r>
              <a:rPr lang="ar-SA" altLang="en-US" sz="1400" b="1" dirty="0">
                <a:solidFill>
                  <a:srgbClr val="1B3B6F"/>
                </a:solidFill>
                <a:latin typeface="Amiri" pitchFamily="2" charset="-78"/>
                <a:cs typeface="Amiri" pitchFamily="2" charset="-78"/>
              </a:rPr>
              <a:t> المَوَارِدَ.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dry climate prevails in many regions, and water is scarce as a result of low rainfall and higher consumption. Therefore governments must invest in water reuse in order to protect resources.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يَسُودُ مَنَاخٌ جَافٌّ فِي الدَّاخِلِ، وَتَهُبُّ الرِّيَاحُ بِقُوَّةٍ فِي الرَّبِيعِ.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dry climate prevails inland, and winds blow strongly in spring.</a:t>
            </a:r>
            <a:endParaRPr lang="en-US" sz="1250" dirty="0"/>
          </a:p>
          <a:p>
            <a:pPr indent="0" marL="0">
              <a:buNone/>
            </a:pPr>
            <a:r>
              <a:rPr lang="en-US" sz="1050" i="1" dirty="0">
                <a:solidFill>
                  <a:srgbClr val="8A6D1E"/>
                </a:solidFill>
                <a:latin typeface="Calibri" pitchFamily="34" charset="0"/>
                <a:cs typeface="Amiri" pitchFamily="2" charset="-78"/>
              </a:rPr>
              <a:t>Keep climate description and weather events distinct.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يُلَوَّثُ الهَوَاءُ بِسَبَبِ عَوَادِمِ السَّيَّارَاتِ، مِمَّا يُؤَدِّي إِلَى أَمْرَاضٍ تَنَفُّسِيَّةٍ.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air is polluted because of car exhaust, which leads to respiratory diseases.</a:t>
            </a:r>
            <a:endParaRPr lang="en-US" sz="1250" dirty="0"/>
          </a:p>
          <a:p>
            <a:pPr indent="0" marL="0">
              <a:buNone/>
            </a:pPr>
            <a:r>
              <a:rPr lang="en-US" sz="1050" i="1" dirty="0">
                <a:solidFill>
                  <a:srgbClr val="8A6D1E"/>
                </a:solidFill>
                <a:latin typeface="Calibri" pitchFamily="34" charset="0"/>
                <a:cs typeface="Amiri" pitchFamily="2" charset="-78"/>
              </a:rPr>
              <a:t>Use a true passive where the affected thing is foregrounded.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يَجِبُ عَلَى الحُكُومَةِ أَنْ تُوَسِّعَ النَّقْلَ العَامَّ لِكَيْ تُقَلِّلَ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expand public transport in order to reduce emissions.</a:t>
            </a:r>
            <a:endParaRPr lang="en-US" sz="1250" dirty="0"/>
          </a:p>
          <a:p>
            <a:pPr indent="0" marL="0">
              <a:buNone/>
            </a:pPr>
            <a:r>
              <a:rPr lang="en-US" sz="1050" i="1" dirty="0">
                <a:solidFill>
                  <a:srgbClr val="8A6D1E"/>
                </a:solidFill>
                <a:latin typeface="Calibri" pitchFamily="34" charset="0"/>
                <a:cs typeface="Amiri" pitchFamily="2" charset="-78"/>
              </a:rPr>
              <a:t>State who must act and why.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النِّطَاقُ اللُّغَوِيُّ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التَّكَامُلُ اللُّغَوِيُّ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الدِّقَّةُ تَحْتَ الضَّغْطِ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يَسُودُ / يَتَّسِمُ بِـ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يَسْقُطُ / تَسْقُطُ / تَهُبُّ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يُلَوَّثُ / تُقْطَعُ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أَقْصِدُ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بِعِبَارَةٍ أُخْرَى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لِأُصَحِّحْ ذٰلِكَ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Range and performance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 grammar bank</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Speaking and self-correction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Range and performance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النِّطَاقُ اللُّغَوِيُّ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التَّكَامُلُ اللُّغَوِيُّ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الدِّقَّةُ تَحْتَ الضَّغْطِ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 grammar bank</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يَسُودُ / يَتَّسِمُ بِـ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يَسْقُطُ / تَسْقُطُ / تَهُبُّ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يُلَوَّثُ / تُقْطَعُ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Speaking and self-correction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أَقْصِدُ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بِعِبَارَةٍ أُخْرَى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لِأُصَحِّحْ ذٰلِكَ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distinguishes depletion from scarcity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يَنْضَبُ المِيَاهُ، وَتَشِحُّ النِّفْطُ.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تَنْضَبُ النِّفْطُ، وَيَشِحُّ المِيَاهُ.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يَنْضَبُ النِّفْطُ، وَتَشِحُّ المِيَاهُ.</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 إِلَى المَنَاخِ أَنَّ يَتَغَيَّرُ.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 المَنَاخَ يَتَغَيَّرُ.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يُشِيرُ أَنَّ إِلَى المَنَاخِ.</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أُؤَيِّدُ المَشْرُوعَ دَائِمًا لِأَنَّهُ مَشْرُوعٌ.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أُؤَيِّدُ المَشْرُوعَ إِلَى حَدٍّ مَا، شَرِيطَةَ أَنْ تُحْمَى الخُصُوصِيَّةُ.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أُؤَيِّدُ الخُصُوصِيَّةَ مِنَ المَشْرُوعِ.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self-correction phrase helps a speaker recover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يَنْضَبُ ذٰلِكَ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 ذٰلِكَ</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لِأُصَحِّحْ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distinguishes depletion from scarcity accurately?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يَنْضَبُ المِيَاهُ، وَتَشِحُّ النِّفْطُ.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تَنْضَبُ النِّفْطُ، وَيَشِحُّ المِيَاهُ.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يَنْضَبُ النِّفْطُ، وَتَشِحُّ المِيَاهُ.</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Oil is masculine; water is treated as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يُشَارِكُ إِلَى المَنَاخِ أَنَّ يَتَغَيَّرُ.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 إِلَى أَنَّ المَنَاخَ يَتَغَيَّرُ.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يُشِيرُ أَنَّ إِلَى المَنَاخِ.</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frame.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أُؤَيِّدُ المَشْرُوعَ دَائِمًا لِأَنَّهُ مَشْرُوعٌ.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أُؤَيِّدُ المَشْرُوعَ إِلَى حَدٍّ مَا، شَرِيطَةَ أَنْ تُحْمَى الخُصُوصِيَّةُ.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أُؤَيِّدُ الخُصُوصِيَّةَ مِنَ المَشْرُوعِ.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degree and condition.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self-correction phrase helps a speaker recover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يَنْضَبُ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 ذٰلِكَ</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لِأُصَحِّحْ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لأصحح ذلك</a:t>
            </a:r>
            <a:pPr algn="l" indent="0" marL="0">
              <a:buNone/>
            </a:pPr>
            <a:r>
              <a:rPr lang="en-US" sz="1050" i="1" dirty="0">
                <a:solidFill>
                  <a:srgbClr val="8A6D1E"/>
                </a:solidFill>
                <a:latin typeface="Calibri" pitchFamily="34" charset="0"/>
                <a:cs typeface="Amiri" pitchFamily="2" charset="-78"/>
              </a:rPr>
              <a:t> signals correction.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2" charset="-78"/>
                <a:cs typeface="Amiri" pitchFamily="2" charset="-78"/>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li-kay: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anna or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it a real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t>
            </a:r>
            <a:pPr algn="l" indent="0" marL="0">
              <a:buNone/>
            </a:pPr>
            <a:r>
              <a:rPr lang="ar-SA" altLang="en-US" sz="1500" b="1" dirty="0">
                <a:solidFill>
                  <a:srgbClr val="1B3B6F"/>
                </a:solidFill>
                <a:latin typeface="Amiri" pitchFamily="2" charset="-78"/>
                <a:cs typeface="Amiri" pitchFamily="2" charset="-78"/>
              </a:rPr>
              <a:t>توسّعَ</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cs typeface="Amiri" pitchFamily="2" charset="-78"/>
              </a:rPr>
              <a:t>تقلّلَ</a:t>
            </a:r>
            <a:pPr algn="l" indent="0" marL="0">
              <a:buNone/>
            </a:pPr>
            <a:r>
              <a:rPr lang="en-US" sz="1150" b="1" dirty="0">
                <a:solidFill>
                  <a:srgbClr val="1B3B6F"/>
                </a:solidFill>
                <a:latin typeface="Calibri" pitchFamily="34" charset="0"/>
                <a:cs typeface="Amiri" pitchFamily="2" charset="-78"/>
              </a:rPr>
              <a:t> are subjunctive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Impersonal reporting uses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1: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Closing all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more fossil fuel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waste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emissions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environmental benefit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buses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initial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Maryam for or against the project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it, with a reservation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completely against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say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Label first: project? benefit? problem?</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لٰكِنَّ</a:t>
            </a:r>
            <a:pPr algn="l" indent="0" marL="0">
              <a:lnSpc>
                <a:spcPct val="115000"/>
              </a:lnSpc>
              <a:buNone/>
            </a:pPr>
            <a:r>
              <a:rPr lang="en-US" sz="1250" dirty="0">
                <a:solidFill>
                  <a:srgbClr val="1E6B52"/>
                </a:solidFill>
                <a:latin typeface="Calibri" pitchFamily="34" charset="0"/>
                <a:cs typeface="Amiri" pitchFamily="2" charset="-78"/>
              </a:rPr>
              <a:t>: the reservation follows.</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conversation, Maryam described a project to expand public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قَالَتْ إِنَّهُ سَيُقَلِّلُ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said it will reduce emissions,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لٰكِنَّهَا أَضَافَتْ أَنَّ التَّكْلِفَةَ الأُولَى مُرْتَفِعَةٌ.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she added that the initial cost is high.</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Expanding public transport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Closing all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توسيع النقل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more fossil fuel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waste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emissions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سيقلل الانبعاثات.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environmental benefit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buses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initial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التكلفة الأولى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Maryam for or against the project overall?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it, with a reservation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completely against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say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سَيُقَلِّلُ الانْبِعَاثَاتِ، لٰكِنَّ …</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Label first: project? benefit? problem?</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لٰكِنَّ</a:t>
            </a:r>
            <a:pPr algn="l" indent="0" marL="0">
              <a:lnSpc>
                <a:spcPct val="115000"/>
              </a:lnSpc>
              <a:buNone/>
            </a:pPr>
            <a:r>
              <a:rPr lang="en-US" sz="1250" dirty="0">
                <a:solidFill>
                  <a:srgbClr val="1E6B52"/>
                </a:solidFill>
                <a:latin typeface="Calibri" pitchFamily="34" charset="0"/>
                <a:cs typeface="Amiri" pitchFamily="2" charset="-78"/>
              </a:rPr>
              <a:t>: the reservation follows.</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2: Khalid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stayed unchanged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fell by 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rose by 9%</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 and less 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technology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and behaviour change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Khalid say FIRST about consumption?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fell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rose by 9%</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stayed stable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He corrects himself!</a:t>
            </a:r>
            <a:endParaRPr lang="en-US" sz="1250" dirty="0"/>
          </a:p>
          <a:p>
            <a:pPr algn="l" indent="0" marL="0">
              <a:buNone/>
            </a:pPr>
            <a:r>
              <a:rPr lang="en-US" sz="1250" dirty="0">
                <a:solidFill>
                  <a:srgbClr val="1E6B52"/>
                </a:solidFill>
                <a:latin typeface="Calibri" pitchFamily="34" charset="0"/>
                <a:cs typeface="Amiri" pitchFamily="2" charset="-78"/>
              </a:rPr>
              <a:t>Which direction is FINAL: up or down?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المُحَادَثَةِ الثَّانِيَةِ، تَحَدَّثَ خَالِدٌ عَنْ شُحِّ المِيَاهِ.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conversation, Khalid talked about water scarcity.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أَوَّلًا قَالَ إِنَّ الاسْتِهْلَاكَ انْخَفَضَ،</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he said consumption fell,</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صَحَّحَ نَفْسَهُ وَقَالَ إِنَّهُ ارْتَفَعَ بِنِسْبَةِ 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he corrected himself and said it rose by 9%.</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وَأَكَّدَ أَنَّ الحَلَّ يَحْتَاجُ إِلَى التِّقْنِيَّةِ وَتَغْيِيرِ السُّلُوكِ مَعًا.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confirmed that the solution needs technology and behaviour change together.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شح المياه.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stayed unchanged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fell by 9%</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rose by 9%</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corrects himself: </a:t>
            </a:r>
            <a:pPr algn="l" indent="0" marL="0">
              <a:buNone/>
            </a:pPr>
            <a:r>
              <a:rPr lang="ar-SA" altLang="en-US" sz="1350" dirty="0">
                <a:solidFill>
                  <a:srgbClr val="8A6D1E"/>
                </a:solidFill>
                <a:latin typeface="Amiri" pitchFamily="2" charset="-78"/>
                <a:cs typeface="Amiri" pitchFamily="2" charset="-78"/>
              </a:rPr>
              <a:t>ارتفع بنسبة</a:t>
            </a:r>
            <a:pPr algn="l" indent="0" marL="0">
              <a:buNone/>
            </a:pPr>
            <a:r>
              <a:rPr lang="en-US" sz="1050" i="1" dirty="0">
                <a:solidFill>
                  <a:srgbClr val="8A6D1E"/>
                </a:solidFill>
                <a:latin typeface="Calibri" pitchFamily="34" charset="0"/>
                <a:cs typeface="Amiri" pitchFamily="2" charset="-78"/>
              </a:rPr>
              <a:t> 9</a:t>
            </a:r>
            <a:pPr algn="l" indent="0" marL="0">
              <a:buNone/>
            </a:pPr>
            <a:r>
              <a:rPr lang="ar-SA" altLang="en-US" sz="1350" dirty="0">
                <a:solidFill>
                  <a:srgbClr val="8A6D1E"/>
                </a:solidFill>
                <a:latin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waste and less 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technology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Technology and behaviour change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التقنية وتغيير السلوك معًا.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Khalid say FIRST about consumption?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it fell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rose by 9%</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stayed stable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أَوَّلًا قَالَ إِنَّ الاسْتِهْلَاكَ انْخَفَضَ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He corrects himself!</a:t>
            </a:r>
            <a:endParaRPr lang="en-US" sz="1250" dirty="0"/>
          </a:p>
          <a:p>
            <a:pPr algn="l" indent="0" marL="0">
              <a:buNone/>
            </a:pPr>
            <a:r>
              <a:rPr lang="en-US" sz="1250" dirty="0">
                <a:solidFill>
                  <a:srgbClr val="1E6B52"/>
                </a:solidFill>
                <a:latin typeface="Calibri" pitchFamily="34" charset="0"/>
                <a:cs typeface="Amiri" pitchFamily="2" charset="-78"/>
              </a:rPr>
              <a:t>Which direction is FINAL: up or down?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التِّقْنِيَّةُ جُزْءٌ مِنَ الحَلِّ؟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نُقْطَةُ قُوَّتِكَ وَمَجَالُ تَحْسِينِكَ؟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مِنْ وَجْهَةِ نَظَرِي، أَهَمُّ مُشْكِلَةٍ هِيَ ___ بِسَبَبِ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نَعَمْ، إِلَى حَدٍّ مَا؛ سَأُعْطِي مِثَالًا: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cs typeface="Amiri" pitchFamily="2" charset="-78"/>
              </a:rPr>
              <a:t>نُقْطَةُ قُوَّتِي ___ ، أَمَّا مَجَالُ التَّحْسِينِ فَهُوَ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أَقْوَى جَانِبٍ فِي لُغَتِكَ فِي هٰذِهِ الوَحْدَةِ، وَمَا الَّذِي تَحْتَاجُ إِلَى تَحْسِينِهِ؟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What is the strongest side of your language in this unit, and what do you need to improve?</a:t>
            </a:r>
            <a:endParaRPr lang="en-US" sz="7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strength is linking cause and effect… As for my area for improvement, it is the passive, and I will revise verb agreement.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 link: climate · problem · cause · solution · opinion — with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chain as one paragraph with a passive, a cause–effect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seven meaningful D4 features + a qualified technology judgement, then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مِمَّا يُؤَدِّي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which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يُشَارُ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indicated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عَلَى الرَّغْمِ مِنْ أَنَّ ______ ، فَإِنَّهَا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 it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provided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يَسُودُ مَنَاخٌ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climate prevails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يُلَوَّثُ ______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يَجِبُ عَلَى الحُكُومَةِ أَنْ ______ لِكَيْ ______ .</a:t>
            </a:r>
            <a:endParaRPr lang="ar-SA" sz="17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government must … in order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وَجْهَةِ نَظَرِي،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my point of view,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يَسُودُ  ·  يَتَّسِمُ بِـ  ·  تَهُبُّ الرِّيَاحُ  ·  يُلَوَّثُ  ·  تُقْطَعُ  ·  بِسَبَبِ  ·  مِمَّا يُؤَدِّي إِلَى  ·  يَجِبُ عَلَى … أَنْ  ·  لِكَيْ  ·  يُشَارُ إِلَى أَنَّ  ·  عَلَى الرَّغْمِ مِنْ أَنَّ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seven relevant D4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تَنَاوَلَتِ الوَحْدَةُ قَضَايَا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unit dealt with important issues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نَتِيجَةً لِقِلَّةِ الأَمْطَارِ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a result of low rainfall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يُمْكِنُ أَنْ يُسْتَخْدَمَ … لِرَصْدِ الهَدْرِ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can be used to monitor waste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تُوَفِّرُ المَالَ عَلَى المَدَى البَعِيدِ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saves money in the long 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يَجْمَعُ بَيْنَ التِّقْنِيَّةِ وَالسِّيَاسَةِ وَالسُّلُوكِ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combines technology, policy and behaviour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تَنَاوَلَتْ الوَحْدَةُ الرَّابِعَةُ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fourth unit dealt with important issues such as climate change, water scarcity and AI. A dry climate prevails in many regions, and water is scarce as a result of low rainfall and higher consumption. So governments must invest in water reuse to protect resources. Moreover, AI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climate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cause–effect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obligation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concession with a real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weather verbs agree (</a:t>
            </a:r>
            <a:pPr algn="l" indent="0" marL="0">
              <a:buNone/>
            </a:pPr>
            <a:r>
              <a:rPr lang="ar-SA" altLang="en-US" sz="1700" dirty="0">
                <a:solidFill>
                  <a:srgbClr val="1F2A37"/>
                </a:solidFill>
                <a:latin typeface="Amiri" pitchFamily="2" charset="-78"/>
                <a:cs typeface="Amiri" pitchFamily="2" charset="-78"/>
              </a:rPr>
              <a:t>تَهُبُّ الرِّيَاحُ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أَنْ / لِكَيْ</a:t>
            </a:r>
            <a:pPr algn="l" indent="0" marL="0">
              <a:buNone/>
            </a:pPr>
            <a:r>
              <a:rPr lang="en-US" sz="1300" dirty="0">
                <a:solidFill>
                  <a:srgbClr val="1F2A37"/>
                </a:solidFill>
                <a:latin typeface="Calibri" pitchFamily="34" charset="0"/>
                <a:cs typeface="Amiri" pitchFamily="2" charset="-78"/>
              </a:rPr>
              <a:t> my verbs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passive, a cause–effect and a purpose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is a real contrast; my judgement is qualified.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problem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يُلَوَّثُ الهَوَاءُ بِسَبَبِ العَوَادِمِ، مِمَّا يُؤَدِّي إِلَى أَمْرَاضٍ.</a:t>
            </a:r>
            <a:endParaRPr lang="ar-SA" sz="13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يُلَوَّثُ الهَوَاءُ لِكَيْ تَزْدَادَ الأَمْرَاضُ.</a:t>
            </a:r>
            <a:endParaRPr lang="ar-SA" sz="13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يَتَفَاعَلُ الهَوَاءُ عَلَى العَوَادِمِ.</a:t>
            </a:r>
            <a:endParaRPr lang="ar-SA" sz="13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report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 شُحَّ المِيَاهِ يَزْدَادُ.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 شُحُّ المِيَاهِ يَزْدَادُ.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 شُحُّ المِيَاهِ فِي الزِّيَادَةِ.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problem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يُلَوَّثُ الهَوَاءُ بِسَبَبِ العَوَادِمِ، مِمَّا يُؤَدِّي إِلَى أَمْرَاضٍ.</a:t>
            </a:r>
            <a:endParaRPr lang="ar-SA" sz="13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يُلَوَّثُ الهَوَاءُ لِكَيْ تَزْدَادَ الأَمْرَاضُ.</a:t>
            </a:r>
            <a:endParaRPr lang="ar-SA" sz="13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يَتَفَاعَلُ الهَوَاءُ عَلَى العَوَادِمِ.</a:t>
            </a:r>
            <a:endParaRPr lang="ar-SA" sz="13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integrates passive, cause and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report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يُشَارُ إِلَى أَنَّ شُحَّ المِيَاهِ يَزْدَادُ.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يُشَارُ إِلَى أَنْ شُحُّ المِيَاهِ يَزْدَادُ.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يُشَارِكُ شُحُّ المِيَاهِ فِي الزِّيَادَةِ.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consolidation: the complete D4 language system</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خِلَالَ الوَحْدَةِ الرَّابِعَةِ، تَعَلَّمَ الطُّلَّابُ أَنْ يَصِفُوا المَنَاخَ بِاسْتِخْدَامِ يَسُودُ وَيَتَّسِمُ بِـ، وَأَنْ يَشْرَحُوا المُشْكِلَاتِ بِالمَبْنِيِّ لِلْمَجْهُولِ وَرَوَابِطِ السَّبَبِ وَالنَّتِيجَةِ. كَمَا تَدَرَّبُوا عَلَى تَقْدِيمِ حُلُولٍ بِاسْتِخْدَامِ يَجِبُ عَلَى ... أَنْ وَلِكَيْ. وَفِي مَوْضُوعِ التِّقْنِيَّةِ، اسْتَخْدَمُوا مُفْرَدَاتٍ مِثْلَ الذَّكَاءِ الاصْطِنَاعِيِّ وَالتَّعَلُّمِ عَنْ بُعْدٍ، ثُمَّ قَيَّمُوا الفَوَائِدَ وَالمَخَاطِرَ بِحُجَجٍ مُتَوَازِنَةٍ. الهَدَفُ الآنَ هُوَ اسْتِخْدَامُ هٰذَا النِّطَاقِ بِدِقَّةٍ تَحْتَ الضَّغْطِ.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خِلَالَ وَحْدَةِ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during the unit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 يَصِفُوا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describe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يَشْرَحُوا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المَبْنِيِّ لِلْمَجْهُولِ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passive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رَوَابِطِ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connectors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تَدَرَّبُوا عَلَى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practised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تَقْدِيمِ حُلُولٍ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offering solutions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قَيَّمُوا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evaluated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المَخَاطِرَ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risks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تَحْتَ الضَّغْطِ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under pressure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verbs are named for climate description?</a:t>
            </a:r>
            <a:endParaRPr lang="en-US" sz="12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يَنْشُرُ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يُعَلِّقُ</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يَسُودُ</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يَتَّسِمُ بِـ</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يَأْكُلُ</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يَشْرَبُ</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language areas explain problems?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and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holiday narrative and prices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Passive and cause–effect links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introduce solutions?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يَجِبُ عَلَى</a:t>
            </a:r>
            <a:pPr algn="l" indent="0" marL="0">
              <a:buNone/>
            </a:pPr>
            <a:r>
              <a:rPr lang="en-US" sz="1250" dirty="0">
                <a:solidFill>
                  <a:srgbClr val="1F2A37"/>
                </a:solidFill>
                <a:latin typeface="Calibri" pitchFamily="34" charset="0"/>
                <a:cs typeface="Amiri" pitchFamily="2" charset="-78"/>
              </a:rPr>
              <a:t> ... </a:t>
            </a:r>
            <a:pPr algn="l" indent="0" marL="0">
              <a:buNone/>
            </a:pPr>
            <a:r>
              <a:rPr lang="ar-SA" altLang="en-US" sz="1650" dirty="0">
                <a:solidFill>
                  <a:srgbClr val="1F2A37"/>
                </a:solidFill>
                <a:latin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لِكَيْ</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مُنْذُ</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قَبْلَ</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كَمْ</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بِكَمْ</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digital term in the text.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المَلْعَبُ</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الذَّكَاءُ الاصْطِنَاعِيُّ</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المِظَلَّةُ</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were benefits and risks evaluated?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balanced arguments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no reasons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isolated vocabulary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goal?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the alphabet again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all formal language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the range accurately under pressure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verbs are named for climate description?</a:t>
            </a:r>
            <a:endParaRPr lang="en-US" sz="120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يَنْشُرُ</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يُعَلِّقُ</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يَسُودُ</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يَتَّسِمُ بِـ</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يَأْكُلُ</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يَشْرَبُ</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names them.</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language areas explain problems?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and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Past holiday narrative and prices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Passive and cause–effect links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المبني للمجهول وروابط السبب والنتيجة.</a:t>
            </a:r>
            <a:endParaRPr lang="ar-SA" sz="12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introduce solutions?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يَجِبُ عَلَى</a:t>
            </a:r>
            <a:pPr algn="l" indent="0" marL="0">
              <a:buNone/>
            </a:pPr>
            <a:r>
              <a:rPr lang="en-US" sz="1250" b="1" dirty="0">
                <a:solidFill>
                  <a:srgbClr val="1F2A37"/>
                </a:solidFill>
                <a:latin typeface="Calibri" pitchFamily="34" charset="0"/>
                <a:cs typeface="Amiri" pitchFamily="2" charset="-78"/>
              </a:rPr>
              <a:t> ... </a:t>
            </a:r>
            <a:pPr algn="l" indent="0" marL="0">
              <a:buNone/>
            </a:pPr>
            <a:r>
              <a:rPr lang="ar-SA" altLang="en-US" sz="1650" b="1" dirty="0">
                <a:solidFill>
                  <a:srgbClr val="1F2A37"/>
                </a:solidFill>
                <a:latin typeface="Amiri" pitchFamily="2" charset="-78"/>
                <a:cs typeface="Amiri" pitchFamily="2" charset="-78"/>
              </a:rPr>
              <a:t>أَنْ</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لِكَيْ</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مُنْذُ</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قَبْلَ</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كَمْ</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بِكَمْ</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are explicitly named.</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digital term in the text.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المَلْعَبُ</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الذَّكَاءُ الاصْطِنَاعِيُّ</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المِظَلَّةُ</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 is named.</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were benefits and risks evaluated?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balanced arguments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no reasons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With isolated vocabulary only</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بحجج متوازنة.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goal?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 the alphabet again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all formal language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the range accurately under pressure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 Consolidation — Range Mastery and Speaking Preparation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passive, cause and result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يُلَوَّثُ الهَوَاءُ لِكَيْ تَزْدَادَ الأَمْرَاضُ.</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يُلَوَّثُ الهَوَاءُ بِسَبَبِ العَوَادِمِ، مِمَّا يُؤَدِّي إِلَى أَمْرَاضٍ.</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يَنْبَعِثُ الهَوَاءُ مِنَ الأَمْرَاضِ.</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responsibility and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يَجِبُ عَلَى البَلَدِيَّةِ أَنْ تَزْرَعَ الأَشْجَارَ لِكَيْ تُحَسِّنَ الهَوَاءَ.</a:t>
            </a:r>
            <a:endParaRPr lang="ar-SA" sz="12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يَجِبُ عَلَى الأَشْجَارِ أَنْ تَزْرَعَ البَلَدِيَّةَ.</a:t>
            </a:r>
            <a:endParaRPr lang="ar-SA" sz="12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يَجِبُ البَلَدِيَّةُ تَزْرَعُ الأَشْجَارَ لِكَيْ الهَوَاءُ.</a:t>
            </a:r>
            <a:endParaRPr lang="ar-SA" sz="12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accurate for water becoming scarce?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يَشِحُّ المِيَاهُ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تَنْضَبُ المِيَاهَ</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تَشِحُّ المِيَاهُ</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uses self-correction productively?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المَشْرُوعُ يَبْدَأُ فِي يُونْيُو—لِأُصَحِّحْ ذٰلِكَ—فِي سِبْتَمْبَرَ.</a:t>
            </a:r>
            <a:endParaRPr lang="ar-SA" sz="14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لِأُصَحِّحْ ذٰلِكَ المَشْرُوعُ مَشْرُوعٌ.</a:t>
            </a:r>
            <a:endParaRPr lang="ar-SA" sz="14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المَشْرُوعُ يَبْدَأُ فِي يُونْيُو وَيُونْيُو فَقَطْ.</a:t>
            </a:r>
            <a:endParaRPr lang="ar-SA" sz="14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shows D4-level balance?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التِّقْنِيَّةُ مُفِيدَةٌ دَائِمًا دُونَ شُرُوطٍ.</a:t>
            </a:r>
            <a:endParaRPr lang="ar-SA" sz="12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التِّقْنِيَّةُ مُفِيدَةٌ إِلَى حَدٍّ مَا، شَرِيطَةَ أَنْ تُحْمَى البَيَانَاتُ.</a:t>
            </a:r>
            <a:endParaRPr lang="ar-SA" sz="12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التِّقْنِيَّةُ غَيْرُ مُفِيدَةٍ لِأَنَّهَا تِقْنِيَّةٌ.</a:t>
            </a:r>
            <a:endParaRPr lang="ar-SA" sz="12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passive, cause and result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يُلَوَّثُ الهَوَاءُ لِكَيْ تَزْدَادَ الأَمْرَاضُ.</a:t>
            </a:r>
            <a:endParaRPr lang="ar-SA" sz="13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يُلَوَّثُ الهَوَاءُ بِسَبَبِ العَوَادِمِ، مِمَّا يُؤَدِّي إِلَى أَمْرَاضٍ.</a:t>
            </a:r>
            <a:endParaRPr lang="ar-SA" sz="13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يَنْبَعِثُ الهَوَاءُ مِنَ الأَمْرَاضِ.</a:t>
            </a:r>
            <a:endParaRPr lang="ar-SA" sz="13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coherent problem chain.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responsibility and purpose?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يَجِبُ عَلَى البَلَدِيَّةِ أَنْ تَزْرَعَ الأَشْجَارَ لِكَيْ تُحَسِّنَ الهَوَاءَ.</a:t>
            </a:r>
            <a:endParaRPr lang="ar-SA" sz="12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يَجِبُ عَلَى الأَشْجَارِ أَنْ تَزْرَعَ البَلَدِيَّةَ.</a:t>
            </a:r>
            <a:endParaRPr lang="ar-SA" sz="12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يَجِبُ البَلَدِيَّةُ تَزْرَعُ الأَشْجَارَ لِكَيْ الهَوَاءُ.</a:t>
            </a:r>
            <a:endParaRPr lang="ar-SA" sz="12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municipality acts for a clear purpose.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sound-ending subjunctive takes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accurate for water becoming scarce?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يَشِحُّ المِيَاهُ</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تَنْضَبُ المِيَاهَ</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تَشِحُّ المِيَاهُ</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المياه</a:t>
            </a:r>
            <a:pPr algn="l" indent="0" marL="0">
              <a:buNone/>
            </a:pPr>
            <a:r>
              <a:rPr lang="en-US" sz="1050" i="1" dirty="0">
                <a:solidFill>
                  <a:srgbClr val="8A6D1E"/>
                </a:solidFill>
                <a:latin typeface="Calibri" pitchFamily="34" charset="0"/>
                <a:cs typeface="Amiri" pitchFamily="2" charset="-78"/>
              </a:rPr>
              <a:t> takes feminine agreement.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uses self-correction productively?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المَشْرُوعُ يَبْدَأُ فِي يُونْيُو—لِأُصَحِّحْ ذٰلِكَ—فِي سِبْتَمْبَرَ.</a:t>
            </a:r>
            <a:endParaRPr lang="ar-SA" sz="14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لِأُصَحِّحْ ذٰلِكَ المَشْرُوعُ مَشْرُوعٌ.</a:t>
            </a:r>
            <a:endParaRPr lang="ar-SA" sz="14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المَشْرُوعُ يَبْدَأُ فِي يُونْيُو وَيُونْيُو فَقَطْ.</a:t>
            </a:r>
            <a:endParaRPr lang="ar-SA" sz="14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explicitly corrects the date.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shows D4-level balance?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التِّقْنِيَّةُ مُفِيدَةٌ دَائِمًا دُونَ شُرُوطٍ.</a:t>
            </a:r>
            <a:endParaRPr lang="ar-SA" sz="12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التِّقْنِيَّةُ مُفِيدَةٌ إِلَى حَدٍّ مَا، شَرِيطَةَ أَنْ تُحْمَى البَيَانَاتُ.</a:t>
            </a:r>
            <a:endParaRPr lang="ar-SA" sz="12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التِّقْنِيَّةُ غَيْرُ مُفِيدَةٍ لِأَنَّهَا تِقْنِيَّةٌ.</a:t>
            </a:r>
            <a:endParaRPr lang="ar-SA" sz="12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qualifies the judgement and sets a condition.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D4-L12 · D4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مَعَايِيرُ التَّصْحِيحِ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marking criteria</a:t>
            </a:r>
            <a:pPr indent="0" marL="0">
              <a:buNone/>
            </a:pPr>
            <a:r>
              <a:rPr lang="en-US" sz="1000" i="1" dirty="0">
                <a:solidFill>
                  <a:srgbClr val="5A6472"/>
                </a:solidFill>
                <a:latin typeface="Calibri" pitchFamily="34" charset="0"/>
                <a:cs typeface="Amiri" pitchFamily="2" charset="-78"/>
              </a:rPr>
              <a:t>  sing. مِعْيَارٌ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en-US" sz="1000" i="1" dirty="0">
                <a:solidFill>
                  <a:srgbClr val="5A6472"/>
                </a:solidFill>
                <a:latin typeface="Calibri" pitchFamily="34" charset="0"/>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D4 chain from memory: one sentence each for climate, problem, solution and judgement.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يَسُودُ … · يُلَوَّثُ … بِسَبَبِ … · يَجِبُ عَلَى … أَنْ … لِكَيْ … · شَرِيطَةَ 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chain frames and the five assessment words; redo today’s exit ticket.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full chain in 100–120 words, checked with the three classic slips.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(130–140 words) + count and label your D4 features.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D4-L12 · D4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build a CHAIN — climate → problem → cause → solution → judgement — and check -a after </a:t>
            </a:r>
            <a:pPr algn="l" indent="0" marL="0">
              <a:buNone/>
            </a:pPr>
            <a:r>
              <a:rPr lang="ar-SA" altLang="en-US" sz="1700" b="1" dirty="0">
                <a:solidFill>
                  <a:srgbClr val="FFFFFF"/>
                </a:solidFill>
                <a:latin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a:t>
            </a:r>
            <a:pPr algn="l" indent="0" marL="0">
              <a:buNone/>
            </a:pPr>
            <a:r>
              <a:rPr lang="ar-SA" altLang="en-US" sz="1700" b="1" dirty="0">
                <a:solidFill>
                  <a:srgbClr val="FFFFFF"/>
                </a:solidFill>
                <a:latin typeface="Amiri" pitchFamily="2" charset="-78"/>
                <a:cs typeface="Amiri" pitchFamily="2" charset="-78"/>
              </a:rPr>
              <a:t>لِكَيْ</a:t>
            </a:r>
            <a:pPr algn="l" indent="0" marL="0">
              <a:buNone/>
            </a:pPr>
            <a:r>
              <a:rPr lang="en-US" sz="1300" b="1" dirty="0">
                <a:solidFill>
                  <a:srgbClr val="FFFFFF"/>
                </a:solidFill>
                <a:latin typeface="Calibri" pitchFamily="34" charset="0"/>
                <a:cs typeface="Amiri" pitchFamily="2" charset="-78"/>
              </a:rPr>
              <a:t> and </a:t>
            </a:r>
            <a:pPr algn="l" indent="0" marL="0">
              <a:buNone/>
            </a:pPr>
            <a:r>
              <a:rPr lang="ar-SA" altLang="en-US" sz="1700" b="1" dirty="0">
                <a:solidFill>
                  <a:srgbClr val="FFFFFF"/>
                </a:solidFill>
                <a:latin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D4-L11 · D4 Consolidation — Range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2026-10-11T06:40:56Z</dcterms:created>
  <dcterms:modified xsi:type="dcterms:W3CDTF">2026-10-11T06:40:56Z</dcterms:modified>
</cp:coreProperties>
</file>