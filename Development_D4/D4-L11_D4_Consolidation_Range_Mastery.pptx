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D4-L11. The website lesson “D4 Consolidation — Range Mastery and Speaking Preparation”: vocabulary, grammar rules and quiz, patterns, common mistakes, sorter, listening, reading, speaking prompts and model, writing task and model, differentiation, final check and the lesson mission. Picture match: website visual game “D4 Consolidation — Range Mastery and Speaking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No new grammar today: this is the D4 review before the D4-L12 assessment.
• Core: one accurate sentence for each link of the chain (climate · problem · solution) with frames. Develop: the full chain in a paragraph with one passive, one cause–effect and one purpose. Stretch: the website writing task (130–140 words, seven meaningful D4 features) + a qualified judgement and a self-audit.
• Speaking focus: self-correction phrases (لِأُصَحِّحْ ذٰلِكَ · أَقْصِدُ أَنَّ · بِعِبَارَةٍ أُخْرَى) — a recovered mistake is better than silence.
• Use the Do Now and quick-check results to choose each student’s route for the final You Do.
• TEACHER-WRITTEN ITEMS: two quiz distractors replaced (they differed only in vowels), “D4” written out in Arabic inside the Arabic texts, and English added to the model sentences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D4-L10. Questions 3–5 retrieve D4-L10, D4-L02 and D4-L03. Note which of 3–5 each student gets wrong: it points to their revision priority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top answer is a CHAIN, not a list: every feature links to the next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نقطہ، قوت، عبارت are shared. CAREFUL: Urdu تحسین = praise; Arabic تَحْسِينٌ = improvement (مَجَالُ تَحْسِينٍ = an area for improvement). Urdu اعداد (aʿdād) = numbers; Arabic إِعْدَادٌ (iʿdād, with kasra) =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Range and performance (website vocabulary (1 of 2)). Hear → Say → See → Use. Transliteration is printed for Core students (cover it for Develop/Stretch).
Range and performance: the words a teacher or examiner uses in feedback. Use نُقْطَةُ قُوَّةٍ and مَجَالُ تَحْسِينٍ to talk about your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Range and performance (website vocabulary (2 of 2)). Hear → Say → See → Use. Transliteration is printed for Core students (cover it for Develop/Stretch).
Range and performance: the words a teacher or examiner uses in feedback. Use نُقْطَةُ قُوَّةٍ and مَجَالُ تَحْسِينٍ to talk about your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and self-correction (website vocabulary (1 of 2)). Hear → Say → See → Use. Transliteration is printed for Core students (cover it for Develop/Stretch).
Speaking and self-correction: phrases that keep you talking when you make a mistake or need time — a recovered mistake earns more than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and self-correction (website vocabulary (2 of 2)). Hear → Say → See → Use. Transliteration is printed for Core students (cover it for Develop/Stretch).
Speaking and self-correction: phrases that keep you talking when you make a mistake or need time — a recovered mistake earns more than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“Climate and weather accuracy” (keep climate description and weather events distinct), “Problem, cause and passive” (use a true passive where the affected thing is foregrounded) and “Solution and purpose” (state who must act and why). Rule 4 (“Qualified academic judgement”) is row 5. Colours: blue = climate, pink = problem chain, purple = solution / condition.
Core: rows 1, 2 and 4 are enough for a strong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three website common mistakes for this lesson, turned into a hand-in checklist. Students copy the three heads into the margin of their writing and tick each one.
Card 3 in full (website): عَلَى الرَّغْمِ مِنْ أَنَّ المَشْرُوعَ مُكَلِّفٌ، فَإِنَّهُ يُقَلِّلُ الهَدْرَ عَلَى المَدَى البَعِيدِ.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
• Climate and weather accuracy: Keep climate description and weather events distinct.
• Problem, cause and passive: Use a true passive where the affected thing is foregrounded.
• Solution and purpose: State who must act and why.
• Qualified academic judgement: A strong answer recognises limits and states conditions.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build the chain aloud. At step 4, deliberately say لِكَيْ تَحْمِي المَوَارِدَ with the wrong ending, stop, and model: لِأُصَحِّحْ ذٰلِكَ — لِكَيْ تَحْمِيَ. The copy box is the middle of the website writing model (the full model is on the Write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each student picks their own نُقْطَةُ قُوَّةٍ and مَجَالُ تَحْسِينٍ from the middle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each student picks their own نُقْطَةُ قُوَّةٍ and مَجَالُ تَحْسِينٍ from the middle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all four.
Listen 1: just listen. Listen 2: note answers. Then chat the letters.
Support: after the second listening, show the read-along slide (Arabic + English, line by line) for Core students.
SCRIPT (read aloud):
فِي المُحَادَثَةِ الأُولَى، وَصَفَتْ مَرْيَمُ مَشْرُوعًا لِتَوْسِيعِ النَّقْلِ العَامِّ. قَالَتْ إِنَّهُ سَيُقَلِّلُ الانْبِعَاثَاتِ، لٰكِنَّهَا أَضَافَتْ أَنَّ التَّكْلِفَةَ الأُولَى مُرْتَفِعَةٌ.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four — question 2 is the corrected detail.
Listen 1: just listen. Listen 2: note answers. Then chat the letters.
Support: after the second listening, show the read-along slide (Arabic + English, line by line) for Core students.
SCRIPT (read aloud):
وَفِي المُحَادَثَةِ الثَّانِيَةِ، تَحَدَّثَ خَالِدٌ عَنْ شُحِّ المِيَاهِ. أَوَّلًا قَالَ إِنَّ الاسْتِهْلَاكَ انْخَفَضَ، ثُمَّ صَحَّحَ نَفْسَهُ وَقَالَ إِنَّهُ ارْتَفَعَ بِنِسْبَةِ ٩٪. وَأَكَّدَ أَنَّ الحَلَّ يَحْتَاجُ إِلَى التِّقْنِيَّةِ وَتَغْيِيرِ السُّلُوكِ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60 seconds each in pairs; the partner counts the D4 features heard and notes one self-correction phrase. If a student freezes: لِأُصَحِّحْ ذٰلِكَ / بِعِبَارَةٍ أُخْرَى and try again. To a girl: مَا نُقْطَةُ قُوَّتِكِ؟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integrating climate, an environmental problem, a solution and a qualified technology judgement.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D4 features: يَسُودُ · تَشِحُّ … نَتِيجَةً لِـ · يَجِبُ عَلَى … أَنْ تَسْتَثْمِرَ … لِكَيْ تَحْمِيَ · عَلَاوَةً عَلَى ذٰلِكَ · يُمْكِنُ أَنْ يُسْتَخْدَمَ (passive) · عَلَى الرَّغْمِ مِنْ أَنَّ … فَإِنَّهَا · فِي رَأْيِي. Count them with the class: seven or more, each with a job.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(D4-L12 · D4 Review and Unit Assessment) will spend class time USING this language, so students prepare it tonight — short, simple, easy to access (school guidance: “Simple, Short, Interesting, Relevant, Easy to access”). The five words are the instruction words of the D4-L12 assessment (its listening, reading and marking sections).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D4 Consolidation — Range Mastery and Speaking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تَرْسِيخُ الوَحْدَةِ — إِتْقَانُ النِّطَاقِ وَإِعْدَادُ التَّحَدُّثِ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Pull the whole of D4 together in one chain — climate → problem → cause → solution → qualified judgement — accurately and under pressure, and practise recovering in speaking (</a:t>
            </a:r>
            <a:pPr algn="l" indent="0" marL="0">
              <a:buNone/>
            </a:pPr>
            <a:r>
              <a:rPr lang="ar-SA" altLang="en-US" sz="1800" dirty="0">
                <a:solidFill>
                  <a:srgbClr val="C6D2E6"/>
                </a:solidFill>
                <a:latin typeface="Amiri" pitchFamily="2" charset="-78"/>
                <a:ea typeface="Amiri" pitchFamily="2" charset="-78"/>
                <a:cs typeface="Amiri" pitchFamily="2" charset="-78"/>
              </a:rPr>
              <a:t>لِأُصَحِّحْ ذٰلِكَ</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بِعِبَارَةٍ أُخْرَى</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D4-L11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D4 chain: climate → problem → solution → judgement.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range, fix three classic D4 slips, then two short listening cycles.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نُقْطَةُ قُوَّةٍ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area for improvement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point of 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بِعِبَارَةٍ أُخْرَى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other 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 me correct that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 mean is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حَذَّرَ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شُحِّ المِيَاهِ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 الرِّيَاحُ بِقُوَّةٍ.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بِقُوَّةٍ.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بِقُوَّةٍ.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passive?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تُقْطَعُ الأَشْجَارُ.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يَقْطَعُ النَّاسُ الأَشْجَارَ.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قَطَعْنَا الأَشْجَارَ.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نُقْطَةُ قُوَّةٍ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area for improvement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strength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point of 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بِعِبَارَةٍ أُخْرَى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other words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let me correct that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I mean is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حَذَّرَ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شُحِّ المِيَاهِ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 الرِّيَاحُ بِقُوَّةٍ.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تَهُبُّ الرِّيَاحِ بِقُوَّةٍ.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تَهُبُّ الرِّيَاحُ بِقُوَّةٍ.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D4-L02: weather agreement.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passive?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تُقْطَعُ الأَشْجَارُ.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يَقْطَعُ النَّاسُ الأَشْجَارَ.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قَطَعْنَا الأَشْجَارَ.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D4-L03.</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top answer is a CHAIN, not a list: every feature links to the next idea.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يَسُودُ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يُلَوَّثُ</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بِسَبَبِ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يَجِبُ عَلَى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لِكَيْ</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climate and weather accurately (</a:t>
            </a:r>
            <a:pPr algn="l" indent="0" marL="0">
              <a:buNone/>
            </a:pPr>
            <a:r>
              <a:rPr lang="ar-SA" altLang="en-US" sz="1700" dirty="0">
                <a:solidFill>
                  <a:srgbClr val="1F2A37"/>
                </a:solidFill>
                <a:latin typeface="Amiri" pitchFamily="2" charset="-78"/>
                <a:ea typeface="Amiri" pitchFamily="2" charset="-78"/>
                <a:cs typeface="Amiri" pitchFamily="2" charset="-78"/>
              </a:rPr>
              <a:t>يَسُودُ</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تَهُبُّ الرِّيَاحُ</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 problem with a passive and a cause–effect chain.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Propose a solution with obligation + purpose and give a qualified judgement.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Recover from a mistake in speaking with a self-correction phrase.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accurate sentence for climate, problem and solution.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D4 frames.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problem, cause and solution in a paragraph.</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passive and a purpose clause.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qualified judgement (</a:t>
            </a:r>
            <a:pPr algn="l" indent="0" marL="0">
              <a:buNone/>
            </a:pPr>
            <a:r>
              <a:rPr lang="ar-SA" altLang="en-US" sz="1700" b="1" dirty="0">
                <a:solidFill>
                  <a:srgbClr val="B83227"/>
                </a:solidFill>
                <a:latin typeface="Amiri" pitchFamily="2" charset="-78"/>
                <a:ea typeface="Amiri" pitchFamily="2" charset="-78"/>
                <a:cs typeface="Amiri" pitchFamily="2" charset="-78"/>
              </a:rPr>
              <a:t>شَرِيطَةَ أَنْ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self-correct while speaking.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Range and performance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D4 grammar bank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and self-correction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نُقْطَةٌ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‎نقطہ‎ </a:t>
            </a:r>
            <a:pPr indent="0" marL="0">
              <a:buNone/>
            </a:pPr>
            <a:r>
              <a:rPr lang="en-US" sz="950" b="1" dirty="0">
                <a:solidFill>
                  <a:srgbClr val="2E8B57"/>
                </a:solidFill>
                <a:latin typeface="Calibri" pitchFamily="34" charset="0"/>
                <a:cs typeface="Amiri" pitchFamily="2" charset="-78"/>
              </a:rPr>
              <a:t> nuqta · point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قُوَّةٌ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‎قوت‎ </a:t>
            </a:r>
            <a:pPr indent="0" marL="0">
              <a:buNone/>
            </a:pPr>
            <a:r>
              <a:rPr lang="en-US" sz="950" b="1" dirty="0">
                <a:solidFill>
                  <a:srgbClr val="2E8B57"/>
                </a:solidFill>
                <a:latin typeface="Calibri" pitchFamily="34" charset="0"/>
                <a:cs typeface="Amiri" pitchFamily="2" charset="-78"/>
              </a:rPr>
              <a:t> quwwat · strength</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تَحْسِينٌ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‎تحسین‎ </a:t>
            </a:r>
            <a:pPr indent="0" marL="0">
              <a:buNone/>
            </a:pPr>
            <a:r>
              <a:rPr lang="en-US" sz="950" b="1" dirty="0">
                <a:solidFill>
                  <a:srgbClr val="2E8B57"/>
                </a:solidFill>
                <a:latin typeface="Calibri" pitchFamily="34" charset="0"/>
                <a:cs typeface="Amiri" pitchFamily="2" charset="-78"/>
              </a:rPr>
              <a:t> taḥsīn · Urdu: praise · Arabic: improvement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إِعْدَادٌ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‎اعداد‎ </a:t>
            </a:r>
            <a:pPr indent="0" marL="0">
              <a:buNone/>
            </a:pPr>
            <a:r>
              <a:rPr lang="en-US" sz="950" b="1" dirty="0">
                <a:solidFill>
                  <a:srgbClr val="2E8B57"/>
                </a:solidFill>
                <a:latin typeface="Calibri" pitchFamily="34" charset="0"/>
                <a:cs typeface="Amiri" pitchFamily="2" charset="-78"/>
              </a:rPr>
              <a:t> aʿdād · Urdu: numbers · Arabic: preparation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عِبَارَةٌ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‎عبارت‎ </a:t>
            </a:r>
            <a:pPr indent="0" marL="0">
              <a:buNone/>
            </a:pPr>
            <a:r>
              <a:rPr lang="en-US" sz="950" b="1" dirty="0">
                <a:solidFill>
                  <a:srgbClr val="2E8B57"/>
                </a:solidFill>
                <a:latin typeface="Calibri" pitchFamily="34" charset="0"/>
                <a:cs typeface="Amiri" pitchFamily="2" charset="-78"/>
              </a:rPr>
              <a:t> ʿibārat · expression, wording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Range and performance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النِّطَاقُ اللُّغَوِيُّ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range</a:t>
            </a:r>
            <a:endParaRPr lang="en-US" sz="1350" dirty="0"/>
          </a:p>
          <a:p>
            <a:pPr indent="0" marL="0">
              <a:buNone/>
            </a:pPr>
            <a:r>
              <a:rPr lang="en-US" sz="1100" i="1" dirty="0">
                <a:solidFill>
                  <a:srgbClr val="5A6472"/>
                </a:solidFill>
                <a:latin typeface="Calibri" pitchFamily="34" charset="0"/>
                <a:cs typeface="Amiri" pitchFamily="2" charset="-78"/>
              </a:rPr>
              <a:t>an-ni-ṭā-qu all-lu-gha-wiy-yu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التَّكَامُلُ اللُّغَوِيُّ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integration</a:t>
            </a:r>
            <a:endParaRPr lang="en-US" sz="1350" dirty="0"/>
          </a:p>
          <a:p>
            <a:pPr indent="0" marL="0">
              <a:buNone/>
            </a:pPr>
            <a:r>
              <a:rPr lang="en-US" sz="1100" i="1" dirty="0">
                <a:solidFill>
                  <a:srgbClr val="5A6472"/>
                </a:solidFill>
                <a:latin typeface="Calibri" pitchFamily="34" charset="0"/>
                <a:cs typeface="Amiri" pitchFamily="2" charset="-78"/>
              </a:rPr>
              <a:t>at-ta-kā-mu-lu all-lu-gha-wiy-yu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 تَحْتَ الضَّغْطِ</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 under pressure</a:t>
            </a:r>
            <a:endParaRPr lang="en-US" sz="1350" dirty="0"/>
          </a:p>
          <a:p>
            <a:pPr indent="0" marL="0">
              <a:buNone/>
            </a:pPr>
            <a:r>
              <a:rPr lang="en-US" sz="1100" i="1" dirty="0">
                <a:solidFill>
                  <a:srgbClr val="5A6472"/>
                </a:solidFill>
                <a:latin typeface="Calibri" pitchFamily="34" charset="0"/>
                <a:cs typeface="Amiri" pitchFamily="2" charset="-78"/>
              </a:rPr>
              <a:t>ad-diq-qa-tu taḥ-ta aḍ-ḍagh-ṭi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التَّعَمُّقُ الأَكَادِيمِيُّ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depth</a:t>
            </a:r>
            <a:endParaRPr lang="en-US" sz="1350" dirty="0"/>
          </a:p>
          <a:p>
            <a:pPr indent="0" marL="0">
              <a:buNone/>
            </a:pPr>
            <a:r>
              <a:rPr lang="en-US" sz="1100" i="1" dirty="0">
                <a:solidFill>
                  <a:srgbClr val="5A6472"/>
                </a:solidFill>
                <a:latin typeface="Calibri" pitchFamily="34" charset="0"/>
                <a:cs typeface="Amiri" pitchFamily="2" charset="-78"/>
              </a:rPr>
              <a:t>at-ta-ʿam-mu-qu al-a-kā-dī-miy-yu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إِعْدَادُ الامْتِحَانِ</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 preparation</a:t>
            </a:r>
            <a:endParaRPr lang="en-US" sz="1350" dirty="0"/>
          </a:p>
          <a:p>
            <a:pPr indent="0" marL="0">
              <a:buNone/>
            </a:pPr>
            <a:r>
              <a:rPr lang="en-US" sz="1100" i="1" dirty="0">
                <a:solidFill>
                  <a:srgbClr val="5A6472"/>
                </a:solidFill>
                <a:latin typeface="Calibri" pitchFamily="34" charset="0"/>
                <a:cs typeface="Amiri" pitchFamily="2" charset="-78"/>
              </a:rPr>
              <a:t>iʿ-dā-du alm-ti-ḥā-ni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Range and performance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مَجَالُ تَحْسِينٍ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area for improvement</a:t>
            </a:r>
            <a:endParaRPr lang="en-US" sz="1350" dirty="0"/>
          </a:p>
          <a:p>
            <a:pPr indent="0" marL="0">
              <a:buNone/>
            </a:pPr>
            <a:r>
              <a:rPr lang="en-US" sz="1100" i="1" dirty="0">
                <a:solidFill>
                  <a:srgbClr val="5A6472"/>
                </a:solidFill>
                <a:latin typeface="Calibri" pitchFamily="34" charset="0"/>
                <a:cs typeface="Amiri" pitchFamily="2" charset="-78"/>
              </a:rPr>
              <a:t>ma-jā-lu taḥ-sī-nin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لُغَوِيٌّ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evidence</a:t>
            </a:r>
            <a:endParaRPr lang="en-US" sz="1350" dirty="0"/>
          </a:p>
          <a:p>
            <a:pPr indent="0" marL="0">
              <a:buNone/>
            </a:pPr>
            <a:r>
              <a:rPr lang="en-US" sz="1100" i="1" dirty="0">
                <a:solidFill>
                  <a:srgbClr val="5A6472"/>
                </a:solidFill>
                <a:latin typeface="Calibri" pitchFamily="34" charset="0"/>
                <a:cs typeface="Amiri" pitchFamily="2" charset="-78"/>
              </a:rPr>
              <a:t>da-lī-lun lu-gha-wiy-yun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إِجَابَةٌ مُطَوَّرَةٌ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developed answer</a:t>
            </a:r>
            <a:endParaRPr lang="en-US" sz="1350" dirty="0"/>
          </a:p>
          <a:p>
            <a:pPr indent="0" marL="0">
              <a:buNone/>
            </a:pPr>
            <a:r>
              <a:rPr lang="en-US" sz="1100" i="1" dirty="0">
                <a:solidFill>
                  <a:srgbClr val="5A6472"/>
                </a:solidFill>
                <a:latin typeface="Calibri" pitchFamily="34" charset="0"/>
                <a:cs typeface="Amiri" pitchFamily="2" charset="-78"/>
              </a:rPr>
              <a:t>i-jā-ba-tun mu-ṭaw-wa-ra-tun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and self-correction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أَقْصِدُ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 mean is</a:t>
            </a:r>
            <a:endParaRPr lang="en-US" sz="1350" dirty="0"/>
          </a:p>
          <a:p>
            <a:pPr indent="0" marL="0">
              <a:buNone/>
            </a:pPr>
            <a:r>
              <a:rPr lang="en-US" sz="1100" i="1" dirty="0">
                <a:solidFill>
                  <a:srgbClr val="5A6472"/>
                </a:solidFill>
                <a:latin typeface="Calibri" pitchFamily="34" charset="0"/>
                <a:cs typeface="Amiri" pitchFamily="2" charset="-78"/>
              </a:rPr>
              <a:t>aq-ṣi-du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بِعِبَارَةٍ أُخْرَى</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لِأُصَحِّحْ 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correct that</a:t>
            </a:r>
            <a:endParaRPr lang="en-US" sz="1350" dirty="0"/>
          </a:p>
          <a:p>
            <a:pPr indent="0" marL="0">
              <a:buNone/>
            </a:pPr>
            <a:r>
              <a:rPr lang="en-US" sz="1100" i="1" dirty="0">
                <a:solidFill>
                  <a:srgbClr val="5A6472"/>
                </a:solidFill>
                <a:latin typeface="Calibri" pitchFamily="34" charset="0"/>
                <a:cs typeface="Amiri" pitchFamily="2" charset="-78"/>
              </a:rPr>
              <a:t>li-ʾu-ṣaḥ-ḥiḥ 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سَأُعْطِي مِثَالًا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give an example</a:t>
            </a:r>
            <a:endParaRPr lang="en-US" sz="1350" dirty="0"/>
          </a:p>
          <a:p>
            <a:pPr indent="0" marL="0">
              <a:buNone/>
            </a:pPr>
            <a:r>
              <a:rPr lang="en-US" sz="1100" i="1" dirty="0">
                <a:solidFill>
                  <a:srgbClr val="5A6472"/>
                </a:solidFill>
                <a:latin typeface="Calibri" pitchFamily="34" charset="0"/>
                <a:cs typeface="Amiri" pitchFamily="2" charset="-78"/>
              </a:rPr>
              <a:t>sa-ʾuʿ-ṭī mi-thā-lan</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and self-correction (2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الدَّلِيلُ عَلَى 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evidence for that</a:t>
            </a:r>
            <a:endParaRPr lang="en-US" sz="1350" dirty="0"/>
          </a:p>
          <a:p>
            <a:pPr indent="0" marL="0">
              <a:buNone/>
            </a:pPr>
            <a:r>
              <a:rPr lang="en-US" sz="1100" i="1" dirty="0">
                <a:solidFill>
                  <a:srgbClr val="5A6472"/>
                </a:solidFill>
                <a:latin typeface="Calibri" pitchFamily="34" charset="0"/>
                <a:cs typeface="Amiri" pitchFamily="2" charset="-78"/>
              </a:rPr>
              <a:t>ad-da-lī-lu ʿa-lā 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وَجْهَةِ نَظَرِي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waj-ha-ti na-ẓa-rī</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حَدٍّ 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some extent</a:t>
            </a:r>
            <a:endParaRPr lang="en-US" sz="1350" dirty="0"/>
          </a:p>
          <a:p>
            <a:pPr indent="0" marL="0">
              <a:buNone/>
            </a:pPr>
            <a:r>
              <a:rPr lang="en-US" sz="1100" i="1" dirty="0">
                <a:solidFill>
                  <a:srgbClr val="5A6472"/>
                </a:solidFill>
                <a:latin typeface="Calibri" pitchFamily="34" charset="0"/>
                <a:cs typeface="Amiri" pitchFamily="2" charset="-78"/>
              </a:rPr>
              <a:t>i-lā ḥad-din mā</a:t>
            </a:r>
            <a:endParaRPr lang="en-US" sz="13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D4 CHAIN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 → problem →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سِلْسِلَةُ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2633472" y="1810512"/>
            <a:ext cx="6528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D4-L01 · L02</a:t>
            </a:r>
            <a:endParaRPr lang="en-US" sz="1100" dirty="0"/>
          </a:p>
        </p:txBody>
      </p:sp>
      <p:sp>
        <p:nvSpPr>
          <p:cNvPr id="21" name="Text 18"/>
          <p:cNvSpPr txBox="1"/>
          <p:nvPr/>
        </p:nvSpPr>
        <p:spPr>
          <a:xfrm>
            <a:off x="2651760" y="2286000"/>
            <a:ext cx="649224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يَسُودُ</a:t>
            </a:r>
            <a:pPr rtl="1" algn="ctr" indent="0" marL="0">
              <a:buNone/>
            </a:pPr>
            <a:r>
              <a:rPr lang="ar-SA" altLang="en-US" sz="1950" b="1" dirty="0">
                <a:solidFill>
                  <a:srgbClr val="1B3B6F"/>
                </a:solidFill>
                <a:latin typeface="Amiri" pitchFamily="2" charset="-78"/>
                <a:ea typeface="Amiri" pitchFamily="2" charset="-78"/>
                <a:cs typeface="Amiri" pitchFamily="2" charset="-78"/>
              </a:rPr>
              <a:t> مَنَاخٌ جَافٌّ فِي الدَّاخِلِ، وَ</a:t>
            </a:r>
            <a:pPr rtl="1" algn="ctr" indent="0" marL="0">
              <a:buNone/>
            </a:pPr>
            <a:r>
              <a:rPr lang="ar-SA" altLang="en-US" sz="1950" b="1" dirty="0">
                <a:solidFill>
                  <a:srgbClr val="0E7C86"/>
                </a:solidFill>
                <a:latin typeface="Amiri" pitchFamily="2" charset="-78"/>
                <a:ea typeface="Amiri" pitchFamily="2" charset="-78"/>
                <a:cs typeface="Amiri" pitchFamily="2" charset="-78"/>
              </a:rPr>
              <a:t>تَهُبُّ</a:t>
            </a:r>
            <a:pPr rtl="1" algn="ctr" indent="0" marL="0">
              <a:buNone/>
            </a:pPr>
            <a:r>
              <a:rPr lang="ar-SA" altLang="en-US" sz="1950" b="1" dirty="0">
                <a:solidFill>
                  <a:srgbClr val="1B3B6F"/>
                </a:solidFill>
                <a:latin typeface="Amiri" pitchFamily="2" charset="-78"/>
                <a:ea typeface="Amiri" pitchFamily="2" charset="-78"/>
                <a:cs typeface="Amiri" pitchFamily="2" charset="-78"/>
              </a:rPr>
              <a:t> الرِّيَاحُ بِقُوَّةٍ فِي الرَّبِيعِ.</a:t>
            </a:r>
            <a:endParaRPr lang="ar-SA" sz="1950" dirty="0"/>
          </a:p>
        </p:txBody>
      </p:sp>
      <p:sp>
        <p:nvSpPr>
          <p:cNvPr id="22" name="Text 19"/>
          <p:cNvSpPr txBox="1"/>
          <p:nvPr/>
        </p:nvSpPr>
        <p:spPr>
          <a:xfrm>
            <a:off x="2606040" y="2676997"/>
            <a:ext cx="65836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dry climate prevails inland, and winds blow strongly in spring.</a:t>
            </a:r>
            <a:endParaRPr lang="en-US" sz="950" dirty="0"/>
          </a:p>
        </p:txBody>
      </p:sp>
      <p:sp>
        <p:nvSpPr>
          <p:cNvPr id="23" name="Text 20"/>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climate + weather</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D4-L03</a:t>
            </a:r>
            <a:endParaRPr lang="en-US" sz="1100" dirty="0"/>
          </a:p>
        </p:txBody>
      </p:sp>
      <p:sp>
        <p:nvSpPr>
          <p:cNvPr id="28" name="Text 25"/>
          <p:cNvSpPr txBox="1"/>
          <p:nvPr/>
        </p:nvSpPr>
        <p:spPr>
          <a:xfrm>
            <a:off x="2651760" y="3023006"/>
            <a:ext cx="64922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يُلَوَّثُ</a:t>
            </a:r>
            <a:pPr rtl="1" algn="ctr" indent="0" marL="0">
              <a:buNone/>
            </a:pPr>
            <a:r>
              <a:rPr lang="ar-SA" altLang="en-US" sz="1950" b="1" dirty="0">
                <a:solidFill>
                  <a:srgbClr val="1B3B6F"/>
                </a:solidFill>
                <a:latin typeface="Amiri" pitchFamily="2" charset="-78"/>
                <a:ea typeface="Amiri" pitchFamily="2" charset="-78"/>
                <a:cs typeface="Amiri" pitchFamily="2" charset="-78"/>
              </a:rPr>
              <a:t> الهَوَاءُ </a:t>
            </a:r>
            <a:pPr rtl="1" algn="ctr" indent="0" marL="0">
              <a:buNone/>
            </a:pPr>
            <a:r>
              <a:rPr lang="ar-SA" altLang="en-US" sz="1950" b="1" dirty="0">
                <a:solidFill>
                  <a:srgbClr val="D6336C"/>
                </a:solidFill>
                <a:latin typeface="Amiri" pitchFamily="2" charset="-78"/>
                <a:ea typeface="Amiri" pitchFamily="2" charset="-78"/>
                <a:cs typeface="Amiri" pitchFamily="2" charset="-78"/>
              </a:rPr>
              <a:t>بِسَبَبِ</a:t>
            </a:r>
            <a:pPr rtl="1" algn="ctr" indent="0" marL="0">
              <a:buNone/>
            </a:pPr>
            <a:r>
              <a:rPr lang="ar-SA" altLang="en-US" sz="1950" b="1" dirty="0">
                <a:solidFill>
                  <a:srgbClr val="1B3B6F"/>
                </a:solidFill>
                <a:latin typeface="Amiri" pitchFamily="2" charset="-78"/>
                <a:ea typeface="Amiri" pitchFamily="2" charset="-78"/>
                <a:cs typeface="Amiri" pitchFamily="2" charset="-78"/>
              </a:rPr>
              <a:t> عَوَادِمِ السَّيَّارَاتِ،</a:t>
            </a:r>
            <a:endParaRPr lang="ar-SA" sz="1950" dirty="0"/>
          </a:p>
        </p:txBody>
      </p:sp>
      <p:sp>
        <p:nvSpPr>
          <p:cNvPr id="29" name="Text 26"/>
          <p:cNvSpPr txBox="1"/>
          <p:nvPr/>
        </p:nvSpPr>
        <p:spPr>
          <a:xfrm>
            <a:off x="2606040" y="3414004"/>
            <a:ext cx="65836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air is polluted because of car exhaust,</a:t>
            </a:r>
            <a:endParaRPr lang="en-US" sz="950" dirty="0"/>
          </a:p>
        </p:txBody>
      </p:sp>
      <p:sp>
        <p:nvSpPr>
          <p:cNvPr id="30" name="Text 27"/>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problem + cause</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D4-L03 · L07</a:t>
            </a:r>
            <a:endParaRPr lang="en-US" sz="1100" dirty="0"/>
          </a:p>
        </p:txBody>
      </p:sp>
      <p:sp>
        <p:nvSpPr>
          <p:cNvPr id="35" name="Text 32"/>
          <p:cNvSpPr txBox="1"/>
          <p:nvPr/>
        </p:nvSpPr>
        <p:spPr>
          <a:xfrm>
            <a:off x="2651760" y="3760013"/>
            <a:ext cx="649224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مِمَّا يُؤَدِّي إِلَى</a:t>
            </a:r>
            <a:pPr rtl="1" algn="ctr" indent="0" marL="0">
              <a:buNone/>
            </a:pPr>
            <a:r>
              <a:rPr lang="ar-SA" altLang="en-US" sz="1950" b="1" dirty="0">
                <a:solidFill>
                  <a:srgbClr val="1B3B6F"/>
                </a:solidFill>
                <a:latin typeface="Amiri" pitchFamily="2" charset="-78"/>
                <a:ea typeface="Amiri" pitchFamily="2" charset="-78"/>
                <a:cs typeface="Amiri" pitchFamily="2" charset="-78"/>
              </a:rPr>
              <a:t> أَمْرَاضٍ تَنَفُّسِيَّةٍ.</a:t>
            </a:r>
            <a:endParaRPr lang="ar-SA" sz="1950" dirty="0"/>
          </a:p>
        </p:txBody>
      </p:sp>
      <p:sp>
        <p:nvSpPr>
          <p:cNvPr id="36" name="Text 33"/>
          <p:cNvSpPr txBox="1"/>
          <p:nvPr/>
        </p:nvSpPr>
        <p:spPr>
          <a:xfrm>
            <a:off x="2606040" y="4151010"/>
            <a:ext cx="65836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which leads to respiratory diseases.</a:t>
            </a:r>
            <a:endParaRPr lang="en-US" sz="950" dirty="0"/>
          </a:p>
        </p:txBody>
      </p:sp>
      <p:sp>
        <p:nvSpPr>
          <p:cNvPr id="37" name="Text 34"/>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result</a:t>
            </a:r>
            <a:endParaRPr lang="en-US" sz="11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D4-L04</a:t>
            </a:r>
            <a:endParaRPr lang="en-US" sz="1100" dirty="0"/>
          </a:p>
        </p:txBody>
      </p:sp>
      <p:sp>
        <p:nvSpPr>
          <p:cNvPr id="40" name="Text 37"/>
          <p:cNvSpPr txBox="1"/>
          <p:nvPr/>
        </p:nvSpPr>
        <p:spPr>
          <a:xfrm>
            <a:off x="2651760" y="4497019"/>
            <a:ext cx="649224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يَجِبُ عَلَى</a:t>
            </a:r>
            <a:pPr rtl="1" algn="ctr" indent="0" marL="0">
              <a:buNone/>
            </a:pPr>
            <a:r>
              <a:rPr lang="ar-SA" altLang="en-US" sz="1950" b="1" dirty="0">
                <a:solidFill>
                  <a:srgbClr val="1B3B6F"/>
                </a:solidFill>
                <a:latin typeface="Amiri" pitchFamily="2" charset="-78"/>
                <a:ea typeface="Amiri" pitchFamily="2" charset="-78"/>
                <a:cs typeface="Amiri" pitchFamily="2" charset="-78"/>
              </a:rPr>
              <a:t> الحُكُومَةِ </a:t>
            </a:r>
            <a:pPr rtl="1" algn="ctr" indent="0" marL="0">
              <a:buNone/>
            </a:pPr>
            <a:r>
              <a:rPr lang="ar-SA" altLang="en-US" sz="1950" b="1" dirty="0">
                <a:solidFill>
                  <a:srgbClr val="1D5FBF"/>
                </a:solidFill>
                <a:latin typeface="Amiri" pitchFamily="2" charset="-78"/>
                <a:ea typeface="Amiri" pitchFamily="2" charset="-78"/>
                <a:cs typeface="Amiri" pitchFamily="2" charset="-78"/>
              </a:rPr>
              <a:t>أَنْ تُوَسِّعَ</a:t>
            </a:r>
            <a:pPr rtl="1" algn="ctr" indent="0" marL="0">
              <a:buNone/>
            </a:pPr>
            <a:r>
              <a:rPr lang="ar-SA" altLang="en-US" sz="1950" b="1" dirty="0">
                <a:solidFill>
                  <a:srgbClr val="1B3B6F"/>
                </a:solidFill>
                <a:latin typeface="Amiri" pitchFamily="2" charset="-78"/>
                <a:ea typeface="Amiri" pitchFamily="2" charset="-78"/>
                <a:cs typeface="Amiri" pitchFamily="2" charset="-78"/>
              </a:rPr>
              <a:t> النَّقْلَ العَامَّ </a:t>
            </a:r>
            <a:pPr rtl="1" algn="ctr" indent="0" marL="0">
              <a:buNone/>
            </a:pPr>
            <a:r>
              <a:rPr lang="ar-SA" altLang="en-US" sz="1950" b="1" dirty="0">
                <a:solidFill>
                  <a:srgbClr val="1D5FBF"/>
                </a:solidFill>
                <a:latin typeface="Amiri" pitchFamily="2" charset="-78"/>
                <a:ea typeface="Amiri" pitchFamily="2" charset="-78"/>
                <a:cs typeface="Amiri" pitchFamily="2" charset="-78"/>
              </a:rPr>
              <a:t>لِكَيْ تُقَلِّلَ</a:t>
            </a:r>
            <a:pPr rtl="1" algn="ctr" indent="0" marL="0">
              <a:buNone/>
            </a:pPr>
            <a:r>
              <a:rPr lang="ar-SA" altLang="en-US" sz="1950" b="1" dirty="0">
                <a:solidFill>
                  <a:srgbClr val="1B3B6F"/>
                </a:solidFill>
                <a:latin typeface="Amiri" pitchFamily="2" charset="-78"/>
                <a:ea typeface="Amiri" pitchFamily="2" charset="-78"/>
                <a:cs typeface="Amiri" pitchFamily="2" charset="-78"/>
              </a:rPr>
              <a:t> الانْبِعَاثَاتِ.</a:t>
            </a:r>
            <a:endParaRPr lang="ar-SA" sz="1950" dirty="0"/>
          </a:p>
        </p:txBody>
      </p:sp>
      <p:sp>
        <p:nvSpPr>
          <p:cNvPr id="41" name="Text 38"/>
          <p:cNvSpPr txBox="1"/>
          <p:nvPr/>
        </p:nvSpPr>
        <p:spPr>
          <a:xfrm>
            <a:off x="2606040" y="4888017"/>
            <a:ext cx="65836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government must expand public transport to reduce emissions.</a:t>
            </a:r>
            <a:endParaRPr lang="en-US" sz="950" dirty="0"/>
          </a:p>
        </p:txBody>
      </p:sp>
      <p:sp>
        <p:nvSpPr>
          <p:cNvPr id="42" name="Text 39"/>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solution + purpose</a:t>
            </a:r>
            <a:endParaRPr lang="en-US" sz="1100" dirty="0"/>
          </a:p>
        </p:txBody>
      </p:sp>
      <p:sp>
        <p:nvSpPr>
          <p:cNvPr id="43" name="Shape 40"/>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D4-L06 · L09</a:t>
            </a:r>
            <a:endParaRPr lang="en-US" sz="1100" dirty="0"/>
          </a:p>
        </p:txBody>
      </p:sp>
      <p:sp>
        <p:nvSpPr>
          <p:cNvPr id="47" name="Text 44"/>
          <p:cNvSpPr txBox="1"/>
          <p:nvPr/>
        </p:nvSpPr>
        <p:spPr>
          <a:xfrm>
            <a:off x="2651760" y="5234026"/>
            <a:ext cx="649224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عَلَى الرَّغْمِ مِنْ أَنَّهَا مُكَلِّفَةٌ، فَإِنَّهَا مُفِيدَةٌ </a:t>
            </a:r>
            <a:pPr rtl="1" algn="ctr" indent="0" marL="0">
              <a:buNone/>
            </a:pPr>
            <a:r>
              <a:rPr lang="ar-SA" altLang="en-US" sz="1950" b="1" dirty="0">
                <a:solidFill>
                  <a:srgbClr val="1D5FBF"/>
                </a:solidFill>
                <a:latin typeface="Amiri" pitchFamily="2" charset="-78"/>
                <a:ea typeface="Amiri" pitchFamily="2" charset="-78"/>
                <a:cs typeface="Amiri" pitchFamily="2" charset="-78"/>
              </a:rPr>
              <a:t>شَرِيطَةَ أَنْ</a:t>
            </a:r>
            <a:pPr rtl="1" algn="ctr" indent="0" marL="0">
              <a:buNone/>
            </a:pPr>
            <a:r>
              <a:rPr lang="ar-SA" altLang="en-US" sz="1950" b="1" dirty="0">
                <a:solidFill>
                  <a:srgbClr val="1B3B6F"/>
                </a:solidFill>
                <a:latin typeface="Amiri" pitchFamily="2" charset="-78"/>
                <a:ea typeface="Amiri" pitchFamily="2" charset="-78"/>
                <a:cs typeface="Amiri" pitchFamily="2" charset="-78"/>
              </a:rPr>
              <a:t> تُطَبَّقَ بِمَسْؤُولِيَّةٍ.</a:t>
            </a:r>
            <a:endParaRPr lang="ar-SA" sz="1950" dirty="0"/>
          </a:p>
        </p:txBody>
      </p:sp>
      <p:sp>
        <p:nvSpPr>
          <p:cNvPr id="48" name="Text 45"/>
          <p:cNvSpPr txBox="1"/>
          <p:nvPr/>
        </p:nvSpPr>
        <p:spPr>
          <a:xfrm>
            <a:off x="2606040" y="5625023"/>
            <a:ext cx="658368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Although it is expensive, it is useful provided that it is applied responsibly.</a:t>
            </a:r>
            <a:endParaRPr lang="en-US" sz="950" dirty="0"/>
          </a:p>
        </p:txBody>
      </p:sp>
      <p:sp>
        <p:nvSpPr>
          <p:cNvPr id="49" name="Text 46"/>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judgement</a:t>
            </a:r>
            <a:endParaRPr lang="en-US" sz="11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plural non-human subjects: </a:t>
            </a:r>
            <a:pPr algn="l" indent="0" marL="0">
              <a:buNone/>
            </a:pPr>
            <a:r>
              <a:rPr lang="ar-SA" altLang="en-US" sz="1500" b="1" dirty="0">
                <a:solidFill>
                  <a:srgbClr val="1B3B6F"/>
                </a:solidFill>
                <a:latin typeface="Amiri" pitchFamily="2" charset="-78"/>
                <a:ea typeface="Amiri" pitchFamily="2" charset="-78"/>
                <a:cs typeface="Amiri" pitchFamily="2" charset="-78"/>
              </a:rPr>
              <a:t>تَهُبُّ الرِّيَاحُ</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تَشِحُّ المِيَاهُ</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تُقْطَعُ الأَشْجَارُ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2 · THE THREE CLASSIC D4 SLIPS (WEBSITE MISTAKES) · ALL ROUTES</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Check these three before you hand in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ثَلَاثَةُ 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AN / LI-KAY + -A · CORE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أَنْ / لِكَيْ + مَنْصُوبٌ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أَنْ تُوَسِّعَ … لِكَيْ تُقَلِّلَ</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to expand … in order to reduce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verbs end in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ANNA + -A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يُشَارُ إِلَى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يُشَارُ إِلَى أَنَّ المَنَاخَ يَتَغَيَّرُ.</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indicated that the climate is changing.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then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REAL CONTRAST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350" b="1" dirty="0">
                <a:solidFill>
                  <a:srgbClr val="8A6D1E"/>
                </a:solidFill>
                <a:latin typeface="Amiri" pitchFamily="2" charset="-78"/>
                <a:ea typeface="Amiri" pitchFamily="2" charset="-78"/>
                <a:cs typeface="Amiri" pitchFamily="2" charset="-78"/>
              </a:rPr>
              <a:t>عَلَى الرَّغْمِ مِنْ أَنَّ … فَإِنَّ</a:t>
            </a:r>
            <a:endParaRPr lang="ar-SA" sz="13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المَشْرُوعُ مُكَلِّفٌ، فَإِنَّهُ يُقَلِّلُ الهَدْرَ.</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 costly, it reduces waste.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“costly, so costly”.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after li-kay the verb ends in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لِكَيْ تُقَلِّلَ الانْبِعَاثَاتِ</a:t>
            </a:r>
            <a:endParaRPr lang="ar-SA" sz="17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ea typeface="Amiri" pitchFamily="2" charset="-78"/>
                <a:cs typeface="Amiri" pitchFamily="2" charset="-78"/>
              </a:rPr>
              <a:t>لِكَيْ تُقَلِّلُ الانْبِعَاثَاتِ</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D4 integrated grammar and range mastery</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الوَحْدَةِ الرَّابِعَةِ مُتَكَامِلَةً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Climate and weather accuracy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formal climate phrase + correct weather agreement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يَسُودُ مَنَاخٌ جَافٌّ فِي الدَّاخِلِ، وَتَهُبُّ الرِّيَاحُ بِقُوَّةٍ فِي الرَّبِيعِ.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Problem, cause and passive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problem + cause connector + result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يُلَوَّثُ الهَوَاءُ بِسَبَبِ عَوَادِمِ السَّيَّارَاتِ، مِمَّا يُؤَدِّي إِلَى أَمْرَاضٍ تَنَفُّسِيَّةٍ.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Solution and purpose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responsible group + obligation + purpose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عَلَى الحُكُومَةِ أَنْ تُوَسِّعَ النَّقْلَ العَامَّ لِكَيْ تُقَلِّلَ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Qualified academic judgement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concession + judgement + condition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عَلَى الرَّغْمِ مِنْ أَنَّ التِّقْنِيَّةَ مُكَلِّفَةٌ، فَإِنَّهَا مُفِيدَةٌ شَرِيطَةَ أَنْ تُطَبَّقَ بِمَسْؤُولِيَّةٍ.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يَهُبُّ الرِّيَاحُ وَيَسْقُطُ الثُّلُوجُ.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وَتَسْقُطُ المَنَاخُ.</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تَهُبُّ الرِّيَاحُ وَتَسْقُطُ الثُّلُوجُ.</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بِعَوَادِمِ السَّيَّارَاتِ.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يَنْبَعِثُ الهَوَاءُ السَّيَّارَاتِ.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يَلَوِّثُ الهَوَاءُ عَوَادِمَ السَّيَّارَاتِ.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cause–effect chain.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قَطْعِ الأَشْجَارِ، تَزْدَادُ الغَابَاتُ.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قَطْعِ الأَشْجَارِ، تَفْقِدُ الحَيَوَانَاتُ مَوَائِلَهَا.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قَطْعِ الأَشْجَارِ، تَنْخَفِضُ الحَاجَةُ إِلَى الحِمَايَةِ.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 and purpose.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يَجِبُ عَلَى المَدِينَةِ أَنْ تُوَسِّعَ النَّقْلَ العَامَّ لِكَيْ تُقَلِّلَ التَّلَوُّثَ.</a:t>
            </a:r>
            <a:endParaRPr lang="ar-SA" sz="18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يَجِبُ المَدِينَةُ تُوَسِّعُ النَّقْلَ لِكَيْ تُقَلِّلُ التَّلَوُّثَ.</a:t>
            </a:r>
            <a:endParaRPr lang="ar-SA" sz="18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ea typeface="Amiri" pitchFamily="2" charset="-78"/>
                <a:cs typeface="Amiri" pitchFamily="2" charset="-78"/>
              </a:rPr>
              <a:t>يَجِبُ عَلَى المَدِينَةِ أَنْ تُوَسِّعَ النَّقْلَ لِكَيْ تَزِيدَ التَّلَوُّثَ.</a:t>
            </a:r>
            <a:endParaRPr lang="ar-SA" sz="18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weather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يَهُبُّ الرِّيَاحُ وَيَسْقُطُ الثُّلُوجُ.</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تَهُبُّ الرِّيَاحُ وَتَسْقُطُ المَنَاخُ.</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تَهُبُّ الرِّيَاحُ وَتَسْقُطُ الثُّلُوجُ.</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الرياح</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الثلوج</a:t>
            </a:r>
            <a:pPr algn="l" indent="0" marL="0">
              <a:buNone/>
            </a:pPr>
            <a:r>
              <a:rPr lang="en-US" sz="1050" i="1" dirty="0">
                <a:solidFill>
                  <a:srgbClr val="8A6D1E"/>
                </a:solidFill>
                <a:latin typeface="Calibri" pitchFamily="34" charset="0"/>
                <a:cs typeface="Amiri" pitchFamily="2" charset="-78"/>
              </a:rPr>
              <a:t> take feminine agreement.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true environmental passive.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يُلَوَّثُ الهَوَاءُ بِعَوَادِمِ السَّيَّارَاتِ.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يَنْبَعِثُ الهَوَاءُ السَّيَّارَاتِ.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يَلَوِّثُ الهَوَاءُ عَوَادِمَ السَّيَّارَاتِ.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air is the affected subject in </a:t>
            </a:r>
            <a:pPr algn="l" indent="0" marL="0">
              <a:buNone/>
            </a:pPr>
            <a:r>
              <a:rPr lang="ar-SA" altLang="en-US" sz="1350" dirty="0">
                <a:solidFill>
                  <a:srgbClr val="8A6D1E"/>
                </a:solidFill>
                <a:latin typeface="Amiri" pitchFamily="2" charset="-78"/>
                <a:ea typeface="Amiri" pitchFamily="2" charset="-78"/>
                <a:cs typeface="Amiri" pitchFamily="2" charset="-78"/>
              </a:rPr>
              <a:t>يُلوَّث الهواء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coherent cause–effect chain.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 قَطْعِ الأَشْجَارِ، تَزْدَادُ الغَابَاتُ.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بِسَبَبِ قَطْعِ الأَشْجَارِ، تَفْقِدُ الحَيَوَانَاتُ مَوَائِلَهَا.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 قَطْعِ الأَشْجَارِ، تَنْخَفِضُ الحَاجَةُ إِلَى الحِمَايَةِ.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Deforestation causes habitat loss.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obligation and purpose.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عَلَى المَدِينَةِ أَنْ تُوَسِّعَ النَّقْلَ العَامَّ لِكَيْ تُقَلِّلَ التَّلَوُّثَ.</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المَدِينَةُ تُوَسِّعُ النَّقْلَ لِكَيْ تُقَلِّلُ التَّلَوُّثَ.</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عَلَى المَدِينَةِ أَنْ تُوَسِّعَ النَّقْلَ لِكَيْ تَزِيدَ التَّلَوُّثَ.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uses both subjunctive forms accurately.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Watch me build the D4 chain — and recover from a slip</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Climate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يَسُودُ</a:t>
            </a:r>
            <a:pPr rtl="1" algn="ctr" indent="0" marL="0">
              <a:buNone/>
            </a:pPr>
            <a:r>
              <a:rPr lang="ar-SA" altLang="en-US" sz="2800" b="1" dirty="0">
                <a:solidFill>
                  <a:srgbClr val="1B3B6F"/>
                </a:solidFill>
                <a:latin typeface="Amiri" pitchFamily="2" charset="-78"/>
                <a:ea typeface="Amiri" pitchFamily="2" charset="-78"/>
                <a:cs typeface="Amiri" pitchFamily="2" charset="-78"/>
              </a:rPr>
              <a:t> مَنَاخٌ جَافٌّ</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 climate verb.</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تَشِحُّ</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المِيَاهُ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نَتِيجَةً لِقِلَّةِ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الأَمْطَارِ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Cause → result.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Solution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2" charset="-78"/>
                <a:ea typeface="Amiri" pitchFamily="2" charset="-78"/>
                <a:cs typeface="Amiri" pitchFamily="2" charset="-78"/>
              </a:rPr>
              <a:t>يَجِبُ عَلَى</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الحُكُومَاتِ </a:t>
            </a:r>
            <a:pPr rtl="1" algn="ctr" indent="0" marL="0">
              <a:lnSpc>
                <a:spcPct val="120000"/>
              </a:lnSpc>
              <a:buNone/>
            </a:pPr>
            <a:r>
              <a:rPr lang="ar-SA" altLang="en-US" sz="1850" b="1" dirty="0">
                <a:solidFill>
                  <a:srgbClr val="1D5FBF"/>
                </a:solidFill>
                <a:latin typeface="Amiri" pitchFamily="2" charset="-78"/>
                <a:ea typeface="Amiri" pitchFamily="2" charset="-78"/>
                <a:cs typeface="Amiri" pitchFamily="2" charset="-78"/>
              </a:rPr>
              <a:t>أَنْ تَسْتَثْمِرَ</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must act.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Recover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لِأُصَحِّحْ ذٰلِكَ: لِكَيْ تَحْمِيَ المَوَارِدَ</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 it aloud.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CLIMATE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PROBLEM</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SOLUTION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يَسُودُ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مَنَاخٌ جَافٌّ فِي مَنَاطِقَ كَثِيرَةٍ،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تَشِحُّ</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المِيَاهُ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نَتِيجَةً لِقِلَّةِ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الأَمْطَارِ وَزِيَادَةِ الاسْتِهْلَاكِ. لِذٰلِكَ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يَجِبُ 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الحُكُومَاتِ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أَنْ تَسْتَثْمِرَ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إِعَادَةِ اسْتِخْدَامِ المِيَاهِ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لِكَيْ تَحْمِيَ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المَوَارِدَ.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A dry climate prevails in many regions, and water is scarce as a result of low rainfall and higher consumption. Therefore governments must invest in water reuse in order to protect resources.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يَسُودُ مَنَاخٌ جَافٌّ فِي الدَّاخِلِ، وَتَهُبُّ الرِّيَاحُ بِقُوَّةٍ فِي الرَّبِيعِ.</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dry climate prevails inland, and winds blow strongly in spring.</a:t>
            </a:r>
            <a:endParaRPr lang="en-US" sz="1250" dirty="0"/>
          </a:p>
          <a:p>
            <a:pPr indent="0" marL="0">
              <a:buNone/>
            </a:pPr>
            <a:r>
              <a:rPr lang="en-US" sz="1050" i="1" dirty="0">
                <a:solidFill>
                  <a:srgbClr val="8A6D1E"/>
                </a:solidFill>
                <a:latin typeface="Calibri" pitchFamily="34" charset="0"/>
                <a:cs typeface="Amiri" pitchFamily="2" charset="-78"/>
              </a:rPr>
              <a:t>Keep climate description and weather events distinct.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يُلَوَّثُ الهَوَاءُ بِسَبَبِ عَوَادِمِ السَّيَّارَاتِ، مِمَّا يُؤَدِّي إِلَى أَمْرَاضٍ تَنَفُّسِيَّةٍ.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air is polluted because of car exhaust, which leads to respiratory diseases.</a:t>
            </a:r>
            <a:endParaRPr lang="en-US" sz="1250" dirty="0"/>
          </a:p>
          <a:p>
            <a:pPr indent="0" marL="0">
              <a:buNone/>
            </a:pPr>
            <a:r>
              <a:rPr lang="en-US" sz="1050" i="1" dirty="0">
                <a:solidFill>
                  <a:srgbClr val="8A6D1E"/>
                </a:solidFill>
                <a:latin typeface="Calibri" pitchFamily="34" charset="0"/>
                <a:cs typeface="Amiri" pitchFamily="2" charset="-78"/>
              </a:rPr>
              <a:t>Use a true passive where the affected thing is foregrounded.</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يَجِبُ عَلَى الحُكُومَةِ أَنْ تُوَسِّعَ النَّقْلَ العَامَّ لِكَيْ تُقَلِّلَ الانْبِعَاثَاتِ.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government must expand public transport in order to reduce emissions.</a:t>
            </a:r>
            <a:endParaRPr lang="en-US" sz="1250" dirty="0"/>
          </a:p>
          <a:p>
            <a:pPr indent="0" marL="0">
              <a:buNone/>
            </a:pPr>
            <a:r>
              <a:rPr lang="en-US" sz="1050" i="1" dirty="0">
                <a:solidFill>
                  <a:srgbClr val="8A6D1E"/>
                </a:solidFill>
                <a:latin typeface="Calibri" pitchFamily="34" charset="0"/>
                <a:cs typeface="Amiri" pitchFamily="2" charset="-78"/>
              </a:rPr>
              <a:t>State who must act and why.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النِّطَاقُ اللُّغَوِيُّ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التَّكَامُلُ اللُّغَوِيُّ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الدِّقَّةُ تَحْتَ الضَّغْطِ</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 يَتَّسِمُ بِـ</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 تَسْقُطُ / تَهُبُّ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 تُقْطَعُ</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أَقْصِدُ أَنَّ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بِعِبَارَةٍ أُخْرَى</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لِأُصَحِّحْ ذٰلِكَ</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Range and performance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 grammar bank</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Speaking and self-correction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Range and performance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النِّطَاقُ اللُّغَوِيُّ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التَّكَامُلُ اللُّغَوِيُّ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الدِّقَّةُ تَحْتَ الضَّغْطِ</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 grammar bank</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 يَتَّسِمُ بِـ</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 تَسْقُطُ / تَهُبُّ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يُلَوَّثُ / تُقْطَعُ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Speaking and self-correction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أَقْصِدُ أَنَّ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بِعِبَارَةٍ أُخْرَى</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لِأُصَحِّحْ ذٰلِكَ</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distinguishes depletion from scarcity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 المِيَاهُ، وَتَشِحُّ النِّفْطُ.</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تَنْضَبُ النِّفْطُ، وَيَشِحُّ المِيَاهُ.</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 النِّفْطُ، وَتَشِحُّ المِيَاهُ.</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formal reporting frame.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إِلَى المَنَاخِ أَنَّ يَتَغَيَّرُ.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 المَنَاخَ يَتَغَيَّرُ.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يُشِيرُ أَنَّ إِلَى المَنَاخِ.</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genuinely qualified?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أُؤَيِّدُ المَشْرُوعَ دَائِمًا لِأَنَّهُ مَشْرُوعٌ.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أُؤَيِّدُ المَشْرُوعَ إِلَى حَدٍّ مَا، شَرِيطَةَ أَنْ تُحْمَى الخُصُوصِيَّةُ.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أُؤَيِّدُ الخُصُوصِيَّةَ مِنَ المَشْرُوعِ.</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self-correction phrase helps a speaker recover accurately?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يَنْضَبُ ذٰلِكَ</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ذٰلِكَ</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لِأُصَحِّحْ ذٰلِكَ</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distinguishes depletion from scarcity accurately?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يَنْضَبُ المِيَاهُ، وَتَشِحُّ النِّفْطُ.</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تَنْضَبُ النِّفْطُ، وَيَشِحُّ المِيَاهُ.</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يَنْضَبُ النِّفْطُ، وَتَشِحُّ المِيَاهُ.</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Oil is masculine; water is treated as feminine.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formal reporting frame.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يُشَارِكُ إِلَى المَنَاخِ أَنَّ يَتَغَيَّرُ.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 إِلَى أَنَّ المَنَاخَ يَتَغَيَّرُ.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يُشِيرُ أَنَّ إِلَى المَنَاخِ.</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يشار إلى أنَّ</a:t>
            </a:r>
            <a:pPr algn="l" indent="0" marL="0">
              <a:buNone/>
            </a:pPr>
            <a:r>
              <a:rPr lang="en-US" sz="1050" i="1" dirty="0">
                <a:solidFill>
                  <a:srgbClr val="8A6D1E"/>
                </a:solidFill>
                <a:latin typeface="Calibri" pitchFamily="34" charset="0"/>
                <a:cs typeface="Amiri" pitchFamily="2" charset="-78"/>
              </a:rPr>
              <a:t> is the frame.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genuinely qualified?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أُؤَيِّدُ المَشْرُوعَ دَائِمًا لِأَنَّهُ مَشْرُوعٌ.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أُؤَيِّدُ المَشْرُوعَ إِلَى حَدٍّ مَا، شَرِيطَةَ أَنْ تُحْمَى الخُصُوصِيَّةُ.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أُؤَيِّدُ الخُصُوصِيَّةَ مِنَ المَشْرُوعِ.</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degree and condition.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self-correction phrase helps a speaker recover accurately?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يَنْضَبُ ذٰلِكَ</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 ذٰلِكَ</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لِأُصَحِّحْ ذٰلِكَ</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لأصحح ذلك</a:t>
            </a:r>
            <a:pPr algn="l" indent="0" marL="0">
              <a:buNone/>
            </a:pPr>
            <a:r>
              <a:rPr lang="en-US" sz="1050" i="1" dirty="0">
                <a:solidFill>
                  <a:srgbClr val="8A6D1E"/>
                </a:solidFill>
                <a:latin typeface="Calibri" pitchFamily="34" charset="0"/>
                <a:cs typeface="Amiri" pitchFamily="2" charset="-78"/>
              </a:rPr>
              <a:t> signals correction.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750" b="1" dirty="0">
                <a:solidFill>
                  <a:srgbClr val="B83227"/>
                </a:solidFill>
                <a:latin typeface="Amiri" pitchFamily="2" charset="-78"/>
                <a:ea typeface="Amiri" pitchFamily="2" charset="-78"/>
                <a:cs typeface="Amiri" pitchFamily="2" charset="-78"/>
              </a:rPr>
              <a:t>يَجِبُ عَلَى الحُكُومَةِ أَنْ تُوَسِّعُ النَّقْلَ لِكَيْ تُقَلِّلُ الانْبِعَاثَاتِ.</a:t>
            </a:r>
            <a:endParaRPr lang="ar-SA" sz="27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 li-kay: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يُشَارُ إِلَى أَنْ المَنَاخُ يَتَغَيَّرُ.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anna or 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عَلَى الرَّغْمِ مِنْ أَنَّ المَشْرُوعَ مُكَلِّفٌ، فَهُوَ مُكَلِّفٌ.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it a real contrast?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يَجِبُ عَلَى الحُكُومَةِ أَنْ تُوَسِّعُ النَّقْلَ لِكَيْ تُقَلِّلُ الانْبِعَاثَاتِ.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يَجِبُ عَلَى الحُكُومَةِ أَنْ تُوَسِّعَ النَّقْلَ لِكَيْ تُقَلِّلَ الانْبِعَاثَاتِ.</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a:t>
            </a:r>
            <a:pPr algn="l" indent="0" marL="0">
              <a:buNone/>
            </a:pPr>
            <a:r>
              <a:rPr lang="ar-SA" altLang="en-US" sz="1500" b="1" dirty="0">
                <a:solidFill>
                  <a:srgbClr val="1B3B6F"/>
                </a:solidFill>
                <a:latin typeface="Amiri" pitchFamily="2" charset="-78"/>
                <a:ea typeface="Amiri" pitchFamily="2" charset="-78"/>
                <a:cs typeface="Amiri" pitchFamily="2" charset="-78"/>
              </a:rPr>
              <a:t>توسّعَ</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تقلّلَ</a:t>
            </a:r>
            <a:pPr algn="l" indent="0" marL="0">
              <a:buNone/>
            </a:pPr>
            <a:r>
              <a:rPr lang="en-US" sz="1150" b="1" dirty="0">
                <a:solidFill>
                  <a:srgbClr val="1B3B6F"/>
                </a:solidFill>
                <a:latin typeface="Calibri" pitchFamily="34" charset="0"/>
                <a:cs typeface="Amiri" pitchFamily="2" charset="-78"/>
              </a:rPr>
              <a:t> are subjunctive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يُشَارُ إِلَى أَنْ المَنَاخُ يَتَغَيَّرُ.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يُشَارُ إِلَى أَنَّ المَنَاخَ يَتَغَيَّرُ.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Impersonal reporting uses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عَلَى الرَّغْمِ مِنْ أَنَّ المَشْرُوعَ مُكَلِّفٌ، فَهُوَ مُكَلِّفٌ.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عَلَى الرَّغْمِ مِنْ أَنَّ المَشْرُوعَ مُكَلِّفٌ، فَإِنَّهُ يُقَلِّلُ الهَدْرَ عَلَى المَدَى البَعِيدِ.</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must be followed by a genuine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1: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project does Maryam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Expanding public transport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Building a shopping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Closing all schools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benefit does she mention?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more fossil fuel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Increasing waste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emissions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she add?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environmental benefit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buses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 initial cost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Maryam for or against the project overall?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it, with a reservation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completely against it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say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Label first: project? benefit? problem?</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لٰكِنَّ</a:t>
            </a:r>
            <a:pPr algn="l" indent="0" marL="0">
              <a:lnSpc>
                <a:spcPct val="115000"/>
              </a:lnSpc>
              <a:buNone/>
            </a:pPr>
            <a:r>
              <a:rPr lang="en-US" sz="1250" dirty="0">
                <a:solidFill>
                  <a:srgbClr val="1E6B52"/>
                </a:solidFill>
                <a:latin typeface="Calibri" pitchFamily="34" charset="0"/>
                <a:cs typeface="Amiri" pitchFamily="2" charset="-78"/>
              </a:rPr>
              <a:t>: the reservation follows.</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المُحَادَثَةِ الأُولَى، وَصَفَتْ مَرْيَمُ مَشْرُوعًا لِتَوْسِيعِ النَّقْلِ العَامِّ.</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conversation, Maryam described a project to expand public transport.</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قَالَتْ إِنَّهُ سَيُقَلِّلُ الانْبِعَاثَاتِ،</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said it will reduce emissions,</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لٰكِنَّهَا أَضَافَتْ أَنَّ التَّكْلِفَةَ الأُولَى مُرْتَفِعَةٌ.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she added that the initial cost is high.</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project does Maryam describe?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Expanding public transport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Building a shopping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Closing all schools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توسيع النقل العام.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benefit does she mention?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more fossil fuel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Increasing waste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Reducing emissions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سيقلل الانبعاثات.</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reservation does she add?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environmental benefit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buses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High initial cost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التكلفة الأولى مرتفعة.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Maryam for or against the project overall?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it, with a reservation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completely against it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say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سَيُقَلِّلُ الانْبِعَاثَاتِ، لٰكِنَّ …</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Label first: project? benefit? problem?</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لٰكِنَّ</a:t>
            </a:r>
            <a:pPr algn="l" indent="0" marL="0">
              <a:lnSpc>
                <a:spcPct val="115000"/>
              </a:lnSpc>
              <a:buNone/>
            </a:pPr>
            <a:r>
              <a:rPr lang="en-US" sz="1250" dirty="0">
                <a:solidFill>
                  <a:srgbClr val="1E6B52"/>
                </a:solidFill>
                <a:latin typeface="Calibri" pitchFamily="34" charset="0"/>
                <a:cs typeface="Amiri" pitchFamily="2" charset="-78"/>
              </a:rPr>
              <a:t>: the reservation follows.</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Conversation 2: Khalid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topic does Khalid discuss?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 routine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change in consumption?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stayed unchanged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fell by 9%</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rose by 9%</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things must the solution combine?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waste and less evidence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technology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and behaviour change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Khalid say FIRST about consumption?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fell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rose by 9%</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it stayed stable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He corrects himself!</a:t>
            </a:r>
            <a:endParaRPr lang="en-US" sz="1250" dirty="0"/>
          </a:p>
          <a:p>
            <a:pPr algn="l" indent="0" marL="0">
              <a:buNone/>
            </a:pPr>
            <a:r>
              <a:rPr lang="en-US" sz="1250" dirty="0">
                <a:solidFill>
                  <a:srgbClr val="1E6B52"/>
                </a:solidFill>
                <a:latin typeface="Calibri" pitchFamily="34" charset="0"/>
                <a:cs typeface="Amiri" pitchFamily="2" charset="-78"/>
              </a:rPr>
              <a:t>Which direction is FINAL: up or down?</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المُحَادَثَةِ الثَّانِيَةِ، تَحَدَّثَ خَالِدٌ عَنْ شُحِّ المِيَاهِ.</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conversation, Khalid talked about water scarcity.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أَوَّلًا قَالَ إِنَّ الاسْتِهْلَاكَ انْخَفَضَ،</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 he said consumption fell,</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صَحَّحَ نَفْسَهُ وَقَالَ إِنَّهُ ارْتَفَعَ بِنِسْبَةِ 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he corrected himself and said it rose by 9%.</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وَأَكَّدَ أَنَّ الحَلَّ يَحْتَاجُ إِلَى التِّقْنِيَّةِ وَتَغْيِيرِ السُّلُوكِ مَعًا.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confirmed that the solution needs technology and behaviour change together.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topic does Khalid discuss?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 routine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شح المياه.</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corrected change in consumption?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stayed unchanged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fell by 9%</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rose by 9%</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corrects himself: </a:t>
            </a:r>
            <a:pPr algn="l" indent="0" marL="0">
              <a:buNone/>
            </a:pPr>
            <a:r>
              <a:rPr lang="ar-SA" altLang="en-US" sz="1350" dirty="0">
                <a:solidFill>
                  <a:srgbClr val="8A6D1E"/>
                </a:solidFill>
                <a:latin typeface="Amiri" pitchFamily="2" charset="-78"/>
                <a:ea typeface="Amiri" pitchFamily="2" charset="-78"/>
                <a:cs typeface="Amiri" pitchFamily="2" charset="-78"/>
              </a:rPr>
              <a:t>ارتفع بنسبة</a:t>
            </a:r>
            <a:pPr algn="l" indent="0" marL="0">
              <a:buNone/>
            </a:pPr>
            <a:r>
              <a:rPr lang="en-US" sz="1050" i="1" dirty="0">
                <a:solidFill>
                  <a:srgbClr val="8A6D1E"/>
                </a:solidFill>
                <a:latin typeface="Calibri" pitchFamily="34" charset="0"/>
                <a:cs typeface="Amiri" pitchFamily="2" charset="-78"/>
              </a:rPr>
              <a:t> 9</a:t>
            </a:r>
            <a:pPr algn="l" indent="0" marL="0">
              <a:buNone/>
            </a:pPr>
            <a:r>
              <a:rPr lang="ar-SA" altLang="en-US" sz="1350" dirty="0">
                <a:solidFill>
                  <a:srgbClr val="8A6D1E"/>
                </a:solidFill>
                <a:latin typeface="Amiri" pitchFamily="2" charset="-78"/>
                <a:ea typeface="Amiri" pitchFamily="2" charset="-78"/>
                <a:cs typeface="Amiri" pitchFamily="2" charset="-78"/>
              </a:rPr>
              <a:t>٪</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things must the solution combine?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waste and less evidence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technology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Technology and behaviour change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التقنية وتغيير السلوك معًا.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Khalid say FIRST about consumption?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it fell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rose by 9%</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it stayed stable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أَوَّلًا قَالَ إِنَّ الاسْتِهْلَاكَ انْخَفَضَ</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He corrects himself!</a:t>
            </a:r>
            <a:endParaRPr lang="en-US" sz="1250" dirty="0"/>
          </a:p>
          <a:p>
            <a:pPr algn="l" indent="0" marL="0">
              <a:buNone/>
            </a:pPr>
            <a:r>
              <a:rPr lang="en-US" sz="1250" dirty="0">
                <a:solidFill>
                  <a:srgbClr val="1E6B52"/>
                </a:solidFill>
                <a:latin typeface="Calibri" pitchFamily="34" charset="0"/>
                <a:cs typeface="Amiri" pitchFamily="2" charset="-78"/>
              </a:rPr>
              <a:t>Which direction is FINAL: up or down?</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Speaking: diagnose strengths and improve answers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مُشْكِلَةٍ بِيئِيَّةٍ؟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التِّقْنِيَّةُ جُزْءٌ مِنَ الحَلِّ؟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نُقْطَةُ قُوَّتِكَ وَمَجَالُ تَحْسِينِكَ؟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D5FBF"/>
                </a:solidFill>
                <a:latin typeface="Amiri" pitchFamily="2" charset="-78"/>
                <a:ea typeface="Amiri" pitchFamily="2" charset="-78"/>
                <a:cs typeface="Amiri" pitchFamily="2" charset="-78"/>
              </a:rPr>
              <a:t>مِنْ وَجْهَةِ نَظَرِي، أَهَمُّ مُشْكِلَةٍ هِيَ ___ بِسَبَبِ ___ .</a:t>
            </a:r>
            <a:endParaRPr lang="ar-SA" sz="13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نَعَمْ، إِلَى حَدٍّ مَا؛ سَأُعْطِي مِثَالًا: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نُقْطَةُ قُوَّتِي ___ ، أَمَّا مَجَالُ التَّحْسِينِ فَهُوَ ___ .</a:t>
            </a:r>
            <a:endParaRPr lang="ar-SA" sz="12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أَقْوَى جَانِبٍ فِي لُغَتِكَ فِي هٰذِهِ الوَحْدَةِ، وَمَا الَّذِي تَحْتَاجُ إِلَى تَحْسِينِهِ؟</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What is the strongest side of your language in this unit, and what do you need to improve?</a:t>
            </a:r>
            <a:endParaRPr lang="en-US" sz="7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2" charset="-78"/>
                <a:ea typeface="Amiri" pitchFamily="2" charset="-78"/>
                <a:cs typeface="Amiri" pitchFamily="2" charset="-78"/>
              </a:rPr>
              <a:t>نُقْطَةُ قُوَّتِي هِيَ رَبْطُ السَّبَبِ بِالنَّتِيجَةِ، لِأَنَّنِي أَسْتَخْدِمُ بِسَبَبِ وَيُؤَدِّي إِلَى بِدِقَّةٍ. أَمَّا مَجَالُ التَّحْسِينِ فَهُوَ المَبْنِيُّ لِلْمَجْهُولِ، وَسَأُرَاجِعُ اتِّفَاقَ الفِعْلِ مَعَ الفَاعِلِ النَّحْوِيِّ.</a:t>
            </a:r>
            <a:endParaRPr lang="ar-SA" sz="11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strength is linking cause and effect… As for my area for improvement, it is the passive, and I will revise verb agreement.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per link: climate · problem · cause · solution · opinion — with the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chain as one paragraph with a passive, a cause–effect and a purpose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seven meaningful D4 features + a qualified technology judgement, then self-audit.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مِمَّا يُؤَدِّي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which leads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indicated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عَلَى الرَّغْمِ مِنْ أَنَّ ______ ، فَإِنَّهَا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 it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شَرِيطَةَ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provided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______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climate prevails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يُلَوَّثُ ______ بِسَبَبِ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polluted because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يَجِبُ عَلَى الحُكُومَةِ أَنْ ______ لِكَيْ ______ .</a:t>
            </a:r>
            <a:endParaRPr lang="ar-SA" sz="17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government must … in order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وَجْهَةِ نَظَرِي،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my point of view,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يَسُودُ  ·  يَتَّسِمُ بِـ  ·  تَهُبُّ الرِّيَاحُ  ·  يُلَوَّثُ  ·  تُقْطَعُ  ·  بِسَبَبِ  ·  مِمَّا يُؤَدِّي إِلَى  ·  يَجِبُ عَلَى … أَنْ  ·  لِكَيْ  ·  يُشَارُ إِلَى أَنَّ  ·  عَلَى الرَّغْمِ مِنْ أَنَّ  ·  شَرِيطَةَ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130–140 Arabic words integrating climate, an environmental problem, a solution and a qualified technology judgement.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seven relevant D4 range features.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Keep every feature meaningful and accurate.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one passive, one cause–effect chain and one purpose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Proofread before marking the task complete.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تَنَاوَلَتِ الوَحْدَةُ قَضَايَا مُهِمَّةً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unit dealt with important issues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نَتِيجَةً لِقِلَّةِ الأَمْطَارِ</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a result of low rainfall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يُمْكِنُ أَنْ يُسْتَخْدَمَ … لِرَصْدِ الهَدْرِ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can be used to monitor waste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تُوَفِّرُ المَالَ عَلَى المَدَى البَعِيدِ</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saves money in the long term</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يَجْمَعُ بَيْنَ التِّقْنِيَّةِ وَالسِّيَاسَةِ وَالسُّلُوكِ</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combines technology, policy and behaviour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تَنَاوَلَتْ الوَحْدَةُ الرَّابِعَةُ قَضَايَا مُهِمَّةً مِثْلَ تَغَيُّرِ المَنَاخِ وَشُحِّ المِيَاهِ وَالذَّكَاءِ الاصْطِنَاعِيِّ. يَسُودُ مَنَاخٌ جَافٌّ فِي مَنَاطِقَ كَثِيرَةٍ، وَتَشِحُّ المِيَاهُ نَتِيجَةً لِقِلَّةِ الأَمْطَارِ وَزِيَادَةِ الاسْتِهْلَاكِ. لِذٰلِكَ يَجِبُ عَلَى الحُكُومَاتِ أَنْ تَسْتَثْمِرَ فِي إِعَادَةِ اسْتِخْدَامِ المِيَاهِ لِكَيْ تَحْمِيَ المَوَارِدَ. وَعَلَاوَةً عَلَى ذٰلِكَ، يُمْكِنُ أَنْ يُسْتَخْدَمَ الذَّكَاءُ الاصْطِنَاعِيُّ لِرَصْدِ الهَدْرِ. عَلَى الرَّغْمِ مِنْ أَنَّ هٰذِهِ التِّقْنِيَّةَ مُكَلِّفَةٌ، فَإِنَّهَا قَدْ تُوَفِّرُ المَالَ عَلَى المَدَى البَعِيدِ. فِي رَأْيِي، الحَلُّ النَّاجِحُ يَجْمَعُ بَيْنَ التِّقْنِيَّةِ وَالسِّيَاسَةِ وَالسُّلُوكِ المَسْؤُولِ.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fourth unit dealt with important issues such as climate change, water scarcity and AI. A dry climate prevails in many regions, and water is scarce as a result of low rainfall and higher consumption. So governments must invest in water reuse to protect resources. Moreover, AI can be used to monitor waste. Although this technology is expensive, it may save money in the long term. In my opinion, a successful solution combines technology, policy and responsible behaviour.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climate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cause–effect chain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obligation + purpose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concession with a real contrast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weather verbs agree (</a:t>
            </a:r>
            <a:pPr algn="l" indent="0" marL="0">
              <a:buNone/>
            </a:pPr>
            <a:r>
              <a:rPr lang="ar-SA" altLang="en-US" sz="1700" dirty="0">
                <a:solidFill>
                  <a:srgbClr val="1F2A37"/>
                </a:solidFill>
                <a:latin typeface="Amiri" pitchFamily="2" charset="-78"/>
                <a:ea typeface="Amiri" pitchFamily="2" charset="-78"/>
                <a:cs typeface="Amiri" pitchFamily="2" charset="-78"/>
              </a:rPr>
              <a:t>تَهُبُّ الرِّيَاحُ</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أَنْ / لِكَيْ</a:t>
            </a:r>
            <a:pPr algn="l" indent="0" marL="0">
              <a:buNone/>
            </a:pPr>
            <a:r>
              <a:rPr lang="en-US" sz="1300" dirty="0">
                <a:solidFill>
                  <a:srgbClr val="1F2A37"/>
                </a:solidFill>
                <a:latin typeface="Calibri" pitchFamily="34" charset="0"/>
                <a:cs typeface="Amiri" pitchFamily="2" charset="-78"/>
              </a:rPr>
              <a:t> my verbs end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passive, a cause–effect and a purpose clause.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concession is a real contrast; my judgement is qualified.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problem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يُلَوَّثُ الهَوَاءُ بِسَبَبِ العَوَادِمِ، مِمَّا يُؤَدِّي إِلَى أَمْرَاضٍ.</a:t>
            </a:r>
            <a:endParaRPr lang="ar-SA" sz="13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يُلَوَّثُ الهَوَاءُ لِكَيْ تَزْدَادَ الأَمْرَاضُ.</a:t>
            </a:r>
            <a:endParaRPr lang="ar-SA" sz="13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يَتَفَاعَلُ الهَوَاءُ عَلَى العَوَادِمِ.</a:t>
            </a:r>
            <a:endParaRPr lang="ar-SA" sz="13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solution.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يَجِبُ عَلَى الانْبِعَاثَاتِ أَنْ تُقَلِّلَ الحُكُومَةَ.</a:t>
            </a:r>
            <a:endParaRPr lang="ar-SA" sz="1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يَجِبُ عَلَى الحُكُومَةِ أَنْ تَسْتَثْمِرَ فِي النَّقْلِ العَامِّ لِكَيْ تُقَلِّلَ الانْبِعَاثَاتِ.</a:t>
            </a:r>
            <a:endParaRPr lang="ar-SA" sz="1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يَجِبُ الحُكُومَةُ تَسْتَثْمِرُ لِكَيْ الانْبِعَاثَاتُ.</a:t>
            </a:r>
            <a:endParaRPr lang="ar-SA" sz="1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formal report is accurate?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 شُحَّ المِيَاهِ يَزْدَادُ.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 شُحُّ المِيَاهِ يَزْدَادُ.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شُحُّ المِيَاهِ فِي الزِّيَادَةِ.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problem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يُلَوَّثُ الهَوَاءُ بِسَبَبِ العَوَادِمِ، مِمَّا يُؤَدِّي إِلَى أَمْرَاضٍ.</a:t>
            </a:r>
            <a:endParaRPr lang="ar-SA" sz="13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يُلَوَّثُ الهَوَاءُ لِكَيْ تَزْدَادَ الأَمْرَاضُ.</a:t>
            </a:r>
            <a:endParaRPr lang="ar-SA" sz="13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يَتَفَاعَلُ الهَوَاءُ عَلَى العَوَادِمِ.</a:t>
            </a:r>
            <a:endParaRPr lang="ar-SA" sz="13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integrates passive, cause and result.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integrated solution.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يَجِبُ عَلَى الانْبِعَاثَاتِ أَنْ تُقَلِّلَ الحُكُومَةَ.</a:t>
            </a:r>
            <a:endParaRPr lang="ar-SA" sz="1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يَجِبُ عَلَى الحُكُومَةِ أَنْ تَسْتَثْمِرَ فِي النَّقْلِ العَامِّ لِكَيْ تُقَلِّلَ الانْبِعَاثَاتِ.</a:t>
            </a:r>
            <a:endParaRPr lang="ar-SA" sz="1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يَجِبُ الحُكُومَةُ تَسْتَثْمِرُ لِكَيْ الانْبِعَاثَاتُ.</a:t>
            </a:r>
            <a:endParaRPr lang="ar-SA" sz="1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assigns responsibility and purpose accurately.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formal report is accurate?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يُشَارُ إِلَى أَنَّ شُحَّ المِيَاهِ يَزْدَادُ.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يُشَارُ إِلَى أَنْ شُحُّ المِيَاهِ يَزْدَادُ.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يُشَارِكُ شُحُّ المِيَاهِ فِي الزِّيَادَةِ.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يشار إلى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45</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consolidation: the complete D4 language system</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خِلَالَ الوَحْدَةِ الرَّابِعَةِ، تَعَلَّمَ الطُّلَّابُ أَنْ يَصِفُوا المَنَاخَ بِاسْتِخْدَامِ يَسُودُ وَيَتَّسِمُ بِـ، وَأَنْ يَشْرَحُوا المُشْكِلَاتِ بِالمَبْنِيِّ لِلْمَجْهُولِ وَرَوَابِطِ السَّبَبِ وَالنَّتِيجَةِ. كَمَا تَدَرَّبُوا عَلَى تَقْدِيمِ حُلُولٍ بِاسْتِخْدَامِ يَجِبُ عَلَى ... أَنْ وَلِكَيْ. وَفِي مَوْضُوعِ التِّقْنِيَّةِ، اسْتَخْدَمُوا مُفْرَدَاتٍ مِثْلَ الذَّكَاءِ الاصْطِنَاعِيِّ وَالتَّعَلُّمِ عَنْ بُعْدٍ، ثُمَّ قَيَّمُوا الفَوَائِدَ وَالمَخَاطِرَ بِحُجَجٍ مُتَوَازِنَةٍ. الهَدَفُ الآنَ هُوَ اسْتِخْدَامُ هٰذَا النِّطَاقِ بِدِقَّةٍ تَحْتَ الضَّغْطِ.</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خِلَالَ وَحْدَةِ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during the unit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 يَصِفُوا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describe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يَشْرَحُوا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explain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المَبْنِيِّ لِلْمَجْهُولِ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passive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رَوَابِطِ</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connectors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تَدَرَّبُوا عَلَى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practised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تَقْدِيمِ حُلُولٍ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offering solutions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قَيَّمُوا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evaluated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المَخَاطِرَ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risks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تَحْتَ الضَّغْطِ</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under pressure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verbs are named for climate description?</a:t>
            </a:r>
            <a:endParaRPr lang="en-US" sz="120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يَنْشُرُ</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يُعَلِّقُ</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يَسُودُ</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يَتَّسِمُ بِـ</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يَأْكُلُ</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يَشْرَبُ</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language areas explain problems?</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and clothes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 holiday narrative and prices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Passive and cause–effect links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structures introduce solutions?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يَجِبُ عَلَى</a:t>
            </a:r>
            <a:pPr algn="l" indent="0" marL="0">
              <a:buNone/>
            </a:pPr>
            <a:r>
              <a:rPr lang="en-US" sz="1250" dirty="0">
                <a:solidFill>
                  <a:srgbClr val="1F2A37"/>
                </a:solidFill>
                <a:latin typeface="Calibri" pitchFamily="34" charset="0"/>
                <a:cs typeface="Amiri" pitchFamily="2" charset="-78"/>
              </a:rPr>
              <a:t> ... </a:t>
            </a:r>
            <a:pPr algn="l" indent="0" marL="0">
              <a:buNone/>
            </a:pPr>
            <a:r>
              <a:rPr lang="ar-SA" altLang="en-US" sz="1650" dirty="0">
                <a:solidFill>
                  <a:srgbClr val="1F2A37"/>
                </a:solidFill>
                <a:latin typeface="Amiri" pitchFamily="2" charset="-78"/>
                <a:ea typeface="Amiri" pitchFamily="2" charset="-78"/>
                <a:cs typeface="Amiri" pitchFamily="2" charset="-78"/>
              </a:rPr>
              <a:t>أَنْ</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لِكَيْ</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مُنْذُ</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قَبْلَ</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كَمْ</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بِكَمْ</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digital term in the text.</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المَلْعَبُ</a:t>
            </a:r>
            <a:endParaRPr lang="ar-SA" sz="20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الذَّكَاءُ الاصْطِنَاعِيُّ</a:t>
            </a:r>
            <a:endParaRPr lang="ar-SA" sz="20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المِظَلَّةُ</a:t>
            </a:r>
            <a:endParaRPr lang="ar-SA" sz="20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were benefits and risks evaluated?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balanced arguments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no reasons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isolated vocabulary only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current goal?</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the alphabet again</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all formal language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the range accurately under pressure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verbs are named for climate description?</a:t>
            </a:r>
            <a:endParaRPr lang="en-US" sz="120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يَنْشُرُ</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يُعَلِّقُ</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يَسُودُ</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يَتَّسِمُ بِـ</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يَأْكُلُ</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يَشْرَبُ</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names them.</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language areas explain problems?</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and clothes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Past holiday narrative and prices</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Passive and cause–effect links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المبني للمجهول وروابط السبب والنتيجة.</a:t>
            </a:r>
            <a:endParaRPr lang="ar-SA" sz="12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structures introduce solutions?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يَجِبُ عَلَى</a:t>
            </a:r>
            <a:pPr algn="l" indent="0" marL="0">
              <a:buNone/>
            </a:pPr>
            <a:r>
              <a:rPr lang="en-US" sz="1250" b="1" dirty="0">
                <a:solidFill>
                  <a:srgbClr val="1F2A37"/>
                </a:solidFill>
                <a:latin typeface="Calibri" pitchFamily="34" charset="0"/>
                <a:cs typeface="Amiri" pitchFamily="2" charset="-78"/>
              </a:rPr>
              <a:t> ... </a:t>
            </a:r>
            <a:pPr algn="l" indent="0" marL="0">
              <a:buNone/>
            </a:pPr>
            <a:r>
              <a:rPr lang="ar-SA" altLang="en-US" sz="1650" b="1" dirty="0">
                <a:solidFill>
                  <a:srgbClr val="1F2A37"/>
                </a:solidFill>
                <a:latin typeface="Amiri" pitchFamily="2" charset="-78"/>
                <a:ea typeface="Amiri" pitchFamily="2" charset="-78"/>
                <a:cs typeface="Amiri" pitchFamily="2" charset="-78"/>
              </a:rPr>
              <a:t>أَنْ</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لِكَيْ</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مُنْذُ</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قَبْلَ</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كَمْ</a:t>
            </a:r>
            <a:pPr algn="l" indent="0" marL="0">
              <a:buNone/>
            </a:pPr>
            <a:r>
              <a:rPr lang="en-US" sz="1250" dirty="0">
                <a:solidFill>
                  <a:srgbClr val="9AA1AB"/>
                </a:solidFill>
                <a:latin typeface="Calibri" pitchFamily="34" charset="0"/>
                <a:cs typeface="Amiri" pitchFamily="2" charset="-78"/>
              </a:rPr>
              <a:t> and </a:t>
            </a:r>
            <a:pPr algn="l" indent="0" marL="0">
              <a:buNone/>
            </a:pPr>
            <a:r>
              <a:rPr lang="ar-SA" altLang="en-US" sz="1650" dirty="0">
                <a:solidFill>
                  <a:srgbClr val="9AA1AB"/>
                </a:solidFill>
                <a:latin typeface="Amiri" pitchFamily="2" charset="-78"/>
                <a:ea typeface="Amiri" pitchFamily="2" charset="-78"/>
                <a:cs typeface="Amiri" pitchFamily="2" charset="-78"/>
              </a:rPr>
              <a:t>بِكَمْ</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are explicitly named.</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one digital term in the text.</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المَلْعَبُ</a:t>
            </a:r>
            <a:endParaRPr lang="ar-SA" sz="170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الذَّكَاءُ الاصْطِنَاعِيُّ</a:t>
            </a:r>
            <a:endParaRPr lang="ar-SA" sz="170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المِظَلَّةُ</a:t>
            </a:r>
            <a:endParaRPr lang="ar-SA" sz="170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AI is named.</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were benefits and risks evaluated?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balanced arguments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no reasons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With isolated vocabulary only</a:t>
            </a:r>
            <a:endParaRPr lang="en-US" sz="11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بحجج متوازنة.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current goal?</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Learn the alphabet again</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all formal language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Use the range accurately under pressure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states it.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 Consolidation — Range Mastery and Speaking Preparation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integrates passive, cause and result accurately?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يُلَوَّثُ الهَوَاءُ لِكَيْ تَزْدَادَ الأَمْرَاضُ.</a:t>
            </a:r>
            <a:endParaRPr lang="ar-SA" sz="130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يُلَوَّثُ الهَوَاءُ بِسَبَبِ العَوَادِمِ، مِمَّا يُؤَدِّي إِلَى أَمْرَاضٍ.</a:t>
            </a:r>
            <a:endParaRPr lang="ar-SA" sz="13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يَنْبَعِثُ الهَوَاءُ مِنَ الأَمْرَاضِ.</a:t>
            </a:r>
            <a:endParaRPr lang="ar-SA" sz="13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integrates responsibility and purpose?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يَجِبُ عَلَى البَلَدِيَّةِ أَنْ تَزْرَعَ الأَشْجَارَ لِكَيْ تُحَسِّنَ الهَوَاءَ.</a:t>
            </a:r>
            <a:endParaRPr lang="ar-SA" sz="120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يَجِبُ عَلَى الأَشْجَارِ أَنْ تَزْرَعَ البَلَدِيَّةَ.</a:t>
            </a:r>
            <a:endParaRPr lang="ar-SA" sz="120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يَجِبُ البَلَدِيَّةُ تَزْرَعُ الأَشْجَارَ لِكَيْ الهَوَاءُ.</a:t>
            </a:r>
            <a:endParaRPr lang="ar-SA" sz="120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نُقَلِّلُ</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نُقَلِّلْ</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 نُقَلِّلَ</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accurate for water becoming scarce?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يَشِحُّ المِيَاهُ</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تَنْضَبُ المِيَاهَ</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تَشِحُّ المِيَاهُ</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response uses self-correction productively?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المَشْرُوعُ يَبْدَأُ فِي يُونْيُو—لِأُصَحِّحْ ذٰلِكَ—فِي سِبْتَمْبَرَ.</a:t>
            </a:r>
            <a:endParaRPr lang="ar-SA" sz="14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لِأُصَحِّحْ ذٰلِكَ المَشْرُوعُ مَشْرُوعٌ.</a:t>
            </a:r>
            <a:endParaRPr lang="ar-SA" sz="140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ea typeface="Amiri" pitchFamily="2" charset="-78"/>
                <a:cs typeface="Amiri" pitchFamily="2" charset="-78"/>
              </a:rPr>
              <a:t>المَشْرُوعُ يَبْدَأُ فِي يُونْيُو وَيُونْيُو فَقَطْ.</a:t>
            </a:r>
            <a:endParaRPr lang="ar-SA" sz="140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shows D4-level balance?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التِّقْنِيَّةُ مُفِيدَةٌ دَائِمًا دُونَ شُرُوطٍ.</a:t>
            </a:r>
            <a:endParaRPr lang="ar-SA" sz="12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التِّقْنِيَّةُ مُفِيدَةٌ إِلَى حَدٍّ مَا، شَرِيطَةَ أَنْ تُحْمَى البَيَانَاتُ.</a:t>
            </a:r>
            <a:endParaRPr lang="ar-SA" sz="12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التِّقْنِيَّةُ غَيْرُ مُفِيدَةٍ لِأَنَّهَا تِقْنِيَّةٌ.</a:t>
            </a:r>
            <a:endParaRPr lang="ar-SA" sz="12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45</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integrates passive, cause and result accurately?</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يُلَوَّثُ الهَوَاءُ لِكَيْ تَزْدَادَ الأَمْرَاضُ.</a:t>
            </a:r>
            <a:endParaRPr lang="ar-SA" sz="13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يُلَوَّثُ الهَوَاءُ بِسَبَبِ العَوَادِمِ، مِمَّا يُؤَدِّي إِلَى أَمْرَاضٍ.</a:t>
            </a:r>
            <a:endParaRPr lang="ar-SA" sz="13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يَنْبَعِثُ الهَوَاءُ مِنَ الأَمْرَاضِ.</a:t>
            </a:r>
            <a:endParaRPr lang="ar-SA" sz="13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a coherent problem chain.</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integrates responsibility and purpose?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يَجِبُ عَلَى البَلَدِيَّةِ أَنْ تَزْرَعَ الأَشْجَارَ لِكَيْ تُحَسِّنَ الهَوَاءَ.</a:t>
            </a:r>
            <a:endParaRPr lang="ar-SA" sz="12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يَجِبُ عَلَى الأَشْجَارِ أَنْ تَزْرَعَ البَلَدِيَّةَ.</a:t>
            </a:r>
            <a:endParaRPr lang="ar-SA" sz="12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يَجِبُ البَلَدِيَّةُ تَزْرَعُ الأَشْجَارَ لِكَيْ الهَوَاءُ.</a:t>
            </a:r>
            <a:endParaRPr lang="ar-SA" sz="12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municipality acts for a clear purpose.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after </a:t>
            </a:r>
            <a:pPr algn="l" indent="0" marL="0">
              <a:buNone/>
            </a:pPr>
            <a:r>
              <a:rPr lang="ar-SA" altLang="en-US" sz="1650" b="1" dirty="0">
                <a:solidFill>
                  <a:srgbClr val="1B3B6F"/>
                </a:solidFill>
                <a:latin typeface="Amiri" pitchFamily="2" charset="-78"/>
                <a:ea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نُقَلِّلُ</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 نُقَلِّلْ</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لِكَيْ نُقَلِّلَ</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sound-ending subjunctive takes fatḥa.</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accurate for water becoming scarce?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يَشِحُّ المِيَاهُ</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تَنْضَبُ المِيَاهَ</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تَشِحُّ المِيَاهُ</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المياه</a:t>
            </a:r>
            <a:pPr algn="l" indent="0" marL="0">
              <a:buNone/>
            </a:pPr>
            <a:r>
              <a:rPr lang="en-US" sz="1050" i="1" dirty="0">
                <a:solidFill>
                  <a:srgbClr val="8A6D1E"/>
                </a:solidFill>
                <a:latin typeface="Calibri" pitchFamily="34" charset="0"/>
                <a:cs typeface="Amiri" pitchFamily="2" charset="-78"/>
              </a:rPr>
              <a:t> takes feminine agreement.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response uses self-correction productively?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المَشْرُوعُ يَبْدَأُ فِي يُونْيُو—لِأُصَحِّحْ ذٰلِكَ—فِي سِبْتَمْبَرَ.</a:t>
            </a:r>
            <a:endParaRPr lang="ar-SA" sz="14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لِأُصَحِّحْ ذٰلِكَ المَشْرُوعُ مَشْرُوعٌ.</a:t>
            </a:r>
            <a:endParaRPr lang="ar-SA" sz="14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ea typeface="Amiri" pitchFamily="2" charset="-78"/>
                <a:cs typeface="Amiri" pitchFamily="2" charset="-78"/>
              </a:rPr>
              <a:t>المَشْرُوعُ يَبْدَأُ فِي يُونْيُو وَيُونْيُو فَقَطْ.</a:t>
            </a:r>
            <a:endParaRPr lang="ar-SA" sz="14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explicitly corrects the date.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judgement shows D4-level balance?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التِّقْنِيَّةُ مُفِيدَةٌ دَائِمًا دُونَ شُرُوطٍ.</a:t>
            </a:r>
            <a:endParaRPr lang="ar-SA" sz="12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التِّقْنِيَّةُ مُفِيدَةٌ إِلَى حَدٍّ مَا، شَرِيطَةَ أَنْ تُحْمَى البَيَانَاتُ.</a:t>
            </a:r>
            <a:endParaRPr lang="ar-SA" sz="12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التِّقْنِيَّةُ غَيْرُ مُفِيدَةٍ لِأَنَّهَا تِقْنِيَّةٌ.</a:t>
            </a:r>
            <a:endParaRPr lang="ar-SA" sz="12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qualifies the judgement and sets a condition.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D4-L12 · D4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مَعَايِيرُ التَّصْحِيحِ</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marking criteria</a:t>
            </a:r>
            <a:pPr indent="0" marL="0">
              <a:buNone/>
            </a:pPr>
            <a:r>
              <a:rPr lang="ar-SA" sz="1000" i="1" dirty="0">
                <a:solidFill>
                  <a:srgbClr val="5A6472"/>
                </a:solidFill>
                <a:latin typeface="Calibri" pitchFamily="34" charset="0"/>
                <a:ea typeface="Amiri" pitchFamily="2" charset="-78"/>
                <a:cs typeface="Amiri" pitchFamily="2" charset="-78"/>
              </a:rPr>
              <a:t>  sing. مِعْيَارٌ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أُرَاجِعُ إِجَابَتِي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my answer</a:t>
            </a:r>
            <a:pPr indent="0" marL="0">
              <a:buNone/>
            </a:pPr>
            <a:r>
              <a:rPr lang="ar-SA" sz="1000" i="1" dirty="0">
                <a:solidFill>
                  <a:srgbClr val="5A6472"/>
                </a:solidFill>
                <a:latin typeface="Calibri" pitchFamily="34" charset="0"/>
                <a:ea typeface="Amiri" pitchFamily="2" charset="-78"/>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D4 chain from memory: one sentence each for climate, problem, solution and judgement.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يَسُودُ … · يُلَوَّثُ … بِسَبَبِ … · يَجِبُ عَلَى … أَنْ … لِكَيْ … · شَرِيطَةَ أَنْ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five chain frames and the five assessment words; redo today’s exit ticket.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full chain in 100–120 words, checked with the three classic slips.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(130–140 words) + count and label your D4 features.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D4-L12 · D4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build a CHAIN — climate → problem → cause → solution → judgement — and check -a after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 </a:t>
            </a:r>
            <a:pPr algn="l" indent="0" marL="0">
              <a:buNone/>
            </a:pPr>
            <a:r>
              <a:rPr lang="ar-SA" altLang="en-US" sz="1700" b="1" dirty="0">
                <a:solidFill>
                  <a:srgbClr val="FFFFFF"/>
                </a:solidFill>
                <a:latin typeface="Amiri" pitchFamily="2" charset="-78"/>
                <a:ea typeface="Amiri" pitchFamily="2" charset="-78"/>
                <a:cs typeface="Amiri" pitchFamily="2" charset="-78"/>
              </a:rPr>
              <a:t>لِكَيْ</a:t>
            </a:r>
            <a:pPr algn="l" indent="0" marL="0">
              <a:buNone/>
            </a:pPr>
            <a:r>
              <a:rPr lang="en-US" sz="1300" b="1" dirty="0">
                <a:solidFill>
                  <a:srgbClr val="FFFFFF"/>
                </a:solidFill>
                <a:latin typeface="Calibri" pitchFamily="34" charset="0"/>
                <a:cs typeface="Amiri" pitchFamily="2" charset="-78"/>
              </a:rPr>
              <a:t> and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D4-L11 · D4 Consolidation — Range Mastery and Speaking Preparation</dc:title>
  <dc:subject>PptxGenJS Presentation</dc:subject>
  <dc:creator>Al Madina Online School · Arabic Department</dc:creator>
  <cp:lastModifiedBy>Al Madina Online School · Arabic Department</cp:lastModifiedBy>
  <cp:revision>1</cp:revision>
  <dcterms:created xsi:type="dcterms:W3CDTF">2026-10-11T06:40:56Z</dcterms:created>
  <dcterms:modified xsi:type="dcterms:W3CDTF">2026-10-11T06:40:56Z</dcterms:modified>
</cp:coreProperties>
</file>