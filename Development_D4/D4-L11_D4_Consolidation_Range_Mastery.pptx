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D4-L11. The website lesson “D4 Consolidation — Range Mastery and Speaking Preparation”: vocabulary, grammar rules and quiz, patterns, common mistakes, sorter, listening, reading, speaking prompts and model, writing task and model, differentiation, final check and the lesson mission. Picture match: website visual game “D4 Consolidation — Range Mastery and Speaking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D4 review before the D4-L12 assessment.
• Core: one accurate sentence for each link of the chain (climate · problem · solution) with frames. Develop: the full chain in a paragraph with one passive, one cause–effect and one purpose. Stretch: the website writing task (130–140 words, seven meaningful D4 features) + a qualified judgement and a self-audit.
• Speaking focus: self-correction phrases (لِأُصَحِّحْ ذٰلِكَ · أَقْصِدُ أَنَّ · بِعِبَارَةٍ أُخْرَى) — a recovered mistake is better than silence.
• Use the Do Now and quick-check results to choose each student’s route for the final You Do.
• TEACHER-WRITTEN ITEMS: two quiz distractors replaced (they differed only in vowels), “D4” written out in Arabic inside the Arabic texts, and English added to the model sentences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D4-L10. Questions 3–5 retrieve D4-L10, D4-L02 and D4-L03. Note which of 3–5 each student gets wrong: it points to their revision priority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top answer is a CHAIN, not a list: every feature links to the next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نقطہ، قوت، عبارت are shared. CAREFUL: Urdu تحسین = praise; Arabic تَحْسِينٌ = improvement (مَجَالُ تَحْسِينٍ = an area for improvement). Urdu اعداد (aʿdād) = numbers; Arabic إِعْدَادٌ (iʿdād, with kasra) =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Range and performance (website vocabulary (1 of 2)). Hear → Say → See → Use. Transliteration is printed for Core students (cover it for Develop/Stretch).
Range and performance: the words a teacher or examiner uses in feedback. Use نُقْطَةُ قُوَّةٍ and مَجَالُ تَحْسِينٍ to talk about your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Range and performance (website vocabulary (2 of 2)). Hear → Say → See → Use. Transliteration is printed for Core students (cover it for Develop/Stretch).
Range and performance: the words a teacher or examiner uses in feedback. Use نُقْطَةُ قُوَّةٍ and مَجَالُ تَحْسِينٍ to talk about your own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self-correction (website vocabulary (1 of 2)). Hear → Say → See → Use. Transliteration is printed for Core students (cover it for Develop/Stretch).
Speaking and self-correction: phrases that keep you talking when you make a mistake or need time — a recovered mistake earns more than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and self-correction (website vocabulary (2 of 2)). Hear → Say → See → Use. Transliteration is printed for Core students (cover it for Develop/Stretch).
Speaking and self-correction: phrases that keep you talking when you make a mistake or need time — a recovered mistake earns more than silence.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“Climate and weather accuracy” (keep climate description and weather events distinct), “Problem, cause and passive” (use a true passive where the affected thing is foregrounded) and “Solution and purpose” (state who must act and why). Rule 4 (“Qualified academic judgement”) is row 5. Colours: blue = climate, pink = problem chain, purple = solution / condition.
Core: rows 1, 2 and 4 are enough for a strong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three website common mistakes for this lesson, turned into a hand-in checklist. Students copy the three heads into the margin of their writing and tick each one.
Card 3 in full (website): عَلَى الرَّغْمِ مِنْ أَنَّ المَشْرُوعَ مُكَلِّفٌ، فَإِنَّهُ يُقَلِّلُ الهَدْرَ عَلَى المَدَى البَعِيدِ.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Climate and weather accuracy: Keep climate description and weather events distinct.
• Problem, cause and passive: Use a true passive where the affected thing is foregrounded.
• Solution and purpose: State who must act and why.
• Qualified academic judgement: A strong answer recognises limits and states conditions.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build the chain aloud. At step 4, deliberately say لِكَيْ تَحْمِي المَوَارِدَ with the wrong ending, stop, and model: لِأُصَحِّحْ ذٰلِكَ — لِكَيْ تَحْمِيَ. The copy box is the middle of the website writing model (the full model is on the Write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each student picks their own نُقْطَةُ قُوَّةٍ and مَجَالُ تَحْسِينٍ from the middle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each student picks their own نُقْطَةُ قُوَّةٍ and مَجَالُ تَحْسِينٍ from the middle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2. Develop/Stretch: all four.
Listen 1: just listen. Listen 2: note answers. Then chat the letters.
Support: after the second listening, show the read-along slide (Arabic + English, line by line) for Core students.
SCRIPT (read aloud):
فِي المُحَادَثَةِ الأُولَى، وَصَفَتْ مَرْيَمُ مَشْرُوعًا لِتَوْسِيعِ النَّقْلِ العَامِّ. قَالَتْ إِنَّهُ سَيُقَلِّلُ الانْبِعَاثَاتِ، لٰكِنَّهَا أَضَافَتْ أَنَّ التَّكْلِفَةَ الأُولَى مُرْتَفِعَةٌ.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3. Develop/Stretch: all four — question 2 is the corrected detail.
Listen 1: just listen. Listen 2: note answers. Then chat the letters.
Support: after the second listening, show the read-along slide (Arabic + English, line by line) for Core students.
SCRIPT (read aloud):
وَفِي المُحَادَثَةِ الثَّانِيَةِ، تَحَدَّثَ خَالِدٌ عَنْ شُحِّ المِيَاهِ. أَوَّلًا قَالَ إِنَّ الاسْتِهْلَاكَ انْخَفَضَ، ثُمَّ صَحَّحَ نَفْسَهُ وَقَالَ إِنَّهُ ارْتَفَعَ بِنِسْبَةِ ٩٪. وَأَكَّدَ أَنَّ الحَلَّ يَحْتَاجُ إِلَى التِّقْنِيَّةِ وَتَغْيِيرِ السُّلُوكِ مَعًا.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60 seconds each in pairs; the partner counts the D4 features heard and notes one self-correction phrase. If a student freezes: لِأُصَحِّحْ ذٰلِكَ / بِعِبَارَةٍ أُخْرَى and try again. To a girl: مَا نُقْطَةُ قُوَّتِكِ؟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130–140 Arabic words integrating climate, an environmental problem, a solution and a qualified technology judgement.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D4 features: يَسُودُ · تَشِحُّ … نَتِيجَةً لِـ · يَجِبُ عَلَى … أَنْ تَسْتَثْمِرَ … لِكَيْ تَحْمِيَ · عَلَاوَةً عَلَى ذٰلِكَ · يُمْكِنُ أَنْ يُسْتَخْدَمَ (passive) · عَلَى الرَّغْمِ مِنْ أَنَّ … فَإِنَّهَا · فِي رَأْيِي. Count them with the class: seven or more, each with a job.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(D4-L12 · D4 Review and Unit Assessment) will spend class time USING this language, so students prepare it tonight — short, simple, easy to access (school guidance: “Simple, Short, Interesting, Relevant, Easy to access”). The five words are the instruction words of the D4-L12 assessment (its listening, reading and marking sections).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D4  ·  D4-L11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D4-L11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D4 Consolidation — Range Mastery and Speaking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تَرْسِيخُ الوَحْدَةِ — إِتْقَانُ النِّطَاقِ وَإِعْدَادُ التَّحَدُّثِ</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Pull the whole of D4 together in one chain — climate → problem → cause → solution → qualified judgement — accurately and under pressure, and practise recovering in speaking (</a:t>
            </a:r>
            <a:pPr algn="l" indent="0" marL="0">
              <a:buNone/>
            </a:pPr>
            <a:r>
              <a:rPr lang="ar-SA" altLang="en-US" sz="1800" dirty="0">
                <a:solidFill>
                  <a:srgbClr val="C6D2E6"/>
                </a:solidFill>
                <a:latin typeface="Amiri" pitchFamily="2" charset="-78"/>
                <a:ea typeface="Amiri" pitchFamily="2" charset="-78"/>
                <a:cs typeface="Amiri" pitchFamily="2" charset="-78"/>
              </a:rPr>
              <a:t>لِأُصَحِّحْ ذٰلِكَ</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بِعِبَارَةٍ أُخْرَى</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D4-L11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D4 › D4-L11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D4 chain: climate → problem → solution → judgement.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the range, fix three classic D4 slips, then two short listening cycles.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D4-L12.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نُقْطَةُ قُوَّةٍ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area for improvement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strength</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point of view</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بِعِبَارَةٍ أُخْرَى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other words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 me correct that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what I mean is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حَذَّرَ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شُحِّ المِيَاهِ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يَهُبُّ الرِّيَاحُ بِقُوَّةٍ.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 الرِّيَاحِ بِقُوَّةٍ.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 الرِّيَاحُ بِقُوَّةٍ.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passive?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تُقْطَعُ الأَشْجَارُ.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يَقْطَعُ النَّاسُ الأَشْجَارَ.</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قَطَعْنَا الأَشْجَارَ.</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نُقْطَةُ قُوَّةٍ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area for improvement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strength</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point of view</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بِعِبَارَةٍ أُخْرَى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other words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let me correct that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what I mean is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(D4-L10).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حَذَّرَ الخَبِيرُ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شُحِّ المِيَاهِ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يَهُبُّ الرِّيَاحُ بِقُوَّةٍ.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تَهُبُّ الرِّيَاحِ بِقُوَّةٍ.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تَهُبُّ الرِّيَاحُ بِقُوَّةٍ.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D4-L02: weather agreement.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passive?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تُقْطَعُ الأَشْجَارُ.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يَقْطَعُ النَّاسُ الأَشْجَارَ.</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قَطَعْنَا الأَشْجَارَ.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D4-L03.</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top answer is a CHAIN, not a list: every feature links to the next idea.</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يَسُودُ</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يُلَوَّثُ</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بِسَبَبِ</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يَجِبُ عَلَى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لِكَيْ</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climate and weather accurately (</a:t>
            </a:r>
            <a:pPr algn="l" indent="0" marL="0">
              <a:buNone/>
            </a:pPr>
            <a:r>
              <a:rPr lang="ar-SA" altLang="en-US" sz="1700" dirty="0">
                <a:solidFill>
                  <a:srgbClr val="1F2A37"/>
                </a:solidFill>
                <a:latin typeface="Amiri" pitchFamily="2" charset="-78"/>
                <a:ea typeface="Amiri" pitchFamily="2" charset="-78"/>
                <a:cs typeface="Amiri" pitchFamily="2" charset="-78"/>
              </a:rPr>
              <a:t>يَسُودُ</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تَهُبُّ الرِّيَاحُ</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a problem with a passive and a cause–effect chain.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Propose a solution with obligation + purpose and give a qualified judgement.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Recover from a mistake in speaking with a self-correction phrase.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one accurate sentence for climate, problem and solution.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the D4 frames.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link problem, cause and solution in a paragraph.</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 passive and a purpose clause.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give a qualified judgement (</a:t>
            </a:r>
            <a:pPr algn="l" indent="0" marL="0">
              <a:buNone/>
            </a:pPr>
            <a:r>
              <a:rPr lang="ar-SA" altLang="en-US" sz="1700" b="1" dirty="0">
                <a:solidFill>
                  <a:srgbClr val="B83227"/>
                </a:solidFill>
                <a:latin typeface="Amiri" pitchFamily="2" charset="-78"/>
                <a:ea typeface="Amiri" pitchFamily="2" charset="-78"/>
                <a:cs typeface="Amiri" pitchFamily="2" charset="-78"/>
              </a:rPr>
              <a:t>شَرِيطَةَ أَنْ</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self-correct while speaking.</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Range and performance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D4 grammar bank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Speaking and self-correction · 7</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نُقْطَةٌ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‎نقطہ‎ </a:t>
            </a:r>
            <a:pPr indent="0" marL="0">
              <a:buNone/>
            </a:pPr>
            <a:r>
              <a:rPr lang="en-US" sz="950" b="1" dirty="0">
                <a:solidFill>
                  <a:srgbClr val="2E8B57"/>
                </a:solidFill>
                <a:latin typeface="Calibri" pitchFamily="34" charset="0"/>
                <a:cs typeface="Amiri" pitchFamily="2" charset="-78"/>
              </a:rPr>
              <a:t> nuqta · point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قُوَّةٌ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‎قوت‎ </a:t>
            </a:r>
            <a:pPr indent="0" marL="0">
              <a:buNone/>
            </a:pPr>
            <a:r>
              <a:rPr lang="en-US" sz="950" b="1" dirty="0">
                <a:solidFill>
                  <a:srgbClr val="2E8B57"/>
                </a:solidFill>
                <a:latin typeface="Calibri" pitchFamily="34" charset="0"/>
                <a:cs typeface="Amiri" pitchFamily="2" charset="-78"/>
              </a:rPr>
              <a:t> quwwat · strength</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تَحْسِينٌ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‎تحسین‎ </a:t>
            </a:r>
            <a:pPr indent="0" marL="0">
              <a:buNone/>
            </a:pPr>
            <a:r>
              <a:rPr lang="en-US" sz="950" b="1" dirty="0">
                <a:solidFill>
                  <a:srgbClr val="2E8B57"/>
                </a:solidFill>
                <a:latin typeface="Calibri" pitchFamily="34" charset="0"/>
                <a:cs typeface="Amiri" pitchFamily="2" charset="-78"/>
              </a:rPr>
              <a:t> taḥsīn · Urdu: praise · Arabic: improvement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إِعْدَادٌ</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‎اعداد‎ </a:t>
            </a:r>
            <a:pPr indent="0" marL="0">
              <a:buNone/>
            </a:pPr>
            <a:r>
              <a:rPr lang="en-US" sz="950" b="1" dirty="0">
                <a:solidFill>
                  <a:srgbClr val="2E8B57"/>
                </a:solidFill>
                <a:latin typeface="Calibri" pitchFamily="34" charset="0"/>
                <a:cs typeface="Amiri" pitchFamily="2" charset="-78"/>
              </a:rPr>
              <a:t> aʿdād · Urdu: numbers · Arabic: preparation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عِبَارَةٌ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‎عبارت‎ </a:t>
            </a:r>
            <a:pPr indent="0" marL="0">
              <a:buNone/>
            </a:pPr>
            <a:r>
              <a:rPr lang="en-US" sz="950" b="1" dirty="0">
                <a:solidFill>
                  <a:srgbClr val="2E8B57"/>
                </a:solidFill>
                <a:latin typeface="Calibri" pitchFamily="34" charset="0"/>
                <a:cs typeface="Amiri" pitchFamily="2" charset="-78"/>
              </a:rPr>
              <a:t> ʿibārat · expression, wording</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Range and performance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النِّطَاقُ اللُّغَوِيُّ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linguistic range</a:t>
            </a:r>
            <a:endParaRPr lang="en-US" sz="1350" dirty="0"/>
          </a:p>
          <a:p>
            <a:pPr indent="0" marL="0">
              <a:buNone/>
            </a:pPr>
            <a:r>
              <a:rPr lang="en-US" sz="1100" i="1" dirty="0">
                <a:solidFill>
                  <a:srgbClr val="5A6472"/>
                </a:solidFill>
                <a:latin typeface="Calibri" pitchFamily="34" charset="0"/>
                <a:cs typeface="Amiri" pitchFamily="2" charset="-78"/>
              </a:rPr>
              <a:t>an-ni-ṭā-qu all-lu-gha-wiy-yu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التَّكَامُلُ اللُّغَوِيُّ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language integration</a:t>
            </a:r>
            <a:endParaRPr lang="en-US" sz="1350" dirty="0"/>
          </a:p>
          <a:p>
            <a:pPr indent="0" marL="0">
              <a:buNone/>
            </a:pPr>
            <a:r>
              <a:rPr lang="en-US" sz="1100" i="1" dirty="0">
                <a:solidFill>
                  <a:srgbClr val="5A6472"/>
                </a:solidFill>
                <a:latin typeface="Calibri" pitchFamily="34" charset="0"/>
                <a:cs typeface="Amiri" pitchFamily="2" charset="-78"/>
              </a:rPr>
              <a:t>at-ta-kā-mu-lu all-lu-gha-wiy-yu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 تَحْتَ الضَّغْطِ</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 under pressure</a:t>
            </a:r>
            <a:endParaRPr lang="en-US" sz="1350" dirty="0"/>
          </a:p>
          <a:p>
            <a:pPr indent="0" marL="0">
              <a:buNone/>
            </a:pPr>
            <a:r>
              <a:rPr lang="en-US" sz="1100" i="1" dirty="0">
                <a:solidFill>
                  <a:srgbClr val="5A6472"/>
                </a:solidFill>
                <a:latin typeface="Calibri" pitchFamily="34" charset="0"/>
                <a:cs typeface="Amiri" pitchFamily="2" charset="-78"/>
              </a:rPr>
              <a:t>ad-diq-qa-tu taḥ-ta aḍ-ḍagh-ṭi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التَّعَمُّقُ الأَكَادِيمِيُّ</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academic depth</a:t>
            </a:r>
            <a:endParaRPr lang="en-US" sz="1350" dirty="0"/>
          </a:p>
          <a:p>
            <a:pPr indent="0" marL="0">
              <a:buNone/>
            </a:pPr>
            <a:r>
              <a:rPr lang="en-US" sz="1100" i="1" dirty="0">
                <a:solidFill>
                  <a:srgbClr val="5A6472"/>
                </a:solidFill>
                <a:latin typeface="Calibri" pitchFamily="34" charset="0"/>
                <a:cs typeface="Amiri" pitchFamily="2" charset="-78"/>
              </a:rPr>
              <a:t>at-ta-ʿam-mu-qu al-a-kā-dī-miy-yu</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إِعْدَادُ الامْتِحَانِ</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exam preparation</a:t>
            </a:r>
            <a:endParaRPr lang="en-US" sz="1350" dirty="0"/>
          </a:p>
          <a:p>
            <a:pPr indent="0" marL="0">
              <a:buNone/>
            </a:pPr>
            <a:r>
              <a:rPr lang="en-US" sz="1100" i="1" dirty="0">
                <a:solidFill>
                  <a:srgbClr val="5A6472"/>
                </a:solidFill>
                <a:latin typeface="Calibri" pitchFamily="34" charset="0"/>
                <a:cs typeface="Amiri" pitchFamily="2" charset="-78"/>
              </a:rPr>
              <a:t>iʿ-dā-du alm-ti-ḥā-ni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Range and performance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نُقْطَةُ قُوَّةٍ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strength</a:t>
            </a:r>
            <a:endParaRPr lang="en-US" sz="1350" dirty="0"/>
          </a:p>
          <a:p>
            <a:pPr indent="0" marL="0">
              <a:buNone/>
            </a:pPr>
            <a:r>
              <a:rPr lang="en-US" sz="1100" i="1" dirty="0">
                <a:solidFill>
                  <a:srgbClr val="5A6472"/>
                </a:solidFill>
                <a:latin typeface="Calibri" pitchFamily="34" charset="0"/>
                <a:cs typeface="Amiri" pitchFamily="2" charset="-78"/>
              </a:rPr>
              <a:t>nuq-ṭa-tu quw-wa-tin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مَجَالُ تَحْسِينٍ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area for improvement</a:t>
            </a:r>
            <a:endParaRPr lang="en-US" sz="1350" dirty="0"/>
          </a:p>
          <a:p>
            <a:pPr indent="0" marL="0">
              <a:buNone/>
            </a:pPr>
            <a:r>
              <a:rPr lang="en-US" sz="1100" i="1" dirty="0">
                <a:solidFill>
                  <a:srgbClr val="5A6472"/>
                </a:solidFill>
                <a:latin typeface="Calibri" pitchFamily="34" charset="0"/>
                <a:cs typeface="Amiri" pitchFamily="2" charset="-78"/>
              </a:rPr>
              <a:t>ma-jā-lu taḥ-sī-nin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دَلِيلٌ لُغَوِيٌّ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linguistic evidence</a:t>
            </a:r>
            <a:endParaRPr lang="en-US" sz="1350" dirty="0"/>
          </a:p>
          <a:p>
            <a:pPr indent="0" marL="0">
              <a:buNone/>
            </a:pPr>
            <a:r>
              <a:rPr lang="en-US" sz="1100" i="1" dirty="0">
                <a:solidFill>
                  <a:srgbClr val="5A6472"/>
                </a:solidFill>
                <a:latin typeface="Calibri" pitchFamily="34" charset="0"/>
                <a:cs typeface="Amiri" pitchFamily="2" charset="-78"/>
              </a:rPr>
              <a:t>da-lī-lun lu-gha-wiy-yun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إِجَابَةٌ مُطَوَّرَةٌ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developed answer</a:t>
            </a:r>
            <a:endParaRPr lang="en-US" sz="1350" dirty="0"/>
          </a:p>
          <a:p>
            <a:pPr indent="0" marL="0">
              <a:buNone/>
            </a:pPr>
            <a:r>
              <a:rPr lang="en-US" sz="1100" i="1" dirty="0">
                <a:solidFill>
                  <a:srgbClr val="5A6472"/>
                </a:solidFill>
                <a:latin typeface="Calibri" pitchFamily="34" charset="0"/>
                <a:cs typeface="Amiri" pitchFamily="2" charset="-78"/>
              </a:rPr>
              <a:t>i-jā-ba-tun mu-ṭaw-wa-ra-tun</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and self-correction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أَقْصِدُ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 mean is</a:t>
            </a:r>
            <a:endParaRPr lang="en-US" sz="1350" dirty="0"/>
          </a:p>
          <a:p>
            <a:pPr indent="0" marL="0">
              <a:buNone/>
            </a:pPr>
            <a:r>
              <a:rPr lang="en-US" sz="1100" i="1" dirty="0">
                <a:solidFill>
                  <a:srgbClr val="5A6472"/>
                </a:solidFill>
                <a:latin typeface="Calibri" pitchFamily="34" charset="0"/>
                <a:cs typeface="Amiri" pitchFamily="2" charset="-78"/>
              </a:rPr>
              <a:t>aq-ṣi-du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بِعِبَارَةٍ أُخْرَى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other words</a:t>
            </a:r>
            <a:endParaRPr lang="en-US" sz="1350" dirty="0"/>
          </a:p>
          <a:p>
            <a:pPr indent="0" marL="0">
              <a:buNone/>
            </a:pPr>
            <a:r>
              <a:rPr lang="en-US" sz="1100" i="1" dirty="0">
                <a:solidFill>
                  <a:srgbClr val="5A6472"/>
                </a:solidFill>
                <a:latin typeface="Calibri" pitchFamily="34" charset="0"/>
                <a:cs typeface="Amiri" pitchFamily="2" charset="-78"/>
              </a:rPr>
              <a:t>bi-ʿi-bā-ra-tin ukh-rā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لِأُصَحِّحْ ذٰلِكَ</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me correct that</a:t>
            </a:r>
            <a:endParaRPr lang="en-US" sz="1350" dirty="0"/>
          </a:p>
          <a:p>
            <a:pPr indent="0" marL="0">
              <a:buNone/>
            </a:pPr>
            <a:r>
              <a:rPr lang="en-US" sz="1100" i="1" dirty="0">
                <a:solidFill>
                  <a:srgbClr val="5A6472"/>
                </a:solidFill>
                <a:latin typeface="Calibri" pitchFamily="34" charset="0"/>
                <a:cs typeface="Amiri" pitchFamily="2" charset="-78"/>
              </a:rPr>
              <a:t>li-ʾu-ṣaḥ-ḥiḥ dhā-li-ka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سَأُعْطِي مِثَالًا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give an example</a:t>
            </a:r>
            <a:endParaRPr lang="en-US" sz="1350" dirty="0"/>
          </a:p>
          <a:p>
            <a:pPr indent="0" marL="0">
              <a:buNone/>
            </a:pPr>
            <a:r>
              <a:rPr lang="en-US" sz="1100" i="1" dirty="0">
                <a:solidFill>
                  <a:srgbClr val="5A6472"/>
                </a:solidFill>
                <a:latin typeface="Calibri" pitchFamily="34" charset="0"/>
                <a:cs typeface="Amiri" pitchFamily="2" charset="-78"/>
              </a:rPr>
              <a:t>sa-ʾuʿ-ṭī mi-thā-lan</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Speaking and self-correction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الدَّلِيلُ عَلَى ذٰلِكَ</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evidence for that</a:t>
            </a:r>
            <a:endParaRPr lang="en-US" sz="1350" dirty="0"/>
          </a:p>
          <a:p>
            <a:pPr indent="0" marL="0">
              <a:buNone/>
            </a:pPr>
            <a:r>
              <a:rPr lang="en-US" sz="1100" i="1" dirty="0">
                <a:solidFill>
                  <a:srgbClr val="5A6472"/>
                </a:solidFill>
                <a:latin typeface="Calibri" pitchFamily="34" charset="0"/>
                <a:cs typeface="Amiri" pitchFamily="2" charset="-78"/>
              </a:rPr>
              <a:t>ad-da-lī-lu ʿa-lā dhā-li-ka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وَجْهَةِ نَظَرِي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my point of view</a:t>
            </a:r>
            <a:endParaRPr lang="en-US" sz="1350" dirty="0"/>
          </a:p>
          <a:p>
            <a:pPr indent="0" marL="0">
              <a:buNone/>
            </a:pPr>
            <a:r>
              <a:rPr lang="en-US" sz="1100" i="1" dirty="0">
                <a:solidFill>
                  <a:srgbClr val="5A6472"/>
                </a:solidFill>
                <a:latin typeface="Calibri" pitchFamily="34" charset="0"/>
                <a:cs typeface="Amiri" pitchFamily="2" charset="-78"/>
              </a:rPr>
              <a:t>min waj-ha-ti na-ẓa-rī</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إِلَى حَدٍّ 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some extent</a:t>
            </a:r>
            <a:endParaRPr lang="en-US" sz="1350" dirty="0"/>
          </a:p>
          <a:p>
            <a:pPr indent="0" marL="0">
              <a:buNone/>
            </a:pPr>
            <a:r>
              <a:rPr lang="en-US" sz="1100" i="1" dirty="0">
                <a:solidFill>
                  <a:srgbClr val="5A6472"/>
                </a:solidFill>
                <a:latin typeface="Calibri" pitchFamily="34" charset="0"/>
                <a:cs typeface="Amiri" pitchFamily="2" charset="-78"/>
              </a:rPr>
              <a:t>i-lā ḥad-din mā</a:t>
            </a:r>
            <a:endParaRPr lang="en-US" sz="13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D4 CHAIN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Climate → problem → solution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سِلْسِلَةُ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2633472" y="1810512"/>
            <a:ext cx="6528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(website)</a:t>
            </a:r>
            <a:endParaRPr lang="en-US" sz="1100" dirty="0"/>
          </a:p>
        </p:txBody>
      </p:sp>
      <p:sp>
        <p:nvSpPr>
          <p:cNvPr id="18" name="Text 15"/>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D4-L01 · L02</a:t>
            </a:r>
            <a:endParaRPr lang="en-US" sz="1100" dirty="0"/>
          </a:p>
        </p:txBody>
      </p:sp>
      <p:sp>
        <p:nvSpPr>
          <p:cNvPr id="21" name="Text 18"/>
          <p:cNvSpPr txBox="1"/>
          <p:nvPr/>
        </p:nvSpPr>
        <p:spPr>
          <a:xfrm>
            <a:off x="2651760" y="2286000"/>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يَسُودُ</a:t>
            </a:r>
            <a:pPr rtl="1" algn="ctr" indent="0" marL="0">
              <a:buNone/>
            </a:pPr>
            <a:r>
              <a:rPr lang="ar-SA" altLang="en-US" sz="1950" b="1" dirty="0">
                <a:solidFill>
                  <a:srgbClr val="1B3B6F"/>
                </a:solidFill>
                <a:latin typeface="Amiri" pitchFamily="2" charset="-78"/>
                <a:ea typeface="Amiri" pitchFamily="2" charset="-78"/>
                <a:cs typeface="Amiri" pitchFamily="2" charset="-78"/>
              </a:rPr>
              <a:t> مَنَاخٌ جَافٌّ فِي الدَّاخِلِ، وَ</a:t>
            </a:r>
            <a:pPr rtl="1" algn="ctr" indent="0" marL="0">
              <a:buNone/>
            </a:pPr>
            <a:r>
              <a:rPr lang="ar-SA" altLang="en-US" sz="1950" b="1" dirty="0">
                <a:solidFill>
                  <a:srgbClr val="0E7C86"/>
                </a:solidFill>
                <a:latin typeface="Amiri" pitchFamily="2" charset="-78"/>
                <a:ea typeface="Amiri" pitchFamily="2" charset="-78"/>
                <a:cs typeface="Amiri" pitchFamily="2" charset="-78"/>
              </a:rPr>
              <a:t>تَهُبُّ</a:t>
            </a:r>
            <a:pPr rtl="1" algn="ctr" indent="0" marL="0">
              <a:buNone/>
            </a:pPr>
            <a:r>
              <a:rPr lang="ar-SA" altLang="en-US" sz="1950" b="1" dirty="0">
                <a:solidFill>
                  <a:srgbClr val="1B3B6F"/>
                </a:solidFill>
                <a:latin typeface="Amiri" pitchFamily="2" charset="-78"/>
                <a:ea typeface="Amiri" pitchFamily="2" charset="-78"/>
                <a:cs typeface="Amiri" pitchFamily="2" charset="-78"/>
              </a:rPr>
              <a:t> الرِّيَاحُ بِقُوَّةٍ فِي الرَّبِيعِ.</a:t>
            </a:r>
            <a:endParaRPr lang="ar-SA" sz="1950" dirty="0"/>
          </a:p>
        </p:txBody>
      </p:sp>
      <p:sp>
        <p:nvSpPr>
          <p:cNvPr id="22" name="Text 19"/>
          <p:cNvSpPr txBox="1"/>
          <p:nvPr/>
        </p:nvSpPr>
        <p:spPr>
          <a:xfrm>
            <a:off x="2606040" y="2676997"/>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 dry climate prevails inland, and winds blow strongly in spring.</a:t>
            </a:r>
            <a:endParaRPr lang="en-US" sz="950" dirty="0"/>
          </a:p>
        </p:txBody>
      </p:sp>
      <p:sp>
        <p:nvSpPr>
          <p:cNvPr id="23" name="Text 20"/>
          <p:cNvSpPr txBox="1"/>
          <p:nvPr/>
        </p:nvSpPr>
        <p:spPr>
          <a:xfrm>
            <a:off x="566928" y="2267712"/>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climate + weather</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D4-L03</a:t>
            </a:r>
            <a:endParaRPr lang="en-US" sz="1100" dirty="0"/>
          </a:p>
        </p:txBody>
      </p:sp>
      <p:sp>
        <p:nvSpPr>
          <p:cNvPr id="28" name="Text 25"/>
          <p:cNvSpPr txBox="1"/>
          <p:nvPr/>
        </p:nvSpPr>
        <p:spPr>
          <a:xfrm>
            <a:off x="2651760" y="3023006"/>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يُلَوَّثُ</a:t>
            </a:r>
            <a:pPr rtl="1" algn="ctr" indent="0" marL="0">
              <a:buNone/>
            </a:pPr>
            <a:r>
              <a:rPr lang="ar-SA" altLang="en-US" sz="1950" b="1" dirty="0">
                <a:solidFill>
                  <a:srgbClr val="1B3B6F"/>
                </a:solidFill>
                <a:latin typeface="Amiri" pitchFamily="2" charset="-78"/>
                <a:ea typeface="Amiri" pitchFamily="2" charset="-78"/>
                <a:cs typeface="Amiri" pitchFamily="2" charset="-78"/>
              </a:rPr>
              <a:t> الهَوَاءُ </a:t>
            </a:r>
            <a:pPr rtl="1" algn="ctr" indent="0" marL="0">
              <a:buNone/>
            </a:pPr>
            <a:r>
              <a:rPr lang="ar-SA" altLang="en-US" sz="1950" b="1" dirty="0">
                <a:solidFill>
                  <a:srgbClr val="D6336C"/>
                </a:solidFill>
                <a:latin typeface="Amiri" pitchFamily="2" charset="-78"/>
                <a:ea typeface="Amiri" pitchFamily="2" charset="-78"/>
                <a:cs typeface="Amiri" pitchFamily="2" charset="-78"/>
              </a:rPr>
              <a:t>بِسَبَبِ</a:t>
            </a:r>
            <a:pPr rtl="1" algn="ctr" indent="0" marL="0">
              <a:buNone/>
            </a:pPr>
            <a:r>
              <a:rPr lang="ar-SA" altLang="en-US" sz="1950" b="1" dirty="0">
                <a:solidFill>
                  <a:srgbClr val="1B3B6F"/>
                </a:solidFill>
                <a:latin typeface="Amiri" pitchFamily="2" charset="-78"/>
                <a:ea typeface="Amiri" pitchFamily="2" charset="-78"/>
                <a:cs typeface="Amiri" pitchFamily="2" charset="-78"/>
              </a:rPr>
              <a:t> عَوَادِمِ السَّيَّارَاتِ،</a:t>
            </a:r>
            <a:endParaRPr lang="ar-SA" sz="1950" dirty="0"/>
          </a:p>
        </p:txBody>
      </p:sp>
      <p:sp>
        <p:nvSpPr>
          <p:cNvPr id="29" name="Text 26"/>
          <p:cNvSpPr txBox="1"/>
          <p:nvPr/>
        </p:nvSpPr>
        <p:spPr>
          <a:xfrm>
            <a:off x="2606040" y="3414004"/>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air is polluted because of car exhaust,</a:t>
            </a:r>
            <a:endParaRPr lang="en-US" sz="950" dirty="0"/>
          </a:p>
        </p:txBody>
      </p:sp>
      <p:sp>
        <p:nvSpPr>
          <p:cNvPr id="30" name="Text 27"/>
          <p:cNvSpPr txBox="1"/>
          <p:nvPr/>
        </p:nvSpPr>
        <p:spPr>
          <a:xfrm>
            <a:off x="566928" y="300471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problem + cause</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D4-L03 · L07</a:t>
            </a:r>
            <a:endParaRPr lang="en-US" sz="1100" dirty="0"/>
          </a:p>
        </p:txBody>
      </p:sp>
      <p:sp>
        <p:nvSpPr>
          <p:cNvPr id="35" name="Text 32"/>
          <p:cNvSpPr txBox="1"/>
          <p:nvPr/>
        </p:nvSpPr>
        <p:spPr>
          <a:xfrm>
            <a:off x="2651760" y="3760013"/>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ea typeface="Amiri" pitchFamily="2" charset="-78"/>
                <a:cs typeface="Amiri" pitchFamily="2" charset="-78"/>
              </a:rPr>
              <a:t>مِمَّا يُؤَدِّي إِلَى</a:t>
            </a:r>
            <a:pPr rtl="1" algn="ctr" indent="0" marL="0">
              <a:buNone/>
            </a:pPr>
            <a:r>
              <a:rPr lang="ar-SA" altLang="en-US" sz="1950" b="1" dirty="0">
                <a:solidFill>
                  <a:srgbClr val="1B3B6F"/>
                </a:solidFill>
                <a:latin typeface="Amiri" pitchFamily="2" charset="-78"/>
                <a:ea typeface="Amiri" pitchFamily="2" charset="-78"/>
                <a:cs typeface="Amiri" pitchFamily="2" charset="-78"/>
              </a:rPr>
              <a:t> أَمْرَاضٍ تَنَفُّسِيَّةٍ.</a:t>
            </a:r>
            <a:endParaRPr lang="ar-SA" sz="1950" dirty="0"/>
          </a:p>
        </p:txBody>
      </p:sp>
      <p:sp>
        <p:nvSpPr>
          <p:cNvPr id="36" name="Text 33"/>
          <p:cNvSpPr txBox="1"/>
          <p:nvPr/>
        </p:nvSpPr>
        <p:spPr>
          <a:xfrm>
            <a:off x="2606040" y="4151010"/>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which leads to respiratory diseases.</a:t>
            </a:r>
            <a:endParaRPr lang="en-US" sz="950" dirty="0"/>
          </a:p>
        </p:txBody>
      </p:sp>
      <p:sp>
        <p:nvSpPr>
          <p:cNvPr id="37" name="Text 34"/>
          <p:cNvSpPr txBox="1"/>
          <p:nvPr/>
        </p:nvSpPr>
        <p:spPr>
          <a:xfrm>
            <a:off x="566928" y="3741725"/>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result</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D4-L04</a:t>
            </a:r>
            <a:endParaRPr lang="en-US" sz="1100" dirty="0"/>
          </a:p>
        </p:txBody>
      </p:sp>
      <p:sp>
        <p:nvSpPr>
          <p:cNvPr id="40" name="Text 37"/>
          <p:cNvSpPr txBox="1"/>
          <p:nvPr/>
        </p:nvSpPr>
        <p:spPr>
          <a:xfrm>
            <a:off x="2651760" y="4497019"/>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يَجِبُ عَلَى</a:t>
            </a:r>
            <a:pPr rtl="1" algn="ctr" indent="0" marL="0">
              <a:buNone/>
            </a:pPr>
            <a:r>
              <a:rPr lang="ar-SA" altLang="en-US" sz="1950" b="1" dirty="0">
                <a:solidFill>
                  <a:srgbClr val="1B3B6F"/>
                </a:solidFill>
                <a:latin typeface="Amiri" pitchFamily="2" charset="-78"/>
                <a:ea typeface="Amiri" pitchFamily="2" charset="-78"/>
                <a:cs typeface="Amiri" pitchFamily="2" charset="-78"/>
              </a:rPr>
              <a:t> الحُكُومَةِ </a:t>
            </a:r>
            <a:pPr rtl="1" algn="ctr" indent="0" marL="0">
              <a:buNone/>
            </a:pPr>
            <a:r>
              <a:rPr lang="ar-SA" altLang="en-US" sz="1950" b="1" dirty="0">
                <a:solidFill>
                  <a:srgbClr val="1D5FBF"/>
                </a:solidFill>
                <a:latin typeface="Amiri" pitchFamily="2" charset="-78"/>
                <a:ea typeface="Amiri" pitchFamily="2" charset="-78"/>
                <a:cs typeface="Amiri" pitchFamily="2" charset="-78"/>
              </a:rPr>
              <a:t>أَنْ تُوَسِّعَ</a:t>
            </a:r>
            <a:pPr rtl="1" algn="ctr" indent="0" marL="0">
              <a:buNone/>
            </a:pPr>
            <a:r>
              <a:rPr lang="ar-SA" altLang="en-US" sz="1950" b="1" dirty="0">
                <a:solidFill>
                  <a:srgbClr val="1B3B6F"/>
                </a:solidFill>
                <a:latin typeface="Amiri" pitchFamily="2" charset="-78"/>
                <a:ea typeface="Amiri" pitchFamily="2" charset="-78"/>
                <a:cs typeface="Amiri" pitchFamily="2" charset="-78"/>
              </a:rPr>
              <a:t> النَّقْلَ العَامَّ </a:t>
            </a:r>
            <a:pPr rtl="1" algn="ctr" indent="0" marL="0">
              <a:buNone/>
            </a:pPr>
            <a:r>
              <a:rPr lang="ar-SA" altLang="en-US" sz="1950" b="1" dirty="0">
                <a:solidFill>
                  <a:srgbClr val="1D5FBF"/>
                </a:solidFill>
                <a:latin typeface="Amiri" pitchFamily="2" charset="-78"/>
                <a:ea typeface="Amiri" pitchFamily="2" charset="-78"/>
                <a:cs typeface="Amiri" pitchFamily="2" charset="-78"/>
              </a:rPr>
              <a:t>لِكَيْ تُقَلِّلَ</a:t>
            </a:r>
            <a:pPr rtl="1" algn="ctr" indent="0" marL="0">
              <a:buNone/>
            </a:pPr>
            <a:r>
              <a:rPr lang="ar-SA" altLang="en-US" sz="1950" b="1" dirty="0">
                <a:solidFill>
                  <a:srgbClr val="1B3B6F"/>
                </a:solidFill>
                <a:latin typeface="Amiri" pitchFamily="2" charset="-78"/>
                <a:ea typeface="Amiri" pitchFamily="2" charset="-78"/>
                <a:cs typeface="Amiri" pitchFamily="2" charset="-78"/>
              </a:rPr>
              <a:t> الانْبِعَاثَاتِ.</a:t>
            </a:r>
            <a:endParaRPr lang="ar-SA" sz="1950" dirty="0"/>
          </a:p>
        </p:txBody>
      </p:sp>
      <p:sp>
        <p:nvSpPr>
          <p:cNvPr id="41" name="Text 38"/>
          <p:cNvSpPr txBox="1"/>
          <p:nvPr/>
        </p:nvSpPr>
        <p:spPr>
          <a:xfrm>
            <a:off x="2606040" y="4888017"/>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government must expand public transport to reduce emissions.</a:t>
            </a:r>
            <a:endParaRPr lang="en-US" sz="950" dirty="0"/>
          </a:p>
        </p:txBody>
      </p:sp>
      <p:sp>
        <p:nvSpPr>
          <p:cNvPr id="42" name="Text 39"/>
          <p:cNvSpPr txBox="1"/>
          <p:nvPr/>
        </p:nvSpPr>
        <p:spPr>
          <a:xfrm>
            <a:off x="566928" y="4478731"/>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solution + purpose</a:t>
            </a:r>
            <a:endParaRPr lang="en-US" sz="1100" dirty="0"/>
          </a:p>
        </p:txBody>
      </p:sp>
      <p:sp>
        <p:nvSpPr>
          <p:cNvPr id="43" name="Shape 40"/>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D4-L06 · L09</a:t>
            </a:r>
            <a:endParaRPr lang="en-US" sz="1100" dirty="0"/>
          </a:p>
        </p:txBody>
      </p:sp>
      <p:sp>
        <p:nvSpPr>
          <p:cNvPr id="47" name="Text 44"/>
          <p:cNvSpPr txBox="1"/>
          <p:nvPr/>
        </p:nvSpPr>
        <p:spPr>
          <a:xfrm>
            <a:off x="2651760" y="5234026"/>
            <a:ext cx="649224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عَلَى الرَّغْمِ مِنْ أَنَّهَا مُكَلِّفَةٌ، فَإِنَّهَا مُفِيدَةٌ </a:t>
            </a:r>
            <a:pPr rtl="1" algn="ctr" indent="0" marL="0">
              <a:buNone/>
            </a:pPr>
            <a:r>
              <a:rPr lang="ar-SA" altLang="en-US" sz="1950" b="1" dirty="0">
                <a:solidFill>
                  <a:srgbClr val="1D5FBF"/>
                </a:solidFill>
                <a:latin typeface="Amiri" pitchFamily="2" charset="-78"/>
                <a:ea typeface="Amiri" pitchFamily="2" charset="-78"/>
                <a:cs typeface="Amiri" pitchFamily="2" charset="-78"/>
              </a:rPr>
              <a:t>شَرِيطَةَ أَنْ</a:t>
            </a:r>
            <a:pPr rtl="1" algn="ctr" indent="0" marL="0">
              <a:buNone/>
            </a:pPr>
            <a:r>
              <a:rPr lang="ar-SA" altLang="en-US" sz="1950" b="1" dirty="0">
                <a:solidFill>
                  <a:srgbClr val="1B3B6F"/>
                </a:solidFill>
                <a:latin typeface="Amiri" pitchFamily="2" charset="-78"/>
                <a:ea typeface="Amiri" pitchFamily="2" charset="-78"/>
                <a:cs typeface="Amiri" pitchFamily="2" charset="-78"/>
              </a:rPr>
              <a:t> تُطَبَّقَ بِمَسْؤُولِيَّةٍ.</a:t>
            </a:r>
            <a:endParaRPr lang="ar-SA" sz="1950" dirty="0"/>
          </a:p>
        </p:txBody>
      </p:sp>
      <p:sp>
        <p:nvSpPr>
          <p:cNvPr id="48" name="Text 45"/>
          <p:cNvSpPr txBox="1"/>
          <p:nvPr/>
        </p:nvSpPr>
        <p:spPr>
          <a:xfrm>
            <a:off x="2606040" y="5625023"/>
            <a:ext cx="658368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Although it is expensive, it is useful provided that it is applied responsibly.</a:t>
            </a:r>
            <a:endParaRPr lang="en-US" sz="950" dirty="0"/>
          </a:p>
        </p:txBody>
      </p:sp>
      <p:sp>
        <p:nvSpPr>
          <p:cNvPr id="49" name="Text 46"/>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judgement</a:t>
            </a:r>
            <a:endParaRPr lang="en-US" sz="11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plural non-human subjects: </a:t>
            </a:r>
            <a:pPr algn="l" indent="0" marL="0">
              <a:buNone/>
            </a:pPr>
            <a:r>
              <a:rPr lang="ar-SA" altLang="en-US" sz="1500" b="1" dirty="0">
                <a:solidFill>
                  <a:srgbClr val="1B3B6F"/>
                </a:solidFill>
                <a:latin typeface="Amiri" pitchFamily="2" charset="-78"/>
                <a:ea typeface="Amiri" pitchFamily="2" charset="-78"/>
                <a:cs typeface="Amiri" pitchFamily="2" charset="-78"/>
              </a:rPr>
              <a:t>تَهُبُّ الرِّيَاحُ</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تَشِحُّ المِيَاهُ</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تُقْطَعُ الأَشْجَارُ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FOCUS · PART 2 · THE THREE CLASSIC D4 SLIPS (WEBSITE MISTAKES) · ALL ROUTES</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Check these three before you hand in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ثَلَاثَةُ أَخْطَاءٍ شَائِعَةٍ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AN / LI-KAY + -A · CORE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أَنْ / لِكَيْ + مَنْصُوبٌ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أَنْ تُوَسِّعَ … لِكَيْ تُقَلِّلَ</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to expand … in order to reduce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verbs end in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ANNA + -A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يُشَارُ إِلَى 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650" b="1" dirty="0">
                <a:solidFill>
                  <a:srgbClr val="1B3B6F"/>
                </a:solidFill>
                <a:latin typeface="Amiri" pitchFamily="2" charset="-78"/>
                <a:ea typeface="Amiri" pitchFamily="2" charset="-78"/>
                <a:cs typeface="Amiri" pitchFamily="2" charset="-78"/>
              </a:rPr>
              <a:t>يُشَارُ إِلَى أَنَّ المَنَاخَ يَتَغَيَّرُ.</a:t>
            </a:r>
            <a:endParaRPr lang="ar-SA" sz="26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indicated that the climate is changing.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then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REAL CONTRAST · STRETCH</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350" b="1" dirty="0">
                <a:solidFill>
                  <a:srgbClr val="8A6D1E"/>
                </a:solidFill>
                <a:latin typeface="Amiri" pitchFamily="2" charset="-78"/>
                <a:ea typeface="Amiri" pitchFamily="2" charset="-78"/>
                <a:cs typeface="Amiri" pitchFamily="2" charset="-78"/>
              </a:rPr>
              <a:t>عَلَى الرَّغْمِ مِنْ أَنَّ … فَإِنَّ</a:t>
            </a:r>
            <a:endParaRPr lang="ar-SA" sz="13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المَشْرُوعُ مُكَلِّفٌ، فَإِنَّهُ يُقَلِّلُ الهَدْرَ.</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 costly, it reduces waste.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“costly, so costly”.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after li-kay the verb ends in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لِكَيْ تُقَلِّلَ الانْبِعَاثَاتِ</a:t>
            </a:r>
            <a:endParaRPr lang="ar-SA" sz="17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700" b="1" dirty="0">
                <a:solidFill>
                  <a:srgbClr val="B83227"/>
                </a:solidFill>
                <a:latin typeface="Amiri" pitchFamily="2" charset="-78"/>
                <a:ea typeface="Amiri" pitchFamily="2" charset="-78"/>
                <a:cs typeface="Amiri" pitchFamily="2" charset="-78"/>
              </a:rPr>
              <a:t>لِكَيْ تُقَلِّلُ الانْبِعَاثَاتِ</a:t>
            </a:r>
            <a:endParaRPr lang="ar-SA" sz="17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D4 integrated grammar and range mastery</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قَوَاعِدُ الوَحْدَةِ الرَّابِعَةِ مُتَكَامِلَةً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Climate and weather accuracy</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formal climate phrase + correct weather agreement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يَسُودُ مَنَاخٌ جَافٌّ فِي الدَّاخِلِ، وَتَهُبُّ الرِّيَاحُ بِقُوَّةٍ فِي الرَّبِيعِ.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Problem, cause and passive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passive problem + cause connector + result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يُلَوَّثُ الهَوَاءُ بِسَبَبِ عَوَادِمِ السَّيَّارَاتِ، مِمَّا يُؤَدِّي إِلَى أَمْرَاضٍ تَنَفُّسِيَّةٍ.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Solution and purpose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responsible group + obligation + purpose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يَجِبُ عَلَى الحُكُومَةِ أَنْ تُوَسِّعَ النَّقْلَ العَامَّ لِكَيْ تُقَلِّلَ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Qualified academic judgement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concession + judgement + condition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عَلَى الرَّغْمِ مِنْ أَنَّ التِّقْنِيَّةَ مُكَلِّفَةٌ، فَإِنَّهَا مُفِيدَةٌ شَرِيطَةَ أَنْ تُطَبَّقَ بِمَسْؤُولِيَّةٍ.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weather agreement.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يَهُبُّ الرِّيَاحُ وَيَسْقُطُ الثُّلُوجُ.</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 الرِّيَاحُ وَتَسْقُطُ المَنَاخُ.</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تَهُبُّ الرِّيَاحُ وَتَسْقُطُ الثُّلُوجُ.</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true environmental passive.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بِعَوَادِمِ السَّيَّارَاتِ.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يَنْبَعِثُ الهَوَاءُ السَّيَّارَاتِ.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يَلَوِّثُ الهَوَاءُ عَوَادِمَ السَّيَّارَاتِ.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coherent cause–effect chain.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 قَطْعِ الأَشْجَارِ، تَزْدَادُ الغَابَاتُ.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 قَطْعِ الأَشْجَارِ، تَفْقِدُ الحَيَوَانَاتُ مَوَائِلَهَا.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 قَطْعِ الأَشْجَارِ، تَنْخَفِضُ الحَاجَةُ إِلَى الحِمَايَةِ.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 and purpose.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يَجِبُ عَلَى المَدِينَةِ أَنْ تُوَسِّعَ النَّقْلَ العَامَّ لِكَيْ تُقَلِّلَ التَّلَوُّثَ.</a:t>
            </a:r>
            <a:endParaRPr lang="ar-SA" sz="18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يَجِبُ المَدِينَةُ تُوَسِّعُ النَّقْلَ لِكَيْ تُقَلِّلُ التَّلَوُّثَ.</a:t>
            </a:r>
            <a:endParaRPr lang="ar-SA" sz="18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يَجِبُ عَلَى المَدِينَةِ أَنْ تُوَسِّعَ النَّقْلَ لِكَيْ تَزِيدَ التَّلَوُّثَ.</a:t>
            </a:r>
            <a:endParaRPr lang="ar-SA" sz="18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weather agreement.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يَهُبُّ الرِّيَاحُ وَيَسْقُطُ الثُّلُوجُ.</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تَهُبُّ الرِّيَاحُ وَتَسْقُطُ المَنَاخُ.</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تَهُبُّ الرِّيَاحُ وَتَسْقُطُ الثُّلُوجُ.</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الرياح</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الثلوج</a:t>
            </a:r>
            <a:pPr algn="l" indent="0" marL="0">
              <a:buNone/>
            </a:pPr>
            <a:r>
              <a:rPr lang="en-US" sz="1050" i="1" dirty="0">
                <a:solidFill>
                  <a:srgbClr val="8A6D1E"/>
                </a:solidFill>
                <a:latin typeface="Calibri" pitchFamily="34" charset="0"/>
                <a:cs typeface="Amiri" pitchFamily="2" charset="-78"/>
              </a:rPr>
              <a:t> take feminine agreement.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true environmental passive.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يُلَوَّثُ الهَوَاءُ بِعَوَادِمِ السَّيَّارَاتِ.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يَنْبَعِثُ الهَوَاءُ السَّيَّارَاتِ.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يَلَوِّثُ الهَوَاءُ عَوَادِمَ السَّيَّارَاتِ.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air is the affected subject in </a:t>
            </a:r>
            <a:pPr algn="l" indent="0" marL="0">
              <a:buNone/>
            </a:pPr>
            <a:r>
              <a:rPr lang="ar-SA" altLang="en-US" sz="1350" dirty="0">
                <a:solidFill>
                  <a:srgbClr val="8A6D1E"/>
                </a:solidFill>
                <a:latin typeface="Amiri" pitchFamily="2" charset="-78"/>
                <a:ea typeface="Amiri" pitchFamily="2" charset="-78"/>
                <a:cs typeface="Amiri" pitchFamily="2" charset="-78"/>
              </a:rPr>
              <a:t>يُلوَّث الهواء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coherent cause–effect chain.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 قَطْعِ الأَشْجَارِ، تَزْدَادُ الغَابَاتُ.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بِسَبَبِ قَطْعِ الأَشْجَارِ، تَفْقِدُ الحَيَوَانَاتُ مَوَائِلَهَا.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 قَطْعِ الأَشْجَارِ، تَنْخَفِضُ الحَاجَةُ إِلَى الحِمَايَةِ.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Deforestation causes habitat loss.</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obligation and purpose.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يَجِبُ عَلَى المَدِينَةِ أَنْ تُوَسِّعَ النَّقْلَ العَامَّ لِكَيْ تُقَلِّلَ التَّلَوُّثَ.</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المَدِينَةُ تُوَسِّعُ النَّقْلَ لِكَيْ تُقَلِّلُ التَّلَوُّثَ.</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يَجِبُ عَلَى المَدِينَةِ أَنْ تُوَسِّعَ النَّقْلَ لِكَيْ تَزِيدَ التَّلَوُّثَ.</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uses both subjunctive forms accurately.</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Watch me build the D4 chain — and recover from a slip</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Climate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يَسُودُ</a:t>
            </a:r>
            <a:pPr rtl="1" algn="ctr" indent="0" marL="0">
              <a:buNone/>
            </a:pPr>
            <a:r>
              <a:rPr lang="ar-SA" altLang="en-US" sz="2800" b="1" dirty="0">
                <a:solidFill>
                  <a:srgbClr val="1B3B6F"/>
                </a:solidFill>
                <a:latin typeface="Amiri" pitchFamily="2" charset="-78"/>
                <a:ea typeface="Amiri" pitchFamily="2" charset="-78"/>
                <a:cs typeface="Amiri" pitchFamily="2" charset="-78"/>
              </a:rPr>
              <a:t> مَنَاخٌ جَافٌّ</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Formal climate verb.</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Problem</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تَشِحُّ</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المِيَاهُ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نَتِيجَةً لِقِلَّةِ</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الأَمْطَارِ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Cause → result.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Solution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2" charset="-78"/>
                <a:ea typeface="Amiri" pitchFamily="2" charset="-78"/>
                <a:cs typeface="Amiri" pitchFamily="2" charset="-78"/>
              </a:rPr>
              <a:t>يَجِبُ عَلَى</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الحُكُومَاتِ </a:t>
            </a:r>
            <a:pPr rtl="1" algn="ctr" indent="0" marL="0">
              <a:lnSpc>
                <a:spcPct val="120000"/>
              </a:lnSpc>
              <a:buNone/>
            </a:pPr>
            <a:r>
              <a:rPr lang="ar-SA" altLang="en-US" sz="1850" b="1" dirty="0">
                <a:solidFill>
                  <a:srgbClr val="1D5FBF"/>
                </a:solidFill>
                <a:latin typeface="Amiri" pitchFamily="2" charset="-78"/>
                <a:ea typeface="Amiri" pitchFamily="2" charset="-78"/>
                <a:cs typeface="Amiri" pitchFamily="2" charset="-78"/>
              </a:rPr>
              <a:t>أَنْ تَسْتَثْمِرَ</a:t>
            </a:r>
            <a:endParaRPr lang="ar-SA" sz="18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 must act.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Recover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لِأُصَحِّحْ ذٰلِكَ: لِكَيْ تَحْمِيَ المَوَارِدَ</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Fix it aloud.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CLIMATE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PROBLEM</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SOLUTION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يَسُودُ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مَنَاخٌ جَافٌّ فِي مَنَاطِقَ كَثِيرَةٍ، وَ</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تَشِحُّ</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المِيَاهُ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نَتِيجَةً لِقِلَّةِ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الأَمْطَارِ وَزِيَادَةِ الاسْتِهْلَاكِ. لِذٰلِكَ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يَجِبُ عَلَى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الحُكُومَاتِ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أَنْ تَسْتَثْمِرَ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إِعَادَةِ اسْتِخْدَامِ المِيَاهِ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لِكَيْ تَحْمِيَ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المَوَارِدَ.</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 dry climate prevails in many regions, and water is scarce as a result of low rainfall and higher consumption. Therefore governments must invest in water reuse in order to protect resources.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يَسُودُ مَنَاخٌ جَافٌّ فِي الدَّاخِلِ، وَتَهُبُّ الرِّيَاحُ بِقُوَّةٍ فِي الرَّبِيعِ.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 dry climate prevails inland, and winds blow strongly in spring.</a:t>
            </a:r>
            <a:endParaRPr lang="en-US" sz="1250" dirty="0"/>
          </a:p>
          <a:p>
            <a:pPr indent="0" marL="0">
              <a:buNone/>
            </a:pPr>
            <a:r>
              <a:rPr lang="en-US" sz="1050" i="1" dirty="0">
                <a:solidFill>
                  <a:srgbClr val="8A6D1E"/>
                </a:solidFill>
                <a:latin typeface="Calibri" pitchFamily="34" charset="0"/>
                <a:cs typeface="Amiri" pitchFamily="2" charset="-78"/>
              </a:rPr>
              <a:t>Keep climate description and weather events distinct.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يُلَوَّثُ الهَوَاءُ بِسَبَبِ عَوَادِمِ السَّيَّارَاتِ، مِمَّا يُؤَدِّي إِلَى أَمْرَاضٍ تَنَفُّسِيَّةٍ.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air is polluted because of car exhaust, which leads to respiratory diseases.</a:t>
            </a:r>
            <a:endParaRPr lang="en-US" sz="1250" dirty="0"/>
          </a:p>
          <a:p>
            <a:pPr indent="0" marL="0">
              <a:buNone/>
            </a:pPr>
            <a:r>
              <a:rPr lang="en-US" sz="1050" i="1" dirty="0">
                <a:solidFill>
                  <a:srgbClr val="8A6D1E"/>
                </a:solidFill>
                <a:latin typeface="Calibri" pitchFamily="34" charset="0"/>
                <a:cs typeface="Amiri" pitchFamily="2" charset="-78"/>
              </a:rPr>
              <a:t>Use a true passive where the affected thing is foregrounded.</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يَجِبُ عَلَى الحُكُومَةِ أَنْ تُوَسِّعَ النَّقْلَ العَامَّ لِكَيْ تُقَلِّلَ الانْبِعَاثَاتِ.</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government must expand public transport in order to reduce emissions.</a:t>
            </a:r>
            <a:endParaRPr lang="en-US" sz="1250" dirty="0"/>
          </a:p>
          <a:p>
            <a:pPr indent="0" marL="0">
              <a:buNone/>
            </a:pPr>
            <a:r>
              <a:rPr lang="en-US" sz="1050" i="1" dirty="0">
                <a:solidFill>
                  <a:srgbClr val="8A6D1E"/>
                </a:solidFill>
                <a:latin typeface="Calibri" pitchFamily="34" charset="0"/>
                <a:cs typeface="Amiri" pitchFamily="2" charset="-78"/>
              </a:rPr>
              <a:t>State who must act and why.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النِّطَاقُ اللُّغَوِيُّ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التَّكَامُلُ اللُّغَوِيُّ</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الدِّقَّةُ تَحْتَ الضَّغْطِ</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يَسُودُ / يَتَّسِمُ بِـ</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يَسْقُطُ / تَسْقُطُ / تَهُبُّ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يُلَوَّثُ / تُقْطَعُ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أَقْصِدُ أَنَّ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بِعِبَارَةٍ أُخْرَى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لِأُصَحِّحْ ذٰلِكَ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Range and performance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D4 grammar bank</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Speaking and self-correction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Range and performance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النِّطَاقُ اللُّغَوِيُّ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التَّكَامُلُ اللُّغَوِيُّ</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الدِّقَّةُ تَحْتَ الضَّغْطِ</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D4 grammar bank</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يَسُودُ / يَتَّسِمُ بِـ</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يَسْقُطُ / تَسْقُطُ / تَهُبُّ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يُلَوَّثُ / تُقْطَعُ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Speaking and self-correction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أَقْصِدُ أَنَّ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بِعِبَارَةٍ أُخْرَى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لِأُصَحِّحْ ذٰلِكَ</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distinguishes depletion from scarcity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يَنْضَبُ المِيَاهُ، وَتَشِحُّ النِّفْطُ.</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تَنْضَبُ النِّفْطُ، وَيَشِحُّ المِيَاهُ.</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يَنْضَبُ النِّفْطُ، وَتَشِحُّ المِيَاهُ.</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formal reporting frame.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يُشَارِكُ إِلَى المَنَاخِ أَنَّ يَتَغَيَّرُ.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 أَنَّ المَنَاخَ يَتَغَيَّرُ.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يُشِيرُ أَنَّ إِلَى المَنَاخِ.</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genuinely qualified?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أُؤَيِّدُ المَشْرُوعَ دَائِمًا لِأَنَّهُ مَشْرُوعٌ.</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أُؤَيِّدُ المَشْرُوعَ إِلَى حَدٍّ مَا، شَرِيطَةَ أَنْ تُحْمَى الخُصُوصِيَّةُ.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أُؤَيِّدُ الخُصُوصِيَّةَ مِنَ المَشْرُوعِ.</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self-correction phrase helps a speaker recover accurately?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يَنْضَبُ ذٰلِكَ</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بِسَبَبِ ذٰلِكَ</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لِأُصَحِّحْ ذٰلِكَ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distinguishes depletion from scarcity accurately?</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يَنْضَبُ المِيَاهُ، وَتَشِحُّ النِّفْطُ.</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تَنْضَبُ النِّفْطُ، وَيَشِحُّ المِيَاهُ.</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يَنْضَبُ النِّفْطُ، وَتَشِحُّ المِيَاهُ.</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Oil is masculine; water is treated as feminine.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formal reporting frame.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يُشَارِكُ إِلَى المَنَاخِ أَنَّ يَتَغَيَّرُ.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يُشَارُ إِلَى أَنَّ المَنَاخَ يَتَغَيَّرُ.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يُشِيرُ أَنَّ إِلَى المَنَاخِ.</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يشار إلى أنَّ</a:t>
            </a:r>
            <a:pPr algn="l" indent="0" marL="0">
              <a:buNone/>
            </a:pPr>
            <a:r>
              <a:rPr lang="en-US" sz="1050" i="1" dirty="0">
                <a:solidFill>
                  <a:srgbClr val="8A6D1E"/>
                </a:solidFill>
                <a:latin typeface="Calibri" pitchFamily="34" charset="0"/>
                <a:cs typeface="Amiri" pitchFamily="2" charset="-78"/>
              </a:rPr>
              <a:t> is the frame.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genuinely qualified?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أُؤَيِّدُ المَشْرُوعَ دَائِمًا لِأَنَّهُ مَشْرُوعٌ.</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أُؤَيِّدُ المَشْرُوعَ إِلَى حَدٍّ مَا، شَرِيطَةَ أَنْ تُحْمَى الخُصُوصِيَّةُ.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أُؤَيِّدُ الخُصُوصِيَّةَ مِنَ المَشْرُوعِ.</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degree and condition.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self-correction phrase helps a speaker recover accurately?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يَنْضَبُ ذٰلِكَ</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بِسَبَبِ ذٰلِكَ</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لِأُصَحِّحْ ذٰلِكَ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لأصحح ذلك</a:t>
            </a:r>
            <a:pPr algn="l" indent="0" marL="0">
              <a:buNone/>
            </a:pPr>
            <a:r>
              <a:rPr lang="en-US" sz="1050" i="1" dirty="0">
                <a:solidFill>
                  <a:srgbClr val="8A6D1E"/>
                </a:solidFill>
                <a:latin typeface="Calibri" pitchFamily="34" charset="0"/>
                <a:cs typeface="Amiri" pitchFamily="2" charset="-78"/>
              </a:rPr>
              <a:t> signals correction.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2750" b="1" dirty="0">
                <a:solidFill>
                  <a:srgbClr val="B83227"/>
                </a:solidFill>
                <a:latin typeface="Amiri" pitchFamily="2" charset="-78"/>
                <a:ea typeface="Amiri" pitchFamily="2" charset="-78"/>
                <a:cs typeface="Amiri" pitchFamily="2" charset="-78"/>
              </a:rPr>
              <a:t>يَجِبُ عَلَى الحُكُومَةِ أَنْ تُوَسِّعُ النَّقْلَ لِكَيْ تُقَلِّلُ الانْبِعَاثَاتِ.</a:t>
            </a:r>
            <a:endParaRPr lang="ar-SA" sz="275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 / li-kay: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يُشَارُ إِلَى أَنْ المَنَاخُ يَتَغَيَّرُ.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anna or 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عَلَى الرَّغْمِ مِنْ أَنَّ المَشْرُوعَ مُكَلِّفٌ، فَهُوَ مُكَلِّفٌ.</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it a real contrast?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يَجِبُ عَلَى الحُكُومَةِ أَنْ تُوَسِّعُ النَّقْلَ لِكَيْ تُقَلِّلُ الانْبِعَاثَاتِ.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يَجِبُ عَلَى الحُكُومَةِ أَنْ تُوَسِّعَ النَّقْلَ لِكَيْ تُقَلِّلَ الانْبِعَاثَاتِ.</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Both </a:t>
            </a:r>
            <a:pPr algn="l" indent="0" marL="0">
              <a:buNone/>
            </a:pPr>
            <a:r>
              <a:rPr lang="ar-SA" altLang="en-US" sz="1500" b="1" dirty="0">
                <a:solidFill>
                  <a:srgbClr val="1B3B6F"/>
                </a:solidFill>
                <a:latin typeface="Amiri" pitchFamily="2" charset="-78"/>
                <a:ea typeface="Amiri" pitchFamily="2" charset="-78"/>
                <a:cs typeface="Amiri" pitchFamily="2" charset="-78"/>
              </a:rPr>
              <a:t>توسّعَ</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ea typeface="Amiri" pitchFamily="2" charset="-78"/>
                <a:cs typeface="Amiri" pitchFamily="2" charset="-78"/>
              </a:rPr>
              <a:t>تقلّلَ</a:t>
            </a:r>
            <a:pPr algn="l" indent="0" marL="0">
              <a:buNone/>
            </a:pPr>
            <a:r>
              <a:rPr lang="en-US" sz="1150" b="1" dirty="0">
                <a:solidFill>
                  <a:srgbClr val="1B3B6F"/>
                </a:solidFill>
                <a:latin typeface="Calibri" pitchFamily="34" charset="0"/>
                <a:cs typeface="Amiri" pitchFamily="2" charset="-78"/>
              </a:rPr>
              <a:t> are subjunctive 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and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يُشَارُ إِلَى أَنْ المَنَاخُ يَتَغَيَّرُ.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يُشَارُ إِلَى أَنَّ المَنَاخَ يَتَغَيَّرُ.</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Impersonal reporting uses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عَلَى الرَّغْمِ مِنْ أَنَّ المَشْرُوعَ مُكَلِّفٌ، فَهُوَ مُكَلِّفٌ.</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2" charset="-78"/>
                <a:ea typeface="Amiri" pitchFamily="2" charset="-78"/>
                <a:cs typeface="Amiri" pitchFamily="2" charset="-78"/>
              </a:rPr>
              <a:t>عَلَى الرَّغْمِ مِنْ أَنَّ المَشْرُوعَ مُكَلِّفٌ، فَإِنَّهُ يُقَلِّلُ الهَدْرَ عَلَى المَدَى البَعِيدِ.</a:t>
            </a:r>
            <a:endParaRPr lang="ar-SA" sz="21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concession must be followed by a genuine contrast.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Conversation 1: Maryam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project does Maryam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Expanding public transport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Building a shopping centre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Closing all schools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benefit does she mention?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more fossil fuel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Increasing waste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Reducing emissions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she add?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environmental benefit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buses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 initial cost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Maryam for or against the project overall?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it, with a reservation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completely against it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does not say</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Label first: project? benefit? problem?</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لٰكِنَّ</a:t>
            </a:r>
            <a:pPr algn="l" indent="0" marL="0">
              <a:lnSpc>
                <a:spcPct val="115000"/>
              </a:lnSpc>
              <a:buNone/>
            </a:pPr>
            <a:r>
              <a:rPr lang="en-US" sz="1250" dirty="0">
                <a:solidFill>
                  <a:srgbClr val="1E6B52"/>
                </a:solidFill>
                <a:latin typeface="Calibri" pitchFamily="34" charset="0"/>
                <a:cs typeface="Amiri" pitchFamily="2" charset="-78"/>
              </a:rPr>
              <a:t>: the reservation follows.</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المُحَادَثَةِ الأُولَى، وَصَفَتْ مَرْيَمُ مَشْرُوعًا لِتَوْسِيعِ النَّقْلِ العَامِّ.</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conversation, Maryam described a project to expand public transport.</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قَالَتْ إِنَّهُ سَيُقَلِّلُ الانْبِعَاثَاتِ،</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said it will reduce emissions,</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لٰكِنَّهَا أَضَافَتْ أَنَّ التَّكْلِفَةَ الأُولَى مُرْتَفِعَةٌ.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but she added that the initial cost is high.</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project does Maryam describe?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Expanding public transport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Building a shopping centre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Closing all schools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توسيع النقل العام.</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benefit does she mention?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more fossil fuel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Increasing waste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Reducing emissions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سيقلل الانبعاثات.</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reservation does she add?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environmental benefit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buses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High initial cost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التكلفة الأولى مرتفعة.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Maryam for or against the project overall?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 it, with a reservation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completely against it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does not say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سَيُقَلِّلُ الانْبِعَاثَاتِ، لٰكِنَّ …</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Label first: project? benefit? problem?</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لٰكِنَّ</a:t>
            </a:r>
            <a:pPr algn="l" indent="0" marL="0">
              <a:lnSpc>
                <a:spcPct val="115000"/>
              </a:lnSpc>
              <a:buNone/>
            </a:pPr>
            <a:r>
              <a:rPr lang="en-US" sz="1250" dirty="0">
                <a:solidFill>
                  <a:srgbClr val="1E6B52"/>
                </a:solidFill>
                <a:latin typeface="Calibri" pitchFamily="34" charset="0"/>
                <a:cs typeface="Amiri" pitchFamily="2" charset="-78"/>
              </a:rPr>
              <a:t>: the reservation follows.</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Conversation 2: Khalid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topic does Khalid discuss?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Water scarcity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Daily routine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change in consumption?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stayed unchanged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fell by 9%</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rose by 9%</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things must the solution combine?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waste and less evidence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technology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and behaviour change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Khalid say FIRST about consumption?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it fell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it rose by 9%</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it stayed stable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He corrects himself!</a:t>
            </a:r>
            <a:endParaRPr lang="en-US" sz="1250" dirty="0"/>
          </a:p>
          <a:p>
            <a:pPr algn="l" indent="0" marL="0">
              <a:buNone/>
            </a:pPr>
            <a:r>
              <a:rPr lang="en-US" sz="1250" dirty="0">
                <a:solidFill>
                  <a:srgbClr val="1E6B52"/>
                </a:solidFill>
                <a:latin typeface="Calibri" pitchFamily="34" charset="0"/>
                <a:cs typeface="Amiri" pitchFamily="2" charset="-78"/>
              </a:rPr>
              <a:t>Which direction is FINAL: up or down?</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المُحَادَثَةِ الثَّانِيَةِ، تَحَدَّثَ خَالِدٌ عَنْ شُحِّ المِيَاهِ.</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conversation, Khalid talked about water scarcity.</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أَوَّلًا قَالَ إِنَّ الاسْتِهْلَاكَ انْخَفَضَ،</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First he said consumption fell,</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ثُمَّ صَحَّحَ نَفْسَهُ وَقَالَ إِنَّهُ ارْتَفَعَ بِنِسْبَةِ 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then he corrected himself and said it rose by 9%.</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وَأَكَّدَ أَنَّ الحَلَّ يَحْتَاجُ إِلَى التِّقْنِيَّةِ وَتَغْيِيرِ السُّلُوكِ مَعًا.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confirmed that the solution needs technology and behaviour change together.</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topic does Khalid discuss?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Water scarcity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Fashion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Daily routine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شح المياه.</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corrected change in consumption?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stayed unchanged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fell by 9%</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rose by 9%</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corrects himself: </a:t>
            </a:r>
            <a:pPr algn="l" indent="0" marL="0">
              <a:buNone/>
            </a:pPr>
            <a:r>
              <a:rPr lang="ar-SA" altLang="en-US" sz="1350" dirty="0">
                <a:solidFill>
                  <a:srgbClr val="8A6D1E"/>
                </a:solidFill>
                <a:latin typeface="Amiri" pitchFamily="2" charset="-78"/>
                <a:ea typeface="Amiri" pitchFamily="2" charset="-78"/>
                <a:cs typeface="Amiri" pitchFamily="2" charset="-78"/>
              </a:rPr>
              <a:t>ارتفع بنسبة</a:t>
            </a:r>
            <a:pPr algn="l" indent="0" marL="0">
              <a:buNone/>
            </a:pPr>
            <a:r>
              <a:rPr lang="en-US" sz="1050" i="1" dirty="0">
                <a:solidFill>
                  <a:srgbClr val="8A6D1E"/>
                </a:solidFill>
                <a:latin typeface="Calibri" pitchFamily="34" charset="0"/>
                <a:cs typeface="Amiri" pitchFamily="2" charset="-78"/>
              </a:rPr>
              <a:t> 9</a:t>
            </a:r>
            <a:pPr algn="l" indent="0" marL="0">
              <a:buNone/>
            </a:pPr>
            <a:r>
              <a:rPr lang="ar-SA" altLang="en-US" sz="1350" dirty="0">
                <a:solidFill>
                  <a:srgbClr val="8A6D1E"/>
                </a:solidFill>
                <a:latin typeface="Amiri" pitchFamily="2" charset="-78"/>
                <a:ea typeface="Amiri" pitchFamily="2" charset="-78"/>
                <a:cs typeface="Amiri" pitchFamily="2" charset="-78"/>
              </a:rPr>
              <a:t>٪</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things must the solution combine?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waste and less evidence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technology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Technology and behaviour change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التقنية وتغيير السلوك معًا.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Khalid say FIRST about consumption?</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it fell</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it rose by 9%</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it stayed stable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أَوَّلًا قَالَ إِنَّ الاسْتِهْلَاكَ انْخَفَضَ</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He corrects himself!</a:t>
            </a:r>
            <a:endParaRPr lang="en-US" sz="1250" dirty="0"/>
          </a:p>
          <a:p>
            <a:pPr algn="l" indent="0" marL="0">
              <a:buNone/>
            </a:pPr>
            <a:r>
              <a:rPr lang="en-US" sz="1250" dirty="0">
                <a:solidFill>
                  <a:srgbClr val="1E6B52"/>
                </a:solidFill>
                <a:latin typeface="Calibri" pitchFamily="34" charset="0"/>
                <a:cs typeface="Amiri" pitchFamily="2" charset="-78"/>
              </a:rPr>
              <a:t>Which direction is FINAL: up or down?</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Speaking: diagnose strengths and improve answers</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 مُشْكِلَةٍ بِيئِيَّةٍ؟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التِّقْنِيَّةُ جُزْءٌ مِنَ الحَلِّ؟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نُقْطَةُ قُوَّتِكَ وَمَجَالُ تَحْسِينِكَ؟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ea typeface="Amiri" pitchFamily="2" charset="-78"/>
                <a:cs typeface="Amiri" pitchFamily="2" charset="-78"/>
              </a:rPr>
              <a:t>مِنْ وَجْهَةِ نَظَرِي، أَهَمُّ مُشْكِلَةٍ هِيَ ___ بِسَبَبِ ___ .</a:t>
            </a:r>
            <a:endParaRPr lang="ar-SA" sz="13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نَعَمْ، إِلَى حَدٍّ مَا؛ سَأُعْطِي مِثَالًا: ___ .</a:t>
            </a:r>
            <a:endParaRPr lang="ar-SA" sz="155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250" b="1" dirty="0">
                <a:solidFill>
                  <a:srgbClr val="1F2A37"/>
                </a:solidFill>
                <a:latin typeface="Amiri" pitchFamily="2" charset="-78"/>
                <a:ea typeface="Amiri" pitchFamily="2" charset="-78"/>
                <a:cs typeface="Amiri" pitchFamily="2" charset="-78"/>
              </a:rPr>
              <a:t>نُقْطَةُ قُوَّتِي ___ ، أَمَّا مَجَالُ التَّحْسِينِ فَهُوَ ___ .</a:t>
            </a:r>
            <a:endParaRPr lang="ar-SA" sz="12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أَقْوَى جَانِبٍ فِي لُغَتِكَ فِي هٰذِهِ الوَحْدَةِ، وَمَا الَّذِي تَحْتَاجُ إِلَى تَحْسِينِهِ؟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What is the strongest side of your language in this unit, and what do you need to improve?</a:t>
            </a:r>
            <a:endParaRPr lang="en-US" sz="7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150" dirty="0">
                <a:solidFill>
                  <a:srgbClr val="1F2A37"/>
                </a:solidFill>
                <a:latin typeface="Amiri" pitchFamily="2" charset="-78"/>
                <a:ea typeface="Amiri" pitchFamily="2" charset="-78"/>
                <a:cs typeface="Amiri" pitchFamily="2" charset="-78"/>
              </a:rPr>
              <a:t>نُقْطَةُ قُوَّتِي هِيَ رَبْطُ السَّبَبِ بِالنَّتِيجَةِ، لِأَنَّنِي أَسْتَخْدِمُ بِسَبَبِ وَيُؤَدِّي إِلَى بِدِقَّةٍ. أَمَّا مَجَالُ التَّحْسِينِ فَهُوَ المَبْنِيُّ لِلْمَجْهُولِ، وَسَأُرَاجِعُ اتِّفَاقَ الفِعْلِ مَعَ الفَاعِلِ النَّحْوِيِّ.</a:t>
            </a:r>
            <a:endParaRPr lang="ar-SA" sz="11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strength is linking cause and effect… As for my area for improvement, it is the passive, and I will revise verb agreement.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per link: climate · problem · cause · solution · opinion — with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chain as one paragraph with a passive, a cause–effect and a purpose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seven meaningful D4 features + a qualified technology judgement, then self-audit.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 مِمَّا يُؤَدِّي إِلَى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which leads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يُشَارُ إِلَى 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indicated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عَلَى الرَّغْمِ مِنْ أَنَّ ______ ، فَإِنَّهَا ______ .</a:t>
            </a:r>
            <a:endParaRPr lang="ar-SA" sz="17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Although … , it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شَرِيطَةَ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provided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يَسُودُ مَنَاخٌ ______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 … climate prevails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يُلَوَّثُ ______ بِسَبَبِ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polluted because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يَجِبُ عَلَى الحُكُومَةِ أَنْ ______ لِكَيْ ______ .</a:t>
            </a:r>
            <a:endParaRPr lang="ar-SA" sz="175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government must … in order to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وَجْهَةِ نَظَرِي،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my point of view,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يَسُودُ  ·  يَتَّسِمُ بِـ  ·  تَهُبُّ الرِّيَاحُ  ·  يُلَوَّثُ  ·  تُقْطَعُ  ·  بِسَبَبِ  ·  مِمَّا يُؤَدِّي إِلَى  ·  يَجِبُ عَلَى … أَنْ  ·  لِكَيْ  ·  يُشَارُ إِلَى أَنَّ  ·  عَلَى الرَّغْمِ مِنْ أَنَّ  ·  شَرِيطَةَ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130–140 Arabic words integrating climate, an environmental problem, a solution and a qualified technology judgement.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at least seven relevant D4 range features.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Keep every feature meaningful and accurate.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one passive, one cause–effect chain and one purpose structure.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Proofread before marking the task complete.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تَنَاوَلَتِ الوَحْدَةُ قَضَايَا مُهِمَّةً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unit dealt with important issues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نَتِيجَةً لِقِلَّةِ الأَمْطَارِ</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a result of low rainfall</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يُمْكِنُ أَنْ يُسْتَخْدَمَ … لِرَصْدِ الهَدْرِ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can be used to monitor waste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تُوَفِّرُ المَالَ عَلَى المَدَى البَعِيدِ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saves money in the long term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يَجْمَعُ بَيْنَ التِّقْنِيَّةِ وَالسِّيَاسَةِ وَالسُّلُوكِ</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combines technology, policy and behaviour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تَنَاوَلَتْ الوَحْدَةُ الرَّابِعَةُ قَضَايَا مُهِمَّةً مِثْلَ تَغَيُّرِ المَنَاخِ وَشُحِّ المِيَاهِ وَالذَّكَاءِ الاصْطِنَاعِيِّ. يَسُودُ مَنَاخٌ جَافٌّ فِي مَنَاطِقَ كَثِيرَةٍ، وَتَشِحُّ المِيَاهُ نَتِيجَةً لِقِلَّةِ الأَمْطَارِ وَزِيَادَةِ الاسْتِهْلَاكِ. لِذٰلِكَ يَجِبُ عَلَى الحُكُومَاتِ أَنْ تَسْتَثْمِرَ فِي إِعَادَةِ اسْتِخْدَامِ المِيَاهِ لِكَيْ تَحْمِيَ المَوَارِدَ. وَعَلَاوَةً عَلَى ذٰلِكَ، يُمْكِنُ أَنْ يُسْتَخْدَمَ الذَّكَاءُ الاصْطِنَاعِيُّ لِرَصْدِ الهَدْرِ. عَلَى الرَّغْمِ مِنْ أَنَّ هٰذِهِ التِّقْنِيَّةَ مُكَلِّفَةٌ، فَإِنَّهَا قَدْ تُوَفِّرُ المَالَ عَلَى المَدَى البَعِيدِ. فِي رَأْيِي، الحَلُّ النَّاجِحُ يَجْمَعُ بَيْنَ التِّقْنِيَّةِ وَالسِّيَاسَةِ وَالسُّلُوكِ المَسْؤُولِ.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fourth unit dealt with important issues such as climate change, water scarcity and AI. A dry climate prevails in many regions, and water is scarce as a result of low rainfall and higher consumption. So governments must invest in water reuse to protect resources. Moreover, AI can be used to monitor waste. Although this technology is expensive, it may save money in the long term. In my opinion, a successful solution combines technology, policy and responsible behaviour.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climate verb</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cause–effect chain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obligation + purpose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concession with a real 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weather verbs agree (</a:t>
            </a:r>
            <a:pPr algn="l" indent="0" marL="0">
              <a:buNone/>
            </a:pPr>
            <a:r>
              <a:rPr lang="ar-SA" altLang="en-US" sz="1700" dirty="0">
                <a:solidFill>
                  <a:srgbClr val="1F2A37"/>
                </a:solidFill>
                <a:latin typeface="Amiri" pitchFamily="2" charset="-78"/>
                <a:ea typeface="Amiri" pitchFamily="2" charset="-78"/>
                <a:cs typeface="Amiri" pitchFamily="2" charset="-78"/>
              </a:rPr>
              <a:t>تَهُبُّ الرِّيَاحُ</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أَنْ / لِكَيْ</a:t>
            </a:r>
            <a:pPr algn="l" indent="0" marL="0">
              <a:buNone/>
            </a:pPr>
            <a:r>
              <a:rPr lang="en-US" sz="1300" dirty="0">
                <a:solidFill>
                  <a:srgbClr val="1F2A37"/>
                </a:solidFill>
                <a:latin typeface="Calibri" pitchFamily="34" charset="0"/>
                <a:cs typeface="Amiri" pitchFamily="2" charset="-78"/>
              </a:rPr>
              <a:t> my verbs end in -a.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passive, a cause–effect and a purpose clause.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أَنَّ</a:t>
            </a:r>
            <a:pPr algn="l" indent="0" marL="0">
              <a:buNone/>
            </a:pPr>
            <a:r>
              <a:rPr lang="en-US" sz="1300" dirty="0">
                <a:solidFill>
                  <a:srgbClr val="1F2A37"/>
                </a:solidFill>
                <a:latin typeface="Calibri" pitchFamily="34" charset="0"/>
                <a:cs typeface="Amiri" pitchFamily="2" charset="-78"/>
              </a:rPr>
              <a:t>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concession is a real contrast; my judgement is qualified.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45</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integrated problem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يُلَوَّثُ الهَوَاءُ بِسَبَبِ العَوَادِمِ، مِمَّا يُؤَدِّي إِلَى أَمْرَاضٍ.</a:t>
            </a:r>
            <a:endParaRPr lang="ar-SA" sz="13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يُلَوَّثُ الهَوَاءُ لِكَيْ تَزْدَادَ الأَمْرَاضُ.</a:t>
            </a:r>
            <a:endParaRPr lang="ar-SA" sz="13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يَتَفَاعَلُ الهَوَاءُ عَلَى العَوَادِمِ.</a:t>
            </a:r>
            <a:endParaRPr lang="ar-SA" sz="13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integrated solution.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يَجِبُ عَلَى الانْبِعَاثَاتِ أَنْ تُقَلِّلَ الحُكُومَةَ.</a:t>
            </a:r>
            <a:endParaRPr lang="ar-SA" sz="1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يَجِبُ عَلَى الحُكُومَةِ أَنْ تَسْتَثْمِرَ فِي النَّقْلِ العَامِّ لِكَيْ تُقَلِّلَ الانْبِعَاثَاتِ.</a:t>
            </a:r>
            <a:endParaRPr lang="ar-SA" sz="1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2" charset="-78"/>
                <a:ea typeface="Amiri" pitchFamily="2" charset="-78"/>
                <a:cs typeface="Amiri" pitchFamily="2" charset="-78"/>
              </a:rPr>
              <a:t>يَجِبُ الحُكُومَةُ تَسْتَثْمِرُ لِكَيْ الانْبِعَاثَاتُ.</a:t>
            </a:r>
            <a:endParaRPr lang="ar-SA" sz="1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formal report is accurate?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 أَنَّ شُحَّ المِيَاهِ يَزْدَادُ.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 إِلَى أَنْ شُحُّ المِيَاهِ يَزْدَادُ.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يُشَارِكُ شُحُّ المِيَاهِ فِي الزِّيَادَةِ.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45</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integrated problem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يُلَوَّثُ الهَوَاءُ بِسَبَبِ العَوَادِمِ، مِمَّا يُؤَدِّي إِلَى أَمْرَاضٍ.</a:t>
            </a:r>
            <a:endParaRPr lang="ar-SA" sz="13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يُلَوَّثُ الهَوَاءُ لِكَيْ تَزْدَادَ الأَمْرَاضُ.</a:t>
            </a:r>
            <a:endParaRPr lang="ar-SA" sz="13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يَتَفَاعَلُ الهَوَاءُ عَلَى العَوَادِمِ.</a:t>
            </a:r>
            <a:endParaRPr lang="ar-SA" sz="13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integrates passive, cause and result.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integrated solution.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يَجِبُ عَلَى الانْبِعَاثَاتِ أَنْ تُقَلِّلَ الحُكُومَةَ.</a:t>
            </a:r>
            <a:endParaRPr lang="ar-SA" sz="1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2" charset="-78"/>
                <a:ea typeface="Amiri" pitchFamily="2" charset="-78"/>
                <a:cs typeface="Amiri" pitchFamily="2" charset="-78"/>
              </a:rPr>
              <a:t>يَجِبُ عَلَى الحُكُومَةِ أَنْ تَسْتَثْمِرَ فِي النَّقْلِ العَامِّ لِكَيْ تُقَلِّلَ الانْبِعَاثَاتِ.</a:t>
            </a:r>
            <a:endParaRPr lang="ar-SA" sz="1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2" charset="-78"/>
                <a:ea typeface="Amiri" pitchFamily="2" charset="-78"/>
                <a:cs typeface="Amiri" pitchFamily="2" charset="-78"/>
              </a:rPr>
              <a:t>يَجِبُ الحُكُومَةُ تَسْتَثْمِرُ لِكَيْ الانْبِعَاثَاتُ.</a:t>
            </a:r>
            <a:endParaRPr lang="ar-SA" sz="1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assigns responsibility and purpose accurately.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formal report is accurate?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يُشَارُ إِلَى أَنَّ شُحَّ المِيَاهِ يَزْدَادُ.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يُشَارُ إِلَى أَنْ شُحُّ المِيَاهِ يَزْدَادُ.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يُشَارِكُ شُحُّ المِيَاهِ فِي الزِّيَادَةِ.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يشار إلى 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45</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consolidation: the complete D4 language system</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خِلَالَ الوَحْدَةِ الرَّابِعَةِ، تَعَلَّمَ الطُّلَّابُ أَنْ يَصِفُوا المَنَاخَ بِاسْتِخْدَامِ يَسُودُ وَيَتَّسِمُ بِـ، وَأَنْ يَشْرَحُوا المُشْكِلَاتِ بِالمَبْنِيِّ لِلْمَجْهُولِ وَرَوَابِطِ السَّبَبِ وَالنَّتِيجَةِ. كَمَا تَدَرَّبُوا عَلَى تَقْدِيمِ حُلُولٍ بِاسْتِخْدَامِ يَجِبُ عَلَى ... أَنْ وَلِكَيْ. وَفِي مَوْضُوعِ التِّقْنِيَّةِ، اسْتَخْدَمُوا مُفْرَدَاتٍ مِثْلَ الذَّكَاءِ الاصْطِنَاعِيِّ وَالتَّعَلُّمِ عَنْ بُعْدٍ، ثُمَّ قَيَّمُوا الفَوَائِدَ وَالمَخَاطِرَ بِحُجَجٍ مُتَوَازِنَةٍ. الهَدَفُ الآنَ هُوَ اسْتِخْدَامُ هٰذَا النِّطَاقِ بِدِقَّةٍ تَحْتَ الضَّغْطِ.</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خِلَالَ وَحْدَةِ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during the unit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أَنْ يَصِفُوا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describe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يَشْرَحُوا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explain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المَبْنِيِّ لِلْمَجْهُولِ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passive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رَوَابِطِ</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connectors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تَدَرَّبُوا عَلَى</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practised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تَقْدِيمِ حُلُولٍ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offering solutions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قَيَّمُوا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they evaluated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المَخَاطِرَ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risks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تَحْتَ الضَّغْطِ</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under pressure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45</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two verbs are named for climate description?</a:t>
            </a:r>
            <a:endParaRPr lang="en-US" sz="120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يَنْشُرُ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يُعَلِّقُ</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يَسُودُ</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يَتَّسِمُ بِـ</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يَأْكُلُ</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يَشْرَبُ</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language areas explain problems?</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and clothes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 holiday narrative and prices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Passive and cause–effect links</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structures introduce solutions?</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يَجِبُ عَلَى</a:t>
            </a:r>
            <a:pPr algn="l" indent="0" marL="0">
              <a:buNone/>
            </a:pPr>
            <a:r>
              <a:rPr lang="en-US" sz="1250" dirty="0">
                <a:solidFill>
                  <a:srgbClr val="1F2A37"/>
                </a:solidFill>
                <a:latin typeface="Calibri" pitchFamily="34" charset="0"/>
                <a:cs typeface="Amiri" pitchFamily="2" charset="-78"/>
              </a:rPr>
              <a:t> ... </a:t>
            </a:r>
            <a:pPr algn="l" indent="0" marL="0">
              <a:buNone/>
            </a:pPr>
            <a:r>
              <a:rPr lang="ar-SA" altLang="en-US" sz="1650" dirty="0">
                <a:solidFill>
                  <a:srgbClr val="1F2A37"/>
                </a:solidFill>
                <a:latin typeface="Amiri" pitchFamily="2" charset="-78"/>
                <a:ea typeface="Amiri" pitchFamily="2" charset="-78"/>
                <a:cs typeface="Amiri" pitchFamily="2" charset="-78"/>
              </a:rPr>
              <a:t>أَنْ</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لِكَيْ</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مُنْذُ</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قَبْلَ</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كَمْ</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بِكَمْ</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digital term in the text.</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المَلْعَبُ</a:t>
            </a:r>
            <a:endParaRPr lang="ar-SA" sz="20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الذَّكَاءُ الاصْطِنَاعِيُّ</a:t>
            </a:r>
            <a:endParaRPr lang="ar-SA" sz="20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المِظَلَّةُ</a:t>
            </a:r>
            <a:endParaRPr lang="ar-SA" sz="20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were benefits and risks evaluated?</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balanced arguments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no reasons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isolated vocabulary only</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current goal?</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 the alphabet again</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 all formal language</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the range accurately under pressure</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45</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Which two verbs are named for climate description?</a:t>
            </a:r>
            <a:endParaRPr lang="en-US" sz="120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يَنْشُرُ</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يُعَلِّقُ</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يَسُودُ</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ea typeface="Amiri" pitchFamily="2" charset="-78"/>
                <a:cs typeface="Amiri" pitchFamily="2" charset="-78"/>
              </a:rPr>
              <a:t>يَتَّسِمُ بِـ</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يَأْكُلُ</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يَشْرَبُ</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opening names them.</a:t>
            </a:r>
            <a:endParaRPr lang="en-US" sz="10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two language areas explain problems?</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and clothes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Past holiday narrative and prices</a:t>
            </a:r>
            <a:endParaRPr lang="en-US" sz="11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Passive and cause–effect links</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المبني للمجهول وروابط السبب والنتيجة.</a:t>
            </a:r>
            <a:endParaRPr lang="ar-SA" sz="12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structures introduce solutions?</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يَجِبُ عَلَى</a:t>
            </a:r>
            <a:pPr algn="l" indent="0" marL="0">
              <a:buNone/>
            </a:pPr>
            <a:r>
              <a:rPr lang="en-US" sz="1250" b="1" dirty="0">
                <a:solidFill>
                  <a:srgbClr val="1F2A37"/>
                </a:solidFill>
                <a:latin typeface="Calibri" pitchFamily="34" charset="0"/>
                <a:cs typeface="Amiri" pitchFamily="2" charset="-78"/>
              </a:rPr>
              <a:t> ... </a:t>
            </a:r>
            <a:pPr algn="l" indent="0" marL="0">
              <a:buNone/>
            </a:pPr>
            <a:r>
              <a:rPr lang="ar-SA" altLang="en-US" sz="1650" b="1" dirty="0">
                <a:solidFill>
                  <a:srgbClr val="1F2A37"/>
                </a:solidFill>
                <a:latin typeface="Amiri" pitchFamily="2" charset="-78"/>
                <a:ea typeface="Amiri" pitchFamily="2" charset="-78"/>
                <a:cs typeface="Amiri" pitchFamily="2" charset="-78"/>
              </a:rPr>
              <a:t>أَنْ</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ea typeface="Amiri" pitchFamily="2" charset="-78"/>
                <a:cs typeface="Amiri" pitchFamily="2" charset="-78"/>
              </a:rPr>
              <a:t>لِكَيْ</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مُنْذُ</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قَبْلَ</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كَمْ</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بِكَمْ</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They are explicitly named.</a:t>
            </a:r>
            <a:endParaRPr lang="en-US" sz="10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Name one digital term in the text.</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المَلْعَبُ</a:t>
            </a:r>
            <a:endParaRPr lang="ar-SA" sz="170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الذَّكَاءُ الاصْطِنَاعِيُّ</a:t>
            </a:r>
            <a:endParaRPr lang="ar-SA" sz="170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المِظَلَّةُ</a:t>
            </a:r>
            <a:endParaRPr lang="ar-SA" sz="170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AI is named.</a:t>
            </a:r>
            <a:endParaRPr lang="en-US" sz="10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were benefits and risks evaluated?</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balanced arguments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no reasons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With isolated vocabulary only</a:t>
            </a:r>
            <a:endParaRPr lang="en-US" sz="11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بحجج متوازنة.</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current goal?</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Learn the alphabet again</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 all formal language</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Use the range accurately under pressure</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sentence states it.</a:t>
            </a:r>
            <a:endParaRPr lang="en-US" sz="10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45</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D4 Consolidation — Range Mastery and Speaking Preparation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integrates passive, cause and result accurately?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يُلَوَّثُ الهَوَاءُ لِكَيْ تَزْدَادَ الأَمْرَاضُ.</a:t>
            </a:r>
            <a:endParaRPr lang="ar-SA" sz="13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يُلَوَّثُ الهَوَاءُ بِسَبَبِ العَوَادِمِ، مِمَّا يُؤَدِّي إِلَى أَمْرَاضٍ.</a:t>
            </a:r>
            <a:endParaRPr lang="ar-SA" sz="13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يَنْبَعِثُ الهَوَاءُ مِنَ الأَمْرَاضِ.</a:t>
            </a:r>
            <a:endParaRPr lang="ar-SA" sz="13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integrates responsibility and purpose?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يَجِبُ عَلَى البَلَدِيَّةِ أَنْ تَزْرَعَ الأَشْجَارَ لِكَيْ تُحَسِّنَ الهَوَاءَ.</a:t>
            </a:r>
            <a:endParaRPr lang="ar-SA" sz="120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يَجِبُ عَلَى الأَشْجَارِ أَنْ تَزْرَعَ البَلَدِيَّةَ.</a:t>
            </a:r>
            <a:endParaRPr lang="ar-SA" sz="120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يَجِبُ البَلَدِيَّةُ تَزْرَعُ الأَشْجَارَ لِكَيْ الهَوَاءُ.</a:t>
            </a:r>
            <a:endParaRPr lang="ar-SA" sz="120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after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 نُقَلِّلُ</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 نُقَلِّلْ</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 نُقَلِّلَ</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accurate for water becoming scarce?</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يَشِحُّ المِيَاهُ</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تَنْضَبُ المِيَاهَ</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تَشِحُّ المِيَاهُ</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response uses self-correction productively?</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المَشْرُوعُ يَبْدَأُ فِي يُونْيُو—لِأُصَحِّحْ ذٰلِكَ—فِي سِبْتَمْبَرَ.</a:t>
            </a:r>
            <a:endParaRPr lang="ar-SA" sz="14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لِأُصَحِّحْ ذٰلِكَ المَشْرُوعُ مَشْرُوعٌ.</a:t>
            </a:r>
            <a:endParaRPr lang="ar-SA" sz="14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المَشْرُوعُ يَبْدَأُ فِي يُونْيُو وَيُونْيُو فَقَطْ.</a:t>
            </a:r>
            <a:endParaRPr lang="ar-SA" sz="14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judgement shows D4-level balance?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التِّقْنِيَّةُ مُفِيدَةٌ دَائِمًا دُونَ شُرُوطٍ.</a:t>
            </a:r>
            <a:endParaRPr lang="ar-SA" sz="12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التِّقْنِيَّةُ مُفِيدَةٌ إِلَى حَدٍّ مَا، شَرِيطَةَ أَنْ تُحْمَى البَيَانَاتُ.</a:t>
            </a:r>
            <a:endParaRPr lang="ar-SA" sz="12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200" dirty="0">
                <a:solidFill>
                  <a:srgbClr val="1F2A37"/>
                </a:solidFill>
                <a:latin typeface="Amiri" pitchFamily="2" charset="-78"/>
                <a:ea typeface="Amiri" pitchFamily="2" charset="-78"/>
                <a:cs typeface="Amiri" pitchFamily="2" charset="-78"/>
              </a:rPr>
              <a:t>التِّقْنِيَّةُ غَيْرُ مُفِيدَةٍ لِأَنَّهَا تِقْنِيَّةٌ.</a:t>
            </a:r>
            <a:endParaRPr lang="ar-SA" sz="12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45</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integrates passive, cause and result accurately?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يُلَوَّثُ الهَوَاءُ لِكَيْ تَزْدَادَ الأَمْرَاضُ.</a:t>
            </a:r>
            <a:endParaRPr lang="ar-SA" sz="13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يُلَوَّثُ الهَوَاءُ بِسَبَبِ العَوَادِمِ، مِمَّا يُؤَدِّي إِلَى أَمْرَاضٍ.</a:t>
            </a:r>
            <a:endParaRPr lang="ar-SA" sz="13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يَنْبَعِثُ الهَوَاءُ مِنَ الأَمْرَاضِ.</a:t>
            </a:r>
            <a:endParaRPr lang="ar-SA" sz="13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a coherent problem chain.</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integrates responsibility and purpose?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يَجِبُ عَلَى البَلَدِيَّةِ أَنْ تَزْرَعَ الأَشْجَارَ لِكَيْ تُحَسِّنَ الهَوَاءَ.</a:t>
            </a:r>
            <a:endParaRPr lang="ar-SA" sz="12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يَجِبُ عَلَى الأَشْجَارِ أَنْ تَزْرَعَ البَلَدِيَّةَ.</a:t>
            </a:r>
            <a:endParaRPr lang="ar-SA" sz="12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يَجِبُ البَلَدِيَّةُ تَزْرَعُ الأَشْجَارَ لِكَيْ الهَوَاءُ.</a:t>
            </a:r>
            <a:endParaRPr lang="ar-SA" sz="12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municipality acts for a clear purpose.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after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 is accurate?</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 نُقَلِّلُ</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 نُقَلِّلْ</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لِكَيْ نُقَلِّلَ</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sound-ending subjunctive takes fatḥa.</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is accurate for water becoming scarce?</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يَشِحُّ المِيَاهُ</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تَنْضَبُ المِيَاهَ</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تَشِحُّ المِيَاهُ</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المياه</a:t>
            </a:r>
            <a:pPr algn="l" indent="0" marL="0">
              <a:buNone/>
            </a:pPr>
            <a:r>
              <a:rPr lang="en-US" sz="1050" i="1" dirty="0">
                <a:solidFill>
                  <a:srgbClr val="8A6D1E"/>
                </a:solidFill>
                <a:latin typeface="Calibri" pitchFamily="34" charset="0"/>
                <a:cs typeface="Amiri" pitchFamily="2" charset="-78"/>
              </a:rPr>
              <a:t> takes feminine agreement.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response uses self-correction productively?</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المَشْرُوعُ يَبْدَأُ فِي يُونْيُو—لِأُصَحِّحْ ذٰلِكَ—فِي سِبْتَمْبَرَ.</a:t>
            </a:r>
            <a:endParaRPr lang="ar-SA" sz="14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لِأُصَحِّحْ ذٰلِكَ المَشْرُوعُ مَشْرُوعٌ.</a:t>
            </a:r>
            <a:endParaRPr lang="ar-SA" sz="14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المَشْرُوعُ يَبْدَأُ فِي يُونْيُو وَيُونْيُو فَقَطْ.</a:t>
            </a:r>
            <a:endParaRPr lang="ar-SA" sz="14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speaker explicitly corrects the date.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judgement shows D4-level balance?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التِّقْنِيَّةُ مُفِيدَةٌ دَائِمًا دُونَ شُرُوطٍ.</a:t>
            </a:r>
            <a:endParaRPr lang="ar-SA" sz="12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التِّقْنِيَّةُ مُفِيدَةٌ إِلَى حَدٍّ مَا، شَرِيطَةَ أَنْ تُحْمَى البَيَانَاتُ.</a:t>
            </a:r>
            <a:endParaRPr lang="ar-SA" sz="12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200" dirty="0">
                <a:solidFill>
                  <a:srgbClr val="9AA1AB"/>
                </a:solidFill>
                <a:latin typeface="Amiri" pitchFamily="2" charset="-78"/>
                <a:ea typeface="Amiri" pitchFamily="2" charset="-78"/>
                <a:cs typeface="Amiri" pitchFamily="2" charset="-78"/>
              </a:rPr>
              <a:t>التِّقْنِيَّةُ غَيْرُ مُفِيدَةٍ لِأَنَّهَا تِقْنِيَّةٌ.</a:t>
            </a:r>
            <a:endParaRPr lang="ar-SA" sz="12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qualifies the judgement and sets a condition.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45</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D4-L11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D4-L12: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D4 · Environment, Weather and Technology · D4-L11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D4-L12 · D4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مَعَايِيرُ التَّصْحِيحِ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marking criteria</a:t>
            </a:r>
            <a:pPr indent="0" marL="0">
              <a:buNone/>
            </a:pPr>
            <a:r>
              <a:rPr lang="ar-SA" sz="1000" i="1" dirty="0">
                <a:solidFill>
                  <a:srgbClr val="5A6472"/>
                </a:solidFill>
                <a:latin typeface="Calibri" pitchFamily="34" charset="0"/>
                <a:ea typeface="Amiri" pitchFamily="2" charset="-78"/>
                <a:cs typeface="Amiri" pitchFamily="2" charset="-78"/>
              </a:rPr>
              <a:t>  sing. مِعْيَارٌ</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check my answer</a:t>
            </a:r>
            <a:pPr indent="0" marL="0">
              <a:buNone/>
            </a:pPr>
            <a:r>
              <a:rPr lang="ar-SA" sz="1000" i="1" dirty="0">
                <a:solidFill>
                  <a:srgbClr val="5A6472"/>
                </a:solidFill>
                <a:latin typeface="Calibri" pitchFamily="34" charset="0"/>
                <a:ea typeface="Amiri" pitchFamily="2" charset="-78"/>
                <a:cs typeface="Amiri" pitchFamily="2" charset="-78"/>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your D4 chain from memory: one sentence each for climate, problem, solution and judgement.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يَسُودُ … · يُلَوَّثُ … بِسَبَبِ … · يَجِبُ عَلَى … أَنْ … لِكَيْ … · شَرِيطَةَ 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five chain frames and the five assessment words; redo today’s exit ticket.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full chain in 100–120 words, checked with the three classic slips.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(130–140 words) + count and label your D4 features.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45</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D4-L11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D4-L12 · D4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build a CHAIN — climate → problem → cause → solution → judgement — and check -a after </a:t>
            </a:r>
            <a:pPr algn="l" indent="0" marL="0">
              <a:buNone/>
            </a:pPr>
            <a:r>
              <a:rPr lang="ar-SA" altLang="en-US" sz="1700" b="1" dirty="0">
                <a:solidFill>
                  <a:srgbClr val="FFFFFF"/>
                </a:solidFill>
                <a:latin typeface="Amiri" pitchFamily="2" charset="-78"/>
                <a:ea typeface="Amiri" pitchFamily="2" charset="-78"/>
                <a:cs typeface="Amiri" pitchFamily="2" charset="-78"/>
              </a:rPr>
              <a:t>أَنْ</a:t>
            </a:r>
            <a:pPr algn="l" indent="0" marL="0">
              <a:buNone/>
            </a:pPr>
            <a:r>
              <a:rPr lang="en-US" sz="1300" b="1" dirty="0">
                <a:solidFill>
                  <a:srgbClr val="FFFFFF"/>
                </a:solidFill>
                <a:latin typeface="Calibri" pitchFamily="34" charset="0"/>
                <a:cs typeface="Amiri" pitchFamily="2" charset="-78"/>
              </a:rPr>
              <a:t>, </a:t>
            </a:r>
            <a:pPr algn="l" indent="0" marL="0">
              <a:buNone/>
            </a:pPr>
            <a:r>
              <a:rPr lang="ar-SA" altLang="en-US" sz="1700" b="1" dirty="0">
                <a:solidFill>
                  <a:srgbClr val="FFFFFF"/>
                </a:solidFill>
                <a:latin typeface="Amiri" pitchFamily="2" charset="-78"/>
                <a:ea typeface="Amiri" pitchFamily="2" charset="-78"/>
                <a:cs typeface="Amiri" pitchFamily="2" charset="-78"/>
              </a:rPr>
              <a:t>لِكَيْ</a:t>
            </a:r>
            <a:pPr algn="l" indent="0" marL="0">
              <a:buNone/>
            </a:pPr>
            <a:r>
              <a:rPr lang="en-US" sz="1300" b="1" dirty="0">
                <a:solidFill>
                  <a:srgbClr val="FFFFFF"/>
                </a:solidFill>
                <a:latin typeface="Calibri" pitchFamily="34" charset="0"/>
                <a:cs typeface="Amiri" pitchFamily="2" charset="-78"/>
              </a:rPr>
              <a:t> and </a:t>
            </a:r>
            <a:pPr algn="l" indent="0" marL="0">
              <a:buNone/>
            </a:pPr>
            <a:r>
              <a:rPr lang="ar-SA" altLang="en-US" sz="1700" b="1" dirty="0">
                <a:solidFill>
                  <a:srgbClr val="FFFFFF"/>
                </a:solidFill>
                <a:latin typeface="Amiri" pitchFamily="2" charset="-78"/>
                <a:ea typeface="Amiri" pitchFamily="2" charset="-78"/>
                <a:cs typeface="Amiri" pitchFamily="2" charset="-78"/>
              </a:rPr>
              <a:t>أَنَّ</a:t>
            </a:r>
            <a:pPr algn="l" indent="0" marL="0">
              <a:buNone/>
            </a:pPr>
            <a:r>
              <a:rPr lang="en-US" sz="1300" b="1" dirty="0">
                <a:solidFill>
                  <a:srgbClr val="FFFFFF"/>
                </a:solidFill>
                <a:latin typeface="Calibri" pitchFamily="34" charset="0"/>
                <a:cs typeface="Amiri" pitchFamily="2" charset="-78"/>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D4-L11 · D4 Consolidation — Range Mastery and Speaking Preparation</dc:title>
  <dc:subject>PptxGenJS Presentation</dc:subject>
  <dc:creator>Al Madina Online School · Arabic Department</dc:creator>
  <cp:lastModifiedBy>Al Madina Online School · Arabic Department</cp:lastModifiedBy>
  <cp:revision>1</cp:revision>
  <dcterms:created xsi:type="dcterms:W3CDTF">2026-10-11T06:40:56Z</dcterms:created>
  <dcterms:modified xsi:type="dcterms:W3CDTF">2026-10-11T06:40:56Z</dcterms:modified>
</cp:coreProperties>
</file>