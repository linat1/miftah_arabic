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Lst>
  <p:notesMasterIdLst>
    <p:notesMasterId r:id="rId4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notesMaster" Target="notesMasters/notes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D4 Environment, Weather and Technology › D4-L11. The website lesson “D4 Consolidation — Range Mastery and Speaking Preparation”: vocabulary, grammar rules and quiz, patterns, common mistakes, sorter, listening, reading, speaking prompts and model, writing task and model, differentiation, final check and the lesson mission. Picture match: website visual game “D4 Consolidation — Range Mastery and Speaking Preparation”.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No new grammar today: this is the D4 review before the D4-L12 assessment.
• Core: one accurate sentence for each link of the chain (climate · problem · solution) with frames. Develop: the full chain in a paragraph with one passive, one cause–effect and one purpose. Stretch: the website writing task (130–140 words, seven meaningful D4 features) + a qualified judgement and a self-audit.
• Speaking focus: self-correction phrases (لِأُصَحِّحْ ذٰلِكَ · أَقْصِدُ أَنَّ · بِعِبَارَةٍ أُخْرَى) — a recovered mistake is better than silence.
• Use the Do Now and quick-check results to choose each student’s route for the final You Do.
• TEACHER-WRITTEN ITEMS: two quiz distractors replaced (they differed only in vowels), “D4” written out in Arabic inside the Arabic texts, and English added to the model sentences and speaking model.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at the end of D4-L10. Questions 3–5 retrieve D4-L10, D4-L02 and D4-L03. Note which of 3–5 each student gets wrong: it points to their revision priority today.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A top answer is a CHAIN, not a list: every feature links to the next idea.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نقطہ، قوت، عبارت are shared. CAREFUL: Urdu تحسین = praise; Arabic تَحْسِينٌ = improvement (مَجَالُ تَحْسِينٍ = an area for improvement). Urdu اعداد (aʿdād) = numbers; Arabic إِعْدَادٌ (iʿdād, with kasra) = preparation.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Range and performance (website vocabulary (1 of 2)). Hear → Say → See → Use. Transliteration is printed for Core students (cover it for Develop/Stretch).
Range and performance: the words a teacher or examiner uses in feedback. Use نُقْطَةُ قُوَّةٍ and مَجَالُ تَحْسِينٍ to talk about your own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Range and performance (website vocabulary (2 of 2)). Hear → Say → See → Use. Transliteration is printed for Core students (cover it for Develop/Stretch).
Range and performance: the words a teacher or examiner uses in feedback. Use نُقْطَةُ قُوَّةٍ and مَجَالُ تَحْسِينٍ to talk about your own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Speaking and self-correction (website vocabulary (1 of 2)). Hear → Say → See → Use. Transliteration is printed for Core students (cover it for Develop/Stretch).
Speaking and self-correction: phrases that keep you talking when you make a mistake or need time — a recovered mistake earns more than silence.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Speaking and self-correction (website vocabulary (2 of 2)). Hear → Say → See → Use. Transliteration is printed for Core students (cover it for Develop/Stretch).
Speaking and self-correction: phrases that keep you talking when you make a mistake or need time — a recovered mistake earns more than silence.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rules “Climate and weather accuracy” (keep climate description and weather events distinct), “Problem, cause and passive” (use a true passive where the affected thing is foregrounded) and “Solution and purpose” (state who must act and why). Rule 4 (“Qualified academic judgement”) is row 5. Colours: blue = climate, pink = problem chain, purple = solution / condition.
Core: rows 1, 2 and 4 are enough for a strong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the three website common mistakes for this lesson, turned into a hand-in checklist. Students copy the three heads into the margin of their writing and tick each one.
Card 3 in full (website): عَلَى الرَّغْمِ مِنْ أَنَّ المَشْرُوعَ مُكَلِّفٌ، فَإِنَّهُ يُقَلِّلُ الهَدْرَ عَلَى المَدَى البَعِيدِ.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“Study each structure in context, compare accurate and inaccurate forms, then apply it in meaningful Arabic.”
• Climate and weather accuracy: Keep climate description and weather events distinct.
• Problem, cause and passive: Use a true passive where the affected thing is foregrounded.
• Solution and purpose: State who must act and why.
• Qualified academic judgement: A strong answer recognises limits and states conditions.
Website common error: Do not select a sentence merely because its words are familiar. Check meaning, agreement, governing prepositions and verb endings.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build the chain aloud. At step 4, deliberately say لِكَيْ تَحْمِي المَوَارِدَ with the wrong ending, stop, and model: لِأُصَحِّحْ ذٰلِكَ — لِكَيْ تَحْمِيَ. The copy box is the middle of the website writing model (the full model is on the Write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each student picks their own نُقْطَةُ قُوَّةٍ and مَجَالُ تَحْسِينٍ from the middle column.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each student picks their own نُقْطَةُ قُوَّةٍ and مَجَالُ تَحْسِينٍ from the middle column.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and 2. Develop/Stretch: all four.
Listen 1: just listen. Listen 2: note answers. Then chat the letters.
Support: after the second listening, show the read-along slide (Arabic + English, line by line) for Core students.
SCRIPT (read aloud):
فِي المُحَادَثَةِ الأُولَى، وَصَفَتْ مَرْيَمُ مَشْرُوعًا لِتَوْسِيعِ النَّقْلِ العَامِّ. قَالَتْ إِنَّهُ سَيُقَلِّلُ الانْبِعَاثَاتِ، لٰكِنَّهَا أَضَافَتْ أَنَّ التَّكْلِفَةَ الأُولَى مُرْتَفِعَةٌ.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and 3. Develop/Stretch: all four — question 2 is the corrected detail.
Listen 1: just listen. Listen 2: note answers. Then chat the letters.
Support: after the second listening, show the read-along slide (Arabic + English, line by line) for Core students.
SCRIPT (read aloud):
وَفِي المُحَادَثَةِ الثَّانِيَةِ، تَحَدَّثَ خَالِدٌ عَنْ شُحِّ المِيَاهِ. أَوَّلًا قَالَ إِنَّ الاسْتِهْلَاكَ انْخَفَضَ، ثُمَّ صَحَّحَ نَفْسَهُ وَقَالَ إِنَّهُ ارْتَفَعَ بِنِسْبَةِ ٩٪. وَأَكَّدَ أَنَّ الحَلَّ يَحْتَاجُ إِلَى التِّقْنِيَّةِ وَتَغْيِيرِ السُّلُوكِ مَعًا.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Website prompts and model. 60 seconds each in pairs; the partner counts the D4 features heard and notes one self-correction phrase. If a student freezes: لِأُصَحِّحْ ذٰلِكَ / بِعِبَارَةٍ أُخْرَى and try again. To a girl: مَا نُقْطَةُ قُوَّتِكِ؟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Use the vocabulary banks and sentence frames to produce four accurate connected sentences. · Develop — Use several target structures in a linked paragraph or sustained spoken answer. · Stretch — Evaluate, compare or qualify ideas using precise evidence and formal linking language.
Website writing task (Stretch): Write 130–140 Arabic words integrating climate, an environmental problem, a solution and a qualified technology judgement.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writing model. D4 features: يَسُودُ · تَشِحُّ … نَتِيجَةً لِـ · يَجِبُ عَلَى … أَنْ تَسْتَثْمِرَ … لِكَيْ تَحْمِيَ · عَلَاوَةً عَلَى ذٰلِكَ · يُمْكِنُ أَنْ يُسْتَخْدَمَ (passive) · عَلَى الرَّغْمِ مِنْ أَنَّ … فَإِنَّهَا · فِي رَأْيِي. Count them with the class: seven or more, each with a job.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(D4-L12 · D4 Review and Unit Assessment) will spend class time USING this language, so students prepare it tonight — short, simple, easy to access (school guidance: “Simple, Short, Interesting, Relevant, Easy to access”). The five words are the instruction words of the D4-L12 assessment (its listening, reading and marking sections).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8  ·  DEVELOPMENT D4  ·  D4-L11</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D4-L11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D4 Consolidation — Range Mastery and Speaking Preparation</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تَرْسِيخُ الوَحْدَةِ — إِتْقَانُ النِّطَاقِ وَإِعْدَادُ التَّحَدُّثِ</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Pull the whole of D4 together in one chain — climate → problem → cause → solution → qualified judgement — accurately and under pressure, and practise recovering in speaking (</a:t>
            </a:r>
            <a:pPr algn="l" indent="0" marL="0">
              <a:buNone/>
            </a:pPr>
            <a:r>
              <a:rPr lang="ar-SA" altLang="en-US" sz="1800" dirty="0">
                <a:solidFill>
                  <a:srgbClr val="C6D2E6"/>
                </a:solidFill>
                <a:latin typeface="Amiri" pitchFamily="34" charset="0"/>
                <a:ea typeface="Amiri" pitchFamily="34" charset="-122"/>
                <a:cs typeface="Amiri" pitchFamily="34" charset="-120"/>
              </a:rPr>
              <a:t>لِأُصَحِّحْ ذٰلِكَ</a:t>
            </a:r>
            <a:pPr algn="l" indent="0" marL="0">
              <a:buNone/>
            </a:pPr>
            <a:r>
              <a:rPr lang="en-US" sz="1400" dirty="0">
                <a:solidFill>
                  <a:srgbClr val="C6D2E6"/>
                </a:solidFill>
                <a:latin typeface="Calibri" pitchFamily="34" charset="0"/>
                <a:ea typeface="Calibri" pitchFamily="34" charset="-122"/>
                <a:cs typeface="Calibri" pitchFamily="34" charset="-120"/>
              </a:rPr>
              <a:t> · </a:t>
            </a:r>
            <a:pPr algn="l" indent="0" marL="0">
              <a:buNone/>
            </a:pPr>
            <a:r>
              <a:rPr lang="ar-SA" altLang="en-US" sz="1800" dirty="0">
                <a:solidFill>
                  <a:srgbClr val="C6D2E6"/>
                </a:solidFill>
                <a:latin typeface="Amiri" pitchFamily="34" charset="0"/>
                <a:ea typeface="Amiri" pitchFamily="34" charset="-122"/>
                <a:cs typeface="Amiri" pitchFamily="34" charset="-120"/>
              </a:rPr>
              <a:t>بِعِبَارَةٍ أُخْرَى</a:t>
            </a:r>
            <a:pPr algn="l" indent="0" marL="0">
              <a:buNone/>
            </a:pPr>
            <a:r>
              <a:rPr lang="en-US" sz="1400" dirty="0">
                <a:solidFill>
                  <a:srgbClr val="C6D2E6"/>
                </a:solidFill>
                <a:latin typeface="Calibri" pitchFamily="34" charset="0"/>
                <a:ea typeface="Calibri" pitchFamily="34" charset="-122"/>
                <a:cs typeface="Calibri" pitchFamily="34" charset="-120"/>
              </a:rPr>
              <a: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D4-L11 · Development D4 · Environment, Weather and Technology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Development › D4 › D4-L11</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D4-L11 · Unit Review</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D4-L11</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45</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D4-L11 · Unit Review</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D4-L11</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The D4 chain: climate → problem → solution → judgement.</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Sort the range, fix three classic D4 slips, then two short listening cycles.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D4-L12.</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45</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D4-L11 · Unit Review</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نُقْطَةُ قُوَّةٍ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area for improvement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strength</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point of view</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بِعِبَارَةٍ أُخْرَى</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other words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let me correct that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what I mean is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حَذَّرَ الخَبِيرُ</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شُحِّ المِيَاهِ</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يَهُبُّ الرِّيَاحُ بِقُوَّةٍ.</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تَهُبُّ الرِّيَاحِ بِقُوَّةٍ.</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تَهُبُّ الرِّيَاحُ بِقُوَّةٍ.</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is passive?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تُقْطَعُ الأَشْجَارُ.</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يَقْطَعُ النَّاسُ الأَشْجَارَ.</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قَطَعْنَا الأَشْجَارَ.</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45</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D4-L11 · Unit Review</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نُقْطَةُ قُوَّةٍ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an area for improvement</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strength</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point of view</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(D4-L10).</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بِعِبَارَةٍ أُخْرَى</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in other words</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let me correct that</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what I mean is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(D4-L10).</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حَذَّرَ الخَبِيرُ</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شُحِّ المِيَاهِ</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إِلَى</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مِنْ</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D4-L10.</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يَهُبُّ الرِّيَاحُ بِقُوَّةٍ.</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تَهُبُّ الرِّيَاحِ بِقُوَّةٍ.</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تَهُبُّ الرِّيَاحُ بِقُوَّةٍ.</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D4-L02: weather agreement.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is passive?</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تُقْطَعُ الأَشْجَارُ.</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يَقْطَعُ النَّاسُ الأَشْجَارَ.</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قَطَعْنَا الأَشْجَارَ.</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D4-L03.</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A top answer is a CHAIN, not a list: every feature links to the next idea.</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يَسُودُ</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 </a:t>
            </a:r>
            <a:pPr rtl="1" algn="ctr" indent="0" marL="0">
              <a:lnSpc>
                <a:spcPct val="120000"/>
              </a:lnSpc>
              <a:buNone/>
            </a:pPr>
            <a:r>
              <a:rPr lang="ar-SA" altLang="en-US" sz="1950" b="1" dirty="0">
                <a:solidFill>
                  <a:srgbClr val="D6336C"/>
                </a:solidFill>
                <a:latin typeface="Amiri" pitchFamily="34" charset="0"/>
                <a:ea typeface="Amiri" pitchFamily="34" charset="-122"/>
                <a:cs typeface="Amiri" pitchFamily="34" charset="-120"/>
              </a:rPr>
              <a:t>يُلَوَّثُ</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a:t>
            </a:r>
            <a:pPr rtl="1" algn="ctr" indent="0" marL="0">
              <a:lnSpc>
                <a:spcPct val="120000"/>
              </a:lnSpc>
              <a:buNone/>
            </a:pPr>
            <a:r>
              <a:rPr lang="ar-SA" altLang="en-US" sz="1950" b="1" dirty="0">
                <a:solidFill>
                  <a:srgbClr val="D6336C"/>
                </a:solidFill>
                <a:latin typeface="Amiri" pitchFamily="34" charset="0"/>
                <a:ea typeface="Amiri" pitchFamily="34" charset="-122"/>
                <a:cs typeface="Amiri" pitchFamily="34" charset="-120"/>
              </a:rPr>
              <a:t>بِسَبَبِ</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 </a:t>
            </a:r>
            <a:pPr rtl="1" algn="ctr" indent="0" marL="0">
              <a:lnSpc>
                <a:spcPct val="120000"/>
              </a:lnSpc>
              <a:buNone/>
            </a:pPr>
            <a:r>
              <a:rPr lang="ar-SA" altLang="en-US" sz="1950" b="1" dirty="0">
                <a:solidFill>
                  <a:srgbClr val="1D5FBF"/>
                </a:solidFill>
                <a:latin typeface="Amiri" pitchFamily="34" charset="0"/>
                <a:ea typeface="Amiri" pitchFamily="34" charset="-122"/>
                <a:cs typeface="Amiri" pitchFamily="34" charset="-120"/>
              </a:rPr>
              <a:t>يَجِبُ عَلَى</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a:t>
            </a:r>
            <a:pPr rtl="1" algn="ctr" indent="0" marL="0">
              <a:lnSpc>
                <a:spcPct val="120000"/>
              </a:lnSpc>
              <a:buNone/>
            </a:pPr>
            <a:r>
              <a:rPr lang="ar-SA" altLang="en-US" sz="1950" b="1" dirty="0">
                <a:solidFill>
                  <a:srgbClr val="1D5FBF"/>
                </a:solidFill>
                <a:latin typeface="Amiri" pitchFamily="34" charset="0"/>
                <a:ea typeface="Amiri" pitchFamily="34" charset="-122"/>
                <a:cs typeface="Amiri" pitchFamily="34" charset="-120"/>
              </a:rPr>
              <a:t>لِكَيْ</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D4-L11 · Unit Review</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D4-L11</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Describe climate and weather accurately (</a:t>
            </a:r>
            <a:pPr algn="l" indent="0" marL="0">
              <a:buNone/>
            </a:pPr>
            <a:r>
              <a:rPr lang="ar-SA" altLang="en-US" sz="1700" dirty="0">
                <a:solidFill>
                  <a:srgbClr val="1F2A37"/>
                </a:solidFill>
                <a:latin typeface="Amiri" pitchFamily="34" charset="0"/>
                <a:ea typeface="Amiri" pitchFamily="34" charset="-122"/>
                <a:cs typeface="Amiri" pitchFamily="34" charset="-120"/>
              </a:rPr>
              <a:t>يَسُودُ</a:t>
            </a:r>
            <a:pPr algn="l" indent="0" marL="0">
              <a:buNone/>
            </a:pPr>
            <a:r>
              <a:rPr lang="en-US" sz="1300" dirty="0">
                <a:solidFill>
                  <a:srgbClr val="1F2A37"/>
                </a:solidFill>
                <a:latin typeface="Calibri" pitchFamily="34" charset="0"/>
                <a:ea typeface="Calibri" pitchFamily="34" charset="-122"/>
                <a:cs typeface="Calibri" pitchFamily="34" charset="-120"/>
              </a:rPr>
              <a:t> · </a:t>
            </a:r>
            <a:pPr algn="l" indent="0" marL="0">
              <a:buNone/>
            </a:pPr>
            <a:r>
              <a:rPr lang="ar-SA" altLang="en-US" sz="1700" dirty="0">
                <a:solidFill>
                  <a:srgbClr val="1F2A37"/>
                </a:solidFill>
                <a:latin typeface="Amiri" pitchFamily="34" charset="0"/>
                <a:ea typeface="Amiri" pitchFamily="34" charset="-122"/>
                <a:cs typeface="Amiri" pitchFamily="34" charset="-120"/>
              </a:rPr>
              <a:t>تَهُبُّ الرِّيَاحُ</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Explain a problem with a passive and a cause–effect chain.</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Propose a solution with obligation + purpose and give a qualified judgement.</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Recover from a mistake in speaking with a self-correction phrase.</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write one accurate sentence for climate, problem and solution.</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use the D4 frames.</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link problem, cause and solution in a paragraph.</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use a passive and a purpose clause.</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give a qualified judgement (</a:t>
            </a:r>
            <a:pPr algn="l" indent="0" marL="0">
              <a:buNone/>
            </a:pPr>
            <a:r>
              <a:rPr lang="ar-SA" altLang="en-US" sz="1700" b="1" dirty="0">
                <a:solidFill>
                  <a:srgbClr val="B83227"/>
                </a:solidFill>
                <a:latin typeface="Amiri" pitchFamily="34" charset="0"/>
                <a:ea typeface="Amiri" pitchFamily="34" charset="-122"/>
                <a:cs typeface="Amiri" pitchFamily="34" charset="-120"/>
              </a:rPr>
              <a:t>شَرِيطَةَ أَنْ</a:t>
            </a:r>
            <a:pPr algn="l" indent="0" marL="0">
              <a:buNone/>
            </a:pPr>
            <a:r>
              <a:rPr lang="en-US" sz="1300" b="1" dirty="0">
                <a:solidFill>
                  <a:srgbClr val="B83227"/>
                </a:solidFill>
                <a:latin typeface="Calibri" pitchFamily="34" charset="0"/>
                <a:ea typeface="Calibri" pitchFamily="34" charset="-122"/>
                <a:cs typeface="Calibri" pitchFamily="34" charset="-120"/>
              </a:rPr>
              <a:t>).</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self-correct while speaking.</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45</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25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Range and performance · 9</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D4 grammar bank · 9</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Speaking and self-correction · 7</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نُقْطَةٌ</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‎نقطہ‎ </a:t>
            </a:r>
            <a:pPr indent="0" marL="0">
              <a:buNone/>
            </a:pPr>
            <a:r>
              <a:rPr lang="en-US" sz="950" b="1" dirty="0">
                <a:solidFill>
                  <a:srgbClr val="2E8B57"/>
                </a:solidFill>
                <a:latin typeface="Calibri" pitchFamily="34" charset="0"/>
                <a:ea typeface="Calibri" pitchFamily="34" charset="-122"/>
                <a:cs typeface="Calibri" pitchFamily="34" charset="-120"/>
              </a:rPr>
              <a:t> nuqta · point</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قُوَّةٌ</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‎قوت‎ </a:t>
            </a:r>
            <a:pPr indent="0" marL="0">
              <a:buNone/>
            </a:pPr>
            <a:r>
              <a:rPr lang="en-US" sz="950" b="1" dirty="0">
                <a:solidFill>
                  <a:srgbClr val="2E8B57"/>
                </a:solidFill>
                <a:latin typeface="Calibri" pitchFamily="34" charset="0"/>
                <a:ea typeface="Calibri" pitchFamily="34" charset="-122"/>
                <a:cs typeface="Calibri" pitchFamily="34" charset="-120"/>
              </a:rPr>
              <a:t> quwwat · strength</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تَحْسِينٌ</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‎تحسین‎ </a:t>
            </a:r>
            <a:pPr indent="0" marL="0">
              <a:buNone/>
            </a:pPr>
            <a:r>
              <a:rPr lang="en-US" sz="950" b="1" dirty="0">
                <a:solidFill>
                  <a:srgbClr val="2E8B57"/>
                </a:solidFill>
                <a:latin typeface="Calibri" pitchFamily="34" charset="0"/>
                <a:ea typeface="Calibri" pitchFamily="34" charset="-122"/>
                <a:cs typeface="Calibri" pitchFamily="34" charset="-120"/>
              </a:rPr>
              <a:t> taḥsīn · Urdu: praise · Arabic: improvement</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إِعْدَادٌ</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‎اعداد‎ </a:t>
            </a:r>
            <a:pPr indent="0" marL="0">
              <a:buNone/>
            </a:pPr>
            <a:r>
              <a:rPr lang="en-US" sz="950" b="1" dirty="0">
                <a:solidFill>
                  <a:srgbClr val="2E8B57"/>
                </a:solidFill>
                <a:latin typeface="Calibri" pitchFamily="34" charset="0"/>
                <a:ea typeface="Calibri" pitchFamily="34" charset="-122"/>
                <a:cs typeface="Calibri" pitchFamily="34" charset="-120"/>
              </a:rPr>
              <a:t> aʿdād · Urdu: numbers · Arabic: preparation</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عِبَارَةٌ</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‎عبارت‎ </a:t>
            </a:r>
            <a:pPr indent="0" marL="0">
              <a:buNone/>
            </a:pPr>
            <a:r>
              <a:rPr lang="en-US" sz="950" b="1" dirty="0">
                <a:solidFill>
                  <a:srgbClr val="2E8B57"/>
                </a:solidFill>
                <a:latin typeface="Calibri" pitchFamily="34" charset="0"/>
                <a:ea typeface="Calibri" pitchFamily="34" charset="-122"/>
                <a:cs typeface="Calibri" pitchFamily="34" charset="-120"/>
              </a:rPr>
              <a:t> ʿibārat · expression, wording</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45</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D4-L11 · Unit Review</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Range and performance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D4-L11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النِّطَاقُ اللُّغَوِيُّ</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linguistic range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an-ni-ṭā-qu all-lu-gha-wiy-yu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التَّكَامُلُ اللُّغَوِيُّ</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language integration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at-ta-kā-mu-lu all-lu-gha-wiy-yu</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0" name="Shape 2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الدِّقَّةُ تَحْتَ الضَّغْطِ</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accuracy under pressure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ad-diq-qa-tu taḥ-ta aḍ-ḍagh-ṭi</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التَّعَمُّقُ الأَكَادِيمِيُّ</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academic depth</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at-ta-ʿam-mu-qu al-a-kā-dī-miy-yu</a:t>
            </a:r>
            <a:endParaRPr lang="en-US" sz="1350" dirty="0"/>
          </a:p>
        </p:txBody>
      </p:sp>
      <p:sp>
        <p:nvSpPr>
          <p:cNvPr id="39" name="Shape 3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4389120"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42" name="Text 3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إِعْدَادُ الامْتِحَانِ</a:t>
            </a:r>
            <a:endParaRPr lang="ar-SA" sz="3000" dirty="0"/>
          </a:p>
        </p:txBody>
      </p:sp>
      <p:sp>
        <p:nvSpPr>
          <p:cNvPr id="43" name="Text 4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exam preparation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iʿ-dā-du alm-ti-ḥā-ni</a:t>
            </a:r>
            <a:endParaRPr lang="en-US" sz="13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45</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D4-L11 · Unit Review</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Range and performance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D4-L11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نُقْطَةُ قُوَّةٍ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strength</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nuq-ṭa-tu quw-wa-tin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مَجَالُ تَحْسِينٍ</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area for improvement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ma-jā-lu taḥ-sī-nin</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دَلِيلٌ لُغَوِيٌّ</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linguistic evidence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da-lī-lun lu-gha-wiy-yun</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37" name="Shape 34"/>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إِجَابَةٌ مُطَوَّرَةٌ</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developed answer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i-jā-ba-tun mu-ṭaw-wa-ra-tun</a:t>
            </a:r>
            <a:endParaRPr lang="en-US" sz="13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45</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D4-L11 · Unit Review</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ea typeface="Cambria" pitchFamily="34" charset="-122"/>
                <a:cs typeface="Cambria" pitchFamily="34" charset="-120"/>
              </a:rPr>
              <a:t>Speaking and self-correction (1 of 2)</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D4-L11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أَقْصِدُ أَنَّ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what I mean is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aq-ṣi-du an-na</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بِعِبَارَةٍ أُخْرَى</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 other words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bi-ʿi-bā-ra-tin ukh-rā</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لِأُصَحِّحْ ذٰلِكَ</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let me correct that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li-ʾu-ṣaḥ-ḥiḥ dhā-li-ka</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39" name="Shape 3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سَأُعْطِي مِثَالًا</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will give an example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sa-ʾuʿ-ṭī mi-thā-lan</a:t>
            </a:r>
            <a:endParaRPr lang="en-US" sz="13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45</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D4-L11 · Unit Review</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ea typeface="Cambria" pitchFamily="34" charset="-122"/>
                <a:cs typeface="Cambria" pitchFamily="34" charset="-120"/>
              </a:rPr>
              <a:t>Speaking and self-correction (2 of 2)</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D4-L11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الدَّلِيلُ عَلَى ذٰلِكَ</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evidence for that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ad-da-lī-lu ʿa-lā dhā-li-ka</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مِنْ وَجْهَةِ نَظَرِي</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from my point of view</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min waj-ha-ti na-ẓa-rī</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إِلَى حَدٍّ مَا</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to some extent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i-lā ḥad-din mā</a:t>
            </a:r>
            <a:endParaRPr lang="en-US" sz="13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45</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D4-L11 · Unit Review</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PART 1 · THE D4 CHAIN (WEBSITE RULES 1–3)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Climate → problem → solution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سِلْسِلَةُ الوَحْدَةِ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08592" y="1810512"/>
            <a:ext cx="23500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Lesson</a:t>
            </a:r>
            <a:endParaRPr lang="en-US" sz="1100" dirty="0"/>
          </a:p>
        </p:txBody>
      </p:sp>
      <p:sp>
        <p:nvSpPr>
          <p:cNvPr id="17" name="Text 14"/>
          <p:cNvSpPr txBox="1"/>
          <p:nvPr/>
        </p:nvSpPr>
        <p:spPr>
          <a:xfrm>
            <a:off x="2633472" y="1810512"/>
            <a:ext cx="6528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Model (website)</a:t>
            </a:r>
            <a:endParaRPr lang="en-US" sz="1100" dirty="0"/>
          </a:p>
        </p:txBody>
      </p:sp>
      <p:sp>
        <p:nvSpPr>
          <p:cNvPr id="18" name="Text 15"/>
          <p:cNvSpPr txBox="1"/>
          <p:nvPr/>
        </p:nvSpPr>
        <p:spPr>
          <a:xfrm>
            <a:off x="530352" y="1810512"/>
            <a:ext cx="1956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Link</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9345168" y="2267712"/>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D4-L01 · L02</a:t>
            </a:r>
            <a:endParaRPr lang="en-US" sz="1100" dirty="0"/>
          </a:p>
        </p:txBody>
      </p:sp>
      <p:sp>
        <p:nvSpPr>
          <p:cNvPr id="21" name="Text 18"/>
          <p:cNvSpPr txBox="1"/>
          <p:nvPr/>
        </p:nvSpPr>
        <p:spPr>
          <a:xfrm>
            <a:off x="2651760" y="2286000"/>
            <a:ext cx="6492240" cy="422928"/>
          </a:xfrm>
          <a:prstGeom prst="rect">
            <a:avLst/>
          </a:prstGeom>
          <a:noFill/>
          <a:ln/>
        </p:spPr>
        <p:txBody>
          <a:bodyPr wrap="square" lIns="0" tIns="0" rIns="0" bIns="0" rtlCol="0" anchor="ctr"/>
          <a:lstStyle/>
          <a:p>
            <a:pPr rtl="1" algn="ctr" indent="0" marL="0">
              <a:buNone/>
            </a:pPr>
            <a:r>
              <a:rPr lang="ar-SA" altLang="en-US" sz="1950" b="1" dirty="0">
                <a:solidFill>
                  <a:srgbClr val="0E7C86"/>
                </a:solidFill>
                <a:latin typeface="Amiri" pitchFamily="34" charset="0"/>
                <a:ea typeface="Amiri" pitchFamily="34" charset="-122"/>
                <a:cs typeface="Amiri" pitchFamily="34" charset="-120"/>
              </a:rPr>
              <a:t>يَسُودُ</a:t>
            </a:r>
            <a:pPr rtl="1" algn="ctr" indent="0" marL="0">
              <a:buNone/>
            </a:pPr>
            <a:r>
              <a:rPr lang="ar-SA" altLang="en-US" sz="1950" b="1" dirty="0">
                <a:solidFill>
                  <a:srgbClr val="1B3B6F"/>
                </a:solidFill>
                <a:latin typeface="Amiri" pitchFamily="34" charset="0"/>
                <a:ea typeface="Amiri" pitchFamily="34" charset="-122"/>
                <a:cs typeface="Amiri" pitchFamily="34" charset="-120"/>
              </a:rPr>
              <a:t> مَنَاخٌ جَافٌّ فِي الدَّاخِلِ، وَ</a:t>
            </a:r>
            <a:pPr rtl="1" algn="ctr" indent="0" marL="0">
              <a:buNone/>
            </a:pPr>
            <a:r>
              <a:rPr lang="ar-SA" altLang="en-US" sz="1950" b="1" dirty="0">
                <a:solidFill>
                  <a:srgbClr val="0E7C86"/>
                </a:solidFill>
                <a:latin typeface="Amiri" pitchFamily="34" charset="0"/>
                <a:ea typeface="Amiri" pitchFamily="34" charset="-122"/>
                <a:cs typeface="Amiri" pitchFamily="34" charset="-120"/>
              </a:rPr>
              <a:t>تَهُبُّ</a:t>
            </a:r>
            <a:pPr rtl="1" algn="ctr" indent="0" marL="0">
              <a:buNone/>
            </a:pPr>
            <a:r>
              <a:rPr lang="ar-SA" altLang="en-US" sz="1950" b="1" dirty="0">
                <a:solidFill>
                  <a:srgbClr val="1B3B6F"/>
                </a:solidFill>
                <a:latin typeface="Amiri" pitchFamily="34" charset="0"/>
                <a:ea typeface="Amiri" pitchFamily="34" charset="-122"/>
                <a:cs typeface="Amiri" pitchFamily="34" charset="-120"/>
              </a:rPr>
              <a:t> الرِّيَاحُ بِقُوَّةٍ فِي الرَّبِيعِ.</a:t>
            </a:r>
            <a:endParaRPr lang="ar-SA" sz="1950" dirty="0"/>
          </a:p>
        </p:txBody>
      </p:sp>
      <p:sp>
        <p:nvSpPr>
          <p:cNvPr id="22" name="Text 19"/>
          <p:cNvSpPr txBox="1"/>
          <p:nvPr/>
        </p:nvSpPr>
        <p:spPr>
          <a:xfrm>
            <a:off x="2606040" y="2676997"/>
            <a:ext cx="658368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A dry climate prevails inland, and winds blow strongly in spring.</a:t>
            </a:r>
            <a:endParaRPr lang="en-US" sz="950" dirty="0"/>
          </a:p>
        </p:txBody>
      </p:sp>
      <p:sp>
        <p:nvSpPr>
          <p:cNvPr id="23" name="Text 20"/>
          <p:cNvSpPr txBox="1"/>
          <p:nvPr/>
        </p:nvSpPr>
        <p:spPr>
          <a:xfrm>
            <a:off x="566928" y="2267712"/>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 · climate + weather</a:t>
            </a:r>
            <a:endParaRPr lang="en-US" sz="1100" dirty="0"/>
          </a:p>
        </p:txBody>
      </p:sp>
      <p:sp>
        <p:nvSpPr>
          <p:cNvPr id="24" name="Shape 21"/>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5" name="Text 22"/>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6" name="Shape 23"/>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7" name="Text 24"/>
          <p:cNvSpPr txBox="1"/>
          <p:nvPr/>
        </p:nvSpPr>
        <p:spPr>
          <a:xfrm>
            <a:off x="9345168" y="3004718"/>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D4-L03</a:t>
            </a:r>
            <a:endParaRPr lang="en-US" sz="1100" dirty="0"/>
          </a:p>
        </p:txBody>
      </p:sp>
      <p:sp>
        <p:nvSpPr>
          <p:cNvPr id="28" name="Text 25"/>
          <p:cNvSpPr txBox="1"/>
          <p:nvPr/>
        </p:nvSpPr>
        <p:spPr>
          <a:xfrm>
            <a:off x="2651760" y="3023006"/>
            <a:ext cx="6492240" cy="422928"/>
          </a:xfrm>
          <a:prstGeom prst="rect">
            <a:avLst/>
          </a:prstGeom>
          <a:noFill/>
          <a:ln/>
        </p:spPr>
        <p:txBody>
          <a:bodyPr wrap="square" lIns="0" tIns="0" rIns="0" bIns="0" rtlCol="0" anchor="ctr"/>
          <a:lstStyle/>
          <a:p>
            <a:pPr rtl="1" algn="ctr" indent="0" marL="0">
              <a:buNone/>
            </a:pPr>
            <a:r>
              <a:rPr lang="ar-SA" altLang="en-US" sz="1950" b="1" dirty="0">
                <a:solidFill>
                  <a:srgbClr val="D6336C"/>
                </a:solidFill>
                <a:latin typeface="Amiri" pitchFamily="34" charset="0"/>
                <a:ea typeface="Amiri" pitchFamily="34" charset="-122"/>
                <a:cs typeface="Amiri" pitchFamily="34" charset="-120"/>
              </a:rPr>
              <a:t>يُلَوَّثُ</a:t>
            </a:r>
            <a:pPr rtl="1" algn="ctr" indent="0" marL="0">
              <a:buNone/>
            </a:pPr>
            <a:r>
              <a:rPr lang="ar-SA" altLang="en-US" sz="1950" b="1" dirty="0">
                <a:solidFill>
                  <a:srgbClr val="1B3B6F"/>
                </a:solidFill>
                <a:latin typeface="Amiri" pitchFamily="34" charset="0"/>
                <a:ea typeface="Amiri" pitchFamily="34" charset="-122"/>
                <a:cs typeface="Amiri" pitchFamily="34" charset="-120"/>
              </a:rPr>
              <a:t> الهَوَاءُ </a:t>
            </a:r>
            <a:pPr rtl="1" algn="ctr" indent="0" marL="0">
              <a:buNone/>
            </a:pPr>
            <a:r>
              <a:rPr lang="ar-SA" altLang="en-US" sz="1950" b="1" dirty="0">
                <a:solidFill>
                  <a:srgbClr val="D6336C"/>
                </a:solidFill>
                <a:latin typeface="Amiri" pitchFamily="34" charset="0"/>
                <a:ea typeface="Amiri" pitchFamily="34" charset="-122"/>
                <a:cs typeface="Amiri" pitchFamily="34" charset="-120"/>
              </a:rPr>
              <a:t>بِسَبَبِ</a:t>
            </a:r>
            <a:pPr rtl="1" algn="ctr" indent="0" marL="0">
              <a:buNone/>
            </a:pPr>
            <a:r>
              <a:rPr lang="ar-SA" altLang="en-US" sz="1950" b="1" dirty="0">
                <a:solidFill>
                  <a:srgbClr val="1B3B6F"/>
                </a:solidFill>
                <a:latin typeface="Amiri" pitchFamily="34" charset="0"/>
                <a:ea typeface="Amiri" pitchFamily="34" charset="-122"/>
                <a:cs typeface="Amiri" pitchFamily="34" charset="-120"/>
              </a:rPr>
              <a:t> عَوَادِمِ السَّيَّارَاتِ،</a:t>
            </a:r>
            <a:endParaRPr lang="ar-SA" sz="1950" dirty="0"/>
          </a:p>
        </p:txBody>
      </p:sp>
      <p:sp>
        <p:nvSpPr>
          <p:cNvPr id="29" name="Text 26"/>
          <p:cNvSpPr txBox="1"/>
          <p:nvPr/>
        </p:nvSpPr>
        <p:spPr>
          <a:xfrm>
            <a:off x="2606040" y="3414004"/>
            <a:ext cx="658368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The air is polluted because of car exhaust,</a:t>
            </a:r>
            <a:endParaRPr lang="en-US" sz="950" dirty="0"/>
          </a:p>
        </p:txBody>
      </p:sp>
      <p:sp>
        <p:nvSpPr>
          <p:cNvPr id="30" name="Text 27"/>
          <p:cNvSpPr txBox="1"/>
          <p:nvPr/>
        </p:nvSpPr>
        <p:spPr>
          <a:xfrm>
            <a:off x="566928" y="3004718"/>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 · problem + cause</a:t>
            </a:r>
            <a:endParaRPr lang="en-US" sz="1100" dirty="0"/>
          </a:p>
        </p:txBody>
      </p:sp>
      <p:sp>
        <p:nvSpPr>
          <p:cNvPr id="31" name="Shape 28"/>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3" name="Shape 30"/>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4" name="Text 31"/>
          <p:cNvSpPr txBox="1"/>
          <p:nvPr/>
        </p:nvSpPr>
        <p:spPr>
          <a:xfrm>
            <a:off x="9345168" y="3741725"/>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D4-L03 · L07</a:t>
            </a:r>
            <a:endParaRPr lang="en-US" sz="1100" dirty="0"/>
          </a:p>
        </p:txBody>
      </p:sp>
      <p:sp>
        <p:nvSpPr>
          <p:cNvPr id="35" name="Text 32"/>
          <p:cNvSpPr txBox="1"/>
          <p:nvPr/>
        </p:nvSpPr>
        <p:spPr>
          <a:xfrm>
            <a:off x="2651760" y="3760013"/>
            <a:ext cx="6492240" cy="422928"/>
          </a:xfrm>
          <a:prstGeom prst="rect">
            <a:avLst/>
          </a:prstGeom>
          <a:noFill/>
          <a:ln/>
        </p:spPr>
        <p:txBody>
          <a:bodyPr wrap="square" lIns="0" tIns="0" rIns="0" bIns="0" rtlCol="0" anchor="ctr"/>
          <a:lstStyle/>
          <a:p>
            <a:pPr rtl="1" algn="ctr" indent="0" marL="0">
              <a:buNone/>
            </a:pPr>
            <a:r>
              <a:rPr lang="ar-SA" altLang="en-US" sz="1950" b="1" dirty="0">
                <a:solidFill>
                  <a:srgbClr val="D6336C"/>
                </a:solidFill>
                <a:latin typeface="Amiri" pitchFamily="34" charset="0"/>
                <a:ea typeface="Amiri" pitchFamily="34" charset="-122"/>
                <a:cs typeface="Amiri" pitchFamily="34" charset="-120"/>
              </a:rPr>
              <a:t>مِمَّا يُؤَدِّي إِلَى</a:t>
            </a:r>
            <a:pPr rtl="1" algn="ctr" indent="0" marL="0">
              <a:buNone/>
            </a:pPr>
            <a:r>
              <a:rPr lang="ar-SA" altLang="en-US" sz="1950" b="1" dirty="0">
                <a:solidFill>
                  <a:srgbClr val="1B3B6F"/>
                </a:solidFill>
                <a:latin typeface="Amiri" pitchFamily="34" charset="0"/>
                <a:ea typeface="Amiri" pitchFamily="34" charset="-122"/>
                <a:cs typeface="Amiri" pitchFamily="34" charset="-120"/>
              </a:rPr>
              <a:t> أَمْرَاضٍ تَنَفُّسِيَّةٍ.</a:t>
            </a:r>
            <a:endParaRPr lang="ar-SA" sz="1950" dirty="0"/>
          </a:p>
        </p:txBody>
      </p:sp>
      <p:sp>
        <p:nvSpPr>
          <p:cNvPr id="36" name="Text 33"/>
          <p:cNvSpPr txBox="1"/>
          <p:nvPr/>
        </p:nvSpPr>
        <p:spPr>
          <a:xfrm>
            <a:off x="2606040" y="4151010"/>
            <a:ext cx="658368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which leads to respiratory diseases.</a:t>
            </a:r>
            <a:endParaRPr lang="en-US" sz="950" dirty="0"/>
          </a:p>
        </p:txBody>
      </p:sp>
      <p:sp>
        <p:nvSpPr>
          <p:cNvPr id="37" name="Text 34"/>
          <p:cNvSpPr txBox="1"/>
          <p:nvPr/>
        </p:nvSpPr>
        <p:spPr>
          <a:xfrm>
            <a:off x="566928" y="3741725"/>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 · result</a:t>
            </a:r>
            <a:endParaRPr lang="en-US" sz="1100" dirty="0"/>
          </a:p>
        </p:txBody>
      </p:sp>
      <p:sp>
        <p:nvSpPr>
          <p:cNvPr id="38" name="Shape 35"/>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9" name="Text 36"/>
          <p:cNvSpPr txBox="1"/>
          <p:nvPr/>
        </p:nvSpPr>
        <p:spPr>
          <a:xfrm>
            <a:off x="9345168" y="4478731"/>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D4-L04</a:t>
            </a:r>
            <a:endParaRPr lang="en-US" sz="1100" dirty="0"/>
          </a:p>
        </p:txBody>
      </p:sp>
      <p:sp>
        <p:nvSpPr>
          <p:cNvPr id="40" name="Text 37"/>
          <p:cNvSpPr txBox="1"/>
          <p:nvPr/>
        </p:nvSpPr>
        <p:spPr>
          <a:xfrm>
            <a:off x="2651760" y="4497019"/>
            <a:ext cx="6492240" cy="422928"/>
          </a:xfrm>
          <a:prstGeom prst="rect">
            <a:avLst/>
          </a:prstGeom>
          <a:noFill/>
          <a:ln/>
        </p:spPr>
        <p:txBody>
          <a:bodyPr wrap="square" lIns="0" tIns="0" rIns="0" bIns="0" rtlCol="0" anchor="ctr"/>
          <a:lstStyle/>
          <a:p>
            <a:pPr rtl="1" algn="ctr" indent="0" marL="0">
              <a:buNone/>
            </a:pPr>
            <a:r>
              <a:rPr lang="ar-SA" altLang="en-US" sz="1950" b="1" dirty="0">
                <a:solidFill>
                  <a:srgbClr val="1D5FBF"/>
                </a:solidFill>
                <a:latin typeface="Amiri" pitchFamily="34" charset="0"/>
                <a:ea typeface="Amiri" pitchFamily="34" charset="-122"/>
                <a:cs typeface="Amiri" pitchFamily="34" charset="-120"/>
              </a:rPr>
              <a:t>يَجِبُ عَلَى</a:t>
            </a:r>
            <a:pPr rtl="1" algn="ctr" indent="0" marL="0">
              <a:buNone/>
            </a:pPr>
            <a:r>
              <a:rPr lang="ar-SA" altLang="en-US" sz="1950" b="1" dirty="0">
                <a:solidFill>
                  <a:srgbClr val="1B3B6F"/>
                </a:solidFill>
                <a:latin typeface="Amiri" pitchFamily="34" charset="0"/>
                <a:ea typeface="Amiri" pitchFamily="34" charset="-122"/>
                <a:cs typeface="Amiri" pitchFamily="34" charset="-120"/>
              </a:rPr>
              <a:t> الحُكُومَةِ </a:t>
            </a:r>
            <a:pPr rtl="1" algn="ctr" indent="0" marL="0">
              <a:buNone/>
            </a:pPr>
            <a:r>
              <a:rPr lang="ar-SA" altLang="en-US" sz="1950" b="1" dirty="0">
                <a:solidFill>
                  <a:srgbClr val="1D5FBF"/>
                </a:solidFill>
                <a:latin typeface="Amiri" pitchFamily="34" charset="0"/>
                <a:ea typeface="Amiri" pitchFamily="34" charset="-122"/>
                <a:cs typeface="Amiri" pitchFamily="34" charset="-120"/>
              </a:rPr>
              <a:t>أَنْ تُوَسِّعَ</a:t>
            </a:r>
            <a:pPr rtl="1" algn="ctr" indent="0" marL="0">
              <a:buNone/>
            </a:pPr>
            <a:r>
              <a:rPr lang="ar-SA" altLang="en-US" sz="1950" b="1" dirty="0">
                <a:solidFill>
                  <a:srgbClr val="1B3B6F"/>
                </a:solidFill>
                <a:latin typeface="Amiri" pitchFamily="34" charset="0"/>
                <a:ea typeface="Amiri" pitchFamily="34" charset="-122"/>
                <a:cs typeface="Amiri" pitchFamily="34" charset="-120"/>
              </a:rPr>
              <a:t> النَّقْلَ العَامَّ </a:t>
            </a:r>
            <a:pPr rtl="1" algn="ctr" indent="0" marL="0">
              <a:buNone/>
            </a:pPr>
            <a:r>
              <a:rPr lang="ar-SA" altLang="en-US" sz="1950" b="1" dirty="0">
                <a:solidFill>
                  <a:srgbClr val="1D5FBF"/>
                </a:solidFill>
                <a:latin typeface="Amiri" pitchFamily="34" charset="0"/>
                <a:ea typeface="Amiri" pitchFamily="34" charset="-122"/>
                <a:cs typeface="Amiri" pitchFamily="34" charset="-120"/>
              </a:rPr>
              <a:t>لِكَيْ تُقَلِّلَ</a:t>
            </a:r>
            <a:pPr rtl="1" algn="ctr" indent="0" marL="0">
              <a:buNone/>
            </a:pPr>
            <a:r>
              <a:rPr lang="ar-SA" altLang="en-US" sz="1950" b="1" dirty="0">
                <a:solidFill>
                  <a:srgbClr val="1B3B6F"/>
                </a:solidFill>
                <a:latin typeface="Amiri" pitchFamily="34" charset="0"/>
                <a:ea typeface="Amiri" pitchFamily="34" charset="-122"/>
                <a:cs typeface="Amiri" pitchFamily="34" charset="-120"/>
              </a:rPr>
              <a:t> الانْبِعَاثَاتِ.</a:t>
            </a:r>
            <a:endParaRPr lang="ar-SA" sz="1950" dirty="0"/>
          </a:p>
        </p:txBody>
      </p:sp>
      <p:sp>
        <p:nvSpPr>
          <p:cNvPr id="41" name="Text 38"/>
          <p:cNvSpPr txBox="1"/>
          <p:nvPr/>
        </p:nvSpPr>
        <p:spPr>
          <a:xfrm>
            <a:off x="2606040" y="4888017"/>
            <a:ext cx="658368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The government must expand public transport to reduce emissions.</a:t>
            </a:r>
            <a:endParaRPr lang="en-US" sz="950" dirty="0"/>
          </a:p>
        </p:txBody>
      </p:sp>
      <p:sp>
        <p:nvSpPr>
          <p:cNvPr id="42" name="Text 39"/>
          <p:cNvSpPr txBox="1"/>
          <p:nvPr/>
        </p:nvSpPr>
        <p:spPr>
          <a:xfrm>
            <a:off x="566928" y="4478731"/>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3 · solution + purpose</a:t>
            </a:r>
            <a:endParaRPr lang="en-US" sz="1100" dirty="0"/>
          </a:p>
        </p:txBody>
      </p:sp>
      <p:sp>
        <p:nvSpPr>
          <p:cNvPr id="43" name="Shape 40"/>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5" name="Shape 42"/>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6" name="Text 43"/>
          <p:cNvSpPr txBox="1"/>
          <p:nvPr/>
        </p:nvSpPr>
        <p:spPr>
          <a:xfrm>
            <a:off x="9345168" y="5215738"/>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D4-L06 · L09</a:t>
            </a:r>
            <a:endParaRPr lang="en-US" sz="1100" dirty="0"/>
          </a:p>
        </p:txBody>
      </p:sp>
      <p:sp>
        <p:nvSpPr>
          <p:cNvPr id="47" name="Text 44"/>
          <p:cNvSpPr txBox="1"/>
          <p:nvPr/>
        </p:nvSpPr>
        <p:spPr>
          <a:xfrm>
            <a:off x="2651760" y="5234026"/>
            <a:ext cx="649224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عَلَى الرَّغْمِ مِنْ أَنَّهَا مُكَلِّفَةٌ، فَإِنَّهَا مُفِيدَةٌ </a:t>
            </a:r>
            <a:pPr rtl="1" algn="ctr" indent="0" marL="0">
              <a:buNone/>
            </a:pPr>
            <a:r>
              <a:rPr lang="ar-SA" altLang="en-US" sz="1950" b="1" dirty="0">
                <a:solidFill>
                  <a:srgbClr val="1D5FBF"/>
                </a:solidFill>
                <a:latin typeface="Amiri" pitchFamily="34" charset="0"/>
                <a:ea typeface="Amiri" pitchFamily="34" charset="-122"/>
                <a:cs typeface="Amiri" pitchFamily="34" charset="-120"/>
              </a:rPr>
              <a:t>شَرِيطَةَ أَنْ</a:t>
            </a:r>
            <a:pPr rtl="1" algn="ctr" indent="0" marL="0">
              <a:buNone/>
            </a:pPr>
            <a:r>
              <a:rPr lang="ar-SA" altLang="en-US" sz="1950" b="1" dirty="0">
                <a:solidFill>
                  <a:srgbClr val="1B3B6F"/>
                </a:solidFill>
                <a:latin typeface="Amiri" pitchFamily="34" charset="0"/>
                <a:ea typeface="Amiri" pitchFamily="34" charset="-122"/>
                <a:cs typeface="Amiri" pitchFamily="34" charset="-120"/>
              </a:rPr>
              <a:t> تُطَبَّقَ بِمَسْؤُولِيَّةٍ.</a:t>
            </a:r>
            <a:endParaRPr lang="ar-SA" sz="1950" dirty="0"/>
          </a:p>
        </p:txBody>
      </p:sp>
      <p:sp>
        <p:nvSpPr>
          <p:cNvPr id="48" name="Text 45"/>
          <p:cNvSpPr txBox="1"/>
          <p:nvPr/>
        </p:nvSpPr>
        <p:spPr>
          <a:xfrm>
            <a:off x="2606040" y="5625023"/>
            <a:ext cx="658368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Although it is expensive, it is useful provided that it is applied responsibly.</a:t>
            </a:r>
            <a:endParaRPr lang="en-US" sz="950" dirty="0"/>
          </a:p>
        </p:txBody>
      </p:sp>
      <p:sp>
        <p:nvSpPr>
          <p:cNvPr id="49" name="Text 46"/>
          <p:cNvSpPr txBox="1"/>
          <p:nvPr/>
        </p:nvSpPr>
        <p:spPr>
          <a:xfrm>
            <a:off x="566928" y="5215738"/>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4 · judgement</a:t>
            </a:r>
            <a:endParaRPr lang="en-US" sz="1100" dirty="0"/>
          </a:p>
        </p:txBody>
      </p:sp>
      <p:sp>
        <p:nvSpPr>
          <p:cNvPr id="50" name="Text 4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Feminine plural non-human subjects: </a:t>
            </a:r>
            <a:pPr algn="l" indent="0" marL="0">
              <a:buNone/>
            </a:pPr>
            <a:r>
              <a:rPr lang="ar-SA" altLang="en-US" sz="1500" b="1" dirty="0">
                <a:solidFill>
                  <a:srgbClr val="1B3B6F"/>
                </a:solidFill>
                <a:latin typeface="Amiri" pitchFamily="34" charset="0"/>
                <a:ea typeface="Amiri" pitchFamily="34" charset="-122"/>
                <a:cs typeface="Amiri" pitchFamily="34" charset="-120"/>
              </a:rPr>
              <a:t>تَهُبُّ الرِّيَاحُ</a:t>
            </a:r>
            <a:pPr algn="l" indent="0" marL="0">
              <a:buNone/>
            </a:pPr>
            <a:r>
              <a:rPr lang="en-US" sz="1150" b="1" dirty="0">
                <a:solidFill>
                  <a:srgbClr val="1B3B6F"/>
                </a:solidFill>
                <a:latin typeface="Calibri" pitchFamily="34" charset="0"/>
                <a:ea typeface="Calibri" pitchFamily="34" charset="-122"/>
                <a:cs typeface="Calibri" pitchFamily="34" charset="-120"/>
              </a:rPr>
              <a:t> · </a:t>
            </a:r>
            <a:pPr algn="l" indent="0" marL="0">
              <a:buNone/>
            </a:pPr>
            <a:r>
              <a:rPr lang="ar-SA" altLang="en-US" sz="1500" b="1" dirty="0">
                <a:solidFill>
                  <a:srgbClr val="1B3B6F"/>
                </a:solidFill>
                <a:latin typeface="Amiri" pitchFamily="34" charset="0"/>
                <a:ea typeface="Amiri" pitchFamily="34" charset="-122"/>
                <a:cs typeface="Amiri" pitchFamily="34" charset="-120"/>
              </a:rPr>
              <a:t>تَشِحُّ المِيَاهُ</a:t>
            </a:r>
            <a:pPr algn="l" indent="0" marL="0">
              <a:buNone/>
            </a:pPr>
            <a:r>
              <a:rPr lang="en-US" sz="1150" b="1" dirty="0">
                <a:solidFill>
                  <a:srgbClr val="1B3B6F"/>
                </a:solidFill>
                <a:latin typeface="Calibri" pitchFamily="34" charset="0"/>
                <a:ea typeface="Calibri" pitchFamily="34" charset="-122"/>
                <a:cs typeface="Calibri" pitchFamily="34" charset="-120"/>
              </a:rPr>
              <a:t> · </a:t>
            </a:r>
            <a:pPr algn="l" indent="0" marL="0">
              <a:buNone/>
            </a:pPr>
            <a:r>
              <a:rPr lang="ar-SA" altLang="en-US" sz="1500" b="1" dirty="0">
                <a:solidFill>
                  <a:srgbClr val="1B3B6F"/>
                </a:solidFill>
                <a:latin typeface="Amiri" pitchFamily="34" charset="0"/>
                <a:ea typeface="Amiri" pitchFamily="34" charset="-122"/>
                <a:cs typeface="Amiri" pitchFamily="34" charset="-120"/>
              </a:rPr>
              <a:t>تُقْطَعُ الأَشْجَارُ</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45</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D4-L11 · Unit Review</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20" b="1" spc="150" kern="0" dirty="0">
                <a:solidFill>
                  <a:srgbClr val="1B3B6F"/>
                </a:solidFill>
                <a:latin typeface="Calibri" pitchFamily="34" charset="0"/>
                <a:ea typeface="Calibri" pitchFamily="34" charset="-122"/>
                <a:cs typeface="Calibri" pitchFamily="34" charset="-120"/>
              </a:rPr>
              <a:t>GRAMMAR FOCUS · PART 2 · THE THREE CLASSIC D4 SLIPS (WEBSITE MISTAKES) · ALL ROUTES</a:t>
            </a:r>
            <a:endParaRPr lang="en-US" sz="82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ea typeface="Cambria" pitchFamily="34" charset="-122"/>
                <a:cs typeface="Cambria" pitchFamily="34" charset="-120"/>
              </a:rPr>
              <a:t>Check these three before you hand in</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ثَلَاثَةُ أَخْطَاءٍ شَائِعَةٍ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D4-L11</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85166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8516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AN / LI-KAY + -A · CORE</a:t>
            </a:r>
            <a:endParaRPr lang="en-US" sz="850" dirty="0"/>
          </a:p>
        </p:txBody>
      </p:sp>
      <p:sp>
        <p:nvSpPr>
          <p:cNvPr id="18" name="Text 15"/>
          <p:cNvSpPr txBox="1"/>
          <p:nvPr/>
        </p:nvSpPr>
        <p:spPr>
          <a:xfrm>
            <a:off x="10130028" y="1874520"/>
            <a:ext cx="14645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أَنْ / لِكَيْ + مَنْصُوبٌ</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أَنْ تُوَسِّعَ … لِكَيْ تُقَلِّلَ</a:t>
            </a:r>
            <a:endParaRPr lang="ar-SA" sz="3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to expand … in order to reduce</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Both verbs end in -a.</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577340" cy="274320"/>
          </a:xfrm>
          <a:prstGeom prst="roundRect">
            <a:avLst>
              <a:gd name="adj" fmla="val 50000"/>
            </a:avLst>
          </a:prstGeom>
          <a:solidFill>
            <a:srgbClr val="C0386B"/>
          </a:solidFill>
          <a:ln w="12700">
            <a:solidFill>
              <a:srgbClr val="C0386B"/>
            </a:solidFill>
            <a:prstDash val="solid"/>
          </a:ln>
        </p:spPr>
      </p:sp>
      <p:sp>
        <p:nvSpPr>
          <p:cNvPr id="25" name="Text 22"/>
          <p:cNvSpPr txBox="1"/>
          <p:nvPr/>
        </p:nvSpPr>
        <p:spPr>
          <a:xfrm>
            <a:off x="4413504" y="1920240"/>
            <a:ext cx="15773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ANNA + -A · DEVELOP</a:t>
            </a:r>
            <a:endParaRPr lang="en-US" sz="850" dirty="0"/>
          </a:p>
        </p:txBody>
      </p:sp>
      <p:sp>
        <p:nvSpPr>
          <p:cNvPr id="26" name="Text 23"/>
          <p:cNvSpPr txBox="1"/>
          <p:nvPr/>
        </p:nvSpPr>
        <p:spPr>
          <a:xfrm>
            <a:off x="6036564" y="1874520"/>
            <a:ext cx="17388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يُشَارُ إِلَى أَنَّ</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2650" b="1" dirty="0">
                <a:solidFill>
                  <a:srgbClr val="1B3B6F"/>
                </a:solidFill>
                <a:latin typeface="Amiri" pitchFamily="34" charset="0"/>
                <a:ea typeface="Amiri" pitchFamily="34" charset="-122"/>
                <a:cs typeface="Amiri" pitchFamily="34" charset="-120"/>
              </a:rPr>
              <a:t>يُشَارُ إِلَى أَنَّ المَنَاخَ يَتَغَيَّرُ.</a:t>
            </a:r>
            <a:endParaRPr lang="ar-SA" sz="26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It is indicated that the climate is changing.</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Anna, then -a.</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85166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8516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REAL CONTRAST · STRETCH</a:t>
            </a:r>
            <a:endParaRPr lang="en-US" sz="850" dirty="0"/>
          </a:p>
        </p:txBody>
      </p:sp>
      <p:sp>
        <p:nvSpPr>
          <p:cNvPr id="34" name="Text 31"/>
          <p:cNvSpPr txBox="1"/>
          <p:nvPr/>
        </p:nvSpPr>
        <p:spPr>
          <a:xfrm>
            <a:off x="2491740" y="1874520"/>
            <a:ext cx="1464564" cy="365760"/>
          </a:xfrm>
          <a:prstGeom prst="rect">
            <a:avLst/>
          </a:prstGeom>
          <a:noFill/>
          <a:ln/>
        </p:spPr>
        <p:txBody>
          <a:bodyPr wrap="square" lIns="0" tIns="0" rIns="0" bIns="0" rtlCol="0" anchor="ctr"/>
          <a:lstStyle/>
          <a:p>
            <a:pPr rtl="1" algn="r" indent="0" marL="0">
              <a:buNone/>
            </a:pPr>
            <a:r>
              <a:rPr lang="ar-SA" altLang="en-US" sz="1350" b="1" dirty="0">
                <a:solidFill>
                  <a:srgbClr val="8A6D1E"/>
                </a:solidFill>
                <a:latin typeface="Amiri" pitchFamily="34" charset="0"/>
                <a:ea typeface="Amiri" pitchFamily="34" charset="-122"/>
                <a:cs typeface="Amiri" pitchFamily="34" charset="-120"/>
              </a:rPr>
              <a:t>عَلَى الرَّغْمِ مِنْ أَنَّ … فَإِنَّ</a:t>
            </a:r>
            <a:endParaRPr lang="ar-SA" sz="135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المَشْرُوعُ مُكَلِّفٌ، فَإِنَّهُ يُقَلِّلُ الهَدْرَ.</a:t>
            </a:r>
            <a:endParaRPr lang="ar-SA" sz="22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 costly, it reduces waste.</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Not “costly, so costly”.</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mistake: after li-kay the verb ends in -a.</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700" b="1" dirty="0">
                <a:solidFill>
                  <a:srgbClr val="1B3B6F"/>
                </a:solidFill>
                <a:latin typeface="Amiri" pitchFamily="34" charset="0"/>
                <a:ea typeface="Amiri" pitchFamily="34" charset="-122"/>
                <a:cs typeface="Amiri" pitchFamily="34" charset="-120"/>
              </a:rPr>
              <a:t>لِكَيْ تُقَلِّلَ الانْبِعَاثَاتِ</a:t>
            </a:r>
            <a:endParaRPr lang="ar-SA" sz="17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700" b="1" dirty="0">
                <a:solidFill>
                  <a:srgbClr val="B83227"/>
                </a:solidFill>
                <a:latin typeface="Amiri" pitchFamily="34" charset="0"/>
                <a:ea typeface="Amiri" pitchFamily="34" charset="-122"/>
                <a:cs typeface="Amiri" pitchFamily="34" charset="-120"/>
              </a:rPr>
              <a:t>لِكَيْ تُقَلِّلُ الانْبِعَاثَاتِ</a:t>
            </a:r>
            <a:endParaRPr lang="ar-SA" sz="17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45</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D4-L11 · Unit Review</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ea typeface="Cambria" pitchFamily="34" charset="-122"/>
                <a:cs typeface="Cambria" pitchFamily="34" charset="-120"/>
              </a:rPr>
              <a:t>D4 integrated grammar and range mastery</a:t>
            </a:r>
            <a:endParaRPr lang="en-US" sz="22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قَوَاعِدُ الوَحْدَةِ الرَّابِعَةِ مُتَكَامِلَةً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D4-L11</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Climate and weather accuracy</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formal climate phrase + correct weather agreement</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يَسُودُ مَنَاخٌ جَافٌّ فِي الدَّاخِلِ، وَتَهُبُّ الرِّيَاحُ بِقُوَّةٍ فِي الرَّبِيعِ.</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Problem, cause and passive</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passive problem + cause connector + result</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يُلَوَّثُ الهَوَاءُ بِسَبَبِ عَوَادِمِ السَّيَّارَاتِ، مِمَّا يُؤَدِّي إِلَى أَمْرَاضٍ تَنَفُّسِيَّةٍ.</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Solution and purpose</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responsible group + obligation + purpose</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يَجِبُ عَلَى الحُكُومَةِ أَنْ تُوَسِّعَ النَّقْلَ العَامَّ لِكَيْ تُقَلِّلَ الانْبِعَاثَاتِ.</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Qualified academic judgement</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concession + judgement + condition</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عَلَى الرَّغْمِ مِنْ أَنَّ التِّقْنِيَّةَ مُكَلِّفَةٌ، فَإِنَّهَا مُفِيدَةٌ شَرِيطَةَ أَنْ تُطَبَّقَ بِمَسْؤُولِيَّةٍ.</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45</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D4-L11 · Unit Review</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D4-L11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weather agreement.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يَهُبُّ الرِّيَاحُ وَيَسْقُطُ الثُّلُوجُ.</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تَهُبُّ الرِّيَاحُ وَتَسْقُطُ المَنَاخُ.</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تَهُبُّ الرِّيَاحُ وَتَسْقُطُ الثُّلُوجُ.</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true environmental passive.</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يُلَوَّثُ الهَوَاءُ بِعَوَادِمِ السَّيَّارَاتِ.</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يَنْبَعِثُ الهَوَاءُ السَّيَّارَاتِ.</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يَلَوِّثُ الهَوَاءُ عَوَادِمَ السَّيَّارَاتِ.</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coherent cause–effect chain.</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بِسَبَبِ قَطْعِ الأَشْجَارِ، تَزْدَادُ الغَابَاتُ.</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بِسَبَبِ قَطْعِ الأَشْجَارِ، تَفْقِدُ الحَيَوَانَاتُ مَوَائِلَهَا.</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بِسَبَبِ قَطْعِ الأَشْجَارِ، تَنْخَفِضُ الحَاجَةُ إِلَى الحِمَايَةِ.</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obligation and purpose.</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34" charset="0"/>
                <a:ea typeface="Amiri" pitchFamily="34" charset="-122"/>
                <a:cs typeface="Amiri" pitchFamily="34" charset="-120"/>
              </a:rPr>
              <a:t>يَجِبُ عَلَى المَدِينَةِ أَنْ تُوَسِّعَ النَّقْلَ العَامَّ لِكَيْ تُقَلِّلَ التَّلَوُّثَ.</a:t>
            </a:r>
            <a:endParaRPr lang="ar-SA" sz="18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34" charset="0"/>
                <a:ea typeface="Amiri" pitchFamily="34" charset="-122"/>
                <a:cs typeface="Amiri" pitchFamily="34" charset="-120"/>
              </a:rPr>
              <a:t>يَجِبُ المَدِينَةُ تُوَسِّعُ النَّقْلَ لِكَيْ تُقَلِّلُ التَّلَوُّثَ.</a:t>
            </a:r>
            <a:endParaRPr lang="ar-SA" sz="18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34" charset="0"/>
                <a:ea typeface="Amiri" pitchFamily="34" charset="-122"/>
                <a:cs typeface="Amiri" pitchFamily="34" charset="-120"/>
              </a:rPr>
              <a:t>يَجِبُ عَلَى المَدِينَةِ أَنْ تُوَسِّعَ النَّقْلَ لِكَيْ تَزِيدَ التَّلَوُّثَ.</a:t>
            </a:r>
            <a:endParaRPr lang="ar-SA" sz="18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45</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D4-L11 · Unit Review</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D4-L11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weather agreement.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يَهُبُّ الرِّيَاحُ وَيَسْقُطُ الثُّلُوجُ.</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تَهُبُّ الرِّيَاحُ وَتَسْقُطُ المَنَاخُ.</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تَهُبُّ الرِّيَاحُ وَتَسْقُطُ الثُّلُوجُ.</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الرياح</a:t>
            </a:r>
            <a:pPr algn="l" indent="0" marL="0">
              <a:buNone/>
            </a:pPr>
            <a:r>
              <a:rPr lang="en-US" sz="1050" i="1" dirty="0">
                <a:solidFill>
                  <a:srgbClr val="8A6D1E"/>
                </a:solidFill>
                <a:latin typeface="Calibri" pitchFamily="34" charset="0"/>
                <a:ea typeface="Calibri" pitchFamily="34" charset="-122"/>
                <a:cs typeface="Calibri" pitchFamily="34" charset="-120"/>
              </a:rPr>
              <a:t> and </a:t>
            </a:r>
            <a:pPr algn="l" indent="0" marL="0">
              <a:buNone/>
            </a:pPr>
            <a:r>
              <a:rPr lang="ar-SA" altLang="en-US" sz="1350" dirty="0">
                <a:solidFill>
                  <a:srgbClr val="8A6D1E"/>
                </a:solidFill>
                <a:latin typeface="Amiri" pitchFamily="34" charset="0"/>
                <a:ea typeface="Amiri" pitchFamily="34" charset="-122"/>
                <a:cs typeface="Amiri" pitchFamily="34" charset="-120"/>
              </a:rPr>
              <a:t>الثلوج</a:t>
            </a:r>
            <a:pPr algn="l" indent="0" marL="0">
              <a:buNone/>
            </a:pPr>
            <a:r>
              <a:rPr lang="en-US" sz="1050" i="1" dirty="0">
                <a:solidFill>
                  <a:srgbClr val="8A6D1E"/>
                </a:solidFill>
                <a:latin typeface="Calibri" pitchFamily="34" charset="0"/>
                <a:ea typeface="Calibri" pitchFamily="34" charset="-122"/>
                <a:cs typeface="Calibri" pitchFamily="34" charset="-120"/>
              </a:rPr>
              <a:t> take feminine agreement.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true environmental passive.</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يُلَوَّثُ الهَوَاءُ بِعَوَادِمِ السَّيَّارَاتِ.</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يَنْبَعِثُ الهَوَاءُ السَّيَّارَاتِ.</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يَلَوِّثُ الهَوَاءُ عَوَادِمَ السَّيَّارَاتِ.</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air is the affected subject in </a:t>
            </a:r>
            <a:pPr algn="l" indent="0" marL="0">
              <a:buNone/>
            </a:pPr>
            <a:r>
              <a:rPr lang="ar-SA" altLang="en-US" sz="1350" dirty="0">
                <a:solidFill>
                  <a:srgbClr val="8A6D1E"/>
                </a:solidFill>
                <a:latin typeface="Amiri" pitchFamily="34" charset="0"/>
                <a:ea typeface="Amiri" pitchFamily="34" charset="-122"/>
                <a:cs typeface="Amiri" pitchFamily="34" charset="-120"/>
              </a:rPr>
              <a:t>يُلوَّث الهواء</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coherent cause–effect chain.</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بِسَبَبِ قَطْعِ الأَشْجَارِ، تَزْدَادُ الغَابَاتُ.</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بِسَبَبِ قَطْعِ الأَشْجَارِ، تَفْقِدُ الحَيَوَانَاتُ مَوَائِلَهَا.</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بِسَبَبِ قَطْعِ الأَشْجَارِ، تَنْخَفِضُ الحَاجَةُ إِلَى الحِمَايَةِ.</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Deforestation causes habitat loss.</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obligation and purpose.</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يَجِبُ عَلَى المَدِينَةِ أَنْ تُوَسِّعَ النَّقْلَ العَامَّ لِكَيْ تُقَلِّلَ التَّلَوُّثَ.</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يَجِبُ المَدِينَةُ تُوَسِّعُ النَّقْلَ لِكَيْ تُقَلِّلُ التَّلَوُّثَ.</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يَجِبُ عَلَى المَدِينَةِ أَنْ تُوَسِّعَ النَّقْلَ لِكَيْ تَزِيدَ التَّلَوُّثَ.</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first uses both subjunctive forms accurately.</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45</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D4-L11 · Unit Review</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ea typeface="Cambria" pitchFamily="34" charset="-122"/>
                <a:cs typeface="Cambria" pitchFamily="34" charset="-120"/>
              </a:rPr>
              <a:t>Watch me build the D4 chain — and recover from a slip</a:t>
            </a:r>
            <a:endParaRPr lang="en-US" sz="1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D4-L11</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Climate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0E7C86"/>
                </a:solidFill>
                <a:latin typeface="Amiri" pitchFamily="34" charset="0"/>
                <a:ea typeface="Amiri" pitchFamily="34" charset="-122"/>
                <a:cs typeface="Amiri" pitchFamily="34" charset="-120"/>
              </a:rPr>
              <a:t>يَسُودُ</a:t>
            </a:r>
            <a:pPr rtl="1" algn="ctr" indent="0" marL="0">
              <a:buNone/>
            </a:pPr>
            <a:r>
              <a:rPr lang="ar-SA" altLang="en-US" sz="2800" b="1" dirty="0">
                <a:solidFill>
                  <a:srgbClr val="1B3B6F"/>
                </a:solidFill>
                <a:latin typeface="Amiri" pitchFamily="34" charset="0"/>
                <a:ea typeface="Amiri" pitchFamily="34" charset="-122"/>
                <a:cs typeface="Amiri" pitchFamily="34" charset="-120"/>
              </a:rPr>
              <a:t> مَنَاخٌ جَافٌّ</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Formal climate verb.</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Problem</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D6336C"/>
                </a:solidFill>
                <a:latin typeface="Amiri" pitchFamily="34" charset="0"/>
                <a:ea typeface="Amiri" pitchFamily="34" charset="-122"/>
                <a:cs typeface="Amiri" pitchFamily="34" charset="-120"/>
              </a:rPr>
              <a:t>تَشِحُّ</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المِيَاهُ </a:t>
            </a:r>
            <a:pPr rtl="1" algn="ctr" indent="0" marL="0">
              <a:lnSpc>
                <a:spcPct val="120000"/>
              </a:lnSpc>
              <a:buNone/>
            </a:pPr>
            <a:r>
              <a:rPr lang="ar-SA" altLang="en-US" sz="1750" b="1" dirty="0">
                <a:solidFill>
                  <a:srgbClr val="D6336C"/>
                </a:solidFill>
                <a:latin typeface="Amiri" pitchFamily="34" charset="0"/>
                <a:ea typeface="Amiri" pitchFamily="34" charset="-122"/>
                <a:cs typeface="Amiri" pitchFamily="34" charset="-120"/>
              </a:rPr>
              <a:t>نَتِيجَةً لِقِلَّةِ</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الأَمْطَارِ</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Cause → result.</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Solution</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50" b="1" dirty="0">
                <a:solidFill>
                  <a:srgbClr val="1D5FBF"/>
                </a:solidFill>
                <a:latin typeface="Amiri" pitchFamily="34" charset="0"/>
                <a:ea typeface="Amiri" pitchFamily="34" charset="-122"/>
                <a:cs typeface="Amiri" pitchFamily="34" charset="-120"/>
              </a:rPr>
              <a:t>يَجِبُ عَلَى</a:t>
            </a:r>
            <a:pPr rtl="1" algn="ctr" indent="0" marL="0">
              <a:lnSpc>
                <a:spcPct val="120000"/>
              </a:lnSpc>
              <a:buNone/>
            </a:pPr>
            <a:r>
              <a:rPr lang="ar-SA" altLang="en-US" sz="1850" b="1" dirty="0">
                <a:solidFill>
                  <a:srgbClr val="1B3B6F"/>
                </a:solidFill>
                <a:latin typeface="Amiri" pitchFamily="34" charset="0"/>
                <a:ea typeface="Amiri" pitchFamily="34" charset="-122"/>
                <a:cs typeface="Amiri" pitchFamily="34" charset="-120"/>
              </a:rPr>
              <a:t> الحُكُومَاتِ </a:t>
            </a:r>
            <a:pPr rtl="1" algn="ctr" indent="0" marL="0">
              <a:lnSpc>
                <a:spcPct val="120000"/>
              </a:lnSpc>
              <a:buNone/>
            </a:pPr>
            <a:r>
              <a:rPr lang="ar-SA" altLang="en-US" sz="1850" b="1" dirty="0">
                <a:solidFill>
                  <a:srgbClr val="1D5FBF"/>
                </a:solidFill>
                <a:latin typeface="Amiri" pitchFamily="34" charset="0"/>
                <a:ea typeface="Amiri" pitchFamily="34" charset="-122"/>
                <a:cs typeface="Amiri" pitchFamily="34" charset="-120"/>
              </a:rPr>
              <a:t>أَنْ تَسْتَثْمِرَ</a:t>
            </a:r>
            <a:endParaRPr lang="ar-SA" sz="18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Who must act.</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Recover</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00" b="1" dirty="0">
                <a:solidFill>
                  <a:srgbClr val="1B3B6F"/>
                </a:solidFill>
                <a:latin typeface="Amiri" pitchFamily="34" charset="0"/>
                <a:ea typeface="Amiri" pitchFamily="34" charset="-122"/>
                <a:cs typeface="Amiri" pitchFamily="34" charset="-120"/>
              </a:rPr>
              <a:t>لِأُصَحِّحْ ذٰلِكَ: لِكَيْ تَحْمِيَ المَوَارِدَ</a:t>
            </a:r>
            <a:endParaRPr lang="ar-SA" sz="1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Fix it aloud.</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CLIMATE</a:t>
            </a:r>
            <a:endParaRPr lang="en-US" sz="800" dirty="0"/>
          </a:p>
        </p:txBody>
      </p:sp>
      <p:sp>
        <p:nvSpPr>
          <p:cNvPr id="47" name="Shape 43"/>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PROBLEM</a:t>
            </a:r>
            <a:endParaRPr lang="en-US" sz="800" dirty="0"/>
          </a:p>
        </p:txBody>
      </p:sp>
      <p:sp>
        <p:nvSpPr>
          <p:cNvPr id="49" name="Shape 45"/>
          <p:cNvSpPr/>
          <p:nvPr/>
        </p:nvSpPr>
        <p:spPr>
          <a:xfrm>
            <a:off x="10515600" y="4736592"/>
            <a:ext cx="914400" cy="237744"/>
          </a:xfrm>
          <a:prstGeom prst="roundRect">
            <a:avLst>
              <a:gd name="adj" fmla="val 50000"/>
            </a:avLst>
          </a:prstGeom>
          <a:solidFill>
            <a:srgbClr val="1D5FBF"/>
          </a:solidFill>
          <a:ln w="12700">
            <a:solidFill>
              <a:srgbClr val="1D5FBF"/>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SOLUTION</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يَسُودُ</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مَنَاخٌ جَافٌّ فِي مَنَاطِقَ كَثِيرَةٍ، وَ</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تَشِحُّ</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المِيَاهُ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نَتِيجَةً لِقِلَّةِ</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الأَمْطَارِ وَزِيَادَةِ الاسْتِهْلَاكِ. لِذٰلِكَ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يَجِبُ عَلَى</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الحُكُومَاتِ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أَنْ تَسْتَثْمِرَ</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فِي إِعَادَةِ اسْتِخْدَامِ المِيَاهِ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لِكَيْ تَحْمِيَ</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المَوَارِدَ.</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A dry climate prevails in many regions, and water is scarce as a result of low rainfall and higher consumption. Therefore governments must invest in water reuse in order to protect resources.</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45</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D4-L11 · Unit Review</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D4-L11</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lnSpc>
                <a:spcPct val="120000"/>
              </a:lnSpc>
              <a:buNone/>
            </a:pPr>
            <a:r>
              <a:rPr lang="ar-SA" altLang="en-US" sz="2600" b="1" dirty="0">
                <a:solidFill>
                  <a:srgbClr val="1B3B6F"/>
                </a:solidFill>
                <a:latin typeface="Amiri" pitchFamily="34" charset="0"/>
                <a:ea typeface="Amiri" pitchFamily="34" charset="-122"/>
                <a:cs typeface="Amiri" pitchFamily="34" charset="-120"/>
              </a:rPr>
              <a:t>يَسُودُ مَنَاخٌ جَافٌّ فِي الدَّاخِلِ، وَتَهُبُّ الرِّيَاحُ بِقُوَّةٍ فِي الرَّبِيعِ.</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A dry climate prevails inland, and winds blow strongly in spring.</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Keep climate description and weather events distinct.</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lnSpc>
                <a:spcPct val="120000"/>
              </a:lnSpc>
              <a:buNone/>
            </a:pPr>
            <a:r>
              <a:rPr lang="ar-SA" altLang="en-US" sz="2600" b="1" dirty="0">
                <a:solidFill>
                  <a:srgbClr val="1B3B6F"/>
                </a:solidFill>
                <a:latin typeface="Amiri" pitchFamily="34" charset="0"/>
                <a:ea typeface="Amiri" pitchFamily="34" charset="-122"/>
                <a:cs typeface="Amiri" pitchFamily="34" charset="-120"/>
              </a:rPr>
              <a:t>يُلَوَّثُ الهَوَاءُ بِسَبَبِ عَوَادِمِ السَّيَّارَاتِ، مِمَّا يُؤَدِّي إِلَى أَمْرَاضٍ تَنَفُّسِيَّةٍ.</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air is polluted because of car exhaust, which leads to respiratory diseases.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Use a true passive where the affected thing is foregrounded.</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lnSpc>
                <a:spcPct val="120000"/>
              </a:lnSpc>
              <a:buNone/>
            </a:pPr>
            <a:r>
              <a:rPr lang="ar-SA" altLang="en-US" sz="2600" b="1" dirty="0">
                <a:solidFill>
                  <a:srgbClr val="1B3B6F"/>
                </a:solidFill>
                <a:latin typeface="Amiri" pitchFamily="34" charset="0"/>
                <a:ea typeface="Amiri" pitchFamily="34" charset="-122"/>
                <a:cs typeface="Amiri" pitchFamily="34" charset="-120"/>
              </a:rPr>
              <a:t>يَجِبُ عَلَى الحُكُومَةِ أَنْ تُوَسِّعَ النَّقْلَ العَامَّ لِكَيْ تُقَلِّلَ الانْبِعَاثَاتِ.</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government must expand public transport in order to reduce emissions.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State who must act and why.</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45</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D4-L11 · Unit Review</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D4-L11</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النِّطَاقُ اللُّغَوِيُّ</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التَّكَامُلُ اللُّغَوِيُّ</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الدِّقَّةُ تَحْتَ الضَّغْطِ</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يَسُودُ / يَتَّسِمُ بِـ</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يَسْقُطُ / تَسْقُطُ / تَهُبُّ</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يُلَوَّثُ / تُقْطَعُ</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أَقْصِدُ أَنَّ</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بِعِبَارَةٍ أُخْرَى</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لِأُصَحِّحْ ذٰلِكَ</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Range and performance</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D4 grammar bank</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Speaking and self-correction</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45</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D4-L11 · Unit Review</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D4-L11</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Range and performance</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النِّطَاقُ اللُّغَوِيُّ</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التَّكَامُلُ اللُّغَوِيُّ</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الدِّقَّةُ تَحْتَ الضَّغْطِ</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D4 grammar bank</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يَسُودُ / يَتَّسِمُ بِـ</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يَسْقُطُ / تَسْقُطُ / تَهُبُّ</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يُلَوَّثُ / تُقْطَعُ</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Speaking and self-correction</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أَقْصِدُ أَنَّ</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بِعِبَارَةٍ أُخْرَى</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لِأُصَحِّحْ ذٰلِكَ</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45</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D4-L11 · Unit Review</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5,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D4-L11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distinguishes depletion from scarcity accurately?</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يَنْضَبُ المِيَاهُ، وَتَشِحُّ النِّفْطُ.</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تَنْضَبُ النِّفْطُ، وَيَشِحُّ المِيَاهُ.</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يَنْضَبُ النِّفْطُ، وَتَشِحُّ المِيَاهُ.</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formal reporting frame.</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يُشَارِكُ إِلَى المَنَاخِ أَنَّ يَتَغَيَّرُ.</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يُشَارُ إِلَى أَنَّ المَنَاخَ يَتَغَيَّرُ.</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يُشِيرُ أَنَّ إِلَى المَنَاخِ.</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answer is genuinely qualified?</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أُؤَيِّدُ المَشْرُوعَ دَائِمًا لِأَنَّهُ مَشْرُوعٌ.</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أُؤَيِّدُ المَشْرُوعَ إِلَى حَدٍّ مَا، شَرِيطَةَ أَنْ تُحْمَى الخُصُوصِيَّةُ.</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أُؤَيِّدُ الخُصُوصِيَّةَ مِنَ المَشْرُوعِ.</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self-correction phrase helps a speaker recover accurately?</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يَنْضَبُ ذٰلِكَ</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بِسَبَبِ ذٰلِكَ</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لِأُصَحِّحْ ذٰلِكَ</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45</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D4-L11 · Unit Review</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D4-L11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distinguishes depletion from scarcity accurately?</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يَنْضَبُ المِيَاهُ، وَتَشِحُّ النِّفْطُ.</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تَنْضَبُ النِّفْطُ، وَيَشِحُّ المِيَاهُ.</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يَنْضَبُ النِّفْطُ، وَتَشِحُّ المِيَاهُ.</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Oil is masculine; water is treated as feminine.</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formal reporting frame.</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يُشَارِكُ إِلَى المَنَاخِ أَنَّ يَتَغَيَّرُ.</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يُشَارُ إِلَى أَنَّ المَنَاخَ يَتَغَيَّرُ.</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يُشِيرُ أَنَّ إِلَى المَنَاخِ.</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يشار إلى أنَّ</a:t>
            </a:r>
            <a:pPr algn="l" indent="0" marL="0">
              <a:buNone/>
            </a:pPr>
            <a:r>
              <a:rPr lang="en-US" sz="1050" i="1" dirty="0">
                <a:solidFill>
                  <a:srgbClr val="8A6D1E"/>
                </a:solidFill>
                <a:latin typeface="Calibri" pitchFamily="34" charset="0"/>
                <a:ea typeface="Calibri" pitchFamily="34" charset="-122"/>
                <a:cs typeface="Calibri" pitchFamily="34" charset="-120"/>
              </a:rPr>
              <a:t> is the frame.</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answer is genuinely qualified?</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أُؤَيِّدُ المَشْرُوعَ دَائِمًا لِأَنَّهُ مَشْرُوعٌ.</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أُؤَيِّدُ المَشْرُوعَ إِلَى حَدٍّ مَا، شَرِيطَةَ أَنْ تُحْمَى الخُصُوصِيَّةُ.</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أُؤَيِّدُ الخُصُوصِيَّةَ مِنَ المَشْرُوعِ.</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It states degree and condition.</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self-correction phrase helps a speaker recover accurately?</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يَنْضَبُ ذٰلِكَ</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بِسَبَبِ ذٰلِكَ</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لِأُصَحِّحْ ذٰلِكَ</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لأصحح ذلك</a:t>
            </a:r>
            <a:pPr algn="l" indent="0" marL="0">
              <a:buNone/>
            </a:pPr>
            <a:r>
              <a:rPr lang="en-US" sz="1050" i="1" dirty="0">
                <a:solidFill>
                  <a:srgbClr val="8A6D1E"/>
                </a:solidFill>
                <a:latin typeface="Calibri" pitchFamily="34" charset="0"/>
                <a:ea typeface="Calibri" pitchFamily="34" charset="-122"/>
                <a:cs typeface="Calibri" pitchFamily="34" charset="-120"/>
              </a:rPr>
              <a:t> signals correction.</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45</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D4-L11 · Unit Review</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D4-L11</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2750" b="1" dirty="0">
                <a:solidFill>
                  <a:srgbClr val="B83227"/>
                </a:solidFill>
                <a:latin typeface="Amiri" pitchFamily="34" charset="0"/>
                <a:ea typeface="Amiri" pitchFamily="34" charset="-122"/>
                <a:cs typeface="Amiri" pitchFamily="34" charset="-120"/>
              </a:rPr>
              <a:t>يَجِبُ عَلَى الحُكُومَةِ أَنْ تُوَسِّعُ النَّقْلَ لِكَيْ تُقَلِّلُ الانْبِعَاثَاتِ.</a:t>
            </a:r>
            <a:endParaRPr lang="ar-SA" sz="275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an / li-kay: which ending?</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يُشَارُ إِلَى أَنْ المَنَاخُ يَتَغَيَّرُ.</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anna or an?</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عَلَى الرَّغْمِ مِنْ أَنَّ المَشْرُوعَ مُكَلِّفٌ، فَهُوَ مُكَلِّفٌ.</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Is it a real contrast?</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45</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D4-L11 · Unit Review</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D4-L11</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34" charset="0"/>
                <a:ea typeface="Amiri" pitchFamily="34" charset="-122"/>
                <a:cs typeface="Amiri" pitchFamily="34" charset="-120"/>
              </a:rPr>
              <a:t>يَجِبُ عَلَى الحُكُومَةِ أَنْ تُوَسِّعُ النَّقْلَ لِكَيْ تُقَلِّلُ الانْبِعَاثَاتِ.</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lnSpc>
                <a:spcPct val="120000"/>
              </a:lnSpc>
              <a:buNone/>
            </a:pPr>
            <a:r>
              <a:rPr lang="ar-SA" altLang="en-US" sz="2100" b="1" dirty="0">
                <a:solidFill>
                  <a:srgbClr val="1E6B52"/>
                </a:solidFill>
                <a:latin typeface="Amiri" pitchFamily="34" charset="0"/>
                <a:ea typeface="Amiri" pitchFamily="34" charset="-122"/>
                <a:cs typeface="Amiri" pitchFamily="34" charset="-120"/>
              </a:rPr>
              <a:t>يَجِبُ عَلَى الحُكُومَةِ أَنْ تُوَسِّعَ النَّقْلَ لِكَيْ تُقَلِّلَ الانْبِعَاثَاتِ.</a:t>
            </a:r>
            <a:endParaRPr lang="ar-SA" sz="21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Both </a:t>
            </a:r>
            <a:pPr algn="l" indent="0" marL="0">
              <a:buNone/>
            </a:pPr>
            <a:r>
              <a:rPr lang="ar-SA" altLang="en-US" sz="1500" b="1" dirty="0">
                <a:solidFill>
                  <a:srgbClr val="1B3B6F"/>
                </a:solidFill>
                <a:latin typeface="Amiri" pitchFamily="34" charset="0"/>
                <a:ea typeface="Amiri" pitchFamily="34" charset="-122"/>
                <a:cs typeface="Amiri" pitchFamily="34" charset="-120"/>
              </a:rPr>
              <a:t>توسّعَ</a:t>
            </a:r>
            <a:pPr algn="l" indent="0" marL="0">
              <a:buNone/>
            </a:pPr>
            <a:r>
              <a:rPr lang="en-US" sz="1150" b="1" dirty="0">
                <a:solidFill>
                  <a:srgbClr val="1B3B6F"/>
                </a:solidFill>
                <a:latin typeface="Calibri" pitchFamily="34" charset="0"/>
                <a:ea typeface="Calibri" pitchFamily="34" charset="-122"/>
                <a:cs typeface="Calibri" pitchFamily="34" charset="-120"/>
              </a:rPr>
              <a:t> and </a:t>
            </a:r>
            <a:pPr algn="l" indent="0" marL="0">
              <a:buNone/>
            </a:pPr>
            <a:r>
              <a:rPr lang="ar-SA" altLang="en-US" sz="1500" b="1" dirty="0">
                <a:solidFill>
                  <a:srgbClr val="1B3B6F"/>
                </a:solidFill>
                <a:latin typeface="Amiri" pitchFamily="34" charset="0"/>
                <a:ea typeface="Amiri" pitchFamily="34" charset="-122"/>
                <a:cs typeface="Amiri" pitchFamily="34" charset="-120"/>
              </a:rPr>
              <a:t>تقلّلَ</a:t>
            </a:r>
            <a:pPr algn="l" indent="0" marL="0">
              <a:buNone/>
            </a:pPr>
            <a:r>
              <a:rPr lang="en-US" sz="1150" b="1" dirty="0">
                <a:solidFill>
                  <a:srgbClr val="1B3B6F"/>
                </a:solidFill>
                <a:latin typeface="Calibri" pitchFamily="34" charset="0"/>
                <a:ea typeface="Calibri" pitchFamily="34" charset="-122"/>
                <a:cs typeface="Calibri" pitchFamily="34" charset="-120"/>
              </a:rPr>
              <a:t> are subjunctive after </a:t>
            </a:r>
            <a:pPr algn="l" indent="0" marL="0">
              <a:buNone/>
            </a:pPr>
            <a:r>
              <a:rPr lang="ar-SA" altLang="en-US" sz="1500" b="1" dirty="0">
                <a:solidFill>
                  <a:srgbClr val="1B3B6F"/>
                </a:solidFill>
                <a:latin typeface="Amiri" pitchFamily="34" charset="0"/>
                <a:ea typeface="Amiri" pitchFamily="34" charset="-122"/>
                <a:cs typeface="Amiri" pitchFamily="34" charset="-120"/>
              </a:rPr>
              <a:t>أن</a:t>
            </a:r>
            <a:pPr algn="l" indent="0" marL="0">
              <a:buNone/>
            </a:pPr>
            <a:r>
              <a:rPr lang="en-US" sz="1150" b="1" dirty="0">
                <a:solidFill>
                  <a:srgbClr val="1B3B6F"/>
                </a:solidFill>
                <a:latin typeface="Calibri" pitchFamily="34" charset="0"/>
                <a:ea typeface="Calibri" pitchFamily="34" charset="-122"/>
                <a:cs typeface="Calibri" pitchFamily="34" charset="-120"/>
              </a:rPr>
              <a:t> and </a:t>
            </a:r>
            <a:pPr algn="l" indent="0" marL="0">
              <a:buNone/>
            </a:pPr>
            <a:r>
              <a:rPr lang="ar-SA" altLang="en-US" sz="1500" b="1" dirty="0">
                <a:solidFill>
                  <a:srgbClr val="1B3B6F"/>
                </a:solidFill>
                <a:latin typeface="Amiri" pitchFamily="34" charset="0"/>
                <a:ea typeface="Amiri" pitchFamily="34" charset="-122"/>
                <a:cs typeface="Amiri" pitchFamily="34" charset="-120"/>
              </a:rPr>
              <a:t>لكي</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يُشَارُ إِلَى أَنْ المَنَاخُ يَتَغَيَّرُ.</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يُشَارُ إِلَى أَنَّ المَنَاخَ يَتَغَيَّرُ.</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Impersonal reporting uses </a:t>
            </a:r>
            <a:pPr algn="l" indent="0" marL="0">
              <a:buNone/>
            </a:pPr>
            <a:r>
              <a:rPr lang="ar-SA" altLang="en-US" sz="1500" b="1" dirty="0">
                <a:solidFill>
                  <a:srgbClr val="1B3B6F"/>
                </a:solidFill>
                <a:latin typeface="Amiri" pitchFamily="34" charset="0"/>
                <a:ea typeface="Amiri" pitchFamily="34" charset="-122"/>
                <a:cs typeface="Amiri" pitchFamily="34" charset="-120"/>
              </a:rPr>
              <a:t>أنَّ</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34" charset="0"/>
                <a:ea typeface="Amiri" pitchFamily="34" charset="-122"/>
                <a:cs typeface="Amiri" pitchFamily="34" charset="-120"/>
              </a:rPr>
              <a:t>عَلَى الرَّغْمِ مِنْ أَنَّ المَشْرُوعَ مُكَلِّفٌ، فَهُوَ مُكَلِّفٌ.</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lnSpc>
                <a:spcPct val="120000"/>
              </a:lnSpc>
              <a:buNone/>
            </a:pPr>
            <a:r>
              <a:rPr lang="ar-SA" altLang="en-US" sz="2100" b="1" dirty="0">
                <a:solidFill>
                  <a:srgbClr val="1E6B52"/>
                </a:solidFill>
                <a:latin typeface="Amiri" pitchFamily="34" charset="0"/>
                <a:ea typeface="Amiri" pitchFamily="34" charset="-122"/>
                <a:cs typeface="Amiri" pitchFamily="34" charset="-120"/>
              </a:rPr>
              <a:t>عَلَى الرَّغْمِ مِنْ أَنَّ المَشْرُوعَ مُكَلِّفٌ، فَإِنَّهُ يُقَلِّلُ الهَدْرَ عَلَى المَدَى البَعِيدِ.</a:t>
            </a:r>
            <a:endParaRPr lang="ar-SA" sz="21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 concession must be followed by a genuine contrast.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45</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D4-L11 · Unit Review</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TEXT 1 OF 2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Conversation 1: Maryam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project does Maryam describe?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Expanding public transport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Building a shopping centre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Closing all schools</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benefit does she mention?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Using more fossil fuel</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Increasing waste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Reducing emissions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reservation does she add?</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 environmental benefit</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 buses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High initial cost</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Is Maryam for or against the project overall?</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for it, with a reservation</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completely against it</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does not say</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69" name="Text 66"/>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70" name="Text 67"/>
          <p:cNvSpPr txBox="1"/>
          <p:nvPr/>
        </p:nvSpPr>
        <p:spPr>
          <a:xfrm>
            <a:off x="4477512"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Label first: project? benefit? problem?</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لٰكِنَّ</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the reservation follows.</a:t>
            </a:r>
            <a:endParaRPr lang="en-US" sz="125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45</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D4-L11 · Unit Review</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D4-L11</a:t>
            </a:r>
            <a:endParaRPr lang="en-US" sz="850" dirty="0"/>
          </a:p>
        </p:txBody>
      </p:sp>
      <p:sp>
        <p:nvSpPr>
          <p:cNvPr id="15" name="Shape 12"/>
          <p:cNvSpPr/>
          <p:nvPr/>
        </p:nvSpPr>
        <p:spPr>
          <a:xfrm>
            <a:off x="457200" y="1810512"/>
            <a:ext cx="11274552" cy="1450848"/>
          </a:xfrm>
          <a:prstGeom prst="roundRect">
            <a:avLst>
              <a:gd name="adj" fmla="val 3151"/>
            </a:avLst>
          </a:prstGeom>
          <a:solidFill>
            <a:srgbClr val="FFFFFF"/>
          </a:solidFill>
          <a:ln w="9525">
            <a:solidFill>
              <a:srgbClr val="D8D0BF"/>
            </a:solidFill>
            <a:prstDash val="solid"/>
          </a:ln>
        </p:spPr>
      </p:sp>
      <p:sp>
        <p:nvSpPr>
          <p:cNvPr id="16" name="Text 13"/>
          <p:cNvSpPr txBox="1"/>
          <p:nvPr/>
        </p:nvSpPr>
        <p:spPr>
          <a:xfrm>
            <a:off x="4937760" y="1828800"/>
            <a:ext cx="6675120" cy="1414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فِي المُحَادَثَةِ الأُولَى، وَصَفَتْ مَرْيَمُ مَشْرُوعًا لِتَوْسِيعِ النَّقْلِ العَامِّ.</a:t>
            </a:r>
            <a:endParaRPr lang="ar-SA" sz="2000" dirty="0"/>
          </a:p>
        </p:txBody>
      </p:sp>
      <p:sp>
        <p:nvSpPr>
          <p:cNvPr id="17" name="Text 14"/>
          <p:cNvSpPr txBox="1"/>
          <p:nvPr/>
        </p:nvSpPr>
        <p:spPr>
          <a:xfrm>
            <a:off x="640080" y="1828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the first conversation, Maryam described a project to expand public transport.</a:t>
            </a:r>
            <a:endParaRPr lang="en-US" sz="1250" dirty="0"/>
          </a:p>
        </p:txBody>
      </p:sp>
      <p:sp>
        <p:nvSpPr>
          <p:cNvPr id="18" name="Shape 15"/>
          <p:cNvSpPr/>
          <p:nvPr/>
        </p:nvSpPr>
        <p:spPr>
          <a:xfrm>
            <a:off x="457200" y="3334512"/>
            <a:ext cx="11274552" cy="1450848"/>
          </a:xfrm>
          <a:prstGeom prst="roundRect">
            <a:avLst>
              <a:gd name="adj" fmla="val 3151"/>
            </a:avLst>
          </a:prstGeom>
          <a:solidFill>
            <a:srgbClr val="F4F1EA"/>
          </a:solidFill>
          <a:ln w="9525">
            <a:solidFill>
              <a:srgbClr val="D8D0BF"/>
            </a:solidFill>
            <a:prstDash val="solid"/>
          </a:ln>
        </p:spPr>
      </p:sp>
      <p:sp>
        <p:nvSpPr>
          <p:cNvPr id="19" name="Text 16"/>
          <p:cNvSpPr txBox="1"/>
          <p:nvPr/>
        </p:nvSpPr>
        <p:spPr>
          <a:xfrm>
            <a:off x="4937760" y="3352800"/>
            <a:ext cx="6675120" cy="1414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قَالَتْ إِنَّهُ سَيُقَلِّلُ الانْبِعَاثَاتِ،</a:t>
            </a:r>
            <a:endParaRPr lang="ar-SA" sz="2000" dirty="0"/>
          </a:p>
        </p:txBody>
      </p:sp>
      <p:sp>
        <p:nvSpPr>
          <p:cNvPr id="20" name="Text 17"/>
          <p:cNvSpPr txBox="1"/>
          <p:nvPr/>
        </p:nvSpPr>
        <p:spPr>
          <a:xfrm>
            <a:off x="640080" y="3352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said it will reduce emissions,</a:t>
            </a:r>
            <a:endParaRPr lang="en-US" sz="1250" dirty="0"/>
          </a:p>
        </p:txBody>
      </p:sp>
      <p:sp>
        <p:nvSpPr>
          <p:cNvPr id="21" name="Shape 18"/>
          <p:cNvSpPr/>
          <p:nvPr/>
        </p:nvSpPr>
        <p:spPr>
          <a:xfrm>
            <a:off x="457200" y="4858512"/>
            <a:ext cx="11274552" cy="1450848"/>
          </a:xfrm>
          <a:prstGeom prst="roundRect">
            <a:avLst>
              <a:gd name="adj" fmla="val 3151"/>
            </a:avLst>
          </a:prstGeom>
          <a:solidFill>
            <a:srgbClr val="FFFFFF"/>
          </a:solidFill>
          <a:ln w="9525">
            <a:solidFill>
              <a:srgbClr val="D8D0BF"/>
            </a:solidFill>
            <a:prstDash val="solid"/>
          </a:ln>
        </p:spPr>
      </p:sp>
      <p:sp>
        <p:nvSpPr>
          <p:cNvPr id="22" name="Text 19"/>
          <p:cNvSpPr txBox="1"/>
          <p:nvPr/>
        </p:nvSpPr>
        <p:spPr>
          <a:xfrm>
            <a:off x="4937760" y="4876800"/>
            <a:ext cx="6675120" cy="1414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لٰكِنَّهَا أَضَافَتْ أَنَّ التَّكْلِفَةَ الأُولَى مُرْتَفِعَةٌ.</a:t>
            </a:r>
            <a:endParaRPr lang="ar-SA" sz="2000" dirty="0"/>
          </a:p>
        </p:txBody>
      </p:sp>
      <p:sp>
        <p:nvSpPr>
          <p:cNvPr id="23" name="Text 20"/>
          <p:cNvSpPr txBox="1"/>
          <p:nvPr/>
        </p:nvSpPr>
        <p:spPr>
          <a:xfrm>
            <a:off x="640080" y="4876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but she added that the initial cost is high.</a:t>
            </a:r>
            <a:endParaRPr lang="en-US" sz="1250" dirty="0"/>
          </a:p>
        </p:txBody>
      </p:sp>
      <p:sp>
        <p:nvSpPr>
          <p:cNvPr id="24" name="Text 2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45</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D4-L11 · Unit Review</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Text 1: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project does Maryam describe?</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Expanding public transport</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Building a shopping centre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Closing all schools</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توسيع النقل العام.</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benefit does she mention?</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Using more fossil fuel</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Increasing waste</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Reducing emissions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سيقلل الانبعاثات.</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reservation does she add?</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 environmental benefit</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 buses</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High initial cost</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التكلفة الأولى مرتفعة.</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Is Maryam for or against the project overall?</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for it, with a reservation</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completely against it</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she does not say</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سَيُقَلِّلُ الانْبِعَاثَاتِ، لٰكِنَّ …</a:t>
            </a:r>
            <a:endParaRPr lang="ar-SA" sz="13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77" name="Text 74"/>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78" name="Text 75"/>
          <p:cNvSpPr txBox="1"/>
          <p:nvPr/>
        </p:nvSpPr>
        <p:spPr>
          <a:xfrm>
            <a:off x="4477512"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Label first: project? benefit? problem?</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لٰكِنَّ</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the reservation follows.</a:t>
            </a:r>
            <a:endParaRPr lang="en-US" sz="125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45</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D4-L11 · Unit Review</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TEXT 2 OF 2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Conversation 2: Khalid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topic does Khalid discuss?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Water scarcity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Fashion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Daily routine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corrected change in consumption?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stayed unchanged</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fell by 9%</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rose by 9%</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two things must the solution combine?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More waste and less evidence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technology</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Technology and behaviour change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Khalid say FIRST about consumption?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that it fell</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that it rose by 9%</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that it stayed stable</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69" name="Text 66"/>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70" name="Text 67"/>
          <p:cNvSpPr txBox="1"/>
          <p:nvPr/>
        </p:nvSpPr>
        <p:spPr>
          <a:xfrm>
            <a:off x="4477512"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He corrects himself!</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Which direction is FINAL: up or down?</a:t>
            </a:r>
            <a:endParaRPr lang="en-US" sz="125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45</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D4-L11 · Unit Review</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D4-L11</a:t>
            </a:r>
            <a:endParaRPr lang="en-US" sz="850" dirty="0"/>
          </a:p>
        </p:txBody>
      </p:sp>
      <p:sp>
        <p:nvSpPr>
          <p:cNvPr id="15" name="Shape 12"/>
          <p:cNvSpPr/>
          <p:nvPr/>
        </p:nvSpPr>
        <p:spPr>
          <a:xfrm>
            <a:off x="457200" y="1810512"/>
            <a:ext cx="11274552" cy="1069848"/>
          </a:xfrm>
          <a:prstGeom prst="roundRect">
            <a:avLst>
              <a:gd name="adj" fmla="val 4274"/>
            </a:avLst>
          </a:prstGeom>
          <a:solidFill>
            <a:srgbClr val="FFFFFF"/>
          </a:solidFill>
          <a:ln w="9525">
            <a:solidFill>
              <a:srgbClr val="D8D0BF"/>
            </a:solidFill>
            <a:prstDash val="solid"/>
          </a:ln>
        </p:spPr>
      </p:sp>
      <p:sp>
        <p:nvSpPr>
          <p:cNvPr id="16" name="Text 13"/>
          <p:cNvSpPr txBox="1"/>
          <p:nvPr/>
        </p:nvSpPr>
        <p:spPr>
          <a:xfrm>
            <a:off x="4937760" y="1828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وَفِي المُحَادَثَةِ الثَّانِيَةِ، تَحَدَّثَ خَالِدٌ عَنْ شُحِّ المِيَاهِ.</a:t>
            </a:r>
            <a:endParaRPr lang="ar-SA" sz="2000" dirty="0"/>
          </a:p>
        </p:txBody>
      </p:sp>
      <p:sp>
        <p:nvSpPr>
          <p:cNvPr id="17" name="Text 14"/>
          <p:cNvSpPr txBox="1"/>
          <p:nvPr/>
        </p:nvSpPr>
        <p:spPr>
          <a:xfrm>
            <a:off x="640080" y="1828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the second conversation, Khalid talked about water scarcity.</a:t>
            </a:r>
            <a:endParaRPr lang="en-US" sz="1250" dirty="0"/>
          </a:p>
        </p:txBody>
      </p:sp>
      <p:sp>
        <p:nvSpPr>
          <p:cNvPr id="18" name="Shape 15"/>
          <p:cNvSpPr/>
          <p:nvPr/>
        </p:nvSpPr>
        <p:spPr>
          <a:xfrm>
            <a:off x="457200" y="2953512"/>
            <a:ext cx="11274552" cy="1069848"/>
          </a:xfrm>
          <a:prstGeom prst="roundRect">
            <a:avLst>
              <a:gd name="adj" fmla="val 4274"/>
            </a:avLst>
          </a:prstGeom>
          <a:solidFill>
            <a:srgbClr val="F4F1EA"/>
          </a:solidFill>
          <a:ln w="9525">
            <a:solidFill>
              <a:srgbClr val="D8D0BF"/>
            </a:solidFill>
            <a:prstDash val="solid"/>
          </a:ln>
        </p:spPr>
      </p:sp>
      <p:sp>
        <p:nvSpPr>
          <p:cNvPr id="19" name="Text 16"/>
          <p:cNvSpPr txBox="1"/>
          <p:nvPr/>
        </p:nvSpPr>
        <p:spPr>
          <a:xfrm>
            <a:off x="4937760" y="2971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أَوَّلًا قَالَ إِنَّ الاسْتِهْلَاكَ انْخَفَضَ،</a:t>
            </a:r>
            <a:endParaRPr lang="ar-SA" sz="2000" dirty="0"/>
          </a:p>
        </p:txBody>
      </p:sp>
      <p:sp>
        <p:nvSpPr>
          <p:cNvPr id="20" name="Text 17"/>
          <p:cNvSpPr txBox="1"/>
          <p:nvPr/>
        </p:nvSpPr>
        <p:spPr>
          <a:xfrm>
            <a:off x="640080" y="2971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First he said consumption fell,</a:t>
            </a:r>
            <a:endParaRPr lang="en-US" sz="1250" dirty="0"/>
          </a:p>
        </p:txBody>
      </p:sp>
      <p:sp>
        <p:nvSpPr>
          <p:cNvPr id="21" name="Shape 18"/>
          <p:cNvSpPr/>
          <p:nvPr/>
        </p:nvSpPr>
        <p:spPr>
          <a:xfrm>
            <a:off x="457200" y="4096512"/>
            <a:ext cx="11274552" cy="1069848"/>
          </a:xfrm>
          <a:prstGeom prst="roundRect">
            <a:avLst>
              <a:gd name="adj" fmla="val 4274"/>
            </a:avLst>
          </a:prstGeom>
          <a:solidFill>
            <a:srgbClr val="FFFFFF"/>
          </a:solidFill>
          <a:ln w="9525">
            <a:solidFill>
              <a:srgbClr val="D8D0BF"/>
            </a:solidFill>
            <a:prstDash val="solid"/>
          </a:ln>
        </p:spPr>
      </p:sp>
      <p:sp>
        <p:nvSpPr>
          <p:cNvPr id="22" name="Text 19"/>
          <p:cNvSpPr txBox="1"/>
          <p:nvPr/>
        </p:nvSpPr>
        <p:spPr>
          <a:xfrm>
            <a:off x="4937760" y="4114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ثُمَّ صَحَّحَ نَفْسَهُ وَقَالَ إِنَّهُ ارْتَفَعَ بِنِسْبَةِ ٩٪.</a:t>
            </a:r>
            <a:endParaRPr lang="ar-SA" sz="2000" dirty="0"/>
          </a:p>
        </p:txBody>
      </p:sp>
      <p:sp>
        <p:nvSpPr>
          <p:cNvPr id="23" name="Text 20"/>
          <p:cNvSpPr txBox="1"/>
          <p:nvPr/>
        </p:nvSpPr>
        <p:spPr>
          <a:xfrm>
            <a:off x="640080" y="4114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then he corrected himself and said it rose by 9%.</a:t>
            </a:r>
            <a:endParaRPr lang="en-US" sz="1250" dirty="0"/>
          </a:p>
        </p:txBody>
      </p:sp>
      <p:sp>
        <p:nvSpPr>
          <p:cNvPr id="24" name="Shape 21"/>
          <p:cNvSpPr/>
          <p:nvPr/>
        </p:nvSpPr>
        <p:spPr>
          <a:xfrm>
            <a:off x="457200" y="5239512"/>
            <a:ext cx="11274552" cy="1069848"/>
          </a:xfrm>
          <a:prstGeom prst="roundRect">
            <a:avLst>
              <a:gd name="adj" fmla="val 4274"/>
            </a:avLst>
          </a:prstGeom>
          <a:solidFill>
            <a:srgbClr val="F4F1EA"/>
          </a:solidFill>
          <a:ln w="9525">
            <a:solidFill>
              <a:srgbClr val="D8D0BF"/>
            </a:solidFill>
            <a:prstDash val="solid"/>
          </a:ln>
        </p:spPr>
      </p:sp>
      <p:sp>
        <p:nvSpPr>
          <p:cNvPr id="25" name="Text 22"/>
          <p:cNvSpPr txBox="1"/>
          <p:nvPr/>
        </p:nvSpPr>
        <p:spPr>
          <a:xfrm>
            <a:off x="4937760" y="5257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وَأَكَّدَ أَنَّ الحَلَّ يَحْتَاجُ إِلَى التِّقْنِيَّةِ وَتَغْيِيرِ السُّلُوكِ مَعًا.</a:t>
            </a:r>
            <a:endParaRPr lang="ar-SA" sz="2000" dirty="0"/>
          </a:p>
        </p:txBody>
      </p:sp>
      <p:sp>
        <p:nvSpPr>
          <p:cNvPr id="26" name="Text 23"/>
          <p:cNvSpPr txBox="1"/>
          <p:nvPr/>
        </p:nvSpPr>
        <p:spPr>
          <a:xfrm>
            <a:off x="640080" y="5257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confirmed that the solution needs technology and behaviour change together.</a:t>
            </a:r>
            <a:endParaRPr lang="en-US" sz="125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45</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D4-L11 · Unit Review</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Text 2: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topic does Khalid discuss?</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Water scarcity</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Fashion</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Daily routine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شح المياه.</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corrected change in consumption?</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stayed unchanged</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fell by 9%</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It rose by 9%</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He corrects himself: </a:t>
            </a:r>
            <a:pPr algn="l" indent="0" marL="0">
              <a:buNone/>
            </a:pPr>
            <a:r>
              <a:rPr lang="ar-SA" altLang="en-US" sz="1350" dirty="0">
                <a:solidFill>
                  <a:srgbClr val="8A6D1E"/>
                </a:solidFill>
                <a:latin typeface="Amiri" pitchFamily="34" charset="0"/>
                <a:ea typeface="Amiri" pitchFamily="34" charset="-122"/>
                <a:cs typeface="Amiri" pitchFamily="34" charset="-120"/>
              </a:rPr>
              <a:t>ارتفع بنسبة</a:t>
            </a:r>
            <a:pPr algn="l" indent="0" marL="0">
              <a:buNone/>
            </a:pPr>
            <a:r>
              <a:rPr lang="en-US" sz="1050" i="1" dirty="0">
                <a:solidFill>
                  <a:srgbClr val="8A6D1E"/>
                </a:solidFill>
                <a:latin typeface="Calibri" pitchFamily="34" charset="0"/>
                <a:ea typeface="Calibri" pitchFamily="34" charset="-122"/>
                <a:cs typeface="Calibri" pitchFamily="34" charset="-120"/>
              </a:rPr>
              <a:t> 9</a:t>
            </a:r>
            <a:pPr algn="l" indent="0" marL="0">
              <a:buNone/>
            </a:pPr>
            <a:r>
              <a:rPr lang="ar-SA" altLang="en-US" sz="1350" dirty="0">
                <a:solidFill>
                  <a:srgbClr val="8A6D1E"/>
                </a:solidFill>
                <a:latin typeface="Amiri" pitchFamily="34" charset="0"/>
                <a:ea typeface="Amiri" pitchFamily="34" charset="-122"/>
                <a:cs typeface="Amiri" pitchFamily="34" charset="-120"/>
              </a:rPr>
              <a:t>٪</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two things must the solution combine?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More waste and less evidence</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technology</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Technology and behaviour change</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التقنية وتغيير السلوك معًا.</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Khalid say FIRST about consumption?</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that it fell</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that it rose by 9%</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that it stayed stable</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أَوَّلًا قَالَ إِنَّ الاسْتِهْلَاكَ انْخَفَضَ</a:t>
            </a:r>
            <a:endParaRPr lang="ar-SA" sz="13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77" name="Text 74"/>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78" name="Text 75"/>
          <p:cNvSpPr txBox="1"/>
          <p:nvPr/>
        </p:nvSpPr>
        <p:spPr>
          <a:xfrm>
            <a:off x="4477512"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He corrects himself!</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Which direction is FINAL: up or down?</a:t>
            </a:r>
            <a:endParaRPr lang="en-US" sz="125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45</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D4-L11 · Unit Review</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50" b="1" dirty="0">
                <a:solidFill>
                  <a:srgbClr val="1B3B6F"/>
                </a:solidFill>
                <a:latin typeface="Cambria" pitchFamily="34" charset="0"/>
                <a:ea typeface="Cambria" pitchFamily="34" charset="-122"/>
                <a:cs typeface="Cambria" pitchFamily="34" charset="-120"/>
              </a:rPr>
              <a:t>Speaking: diagnose strengths and improve answers</a:t>
            </a:r>
            <a:endParaRPr lang="en-US" sz="18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D4-L11</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أَهَمُّ مُشْكِلَةٍ بِيئِيَّةٍ؟</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هَلِ التِّقْنِيَّةُ جُزْءٌ مِنَ الحَلِّ؟</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نُقْطَةُ قُوَّتِكَ وَمَجَالُ تَحْسِينِكَ؟</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300" b="1" dirty="0">
                <a:solidFill>
                  <a:srgbClr val="1D5FBF"/>
                </a:solidFill>
                <a:latin typeface="Amiri" pitchFamily="34" charset="0"/>
                <a:ea typeface="Amiri" pitchFamily="34" charset="-122"/>
                <a:cs typeface="Amiri" pitchFamily="34" charset="-120"/>
              </a:rPr>
              <a:t>مِنْ وَجْهَةِ نَظَرِي، أَهَمُّ مُشْكِلَةٍ هِيَ ___ بِسَبَبِ ___ .</a:t>
            </a:r>
            <a:endParaRPr lang="ar-SA" sz="13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550" b="1" dirty="0">
                <a:solidFill>
                  <a:srgbClr val="1F2A37"/>
                </a:solidFill>
                <a:latin typeface="Amiri" pitchFamily="34" charset="0"/>
                <a:ea typeface="Amiri" pitchFamily="34" charset="-122"/>
                <a:cs typeface="Amiri" pitchFamily="34" charset="-120"/>
              </a:rPr>
              <a:t>نَعَمْ، إِلَى حَدٍّ مَا؛ سَأُعْطِي مِثَالًا: ___ .</a:t>
            </a:r>
            <a:endParaRPr lang="ar-SA" sz="155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lnSpc>
                <a:spcPct val="120000"/>
              </a:lnSpc>
              <a:buNone/>
            </a:pPr>
            <a:r>
              <a:rPr lang="ar-SA" altLang="en-US" sz="1250" b="1" dirty="0">
                <a:solidFill>
                  <a:srgbClr val="1F2A37"/>
                </a:solidFill>
                <a:latin typeface="Amiri" pitchFamily="34" charset="0"/>
                <a:ea typeface="Amiri" pitchFamily="34" charset="-122"/>
                <a:cs typeface="Amiri" pitchFamily="34" charset="-120"/>
              </a:rPr>
              <a:t>نُقْطَةُ قُوَّتِي ___ ، أَمَّا مَجَالُ التَّحْسِينِ فَهُوَ ___ .</a:t>
            </a:r>
            <a:endParaRPr lang="ar-SA" sz="125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مَا أَقْوَى جَانِبٍ فِي لُغَتِكَ فِي هٰذِهِ الوَحْدَةِ، وَمَا الَّذِي تَحْتَاجُ إِلَى تَحْسِينِهِ؟</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ea typeface="Calibri" pitchFamily="34" charset="-122"/>
                <a:cs typeface="Calibri" pitchFamily="34" charset="-120"/>
              </a:rPr>
              <a:t>What is the strongest side of your language in this unit, and what do you need to improve?</a:t>
            </a:r>
            <a:endParaRPr lang="en-US" sz="7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150" dirty="0">
                <a:solidFill>
                  <a:srgbClr val="1F2A37"/>
                </a:solidFill>
                <a:latin typeface="Amiri" pitchFamily="34" charset="0"/>
                <a:ea typeface="Amiri" pitchFamily="34" charset="-122"/>
                <a:cs typeface="Amiri" pitchFamily="34" charset="-120"/>
              </a:rPr>
              <a:t>نُقْطَةُ قُوَّتِي هِيَ رَبْطُ السَّبَبِ بِالنَّتِيجَةِ، لِأَنَّنِي أَسْتَخْدِمُ بِسَبَبِ وَيُؤَدِّي إِلَى بِدِقَّةٍ. أَمَّا مَجَالُ التَّحْسِينِ فَهُوَ المَبْنِيُّ لِلْمَجْهُولِ، وَسَأُرَاجِعُ اتِّفَاقَ الفِعْلِ مَعَ الفَاعِلِ النَّحْوِيِّ.</a:t>
            </a:r>
            <a:endParaRPr lang="ar-SA" sz="11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ea typeface="Calibri" pitchFamily="34" charset="-122"/>
                <a:cs typeface="Calibri" pitchFamily="34" charset="-120"/>
              </a:rPr>
              <a:t>My strength is linking cause and effect… As for my area for improvement, it is the passive, and I will revise verb agreement.</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45</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D4-L11 · Unit Review</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D4-L11</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Use the vocabulary banks and sentence frames to produce four accurate connected sentences.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One per link: climate · problem · cause · solution · opinion — with the frames.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100–120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Use several target structures in a linked paragraph or sustained spoken answer.</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The chain as one paragraph with a passive, a cause–effect and a purpose clause.</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130–140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Evaluate, compare or qualify ideas using precise evidence and formal linking language.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seven meaningful D4 features + a qualified technology judgement, then self-audit.</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45</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D4-L11 · Unit Review</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D4-L11</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______ ، مِمَّا يُؤَدِّي إِلَى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which leads to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يُشَارُ إِلَى أَنَّ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It is indicated that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عَلَى الرَّغْمِ مِنْ أَنَّ ______ ، فَإِنَّهَا ______ .</a:t>
            </a:r>
            <a:endParaRPr lang="ar-SA" sz="17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Although … , it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______ شَرِيطَةَ أَنْ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provided that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يَسُودُ مَنَاخٌ ______ فِي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 … climate prevails in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يُلَوَّثُ ______ بِسَبَبِ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is polluted because of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750" b="1" dirty="0">
                <a:solidFill>
                  <a:srgbClr val="1B3B6F"/>
                </a:solidFill>
                <a:latin typeface="Amiri" pitchFamily="34" charset="0"/>
                <a:ea typeface="Amiri" pitchFamily="34" charset="-122"/>
                <a:cs typeface="Amiri" pitchFamily="34" charset="-120"/>
              </a:rPr>
              <a:t>يَجِبُ عَلَى الحُكُومَةِ أَنْ ______ لِكَيْ ______ .</a:t>
            </a:r>
            <a:endParaRPr lang="ar-SA" sz="175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government must … in order to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مِنْ وَجْهَةِ نَظَرِي،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From my point of view,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يَسُودُ  ·  يَتَّسِمُ بِـ  ·  تَهُبُّ الرِّيَاحُ  ·  يُلَوَّثُ  ·  تُقْطَعُ  ·  بِسَبَبِ  ·  مِمَّا يُؤَدِّي إِلَى  ·  يَجِبُ عَلَى … أَنْ  ·  لِكَيْ  ·  يُشَارُ إِلَى أَنَّ  ·  عَلَى الرَّغْمِ مِنْ أَنَّ  ·  شَرِيطَةَ أَنْ</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45</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D4-L11 · Unit Review</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D4-L11</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130–140 Arabic words integrating climate, an environmental problem, a solution and a qualified technology judgement.</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Include at least seven relevant D4 range features.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Keep every feature meaningful and accurate.</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one passive, one cause–effect chain and one purpose structure.</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Proofread before marking the task complete.</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تَنَاوَلَتِ الوَحْدَةُ قَضَايَا مُهِمَّةً</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 unit dealt with important issues</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نَتِيجَةً لِقِلَّةِ الأَمْطَارِ</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as a result of low rainfall</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يُمْكِنُ أَنْ يُسْتَخْدَمَ … لِرَصْدِ الهَدْرِ</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 can be used to monitor waste</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تُوَفِّرُ المَالَ عَلَى المَدَى البَعِيدِ</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saves money in the long term</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يَجْمَعُ بَيْنَ التِّقْنِيَّةِ وَالسِّيَاسَةِ وَالسُّلُوكِ</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combines technology, policy and behaviour</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45</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D4-L11 · Unit Review</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D4-L11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34" charset="0"/>
                <a:ea typeface="Amiri" pitchFamily="34" charset="-122"/>
                <a:cs typeface="Amiri" pitchFamily="34" charset="-120"/>
              </a:rPr>
              <a:t>تَنَاوَلَتْ الوَحْدَةُ الرَّابِعَةُ قَضَايَا مُهِمَّةً مِثْلَ تَغَيُّرِ المَنَاخِ وَشُحِّ المِيَاهِ وَالذَّكَاءِ الاصْطِنَاعِيِّ. يَسُودُ مَنَاخٌ جَافٌّ فِي مَنَاطِقَ كَثِيرَةٍ، وَتَشِحُّ المِيَاهُ نَتِيجَةً لِقِلَّةِ الأَمْطَارِ وَزِيَادَةِ الاسْتِهْلَاكِ. لِذٰلِكَ يَجِبُ عَلَى الحُكُومَاتِ أَنْ تَسْتَثْمِرَ فِي إِعَادَةِ اسْتِخْدَامِ المِيَاهِ لِكَيْ تَحْمِيَ المَوَارِدَ. وَعَلَاوَةً عَلَى ذٰلِكَ، يُمْكِنُ أَنْ يُسْتَخْدَمَ الذَّكَاءُ الاصْطِنَاعِيُّ لِرَصْدِ الهَدْرِ. عَلَى الرَّغْمِ مِنْ أَنَّ هٰذِهِ التِّقْنِيَّةَ مُكَلِّفَةٌ، فَإِنَّهَا قَدْ تُوَفِّرُ المَالَ عَلَى المَدَى البَعِيدِ. فِي رَأْيِي، الحَلُّ النَّاجِحُ يَجْمَعُ بَيْنَ التِّقْنِيَّةِ وَالسِّيَاسَةِ وَالسُّلُوكِ المَسْؤُولِ.</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The fourth unit dealt with important issues such as climate change, water scarcity and AI. A dry climate prevails in many regions, and water is scarce as a result of low rainfall and higher consumption. So governments must invest in water reuse to protect resources. Moreover, AI can be used to monitor waste. Although this technology is expensive, it may save money in the long term. In my opinion, a successful solution combines technology, policy and responsible behaviour.</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climate verb</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cause–effect chain</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obligation + purpose</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concession with a real contrast</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45</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D4-L11 · Unit Review</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D4-L11</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weather verbs agree (</a:t>
            </a:r>
            <a:pPr algn="l" indent="0" marL="0">
              <a:buNone/>
            </a:pPr>
            <a:r>
              <a:rPr lang="ar-SA" altLang="en-US" sz="1700" dirty="0">
                <a:solidFill>
                  <a:srgbClr val="1F2A37"/>
                </a:solidFill>
                <a:latin typeface="Amiri" pitchFamily="34" charset="0"/>
                <a:ea typeface="Amiri" pitchFamily="34" charset="-122"/>
                <a:cs typeface="Amiri" pitchFamily="34" charset="-120"/>
              </a:rPr>
              <a:t>تَهُبُّ الرِّيَاحُ</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After </a:t>
            </a:r>
            <a:pPr algn="l" indent="0" marL="0">
              <a:buNone/>
            </a:pPr>
            <a:r>
              <a:rPr lang="ar-SA" altLang="en-US" sz="1700" dirty="0">
                <a:solidFill>
                  <a:srgbClr val="1F2A37"/>
                </a:solidFill>
                <a:latin typeface="Amiri" pitchFamily="34" charset="0"/>
                <a:ea typeface="Amiri" pitchFamily="34" charset="-122"/>
                <a:cs typeface="Amiri" pitchFamily="34" charset="-120"/>
              </a:rPr>
              <a:t>أَنْ / لِكَيْ</a:t>
            </a:r>
            <a:pPr algn="l" indent="0" marL="0">
              <a:buNone/>
            </a:pPr>
            <a:r>
              <a:rPr lang="en-US" sz="1300" dirty="0">
                <a:solidFill>
                  <a:srgbClr val="1F2A37"/>
                </a:solidFill>
                <a:latin typeface="Calibri" pitchFamily="34" charset="0"/>
                <a:ea typeface="Calibri" pitchFamily="34" charset="-122"/>
                <a:cs typeface="Calibri" pitchFamily="34" charset="-120"/>
              </a:rPr>
              <a:t> my verbs end in -a.</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a passive, a cause–effect and a purpose clause.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After </a:t>
            </a:r>
            <a:pPr algn="l" indent="0" marL="0">
              <a:buNone/>
            </a:pPr>
            <a:r>
              <a:rPr lang="ar-SA" altLang="en-US" sz="1700" dirty="0">
                <a:solidFill>
                  <a:srgbClr val="1F2A37"/>
                </a:solidFill>
                <a:latin typeface="Amiri" pitchFamily="34" charset="0"/>
                <a:ea typeface="Amiri" pitchFamily="34" charset="-122"/>
                <a:cs typeface="Amiri" pitchFamily="34" charset="-120"/>
              </a:rPr>
              <a:t>أَنَّ</a:t>
            </a:r>
            <a:pPr algn="l" indent="0" marL="0">
              <a:buNone/>
            </a:pPr>
            <a:r>
              <a:rPr lang="en-US" sz="1300" dirty="0">
                <a:solidFill>
                  <a:srgbClr val="1F2A37"/>
                </a:solidFill>
                <a:latin typeface="Calibri" pitchFamily="34" charset="0"/>
                <a:ea typeface="Calibri" pitchFamily="34" charset="-122"/>
                <a:cs typeface="Calibri" pitchFamily="34" charset="-120"/>
              </a:rPr>
              <a:t> my noun ends in -a.</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concession is a real contrast; my judgement is qualified.</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45</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D4-L11 · Unit Review</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D4-L11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integrated problem sentence.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1300" dirty="0">
                <a:solidFill>
                  <a:srgbClr val="1F2A37"/>
                </a:solidFill>
                <a:latin typeface="Amiri" pitchFamily="34" charset="0"/>
                <a:ea typeface="Amiri" pitchFamily="34" charset="-122"/>
                <a:cs typeface="Amiri" pitchFamily="34" charset="-120"/>
              </a:rPr>
              <a:t>يُلَوَّثُ الهَوَاءُ بِسَبَبِ العَوَادِمِ، مِمَّا يُؤَدِّي إِلَى أَمْرَاضٍ.</a:t>
            </a:r>
            <a:endParaRPr lang="ar-SA" sz="130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1300" dirty="0">
                <a:solidFill>
                  <a:srgbClr val="1F2A37"/>
                </a:solidFill>
                <a:latin typeface="Amiri" pitchFamily="34" charset="0"/>
                <a:ea typeface="Amiri" pitchFamily="34" charset="-122"/>
                <a:cs typeface="Amiri" pitchFamily="34" charset="-120"/>
              </a:rPr>
              <a:t>يُلَوَّثُ الهَوَاءُ لِكَيْ تَزْدَادَ الأَمْرَاضُ.</a:t>
            </a:r>
            <a:endParaRPr lang="ar-SA" sz="130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1300" dirty="0">
                <a:solidFill>
                  <a:srgbClr val="1F2A37"/>
                </a:solidFill>
                <a:latin typeface="Amiri" pitchFamily="34" charset="0"/>
                <a:ea typeface="Amiri" pitchFamily="34" charset="-122"/>
                <a:cs typeface="Amiri" pitchFamily="34" charset="-120"/>
              </a:rPr>
              <a:t>يَتَفَاعَلُ الهَوَاءُ عَلَى العَوَادِمِ.</a:t>
            </a:r>
            <a:endParaRPr lang="ar-SA" sz="130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integrated solution.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1050" dirty="0">
                <a:solidFill>
                  <a:srgbClr val="1F2A37"/>
                </a:solidFill>
                <a:latin typeface="Amiri" pitchFamily="34" charset="0"/>
                <a:ea typeface="Amiri" pitchFamily="34" charset="-122"/>
                <a:cs typeface="Amiri" pitchFamily="34" charset="-120"/>
              </a:rPr>
              <a:t>يَجِبُ عَلَى الانْبِعَاثَاتِ أَنْ تُقَلِّلَ الحُكُومَةَ.</a:t>
            </a:r>
            <a:endParaRPr lang="ar-SA" sz="1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1050" dirty="0">
                <a:solidFill>
                  <a:srgbClr val="1F2A37"/>
                </a:solidFill>
                <a:latin typeface="Amiri" pitchFamily="34" charset="0"/>
                <a:ea typeface="Amiri" pitchFamily="34" charset="-122"/>
                <a:cs typeface="Amiri" pitchFamily="34" charset="-120"/>
              </a:rPr>
              <a:t>يَجِبُ عَلَى الحُكُومَةِ أَنْ تَسْتَثْمِرَ فِي النَّقْلِ العَامِّ لِكَيْ تُقَلِّلَ الانْبِعَاثَاتِ.</a:t>
            </a:r>
            <a:endParaRPr lang="ar-SA" sz="1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1050" dirty="0">
                <a:solidFill>
                  <a:srgbClr val="1F2A37"/>
                </a:solidFill>
                <a:latin typeface="Amiri" pitchFamily="34" charset="0"/>
                <a:ea typeface="Amiri" pitchFamily="34" charset="-122"/>
                <a:cs typeface="Amiri" pitchFamily="34" charset="-120"/>
              </a:rPr>
              <a:t>يَجِبُ الحُكُومَةُ تَسْتَثْمِرُ لِكَيْ الانْبِعَاثَاتُ.</a:t>
            </a:r>
            <a:endParaRPr lang="ar-SA" sz="1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formal report is accurate?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يُشَارُ إِلَى أَنَّ شُحَّ المِيَاهِ يَزْدَادُ.</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يُشَارُ إِلَى أَنْ شُحُّ المِيَاهِ يَزْدَادُ.</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يُشَارِكُ شُحُّ المِيَاهِ فِي الزِّيَادَةِ.</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45</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D4-L11 · Unit Review</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D4-L11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integrated problem sentence.</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1300" b="1" dirty="0">
                <a:solidFill>
                  <a:srgbClr val="1F2A37"/>
                </a:solidFill>
                <a:latin typeface="Amiri" pitchFamily="34" charset="0"/>
                <a:ea typeface="Amiri" pitchFamily="34" charset="-122"/>
                <a:cs typeface="Amiri" pitchFamily="34" charset="-120"/>
              </a:rPr>
              <a:t>يُلَوَّثُ الهَوَاءُ بِسَبَبِ العَوَادِمِ، مِمَّا يُؤَدِّي إِلَى أَمْرَاضٍ.</a:t>
            </a:r>
            <a:endParaRPr lang="ar-SA" sz="130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1300" dirty="0">
                <a:solidFill>
                  <a:srgbClr val="9AA1AB"/>
                </a:solidFill>
                <a:latin typeface="Amiri" pitchFamily="34" charset="0"/>
                <a:ea typeface="Amiri" pitchFamily="34" charset="-122"/>
                <a:cs typeface="Amiri" pitchFamily="34" charset="-120"/>
              </a:rPr>
              <a:t>يُلَوَّثُ الهَوَاءُ لِكَيْ تَزْدَادَ الأَمْرَاضُ.</a:t>
            </a:r>
            <a:endParaRPr lang="ar-SA" sz="130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1300" dirty="0">
                <a:solidFill>
                  <a:srgbClr val="9AA1AB"/>
                </a:solidFill>
                <a:latin typeface="Amiri" pitchFamily="34" charset="0"/>
                <a:ea typeface="Amiri" pitchFamily="34" charset="-122"/>
                <a:cs typeface="Amiri" pitchFamily="34" charset="-120"/>
              </a:rPr>
              <a:t>يَتَفَاعَلُ الهَوَاءُ عَلَى العَوَادِمِ.</a:t>
            </a:r>
            <a:endParaRPr lang="ar-SA" sz="130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first integrates passive, cause and result.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integrated solution.</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1050" dirty="0">
                <a:solidFill>
                  <a:srgbClr val="9AA1AB"/>
                </a:solidFill>
                <a:latin typeface="Amiri" pitchFamily="34" charset="0"/>
                <a:ea typeface="Amiri" pitchFamily="34" charset="-122"/>
                <a:cs typeface="Amiri" pitchFamily="34" charset="-120"/>
              </a:rPr>
              <a:t>يَجِبُ عَلَى الانْبِعَاثَاتِ أَنْ تُقَلِّلَ الحُكُومَةَ.</a:t>
            </a:r>
            <a:endParaRPr lang="ar-SA" sz="1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1050" b="1" dirty="0">
                <a:solidFill>
                  <a:srgbClr val="1F2A37"/>
                </a:solidFill>
                <a:latin typeface="Amiri" pitchFamily="34" charset="0"/>
                <a:ea typeface="Amiri" pitchFamily="34" charset="-122"/>
                <a:cs typeface="Amiri" pitchFamily="34" charset="-120"/>
              </a:rPr>
              <a:t>يَجِبُ عَلَى الحُكُومَةِ أَنْ تَسْتَثْمِرَ فِي النَّقْلِ العَامِّ لِكَيْ تُقَلِّلَ الانْبِعَاثَاتِ.</a:t>
            </a:r>
            <a:endParaRPr lang="ar-SA" sz="1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1050" dirty="0">
                <a:solidFill>
                  <a:srgbClr val="9AA1AB"/>
                </a:solidFill>
                <a:latin typeface="Amiri" pitchFamily="34" charset="0"/>
                <a:ea typeface="Amiri" pitchFamily="34" charset="-122"/>
                <a:cs typeface="Amiri" pitchFamily="34" charset="-120"/>
              </a:rPr>
              <a:t>يَجِبُ الحُكُومَةُ تَسْتَثْمِرُ لِكَيْ الانْبِعَاثَاتُ.</a:t>
            </a:r>
            <a:endParaRPr lang="ar-SA" sz="1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It assigns responsibility and purpose accurately.</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formal report is accurate?</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يُشَارُ إِلَى أَنَّ شُحَّ المِيَاهِ يَزْدَادُ.</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يُشَارُ إِلَى أَنْ شُحُّ المِيَاهِ يَزْدَادُ.</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يُشَارِكُ شُحُّ المِيَاهِ فِي الزِّيَادَةِ.</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Use </a:t>
            </a:r>
            <a:pPr algn="l" indent="0" marL="0">
              <a:buNone/>
            </a:pPr>
            <a:r>
              <a:rPr lang="ar-SA" altLang="en-US" sz="1350" dirty="0">
                <a:solidFill>
                  <a:srgbClr val="8A6D1E"/>
                </a:solidFill>
                <a:latin typeface="Amiri" pitchFamily="34" charset="0"/>
                <a:ea typeface="Amiri" pitchFamily="34" charset="-122"/>
                <a:cs typeface="Amiri" pitchFamily="34" charset="-120"/>
              </a:rPr>
              <a:t>يشار إلى أنَّ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45</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D4-L11 · Unit Review</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ea typeface="Cambria" pitchFamily="34" charset="-122"/>
                <a:cs typeface="Cambria" pitchFamily="34" charset="-120"/>
              </a:rPr>
              <a:t>Reading consolidation: the complete D4 language system</a:t>
            </a:r>
            <a:endParaRPr lang="en-US" sz="1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D4-L11</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خِلَالَ الوَحْدَةِ الرَّابِعَةِ، تَعَلَّمَ الطُّلَّابُ أَنْ يَصِفُوا المَنَاخَ بِاسْتِخْدَامِ يَسُودُ وَيَتَّسِمُ بِـ، وَأَنْ يَشْرَحُوا المُشْكِلَاتِ بِالمَبْنِيِّ لِلْمَجْهُولِ وَرَوَابِطِ السَّبَبِ وَالنَّتِيجَةِ. كَمَا تَدَرَّبُوا عَلَى تَقْدِيمِ حُلُولٍ بِاسْتِخْدَامِ يَجِبُ عَلَى ... أَنْ وَلِكَيْ. وَفِي مَوْضُوعِ التِّقْنِيَّةِ، اسْتَخْدَمُوا مُفْرَدَاتٍ مِثْلَ الذَّكَاءِ الاصْطِنَاعِيِّ وَالتَّعَلُّمِ عَنْ بُعْدٍ، ثُمَّ قَيَّمُوا الفَوَائِدَ وَالمَخَاطِرَ بِحُجَجٍ مُتَوَازِنَةٍ. الهَدَفُ الآنَ هُوَ اسْتِخْدَامُ هٰذَا النِّطَاقِ بِدِقَّةٍ تَحْتَ الضَّغْطِ.</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خِلَالَ وَحْدَةِ</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during the unit</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أَنْ يَصِفُوا</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to describe</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يَشْرَحُوا</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explain</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المَبْنِيِّ لِلْمَجْهُولِ</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passive</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رَوَابِطِ</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connectors</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تَدَرَّبُوا عَلَى</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they practised</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تَقْدِيمِ حُلُولٍ</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offering solutions</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قَيَّمُوا</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they evaluated</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المَخَاطِرَ</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risks</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تَحْتَ الضَّغْطِ</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under pressure</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45</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D4-L11 · Unit Review</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D4-L11</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Which two verbs are named for climate description?</a:t>
            </a:r>
            <a:endParaRPr lang="en-US" sz="120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34" charset="0"/>
                <a:ea typeface="Amiri" pitchFamily="34" charset="-122"/>
                <a:cs typeface="Amiri" pitchFamily="34" charset="-120"/>
              </a:rPr>
              <a:t>يَنْشُرُ</a:t>
            </a:r>
            <a:pPr algn="l" indent="0" marL="0">
              <a:buNone/>
            </a:pPr>
            <a:r>
              <a:rPr lang="en-US" sz="1250" dirty="0">
                <a:solidFill>
                  <a:srgbClr val="1F2A37"/>
                </a:solidFill>
                <a:latin typeface="Calibri" pitchFamily="34" charset="0"/>
                <a:ea typeface="Calibri" pitchFamily="34" charset="-122"/>
                <a:cs typeface="Calibri" pitchFamily="34" charset="-120"/>
              </a:rPr>
              <a:t> and </a:t>
            </a:r>
            <a:pPr algn="l" indent="0" marL="0">
              <a:buNone/>
            </a:pPr>
            <a:r>
              <a:rPr lang="ar-SA" altLang="en-US" sz="1650" dirty="0">
                <a:solidFill>
                  <a:srgbClr val="1F2A37"/>
                </a:solidFill>
                <a:latin typeface="Amiri" pitchFamily="34" charset="0"/>
                <a:ea typeface="Amiri" pitchFamily="34" charset="-122"/>
                <a:cs typeface="Amiri" pitchFamily="34" charset="-120"/>
              </a:rPr>
              <a:t>يُعَلِّقُ</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34" charset="0"/>
                <a:ea typeface="Amiri" pitchFamily="34" charset="-122"/>
                <a:cs typeface="Amiri" pitchFamily="34" charset="-120"/>
              </a:rPr>
              <a:t>يَسُودُ</a:t>
            </a:r>
            <a:pPr algn="l" indent="0" marL="0">
              <a:buNone/>
            </a:pPr>
            <a:r>
              <a:rPr lang="en-US" sz="1250" dirty="0">
                <a:solidFill>
                  <a:srgbClr val="1F2A37"/>
                </a:solidFill>
                <a:latin typeface="Calibri" pitchFamily="34" charset="0"/>
                <a:ea typeface="Calibri" pitchFamily="34" charset="-122"/>
                <a:cs typeface="Calibri" pitchFamily="34" charset="-120"/>
              </a:rPr>
              <a:t> and </a:t>
            </a:r>
            <a:pPr algn="l" indent="0" marL="0">
              <a:buNone/>
            </a:pPr>
            <a:r>
              <a:rPr lang="ar-SA" altLang="en-US" sz="1650" dirty="0">
                <a:solidFill>
                  <a:srgbClr val="1F2A37"/>
                </a:solidFill>
                <a:latin typeface="Amiri" pitchFamily="34" charset="0"/>
                <a:ea typeface="Amiri" pitchFamily="34" charset="-122"/>
                <a:cs typeface="Amiri" pitchFamily="34" charset="-120"/>
              </a:rPr>
              <a:t>يَتَّسِمُ بِـ</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34" charset="0"/>
                <a:ea typeface="Amiri" pitchFamily="34" charset="-122"/>
                <a:cs typeface="Amiri" pitchFamily="34" charset="-120"/>
              </a:rPr>
              <a:t>يَأْكُلُ</a:t>
            </a:r>
            <a:pPr algn="l" indent="0" marL="0">
              <a:buNone/>
            </a:pPr>
            <a:r>
              <a:rPr lang="en-US" sz="1250" dirty="0">
                <a:solidFill>
                  <a:srgbClr val="1F2A37"/>
                </a:solidFill>
                <a:latin typeface="Calibri" pitchFamily="34" charset="0"/>
                <a:ea typeface="Calibri" pitchFamily="34" charset="-122"/>
                <a:cs typeface="Calibri" pitchFamily="34" charset="-120"/>
              </a:rPr>
              <a:t> and </a:t>
            </a:r>
            <a:pPr algn="l" indent="0" marL="0">
              <a:buNone/>
            </a:pPr>
            <a:r>
              <a:rPr lang="ar-SA" altLang="en-US" sz="1650" dirty="0">
                <a:solidFill>
                  <a:srgbClr val="1F2A37"/>
                </a:solidFill>
                <a:latin typeface="Amiri" pitchFamily="34" charset="0"/>
                <a:ea typeface="Amiri" pitchFamily="34" charset="-122"/>
                <a:cs typeface="Amiri" pitchFamily="34" charset="-120"/>
              </a:rPr>
              <a:t>يَشْرَبُ</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two language areas explain problems?</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Family and clothes</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Past holiday narrative and prices</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Passive and cause–effect links</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structures introduce solutions?</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34" charset="0"/>
                <a:ea typeface="Amiri" pitchFamily="34" charset="-122"/>
                <a:cs typeface="Amiri" pitchFamily="34" charset="-120"/>
              </a:rPr>
              <a:t>يَجِبُ عَلَى</a:t>
            </a:r>
            <a:pPr algn="l" indent="0" marL="0">
              <a:buNone/>
            </a:pPr>
            <a:r>
              <a:rPr lang="en-US" sz="1250" dirty="0">
                <a:solidFill>
                  <a:srgbClr val="1F2A37"/>
                </a:solidFill>
                <a:latin typeface="Calibri" pitchFamily="34" charset="0"/>
                <a:ea typeface="Calibri" pitchFamily="34" charset="-122"/>
                <a:cs typeface="Calibri" pitchFamily="34" charset="-120"/>
              </a:rPr>
              <a:t> ... </a:t>
            </a:r>
            <a:pPr algn="l" indent="0" marL="0">
              <a:buNone/>
            </a:pPr>
            <a:r>
              <a:rPr lang="ar-SA" altLang="en-US" sz="1650" dirty="0">
                <a:solidFill>
                  <a:srgbClr val="1F2A37"/>
                </a:solidFill>
                <a:latin typeface="Amiri" pitchFamily="34" charset="0"/>
                <a:ea typeface="Amiri" pitchFamily="34" charset="-122"/>
                <a:cs typeface="Amiri" pitchFamily="34" charset="-120"/>
              </a:rPr>
              <a:t>أَنْ</a:t>
            </a:r>
            <a:pPr algn="l" indent="0" marL="0">
              <a:buNone/>
            </a:pPr>
            <a:r>
              <a:rPr lang="en-US" sz="1250" dirty="0">
                <a:solidFill>
                  <a:srgbClr val="1F2A37"/>
                </a:solidFill>
                <a:latin typeface="Calibri" pitchFamily="34" charset="0"/>
                <a:ea typeface="Calibri" pitchFamily="34" charset="-122"/>
                <a:cs typeface="Calibri" pitchFamily="34" charset="-120"/>
              </a:rPr>
              <a:t> and </a:t>
            </a:r>
            <a:pPr algn="l" indent="0" marL="0">
              <a:buNone/>
            </a:pPr>
            <a:r>
              <a:rPr lang="ar-SA" altLang="en-US" sz="1650" dirty="0">
                <a:solidFill>
                  <a:srgbClr val="1F2A37"/>
                </a:solidFill>
                <a:latin typeface="Amiri" pitchFamily="34" charset="0"/>
                <a:ea typeface="Amiri" pitchFamily="34" charset="-122"/>
                <a:cs typeface="Amiri" pitchFamily="34" charset="-120"/>
              </a:rPr>
              <a:t>لِكَيْ</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34" charset="0"/>
                <a:ea typeface="Amiri" pitchFamily="34" charset="-122"/>
                <a:cs typeface="Amiri" pitchFamily="34" charset="-120"/>
              </a:rPr>
              <a:t>مُنْذُ</a:t>
            </a:r>
            <a:pPr algn="l" indent="0" marL="0">
              <a:buNone/>
            </a:pPr>
            <a:r>
              <a:rPr lang="en-US" sz="1250" dirty="0">
                <a:solidFill>
                  <a:srgbClr val="1F2A37"/>
                </a:solidFill>
                <a:latin typeface="Calibri" pitchFamily="34" charset="0"/>
                <a:ea typeface="Calibri" pitchFamily="34" charset="-122"/>
                <a:cs typeface="Calibri" pitchFamily="34" charset="-120"/>
              </a:rPr>
              <a:t> and </a:t>
            </a:r>
            <a:pPr algn="l" indent="0" marL="0">
              <a:buNone/>
            </a:pPr>
            <a:r>
              <a:rPr lang="ar-SA" altLang="en-US" sz="1650" dirty="0">
                <a:solidFill>
                  <a:srgbClr val="1F2A37"/>
                </a:solidFill>
                <a:latin typeface="Amiri" pitchFamily="34" charset="0"/>
                <a:ea typeface="Amiri" pitchFamily="34" charset="-122"/>
                <a:cs typeface="Amiri" pitchFamily="34" charset="-120"/>
              </a:rPr>
              <a:t>قَبْلَ</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34" charset="0"/>
                <a:ea typeface="Amiri" pitchFamily="34" charset="-122"/>
                <a:cs typeface="Amiri" pitchFamily="34" charset="-120"/>
              </a:rPr>
              <a:t>كَمْ</a:t>
            </a:r>
            <a:pPr algn="l" indent="0" marL="0">
              <a:buNone/>
            </a:pPr>
            <a:r>
              <a:rPr lang="en-US" sz="1250" dirty="0">
                <a:solidFill>
                  <a:srgbClr val="1F2A37"/>
                </a:solidFill>
                <a:latin typeface="Calibri" pitchFamily="34" charset="0"/>
                <a:ea typeface="Calibri" pitchFamily="34" charset="-122"/>
                <a:cs typeface="Calibri" pitchFamily="34" charset="-120"/>
              </a:rPr>
              <a:t> and </a:t>
            </a:r>
            <a:pPr algn="l" indent="0" marL="0">
              <a:buNone/>
            </a:pPr>
            <a:r>
              <a:rPr lang="ar-SA" altLang="en-US" sz="1650" dirty="0">
                <a:solidFill>
                  <a:srgbClr val="1F2A37"/>
                </a:solidFill>
                <a:latin typeface="Amiri" pitchFamily="34" charset="0"/>
                <a:ea typeface="Amiri" pitchFamily="34" charset="-122"/>
                <a:cs typeface="Amiri" pitchFamily="34" charset="-120"/>
              </a:rPr>
              <a:t>بِكَمْ</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Name one digital term in the text.</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المَلْعَبُ</a:t>
            </a:r>
            <a:endParaRPr lang="ar-SA" sz="20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الذَّكَاءُ الاصْطِنَاعِيُّ</a:t>
            </a:r>
            <a:endParaRPr lang="ar-SA" sz="20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المِظَلَّةُ</a:t>
            </a:r>
            <a:endParaRPr lang="ar-SA" sz="20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were benefits and risks evaluated?</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With balanced arguments</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With no reasons</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With isolated vocabulary only</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current goal?</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Learn the alphabet again</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Avoid all formal language</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Use the range accurately under pressure</a:t>
            </a:r>
            <a:endParaRPr lang="en-US" sz="12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45</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D4-L11 · Unit Review</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D4-L11</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Which two verbs are named for climate description?</a:t>
            </a:r>
            <a:endParaRPr lang="en-US" sz="120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ar-SA" altLang="en-US" sz="1650" dirty="0">
                <a:solidFill>
                  <a:srgbClr val="9AA1AB"/>
                </a:solidFill>
                <a:latin typeface="Amiri" pitchFamily="34" charset="0"/>
                <a:ea typeface="Amiri" pitchFamily="34" charset="-122"/>
                <a:cs typeface="Amiri" pitchFamily="34" charset="-120"/>
              </a:rPr>
              <a:t>يَنْشُرُ</a:t>
            </a:r>
            <a:pPr algn="l" indent="0" marL="0">
              <a:buNone/>
            </a:pPr>
            <a:r>
              <a:rPr lang="en-US" sz="1250" dirty="0">
                <a:solidFill>
                  <a:srgbClr val="9AA1AB"/>
                </a:solidFill>
                <a:latin typeface="Calibri" pitchFamily="34" charset="0"/>
                <a:ea typeface="Calibri" pitchFamily="34" charset="-122"/>
                <a:cs typeface="Calibri" pitchFamily="34" charset="-120"/>
              </a:rPr>
              <a:t> and </a:t>
            </a:r>
            <a:pPr algn="l" indent="0" marL="0">
              <a:buNone/>
            </a:pPr>
            <a:r>
              <a:rPr lang="ar-SA" altLang="en-US" sz="1650" dirty="0">
                <a:solidFill>
                  <a:srgbClr val="9AA1AB"/>
                </a:solidFill>
                <a:latin typeface="Amiri" pitchFamily="34" charset="0"/>
                <a:ea typeface="Amiri" pitchFamily="34" charset="-122"/>
                <a:cs typeface="Amiri" pitchFamily="34" charset="-120"/>
              </a:rPr>
              <a:t>يُعَلِّقُ</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ar-SA" altLang="en-US" sz="1650" b="1" dirty="0">
                <a:solidFill>
                  <a:srgbClr val="1F2A37"/>
                </a:solidFill>
                <a:latin typeface="Amiri" pitchFamily="34" charset="0"/>
                <a:ea typeface="Amiri" pitchFamily="34" charset="-122"/>
                <a:cs typeface="Amiri" pitchFamily="34" charset="-120"/>
              </a:rPr>
              <a:t>يَسُودُ</a:t>
            </a:r>
            <a:pPr algn="l" indent="0" marL="0">
              <a:buNone/>
            </a:pPr>
            <a:r>
              <a:rPr lang="en-US" sz="1250" b="1" dirty="0">
                <a:solidFill>
                  <a:srgbClr val="1F2A37"/>
                </a:solidFill>
                <a:latin typeface="Calibri" pitchFamily="34" charset="0"/>
                <a:ea typeface="Calibri" pitchFamily="34" charset="-122"/>
                <a:cs typeface="Calibri" pitchFamily="34" charset="-120"/>
              </a:rPr>
              <a:t> and </a:t>
            </a:r>
            <a:pPr algn="l" indent="0" marL="0">
              <a:buNone/>
            </a:pPr>
            <a:r>
              <a:rPr lang="ar-SA" altLang="en-US" sz="1650" b="1" dirty="0">
                <a:solidFill>
                  <a:srgbClr val="1F2A37"/>
                </a:solidFill>
                <a:latin typeface="Amiri" pitchFamily="34" charset="0"/>
                <a:ea typeface="Amiri" pitchFamily="34" charset="-122"/>
                <a:cs typeface="Amiri" pitchFamily="34" charset="-120"/>
              </a:rPr>
              <a:t>يَتَّسِمُ بِـ</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ar-SA" altLang="en-US" sz="1650" dirty="0">
                <a:solidFill>
                  <a:srgbClr val="9AA1AB"/>
                </a:solidFill>
                <a:latin typeface="Amiri" pitchFamily="34" charset="0"/>
                <a:ea typeface="Amiri" pitchFamily="34" charset="-122"/>
                <a:cs typeface="Amiri" pitchFamily="34" charset="-120"/>
              </a:rPr>
              <a:t>يَأْكُلُ</a:t>
            </a:r>
            <a:pPr algn="l" indent="0" marL="0">
              <a:buNone/>
            </a:pPr>
            <a:r>
              <a:rPr lang="en-US" sz="1250" dirty="0">
                <a:solidFill>
                  <a:srgbClr val="9AA1AB"/>
                </a:solidFill>
                <a:latin typeface="Calibri" pitchFamily="34" charset="0"/>
                <a:ea typeface="Calibri" pitchFamily="34" charset="-122"/>
                <a:cs typeface="Calibri" pitchFamily="34" charset="-120"/>
              </a:rPr>
              <a:t> and </a:t>
            </a:r>
            <a:pPr algn="l" indent="0" marL="0">
              <a:buNone/>
            </a:pPr>
            <a:r>
              <a:rPr lang="ar-SA" altLang="en-US" sz="1650" dirty="0">
                <a:solidFill>
                  <a:srgbClr val="9AA1AB"/>
                </a:solidFill>
                <a:latin typeface="Amiri" pitchFamily="34" charset="0"/>
                <a:ea typeface="Amiri" pitchFamily="34" charset="-122"/>
                <a:cs typeface="Amiri" pitchFamily="34" charset="-120"/>
              </a:rPr>
              <a:t>يَشْرَبُ</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opening names them.</a:t>
            </a:r>
            <a:endParaRPr lang="en-US" sz="10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two language areas explain problems?</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Family and clothes</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ea typeface="Calibri" pitchFamily="34" charset="-122"/>
                <a:cs typeface="Calibri" pitchFamily="34" charset="-120"/>
              </a:rPr>
              <a:t>Past holiday narrative and prices</a:t>
            </a:r>
            <a:endParaRPr lang="en-US" sz="11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Passive and cause–effect links</a:t>
            </a:r>
            <a:endParaRPr lang="en-US" sz="11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250" dirty="0">
                <a:solidFill>
                  <a:srgbClr val="8A6D1E"/>
                </a:solidFill>
                <a:latin typeface="Amiri" pitchFamily="34" charset="0"/>
                <a:ea typeface="Amiri" pitchFamily="34" charset="-122"/>
                <a:cs typeface="Amiri" pitchFamily="34" charset="-120"/>
              </a:rPr>
              <a:t>المبني للمجهول وروابط السبب والنتيجة.</a:t>
            </a:r>
            <a:endParaRPr lang="ar-SA" sz="12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structures introduce solutions?</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ar-SA" altLang="en-US" sz="1650" b="1" dirty="0">
                <a:solidFill>
                  <a:srgbClr val="1F2A37"/>
                </a:solidFill>
                <a:latin typeface="Amiri" pitchFamily="34" charset="0"/>
                <a:ea typeface="Amiri" pitchFamily="34" charset="-122"/>
                <a:cs typeface="Amiri" pitchFamily="34" charset="-120"/>
              </a:rPr>
              <a:t>يَجِبُ عَلَى</a:t>
            </a:r>
            <a:pPr algn="l" indent="0" marL="0">
              <a:buNone/>
            </a:pPr>
            <a:r>
              <a:rPr lang="en-US" sz="1250" b="1" dirty="0">
                <a:solidFill>
                  <a:srgbClr val="1F2A37"/>
                </a:solidFill>
                <a:latin typeface="Calibri" pitchFamily="34" charset="0"/>
                <a:ea typeface="Calibri" pitchFamily="34" charset="-122"/>
                <a:cs typeface="Calibri" pitchFamily="34" charset="-120"/>
              </a:rPr>
              <a:t> ... </a:t>
            </a:r>
            <a:pPr algn="l" indent="0" marL="0">
              <a:buNone/>
            </a:pPr>
            <a:r>
              <a:rPr lang="ar-SA" altLang="en-US" sz="1650" b="1" dirty="0">
                <a:solidFill>
                  <a:srgbClr val="1F2A37"/>
                </a:solidFill>
                <a:latin typeface="Amiri" pitchFamily="34" charset="0"/>
                <a:ea typeface="Amiri" pitchFamily="34" charset="-122"/>
                <a:cs typeface="Amiri" pitchFamily="34" charset="-120"/>
              </a:rPr>
              <a:t>أَنْ</a:t>
            </a:r>
            <a:pPr algn="l" indent="0" marL="0">
              <a:buNone/>
            </a:pPr>
            <a:r>
              <a:rPr lang="en-US" sz="1250" b="1" dirty="0">
                <a:solidFill>
                  <a:srgbClr val="1F2A37"/>
                </a:solidFill>
                <a:latin typeface="Calibri" pitchFamily="34" charset="0"/>
                <a:ea typeface="Calibri" pitchFamily="34" charset="-122"/>
                <a:cs typeface="Calibri" pitchFamily="34" charset="-120"/>
              </a:rPr>
              <a:t> and </a:t>
            </a:r>
            <a:pPr algn="l" indent="0" marL="0">
              <a:buNone/>
            </a:pPr>
            <a:r>
              <a:rPr lang="ar-SA" altLang="en-US" sz="1650" b="1" dirty="0">
                <a:solidFill>
                  <a:srgbClr val="1F2A37"/>
                </a:solidFill>
                <a:latin typeface="Amiri" pitchFamily="34" charset="0"/>
                <a:ea typeface="Amiri" pitchFamily="34" charset="-122"/>
                <a:cs typeface="Amiri" pitchFamily="34" charset="-120"/>
              </a:rPr>
              <a:t>لِكَيْ</a:t>
            </a:r>
            <a:endParaRPr lang="en-US" sz="12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ar-SA" altLang="en-US" sz="1650" dirty="0">
                <a:solidFill>
                  <a:srgbClr val="9AA1AB"/>
                </a:solidFill>
                <a:latin typeface="Amiri" pitchFamily="34" charset="0"/>
                <a:ea typeface="Amiri" pitchFamily="34" charset="-122"/>
                <a:cs typeface="Amiri" pitchFamily="34" charset="-120"/>
              </a:rPr>
              <a:t>مُنْذُ</a:t>
            </a:r>
            <a:pPr algn="l" indent="0" marL="0">
              <a:buNone/>
            </a:pPr>
            <a:r>
              <a:rPr lang="en-US" sz="1250" dirty="0">
                <a:solidFill>
                  <a:srgbClr val="9AA1AB"/>
                </a:solidFill>
                <a:latin typeface="Calibri" pitchFamily="34" charset="0"/>
                <a:ea typeface="Calibri" pitchFamily="34" charset="-122"/>
                <a:cs typeface="Calibri" pitchFamily="34" charset="-120"/>
              </a:rPr>
              <a:t> and </a:t>
            </a:r>
            <a:pPr algn="l" indent="0" marL="0">
              <a:buNone/>
            </a:pPr>
            <a:r>
              <a:rPr lang="ar-SA" altLang="en-US" sz="1650" dirty="0">
                <a:solidFill>
                  <a:srgbClr val="9AA1AB"/>
                </a:solidFill>
                <a:latin typeface="Amiri" pitchFamily="34" charset="0"/>
                <a:ea typeface="Amiri" pitchFamily="34" charset="-122"/>
                <a:cs typeface="Amiri" pitchFamily="34" charset="-120"/>
              </a:rPr>
              <a:t>قَبْلَ</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ar-SA" altLang="en-US" sz="1650" dirty="0">
                <a:solidFill>
                  <a:srgbClr val="9AA1AB"/>
                </a:solidFill>
                <a:latin typeface="Amiri" pitchFamily="34" charset="0"/>
                <a:ea typeface="Amiri" pitchFamily="34" charset="-122"/>
                <a:cs typeface="Amiri" pitchFamily="34" charset="-120"/>
              </a:rPr>
              <a:t>كَمْ</a:t>
            </a:r>
            <a:pPr algn="l" indent="0" marL="0">
              <a:buNone/>
            </a:pPr>
            <a:r>
              <a:rPr lang="en-US" sz="1250" dirty="0">
                <a:solidFill>
                  <a:srgbClr val="9AA1AB"/>
                </a:solidFill>
                <a:latin typeface="Calibri" pitchFamily="34" charset="0"/>
                <a:ea typeface="Calibri" pitchFamily="34" charset="-122"/>
                <a:cs typeface="Calibri" pitchFamily="34" charset="-120"/>
              </a:rPr>
              <a:t> and </a:t>
            </a:r>
            <a:pPr algn="l" indent="0" marL="0">
              <a:buNone/>
            </a:pPr>
            <a:r>
              <a:rPr lang="ar-SA" altLang="en-US" sz="1650" dirty="0">
                <a:solidFill>
                  <a:srgbClr val="9AA1AB"/>
                </a:solidFill>
                <a:latin typeface="Amiri" pitchFamily="34" charset="0"/>
                <a:ea typeface="Amiri" pitchFamily="34" charset="-122"/>
                <a:cs typeface="Amiri" pitchFamily="34" charset="-120"/>
              </a:rPr>
              <a:t>بِكَمْ</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They are explicitly named.</a:t>
            </a:r>
            <a:endParaRPr lang="en-US" sz="10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Name one digital term in the text.</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المَلْعَبُ</a:t>
            </a:r>
            <a:endParaRPr lang="ar-SA" sz="170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الذَّكَاءُ الاصْطِنَاعِيُّ</a:t>
            </a:r>
            <a:endParaRPr lang="ar-SA" sz="170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المِظَلَّةُ</a:t>
            </a:r>
            <a:endParaRPr lang="ar-SA" sz="170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AI is named.</a:t>
            </a:r>
            <a:endParaRPr lang="en-US" sz="10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were benefits and risks evaluated?</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With balanced arguments</a:t>
            </a:r>
            <a:endParaRPr lang="en-US" sz="12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With no reasons</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ea typeface="Calibri" pitchFamily="34" charset="-122"/>
                <a:cs typeface="Calibri" pitchFamily="34" charset="-120"/>
              </a:rPr>
              <a:t>With isolated vocabulary only</a:t>
            </a:r>
            <a:endParaRPr lang="en-US" sz="11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بحجج متوازنة.</a:t>
            </a:r>
            <a:endParaRPr lang="ar-SA" sz="13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current goal?</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Learn the alphabet again</a:t>
            </a:r>
            <a:endParaRPr lang="en-US" sz="12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Avoid all formal language</a:t>
            </a:r>
            <a:endParaRPr lang="en-US" sz="12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Use the range accurately under pressure</a:t>
            </a:r>
            <a:endParaRPr lang="en-US" sz="115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final sentence states it.</a:t>
            </a:r>
            <a:endParaRPr lang="en-US" sz="10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45</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D4-L11 · Unit Review</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ea typeface="Cambria" pitchFamily="34" charset="-122"/>
                <a:cs typeface="Cambria" pitchFamily="34" charset="-120"/>
              </a:rPr>
              <a:t>D4 Consolidation — Range Mastery and Speaking Preparation — Arabic application mission</a:t>
            </a:r>
            <a:endParaRPr lang="en-US" sz="1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D4-L11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integrates passive, cause and result accurately?</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1300" dirty="0">
                <a:solidFill>
                  <a:srgbClr val="1F2A37"/>
                </a:solidFill>
                <a:latin typeface="Amiri" pitchFamily="34" charset="0"/>
                <a:ea typeface="Amiri" pitchFamily="34" charset="-122"/>
                <a:cs typeface="Amiri" pitchFamily="34" charset="-120"/>
              </a:rPr>
              <a:t>يُلَوَّثُ الهَوَاءُ لِكَيْ تَزْدَادَ الأَمْرَاضُ.</a:t>
            </a:r>
            <a:endParaRPr lang="ar-SA" sz="130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1300" dirty="0">
                <a:solidFill>
                  <a:srgbClr val="1F2A37"/>
                </a:solidFill>
                <a:latin typeface="Amiri" pitchFamily="34" charset="0"/>
                <a:ea typeface="Amiri" pitchFamily="34" charset="-122"/>
                <a:cs typeface="Amiri" pitchFamily="34" charset="-120"/>
              </a:rPr>
              <a:t>يُلَوَّثُ الهَوَاءُ بِسَبَبِ العَوَادِمِ، مِمَّا يُؤَدِّي إِلَى أَمْرَاضٍ.</a:t>
            </a:r>
            <a:endParaRPr lang="ar-SA" sz="130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1300" dirty="0">
                <a:solidFill>
                  <a:srgbClr val="1F2A37"/>
                </a:solidFill>
                <a:latin typeface="Amiri" pitchFamily="34" charset="0"/>
                <a:ea typeface="Amiri" pitchFamily="34" charset="-122"/>
                <a:cs typeface="Amiri" pitchFamily="34" charset="-120"/>
              </a:rPr>
              <a:t>يَنْبَعِثُ الهَوَاءُ مِنَ الأَمْرَاضِ.</a:t>
            </a:r>
            <a:endParaRPr lang="ar-SA" sz="130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integrates responsibility and purpose?</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1200" dirty="0">
                <a:solidFill>
                  <a:srgbClr val="1F2A37"/>
                </a:solidFill>
                <a:latin typeface="Amiri" pitchFamily="34" charset="0"/>
                <a:ea typeface="Amiri" pitchFamily="34" charset="-122"/>
                <a:cs typeface="Amiri" pitchFamily="34" charset="-120"/>
              </a:rPr>
              <a:t>يَجِبُ عَلَى البَلَدِيَّةِ أَنْ تَزْرَعَ الأَشْجَارَ لِكَيْ تُحَسِّنَ الهَوَاءَ.</a:t>
            </a:r>
            <a:endParaRPr lang="ar-SA" sz="120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1200" dirty="0">
                <a:solidFill>
                  <a:srgbClr val="1F2A37"/>
                </a:solidFill>
                <a:latin typeface="Amiri" pitchFamily="34" charset="0"/>
                <a:ea typeface="Amiri" pitchFamily="34" charset="-122"/>
                <a:cs typeface="Amiri" pitchFamily="34" charset="-120"/>
              </a:rPr>
              <a:t>يَجِبُ عَلَى الأَشْجَارِ أَنْ تَزْرَعَ البَلَدِيَّةَ.</a:t>
            </a:r>
            <a:endParaRPr lang="ar-SA" sz="120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1200" dirty="0">
                <a:solidFill>
                  <a:srgbClr val="1F2A37"/>
                </a:solidFill>
                <a:latin typeface="Amiri" pitchFamily="34" charset="0"/>
                <a:ea typeface="Amiri" pitchFamily="34" charset="-122"/>
                <a:cs typeface="Amiri" pitchFamily="34" charset="-120"/>
              </a:rPr>
              <a:t>يَجِبُ البَلَدِيَّةُ تَزْرَعُ الأَشْجَارَ لِكَيْ الهَوَاءُ.</a:t>
            </a:r>
            <a:endParaRPr lang="ar-SA" sz="120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form after </a:t>
            </a:r>
            <a:pPr algn="l" indent="0" marL="0">
              <a:buNone/>
            </a:pPr>
            <a:r>
              <a:rPr lang="ar-SA" altLang="en-US" sz="1650" b="1" dirty="0">
                <a:solidFill>
                  <a:srgbClr val="1B3B6F"/>
                </a:solidFill>
                <a:latin typeface="Amiri" pitchFamily="34" charset="0"/>
                <a:ea typeface="Amiri" pitchFamily="34" charset="-122"/>
                <a:cs typeface="Amiri" pitchFamily="34" charset="-120"/>
              </a:rPr>
              <a:t>لكي</a:t>
            </a:r>
            <a:pPr algn="l" indent="0" marL="0">
              <a:buNone/>
            </a:pPr>
            <a:r>
              <a:rPr lang="en-US" sz="1250" b="1" dirty="0">
                <a:solidFill>
                  <a:srgbClr val="1B3B6F"/>
                </a:solidFill>
                <a:latin typeface="Calibri" pitchFamily="34" charset="0"/>
                <a:ea typeface="Calibri" pitchFamily="34" charset="-122"/>
                <a:cs typeface="Calibri" pitchFamily="34" charset="-120"/>
              </a:rPr>
              <a:t> is accurate?</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لِكَيْ نُقَلِّلُ</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لِكَيْ نُقَلِّلْ</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لِكَيْ نُقَلِّلَ</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is accurate for water becoming scarce?</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يَشِحُّ المِيَاهُ</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تَنْضَبُ المِيَاهَ</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تَشِحُّ المِيَاهُ</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response uses self-correction productively?</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1400" dirty="0">
                <a:solidFill>
                  <a:srgbClr val="1F2A37"/>
                </a:solidFill>
                <a:latin typeface="Amiri" pitchFamily="34" charset="0"/>
                <a:ea typeface="Amiri" pitchFamily="34" charset="-122"/>
                <a:cs typeface="Amiri" pitchFamily="34" charset="-120"/>
              </a:rPr>
              <a:t>المَشْرُوعُ يَبْدَأُ فِي يُونْيُو—لِأُصَحِّحْ ذٰلِكَ—فِي سِبْتَمْبَرَ.</a:t>
            </a:r>
            <a:endParaRPr lang="ar-SA" sz="140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1400" dirty="0">
                <a:solidFill>
                  <a:srgbClr val="1F2A37"/>
                </a:solidFill>
                <a:latin typeface="Amiri" pitchFamily="34" charset="0"/>
                <a:ea typeface="Amiri" pitchFamily="34" charset="-122"/>
                <a:cs typeface="Amiri" pitchFamily="34" charset="-120"/>
              </a:rPr>
              <a:t>لِأُصَحِّحْ ذٰلِكَ المَشْرُوعُ مَشْرُوعٌ.</a:t>
            </a:r>
            <a:endParaRPr lang="ar-SA" sz="140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1400" dirty="0">
                <a:solidFill>
                  <a:srgbClr val="1F2A37"/>
                </a:solidFill>
                <a:latin typeface="Amiri" pitchFamily="34" charset="0"/>
                <a:ea typeface="Amiri" pitchFamily="34" charset="-122"/>
                <a:cs typeface="Amiri" pitchFamily="34" charset="-120"/>
              </a:rPr>
              <a:t>المَشْرُوعُ يَبْدَأُ فِي يُونْيُو وَيُونْيُو فَقَطْ.</a:t>
            </a:r>
            <a:endParaRPr lang="ar-SA" sz="140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judgement shows D4-level balance?</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1200" dirty="0">
                <a:solidFill>
                  <a:srgbClr val="1F2A37"/>
                </a:solidFill>
                <a:latin typeface="Amiri" pitchFamily="34" charset="0"/>
                <a:ea typeface="Amiri" pitchFamily="34" charset="-122"/>
                <a:cs typeface="Amiri" pitchFamily="34" charset="-120"/>
              </a:rPr>
              <a:t>التِّقْنِيَّةُ مُفِيدَةٌ دَائِمًا دُونَ شُرُوطٍ.</a:t>
            </a:r>
            <a:endParaRPr lang="ar-SA" sz="120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1200" dirty="0">
                <a:solidFill>
                  <a:srgbClr val="1F2A37"/>
                </a:solidFill>
                <a:latin typeface="Amiri" pitchFamily="34" charset="0"/>
                <a:ea typeface="Amiri" pitchFamily="34" charset="-122"/>
                <a:cs typeface="Amiri" pitchFamily="34" charset="-120"/>
              </a:rPr>
              <a:t>التِّقْنِيَّةُ مُفِيدَةٌ إِلَى حَدٍّ مَا، شَرِيطَةَ أَنْ تُحْمَى البَيَانَاتُ.</a:t>
            </a:r>
            <a:endParaRPr lang="ar-SA" sz="120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1200" dirty="0">
                <a:solidFill>
                  <a:srgbClr val="1F2A37"/>
                </a:solidFill>
                <a:latin typeface="Amiri" pitchFamily="34" charset="0"/>
                <a:ea typeface="Amiri" pitchFamily="34" charset="-122"/>
                <a:cs typeface="Amiri" pitchFamily="34" charset="-120"/>
              </a:rPr>
              <a:t>التِّقْنِيَّةُ غَيْرُ مُفِيدَةٍ لِأَنَّهَا تِقْنِيَّةٌ.</a:t>
            </a:r>
            <a:endParaRPr lang="ar-SA" sz="120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45</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D4-L11 · Unit Review</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D4-L11</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integrates passive, cause and result accurately?</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300" dirty="0">
                <a:solidFill>
                  <a:srgbClr val="9AA1AB"/>
                </a:solidFill>
                <a:latin typeface="Amiri" pitchFamily="34" charset="0"/>
                <a:ea typeface="Amiri" pitchFamily="34" charset="-122"/>
                <a:cs typeface="Amiri" pitchFamily="34" charset="-120"/>
              </a:rPr>
              <a:t>يُلَوَّثُ الهَوَاءُ لِكَيْ تَزْدَادَ الأَمْرَاضُ.</a:t>
            </a:r>
            <a:endParaRPr lang="ar-SA" sz="13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300" b="1" dirty="0">
                <a:solidFill>
                  <a:srgbClr val="1F2A37"/>
                </a:solidFill>
                <a:latin typeface="Amiri" pitchFamily="34" charset="0"/>
                <a:ea typeface="Amiri" pitchFamily="34" charset="-122"/>
                <a:cs typeface="Amiri" pitchFamily="34" charset="-120"/>
              </a:rPr>
              <a:t>يُلَوَّثُ الهَوَاءُ بِسَبَبِ العَوَادِمِ، مِمَّا يُؤَدِّي إِلَى أَمْرَاضٍ.</a:t>
            </a:r>
            <a:endParaRPr lang="ar-SA" sz="13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300" dirty="0">
                <a:solidFill>
                  <a:srgbClr val="9AA1AB"/>
                </a:solidFill>
                <a:latin typeface="Amiri" pitchFamily="34" charset="0"/>
                <a:ea typeface="Amiri" pitchFamily="34" charset="-122"/>
                <a:cs typeface="Amiri" pitchFamily="34" charset="-120"/>
              </a:rPr>
              <a:t>يَنْبَعِثُ الهَوَاءُ مِنَ الأَمْرَاضِ.</a:t>
            </a:r>
            <a:endParaRPr lang="ar-SA" sz="13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first is a coherent problem chain.</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integrates responsibility and purpose?</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200" b="1" dirty="0">
                <a:solidFill>
                  <a:srgbClr val="1F2A37"/>
                </a:solidFill>
                <a:latin typeface="Amiri" pitchFamily="34" charset="0"/>
                <a:ea typeface="Amiri" pitchFamily="34" charset="-122"/>
                <a:cs typeface="Amiri" pitchFamily="34" charset="-120"/>
              </a:rPr>
              <a:t>يَجِبُ عَلَى البَلَدِيَّةِ أَنْ تَزْرَعَ الأَشْجَارَ لِكَيْ تُحَسِّنَ الهَوَاءَ.</a:t>
            </a:r>
            <a:endParaRPr lang="ar-SA" sz="12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200" dirty="0">
                <a:solidFill>
                  <a:srgbClr val="9AA1AB"/>
                </a:solidFill>
                <a:latin typeface="Amiri" pitchFamily="34" charset="0"/>
                <a:ea typeface="Amiri" pitchFamily="34" charset="-122"/>
                <a:cs typeface="Amiri" pitchFamily="34" charset="-120"/>
              </a:rPr>
              <a:t>يَجِبُ عَلَى الأَشْجَارِ أَنْ تَزْرَعَ البَلَدِيَّةَ.</a:t>
            </a:r>
            <a:endParaRPr lang="ar-SA" sz="12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200" dirty="0">
                <a:solidFill>
                  <a:srgbClr val="9AA1AB"/>
                </a:solidFill>
                <a:latin typeface="Amiri" pitchFamily="34" charset="0"/>
                <a:ea typeface="Amiri" pitchFamily="34" charset="-122"/>
                <a:cs typeface="Amiri" pitchFamily="34" charset="-120"/>
              </a:rPr>
              <a:t>يَجِبُ البَلَدِيَّةُ تَزْرَعُ الأَشْجَارَ لِكَيْ الهَوَاءُ.</a:t>
            </a:r>
            <a:endParaRPr lang="ar-SA" sz="12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municipality acts for a clear purpose.</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form after </a:t>
            </a:r>
            <a:pPr algn="l" indent="0" marL="0">
              <a:buNone/>
            </a:pPr>
            <a:r>
              <a:rPr lang="ar-SA" altLang="en-US" sz="1650" b="1" dirty="0">
                <a:solidFill>
                  <a:srgbClr val="1B3B6F"/>
                </a:solidFill>
                <a:latin typeface="Amiri" pitchFamily="34" charset="0"/>
                <a:ea typeface="Amiri" pitchFamily="34" charset="-122"/>
                <a:cs typeface="Amiri" pitchFamily="34" charset="-120"/>
              </a:rPr>
              <a:t>لكي</a:t>
            </a:r>
            <a:pPr algn="l" indent="0" marL="0">
              <a:buNone/>
            </a:pPr>
            <a:r>
              <a:rPr lang="en-US" sz="1250" b="1" dirty="0">
                <a:solidFill>
                  <a:srgbClr val="1B3B6F"/>
                </a:solidFill>
                <a:latin typeface="Calibri" pitchFamily="34" charset="0"/>
                <a:ea typeface="Calibri" pitchFamily="34" charset="-122"/>
                <a:cs typeface="Calibri" pitchFamily="34" charset="-120"/>
              </a:rPr>
              <a:t> is accurate?</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لِكَيْ نُقَلِّلُ</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لِكَيْ نُقَلِّلْ</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لِكَيْ نُقَلِّلَ</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sound-ending subjunctive takes fatḥa.</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is accurate for water becoming scarce?</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يَشِحُّ المِيَاهُ</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تَنْضَبُ المِيَاهَ</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تَشِحُّ المِيَاهُ</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المياه</a:t>
            </a:r>
            <a:pPr algn="l" indent="0" marL="0">
              <a:buNone/>
            </a:pPr>
            <a:r>
              <a:rPr lang="en-US" sz="1050" i="1" dirty="0">
                <a:solidFill>
                  <a:srgbClr val="8A6D1E"/>
                </a:solidFill>
                <a:latin typeface="Calibri" pitchFamily="34" charset="0"/>
                <a:ea typeface="Calibri" pitchFamily="34" charset="-122"/>
                <a:cs typeface="Calibri" pitchFamily="34" charset="-120"/>
              </a:rPr>
              <a:t> takes feminine agreement.</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response uses self-correction productively?</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34" charset="0"/>
                <a:ea typeface="Amiri" pitchFamily="34" charset="-122"/>
                <a:cs typeface="Amiri" pitchFamily="34" charset="-120"/>
              </a:rPr>
              <a:t>المَشْرُوعُ يَبْدَأُ فِي يُونْيُو—لِأُصَحِّحْ ذٰلِكَ—فِي سِبْتَمْبَرَ.</a:t>
            </a:r>
            <a:endParaRPr lang="ar-SA" sz="14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400" dirty="0">
                <a:solidFill>
                  <a:srgbClr val="9AA1AB"/>
                </a:solidFill>
                <a:latin typeface="Amiri" pitchFamily="34" charset="0"/>
                <a:ea typeface="Amiri" pitchFamily="34" charset="-122"/>
                <a:cs typeface="Amiri" pitchFamily="34" charset="-120"/>
              </a:rPr>
              <a:t>لِأُصَحِّحْ ذٰلِكَ المَشْرُوعُ مَشْرُوعٌ.</a:t>
            </a:r>
            <a:endParaRPr lang="ar-SA" sz="14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400" dirty="0">
                <a:solidFill>
                  <a:srgbClr val="9AA1AB"/>
                </a:solidFill>
                <a:latin typeface="Amiri" pitchFamily="34" charset="0"/>
                <a:ea typeface="Amiri" pitchFamily="34" charset="-122"/>
                <a:cs typeface="Amiri" pitchFamily="34" charset="-120"/>
              </a:rPr>
              <a:t>المَشْرُوعُ يَبْدَأُ فِي يُونْيُو وَيُونْيُو فَقَطْ.</a:t>
            </a:r>
            <a:endParaRPr lang="ar-SA" sz="14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speaker explicitly corrects the date.</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judgement shows D4-level balance?</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200" dirty="0">
                <a:solidFill>
                  <a:srgbClr val="9AA1AB"/>
                </a:solidFill>
                <a:latin typeface="Amiri" pitchFamily="34" charset="0"/>
                <a:ea typeface="Amiri" pitchFamily="34" charset="-122"/>
                <a:cs typeface="Amiri" pitchFamily="34" charset="-120"/>
              </a:rPr>
              <a:t>التِّقْنِيَّةُ مُفِيدَةٌ دَائِمًا دُونَ شُرُوطٍ.</a:t>
            </a:r>
            <a:endParaRPr lang="ar-SA" sz="12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200" b="1" dirty="0">
                <a:solidFill>
                  <a:srgbClr val="1F2A37"/>
                </a:solidFill>
                <a:latin typeface="Amiri" pitchFamily="34" charset="0"/>
                <a:ea typeface="Amiri" pitchFamily="34" charset="-122"/>
                <a:cs typeface="Amiri" pitchFamily="34" charset="-120"/>
              </a:rPr>
              <a:t>التِّقْنِيَّةُ مُفِيدَةٌ إِلَى حَدٍّ مَا، شَرِيطَةَ أَنْ تُحْمَى البَيَانَاتُ.</a:t>
            </a:r>
            <a:endParaRPr lang="ar-SA" sz="12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200" dirty="0">
                <a:solidFill>
                  <a:srgbClr val="9AA1AB"/>
                </a:solidFill>
                <a:latin typeface="Amiri" pitchFamily="34" charset="0"/>
                <a:ea typeface="Amiri" pitchFamily="34" charset="-122"/>
                <a:cs typeface="Amiri" pitchFamily="34" charset="-120"/>
              </a:rPr>
              <a:t>التِّقْنِيَّةُ غَيْرُ مُفِيدَةٍ لِأَنَّهَا تِقْنِيَّةٌ.</a:t>
            </a:r>
            <a:endParaRPr lang="ar-SA" sz="12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first qualifies the judgement and sets a condition.</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45</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D4-L11 · Unit Review</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D4-L12: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D4-L11</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D4-L12 · D4 Review and Unit Assessment</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تَقْيِيمٌ</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an assessment</a:t>
            </a:r>
            <a:pPr indent="0" marL="0">
              <a:buNone/>
            </a:pPr>
            <a:r>
              <a:rPr lang="en-US" sz="1000" i="1" dirty="0">
                <a:solidFill>
                  <a:srgbClr val="5A6472"/>
                </a:solidFill>
                <a:latin typeface="Calibri" pitchFamily="34" charset="0"/>
                <a:ea typeface="Calibri" pitchFamily="34" charset="-122"/>
                <a:cs typeface="Calibri" pitchFamily="34" charset="-120"/>
              </a:rPr>
              <a:t>  pl. تَقْيِيمَاتٌ</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فَهْمُ المَسْمُوعِ</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listening comprehension</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فَهْمُ المَقْرُوءِ</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reading comprehension</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مَعَايِيرُ التَّصْحِيحِ</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marking criteria</a:t>
            </a:r>
            <a:pPr indent="0" marL="0">
              <a:buNone/>
            </a:pPr>
            <a:r>
              <a:rPr lang="en-US" sz="1000" i="1" dirty="0">
                <a:solidFill>
                  <a:srgbClr val="5A6472"/>
                </a:solidFill>
                <a:latin typeface="Calibri" pitchFamily="34" charset="0"/>
                <a:ea typeface="Calibri" pitchFamily="34" charset="-122"/>
                <a:cs typeface="Calibri" pitchFamily="34" charset="-120"/>
              </a:rPr>
              <a:t>  sing. مِعْيَارٌ</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أُرَاجِعُ إِجَابَتِي</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 check my answer</a:t>
            </a:r>
            <a:pPr indent="0" marL="0">
              <a:buNone/>
            </a:pPr>
            <a:r>
              <a:rPr lang="en-US" sz="1000" i="1" dirty="0">
                <a:solidFill>
                  <a:srgbClr val="5A6472"/>
                </a:solidFill>
                <a:latin typeface="Calibri" pitchFamily="34" charset="0"/>
                <a:ea typeface="Calibri" pitchFamily="34" charset="-122"/>
                <a:cs typeface="Calibri" pitchFamily="34" charset="-120"/>
              </a:rPr>
              <a:t>  تُرَاجِعُ she</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Write your D4 chain from memory: one sentence each for climate, problem, solution and judgement.</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34" charset="0"/>
                <a:ea typeface="Amiri" pitchFamily="34" charset="-122"/>
                <a:cs typeface="Amiri" pitchFamily="34" charset="-120"/>
              </a:rPr>
              <a:t>يَسُودُ … · يُلَوَّثُ … بِسَبَبِ … · يَجِبُ عَلَى … أَنْ … لِكَيْ … · شَرِيطَةَ أَنْ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Learn the five chain frames and the five assessment words; redo today’s exit ticket.</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The full chain in 100–120 words, checked with the three classic slips.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(130–140 words) + count and label your D4 features.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44 / 45</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D4-L11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400" b="1" dirty="0">
                <a:solidFill>
                  <a:srgbClr val="FFFFFF"/>
                </a:solidFill>
                <a:latin typeface="Cambria" pitchFamily="34" charset="0"/>
                <a:ea typeface="Cambria" pitchFamily="34" charset="-122"/>
                <a:cs typeface="Cambria" pitchFamily="34" charset="-120"/>
              </a:rPr>
              <a:t>D4-L12 · D4 Review and Unit Assessment</a:t>
            </a:r>
            <a:endParaRPr lang="en-US" sz="24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المُرَاجَعَةُ وَتَقْيِيمُ الوَحْدَةِ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build a CHAIN — climate → problem → cause → solution → judgement — and check -a after </a:t>
            </a:r>
            <a:pPr algn="l" indent="0" marL="0">
              <a:buNone/>
            </a:pPr>
            <a:r>
              <a:rPr lang="ar-SA" altLang="en-US" sz="1700" b="1" dirty="0">
                <a:solidFill>
                  <a:srgbClr val="FFFFFF"/>
                </a:solidFill>
                <a:latin typeface="Amiri" pitchFamily="34" charset="0"/>
                <a:ea typeface="Amiri" pitchFamily="34" charset="-122"/>
                <a:cs typeface="Amiri" pitchFamily="34" charset="-120"/>
              </a:rPr>
              <a:t>أَنْ</a:t>
            </a:r>
            <a:pPr algn="l" indent="0" marL="0">
              <a:buNone/>
            </a:pPr>
            <a:r>
              <a:rPr lang="en-US" sz="1300" b="1" dirty="0">
                <a:solidFill>
                  <a:srgbClr val="FFFFFF"/>
                </a:solidFill>
                <a:latin typeface="Calibri" pitchFamily="34" charset="0"/>
                <a:ea typeface="Calibri" pitchFamily="34" charset="-122"/>
                <a:cs typeface="Calibri" pitchFamily="34" charset="-120"/>
              </a:rPr>
              <a:t>, </a:t>
            </a:r>
            <a:pPr algn="l" indent="0" marL="0">
              <a:buNone/>
            </a:pPr>
            <a:r>
              <a:rPr lang="ar-SA" altLang="en-US" sz="1700" b="1" dirty="0">
                <a:solidFill>
                  <a:srgbClr val="FFFFFF"/>
                </a:solidFill>
                <a:latin typeface="Amiri" pitchFamily="34" charset="0"/>
                <a:ea typeface="Amiri" pitchFamily="34" charset="-122"/>
                <a:cs typeface="Amiri" pitchFamily="34" charset="-120"/>
              </a:rPr>
              <a:t>لِكَيْ</a:t>
            </a:r>
            <a:pPr algn="l" indent="0" marL="0">
              <a:buNone/>
            </a:pPr>
            <a:r>
              <a:rPr lang="en-US" sz="1300" b="1" dirty="0">
                <a:solidFill>
                  <a:srgbClr val="FFFFFF"/>
                </a:solidFill>
                <a:latin typeface="Calibri" pitchFamily="34" charset="0"/>
                <a:ea typeface="Calibri" pitchFamily="34" charset="-122"/>
                <a:cs typeface="Calibri" pitchFamily="34" charset="-120"/>
              </a:rPr>
              <a:t> and </a:t>
            </a:r>
            <a:pPr algn="l" indent="0" marL="0">
              <a:buNone/>
            </a:pPr>
            <a:r>
              <a:rPr lang="ar-SA" altLang="en-US" sz="1700" b="1" dirty="0">
                <a:solidFill>
                  <a:srgbClr val="FFFFFF"/>
                </a:solidFill>
                <a:latin typeface="Amiri" pitchFamily="34" charset="0"/>
                <a:ea typeface="Amiri" pitchFamily="34" charset="-122"/>
                <a:cs typeface="Amiri" pitchFamily="34" charset="-120"/>
              </a:rPr>
              <a:t>أَنَّ</a:t>
            </a:r>
            <a:pPr algn="l"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45</Slides>
  <Notes>45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45</vt:i4>
      </vt:variant>
    </vt:vector>
  </HeadingPairs>
  <TitlesOfParts>
    <vt:vector size="4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D4-L11 · D4 Consolidation — Range Mastery and Speaking Preparation</dc:title>
  <dc:subject>PptxGenJS Presentation</dc:subject>
  <dc:creator>Al Madina Online School · Arabic Department</dc:creator>
  <cp:lastModifiedBy>Al Madina Online School · Arabic Department</cp:lastModifiedBy>
  <cp:revision>1</cp:revision>
  <dcterms:created xsi:type="dcterms:W3CDTF">2026-10-03T10:11:12Z</dcterms:created>
  <dcterms:modified xsi:type="dcterms:W3CDTF">2026-10-03T10:11:12Z</dcterms:modified>
</cp:coreProperties>
</file>