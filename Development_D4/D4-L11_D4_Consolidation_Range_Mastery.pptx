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Lst>
  <p:notesMasterIdLst>
    <p:notesMasterId r:id="rId4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notesMaster" Target="notesMasters/notesMaster1.xml"/><Relationship Id="rId48" Type="http://schemas.openxmlformats.org/officeDocument/2006/relationships/presProps" Target="presProps.xml"/><Relationship Id="rId49" Type="http://schemas.openxmlformats.org/officeDocument/2006/relationships/viewProps" Target="viewProps.xml"/><Relationship Id="rId50" Type="http://schemas.openxmlformats.org/officeDocument/2006/relationships/theme" Target="theme/theme1.xml"/><Relationship Id="rId5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AT A GLANCE — planned for 56 minutes, leaving about 4 minutes for Teams delays.
0–1 Welcome · 1–2 Lesson map · 2–9 Do Now + answers · 9–10 Objectives · 10–17 Key words · 17–23 Grammar · 23–25 Quick check · 25–28 I Do · 28–37 We Do · 37–49 You Do (speaking 3 + writing 9, with live feedback) · 49–54 Feedback (model, self-check, exit ticket) · 54–56 Preparation for next lesson.
FLEX slides are optional. Use them if the class is moving quickly; otherwise the same activities are on the website for homework.
Content source: Miftah Arabic website, Pathways › Development › D4 Environment, Weather and Technology › D4-L11. The website lesson “D4 Consolidation — Range Mastery and Speaking Preparation”: vocabulary, grammar rules and quiz, patterns, common mistakes, sorter, listening, reading, speaking prompts and model, writing task and model, differentiation, final check and the lesson mission. Picture match: website visual game “D4 Consolidation — Range Mastery and Speaking Preparation”.
All vocabulary, grammar rules, quizzes, the listening script, the reading text, speaking prompts and model answers come from those pages, so students meet the same language in class and at home. Anything teacher-made (Core scaffolds, riddles, translations) is labelled in the notes.
SUPPORT FOR THIS CLASS (Arabic not yet secure; mixed levels):
• No new grammar today: this is the D4 review before the D4-L12 assessment.
• Core: one accurate sentence for each link of the chain (climate · problem · solution) with frames. Develop: the full chain in a paragraph with one passive, one cause–effect and one purpose. Stretch: the website writing task (130–140 words, seven meaningful D4 features) + a qualified judgement and a self-audit.
• Speaking focus: self-correction phrases (لِأُصَحِّحْ ذٰلِكَ · أَقْصِدُ أَنَّ · بِعِبَارَةٍ أُخْرَى) — a recovered mistake is better than silence.
• Use the Do Now and quick-check results to choose each student’s route for the final You Do.
• TEACHER-WRITTEN ITEMS: two quiz distractors replaced (they differed only in vowels), “D4” written out in Arabic inside the Arabic texts, and English added to the model sentences and speaking model.
• Colour code (same as all Miftah lessons): WHO = blue, MEANING = purple, ENDING = pink, PATTERN = orange, KEY WORD = teal.
• SEND “automatic doors”: lesson map, chunked tasks, read-along scripts with English, cover-the-text reading and “pass” for reading aloud are built in for everyone, so no one is singled out.
ROUTES: Core (green) = students whose Arabic is not yet secure; Develop (amber) = on track; Stretch (red) = confident. Same objective for everyone — the task changes, not the goal (EAL Guide: adapt the task, not the objective).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(30 seconds) — SEND training: “absolute predictability”. Show the whole journey so students know what is coming and when they will be asked to speak or write. Point to the green box: using the Core supports is normal and expected (“automatic doors”).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(5 min independent + 2 min going through answers).
Questions 1–2 test two of the five words prepared at home at the end of D4-L10. Questions 3–5 retrieve D4-L10, D4-L02 and D4-L03. Note which of 3–5 each student gets wrong: it points to their revision priority today.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(2 min). Reveal and ask “why?” for each (● 10s think → named student, warned in advance).
Key idea for today (bottom-right card): A top answer is a CHAIN, not a list: every feature links to the next idea.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OBJECTIVES (1 min).
Left: the lesson objectives exactly as they appear on the website.
Right: the same objectives broken into three routes. Everyone starts with Core; most students reach Develop; confident students aim for Stretch. Students decide privately which route they are aiming for (● Think 10s) — revisit in Feedback.
The route statements turn the website objectives into this lesson’s concrete targets.
EAL: read the Core statements aloud, pointing to the Arabic as you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HOW TO TEACH EACH GROUP (EAL pre-teaching routine, 7 min)
1. HEAR IT: say the word twice, clearly, with a gesture where possible.
2. SAY IT: choral repetition — “I say, you say” — then two volunteers.
3. SEE IT: point out the part of the word that carries today’s grammar (colour code).
4. USE IT: quick check — “Type the NUMBER of the word that means …” in the chat.
Transliteration is printed for Core students. Develop/Stretch students should cover it and read the Arabic.
FLEX groups are for fast classes or homework — every word is on the website vocabulary tab.
URDU BRIDGE: نقطہ، قوت، عبارت are shared. CAREFUL: Urdu تحسین = praise; Arabic تَحْسِينٌ = improvement (مَجَالُ تَحْسِينٍ = an area for improvement). Urdu اعداد (aʿdād) = numbers; Arabic إِعْدَادٌ (iʿdād, with kasra) = preparation.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Range and performance (website vocabulary (1 of 2)). Hear → Say → See → Use. Transliteration is printed for Core students (cover it for Develop/Stretch).
Range and performance: the words a teacher or examiner uses in feedback. Use نُقْطَةُ قُوَّةٍ and مَجَالُ تَحْسِينٍ to talk about your own 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Range and performance (website vocabulary (2 of 2)). Hear → Say → See → Use. Transliteration is printed for Core students (cover it for Develop/Stretch).
Range and performance: the words a teacher or examiner uses in feedback. Use نُقْطَةُ قُوَّةٍ and مَجَالُ تَحْسِينٍ to talk about your own 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Speaking and self-correction (website vocabulary (1 of 2)). Hear → Say → See → Use. Transliteration is printed for Core students (cover it for Develop/Stretch).
Speaking and self-correction: phrases that keep you talking when you make a mistake or need time — a recovered mistake earns more than silence.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Speaking and self-correction (website vocabulary (2 of 2)). Hear → Say → See → Use. Transliteration is printed for Core students (cover it for Develop/Stretch).
Speaking and self-correction: phrases that keep you talking when you make a mistake or need time — a recovered mistake earns more than silence.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1 — website rules “Climate and weather accuracy” (keep climate description and weather events distinct), “Problem, cause and passive” (use a true passive where the affected thing is foregrounded) and “Solution and purpose” (state who must act and why). Rule 4 (“Qualified academic judgement”) is row 5. Colours: blue = climate, pink = problem chain, purple = solution / condition.
Core: rows 1, 2 and 4 are enough for a strong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2 — the three website common mistakes for this lesson, turned into a hand-in checklist. Students copy the three heads into the margin of their writing and tick each one.
Card 3 in full (website): عَلَى الرَّغْمِ مِنْ أَنَّ المَشْرُوعَ مُكَلِّفٌ، فَإِنَّهُ يُقَلِّلُ الهَدْرَ عَلَى المَدَى البَعِيدِ.</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WEBSITE GRAMMAR RULES AND EXAMPLES (FLEX — revision or homework). Website overview: “Study each structure in context, compare accurate and inaccurate forms, then apply it in meaningful Arabic.”
• Climate and weather accuracy: Keep climate description and weather events distinct.
• Problem, cause and passive: Use a true passive where the affected thing is foregrounded.
• Solution and purpose: State who must act and why.
• Qualified academic judgement: A strong answer recognises limits and states conditions.
Website common error: Do not select a sentence merely because its words are familiar. Check meaning, agreement, governing prepositions and verb endings.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FOR UNDERSTANDING (2 min) — website grammar quiz questions 1, 2, 3, 4.
● Think 20s silently → everyone types four letters in chat together on “3-2-1-go”. “Show me” alternative: A/B/C fingers to camera (EAL: show, not tell).
Read the chat: if more than a quarter of the class misses a question, re-teach that rule with its grammar slide before moving on (Live feedback: correct misconceptions immediately).
Use the results to confirm routes for the You Do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Ask “Who can build on that?” (+) — a student explains why one wrong option is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DO (3 min) — build the chain aloud. At step 4, deliberately say لِكَيْ تَحْمِي المَوَارِدَ with the wrong ending, stop, and model: لِأُصَحِّحْ ذٰلِكَ — لِكَيْ تَحْمِيَ. The copy box is the middle of the website writing model (the full model is on the Write slides).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SENTENCES (1 min) — website patterns. Students copy TWO that are useful for them.
• Core: copy one and change one word. • Develop: copy two and change the subject. • Stretch: combine two into one longer sentence with a connector.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sorter (2 min). Website instruction: sort each item into the right group.
Then each student picks their own نُقْطَةُ قُوَّةٍ and مَجَالُ تَحْسِينٍ from the middle column.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sorter (2 min). Website instruction: sort each item into the right group.
Then each student picks their own نُقْطَةُ قُوَّةٍ and مَجَالُ تَحْسِينٍ from the middle column.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quiz questions 5, 6, 7, 8 (FLEX, 2 min). If time is short these are homework on the website.
“Show me” alternative: students hold up A/B/C fingers to camera.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link each to the grammar rule or vocabulary card it tests.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LISTENING (4 min) — website script. Read it aloud yourself, twice, at natural speed with pauses.
Before listening: students read the questions (● 30s). Core: questions 1 and 2. Develop/Stretch: all four.
Listen 1: just listen. Listen 2: note answers. Then chat the letters.
Support: after the second listening, show the read-along slide (Arabic + English, line by line) for Core students.
SCRIPT (read aloud):
فِي المُحَادَثَةِ الأُولَى، وَصَفَتْ مَرْيَمُ مَشْرُوعًا لِتَوْسِيعِ النَّقْلِ العَامِّ. قَالَتْ إِنَّهُ سَيُقَلِّلُ الانْبِعَاثَاتِ، لٰكِنَّهَا أَضَافَتْ أَنَّ التَّكْلِفَةَ الأُولَى مُرْتَفِعَةٌ.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READ-ALONG (Core support) — show AFTER the second listening. The Arabic is the website script, line by line; the English is a teacher translation.
Read it once more while Core students follow. Annotate the words that gave each answer.
Stretch: cover the English column and translate one line aloud.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answers. For each, ask “Which Arabic words gave you the answer?” — the evidence line is under each card.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LISTENING (4 min) — website script. Read it aloud yourself, twice, at natural speed with pauses.
Before listening: students read the questions (● 30s). Core: questions 1 and 3. Develop/Stretch: all four — question 2 is the corrected detail.
Listen 1: just listen. Listen 2: note answers. Then chat the letters.
Support: after the second listening, show the read-along slide (Arabic + English, line by line) for Core students.
SCRIPT (read aloud):
وَفِي المُحَادَثَةِ الثَّانِيَةِ، تَحَدَّثَ خَالِدٌ عَنْ شُحِّ المِيَاهِ. أَوَّلًا قَالَ إِنَّ الاسْتِهْلَاكَ انْخَفَضَ، ثُمَّ صَحَّحَ نَفْسَهُ وَقَالَ إِنَّهُ ارْتَفَعَ بِنِسْبَةِ ٩٪. وَأَكَّدَ أَنَّ الحَلَّ يَحْتَاجُ إِلَى التِّقْنِيَّةِ وَتَغْيِيرِ السُّلُوكِ مَعًا.</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READ-ALONG (Core support) — show AFTER the second listening. The Arabic is the website script, line by line; the English is a teacher translation.
Read it once more while Core students follow. Annotate the words that gave each answer.
Stretch: cover the English column and translate one line aloud.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answers. For each, ask “Which Arabic words gave you the answer?” — the evidence line is under each card.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SPEAKING REHEARSAL (3 min) — website speaking prompts. No breakout rooms (saves setup time).
Sequence: ● 10s think → ↔ 45s everyone rehearses their answer aloud with mic muted → ◎ pairs on open mic: name two students (warned in advance); A asks, B answers; the rest of the class types one follow-up question in chat (+ / ?) → ↺ one student summarises the answer they heard.
Routes: Core uses the Core prompt and stem; Develop the Develop prompts; Stretch the last prompt.
Model (website) at the bottom — read it with a confident student first. The website model continues:
Website prompts and model. 60 seconds each in pairs; the partner counts the D4 features heard and notes one self-correction phrase. If a student freezes: لِأُصَحِّحْ ذٰلِكَ / بِعِبَارَةٍ أُخْرَى and try again. To a girl: مَا نُقْطَةُ قُوَّتِكِ؟</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DO (9 min writing). Steer routes using the Do Now and quick-check results.
Website differentiation tasks: Core — Use the vocabulary banks and sentence frames to produce four accurate connected sentences. · Develop — Use several target structures in a linked paragraph or sustained spoken answer. · Stretch — Evaluate, compare or qualify ideas using precise evidence and formal linking language.
Website writing task (Stretch): Write 130–140 Arabic words integrating climate, an environmental problem, a solution and a qualified technology judgement.
LIVE FEEDBACK: students post their first two sentences in the chat (or OneNote) after 3 minutes. Scan and correct misconceptions immediately — use private chat for individual corrections (Behaviour: quiet, individual).
Work with the less able: stay with Core students for the first 3 minutes; Develop/Stretch continue independently. SEND: chunk the Core task — “two sentences, then show me”.
Extension (fast finishers): the reading on the Extension slides. Pastoral: Self-Management point for students who work without prompting.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on screen during writing — Core students complete the frames on the right; Develop students use the frames on the left.
Frames and word bank use only this lesson’s website language (EAL: sentence frame + word bank scaffold; same objective, adapted task).
EAL Band A–B students: complete three frames, then copy and adapt one model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Stretch students work from this slide. Checklist = website writing checklist; phrase bank = phrases from the website model, reading text and listening script. Live feedback for Stretch: check the target structures appear and are accurate.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FEEDBACK (1 min) — website model answer, with an English translation for Core students.
Students find in the model (● 20s → ◎) the four items on the chips. Website writing model. D4 features: يَسُودُ · تَشِحُّ … نَتِيجَةً لِـ · يَجِبُ عَلَى … أَنْ تَسْتَثْمِرَ … لِكَيْ تَحْمِيَ · عَلَاوَةً عَلَى ذٰلِكَ · يُمْكِنُ أَنْ يُسْتَخْدَمَ (passive) · عَلَى الرَّغْمِ مِنْ أَنَّ … فَإِنَّهَا · فِي رَأْيِي. Count them with the class: seven or more, each with a job.
Then each student chooses ONE thing from the model to add to their own writing (specific, actionable feedback on the success criteria).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(2 min) — 3 of the website’s 4 end-of-lesson questions (“Final self-marking check”). The rest are on the website for homework.
Anyone scoring low → Core route next lesson and a check-in during the Do Now. Record Pastoral Tracker points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reveal. Students self-mark and type their score out of 3 in the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EXTENSION — website reading text. For fast finishers during You Do, or Stretch homework. “You don’t need every word; find the words the question asks about.”
The green key-words panel is a teacher-made glossary so Develop students can also attempt it.
SEND reading strategy (Toolkit 1): cover the text with a piece of paper and uncover one sentence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questions from the website. The detective steps follow the SEND “modular reading” strategy: read one part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from the website, with the evidence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WEBSITE LESSON MISSION (FLEX) — fast finishers or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(D4-L12 · D4 Review and Unit Assessment) will spend class time USING this language, so students prepare it tonight — short, simple, easy to access (school guidance: “Simple, Short, Interesting, Relevant, Easy to access”). The five words are the instruction words of the D4-L12 assessment (its listening, reading and marking sections).
Follow-up: the next Do Now tests two of these words (Flipped Learning: keep it short AND follow up).
Homework by route (website tasks). No internet? Students copy the five words from this slide into their book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1.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1.xml"/><Relationship Id="rId3" Type="http://schemas.openxmlformats.org/officeDocument/2006/relationships/notesSlide" Target="../notesSlides/notesSlide4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34" charset="0"/>
                <a:ea typeface="Amiri" pitchFamily="34" charset="-122"/>
                <a:cs typeface="Amiri" pitchFamily="34" charset="-120"/>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ea typeface="Cambria" pitchFamily="34" charset="-122"/>
                <a:cs typeface="Cambria" pitchFamily="34" charset="-120"/>
              </a:rPr>
              <a:t>Al Madina Online School</a:t>
            </a:r>
            <a:endParaRPr lang="en-US" sz="1400" dirty="0"/>
          </a:p>
          <a:p>
            <a:pPr indent="0" marL="0">
              <a:buNone/>
            </a:pPr>
            <a:r>
              <a:rPr lang="en-US" sz="800" b="1" spc="200" kern="0" dirty="0">
                <a:solidFill>
                  <a:srgbClr val="D4AF37"/>
                </a:solidFill>
                <a:latin typeface="Calibri" pitchFamily="34" charset="0"/>
                <a:ea typeface="Calibri" pitchFamily="34" charset="-122"/>
                <a:cs typeface="Calibri" pitchFamily="34" charset="-120"/>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ea typeface="Calibri" pitchFamily="34" charset="-122"/>
                <a:cs typeface="Calibri" pitchFamily="34" charset="-120"/>
              </a:rPr>
              <a:t>CAMBRIDGE IGCSE ARABIC 0544  ·  YEAR 8  ·  DEVELOPMENT D4  ·  D4-L11</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ea typeface="Cambria" pitchFamily="34" charset="-122"/>
                <a:cs typeface="Cambria" pitchFamily="34" charset="-120"/>
              </a:rPr>
              <a:t>D4-L11</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2650" b="1" dirty="0">
                <a:solidFill>
                  <a:srgbClr val="FFFFFF"/>
                </a:solidFill>
                <a:latin typeface="Cambria" pitchFamily="34" charset="0"/>
                <a:ea typeface="Cambria" pitchFamily="34" charset="-122"/>
                <a:cs typeface="Cambria" pitchFamily="34" charset="-120"/>
              </a:rPr>
              <a:t>D4 Consolidation — Range Mastery and Speaking Preparation</a:t>
            </a:r>
            <a:endParaRPr lang="en-US" sz="265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34" charset="0"/>
                <a:ea typeface="Amiri" pitchFamily="34" charset="-122"/>
                <a:cs typeface="Amiri" pitchFamily="34" charset="-120"/>
              </a:rPr>
              <a:t>تَرْسِيخُ الوَحْدَةِ — إِتْقَانُ النِّطَاقِ وَإِعْدَادُ التَّحَدُّثِ</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ea typeface="Calibri" pitchFamily="34" charset="-122"/>
                <a:cs typeface="Calibri" pitchFamily="34" charset="-120"/>
              </a:rPr>
              <a:t>Pull the whole of D4 together in one chain — climate → problem → cause → solution → qualified judgement — accurately and under pressure, and practise recovering in speaking (</a:t>
            </a:r>
            <a:pPr algn="l" indent="0" marL="0">
              <a:buNone/>
            </a:pPr>
            <a:r>
              <a:rPr lang="ar-SA" altLang="en-US" sz="1800" dirty="0">
                <a:solidFill>
                  <a:srgbClr val="C6D2E6"/>
                </a:solidFill>
                <a:latin typeface="Amiri" pitchFamily="34" charset="0"/>
                <a:ea typeface="Amiri" pitchFamily="34" charset="-122"/>
                <a:cs typeface="Amiri" pitchFamily="34" charset="-120"/>
              </a:rPr>
              <a:t>لِأُصَحِّحْ ذٰلِكَ</a:t>
            </a:r>
            <a:pPr algn="l" indent="0" marL="0">
              <a:buNone/>
            </a:pPr>
            <a:r>
              <a:rPr lang="en-US" sz="1400" dirty="0">
                <a:solidFill>
                  <a:srgbClr val="C6D2E6"/>
                </a:solidFill>
                <a:latin typeface="Calibri" pitchFamily="34" charset="0"/>
                <a:ea typeface="Calibri" pitchFamily="34" charset="-122"/>
                <a:cs typeface="Calibri" pitchFamily="34" charset="-120"/>
              </a:rPr>
              <a:t> · </a:t>
            </a:r>
            <a:pPr algn="l" indent="0" marL="0">
              <a:buNone/>
            </a:pPr>
            <a:r>
              <a:rPr lang="ar-SA" altLang="en-US" sz="1800" dirty="0">
                <a:solidFill>
                  <a:srgbClr val="C6D2E6"/>
                </a:solidFill>
                <a:latin typeface="Amiri" pitchFamily="34" charset="0"/>
                <a:ea typeface="Amiri" pitchFamily="34" charset="-122"/>
                <a:cs typeface="Amiri" pitchFamily="34" charset="-120"/>
              </a:rPr>
              <a:t>بِعِبَارَةٍ أُخْرَى</a:t>
            </a:r>
            <a:pPr algn="l" indent="0" marL="0">
              <a:buNone/>
            </a:pPr>
            <a:r>
              <a:rPr lang="en-US" sz="1400" dirty="0">
                <a:solidFill>
                  <a:srgbClr val="C6D2E6"/>
                </a:solidFill>
                <a:latin typeface="Calibri" pitchFamily="34" charset="0"/>
                <a:ea typeface="Calibri" pitchFamily="34" charset="-122"/>
                <a:cs typeface="Calibri" pitchFamily="34" charset="-120"/>
              </a:rPr>
              <a:t>).</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LESSON</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D4-L11 · Development D4 · Environment, Weather and Technology</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DURATION</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LEVEL</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Development · A2 → B1</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ON THE WEBSITE</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Pathways › Development › D4 › D4-L11</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D4-L11 · Unit Review</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D4 · Environment, Weather and Technology · D4-L11</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Camera on</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Mic muted</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Chat for learning</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Raise your hand</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ea typeface="Calibri" pitchFamily="34" charset="-122"/>
                <a:cs typeface="Calibri" pitchFamily="34" charset="-120"/>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Think</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Rehearse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Build</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Challenge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Share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Summarise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ea typeface="Calibri" pitchFamily="34" charset="-122"/>
                <a:cs typeface="Calibri" pitchFamily="34" charset="-120"/>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 / 45</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D4-L11 · Unit Review</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Our lesson today,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D4 · Environment, Weather and Technology · D4-L11</a:t>
            </a:r>
            <a:endParaRPr lang="en-US" sz="850" dirty="0"/>
          </a:p>
        </p:txBody>
      </p:sp>
      <p:sp>
        <p:nvSpPr>
          <p:cNvPr id="15" name="Shape 12"/>
          <p:cNvSpPr/>
          <p:nvPr/>
        </p:nvSpPr>
        <p:spPr>
          <a:xfrm>
            <a:off x="45720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28146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DO NOW</a:t>
            </a:r>
            <a:endParaRPr lang="en-US" sz="1000" dirty="0"/>
          </a:p>
        </p:txBody>
      </p:sp>
      <p:sp>
        <p:nvSpPr>
          <p:cNvPr id="18" name="Text 15"/>
          <p:cNvSpPr txBox="1"/>
          <p:nvPr/>
        </p:nvSpPr>
        <p:spPr>
          <a:xfrm>
            <a:off x="60350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7 min</a:t>
            </a:r>
            <a:endParaRPr lang="en-US" sz="1000" dirty="0"/>
          </a:p>
        </p:txBody>
      </p:sp>
      <p:sp>
        <p:nvSpPr>
          <p:cNvPr id="19" name="Shape 16"/>
          <p:cNvSpPr/>
          <p:nvPr/>
        </p:nvSpPr>
        <p:spPr>
          <a:xfrm>
            <a:off x="1006493"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00649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1</a:t>
            </a:r>
            <a:endParaRPr lang="en-US" sz="1300" dirty="0"/>
          </a:p>
        </p:txBody>
      </p:sp>
      <p:sp>
        <p:nvSpPr>
          <p:cNvPr id="21" name="Text 18"/>
          <p:cNvSpPr txBox="1"/>
          <p:nvPr/>
        </p:nvSpPr>
        <p:spPr>
          <a:xfrm>
            <a:off x="58521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Retrieval quiz on your own, then we check together.</a:t>
            </a:r>
            <a:endParaRPr lang="en-US" sz="1200" dirty="0"/>
          </a:p>
        </p:txBody>
      </p:sp>
      <p:sp>
        <p:nvSpPr>
          <p:cNvPr id="22" name="Text 19"/>
          <p:cNvSpPr txBox="1"/>
          <p:nvPr/>
        </p:nvSpPr>
        <p:spPr>
          <a:xfrm>
            <a:off x="54864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34" charset="0"/>
                <a:ea typeface="Amiri" pitchFamily="34" charset="-122"/>
                <a:cs typeface="Amiri" pitchFamily="34" charset="-120"/>
              </a:rPr>
              <a:t>اِبْدَأِ الآنَ</a:t>
            </a:r>
            <a:endParaRPr lang="ar-SA" sz="1500" dirty="0"/>
          </a:p>
        </p:txBody>
      </p:sp>
      <p:sp>
        <p:nvSpPr>
          <p:cNvPr id="23" name="Shape 20"/>
          <p:cNvSpPr/>
          <p:nvPr/>
        </p:nvSpPr>
        <p:spPr>
          <a:xfrm>
            <a:off x="2086138"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195866" y="1938528"/>
            <a:ext cx="128146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232442"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TEACHER INSTRUCTION</a:t>
            </a:r>
            <a:endParaRPr lang="en-US" sz="1000" dirty="0"/>
          </a:p>
        </p:txBody>
      </p:sp>
      <p:sp>
        <p:nvSpPr>
          <p:cNvPr id="26" name="Text 23"/>
          <p:cNvSpPr txBox="1"/>
          <p:nvPr/>
        </p:nvSpPr>
        <p:spPr>
          <a:xfrm>
            <a:off x="2232442"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14 min</a:t>
            </a:r>
            <a:endParaRPr lang="en-US" sz="1000" dirty="0"/>
          </a:p>
        </p:txBody>
      </p:sp>
      <p:sp>
        <p:nvSpPr>
          <p:cNvPr id="27" name="Shape 24"/>
          <p:cNvSpPr/>
          <p:nvPr/>
        </p:nvSpPr>
        <p:spPr>
          <a:xfrm>
            <a:off x="2635431"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263543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2</a:t>
            </a:r>
            <a:endParaRPr lang="en-US" sz="1300" dirty="0"/>
          </a:p>
        </p:txBody>
      </p:sp>
      <p:sp>
        <p:nvSpPr>
          <p:cNvPr id="29" name="Text 26"/>
          <p:cNvSpPr txBox="1"/>
          <p:nvPr/>
        </p:nvSpPr>
        <p:spPr>
          <a:xfrm>
            <a:off x="2214154"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The D4 chain: climate → problem → solution → judgement.</a:t>
            </a:r>
            <a:endParaRPr lang="en-US" sz="1200" dirty="0"/>
          </a:p>
        </p:txBody>
      </p:sp>
      <p:sp>
        <p:nvSpPr>
          <p:cNvPr id="30" name="Text 27"/>
          <p:cNvSpPr txBox="1"/>
          <p:nvPr/>
        </p:nvSpPr>
        <p:spPr>
          <a:xfrm>
            <a:off x="2177578"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كَلِمَاتٌ وَقَوَاعِدُ</a:t>
            </a:r>
            <a:endParaRPr lang="ar-SA" sz="1500" dirty="0"/>
          </a:p>
        </p:txBody>
      </p:sp>
      <p:sp>
        <p:nvSpPr>
          <p:cNvPr id="31" name="Shape 28"/>
          <p:cNvSpPr/>
          <p:nvPr/>
        </p:nvSpPr>
        <p:spPr>
          <a:xfrm>
            <a:off x="3715077"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3824805" y="1938528"/>
            <a:ext cx="128146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3861381"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I DO</a:t>
            </a:r>
            <a:endParaRPr lang="en-US" sz="1000" dirty="0"/>
          </a:p>
        </p:txBody>
      </p:sp>
      <p:sp>
        <p:nvSpPr>
          <p:cNvPr id="34" name="Text 31"/>
          <p:cNvSpPr txBox="1"/>
          <p:nvPr/>
        </p:nvSpPr>
        <p:spPr>
          <a:xfrm>
            <a:off x="3861381"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3 min</a:t>
            </a:r>
            <a:endParaRPr lang="en-US" sz="1000" dirty="0"/>
          </a:p>
        </p:txBody>
      </p:sp>
      <p:sp>
        <p:nvSpPr>
          <p:cNvPr id="35" name="Shape 32"/>
          <p:cNvSpPr/>
          <p:nvPr/>
        </p:nvSpPr>
        <p:spPr>
          <a:xfrm>
            <a:off x="4264370"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26437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3</a:t>
            </a:r>
            <a:endParaRPr lang="en-US" sz="1300" dirty="0"/>
          </a:p>
        </p:txBody>
      </p:sp>
      <p:sp>
        <p:nvSpPr>
          <p:cNvPr id="37" name="Text 34"/>
          <p:cNvSpPr txBox="1"/>
          <p:nvPr/>
        </p:nvSpPr>
        <p:spPr>
          <a:xfrm>
            <a:off x="3843093"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Watch me build one sentence. Copy it into your book.</a:t>
            </a:r>
            <a:endParaRPr lang="en-US" sz="1200" dirty="0"/>
          </a:p>
        </p:txBody>
      </p:sp>
      <p:sp>
        <p:nvSpPr>
          <p:cNvPr id="38" name="Text 35"/>
          <p:cNvSpPr txBox="1"/>
          <p:nvPr/>
        </p:nvSpPr>
        <p:spPr>
          <a:xfrm>
            <a:off x="3806517"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34" charset="0"/>
                <a:ea typeface="Amiri" pitchFamily="34" charset="-122"/>
                <a:cs typeface="Amiri" pitchFamily="34" charset="-120"/>
              </a:rPr>
              <a:t>شَاهِدْ</a:t>
            </a:r>
            <a:endParaRPr lang="ar-SA" sz="1500" dirty="0"/>
          </a:p>
        </p:txBody>
      </p:sp>
      <p:sp>
        <p:nvSpPr>
          <p:cNvPr id="39" name="Shape 36"/>
          <p:cNvSpPr/>
          <p:nvPr/>
        </p:nvSpPr>
        <p:spPr>
          <a:xfrm>
            <a:off x="5344015"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453743" y="1938528"/>
            <a:ext cx="1281466" cy="566928"/>
          </a:xfrm>
          <a:prstGeom prst="roundRect">
            <a:avLst>
              <a:gd name="adj" fmla="val 9677"/>
            </a:avLst>
          </a:prstGeom>
          <a:solidFill>
            <a:srgbClr val="2F6FB0"/>
          </a:solidFill>
          <a:ln w="12700">
            <a:solidFill>
              <a:srgbClr val="2F6FB0"/>
            </a:solidFill>
            <a:prstDash val="solid"/>
          </a:ln>
        </p:spPr>
      </p:sp>
      <p:sp>
        <p:nvSpPr>
          <p:cNvPr id="41" name="Text 38"/>
          <p:cNvSpPr txBox="1"/>
          <p:nvPr/>
        </p:nvSpPr>
        <p:spPr>
          <a:xfrm>
            <a:off x="5490319"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WE DO</a:t>
            </a:r>
            <a:endParaRPr lang="en-US" sz="1000" dirty="0"/>
          </a:p>
        </p:txBody>
      </p:sp>
      <p:sp>
        <p:nvSpPr>
          <p:cNvPr id="42" name="Text 39"/>
          <p:cNvSpPr txBox="1"/>
          <p:nvPr/>
        </p:nvSpPr>
        <p:spPr>
          <a:xfrm>
            <a:off x="5490319"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9 min</a:t>
            </a:r>
            <a:endParaRPr lang="en-US" sz="1000" dirty="0"/>
          </a:p>
        </p:txBody>
      </p:sp>
      <p:sp>
        <p:nvSpPr>
          <p:cNvPr id="43" name="Shape 40"/>
          <p:cNvSpPr/>
          <p:nvPr/>
        </p:nvSpPr>
        <p:spPr>
          <a:xfrm>
            <a:off x="5893308"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4</a:t>
            </a:r>
            <a:endParaRPr lang="en-US" sz="1300" dirty="0"/>
          </a:p>
        </p:txBody>
      </p:sp>
      <p:sp>
        <p:nvSpPr>
          <p:cNvPr id="45" name="Text 42"/>
          <p:cNvSpPr txBox="1"/>
          <p:nvPr/>
        </p:nvSpPr>
        <p:spPr>
          <a:xfrm>
            <a:off x="5472031"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Sort the range, fix three classic D4 slips, then two short listening cycles.</a:t>
            </a:r>
            <a:endParaRPr lang="en-US" sz="1200" dirty="0"/>
          </a:p>
        </p:txBody>
      </p:sp>
      <p:sp>
        <p:nvSpPr>
          <p:cNvPr id="46" name="Text 43"/>
          <p:cNvSpPr txBox="1"/>
          <p:nvPr/>
        </p:nvSpPr>
        <p:spPr>
          <a:xfrm>
            <a:off x="5435455"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34" charset="0"/>
                <a:ea typeface="Amiri" pitchFamily="34" charset="-122"/>
                <a:cs typeface="Amiri" pitchFamily="34" charset="-120"/>
              </a:rPr>
              <a:t>مَعًا</a:t>
            </a:r>
            <a:endParaRPr lang="ar-SA" sz="1500" dirty="0"/>
          </a:p>
        </p:txBody>
      </p:sp>
      <p:sp>
        <p:nvSpPr>
          <p:cNvPr id="47" name="Shape 44"/>
          <p:cNvSpPr/>
          <p:nvPr/>
        </p:nvSpPr>
        <p:spPr>
          <a:xfrm>
            <a:off x="6972953"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7082681" y="1938528"/>
            <a:ext cx="128146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7119257"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YOU DO</a:t>
            </a:r>
            <a:endParaRPr lang="en-US" sz="1000" dirty="0"/>
          </a:p>
        </p:txBody>
      </p:sp>
      <p:sp>
        <p:nvSpPr>
          <p:cNvPr id="50" name="Text 47"/>
          <p:cNvSpPr txBox="1"/>
          <p:nvPr/>
        </p:nvSpPr>
        <p:spPr>
          <a:xfrm>
            <a:off x="7119257"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12 min</a:t>
            </a:r>
            <a:endParaRPr lang="en-US" sz="1000" dirty="0"/>
          </a:p>
        </p:txBody>
      </p:sp>
      <p:sp>
        <p:nvSpPr>
          <p:cNvPr id="51" name="Shape 48"/>
          <p:cNvSpPr/>
          <p:nvPr/>
        </p:nvSpPr>
        <p:spPr>
          <a:xfrm>
            <a:off x="7522246"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752224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5</a:t>
            </a:r>
            <a:endParaRPr lang="en-US" sz="1300" dirty="0"/>
          </a:p>
        </p:txBody>
      </p:sp>
      <p:sp>
        <p:nvSpPr>
          <p:cNvPr id="53" name="Text 50"/>
          <p:cNvSpPr txBox="1"/>
          <p:nvPr/>
        </p:nvSpPr>
        <p:spPr>
          <a:xfrm>
            <a:off x="7100969"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Speak first, then write on your route.</a:t>
            </a:r>
            <a:endParaRPr lang="en-US" sz="1200" dirty="0"/>
          </a:p>
        </p:txBody>
      </p:sp>
      <p:sp>
        <p:nvSpPr>
          <p:cNvPr id="54" name="Text 51"/>
          <p:cNvSpPr txBox="1"/>
          <p:nvPr/>
        </p:nvSpPr>
        <p:spPr>
          <a:xfrm>
            <a:off x="7064393"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34" charset="0"/>
                <a:ea typeface="Amiri" pitchFamily="34" charset="-122"/>
                <a:cs typeface="Amiri" pitchFamily="34" charset="-120"/>
              </a:rPr>
              <a:t>وَحْدَكَ</a:t>
            </a:r>
            <a:endParaRPr lang="ar-SA" sz="1500" dirty="0"/>
          </a:p>
        </p:txBody>
      </p:sp>
      <p:sp>
        <p:nvSpPr>
          <p:cNvPr id="55" name="Shape 52"/>
          <p:cNvSpPr/>
          <p:nvPr/>
        </p:nvSpPr>
        <p:spPr>
          <a:xfrm>
            <a:off x="8601891"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711619" y="1938528"/>
            <a:ext cx="128146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8748195"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FEEDBACK</a:t>
            </a:r>
            <a:endParaRPr lang="en-US" sz="1000" dirty="0"/>
          </a:p>
        </p:txBody>
      </p:sp>
      <p:sp>
        <p:nvSpPr>
          <p:cNvPr id="58" name="Text 55"/>
          <p:cNvSpPr txBox="1"/>
          <p:nvPr/>
        </p:nvSpPr>
        <p:spPr>
          <a:xfrm>
            <a:off x="8748195"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5 min</a:t>
            </a:r>
            <a:endParaRPr lang="en-US" sz="1000" dirty="0"/>
          </a:p>
        </p:txBody>
      </p:sp>
      <p:sp>
        <p:nvSpPr>
          <p:cNvPr id="59" name="Shape 56"/>
          <p:cNvSpPr/>
          <p:nvPr/>
        </p:nvSpPr>
        <p:spPr>
          <a:xfrm>
            <a:off x="9151185"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915118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6</a:t>
            </a:r>
            <a:endParaRPr lang="en-US" sz="1300" dirty="0"/>
          </a:p>
        </p:txBody>
      </p:sp>
      <p:sp>
        <p:nvSpPr>
          <p:cNvPr id="61" name="Text 58"/>
          <p:cNvSpPr txBox="1"/>
          <p:nvPr/>
        </p:nvSpPr>
        <p:spPr>
          <a:xfrm>
            <a:off x="8729907"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Compare with a model and complete the exit ticket.</a:t>
            </a:r>
            <a:endParaRPr lang="en-US" sz="1200" dirty="0"/>
          </a:p>
        </p:txBody>
      </p:sp>
      <p:sp>
        <p:nvSpPr>
          <p:cNvPr id="62" name="Text 59"/>
          <p:cNvSpPr txBox="1"/>
          <p:nvPr/>
        </p:nvSpPr>
        <p:spPr>
          <a:xfrm>
            <a:off x="8693331"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34" charset="0"/>
                <a:ea typeface="Amiri" pitchFamily="34" charset="-122"/>
                <a:cs typeface="Amiri" pitchFamily="34" charset="-120"/>
              </a:rPr>
              <a:t>قَيِّمْ عَمَلَكَ</a:t>
            </a:r>
            <a:endParaRPr lang="ar-SA" sz="1500" dirty="0"/>
          </a:p>
        </p:txBody>
      </p:sp>
      <p:sp>
        <p:nvSpPr>
          <p:cNvPr id="63" name="Shape 60"/>
          <p:cNvSpPr/>
          <p:nvPr/>
        </p:nvSpPr>
        <p:spPr>
          <a:xfrm>
            <a:off x="1023083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10340558" y="1938528"/>
            <a:ext cx="1281466" cy="566928"/>
          </a:xfrm>
          <a:prstGeom prst="roundRect">
            <a:avLst>
              <a:gd name="adj" fmla="val 9677"/>
            </a:avLst>
          </a:prstGeom>
          <a:solidFill>
            <a:srgbClr val="C45A3C"/>
          </a:solidFill>
          <a:ln w="12700">
            <a:solidFill>
              <a:srgbClr val="C45A3C"/>
            </a:solidFill>
            <a:prstDash val="solid"/>
          </a:ln>
        </p:spPr>
      </p:sp>
      <p:sp>
        <p:nvSpPr>
          <p:cNvPr id="65" name="Text 62"/>
          <p:cNvSpPr txBox="1"/>
          <p:nvPr/>
        </p:nvSpPr>
        <p:spPr>
          <a:xfrm>
            <a:off x="1037713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PREPARATION</a:t>
            </a:r>
            <a:endParaRPr lang="en-US" sz="1000" dirty="0"/>
          </a:p>
        </p:txBody>
      </p:sp>
      <p:sp>
        <p:nvSpPr>
          <p:cNvPr id="66" name="Text 63"/>
          <p:cNvSpPr txBox="1"/>
          <p:nvPr/>
        </p:nvSpPr>
        <p:spPr>
          <a:xfrm>
            <a:off x="1037713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2 min</a:t>
            </a:r>
            <a:endParaRPr lang="en-US" sz="1000" dirty="0"/>
          </a:p>
        </p:txBody>
      </p:sp>
      <p:sp>
        <p:nvSpPr>
          <p:cNvPr id="67" name="Shape 64"/>
          <p:cNvSpPr/>
          <p:nvPr/>
        </p:nvSpPr>
        <p:spPr>
          <a:xfrm>
            <a:off x="10780123" y="2651760"/>
            <a:ext cx="402336" cy="402336"/>
          </a:xfrm>
          <a:prstGeom prst="ellipse">
            <a:avLst/>
          </a:prstGeom>
          <a:solidFill>
            <a:srgbClr val="F4F1EA"/>
          </a:solidFill>
          <a:ln w="12700">
            <a:solidFill>
              <a:srgbClr val="F4F1EA"/>
            </a:solidFill>
            <a:prstDash val="solid"/>
          </a:ln>
        </p:spPr>
      </p:sp>
      <p:sp>
        <p:nvSpPr>
          <p:cNvPr id="68" name="Text 65"/>
          <p:cNvSpPr txBox="1"/>
          <p:nvPr/>
        </p:nvSpPr>
        <p:spPr>
          <a:xfrm>
            <a:off x="1078012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7</a:t>
            </a:r>
            <a:endParaRPr lang="en-US" sz="1300" dirty="0"/>
          </a:p>
        </p:txBody>
      </p:sp>
      <p:sp>
        <p:nvSpPr>
          <p:cNvPr id="69" name="Text 66"/>
          <p:cNvSpPr txBox="1"/>
          <p:nvPr/>
        </p:nvSpPr>
        <p:spPr>
          <a:xfrm>
            <a:off x="1035884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Get ready at home for D4-L12.</a:t>
            </a:r>
            <a:endParaRPr lang="en-US" sz="1200" dirty="0"/>
          </a:p>
        </p:txBody>
      </p:sp>
      <p:sp>
        <p:nvSpPr>
          <p:cNvPr id="70" name="Text 67"/>
          <p:cNvSpPr txBox="1"/>
          <p:nvPr/>
        </p:nvSpPr>
        <p:spPr>
          <a:xfrm>
            <a:off x="1032227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34" charset="0"/>
                <a:ea typeface="Amiri" pitchFamily="34" charset="-122"/>
                <a:cs typeface="Amiri" pitchFamily="34" charset="-120"/>
              </a:rPr>
              <a:t>اِسْتَعِدَّ</a:t>
            </a:r>
            <a:endParaRPr lang="ar-SA" sz="1500" dirty="0"/>
          </a:p>
        </p:txBody>
      </p:sp>
      <p:sp>
        <p:nvSpPr>
          <p:cNvPr id="71" name="Shape 68"/>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IF ARABIC FEELS HARD TODAY</a:t>
            </a:r>
            <a:endParaRPr lang="en-US" sz="1000" dirty="0"/>
          </a:p>
        </p:txBody>
      </p:sp>
      <p:sp>
        <p:nvSpPr>
          <p:cNvPr id="73" name="Text 70"/>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Look for the green CORE boxes: they give you transliteration, English meanings and sentence frames. You never need every word — find the key word first. You can answer in the chat, in English, or by holding up A / B / C to your camera.</a:t>
            </a:r>
            <a:endParaRPr lang="en-US" sz="12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 / 45</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D4-L11 · Unit Review</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ea typeface="Calibri" pitchFamily="34" charset="-122"/>
                <a:cs typeface="Calibri" pitchFamily="34" charset="-120"/>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ea typeface="Cambria" pitchFamily="34" charset="-122"/>
                <a:cs typeface="Cambria" pitchFamily="34" charset="-120"/>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D4 · Environment, Weather and Technology · D4-L11</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نُقْطَةُ قُوَّةٍ</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an area for improvement</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strength</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point of view</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بِعِبَارَةٍ أُخْرَى</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in other words</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let me correct that</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what I mean is</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Complete: </a:t>
            </a:r>
            <a:pPr algn="l" indent="0" marL="0">
              <a:buNone/>
            </a:pPr>
            <a:r>
              <a:rPr lang="ar-SA" altLang="en-US" sz="1650" b="1" dirty="0">
                <a:solidFill>
                  <a:srgbClr val="1B3B6F"/>
                </a:solidFill>
                <a:latin typeface="Amiri" pitchFamily="34" charset="0"/>
                <a:ea typeface="Amiri" pitchFamily="34" charset="-122"/>
                <a:cs typeface="Amiri" pitchFamily="34" charset="-120"/>
              </a:rPr>
              <a:t>حَذَّرَ الخَبِيرُ</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شُحِّ المِيَاهِ</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عَلَى</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إِلَى</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مِنْ</a:t>
            </a:r>
            <a:endParaRPr lang="ar-SA" sz="20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sentence.</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يَهُبُّ الرِّيَاحُ بِقُوَّةٍ.</a:t>
            </a:r>
            <a:endParaRPr lang="ar-SA" sz="20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تَهُبُّ الرِّيَاحِ بِقُوَّةٍ.</a:t>
            </a:r>
            <a:endParaRPr lang="ar-SA" sz="20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تَهُبُّ الرِّيَاحُ بِقُوَّةٍ.</a:t>
            </a:r>
            <a:endParaRPr lang="ar-SA" sz="20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sentence is passive?</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تُقْطَعُ الأَشْجَارُ.</a:t>
            </a:r>
            <a:endParaRPr lang="ar-SA" sz="20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يَقْطَعُ النَّاسُ الأَشْجَارَ.</a:t>
            </a:r>
            <a:endParaRPr lang="ar-SA" sz="20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قَطَعْنَا الأَشْجَارَ.</a:t>
            </a:r>
            <a:endParaRPr lang="ar-SA" sz="2050" dirty="0"/>
          </a:p>
        </p:txBody>
      </p:sp>
      <p:sp>
        <p:nvSpPr>
          <p:cNvPr id="80" name="Shape 77"/>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ea typeface="Calibri" pitchFamily="34" charset="-122"/>
                <a:cs typeface="Calibri" pitchFamily="34" charset="-120"/>
              </a:rPr>
              <a:t>HOW TO ANSWER</a:t>
            </a:r>
            <a:endParaRPr lang="en-US" sz="1100" dirty="0"/>
          </a:p>
        </p:txBody>
      </p:sp>
      <p:sp>
        <p:nvSpPr>
          <p:cNvPr id="82" name="Text 79"/>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ea typeface="Calibri" pitchFamily="34" charset="-122"/>
                <a:cs typeface="Calibri" pitchFamily="34" charset="-120"/>
              </a:rPr>
              <a:t>Work on your own in silence.</a:t>
            </a:r>
            <a:endParaRPr lang="en-US" sz="1350" dirty="0"/>
          </a:p>
          <a:p>
            <a:pPr algn="l" indent="0" marL="0">
              <a:buNone/>
            </a:pPr>
            <a:r>
              <a:rPr lang="en-US" sz="1350" dirty="0">
                <a:solidFill>
                  <a:srgbClr val="1F2A37"/>
                </a:solidFill>
                <a:latin typeface="Calibri" pitchFamily="34" charset="0"/>
                <a:ea typeface="Calibri" pitchFamily="34" charset="-122"/>
                <a:cs typeface="Calibri" pitchFamily="34" charset="-120"/>
              </a:rPr>
              <a:t>When the timer ends, type in the chat:</a:t>
            </a:r>
            <a:endParaRPr lang="en-US" sz="1350" dirty="0"/>
          </a:p>
        </p:txBody>
      </p:sp>
      <p:sp>
        <p:nvSpPr>
          <p:cNvPr id="83" name="Text 80"/>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ea typeface="Consolas" pitchFamily="34" charset="-122"/>
                <a:cs typeface="Consolas" pitchFamily="34" charset="-120"/>
              </a:rPr>
              <a:t>1_  2_  3_  4_  5_</a:t>
            </a:r>
            <a:endParaRPr lang="en-US" sz="1400" dirty="0"/>
          </a:p>
        </p:txBody>
      </p:sp>
      <p:sp>
        <p:nvSpPr>
          <p:cNvPr id="84" name="Text 81"/>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ea typeface="Calibri" pitchFamily="34" charset="-122"/>
                <a:cs typeface="Calibri" pitchFamily="34" charset="-120"/>
              </a:rPr>
              <a:t>⏱  5 : 00</a:t>
            </a:r>
            <a:endParaRPr lang="en-US" sz="180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 / 45</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D4-L11 · Unit Review</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ea typeface="Calibri" pitchFamily="34" charset="-122"/>
                <a:cs typeface="Calibri" pitchFamily="34" charset="-120"/>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D4 · Environment, Weather and Technology · D4-L11</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نُقْطَةُ قُوَّةٍ</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an area for improvement</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a strength</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point of view</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Prepared at home (D4-L10).</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بِعِبَارَةٍ أُخْرَى</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in other words</a:t>
            </a:r>
            <a:endParaRPr lang="en-US" sz="125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let me correct that</a:t>
            </a:r>
            <a:endParaRPr lang="en-US" sz="125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what I mean is</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Prepared at home (D4-L10).</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Complete: </a:t>
            </a:r>
            <a:pPr algn="l" indent="0" marL="0">
              <a:buNone/>
            </a:pPr>
            <a:r>
              <a:rPr lang="ar-SA" altLang="en-US" sz="1650" b="1" dirty="0">
                <a:solidFill>
                  <a:srgbClr val="1B3B6F"/>
                </a:solidFill>
                <a:latin typeface="Amiri" pitchFamily="34" charset="0"/>
                <a:ea typeface="Amiri" pitchFamily="34" charset="-122"/>
                <a:cs typeface="Amiri" pitchFamily="34" charset="-120"/>
              </a:rPr>
              <a:t>حَذَّرَ الخَبِيرُ</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شُحِّ المِيَاهِ</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عَلَى</a:t>
            </a:r>
            <a:endParaRPr lang="ar-SA" sz="170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إِلَى</a:t>
            </a:r>
            <a:endParaRPr lang="ar-SA" sz="170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مِنْ</a:t>
            </a:r>
            <a:endParaRPr lang="ar-SA" sz="170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D4-L10.</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sentence.</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يَهُبُّ الرِّيَاحُ بِقُوَّةٍ.</a:t>
            </a:r>
            <a:endParaRPr lang="ar-SA" sz="170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تَهُبُّ الرِّيَاحِ بِقُوَّةٍ.</a:t>
            </a:r>
            <a:endParaRPr lang="ar-SA" sz="170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تَهُبُّ الرِّيَاحُ بِقُوَّةٍ.</a:t>
            </a:r>
            <a:endParaRPr lang="ar-SA" sz="170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D4-L02: weather agreement.</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sentence is passive?</a:t>
            </a:r>
            <a:endParaRPr lang="en-US"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تُقْطَعُ الأَشْجَارُ.</a:t>
            </a:r>
            <a:endParaRPr lang="ar-SA" sz="170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يَقْطَعُ النَّاسُ الأَشْجَارَ.</a:t>
            </a:r>
            <a:endParaRPr lang="ar-SA" sz="170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قَطَعْنَا الأَشْجَارَ.</a:t>
            </a:r>
            <a:endParaRPr lang="ar-SA" sz="170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D4-L03.</a:t>
            </a:r>
            <a:endParaRPr lang="en-US" sz="1050" dirty="0"/>
          </a:p>
        </p:txBody>
      </p:sp>
      <p:sp>
        <p:nvSpPr>
          <p:cNvPr id="90" name="Shape 87"/>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ea typeface="Calibri" pitchFamily="34" charset="-122"/>
                <a:cs typeface="Calibri" pitchFamily="34" charset="-120"/>
              </a:rPr>
              <a:t>THE KEY IDEA FOR TODAY</a:t>
            </a:r>
            <a:endParaRPr lang="en-US" sz="1000" dirty="0"/>
          </a:p>
        </p:txBody>
      </p:sp>
      <p:sp>
        <p:nvSpPr>
          <p:cNvPr id="92" name="Text 89"/>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300" b="1" dirty="0">
                <a:solidFill>
                  <a:srgbClr val="1F2A37"/>
                </a:solidFill>
                <a:latin typeface="Calibri" pitchFamily="34" charset="0"/>
                <a:ea typeface="Calibri" pitchFamily="34" charset="-122"/>
                <a:cs typeface="Calibri" pitchFamily="34" charset="-120"/>
              </a:rPr>
              <a:t>A top answer is a CHAIN, not a list: every feature links to the next idea.</a:t>
            </a:r>
            <a:endParaRPr lang="en-US" sz="1300" dirty="0"/>
          </a:p>
        </p:txBody>
      </p:sp>
      <p:sp>
        <p:nvSpPr>
          <p:cNvPr id="93" name="Text 90"/>
          <p:cNvSpPr txBox="1"/>
          <p:nvPr/>
        </p:nvSpPr>
        <p:spPr>
          <a:xfrm>
            <a:off x="8278368" y="5202936"/>
            <a:ext cx="3270504" cy="1014984"/>
          </a:xfrm>
          <a:prstGeom prst="rect">
            <a:avLst/>
          </a:prstGeom>
          <a:noFill/>
          <a:ln/>
        </p:spPr>
        <p:txBody>
          <a:bodyPr wrap="square" lIns="0" tIns="0" rIns="0" bIns="0" rtlCol="0" anchor="ctr"/>
          <a:lstStyle/>
          <a:p>
            <a:pPr rtl="1" algn="ctr" indent="0" marL="0">
              <a:lnSpc>
                <a:spcPct val="120000"/>
              </a:lnSpc>
              <a:buNone/>
            </a:pPr>
            <a:r>
              <a:rPr lang="ar-SA" altLang="en-US" sz="1950" b="1" dirty="0">
                <a:solidFill>
                  <a:srgbClr val="0E7C86"/>
                </a:solidFill>
                <a:latin typeface="Amiri" pitchFamily="34" charset="0"/>
                <a:ea typeface="Amiri" pitchFamily="34" charset="-122"/>
                <a:cs typeface="Amiri" pitchFamily="34" charset="-120"/>
              </a:rPr>
              <a:t>يَسُودُ</a:t>
            </a:r>
            <a:pPr rtl="1" algn="ctr" indent="0" marL="0">
              <a:lnSpc>
                <a:spcPct val="120000"/>
              </a:lnSpc>
              <a:buNone/>
            </a:pPr>
            <a:r>
              <a:rPr lang="ar-SA" altLang="en-US" sz="1950" b="1" dirty="0">
                <a:solidFill>
                  <a:srgbClr val="1B3B6F"/>
                </a:solidFill>
                <a:latin typeface="Amiri" pitchFamily="34" charset="0"/>
                <a:ea typeface="Amiri" pitchFamily="34" charset="-122"/>
                <a:cs typeface="Amiri" pitchFamily="34" charset="-120"/>
              </a:rPr>
              <a:t> … ، </a:t>
            </a:r>
            <a:pPr rtl="1" algn="ctr" indent="0" marL="0">
              <a:lnSpc>
                <a:spcPct val="120000"/>
              </a:lnSpc>
              <a:buNone/>
            </a:pPr>
            <a:r>
              <a:rPr lang="ar-SA" altLang="en-US" sz="1950" b="1" dirty="0">
                <a:solidFill>
                  <a:srgbClr val="D6336C"/>
                </a:solidFill>
                <a:latin typeface="Amiri" pitchFamily="34" charset="0"/>
                <a:ea typeface="Amiri" pitchFamily="34" charset="-122"/>
                <a:cs typeface="Amiri" pitchFamily="34" charset="-120"/>
              </a:rPr>
              <a:t>يُلَوَّثُ</a:t>
            </a:r>
            <a:pPr rtl="1" algn="ctr" indent="0" marL="0">
              <a:lnSpc>
                <a:spcPct val="120000"/>
              </a:lnSpc>
              <a:buNone/>
            </a:pPr>
            <a:r>
              <a:rPr lang="ar-SA" altLang="en-US" sz="1950" b="1" dirty="0">
                <a:solidFill>
                  <a:srgbClr val="1B3B6F"/>
                </a:solidFill>
                <a:latin typeface="Amiri" pitchFamily="34" charset="0"/>
                <a:ea typeface="Amiri" pitchFamily="34" charset="-122"/>
                <a:cs typeface="Amiri" pitchFamily="34" charset="-120"/>
              </a:rPr>
              <a:t> … </a:t>
            </a:r>
            <a:pPr rtl="1" algn="ctr" indent="0" marL="0">
              <a:lnSpc>
                <a:spcPct val="120000"/>
              </a:lnSpc>
              <a:buNone/>
            </a:pPr>
            <a:r>
              <a:rPr lang="ar-SA" altLang="en-US" sz="1950" b="1" dirty="0">
                <a:solidFill>
                  <a:srgbClr val="D6336C"/>
                </a:solidFill>
                <a:latin typeface="Amiri" pitchFamily="34" charset="0"/>
                <a:ea typeface="Amiri" pitchFamily="34" charset="-122"/>
                <a:cs typeface="Amiri" pitchFamily="34" charset="-120"/>
              </a:rPr>
              <a:t>بِسَبَبِ</a:t>
            </a:r>
            <a:pPr rtl="1" algn="ctr" indent="0" marL="0">
              <a:lnSpc>
                <a:spcPct val="120000"/>
              </a:lnSpc>
              <a:buNone/>
            </a:pPr>
            <a:r>
              <a:rPr lang="ar-SA" altLang="en-US" sz="1950" b="1" dirty="0">
                <a:solidFill>
                  <a:srgbClr val="1B3B6F"/>
                </a:solidFill>
                <a:latin typeface="Amiri" pitchFamily="34" charset="0"/>
                <a:ea typeface="Amiri" pitchFamily="34" charset="-122"/>
                <a:cs typeface="Amiri" pitchFamily="34" charset="-120"/>
              </a:rPr>
              <a:t> … ، </a:t>
            </a:r>
            <a:pPr rtl="1" algn="ctr" indent="0" marL="0">
              <a:lnSpc>
                <a:spcPct val="120000"/>
              </a:lnSpc>
              <a:buNone/>
            </a:pPr>
            <a:r>
              <a:rPr lang="ar-SA" altLang="en-US" sz="1950" b="1" dirty="0">
                <a:solidFill>
                  <a:srgbClr val="1D5FBF"/>
                </a:solidFill>
                <a:latin typeface="Amiri" pitchFamily="34" charset="0"/>
                <a:ea typeface="Amiri" pitchFamily="34" charset="-122"/>
                <a:cs typeface="Amiri" pitchFamily="34" charset="-120"/>
              </a:rPr>
              <a:t>يَجِبُ عَلَى</a:t>
            </a:r>
            <a:pPr rtl="1" algn="ctr" indent="0" marL="0">
              <a:lnSpc>
                <a:spcPct val="120000"/>
              </a:lnSpc>
              <a:buNone/>
            </a:pPr>
            <a:r>
              <a:rPr lang="ar-SA" altLang="en-US" sz="1950" b="1" dirty="0">
                <a:solidFill>
                  <a:srgbClr val="1B3B6F"/>
                </a:solidFill>
                <a:latin typeface="Amiri" pitchFamily="34" charset="0"/>
                <a:ea typeface="Amiri" pitchFamily="34" charset="-122"/>
                <a:cs typeface="Amiri" pitchFamily="34" charset="-120"/>
              </a:rPr>
              <a:t> … </a:t>
            </a:r>
            <a:pPr rtl="1" algn="ctr" indent="0" marL="0">
              <a:lnSpc>
                <a:spcPct val="120000"/>
              </a:lnSpc>
              <a:buNone/>
            </a:pPr>
            <a:r>
              <a:rPr lang="ar-SA" altLang="en-US" sz="1950" b="1" dirty="0">
                <a:solidFill>
                  <a:srgbClr val="1D5FBF"/>
                </a:solidFill>
                <a:latin typeface="Amiri" pitchFamily="34" charset="0"/>
                <a:ea typeface="Amiri" pitchFamily="34" charset="-122"/>
                <a:cs typeface="Amiri" pitchFamily="34" charset="-120"/>
              </a:rPr>
              <a:t>لِكَيْ</a:t>
            </a:r>
            <a:pPr rtl="1" algn="ctr" indent="0" marL="0">
              <a:lnSpc>
                <a:spcPct val="120000"/>
              </a:lnSpc>
              <a:buNone/>
            </a:pPr>
            <a:r>
              <a:rPr lang="ar-SA" altLang="en-US" sz="1950" b="1" dirty="0">
                <a:solidFill>
                  <a:srgbClr val="1B3B6F"/>
                </a:solidFill>
                <a:latin typeface="Amiri" pitchFamily="34" charset="0"/>
                <a:ea typeface="Amiri" pitchFamily="34" charset="-122"/>
                <a:cs typeface="Amiri" pitchFamily="34" charset="-120"/>
              </a:rPr>
              <a:t> …</a:t>
            </a:r>
            <a:endParaRPr lang="ar-SA" sz="19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5 / 45</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D4-L11 · Unit Review</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LESSON OBJECTIVES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Objectives and success criteria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الأَهْدَافُ وَمَعَايِيرُ النَّجَاحِ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D4 · Environment, Weather and Technology · D4-L11</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ea typeface="Calibri" pitchFamily="34" charset="-122"/>
                <a:cs typeface="Calibri" pitchFamily="34" charset="-120"/>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34" charset="0"/>
                <a:ea typeface="Amiri" pitchFamily="34" charset="-122"/>
                <a:cs typeface="Amiri" pitchFamily="34" charset="-120"/>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Describe climate and weather accurately (</a:t>
            </a:r>
            <a:pPr algn="l" indent="0" marL="0">
              <a:buNone/>
            </a:pPr>
            <a:r>
              <a:rPr lang="ar-SA" altLang="en-US" sz="1700" dirty="0">
                <a:solidFill>
                  <a:srgbClr val="1F2A37"/>
                </a:solidFill>
                <a:latin typeface="Amiri" pitchFamily="34" charset="0"/>
                <a:ea typeface="Amiri" pitchFamily="34" charset="-122"/>
                <a:cs typeface="Amiri" pitchFamily="34" charset="-120"/>
              </a:rPr>
              <a:t>يَسُودُ</a:t>
            </a:r>
            <a:pPr algn="l" indent="0" marL="0">
              <a:buNone/>
            </a:pPr>
            <a:r>
              <a:rPr lang="en-US" sz="1300" dirty="0">
                <a:solidFill>
                  <a:srgbClr val="1F2A37"/>
                </a:solidFill>
                <a:latin typeface="Calibri" pitchFamily="34" charset="0"/>
                <a:ea typeface="Calibri" pitchFamily="34" charset="-122"/>
                <a:cs typeface="Calibri" pitchFamily="34" charset="-120"/>
              </a:rPr>
              <a:t> · </a:t>
            </a:r>
            <a:pPr algn="l" indent="0" marL="0">
              <a:buNone/>
            </a:pPr>
            <a:r>
              <a:rPr lang="ar-SA" altLang="en-US" sz="1700" dirty="0">
                <a:solidFill>
                  <a:srgbClr val="1F2A37"/>
                </a:solidFill>
                <a:latin typeface="Amiri" pitchFamily="34" charset="0"/>
                <a:ea typeface="Amiri" pitchFamily="34" charset="-122"/>
                <a:cs typeface="Amiri" pitchFamily="34" charset="-120"/>
              </a:rPr>
              <a:t>تَهُبُّ الرِّيَاحُ</a:t>
            </a:r>
            <a:pPr algn="l" indent="0" marL="0">
              <a:buNone/>
            </a:pPr>
            <a:r>
              <a:rPr lang="en-US" sz="1300" dirty="0">
                <a:solidFill>
                  <a:srgbClr val="1F2A37"/>
                </a:solidFill>
                <a:latin typeface="Calibri" pitchFamily="34" charset="0"/>
                <a:ea typeface="Calibri" pitchFamily="34" charset="-122"/>
                <a:cs typeface="Calibri" pitchFamily="34" charset="-120"/>
              </a:rPr>
              <a:t>).</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Explain a problem with a passive and a cause–effect chain.</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Propose a solution with obligation + purpose and give a qualified judgement.</a:t>
            </a:r>
            <a:endParaRPr lang="en-US" sz="1300" dirty="0"/>
          </a:p>
        </p:txBody>
      </p:sp>
      <p:sp>
        <p:nvSpPr>
          <p:cNvPr id="27" name="Shape 24"/>
          <p:cNvSpPr/>
          <p:nvPr/>
        </p:nvSpPr>
        <p:spPr>
          <a:xfrm>
            <a:off x="685800" y="5084064"/>
            <a:ext cx="365760" cy="365760"/>
          </a:xfrm>
          <a:prstGeom prst="ellipse">
            <a:avLst/>
          </a:prstGeom>
          <a:solidFill>
            <a:srgbClr val="1B3B6F"/>
          </a:solidFill>
          <a:ln w="12700">
            <a:solidFill>
              <a:srgbClr val="1B3B6F"/>
            </a:solidFill>
            <a:prstDash val="solid"/>
          </a:ln>
        </p:spPr>
      </p:sp>
      <p:sp>
        <p:nvSpPr>
          <p:cNvPr id="28" name="Text 25"/>
          <p:cNvSpPr txBox="1"/>
          <p:nvPr/>
        </p:nvSpPr>
        <p:spPr>
          <a:xfrm>
            <a:off x="685800" y="5084064"/>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4</a:t>
            </a:r>
            <a:endParaRPr lang="en-US" sz="1200" dirty="0"/>
          </a:p>
        </p:txBody>
      </p:sp>
      <p:sp>
        <p:nvSpPr>
          <p:cNvPr id="29" name="Text 26"/>
          <p:cNvSpPr txBox="1"/>
          <p:nvPr/>
        </p:nvSpPr>
        <p:spPr>
          <a:xfrm>
            <a:off x="1188720" y="4974336"/>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Recover from a mistake in speaking with a self-correction phrase.</a:t>
            </a:r>
            <a:endParaRPr lang="en-US" sz="1300" dirty="0"/>
          </a:p>
        </p:txBody>
      </p:sp>
      <p:sp>
        <p:nvSpPr>
          <p:cNvPr id="30" name="Shape 27"/>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31" name="Shape 28"/>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CORE</a:t>
            </a:r>
            <a:endParaRPr lang="en-US" sz="950" dirty="0"/>
          </a:p>
        </p:txBody>
      </p:sp>
      <p:sp>
        <p:nvSpPr>
          <p:cNvPr id="33" name="Text 30"/>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ea typeface="Calibri" pitchFamily="34" charset="-122"/>
                <a:cs typeface="Calibri" pitchFamily="34" charset="-120"/>
              </a:rPr>
              <a:t>Everyone</a:t>
            </a:r>
            <a:endParaRPr lang="en-US" sz="1050" dirty="0"/>
          </a:p>
        </p:txBody>
      </p:sp>
      <p:sp>
        <p:nvSpPr>
          <p:cNvPr id="34" name="Text 31"/>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ea typeface="Calibri" pitchFamily="34" charset="-122"/>
                <a:cs typeface="Calibri" pitchFamily="34" charset="-120"/>
              </a:rPr>
              <a:t>☐  I can write one accurate sentence for climate, problem and solution.</a:t>
            </a:r>
            <a:endParaRPr lang="en-US" sz="1300" dirty="0"/>
          </a:p>
        </p:txBody>
      </p:sp>
      <p:sp>
        <p:nvSpPr>
          <p:cNvPr id="35" name="Text 32"/>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ea typeface="Calibri" pitchFamily="34" charset="-122"/>
                <a:cs typeface="Calibri" pitchFamily="34" charset="-120"/>
              </a:rPr>
              <a:t>☐  I can use the D4 frames.</a:t>
            </a:r>
            <a:endParaRPr lang="en-US" sz="1300" dirty="0"/>
          </a:p>
        </p:txBody>
      </p:sp>
      <p:sp>
        <p:nvSpPr>
          <p:cNvPr id="36" name="Shape 33"/>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7" name="Shape 34"/>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DEVELOP</a:t>
            </a:r>
            <a:endParaRPr lang="en-US" sz="950" dirty="0"/>
          </a:p>
        </p:txBody>
      </p:sp>
      <p:sp>
        <p:nvSpPr>
          <p:cNvPr id="39" name="Text 36"/>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ea typeface="Calibri" pitchFamily="34" charset="-122"/>
                <a:cs typeface="Calibri" pitchFamily="34" charset="-120"/>
              </a:rPr>
              <a:t>Most of us</a:t>
            </a:r>
            <a:endParaRPr lang="en-US" sz="1050" dirty="0"/>
          </a:p>
        </p:txBody>
      </p:sp>
      <p:sp>
        <p:nvSpPr>
          <p:cNvPr id="40" name="Text 37"/>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ea typeface="Calibri" pitchFamily="34" charset="-122"/>
                <a:cs typeface="Calibri" pitchFamily="34" charset="-120"/>
              </a:rPr>
              <a:t>☐  I can link problem, cause and solution in a paragraph.</a:t>
            </a:r>
            <a:endParaRPr lang="en-US" sz="1300" dirty="0"/>
          </a:p>
        </p:txBody>
      </p:sp>
      <p:sp>
        <p:nvSpPr>
          <p:cNvPr id="41" name="Text 38"/>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ea typeface="Calibri" pitchFamily="34" charset="-122"/>
                <a:cs typeface="Calibri" pitchFamily="34" charset="-120"/>
              </a:rPr>
              <a:t>☐  I can use a passive and a purpose clause.</a:t>
            </a:r>
            <a:endParaRPr lang="en-US" sz="1300" dirty="0"/>
          </a:p>
        </p:txBody>
      </p:sp>
      <p:sp>
        <p:nvSpPr>
          <p:cNvPr id="42" name="Shape 39"/>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3" name="Shape 40"/>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STRETCH</a:t>
            </a:r>
            <a:endParaRPr lang="en-US" sz="950" dirty="0"/>
          </a:p>
        </p:txBody>
      </p:sp>
      <p:sp>
        <p:nvSpPr>
          <p:cNvPr id="45" name="Text 42"/>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ea typeface="Calibri" pitchFamily="34" charset="-122"/>
                <a:cs typeface="Calibri" pitchFamily="34" charset="-120"/>
              </a:rPr>
              <a:t>Aim high</a:t>
            </a:r>
            <a:endParaRPr lang="en-US" sz="1050" dirty="0"/>
          </a:p>
        </p:txBody>
      </p:sp>
      <p:sp>
        <p:nvSpPr>
          <p:cNvPr id="46" name="Text 43"/>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ea typeface="Calibri" pitchFamily="34" charset="-122"/>
                <a:cs typeface="Calibri" pitchFamily="34" charset="-120"/>
              </a:rPr>
              <a:t>☐  I can give a qualified judgement (</a:t>
            </a:r>
            <a:pPr algn="l" indent="0" marL="0">
              <a:buNone/>
            </a:pPr>
            <a:r>
              <a:rPr lang="ar-SA" altLang="en-US" sz="1700" b="1" dirty="0">
                <a:solidFill>
                  <a:srgbClr val="B83227"/>
                </a:solidFill>
                <a:latin typeface="Amiri" pitchFamily="34" charset="0"/>
                <a:ea typeface="Amiri" pitchFamily="34" charset="-122"/>
                <a:cs typeface="Amiri" pitchFamily="34" charset="-120"/>
              </a:rPr>
              <a:t>شَرِيطَةَ أَنْ</a:t>
            </a:r>
            <a:pPr algn="l" indent="0" marL="0">
              <a:buNone/>
            </a:pPr>
            <a:r>
              <a:rPr lang="en-US" sz="1300" b="1" dirty="0">
                <a:solidFill>
                  <a:srgbClr val="B83227"/>
                </a:solidFill>
                <a:latin typeface="Calibri" pitchFamily="34" charset="0"/>
                <a:ea typeface="Calibri" pitchFamily="34" charset="-122"/>
                <a:cs typeface="Calibri" pitchFamily="34" charset="-120"/>
              </a:rPr>
              <a:t>).</a:t>
            </a:r>
            <a:endParaRPr lang="en-US" sz="1300" dirty="0"/>
          </a:p>
        </p:txBody>
      </p:sp>
      <p:sp>
        <p:nvSpPr>
          <p:cNvPr id="47" name="Text 44"/>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ea typeface="Calibri" pitchFamily="34" charset="-122"/>
                <a:cs typeface="Calibri" pitchFamily="34" charset="-120"/>
              </a:rPr>
              <a:t>☐  I can self-correct while speaking.</a:t>
            </a:r>
            <a:endParaRPr lang="en-US" sz="13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6 / 45</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8412480" y="1005840"/>
            <a:ext cx="4754880" cy="4754880"/>
          </a:xfrm>
          <a:prstGeom prst="ellipse">
            <a:avLst/>
          </a:prstGeom>
          <a:solidFill>
            <a:srgbClr val="22477F"/>
          </a:solidFill>
          <a:ln w="12700">
            <a:solidFill>
              <a:srgbClr val="22477F"/>
            </a:solidFill>
            <a:prstDash val="solid"/>
          </a:ln>
        </p:spPr>
      </p:sp>
      <p:sp>
        <p:nvSpPr>
          <p:cNvPr id="3" name="Shape 1"/>
          <p:cNvSpPr/>
          <p:nvPr/>
        </p:nvSpPr>
        <p:spPr>
          <a:xfrm>
            <a:off x="457200" y="1097280"/>
            <a:ext cx="3108960" cy="365760"/>
          </a:xfrm>
          <a:prstGeom prst="roundRect">
            <a:avLst>
              <a:gd name="adj" fmla="val 50000"/>
            </a:avLst>
          </a:prstGeom>
          <a:solidFill>
            <a:srgbClr val="D4AF37"/>
          </a:solidFill>
          <a:ln w="12700">
            <a:solidFill>
              <a:srgbClr val="D4AF37"/>
            </a:solidFill>
            <a:prstDash val="solid"/>
          </a:ln>
        </p:spPr>
      </p:sp>
      <p:sp>
        <p:nvSpPr>
          <p:cNvPr id="4" name="Text 2"/>
          <p:cNvSpPr txBox="1"/>
          <p:nvPr/>
        </p:nvSpPr>
        <p:spPr>
          <a:xfrm>
            <a:off x="457200" y="1097280"/>
            <a:ext cx="3108960" cy="365760"/>
          </a:xfrm>
          <a:prstGeom prst="rect">
            <a:avLst/>
          </a:prstGeom>
          <a:noFill/>
          <a:ln/>
        </p:spPr>
        <p:txBody>
          <a:bodyPr wrap="square" lIns="0" tIns="0" rIns="0" bIns="0" rtlCol="0" anchor="ctr"/>
          <a:lstStyle/>
          <a:p>
            <a:pPr algn="ctr" indent="0" marL="0">
              <a:buNone/>
            </a:pPr>
            <a:r>
              <a:rPr lang="en-US" sz="1000" b="1" spc="100" kern="0" dirty="0">
                <a:solidFill>
                  <a:srgbClr val="0D1F3C"/>
                </a:solidFill>
                <a:latin typeface="Calibri" pitchFamily="34" charset="0"/>
                <a:ea typeface="Calibri" pitchFamily="34" charset="-122"/>
                <a:cs typeface="Calibri" pitchFamily="34" charset="-120"/>
              </a:rPr>
              <a:t>TEACHER INSTRUCTION · 7 MIN</a:t>
            </a:r>
            <a:endParaRPr lang="en-US" sz="1000" dirty="0"/>
          </a:p>
        </p:txBody>
      </p:sp>
      <p:sp>
        <p:nvSpPr>
          <p:cNvPr id="5" name="Text 3"/>
          <p:cNvSpPr txBox="1"/>
          <p:nvPr/>
        </p:nvSpPr>
        <p:spPr>
          <a:xfrm>
            <a:off x="457200" y="1783080"/>
            <a:ext cx="7863840" cy="822960"/>
          </a:xfrm>
          <a:prstGeom prst="rect">
            <a:avLst/>
          </a:prstGeom>
          <a:noFill/>
          <a:ln/>
        </p:spPr>
        <p:txBody>
          <a:bodyPr wrap="square" lIns="0" tIns="0" rIns="0" bIns="0" rtlCol="0" anchor="ctr"/>
          <a:lstStyle/>
          <a:p>
            <a:pPr algn="l" indent="0" marL="0">
              <a:buNone/>
            </a:pPr>
            <a:r>
              <a:rPr lang="en-US" sz="4000" b="1" dirty="0">
                <a:solidFill>
                  <a:srgbClr val="FFFFFF"/>
                </a:solidFill>
                <a:latin typeface="Cambria" pitchFamily="34" charset="0"/>
                <a:ea typeface="Cambria" pitchFamily="34" charset="-122"/>
                <a:cs typeface="Cambria" pitchFamily="34" charset="-120"/>
              </a:rPr>
              <a:t>Key words for today</a:t>
            </a:r>
            <a:endParaRPr lang="en-US" sz="4000" dirty="0"/>
          </a:p>
        </p:txBody>
      </p:sp>
      <p:sp>
        <p:nvSpPr>
          <p:cNvPr id="6" name="Text 4"/>
          <p:cNvSpPr txBox="1"/>
          <p:nvPr/>
        </p:nvSpPr>
        <p:spPr>
          <a:xfrm>
            <a:off x="457200" y="2606040"/>
            <a:ext cx="7863840" cy="822960"/>
          </a:xfrm>
          <a:prstGeom prst="rect">
            <a:avLst/>
          </a:prstGeom>
          <a:noFill/>
          <a:ln/>
        </p:spPr>
        <p:txBody>
          <a:bodyPr wrap="square" lIns="0" tIns="0" rIns="0" bIns="0" rtlCol="0" anchor="ctr"/>
          <a:lstStyle/>
          <a:p>
            <a:pPr rtl="1" algn="l" indent="0" marL="0">
              <a:buNone/>
            </a:pPr>
            <a:r>
              <a:rPr lang="ar-SA" altLang="en-US" sz="3800" b="1" dirty="0">
                <a:solidFill>
                  <a:srgbClr val="D4AF37"/>
                </a:solidFill>
                <a:latin typeface="Amiri" pitchFamily="34" charset="0"/>
                <a:ea typeface="Amiri" pitchFamily="34" charset="-122"/>
                <a:cs typeface="Amiri" pitchFamily="34" charset="-120"/>
              </a:rPr>
              <a:t>كَلِمَاتُ الدَّرْسِ</a:t>
            </a:r>
            <a:endParaRPr lang="ar-SA" sz="3800" dirty="0"/>
          </a:p>
        </p:txBody>
      </p:sp>
      <p:sp>
        <p:nvSpPr>
          <p:cNvPr id="7" name="Text 5"/>
          <p:cNvSpPr txBox="1"/>
          <p:nvPr/>
        </p:nvSpPr>
        <p:spPr>
          <a:xfrm>
            <a:off x="457200" y="3566160"/>
            <a:ext cx="7680960" cy="822960"/>
          </a:xfrm>
          <a:prstGeom prst="rect">
            <a:avLst/>
          </a:prstGeom>
          <a:noFill/>
          <a:ln/>
        </p:spPr>
        <p:txBody>
          <a:bodyPr wrap="square" lIns="0" tIns="0" rIns="0" bIns="0" rtlCol="0" anchor="t"/>
          <a:lstStyle/>
          <a:p>
            <a:pPr algn="l" indent="0" marL="0">
              <a:buNone/>
            </a:pPr>
            <a:r>
              <a:rPr lang="en-US" sz="1600" dirty="0">
                <a:solidFill>
                  <a:srgbClr val="C6D2E6"/>
                </a:solidFill>
                <a:latin typeface="Calibri" pitchFamily="34" charset="0"/>
                <a:ea typeface="Calibri" pitchFamily="34" charset="-122"/>
                <a:cs typeface="Calibri" pitchFamily="34" charset="-120"/>
              </a:rPr>
              <a:t>25 words from the website in 3 groups. Learn the CORE words first. Hear it → say it → see it → use it.</a:t>
            </a:r>
            <a:endParaRPr lang="en-US" sz="1600" dirty="0"/>
          </a:p>
        </p:txBody>
      </p:sp>
      <p:sp>
        <p:nvSpPr>
          <p:cNvPr id="8" name="Shape 6"/>
          <p:cNvSpPr/>
          <p:nvPr/>
        </p:nvSpPr>
        <p:spPr>
          <a:xfrm>
            <a:off x="457200" y="4572000"/>
            <a:ext cx="2529840" cy="960120"/>
          </a:xfrm>
          <a:prstGeom prst="roundRect">
            <a:avLst>
              <a:gd name="adj" fmla="val 7619"/>
            </a:avLst>
          </a:prstGeom>
          <a:solidFill>
            <a:srgbClr val="16335F"/>
          </a:solidFill>
          <a:ln w="12700">
            <a:solidFill>
              <a:srgbClr val="2A4B7C"/>
            </a:solidFill>
            <a:prstDash val="solid"/>
          </a:ln>
        </p:spPr>
      </p:sp>
      <p:sp>
        <p:nvSpPr>
          <p:cNvPr id="9" name="Text 7"/>
          <p:cNvSpPr txBox="1"/>
          <p:nvPr/>
        </p:nvSpPr>
        <p:spPr>
          <a:xfrm>
            <a:off x="594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GROUP 1</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Range and performance · 9</a:t>
            </a:r>
            <a:endParaRPr lang="en-US" sz="900" dirty="0"/>
          </a:p>
        </p:txBody>
      </p:sp>
      <p:sp>
        <p:nvSpPr>
          <p:cNvPr id="10" name="Shape 8"/>
          <p:cNvSpPr/>
          <p:nvPr/>
        </p:nvSpPr>
        <p:spPr>
          <a:xfrm>
            <a:off x="3124200" y="4572000"/>
            <a:ext cx="2529840" cy="960120"/>
          </a:xfrm>
          <a:prstGeom prst="roundRect">
            <a:avLst>
              <a:gd name="adj" fmla="val 7619"/>
            </a:avLst>
          </a:prstGeom>
          <a:solidFill>
            <a:srgbClr val="16335F"/>
          </a:solidFill>
          <a:ln w="12700">
            <a:solidFill>
              <a:srgbClr val="2A4B7C"/>
            </a:solidFill>
            <a:prstDash val="solid"/>
          </a:ln>
        </p:spPr>
      </p:sp>
      <p:sp>
        <p:nvSpPr>
          <p:cNvPr id="11" name="Text 9"/>
          <p:cNvSpPr txBox="1"/>
          <p:nvPr/>
        </p:nvSpPr>
        <p:spPr>
          <a:xfrm>
            <a:off x="3261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GROUP 2</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D4 grammar bank · 9</a:t>
            </a:r>
            <a:endParaRPr lang="en-US" sz="900" dirty="0"/>
          </a:p>
        </p:txBody>
      </p:sp>
      <p:sp>
        <p:nvSpPr>
          <p:cNvPr id="12" name="Shape 10"/>
          <p:cNvSpPr/>
          <p:nvPr/>
        </p:nvSpPr>
        <p:spPr>
          <a:xfrm>
            <a:off x="5791200" y="4572000"/>
            <a:ext cx="2529840" cy="960120"/>
          </a:xfrm>
          <a:prstGeom prst="roundRect">
            <a:avLst>
              <a:gd name="adj" fmla="val 7619"/>
            </a:avLst>
          </a:prstGeom>
          <a:solidFill>
            <a:srgbClr val="16335F"/>
          </a:solidFill>
          <a:ln w="12700">
            <a:solidFill>
              <a:srgbClr val="2A4B7C"/>
            </a:solidFill>
            <a:prstDash val="solid"/>
          </a:ln>
        </p:spPr>
      </p:sp>
      <p:sp>
        <p:nvSpPr>
          <p:cNvPr id="13" name="Text 11"/>
          <p:cNvSpPr txBox="1"/>
          <p:nvPr/>
        </p:nvSpPr>
        <p:spPr>
          <a:xfrm>
            <a:off x="5928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GROUP 3</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Speaking and self-correction · 7</a:t>
            </a:r>
            <a:endParaRPr lang="en-US" sz="900" dirty="0"/>
          </a:p>
        </p:txBody>
      </p:sp>
      <p:sp>
        <p:nvSpPr>
          <p:cNvPr id="14" name="Shape 12"/>
          <p:cNvSpPr/>
          <p:nvPr/>
        </p:nvSpPr>
        <p:spPr>
          <a:xfrm>
            <a:off x="8732520" y="1371600"/>
            <a:ext cx="3017520" cy="3291840"/>
          </a:xfrm>
          <a:prstGeom prst="roundRect">
            <a:avLst>
              <a:gd name="adj" fmla="val 2424"/>
            </a:avLst>
          </a:prstGeom>
          <a:solidFill>
            <a:srgbClr val="EAF6EF"/>
          </a:solidFill>
          <a:ln w="12700">
            <a:solidFill>
              <a:srgbClr val="9CCFB0"/>
            </a:solidFill>
            <a:prstDash val="solid"/>
          </a:ln>
        </p:spPr>
      </p:sp>
      <p:sp>
        <p:nvSpPr>
          <p:cNvPr id="15" name="Text 13"/>
          <p:cNvSpPr txBox="1"/>
          <p:nvPr/>
        </p:nvSpPr>
        <p:spPr>
          <a:xfrm>
            <a:off x="8915400" y="1426464"/>
            <a:ext cx="2651760" cy="310896"/>
          </a:xfrm>
          <a:prstGeom prst="rect">
            <a:avLst/>
          </a:prstGeom>
          <a:noFill/>
          <a:ln/>
        </p:spPr>
        <p:txBody>
          <a:bodyPr wrap="square" lIns="0" tIns="0" rIns="0" bIns="0" rtlCol="0" anchor="ctr"/>
          <a:lstStyle/>
          <a:p>
            <a:pPr algn="l" indent="0" marL="0">
              <a:buNone/>
            </a:pPr>
            <a:r>
              <a:rPr lang="en-US" sz="1000" b="1" spc="200" kern="0" dirty="0">
                <a:solidFill>
                  <a:srgbClr val="2E8B57"/>
                </a:solidFill>
                <a:latin typeface="Calibri" pitchFamily="34" charset="0"/>
                <a:ea typeface="Calibri" pitchFamily="34" charset="-122"/>
                <a:cs typeface="Calibri" pitchFamily="34" charset="-120"/>
              </a:rPr>
              <a:t>BRIDGE FROM URDU</a:t>
            </a:r>
            <a:endParaRPr lang="en-US" sz="1000" dirty="0"/>
          </a:p>
        </p:txBody>
      </p:sp>
      <p:sp>
        <p:nvSpPr>
          <p:cNvPr id="16" name="Text 14"/>
          <p:cNvSpPr txBox="1"/>
          <p:nvPr/>
        </p:nvSpPr>
        <p:spPr>
          <a:xfrm>
            <a:off x="10241280" y="1810512"/>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نُقْطَةٌ</a:t>
            </a:r>
            <a:endParaRPr lang="ar-SA" sz="1900" dirty="0"/>
          </a:p>
        </p:txBody>
      </p:sp>
      <p:sp>
        <p:nvSpPr>
          <p:cNvPr id="17" name="Text 15"/>
          <p:cNvSpPr txBox="1"/>
          <p:nvPr/>
        </p:nvSpPr>
        <p:spPr>
          <a:xfrm>
            <a:off x="8842248" y="1810512"/>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‎نقطہ‎ </a:t>
            </a:r>
            <a:pPr indent="0" marL="0">
              <a:buNone/>
            </a:pPr>
            <a:r>
              <a:rPr lang="en-US" sz="950" b="1" dirty="0">
                <a:solidFill>
                  <a:srgbClr val="2E8B57"/>
                </a:solidFill>
                <a:latin typeface="Calibri" pitchFamily="34" charset="0"/>
                <a:ea typeface="Calibri" pitchFamily="34" charset="-122"/>
                <a:cs typeface="Calibri" pitchFamily="34" charset="-120"/>
              </a:rPr>
              <a:t> nuqta · point</a:t>
            </a:r>
            <a:endParaRPr lang="en-US" sz="1400" dirty="0"/>
          </a:p>
        </p:txBody>
      </p:sp>
      <p:sp>
        <p:nvSpPr>
          <p:cNvPr id="18" name="Text 16"/>
          <p:cNvSpPr txBox="1"/>
          <p:nvPr/>
        </p:nvSpPr>
        <p:spPr>
          <a:xfrm>
            <a:off x="10241280" y="2377440"/>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قُوَّةٌ</a:t>
            </a:r>
            <a:endParaRPr lang="ar-SA" sz="1900" dirty="0"/>
          </a:p>
        </p:txBody>
      </p:sp>
      <p:sp>
        <p:nvSpPr>
          <p:cNvPr id="19" name="Text 17"/>
          <p:cNvSpPr txBox="1"/>
          <p:nvPr/>
        </p:nvSpPr>
        <p:spPr>
          <a:xfrm>
            <a:off x="8842248" y="2377440"/>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‎قوت‎ </a:t>
            </a:r>
            <a:pPr indent="0" marL="0">
              <a:buNone/>
            </a:pPr>
            <a:r>
              <a:rPr lang="en-US" sz="950" b="1" dirty="0">
                <a:solidFill>
                  <a:srgbClr val="2E8B57"/>
                </a:solidFill>
                <a:latin typeface="Calibri" pitchFamily="34" charset="0"/>
                <a:ea typeface="Calibri" pitchFamily="34" charset="-122"/>
                <a:cs typeface="Calibri" pitchFamily="34" charset="-120"/>
              </a:rPr>
              <a:t> quwwat · strength</a:t>
            </a:r>
            <a:endParaRPr lang="en-US" sz="1400" dirty="0"/>
          </a:p>
        </p:txBody>
      </p:sp>
      <p:sp>
        <p:nvSpPr>
          <p:cNvPr id="20" name="Text 18"/>
          <p:cNvSpPr txBox="1"/>
          <p:nvPr/>
        </p:nvSpPr>
        <p:spPr>
          <a:xfrm>
            <a:off x="10241280" y="2944368"/>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تَحْسِينٌ</a:t>
            </a:r>
            <a:endParaRPr lang="ar-SA" sz="1900" dirty="0"/>
          </a:p>
        </p:txBody>
      </p:sp>
      <p:sp>
        <p:nvSpPr>
          <p:cNvPr id="21" name="Text 19"/>
          <p:cNvSpPr txBox="1"/>
          <p:nvPr/>
        </p:nvSpPr>
        <p:spPr>
          <a:xfrm>
            <a:off x="8842248" y="2944368"/>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‎تحسین‎ </a:t>
            </a:r>
            <a:pPr indent="0" marL="0">
              <a:buNone/>
            </a:pPr>
            <a:r>
              <a:rPr lang="en-US" sz="950" b="1" dirty="0">
                <a:solidFill>
                  <a:srgbClr val="2E8B57"/>
                </a:solidFill>
                <a:latin typeface="Calibri" pitchFamily="34" charset="0"/>
                <a:ea typeface="Calibri" pitchFamily="34" charset="-122"/>
                <a:cs typeface="Calibri" pitchFamily="34" charset="-120"/>
              </a:rPr>
              <a:t> taḥsīn · Urdu: praise · Arabic: improvement</a:t>
            </a:r>
            <a:endParaRPr lang="en-US" sz="1400" dirty="0"/>
          </a:p>
        </p:txBody>
      </p:sp>
      <p:sp>
        <p:nvSpPr>
          <p:cNvPr id="22" name="Text 20"/>
          <p:cNvSpPr txBox="1"/>
          <p:nvPr/>
        </p:nvSpPr>
        <p:spPr>
          <a:xfrm>
            <a:off x="10241280" y="3511296"/>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إِعْدَادٌ</a:t>
            </a:r>
            <a:endParaRPr lang="ar-SA" sz="1900" dirty="0"/>
          </a:p>
        </p:txBody>
      </p:sp>
      <p:sp>
        <p:nvSpPr>
          <p:cNvPr id="23" name="Text 21"/>
          <p:cNvSpPr txBox="1"/>
          <p:nvPr/>
        </p:nvSpPr>
        <p:spPr>
          <a:xfrm>
            <a:off x="8842248" y="3511296"/>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‎اعداد‎ </a:t>
            </a:r>
            <a:pPr indent="0" marL="0">
              <a:buNone/>
            </a:pPr>
            <a:r>
              <a:rPr lang="en-US" sz="950" b="1" dirty="0">
                <a:solidFill>
                  <a:srgbClr val="2E8B57"/>
                </a:solidFill>
                <a:latin typeface="Calibri" pitchFamily="34" charset="0"/>
                <a:ea typeface="Calibri" pitchFamily="34" charset="-122"/>
                <a:cs typeface="Calibri" pitchFamily="34" charset="-120"/>
              </a:rPr>
              <a:t> aʿdād · Urdu: numbers · Arabic: preparation</a:t>
            </a:r>
            <a:endParaRPr lang="en-US" sz="1400" dirty="0"/>
          </a:p>
        </p:txBody>
      </p:sp>
      <p:sp>
        <p:nvSpPr>
          <p:cNvPr id="24" name="Text 22"/>
          <p:cNvSpPr txBox="1"/>
          <p:nvPr/>
        </p:nvSpPr>
        <p:spPr>
          <a:xfrm>
            <a:off x="10241280" y="4078224"/>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عِبَارَةٌ</a:t>
            </a:r>
            <a:endParaRPr lang="ar-SA" sz="1900" dirty="0"/>
          </a:p>
        </p:txBody>
      </p:sp>
      <p:sp>
        <p:nvSpPr>
          <p:cNvPr id="25" name="Text 23"/>
          <p:cNvSpPr txBox="1"/>
          <p:nvPr/>
        </p:nvSpPr>
        <p:spPr>
          <a:xfrm>
            <a:off x="8842248" y="4078224"/>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‎عبارت‎ </a:t>
            </a:r>
            <a:pPr indent="0" marL="0">
              <a:buNone/>
            </a:pPr>
            <a:r>
              <a:rPr lang="en-US" sz="950" b="1" dirty="0">
                <a:solidFill>
                  <a:srgbClr val="2E8B57"/>
                </a:solidFill>
                <a:latin typeface="Calibri" pitchFamily="34" charset="0"/>
                <a:ea typeface="Calibri" pitchFamily="34" charset="-122"/>
                <a:cs typeface="Calibri" pitchFamily="34" charset="-120"/>
              </a:rPr>
              <a:t> ʿibārat · expression, wording</a:t>
            </a:r>
            <a:endParaRPr lang="en-US" sz="1400" dirty="0"/>
          </a:p>
        </p:txBody>
      </p:sp>
      <p:sp>
        <p:nvSpPr>
          <p:cNvPr id="27" name="Text 2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7 / 45</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D4-L11 · Unit Review</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Range and performance (1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D4 · Environment, Weather and Technology · D4-L11</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النِّطَاقُ اللُّغَوِيُّ</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linguistic range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an-ni-ṭā-qu all-lu-gha-wiy-yu</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a:t>
            </a:r>
            <a:endParaRPr lang="en-US" sz="1000" dirty="0"/>
          </a:p>
        </p:txBody>
      </p:sp>
      <p:sp>
        <p:nvSpPr>
          <p:cNvPr id="25" name="Text 22"/>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التَّكَامُلُ اللُّغَوِيُّ</a:t>
            </a:r>
            <a:endParaRPr lang="ar-SA" sz="3000" dirty="0"/>
          </a:p>
        </p:txBody>
      </p:sp>
      <p:sp>
        <p:nvSpPr>
          <p:cNvPr id="26" name="Text 23"/>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language integration</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at-ta-kā-mu-lu all-lu-gha-wiy-yu</a:t>
            </a:r>
            <a:endParaRPr lang="en-US" sz="1350" dirty="0"/>
          </a:p>
        </p:txBody>
      </p:sp>
      <p:sp>
        <p:nvSpPr>
          <p:cNvPr id="27" name="Shape 2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566928"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3</a:t>
            </a:r>
            <a:endParaRPr lang="en-US" sz="1000" dirty="0"/>
          </a:p>
        </p:txBody>
      </p:sp>
      <p:sp>
        <p:nvSpPr>
          <p:cNvPr id="30" name="Shape 27"/>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1" name="Text 28"/>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2" name="Text 29"/>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الدِّقَّةُ تَحْتَ الضَّغْطِ</a:t>
            </a:r>
            <a:endParaRPr lang="ar-SA" sz="3000" dirty="0"/>
          </a:p>
        </p:txBody>
      </p:sp>
      <p:sp>
        <p:nvSpPr>
          <p:cNvPr id="33" name="Text 30"/>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accuracy under pressure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ad-diq-qa-tu taḥ-ta aḍ-ḍagh-ṭi</a:t>
            </a:r>
            <a:endParaRPr lang="en-US" sz="1350" dirty="0"/>
          </a:p>
        </p:txBody>
      </p:sp>
      <p:sp>
        <p:nvSpPr>
          <p:cNvPr id="34" name="Shape 31"/>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8211312" y="4261104"/>
            <a:ext cx="310896" cy="310896"/>
          </a:xfrm>
          <a:prstGeom prst="ellipse">
            <a:avLst/>
          </a:prstGeom>
          <a:solidFill>
            <a:srgbClr val="F4F1EA"/>
          </a:solidFill>
          <a:ln w="12700">
            <a:solidFill>
              <a:srgbClr val="F4F1EA"/>
            </a:solidFill>
            <a:prstDash val="solid"/>
          </a:ln>
        </p:spPr>
      </p:sp>
      <p:sp>
        <p:nvSpPr>
          <p:cNvPr id="36" name="Text 33"/>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4</a:t>
            </a:r>
            <a:endParaRPr lang="en-US" sz="1000" dirty="0"/>
          </a:p>
        </p:txBody>
      </p:sp>
      <p:sp>
        <p:nvSpPr>
          <p:cNvPr id="37" name="Text 34"/>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التَّعَمُّقُ الأَكَادِيمِيُّ</a:t>
            </a:r>
            <a:endParaRPr lang="ar-SA" sz="3000" dirty="0"/>
          </a:p>
        </p:txBody>
      </p:sp>
      <p:sp>
        <p:nvSpPr>
          <p:cNvPr id="38" name="Text 35"/>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academic depth</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at-ta-ʿam-mu-qu al-a-kā-dī-miy-yu</a:t>
            </a:r>
            <a:endParaRPr lang="en-US" sz="1350" dirty="0"/>
          </a:p>
        </p:txBody>
      </p:sp>
      <p:sp>
        <p:nvSpPr>
          <p:cNvPr id="39" name="Shape 36"/>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4389120" y="4261104"/>
            <a:ext cx="310896" cy="310896"/>
          </a:xfrm>
          <a:prstGeom prst="ellipse">
            <a:avLst/>
          </a:prstGeom>
          <a:solidFill>
            <a:srgbClr val="F4F1EA"/>
          </a:solidFill>
          <a:ln w="12700">
            <a:solidFill>
              <a:srgbClr val="F4F1EA"/>
            </a:solidFill>
            <a:prstDash val="solid"/>
          </a:ln>
        </p:spPr>
      </p:sp>
      <p:sp>
        <p:nvSpPr>
          <p:cNvPr id="41" name="Text 38"/>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5</a:t>
            </a:r>
            <a:endParaRPr lang="en-US" sz="1000" dirty="0"/>
          </a:p>
        </p:txBody>
      </p:sp>
      <p:sp>
        <p:nvSpPr>
          <p:cNvPr id="42" name="Text 39"/>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إِعْدَادُ الامْتِحَانِ</a:t>
            </a:r>
            <a:endParaRPr lang="ar-SA" sz="3000" dirty="0"/>
          </a:p>
        </p:txBody>
      </p:sp>
      <p:sp>
        <p:nvSpPr>
          <p:cNvPr id="43" name="Text 40"/>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exam preparation</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iʿ-dā-du alm-ti-ḥā-ni</a:t>
            </a:r>
            <a:endParaRPr lang="en-US" sz="135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8 / 45</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D4-L11 · Unit Review</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Range and performance (2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D4 · Environment, Weather and Technology · D4-L11</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6</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نُقْطَةُ قُوَّةٍ</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strength</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nuq-ṭa-tu quw-wa-tin</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7</a:t>
            </a:r>
            <a:endParaRPr lang="en-US" sz="1000" dirty="0"/>
          </a:p>
        </p:txBody>
      </p:sp>
      <p:sp>
        <p:nvSpPr>
          <p:cNvPr id="25" name="Shape 22"/>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7" name="Text 24"/>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مَجَالُ تَحْسِينٍ</a:t>
            </a:r>
            <a:endParaRPr lang="ar-SA" sz="3000" dirty="0"/>
          </a:p>
        </p:txBody>
      </p:sp>
      <p:sp>
        <p:nvSpPr>
          <p:cNvPr id="28" name="Text 25"/>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area for improvement</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ma-jā-lu taḥ-sī-nin</a:t>
            </a:r>
            <a:endParaRPr lang="en-US" sz="1350" dirty="0"/>
          </a:p>
        </p:txBody>
      </p:sp>
      <p:sp>
        <p:nvSpPr>
          <p:cNvPr id="29" name="Shape 26"/>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66928" y="1920240"/>
            <a:ext cx="310896" cy="310896"/>
          </a:xfrm>
          <a:prstGeom prst="ellipse">
            <a:avLst/>
          </a:prstGeom>
          <a:solidFill>
            <a:srgbClr val="F4F1EA"/>
          </a:solidFill>
          <a:ln w="12700">
            <a:solidFill>
              <a:srgbClr val="F4F1EA"/>
            </a:solidFill>
            <a:prstDash val="solid"/>
          </a:ln>
        </p:spPr>
      </p:sp>
      <p:sp>
        <p:nvSpPr>
          <p:cNvPr id="31" name="Text 28"/>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8</a:t>
            </a:r>
            <a:endParaRPr lang="en-US" sz="1000" dirty="0"/>
          </a:p>
        </p:txBody>
      </p:sp>
      <p:sp>
        <p:nvSpPr>
          <p:cNvPr id="32" name="Text 29"/>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دَلِيلٌ لُغَوِيٌّ</a:t>
            </a:r>
            <a:endParaRPr lang="ar-SA" sz="3000" dirty="0"/>
          </a:p>
        </p:txBody>
      </p:sp>
      <p:sp>
        <p:nvSpPr>
          <p:cNvPr id="33" name="Text 30"/>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linguistic evidence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da-lī-lun lu-gha-wiy-yun</a:t>
            </a:r>
            <a:endParaRPr lang="en-US" sz="1350" dirty="0"/>
          </a:p>
        </p:txBody>
      </p:sp>
      <p:sp>
        <p:nvSpPr>
          <p:cNvPr id="34" name="Shape 31"/>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8211312" y="4261104"/>
            <a:ext cx="310896" cy="310896"/>
          </a:xfrm>
          <a:prstGeom prst="ellipse">
            <a:avLst/>
          </a:prstGeom>
          <a:solidFill>
            <a:srgbClr val="F4F1EA"/>
          </a:solidFill>
          <a:ln w="12700">
            <a:solidFill>
              <a:srgbClr val="F4F1EA"/>
            </a:solidFill>
            <a:prstDash val="solid"/>
          </a:ln>
        </p:spPr>
      </p:sp>
      <p:sp>
        <p:nvSpPr>
          <p:cNvPr id="36" name="Text 33"/>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9</a:t>
            </a:r>
            <a:endParaRPr lang="en-US" sz="1000" dirty="0"/>
          </a:p>
        </p:txBody>
      </p:sp>
      <p:sp>
        <p:nvSpPr>
          <p:cNvPr id="37" name="Shape 34"/>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38" name="Text 35"/>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9" name="Text 36"/>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إِجَابَةٌ مُطَوَّرَةٌ</a:t>
            </a:r>
            <a:endParaRPr lang="ar-SA" sz="3000" dirty="0"/>
          </a:p>
        </p:txBody>
      </p:sp>
      <p:sp>
        <p:nvSpPr>
          <p:cNvPr id="40" name="Text 37"/>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developed answer</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i-jā-ba-tun mu-ṭaw-wa-ra-tun</a:t>
            </a:r>
            <a:endParaRPr lang="en-US" sz="1350" dirty="0"/>
          </a:p>
        </p:txBody>
      </p:sp>
      <p:sp>
        <p:nvSpPr>
          <p:cNvPr id="41" name="Text 3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9 / 45</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D4-L11 · Unit Review</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3</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500" b="1" dirty="0">
                <a:solidFill>
                  <a:srgbClr val="1B3B6F"/>
                </a:solidFill>
                <a:latin typeface="Cambria" pitchFamily="34" charset="0"/>
                <a:ea typeface="Cambria" pitchFamily="34" charset="-122"/>
                <a:cs typeface="Cambria" pitchFamily="34" charset="-120"/>
              </a:rPr>
              <a:t>Speaking and self-correction (1 of 2)</a:t>
            </a:r>
            <a:endParaRPr lang="en-US" sz="25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D4 · Environment, Weather and Technology · D4-L11</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10</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أَقْصِدُ أَنَّ</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what I mean is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aq-ṣi-du an-na</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11</a:t>
            </a:r>
            <a:endParaRPr lang="en-US" sz="1000" dirty="0"/>
          </a:p>
        </p:txBody>
      </p:sp>
      <p:sp>
        <p:nvSpPr>
          <p:cNvPr id="25" name="Shape 22"/>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7" name="Text 24"/>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بِعِبَارَةٍ أُخْرَى</a:t>
            </a:r>
            <a:endParaRPr lang="ar-SA" sz="3000" dirty="0"/>
          </a:p>
        </p:txBody>
      </p:sp>
      <p:sp>
        <p:nvSpPr>
          <p:cNvPr id="28" name="Text 25"/>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in other words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bi-ʿi-bā-ra-tin ukh-rā</a:t>
            </a:r>
            <a:endParaRPr lang="en-US" sz="1350" dirty="0"/>
          </a:p>
        </p:txBody>
      </p:sp>
      <p:sp>
        <p:nvSpPr>
          <p:cNvPr id="29" name="Shape 26"/>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66928" y="1920240"/>
            <a:ext cx="310896" cy="310896"/>
          </a:xfrm>
          <a:prstGeom prst="ellipse">
            <a:avLst/>
          </a:prstGeom>
          <a:solidFill>
            <a:srgbClr val="F4F1EA"/>
          </a:solidFill>
          <a:ln w="12700">
            <a:solidFill>
              <a:srgbClr val="F4F1EA"/>
            </a:solidFill>
            <a:prstDash val="solid"/>
          </a:ln>
        </p:spPr>
      </p:sp>
      <p:sp>
        <p:nvSpPr>
          <p:cNvPr id="31" name="Text 28"/>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12</a:t>
            </a:r>
            <a:endParaRPr lang="en-US" sz="1000" dirty="0"/>
          </a:p>
        </p:txBody>
      </p:sp>
      <p:sp>
        <p:nvSpPr>
          <p:cNvPr id="32" name="Shape 29"/>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4" name="Text 31"/>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لِأُصَحِّحْ ذٰلِكَ</a:t>
            </a:r>
            <a:endParaRPr lang="ar-SA" sz="3000" dirty="0"/>
          </a:p>
        </p:txBody>
      </p:sp>
      <p:sp>
        <p:nvSpPr>
          <p:cNvPr id="35" name="Text 32"/>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let me correct that</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li-ʾu-ṣaḥ-ḥiḥ dhā-li-ka</a:t>
            </a:r>
            <a:endParaRPr lang="en-US" sz="1350" dirty="0"/>
          </a:p>
        </p:txBody>
      </p:sp>
      <p:sp>
        <p:nvSpPr>
          <p:cNvPr id="36" name="Shape 33"/>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8211312" y="4261104"/>
            <a:ext cx="310896" cy="310896"/>
          </a:xfrm>
          <a:prstGeom prst="ellipse">
            <a:avLst/>
          </a:prstGeom>
          <a:solidFill>
            <a:srgbClr val="F4F1EA"/>
          </a:solidFill>
          <a:ln w="12700">
            <a:solidFill>
              <a:srgbClr val="F4F1EA"/>
            </a:solidFill>
            <a:prstDash val="solid"/>
          </a:ln>
        </p:spPr>
      </p:sp>
      <p:sp>
        <p:nvSpPr>
          <p:cNvPr id="38" name="Text 35"/>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13</a:t>
            </a:r>
            <a:endParaRPr lang="en-US" sz="1000" dirty="0"/>
          </a:p>
        </p:txBody>
      </p:sp>
      <p:sp>
        <p:nvSpPr>
          <p:cNvPr id="39" name="Shape 36"/>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40" name="Text 37"/>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41" name="Text 38"/>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سَأُعْطِي مِثَالًا</a:t>
            </a:r>
            <a:endParaRPr lang="ar-SA" sz="3000" dirty="0"/>
          </a:p>
        </p:txBody>
      </p:sp>
      <p:sp>
        <p:nvSpPr>
          <p:cNvPr id="42" name="Text 39"/>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I will give an example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sa-ʾuʿ-ṭī mi-thā-lan</a:t>
            </a:r>
            <a:endParaRPr lang="en-US" sz="1350" dirty="0"/>
          </a:p>
        </p:txBody>
      </p:sp>
      <p:sp>
        <p:nvSpPr>
          <p:cNvPr id="43" name="Text 4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10 / 45</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D4-L11 · Unit Review</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3</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500" b="1" dirty="0">
                <a:solidFill>
                  <a:srgbClr val="1B3B6F"/>
                </a:solidFill>
                <a:latin typeface="Cambria" pitchFamily="34" charset="0"/>
                <a:ea typeface="Cambria" pitchFamily="34" charset="-122"/>
                <a:cs typeface="Cambria" pitchFamily="34" charset="-120"/>
              </a:rPr>
              <a:t>Speaking and self-correction (2 of 2)</a:t>
            </a:r>
            <a:endParaRPr lang="en-US" sz="25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D4 · Environment, Weather and Technology · D4-L11</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14</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الدَّلِيلُ عَلَى ذٰلِكَ</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the evidence for that</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ad-da-lī-lu ʿa-lā dhā-li-ka</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15</a:t>
            </a:r>
            <a:endParaRPr lang="en-US" sz="1000" dirty="0"/>
          </a:p>
        </p:txBody>
      </p:sp>
      <p:sp>
        <p:nvSpPr>
          <p:cNvPr id="25" name="Shape 22"/>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7" name="Text 24"/>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مِنْ وَجْهَةِ نَظَرِي</a:t>
            </a:r>
            <a:endParaRPr lang="ar-SA" sz="3000" dirty="0"/>
          </a:p>
        </p:txBody>
      </p:sp>
      <p:sp>
        <p:nvSpPr>
          <p:cNvPr id="28" name="Text 25"/>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from my point of view</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min waj-ha-ti na-ẓa-rī</a:t>
            </a:r>
            <a:endParaRPr lang="en-US" sz="1350" dirty="0"/>
          </a:p>
        </p:txBody>
      </p:sp>
      <p:sp>
        <p:nvSpPr>
          <p:cNvPr id="29" name="Shape 26"/>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66928" y="1920240"/>
            <a:ext cx="310896" cy="310896"/>
          </a:xfrm>
          <a:prstGeom prst="ellipse">
            <a:avLst/>
          </a:prstGeom>
          <a:solidFill>
            <a:srgbClr val="F4F1EA"/>
          </a:solidFill>
          <a:ln w="12700">
            <a:solidFill>
              <a:srgbClr val="F4F1EA"/>
            </a:solidFill>
            <a:prstDash val="solid"/>
          </a:ln>
        </p:spPr>
      </p:sp>
      <p:sp>
        <p:nvSpPr>
          <p:cNvPr id="31" name="Text 28"/>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16</a:t>
            </a:r>
            <a:endParaRPr lang="en-US" sz="1000" dirty="0"/>
          </a:p>
        </p:txBody>
      </p:sp>
      <p:sp>
        <p:nvSpPr>
          <p:cNvPr id="32" name="Shape 29"/>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4" name="Text 31"/>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إِلَى حَدٍّ مَا</a:t>
            </a:r>
            <a:endParaRPr lang="ar-SA" sz="3000" dirty="0"/>
          </a:p>
        </p:txBody>
      </p:sp>
      <p:sp>
        <p:nvSpPr>
          <p:cNvPr id="35" name="Text 32"/>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to some extent</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i-lā ḥad-din mā</a:t>
            </a:r>
            <a:endParaRPr lang="en-US" sz="1350" dirty="0"/>
          </a:p>
        </p:txBody>
      </p:sp>
      <p:sp>
        <p:nvSpPr>
          <p:cNvPr id="36" name="Text 3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11 / 45</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D4-L11 · Unit Review</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GRAMMAR FOCUS · PART 1 · THE D4 CHAIN (WEBSITE RULES 1–3)</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Climate → problem → solution</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سِلْسِلَةُ الوَحْدَةِ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D4 · Environment, Weather and Technology · D4-L11</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9308592" y="1810512"/>
            <a:ext cx="235000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Lesson</a:t>
            </a:r>
            <a:endParaRPr lang="en-US" sz="1100" dirty="0"/>
          </a:p>
        </p:txBody>
      </p:sp>
      <p:sp>
        <p:nvSpPr>
          <p:cNvPr id="17" name="Text 14"/>
          <p:cNvSpPr txBox="1"/>
          <p:nvPr/>
        </p:nvSpPr>
        <p:spPr>
          <a:xfrm>
            <a:off x="2633472" y="1810512"/>
            <a:ext cx="65288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Model (website)</a:t>
            </a:r>
            <a:endParaRPr lang="en-US" sz="1100" dirty="0"/>
          </a:p>
        </p:txBody>
      </p:sp>
      <p:sp>
        <p:nvSpPr>
          <p:cNvPr id="18" name="Text 15"/>
          <p:cNvSpPr txBox="1"/>
          <p:nvPr/>
        </p:nvSpPr>
        <p:spPr>
          <a:xfrm>
            <a:off x="530352" y="1810512"/>
            <a:ext cx="19568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Link</a:t>
            </a:r>
            <a:endParaRPr lang="en-US" sz="1100" dirty="0"/>
          </a:p>
        </p:txBody>
      </p:sp>
      <p:sp>
        <p:nvSpPr>
          <p:cNvPr id="19" name="Shape 16"/>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0" name="Text 17"/>
          <p:cNvSpPr txBox="1"/>
          <p:nvPr/>
        </p:nvSpPr>
        <p:spPr>
          <a:xfrm>
            <a:off x="9345168" y="2267712"/>
            <a:ext cx="231343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D4-L01 · L02</a:t>
            </a:r>
            <a:endParaRPr lang="en-US" sz="1100" dirty="0"/>
          </a:p>
        </p:txBody>
      </p:sp>
      <p:sp>
        <p:nvSpPr>
          <p:cNvPr id="21" name="Text 18"/>
          <p:cNvSpPr txBox="1"/>
          <p:nvPr/>
        </p:nvSpPr>
        <p:spPr>
          <a:xfrm>
            <a:off x="2651760" y="2286000"/>
            <a:ext cx="6492240" cy="422928"/>
          </a:xfrm>
          <a:prstGeom prst="rect">
            <a:avLst/>
          </a:prstGeom>
          <a:noFill/>
          <a:ln/>
        </p:spPr>
        <p:txBody>
          <a:bodyPr wrap="square" lIns="0" tIns="0" rIns="0" bIns="0" rtlCol="0" anchor="ctr"/>
          <a:lstStyle/>
          <a:p>
            <a:pPr rtl="1" algn="ctr" indent="0" marL="0">
              <a:buNone/>
            </a:pPr>
            <a:r>
              <a:rPr lang="ar-SA" altLang="en-US" sz="1950" b="1" dirty="0">
                <a:solidFill>
                  <a:srgbClr val="0E7C86"/>
                </a:solidFill>
                <a:latin typeface="Amiri" pitchFamily="34" charset="0"/>
                <a:ea typeface="Amiri" pitchFamily="34" charset="-122"/>
                <a:cs typeface="Amiri" pitchFamily="34" charset="-120"/>
              </a:rPr>
              <a:t>يَسُودُ</a:t>
            </a:r>
            <a:pPr rtl="1" algn="ctr" indent="0" marL="0">
              <a:buNone/>
            </a:pPr>
            <a:r>
              <a:rPr lang="ar-SA" altLang="en-US" sz="1950" b="1" dirty="0">
                <a:solidFill>
                  <a:srgbClr val="1B3B6F"/>
                </a:solidFill>
                <a:latin typeface="Amiri" pitchFamily="34" charset="0"/>
                <a:ea typeface="Amiri" pitchFamily="34" charset="-122"/>
                <a:cs typeface="Amiri" pitchFamily="34" charset="-120"/>
              </a:rPr>
              <a:t> مَنَاخٌ جَافٌّ فِي الدَّاخِلِ، وَ</a:t>
            </a:r>
            <a:pPr rtl="1" algn="ctr" indent="0" marL="0">
              <a:buNone/>
            </a:pPr>
            <a:r>
              <a:rPr lang="ar-SA" altLang="en-US" sz="1950" b="1" dirty="0">
                <a:solidFill>
                  <a:srgbClr val="0E7C86"/>
                </a:solidFill>
                <a:latin typeface="Amiri" pitchFamily="34" charset="0"/>
                <a:ea typeface="Amiri" pitchFamily="34" charset="-122"/>
                <a:cs typeface="Amiri" pitchFamily="34" charset="-120"/>
              </a:rPr>
              <a:t>تَهُبُّ</a:t>
            </a:r>
            <a:pPr rtl="1" algn="ctr" indent="0" marL="0">
              <a:buNone/>
            </a:pPr>
            <a:r>
              <a:rPr lang="ar-SA" altLang="en-US" sz="1950" b="1" dirty="0">
                <a:solidFill>
                  <a:srgbClr val="1B3B6F"/>
                </a:solidFill>
                <a:latin typeface="Amiri" pitchFamily="34" charset="0"/>
                <a:ea typeface="Amiri" pitchFamily="34" charset="-122"/>
                <a:cs typeface="Amiri" pitchFamily="34" charset="-120"/>
              </a:rPr>
              <a:t> الرِّيَاحُ بِقُوَّةٍ فِي الرَّبِيعِ.</a:t>
            </a:r>
            <a:endParaRPr lang="ar-SA" sz="1950" dirty="0"/>
          </a:p>
        </p:txBody>
      </p:sp>
      <p:sp>
        <p:nvSpPr>
          <p:cNvPr id="22" name="Text 19"/>
          <p:cNvSpPr txBox="1"/>
          <p:nvPr/>
        </p:nvSpPr>
        <p:spPr>
          <a:xfrm>
            <a:off x="2606040" y="2676997"/>
            <a:ext cx="6583680"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A dry climate prevails inland, and winds blow strongly in spring.</a:t>
            </a:r>
            <a:endParaRPr lang="en-US" sz="950" dirty="0"/>
          </a:p>
        </p:txBody>
      </p:sp>
      <p:sp>
        <p:nvSpPr>
          <p:cNvPr id="23" name="Text 20"/>
          <p:cNvSpPr txBox="1"/>
          <p:nvPr/>
        </p:nvSpPr>
        <p:spPr>
          <a:xfrm>
            <a:off x="566928" y="2267712"/>
            <a:ext cx="19202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1 · climate + weather</a:t>
            </a:r>
            <a:endParaRPr lang="en-US" sz="1100" dirty="0"/>
          </a:p>
        </p:txBody>
      </p:sp>
      <p:sp>
        <p:nvSpPr>
          <p:cNvPr id="24" name="Shape 21"/>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5" name="Text 22"/>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6" name="Shape 23"/>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7" name="Text 24"/>
          <p:cNvSpPr txBox="1"/>
          <p:nvPr/>
        </p:nvSpPr>
        <p:spPr>
          <a:xfrm>
            <a:off x="9345168" y="3004718"/>
            <a:ext cx="231343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D4-L03</a:t>
            </a:r>
            <a:endParaRPr lang="en-US" sz="1100" dirty="0"/>
          </a:p>
        </p:txBody>
      </p:sp>
      <p:sp>
        <p:nvSpPr>
          <p:cNvPr id="28" name="Text 25"/>
          <p:cNvSpPr txBox="1"/>
          <p:nvPr/>
        </p:nvSpPr>
        <p:spPr>
          <a:xfrm>
            <a:off x="2651760" y="3023006"/>
            <a:ext cx="6492240" cy="422928"/>
          </a:xfrm>
          <a:prstGeom prst="rect">
            <a:avLst/>
          </a:prstGeom>
          <a:noFill/>
          <a:ln/>
        </p:spPr>
        <p:txBody>
          <a:bodyPr wrap="square" lIns="0" tIns="0" rIns="0" bIns="0" rtlCol="0" anchor="ctr"/>
          <a:lstStyle/>
          <a:p>
            <a:pPr rtl="1" algn="ctr" indent="0" marL="0">
              <a:buNone/>
            </a:pPr>
            <a:r>
              <a:rPr lang="ar-SA" altLang="en-US" sz="1950" b="1" dirty="0">
                <a:solidFill>
                  <a:srgbClr val="D6336C"/>
                </a:solidFill>
                <a:latin typeface="Amiri" pitchFamily="34" charset="0"/>
                <a:ea typeface="Amiri" pitchFamily="34" charset="-122"/>
                <a:cs typeface="Amiri" pitchFamily="34" charset="-120"/>
              </a:rPr>
              <a:t>يُلَوَّثُ</a:t>
            </a:r>
            <a:pPr rtl="1" algn="ctr" indent="0" marL="0">
              <a:buNone/>
            </a:pPr>
            <a:r>
              <a:rPr lang="ar-SA" altLang="en-US" sz="1950" b="1" dirty="0">
                <a:solidFill>
                  <a:srgbClr val="1B3B6F"/>
                </a:solidFill>
                <a:latin typeface="Amiri" pitchFamily="34" charset="0"/>
                <a:ea typeface="Amiri" pitchFamily="34" charset="-122"/>
                <a:cs typeface="Amiri" pitchFamily="34" charset="-120"/>
              </a:rPr>
              <a:t> الهَوَاءُ </a:t>
            </a:r>
            <a:pPr rtl="1" algn="ctr" indent="0" marL="0">
              <a:buNone/>
            </a:pPr>
            <a:r>
              <a:rPr lang="ar-SA" altLang="en-US" sz="1950" b="1" dirty="0">
                <a:solidFill>
                  <a:srgbClr val="D6336C"/>
                </a:solidFill>
                <a:latin typeface="Amiri" pitchFamily="34" charset="0"/>
                <a:ea typeface="Amiri" pitchFamily="34" charset="-122"/>
                <a:cs typeface="Amiri" pitchFamily="34" charset="-120"/>
              </a:rPr>
              <a:t>بِسَبَبِ</a:t>
            </a:r>
            <a:pPr rtl="1" algn="ctr" indent="0" marL="0">
              <a:buNone/>
            </a:pPr>
            <a:r>
              <a:rPr lang="ar-SA" altLang="en-US" sz="1950" b="1" dirty="0">
                <a:solidFill>
                  <a:srgbClr val="1B3B6F"/>
                </a:solidFill>
                <a:latin typeface="Amiri" pitchFamily="34" charset="0"/>
                <a:ea typeface="Amiri" pitchFamily="34" charset="-122"/>
                <a:cs typeface="Amiri" pitchFamily="34" charset="-120"/>
              </a:rPr>
              <a:t> عَوَادِمِ السَّيَّارَاتِ،</a:t>
            </a:r>
            <a:endParaRPr lang="ar-SA" sz="1950" dirty="0"/>
          </a:p>
        </p:txBody>
      </p:sp>
      <p:sp>
        <p:nvSpPr>
          <p:cNvPr id="29" name="Text 26"/>
          <p:cNvSpPr txBox="1"/>
          <p:nvPr/>
        </p:nvSpPr>
        <p:spPr>
          <a:xfrm>
            <a:off x="2606040" y="3414004"/>
            <a:ext cx="6583680"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The air is polluted because of car exhaust,</a:t>
            </a:r>
            <a:endParaRPr lang="en-US" sz="950" dirty="0"/>
          </a:p>
        </p:txBody>
      </p:sp>
      <p:sp>
        <p:nvSpPr>
          <p:cNvPr id="30" name="Text 27"/>
          <p:cNvSpPr txBox="1"/>
          <p:nvPr/>
        </p:nvSpPr>
        <p:spPr>
          <a:xfrm>
            <a:off x="566928" y="3004718"/>
            <a:ext cx="19202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2 · problem + cause</a:t>
            </a:r>
            <a:endParaRPr lang="en-US" sz="1100" dirty="0"/>
          </a:p>
        </p:txBody>
      </p:sp>
      <p:sp>
        <p:nvSpPr>
          <p:cNvPr id="31" name="Shape 28"/>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3" name="Shape 30"/>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4" name="Text 31"/>
          <p:cNvSpPr txBox="1"/>
          <p:nvPr/>
        </p:nvSpPr>
        <p:spPr>
          <a:xfrm>
            <a:off x="9345168" y="3741725"/>
            <a:ext cx="231343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D4-L03 · L07</a:t>
            </a:r>
            <a:endParaRPr lang="en-US" sz="1100" dirty="0"/>
          </a:p>
        </p:txBody>
      </p:sp>
      <p:sp>
        <p:nvSpPr>
          <p:cNvPr id="35" name="Text 32"/>
          <p:cNvSpPr txBox="1"/>
          <p:nvPr/>
        </p:nvSpPr>
        <p:spPr>
          <a:xfrm>
            <a:off x="2651760" y="3760013"/>
            <a:ext cx="6492240" cy="422928"/>
          </a:xfrm>
          <a:prstGeom prst="rect">
            <a:avLst/>
          </a:prstGeom>
          <a:noFill/>
          <a:ln/>
        </p:spPr>
        <p:txBody>
          <a:bodyPr wrap="square" lIns="0" tIns="0" rIns="0" bIns="0" rtlCol="0" anchor="ctr"/>
          <a:lstStyle/>
          <a:p>
            <a:pPr rtl="1" algn="ctr" indent="0" marL="0">
              <a:buNone/>
            </a:pPr>
            <a:r>
              <a:rPr lang="ar-SA" altLang="en-US" sz="1950" b="1" dirty="0">
                <a:solidFill>
                  <a:srgbClr val="D6336C"/>
                </a:solidFill>
                <a:latin typeface="Amiri" pitchFamily="34" charset="0"/>
                <a:ea typeface="Amiri" pitchFamily="34" charset="-122"/>
                <a:cs typeface="Amiri" pitchFamily="34" charset="-120"/>
              </a:rPr>
              <a:t>مِمَّا يُؤَدِّي إِلَى</a:t>
            </a:r>
            <a:pPr rtl="1" algn="ctr" indent="0" marL="0">
              <a:buNone/>
            </a:pPr>
            <a:r>
              <a:rPr lang="ar-SA" altLang="en-US" sz="1950" b="1" dirty="0">
                <a:solidFill>
                  <a:srgbClr val="1B3B6F"/>
                </a:solidFill>
                <a:latin typeface="Amiri" pitchFamily="34" charset="0"/>
                <a:ea typeface="Amiri" pitchFamily="34" charset="-122"/>
                <a:cs typeface="Amiri" pitchFamily="34" charset="-120"/>
              </a:rPr>
              <a:t> أَمْرَاضٍ تَنَفُّسِيَّةٍ.</a:t>
            </a:r>
            <a:endParaRPr lang="ar-SA" sz="1950" dirty="0"/>
          </a:p>
        </p:txBody>
      </p:sp>
      <p:sp>
        <p:nvSpPr>
          <p:cNvPr id="36" name="Text 33"/>
          <p:cNvSpPr txBox="1"/>
          <p:nvPr/>
        </p:nvSpPr>
        <p:spPr>
          <a:xfrm>
            <a:off x="2606040" y="4151010"/>
            <a:ext cx="6583680"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which leads to respiratory diseases.</a:t>
            </a:r>
            <a:endParaRPr lang="en-US" sz="950" dirty="0"/>
          </a:p>
        </p:txBody>
      </p:sp>
      <p:sp>
        <p:nvSpPr>
          <p:cNvPr id="37" name="Text 34"/>
          <p:cNvSpPr txBox="1"/>
          <p:nvPr/>
        </p:nvSpPr>
        <p:spPr>
          <a:xfrm>
            <a:off x="566928" y="3741725"/>
            <a:ext cx="19202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2 · result</a:t>
            </a:r>
            <a:endParaRPr lang="en-US" sz="1100" dirty="0"/>
          </a:p>
        </p:txBody>
      </p:sp>
      <p:sp>
        <p:nvSpPr>
          <p:cNvPr id="38" name="Shape 35"/>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39" name="Text 36"/>
          <p:cNvSpPr txBox="1"/>
          <p:nvPr/>
        </p:nvSpPr>
        <p:spPr>
          <a:xfrm>
            <a:off x="9345168" y="4478731"/>
            <a:ext cx="231343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D4-L04</a:t>
            </a:r>
            <a:endParaRPr lang="en-US" sz="1100" dirty="0"/>
          </a:p>
        </p:txBody>
      </p:sp>
      <p:sp>
        <p:nvSpPr>
          <p:cNvPr id="40" name="Text 37"/>
          <p:cNvSpPr txBox="1"/>
          <p:nvPr/>
        </p:nvSpPr>
        <p:spPr>
          <a:xfrm>
            <a:off x="2651760" y="4497019"/>
            <a:ext cx="6492240" cy="422928"/>
          </a:xfrm>
          <a:prstGeom prst="rect">
            <a:avLst/>
          </a:prstGeom>
          <a:noFill/>
          <a:ln/>
        </p:spPr>
        <p:txBody>
          <a:bodyPr wrap="square" lIns="0" tIns="0" rIns="0" bIns="0" rtlCol="0" anchor="ctr"/>
          <a:lstStyle/>
          <a:p>
            <a:pPr rtl="1" algn="ctr" indent="0" marL="0">
              <a:buNone/>
            </a:pPr>
            <a:r>
              <a:rPr lang="ar-SA" altLang="en-US" sz="1950" b="1" dirty="0">
                <a:solidFill>
                  <a:srgbClr val="1D5FBF"/>
                </a:solidFill>
                <a:latin typeface="Amiri" pitchFamily="34" charset="0"/>
                <a:ea typeface="Amiri" pitchFamily="34" charset="-122"/>
                <a:cs typeface="Amiri" pitchFamily="34" charset="-120"/>
              </a:rPr>
              <a:t>يَجِبُ عَلَى</a:t>
            </a:r>
            <a:pPr rtl="1" algn="ctr" indent="0" marL="0">
              <a:buNone/>
            </a:pPr>
            <a:r>
              <a:rPr lang="ar-SA" altLang="en-US" sz="1950" b="1" dirty="0">
                <a:solidFill>
                  <a:srgbClr val="1B3B6F"/>
                </a:solidFill>
                <a:latin typeface="Amiri" pitchFamily="34" charset="0"/>
                <a:ea typeface="Amiri" pitchFamily="34" charset="-122"/>
                <a:cs typeface="Amiri" pitchFamily="34" charset="-120"/>
              </a:rPr>
              <a:t> الحُكُومَةِ </a:t>
            </a:r>
            <a:pPr rtl="1" algn="ctr" indent="0" marL="0">
              <a:buNone/>
            </a:pPr>
            <a:r>
              <a:rPr lang="ar-SA" altLang="en-US" sz="1950" b="1" dirty="0">
                <a:solidFill>
                  <a:srgbClr val="1D5FBF"/>
                </a:solidFill>
                <a:latin typeface="Amiri" pitchFamily="34" charset="0"/>
                <a:ea typeface="Amiri" pitchFamily="34" charset="-122"/>
                <a:cs typeface="Amiri" pitchFamily="34" charset="-120"/>
              </a:rPr>
              <a:t>أَنْ تُوَسِّعَ</a:t>
            </a:r>
            <a:pPr rtl="1" algn="ctr" indent="0" marL="0">
              <a:buNone/>
            </a:pPr>
            <a:r>
              <a:rPr lang="ar-SA" altLang="en-US" sz="1950" b="1" dirty="0">
                <a:solidFill>
                  <a:srgbClr val="1B3B6F"/>
                </a:solidFill>
                <a:latin typeface="Amiri" pitchFamily="34" charset="0"/>
                <a:ea typeface="Amiri" pitchFamily="34" charset="-122"/>
                <a:cs typeface="Amiri" pitchFamily="34" charset="-120"/>
              </a:rPr>
              <a:t> النَّقْلَ العَامَّ </a:t>
            </a:r>
            <a:pPr rtl="1" algn="ctr" indent="0" marL="0">
              <a:buNone/>
            </a:pPr>
            <a:r>
              <a:rPr lang="ar-SA" altLang="en-US" sz="1950" b="1" dirty="0">
                <a:solidFill>
                  <a:srgbClr val="1D5FBF"/>
                </a:solidFill>
                <a:latin typeface="Amiri" pitchFamily="34" charset="0"/>
                <a:ea typeface="Amiri" pitchFamily="34" charset="-122"/>
                <a:cs typeface="Amiri" pitchFamily="34" charset="-120"/>
              </a:rPr>
              <a:t>لِكَيْ تُقَلِّلَ</a:t>
            </a:r>
            <a:pPr rtl="1" algn="ctr" indent="0" marL="0">
              <a:buNone/>
            </a:pPr>
            <a:r>
              <a:rPr lang="ar-SA" altLang="en-US" sz="1950" b="1" dirty="0">
                <a:solidFill>
                  <a:srgbClr val="1B3B6F"/>
                </a:solidFill>
                <a:latin typeface="Amiri" pitchFamily="34" charset="0"/>
                <a:ea typeface="Amiri" pitchFamily="34" charset="-122"/>
                <a:cs typeface="Amiri" pitchFamily="34" charset="-120"/>
              </a:rPr>
              <a:t> الانْبِعَاثَاتِ.</a:t>
            </a:r>
            <a:endParaRPr lang="ar-SA" sz="1950" dirty="0"/>
          </a:p>
        </p:txBody>
      </p:sp>
      <p:sp>
        <p:nvSpPr>
          <p:cNvPr id="41" name="Text 38"/>
          <p:cNvSpPr txBox="1"/>
          <p:nvPr/>
        </p:nvSpPr>
        <p:spPr>
          <a:xfrm>
            <a:off x="2606040" y="4888017"/>
            <a:ext cx="6583680"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The government must expand public transport to reduce emissions.</a:t>
            </a:r>
            <a:endParaRPr lang="en-US" sz="950" dirty="0"/>
          </a:p>
        </p:txBody>
      </p:sp>
      <p:sp>
        <p:nvSpPr>
          <p:cNvPr id="42" name="Text 39"/>
          <p:cNvSpPr txBox="1"/>
          <p:nvPr/>
        </p:nvSpPr>
        <p:spPr>
          <a:xfrm>
            <a:off x="566928" y="4478731"/>
            <a:ext cx="19202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3 · solution + purpose</a:t>
            </a:r>
            <a:endParaRPr lang="en-US" sz="1100" dirty="0"/>
          </a:p>
        </p:txBody>
      </p:sp>
      <p:sp>
        <p:nvSpPr>
          <p:cNvPr id="43" name="Shape 40"/>
          <p:cNvSpPr/>
          <p:nvPr/>
        </p:nvSpPr>
        <p:spPr>
          <a:xfrm>
            <a:off x="11091672" y="4524451"/>
            <a:ext cx="548640" cy="182880"/>
          </a:xfrm>
          <a:prstGeom prst="roundRect">
            <a:avLst>
              <a:gd name="adj" fmla="val 50000"/>
            </a:avLst>
          </a:prstGeom>
          <a:solidFill>
            <a:srgbClr val="2E8B57"/>
          </a:solidFill>
          <a:ln w="12700">
            <a:solidFill>
              <a:srgbClr val="2E8B57"/>
            </a:solidFill>
            <a:prstDash val="solid"/>
          </a:ln>
        </p:spPr>
      </p:sp>
      <p:sp>
        <p:nvSpPr>
          <p:cNvPr id="44" name="Text 41"/>
          <p:cNvSpPr txBox="1"/>
          <p:nvPr/>
        </p:nvSpPr>
        <p:spPr>
          <a:xfrm>
            <a:off x="11091672" y="4524451"/>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45" name="Shape 42"/>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6" name="Text 43"/>
          <p:cNvSpPr txBox="1"/>
          <p:nvPr/>
        </p:nvSpPr>
        <p:spPr>
          <a:xfrm>
            <a:off x="9345168" y="5215738"/>
            <a:ext cx="231343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D4-L06 · L09</a:t>
            </a:r>
            <a:endParaRPr lang="en-US" sz="1100" dirty="0"/>
          </a:p>
        </p:txBody>
      </p:sp>
      <p:sp>
        <p:nvSpPr>
          <p:cNvPr id="47" name="Text 44"/>
          <p:cNvSpPr txBox="1"/>
          <p:nvPr/>
        </p:nvSpPr>
        <p:spPr>
          <a:xfrm>
            <a:off x="2651760" y="5234026"/>
            <a:ext cx="6492240" cy="422928"/>
          </a:xfrm>
          <a:prstGeom prst="rect">
            <a:avLst/>
          </a:prstGeom>
          <a:noFill/>
          <a:ln/>
        </p:spPr>
        <p:txBody>
          <a:bodyPr wrap="square" lIns="0" tIns="0" rIns="0" bIns="0" rtlCol="0" anchor="ctr"/>
          <a:lstStyle/>
          <a:p>
            <a:pPr rtl="1" algn="ctr" indent="0" marL="0">
              <a:buNone/>
            </a:pPr>
            <a:r>
              <a:rPr lang="ar-SA" altLang="en-US" sz="1950" b="1" dirty="0">
                <a:solidFill>
                  <a:srgbClr val="1B3B6F"/>
                </a:solidFill>
                <a:latin typeface="Amiri" pitchFamily="34" charset="0"/>
                <a:ea typeface="Amiri" pitchFamily="34" charset="-122"/>
                <a:cs typeface="Amiri" pitchFamily="34" charset="-120"/>
              </a:rPr>
              <a:t>عَلَى الرَّغْمِ مِنْ أَنَّهَا مُكَلِّفَةٌ، فَإِنَّهَا مُفِيدَةٌ </a:t>
            </a:r>
            <a:pPr rtl="1" algn="ctr" indent="0" marL="0">
              <a:buNone/>
            </a:pPr>
            <a:r>
              <a:rPr lang="ar-SA" altLang="en-US" sz="1950" b="1" dirty="0">
                <a:solidFill>
                  <a:srgbClr val="1D5FBF"/>
                </a:solidFill>
                <a:latin typeface="Amiri" pitchFamily="34" charset="0"/>
                <a:ea typeface="Amiri" pitchFamily="34" charset="-122"/>
                <a:cs typeface="Amiri" pitchFamily="34" charset="-120"/>
              </a:rPr>
              <a:t>شَرِيطَةَ أَنْ</a:t>
            </a:r>
            <a:pPr rtl="1" algn="ctr" indent="0" marL="0">
              <a:buNone/>
            </a:pPr>
            <a:r>
              <a:rPr lang="ar-SA" altLang="en-US" sz="1950" b="1" dirty="0">
                <a:solidFill>
                  <a:srgbClr val="1B3B6F"/>
                </a:solidFill>
                <a:latin typeface="Amiri" pitchFamily="34" charset="0"/>
                <a:ea typeface="Amiri" pitchFamily="34" charset="-122"/>
                <a:cs typeface="Amiri" pitchFamily="34" charset="-120"/>
              </a:rPr>
              <a:t> تُطَبَّقَ بِمَسْؤُولِيَّةٍ.</a:t>
            </a:r>
            <a:endParaRPr lang="ar-SA" sz="1950" dirty="0"/>
          </a:p>
        </p:txBody>
      </p:sp>
      <p:sp>
        <p:nvSpPr>
          <p:cNvPr id="48" name="Text 45"/>
          <p:cNvSpPr txBox="1"/>
          <p:nvPr/>
        </p:nvSpPr>
        <p:spPr>
          <a:xfrm>
            <a:off x="2606040" y="5625023"/>
            <a:ext cx="6583680"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Although it is expensive, it is useful provided that it is applied responsibly.</a:t>
            </a:r>
            <a:endParaRPr lang="en-US" sz="950" dirty="0"/>
          </a:p>
        </p:txBody>
      </p:sp>
      <p:sp>
        <p:nvSpPr>
          <p:cNvPr id="49" name="Text 46"/>
          <p:cNvSpPr txBox="1"/>
          <p:nvPr/>
        </p:nvSpPr>
        <p:spPr>
          <a:xfrm>
            <a:off x="566928" y="5215738"/>
            <a:ext cx="19202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4 · judgement</a:t>
            </a:r>
            <a:endParaRPr lang="en-US" sz="1100" dirty="0"/>
          </a:p>
        </p:txBody>
      </p:sp>
      <p:sp>
        <p:nvSpPr>
          <p:cNvPr id="50" name="Text 47"/>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Feminine plural non-human subjects: </a:t>
            </a:r>
            <a:pPr algn="l" indent="0" marL="0">
              <a:buNone/>
            </a:pPr>
            <a:r>
              <a:rPr lang="ar-SA" altLang="en-US" sz="1500" b="1" dirty="0">
                <a:solidFill>
                  <a:srgbClr val="1B3B6F"/>
                </a:solidFill>
                <a:latin typeface="Amiri" pitchFamily="34" charset="0"/>
                <a:ea typeface="Amiri" pitchFamily="34" charset="-122"/>
                <a:cs typeface="Amiri" pitchFamily="34" charset="-120"/>
              </a:rPr>
              <a:t>تَهُبُّ الرِّيَاحُ</a:t>
            </a:r>
            <a:pPr algn="l" indent="0" marL="0">
              <a:buNone/>
            </a:pPr>
            <a:r>
              <a:rPr lang="en-US" sz="1150" b="1" dirty="0">
                <a:solidFill>
                  <a:srgbClr val="1B3B6F"/>
                </a:solidFill>
                <a:latin typeface="Calibri" pitchFamily="34" charset="0"/>
                <a:ea typeface="Calibri" pitchFamily="34" charset="-122"/>
                <a:cs typeface="Calibri" pitchFamily="34" charset="-120"/>
              </a:rPr>
              <a:t> · </a:t>
            </a:r>
            <a:pPr algn="l" indent="0" marL="0">
              <a:buNone/>
            </a:pPr>
            <a:r>
              <a:rPr lang="ar-SA" altLang="en-US" sz="1500" b="1" dirty="0">
                <a:solidFill>
                  <a:srgbClr val="1B3B6F"/>
                </a:solidFill>
                <a:latin typeface="Amiri" pitchFamily="34" charset="0"/>
                <a:ea typeface="Amiri" pitchFamily="34" charset="-122"/>
                <a:cs typeface="Amiri" pitchFamily="34" charset="-120"/>
              </a:rPr>
              <a:t>تَشِحُّ المِيَاهُ</a:t>
            </a:r>
            <a:pPr algn="l" indent="0" marL="0">
              <a:buNone/>
            </a:pPr>
            <a:r>
              <a:rPr lang="en-US" sz="1150" b="1" dirty="0">
                <a:solidFill>
                  <a:srgbClr val="1B3B6F"/>
                </a:solidFill>
                <a:latin typeface="Calibri" pitchFamily="34" charset="0"/>
                <a:ea typeface="Calibri" pitchFamily="34" charset="-122"/>
                <a:cs typeface="Calibri" pitchFamily="34" charset="-120"/>
              </a:rPr>
              <a:t> · </a:t>
            </a:r>
            <a:pPr algn="l" indent="0" marL="0">
              <a:buNone/>
            </a:pPr>
            <a:r>
              <a:rPr lang="ar-SA" altLang="en-US" sz="1500" b="1" dirty="0">
                <a:solidFill>
                  <a:srgbClr val="1B3B6F"/>
                </a:solidFill>
                <a:latin typeface="Amiri" pitchFamily="34" charset="0"/>
                <a:ea typeface="Amiri" pitchFamily="34" charset="-122"/>
                <a:cs typeface="Amiri" pitchFamily="34" charset="-120"/>
              </a:rPr>
              <a:t>تُقْطَعُ الأَشْجَارُ</a:t>
            </a:r>
            <a:pPr algn="l" indent="0" marL="0">
              <a:buNone/>
            </a:pPr>
            <a:r>
              <a:rPr lang="en-US" sz="1150" b="1" dirty="0">
                <a:solidFill>
                  <a:srgbClr val="1B3B6F"/>
                </a:solidFill>
                <a:latin typeface="Calibri" pitchFamily="34" charset="0"/>
                <a:ea typeface="Calibri" pitchFamily="34" charset="-122"/>
                <a:cs typeface="Calibri" pitchFamily="34" charset="-120"/>
              </a:rPr>
              <a:t>.</a:t>
            </a:r>
            <a:endParaRPr lang="en-US" sz="1150" dirty="0"/>
          </a:p>
        </p:txBody>
      </p:sp>
      <p:sp>
        <p:nvSpPr>
          <p:cNvPr id="51" name="Text 4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12 / 45</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D4-L11 · Unit Review</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20" b="1" spc="150" kern="0" dirty="0">
                <a:solidFill>
                  <a:srgbClr val="1B3B6F"/>
                </a:solidFill>
                <a:latin typeface="Calibri" pitchFamily="34" charset="0"/>
                <a:ea typeface="Calibri" pitchFamily="34" charset="-122"/>
                <a:cs typeface="Calibri" pitchFamily="34" charset="-120"/>
              </a:rPr>
              <a:t>GRAMMAR FOCUS · PART 2 · THE THREE CLASSIC D4 SLIPS (WEBSITE MISTAKES) · ALL ROUTES</a:t>
            </a:r>
            <a:endParaRPr lang="en-US" sz="82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550" b="1" dirty="0">
                <a:solidFill>
                  <a:srgbClr val="1B3B6F"/>
                </a:solidFill>
                <a:latin typeface="Cambria" pitchFamily="34" charset="0"/>
                <a:ea typeface="Cambria" pitchFamily="34" charset="-122"/>
                <a:cs typeface="Cambria" pitchFamily="34" charset="-120"/>
              </a:rPr>
              <a:t>Check these three before you hand in</a:t>
            </a:r>
            <a:endParaRPr lang="en-US" sz="25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ثَلَاثَةُ أَخْطَاءٍ شَائِعَةٍ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D4 · Environment, Weather and Technology · D4-L11</a:t>
            </a:r>
            <a:endParaRPr lang="en-US" sz="850" dirty="0"/>
          </a:p>
        </p:txBody>
      </p:sp>
      <p:sp>
        <p:nvSpPr>
          <p:cNvPr id="15" name="Shape 12"/>
          <p:cNvSpPr/>
          <p:nvPr/>
        </p:nvSpPr>
        <p:spPr>
          <a:xfrm>
            <a:off x="8095488"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32648" y="1920240"/>
            <a:ext cx="1851660" cy="274320"/>
          </a:xfrm>
          <a:prstGeom prst="roundRect">
            <a:avLst>
              <a:gd name="adj" fmla="val 50000"/>
            </a:avLst>
          </a:prstGeom>
          <a:solidFill>
            <a:srgbClr val="1D5FBF"/>
          </a:solidFill>
          <a:ln w="12700">
            <a:solidFill>
              <a:srgbClr val="1D5FBF"/>
            </a:solidFill>
            <a:prstDash val="solid"/>
          </a:ln>
        </p:spPr>
      </p:sp>
      <p:sp>
        <p:nvSpPr>
          <p:cNvPr id="17" name="Text 14"/>
          <p:cNvSpPr txBox="1"/>
          <p:nvPr/>
        </p:nvSpPr>
        <p:spPr>
          <a:xfrm>
            <a:off x="8232648" y="1920240"/>
            <a:ext cx="18516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AN / LI-KAY + -A · CORE</a:t>
            </a:r>
            <a:endParaRPr lang="en-US" sz="850" dirty="0"/>
          </a:p>
        </p:txBody>
      </p:sp>
      <p:sp>
        <p:nvSpPr>
          <p:cNvPr id="18" name="Text 15"/>
          <p:cNvSpPr txBox="1"/>
          <p:nvPr/>
        </p:nvSpPr>
        <p:spPr>
          <a:xfrm>
            <a:off x="10130028" y="1874520"/>
            <a:ext cx="146456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34" charset="0"/>
                <a:ea typeface="Amiri" pitchFamily="34" charset="-122"/>
                <a:cs typeface="Amiri" pitchFamily="34" charset="-120"/>
              </a:rPr>
              <a:t>أَنْ / لِكَيْ + مَنْصُوبٌ</a:t>
            </a:r>
            <a:endParaRPr lang="ar-SA" sz="1600" dirty="0"/>
          </a:p>
        </p:txBody>
      </p:sp>
      <p:sp>
        <p:nvSpPr>
          <p:cNvPr id="19" name="Text 16"/>
          <p:cNvSpPr txBox="1"/>
          <p:nvPr/>
        </p:nvSpPr>
        <p:spPr>
          <a:xfrm>
            <a:off x="8232648" y="2286000"/>
            <a:ext cx="3361944" cy="1097280"/>
          </a:xfrm>
          <a:prstGeom prst="rect">
            <a:avLst/>
          </a:prstGeom>
          <a:noFill/>
          <a:ln/>
        </p:spPr>
        <p:txBody>
          <a:bodyPr wrap="square" lIns="0" tIns="0" rIns="0" bIns="0" rtlCol="0" anchor="ctr"/>
          <a:lstStyle/>
          <a:p>
            <a:pPr rtl="1" algn="ctr" indent="0" marL="0">
              <a:buNone/>
            </a:pPr>
            <a:r>
              <a:rPr lang="ar-SA" altLang="en-US" sz="3200" b="1" dirty="0">
                <a:solidFill>
                  <a:srgbClr val="1B3B6F"/>
                </a:solidFill>
                <a:latin typeface="Amiri" pitchFamily="34" charset="0"/>
                <a:ea typeface="Amiri" pitchFamily="34" charset="-122"/>
                <a:cs typeface="Amiri" pitchFamily="34" charset="-120"/>
              </a:rPr>
              <a:t>أَنْ تُوَسِّعَ … لِكَيْ تُقَلِّلَ</a:t>
            </a:r>
            <a:endParaRPr lang="ar-SA" sz="3200" dirty="0"/>
          </a:p>
        </p:txBody>
      </p:sp>
      <p:sp>
        <p:nvSpPr>
          <p:cNvPr id="20" name="Text 17"/>
          <p:cNvSpPr txBox="1"/>
          <p:nvPr/>
        </p:nvSpPr>
        <p:spPr>
          <a:xfrm>
            <a:off x="8232648"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ea typeface="Calibri" pitchFamily="34" charset="-122"/>
                <a:cs typeface="Calibri" pitchFamily="34" charset="-120"/>
              </a:rPr>
              <a:t>to expand … in order to reduce</a:t>
            </a:r>
            <a:endParaRPr lang="en-US" sz="1200" dirty="0"/>
          </a:p>
        </p:txBody>
      </p:sp>
      <p:sp>
        <p:nvSpPr>
          <p:cNvPr id="21" name="Shape 18"/>
          <p:cNvSpPr/>
          <p:nvPr/>
        </p:nvSpPr>
        <p:spPr>
          <a:xfrm>
            <a:off x="8205216" y="3913632"/>
            <a:ext cx="3416808" cy="804672"/>
          </a:xfrm>
          <a:prstGeom prst="roundRect">
            <a:avLst>
              <a:gd name="adj" fmla="val 5682"/>
            </a:avLst>
          </a:prstGeom>
          <a:solidFill>
            <a:srgbClr val="FFF4E0"/>
          </a:solidFill>
          <a:ln w="9525">
            <a:solidFill>
              <a:srgbClr val="FFF4E0"/>
            </a:solidFill>
            <a:prstDash val="solid"/>
          </a:ln>
        </p:spPr>
      </p:sp>
      <p:sp>
        <p:nvSpPr>
          <p:cNvPr id="22" name="Text 19"/>
          <p:cNvSpPr txBox="1"/>
          <p:nvPr/>
        </p:nvSpPr>
        <p:spPr>
          <a:xfrm>
            <a:off x="8296656"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ea typeface="Calibri" pitchFamily="34" charset="-122"/>
                <a:cs typeface="Calibri" pitchFamily="34" charset="-120"/>
              </a:rPr>
              <a:t>Both verbs end in -a.</a:t>
            </a:r>
            <a:endParaRPr lang="en-US" sz="1100" dirty="0"/>
          </a:p>
        </p:txBody>
      </p:sp>
      <p:sp>
        <p:nvSpPr>
          <p:cNvPr id="23" name="Shape 20"/>
          <p:cNvSpPr/>
          <p:nvPr/>
        </p:nvSpPr>
        <p:spPr>
          <a:xfrm>
            <a:off x="4276344"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13504" y="1920240"/>
            <a:ext cx="1577340" cy="274320"/>
          </a:xfrm>
          <a:prstGeom prst="roundRect">
            <a:avLst>
              <a:gd name="adj" fmla="val 50000"/>
            </a:avLst>
          </a:prstGeom>
          <a:solidFill>
            <a:srgbClr val="C0386B"/>
          </a:solidFill>
          <a:ln w="12700">
            <a:solidFill>
              <a:srgbClr val="C0386B"/>
            </a:solidFill>
            <a:prstDash val="solid"/>
          </a:ln>
        </p:spPr>
      </p:sp>
      <p:sp>
        <p:nvSpPr>
          <p:cNvPr id="25" name="Text 22"/>
          <p:cNvSpPr txBox="1"/>
          <p:nvPr/>
        </p:nvSpPr>
        <p:spPr>
          <a:xfrm>
            <a:off x="4413504" y="1920240"/>
            <a:ext cx="157734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ANNA + -A · DEVELOP</a:t>
            </a:r>
            <a:endParaRPr lang="en-US" sz="850" dirty="0"/>
          </a:p>
        </p:txBody>
      </p:sp>
      <p:sp>
        <p:nvSpPr>
          <p:cNvPr id="26" name="Text 23"/>
          <p:cNvSpPr txBox="1"/>
          <p:nvPr/>
        </p:nvSpPr>
        <p:spPr>
          <a:xfrm>
            <a:off x="6036564" y="1874520"/>
            <a:ext cx="173888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34" charset="0"/>
                <a:ea typeface="Amiri" pitchFamily="34" charset="-122"/>
                <a:cs typeface="Amiri" pitchFamily="34" charset="-120"/>
              </a:rPr>
              <a:t>يُشَارُ إِلَى أَنَّ</a:t>
            </a:r>
            <a:endParaRPr lang="ar-SA" sz="1600" dirty="0"/>
          </a:p>
        </p:txBody>
      </p:sp>
      <p:sp>
        <p:nvSpPr>
          <p:cNvPr id="27" name="Text 24"/>
          <p:cNvSpPr txBox="1"/>
          <p:nvPr/>
        </p:nvSpPr>
        <p:spPr>
          <a:xfrm>
            <a:off x="4413504" y="2286000"/>
            <a:ext cx="3361944" cy="1097280"/>
          </a:xfrm>
          <a:prstGeom prst="rect">
            <a:avLst/>
          </a:prstGeom>
          <a:noFill/>
          <a:ln/>
        </p:spPr>
        <p:txBody>
          <a:bodyPr wrap="square" lIns="0" tIns="0" rIns="0" bIns="0" rtlCol="0" anchor="ctr"/>
          <a:lstStyle/>
          <a:p>
            <a:pPr rtl="1" algn="ctr" indent="0" marL="0">
              <a:buNone/>
            </a:pPr>
            <a:r>
              <a:rPr lang="ar-SA" altLang="en-US" sz="2650" b="1" dirty="0">
                <a:solidFill>
                  <a:srgbClr val="1B3B6F"/>
                </a:solidFill>
                <a:latin typeface="Amiri" pitchFamily="34" charset="0"/>
                <a:ea typeface="Amiri" pitchFamily="34" charset="-122"/>
                <a:cs typeface="Amiri" pitchFamily="34" charset="-120"/>
              </a:rPr>
              <a:t>يُشَارُ إِلَى أَنَّ المَنَاخَ يَتَغَيَّرُ.</a:t>
            </a:r>
            <a:endParaRPr lang="ar-SA" sz="2650" dirty="0"/>
          </a:p>
        </p:txBody>
      </p:sp>
      <p:sp>
        <p:nvSpPr>
          <p:cNvPr id="28" name="Text 25"/>
          <p:cNvSpPr txBox="1"/>
          <p:nvPr/>
        </p:nvSpPr>
        <p:spPr>
          <a:xfrm>
            <a:off x="4413504"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ea typeface="Calibri" pitchFamily="34" charset="-122"/>
                <a:cs typeface="Calibri" pitchFamily="34" charset="-120"/>
              </a:rPr>
              <a:t>It is indicated that the climate is changing.</a:t>
            </a:r>
            <a:endParaRPr lang="en-US" sz="1200" dirty="0"/>
          </a:p>
        </p:txBody>
      </p:sp>
      <p:sp>
        <p:nvSpPr>
          <p:cNvPr id="29" name="Shape 26"/>
          <p:cNvSpPr/>
          <p:nvPr/>
        </p:nvSpPr>
        <p:spPr>
          <a:xfrm>
            <a:off x="4386072" y="3913632"/>
            <a:ext cx="3416808" cy="804672"/>
          </a:xfrm>
          <a:prstGeom prst="roundRect">
            <a:avLst>
              <a:gd name="adj" fmla="val 5682"/>
            </a:avLst>
          </a:prstGeom>
          <a:solidFill>
            <a:srgbClr val="FFF4E0"/>
          </a:solidFill>
          <a:ln w="9525">
            <a:solidFill>
              <a:srgbClr val="FFF4E0"/>
            </a:solidFill>
            <a:prstDash val="solid"/>
          </a:ln>
        </p:spPr>
      </p:sp>
      <p:sp>
        <p:nvSpPr>
          <p:cNvPr id="30" name="Text 27"/>
          <p:cNvSpPr txBox="1"/>
          <p:nvPr/>
        </p:nvSpPr>
        <p:spPr>
          <a:xfrm>
            <a:off x="4477512"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ea typeface="Calibri" pitchFamily="34" charset="-122"/>
                <a:cs typeface="Calibri" pitchFamily="34" charset="-120"/>
              </a:rPr>
              <a:t>Anna, then -a.</a:t>
            </a:r>
            <a:endParaRPr lang="en-US" sz="1100" dirty="0"/>
          </a:p>
        </p:txBody>
      </p:sp>
      <p:sp>
        <p:nvSpPr>
          <p:cNvPr id="31" name="Shape 28"/>
          <p:cNvSpPr/>
          <p:nvPr/>
        </p:nvSpPr>
        <p:spPr>
          <a:xfrm>
            <a:off x="457200"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94360" y="1920240"/>
            <a:ext cx="1851660" cy="274320"/>
          </a:xfrm>
          <a:prstGeom prst="roundRect">
            <a:avLst>
              <a:gd name="adj" fmla="val 50000"/>
            </a:avLst>
          </a:prstGeom>
          <a:solidFill>
            <a:srgbClr val="6B4C9A"/>
          </a:solidFill>
          <a:ln w="12700">
            <a:solidFill>
              <a:srgbClr val="6B4C9A"/>
            </a:solidFill>
            <a:prstDash val="solid"/>
          </a:ln>
        </p:spPr>
      </p:sp>
      <p:sp>
        <p:nvSpPr>
          <p:cNvPr id="33" name="Text 30"/>
          <p:cNvSpPr txBox="1"/>
          <p:nvPr/>
        </p:nvSpPr>
        <p:spPr>
          <a:xfrm>
            <a:off x="594360" y="1920240"/>
            <a:ext cx="18516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REAL CONTRAST · STRETCH</a:t>
            </a:r>
            <a:endParaRPr lang="en-US" sz="850" dirty="0"/>
          </a:p>
        </p:txBody>
      </p:sp>
      <p:sp>
        <p:nvSpPr>
          <p:cNvPr id="34" name="Text 31"/>
          <p:cNvSpPr txBox="1"/>
          <p:nvPr/>
        </p:nvSpPr>
        <p:spPr>
          <a:xfrm>
            <a:off x="2491740" y="1874520"/>
            <a:ext cx="1464564" cy="365760"/>
          </a:xfrm>
          <a:prstGeom prst="rect">
            <a:avLst/>
          </a:prstGeom>
          <a:noFill/>
          <a:ln/>
        </p:spPr>
        <p:txBody>
          <a:bodyPr wrap="square" lIns="0" tIns="0" rIns="0" bIns="0" rtlCol="0" anchor="ctr"/>
          <a:lstStyle/>
          <a:p>
            <a:pPr rtl="1" algn="r" indent="0" marL="0">
              <a:buNone/>
            </a:pPr>
            <a:r>
              <a:rPr lang="ar-SA" altLang="en-US" sz="1350" b="1" dirty="0">
                <a:solidFill>
                  <a:srgbClr val="8A6D1E"/>
                </a:solidFill>
                <a:latin typeface="Amiri" pitchFamily="34" charset="0"/>
                <a:ea typeface="Amiri" pitchFamily="34" charset="-122"/>
                <a:cs typeface="Amiri" pitchFamily="34" charset="-120"/>
              </a:rPr>
              <a:t>عَلَى الرَّغْمِ مِنْ أَنَّ … فَإِنَّ</a:t>
            </a:r>
            <a:endParaRPr lang="ar-SA" sz="1350" dirty="0"/>
          </a:p>
        </p:txBody>
      </p:sp>
      <p:sp>
        <p:nvSpPr>
          <p:cNvPr id="35" name="Text 32"/>
          <p:cNvSpPr txBox="1"/>
          <p:nvPr/>
        </p:nvSpPr>
        <p:spPr>
          <a:xfrm>
            <a:off x="594360"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200" b="1" dirty="0">
                <a:solidFill>
                  <a:srgbClr val="1B3B6F"/>
                </a:solidFill>
                <a:latin typeface="Amiri" pitchFamily="34" charset="0"/>
                <a:ea typeface="Amiri" pitchFamily="34" charset="-122"/>
                <a:cs typeface="Amiri" pitchFamily="34" charset="-120"/>
              </a:rPr>
              <a:t>المَشْرُوعُ مُكَلِّفٌ، فَإِنَّهُ يُقَلِّلُ الهَدْرَ.</a:t>
            </a:r>
            <a:endParaRPr lang="ar-SA" sz="2200" dirty="0"/>
          </a:p>
        </p:txBody>
      </p:sp>
      <p:sp>
        <p:nvSpPr>
          <p:cNvPr id="36" name="Text 33"/>
          <p:cNvSpPr txBox="1"/>
          <p:nvPr/>
        </p:nvSpPr>
        <p:spPr>
          <a:xfrm>
            <a:off x="594360"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ea typeface="Calibri" pitchFamily="34" charset="-122"/>
                <a:cs typeface="Calibri" pitchFamily="34" charset="-120"/>
              </a:rPr>
              <a:t>… costly, it reduces waste.</a:t>
            </a:r>
            <a:endParaRPr lang="en-US" sz="1200" dirty="0"/>
          </a:p>
        </p:txBody>
      </p:sp>
      <p:sp>
        <p:nvSpPr>
          <p:cNvPr id="37" name="Shape 34"/>
          <p:cNvSpPr/>
          <p:nvPr/>
        </p:nvSpPr>
        <p:spPr>
          <a:xfrm>
            <a:off x="566928" y="3913632"/>
            <a:ext cx="3416808" cy="804672"/>
          </a:xfrm>
          <a:prstGeom prst="roundRect">
            <a:avLst>
              <a:gd name="adj" fmla="val 5682"/>
            </a:avLst>
          </a:prstGeom>
          <a:solidFill>
            <a:srgbClr val="FFF4E0"/>
          </a:solidFill>
          <a:ln w="9525">
            <a:solidFill>
              <a:srgbClr val="FFF4E0"/>
            </a:solidFill>
            <a:prstDash val="solid"/>
          </a:ln>
        </p:spPr>
      </p:sp>
      <p:sp>
        <p:nvSpPr>
          <p:cNvPr id="38" name="Text 35"/>
          <p:cNvSpPr txBox="1"/>
          <p:nvPr/>
        </p:nvSpPr>
        <p:spPr>
          <a:xfrm>
            <a:off x="658368"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ea typeface="Calibri" pitchFamily="34" charset="-122"/>
                <a:cs typeface="Calibri" pitchFamily="34" charset="-120"/>
              </a:rPr>
              <a:t>Not “costly, so costly”.</a:t>
            </a:r>
            <a:endParaRPr lang="en-US" sz="1100" dirty="0"/>
          </a:p>
        </p:txBody>
      </p:sp>
      <p:sp>
        <p:nvSpPr>
          <p:cNvPr id="39" name="Shape 36"/>
          <p:cNvSpPr/>
          <p:nvPr/>
        </p:nvSpPr>
        <p:spPr>
          <a:xfrm>
            <a:off x="457200" y="50109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40" name="Text 37"/>
          <p:cNvSpPr txBox="1"/>
          <p:nvPr/>
        </p:nvSpPr>
        <p:spPr>
          <a:xfrm>
            <a:off x="685800" y="5102352"/>
            <a:ext cx="2743200" cy="274320"/>
          </a:xfrm>
          <a:prstGeom prst="rect">
            <a:avLst/>
          </a:prstGeom>
          <a:noFill/>
          <a:ln/>
        </p:spPr>
        <p:txBody>
          <a:bodyPr wrap="square" lIns="0" tIns="0" rIns="0" bIns="0" rtlCol="0" anchor="ctr"/>
          <a:lstStyle/>
          <a:p>
            <a:pPr algn="l" indent="0" marL="0">
              <a:buNone/>
            </a:pPr>
            <a:r>
              <a:rPr lang="en-US" sz="1000" b="1" spc="200" kern="0" dirty="0">
                <a:solidFill>
                  <a:srgbClr val="B83227"/>
                </a:solidFill>
                <a:latin typeface="Calibri" pitchFamily="34" charset="0"/>
                <a:ea typeface="Calibri" pitchFamily="34" charset="-122"/>
                <a:cs typeface="Calibri" pitchFamily="34" charset="-120"/>
              </a:rPr>
              <a:t>COMMON ERROR</a:t>
            </a:r>
            <a:endParaRPr lang="en-US" sz="1000" dirty="0"/>
          </a:p>
        </p:txBody>
      </p:sp>
      <p:sp>
        <p:nvSpPr>
          <p:cNvPr id="41" name="Text 38"/>
          <p:cNvSpPr txBox="1"/>
          <p:nvPr/>
        </p:nvSpPr>
        <p:spPr>
          <a:xfrm>
            <a:off x="685800" y="5394960"/>
            <a:ext cx="3291840" cy="822960"/>
          </a:xfrm>
          <a:prstGeom prst="rect">
            <a:avLst/>
          </a:prstGeom>
          <a:noFill/>
          <a:ln/>
        </p:spPr>
        <p:txBody>
          <a:bodyPr wrap="square" lIns="0" tIns="0" rIns="0" bIns="0" rtlCol="0" anchor="t"/>
          <a:lstStyle/>
          <a:p>
            <a:pPr algn="l" indent="0" marL="0">
              <a:buNone/>
            </a:pPr>
            <a:r>
              <a:rPr lang="en-US" sz="1150" dirty="0">
                <a:solidFill>
                  <a:srgbClr val="1F2A37"/>
                </a:solidFill>
                <a:latin typeface="Calibri" pitchFamily="34" charset="0"/>
                <a:ea typeface="Calibri" pitchFamily="34" charset="-122"/>
                <a:cs typeface="Calibri" pitchFamily="34" charset="-120"/>
              </a:rPr>
              <a:t>Website mistake: after li-kay the verb ends in -a.</a:t>
            </a:r>
            <a:endParaRPr lang="en-US" sz="1150" dirty="0"/>
          </a:p>
        </p:txBody>
      </p:sp>
      <p:sp>
        <p:nvSpPr>
          <p:cNvPr id="42" name="Text 39"/>
          <p:cNvSpPr txBox="1"/>
          <p:nvPr/>
        </p:nvSpPr>
        <p:spPr>
          <a:xfrm>
            <a:off x="9966960" y="5230368"/>
            <a:ext cx="1645920" cy="868680"/>
          </a:xfrm>
          <a:prstGeom prst="rect">
            <a:avLst/>
          </a:prstGeom>
          <a:noFill/>
          <a:ln/>
        </p:spPr>
        <p:txBody>
          <a:bodyPr wrap="square" lIns="0" tIns="0" rIns="0" bIns="0" rtlCol="0" anchor="ctr"/>
          <a:lstStyle/>
          <a:p>
            <a:pPr rtl="1" algn="ctr" indent="0" marL="0">
              <a:lnSpc>
                <a:spcPct val="120000"/>
              </a:lnSpc>
              <a:buNone/>
            </a:pPr>
            <a:r>
              <a:rPr lang="ar-SA" altLang="en-US" sz="1700" b="1" dirty="0">
                <a:solidFill>
                  <a:srgbClr val="1B3B6F"/>
                </a:solidFill>
                <a:latin typeface="Amiri" pitchFamily="34" charset="0"/>
                <a:ea typeface="Amiri" pitchFamily="34" charset="-122"/>
                <a:cs typeface="Amiri" pitchFamily="34" charset="-120"/>
              </a:rPr>
              <a:t>لِكَيْ تُقَلِّلَ الانْبِعَاثَاتِ</a:t>
            </a:r>
            <a:endParaRPr lang="ar-SA" sz="1700" dirty="0"/>
          </a:p>
        </p:txBody>
      </p:sp>
      <p:sp>
        <p:nvSpPr>
          <p:cNvPr id="43" name="Text 40"/>
          <p:cNvSpPr txBox="1"/>
          <p:nvPr/>
        </p:nvSpPr>
        <p:spPr>
          <a:xfrm>
            <a:off x="9601200" y="5230368"/>
            <a:ext cx="365760" cy="8686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44" name="Text 41"/>
          <p:cNvSpPr txBox="1"/>
          <p:nvPr/>
        </p:nvSpPr>
        <p:spPr>
          <a:xfrm>
            <a:off x="8001000" y="5230368"/>
            <a:ext cx="1645920" cy="868680"/>
          </a:xfrm>
          <a:prstGeom prst="rect">
            <a:avLst/>
          </a:prstGeom>
          <a:noFill/>
          <a:ln/>
        </p:spPr>
        <p:txBody>
          <a:bodyPr wrap="square" lIns="0" tIns="0" rIns="0" bIns="0" rtlCol="0" anchor="ctr"/>
          <a:lstStyle/>
          <a:p>
            <a:pPr rtl="1" algn="ctr" indent="0" marL="0">
              <a:lnSpc>
                <a:spcPct val="120000"/>
              </a:lnSpc>
              <a:buNone/>
            </a:pPr>
            <a:r>
              <a:rPr lang="ar-SA" altLang="en-US" sz="1700" b="1" dirty="0">
                <a:solidFill>
                  <a:srgbClr val="B83227"/>
                </a:solidFill>
                <a:latin typeface="Amiri" pitchFamily="34" charset="0"/>
                <a:ea typeface="Amiri" pitchFamily="34" charset="-122"/>
                <a:cs typeface="Amiri" pitchFamily="34" charset="-120"/>
              </a:rPr>
              <a:t>لِكَيْ تُقَلِّلُ الانْبِعَاثَاتِ</a:t>
            </a:r>
            <a:endParaRPr lang="ar-SA" sz="1700" dirty="0"/>
          </a:p>
        </p:txBody>
      </p:sp>
      <p:sp>
        <p:nvSpPr>
          <p:cNvPr id="45" name="Shape 42"/>
          <p:cNvSpPr/>
          <p:nvPr/>
        </p:nvSpPr>
        <p:spPr>
          <a:xfrm>
            <a:off x="8138160" y="5669280"/>
            <a:ext cx="1371600" cy="0"/>
          </a:xfrm>
          <a:prstGeom prst="line">
            <a:avLst/>
          </a:prstGeom>
          <a:noFill/>
          <a:ln w="25400">
            <a:solidFill>
              <a:srgbClr val="B83227"/>
            </a:solidFill>
            <a:prstDash val="solid"/>
          </a:ln>
        </p:spPr>
      </p:sp>
      <p:sp>
        <p:nvSpPr>
          <p:cNvPr id="46"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13 / 45</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D4-L11 · Unit Review</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GRAMMAR FOCUS · THE WEBSITE RULES WITH EXAMPLES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200" b="1" dirty="0">
                <a:solidFill>
                  <a:srgbClr val="1B3B6F"/>
                </a:solidFill>
                <a:latin typeface="Cambria" pitchFamily="34" charset="0"/>
                <a:ea typeface="Cambria" pitchFamily="34" charset="-122"/>
                <a:cs typeface="Cambria" pitchFamily="34" charset="-120"/>
              </a:rPr>
              <a:t>D4 integrated grammar and range mastery</a:t>
            </a:r>
            <a:endParaRPr lang="en-US" sz="22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قَوَاعِدُ الوَحْدَةِ الرَّابِعَةِ مُتَكَامِلَةً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D4 · Environment, Weather and Technology · D4-L11</a:t>
            </a:r>
            <a:endParaRPr lang="en-US" sz="850" dirty="0"/>
          </a:p>
        </p:txBody>
      </p:sp>
      <p:sp>
        <p:nvSpPr>
          <p:cNvPr id="17" name="Shape 14"/>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40080" y="1883664"/>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1. Climate and weather accuracy</a:t>
            </a:r>
            <a:endParaRPr lang="en-US" sz="1250" dirty="0"/>
          </a:p>
        </p:txBody>
      </p:sp>
      <p:sp>
        <p:nvSpPr>
          <p:cNvPr id="19" name="Text 16"/>
          <p:cNvSpPr txBox="1"/>
          <p:nvPr/>
        </p:nvSpPr>
        <p:spPr>
          <a:xfrm>
            <a:off x="640080" y="2345436"/>
            <a:ext cx="3566160" cy="432054"/>
          </a:xfrm>
          <a:prstGeom prst="rect">
            <a:avLst/>
          </a:prstGeom>
          <a:noFill/>
          <a:ln/>
        </p:spPr>
        <p:txBody>
          <a:bodyPr wrap="square" lIns="0" tIns="0" rIns="0" bIns="0" rtlCol="0" anchor="ctr"/>
          <a:lstStyle/>
          <a:p>
            <a:pPr algn="l" indent="0" marL="0">
              <a:buNone/>
            </a:pPr>
            <a:r>
              <a:rPr lang="en-US" sz="1050" dirty="0">
                <a:solidFill>
                  <a:srgbClr val="5A6472"/>
                </a:solidFill>
                <a:latin typeface="Calibri" pitchFamily="34" charset="0"/>
                <a:ea typeface="Calibri" pitchFamily="34" charset="-122"/>
                <a:cs typeface="Calibri" pitchFamily="34" charset="-120"/>
              </a:rPr>
              <a:t>formal climate phrase + correct weather agreement</a:t>
            </a:r>
            <a:endParaRPr lang="en-US" sz="1050" dirty="0"/>
          </a:p>
        </p:txBody>
      </p:sp>
      <p:sp>
        <p:nvSpPr>
          <p:cNvPr id="20" name="Text 17"/>
          <p:cNvSpPr txBox="1"/>
          <p:nvPr/>
        </p:nvSpPr>
        <p:spPr>
          <a:xfrm>
            <a:off x="4297680" y="1847088"/>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34" charset="0"/>
                <a:ea typeface="Amiri" pitchFamily="34" charset="-122"/>
                <a:cs typeface="Amiri" pitchFamily="34" charset="-120"/>
              </a:rPr>
              <a:t>يَسُودُ مَنَاخٌ جَافٌّ فِي الدَّاخِلِ، وَتَهُبُّ الرِّيَاحُ بِقُوَّةٍ فِي الرَّبِيعِ.</a:t>
            </a:r>
            <a:endParaRPr lang="ar-SA" sz="2000" dirty="0"/>
          </a:p>
        </p:txBody>
      </p:sp>
      <p:sp>
        <p:nvSpPr>
          <p:cNvPr id="21" name="Shape 18"/>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640080" y="3040380"/>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2. Problem, cause and passive</a:t>
            </a:r>
            <a:endParaRPr lang="en-US" sz="1250" dirty="0"/>
          </a:p>
        </p:txBody>
      </p:sp>
      <p:sp>
        <p:nvSpPr>
          <p:cNvPr id="23" name="Text 20"/>
          <p:cNvSpPr txBox="1"/>
          <p:nvPr/>
        </p:nvSpPr>
        <p:spPr>
          <a:xfrm>
            <a:off x="640080" y="3502152"/>
            <a:ext cx="3566160" cy="432054"/>
          </a:xfrm>
          <a:prstGeom prst="rect">
            <a:avLst/>
          </a:prstGeom>
          <a:noFill/>
          <a:ln/>
        </p:spPr>
        <p:txBody>
          <a:bodyPr wrap="square" lIns="0" tIns="0" rIns="0" bIns="0" rtlCol="0" anchor="ctr"/>
          <a:lstStyle/>
          <a:p>
            <a:pPr algn="l" indent="0" marL="0">
              <a:buNone/>
            </a:pPr>
            <a:r>
              <a:rPr lang="en-US" sz="1050" dirty="0">
                <a:solidFill>
                  <a:srgbClr val="5A6472"/>
                </a:solidFill>
                <a:latin typeface="Calibri" pitchFamily="34" charset="0"/>
                <a:ea typeface="Calibri" pitchFamily="34" charset="-122"/>
                <a:cs typeface="Calibri" pitchFamily="34" charset="-120"/>
              </a:rPr>
              <a:t>passive problem + cause connector + result</a:t>
            </a:r>
            <a:endParaRPr lang="en-US" sz="1050" dirty="0"/>
          </a:p>
        </p:txBody>
      </p:sp>
      <p:sp>
        <p:nvSpPr>
          <p:cNvPr id="24" name="Text 21"/>
          <p:cNvSpPr txBox="1"/>
          <p:nvPr/>
        </p:nvSpPr>
        <p:spPr>
          <a:xfrm>
            <a:off x="4297680" y="3003804"/>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34" charset="0"/>
                <a:ea typeface="Amiri" pitchFamily="34" charset="-122"/>
                <a:cs typeface="Amiri" pitchFamily="34" charset="-120"/>
              </a:rPr>
              <a:t>يُلَوَّثُ الهَوَاءُ بِسَبَبِ عَوَادِمِ السَّيَّارَاتِ، مِمَّا يُؤَدِّي إِلَى أَمْرَاضٍ تَنَفُّسِيَّةٍ.</a:t>
            </a:r>
            <a:endParaRPr lang="ar-SA" sz="200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40080" y="4197096"/>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3. Solution and purpose</a:t>
            </a:r>
            <a:endParaRPr lang="en-US" sz="1250" dirty="0"/>
          </a:p>
        </p:txBody>
      </p:sp>
      <p:sp>
        <p:nvSpPr>
          <p:cNvPr id="27" name="Text 24"/>
          <p:cNvSpPr txBox="1"/>
          <p:nvPr/>
        </p:nvSpPr>
        <p:spPr>
          <a:xfrm>
            <a:off x="640080" y="4658868"/>
            <a:ext cx="3566160" cy="432054"/>
          </a:xfrm>
          <a:prstGeom prst="rect">
            <a:avLst/>
          </a:prstGeom>
          <a:noFill/>
          <a:ln/>
        </p:spPr>
        <p:txBody>
          <a:bodyPr wrap="square" lIns="0" tIns="0" rIns="0" bIns="0" rtlCol="0" anchor="ctr"/>
          <a:lstStyle/>
          <a:p>
            <a:pPr algn="l" indent="0" marL="0">
              <a:buNone/>
            </a:pPr>
            <a:r>
              <a:rPr lang="en-US" sz="1050" dirty="0">
                <a:solidFill>
                  <a:srgbClr val="5A6472"/>
                </a:solidFill>
                <a:latin typeface="Calibri" pitchFamily="34" charset="0"/>
                <a:ea typeface="Calibri" pitchFamily="34" charset="-122"/>
                <a:cs typeface="Calibri" pitchFamily="34" charset="-120"/>
              </a:rPr>
              <a:t>responsible group + obligation + purpose</a:t>
            </a:r>
            <a:endParaRPr lang="en-US" sz="1050" dirty="0"/>
          </a:p>
        </p:txBody>
      </p:sp>
      <p:sp>
        <p:nvSpPr>
          <p:cNvPr id="28" name="Text 25"/>
          <p:cNvSpPr txBox="1"/>
          <p:nvPr/>
        </p:nvSpPr>
        <p:spPr>
          <a:xfrm>
            <a:off x="4297680" y="4160520"/>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34" charset="0"/>
                <a:ea typeface="Amiri" pitchFamily="34" charset="-122"/>
                <a:cs typeface="Amiri" pitchFamily="34" charset="-120"/>
              </a:rPr>
              <a:t>يَجِبُ عَلَى الحُكُومَةِ أَنْ تُوَسِّعَ النَّقْلَ العَامَّ لِكَيْ تُقَلِّلَ الانْبِعَاثَاتِ.</a:t>
            </a:r>
            <a:endParaRPr lang="ar-SA" sz="2000" dirty="0"/>
          </a:p>
        </p:txBody>
      </p:sp>
      <p:sp>
        <p:nvSpPr>
          <p:cNvPr id="29" name="Shape 26"/>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640080" y="5353812"/>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4. Qualified academic judgement</a:t>
            </a:r>
            <a:endParaRPr lang="en-US" sz="1250" dirty="0"/>
          </a:p>
        </p:txBody>
      </p:sp>
      <p:sp>
        <p:nvSpPr>
          <p:cNvPr id="31" name="Text 28"/>
          <p:cNvSpPr txBox="1"/>
          <p:nvPr/>
        </p:nvSpPr>
        <p:spPr>
          <a:xfrm>
            <a:off x="640080" y="5815584"/>
            <a:ext cx="3566160" cy="432054"/>
          </a:xfrm>
          <a:prstGeom prst="rect">
            <a:avLst/>
          </a:prstGeom>
          <a:noFill/>
          <a:ln/>
        </p:spPr>
        <p:txBody>
          <a:bodyPr wrap="square" lIns="0" tIns="0" rIns="0" bIns="0" rtlCol="0" anchor="ctr"/>
          <a:lstStyle/>
          <a:p>
            <a:pPr algn="l" indent="0" marL="0">
              <a:buNone/>
            </a:pPr>
            <a:r>
              <a:rPr lang="en-US" sz="1050" dirty="0">
                <a:solidFill>
                  <a:srgbClr val="5A6472"/>
                </a:solidFill>
                <a:latin typeface="Calibri" pitchFamily="34" charset="0"/>
                <a:ea typeface="Calibri" pitchFamily="34" charset="-122"/>
                <a:cs typeface="Calibri" pitchFamily="34" charset="-120"/>
              </a:rPr>
              <a:t>concession + judgement + condition</a:t>
            </a:r>
            <a:endParaRPr lang="en-US" sz="1050" dirty="0"/>
          </a:p>
        </p:txBody>
      </p:sp>
      <p:sp>
        <p:nvSpPr>
          <p:cNvPr id="32" name="Text 29"/>
          <p:cNvSpPr txBox="1"/>
          <p:nvPr/>
        </p:nvSpPr>
        <p:spPr>
          <a:xfrm>
            <a:off x="4297680" y="5317236"/>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34" charset="0"/>
                <a:ea typeface="Amiri" pitchFamily="34" charset="-122"/>
                <a:cs typeface="Amiri" pitchFamily="34" charset="-120"/>
              </a:rPr>
              <a:t>عَلَى الرَّغْمِ مِنْ أَنَّ التِّقْنِيَّةَ مُكَلِّفَةٌ، فَإِنَّهَا مُفِيدَةٌ شَرِيطَةَ أَنْ تُطَبَّقَ بِمَسْؤُولِيَّةٍ.</a:t>
            </a:r>
            <a:endParaRPr lang="ar-SA" sz="200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14 / 45</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D4-L11 · Unit Review</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CHECK FOR UNDERSTANDING · HINGE QUESTIONS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Quick check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فَحْصٌ سَرِيعٌ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D4 · Environment, Weather and Technology · D4-L11</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weather agreement.</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يَهُبُّ الرِّيَاحُ وَيَسْقُطُ الثُّلُوجُ.</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تَهُبُّ الرِّيَاحُ وَتَسْقُطُ المَنَاخُ.</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تَهُبُّ الرِّيَاحُ وَتَسْقُطُ الثُّلُوجُ.</a:t>
            </a:r>
            <a:endParaRPr lang="ar-SA" sz="2050" dirty="0"/>
          </a:p>
        </p:txBody>
      </p:sp>
      <p:sp>
        <p:nvSpPr>
          <p:cNvPr id="28" name="Shape 25"/>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6313932"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true environmental passive.</a:t>
            </a:r>
            <a:endParaRPr lang="en-US" sz="1250" dirty="0"/>
          </a:p>
        </p:txBody>
      </p:sp>
      <p:sp>
        <p:nvSpPr>
          <p:cNvPr id="32" name="Shape 29"/>
          <p:cNvSpPr/>
          <p:nvPr/>
        </p:nvSpPr>
        <p:spPr>
          <a:xfrm>
            <a:off x="6368796"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يُلَوَّثُ الهَوَاءُ بِعَوَادِمِ السَّيَّارَاتِ.</a:t>
            </a:r>
            <a:endParaRPr lang="ar-SA" sz="2050" dirty="0"/>
          </a:p>
        </p:txBody>
      </p:sp>
      <p:sp>
        <p:nvSpPr>
          <p:cNvPr id="35" name="Shape 32"/>
          <p:cNvSpPr/>
          <p:nvPr/>
        </p:nvSpPr>
        <p:spPr>
          <a:xfrm>
            <a:off x="6368796"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يَنْبَعِثُ الهَوَاءُ السَّيَّارَاتِ.</a:t>
            </a:r>
            <a:endParaRPr lang="ar-SA" sz="2050" dirty="0"/>
          </a:p>
        </p:txBody>
      </p:sp>
      <p:sp>
        <p:nvSpPr>
          <p:cNvPr id="38" name="Shape 35"/>
          <p:cNvSpPr/>
          <p:nvPr/>
        </p:nvSpPr>
        <p:spPr>
          <a:xfrm>
            <a:off x="6368796"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يَلَوِّثُ الهَوَاءُ عَوَادِمَ السَّيَّارَاتِ.</a:t>
            </a:r>
            <a:endParaRPr lang="ar-SA" sz="2050" dirty="0"/>
          </a:p>
        </p:txBody>
      </p:sp>
      <p:sp>
        <p:nvSpPr>
          <p:cNvPr id="41" name="Shape 38"/>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585216" y="4288536"/>
            <a:ext cx="310896" cy="310896"/>
          </a:xfrm>
          <a:prstGeom prst="ellipse">
            <a:avLst/>
          </a:prstGeom>
          <a:solidFill>
            <a:srgbClr val="1B3B6F"/>
          </a:solidFill>
          <a:ln w="12700">
            <a:solidFill>
              <a:srgbClr val="1B3B6F"/>
            </a:solidFill>
            <a:prstDash val="solid"/>
          </a:ln>
        </p:spPr>
      </p:sp>
      <p:sp>
        <p:nvSpPr>
          <p:cNvPr id="43" name="Text 40"/>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coherent cause–effect chain.</a:t>
            </a:r>
            <a:endParaRPr lang="en-US" sz="1250" dirty="0"/>
          </a:p>
        </p:txBody>
      </p:sp>
      <p:sp>
        <p:nvSpPr>
          <p:cNvPr id="45" name="Shape 42"/>
          <p:cNvSpPr/>
          <p:nvPr/>
        </p:nvSpPr>
        <p:spPr>
          <a:xfrm>
            <a:off x="640080" y="4873752"/>
            <a:ext cx="256032" cy="256032"/>
          </a:xfrm>
          <a:prstGeom prst="ellipse">
            <a:avLst/>
          </a:prstGeom>
          <a:solidFill>
            <a:srgbClr val="F4F1EA"/>
          </a:solidFill>
          <a:ln w="12700">
            <a:solidFill>
              <a:srgbClr val="F4F1EA"/>
            </a:solidFill>
            <a:prstDash val="solid"/>
          </a:ln>
        </p:spPr>
      </p:sp>
      <p:sp>
        <p:nvSpPr>
          <p:cNvPr id="46" name="Text 43"/>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بِسَبَبِ قَطْعِ الأَشْجَارِ، تَزْدَادُ الغَابَاتُ.</a:t>
            </a:r>
            <a:endParaRPr lang="ar-SA" sz="2050" dirty="0"/>
          </a:p>
        </p:txBody>
      </p:sp>
      <p:sp>
        <p:nvSpPr>
          <p:cNvPr id="48" name="Shape 45"/>
          <p:cNvSpPr/>
          <p:nvPr/>
        </p:nvSpPr>
        <p:spPr>
          <a:xfrm>
            <a:off x="640080" y="5330952"/>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بِسَبَبِ قَطْعِ الأَشْجَارِ، تَفْقِدُ الحَيَوَانَاتُ مَوَائِلَهَا.</a:t>
            </a:r>
            <a:endParaRPr lang="ar-SA" sz="2050" dirty="0"/>
          </a:p>
        </p:txBody>
      </p:sp>
      <p:sp>
        <p:nvSpPr>
          <p:cNvPr id="51" name="Shape 48"/>
          <p:cNvSpPr/>
          <p:nvPr/>
        </p:nvSpPr>
        <p:spPr>
          <a:xfrm>
            <a:off x="640080" y="5788152"/>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بِسَبَبِ قَطْعِ الأَشْجَارِ، تَنْخَفِضُ الحَاجَةُ إِلَى الحِمَايَةِ.</a:t>
            </a:r>
            <a:endParaRPr lang="ar-SA" sz="2050" dirty="0"/>
          </a:p>
        </p:txBody>
      </p:sp>
      <p:sp>
        <p:nvSpPr>
          <p:cNvPr id="54" name="Shape 51"/>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6313932"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obligation and purpose.</a:t>
            </a:r>
            <a:endParaRPr lang="en-US" sz="1250" dirty="0"/>
          </a:p>
        </p:txBody>
      </p:sp>
      <p:sp>
        <p:nvSpPr>
          <p:cNvPr id="58" name="Shape 55"/>
          <p:cNvSpPr/>
          <p:nvPr/>
        </p:nvSpPr>
        <p:spPr>
          <a:xfrm>
            <a:off x="6368796"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1850" dirty="0">
                <a:solidFill>
                  <a:srgbClr val="1F2A37"/>
                </a:solidFill>
                <a:latin typeface="Amiri" pitchFamily="34" charset="0"/>
                <a:ea typeface="Amiri" pitchFamily="34" charset="-122"/>
                <a:cs typeface="Amiri" pitchFamily="34" charset="-120"/>
              </a:rPr>
              <a:t>يَجِبُ عَلَى المَدِينَةِ أَنْ تُوَسِّعَ النَّقْلَ العَامَّ لِكَيْ تُقَلِّلَ التَّلَوُّثَ.</a:t>
            </a:r>
            <a:endParaRPr lang="ar-SA" sz="1850" dirty="0"/>
          </a:p>
        </p:txBody>
      </p:sp>
      <p:sp>
        <p:nvSpPr>
          <p:cNvPr id="61" name="Shape 58"/>
          <p:cNvSpPr/>
          <p:nvPr/>
        </p:nvSpPr>
        <p:spPr>
          <a:xfrm>
            <a:off x="6368796"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1850" dirty="0">
                <a:solidFill>
                  <a:srgbClr val="1F2A37"/>
                </a:solidFill>
                <a:latin typeface="Amiri" pitchFamily="34" charset="0"/>
                <a:ea typeface="Amiri" pitchFamily="34" charset="-122"/>
                <a:cs typeface="Amiri" pitchFamily="34" charset="-120"/>
              </a:rPr>
              <a:t>يَجِبُ المَدِينَةُ تُوَسِّعُ النَّقْلَ لِكَيْ تُقَلِّلُ التَّلَوُّثَ.</a:t>
            </a:r>
            <a:endParaRPr lang="ar-SA" sz="1850" dirty="0"/>
          </a:p>
        </p:txBody>
      </p:sp>
      <p:sp>
        <p:nvSpPr>
          <p:cNvPr id="64" name="Shape 61"/>
          <p:cNvSpPr/>
          <p:nvPr/>
        </p:nvSpPr>
        <p:spPr>
          <a:xfrm>
            <a:off x="6368796"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1850" dirty="0">
                <a:solidFill>
                  <a:srgbClr val="1F2A37"/>
                </a:solidFill>
                <a:latin typeface="Amiri" pitchFamily="34" charset="0"/>
                <a:ea typeface="Amiri" pitchFamily="34" charset="-122"/>
                <a:cs typeface="Amiri" pitchFamily="34" charset="-120"/>
              </a:rPr>
              <a:t>يَجِبُ عَلَى المَدِينَةِ أَنْ تُوَسِّعَ النَّقْلَ لِكَيْ تَزِيدَ التَّلَوُّثَ.</a:t>
            </a:r>
            <a:endParaRPr lang="ar-SA" sz="1850" dirty="0"/>
          </a:p>
        </p:txBody>
      </p:sp>
      <p:sp>
        <p:nvSpPr>
          <p:cNvPr id="67" name="Text 6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15 / 45</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D4-L11 · Unit Review</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CHECK FOR UNDERSTANDING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Answers and reasons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D4 · Environment, Weather and Technology · D4-L11</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weather agreement.</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يَهُبُّ الرِّيَاحُ وَيَسْقُطُ الثُّلُوجُ.</a:t>
            </a:r>
            <a:endParaRPr lang="ar-SA" sz="1700" dirty="0"/>
          </a:p>
        </p:txBody>
      </p:sp>
      <p:sp>
        <p:nvSpPr>
          <p:cNvPr id="22" name="Shape 19"/>
          <p:cNvSpPr/>
          <p:nvPr/>
        </p:nvSpPr>
        <p:spPr>
          <a:xfrm>
            <a:off x="640080" y="2862072"/>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تَهُبُّ الرِّيَاحُ وَتَسْقُطُ المَنَاخُ.</a:t>
            </a:r>
            <a:endParaRPr lang="ar-SA" sz="1700" dirty="0"/>
          </a:p>
        </p:txBody>
      </p:sp>
      <p:sp>
        <p:nvSpPr>
          <p:cNvPr id="25" name="Shape 22"/>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6" name="Shape 23"/>
          <p:cNvSpPr/>
          <p:nvPr/>
        </p:nvSpPr>
        <p:spPr>
          <a:xfrm>
            <a:off x="640080" y="3233928"/>
            <a:ext cx="256032" cy="256032"/>
          </a:xfrm>
          <a:prstGeom prst="ellipse">
            <a:avLst/>
          </a:prstGeom>
          <a:solidFill>
            <a:srgbClr val="2E8B57"/>
          </a:solidFill>
          <a:ln w="12700">
            <a:solidFill>
              <a:srgbClr val="2E8B57"/>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تَهُبُّ الرِّيَاحُ وَتَسْقُطُ الثُّلُوجُ.</a:t>
            </a:r>
            <a:endParaRPr lang="ar-SA" sz="1700" dirty="0"/>
          </a:p>
        </p:txBody>
      </p:sp>
      <p:sp>
        <p:nvSpPr>
          <p:cNvPr id="29" name="Text 26"/>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الرياح</a:t>
            </a:r>
            <a:pPr algn="l" indent="0" marL="0">
              <a:buNone/>
            </a:pPr>
            <a:r>
              <a:rPr lang="en-US" sz="1050" i="1" dirty="0">
                <a:solidFill>
                  <a:srgbClr val="8A6D1E"/>
                </a:solidFill>
                <a:latin typeface="Calibri" pitchFamily="34" charset="0"/>
                <a:ea typeface="Calibri" pitchFamily="34" charset="-122"/>
                <a:cs typeface="Calibri" pitchFamily="34" charset="-120"/>
              </a:rPr>
              <a:t> and </a:t>
            </a:r>
            <a:pPr algn="l" indent="0" marL="0">
              <a:buNone/>
            </a:pPr>
            <a:r>
              <a:rPr lang="ar-SA" altLang="en-US" sz="1350" dirty="0">
                <a:solidFill>
                  <a:srgbClr val="8A6D1E"/>
                </a:solidFill>
                <a:latin typeface="Amiri" pitchFamily="34" charset="0"/>
                <a:ea typeface="Amiri" pitchFamily="34" charset="-122"/>
                <a:cs typeface="Amiri" pitchFamily="34" charset="-120"/>
              </a:rPr>
              <a:t>الثلوج</a:t>
            </a:r>
            <a:pPr algn="l" indent="0" marL="0">
              <a:buNone/>
            </a:pPr>
            <a:r>
              <a:rPr lang="en-US" sz="1050" i="1" dirty="0">
                <a:solidFill>
                  <a:srgbClr val="8A6D1E"/>
                </a:solidFill>
                <a:latin typeface="Calibri" pitchFamily="34" charset="0"/>
                <a:ea typeface="Calibri" pitchFamily="34" charset="-122"/>
                <a:cs typeface="Calibri" pitchFamily="34" charset="-120"/>
              </a:rPr>
              <a:t> take feminine agreement.</a:t>
            </a:r>
            <a:endParaRPr lang="en-US" sz="1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true environmental passive.</a:t>
            </a:r>
            <a:endParaRPr lang="en-US" sz="1250" dirty="0"/>
          </a:p>
        </p:txBody>
      </p:sp>
      <p:sp>
        <p:nvSpPr>
          <p:cNvPr id="34" name="Shape 31"/>
          <p:cNvSpPr/>
          <p:nvPr/>
        </p:nvSpPr>
        <p:spPr>
          <a:xfrm>
            <a:off x="6277356" y="2453640"/>
            <a:ext cx="5362956"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6368796"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7" name="Text 34"/>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يُلَوَّثُ الهَوَاءُ بِعَوَادِمِ السَّيَّارَاتِ.</a:t>
            </a:r>
            <a:endParaRPr lang="ar-SA" sz="1700" dirty="0"/>
          </a:p>
        </p:txBody>
      </p:sp>
      <p:sp>
        <p:nvSpPr>
          <p:cNvPr id="38" name="Shape 35"/>
          <p:cNvSpPr/>
          <p:nvPr/>
        </p:nvSpPr>
        <p:spPr>
          <a:xfrm>
            <a:off x="6368796"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يَنْبَعِثُ الهَوَاءُ السَّيَّارَاتِ.</a:t>
            </a:r>
            <a:endParaRPr lang="ar-SA" sz="1700" dirty="0"/>
          </a:p>
        </p:txBody>
      </p:sp>
      <p:sp>
        <p:nvSpPr>
          <p:cNvPr id="41" name="Shape 38"/>
          <p:cNvSpPr/>
          <p:nvPr/>
        </p:nvSpPr>
        <p:spPr>
          <a:xfrm>
            <a:off x="6368796"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يَلَوِّثُ الهَوَاءُ عَوَادِمَ السَّيَّارَاتِ.</a:t>
            </a:r>
            <a:endParaRPr lang="ar-SA" sz="1700" dirty="0"/>
          </a:p>
        </p:txBody>
      </p:sp>
      <p:sp>
        <p:nvSpPr>
          <p:cNvPr id="44" name="Text 41"/>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air is the affected subject in </a:t>
            </a:r>
            <a:pPr algn="l" indent="0" marL="0">
              <a:buNone/>
            </a:pPr>
            <a:r>
              <a:rPr lang="ar-SA" altLang="en-US" sz="1350" dirty="0">
                <a:solidFill>
                  <a:srgbClr val="8A6D1E"/>
                </a:solidFill>
                <a:latin typeface="Amiri" pitchFamily="34" charset="0"/>
                <a:ea typeface="Amiri" pitchFamily="34" charset="-122"/>
                <a:cs typeface="Amiri" pitchFamily="34" charset="-120"/>
              </a:rPr>
              <a:t>يُلوَّث الهواء</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45" name="Shape 42"/>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85216" y="4288536"/>
            <a:ext cx="310896" cy="310896"/>
          </a:xfrm>
          <a:prstGeom prst="ellipse">
            <a:avLst/>
          </a:prstGeom>
          <a:solidFill>
            <a:srgbClr val="1B3B6F"/>
          </a:solidFill>
          <a:ln w="12700">
            <a:solidFill>
              <a:srgbClr val="1B3B6F"/>
            </a:solidFill>
            <a:prstDash val="solid"/>
          </a:ln>
        </p:spPr>
      </p:sp>
      <p:sp>
        <p:nvSpPr>
          <p:cNvPr id="47" name="Text 4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coherent cause–effect chain.</a:t>
            </a:r>
            <a:endParaRPr lang="en-US" sz="1250" dirty="0"/>
          </a:p>
        </p:txBody>
      </p:sp>
      <p:sp>
        <p:nvSpPr>
          <p:cNvPr id="49" name="Shape 46"/>
          <p:cNvSpPr/>
          <p:nvPr/>
        </p:nvSpPr>
        <p:spPr>
          <a:xfrm>
            <a:off x="640080" y="4831080"/>
            <a:ext cx="256032" cy="256032"/>
          </a:xfrm>
          <a:prstGeom prst="ellipse">
            <a:avLst/>
          </a:prstGeom>
          <a:solidFill>
            <a:srgbClr val="C9CED6"/>
          </a:solidFill>
          <a:ln w="12700">
            <a:solidFill>
              <a:srgbClr val="C9CED6"/>
            </a:solidFill>
            <a:prstDash val="solid"/>
          </a:ln>
        </p:spPr>
      </p:sp>
      <p:sp>
        <p:nvSpPr>
          <p:cNvPr id="50" name="Text 47"/>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بِسَبَبِ قَطْعِ الأَشْجَارِ، تَزْدَادُ الغَابَاتُ.</a:t>
            </a:r>
            <a:endParaRPr lang="ar-SA" sz="1700" dirty="0"/>
          </a:p>
        </p:txBody>
      </p:sp>
      <p:sp>
        <p:nvSpPr>
          <p:cNvPr id="52" name="Shape 49"/>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3" name="Shape 50"/>
          <p:cNvSpPr/>
          <p:nvPr/>
        </p:nvSpPr>
        <p:spPr>
          <a:xfrm>
            <a:off x="640080" y="5202936"/>
            <a:ext cx="256032" cy="256032"/>
          </a:xfrm>
          <a:prstGeom prst="ellipse">
            <a:avLst/>
          </a:prstGeom>
          <a:solidFill>
            <a:srgbClr val="2E8B57"/>
          </a:solidFill>
          <a:ln w="12700">
            <a:solidFill>
              <a:srgbClr val="2E8B57"/>
            </a:solidFill>
            <a:prstDash val="solid"/>
          </a:ln>
        </p:spPr>
      </p:sp>
      <p:sp>
        <p:nvSpPr>
          <p:cNvPr id="54" name="Text 51"/>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55" name="Text 52"/>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بِسَبَبِ قَطْعِ الأَشْجَارِ، تَفْقِدُ الحَيَوَانَاتُ مَوَائِلَهَا.</a:t>
            </a:r>
            <a:endParaRPr lang="ar-SA" sz="1700" dirty="0"/>
          </a:p>
        </p:txBody>
      </p:sp>
      <p:sp>
        <p:nvSpPr>
          <p:cNvPr id="56" name="Shape 53"/>
          <p:cNvSpPr/>
          <p:nvPr/>
        </p:nvSpPr>
        <p:spPr>
          <a:xfrm>
            <a:off x="640080" y="5574792"/>
            <a:ext cx="256032" cy="256032"/>
          </a:xfrm>
          <a:prstGeom prst="ellipse">
            <a:avLst/>
          </a:prstGeom>
          <a:solidFill>
            <a:srgbClr val="C9CED6"/>
          </a:solidFill>
          <a:ln w="12700">
            <a:solidFill>
              <a:srgbClr val="C9CED6"/>
            </a:solidFill>
            <a:prstDash val="solid"/>
          </a:ln>
        </p:spPr>
      </p:sp>
      <p:sp>
        <p:nvSpPr>
          <p:cNvPr id="57" name="Text 54"/>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بِسَبَبِ قَطْعِ الأَشْجَارِ، تَنْخَفِضُ الحَاجَةُ إِلَى الحِمَايَةِ.</a:t>
            </a:r>
            <a:endParaRPr lang="ar-SA" sz="1700" dirty="0"/>
          </a:p>
        </p:txBody>
      </p:sp>
      <p:sp>
        <p:nvSpPr>
          <p:cNvPr id="59" name="Text 56"/>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Deforestation causes habitat loss.</a:t>
            </a:r>
            <a:endParaRPr lang="en-US" sz="1050" dirty="0"/>
          </a:p>
        </p:txBody>
      </p:sp>
      <p:sp>
        <p:nvSpPr>
          <p:cNvPr id="60" name="Shape 57"/>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6313932"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obligation and purpose.</a:t>
            </a:r>
            <a:endParaRPr lang="en-US" sz="1250" dirty="0"/>
          </a:p>
        </p:txBody>
      </p:sp>
      <p:sp>
        <p:nvSpPr>
          <p:cNvPr id="64" name="Shape 61"/>
          <p:cNvSpPr/>
          <p:nvPr/>
        </p:nvSpPr>
        <p:spPr>
          <a:xfrm>
            <a:off x="6277356" y="4794504"/>
            <a:ext cx="5362956"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368796"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67" name="Text 64"/>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يَجِبُ عَلَى المَدِينَةِ أَنْ تُوَسِّعَ النَّقْلَ العَامَّ لِكَيْ تُقَلِّلَ التَّلَوُّثَ.</a:t>
            </a:r>
            <a:endParaRPr lang="ar-SA" sz="1700" dirty="0"/>
          </a:p>
        </p:txBody>
      </p:sp>
      <p:sp>
        <p:nvSpPr>
          <p:cNvPr id="68" name="Shape 65"/>
          <p:cNvSpPr/>
          <p:nvPr/>
        </p:nvSpPr>
        <p:spPr>
          <a:xfrm>
            <a:off x="6368796"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0" name="Text 67"/>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يَجِبُ المَدِينَةُ تُوَسِّعُ النَّقْلَ لِكَيْ تُقَلِّلُ التَّلَوُّثَ.</a:t>
            </a:r>
            <a:endParaRPr lang="ar-SA" sz="1700" dirty="0"/>
          </a:p>
        </p:txBody>
      </p:sp>
      <p:sp>
        <p:nvSpPr>
          <p:cNvPr id="71" name="Shape 68"/>
          <p:cNvSpPr/>
          <p:nvPr/>
        </p:nvSpPr>
        <p:spPr>
          <a:xfrm>
            <a:off x="6368796"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يَجِبُ عَلَى المَدِينَةِ أَنْ تُوَسِّعَ النَّقْلَ لِكَيْ تَزِيدَ التَّلَوُّثَ.</a:t>
            </a:r>
            <a:endParaRPr lang="ar-SA" sz="1700" dirty="0"/>
          </a:p>
        </p:txBody>
      </p:sp>
      <p:sp>
        <p:nvSpPr>
          <p:cNvPr id="74" name="Text 71"/>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first uses both subjunctive forms accurately.</a:t>
            </a:r>
            <a:endParaRPr lang="en-US" sz="1050" dirty="0"/>
          </a:p>
        </p:txBody>
      </p:sp>
      <p:sp>
        <p:nvSpPr>
          <p:cNvPr id="75" name="Text 7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16 / 45</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D4-L11 · Unit Review</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I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ea typeface="Calibri" pitchFamily="34" charset="-122"/>
                <a:cs typeface="Calibri" pitchFamily="34" charset="-120"/>
              </a:rPr>
              <a:t>I DO · WATCH, THEN COPY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1750" b="1" dirty="0">
                <a:solidFill>
                  <a:srgbClr val="1B3B6F"/>
                </a:solidFill>
                <a:latin typeface="Cambria" pitchFamily="34" charset="0"/>
                <a:ea typeface="Cambria" pitchFamily="34" charset="-122"/>
                <a:cs typeface="Cambria" pitchFamily="34" charset="-120"/>
              </a:rPr>
              <a:t>Watch me build the D4 chain — and recover from a slip</a:t>
            </a:r>
            <a:endParaRPr lang="en-US" sz="1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شَاهِدْ ثُمَّ 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D4 · Environment, Weather and Technology · D4-L11</a:t>
            </a:r>
            <a:endParaRPr lang="en-US" sz="850" dirty="0"/>
          </a:p>
        </p:txBody>
      </p:sp>
      <p:sp>
        <p:nvSpPr>
          <p:cNvPr id="15" name="Shape 12"/>
          <p:cNvSpPr/>
          <p:nvPr/>
        </p:nvSpPr>
        <p:spPr>
          <a:xfrm>
            <a:off x="9050274"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19688" y="1938528"/>
            <a:ext cx="384048" cy="384048"/>
          </a:xfrm>
          <a:prstGeom prst="ellipse">
            <a:avLst/>
          </a:prstGeom>
          <a:solidFill>
            <a:srgbClr val="6B4C9A"/>
          </a:solidFill>
          <a:ln w="12700">
            <a:solidFill>
              <a:srgbClr val="6B4C9A"/>
            </a:solidFill>
            <a:prstDash val="solid"/>
          </a:ln>
        </p:spPr>
      </p:sp>
      <p:sp>
        <p:nvSpPr>
          <p:cNvPr id="17" name="Text 14"/>
          <p:cNvSpPr txBox="1"/>
          <p:nvPr/>
        </p:nvSpPr>
        <p:spPr>
          <a:xfrm>
            <a:off x="11219688"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18" name="Text 15"/>
          <p:cNvSpPr txBox="1"/>
          <p:nvPr/>
        </p:nvSpPr>
        <p:spPr>
          <a:xfrm>
            <a:off x="9187434"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Climate</a:t>
            </a:r>
            <a:endParaRPr lang="en-US" sz="1250" dirty="0"/>
          </a:p>
        </p:txBody>
      </p:sp>
      <p:sp>
        <p:nvSpPr>
          <p:cNvPr id="19" name="Text 16"/>
          <p:cNvSpPr txBox="1"/>
          <p:nvPr/>
        </p:nvSpPr>
        <p:spPr>
          <a:xfrm>
            <a:off x="9160002"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0E7C86"/>
                </a:solidFill>
                <a:latin typeface="Amiri" pitchFamily="34" charset="0"/>
                <a:ea typeface="Amiri" pitchFamily="34" charset="-122"/>
                <a:cs typeface="Amiri" pitchFamily="34" charset="-120"/>
              </a:rPr>
              <a:t>يَسُودُ</a:t>
            </a:r>
            <a:pPr rtl="1" algn="ctr" indent="0" marL="0">
              <a:buNone/>
            </a:pPr>
            <a:r>
              <a:rPr lang="ar-SA" altLang="en-US" sz="2800" b="1" dirty="0">
                <a:solidFill>
                  <a:srgbClr val="1B3B6F"/>
                </a:solidFill>
                <a:latin typeface="Amiri" pitchFamily="34" charset="0"/>
                <a:ea typeface="Amiri" pitchFamily="34" charset="-122"/>
                <a:cs typeface="Amiri" pitchFamily="34" charset="-120"/>
              </a:rPr>
              <a:t> مَنَاخٌ جَافٌّ</a:t>
            </a:r>
            <a:endParaRPr lang="ar-SA" sz="2800" dirty="0"/>
          </a:p>
        </p:txBody>
      </p:sp>
      <p:sp>
        <p:nvSpPr>
          <p:cNvPr id="20" name="Text 17"/>
          <p:cNvSpPr txBox="1"/>
          <p:nvPr/>
        </p:nvSpPr>
        <p:spPr>
          <a:xfrm>
            <a:off x="9187434"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Formal climate verb.</a:t>
            </a:r>
            <a:endParaRPr lang="en-US" sz="1150" dirty="0"/>
          </a:p>
        </p:txBody>
      </p:sp>
      <p:sp>
        <p:nvSpPr>
          <p:cNvPr id="21" name="Text 18"/>
          <p:cNvSpPr txBox="1"/>
          <p:nvPr/>
        </p:nvSpPr>
        <p:spPr>
          <a:xfrm>
            <a:off x="8867394"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22" name="Shape 19"/>
          <p:cNvSpPr/>
          <p:nvPr/>
        </p:nvSpPr>
        <p:spPr>
          <a:xfrm>
            <a:off x="6185916"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8355330" y="1938528"/>
            <a:ext cx="384048" cy="384048"/>
          </a:xfrm>
          <a:prstGeom prst="ellipse">
            <a:avLst/>
          </a:prstGeom>
          <a:solidFill>
            <a:srgbClr val="6B4C9A"/>
          </a:solidFill>
          <a:ln w="12700">
            <a:solidFill>
              <a:srgbClr val="6B4C9A"/>
            </a:solidFill>
            <a:prstDash val="solid"/>
          </a:ln>
        </p:spPr>
      </p:sp>
      <p:sp>
        <p:nvSpPr>
          <p:cNvPr id="24" name="Text 21"/>
          <p:cNvSpPr txBox="1"/>
          <p:nvPr/>
        </p:nvSpPr>
        <p:spPr>
          <a:xfrm>
            <a:off x="8355330"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25" name="Text 22"/>
          <p:cNvSpPr txBox="1"/>
          <p:nvPr/>
        </p:nvSpPr>
        <p:spPr>
          <a:xfrm>
            <a:off x="6323076"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Problem</a:t>
            </a:r>
            <a:endParaRPr lang="en-US" sz="1250" dirty="0"/>
          </a:p>
        </p:txBody>
      </p:sp>
      <p:sp>
        <p:nvSpPr>
          <p:cNvPr id="26" name="Text 23"/>
          <p:cNvSpPr txBox="1"/>
          <p:nvPr/>
        </p:nvSpPr>
        <p:spPr>
          <a:xfrm>
            <a:off x="6295644"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750" b="1" dirty="0">
                <a:solidFill>
                  <a:srgbClr val="D6336C"/>
                </a:solidFill>
                <a:latin typeface="Amiri" pitchFamily="34" charset="0"/>
                <a:ea typeface="Amiri" pitchFamily="34" charset="-122"/>
                <a:cs typeface="Amiri" pitchFamily="34" charset="-120"/>
              </a:rPr>
              <a:t>تَشِحُّ</a:t>
            </a:r>
            <a:pPr rtl="1" algn="ctr" indent="0" marL="0">
              <a:lnSpc>
                <a:spcPct val="120000"/>
              </a:lnSpc>
              <a:buNone/>
            </a:pPr>
            <a:r>
              <a:rPr lang="ar-SA" altLang="en-US" sz="1750" b="1" dirty="0">
                <a:solidFill>
                  <a:srgbClr val="1B3B6F"/>
                </a:solidFill>
                <a:latin typeface="Amiri" pitchFamily="34" charset="0"/>
                <a:ea typeface="Amiri" pitchFamily="34" charset="-122"/>
                <a:cs typeface="Amiri" pitchFamily="34" charset="-120"/>
              </a:rPr>
              <a:t> المِيَاهُ </a:t>
            </a:r>
            <a:pPr rtl="1" algn="ctr" indent="0" marL="0">
              <a:lnSpc>
                <a:spcPct val="120000"/>
              </a:lnSpc>
              <a:buNone/>
            </a:pPr>
            <a:r>
              <a:rPr lang="ar-SA" altLang="en-US" sz="1750" b="1" dirty="0">
                <a:solidFill>
                  <a:srgbClr val="D6336C"/>
                </a:solidFill>
                <a:latin typeface="Amiri" pitchFamily="34" charset="0"/>
                <a:ea typeface="Amiri" pitchFamily="34" charset="-122"/>
                <a:cs typeface="Amiri" pitchFamily="34" charset="-120"/>
              </a:rPr>
              <a:t>نَتِيجَةً لِـ</a:t>
            </a:r>
            <a:pPr rtl="1" algn="ctr" indent="0" marL="0">
              <a:lnSpc>
                <a:spcPct val="120000"/>
              </a:lnSpc>
              <a:buNone/>
            </a:pPr>
            <a:r>
              <a:rPr lang="ar-SA" altLang="en-US" sz="1750" b="1" dirty="0">
                <a:solidFill>
                  <a:srgbClr val="1B3B6F"/>
                </a:solidFill>
                <a:latin typeface="Amiri" pitchFamily="34" charset="0"/>
                <a:ea typeface="Amiri" pitchFamily="34" charset="-122"/>
                <a:cs typeface="Amiri" pitchFamily="34" charset="-120"/>
              </a:rPr>
              <a:t>قِلَّةِ الأَمْطَارِ</a:t>
            </a:r>
            <a:endParaRPr lang="ar-SA" sz="1750" dirty="0"/>
          </a:p>
        </p:txBody>
      </p:sp>
      <p:sp>
        <p:nvSpPr>
          <p:cNvPr id="27" name="Text 24"/>
          <p:cNvSpPr txBox="1"/>
          <p:nvPr/>
        </p:nvSpPr>
        <p:spPr>
          <a:xfrm>
            <a:off x="6323076"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Cause → result.</a:t>
            </a:r>
            <a:endParaRPr lang="en-US" sz="1150" dirty="0"/>
          </a:p>
        </p:txBody>
      </p:sp>
      <p:sp>
        <p:nvSpPr>
          <p:cNvPr id="28" name="Text 25"/>
          <p:cNvSpPr txBox="1"/>
          <p:nvPr/>
        </p:nvSpPr>
        <p:spPr>
          <a:xfrm>
            <a:off x="6003036"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29" name="Shape 26"/>
          <p:cNvSpPr/>
          <p:nvPr/>
        </p:nvSpPr>
        <p:spPr>
          <a:xfrm>
            <a:off x="3321558"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490972" y="1938528"/>
            <a:ext cx="384048" cy="384048"/>
          </a:xfrm>
          <a:prstGeom prst="ellipse">
            <a:avLst/>
          </a:prstGeom>
          <a:solidFill>
            <a:srgbClr val="6B4C9A"/>
          </a:solidFill>
          <a:ln w="12700">
            <a:solidFill>
              <a:srgbClr val="6B4C9A"/>
            </a:solidFill>
            <a:prstDash val="solid"/>
          </a:ln>
        </p:spPr>
      </p:sp>
      <p:sp>
        <p:nvSpPr>
          <p:cNvPr id="31" name="Text 28"/>
          <p:cNvSpPr txBox="1"/>
          <p:nvPr/>
        </p:nvSpPr>
        <p:spPr>
          <a:xfrm>
            <a:off x="5490972"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32" name="Text 29"/>
          <p:cNvSpPr txBox="1"/>
          <p:nvPr/>
        </p:nvSpPr>
        <p:spPr>
          <a:xfrm>
            <a:off x="3458718"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Solution</a:t>
            </a:r>
            <a:endParaRPr lang="en-US" sz="1250" dirty="0"/>
          </a:p>
        </p:txBody>
      </p:sp>
      <p:sp>
        <p:nvSpPr>
          <p:cNvPr id="33" name="Text 30"/>
          <p:cNvSpPr txBox="1"/>
          <p:nvPr/>
        </p:nvSpPr>
        <p:spPr>
          <a:xfrm>
            <a:off x="3431286"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850" b="1" dirty="0">
                <a:solidFill>
                  <a:srgbClr val="1D5FBF"/>
                </a:solidFill>
                <a:latin typeface="Amiri" pitchFamily="34" charset="0"/>
                <a:ea typeface="Amiri" pitchFamily="34" charset="-122"/>
                <a:cs typeface="Amiri" pitchFamily="34" charset="-120"/>
              </a:rPr>
              <a:t>يَجِبُ عَلَى</a:t>
            </a:r>
            <a:pPr rtl="1" algn="ctr" indent="0" marL="0">
              <a:lnSpc>
                <a:spcPct val="120000"/>
              </a:lnSpc>
              <a:buNone/>
            </a:pPr>
            <a:r>
              <a:rPr lang="ar-SA" altLang="en-US" sz="1850" b="1" dirty="0">
                <a:solidFill>
                  <a:srgbClr val="1B3B6F"/>
                </a:solidFill>
                <a:latin typeface="Amiri" pitchFamily="34" charset="0"/>
                <a:ea typeface="Amiri" pitchFamily="34" charset="-122"/>
                <a:cs typeface="Amiri" pitchFamily="34" charset="-120"/>
              </a:rPr>
              <a:t> الحُكُومَاتِ </a:t>
            </a:r>
            <a:pPr rtl="1" algn="ctr" indent="0" marL="0">
              <a:lnSpc>
                <a:spcPct val="120000"/>
              </a:lnSpc>
              <a:buNone/>
            </a:pPr>
            <a:r>
              <a:rPr lang="ar-SA" altLang="en-US" sz="1850" b="1" dirty="0">
                <a:solidFill>
                  <a:srgbClr val="1D5FBF"/>
                </a:solidFill>
                <a:latin typeface="Amiri" pitchFamily="34" charset="0"/>
                <a:ea typeface="Amiri" pitchFamily="34" charset="-122"/>
                <a:cs typeface="Amiri" pitchFamily="34" charset="-120"/>
              </a:rPr>
              <a:t>أَنْ تَسْتَثْمِرَ</a:t>
            </a:r>
            <a:endParaRPr lang="ar-SA" sz="1850" dirty="0"/>
          </a:p>
        </p:txBody>
      </p:sp>
      <p:sp>
        <p:nvSpPr>
          <p:cNvPr id="34" name="Text 31"/>
          <p:cNvSpPr txBox="1"/>
          <p:nvPr/>
        </p:nvSpPr>
        <p:spPr>
          <a:xfrm>
            <a:off x="3458718"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Who must act.</a:t>
            </a:r>
            <a:endParaRPr lang="en-US" sz="1150" dirty="0"/>
          </a:p>
        </p:txBody>
      </p:sp>
      <p:sp>
        <p:nvSpPr>
          <p:cNvPr id="35" name="Text 32"/>
          <p:cNvSpPr txBox="1"/>
          <p:nvPr/>
        </p:nvSpPr>
        <p:spPr>
          <a:xfrm>
            <a:off x="3138678"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36" name="Shape 33"/>
          <p:cNvSpPr/>
          <p:nvPr/>
        </p:nvSpPr>
        <p:spPr>
          <a:xfrm>
            <a:off x="457200"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2626614" y="1938528"/>
            <a:ext cx="384048" cy="384048"/>
          </a:xfrm>
          <a:prstGeom prst="ellipse">
            <a:avLst/>
          </a:prstGeom>
          <a:solidFill>
            <a:srgbClr val="6B4C9A"/>
          </a:solidFill>
          <a:ln w="12700">
            <a:solidFill>
              <a:srgbClr val="6B4C9A"/>
            </a:solidFill>
            <a:prstDash val="solid"/>
          </a:ln>
        </p:spPr>
      </p:sp>
      <p:sp>
        <p:nvSpPr>
          <p:cNvPr id="38" name="Text 35"/>
          <p:cNvSpPr txBox="1"/>
          <p:nvPr/>
        </p:nvSpPr>
        <p:spPr>
          <a:xfrm>
            <a:off x="2626614"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39" name="Text 36"/>
          <p:cNvSpPr txBox="1"/>
          <p:nvPr/>
        </p:nvSpPr>
        <p:spPr>
          <a:xfrm>
            <a:off x="594360"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Recover</a:t>
            </a:r>
            <a:endParaRPr lang="en-US" sz="1250" dirty="0"/>
          </a:p>
        </p:txBody>
      </p:sp>
      <p:sp>
        <p:nvSpPr>
          <p:cNvPr id="40" name="Text 37"/>
          <p:cNvSpPr txBox="1"/>
          <p:nvPr/>
        </p:nvSpPr>
        <p:spPr>
          <a:xfrm>
            <a:off x="566928"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800" b="1" dirty="0">
                <a:solidFill>
                  <a:srgbClr val="1B3B6F"/>
                </a:solidFill>
                <a:latin typeface="Amiri" pitchFamily="34" charset="0"/>
                <a:ea typeface="Amiri" pitchFamily="34" charset="-122"/>
                <a:cs typeface="Amiri" pitchFamily="34" charset="-120"/>
              </a:rPr>
              <a:t>لِأُصَحِّحْ ذٰلِكَ: لِكَيْ تَحْمِيَ المَوَارِدَ</a:t>
            </a:r>
            <a:endParaRPr lang="ar-SA" sz="1800" dirty="0"/>
          </a:p>
        </p:txBody>
      </p:sp>
      <p:sp>
        <p:nvSpPr>
          <p:cNvPr id="41" name="Text 38"/>
          <p:cNvSpPr txBox="1"/>
          <p:nvPr/>
        </p:nvSpPr>
        <p:spPr>
          <a:xfrm>
            <a:off x="594360"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Fix it aloud.</a:t>
            </a:r>
            <a:endParaRPr lang="en-US" sz="1150" dirty="0"/>
          </a:p>
        </p:txBody>
      </p:sp>
      <p:sp>
        <p:nvSpPr>
          <p:cNvPr id="42" name="Shape 39"/>
          <p:cNvSpPr/>
          <p:nvPr/>
        </p:nvSpPr>
        <p:spPr>
          <a:xfrm>
            <a:off x="457200" y="4480560"/>
            <a:ext cx="11274552" cy="1828800"/>
          </a:xfrm>
          <a:prstGeom prst="roundRect">
            <a:avLst>
              <a:gd name="adj" fmla="val 4000"/>
            </a:avLst>
          </a:prstGeom>
          <a:solidFill>
            <a:srgbClr val="F1ECF8"/>
          </a:solidFill>
          <a:ln w="9525">
            <a:solidFill>
              <a:srgbClr val="CFC2E3"/>
            </a:solidFill>
            <a:prstDash val="solid"/>
          </a:ln>
          <a:effectLst>
            <a:outerShdw sx="100000" sy="100000" kx="0" ky="0" algn="bl" rotWithShape="0" blurRad="50800" dist="19050" dir="5400000">
              <a:srgbClr val="000000">
                <a:alpha val="10000"/>
              </a:srgbClr>
            </a:outerShdw>
          </a:effectLst>
        </p:spPr>
      </p:sp>
      <p:pic>
        <p:nvPicPr>
          <p:cNvPr id="43" name="Image 0" descr="preencoded.png">    </p:cNvPr>
          <p:cNvPicPr>
            <a:picLocks noChangeAspect="1"/>
          </p:cNvPicPr>
          <p:nvPr/>
        </p:nvPicPr>
        <p:blipFill>
          <a:blip r:embed="rId1"/>
          <a:stretch>
            <a:fillRect/>
          </a:stretch>
        </p:blipFill>
        <p:spPr>
          <a:xfrm>
            <a:off x="685800" y="4663440"/>
            <a:ext cx="457200" cy="457200"/>
          </a:xfrm>
          <a:prstGeom prst="rect">
            <a:avLst/>
          </a:prstGeom>
        </p:spPr>
      </p:pic>
      <p:sp>
        <p:nvSpPr>
          <p:cNvPr id="44" name="Text 40"/>
          <p:cNvSpPr txBox="1"/>
          <p:nvPr/>
        </p:nvSpPr>
        <p:spPr>
          <a:xfrm>
            <a:off x="1280160" y="4736592"/>
            <a:ext cx="3657600" cy="310896"/>
          </a:xfrm>
          <a:prstGeom prst="rect">
            <a:avLst/>
          </a:prstGeom>
          <a:noFill/>
          <a:ln/>
        </p:spPr>
        <p:txBody>
          <a:bodyPr wrap="square" lIns="0" tIns="0" rIns="0" bIns="0" rtlCol="0" anchor="ctr"/>
          <a:lstStyle/>
          <a:p>
            <a:pPr algn="l" indent="0" marL="0">
              <a:buNone/>
            </a:pPr>
            <a:r>
              <a:rPr lang="en-US" sz="1200" b="1" spc="200" kern="0" dirty="0">
                <a:solidFill>
                  <a:srgbClr val="6B4C9A"/>
                </a:solidFill>
                <a:latin typeface="Calibri" pitchFamily="34" charset="0"/>
                <a:ea typeface="Calibri" pitchFamily="34" charset="-122"/>
                <a:cs typeface="Calibri" pitchFamily="34" charset="-120"/>
              </a:rPr>
              <a:t>COPY THIS INTO YOUR BOOK</a:t>
            </a:r>
            <a:endParaRPr lang="en-US" sz="1200" dirty="0"/>
          </a:p>
        </p:txBody>
      </p:sp>
      <p:sp>
        <p:nvSpPr>
          <p:cNvPr id="45" name="Shape 41"/>
          <p:cNvSpPr/>
          <p:nvPr/>
        </p:nvSpPr>
        <p:spPr>
          <a:xfrm>
            <a:off x="8540496" y="4736592"/>
            <a:ext cx="914400" cy="237744"/>
          </a:xfrm>
          <a:prstGeom prst="roundRect">
            <a:avLst>
              <a:gd name="adj" fmla="val 50000"/>
            </a:avLst>
          </a:prstGeom>
          <a:solidFill>
            <a:srgbClr val="0E7C86"/>
          </a:solidFill>
          <a:ln w="12700">
            <a:solidFill>
              <a:srgbClr val="0E7C86"/>
            </a:solidFill>
            <a:prstDash val="solid"/>
          </a:ln>
        </p:spPr>
      </p:sp>
      <p:sp>
        <p:nvSpPr>
          <p:cNvPr id="46" name="Text 42"/>
          <p:cNvSpPr txBox="1"/>
          <p:nvPr/>
        </p:nvSpPr>
        <p:spPr>
          <a:xfrm>
            <a:off x="8540496"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CLIMATE</a:t>
            </a:r>
            <a:endParaRPr lang="en-US" sz="800" dirty="0"/>
          </a:p>
        </p:txBody>
      </p:sp>
      <p:sp>
        <p:nvSpPr>
          <p:cNvPr id="47" name="Shape 43"/>
          <p:cNvSpPr/>
          <p:nvPr/>
        </p:nvSpPr>
        <p:spPr>
          <a:xfrm>
            <a:off x="9528048" y="4736592"/>
            <a:ext cx="914400" cy="237744"/>
          </a:xfrm>
          <a:prstGeom prst="roundRect">
            <a:avLst>
              <a:gd name="adj" fmla="val 50000"/>
            </a:avLst>
          </a:prstGeom>
          <a:solidFill>
            <a:srgbClr val="D6336C"/>
          </a:solidFill>
          <a:ln w="12700">
            <a:solidFill>
              <a:srgbClr val="D6336C"/>
            </a:solidFill>
            <a:prstDash val="solid"/>
          </a:ln>
        </p:spPr>
      </p:sp>
      <p:sp>
        <p:nvSpPr>
          <p:cNvPr id="48" name="Text 44"/>
          <p:cNvSpPr txBox="1"/>
          <p:nvPr/>
        </p:nvSpPr>
        <p:spPr>
          <a:xfrm>
            <a:off x="9528048"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PROBLEM</a:t>
            </a:r>
            <a:endParaRPr lang="en-US" sz="800" dirty="0"/>
          </a:p>
        </p:txBody>
      </p:sp>
      <p:sp>
        <p:nvSpPr>
          <p:cNvPr id="49" name="Shape 45"/>
          <p:cNvSpPr/>
          <p:nvPr/>
        </p:nvSpPr>
        <p:spPr>
          <a:xfrm>
            <a:off x="10515600" y="4736592"/>
            <a:ext cx="914400" cy="237744"/>
          </a:xfrm>
          <a:prstGeom prst="roundRect">
            <a:avLst>
              <a:gd name="adj" fmla="val 50000"/>
            </a:avLst>
          </a:prstGeom>
          <a:solidFill>
            <a:srgbClr val="1D5FBF"/>
          </a:solidFill>
          <a:ln w="12700">
            <a:solidFill>
              <a:srgbClr val="1D5FBF"/>
            </a:solidFill>
            <a:prstDash val="solid"/>
          </a:ln>
        </p:spPr>
      </p:sp>
      <p:sp>
        <p:nvSpPr>
          <p:cNvPr id="50" name="Text 46"/>
          <p:cNvSpPr txBox="1"/>
          <p:nvPr/>
        </p:nvSpPr>
        <p:spPr>
          <a:xfrm>
            <a:off x="10515600"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SOLUTION</a:t>
            </a:r>
            <a:endParaRPr lang="en-US" sz="800" dirty="0"/>
          </a:p>
        </p:txBody>
      </p:sp>
      <p:sp>
        <p:nvSpPr>
          <p:cNvPr id="51" name="Text 47"/>
          <p:cNvSpPr txBox="1"/>
          <p:nvPr/>
        </p:nvSpPr>
        <p:spPr>
          <a:xfrm>
            <a:off x="685800" y="5029200"/>
            <a:ext cx="10817352" cy="731520"/>
          </a:xfrm>
          <a:prstGeom prst="rect">
            <a:avLst/>
          </a:prstGeom>
          <a:noFill/>
          <a:ln/>
        </p:spPr>
        <p:txBody>
          <a:bodyPr wrap="square" lIns="0" tIns="0" rIns="0" bIns="0" rtlCol="0" anchor="ctr"/>
          <a:lstStyle/>
          <a:p>
            <a:pPr rtl="1" algn="r" indent="0" marL="0">
              <a:lnSpc>
                <a:spcPct val="120000"/>
              </a:lnSpc>
              <a:buNone/>
            </a:pPr>
            <a:r>
              <a:rPr lang="ar-SA" altLang="en-US" sz="1400" b="1" dirty="0">
                <a:solidFill>
                  <a:srgbClr val="0E7C86"/>
                </a:solidFill>
                <a:latin typeface="Amiri" pitchFamily="34" charset="0"/>
                <a:ea typeface="Amiri" pitchFamily="34" charset="-122"/>
                <a:cs typeface="Amiri" pitchFamily="34" charset="-120"/>
              </a:rPr>
              <a:t>يَسُودُ</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مَنَاخٌ جَافٌّ فِي مَنَاطِقَ كَثِيرَةٍ، وَ</a:t>
            </a:r>
            <a:pPr rtl="1" algn="r" indent="0" marL="0">
              <a:lnSpc>
                <a:spcPct val="120000"/>
              </a:lnSpc>
              <a:buNone/>
            </a:pPr>
            <a:r>
              <a:rPr lang="ar-SA" altLang="en-US" sz="1400" b="1" dirty="0">
                <a:solidFill>
                  <a:srgbClr val="D6336C"/>
                </a:solidFill>
                <a:latin typeface="Amiri" pitchFamily="34" charset="0"/>
                <a:ea typeface="Amiri" pitchFamily="34" charset="-122"/>
                <a:cs typeface="Amiri" pitchFamily="34" charset="-120"/>
              </a:rPr>
              <a:t>تَشِحُّ</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المِيَاهُ </a:t>
            </a:r>
            <a:pPr rtl="1" algn="r" indent="0" marL="0">
              <a:lnSpc>
                <a:spcPct val="120000"/>
              </a:lnSpc>
              <a:buNone/>
            </a:pPr>
            <a:r>
              <a:rPr lang="ar-SA" altLang="en-US" sz="1400" b="1" dirty="0">
                <a:solidFill>
                  <a:srgbClr val="D6336C"/>
                </a:solidFill>
                <a:latin typeface="Amiri" pitchFamily="34" charset="0"/>
                <a:ea typeface="Amiri" pitchFamily="34" charset="-122"/>
                <a:cs typeface="Amiri" pitchFamily="34" charset="-120"/>
              </a:rPr>
              <a:t>نَتِيجَةً لِـ</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قِلَّةِ الأَمْطَارِ وَزِيَادَةِ الاسْتِهْلَاكِ. لِذٰلِكَ </a:t>
            </a:r>
            <a:pPr rtl="1" algn="r" indent="0" marL="0">
              <a:lnSpc>
                <a:spcPct val="120000"/>
              </a:lnSpc>
              <a:buNone/>
            </a:pPr>
            <a:r>
              <a:rPr lang="ar-SA" altLang="en-US" sz="1400" b="1" dirty="0">
                <a:solidFill>
                  <a:srgbClr val="1D5FBF"/>
                </a:solidFill>
                <a:latin typeface="Amiri" pitchFamily="34" charset="0"/>
                <a:ea typeface="Amiri" pitchFamily="34" charset="-122"/>
                <a:cs typeface="Amiri" pitchFamily="34" charset="-120"/>
              </a:rPr>
              <a:t>يَجِبُ عَلَى</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الحُكُومَاتِ </a:t>
            </a:r>
            <a:pPr rtl="1" algn="r" indent="0" marL="0">
              <a:lnSpc>
                <a:spcPct val="120000"/>
              </a:lnSpc>
              <a:buNone/>
            </a:pPr>
            <a:r>
              <a:rPr lang="ar-SA" altLang="en-US" sz="1400" b="1" dirty="0">
                <a:solidFill>
                  <a:srgbClr val="1D5FBF"/>
                </a:solidFill>
                <a:latin typeface="Amiri" pitchFamily="34" charset="0"/>
                <a:ea typeface="Amiri" pitchFamily="34" charset="-122"/>
                <a:cs typeface="Amiri" pitchFamily="34" charset="-120"/>
              </a:rPr>
              <a:t>أَنْ تَسْتَثْمِرَ</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فِي إِعَادَةِ اسْتِخْدَامِ المِيَاهِ </a:t>
            </a:r>
            <a:pPr rtl="1" algn="r" indent="0" marL="0">
              <a:lnSpc>
                <a:spcPct val="120000"/>
              </a:lnSpc>
              <a:buNone/>
            </a:pPr>
            <a:r>
              <a:rPr lang="ar-SA" altLang="en-US" sz="1400" b="1" dirty="0">
                <a:solidFill>
                  <a:srgbClr val="1D5FBF"/>
                </a:solidFill>
                <a:latin typeface="Amiri" pitchFamily="34" charset="0"/>
                <a:ea typeface="Amiri" pitchFamily="34" charset="-122"/>
                <a:cs typeface="Amiri" pitchFamily="34" charset="-120"/>
              </a:rPr>
              <a:t>لِكَيْ تَحْمِيَ</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المَوَارِدَ.</a:t>
            </a:r>
            <a:endParaRPr lang="ar-SA" sz="1400" dirty="0"/>
          </a:p>
        </p:txBody>
      </p:sp>
      <p:sp>
        <p:nvSpPr>
          <p:cNvPr id="52" name="Text 48"/>
          <p:cNvSpPr txBox="1"/>
          <p:nvPr/>
        </p:nvSpPr>
        <p:spPr>
          <a:xfrm>
            <a:off x="685800" y="5760720"/>
            <a:ext cx="10817352" cy="365760"/>
          </a:xfrm>
          <a:prstGeom prst="rect">
            <a:avLst/>
          </a:prstGeom>
          <a:noFill/>
          <a:ln/>
        </p:spPr>
        <p:txBody>
          <a:bodyPr wrap="square" lIns="0" tIns="0" rIns="0" bIns="0" rtlCol="0" anchor="ctr"/>
          <a:lstStyle/>
          <a:p>
            <a:pPr algn="r" indent="0" marL="0">
              <a:buNone/>
            </a:pPr>
            <a:r>
              <a:rPr lang="en-US" sz="1100" i="1" dirty="0">
                <a:solidFill>
                  <a:srgbClr val="5A6472"/>
                </a:solidFill>
                <a:latin typeface="Calibri" pitchFamily="34" charset="0"/>
                <a:ea typeface="Calibri" pitchFamily="34" charset="-122"/>
                <a:cs typeface="Calibri" pitchFamily="34" charset="-120"/>
              </a:rPr>
              <a:t>A dry climate prevails in many regions, and water is scarce as a result of low rainfall and higher consumption. Therefore governments must invest in water reuse in order to protect resources.</a:t>
            </a:r>
            <a:endParaRPr lang="en-US" sz="1100" dirty="0"/>
          </a:p>
        </p:txBody>
      </p:sp>
      <p:sp>
        <p:nvSpPr>
          <p:cNvPr id="53" name="Text 4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17 / 45</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D4-L11 · Unit Review</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I DO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ea typeface="Calibri" pitchFamily="34" charset="-122"/>
                <a:cs typeface="Calibri" pitchFamily="34" charset="-120"/>
              </a:rPr>
              <a:t>I DO · MODEL SENTENCES FROM THE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Sentences to borrow</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جُمَلٌ نَمُوذَجِيَّةٌ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D4 · Environment, Weather and Technology · D4-L11</a:t>
            </a:r>
            <a:endParaRPr lang="en-US" sz="850" dirty="0"/>
          </a:p>
        </p:txBody>
      </p:sp>
      <p:sp>
        <p:nvSpPr>
          <p:cNvPr id="15" name="Shape 12"/>
          <p:cNvSpPr/>
          <p:nvPr/>
        </p:nvSpPr>
        <p:spPr>
          <a:xfrm>
            <a:off x="457200" y="1810512"/>
            <a:ext cx="11274552" cy="1414272"/>
          </a:xfrm>
          <a:prstGeom prst="roundRect">
            <a:avLst>
              <a:gd name="adj" fmla="val 517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01400" y="2316480"/>
            <a:ext cx="402336" cy="402336"/>
          </a:xfrm>
          <a:prstGeom prst="ellipse">
            <a:avLst/>
          </a:prstGeom>
          <a:solidFill>
            <a:srgbClr val="1B3B6F"/>
          </a:solidFill>
          <a:ln w="12700">
            <a:solidFill>
              <a:srgbClr val="1B3B6F"/>
            </a:solidFill>
            <a:prstDash val="solid"/>
          </a:ln>
        </p:spPr>
      </p:sp>
      <p:sp>
        <p:nvSpPr>
          <p:cNvPr id="17" name="Text 14"/>
          <p:cNvSpPr txBox="1"/>
          <p:nvPr/>
        </p:nvSpPr>
        <p:spPr>
          <a:xfrm>
            <a:off x="11201400" y="2316480"/>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18" name="Text 15"/>
          <p:cNvSpPr txBox="1"/>
          <p:nvPr/>
        </p:nvSpPr>
        <p:spPr>
          <a:xfrm>
            <a:off x="4572000" y="1847088"/>
            <a:ext cx="6492240" cy="1341120"/>
          </a:xfrm>
          <a:prstGeom prst="rect">
            <a:avLst/>
          </a:prstGeom>
          <a:noFill/>
          <a:ln/>
        </p:spPr>
        <p:txBody>
          <a:bodyPr wrap="square" lIns="0" tIns="0" rIns="0" bIns="0" rtlCol="0" anchor="ctr"/>
          <a:lstStyle/>
          <a:p>
            <a:pPr rtl="1" algn="r" indent="0" marL="0">
              <a:lnSpc>
                <a:spcPct val="120000"/>
              </a:lnSpc>
              <a:buNone/>
            </a:pPr>
            <a:r>
              <a:rPr lang="ar-SA" altLang="en-US" sz="2600" b="1" dirty="0">
                <a:solidFill>
                  <a:srgbClr val="1B3B6F"/>
                </a:solidFill>
                <a:latin typeface="Amiri" pitchFamily="34" charset="0"/>
                <a:ea typeface="Amiri" pitchFamily="34" charset="-122"/>
                <a:cs typeface="Amiri" pitchFamily="34" charset="-120"/>
              </a:rPr>
              <a:t>يَسُودُ مَنَاخٌ جَافٌّ فِي الدَّاخِلِ، وَتَهُبُّ الرِّيَاحُ بِقُوَّةٍ فِي الرَّبِيعِ.</a:t>
            </a:r>
            <a:endParaRPr lang="ar-SA" sz="2600" dirty="0"/>
          </a:p>
        </p:txBody>
      </p:sp>
      <p:sp>
        <p:nvSpPr>
          <p:cNvPr id="19" name="Text 16"/>
          <p:cNvSpPr txBox="1"/>
          <p:nvPr/>
        </p:nvSpPr>
        <p:spPr>
          <a:xfrm>
            <a:off x="685800" y="1856232"/>
            <a:ext cx="3749040" cy="1322832"/>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A dry climate prevails inland, and winds blow strongly in spring.</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Keep climate description and weather events distinct.</a:t>
            </a:r>
            <a:endParaRPr lang="en-US" sz="1250" dirty="0"/>
          </a:p>
        </p:txBody>
      </p:sp>
      <p:sp>
        <p:nvSpPr>
          <p:cNvPr id="20" name="Shape 17"/>
          <p:cNvSpPr/>
          <p:nvPr/>
        </p:nvSpPr>
        <p:spPr>
          <a:xfrm>
            <a:off x="457200" y="3352800"/>
            <a:ext cx="11274552" cy="1414272"/>
          </a:xfrm>
          <a:prstGeom prst="roundRect">
            <a:avLst>
              <a:gd name="adj" fmla="val 517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201400" y="3858768"/>
            <a:ext cx="402336" cy="402336"/>
          </a:xfrm>
          <a:prstGeom prst="ellipse">
            <a:avLst/>
          </a:prstGeom>
          <a:solidFill>
            <a:srgbClr val="1B3B6F"/>
          </a:solidFill>
          <a:ln w="12700">
            <a:solidFill>
              <a:srgbClr val="1B3B6F"/>
            </a:solidFill>
            <a:prstDash val="solid"/>
          </a:ln>
        </p:spPr>
      </p:sp>
      <p:sp>
        <p:nvSpPr>
          <p:cNvPr id="22" name="Text 19"/>
          <p:cNvSpPr txBox="1"/>
          <p:nvPr/>
        </p:nvSpPr>
        <p:spPr>
          <a:xfrm>
            <a:off x="11201400" y="385876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23" name="Text 20"/>
          <p:cNvSpPr txBox="1"/>
          <p:nvPr/>
        </p:nvSpPr>
        <p:spPr>
          <a:xfrm>
            <a:off x="4572000" y="3389376"/>
            <a:ext cx="6492240" cy="1341120"/>
          </a:xfrm>
          <a:prstGeom prst="rect">
            <a:avLst/>
          </a:prstGeom>
          <a:noFill/>
          <a:ln/>
        </p:spPr>
        <p:txBody>
          <a:bodyPr wrap="square" lIns="0" tIns="0" rIns="0" bIns="0" rtlCol="0" anchor="ctr"/>
          <a:lstStyle/>
          <a:p>
            <a:pPr rtl="1" algn="r" indent="0" marL="0">
              <a:lnSpc>
                <a:spcPct val="120000"/>
              </a:lnSpc>
              <a:buNone/>
            </a:pPr>
            <a:r>
              <a:rPr lang="ar-SA" altLang="en-US" sz="2600" b="1" dirty="0">
                <a:solidFill>
                  <a:srgbClr val="1B3B6F"/>
                </a:solidFill>
                <a:latin typeface="Amiri" pitchFamily="34" charset="0"/>
                <a:ea typeface="Amiri" pitchFamily="34" charset="-122"/>
                <a:cs typeface="Amiri" pitchFamily="34" charset="-120"/>
              </a:rPr>
              <a:t>يُلَوَّثُ الهَوَاءُ بِسَبَبِ عَوَادِمِ السَّيَّارَاتِ، مِمَّا يُؤَدِّي إِلَى أَمْرَاضٍ تَنَفُّسِيَّةٍ.</a:t>
            </a:r>
            <a:endParaRPr lang="ar-SA" sz="2600" dirty="0"/>
          </a:p>
        </p:txBody>
      </p:sp>
      <p:sp>
        <p:nvSpPr>
          <p:cNvPr id="24" name="Text 21"/>
          <p:cNvSpPr txBox="1"/>
          <p:nvPr/>
        </p:nvSpPr>
        <p:spPr>
          <a:xfrm>
            <a:off x="685800" y="3398520"/>
            <a:ext cx="3749040" cy="1322832"/>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The air is polluted because of car exhaust, which leads to respiratory diseases.</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Use a true passive where the affected thing is foregrounded.</a:t>
            </a:r>
            <a:endParaRPr lang="en-US" sz="1250" dirty="0"/>
          </a:p>
        </p:txBody>
      </p:sp>
      <p:sp>
        <p:nvSpPr>
          <p:cNvPr id="25" name="Shape 22"/>
          <p:cNvSpPr/>
          <p:nvPr/>
        </p:nvSpPr>
        <p:spPr>
          <a:xfrm>
            <a:off x="457200" y="4895088"/>
            <a:ext cx="11274552" cy="1414272"/>
          </a:xfrm>
          <a:prstGeom prst="roundRect">
            <a:avLst>
              <a:gd name="adj" fmla="val 517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201400" y="5401056"/>
            <a:ext cx="402336" cy="402336"/>
          </a:xfrm>
          <a:prstGeom prst="ellipse">
            <a:avLst/>
          </a:prstGeom>
          <a:solidFill>
            <a:srgbClr val="1B3B6F"/>
          </a:solidFill>
          <a:ln w="12700">
            <a:solidFill>
              <a:srgbClr val="1B3B6F"/>
            </a:solidFill>
            <a:prstDash val="solid"/>
          </a:ln>
        </p:spPr>
      </p:sp>
      <p:sp>
        <p:nvSpPr>
          <p:cNvPr id="27" name="Text 24"/>
          <p:cNvSpPr txBox="1"/>
          <p:nvPr/>
        </p:nvSpPr>
        <p:spPr>
          <a:xfrm>
            <a:off x="11201400" y="540105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28" name="Text 25"/>
          <p:cNvSpPr txBox="1"/>
          <p:nvPr/>
        </p:nvSpPr>
        <p:spPr>
          <a:xfrm>
            <a:off x="4572000" y="4931664"/>
            <a:ext cx="6492240" cy="1341120"/>
          </a:xfrm>
          <a:prstGeom prst="rect">
            <a:avLst/>
          </a:prstGeom>
          <a:noFill/>
          <a:ln/>
        </p:spPr>
        <p:txBody>
          <a:bodyPr wrap="square" lIns="0" tIns="0" rIns="0" bIns="0" rtlCol="0" anchor="ctr"/>
          <a:lstStyle/>
          <a:p>
            <a:pPr rtl="1" algn="r" indent="0" marL="0">
              <a:lnSpc>
                <a:spcPct val="120000"/>
              </a:lnSpc>
              <a:buNone/>
            </a:pPr>
            <a:r>
              <a:rPr lang="ar-SA" altLang="en-US" sz="2600" b="1" dirty="0">
                <a:solidFill>
                  <a:srgbClr val="1B3B6F"/>
                </a:solidFill>
                <a:latin typeface="Amiri" pitchFamily="34" charset="0"/>
                <a:ea typeface="Amiri" pitchFamily="34" charset="-122"/>
                <a:cs typeface="Amiri" pitchFamily="34" charset="-120"/>
              </a:rPr>
              <a:t>يَجِبُ عَلَى الحُكُومَةِ أَنْ تُوَسِّعَ النَّقْلَ العَامَّ لِكَيْ تُقَلِّلَ الانْبِعَاثَاتِ.</a:t>
            </a:r>
            <a:endParaRPr lang="ar-SA" sz="2600" dirty="0"/>
          </a:p>
        </p:txBody>
      </p:sp>
      <p:sp>
        <p:nvSpPr>
          <p:cNvPr id="29" name="Text 26"/>
          <p:cNvSpPr txBox="1"/>
          <p:nvPr/>
        </p:nvSpPr>
        <p:spPr>
          <a:xfrm>
            <a:off x="685800" y="4940808"/>
            <a:ext cx="3749040" cy="1322832"/>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The government must expand public transport in order to reduce emissions.</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State who must act and why.</a:t>
            </a:r>
            <a:endParaRPr lang="en-US" sz="125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18 / 45</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D4-L11 · Unit Review</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WEBSITE SORTER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Sort it</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صَنِّفْ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D4 · Environment, Weather and Technology · D4-L11</a:t>
            </a:r>
            <a:endParaRPr lang="en-US" sz="850" dirty="0"/>
          </a:p>
        </p:txBody>
      </p:sp>
      <p:sp>
        <p:nvSpPr>
          <p:cNvPr id="15" name="Shape 12"/>
          <p:cNvSpPr/>
          <p:nvPr/>
        </p:nvSpPr>
        <p:spPr>
          <a:xfrm>
            <a:off x="9015984"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9107424"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النِّطَاقُ اللُّغَوِيُّ</a:t>
            </a:r>
            <a:endParaRPr lang="ar-SA" sz="1800" dirty="0"/>
          </a:p>
        </p:txBody>
      </p:sp>
      <p:sp>
        <p:nvSpPr>
          <p:cNvPr id="17" name="Shape 14"/>
          <p:cNvSpPr/>
          <p:nvPr/>
        </p:nvSpPr>
        <p:spPr>
          <a:xfrm>
            <a:off x="6163056"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254496"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التَّكَامُلُ اللُّغَوِيُّ</a:t>
            </a:r>
            <a:endParaRPr lang="ar-SA" sz="1800" dirty="0"/>
          </a:p>
        </p:txBody>
      </p:sp>
      <p:sp>
        <p:nvSpPr>
          <p:cNvPr id="19" name="Shape 16"/>
          <p:cNvSpPr/>
          <p:nvPr/>
        </p:nvSpPr>
        <p:spPr>
          <a:xfrm>
            <a:off x="3310128"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3401568"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الدِّقَّةُ تَحْتَ الضَّغْطِ</a:t>
            </a:r>
            <a:endParaRPr lang="ar-SA" sz="1800" dirty="0"/>
          </a:p>
        </p:txBody>
      </p:sp>
      <p:sp>
        <p:nvSpPr>
          <p:cNvPr id="21" name="Shape 18"/>
          <p:cNvSpPr/>
          <p:nvPr/>
        </p:nvSpPr>
        <p:spPr>
          <a:xfrm>
            <a:off x="457200"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548640"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يَسُودُ / يَتَّسِمُ بِـ</a:t>
            </a:r>
            <a:endParaRPr lang="ar-SA" sz="1800" dirty="0"/>
          </a:p>
        </p:txBody>
      </p:sp>
      <p:sp>
        <p:nvSpPr>
          <p:cNvPr id="23" name="Shape 20"/>
          <p:cNvSpPr/>
          <p:nvPr/>
        </p:nvSpPr>
        <p:spPr>
          <a:xfrm>
            <a:off x="9015984"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9107424"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يَسْقُطُ / تَسْقُطُ / تَهُبُّ</a:t>
            </a:r>
            <a:endParaRPr lang="ar-SA" sz="1800" dirty="0"/>
          </a:p>
        </p:txBody>
      </p:sp>
      <p:sp>
        <p:nvSpPr>
          <p:cNvPr id="25" name="Shape 22"/>
          <p:cNvSpPr/>
          <p:nvPr/>
        </p:nvSpPr>
        <p:spPr>
          <a:xfrm>
            <a:off x="6163056"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254496"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يُلَوَّثُ / تُقْطَعُ</a:t>
            </a:r>
            <a:endParaRPr lang="ar-SA" sz="1800" dirty="0"/>
          </a:p>
        </p:txBody>
      </p:sp>
      <p:sp>
        <p:nvSpPr>
          <p:cNvPr id="27" name="Shape 24"/>
          <p:cNvSpPr/>
          <p:nvPr/>
        </p:nvSpPr>
        <p:spPr>
          <a:xfrm>
            <a:off x="3310128"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3401568"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أَقْصِدُ أَنَّ</a:t>
            </a:r>
            <a:endParaRPr lang="ar-SA" sz="1800" dirty="0"/>
          </a:p>
        </p:txBody>
      </p:sp>
      <p:sp>
        <p:nvSpPr>
          <p:cNvPr id="29" name="Shape 26"/>
          <p:cNvSpPr/>
          <p:nvPr/>
        </p:nvSpPr>
        <p:spPr>
          <a:xfrm>
            <a:off x="457200"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548640"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بِعِبَارَةٍ أُخْرَى</a:t>
            </a:r>
            <a:endParaRPr lang="ar-SA" sz="1800" dirty="0"/>
          </a:p>
        </p:txBody>
      </p:sp>
      <p:sp>
        <p:nvSpPr>
          <p:cNvPr id="31" name="Shape 28"/>
          <p:cNvSpPr/>
          <p:nvPr/>
        </p:nvSpPr>
        <p:spPr>
          <a:xfrm>
            <a:off x="9015984" y="2834640"/>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2" name="Text 29"/>
          <p:cNvSpPr txBox="1"/>
          <p:nvPr/>
        </p:nvSpPr>
        <p:spPr>
          <a:xfrm>
            <a:off x="9107424" y="2834640"/>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لِأُصَحِّحْ ذٰلِكَ</a:t>
            </a:r>
            <a:endParaRPr lang="ar-SA" sz="1800" dirty="0"/>
          </a:p>
        </p:txBody>
      </p:sp>
      <p:sp>
        <p:nvSpPr>
          <p:cNvPr id="33" name="Shape 30"/>
          <p:cNvSpPr/>
          <p:nvPr/>
        </p:nvSpPr>
        <p:spPr>
          <a:xfrm>
            <a:off x="8095488" y="3529584"/>
            <a:ext cx="3636264" cy="2779776"/>
          </a:xfrm>
          <a:prstGeom prst="roundRect">
            <a:avLst>
              <a:gd name="adj" fmla="val 2632"/>
            </a:avLst>
          </a:prstGeom>
          <a:solidFill>
            <a:srgbClr val="EEF3FA"/>
          </a:solidFill>
          <a:ln w="9525">
            <a:solidFill>
              <a:srgbClr val="C9D6EA"/>
            </a:solidFill>
            <a:prstDash val="solid"/>
          </a:ln>
        </p:spPr>
      </p:sp>
      <p:sp>
        <p:nvSpPr>
          <p:cNvPr id="34" name="Shape 31"/>
          <p:cNvSpPr/>
          <p:nvPr/>
        </p:nvSpPr>
        <p:spPr>
          <a:xfrm>
            <a:off x="8232648" y="3639312"/>
            <a:ext cx="3361944" cy="310896"/>
          </a:xfrm>
          <a:prstGeom prst="roundRect">
            <a:avLst>
              <a:gd name="adj" fmla="val 50000"/>
            </a:avLst>
          </a:prstGeom>
          <a:solidFill>
            <a:srgbClr val="2F6FB0"/>
          </a:solidFill>
          <a:ln w="12700">
            <a:solidFill>
              <a:srgbClr val="2F6FB0"/>
            </a:solidFill>
            <a:prstDash val="solid"/>
          </a:ln>
        </p:spPr>
      </p:sp>
      <p:sp>
        <p:nvSpPr>
          <p:cNvPr id="35" name="Text 32"/>
          <p:cNvSpPr txBox="1"/>
          <p:nvPr/>
        </p:nvSpPr>
        <p:spPr>
          <a:xfrm>
            <a:off x="8232648" y="3639312"/>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1 · Range and performance</a:t>
            </a:r>
            <a:endParaRPr lang="en-US" sz="950" dirty="0"/>
          </a:p>
        </p:txBody>
      </p:sp>
      <p:sp>
        <p:nvSpPr>
          <p:cNvPr id="36" name="Shape 33"/>
          <p:cNvSpPr/>
          <p:nvPr/>
        </p:nvSpPr>
        <p:spPr>
          <a:xfrm>
            <a:off x="4276344" y="3529584"/>
            <a:ext cx="3636264" cy="2779776"/>
          </a:xfrm>
          <a:prstGeom prst="roundRect">
            <a:avLst>
              <a:gd name="adj" fmla="val 2632"/>
            </a:avLst>
          </a:prstGeom>
          <a:solidFill>
            <a:srgbClr val="EEF3FA"/>
          </a:solidFill>
          <a:ln w="9525">
            <a:solidFill>
              <a:srgbClr val="C9D6EA"/>
            </a:solidFill>
            <a:prstDash val="solid"/>
          </a:ln>
        </p:spPr>
      </p:sp>
      <p:sp>
        <p:nvSpPr>
          <p:cNvPr id="37" name="Shape 34"/>
          <p:cNvSpPr/>
          <p:nvPr/>
        </p:nvSpPr>
        <p:spPr>
          <a:xfrm>
            <a:off x="4413504" y="3639312"/>
            <a:ext cx="3361944" cy="310896"/>
          </a:xfrm>
          <a:prstGeom prst="roundRect">
            <a:avLst>
              <a:gd name="adj" fmla="val 50000"/>
            </a:avLst>
          </a:prstGeom>
          <a:solidFill>
            <a:srgbClr val="2F6FB0"/>
          </a:solidFill>
          <a:ln w="12700">
            <a:solidFill>
              <a:srgbClr val="2F6FB0"/>
            </a:solidFill>
            <a:prstDash val="solid"/>
          </a:ln>
        </p:spPr>
      </p:sp>
      <p:sp>
        <p:nvSpPr>
          <p:cNvPr id="38" name="Text 35"/>
          <p:cNvSpPr txBox="1"/>
          <p:nvPr/>
        </p:nvSpPr>
        <p:spPr>
          <a:xfrm>
            <a:off x="4413504" y="3639312"/>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2 · D4 grammar bank</a:t>
            </a:r>
            <a:endParaRPr lang="en-US" sz="950" dirty="0"/>
          </a:p>
        </p:txBody>
      </p:sp>
      <p:sp>
        <p:nvSpPr>
          <p:cNvPr id="39" name="Shape 36"/>
          <p:cNvSpPr/>
          <p:nvPr/>
        </p:nvSpPr>
        <p:spPr>
          <a:xfrm>
            <a:off x="457200" y="3529584"/>
            <a:ext cx="3636264" cy="2779776"/>
          </a:xfrm>
          <a:prstGeom prst="roundRect">
            <a:avLst>
              <a:gd name="adj" fmla="val 2632"/>
            </a:avLst>
          </a:prstGeom>
          <a:solidFill>
            <a:srgbClr val="EEF3FA"/>
          </a:solidFill>
          <a:ln w="9525">
            <a:solidFill>
              <a:srgbClr val="C9D6EA"/>
            </a:solidFill>
            <a:prstDash val="solid"/>
          </a:ln>
        </p:spPr>
      </p:sp>
      <p:sp>
        <p:nvSpPr>
          <p:cNvPr id="40" name="Shape 37"/>
          <p:cNvSpPr/>
          <p:nvPr/>
        </p:nvSpPr>
        <p:spPr>
          <a:xfrm>
            <a:off x="594360" y="3639312"/>
            <a:ext cx="3361944" cy="310896"/>
          </a:xfrm>
          <a:prstGeom prst="roundRect">
            <a:avLst>
              <a:gd name="adj" fmla="val 50000"/>
            </a:avLst>
          </a:prstGeom>
          <a:solidFill>
            <a:srgbClr val="2F6FB0"/>
          </a:solidFill>
          <a:ln w="12700">
            <a:solidFill>
              <a:srgbClr val="2F6FB0"/>
            </a:solidFill>
            <a:prstDash val="solid"/>
          </a:ln>
        </p:spPr>
      </p:sp>
      <p:sp>
        <p:nvSpPr>
          <p:cNvPr id="41" name="Text 38"/>
          <p:cNvSpPr txBox="1"/>
          <p:nvPr/>
        </p:nvSpPr>
        <p:spPr>
          <a:xfrm>
            <a:off x="594360" y="3639312"/>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3 · Speaking and self-correction</a:t>
            </a:r>
            <a:endParaRPr lang="en-US" sz="950" dirty="0"/>
          </a:p>
        </p:txBody>
      </p:sp>
      <p:sp>
        <p:nvSpPr>
          <p:cNvPr id="42" name="Text 3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19 / 45</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D4-L11 · Unit Review</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SORTER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Sorted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D4 · Environment, Weather and Technology · D4-L11</a:t>
            </a:r>
            <a:endParaRPr lang="en-US" sz="850" dirty="0"/>
          </a:p>
        </p:txBody>
      </p:sp>
      <p:sp>
        <p:nvSpPr>
          <p:cNvPr id="15" name="Shape 12"/>
          <p:cNvSpPr/>
          <p:nvPr/>
        </p:nvSpPr>
        <p:spPr>
          <a:xfrm>
            <a:off x="8095488" y="1810512"/>
            <a:ext cx="3636264" cy="4498848"/>
          </a:xfrm>
          <a:prstGeom prst="roundRect">
            <a:avLst>
              <a:gd name="adj" fmla="val 2012"/>
            </a:avLst>
          </a:prstGeom>
          <a:solidFill>
            <a:srgbClr val="EEF3FA"/>
          </a:solidFill>
          <a:ln w="9525">
            <a:solidFill>
              <a:srgbClr val="C9D6EA"/>
            </a:solidFill>
            <a:prstDash val="solid"/>
          </a:ln>
        </p:spPr>
      </p:sp>
      <p:sp>
        <p:nvSpPr>
          <p:cNvPr id="16" name="Shape 13"/>
          <p:cNvSpPr/>
          <p:nvPr/>
        </p:nvSpPr>
        <p:spPr>
          <a:xfrm>
            <a:off x="8232648" y="1920240"/>
            <a:ext cx="3361944" cy="310896"/>
          </a:xfrm>
          <a:prstGeom prst="roundRect">
            <a:avLst>
              <a:gd name="adj" fmla="val 50000"/>
            </a:avLst>
          </a:prstGeom>
          <a:solidFill>
            <a:srgbClr val="2F6FB0"/>
          </a:solidFill>
          <a:ln w="12700">
            <a:solidFill>
              <a:srgbClr val="2F6FB0"/>
            </a:solidFill>
            <a:prstDash val="solid"/>
          </a:ln>
        </p:spPr>
      </p:sp>
      <p:sp>
        <p:nvSpPr>
          <p:cNvPr id="17" name="Text 14"/>
          <p:cNvSpPr txBox="1"/>
          <p:nvPr/>
        </p:nvSpPr>
        <p:spPr>
          <a:xfrm>
            <a:off x="8232648"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1 · Range and performance</a:t>
            </a:r>
            <a:endParaRPr lang="en-US" sz="950" dirty="0"/>
          </a:p>
        </p:txBody>
      </p:sp>
      <p:sp>
        <p:nvSpPr>
          <p:cNvPr id="18" name="Shape 15"/>
          <p:cNvSpPr/>
          <p:nvPr/>
        </p:nvSpPr>
        <p:spPr>
          <a:xfrm>
            <a:off x="8232648" y="2377440"/>
            <a:ext cx="3361944" cy="438912"/>
          </a:xfrm>
          <a:prstGeom prst="roundRect">
            <a:avLst>
              <a:gd name="adj" fmla="val 12500"/>
            </a:avLst>
          </a:prstGeom>
          <a:solidFill>
            <a:srgbClr val="FFF4DC"/>
          </a:solidFill>
          <a:ln w="9525">
            <a:solidFill>
              <a:srgbClr val="E6C98A"/>
            </a:solidFill>
            <a:prstDash val="solid"/>
          </a:ln>
        </p:spPr>
      </p:sp>
      <p:sp>
        <p:nvSpPr>
          <p:cNvPr id="19" name="Text 16"/>
          <p:cNvSpPr txBox="1"/>
          <p:nvPr/>
        </p:nvSpPr>
        <p:spPr>
          <a:xfrm>
            <a:off x="8324088"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النِّطَاقُ اللُّغَوِيُّ</a:t>
            </a:r>
            <a:endParaRPr lang="ar-SA" sz="1800" dirty="0"/>
          </a:p>
        </p:txBody>
      </p:sp>
      <p:sp>
        <p:nvSpPr>
          <p:cNvPr id="20" name="Shape 17"/>
          <p:cNvSpPr/>
          <p:nvPr/>
        </p:nvSpPr>
        <p:spPr>
          <a:xfrm>
            <a:off x="8232648" y="2889504"/>
            <a:ext cx="3361944" cy="438912"/>
          </a:xfrm>
          <a:prstGeom prst="roundRect">
            <a:avLst>
              <a:gd name="adj" fmla="val 12500"/>
            </a:avLst>
          </a:prstGeom>
          <a:solidFill>
            <a:srgbClr val="FFF4DC"/>
          </a:solidFill>
          <a:ln w="9525">
            <a:solidFill>
              <a:srgbClr val="E6C98A"/>
            </a:solidFill>
            <a:prstDash val="solid"/>
          </a:ln>
        </p:spPr>
      </p:sp>
      <p:sp>
        <p:nvSpPr>
          <p:cNvPr id="21" name="Text 18"/>
          <p:cNvSpPr txBox="1"/>
          <p:nvPr/>
        </p:nvSpPr>
        <p:spPr>
          <a:xfrm>
            <a:off x="8324088"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التَّكَامُلُ اللُّغَوِيُّ</a:t>
            </a:r>
            <a:endParaRPr lang="ar-SA" sz="1800" dirty="0"/>
          </a:p>
        </p:txBody>
      </p:sp>
      <p:sp>
        <p:nvSpPr>
          <p:cNvPr id="22" name="Shape 19"/>
          <p:cNvSpPr/>
          <p:nvPr/>
        </p:nvSpPr>
        <p:spPr>
          <a:xfrm>
            <a:off x="8232648" y="3401568"/>
            <a:ext cx="3361944" cy="438912"/>
          </a:xfrm>
          <a:prstGeom prst="roundRect">
            <a:avLst>
              <a:gd name="adj" fmla="val 12500"/>
            </a:avLst>
          </a:prstGeom>
          <a:solidFill>
            <a:srgbClr val="FFF4DC"/>
          </a:solidFill>
          <a:ln w="9525">
            <a:solidFill>
              <a:srgbClr val="E6C98A"/>
            </a:solidFill>
            <a:prstDash val="solid"/>
          </a:ln>
        </p:spPr>
      </p:sp>
      <p:sp>
        <p:nvSpPr>
          <p:cNvPr id="23" name="Text 20"/>
          <p:cNvSpPr txBox="1"/>
          <p:nvPr/>
        </p:nvSpPr>
        <p:spPr>
          <a:xfrm>
            <a:off x="8324088"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الدِّقَّةُ تَحْتَ الضَّغْطِ</a:t>
            </a:r>
            <a:endParaRPr lang="ar-SA" sz="1800" dirty="0"/>
          </a:p>
        </p:txBody>
      </p:sp>
      <p:sp>
        <p:nvSpPr>
          <p:cNvPr id="24" name="Shape 21"/>
          <p:cNvSpPr/>
          <p:nvPr/>
        </p:nvSpPr>
        <p:spPr>
          <a:xfrm>
            <a:off x="4276344" y="1810512"/>
            <a:ext cx="3636264" cy="4498848"/>
          </a:xfrm>
          <a:prstGeom prst="roundRect">
            <a:avLst>
              <a:gd name="adj" fmla="val 2012"/>
            </a:avLst>
          </a:prstGeom>
          <a:solidFill>
            <a:srgbClr val="EEF3FA"/>
          </a:solidFill>
          <a:ln w="9525">
            <a:solidFill>
              <a:srgbClr val="C9D6EA"/>
            </a:solidFill>
            <a:prstDash val="solid"/>
          </a:ln>
        </p:spPr>
      </p:sp>
      <p:sp>
        <p:nvSpPr>
          <p:cNvPr id="25" name="Shape 22"/>
          <p:cNvSpPr/>
          <p:nvPr/>
        </p:nvSpPr>
        <p:spPr>
          <a:xfrm>
            <a:off x="4413504" y="1920240"/>
            <a:ext cx="3361944" cy="310896"/>
          </a:xfrm>
          <a:prstGeom prst="roundRect">
            <a:avLst>
              <a:gd name="adj" fmla="val 50000"/>
            </a:avLst>
          </a:prstGeom>
          <a:solidFill>
            <a:srgbClr val="2F6FB0"/>
          </a:solidFill>
          <a:ln w="12700">
            <a:solidFill>
              <a:srgbClr val="2F6FB0"/>
            </a:solidFill>
            <a:prstDash val="solid"/>
          </a:ln>
        </p:spPr>
      </p:sp>
      <p:sp>
        <p:nvSpPr>
          <p:cNvPr id="26" name="Text 23"/>
          <p:cNvSpPr txBox="1"/>
          <p:nvPr/>
        </p:nvSpPr>
        <p:spPr>
          <a:xfrm>
            <a:off x="4413504"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2 · D4 grammar bank</a:t>
            </a:r>
            <a:endParaRPr lang="en-US" sz="950" dirty="0"/>
          </a:p>
        </p:txBody>
      </p:sp>
      <p:sp>
        <p:nvSpPr>
          <p:cNvPr id="27" name="Shape 24"/>
          <p:cNvSpPr/>
          <p:nvPr/>
        </p:nvSpPr>
        <p:spPr>
          <a:xfrm>
            <a:off x="4413504" y="2377440"/>
            <a:ext cx="3361944" cy="438912"/>
          </a:xfrm>
          <a:prstGeom prst="roundRect">
            <a:avLst>
              <a:gd name="adj" fmla="val 12500"/>
            </a:avLst>
          </a:prstGeom>
          <a:solidFill>
            <a:srgbClr val="FFF4DC"/>
          </a:solidFill>
          <a:ln w="9525">
            <a:solidFill>
              <a:srgbClr val="E6C98A"/>
            </a:solidFill>
            <a:prstDash val="solid"/>
          </a:ln>
        </p:spPr>
      </p:sp>
      <p:sp>
        <p:nvSpPr>
          <p:cNvPr id="28" name="Text 25"/>
          <p:cNvSpPr txBox="1"/>
          <p:nvPr/>
        </p:nvSpPr>
        <p:spPr>
          <a:xfrm>
            <a:off x="4504944"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يَسُودُ / يَتَّسِمُ بِـ</a:t>
            </a:r>
            <a:endParaRPr lang="ar-SA" sz="1800" dirty="0"/>
          </a:p>
        </p:txBody>
      </p:sp>
      <p:sp>
        <p:nvSpPr>
          <p:cNvPr id="29" name="Shape 26"/>
          <p:cNvSpPr/>
          <p:nvPr/>
        </p:nvSpPr>
        <p:spPr>
          <a:xfrm>
            <a:off x="4413504" y="2889504"/>
            <a:ext cx="3361944" cy="438912"/>
          </a:xfrm>
          <a:prstGeom prst="roundRect">
            <a:avLst>
              <a:gd name="adj" fmla="val 12500"/>
            </a:avLst>
          </a:prstGeom>
          <a:solidFill>
            <a:srgbClr val="FFF4DC"/>
          </a:solidFill>
          <a:ln w="9525">
            <a:solidFill>
              <a:srgbClr val="E6C98A"/>
            </a:solidFill>
            <a:prstDash val="solid"/>
          </a:ln>
        </p:spPr>
      </p:sp>
      <p:sp>
        <p:nvSpPr>
          <p:cNvPr id="30" name="Text 27"/>
          <p:cNvSpPr txBox="1"/>
          <p:nvPr/>
        </p:nvSpPr>
        <p:spPr>
          <a:xfrm>
            <a:off x="4504944"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يَسْقُطُ / تَسْقُطُ / تَهُبُّ</a:t>
            </a:r>
            <a:endParaRPr lang="ar-SA" sz="1800" dirty="0"/>
          </a:p>
        </p:txBody>
      </p:sp>
      <p:sp>
        <p:nvSpPr>
          <p:cNvPr id="31" name="Shape 28"/>
          <p:cNvSpPr/>
          <p:nvPr/>
        </p:nvSpPr>
        <p:spPr>
          <a:xfrm>
            <a:off x="4413504" y="3401568"/>
            <a:ext cx="3361944" cy="438912"/>
          </a:xfrm>
          <a:prstGeom prst="roundRect">
            <a:avLst>
              <a:gd name="adj" fmla="val 12500"/>
            </a:avLst>
          </a:prstGeom>
          <a:solidFill>
            <a:srgbClr val="FFF4DC"/>
          </a:solidFill>
          <a:ln w="9525">
            <a:solidFill>
              <a:srgbClr val="E6C98A"/>
            </a:solidFill>
            <a:prstDash val="solid"/>
          </a:ln>
        </p:spPr>
      </p:sp>
      <p:sp>
        <p:nvSpPr>
          <p:cNvPr id="32" name="Text 29"/>
          <p:cNvSpPr txBox="1"/>
          <p:nvPr/>
        </p:nvSpPr>
        <p:spPr>
          <a:xfrm>
            <a:off x="4504944"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يُلَوَّثُ / تُقْطَعُ</a:t>
            </a:r>
            <a:endParaRPr lang="ar-SA" sz="1800" dirty="0"/>
          </a:p>
        </p:txBody>
      </p:sp>
      <p:sp>
        <p:nvSpPr>
          <p:cNvPr id="33" name="Shape 30"/>
          <p:cNvSpPr/>
          <p:nvPr/>
        </p:nvSpPr>
        <p:spPr>
          <a:xfrm>
            <a:off x="457200" y="1810512"/>
            <a:ext cx="3636264" cy="4498848"/>
          </a:xfrm>
          <a:prstGeom prst="roundRect">
            <a:avLst>
              <a:gd name="adj" fmla="val 2012"/>
            </a:avLst>
          </a:prstGeom>
          <a:solidFill>
            <a:srgbClr val="EEF3FA"/>
          </a:solidFill>
          <a:ln w="9525">
            <a:solidFill>
              <a:srgbClr val="C9D6EA"/>
            </a:solidFill>
            <a:prstDash val="solid"/>
          </a:ln>
        </p:spPr>
      </p:sp>
      <p:sp>
        <p:nvSpPr>
          <p:cNvPr id="34" name="Shape 31"/>
          <p:cNvSpPr/>
          <p:nvPr/>
        </p:nvSpPr>
        <p:spPr>
          <a:xfrm>
            <a:off x="594360" y="1920240"/>
            <a:ext cx="3361944" cy="310896"/>
          </a:xfrm>
          <a:prstGeom prst="roundRect">
            <a:avLst>
              <a:gd name="adj" fmla="val 50000"/>
            </a:avLst>
          </a:prstGeom>
          <a:solidFill>
            <a:srgbClr val="2F6FB0"/>
          </a:solidFill>
          <a:ln w="12700">
            <a:solidFill>
              <a:srgbClr val="2F6FB0"/>
            </a:solidFill>
            <a:prstDash val="solid"/>
          </a:ln>
        </p:spPr>
      </p:sp>
      <p:sp>
        <p:nvSpPr>
          <p:cNvPr id="35" name="Text 32"/>
          <p:cNvSpPr txBox="1"/>
          <p:nvPr/>
        </p:nvSpPr>
        <p:spPr>
          <a:xfrm>
            <a:off x="594360"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3 · Speaking and self-correction</a:t>
            </a:r>
            <a:endParaRPr lang="en-US" sz="950" dirty="0"/>
          </a:p>
        </p:txBody>
      </p:sp>
      <p:sp>
        <p:nvSpPr>
          <p:cNvPr id="36" name="Shape 33"/>
          <p:cNvSpPr/>
          <p:nvPr/>
        </p:nvSpPr>
        <p:spPr>
          <a:xfrm>
            <a:off x="594360" y="2377440"/>
            <a:ext cx="3361944" cy="438912"/>
          </a:xfrm>
          <a:prstGeom prst="roundRect">
            <a:avLst>
              <a:gd name="adj" fmla="val 12500"/>
            </a:avLst>
          </a:prstGeom>
          <a:solidFill>
            <a:srgbClr val="FFF4DC"/>
          </a:solidFill>
          <a:ln w="9525">
            <a:solidFill>
              <a:srgbClr val="E6C98A"/>
            </a:solidFill>
            <a:prstDash val="solid"/>
          </a:ln>
        </p:spPr>
      </p:sp>
      <p:sp>
        <p:nvSpPr>
          <p:cNvPr id="37" name="Text 34"/>
          <p:cNvSpPr txBox="1"/>
          <p:nvPr/>
        </p:nvSpPr>
        <p:spPr>
          <a:xfrm>
            <a:off x="685800"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أَقْصِدُ أَنَّ</a:t>
            </a:r>
            <a:endParaRPr lang="ar-SA" sz="1800" dirty="0"/>
          </a:p>
        </p:txBody>
      </p:sp>
      <p:sp>
        <p:nvSpPr>
          <p:cNvPr id="38" name="Shape 35"/>
          <p:cNvSpPr/>
          <p:nvPr/>
        </p:nvSpPr>
        <p:spPr>
          <a:xfrm>
            <a:off x="594360" y="2889504"/>
            <a:ext cx="3361944" cy="438912"/>
          </a:xfrm>
          <a:prstGeom prst="roundRect">
            <a:avLst>
              <a:gd name="adj" fmla="val 12500"/>
            </a:avLst>
          </a:prstGeom>
          <a:solidFill>
            <a:srgbClr val="FFF4DC"/>
          </a:solidFill>
          <a:ln w="9525">
            <a:solidFill>
              <a:srgbClr val="E6C98A"/>
            </a:solidFill>
            <a:prstDash val="solid"/>
          </a:ln>
        </p:spPr>
      </p:sp>
      <p:sp>
        <p:nvSpPr>
          <p:cNvPr id="39" name="Text 36"/>
          <p:cNvSpPr txBox="1"/>
          <p:nvPr/>
        </p:nvSpPr>
        <p:spPr>
          <a:xfrm>
            <a:off x="685800"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بِعِبَارَةٍ أُخْرَى</a:t>
            </a:r>
            <a:endParaRPr lang="ar-SA" sz="1800" dirty="0"/>
          </a:p>
        </p:txBody>
      </p:sp>
      <p:sp>
        <p:nvSpPr>
          <p:cNvPr id="40" name="Shape 37"/>
          <p:cNvSpPr/>
          <p:nvPr/>
        </p:nvSpPr>
        <p:spPr>
          <a:xfrm>
            <a:off x="594360" y="3401568"/>
            <a:ext cx="3361944" cy="438912"/>
          </a:xfrm>
          <a:prstGeom prst="roundRect">
            <a:avLst>
              <a:gd name="adj" fmla="val 12500"/>
            </a:avLst>
          </a:prstGeom>
          <a:solidFill>
            <a:srgbClr val="FFF4DC"/>
          </a:solidFill>
          <a:ln w="9525">
            <a:solidFill>
              <a:srgbClr val="E6C98A"/>
            </a:solidFill>
            <a:prstDash val="solid"/>
          </a:ln>
        </p:spPr>
      </p:sp>
      <p:sp>
        <p:nvSpPr>
          <p:cNvPr id="41" name="Text 38"/>
          <p:cNvSpPr txBox="1"/>
          <p:nvPr/>
        </p:nvSpPr>
        <p:spPr>
          <a:xfrm>
            <a:off x="685800"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لِأُصَحِّحْ ذٰلِكَ</a:t>
            </a:r>
            <a:endParaRPr lang="ar-SA" sz="1800" dirty="0"/>
          </a:p>
        </p:txBody>
      </p:sp>
      <p:sp>
        <p:nvSpPr>
          <p:cNvPr id="42" name="Text 3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20 / 45</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D4-L11 · Unit Review</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GUIDED PRACTICE · WEBSITE QUIZ QUESTIONS 5, 6, 7, 8</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More practice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تَدْرِيبٌ إِضَافِيٌّ</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D4 · Environment, Weather and Technology · D4-L11</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sentence distinguishes depletion from scarcity accurately?</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يَنْضَبُ المِيَاهُ، وَتَشِحُّ النِّفْطُ.</a:t>
            </a:r>
            <a:endParaRPr lang="ar-SA" sz="20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تَنْضَبُ النِّفْطُ، وَيَشِحُّ المِيَاهُ.</a:t>
            </a:r>
            <a:endParaRPr lang="ar-SA" sz="20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9" name="Text 26"/>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يَنْضَبُ النِّفْطُ، وَتَشِحُّ المِيَاهُ.</a:t>
            </a:r>
            <a:endParaRPr lang="ar-SA" sz="2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formal reporting frame.</a:t>
            </a:r>
            <a:endParaRPr lang="en-US" sz="1250" dirty="0"/>
          </a:p>
        </p:txBody>
      </p:sp>
      <p:sp>
        <p:nvSpPr>
          <p:cNvPr id="34" name="Shape 31"/>
          <p:cNvSpPr/>
          <p:nvPr/>
        </p:nvSpPr>
        <p:spPr>
          <a:xfrm>
            <a:off x="6368796"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يُشَارِكُ إِلَى المَنَاخِ أَنَّ يَتَغَيَّرُ.</a:t>
            </a:r>
            <a:endParaRPr lang="ar-SA" sz="2050" dirty="0"/>
          </a:p>
        </p:txBody>
      </p:sp>
      <p:sp>
        <p:nvSpPr>
          <p:cNvPr id="37" name="Shape 34"/>
          <p:cNvSpPr/>
          <p:nvPr/>
        </p:nvSpPr>
        <p:spPr>
          <a:xfrm>
            <a:off x="6368796"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يُشَارُ إِلَى أَنَّ المَنَاخَ يَتَغَيَّرُ.</a:t>
            </a:r>
            <a:endParaRPr lang="ar-SA" sz="2050" dirty="0"/>
          </a:p>
        </p:txBody>
      </p:sp>
      <p:sp>
        <p:nvSpPr>
          <p:cNvPr id="40" name="Shape 37"/>
          <p:cNvSpPr/>
          <p:nvPr/>
        </p:nvSpPr>
        <p:spPr>
          <a:xfrm>
            <a:off x="6368796"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2" name="Text 39"/>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يُشِيرُ أَنَّ إِلَى المَنَاخِ.</a:t>
            </a:r>
            <a:endParaRPr lang="ar-SA" sz="2050" dirty="0"/>
          </a:p>
        </p:txBody>
      </p:sp>
      <p:sp>
        <p:nvSpPr>
          <p:cNvPr id="43" name="Shape 40"/>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585216" y="4288536"/>
            <a:ext cx="310896" cy="310896"/>
          </a:xfrm>
          <a:prstGeom prst="ellipse">
            <a:avLst/>
          </a:prstGeom>
          <a:solidFill>
            <a:srgbClr val="1B3B6F"/>
          </a:solidFill>
          <a:ln w="12700">
            <a:solidFill>
              <a:srgbClr val="1B3B6F"/>
            </a:solidFill>
            <a:prstDash val="solid"/>
          </a:ln>
        </p:spPr>
      </p:sp>
      <p:sp>
        <p:nvSpPr>
          <p:cNvPr id="45" name="Text 42"/>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7</a:t>
            </a:r>
            <a:endParaRPr lang="en-US" sz="1100" dirty="0"/>
          </a:p>
        </p:txBody>
      </p:sp>
      <p:sp>
        <p:nvSpPr>
          <p:cNvPr id="46" name="Text 43"/>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answer is genuinely qualified?</a:t>
            </a:r>
            <a:endParaRPr lang="en-US" sz="1250" dirty="0"/>
          </a:p>
        </p:txBody>
      </p:sp>
      <p:sp>
        <p:nvSpPr>
          <p:cNvPr id="47" name="Shape 44"/>
          <p:cNvSpPr/>
          <p:nvPr/>
        </p:nvSpPr>
        <p:spPr>
          <a:xfrm>
            <a:off x="640080" y="4873752"/>
            <a:ext cx="256032" cy="256032"/>
          </a:xfrm>
          <a:prstGeom prst="ellipse">
            <a:avLst/>
          </a:prstGeom>
          <a:solidFill>
            <a:srgbClr val="F4F1EA"/>
          </a:solidFill>
          <a:ln w="12700">
            <a:solidFill>
              <a:srgbClr val="F4F1EA"/>
            </a:solidFill>
            <a:prstDash val="solid"/>
          </a:ln>
        </p:spPr>
      </p:sp>
      <p:sp>
        <p:nvSpPr>
          <p:cNvPr id="48" name="Text 45"/>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9" name="Text 46"/>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أُؤَيِّدُ المَشْرُوعَ دَائِمًا لِأَنَّهُ مَشْرُوعٌ.</a:t>
            </a:r>
            <a:endParaRPr lang="ar-SA" sz="2050" dirty="0"/>
          </a:p>
        </p:txBody>
      </p:sp>
      <p:sp>
        <p:nvSpPr>
          <p:cNvPr id="50" name="Shape 47"/>
          <p:cNvSpPr/>
          <p:nvPr/>
        </p:nvSpPr>
        <p:spPr>
          <a:xfrm>
            <a:off x="640080" y="5330952"/>
            <a:ext cx="256032" cy="256032"/>
          </a:xfrm>
          <a:prstGeom prst="ellipse">
            <a:avLst/>
          </a:prstGeom>
          <a:solidFill>
            <a:srgbClr val="F4F1EA"/>
          </a:solidFill>
          <a:ln w="12700">
            <a:solidFill>
              <a:srgbClr val="F4F1EA"/>
            </a:solidFill>
            <a:prstDash val="solid"/>
          </a:ln>
        </p:spPr>
      </p:sp>
      <p:sp>
        <p:nvSpPr>
          <p:cNvPr id="51" name="Text 48"/>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2" name="Text 49"/>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أُؤَيِّدُ المَشْرُوعَ إِلَى حَدٍّ مَا، شَرِيطَةَ أَنْ تُحْمَى الخُصُوصِيَّةُ.</a:t>
            </a:r>
            <a:endParaRPr lang="ar-SA" sz="2050" dirty="0"/>
          </a:p>
        </p:txBody>
      </p:sp>
      <p:sp>
        <p:nvSpPr>
          <p:cNvPr id="53" name="Shape 50"/>
          <p:cNvSpPr/>
          <p:nvPr/>
        </p:nvSpPr>
        <p:spPr>
          <a:xfrm>
            <a:off x="640080" y="5788152"/>
            <a:ext cx="256032" cy="256032"/>
          </a:xfrm>
          <a:prstGeom prst="ellipse">
            <a:avLst/>
          </a:prstGeom>
          <a:solidFill>
            <a:srgbClr val="F4F1EA"/>
          </a:solidFill>
          <a:ln w="12700">
            <a:solidFill>
              <a:srgbClr val="F4F1EA"/>
            </a:solidFill>
            <a:prstDash val="solid"/>
          </a:ln>
        </p:spPr>
      </p:sp>
      <p:sp>
        <p:nvSpPr>
          <p:cNvPr id="54" name="Text 51"/>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5" name="Text 52"/>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أُؤَيِّدُ الخُصُوصِيَّةَ مِنَ المَشْرُوعِ.</a:t>
            </a:r>
            <a:endParaRPr lang="ar-SA" sz="2050" dirty="0"/>
          </a:p>
        </p:txBody>
      </p:sp>
      <p:sp>
        <p:nvSpPr>
          <p:cNvPr id="56" name="Shape 53"/>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6313932"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8</a:t>
            </a:r>
            <a:endParaRPr lang="en-US" sz="1100" dirty="0"/>
          </a:p>
        </p:txBody>
      </p:sp>
      <p:sp>
        <p:nvSpPr>
          <p:cNvPr id="59" name="Text 56"/>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self-correction phrase helps a speaker recover accurately?</a:t>
            </a:r>
            <a:endParaRPr lang="en-US" sz="1250" dirty="0"/>
          </a:p>
        </p:txBody>
      </p:sp>
      <p:sp>
        <p:nvSpPr>
          <p:cNvPr id="60" name="Shape 57"/>
          <p:cNvSpPr/>
          <p:nvPr/>
        </p:nvSpPr>
        <p:spPr>
          <a:xfrm>
            <a:off x="6368796"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2" name="Text 59"/>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يَنْضَبُ ذٰلِكَ</a:t>
            </a:r>
            <a:endParaRPr lang="ar-SA" sz="2050" dirty="0"/>
          </a:p>
        </p:txBody>
      </p:sp>
      <p:sp>
        <p:nvSpPr>
          <p:cNvPr id="63" name="Shape 60"/>
          <p:cNvSpPr/>
          <p:nvPr/>
        </p:nvSpPr>
        <p:spPr>
          <a:xfrm>
            <a:off x="6368796"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5" name="Text 62"/>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بِسَبَبِ ذٰلِكَ</a:t>
            </a:r>
            <a:endParaRPr lang="ar-SA" sz="2050" dirty="0"/>
          </a:p>
        </p:txBody>
      </p:sp>
      <p:sp>
        <p:nvSpPr>
          <p:cNvPr id="66" name="Shape 63"/>
          <p:cNvSpPr/>
          <p:nvPr/>
        </p:nvSpPr>
        <p:spPr>
          <a:xfrm>
            <a:off x="6368796"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8" name="Text 65"/>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لِأُصَحِّحْ ذٰلِكَ</a:t>
            </a:r>
            <a:endParaRPr lang="ar-SA" sz="2050" dirty="0"/>
          </a:p>
        </p:txBody>
      </p:sp>
      <p:sp>
        <p:nvSpPr>
          <p:cNvPr id="69" name="Text 6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21 / 45</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D4-L11 · Unit Review</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Answers and reasons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D4 · Environment, Weather and Technology · D4-L11</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sentence distinguishes depletion from scarcity accurately?</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يَنْضَبُ المِيَاهُ، وَتَشِحُّ النِّفْطُ.</a:t>
            </a:r>
            <a:endParaRPr lang="ar-SA" sz="1700" dirty="0"/>
          </a:p>
        </p:txBody>
      </p:sp>
      <p:sp>
        <p:nvSpPr>
          <p:cNvPr id="24" name="Shape 21"/>
          <p:cNvSpPr/>
          <p:nvPr/>
        </p:nvSpPr>
        <p:spPr>
          <a:xfrm>
            <a:off x="640080" y="2862072"/>
            <a:ext cx="256032" cy="256032"/>
          </a:xfrm>
          <a:prstGeom prst="ellipse">
            <a:avLst/>
          </a:prstGeom>
          <a:solidFill>
            <a:srgbClr val="C9CED6"/>
          </a:solidFill>
          <a:ln w="12700">
            <a:solidFill>
              <a:srgbClr val="C9CED6"/>
            </a:solidFill>
            <a:prstDash val="solid"/>
          </a:ln>
        </p:spPr>
      </p:sp>
      <p:sp>
        <p:nvSpPr>
          <p:cNvPr id="25" name="Text 22"/>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تَنْضَبُ النِّفْطُ، وَيَشِحُّ المِيَاهُ.</a:t>
            </a:r>
            <a:endParaRPr lang="ar-SA" sz="1700" dirty="0"/>
          </a:p>
        </p:txBody>
      </p:sp>
      <p:sp>
        <p:nvSpPr>
          <p:cNvPr id="27" name="Shape 24"/>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8" name="Shape 25"/>
          <p:cNvSpPr/>
          <p:nvPr/>
        </p:nvSpPr>
        <p:spPr>
          <a:xfrm>
            <a:off x="640080" y="3233928"/>
            <a:ext cx="256032" cy="256032"/>
          </a:xfrm>
          <a:prstGeom prst="ellipse">
            <a:avLst/>
          </a:prstGeom>
          <a:solidFill>
            <a:srgbClr val="2E8B57"/>
          </a:solidFill>
          <a:ln w="12700">
            <a:solidFill>
              <a:srgbClr val="2E8B57"/>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30" name="Text 27"/>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يَنْضَبُ النِّفْطُ، وَتَشِحُّ المِيَاهُ.</a:t>
            </a:r>
            <a:endParaRPr lang="ar-SA" sz="1700" dirty="0"/>
          </a:p>
        </p:txBody>
      </p:sp>
      <p:sp>
        <p:nvSpPr>
          <p:cNvPr id="31" name="Text 28"/>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Oil is masculine; water is treated as feminine.</a:t>
            </a:r>
            <a:endParaRPr lang="en-US" sz="1050" dirty="0"/>
          </a:p>
        </p:txBody>
      </p:sp>
      <p:sp>
        <p:nvSpPr>
          <p:cNvPr id="32" name="Shape 29"/>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6313932"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35" name="Text 32"/>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formal reporting frame.</a:t>
            </a:r>
            <a:endParaRPr lang="en-US" sz="1250" dirty="0"/>
          </a:p>
        </p:txBody>
      </p:sp>
      <p:sp>
        <p:nvSpPr>
          <p:cNvPr id="36" name="Shape 33"/>
          <p:cNvSpPr/>
          <p:nvPr/>
        </p:nvSpPr>
        <p:spPr>
          <a:xfrm>
            <a:off x="6368796"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8" name="Text 35"/>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يُشَارِكُ إِلَى المَنَاخِ أَنَّ يَتَغَيَّرُ.</a:t>
            </a:r>
            <a:endParaRPr lang="ar-SA" sz="1700" dirty="0"/>
          </a:p>
        </p:txBody>
      </p:sp>
      <p:sp>
        <p:nvSpPr>
          <p:cNvPr id="39" name="Shape 36"/>
          <p:cNvSpPr/>
          <p:nvPr/>
        </p:nvSpPr>
        <p:spPr>
          <a:xfrm>
            <a:off x="6277356" y="2825496"/>
            <a:ext cx="5362956" cy="347472"/>
          </a:xfrm>
          <a:prstGeom prst="roundRect">
            <a:avLst>
              <a:gd name="adj" fmla="val 15789"/>
            </a:avLst>
          </a:prstGeom>
          <a:solidFill>
            <a:srgbClr val="E6F4EC"/>
          </a:solidFill>
          <a:ln w="9525">
            <a:solidFill>
              <a:srgbClr val="2E8B57"/>
            </a:solidFill>
            <a:prstDash val="solid"/>
          </a:ln>
        </p:spPr>
      </p:sp>
      <p:sp>
        <p:nvSpPr>
          <p:cNvPr id="40" name="Shape 37"/>
          <p:cNvSpPr/>
          <p:nvPr/>
        </p:nvSpPr>
        <p:spPr>
          <a:xfrm>
            <a:off x="6368796" y="2862072"/>
            <a:ext cx="256032" cy="256032"/>
          </a:xfrm>
          <a:prstGeom prst="ellipse">
            <a:avLst/>
          </a:prstGeom>
          <a:solidFill>
            <a:srgbClr val="2E8B57"/>
          </a:solidFill>
          <a:ln w="12700">
            <a:solidFill>
              <a:srgbClr val="2E8B57"/>
            </a:solidFill>
            <a:prstDash val="solid"/>
          </a:ln>
        </p:spPr>
      </p:sp>
      <p:sp>
        <p:nvSpPr>
          <p:cNvPr id="41" name="Text 38"/>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42" name="Text 39"/>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يُشَارُ إِلَى أَنَّ المَنَاخَ يَتَغَيَّرُ.</a:t>
            </a:r>
            <a:endParaRPr lang="ar-SA" sz="1700" dirty="0"/>
          </a:p>
        </p:txBody>
      </p:sp>
      <p:sp>
        <p:nvSpPr>
          <p:cNvPr id="43" name="Shape 40"/>
          <p:cNvSpPr/>
          <p:nvPr/>
        </p:nvSpPr>
        <p:spPr>
          <a:xfrm>
            <a:off x="6368796" y="3233928"/>
            <a:ext cx="256032" cy="256032"/>
          </a:xfrm>
          <a:prstGeom prst="ellipse">
            <a:avLst/>
          </a:prstGeom>
          <a:solidFill>
            <a:srgbClr val="C9CED6"/>
          </a:solidFill>
          <a:ln w="12700">
            <a:solidFill>
              <a:srgbClr val="C9CED6"/>
            </a:solidFill>
            <a:prstDash val="solid"/>
          </a:ln>
        </p:spPr>
      </p:sp>
      <p:sp>
        <p:nvSpPr>
          <p:cNvPr id="44" name="Text 41"/>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5" name="Text 42"/>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يُشِيرُ أَنَّ إِلَى المَنَاخِ.</a:t>
            </a:r>
            <a:endParaRPr lang="ar-SA" sz="1700" dirty="0"/>
          </a:p>
        </p:txBody>
      </p:sp>
      <p:sp>
        <p:nvSpPr>
          <p:cNvPr id="46" name="Text 43"/>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يشار إلى أنَّ</a:t>
            </a:r>
            <a:pPr algn="l" indent="0" marL="0">
              <a:buNone/>
            </a:pPr>
            <a:r>
              <a:rPr lang="en-US" sz="1050" i="1" dirty="0">
                <a:solidFill>
                  <a:srgbClr val="8A6D1E"/>
                </a:solidFill>
                <a:latin typeface="Calibri" pitchFamily="34" charset="0"/>
                <a:ea typeface="Calibri" pitchFamily="34" charset="-122"/>
                <a:cs typeface="Calibri" pitchFamily="34" charset="-120"/>
              </a:rPr>
              <a:t> is the frame.</a:t>
            </a:r>
            <a:endParaRPr lang="en-US" sz="1050" dirty="0"/>
          </a:p>
        </p:txBody>
      </p:sp>
      <p:sp>
        <p:nvSpPr>
          <p:cNvPr id="47" name="Shape 44"/>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585216" y="4288536"/>
            <a:ext cx="310896" cy="310896"/>
          </a:xfrm>
          <a:prstGeom prst="ellipse">
            <a:avLst/>
          </a:prstGeom>
          <a:solidFill>
            <a:srgbClr val="1B3B6F"/>
          </a:solidFill>
          <a:ln w="12700">
            <a:solidFill>
              <a:srgbClr val="1B3B6F"/>
            </a:solidFill>
            <a:prstDash val="solid"/>
          </a:ln>
        </p:spPr>
      </p:sp>
      <p:sp>
        <p:nvSpPr>
          <p:cNvPr id="49" name="Text 4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7</a:t>
            </a:r>
            <a:endParaRPr lang="en-US" sz="1100" dirty="0"/>
          </a:p>
        </p:txBody>
      </p:sp>
      <p:sp>
        <p:nvSpPr>
          <p:cNvPr id="50" name="Text 47"/>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answer is genuinely qualified?</a:t>
            </a:r>
            <a:endParaRPr lang="en-US" sz="1250" dirty="0"/>
          </a:p>
        </p:txBody>
      </p:sp>
      <p:sp>
        <p:nvSpPr>
          <p:cNvPr id="51" name="Shape 48"/>
          <p:cNvSpPr/>
          <p:nvPr/>
        </p:nvSpPr>
        <p:spPr>
          <a:xfrm>
            <a:off x="640080" y="4831080"/>
            <a:ext cx="256032" cy="256032"/>
          </a:xfrm>
          <a:prstGeom prst="ellipse">
            <a:avLst/>
          </a:prstGeom>
          <a:solidFill>
            <a:srgbClr val="C9CED6"/>
          </a:solidFill>
          <a:ln w="12700">
            <a:solidFill>
              <a:srgbClr val="C9CED6"/>
            </a:solidFill>
            <a:prstDash val="solid"/>
          </a:ln>
        </p:spPr>
      </p:sp>
      <p:sp>
        <p:nvSpPr>
          <p:cNvPr id="52" name="Text 49"/>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3" name="Text 50"/>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أُؤَيِّدُ المَشْرُوعَ دَائِمًا لِأَنَّهُ مَشْرُوعٌ.</a:t>
            </a:r>
            <a:endParaRPr lang="ar-SA" sz="1700" dirty="0"/>
          </a:p>
        </p:txBody>
      </p:sp>
      <p:sp>
        <p:nvSpPr>
          <p:cNvPr id="54" name="Shape 51"/>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5" name="Shape 52"/>
          <p:cNvSpPr/>
          <p:nvPr/>
        </p:nvSpPr>
        <p:spPr>
          <a:xfrm>
            <a:off x="640080" y="5202936"/>
            <a:ext cx="256032" cy="256032"/>
          </a:xfrm>
          <a:prstGeom prst="ellipse">
            <a:avLst/>
          </a:prstGeom>
          <a:solidFill>
            <a:srgbClr val="2E8B57"/>
          </a:solidFill>
          <a:ln w="12700">
            <a:solidFill>
              <a:srgbClr val="2E8B57"/>
            </a:solidFill>
            <a:prstDash val="solid"/>
          </a:ln>
        </p:spPr>
      </p:sp>
      <p:sp>
        <p:nvSpPr>
          <p:cNvPr id="56" name="Text 53"/>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57" name="Text 54"/>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أُؤَيِّدُ المَشْرُوعَ إِلَى حَدٍّ مَا، شَرِيطَةَ أَنْ تُحْمَى الخُصُوصِيَّةُ.</a:t>
            </a:r>
            <a:endParaRPr lang="ar-SA" sz="1700" dirty="0"/>
          </a:p>
        </p:txBody>
      </p:sp>
      <p:sp>
        <p:nvSpPr>
          <p:cNvPr id="58" name="Shape 55"/>
          <p:cNvSpPr/>
          <p:nvPr/>
        </p:nvSpPr>
        <p:spPr>
          <a:xfrm>
            <a:off x="640080" y="5574792"/>
            <a:ext cx="256032" cy="256032"/>
          </a:xfrm>
          <a:prstGeom prst="ellipse">
            <a:avLst/>
          </a:prstGeom>
          <a:solidFill>
            <a:srgbClr val="C9CED6"/>
          </a:solidFill>
          <a:ln w="12700">
            <a:solidFill>
              <a:srgbClr val="C9CED6"/>
            </a:solidFill>
            <a:prstDash val="solid"/>
          </a:ln>
        </p:spPr>
      </p:sp>
      <p:sp>
        <p:nvSpPr>
          <p:cNvPr id="59" name="Text 56"/>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0" name="Text 57"/>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أُؤَيِّدُ الخُصُوصِيَّةَ مِنَ المَشْرُوعِ.</a:t>
            </a:r>
            <a:endParaRPr lang="ar-SA" sz="1700" dirty="0"/>
          </a:p>
        </p:txBody>
      </p:sp>
      <p:sp>
        <p:nvSpPr>
          <p:cNvPr id="61" name="Text 58"/>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It states degree and condition.</a:t>
            </a:r>
            <a:endParaRPr lang="en-US" sz="1050" dirty="0"/>
          </a:p>
        </p:txBody>
      </p:sp>
      <p:sp>
        <p:nvSpPr>
          <p:cNvPr id="62" name="Shape 59"/>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6313932" y="4288536"/>
            <a:ext cx="310896" cy="310896"/>
          </a:xfrm>
          <a:prstGeom prst="ellipse">
            <a:avLst/>
          </a:prstGeom>
          <a:solidFill>
            <a:srgbClr val="1B3B6F"/>
          </a:solidFill>
          <a:ln w="12700">
            <a:solidFill>
              <a:srgbClr val="1B3B6F"/>
            </a:solidFill>
            <a:prstDash val="solid"/>
          </a:ln>
        </p:spPr>
      </p:sp>
      <p:sp>
        <p:nvSpPr>
          <p:cNvPr id="64" name="Text 61"/>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8</a:t>
            </a:r>
            <a:endParaRPr lang="en-US" sz="1100" dirty="0"/>
          </a:p>
        </p:txBody>
      </p:sp>
      <p:sp>
        <p:nvSpPr>
          <p:cNvPr id="65" name="Text 62"/>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self-correction phrase helps a speaker recover accurately?</a:t>
            </a:r>
            <a:endParaRPr lang="en-US" sz="1250" dirty="0"/>
          </a:p>
        </p:txBody>
      </p:sp>
      <p:sp>
        <p:nvSpPr>
          <p:cNvPr id="66" name="Shape 63"/>
          <p:cNvSpPr/>
          <p:nvPr/>
        </p:nvSpPr>
        <p:spPr>
          <a:xfrm>
            <a:off x="6368796" y="4831080"/>
            <a:ext cx="256032" cy="256032"/>
          </a:xfrm>
          <a:prstGeom prst="ellipse">
            <a:avLst/>
          </a:prstGeom>
          <a:solidFill>
            <a:srgbClr val="C9CED6"/>
          </a:solidFill>
          <a:ln w="12700">
            <a:solidFill>
              <a:srgbClr val="C9CED6"/>
            </a:solidFill>
            <a:prstDash val="solid"/>
          </a:ln>
        </p:spPr>
      </p:sp>
      <p:sp>
        <p:nvSpPr>
          <p:cNvPr id="67" name="Text 64"/>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8" name="Text 65"/>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يَنْضَبُ ذٰلِكَ</a:t>
            </a:r>
            <a:endParaRPr lang="ar-SA" sz="1700" dirty="0"/>
          </a:p>
        </p:txBody>
      </p:sp>
      <p:sp>
        <p:nvSpPr>
          <p:cNvPr id="69" name="Shape 66"/>
          <p:cNvSpPr/>
          <p:nvPr/>
        </p:nvSpPr>
        <p:spPr>
          <a:xfrm>
            <a:off x="6368796" y="5202936"/>
            <a:ext cx="256032" cy="256032"/>
          </a:xfrm>
          <a:prstGeom prst="ellipse">
            <a:avLst/>
          </a:prstGeom>
          <a:solidFill>
            <a:srgbClr val="C9CED6"/>
          </a:solidFill>
          <a:ln w="12700">
            <a:solidFill>
              <a:srgbClr val="C9CED6"/>
            </a:solidFill>
            <a:prstDash val="solid"/>
          </a:ln>
        </p:spPr>
      </p:sp>
      <p:sp>
        <p:nvSpPr>
          <p:cNvPr id="70" name="Text 67"/>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1" name="Text 68"/>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بِسَبَبِ ذٰلِكَ</a:t>
            </a:r>
            <a:endParaRPr lang="ar-SA" sz="1700" dirty="0"/>
          </a:p>
        </p:txBody>
      </p:sp>
      <p:sp>
        <p:nvSpPr>
          <p:cNvPr id="72" name="Shape 69"/>
          <p:cNvSpPr/>
          <p:nvPr/>
        </p:nvSpPr>
        <p:spPr>
          <a:xfrm>
            <a:off x="6277356" y="5538216"/>
            <a:ext cx="5362956" cy="347472"/>
          </a:xfrm>
          <a:prstGeom prst="roundRect">
            <a:avLst>
              <a:gd name="adj" fmla="val 15789"/>
            </a:avLst>
          </a:prstGeom>
          <a:solidFill>
            <a:srgbClr val="E6F4EC"/>
          </a:solidFill>
          <a:ln w="9525">
            <a:solidFill>
              <a:srgbClr val="2E8B57"/>
            </a:solidFill>
            <a:prstDash val="solid"/>
          </a:ln>
        </p:spPr>
      </p:sp>
      <p:sp>
        <p:nvSpPr>
          <p:cNvPr id="73" name="Shape 70"/>
          <p:cNvSpPr/>
          <p:nvPr/>
        </p:nvSpPr>
        <p:spPr>
          <a:xfrm>
            <a:off x="6368796" y="5574792"/>
            <a:ext cx="256032" cy="256032"/>
          </a:xfrm>
          <a:prstGeom prst="ellipse">
            <a:avLst/>
          </a:prstGeom>
          <a:solidFill>
            <a:srgbClr val="2E8B57"/>
          </a:solidFill>
          <a:ln w="12700">
            <a:solidFill>
              <a:srgbClr val="2E8B57"/>
            </a:solidFill>
            <a:prstDash val="solid"/>
          </a:ln>
        </p:spPr>
      </p:sp>
      <p:sp>
        <p:nvSpPr>
          <p:cNvPr id="74" name="Text 71"/>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5" name="Text 72"/>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لِأُصَحِّحْ ذٰلِكَ</a:t>
            </a:r>
            <a:endParaRPr lang="ar-SA" sz="1700" dirty="0"/>
          </a:p>
        </p:txBody>
      </p:sp>
      <p:sp>
        <p:nvSpPr>
          <p:cNvPr id="76" name="Text 73"/>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لأصحح ذلك</a:t>
            </a:r>
            <a:pPr algn="l" indent="0" marL="0">
              <a:buNone/>
            </a:pPr>
            <a:r>
              <a:rPr lang="en-US" sz="1050" i="1" dirty="0">
                <a:solidFill>
                  <a:srgbClr val="8A6D1E"/>
                </a:solidFill>
                <a:latin typeface="Calibri" pitchFamily="34" charset="0"/>
                <a:ea typeface="Calibri" pitchFamily="34" charset="-122"/>
                <a:cs typeface="Calibri" pitchFamily="34" charset="-120"/>
              </a:rPr>
              <a:t> signals correction.</a:t>
            </a:r>
            <a:endParaRPr lang="en-US" sz="1050" dirty="0"/>
          </a:p>
        </p:txBody>
      </p:sp>
      <p:sp>
        <p:nvSpPr>
          <p:cNvPr id="77" name="Text 7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22 / 45</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D4-L11 · Unit Review</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SPOT AND FIX</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Repair the mistake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صَحِّحِ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D4 · Environment, Weather and Technology · D4-L11</a:t>
            </a:r>
            <a:endParaRPr lang="en-US" sz="850" dirty="0"/>
          </a:p>
        </p:txBody>
      </p:sp>
      <p:sp>
        <p:nvSpPr>
          <p:cNvPr id="15" name="Shape 12"/>
          <p:cNvSpPr/>
          <p:nvPr/>
        </p:nvSpPr>
        <p:spPr>
          <a:xfrm>
            <a:off x="457200" y="18105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183112" y="2249424"/>
            <a:ext cx="402336" cy="402336"/>
          </a:xfrm>
          <a:prstGeom prst="ellipse">
            <a:avLst/>
          </a:prstGeom>
          <a:solidFill>
            <a:srgbClr val="B83227"/>
          </a:solidFill>
          <a:ln w="12700">
            <a:solidFill>
              <a:srgbClr val="B83227"/>
            </a:solidFill>
            <a:prstDash val="solid"/>
          </a:ln>
        </p:spPr>
      </p:sp>
      <p:sp>
        <p:nvSpPr>
          <p:cNvPr id="17" name="Text 14"/>
          <p:cNvSpPr txBox="1"/>
          <p:nvPr/>
        </p:nvSpPr>
        <p:spPr>
          <a:xfrm>
            <a:off x="11183112" y="22494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18" name="Text 15"/>
          <p:cNvSpPr txBox="1"/>
          <p:nvPr/>
        </p:nvSpPr>
        <p:spPr>
          <a:xfrm>
            <a:off x="4023360" y="1901952"/>
            <a:ext cx="6976872" cy="1097280"/>
          </a:xfrm>
          <a:prstGeom prst="rect">
            <a:avLst/>
          </a:prstGeom>
          <a:noFill/>
          <a:ln/>
        </p:spPr>
        <p:txBody>
          <a:bodyPr wrap="square" lIns="0" tIns="0" rIns="0" bIns="0" rtlCol="0" anchor="ctr"/>
          <a:lstStyle/>
          <a:p>
            <a:pPr rtl="1" algn="r" indent="0" marL="0">
              <a:buNone/>
            </a:pPr>
            <a:r>
              <a:rPr lang="ar-SA" altLang="en-US" sz="2750" b="1" dirty="0">
                <a:solidFill>
                  <a:srgbClr val="B83227"/>
                </a:solidFill>
                <a:latin typeface="Amiri" pitchFamily="34" charset="0"/>
                <a:ea typeface="Amiri" pitchFamily="34" charset="-122"/>
                <a:cs typeface="Amiri" pitchFamily="34" charset="-120"/>
              </a:rPr>
              <a:t>يَجِبُ عَلَى الحُكُومَةِ أَنْ تُوَسِّعُ النَّقْلَ لِكَيْ تُقَلِّلُ الانْبِعَاثَاتِ.</a:t>
            </a:r>
            <a:endParaRPr lang="ar-SA" sz="2750" dirty="0"/>
          </a:p>
        </p:txBody>
      </p:sp>
      <p:sp>
        <p:nvSpPr>
          <p:cNvPr id="19" name="Text 16"/>
          <p:cNvSpPr txBox="1"/>
          <p:nvPr/>
        </p:nvSpPr>
        <p:spPr>
          <a:xfrm>
            <a:off x="731520" y="1901952"/>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an / li-kay: which ending?</a:t>
            </a:r>
            <a:endParaRPr lang="en-US" sz="1300" dirty="0"/>
          </a:p>
        </p:txBody>
      </p:sp>
      <p:sp>
        <p:nvSpPr>
          <p:cNvPr id="20" name="Shape 17"/>
          <p:cNvSpPr/>
          <p:nvPr/>
        </p:nvSpPr>
        <p:spPr>
          <a:xfrm>
            <a:off x="457200" y="3255264"/>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183112" y="3694176"/>
            <a:ext cx="402336" cy="402336"/>
          </a:xfrm>
          <a:prstGeom prst="ellipse">
            <a:avLst/>
          </a:prstGeom>
          <a:solidFill>
            <a:srgbClr val="B83227"/>
          </a:solidFill>
          <a:ln w="12700">
            <a:solidFill>
              <a:srgbClr val="B83227"/>
            </a:solidFill>
            <a:prstDash val="solid"/>
          </a:ln>
        </p:spPr>
      </p:sp>
      <p:sp>
        <p:nvSpPr>
          <p:cNvPr id="22" name="Text 19"/>
          <p:cNvSpPr txBox="1"/>
          <p:nvPr/>
        </p:nvSpPr>
        <p:spPr>
          <a:xfrm>
            <a:off x="11183112"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23" name="Text 20"/>
          <p:cNvSpPr txBox="1"/>
          <p:nvPr/>
        </p:nvSpPr>
        <p:spPr>
          <a:xfrm>
            <a:off x="4023360" y="3346704"/>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يُشَارُ إِلَى أَنْ المَنَاخُ يَتَغَيَّرُ.</a:t>
            </a:r>
            <a:endParaRPr lang="ar-SA" sz="3000" dirty="0"/>
          </a:p>
        </p:txBody>
      </p:sp>
      <p:sp>
        <p:nvSpPr>
          <p:cNvPr id="24" name="Text 21"/>
          <p:cNvSpPr txBox="1"/>
          <p:nvPr/>
        </p:nvSpPr>
        <p:spPr>
          <a:xfrm>
            <a:off x="731520" y="3346704"/>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anna or an?</a:t>
            </a:r>
            <a:endParaRPr lang="en-US" sz="1300" dirty="0"/>
          </a:p>
        </p:txBody>
      </p:sp>
      <p:sp>
        <p:nvSpPr>
          <p:cNvPr id="25" name="Shape 22"/>
          <p:cNvSpPr/>
          <p:nvPr/>
        </p:nvSpPr>
        <p:spPr>
          <a:xfrm>
            <a:off x="457200" y="4700016"/>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183112" y="5138928"/>
            <a:ext cx="402336" cy="402336"/>
          </a:xfrm>
          <a:prstGeom prst="ellipse">
            <a:avLst/>
          </a:prstGeom>
          <a:solidFill>
            <a:srgbClr val="B83227"/>
          </a:solidFill>
          <a:ln w="12700">
            <a:solidFill>
              <a:srgbClr val="B83227"/>
            </a:solidFill>
            <a:prstDash val="solid"/>
          </a:ln>
        </p:spPr>
      </p:sp>
      <p:sp>
        <p:nvSpPr>
          <p:cNvPr id="27" name="Text 24"/>
          <p:cNvSpPr txBox="1"/>
          <p:nvPr/>
        </p:nvSpPr>
        <p:spPr>
          <a:xfrm>
            <a:off x="11183112" y="513892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28" name="Text 25"/>
          <p:cNvSpPr txBox="1"/>
          <p:nvPr/>
        </p:nvSpPr>
        <p:spPr>
          <a:xfrm>
            <a:off x="4023360" y="4791456"/>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عَلَى الرَّغْمِ مِنْ أَنَّ المَشْرُوعَ مُكَلِّفٌ، فَهُوَ مُكَلِّفٌ.</a:t>
            </a:r>
            <a:endParaRPr lang="ar-SA" sz="3000" dirty="0"/>
          </a:p>
        </p:txBody>
      </p:sp>
      <p:sp>
        <p:nvSpPr>
          <p:cNvPr id="29" name="Text 26"/>
          <p:cNvSpPr txBox="1"/>
          <p:nvPr/>
        </p:nvSpPr>
        <p:spPr>
          <a:xfrm>
            <a:off x="731520" y="4791456"/>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Is it a real contrast?</a:t>
            </a:r>
            <a:endParaRPr lang="en-US" sz="13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23 / 45</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D4-L11 · Unit Review</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CORRECTIONS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Fixed — and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التَّصْحِيحُ وَالسَّبَبُ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D4 · Environment, Weather and Technology · D4-L11</a:t>
            </a:r>
            <a:endParaRPr lang="en-US" sz="850" dirty="0"/>
          </a:p>
        </p:txBody>
      </p:sp>
      <p:sp>
        <p:nvSpPr>
          <p:cNvPr id="15" name="Shape 12"/>
          <p:cNvSpPr/>
          <p:nvPr/>
        </p:nvSpPr>
        <p:spPr>
          <a:xfrm>
            <a:off x="457200" y="1810512"/>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8503920" y="1901952"/>
            <a:ext cx="3063240" cy="1097280"/>
          </a:xfrm>
          <a:prstGeom prst="rect">
            <a:avLst/>
          </a:prstGeom>
          <a:noFill/>
          <a:ln/>
        </p:spPr>
        <p:txBody>
          <a:bodyPr wrap="square" lIns="0" tIns="0" rIns="0" bIns="0" rtlCol="0" anchor="ctr"/>
          <a:lstStyle/>
          <a:p>
            <a:pPr rtl="1" algn="r" indent="0" marL="0">
              <a:lnSpc>
                <a:spcPct val="120000"/>
              </a:lnSpc>
              <a:buNone/>
            </a:pPr>
            <a:r>
              <a:rPr lang="ar-SA" altLang="en-US" sz="1800" b="1" dirty="0">
                <a:solidFill>
                  <a:srgbClr val="B83227"/>
                </a:solidFill>
                <a:latin typeface="Amiri" pitchFamily="34" charset="0"/>
                <a:ea typeface="Amiri" pitchFamily="34" charset="-122"/>
                <a:cs typeface="Amiri" pitchFamily="34" charset="-120"/>
              </a:rPr>
              <a:t>يَجِبُ عَلَى الحُكُومَةِ أَنْ تُوَسِّعُ النَّقْلَ لِكَيْ تُقَلِّلُ الانْبِعَاثَاتِ.</a:t>
            </a:r>
            <a:endParaRPr lang="ar-SA" sz="1800" dirty="0"/>
          </a:p>
        </p:txBody>
      </p:sp>
      <p:sp>
        <p:nvSpPr>
          <p:cNvPr id="17" name="Shape 14"/>
          <p:cNvSpPr/>
          <p:nvPr/>
        </p:nvSpPr>
        <p:spPr>
          <a:xfrm>
            <a:off x="8641080" y="2459736"/>
            <a:ext cx="2834640" cy="0"/>
          </a:xfrm>
          <a:prstGeom prst="line">
            <a:avLst/>
          </a:prstGeom>
          <a:noFill/>
          <a:ln w="15875">
            <a:solidFill>
              <a:srgbClr val="B83227"/>
            </a:solidFill>
            <a:prstDash val="solid"/>
          </a:ln>
        </p:spPr>
      </p:sp>
      <p:sp>
        <p:nvSpPr>
          <p:cNvPr id="18" name="Text 15"/>
          <p:cNvSpPr txBox="1"/>
          <p:nvPr/>
        </p:nvSpPr>
        <p:spPr>
          <a:xfrm>
            <a:off x="8138160" y="1901952"/>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19" name="Text 16"/>
          <p:cNvSpPr txBox="1"/>
          <p:nvPr/>
        </p:nvSpPr>
        <p:spPr>
          <a:xfrm>
            <a:off x="3566160" y="1901952"/>
            <a:ext cx="4526280" cy="1097280"/>
          </a:xfrm>
          <a:prstGeom prst="rect">
            <a:avLst/>
          </a:prstGeom>
          <a:noFill/>
          <a:ln/>
        </p:spPr>
        <p:txBody>
          <a:bodyPr wrap="square" lIns="0" tIns="0" rIns="0" bIns="0" rtlCol="0" anchor="ctr"/>
          <a:lstStyle/>
          <a:p>
            <a:pPr rtl="1" algn="r" indent="0" marL="0">
              <a:lnSpc>
                <a:spcPct val="120000"/>
              </a:lnSpc>
              <a:buNone/>
            </a:pPr>
            <a:r>
              <a:rPr lang="ar-SA" altLang="en-US" sz="2100" b="1" dirty="0">
                <a:solidFill>
                  <a:srgbClr val="1E6B52"/>
                </a:solidFill>
                <a:latin typeface="Amiri" pitchFamily="34" charset="0"/>
                <a:ea typeface="Amiri" pitchFamily="34" charset="-122"/>
                <a:cs typeface="Amiri" pitchFamily="34" charset="-120"/>
              </a:rPr>
              <a:t>يَجِبُ عَلَى الحُكُومَةِ أَنْ تُوَسِّعَ النَّقْلَ لِكَيْ تُقَلِّلَ الانْبِعَاثَاتِ.</a:t>
            </a:r>
            <a:endParaRPr lang="ar-SA" sz="2100" dirty="0"/>
          </a:p>
        </p:txBody>
      </p:sp>
      <p:sp>
        <p:nvSpPr>
          <p:cNvPr id="20" name="Text 17"/>
          <p:cNvSpPr txBox="1"/>
          <p:nvPr/>
        </p:nvSpPr>
        <p:spPr>
          <a:xfrm>
            <a:off x="685800" y="1901952"/>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Both </a:t>
            </a:r>
            <a:pPr algn="l" indent="0" marL="0">
              <a:buNone/>
            </a:pPr>
            <a:r>
              <a:rPr lang="ar-SA" altLang="en-US" sz="1500" b="1" dirty="0">
                <a:solidFill>
                  <a:srgbClr val="1B3B6F"/>
                </a:solidFill>
                <a:latin typeface="Amiri" pitchFamily="34" charset="0"/>
                <a:ea typeface="Amiri" pitchFamily="34" charset="-122"/>
                <a:cs typeface="Amiri" pitchFamily="34" charset="-120"/>
              </a:rPr>
              <a:t>توسّعَ</a:t>
            </a:r>
            <a:pPr algn="l" indent="0" marL="0">
              <a:buNone/>
            </a:pPr>
            <a:r>
              <a:rPr lang="en-US" sz="1150" b="1" dirty="0">
                <a:solidFill>
                  <a:srgbClr val="1B3B6F"/>
                </a:solidFill>
                <a:latin typeface="Calibri" pitchFamily="34" charset="0"/>
                <a:ea typeface="Calibri" pitchFamily="34" charset="-122"/>
                <a:cs typeface="Calibri" pitchFamily="34" charset="-120"/>
              </a:rPr>
              <a:t> and </a:t>
            </a:r>
            <a:pPr algn="l" indent="0" marL="0">
              <a:buNone/>
            </a:pPr>
            <a:r>
              <a:rPr lang="ar-SA" altLang="en-US" sz="1500" b="1" dirty="0">
                <a:solidFill>
                  <a:srgbClr val="1B3B6F"/>
                </a:solidFill>
                <a:latin typeface="Amiri" pitchFamily="34" charset="0"/>
                <a:ea typeface="Amiri" pitchFamily="34" charset="-122"/>
                <a:cs typeface="Amiri" pitchFamily="34" charset="-120"/>
              </a:rPr>
              <a:t>تقلّلَ</a:t>
            </a:r>
            <a:pPr algn="l" indent="0" marL="0">
              <a:buNone/>
            </a:pPr>
            <a:r>
              <a:rPr lang="en-US" sz="1150" b="1" dirty="0">
                <a:solidFill>
                  <a:srgbClr val="1B3B6F"/>
                </a:solidFill>
                <a:latin typeface="Calibri" pitchFamily="34" charset="0"/>
                <a:ea typeface="Calibri" pitchFamily="34" charset="-122"/>
                <a:cs typeface="Calibri" pitchFamily="34" charset="-120"/>
              </a:rPr>
              <a:t> are subjunctive after </a:t>
            </a:r>
            <a:pPr algn="l" indent="0" marL="0">
              <a:buNone/>
            </a:pPr>
            <a:r>
              <a:rPr lang="ar-SA" altLang="en-US" sz="1500" b="1" dirty="0">
                <a:solidFill>
                  <a:srgbClr val="1B3B6F"/>
                </a:solidFill>
                <a:latin typeface="Amiri" pitchFamily="34" charset="0"/>
                <a:ea typeface="Amiri" pitchFamily="34" charset="-122"/>
                <a:cs typeface="Amiri" pitchFamily="34" charset="-120"/>
              </a:rPr>
              <a:t>أن</a:t>
            </a:r>
            <a:pPr algn="l" indent="0" marL="0">
              <a:buNone/>
            </a:pPr>
            <a:r>
              <a:rPr lang="en-US" sz="1150" b="1" dirty="0">
                <a:solidFill>
                  <a:srgbClr val="1B3B6F"/>
                </a:solidFill>
                <a:latin typeface="Calibri" pitchFamily="34" charset="0"/>
                <a:ea typeface="Calibri" pitchFamily="34" charset="-122"/>
                <a:cs typeface="Calibri" pitchFamily="34" charset="-120"/>
              </a:rPr>
              <a:t> and </a:t>
            </a:r>
            <a:pPr algn="l" indent="0" marL="0">
              <a:buNone/>
            </a:pPr>
            <a:r>
              <a:rPr lang="ar-SA" altLang="en-US" sz="1500" b="1" dirty="0">
                <a:solidFill>
                  <a:srgbClr val="1B3B6F"/>
                </a:solidFill>
                <a:latin typeface="Amiri" pitchFamily="34" charset="0"/>
                <a:ea typeface="Amiri" pitchFamily="34" charset="-122"/>
                <a:cs typeface="Amiri" pitchFamily="34" charset="-120"/>
              </a:rPr>
              <a:t>لكي</a:t>
            </a:r>
            <a:pPr algn="l" indent="0" marL="0">
              <a:buNone/>
            </a:pPr>
            <a:r>
              <a:rPr lang="en-US" sz="1150" b="1" dirty="0">
                <a:solidFill>
                  <a:srgbClr val="1B3B6F"/>
                </a:solidFill>
                <a:latin typeface="Calibri" pitchFamily="34" charset="0"/>
                <a:ea typeface="Calibri" pitchFamily="34" charset="-122"/>
                <a:cs typeface="Calibri" pitchFamily="34" charset="-120"/>
              </a:rPr>
              <a:t>.</a:t>
            </a:r>
            <a:endParaRPr lang="en-US" sz="1150" dirty="0"/>
          </a:p>
        </p:txBody>
      </p:sp>
      <p:sp>
        <p:nvSpPr>
          <p:cNvPr id="21" name="Shape 18"/>
          <p:cNvSpPr/>
          <p:nvPr/>
        </p:nvSpPr>
        <p:spPr>
          <a:xfrm>
            <a:off x="457200" y="3255264"/>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8503920" y="3346704"/>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يُشَارُ إِلَى أَنْ المَنَاخُ يَتَغَيَّرُ.</a:t>
            </a:r>
            <a:endParaRPr lang="ar-SA" sz="1800" dirty="0"/>
          </a:p>
        </p:txBody>
      </p:sp>
      <p:sp>
        <p:nvSpPr>
          <p:cNvPr id="23" name="Shape 20"/>
          <p:cNvSpPr/>
          <p:nvPr/>
        </p:nvSpPr>
        <p:spPr>
          <a:xfrm>
            <a:off x="8641080" y="3904488"/>
            <a:ext cx="2834640" cy="0"/>
          </a:xfrm>
          <a:prstGeom prst="line">
            <a:avLst/>
          </a:prstGeom>
          <a:noFill/>
          <a:ln w="15875">
            <a:solidFill>
              <a:srgbClr val="B83227"/>
            </a:solidFill>
            <a:prstDash val="solid"/>
          </a:ln>
        </p:spPr>
      </p:sp>
      <p:sp>
        <p:nvSpPr>
          <p:cNvPr id="24" name="Text 21"/>
          <p:cNvSpPr txBox="1"/>
          <p:nvPr/>
        </p:nvSpPr>
        <p:spPr>
          <a:xfrm>
            <a:off x="8138160" y="3346704"/>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25" name="Text 22"/>
          <p:cNvSpPr txBox="1"/>
          <p:nvPr/>
        </p:nvSpPr>
        <p:spPr>
          <a:xfrm>
            <a:off x="3566160" y="3346704"/>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يُشَارُ إِلَى أَنَّ المَنَاخَ يَتَغَيَّرُ.</a:t>
            </a:r>
            <a:endParaRPr lang="ar-SA" sz="2400" dirty="0"/>
          </a:p>
        </p:txBody>
      </p:sp>
      <p:sp>
        <p:nvSpPr>
          <p:cNvPr id="26" name="Text 23"/>
          <p:cNvSpPr txBox="1"/>
          <p:nvPr/>
        </p:nvSpPr>
        <p:spPr>
          <a:xfrm>
            <a:off x="685800" y="3346704"/>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Impersonal reporting uses </a:t>
            </a:r>
            <a:pPr algn="l" indent="0" marL="0">
              <a:buNone/>
            </a:pPr>
            <a:r>
              <a:rPr lang="ar-SA" altLang="en-US" sz="1500" b="1" dirty="0">
                <a:solidFill>
                  <a:srgbClr val="1B3B6F"/>
                </a:solidFill>
                <a:latin typeface="Amiri" pitchFamily="34" charset="0"/>
                <a:ea typeface="Amiri" pitchFamily="34" charset="-122"/>
                <a:cs typeface="Amiri" pitchFamily="34" charset="-120"/>
              </a:rPr>
              <a:t>أنَّ</a:t>
            </a:r>
            <a:pPr algn="l" indent="0" marL="0">
              <a:buNone/>
            </a:pPr>
            <a:r>
              <a:rPr lang="en-US" sz="1150" b="1" dirty="0">
                <a:solidFill>
                  <a:srgbClr val="1B3B6F"/>
                </a:solidFill>
                <a:latin typeface="Calibri" pitchFamily="34" charset="0"/>
                <a:ea typeface="Calibri" pitchFamily="34" charset="-122"/>
                <a:cs typeface="Calibri" pitchFamily="34" charset="-120"/>
              </a:rPr>
              <a:t>.</a:t>
            </a:r>
            <a:endParaRPr lang="en-US" sz="1150" dirty="0"/>
          </a:p>
        </p:txBody>
      </p:sp>
      <p:sp>
        <p:nvSpPr>
          <p:cNvPr id="27" name="Shape 24"/>
          <p:cNvSpPr/>
          <p:nvPr/>
        </p:nvSpPr>
        <p:spPr>
          <a:xfrm>
            <a:off x="457200" y="4700016"/>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8503920" y="4791456"/>
            <a:ext cx="3063240" cy="1097280"/>
          </a:xfrm>
          <a:prstGeom prst="rect">
            <a:avLst/>
          </a:prstGeom>
          <a:noFill/>
          <a:ln/>
        </p:spPr>
        <p:txBody>
          <a:bodyPr wrap="square" lIns="0" tIns="0" rIns="0" bIns="0" rtlCol="0" anchor="ctr"/>
          <a:lstStyle/>
          <a:p>
            <a:pPr rtl="1" algn="r" indent="0" marL="0">
              <a:lnSpc>
                <a:spcPct val="120000"/>
              </a:lnSpc>
              <a:buNone/>
            </a:pPr>
            <a:r>
              <a:rPr lang="ar-SA" altLang="en-US" sz="1800" b="1" dirty="0">
                <a:solidFill>
                  <a:srgbClr val="B83227"/>
                </a:solidFill>
                <a:latin typeface="Amiri" pitchFamily="34" charset="0"/>
                <a:ea typeface="Amiri" pitchFamily="34" charset="-122"/>
                <a:cs typeface="Amiri" pitchFamily="34" charset="-120"/>
              </a:rPr>
              <a:t>عَلَى الرَّغْمِ مِنْ أَنَّ المَشْرُوعَ مُكَلِّفٌ، فَهُوَ مُكَلِّفٌ.</a:t>
            </a:r>
            <a:endParaRPr lang="ar-SA" sz="1800" dirty="0"/>
          </a:p>
        </p:txBody>
      </p:sp>
      <p:sp>
        <p:nvSpPr>
          <p:cNvPr id="29" name="Shape 26"/>
          <p:cNvSpPr/>
          <p:nvPr/>
        </p:nvSpPr>
        <p:spPr>
          <a:xfrm>
            <a:off x="8641080" y="5349240"/>
            <a:ext cx="2834640" cy="0"/>
          </a:xfrm>
          <a:prstGeom prst="line">
            <a:avLst/>
          </a:prstGeom>
          <a:noFill/>
          <a:ln w="15875">
            <a:solidFill>
              <a:srgbClr val="B83227"/>
            </a:solidFill>
            <a:prstDash val="solid"/>
          </a:ln>
        </p:spPr>
      </p:sp>
      <p:sp>
        <p:nvSpPr>
          <p:cNvPr id="30" name="Text 27"/>
          <p:cNvSpPr txBox="1"/>
          <p:nvPr/>
        </p:nvSpPr>
        <p:spPr>
          <a:xfrm>
            <a:off x="8138160" y="4791456"/>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31" name="Text 28"/>
          <p:cNvSpPr txBox="1"/>
          <p:nvPr/>
        </p:nvSpPr>
        <p:spPr>
          <a:xfrm>
            <a:off x="3566160" y="4791456"/>
            <a:ext cx="4526280" cy="1097280"/>
          </a:xfrm>
          <a:prstGeom prst="rect">
            <a:avLst/>
          </a:prstGeom>
          <a:noFill/>
          <a:ln/>
        </p:spPr>
        <p:txBody>
          <a:bodyPr wrap="square" lIns="0" tIns="0" rIns="0" bIns="0" rtlCol="0" anchor="ctr"/>
          <a:lstStyle/>
          <a:p>
            <a:pPr rtl="1" algn="r" indent="0" marL="0">
              <a:lnSpc>
                <a:spcPct val="120000"/>
              </a:lnSpc>
              <a:buNone/>
            </a:pPr>
            <a:r>
              <a:rPr lang="ar-SA" altLang="en-US" sz="2100" b="1" dirty="0">
                <a:solidFill>
                  <a:srgbClr val="1E6B52"/>
                </a:solidFill>
                <a:latin typeface="Amiri" pitchFamily="34" charset="0"/>
                <a:ea typeface="Amiri" pitchFamily="34" charset="-122"/>
                <a:cs typeface="Amiri" pitchFamily="34" charset="-120"/>
              </a:rPr>
              <a:t>عَلَى الرَّغْمِ مِنْ أَنَّ المَشْرُوعَ مُكَلِّفٌ، فَإِنَّهُ يُقَلِّلُ الهَدْرَ عَلَى المَدَى البَعِيدِ.</a:t>
            </a:r>
            <a:endParaRPr lang="ar-SA" sz="2100" dirty="0"/>
          </a:p>
        </p:txBody>
      </p:sp>
      <p:sp>
        <p:nvSpPr>
          <p:cNvPr id="32" name="Text 29"/>
          <p:cNvSpPr txBox="1"/>
          <p:nvPr/>
        </p:nvSpPr>
        <p:spPr>
          <a:xfrm>
            <a:off x="685800" y="4791456"/>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A concession must be followed by a genuine contrast.</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24 / 45</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D4-L11 · Unit Review</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LISTENING · TEXT 1 OF 2 · TEACHER READS ALOUD TWICE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Conversation 1: Maryam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D4 · Environment, Weather and Technology · D4-L11</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project does Maryam describe?</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Expanding public transport</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Building a shopping centre</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Closing all schools</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benefit does she mention?</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Using more fossil fuel</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Increasing waste</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Reducing emissions</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reservation does she add?</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No environmental benefit</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No buses</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High initial cost</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Is Maryam for or against the project overall?</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for it, with a reservation</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completely against it</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she does not say</a:t>
            </a:r>
            <a:endParaRPr lang="en-US" sz="1250" dirty="0"/>
          </a:p>
        </p:txBody>
      </p:sp>
      <p:sp>
        <p:nvSpPr>
          <p:cNvPr id="67" name="Shape 64"/>
          <p:cNvSpPr/>
          <p:nvPr/>
        </p:nvSpPr>
        <p:spPr>
          <a:xfrm>
            <a:off x="4276344"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898136" y="4361688"/>
            <a:ext cx="914400" cy="274320"/>
          </a:xfrm>
          <a:prstGeom prst="roundRect">
            <a:avLst>
              <a:gd name="adj" fmla="val 50000"/>
            </a:avLst>
          </a:prstGeom>
          <a:solidFill>
            <a:srgbClr val="2E8B57"/>
          </a:solidFill>
          <a:ln w="12700">
            <a:solidFill>
              <a:srgbClr val="2E8B57"/>
            </a:solidFill>
            <a:prstDash val="solid"/>
          </a:ln>
        </p:spPr>
      </p:sp>
      <p:sp>
        <p:nvSpPr>
          <p:cNvPr id="69" name="Text 66"/>
          <p:cNvSpPr txBox="1"/>
          <p:nvPr/>
        </p:nvSpPr>
        <p:spPr>
          <a:xfrm>
            <a:off x="4898136"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70" name="Text 67"/>
          <p:cNvSpPr txBox="1"/>
          <p:nvPr/>
        </p:nvSpPr>
        <p:spPr>
          <a:xfrm>
            <a:off x="4477512" y="4791456"/>
            <a:ext cx="3270504" cy="1380744"/>
          </a:xfrm>
          <a:prstGeom prst="rect">
            <a:avLst/>
          </a:prstGeom>
          <a:noFill/>
          <a:ln/>
        </p:spPr>
        <p:txBody>
          <a:bodyPr wrap="square" lIns="0" tIns="0" rIns="0" bIns="0" rtlCol="0" anchor="t"/>
          <a:lstStyle/>
          <a:p>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Label first: project? benefit? problem?</a:t>
            </a:r>
            <a:endParaRPr lang="en-US" sz="1250" dirty="0"/>
          </a:p>
          <a:p>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Listen for </a:t>
            </a:r>
            <a:pPr algn="l" indent="0" marL="0">
              <a:lnSpc>
                <a:spcPct val="115000"/>
              </a:lnSpc>
              <a:buNone/>
            </a:pPr>
            <a:r>
              <a:rPr lang="ar-SA" altLang="en-US" sz="1650" dirty="0">
                <a:solidFill>
                  <a:srgbClr val="1E6B52"/>
                </a:solidFill>
                <a:latin typeface="Amiri" pitchFamily="34" charset="0"/>
                <a:ea typeface="Amiri" pitchFamily="34" charset="-122"/>
                <a:cs typeface="Amiri" pitchFamily="34" charset="-120"/>
              </a:rPr>
              <a:t>لٰكِنَّ</a:t>
            </a:r>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 the reservation follows.</a:t>
            </a:r>
            <a:endParaRPr lang="en-US" sz="1250" dirty="0"/>
          </a:p>
        </p:txBody>
      </p:sp>
      <p:sp>
        <p:nvSpPr>
          <p:cNvPr id="71" name="Text 6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25 / 45</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D4-L11 · Unit Review</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LISTENING SUPPORT · READ ALONG (CORE)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ea typeface="Cambria" pitchFamily="34" charset="-122"/>
                <a:cs typeface="Cambria" pitchFamily="34" charset="-120"/>
              </a:rPr>
              <a:t>The script — read along with English</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نَصُّ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D4 · Environment, Weather and Technology · D4-L11</a:t>
            </a:r>
            <a:endParaRPr lang="en-US" sz="850" dirty="0"/>
          </a:p>
        </p:txBody>
      </p:sp>
      <p:sp>
        <p:nvSpPr>
          <p:cNvPr id="15" name="Shape 12"/>
          <p:cNvSpPr/>
          <p:nvPr/>
        </p:nvSpPr>
        <p:spPr>
          <a:xfrm>
            <a:off x="457200" y="1810512"/>
            <a:ext cx="11274552" cy="1450848"/>
          </a:xfrm>
          <a:prstGeom prst="roundRect">
            <a:avLst>
              <a:gd name="adj" fmla="val 3151"/>
            </a:avLst>
          </a:prstGeom>
          <a:solidFill>
            <a:srgbClr val="FFFFFF"/>
          </a:solidFill>
          <a:ln w="9525">
            <a:solidFill>
              <a:srgbClr val="D8D0BF"/>
            </a:solidFill>
            <a:prstDash val="solid"/>
          </a:ln>
        </p:spPr>
      </p:sp>
      <p:sp>
        <p:nvSpPr>
          <p:cNvPr id="16" name="Text 13"/>
          <p:cNvSpPr txBox="1"/>
          <p:nvPr/>
        </p:nvSpPr>
        <p:spPr>
          <a:xfrm>
            <a:off x="4937760" y="1828800"/>
            <a:ext cx="6675120" cy="14142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فِي المُحَادَثَةِ الأُولَى، وَصَفَتْ مَرْيَمُ مَشْرُوعًا لِتَوْسِيعِ النَّقْلِ العَامِّ.</a:t>
            </a:r>
            <a:endParaRPr lang="ar-SA" sz="2000" dirty="0"/>
          </a:p>
        </p:txBody>
      </p:sp>
      <p:sp>
        <p:nvSpPr>
          <p:cNvPr id="17" name="Text 14"/>
          <p:cNvSpPr txBox="1"/>
          <p:nvPr/>
        </p:nvSpPr>
        <p:spPr>
          <a:xfrm>
            <a:off x="640080" y="1828800"/>
            <a:ext cx="4160520" cy="14142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In the first conversation, Maryam described a project to expand public transport.</a:t>
            </a:r>
            <a:endParaRPr lang="en-US" sz="1250" dirty="0"/>
          </a:p>
        </p:txBody>
      </p:sp>
      <p:sp>
        <p:nvSpPr>
          <p:cNvPr id="18" name="Shape 15"/>
          <p:cNvSpPr/>
          <p:nvPr/>
        </p:nvSpPr>
        <p:spPr>
          <a:xfrm>
            <a:off x="457200" y="3334512"/>
            <a:ext cx="11274552" cy="1450848"/>
          </a:xfrm>
          <a:prstGeom prst="roundRect">
            <a:avLst>
              <a:gd name="adj" fmla="val 3151"/>
            </a:avLst>
          </a:prstGeom>
          <a:solidFill>
            <a:srgbClr val="F4F1EA"/>
          </a:solidFill>
          <a:ln w="9525">
            <a:solidFill>
              <a:srgbClr val="D8D0BF"/>
            </a:solidFill>
            <a:prstDash val="solid"/>
          </a:ln>
        </p:spPr>
      </p:sp>
      <p:sp>
        <p:nvSpPr>
          <p:cNvPr id="19" name="Text 16"/>
          <p:cNvSpPr txBox="1"/>
          <p:nvPr/>
        </p:nvSpPr>
        <p:spPr>
          <a:xfrm>
            <a:off x="4937760" y="3352800"/>
            <a:ext cx="6675120" cy="14142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قَالَتْ إِنَّهُ سَيُقَلِّلُ الانْبِعَاثَاتِ،</a:t>
            </a:r>
            <a:endParaRPr lang="ar-SA" sz="2000" dirty="0"/>
          </a:p>
        </p:txBody>
      </p:sp>
      <p:sp>
        <p:nvSpPr>
          <p:cNvPr id="20" name="Text 17"/>
          <p:cNvSpPr txBox="1"/>
          <p:nvPr/>
        </p:nvSpPr>
        <p:spPr>
          <a:xfrm>
            <a:off x="640080" y="3352800"/>
            <a:ext cx="4160520" cy="14142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She said it will reduce emissions,</a:t>
            </a:r>
            <a:endParaRPr lang="en-US" sz="1250" dirty="0"/>
          </a:p>
        </p:txBody>
      </p:sp>
      <p:sp>
        <p:nvSpPr>
          <p:cNvPr id="21" name="Shape 18"/>
          <p:cNvSpPr/>
          <p:nvPr/>
        </p:nvSpPr>
        <p:spPr>
          <a:xfrm>
            <a:off x="457200" y="4858512"/>
            <a:ext cx="11274552" cy="1450848"/>
          </a:xfrm>
          <a:prstGeom prst="roundRect">
            <a:avLst>
              <a:gd name="adj" fmla="val 3151"/>
            </a:avLst>
          </a:prstGeom>
          <a:solidFill>
            <a:srgbClr val="FFFFFF"/>
          </a:solidFill>
          <a:ln w="9525">
            <a:solidFill>
              <a:srgbClr val="D8D0BF"/>
            </a:solidFill>
            <a:prstDash val="solid"/>
          </a:ln>
        </p:spPr>
      </p:sp>
      <p:sp>
        <p:nvSpPr>
          <p:cNvPr id="22" name="Text 19"/>
          <p:cNvSpPr txBox="1"/>
          <p:nvPr/>
        </p:nvSpPr>
        <p:spPr>
          <a:xfrm>
            <a:off x="4937760" y="4876800"/>
            <a:ext cx="6675120" cy="14142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لٰكِنَّهَا أَضَافَتْ أَنَّ التَّكْلِفَةَ الأُولَى مُرْتَفِعَةٌ.</a:t>
            </a:r>
            <a:endParaRPr lang="ar-SA" sz="2000" dirty="0"/>
          </a:p>
        </p:txBody>
      </p:sp>
      <p:sp>
        <p:nvSpPr>
          <p:cNvPr id="23" name="Text 20"/>
          <p:cNvSpPr txBox="1"/>
          <p:nvPr/>
        </p:nvSpPr>
        <p:spPr>
          <a:xfrm>
            <a:off x="640080" y="4876800"/>
            <a:ext cx="4160520" cy="14142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but she added that the initial cost is high.</a:t>
            </a:r>
            <a:endParaRPr lang="en-US" sz="1250" dirty="0"/>
          </a:p>
        </p:txBody>
      </p:sp>
      <p:sp>
        <p:nvSpPr>
          <p:cNvPr id="24" name="Text 2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26 / 45</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D4-L11 · Unit Review</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LISTENING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Text 1: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D4 · Environment, Weather and Technology · D4-L11</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project does Maryam describe?</a:t>
            </a:r>
            <a:endParaRPr lang="en-US" sz="1250" dirty="0"/>
          </a:p>
        </p:txBody>
      </p:sp>
      <p:sp>
        <p:nvSpPr>
          <p:cNvPr id="19" name="Shape 16"/>
          <p:cNvSpPr/>
          <p:nvPr/>
        </p:nvSpPr>
        <p:spPr>
          <a:xfrm>
            <a:off x="548640" y="2453640"/>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490216"/>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Expanding public transport</a:t>
            </a:r>
            <a:endParaRPr lang="en-US" sz="125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Building a shopping centre</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Closing all schools</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توسيع النقل العام.</a:t>
            </a:r>
            <a:endParaRPr lang="ar-SA" sz="13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benefit does she mention?</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Using more fossil fuel</a:t>
            </a:r>
            <a:endParaRPr lang="en-US" sz="1250" dirty="0"/>
          </a:p>
        </p:txBody>
      </p:sp>
      <p:sp>
        <p:nvSpPr>
          <p:cNvPr id="37" name="Shape 34"/>
          <p:cNvSpPr/>
          <p:nvPr/>
        </p:nvSpPr>
        <p:spPr>
          <a:xfrm>
            <a:off x="4459224"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Increasing waste</a:t>
            </a:r>
            <a:endParaRPr lang="en-US" sz="1250" dirty="0"/>
          </a:p>
        </p:txBody>
      </p:sp>
      <p:sp>
        <p:nvSpPr>
          <p:cNvPr id="40" name="Shape 37"/>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4459224"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Reducing emissions</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سيقلل الانبعاثات.</a:t>
            </a:r>
            <a:endParaRPr lang="ar-SA" sz="13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reservation does she add?</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No environmental benefit</a:t>
            </a:r>
            <a:endParaRPr lang="en-US" sz="125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No buses</a:t>
            </a:r>
            <a:endParaRPr lang="en-US" sz="125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High initial cost</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التكلفة الأولى مرتفعة.</a:t>
            </a:r>
            <a:endParaRPr lang="ar-SA" sz="13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Is Maryam for or against the project overall?</a:t>
            </a:r>
            <a:endParaRPr lang="en-US" sz="1250" dirty="0"/>
          </a:p>
        </p:txBody>
      </p:sp>
      <p:sp>
        <p:nvSpPr>
          <p:cNvPr id="64" name="Shape 61"/>
          <p:cNvSpPr/>
          <p:nvPr/>
        </p:nvSpPr>
        <p:spPr>
          <a:xfrm>
            <a:off x="548640" y="4794504"/>
            <a:ext cx="3453384"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40080"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67" name="Text 64"/>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for it, with a reservation</a:t>
            </a:r>
            <a:endParaRPr lang="en-US" sz="1250" dirty="0"/>
          </a:p>
        </p:txBody>
      </p:sp>
      <p:sp>
        <p:nvSpPr>
          <p:cNvPr id="68" name="Shape 65"/>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completely against it</a:t>
            </a:r>
            <a:endParaRPr lang="en-US" sz="125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she does not say</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سَيُقَلِّلُ الانْبِعَاثَاتِ، لٰكِنَّ …</a:t>
            </a:r>
            <a:endParaRPr lang="ar-SA" sz="1350" dirty="0"/>
          </a:p>
        </p:txBody>
      </p:sp>
      <p:sp>
        <p:nvSpPr>
          <p:cNvPr id="75" name="Shape 72"/>
          <p:cNvSpPr/>
          <p:nvPr/>
        </p:nvSpPr>
        <p:spPr>
          <a:xfrm>
            <a:off x="4276344"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898136" y="4361688"/>
            <a:ext cx="914400" cy="274320"/>
          </a:xfrm>
          <a:prstGeom prst="roundRect">
            <a:avLst>
              <a:gd name="adj" fmla="val 50000"/>
            </a:avLst>
          </a:prstGeom>
          <a:solidFill>
            <a:srgbClr val="2E8B57"/>
          </a:solidFill>
          <a:ln w="12700">
            <a:solidFill>
              <a:srgbClr val="2E8B57"/>
            </a:solidFill>
            <a:prstDash val="solid"/>
          </a:ln>
        </p:spPr>
      </p:sp>
      <p:sp>
        <p:nvSpPr>
          <p:cNvPr id="77" name="Text 74"/>
          <p:cNvSpPr txBox="1"/>
          <p:nvPr/>
        </p:nvSpPr>
        <p:spPr>
          <a:xfrm>
            <a:off x="4898136"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78" name="Text 75"/>
          <p:cNvSpPr txBox="1"/>
          <p:nvPr/>
        </p:nvSpPr>
        <p:spPr>
          <a:xfrm>
            <a:off x="4477512" y="4791456"/>
            <a:ext cx="3270504" cy="1380744"/>
          </a:xfrm>
          <a:prstGeom prst="rect">
            <a:avLst/>
          </a:prstGeom>
          <a:noFill/>
          <a:ln/>
        </p:spPr>
        <p:txBody>
          <a:bodyPr wrap="square" lIns="0" tIns="0" rIns="0" bIns="0" rtlCol="0" anchor="t"/>
          <a:lstStyle/>
          <a:p>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Label first: project? benefit? problem?</a:t>
            </a:r>
            <a:endParaRPr lang="en-US" sz="1250" dirty="0"/>
          </a:p>
          <a:p>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Listen for </a:t>
            </a:r>
            <a:pPr algn="l" indent="0" marL="0">
              <a:lnSpc>
                <a:spcPct val="115000"/>
              </a:lnSpc>
              <a:buNone/>
            </a:pPr>
            <a:r>
              <a:rPr lang="ar-SA" altLang="en-US" sz="1650" dirty="0">
                <a:solidFill>
                  <a:srgbClr val="1E6B52"/>
                </a:solidFill>
                <a:latin typeface="Amiri" pitchFamily="34" charset="0"/>
                <a:ea typeface="Amiri" pitchFamily="34" charset="-122"/>
                <a:cs typeface="Amiri" pitchFamily="34" charset="-120"/>
              </a:rPr>
              <a:t>لٰكِنَّ</a:t>
            </a:r>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 the reservation follows.</a:t>
            </a:r>
            <a:endParaRPr lang="en-US" sz="1250" dirty="0"/>
          </a:p>
        </p:txBody>
      </p:sp>
      <p:sp>
        <p:nvSpPr>
          <p:cNvPr id="79" name="Text 7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27 / 45</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D4-L11 · Unit Review</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LISTENING · TEXT 2 OF 2 · TEACHER READS ALOUD TWICE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Conversation 2: Khalid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D4 · Environment, Weather and Technology · D4-L11</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topic does Khalid discuss?</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Water scarcity</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Fashion</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Daily routine</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the corrected change in consumption?</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It stayed unchanged</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It fell by 9%</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It rose by 9%</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two things must the solution combine?</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More waste and less evidence</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Only technology</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Technology and behaviour change</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did Khalid say FIRST about consumption?</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that it fell</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that it rose by 9%</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that it stayed stable</a:t>
            </a:r>
            <a:endParaRPr lang="en-US" sz="1250" dirty="0"/>
          </a:p>
        </p:txBody>
      </p:sp>
      <p:sp>
        <p:nvSpPr>
          <p:cNvPr id="67" name="Shape 64"/>
          <p:cNvSpPr/>
          <p:nvPr/>
        </p:nvSpPr>
        <p:spPr>
          <a:xfrm>
            <a:off x="4276344"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898136" y="4361688"/>
            <a:ext cx="914400" cy="274320"/>
          </a:xfrm>
          <a:prstGeom prst="roundRect">
            <a:avLst>
              <a:gd name="adj" fmla="val 50000"/>
            </a:avLst>
          </a:prstGeom>
          <a:solidFill>
            <a:srgbClr val="2E8B57"/>
          </a:solidFill>
          <a:ln w="12700">
            <a:solidFill>
              <a:srgbClr val="2E8B57"/>
            </a:solidFill>
            <a:prstDash val="solid"/>
          </a:ln>
        </p:spPr>
      </p:sp>
      <p:sp>
        <p:nvSpPr>
          <p:cNvPr id="69" name="Text 66"/>
          <p:cNvSpPr txBox="1"/>
          <p:nvPr/>
        </p:nvSpPr>
        <p:spPr>
          <a:xfrm>
            <a:off x="4898136"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70" name="Text 67"/>
          <p:cNvSpPr txBox="1"/>
          <p:nvPr/>
        </p:nvSpPr>
        <p:spPr>
          <a:xfrm>
            <a:off x="4477512"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ea typeface="Calibri" pitchFamily="34" charset="-122"/>
                <a:cs typeface="Calibri" pitchFamily="34" charset="-120"/>
              </a:rPr>
              <a:t>He corrects himself!</a:t>
            </a:r>
            <a:endParaRPr lang="en-US" sz="1250" dirty="0"/>
          </a:p>
          <a:p>
            <a:pPr algn="l" indent="0" marL="0">
              <a:buNone/>
            </a:pPr>
            <a:r>
              <a:rPr lang="en-US" sz="1250" dirty="0">
                <a:solidFill>
                  <a:srgbClr val="1E6B52"/>
                </a:solidFill>
                <a:latin typeface="Calibri" pitchFamily="34" charset="0"/>
                <a:ea typeface="Calibri" pitchFamily="34" charset="-122"/>
                <a:cs typeface="Calibri" pitchFamily="34" charset="-120"/>
              </a:rPr>
              <a:t>Which direction is FINAL: up or down?</a:t>
            </a:r>
            <a:endParaRPr lang="en-US" sz="1250" dirty="0"/>
          </a:p>
        </p:txBody>
      </p:sp>
      <p:sp>
        <p:nvSpPr>
          <p:cNvPr id="71" name="Text 6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28 / 45</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D4-L11 · Unit Review</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LISTENING SUPPORT · READ ALONG (CORE)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ea typeface="Cambria" pitchFamily="34" charset="-122"/>
                <a:cs typeface="Cambria" pitchFamily="34" charset="-120"/>
              </a:rPr>
              <a:t>The script — read along with English</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نَصُّ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D4 · Environment, Weather and Technology · D4-L11</a:t>
            </a:r>
            <a:endParaRPr lang="en-US" sz="850" dirty="0"/>
          </a:p>
        </p:txBody>
      </p:sp>
      <p:sp>
        <p:nvSpPr>
          <p:cNvPr id="15" name="Shape 12"/>
          <p:cNvSpPr/>
          <p:nvPr/>
        </p:nvSpPr>
        <p:spPr>
          <a:xfrm>
            <a:off x="457200" y="1810512"/>
            <a:ext cx="11274552" cy="1069848"/>
          </a:xfrm>
          <a:prstGeom prst="roundRect">
            <a:avLst>
              <a:gd name="adj" fmla="val 4274"/>
            </a:avLst>
          </a:prstGeom>
          <a:solidFill>
            <a:srgbClr val="FFFFFF"/>
          </a:solidFill>
          <a:ln w="9525">
            <a:solidFill>
              <a:srgbClr val="D8D0BF"/>
            </a:solidFill>
            <a:prstDash val="solid"/>
          </a:ln>
        </p:spPr>
      </p:sp>
      <p:sp>
        <p:nvSpPr>
          <p:cNvPr id="16" name="Text 13"/>
          <p:cNvSpPr txBox="1"/>
          <p:nvPr/>
        </p:nvSpPr>
        <p:spPr>
          <a:xfrm>
            <a:off x="4937760" y="1828800"/>
            <a:ext cx="6675120" cy="10332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وَفِي المُحَادَثَةِ الثَّانِيَةِ، تَحَدَّثَ خَالِدٌ عَنْ شُحِّ المِيَاهِ.</a:t>
            </a:r>
            <a:endParaRPr lang="ar-SA" sz="2000" dirty="0"/>
          </a:p>
        </p:txBody>
      </p:sp>
      <p:sp>
        <p:nvSpPr>
          <p:cNvPr id="17" name="Text 14"/>
          <p:cNvSpPr txBox="1"/>
          <p:nvPr/>
        </p:nvSpPr>
        <p:spPr>
          <a:xfrm>
            <a:off x="640080" y="1828800"/>
            <a:ext cx="4160520" cy="10332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In the second conversation, Khalid talked about water scarcity.</a:t>
            </a:r>
            <a:endParaRPr lang="en-US" sz="1250" dirty="0"/>
          </a:p>
        </p:txBody>
      </p:sp>
      <p:sp>
        <p:nvSpPr>
          <p:cNvPr id="18" name="Shape 15"/>
          <p:cNvSpPr/>
          <p:nvPr/>
        </p:nvSpPr>
        <p:spPr>
          <a:xfrm>
            <a:off x="457200" y="2953512"/>
            <a:ext cx="11274552" cy="1069848"/>
          </a:xfrm>
          <a:prstGeom prst="roundRect">
            <a:avLst>
              <a:gd name="adj" fmla="val 4274"/>
            </a:avLst>
          </a:prstGeom>
          <a:solidFill>
            <a:srgbClr val="F4F1EA"/>
          </a:solidFill>
          <a:ln w="9525">
            <a:solidFill>
              <a:srgbClr val="D8D0BF"/>
            </a:solidFill>
            <a:prstDash val="solid"/>
          </a:ln>
        </p:spPr>
      </p:sp>
      <p:sp>
        <p:nvSpPr>
          <p:cNvPr id="19" name="Text 16"/>
          <p:cNvSpPr txBox="1"/>
          <p:nvPr/>
        </p:nvSpPr>
        <p:spPr>
          <a:xfrm>
            <a:off x="4937760" y="2971800"/>
            <a:ext cx="6675120" cy="10332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أَوَّلًا قَالَ إِنَّ الاسْتِهْلَاكَ انْخَفَضَ،</a:t>
            </a:r>
            <a:endParaRPr lang="ar-SA" sz="2000" dirty="0"/>
          </a:p>
        </p:txBody>
      </p:sp>
      <p:sp>
        <p:nvSpPr>
          <p:cNvPr id="20" name="Text 17"/>
          <p:cNvSpPr txBox="1"/>
          <p:nvPr/>
        </p:nvSpPr>
        <p:spPr>
          <a:xfrm>
            <a:off x="640080" y="2971800"/>
            <a:ext cx="4160520" cy="10332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First he said consumption fell,</a:t>
            </a:r>
            <a:endParaRPr lang="en-US" sz="1250" dirty="0"/>
          </a:p>
        </p:txBody>
      </p:sp>
      <p:sp>
        <p:nvSpPr>
          <p:cNvPr id="21" name="Shape 18"/>
          <p:cNvSpPr/>
          <p:nvPr/>
        </p:nvSpPr>
        <p:spPr>
          <a:xfrm>
            <a:off x="457200" y="4096512"/>
            <a:ext cx="11274552" cy="1069848"/>
          </a:xfrm>
          <a:prstGeom prst="roundRect">
            <a:avLst>
              <a:gd name="adj" fmla="val 4274"/>
            </a:avLst>
          </a:prstGeom>
          <a:solidFill>
            <a:srgbClr val="FFFFFF"/>
          </a:solidFill>
          <a:ln w="9525">
            <a:solidFill>
              <a:srgbClr val="D8D0BF"/>
            </a:solidFill>
            <a:prstDash val="solid"/>
          </a:ln>
        </p:spPr>
      </p:sp>
      <p:sp>
        <p:nvSpPr>
          <p:cNvPr id="22" name="Text 19"/>
          <p:cNvSpPr txBox="1"/>
          <p:nvPr/>
        </p:nvSpPr>
        <p:spPr>
          <a:xfrm>
            <a:off x="4937760" y="4114800"/>
            <a:ext cx="6675120" cy="10332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ثُمَّ صَحَّحَ نَفْسَهُ وَقَالَ إِنَّهُ ارْتَفَعَ بِنِسْبَةِ ٩٪.</a:t>
            </a:r>
            <a:endParaRPr lang="ar-SA" sz="2000" dirty="0"/>
          </a:p>
        </p:txBody>
      </p:sp>
      <p:sp>
        <p:nvSpPr>
          <p:cNvPr id="23" name="Text 20"/>
          <p:cNvSpPr txBox="1"/>
          <p:nvPr/>
        </p:nvSpPr>
        <p:spPr>
          <a:xfrm>
            <a:off x="640080" y="4114800"/>
            <a:ext cx="4160520" cy="10332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then he corrected himself and said it rose by 9%.</a:t>
            </a:r>
            <a:endParaRPr lang="en-US" sz="1250" dirty="0"/>
          </a:p>
        </p:txBody>
      </p:sp>
      <p:sp>
        <p:nvSpPr>
          <p:cNvPr id="24" name="Shape 21"/>
          <p:cNvSpPr/>
          <p:nvPr/>
        </p:nvSpPr>
        <p:spPr>
          <a:xfrm>
            <a:off x="457200" y="5239512"/>
            <a:ext cx="11274552" cy="1069848"/>
          </a:xfrm>
          <a:prstGeom prst="roundRect">
            <a:avLst>
              <a:gd name="adj" fmla="val 4274"/>
            </a:avLst>
          </a:prstGeom>
          <a:solidFill>
            <a:srgbClr val="F4F1EA"/>
          </a:solidFill>
          <a:ln w="9525">
            <a:solidFill>
              <a:srgbClr val="D8D0BF"/>
            </a:solidFill>
            <a:prstDash val="solid"/>
          </a:ln>
        </p:spPr>
      </p:sp>
      <p:sp>
        <p:nvSpPr>
          <p:cNvPr id="25" name="Text 22"/>
          <p:cNvSpPr txBox="1"/>
          <p:nvPr/>
        </p:nvSpPr>
        <p:spPr>
          <a:xfrm>
            <a:off x="4937760" y="5257800"/>
            <a:ext cx="6675120" cy="10332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وَأَكَّدَ أَنَّ الحَلَّ يَحْتَاجُ إِلَى التِّقْنِيَّةِ وَتَغْيِيرِ السُّلُوكِ مَعًا.</a:t>
            </a:r>
            <a:endParaRPr lang="ar-SA" sz="2000" dirty="0"/>
          </a:p>
        </p:txBody>
      </p:sp>
      <p:sp>
        <p:nvSpPr>
          <p:cNvPr id="26" name="Text 23"/>
          <p:cNvSpPr txBox="1"/>
          <p:nvPr/>
        </p:nvSpPr>
        <p:spPr>
          <a:xfrm>
            <a:off x="640080" y="5257800"/>
            <a:ext cx="4160520" cy="10332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He confirmed that the solution needs technology and behaviour change together.</a:t>
            </a:r>
            <a:endParaRPr lang="en-US" sz="1250" dirty="0"/>
          </a:p>
        </p:txBody>
      </p:sp>
      <p:sp>
        <p:nvSpPr>
          <p:cNvPr id="27" name="Text 2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29 / 45</a:t>
            </a:r>
            <a:endParaRPr lang="en-US" sz="8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D4-L11 · Unit Review</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LISTENING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Text 2: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D4 · Environment, Weather and Technology · D4-L11</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topic does Khalid discuss?</a:t>
            </a:r>
            <a:endParaRPr lang="en-US" sz="1250" dirty="0"/>
          </a:p>
        </p:txBody>
      </p:sp>
      <p:sp>
        <p:nvSpPr>
          <p:cNvPr id="19" name="Shape 16"/>
          <p:cNvSpPr/>
          <p:nvPr/>
        </p:nvSpPr>
        <p:spPr>
          <a:xfrm>
            <a:off x="548640" y="2453640"/>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490216"/>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Water scarcity</a:t>
            </a:r>
            <a:endParaRPr lang="en-US" sz="125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Fashion</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Daily routine</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شح المياه.</a:t>
            </a:r>
            <a:endParaRPr lang="ar-SA" sz="13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the corrected change in consumption?</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It stayed unchanged</a:t>
            </a:r>
            <a:endParaRPr lang="en-US" sz="1250" dirty="0"/>
          </a:p>
        </p:txBody>
      </p:sp>
      <p:sp>
        <p:nvSpPr>
          <p:cNvPr id="37" name="Shape 34"/>
          <p:cNvSpPr/>
          <p:nvPr/>
        </p:nvSpPr>
        <p:spPr>
          <a:xfrm>
            <a:off x="4459224"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It fell by 9%</a:t>
            </a:r>
            <a:endParaRPr lang="en-US" sz="1250" dirty="0"/>
          </a:p>
        </p:txBody>
      </p:sp>
      <p:sp>
        <p:nvSpPr>
          <p:cNvPr id="40" name="Shape 37"/>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4459224"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It rose by 9%</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He corrects himself: </a:t>
            </a:r>
            <a:pPr algn="l" indent="0" marL="0">
              <a:buNone/>
            </a:pPr>
            <a:r>
              <a:rPr lang="ar-SA" altLang="en-US" sz="1350" dirty="0">
                <a:solidFill>
                  <a:srgbClr val="8A6D1E"/>
                </a:solidFill>
                <a:latin typeface="Amiri" pitchFamily="34" charset="0"/>
                <a:ea typeface="Amiri" pitchFamily="34" charset="-122"/>
                <a:cs typeface="Amiri" pitchFamily="34" charset="-120"/>
              </a:rPr>
              <a:t>ارتفع بنسبة</a:t>
            </a:r>
            <a:pPr algn="l" indent="0" marL="0">
              <a:buNone/>
            </a:pPr>
            <a:r>
              <a:rPr lang="en-US" sz="1050" i="1" dirty="0">
                <a:solidFill>
                  <a:srgbClr val="8A6D1E"/>
                </a:solidFill>
                <a:latin typeface="Calibri" pitchFamily="34" charset="0"/>
                <a:ea typeface="Calibri" pitchFamily="34" charset="-122"/>
                <a:cs typeface="Calibri" pitchFamily="34" charset="-120"/>
              </a:rPr>
              <a:t> 9</a:t>
            </a:r>
            <a:pPr algn="l" indent="0" marL="0">
              <a:buNone/>
            </a:pPr>
            <a:r>
              <a:rPr lang="ar-SA" altLang="en-US" sz="1350" dirty="0">
                <a:solidFill>
                  <a:srgbClr val="8A6D1E"/>
                </a:solidFill>
                <a:latin typeface="Amiri" pitchFamily="34" charset="0"/>
                <a:ea typeface="Amiri" pitchFamily="34" charset="-122"/>
                <a:cs typeface="Amiri" pitchFamily="34" charset="-120"/>
              </a:rPr>
              <a:t>٪</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two things must the solution combine?</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More waste and less evidence</a:t>
            </a:r>
            <a:endParaRPr lang="en-US" sz="125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Only technology</a:t>
            </a:r>
            <a:endParaRPr lang="en-US" sz="125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Technology and behaviour change</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التقنية وتغيير السلوك معًا.</a:t>
            </a:r>
            <a:endParaRPr lang="ar-SA" sz="13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did Khalid say FIRST about consumption?</a:t>
            </a:r>
            <a:endParaRPr lang="en-US" sz="1250" dirty="0"/>
          </a:p>
        </p:txBody>
      </p:sp>
      <p:sp>
        <p:nvSpPr>
          <p:cNvPr id="64" name="Shape 61"/>
          <p:cNvSpPr/>
          <p:nvPr/>
        </p:nvSpPr>
        <p:spPr>
          <a:xfrm>
            <a:off x="548640" y="4794504"/>
            <a:ext cx="3453384"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40080"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67" name="Text 64"/>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that it fell</a:t>
            </a:r>
            <a:endParaRPr lang="en-US" sz="1250" dirty="0"/>
          </a:p>
        </p:txBody>
      </p:sp>
      <p:sp>
        <p:nvSpPr>
          <p:cNvPr id="68" name="Shape 65"/>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that it rose by 9%</a:t>
            </a:r>
            <a:endParaRPr lang="en-US" sz="125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that it stayed stable</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أَوَّلًا قَالَ إِنَّ الاسْتِهْلَاكَ انْخَفَضَ</a:t>
            </a:r>
            <a:endParaRPr lang="ar-SA" sz="1350" dirty="0"/>
          </a:p>
        </p:txBody>
      </p:sp>
      <p:sp>
        <p:nvSpPr>
          <p:cNvPr id="75" name="Shape 72"/>
          <p:cNvSpPr/>
          <p:nvPr/>
        </p:nvSpPr>
        <p:spPr>
          <a:xfrm>
            <a:off x="4276344"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898136" y="4361688"/>
            <a:ext cx="914400" cy="274320"/>
          </a:xfrm>
          <a:prstGeom prst="roundRect">
            <a:avLst>
              <a:gd name="adj" fmla="val 50000"/>
            </a:avLst>
          </a:prstGeom>
          <a:solidFill>
            <a:srgbClr val="2E8B57"/>
          </a:solidFill>
          <a:ln w="12700">
            <a:solidFill>
              <a:srgbClr val="2E8B57"/>
            </a:solidFill>
            <a:prstDash val="solid"/>
          </a:ln>
        </p:spPr>
      </p:sp>
      <p:sp>
        <p:nvSpPr>
          <p:cNvPr id="77" name="Text 74"/>
          <p:cNvSpPr txBox="1"/>
          <p:nvPr/>
        </p:nvSpPr>
        <p:spPr>
          <a:xfrm>
            <a:off x="4898136"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78" name="Text 75"/>
          <p:cNvSpPr txBox="1"/>
          <p:nvPr/>
        </p:nvSpPr>
        <p:spPr>
          <a:xfrm>
            <a:off x="4477512"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ea typeface="Calibri" pitchFamily="34" charset="-122"/>
                <a:cs typeface="Calibri" pitchFamily="34" charset="-120"/>
              </a:rPr>
              <a:t>He corrects himself!</a:t>
            </a:r>
            <a:endParaRPr lang="en-US" sz="1250" dirty="0"/>
          </a:p>
          <a:p>
            <a:pPr algn="l" indent="0" marL="0">
              <a:buNone/>
            </a:pPr>
            <a:r>
              <a:rPr lang="en-US" sz="1250" dirty="0">
                <a:solidFill>
                  <a:srgbClr val="1E6B52"/>
                </a:solidFill>
                <a:latin typeface="Calibri" pitchFamily="34" charset="0"/>
                <a:ea typeface="Calibri" pitchFamily="34" charset="-122"/>
                <a:cs typeface="Calibri" pitchFamily="34" charset="-120"/>
              </a:rPr>
              <a:t>Which direction is FINAL: up or down?</a:t>
            </a:r>
            <a:endParaRPr lang="en-US" sz="1250" dirty="0"/>
          </a:p>
        </p:txBody>
      </p:sp>
      <p:sp>
        <p:nvSpPr>
          <p:cNvPr id="79" name="Text 7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30 / 45</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D4-L11 · Unit Review</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SAY IT BEFORE YOU WRITE IT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1850" b="1" dirty="0">
                <a:solidFill>
                  <a:srgbClr val="1B3B6F"/>
                </a:solidFill>
                <a:latin typeface="Cambria" pitchFamily="34" charset="0"/>
                <a:ea typeface="Cambria" pitchFamily="34" charset="-122"/>
                <a:cs typeface="Cambria" pitchFamily="34" charset="-120"/>
              </a:rPr>
              <a:t>Speaking: diagnose strengths and improve answers</a:t>
            </a:r>
            <a:endParaRPr lang="en-US" sz="18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التَّحَدُّثُ</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D4 · Environment, Weather and Technology · D4-L11</a:t>
            </a:r>
            <a:endParaRPr lang="en-US" sz="850" dirty="0"/>
          </a:p>
        </p:txBody>
      </p:sp>
      <p:sp>
        <p:nvSpPr>
          <p:cNvPr id="15" name="Shape 12"/>
          <p:cNvSpPr/>
          <p:nvPr/>
        </p:nvSpPr>
        <p:spPr>
          <a:xfrm>
            <a:off x="457200" y="1810512"/>
            <a:ext cx="2185416" cy="566928"/>
          </a:xfrm>
          <a:prstGeom prst="roundRect">
            <a:avLst>
              <a:gd name="adj" fmla="val 12903"/>
            </a:avLst>
          </a:prstGeom>
          <a:solidFill>
            <a:srgbClr val="EEF3FA"/>
          </a:solidFill>
          <a:ln w="9525">
            <a:solidFill>
              <a:srgbClr val="C9D6EA"/>
            </a:solidFill>
            <a:prstDash val="solid"/>
          </a:ln>
        </p:spPr>
      </p:sp>
      <p:sp>
        <p:nvSpPr>
          <p:cNvPr id="16" name="Text 13"/>
          <p:cNvSpPr txBox="1"/>
          <p:nvPr/>
        </p:nvSpPr>
        <p:spPr>
          <a:xfrm>
            <a:off x="512064"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17" name="Text 14"/>
          <p:cNvSpPr txBox="1"/>
          <p:nvPr/>
        </p:nvSpPr>
        <p:spPr>
          <a:xfrm>
            <a:off x="914400"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Think</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10 seconds</a:t>
            </a:r>
            <a:endParaRPr lang="en-US" sz="1050" dirty="0"/>
          </a:p>
        </p:txBody>
      </p:sp>
      <p:sp>
        <p:nvSpPr>
          <p:cNvPr id="18" name="Shape 15"/>
          <p:cNvSpPr/>
          <p:nvPr/>
        </p:nvSpPr>
        <p:spPr>
          <a:xfrm>
            <a:off x="2729484" y="1810512"/>
            <a:ext cx="2185416" cy="566928"/>
          </a:xfrm>
          <a:prstGeom prst="roundRect">
            <a:avLst>
              <a:gd name="adj" fmla="val 12903"/>
            </a:avLst>
          </a:prstGeom>
          <a:solidFill>
            <a:srgbClr val="EEF3FA"/>
          </a:solidFill>
          <a:ln w="9525">
            <a:solidFill>
              <a:srgbClr val="C9D6EA"/>
            </a:solidFill>
            <a:prstDash val="solid"/>
          </a:ln>
        </p:spPr>
      </p:sp>
      <p:sp>
        <p:nvSpPr>
          <p:cNvPr id="19" name="Text 16"/>
          <p:cNvSpPr txBox="1"/>
          <p:nvPr/>
        </p:nvSpPr>
        <p:spPr>
          <a:xfrm>
            <a:off x="2784348"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0" name="Text 17"/>
          <p:cNvSpPr txBox="1"/>
          <p:nvPr/>
        </p:nvSpPr>
        <p:spPr>
          <a:xfrm>
            <a:off x="3186684"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Rehearse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muted · 45 s</a:t>
            </a:r>
            <a:endParaRPr lang="en-US" sz="1050" dirty="0"/>
          </a:p>
        </p:txBody>
      </p:sp>
      <p:sp>
        <p:nvSpPr>
          <p:cNvPr id="21" name="Shape 18"/>
          <p:cNvSpPr/>
          <p:nvPr/>
        </p:nvSpPr>
        <p:spPr>
          <a:xfrm>
            <a:off x="5001768" y="1810512"/>
            <a:ext cx="2185416" cy="566928"/>
          </a:xfrm>
          <a:prstGeom prst="roundRect">
            <a:avLst>
              <a:gd name="adj" fmla="val 12903"/>
            </a:avLst>
          </a:prstGeom>
          <a:solidFill>
            <a:srgbClr val="EEF3FA"/>
          </a:solidFill>
          <a:ln w="9525">
            <a:solidFill>
              <a:srgbClr val="C9D6EA"/>
            </a:solidFill>
            <a:prstDash val="solid"/>
          </a:ln>
        </p:spPr>
      </p:sp>
      <p:sp>
        <p:nvSpPr>
          <p:cNvPr id="22" name="Text 19"/>
          <p:cNvSpPr txBox="1"/>
          <p:nvPr/>
        </p:nvSpPr>
        <p:spPr>
          <a:xfrm>
            <a:off x="5056632"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3" name="Text 20"/>
          <p:cNvSpPr txBox="1"/>
          <p:nvPr/>
        </p:nvSpPr>
        <p:spPr>
          <a:xfrm>
            <a:off x="5458968"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Pairs share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open mic</a:t>
            </a:r>
            <a:endParaRPr lang="en-US" sz="1050" dirty="0"/>
          </a:p>
        </p:txBody>
      </p:sp>
      <p:sp>
        <p:nvSpPr>
          <p:cNvPr id="24" name="Shape 21"/>
          <p:cNvSpPr/>
          <p:nvPr/>
        </p:nvSpPr>
        <p:spPr>
          <a:xfrm>
            <a:off x="7274052" y="1810512"/>
            <a:ext cx="2185416" cy="566928"/>
          </a:xfrm>
          <a:prstGeom prst="roundRect">
            <a:avLst>
              <a:gd name="adj" fmla="val 12903"/>
            </a:avLst>
          </a:prstGeom>
          <a:solidFill>
            <a:srgbClr val="EEF3FA"/>
          </a:solidFill>
          <a:ln w="9525">
            <a:solidFill>
              <a:srgbClr val="C9D6EA"/>
            </a:solidFill>
            <a:prstDash val="solid"/>
          </a:ln>
        </p:spPr>
      </p:sp>
      <p:sp>
        <p:nvSpPr>
          <p:cNvPr id="25" name="Text 22"/>
          <p:cNvSpPr txBox="1"/>
          <p:nvPr/>
        </p:nvSpPr>
        <p:spPr>
          <a:xfrm>
            <a:off x="7328916"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 ?</a:t>
            </a:r>
            <a:endParaRPr lang="en-US" sz="1800" dirty="0"/>
          </a:p>
        </p:txBody>
      </p:sp>
      <p:sp>
        <p:nvSpPr>
          <p:cNvPr id="26" name="Text 23"/>
          <p:cNvSpPr txBox="1"/>
          <p:nvPr/>
        </p:nvSpPr>
        <p:spPr>
          <a:xfrm>
            <a:off x="7731252"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Build / ask</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in the chat</a:t>
            </a:r>
            <a:endParaRPr lang="en-US" sz="1050" dirty="0"/>
          </a:p>
        </p:txBody>
      </p:sp>
      <p:sp>
        <p:nvSpPr>
          <p:cNvPr id="27" name="Shape 24"/>
          <p:cNvSpPr/>
          <p:nvPr/>
        </p:nvSpPr>
        <p:spPr>
          <a:xfrm>
            <a:off x="9546336" y="1810512"/>
            <a:ext cx="2185416" cy="566928"/>
          </a:xfrm>
          <a:prstGeom prst="roundRect">
            <a:avLst>
              <a:gd name="adj" fmla="val 12903"/>
            </a:avLst>
          </a:prstGeom>
          <a:solidFill>
            <a:srgbClr val="EEF3FA"/>
          </a:solidFill>
          <a:ln w="9525">
            <a:solidFill>
              <a:srgbClr val="C9D6EA"/>
            </a:solidFill>
            <a:prstDash val="solid"/>
          </a:ln>
        </p:spPr>
      </p:sp>
      <p:sp>
        <p:nvSpPr>
          <p:cNvPr id="28" name="Text 25"/>
          <p:cNvSpPr txBox="1"/>
          <p:nvPr/>
        </p:nvSpPr>
        <p:spPr>
          <a:xfrm>
            <a:off x="9601200"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9" name="Text 26"/>
          <p:cNvSpPr txBox="1"/>
          <p:nvPr/>
        </p:nvSpPr>
        <p:spPr>
          <a:xfrm>
            <a:off x="10003536"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Summarise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he / she …</a:t>
            </a:r>
            <a:endParaRPr lang="en-US" sz="1050" dirty="0"/>
          </a:p>
        </p:txBody>
      </p:sp>
      <p:sp>
        <p:nvSpPr>
          <p:cNvPr id="30" name="Shape 27"/>
          <p:cNvSpPr/>
          <p:nvPr/>
        </p:nvSpPr>
        <p:spPr>
          <a:xfrm>
            <a:off x="4754880" y="2487168"/>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846320" y="2642616"/>
            <a:ext cx="960120" cy="256032"/>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4846320" y="2642616"/>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3" name="Text 30"/>
          <p:cNvSpPr txBox="1"/>
          <p:nvPr/>
        </p:nvSpPr>
        <p:spPr>
          <a:xfrm>
            <a:off x="5897880" y="2487168"/>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مَا أَهَمُّ مُشْكِلَةٍ بِيئِيَّةٍ؟</a:t>
            </a:r>
            <a:endParaRPr lang="ar-SA" sz="1800" dirty="0"/>
          </a:p>
        </p:txBody>
      </p:sp>
      <p:sp>
        <p:nvSpPr>
          <p:cNvPr id="34" name="Shape 31"/>
          <p:cNvSpPr/>
          <p:nvPr/>
        </p:nvSpPr>
        <p:spPr>
          <a:xfrm>
            <a:off x="4754880" y="3108960"/>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4846320" y="3264408"/>
            <a:ext cx="960120" cy="256032"/>
          </a:xfrm>
          <a:prstGeom prst="roundRect">
            <a:avLst>
              <a:gd name="adj" fmla="val 50000"/>
            </a:avLst>
          </a:prstGeom>
          <a:solidFill>
            <a:srgbClr val="C9780A"/>
          </a:solidFill>
          <a:ln w="12700">
            <a:solidFill>
              <a:srgbClr val="C9780A"/>
            </a:solidFill>
            <a:prstDash val="solid"/>
          </a:ln>
        </p:spPr>
      </p:sp>
      <p:sp>
        <p:nvSpPr>
          <p:cNvPr id="36" name="Text 33"/>
          <p:cNvSpPr txBox="1"/>
          <p:nvPr/>
        </p:nvSpPr>
        <p:spPr>
          <a:xfrm>
            <a:off x="4846320" y="3264408"/>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7" name="Text 34"/>
          <p:cNvSpPr txBox="1"/>
          <p:nvPr/>
        </p:nvSpPr>
        <p:spPr>
          <a:xfrm>
            <a:off x="5897880" y="3108960"/>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هَلِ التِّقْنِيَّةُ جُزْءٌ مِنَ الحَلِّ؟</a:t>
            </a:r>
            <a:endParaRPr lang="ar-SA" sz="1800" dirty="0"/>
          </a:p>
        </p:txBody>
      </p:sp>
      <p:sp>
        <p:nvSpPr>
          <p:cNvPr id="38" name="Shape 35"/>
          <p:cNvSpPr/>
          <p:nvPr/>
        </p:nvSpPr>
        <p:spPr>
          <a:xfrm>
            <a:off x="4754880" y="3730752"/>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9" name="Shape 36"/>
          <p:cNvSpPr/>
          <p:nvPr/>
        </p:nvSpPr>
        <p:spPr>
          <a:xfrm>
            <a:off x="4846320" y="3886200"/>
            <a:ext cx="960120" cy="256032"/>
          </a:xfrm>
          <a:prstGeom prst="roundRect">
            <a:avLst>
              <a:gd name="adj" fmla="val 50000"/>
            </a:avLst>
          </a:prstGeom>
          <a:solidFill>
            <a:srgbClr val="B83227"/>
          </a:solidFill>
          <a:ln w="12700">
            <a:solidFill>
              <a:srgbClr val="B83227"/>
            </a:solidFill>
            <a:prstDash val="solid"/>
          </a:ln>
        </p:spPr>
      </p:sp>
      <p:sp>
        <p:nvSpPr>
          <p:cNvPr id="40" name="Text 37"/>
          <p:cNvSpPr txBox="1"/>
          <p:nvPr/>
        </p:nvSpPr>
        <p:spPr>
          <a:xfrm>
            <a:off x="4846320" y="3886200"/>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41" name="Text 38"/>
          <p:cNvSpPr txBox="1"/>
          <p:nvPr/>
        </p:nvSpPr>
        <p:spPr>
          <a:xfrm>
            <a:off x="5897880" y="3730752"/>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مَا نُقْطَةُ قُوَّتِكَ وَمَجَالُ تَحْسِينِكَ؟</a:t>
            </a:r>
            <a:endParaRPr lang="ar-SA" sz="1800" dirty="0"/>
          </a:p>
        </p:txBody>
      </p:sp>
      <p:sp>
        <p:nvSpPr>
          <p:cNvPr id="42" name="Shape 39"/>
          <p:cNvSpPr/>
          <p:nvPr/>
        </p:nvSpPr>
        <p:spPr>
          <a:xfrm>
            <a:off x="457200" y="2487168"/>
            <a:ext cx="4114800" cy="2651760"/>
          </a:xfrm>
          <a:prstGeom prst="roundRect">
            <a:avLst>
              <a:gd name="adj" fmla="val 2759"/>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640080" y="2542032"/>
            <a:ext cx="27432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SENTENCE STEMS</a:t>
            </a:r>
            <a:endParaRPr lang="en-US" sz="1000" dirty="0"/>
          </a:p>
        </p:txBody>
      </p:sp>
      <p:sp>
        <p:nvSpPr>
          <p:cNvPr id="44" name="Shape 41"/>
          <p:cNvSpPr/>
          <p:nvPr/>
        </p:nvSpPr>
        <p:spPr>
          <a:xfrm>
            <a:off x="640080" y="3008376"/>
            <a:ext cx="1051560" cy="256032"/>
          </a:xfrm>
          <a:prstGeom prst="roundRect">
            <a:avLst>
              <a:gd name="adj" fmla="val 50000"/>
            </a:avLst>
          </a:prstGeom>
          <a:solidFill>
            <a:srgbClr val="2E8B57"/>
          </a:solidFill>
          <a:ln w="12700">
            <a:solidFill>
              <a:srgbClr val="2E8B57"/>
            </a:solidFill>
            <a:prstDash val="solid"/>
          </a:ln>
        </p:spPr>
      </p:sp>
      <p:sp>
        <p:nvSpPr>
          <p:cNvPr id="45" name="Text 42"/>
          <p:cNvSpPr txBox="1"/>
          <p:nvPr/>
        </p:nvSpPr>
        <p:spPr>
          <a:xfrm>
            <a:off x="640080" y="3008376"/>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46" name="Text 43"/>
          <p:cNvSpPr txBox="1"/>
          <p:nvPr/>
        </p:nvSpPr>
        <p:spPr>
          <a:xfrm>
            <a:off x="1783080" y="2852928"/>
            <a:ext cx="2697480" cy="557784"/>
          </a:xfrm>
          <a:prstGeom prst="rect">
            <a:avLst/>
          </a:prstGeom>
          <a:noFill/>
          <a:ln/>
        </p:spPr>
        <p:txBody>
          <a:bodyPr wrap="square" lIns="0" tIns="0" rIns="0" bIns="0" rtlCol="0" anchor="ctr"/>
          <a:lstStyle/>
          <a:p>
            <a:pPr rtl="1" algn="r" indent="0" marL="0">
              <a:buNone/>
            </a:pPr>
            <a:r>
              <a:rPr lang="ar-SA" altLang="en-US" sz="1300" b="1" dirty="0">
                <a:solidFill>
                  <a:srgbClr val="1D5FBF"/>
                </a:solidFill>
                <a:latin typeface="Amiri" pitchFamily="34" charset="0"/>
                <a:ea typeface="Amiri" pitchFamily="34" charset="-122"/>
                <a:cs typeface="Amiri" pitchFamily="34" charset="-120"/>
              </a:rPr>
              <a:t>مِنْ وَجْهَةِ نَظَرِي، أَهَمُّ مُشْكِلَةٍ هِيَ ___ بِسَبَبِ ___ .</a:t>
            </a:r>
            <a:endParaRPr lang="ar-SA" sz="1300" dirty="0"/>
          </a:p>
        </p:txBody>
      </p:sp>
      <p:sp>
        <p:nvSpPr>
          <p:cNvPr id="47" name="Shape 44"/>
          <p:cNvSpPr/>
          <p:nvPr/>
        </p:nvSpPr>
        <p:spPr>
          <a:xfrm>
            <a:off x="640080" y="3566160"/>
            <a:ext cx="1051560" cy="256032"/>
          </a:xfrm>
          <a:prstGeom prst="roundRect">
            <a:avLst>
              <a:gd name="adj" fmla="val 50000"/>
            </a:avLst>
          </a:prstGeom>
          <a:solidFill>
            <a:srgbClr val="C9780A"/>
          </a:solidFill>
          <a:ln w="12700">
            <a:solidFill>
              <a:srgbClr val="C9780A"/>
            </a:solidFill>
            <a:prstDash val="solid"/>
          </a:ln>
        </p:spPr>
      </p:sp>
      <p:sp>
        <p:nvSpPr>
          <p:cNvPr id="48" name="Text 45"/>
          <p:cNvSpPr txBox="1"/>
          <p:nvPr/>
        </p:nvSpPr>
        <p:spPr>
          <a:xfrm>
            <a:off x="640080" y="3566160"/>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49" name="Text 46"/>
          <p:cNvSpPr txBox="1"/>
          <p:nvPr/>
        </p:nvSpPr>
        <p:spPr>
          <a:xfrm>
            <a:off x="1783080" y="3410712"/>
            <a:ext cx="2697480" cy="557784"/>
          </a:xfrm>
          <a:prstGeom prst="rect">
            <a:avLst/>
          </a:prstGeom>
          <a:noFill/>
          <a:ln/>
        </p:spPr>
        <p:txBody>
          <a:bodyPr wrap="square" lIns="0" tIns="0" rIns="0" bIns="0" rtlCol="0" anchor="ctr"/>
          <a:lstStyle/>
          <a:p>
            <a:pPr rtl="1" algn="r" indent="0" marL="0">
              <a:buNone/>
            </a:pPr>
            <a:r>
              <a:rPr lang="ar-SA" altLang="en-US" sz="1550" b="1" dirty="0">
                <a:solidFill>
                  <a:srgbClr val="1F2A37"/>
                </a:solidFill>
                <a:latin typeface="Amiri" pitchFamily="34" charset="0"/>
                <a:ea typeface="Amiri" pitchFamily="34" charset="-122"/>
                <a:cs typeface="Amiri" pitchFamily="34" charset="-120"/>
              </a:rPr>
              <a:t>نَعَمْ، إِلَى حَدٍّ مَا؛ سَأُعْطِي مِثَالًا: ___ .</a:t>
            </a:r>
            <a:endParaRPr lang="ar-SA" sz="1550" dirty="0"/>
          </a:p>
        </p:txBody>
      </p:sp>
      <p:sp>
        <p:nvSpPr>
          <p:cNvPr id="50" name="Shape 47"/>
          <p:cNvSpPr/>
          <p:nvPr/>
        </p:nvSpPr>
        <p:spPr>
          <a:xfrm>
            <a:off x="640080" y="4123944"/>
            <a:ext cx="1051560" cy="256032"/>
          </a:xfrm>
          <a:prstGeom prst="roundRect">
            <a:avLst>
              <a:gd name="adj" fmla="val 50000"/>
            </a:avLst>
          </a:prstGeom>
          <a:solidFill>
            <a:srgbClr val="B83227"/>
          </a:solidFill>
          <a:ln w="12700">
            <a:solidFill>
              <a:srgbClr val="B83227"/>
            </a:solidFill>
            <a:prstDash val="solid"/>
          </a:ln>
        </p:spPr>
      </p:sp>
      <p:sp>
        <p:nvSpPr>
          <p:cNvPr id="51" name="Text 48"/>
          <p:cNvSpPr txBox="1"/>
          <p:nvPr/>
        </p:nvSpPr>
        <p:spPr>
          <a:xfrm>
            <a:off x="640080" y="4123944"/>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52" name="Text 49"/>
          <p:cNvSpPr txBox="1"/>
          <p:nvPr/>
        </p:nvSpPr>
        <p:spPr>
          <a:xfrm>
            <a:off x="1783080" y="3968496"/>
            <a:ext cx="2697480" cy="557784"/>
          </a:xfrm>
          <a:prstGeom prst="rect">
            <a:avLst/>
          </a:prstGeom>
          <a:noFill/>
          <a:ln/>
        </p:spPr>
        <p:txBody>
          <a:bodyPr wrap="square" lIns="0" tIns="0" rIns="0" bIns="0" rtlCol="0" anchor="ctr"/>
          <a:lstStyle/>
          <a:p>
            <a:pPr rtl="1" algn="r" indent="0" marL="0">
              <a:lnSpc>
                <a:spcPct val="120000"/>
              </a:lnSpc>
              <a:buNone/>
            </a:pPr>
            <a:r>
              <a:rPr lang="ar-SA" altLang="en-US" sz="1250" b="1" dirty="0">
                <a:solidFill>
                  <a:srgbClr val="1F2A37"/>
                </a:solidFill>
                <a:latin typeface="Amiri" pitchFamily="34" charset="0"/>
                <a:ea typeface="Amiri" pitchFamily="34" charset="-122"/>
                <a:cs typeface="Amiri" pitchFamily="34" charset="-120"/>
              </a:rPr>
              <a:t>نُقْطَةُ قُوَّتِي ___ ، أَمَّا مَجَالُ التَّحْسِينِ فَهُوَ ___ .</a:t>
            </a:r>
            <a:endParaRPr lang="ar-SA" sz="1250" dirty="0"/>
          </a:p>
        </p:txBody>
      </p:sp>
      <p:sp>
        <p:nvSpPr>
          <p:cNvPr id="53" name="Shape 50"/>
          <p:cNvSpPr/>
          <p:nvPr/>
        </p:nvSpPr>
        <p:spPr>
          <a:xfrm>
            <a:off x="457200" y="5248656"/>
            <a:ext cx="11274552" cy="1060704"/>
          </a:xfrm>
          <a:prstGeom prst="roundRect">
            <a:avLst>
              <a:gd name="adj" fmla="val 6897"/>
            </a:avLst>
          </a:prstGeom>
          <a:solidFill>
            <a:srgbClr val="EAF3EF"/>
          </a:solidFill>
          <a:ln w="9525">
            <a:solidFill>
              <a:srgbClr val="A8CDB9"/>
            </a:solidFill>
            <a:prstDash val="solid"/>
          </a:ln>
          <a:effectLst>
            <a:outerShdw sx="100000" sy="100000" kx="0" ky="0" algn="bl" rotWithShape="0" blurRad="50800" dist="19050" dir="5400000">
              <a:srgbClr val="000000">
                <a:alpha val="10000"/>
              </a:srgbClr>
            </a:outerShdw>
          </a:effectLst>
        </p:spPr>
      </p:sp>
      <p:sp>
        <p:nvSpPr>
          <p:cNvPr id="54" name="Text 51"/>
          <p:cNvSpPr txBox="1"/>
          <p:nvPr/>
        </p:nvSpPr>
        <p:spPr>
          <a:xfrm>
            <a:off x="640080" y="5285232"/>
            <a:ext cx="2011680" cy="256032"/>
          </a:xfrm>
          <a:prstGeom prst="rect">
            <a:avLst/>
          </a:prstGeom>
          <a:noFill/>
          <a:ln/>
        </p:spPr>
        <p:txBody>
          <a:bodyPr wrap="square" lIns="0" tIns="0" rIns="0" bIns="0" rtlCol="0" anchor="ctr"/>
          <a:lstStyle/>
          <a:p>
            <a:pPr algn="l" indent="0" marL="0">
              <a:buNone/>
            </a:pPr>
            <a:r>
              <a:rPr lang="en-US" sz="950" b="1" spc="100" kern="0" dirty="0">
                <a:solidFill>
                  <a:srgbClr val="1E6B52"/>
                </a:solidFill>
                <a:latin typeface="Calibri" pitchFamily="34" charset="0"/>
                <a:ea typeface="Calibri" pitchFamily="34" charset="-122"/>
                <a:cs typeface="Calibri" pitchFamily="34" charset="-120"/>
              </a:rPr>
              <a:t>MODEL (WEBSITE)</a:t>
            </a:r>
            <a:endParaRPr lang="en-US" sz="950" dirty="0"/>
          </a:p>
        </p:txBody>
      </p:sp>
      <p:sp>
        <p:nvSpPr>
          <p:cNvPr id="55" name="Shape 52"/>
          <p:cNvSpPr/>
          <p:nvPr/>
        </p:nvSpPr>
        <p:spPr>
          <a:xfrm>
            <a:off x="11274552" y="5559552"/>
            <a:ext cx="292608" cy="292608"/>
          </a:xfrm>
          <a:prstGeom prst="ellipse">
            <a:avLst/>
          </a:prstGeom>
          <a:solidFill>
            <a:srgbClr val="1E6B52"/>
          </a:solidFill>
          <a:ln w="12700">
            <a:solidFill>
              <a:srgbClr val="1E6B52"/>
            </a:solidFill>
            <a:prstDash val="solid"/>
          </a:ln>
        </p:spPr>
      </p:sp>
      <p:sp>
        <p:nvSpPr>
          <p:cNvPr id="56" name="Text 53"/>
          <p:cNvSpPr txBox="1"/>
          <p:nvPr/>
        </p:nvSpPr>
        <p:spPr>
          <a:xfrm>
            <a:off x="11274552" y="555955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A</a:t>
            </a:r>
            <a:endParaRPr lang="en-US" sz="1000" dirty="0"/>
          </a:p>
        </p:txBody>
      </p:sp>
      <p:sp>
        <p:nvSpPr>
          <p:cNvPr id="57" name="Text 54"/>
          <p:cNvSpPr txBox="1"/>
          <p:nvPr/>
        </p:nvSpPr>
        <p:spPr>
          <a:xfrm>
            <a:off x="2834640" y="552297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34" charset="0"/>
                <a:ea typeface="Amiri" pitchFamily="34" charset="-122"/>
                <a:cs typeface="Amiri" pitchFamily="34" charset="-120"/>
              </a:rPr>
              <a:t>مَا أَقْوَى جَانِبٍ فِي لُغَتِكَ فِي هٰذِهِ الوَحْدَةِ، وَمَا الَّذِي تَحْتَاجُ إِلَى تَحْسِينِهِ؟</a:t>
            </a:r>
            <a:endParaRPr lang="ar-SA" sz="1550" dirty="0"/>
          </a:p>
        </p:txBody>
      </p:sp>
      <p:sp>
        <p:nvSpPr>
          <p:cNvPr id="58" name="Text 55"/>
          <p:cNvSpPr txBox="1"/>
          <p:nvPr/>
        </p:nvSpPr>
        <p:spPr>
          <a:xfrm>
            <a:off x="640080" y="5522976"/>
            <a:ext cx="2148840" cy="365760"/>
          </a:xfrm>
          <a:prstGeom prst="rect">
            <a:avLst/>
          </a:prstGeom>
          <a:noFill/>
          <a:ln/>
        </p:spPr>
        <p:txBody>
          <a:bodyPr wrap="square" lIns="0" tIns="0" rIns="0" bIns="0" rtlCol="0" anchor="ctr"/>
          <a:lstStyle/>
          <a:p>
            <a:pPr algn="l" indent="0" marL="0">
              <a:buNone/>
            </a:pPr>
            <a:r>
              <a:rPr lang="en-US" sz="750" i="1" dirty="0">
                <a:solidFill>
                  <a:srgbClr val="5A6472"/>
                </a:solidFill>
                <a:latin typeface="Calibri" pitchFamily="34" charset="0"/>
                <a:ea typeface="Calibri" pitchFamily="34" charset="-122"/>
                <a:cs typeface="Calibri" pitchFamily="34" charset="-120"/>
              </a:rPr>
              <a:t>What is the strongest side of your language in this unit, and what do you need to improve?</a:t>
            </a:r>
            <a:endParaRPr lang="en-US" sz="750" dirty="0"/>
          </a:p>
        </p:txBody>
      </p:sp>
      <p:sp>
        <p:nvSpPr>
          <p:cNvPr id="59" name="Shape 56"/>
          <p:cNvSpPr/>
          <p:nvPr/>
        </p:nvSpPr>
        <p:spPr>
          <a:xfrm>
            <a:off x="11274552" y="5925312"/>
            <a:ext cx="292608" cy="292608"/>
          </a:xfrm>
          <a:prstGeom prst="ellipse">
            <a:avLst/>
          </a:prstGeom>
          <a:solidFill>
            <a:srgbClr val="1E6B52"/>
          </a:solidFill>
          <a:ln w="12700">
            <a:solidFill>
              <a:srgbClr val="1E6B52"/>
            </a:solidFill>
            <a:prstDash val="solid"/>
          </a:ln>
        </p:spPr>
      </p:sp>
      <p:sp>
        <p:nvSpPr>
          <p:cNvPr id="60" name="Text 57"/>
          <p:cNvSpPr txBox="1"/>
          <p:nvPr/>
        </p:nvSpPr>
        <p:spPr>
          <a:xfrm>
            <a:off x="11274552" y="592531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B</a:t>
            </a:r>
            <a:endParaRPr lang="en-US" sz="1000" dirty="0"/>
          </a:p>
        </p:txBody>
      </p:sp>
      <p:sp>
        <p:nvSpPr>
          <p:cNvPr id="61" name="Text 58"/>
          <p:cNvSpPr txBox="1"/>
          <p:nvPr/>
        </p:nvSpPr>
        <p:spPr>
          <a:xfrm>
            <a:off x="2834640" y="5888736"/>
            <a:ext cx="8348472" cy="365760"/>
          </a:xfrm>
          <a:prstGeom prst="rect">
            <a:avLst/>
          </a:prstGeom>
          <a:noFill/>
          <a:ln/>
        </p:spPr>
        <p:txBody>
          <a:bodyPr wrap="square" lIns="0" tIns="0" rIns="0" bIns="0" rtlCol="0" anchor="ctr"/>
          <a:lstStyle/>
          <a:p>
            <a:pPr rtl="1" algn="r" indent="0" marL="0">
              <a:buNone/>
            </a:pPr>
            <a:r>
              <a:rPr lang="ar-SA" altLang="en-US" sz="1150" dirty="0">
                <a:solidFill>
                  <a:srgbClr val="1F2A37"/>
                </a:solidFill>
                <a:latin typeface="Amiri" pitchFamily="34" charset="0"/>
                <a:ea typeface="Amiri" pitchFamily="34" charset="-122"/>
                <a:cs typeface="Amiri" pitchFamily="34" charset="-120"/>
              </a:rPr>
              <a:t>نُقْطَةُ قُوَّتِي هِيَ رَبْطُ السَّبَبِ بِالنَّتِيجَةِ، لِأَنَّنِي أَسْتَخْدِمُ بِسَبَبِ وَيُؤَدِّي إِلَى بِدِقَّةٍ. أَمَّا مَجَالُ التَّحْسِينِ فَهُوَ المَبْنِيُّ لِلْمَجْهُولِ، وَسَأُرَاجِعُ اتِّفَاقَ الفِعْلِ مَعَ الفَاعِلِ النَّحْوِيِّ.</a:t>
            </a:r>
            <a:endParaRPr lang="ar-SA" sz="1150" dirty="0"/>
          </a:p>
        </p:txBody>
      </p:sp>
      <p:sp>
        <p:nvSpPr>
          <p:cNvPr id="62" name="Text 59"/>
          <p:cNvSpPr txBox="1"/>
          <p:nvPr/>
        </p:nvSpPr>
        <p:spPr>
          <a:xfrm>
            <a:off x="640080" y="5888736"/>
            <a:ext cx="2148840" cy="365760"/>
          </a:xfrm>
          <a:prstGeom prst="rect">
            <a:avLst/>
          </a:prstGeom>
          <a:noFill/>
          <a:ln/>
        </p:spPr>
        <p:txBody>
          <a:bodyPr wrap="square" lIns="0" tIns="0" rIns="0" bIns="0" rtlCol="0" anchor="ctr"/>
          <a:lstStyle/>
          <a:p>
            <a:pPr algn="l" indent="0" marL="0">
              <a:buNone/>
            </a:pPr>
            <a:r>
              <a:rPr lang="en-US" sz="750" i="1" dirty="0">
                <a:solidFill>
                  <a:srgbClr val="5A6472"/>
                </a:solidFill>
                <a:latin typeface="Calibri" pitchFamily="34" charset="0"/>
                <a:ea typeface="Calibri" pitchFamily="34" charset="-122"/>
                <a:cs typeface="Calibri" pitchFamily="34" charset="-120"/>
              </a:rPr>
              <a:t>My strength is linking cause and effect… As for my area for improvement, it is the passive, and I will revise verb agreement.</a:t>
            </a:r>
            <a:endParaRPr lang="en-US" sz="7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31 / 45</a:t>
            </a:r>
            <a:endParaRPr lang="en-US" sz="8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D4-L11 · Unit Review</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9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INDEPENDENT PRACTICE · 9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Write: choose your route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D4 · Environment, Weather and Technology · D4-L11</a:t>
            </a:r>
            <a:endParaRPr lang="en-US" sz="850" dirty="0"/>
          </a:p>
        </p:txBody>
      </p:sp>
      <p:sp>
        <p:nvSpPr>
          <p:cNvPr id="15" name="Shape 12"/>
          <p:cNvSpPr/>
          <p:nvPr/>
        </p:nvSpPr>
        <p:spPr>
          <a:xfrm>
            <a:off x="457200" y="1810512"/>
            <a:ext cx="3639312" cy="4315968"/>
          </a:xfrm>
          <a:prstGeom prst="roundRect">
            <a:avLst>
              <a:gd name="adj" fmla="val 2010"/>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310896"/>
          </a:xfrm>
          <a:prstGeom prst="roundRect">
            <a:avLst>
              <a:gd name="adj" fmla="val 50000"/>
            </a:avLst>
          </a:prstGeom>
          <a:solidFill>
            <a:srgbClr val="2E8B57"/>
          </a:solidFill>
          <a:ln w="12700">
            <a:solidFill>
              <a:srgbClr val="2E8B57"/>
            </a:solidFill>
            <a:prstDash val="solid"/>
          </a:ln>
        </p:spPr>
      </p:sp>
      <p:sp>
        <p:nvSpPr>
          <p:cNvPr id="17" name="Text 14"/>
          <p:cNvSpPr txBox="1"/>
          <p:nvPr/>
        </p:nvSpPr>
        <p:spPr>
          <a:xfrm>
            <a:off x="640080"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CORE</a:t>
            </a:r>
            <a:endParaRPr lang="en-US" sz="1000" dirty="0"/>
          </a:p>
        </p:txBody>
      </p:sp>
      <p:sp>
        <p:nvSpPr>
          <p:cNvPr id="18" name="Text 15"/>
          <p:cNvSpPr txBox="1"/>
          <p:nvPr/>
        </p:nvSpPr>
        <p:spPr>
          <a:xfrm>
            <a:off x="2450592"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2E8B57"/>
                </a:solidFill>
                <a:latin typeface="Amiri" pitchFamily="34" charset="0"/>
                <a:ea typeface="Amiri" pitchFamily="34" charset="-122"/>
                <a:cs typeface="Amiri" pitchFamily="34" charset="-120"/>
              </a:rPr>
              <a:t>الأَسَاسُ</a:t>
            </a:r>
            <a:endParaRPr lang="ar-SA" sz="1800" dirty="0"/>
          </a:p>
        </p:txBody>
      </p:sp>
      <p:sp>
        <p:nvSpPr>
          <p:cNvPr id="19" name="Text 16"/>
          <p:cNvSpPr txBox="1"/>
          <p:nvPr/>
        </p:nvSpPr>
        <p:spPr>
          <a:xfrm>
            <a:off x="640080" y="2377440"/>
            <a:ext cx="3273552" cy="457200"/>
          </a:xfrm>
          <a:prstGeom prst="rect">
            <a:avLst/>
          </a:prstGeom>
          <a:noFill/>
          <a:ln/>
        </p:spPr>
        <p:txBody>
          <a:bodyPr wrap="square" lIns="0" tIns="0" rIns="0" bIns="0" rtlCol="0" anchor="ctr"/>
          <a:lstStyle/>
          <a:p>
            <a:pPr algn="l" indent="0" marL="0">
              <a:buNone/>
            </a:pPr>
            <a:r>
              <a:rPr lang="en-US" sz="2200" b="1" dirty="0">
                <a:solidFill>
                  <a:srgbClr val="2E8B57"/>
                </a:solidFill>
                <a:latin typeface="Cambria" pitchFamily="34" charset="0"/>
                <a:ea typeface="Cambria" pitchFamily="34" charset="-122"/>
                <a:cs typeface="Cambria" pitchFamily="34" charset="-120"/>
              </a:rPr>
              <a:t>5 sentences</a:t>
            </a:r>
            <a:endParaRPr lang="en-US" sz="2200" dirty="0"/>
          </a:p>
        </p:txBody>
      </p:sp>
      <p:sp>
        <p:nvSpPr>
          <p:cNvPr id="20" name="Text 17"/>
          <p:cNvSpPr txBox="1"/>
          <p:nvPr/>
        </p:nvSpPr>
        <p:spPr>
          <a:xfrm>
            <a:off x="640080"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Use the vocabulary banks and sentence frames to produce four accurate connected sentences.</a:t>
            </a:r>
            <a:endParaRPr lang="en-US" sz="1400" dirty="0"/>
          </a:p>
        </p:txBody>
      </p:sp>
      <p:sp>
        <p:nvSpPr>
          <p:cNvPr id="21" name="Shape 18"/>
          <p:cNvSpPr/>
          <p:nvPr/>
        </p:nvSpPr>
        <p:spPr>
          <a:xfrm>
            <a:off x="640080" y="4160520"/>
            <a:ext cx="3273552" cy="1783080"/>
          </a:xfrm>
          <a:prstGeom prst="roundRect">
            <a:avLst>
              <a:gd name="adj" fmla="val 4103"/>
            </a:avLst>
          </a:prstGeom>
          <a:solidFill>
            <a:srgbClr val="FFFFFF"/>
          </a:solidFill>
          <a:ln w="9525">
            <a:solidFill>
              <a:srgbClr val="FFFFFF"/>
            </a:solidFill>
            <a:prstDash val="solid"/>
          </a:ln>
        </p:spPr>
      </p:sp>
      <p:sp>
        <p:nvSpPr>
          <p:cNvPr id="22" name="Text 19"/>
          <p:cNvSpPr txBox="1"/>
          <p:nvPr/>
        </p:nvSpPr>
        <p:spPr>
          <a:xfrm>
            <a:off x="731520" y="4224528"/>
            <a:ext cx="3090672" cy="1645920"/>
          </a:xfrm>
          <a:prstGeom prst="rect">
            <a:avLst/>
          </a:prstGeom>
          <a:noFill/>
          <a:ln/>
        </p:spPr>
        <p:txBody>
          <a:bodyPr wrap="square" lIns="0" tIns="0" rIns="0" bIns="0" rtlCol="0" anchor="t"/>
          <a:lstStyle/>
          <a:p>
            <a:pPr indent="0" marL="0">
              <a:buNone/>
            </a:pPr>
            <a:r>
              <a:rPr lang="en-US" sz="900" b="1" spc="200" kern="0" dirty="0">
                <a:solidFill>
                  <a:srgbClr val="2E8B57"/>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One per link: climate · problem · cause · solution · opinion — with the frames.</a:t>
            </a:r>
            <a:endParaRPr lang="en-US" sz="900" dirty="0"/>
          </a:p>
        </p:txBody>
      </p:sp>
      <p:sp>
        <p:nvSpPr>
          <p:cNvPr id="23" name="Shape 20"/>
          <p:cNvSpPr/>
          <p:nvPr/>
        </p:nvSpPr>
        <p:spPr>
          <a:xfrm>
            <a:off x="4279392" y="1810512"/>
            <a:ext cx="3639312" cy="4315968"/>
          </a:xfrm>
          <a:prstGeom prst="roundRect">
            <a:avLst>
              <a:gd name="adj" fmla="val 2010"/>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62272" y="1938528"/>
            <a:ext cx="1188720" cy="310896"/>
          </a:xfrm>
          <a:prstGeom prst="roundRect">
            <a:avLst>
              <a:gd name="adj" fmla="val 50000"/>
            </a:avLst>
          </a:prstGeom>
          <a:solidFill>
            <a:srgbClr val="C9780A"/>
          </a:solidFill>
          <a:ln w="12700">
            <a:solidFill>
              <a:srgbClr val="C9780A"/>
            </a:solidFill>
            <a:prstDash val="solid"/>
          </a:ln>
        </p:spPr>
      </p:sp>
      <p:sp>
        <p:nvSpPr>
          <p:cNvPr id="25" name="Text 22"/>
          <p:cNvSpPr txBox="1"/>
          <p:nvPr/>
        </p:nvSpPr>
        <p:spPr>
          <a:xfrm>
            <a:off x="4462272"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DEVELOP</a:t>
            </a:r>
            <a:endParaRPr lang="en-US" sz="1000" dirty="0"/>
          </a:p>
        </p:txBody>
      </p:sp>
      <p:sp>
        <p:nvSpPr>
          <p:cNvPr id="26" name="Text 23"/>
          <p:cNvSpPr txBox="1"/>
          <p:nvPr/>
        </p:nvSpPr>
        <p:spPr>
          <a:xfrm>
            <a:off x="6272784"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C9780A"/>
                </a:solidFill>
                <a:latin typeface="Amiri" pitchFamily="34" charset="0"/>
                <a:ea typeface="Amiri" pitchFamily="34" charset="-122"/>
                <a:cs typeface="Amiri" pitchFamily="34" charset="-120"/>
              </a:rPr>
              <a:t>التَّطْوِيرُ</a:t>
            </a:r>
            <a:endParaRPr lang="ar-SA" sz="1800" dirty="0"/>
          </a:p>
        </p:txBody>
      </p:sp>
      <p:sp>
        <p:nvSpPr>
          <p:cNvPr id="27" name="Text 24"/>
          <p:cNvSpPr txBox="1"/>
          <p:nvPr/>
        </p:nvSpPr>
        <p:spPr>
          <a:xfrm>
            <a:off x="4462272" y="2377440"/>
            <a:ext cx="3273552" cy="457200"/>
          </a:xfrm>
          <a:prstGeom prst="rect">
            <a:avLst/>
          </a:prstGeom>
          <a:noFill/>
          <a:ln/>
        </p:spPr>
        <p:txBody>
          <a:bodyPr wrap="square" lIns="0" tIns="0" rIns="0" bIns="0" rtlCol="0" anchor="ctr"/>
          <a:lstStyle/>
          <a:p>
            <a:pPr algn="l" indent="0" marL="0">
              <a:buNone/>
            </a:pPr>
            <a:r>
              <a:rPr lang="en-US" sz="2200" b="1" dirty="0">
                <a:solidFill>
                  <a:srgbClr val="C9780A"/>
                </a:solidFill>
                <a:latin typeface="Cambria" pitchFamily="34" charset="0"/>
                <a:ea typeface="Cambria" pitchFamily="34" charset="-122"/>
                <a:cs typeface="Cambria" pitchFamily="34" charset="-120"/>
              </a:rPr>
              <a:t>100–120 words</a:t>
            </a:r>
            <a:endParaRPr lang="en-US" sz="2200" dirty="0"/>
          </a:p>
        </p:txBody>
      </p:sp>
      <p:sp>
        <p:nvSpPr>
          <p:cNvPr id="28" name="Text 25"/>
          <p:cNvSpPr txBox="1"/>
          <p:nvPr/>
        </p:nvSpPr>
        <p:spPr>
          <a:xfrm>
            <a:off x="4462272"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Use several target structures in a linked paragraph or sustained spoken answer.</a:t>
            </a:r>
            <a:endParaRPr lang="en-US" sz="1400" dirty="0"/>
          </a:p>
        </p:txBody>
      </p:sp>
      <p:sp>
        <p:nvSpPr>
          <p:cNvPr id="29" name="Shape 26"/>
          <p:cNvSpPr/>
          <p:nvPr/>
        </p:nvSpPr>
        <p:spPr>
          <a:xfrm>
            <a:off x="4462272" y="4160520"/>
            <a:ext cx="3273552" cy="1783080"/>
          </a:xfrm>
          <a:prstGeom prst="roundRect">
            <a:avLst>
              <a:gd name="adj" fmla="val 4103"/>
            </a:avLst>
          </a:prstGeom>
          <a:solidFill>
            <a:srgbClr val="FFFFFF"/>
          </a:solidFill>
          <a:ln w="9525">
            <a:solidFill>
              <a:srgbClr val="FFFFFF"/>
            </a:solidFill>
            <a:prstDash val="solid"/>
          </a:ln>
        </p:spPr>
      </p:sp>
      <p:sp>
        <p:nvSpPr>
          <p:cNvPr id="30" name="Text 27"/>
          <p:cNvSpPr txBox="1"/>
          <p:nvPr/>
        </p:nvSpPr>
        <p:spPr>
          <a:xfrm>
            <a:off x="4553712" y="4224528"/>
            <a:ext cx="3090672" cy="1645920"/>
          </a:xfrm>
          <a:prstGeom prst="rect">
            <a:avLst/>
          </a:prstGeom>
          <a:noFill/>
          <a:ln/>
        </p:spPr>
        <p:txBody>
          <a:bodyPr wrap="square" lIns="0" tIns="0" rIns="0" bIns="0" rtlCol="0" anchor="t"/>
          <a:lstStyle/>
          <a:p>
            <a:pPr indent="0" marL="0">
              <a:buNone/>
            </a:pPr>
            <a:r>
              <a:rPr lang="en-US" sz="900" b="1" spc="200" kern="0" dirty="0">
                <a:solidFill>
                  <a:srgbClr val="C9780A"/>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The chain as one paragraph with a passive, a cause–effect and a purpose clause.</a:t>
            </a:r>
            <a:endParaRPr lang="en-US" sz="900" dirty="0"/>
          </a:p>
        </p:txBody>
      </p:sp>
      <p:sp>
        <p:nvSpPr>
          <p:cNvPr id="31" name="Shape 28"/>
          <p:cNvSpPr/>
          <p:nvPr/>
        </p:nvSpPr>
        <p:spPr>
          <a:xfrm>
            <a:off x="8101584" y="1810512"/>
            <a:ext cx="3639312" cy="4315968"/>
          </a:xfrm>
          <a:prstGeom prst="roundRect">
            <a:avLst>
              <a:gd name="adj" fmla="val 2010"/>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8284464" y="1938528"/>
            <a:ext cx="1188720" cy="310896"/>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8284464"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STRETCH</a:t>
            </a:r>
            <a:endParaRPr lang="en-US" sz="1000" dirty="0"/>
          </a:p>
        </p:txBody>
      </p:sp>
      <p:sp>
        <p:nvSpPr>
          <p:cNvPr id="34" name="Text 31"/>
          <p:cNvSpPr txBox="1"/>
          <p:nvPr/>
        </p:nvSpPr>
        <p:spPr>
          <a:xfrm>
            <a:off x="10094976"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التَّحَدِّي</a:t>
            </a:r>
            <a:endParaRPr lang="ar-SA" sz="1800" dirty="0"/>
          </a:p>
        </p:txBody>
      </p:sp>
      <p:sp>
        <p:nvSpPr>
          <p:cNvPr id="35" name="Text 32"/>
          <p:cNvSpPr txBox="1"/>
          <p:nvPr/>
        </p:nvSpPr>
        <p:spPr>
          <a:xfrm>
            <a:off x="8284464" y="2377440"/>
            <a:ext cx="3273552" cy="457200"/>
          </a:xfrm>
          <a:prstGeom prst="rect">
            <a:avLst/>
          </a:prstGeom>
          <a:noFill/>
          <a:ln/>
        </p:spPr>
        <p:txBody>
          <a:bodyPr wrap="square" lIns="0" tIns="0" rIns="0" bIns="0" rtlCol="0" anchor="ctr"/>
          <a:lstStyle/>
          <a:p>
            <a:pPr algn="l" indent="0" marL="0">
              <a:buNone/>
            </a:pPr>
            <a:r>
              <a:rPr lang="en-US" sz="2200" b="1" dirty="0">
                <a:solidFill>
                  <a:srgbClr val="B83227"/>
                </a:solidFill>
                <a:latin typeface="Cambria" pitchFamily="34" charset="0"/>
                <a:ea typeface="Cambria" pitchFamily="34" charset="-122"/>
                <a:cs typeface="Cambria" pitchFamily="34" charset="-120"/>
              </a:rPr>
              <a:t>130–140 words</a:t>
            </a:r>
            <a:endParaRPr lang="en-US" sz="2200" dirty="0"/>
          </a:p>
        </p:txBody>
      </p:sp>
      <p:sp>
        <p:nvSpPr>
          <p:cNvPr id="36" name="Text 33"/>
          <p:cNvSpPr txBox="1"/>
          <p:nvPr/>
        </p:nvSpPr>
        <p:spPr>
          <a:xfrm>
            <a:off x="8284464"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Evaluate, compare or qualify ideas using precise evidence and formal linking language.</a:t>
            </a:r>
            <a:endParaRPr lang="en-US" sz="1400" dirty="0"/>
          </a:p>
        </p:txBody>
      </p:sp>
      <p:sp>
        <p:nvSpPr>
          <p:cNvPr id="37" name="Shape 34"/>
          <p:cNvSpPr/>
          <p:nvPr/>
        </p:nvSpPr>
        <p:spPr>
          <a:xfrm>
            <a:off x="8284464" y="4160520"/>
            <a:ext cx="3273552" cy="1783080"/>
          </a:xfrm>
          <a:prstGeom prst="roundRect">
            <a:avLst>
              <a:gd name="adj" fmla="val 4103"/>
            </a:avLst>
          </a:prstGeom>
          <a:solidFill>
            <a:srgbClr val="FFFFFF"/>
          </a:solidFill>
          <a:ln w="9525">
            <a:solidFill>
              <a:srgbClr val="FFFFFF"/>
            </a:solidFill>
            <a:prstDash val="solid"/>
          </a:ln>
        </p:spPr>
      </p:sp>
      <p:sp>
        <p:nvSpPr>
          <p:cNvPr id="38" name="Text 35"/>
          <p:cNvSpPr txBox="1"/>
          <p:nvPr/>
        </p:nvSpPr>
        <p:spPr>
          <a:xfrm>
            <a:off x="8375904" y="4224528"/>
            <a:ext cx="3090672" cy="1645920"/>
          </a:xfrm>
          <a:prstGeom prst="rect">
            <a:avLst/>
          </a:prstGeom>
          <a:noFill/>
          <a:ln/>
        </p:spPr>
        <p:txBody>
          <a:bodyPr wrap="square" lIns="0" tIns="0" rIns="0" bIns="0" rtlCol="0" anchor="t"/>
          <a:lstStyle/>
          <a:p>
            <a:pPr indent="0" marL="0">
              <a:buNone/>
            </a:pPr>
            <a:r>
              <a:rPr lang="en-US" sz="900" b="1" spc="200" kern="0" dirty="0">
                <a:solidFill>
                  <a:srgbClr val="B83227"/>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Website task: seven meaningful D4 features + a qualified technology judgement, then self-audit.</a:t>
            </a:r>
            <a:endParaRPr lang="en-US" sz="9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32 / 45</a:t>
            </a:r>
            <a:endParaRPr lang="en-US" sz="8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D4-L11 · Unit Review</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SUPPORT · CORE AND DEVELOP FRAMES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Sentence frames and word bank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قَوَالِبُ الجُمَلِ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D4 · Environment, Weather and Technology · D4-L11</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______ ، مِمَّا يُؤَدِّي إِلَى ______ .</a:t>
            </a:r>
            <a:endParaRPr lang="ar-SA" sz="180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 which leads to …</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يُشَارُ إِلَى أَنَّ ______ .</a:t>
            </a:r>
            <a:endParaRPr lang="ar-SA" sz="180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It is indicated that …</a:t>
            </a:r>
            <a:endParaRPr lang="en-US" sz="1050" dirty="0"/>
          </a:p>
        </p:txBody>
      </p:sp>
      <p:sp>
        <p:nvSpPr>
          <p:cNvPr id="22" name="Text 19"/>
          <p:cNvSpPr txBox="1"/>
          <p:nvPr/>
        </p:nvSpPr>
        <p:spPr>
          <a:xfrm>
            <a:off x="2468880" y="3383280"/>
            <a:ext cx="3383280" cy="538582"/>
          </a:xfrm>
          <a:prstGeom prst="rect">
            <a:avLst/>
          </a:prstGeom>
          <a:noFill/>
          <a:ln/>
        </p:spPr>
        <p:txBody>
          <a:bodyPr wrap="square" lIns="0" tIns="0" rIns="0" bIns="0" rtlCol="0" anchor="ctr"/>
          <a:lstStyle/>
          <a:p>
            <a:pPr rtl="1" algn="r" indent="0" marL="0">
              <a:buNone/>
            </a:pPr>
            <a:r>
              <a:rPr lang="ar-SA" altLang="en-US" sz="1700" b="1" dirty="0">
                <a:solidFill>
                  <a:srgbClr val="1B3B6F"/>
                </a:solidFill>
                <a:latin typeface="Amiri" pitchFamily="34" charset="0"/>
                <a:ea typeface="Amiri" pitchFamily="34" charset="-122"/>
                <a:cs typeface="Amiri" pitchFamily="34" charset="-120"/>
              </a:rPr>
              <a:t>عَلَى الرَّغْمِ مِنْ أَنَّ ______ ، فَإِنَّهَا ______ .</a:t>
            </a:r>
            <a:endParaRPr lang="ar-SA" sz="1700" dirty="0"/>
          </a:p>
        </p:txBody>
      </p:sp>
      <p:sp>
        <p:nvSpPr>
          <p:cNvPr id="23" name="Text 20"/>
          <p:cNvSpPr txBox="1"/>
          <p:nvPr/>
        </p:nvSpPr>
        <p:spPr>
          <a:xfrm>
            <a:off x="594360"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Although … , it …</a:t>
            </a:r>
            <a:endParaRPr lang="en-US" sz="1050" dirty="0"/>
          </a:p>
        </p:txBody>
      </p:sp>
      <p:sp>
        <p:nvSpPr>
          <p:cNvPr id="24" name="Text 21"/>
          <p:cNvSpPr txBox="1"/>
          <p:nvPr/>
        </p:nvSpPr>
        <p:spPr>
          <a:xfrm>
            <a:off x="2468880"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______ شَرِيطَةَ أَنْ ______ .</a:t>
            </a:r>
            <a:endParaRPr lang="ar-SA" sz="1800" dirty="0"/>
          </a:p>
        </p:txBody>
      </p:sp>
      <p:sp>
        <p:nvSpPr>
          <p:cNvPr id="25" name="Text 22"/>
          <p:cNvSpPr txBox="1"/>
          <p:nvPr/>
        </p:nvSpPr>
        <p:spPr>
          <a:xfrm>
            <a:off x="594360"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 provided that …</a:t>
            </a:r>
            <a:endParaRPr lang="en-US" sz="1050" dirty="0"/>
          </a:p>
        </p:txBody>
      </p:sp>
      <p:sp>
        <p:nvSpPr>
          <p:cNvPr id="26" name="Shape 23"/>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7" name="Shape 24"/>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28" name="Text 25"/>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29" name="Text 26"/>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يَسُودُ مَنَاخٌ ______ فِي ______ .</a:t>
            </a:r>
            <a:endParaRPr lang="ar-SA" sz="1800" dirty="0"/>
          </a:p>
        </p:txBody>
      </p:sp>
      <p:sp>
        <p:nvSpPr>
          <p:cNvPr id="30" name="Text 27"/>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A … climate prevails in …</a:t>
            </a:r>
            <a:endParaRPr lang="en-US" sz="1050" dirty="0"/>
          </a:p>
        </p:txBody>
      </p:sp>
      <p:sp>
        <p:nvSpPr>
          <p:cNvPr id="31" name="Text 28"/>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يُلَوَّثُ ______ بِسَبَبِ ______ .</a:t>
            </a:r>
            <a:endParaRPr lang="ar-SA" sz="1800" dirty="0"/>
          </a:p>
        </p:txBody>
      </p:sp>
      <p:sp>
        <p:nvSpPr>
          <p:cNvPr id="32" name="Text 29"/>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 is polluted because of …</a:t>
            </a:r>
            <a:endParaRPr lang="en-US" sz="1050" dirty="0"/>
          </a:p>
        </p:txBody>
      </p:sp>
      <p:sp>
        <p:nvSpPr>
          <p:cNvPr id="33" name="Text 30"/>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750" b="1" dirty="0">
                <a:solidFill>
                  <a:srgbClr val="1B3B6F"/>
                </a:solidFill>
                <a:latin typeface="Amiri" pitchFamily="34" charset="0"/>
                <a:ea typeface="Amiri" pitchFamily="34" charset="-122"/>
                <a:cs typeface="Amiri" pitchFamily="34" charset="-120"/>
              </a:rPr>
              <a:t>يَجِبُ عَلَى الحُكُومَةِ أَنْ ______ لِكَيْ ______ .</a:t>
            </a:r>
            <a:endParaRPr lang="ar-SA" sz="1750" dirty="0"/>
          </a:p>
        </p:txBody>
      </p:sp>
      <p:sp>
        <p:nvSpPr>
          <p:cNvPr id="34" name="Text 31"/>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The government must … in order to …</a:t>
            </a:r>
            <a:endParaRPr lang="en-US" sz="1050" dirty="0"/>
          </a:p>
        </p:txBody>
      </p:sp>
      <p:sp>
        <p:nvSpPr>
          <p:cNvPr id="35" name="Text 32"/>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مِنْ وَجْهَةِ نَظَرِي، ______ .</a:t>
            </a:r>
            <a:endParaRPr lang="ar-SA" sz="1800" dirty="0"/>
          </a:p>
        </p:txBody>
      </p:sp>
      <p:sp>
        <p:nvSpPr>
          <p:cNvPr id="36" name="Text 33"/>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From my point of view, …</a:t>
            </a:r>
            <a:endParaRPr lang="en-US" sz="1050" dirty="0"/>
          </a:p>
        </p:txBody>
      </p:sp>
      <p:sp>
        <p:nvSpPr>
          <p:cNvPr id="37" name="Shape 34"/>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Text 35"/>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ea typeface="Calibri" pitchFamily="34" charset="-122"/>
                <a:cs typeface="Calibri" pitchFamily="34" charset="-120"/>
              </a:rPr>
              <a:t>WORD BANK</a:t>
            </a:r>
            <a:endParaRPr lang="en-US" sz="950" dirty="0"/>
          </a:p>
        </p:txBody>
      </p:sp>
      <p:sp>
        <p:nvSpPr>
          <p:cNvPr id="39" name="Text 36"/>
          <p:cNvSpPr txBox="1"/>
          <p:nvPr/>
        </p:nvSpPr>
        <p:spPr>
          <a:xfrm>
            <a:off x="640080" y="5760720"/>
            <a:ext cx="10908792" cy="512064"/>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يَسُودُ  ·  يَتَّسِمُ بِـ  ·  تَهُبُّ الرِّيَاحُ  ·  يُلَوَّثُ  ·  تُقْطَعُ  ·  بِسَبَبِ  ·  مِمَّا يُؤَدِّي إِلَى  ·  يَجِبُ عَلَى … أَنْ  ·  لِكَيْ  ·  يُشَارُ إِلَى أَنَّ  ·  عَلَى الرَّغْمِ مِنْ أَنَّ  ·  شَرِيطَةَ أَنْ</a:t>
            </a:r>
            <a:endParaRPr lang="ar-SA" sz="160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33 / 45</a:t>
            </a:r>
            <a:endParaRPr lang="en-US" sz="8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D4-L11 · Unit Review</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STRETCH · THE WEBSITE WRITING TASK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Stretch: the full writing task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مُهِمَّةُ التَّحَدِّي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D4 · Environment, Weather and Technology · D4-L11</a:t>
            </a:r>
            <a:endParaRPr lang="en-US" sz="850" dirty="0"/>
          </a:p>
        </p:txBody>
      </p:sp>
      <p:sp>
        <p:nvSpPr>
          <p:cNvPr id="15" name="Shape 12"/>
          <p:cNvSpPr/>
          <p:nvPr/>
        </p:nvSpPr>
        <p:spPr>
          <a:xfrm>
            <a:off x="457200" y="1810512"/>
            <a:ext cx="5577840" cy="4498848"/>
          </a:xfrm>
          <a:prstGeom prst="roundRect">
            <a:avLst>
              <a:gd name="adj" fmla="val 1626"/>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292608"/>
          </a:xfrm>
          <a:prstGeom prst="roundRect">
            <a:avLst>
              <a:gd name="adj" fmla="val 50000"/>
            </a:avLst>
          </a:prstGeom>
          <a:solidFill>
            <a:srgbClr val="B83227"/>
          </a:solidFill>
          <a:ln w="12700">
            <a:solidFill>
              <a:srgbClr val="B83227"/>
            </a:solidFill>
            <a:prstDash val="solid"/>
          </a:ln>
        </p:spPr>
      </p:sp>
      <p:sp>
        <p:nvSpPr>
          <p:cNvPr id="17" name="Text 14"/>
          <p:cNvSpPr txBox="1"/>
          <p:nvPr/>
        </p:nvSpPr>
        <p:spPr>
          <a:xfrm>
            <a:off x="640080" y="1938528"/>
            <a:ext cx="118872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STRETCH</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350" b="1" dirty="0">
                <a:solidFill>
                  <a:srgbClr val="1F2A37"/>
                </a:solidFill>
                <a:latin typeface="Calibri" pitchFamily="34" charset="0"/>
                <a:ea typeface="Calibri" pitchFamily="34" charset="-122"/>
                <a:cs typeface="Calibri" pitchFamily="34" charset="-120"/>
              </a:rPr>
              <a:t>Write 130–140 Arabic words integrating climate, an environmental problem, a solution and a qualified technology judgement.</a:t>
            </a:r>
            <a:endParaRPr lang="en-US" sz="135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Include at least seven relevant D4 range features.</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Keep every feature meaningful and accurate.</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Use one passive, one cause–effect chain and one purpose structure.</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Proofread before marking the task complete.</a:t>
            </a:r>
            <a:endParaRPr lang="en-US" sz="1200" dirty="0"/>
          </a:p>
        </p:txBody>
      </p:sp>
      <p:sp>
        <p:nvSpPr>
          <p:cNvPr id="23" name="Shape 20"/>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ea typeface="Calibri" pitchFamily="34" charset="-122"/>
                <a:cs typeface="Calibri" pitchFamily="34" charset="-120"/>
              </a:rPr>
              <a:t>PHRASE BANK — FROM THE WEBSITE TEXTS</a:t>
            </a:r>
            <a:endParaRPr lang="en-US" sz="950" dirty="0"/>
          </a:p>
        </p:txBody>
      </p:sp>
      <p:sp>
        <p:nvSpPr>
          <p:cNvPr id="25" name="Text 22"/>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تَنَاوَلَتِ الوَحْدَةُ قَضَايَا مُهِمَّةً</a:t>
            </a:r>
            <a:endParaRPr lang="ar-SA" sz="1800" dirty="0"/>
          </a:p>
        </p:txBody>
      </p:sp>
      <p:sp>
        <p:nvSpPr>
          <p:cNvPr id="26" name="Text 23"/>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the unit dealt with important issues</a:t>
            </a:r>
            <a:endParaRPr lang="en-US" sz="1050" dirty="0"/>
          </a:p>
        </p:txBody>
      </p:sp>
      <p:sp>
        <p:nvSpPr>
          <p:cNvPr id="27" name="Text 24"/>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نَتِيجَةً لِقِلَّةِ الأَمْطَارِ</a:t>
            </a:r>
            <a:endParaRPr lang="ar-SA" sz="1800" dirty="0"/>
          </a:p>
        </p:txBody>
      </p:sp>
      <p:sp>
        <p:nvSpPr>
          <p:cNvPr id="28" name="Text 25"/>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as a result of low rainfall</a:t>
            </a:r>
            <a:endParaRPr lang="en-US" sz="1050" dirty="0"/>
          </a:p>
        </p:txBody>
      </p:sp>
      <p:sp>
        <p:nvSpPr>
          <p:cNvPr id="29" name="Text 26"/>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يُمْكِنُ أَنْ يُسْتَخْدَمَ … لِرَصْدِ الهَدْرِ</a:t>
            </a:r>
            <a:endParaRPr lang="ar-SA" sz="1800" dirty="0"/>
          </a:p>
        </p:txBody>
      </p:sp>
      <p:sp>
        <p:nvSpPr>
          <p:cNvPr id="30" name="Text 27"/>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 can be used to monitor waste</a:t>
            </a:r>
            <a:endParaRPr lang="en-US" sz="1050" dirty="0"/>
          </a:p>
        </p:txBody>
      </p:sp>
      <p:sp>
        <p:nvSpPr>
          <p:cNvPr id="31" name="Text 28"/>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تُوَفِّرُ المَالَ عَلَى المَدَى البَعِيدِ</a:t>
            </a:r>
            <a:endParaRPr lang="ar-SA" sz="1800" dirty="0"/>
          </a:p>
        </p:txBody>
      </p:sp>
      <p:sp>
        <p:nvSpPr>
          <p:cNvPr id="32" name="Text 29"/>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saves money in the long term</a:t>
            </a:r>
            <a:endParaRPr lang="en-US" sz="1050" dirty="0"/>
          </a:p>
        </p:txBody>
      </p:sp>
      <p:sp>
        <p:nvSpPr>
          <p:cNvPr id="33" name="Text 30"/>
          <p:cNvSpPr txBox="1"/>
          <p:nvPr/>
        </p:nvSpPr>
        <p:spPr>
          <a:xfrm>
            <a:off x="8412480" y="4864608"/>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يَجْمَعُ بَيْنَ التِّقْنِيَّةِ وَالسِّيَاسَةِ وَالسُّلُوكِ</a:t>
            </a:r>
            <a:endParaRPr lang="ar-SA" sz="1800" dirty="0"/>
          </a:p>
        </p:txBody>
      </p:sp>
      <p:sp>
        <p:nvSpPr>
          <p:cNvPr id="34" name="Text 31"/>
          <p:cNvSpPr txBox="1"/>
          <p:nvPr/>
        </p:nvSpPr>
        <p:spPr>
          <a:xfrm>
            <a:off x="6400800" y="5193792"/>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combines technology, policy and behaviour</a:t>
            </a:r>
            <a:endParaRPr lang="en-US" sz="10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34 / 45</a:t>
            </a:r>
            <a:endParaRPr lang="en-US" sz="8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D4-L11 · Unit Review</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FEEDBACK · COMPARE WITH THE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What a strong answer looks like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D4 · Environment, Weather and Technology · D4-L11</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300" dirty="0">
                <a:solidFill>
                  <a:srgbClr val="1F2A37"/>
                </a:solidFill>
                <a:latin typeface="Amiri" pitchFamily="34" charset="0"/>
                <a:ea typeface="Amiri" pitchFamily="34" charset="-122"/>
                <a:cs typeface="Amiri" pitchFamily="34" charset="-120"/>
              </a:rPr>
              <a:t>تَنَاوَلَتْ الوَحْدَةُ الرَّابِعَةُ قَضَايَا مُهِمَّةً مِثْلَ تَغَيُّرِ المَنَاخِ وَشُحِّ المِيَاهِ وَالذَّكَاءِ الاصْطِنَاعِيِّ. يَسُودُ مَنَاخٌ جَافٌّ فِي مَنَاطِقَ كَثِيرَةٍ، وَتَشِحُّ المِيَاهُ نَتِيجَةً لِقِلَّةِ الأَمْطَارِ وَزِيَادَةِ الاسْتِهْلَاكِ. لِذٰلِكَ يَجِبُ عَلَى الحُكُومَاتِ أَنْ تَسْتَثْمِرَ فِي إِعَادَةِ اسْتِخْدَامِ المِيَاهِ لِكَيْ تَحْمِيَ المَوَارِدَ. وَعَلَاوَةً عَلَى ذٰلِكَ، يُمْكِنُ أَنْ يُسْتَخْدَمَ الذَّكَاءُ الاصْطِنَاعِيُّ لِرَصْدِ الهَدْرِ. عَلَى الرَّغْمِ مِنْ أَنَّ هٰذِهِ التِّقْنِيَّةَ مُكَلِّفَةٌ، فَإِنَّهَا قَدْ تُوَفِّرُ المَالَ عَلَى المَدَى البَعِيدِ. فِي رَأْيِي، الحَلُّ النَّاجِحُ يَجْمَعُ بَيْنَ التِّقْنِيَّةِ وَالسِّيَاسَةِ وَالسُّلُوكِ المَسْؤُولِ.</a:t>
            </a:r>
            <a:endParaRPr lang="ar-SA" sz="23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ea typeface="Calibri" pitchFamily="34" charset="-122"/>
                <a:cs typeface="Calibri" pitchFamily="34" charset="-120"/>
              </a:rPr>
              <a:t>The fourth unit dealt with important issues such as climate change, water scarcity and AI. A dry climate prevails in many regions, and water is scarce as a result of low rainfall and higher consumption. So governments must invest in water reuse to protect resources. Moreover, AI can be used to monitor waste. Although this technology is expensive, it may save money in the long term. In my opinion, a successful solution combines technology, policy and responsible behaviour.</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ea typeface="Calibri" pitchFamily="34" charset="-122"/>
                <a:cs typeface="Calibri" pitchFamily="34" charset="-120"/>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a climate verb</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a cause–effect chain</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obligation + purpose</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a concession with a real contrast</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35 / 45</a:t>
            </a:r>
            <a:endParaRPr lang="en-US" sz="8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D4-L11 · Unit Review</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D4 · Environment, Weather and Technology · D4-L11</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My weather verbs agree (</a:t>
            </a:r>
            <a:pPr algn="l" indent="0" marL="0">
              <a:buNone/>
            </a:pPr>
            <a:r>
              <a:rPr lang="ar-SA" altLang="en-US" sz="1700" dirty="0">
                <a:solidFill>
                  <a:srgbClr val="1F2A37"/>
                </a:solidFill>
                <a:latin typeface="Amiri" pitchFamily="34" charset="0"/>
                <a:ea typeface="Amiri" pitchFamily="34" charset="-122"/>
                <a:cs typeface="Amiri" pitchFamily="34" charset="-120"/>
              </a:rPr>
              <a:t>تَهُبُّ الرِّيَاحُ</a:t>
            </a:r>
            <a:pPr algn="l" indent="0" marL="0">
              <a:buNone/>
            </a:pPr>
            <a:r>
              <a:rPr lang="en-US" sz="1300" dirty="0">
                <a:solidFill>
                  <a:srgbClr val="1F2A37"/>
                </a:solidFill>
                <a:latin typeface="Calibri" pitchFamily="34" charset="0"/>
                <a:ea typeface="Calibri" pitchFamily="34" charset="-122"/>
                <a:cs typeface="Calibri" pitchFamily="34" charset="-120"/>
              </a:rPr>
              <a:t>).</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After </a:t>
            </a:r>
            <a:pPr algn="l" indent="0" marL="0">
              <a:buNone/>
            </a:pPr>
            <a:r>
              <a:rPr lang="ar-SA" altLang="en-US" sz="1700" dirty="0">
                <a:solidFill>
                  <a:srgbClr val="1F2A37"/>
                </a:solidFill>
                <a:latin typeface="Amiri" pitchFamily="34" charset="0"/>
                <a:ea typeface="Amiri" pitchFamily="34" charset="-122"/>
                <a:cs typeface="Amiri" pitchFamily="34" charset="-120"/>
              </a:rPr>
              <a:t>أَنْ / لِكَيْ</a:t>
            </a:r>
            <a:pPr algn="l" indent="0" marL="0">
              <a:buNone/>
            </a:pPr>
            <a:r>
              <a:rPr lang="en-US" sz="1300" dirty="0">
                <a:solidFill>
                  <a:srgbClr val="1F2A37"/>
                </a:solidFill>
                <a:latin typeface="Calibri" pitchFamily="34" charset="0"/>
                <a:ea typeface="Calibri" pitchFamily="34" charset="-122"/>
                <a:cs typeface="Calibri" pitchFamily="34" charset="-120"/>
              </a:rPr>
              <a:t> my verbs end in -a.</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used a passive, a cause–effect and a purpose clause.</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After </a:t>
            </a:r>
            <a:pPr algn="l" indent="0" marL="0">
              <a:buNone/>
            </a:pPr>
            <a:r>
              <a:rPr lang="ar-SA" altLang="en-US" sz="1700" dirty="0">
                <a:solidFill>
                  <a:srgbClr val="1F2A37"/>
                </a:solidFill>
                <a:latin typeface="Amiri" pitchFamily="34" charset="0"/>
                <a:ea typeface="Amiri" pitchFamily="34" charset="-122"/>
                <a:cs typeface="Amiri" pitchFamily="34" charset="-120"/>
              </a:rPr>
              <a:t>أَنَّ</a:t>
            </a:r>
            <a:pPr algn="l" indent="0" marL="0">
              <a:buNone/>
            </a:pPr>
            <a:r>
              <a:rPr lang="en-US" sz="1300" dirty="0">
                <a:solidFill>
                  <a:srgbClr val="1F2A37"/>
                </a:solidFill>
                <a:latin typeface="Calibri" pitchFamily="34" charset="0"/>
                <a:ea typeface="Calibri" pitchFamily="34" charset="-122"/>
                <a:cs typeface="Calibri" pitchFamily="34" charset="-120"/>
              </a:rPr>
              <a:t> my noun ends in -a.</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My concession is a real contrast; my judgement is qualified.</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ea typeface="Calibri" pitchFamily="34" charset="-122"/>
                <a:cs typeface="Calibri" pitchFamily="34" charset="-120"/>
              </a:rPr>
              <a:t>WWW</a:t>
            </a:r>
            <a:endParaRPr lang="en-US" sz="1800" dirty="0"/>
          </a:p>
          <a:p>
            <a:pPr indent="0" marL="0">
              <a:buNone/>
            </a:pPr>
            <a:r>
              <a:rPr lang="en-US" sz="1200" dirty="0">
                <a:solidFill>
                  <a:srgbClr val="1F2A37"/>
                </a:solidFill>
                <a:latin typeface="Calibri" pitchFamily="34" charset="0"/>
                <a:ea typeface="Calibri" pitchFamily="34" charset="-122"/>
                <a:cs typeface="Calibri" pitchFamily="34" charset="-120"/>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ea typeface="Calibri" pitchFamily="34" charset="-122"/>
                <a:cs typeface="Calibri" pitchFamily="34" charset="-120"/>
              </a:rPr>
              <a:t>EBI</a:t>
            </a:r>
            <a:endParaRPr lang="en-US" sz="1800" dirty="0"/>
          </a:p>
          <a:p>
            <a:pPr indent="0" marL="0">
              <a:buNone/>
            </a:pPr>
            <a:r>
              <a:rPr lang="en-US" sz="1200" dirty="0">
                <a:solidFill>
                  <a:srgbClr val="1F2A37"/>
                </a:solidFill>
                <a:latin typeface="Calibri" pitchFamily="34" charset="0"/>
                <a:ea typeface="Calibri" pitchFamily="34" charset="-122"/>
                <a:cs typeface="Calibri" pitchFamily="34" charset="-120"/>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36 / 45</a:t>
            </a:r>
            <a:endParaRPr lang="en-US" sz="85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D4-L11 · Unit Review</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EXIT TICKET · ON YOUR OWN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Exit ticket: three questions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D4 · Environment, Weather and Technology · D4-L11</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integrated problem sentence.</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1300" dirty="0">
                <a:solidFill>
                  <a:srgbClr val="1F2A37"/>
                </a:solidFill>
                <a:latin typeface="Amiri" pitchFamily="34" charset="0"/>
                <a:ea typeface="Amiri" pitchFamily="34" charset="-122"/>
                <a:cs typeface="Amiri" pitchFamily="34" charset="-120"/>
              </a:rPr>
              <a:t>يُلَوَّثُ الهَوَاءُ بِسَبَبِ العَوَادِمِ، مِمَّا يُؤَدِّي إِلَى أَمْرَاضٍ.</a:t>
            </a:r>
            <a:endParaRPr lang="ar-SA" sz="130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1300" dirty="0">
                <a:solidFill>
                  <a:srgbClr val="1F2A37"/>
                </a:solidFill>
                <a:latin typeface="Amiri" pitchFamily="34" charset="0"/>
                <a:ea typeface="Amiri" pitchFamily="34" charset="-122"/>
                <a:cs typeface="Amiri" pitchFamily="34" charset="-120"/>
              </a:rPr>
              <a:t>يُلَوَّثُ الهَوَاءُ لِكَيْ تَزْدَادَ الأَمْرَاضُ.</a:t>
            </a:r>
            <a:endParaRPr lang="ar-SA" sz="130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1300" dirty="0">
                <a:solidFill>
                  <a:srgbClr val="1F2A37"/>
                </a:solidFill>
                <a:latin typeface="Amiri" pitchFamily="34" charset="0"/>
                <a:ea typeface="Amiri" pitchFamily="34" charset="-122"/>
                <a:cs typeface="Amiri" pitchFamily="34" charset="-120"/>
              </a:rPr>
              <a:t>يَتَفَاعَلُ الهَوَاءُ عَلَى العَوَادِمِ.</a:t>
            </a:r>
            <a:endParaRPr lang="ar-SA" sz="1300" dirty="0"/>
          </a:p>
        </p:txBody>
      </p:sp>
      <p:sp>
        <p:nvSpPr>
          <p:cNvPr id="28" name="Shape 25"/>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integrated solution.</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1050" dirty="0">
                <a:solidFill>
                  <a:srgbClr val="1F2A37"/>
                </a:solidFill>
                <a:latin typeface="Amiri" pitchFamily="34" charset="0"/>
                <a:ea typeface="Amiri" pitchFamily="34" charset="-122"/>
                <a:cs typeface="Amiri" pitchFamily="34" charset="-120"/>
              </a:rPr>
              <a:t>يَجِبُ عَلَى الانْبِعَاثَاتِ أَنْ تُقَلِّلَ الحُكُومَةَ.</a:t>
            </a:r>
            <a:endParaRPr lang="ar-SA" sz="1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1050" dirty="0">
                <a:solidFill>
                  <a:srgbClr val="1F2A37"/>
                </a:solidFill>
                <a:latin typeface="Amiri" pitchFamily="34" charset="0"/>
                <a:ea typeface="Amiri" pitchFamily="34" charset="-122"/>
                <a:cs typeface="Amiri" pitchFamily="34" charset="-120"/>
              </a:rPr>
              <a:t>يَجِبُ عَلَى الحُكُومَةِ أَنْ تَسْتَثْمِرَ فِي النَّقْلِ العَامِّ لِكَيْ تُقَلِّلَ الانْبِعَاثَاتِ.</a:t>
            </a:r>
            <a:endParaRPr lang="ar-SA" sz="1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1050" dirty="0">
                <a:solidFill>
                  <a:srgbClr val="1F2A37"/>
                </a:solidFill>
                <a:latin typeface="Amiri" pitchFamily="34" charset="0"/>
                <a:ea typeface="Amiri" pitchFamily="34" charset="-122"/>
                <a:cs typeface="Amiri" pitchFamily="34" charset="-120"/>
              </a:rPr>
              <a:t>يَجِبُ الحُكُومَةُ تَسْتَثْمِرُ لِكَيْ الانْبِعَاثَاتُ.</a:t>
            </a:r>
            <a:endParaRPr lang="ar-SA" sz="1050" dirty="0"/>
          </a:p>
        </p:txBody>
      </p:sp>
      <p:sp>
        <p:nvSpPr>
          <p:cNvPr id="41" name="Shape 38"/>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formal report is accurate?</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يُشَارُ إِلَى أَنَّ شُحَّ المِيَاهِ يَزْدَادُ.</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يُشَارُ إِلَى أَنْ شُحُّ المِيَاهِ يَزْدَادُ.</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يُشَارِكُ شُحُّ المِيَاهِ فِي الزِّيَادَةِ.</a:t>
            </a:r>
            <a:endParaRPr lang="ar-SA" sz="2050" dirty="0"/>
          </a:p>
        </p:txBody>
      </p:sp>
      <p:sp>
        <p:nvSpPr>
          <p:cNvPr id="54" name="Shape 51"/>
          <p:cNvSpPr/>
          <p:nvPr/>
        </p:nvSpPr>
        <p:spPr>
          <a:xfrm>
            <a:off x="457200" y="5532120"/>
            <a:ext cx="11274552" cy="777240"/>
          </a:xfrm>
          <a:prstGeom prst="roundRect">
            <a:avLst>
              <a:gd name="adj" fmla="val 9412"/>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55" name="Text 52"/>
          <p:cNvSpPr txBox="1"/>
          <p:nvPr/>
        </p:nvSpPr>
        <p:spPr>
          <a:xfrm>
            <a:off x="685800" y="5577840"/>
            <a:ext cx="2830068" cy="685800"/>
          </a:xfrm>
          <a:prstGeom prst="rect">
            <a:avLst/>
          </a:prstGeom>
          <a:noFill/>
          <a:ln/>
        </p:spPr>
        <p:txBody>
          <a:bodyPr wrap="square" lIns="0" tIns="0" rIns="0" bIns="0" rtlCol="0" anchor="ctr"/>
          <a:lstStyle/>
          <a:p>
            <a:pPr algn="l" indent="0" marL="0">
              <a:buNone/>
            </a:pPr>
            <a:r>
              <a:rPr lang="en-US" sz="1200" b="1" spc="100" kern="0" dirty="0">
                <a:solidFill>
                  <a:srgbClr val="8A6D1E"/>
                </a:solidFill>
                <a:latin typeface="Calibri" pitchFamily="34" charset="0"/>
                <a:ea typeface="Calibri" pitchFamily="34" charset="-122"/>
                <a:cs typeface="Calibri" pitchFamily="34" charset="-120"/>
              </a:rPr>
              <a:t>ON YOUR OWN · 2 MINUTES</a:t>
            </a:r>
            <a:endParaRPr lang="en-US" sz="1200" dirty="0"/>
          </a:p>
        </p:txBody>
      </p:sp>
      <p:sp>
        <p:nvSpPr>
          <p:cNvPr id="56" name="Text 53"/>
          <p:cNvSpPr txBox="1"/>
          <p:nvPr/>
        </p:nvSpPr>
        <p:spPr>
          <a:xfrm>
            <a:off x="3515868" y="5577840"/>
            <a:ext cx="8051292"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Answer silently. When the timer ends, type your three letters in the chat: 1_ 2_ 3_. The other end-of-lesson questions are on the website.</a:t>
            </a:r>
            <a:endParaRPr lang="en-US" sz="12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37 / 45</a:t>
            </a:r>
            <a:endParaRPr lang="en-US" sz="85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D4-L11 · Unit Review</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EXIT TICKET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Exit ticket: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D4 · Environment, Weather and Technology · D4-L11</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integrated problem sentence.</a:t>
            </a:r>
            <a:endParaRPr lang="en-US" sz="1250" dirty="0"/>
          </a:p>
        </p:txBody>
      </p:sp>
      <p:sp>
        <p:nvSpPr>
          <p:cNvPr id="19" name="Shape 16"/>
          <p:cNvSpPr/>
          <p:nvPr/>
        </p:nvSpPr>
        <p:spPr>
          <a:xfrm>
            <a:off x="548640" y="2496312"/>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532888"/>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1300" b="1" dirty="0">
                <a:solidFill>
                  <a:srgbClr val="1F2A37"/>
                </a:solidFill>
                <a:latin typeface="Amiri" pitchFamily="34" charset="0"/>
                <a:ea typeface="Amiri" pitchFamily="34" charset="-122"/>
                <a:cs typeface="Amiri" pitchFamily="34" charset="-120"/>
              </a:rPr>
              <a:t>يُلَوَّثُ الهَوَاءُ بِسَبَبِ العَوَادِمِ، مِمَّا يُؤَدِّي إِلَى أَمْرَاضٍ.</a:t>
            </a:r>
            <a:endParaRPr lang="ar-SA" sz="1300" dirty="0"/>
          </a:p>
        </p:txBody>
      </p:sp>
      <p:sp>
        <p:nvSpPr>
          <p:cNvPr id="23" name="Shape 20"/>
          <p:cNvSpPr/>
          <p:nvPr/>
        </p:nvSpPr>
        <p:spPr>
          <a:xfrm>
            <a:off x="640080" y="2990088"/>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1300" dirty="0">
                <a:solidFill>
                  <a:srgbClr val="9AA1AB"/>
                </a:solidFill>
                <a:latin typeface="Amiri" pitchFamily="34" charset="0"/>
                <a:ea typeface="Amiri" pitchFamily="34" charset="-122"/>
                <a:cs typeface="Amiri" pitchFamily="34" charset="-120"/>
              </a:rPr>
              <a:t>يُلَوَّثُ الهَوَاءُ لِكَيْ تَزْدَادَ الأَمْرَاضُ.</a:t>
            </a:r>
            <a:endParaRPr lang="ar-SA" sz="1300" dirty="0"/>
          </a:p>
        </p:txBody>
      </p:sp>
      <p:sp>
        <p:nvSpPr>
          <p:cNvPr id="26" name="Shape 23"/>
          <p:cNvSpPr/>
          <p:nvPr/>
        </p:nvSpPr>
        <p:spPr>
          <a:xfrm>
            <a:off x="640080" y="344728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1300" dirty="0">
                <a:solidFill>
                  <a:srgbClr val="9AA1AB"/>
                </a:solidFill>
                <a:latin typeface="Amiri" pitchFamily="34" charset="0"/>
                <a:ea typeface="Amiri" pitchFamily="34" charset="-122"/>
                <a:cs typeface="Amiri" pitchFamily="34" charset="-120"/>
              </a:rPr>
              <a:t>يَتَفَاعَلُ الهَوَاءُ عَلَى العَوَادِمِ.</a:t>
            </a:r>
            <a:endParaRPr lang="ar-SA" sz="1300" dirty="0"/>
          </a:p>
        </p:txBody>
      </p:sp>
      <p:sp>
        <p:nvSpPr>
          <p:cNvPr id="29" name="Text 26"/>
          <p:cNvSpPr txBox="1"/>
          <p:nvPr/>
        </p:nvSpPr>
        <p:spPr>
          <a:xfrm>
            <a:off x="585216"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first integrates passive, cause and result.</a:t>
            </a:r>
            <a:endParaRPr lang="en-US" sz="1050" dirty="0"/>
          </a:p>
        </p:txBody>
      </p:sp>
      <p:sp>
        <p:nvSpPr>
          <p:cNvPr id="30" name="Shape 27"/>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integrated solution.</a:t>
            </a:r>
            <a:endParaRPr lang="en-US" sz="1250" dirty="0"/>
          </a:p>
        </p:txBody>
      </p:sp>
      <p:sp>
        <p:nvSpPr>
          <p:cNvPr id="34" name="Shape 31"/>
          <p:cNvSpPr/>
          <p:nvPr/>
        </p:nvSpPr>
        <p:spPr>
          <a:xfrm>
            <a:off x="4459224" y="2532888"/>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1050" dirty="0">
                <a:solidFill>
                  <a:srgbClr val="9AA1AB"/>
                </a:solidFill>
                <a:latin typeface="Amiri" pitchFamily="34" charset="0"/>
                <a:ea typeface="Amiri" pitchFamily="34" charset="-122"/>
                <a:cs typeface="Amiri" pitchFamily="34" charset="-120"/>
              </a:rPr>
              <a:t>يَجِبُ عَلَى الانْبِعَاثَاتِ أَنْ تُقَلِّلَ الحُكُومَةَ.</a:t>
            </a:r>
            <a:endParaRPr lang="ar-SA" sz="1050" dirty="0"/>
          </a:p>
        </p:txBody>
      </p:sp>
      <p:sp>
        <p:nvSpPr>
          <p:cNvPr id="37" name="Shape 34"/>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990088"/>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1050" b="1" dirty="0">
                <a:solidFill>
                  <a:srgbClr val="1F2A37"/>
                </a:solidFill>
                <a:latin typeface="Amiri" pitchFamily="34" charset="0"/>
                <a:ea typeface="Amiri" pitchFamily="34" charset="-122"/>
                <a:cs typeface="Amiri" pitchFamily="34" charset="-120"/>
              </a:rPr>
              <a:t>يَجِبُ عَلَى الحُكُومَةِ أَنْ تَسْتَثْمِرَ فِي النَّقْلِ العَامِّ لِكَيْ تُقَلِّلَ الانْبِعَاثَاتِ.</a:t>
            </a:r>
            <a:endParaRPr lang="ar-SA" sz="1050" dirty="0"/>
          </a:p>
        </p:txBody>
      </p:sp>
      <p:sp>
        <p:nvSpPr>
          <p:cNvPr id="41" name="Shape 38"/>
          <p:cNvSpPr/>
          <p:nvPr/>
        </p:nvSpPr>
        <p:spPr>
          <a:xfrm>
            <a:off x="4459224" y="344728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1050" dirty="0">
                <a:solidFill>
                  <a:srgbClr val="9AA1AB"/>
                </a:solidFill>
                <a:latin typeface="Amiri" pitchFamily="34" charset="0"/>
                <a:ea typeface="Amiri" pitchFamily="34" charset="-122"/>
                <a:cs typeface="Amiri" pitchFamily="34" charset="-120"/>
              </a:rPr>
              <a:t>يَجِبُ الحُكُومَةُ تَسْتَثْمِرُ لِكَيْ الانْبِعَاثَاتُ.</a:t>
            </a:r>
            <a:endParaRPr lang="ar-SA" sz="1050" dirty="0"/>
          </a:p>
        </p:txBody>
      </p:sp>
      <p:sp>
        <p:nvSpPr>
          <p:cNvPr id="44" name="Text 41"/>
          <p:cNvSpPr txBox="1"/>
          <p:nvPr/>
        </p:nvSpPr>
        <p:spPr>
          <a:xfrm>
            <a:off x="4404360"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It assigns responsibility and purpose accurately.</a:t>
            </a:r>
            <a:endParaRPr lang="en-US" sz="1050" dirty="0"/>
          </a:p>
        </p:txBody>
      </p:sp>
      <p:sp>
        <p:nvSpPr>
          <p:cNvPr id="45" name="Shape 42"/>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formal report is accurate?</a:t>
            </a:r>
            <a:endParaRPr lang="en-US" sz="1250" dirty="0"/>
          </a:p>
        </p:txBody>
      </p:sp>
      <p:sp>
        <p:nvSpPr>
          <p:cNvPr id="49" name="Shape 46"/>
          <p:cNvSpPr/>
          <p:nvPr/>
        </p:nvSpPr>
        <p:spPr>
          <a:xfrm>
            <a:off x="8186928" y="2496312"/>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532888"/>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52" name="Text 49"/>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يُشَارُ إِلَى أَنَّ شُحَّ المِيَاهِ يَزْدَادُ.</a:t>
            </a:r>
            <a:endParaRPr lang="ar-SA" sz="2050" dirty="0"/>
          </a:p>
        </p:txBody>
      </p:sp>
      <p:sp>
        <p:nvSpPr>
          <p:cNvPr id="53" name="Shape 50"/>
          <p:cNvSpPr/>
          <p:nvPr/>
        </p:nvSpPr>
        <p:spPr>
          <a:xfrm>
            <a:off x="8278368" y="2990088"/>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5" name="Text 52"/>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يُشَارُ إِلَى أَنْ شُحُّ المِيَاهِ يَزْدَادُ.</a:t>
            </a:r>
            <a:endParaRPr lang="ar-SA" sz="2050" dirty="0"/>
          </a:p>
        </p:txBody>
      </p:sp>
      <p:sp>
        <p:nvSpPr>
          <p:cNvPr id="56" name="Shape 53"/>
          <p:cNvSpPr/>
          <p:nvPr/>
        </p:nvSpPr>
        <p:spPr>
          <a:xfrm>
            <a:off x="8278368" y="344728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يُشَارِكُ شُحُّ المِيَاهِ فِي الزِّيَادَةِ.</a:t>
            </a:r>
            <a:endParaRPr lang="ar-SA" sz="2050" dirty="0"/>
          </a:p>
        </p:txBody>
      </p:sp>
      <p:sp>
        <p:nvSpPr>
          <p:cNvPr id="59" name="Text 56"/>
          <p:cNvSpPr txBox="1"/>
          <p:nvPr/>
        </p:nvSpPr>
        <p:spPr>
          <a:xfrm>
            <a:off x="8223504"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Use </a:t>
            </a:r>
            <a:pPr algn="l" indent="0" marL="0">
              <a:buNone/>
            </a:pPr>
            <a:r>
              <a:rPr lang="ar-SA" altLang="en-US" sz="1350" dirty="0">
                <a:solidFill>
                  <a:srgbClr val="8A6D1E"/>
                </a:solidFill>
                <a:latin typeface="Amiri" pitchFamily="34" charset="0"/>
                <a:ea typeface="Amiri" pitchFamily="34" charset="-122"/>
                <a:cs typeface="Amiri" pitchFamily="34" charset="-120"/>
              </a:rPr>
              <a:t>يشار إلى أنَّ</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60" name="Shape 57"/>
          <p:cNvSpPr/>
          <p:nvPr/>
        </p:nvSpPr>
        <p:spPr>
          <a:xfrm>
            <a:off x="457200" y="5532120"/>
            <a:ext cx="11274552" cy="777240"/>
          </a:xfrm>
          <a:prstGeom prst="roundRect">
            <a:avLst>
              <a:gd name="adj" fmla="val 9412"/>
            </a:avLst>
          </a:prstGeom>
          <a:solidFill>
            <a:srgbClr val="EEF3FA"/>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85800" y="5577840"/>
            <a:ext cx="937260" cy="685800"/>
          </a:xfrm>
          <a:prstGeom prst="rect">
            <a:avLst/>
          </a:prstGeom>
          <a:noFill/>
          <a:ln/>
        </p:spPr>
        <p:txBody>
          <a:bodyPr wrap="square" lIns="0" tIns="0" rIns="0" bIns="0" rtlCol="0" anchor="ctr"/>
          <a:lstStyle/>
          <a:p>
            <a:pPr algn="l" indent="0" marL="0">
              <a:buNone/>
            </a:pPr>
            <a:r>
              <a:rPr lang="en-US" sz="1200" b="1" spc="100" kern="0" dirty="0">
                <a:solidFill>
                  <a:srgbClr val="1B3B6F"/>
                </a:solidFill>
                <a:latin typeface="Calibri" pitchFamily="34" charset="0"/>
                <a:ea typeface="Calibri" pitchFamily="34" charset="-122"/>
                <a:cs typeface="Calibri" pitchFamily="34" charset="-120"/>
              </a:rPr>
              <a:t>SCORE</a:t>
            </a:r>
            <a:endParaRPr lang="en-US" sz="1200" dirty="0"/>
          </a:p>
        </p:txBody>
      </p:sp>
      <p:sp>
        <p:nvSpPr>
          <p:cNvPr id="62" name="Text 59"/>
          <p:cNvSpPr txBox="1"/>
          <p:nvPr/>
        </p:nvSpPr>
        <p:spPr>
          <a:xfrm>
            <a:off x="1623060" y="5577840"/>
            <a:ext cx="9944100"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3/3 → aim for Stretch next lesson  ·  2/3 → Develop  ·  0–1 → Core route and a quick check-in during the next Do Now.</a:t>
            </a:r>
            <a:endParaRPr lang="en-US" sz="12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38 / 45</a:t>
            </a:r>
            <a:endParaRPr lang="en-US" sz="85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D4-L11 · Unit Review</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FAST FINISHERS OR HOMEWORK (STRETCH)</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1750" b="1" dirty="0">
                <a:solidFill>
                  <a:srgbClr val="1B3B6F"/>
                </a:solidFill>
                <a:latin typeface="Cambria" pitchFamily="34" charset="0"/>
                <a:ea typeface="Cambria" pitchFamily="34" charset="-122"/>
                <a:cs typeface="Cambria" pitchFamily="34" charset="-120"/>
              </a:rPr>
              <a:t>Reading consolidation: the complete D4 language system</a:t>
            </a:r>
            <a:endParaRPr lang="en-US" sz="175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D4 · Environment, Weather and Technology · D4-L11</a:t>
            </a:r>
            <a:endParaRPr lang="en-US" sz="850" dirty="0"/>
          </a:p>
        </p:txBody>
      </p:sp>
      <p:sp>
        <p:nvSpPr>
          <p:cNvPr id="17" name="Shape 14"/>
          <p:cNvSpPr/>
          <p:nvPr/>
        </p:nvSpPr>
        <p:spPr>
          <a:xfrm>
            <a:off x="457200" y="1810512"/>
            <a:ext cx="807415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85800" y="1965960"/>
            <a:ext cx="7616952" cy="4206240"/>
          </a:xfrm>
          <a:prstGeom prst="rect">
            <a:avLst/>
          </a:prstGeom>
          <a:noFill/>
          <a:ln/>
        </p:spPr>
        <p:txBody>
          <a:bodyPr wrap="square" lIns="0" tIns="0" rIns="0" bIns="0" rtlCol="0" anchor="t"/>
          <a:lstStyle/>
          <a:p>
            <a:pPr rtl="1" algn="r" indent="0" marL="0">
              <a:lnSpc>
                <a:spcPct val="120000"/>
              </a:lnSpc>
              <a:buNone/>
            </a:pPr>
            <a:r>
              <a:rPr lang="ar-SA" altLang="en-US" sz="2600" dirty="0">
                <a:solidFill>
                  <a:srgbClr val="1F2A37"/>
                </a:solidFill>
                <a:latin typeface="Amiri" pitchFamily="34" charset="0"/>
                <a:ea typeface="Amiri" pitchFamily="34" charset="-122"/>
                <a:cs typeface="Amiri" pitchFamily="34" charset="-120"/>
              </a:rPr>
              <a:t>خِلَالَ الوَحْدَةِ الرَّابِعَةِ، تَعَلَّمَ الطُّلَّابُ أَنْ يَصِفُوا المَنَاخَ بِاسْتِخْدَامِ يَسُودُ وَيَتَّسِمُ بِـ، وَأَنْ يَشْرَحُوا المُشْكِلَاتِ بِالمَبْنِيِّ لِلْمَجْهُولِ وَرَوَابِطِ السَّبَبِ وَالنَّتِيجَةِ. كَمَا تَدَرَّبُوا عَلَى تَقْدِيمِ حُلُولٍ بِاسْتِخْدَامِ يَجِبُ عَلَى ... أَنْ وَلِكَيْ. وَفِي مَوْضُوعِ التِّقْنِيَّةِ، اسْتَخْدَمُوا مُفْرَدَاتٍ مِثْلَ الذَّكَاءِ الاصْطِنَاعِيِّ وَالتَّعَلُّمِ عَنْ بُعْدٍ، ثُمَّ قَيَّمُوا الفَوَائِدَ وَالمَخَاطِرَ بِحُجَجٍ مُتَوَازِنَةٍ. الهَدَفُ الآنَ هُوَ اسْتِخْدَامُ هٰذَا النِّطَاقِ بِدِقَّةٍ تَحْتَ الضَّغْطِ.</a:t>
            </a:r>
            <a:endParaRPr lang="ar-SA" sz="2600" dirty="0"/>
          </a:p>
        </p:txBody>
      </p:sp>
      <p:sp>
        <p:nvSpPr>
          <p:cNvPr id="19" name="Shape 16"/>
          <p:cNvSpPr/>
          <p:nvPr/>
        </p:nvSpPr>
        <p:spPr>
          <a:xfrm>
            <a:off x="8714232" y="1810512"/>
            <a:ext cx="3017520" cy="4498848"/>
          </a:xfrm>
          <a:prstGeom prst="roundRect">
            <a:avLst>
              <a:gd name="adj" fmla="val 2424"/>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8897112" y="1883664"/>
            <a:ext cx="2651760" cy="292608"/>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KEY WORDS</a:t>
            </a:r>
            <a:endParaRPr lang="en-US" sz="1000" dirty="0"/>
          </a:p>
        </p:txBody>
      </p:sp>
      <p:sp>
        <p:nvSpPr>
          <p:cNvPr id="21" name="Text 18"/>
          <p:cNvSpPr txBox="1"/>
          <p:nvPr/>
        </p:nvSpPr>
        <p:spPr>
          <a:xfrm>
            <a:off x="10102291" y="221284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خِلَالَ وَحْدَةِ</a:t>
            </a:r>
            <a:endParaRPr lang="ar-SA" sz="1600" dirty="0"/>
          </a:p>
        </p:txBody>
      </p:sp>
      <p:sp>
        <p:nvSpPr>
          <p:cNvPr id="22" name="Text 19"/>
          <p:cNvSpPr txBox="1"/>
          <p:nvPr/>
        </p:nvSpPr>
        <p:spPr>
          <a:xfrm>
            <a:off x="8851392" y="221284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during the unit</a:t>
            </a:r>
            <a:endParaRPr lang="en-US" sz="1050" dirty="0"/>
          </a:p>
        </p:txBody>
      </p:sp>
      <p:sp>
        <p:nvSpPr>
          <p:cNvPr id="23" name="Text 20"/>
          <p:cNvSpPr txBox="1"/>
          <p:nvPr/>
        </p:nvSpPr>
        <p:spPr>
          <a:xfrm>
            <a:off x="10102291" y="261518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أَنْ يَصِفُوا</a:t>
            </a:r>
            <a:endParaRPr lang="ar-SA" sz="1600" dirty="0"/>
          </a:p>
        </p:txBody>
      </p:sp>
      <p:sp>
        <p:nvSpPr>
          <p:cNvPr id="24" name="Text 21"/>
          <p:cNvSpPr txBox="1"/>
          <p:nvPr/>
        </p:nvSpPr>
        <p:spPr>
          <a:xfrm>
            <a:off x="8851392" y="261518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to describe</a:t>
            </a:r>
            <a:endParaRPr lang="en-US" sz="1050" dirty="0"/>
          </a:p>
        </p:txBody>
      </p:sp>
      <p:sp>
        <p:nvSpPr>
          <p:cNvPr id="25" name="Text 22"/>
          <p:cNvSpPr txBox="1"/>
          <p:nvPr/>
        </p:nvSpPr>
        <p:spPr>
          <a:xfrm>
            <a:off x="10102291" y="301752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يَشْرَحُوا</a:t>
            </a:r>
            <a:endParaRPr lang="ar-SA" sz="1600" dirty="0"/>
          </a:p>
        </p:txBody>
      </p:sp>
      <p:sp>
        <p:nvSpPr>
          <p:cNvPr id="26" name="Text 23"/>
          <p:cNvSpPr txBox="1"/>
          <p:nvPr/>
        </p:nvSpPr>
        <p:spPr>
          <a:xfrm>
            <a:off x="8851392" y="301752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explain</a:t>
            </a:r>
            <a:endParaRPr lang="en-US" sz="1050" dirty="0"/>
          </a:p>
        </p:txBody>
      </p:sp>
      <p:sp>
        <p:nvSpPr>
          <p:cNvPr id="27" name="Text 24"/>
          <p:cNvSpPr txBox="1"/>
          <p:nvPr/>
        </p:nvSpPr>
        <p:spPr>
          <a:xfrm>
            <a:off x="10102291" y="341985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المَبْنِيِّ لِلْمَجْهُولِ</a:t>
            </a:r>
            <a:endParaRPr lang="ar-SA" sz="1600" dirty="0"/>
          </a:p>
        </p:txBody>
      </p:sp>
      <p:sp>
        <p:nvSpPr>
          <p:cNvPr id="28" name="Text 25"/>
          <p:cNvSpPr txBox="1"/>
          <p:nvPr/>
        </p:nvSpPr>
        <p:spPr>
          <a:xfrm>
            <a:off x="8851392" y="341985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the passive</a:t>
            </a:r>
            <a:endParaRPr lang="en-US" sz="1050" dirty="0"/>
          </a:p>
        </p:txBody>
      </p:sp>
      <p:sp>
        <p:nvSpPr>
          <p:cNvPr id="29" name="Text 26"/>
          <p:cNvSpPr txBox="1"/>
          <p:nvPr/>
        </p:nvSpPr>
        <p:spPr>
          <a:xfrm>
            <a:off x="10102291" y="382219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رَوَابِطِ</a:t>
            </a:r>
            <a:endParaRPr lang="ar-SA" sz="1600" dirty="0"/>
          </a:p>
        </p:txBody>
      </p:sp>
      <p:sp>
        <p:nvSpPr>
          <p:cNvPr id="30" name="Text 27"/>
          <p:cNvSpPr txBox="1"/>
          <p:nvPr/>
        </p:nvSpPr>
        <p:spPr>
          <a:xfrm>
            <a:off x="8851392" y="382219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connectors</a:t>
            </a:r>
            <a:endParaRPr lang="en-US" sz="1050" dirty="0"/>
          </a:p>
        </p:txBody>
      </p:sp>
      <p:sp>
        <p:nvSpPr>
          <p:cNvPr id="31" name="Text 28"/>
          <p:cNvSpPr txBox="1"/>
          <p:nvPr/>
        </p:nvSpPr>
        <p:spPr>
          <a:xfrm>
            <a:off x="10102291" y="422452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تَدَرَّبُوا عَلَى</a:t>
            </a:r>
            <a:endParaRPr lang="ar-SA" sz="1600" dirty="0"/>
          </a:p>
        </p:txBody>
      </p:sp>
      <p:sp>
        <p:nvSpPr>
          <p:cNvPr id="32" name="Text 29"/>
          <p:cNvSpPr txBox="1"/>
          <p:nvPr/>
        </p:nvSpPr>
        <p:spPr>
          <a:xfrm>
            <a:off x="8851392" y="422452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they practised</a:t>
            </a:r>
            <a:endParaRPr lang="en-US" sz="1050" dirty="0"/>
          </a:p>
        </p:txBody>
      </p:sp>
      <p:sp>
        <p:nvSpPr>
          <p:cNvPr id="33" name="Text 30"/>
          <p:cNvSpPr txBox="1"/>
          <p:nvPr/>
        </p:nvSpPr>
        <p:spPr>
          <a:xfrm>
            <a:off x="10102291" y="462686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تَقْدِيمِ حُلُولٍ</a:t>
            </a:r>
            <a:endParaRPr lang="ar-SA" sz="1600" dirty="0"/>
          </a:p>
        </p:txBody>
      </p:sp>
      <p:sp>
        <p:nvSpPr>
          <p:cNvPr id="34" name="Text 31"/>
          <p:cNvSpPr txBox="1"/>
          <p:nvPr/>
        </p:nvSpPr>
        <p:spPr>
          <a:xfrm>
            <a:off x="8851392" y="462686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offering solutions</a:t>
            </a:r>
            <a:endParaRPr lang="en-US" sz="1050" dirty="0"/>
          </a:p>
        </p:txBody>
      </p:sp>
      <p:sp>
        <p:nvSpPr>
          <p:cNvPr id="35" name="Text 32"/>
          <p:cNvSpPr txBox="1"/>
          <p:nvPr/>
        </p:nvSpPr>
        <p:spPr>
          <a:xfrm>
            <a:off x="10102291" y="502920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قَيَّمُوا</a:t>
            </a:r>
            <a:endParaRPr lang="ar-SA" sz="1600" dirty="0"/>
          </a:p>
        </p:txBody>
      </p:sp>
      <p:sp>
        <p:nvSpPr>
          <p:cNvPr id="36" name="Text 33"/>
          <p:cNvSpPr txBox="1"/>
          <p:nvPr/>
        </p:nvSpPr>
        <p:spPr>
          <a:xfrm>
            <a:off x="8851392" y="502920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they evaluated</a:t>
            </a:r>
            <a:endParaRPr lang="en-US" sz="1050" dirty="0"/>
          </a:p>
        </p:txBody>
      </p:sp>
      <p:sp>
        <p:nvSpPr>
          <p:cNvPr id="37" name="Text 34"/>
          <p:cNvSpPr txBox="1"/>
          <p:nvPr/>
        </p:nvSpPr>
        <p:spPr>
          <a:xfrm>
            <a:off x="10102291" y="543153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المَخَاطِرَ</a:t>
            </a:r>
            <a:endParaRPr lang="ar-SA" sz="1600" dirty="0"/>
          </a:p>
        </p:txBody>
      </p:sp>
      <p:sp>
        <p:nvSpPr>
          <p:cNvPr id="38" name="Text 35"/>
          <p:cNvSpPr txBox="1"/>
          <p:nvPr/>
        </p:nvSpPr>
        <p:spPr>
          <a:xfrm>
            <a:off x="8851392" y="543153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the risks</a:t>
            </a:r>
            <a:endParaRPr lang="en-US" sz="1050" dirty="0"/>
          </a:p>
        </p:txBody>
      </p:sp>
      <p:sp>
        <p:nvSpPr>
          <p:cNvPr id="39" name="Text 36"/>
          <p:cNvSpPr txBox="1"/>
          <p:nvPr/>
        </p:nvSpPr>
        <p:spPr>
          <a:xfrm>
            <a:off x="10102291" y="583387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تَحْتَ الضَّغْطِ</a:t>
            </a:r>
            <a:endParaRPr lang="ar-SA" sz="1600" dirty="0"/>
          </a:p>
        </p:txBody>
      </p:sp>
      <p:sp>
        <p:nvSpPr>
          <p:cNvPr id="40" name="Text 37"/>
          <p:cNvSpPr txBox="1"/>
          <p:nvPr/>
        </p:nvSpPr>
        <p:spPr>
          <a:xfrm>
            <a:off x="8851392" y="583387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under pressure</a:t>
            </a:r>
            <a:endParaRPr lang="en-US" sz="1050" dirty="0"/>
          </a:p>
        </p:txBody>
      </p:sp>
      <p:sp>
        <p:nvSpPr>
          <p:cNvPr id="41" name="Text 3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39 / 45</a:t>
            </a:r>
            <a:endParaRPr lang="en-US" sz="85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D4-L11 · Unit Review</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READING QUESTIONS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Reading: questions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أَسْئِلَةُ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D4 · Environment, Weather and Technology · D4-L11</a:t>
            </a:r>
            <a:endParaRPr lang="en-US" sz="850" dirty="0"/>
          </a:p>
        </p:txBody>
      </p:sp>
      <p:sp>
        <p:nvSpPr>
          <p:cNvPr id="17" name="Shape 14"/>
          <p:cNvSpPr/>
          <p:nvPr/>
        </p:nvSpPr>
        <p:spPr>
          <a:xfrm>
            <a:off x="457200"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20" name="Text 17"/>
          <p:cNvSpPr txBox="1"/>
          <p:nvPr/>
        </p:nvSpPr>
        <p:spPr>
          <a:xfrm>
            <a:off x="950976" y="1883664"/>
            <a:ext cx="2077974"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Which two verbs are named for climate description?</a:t>
            </a:r>
            <a:endParaRPr lang="en-US" sz="120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2023110" cy="457200"/>
          </a:xfrm>
          <a:prstGeom prst="rect">
            <a:avLst/>
          </a:prstGeom>
          <a:noFill/>
          <a:ln/>
        </p:spPr>
        <p:txBody>
          <a:bodyPr wrap="square" lIns="0" tIns="0" rIns="0" bIns="0" rtlCol="0" anchor="ctr"/>
          <a:lstStyle/>
          <a:p>
            <a:pPr algn="l" indent="0" marL="0">
              <a:buNone/>
            </a:pPr>
            <a:r>
              <a:rPr lang="ar-SA" altLang="en-US" sz="1650" dirty="0">
                <a:solidFill>
                  <a:srgbClr val="1F2A37"/>
                </a:solidFill>
                <a:latin typeface="Amiri" pitchFamily="34" charset="0"/>
                <a:ea typeface="Amiri" pitchFamily="34" charset="-122"/>
                <a:cs typeface="Amiri" pitchFamily="34" charset="-120"/>
              </a:rPr>
              <a:t>يَنْشُرُ</a:t>
            </a:r>
            <a:pPr algn="l" indent="0" marL="0">
              <a:buNone/>
            </a:pPr>
            <a:r>
              <a:rPr lang="en-US" sz="1250" dirty="0">
                <a:solidFill>
                  <a:srgbClr val="1F2A37"/>
                </a:solidFill>
                <a:latin typeface="Calibri" pitchFamily="34" charset="0"/>
                <a:ea typeface="Calibri" pitchFamily="34" charset="-122"/>
                <a:cs typeface="Calibri" pitchFamily="34" charset="-120"/>
              </a:rPr>
              <a:t> and </a:t>
            </a:r>
            <a:pPr algn="l" indent="0" marL="0">
              <a:buNone/>
            </a:pPr>
            <a:r>
              <a:rPr lang="ar-SA" altLang="en-US" sz="1650" dirty="0">
                <a:solidFill>
                  <a:srgbClr val="1F2A37"/>
                </a:solidFill>
                <a:latin typeface="Amiri" pitchFamily="34" charset="0"/>
                <a:ea typeface="Amiri" pitchFamily="34" charset="-122"/>
                <a:cs typeface="Amiri" pitchFamily="34" charset="-120"/>
              </a:rPr>
              <a:t>يُعَلِّقُ</a:t>
            </a:r>
            <a:endParaRPr lang="en-US" sz="12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89504"/>
            <a:ext cx="2023110" cy="457200"/>
          </a:xfrm>
          <a:prstGeom prst="rect">
            <a:avLst/>
          </a:prstGeom>
          <a:noFill/>
          <a:ln/>
        </p:spPr>
        <p:txBody>
          <a:bodyPr wrap="square" lIns="0" tIns="0" rIns="0" bIns="0" rtlCol="0" anchor="ctr"/>
          <a:lstStyle/>
          <a:p>
            <a:pPr algn="l" indent="0" marL="0">
              <a:buNone/>
            </a:pPr>
            <a:r>
              <a:rPr lang="ar-SA" altLang="en-US" sz="1650" dirty="0">
                <a:solidFill>
                  <a:srgbClr val="1F2A37"/>
                </a:solidFill>
                <a:latin typeface="Amiri" pitchFamily="34" charset="0"/>
                <a:ea typeface="Amiri" pitchFamily="34" charset="-122"/>
                <a:cs typeface="Amiri" pitchFamily="34" charset="-120"/>
              </a:rPr>
              <a:t>يَسُودُ</a:t>
            </a:r>
            <a:pPr algn="l" indent="0" marL="0">
              <a:buNone/>
            </a:pPr>
            <a:r>
              <a:rPr lang="en-US" sz="1250" dirty="0">
                <a:solidFill>
                  <a:srgbClr val="1F2A37"/>
                </a:solidFill>
                <a:latin typeface="Calibri" pitchFamily="34" charset="0"/>
                <a:ea typeface="Calibri" pitchFamily="34" charset="-122"/>
                <a:cs typeface="Calibri" pitchFamily="34" charset="-120"/>
              </a:rPr>
              <a:t> and </a:t>
            </a:r>
            <a:pPr algn="l" indent="0" marL="0">
              <a:buNone/>
            </a:pPr>
            <a:r>
              <a:rPr lang="ar-SA" altLang="en-US" sz="1650" dirty="0">
                <a:solidFill>
                  <a:srgbClr val="1F2A37"/>
                </a:solidFill>
                <a:latin typeface="Amiri" pitchFamily="34" charset="0"/>
                <a:ea typeface="Amiri" pitchFamily="34" charset="-122"/>
                <a:cs typeface="Amiri" pitchFamily="34" charset="-120"/>
              </a:rPr>
              <a:t>يَتَّسِمُ بِـ</a:t>
            </a:r>
            <a:endParaRPr lang="en-US" sz="12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9" name="Text 26"/>
          <p:cNvSpPr txBox="1"/>
          <p:nvPr/>
        </p:nvSpPr>
        <p:spPr>
          <a:xfrm>
            <a:off x="969264" y="3346704"/>
            <a:ext cx="2023110" cy="457200"/>
          </a:xfrm>
          <a:prstGeom prst="rect">
            <a:avLst/>
          </a:prstGeom>
          <a:noFill/>
          <a:ln/>
        </p:spPr>
        <p:txBody>
          <a:bodyPr wrap="square" lIns="0" tIns="0" rIns="0" bIns="0" rtlCol="0" anchor="ctr"/>
          <a:lstStyle/>
          <a:p>
            <a:pPr algn="l" indent="0" marL="0">
              <a:buNone/>
            </a:pPr>
            <a:r>
              <a:rPr lang="ar-SA" altLang="en-US" sz="1650" dirty="0">
                <a:solidFill>
                  <a:srgbClr val="1F2A37"/>
                </a:solidFill>
                <a:latin typeface="Amiri" pitchFamily="34" charset="0"/>
                <a:ea typeface="Amiri" pitchFamily="34" charset="-122"/>
                <a:cs typeface="Amiri" pitchFamily="34" charset="-120"/>
              </a:rPr>
              <a:t>يَأْكُلُ</a:t>
            </a:r>
            <a:pPr algn="l" indent="0" marL="0">
              <a:buNone/>
            </a:pPr>
            <a:r>
              <a:rPr lang="en-US" sz="1250" dirty="0">
                <a:solidFill>
                  <a:srgbClr val="1F2A37"/>
                </a:solidFill>
                <a:latin typeface="Calibri" pitchFamily="34" charset="0"/>
                <a:ea typeface="Calibri" pitchFamily="34" charset="-122"/>
                <a:cs typeface="Calibri" pitchFamily="34" charset="-120"/>
              </a:rPr>
              <a:t> and </a:t>
            </a:r>
            <a:pPr algn="l" indent="0" marL="0">
              <a:buNone/>
            </a:pPr>
            <a:r>
              <a:rPr lang="ar-SA" altLang="en-US" sz="1650" dirty="0">
                <a:solidFill>
                  <a:srgbClr val="1F2A37"/>
                </a:solidFill>
                <a:latin typeface="Amiri" pitchFamily="34" charset="0"/>
                <a:ea typeface="Amiri" pitchFamily="34" charset="-122"/>
                <a:cs typeface="Amiri" pitchFamily="34" charset="-120"/>
              </a:rPr>
              <a:t>يَشْرَبُ</a:t>
            </a:r>
            <a:endParaRPr lang="en-US" sz="1250" dirty="0"/>
          </a:p>
        </p:txBody>
      </p:sp>
      <p:sp>
        <p:nvSpPr>
          <p:cNvPr id="30" name="Shape 27"/>
          <p:cNvSpPr/>
          <p:nvPr/>
        </p:nvSpPr>
        <p:spPr>
          <a:xfrm>
            <a:off x="3321558"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3449574"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344957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3815334"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two language areas explain problems?</a:t>
            </a:r>
            <a:endParaRPr lang="en-US" sz="1250" dirty="0"/>
          </a:p>
        </p:txBody>
      </p:sp>
      <p:sp>
        <p:nvSpPr>
          <p:cNvPr id="34" name="Shape 31"/>
          <p:cNvSpPr/>
          <p:nvPr/>
        </p:nvSpPr>
        <p:spPr>
          <a:xfrm>
            <a:off x="3504438"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350443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3833622"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Family and clothes</a:t>
            </a:r>
            <a:endParaRPr lang="en-US" sz="1250" dirty="0"/>
          </a:p>
        </p:txBody>
      </p:sp>
      <p:sp>
        <p:nvSpPr>
          <p:cNvPr id="37" name="Shape 34"/>
          <p:cNvSpPr/>
          <p:nvPr/>
        </p:nvSpPr>
        <p:spPr>
          <a:xfrm>
            <a:off x="3504438"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350443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3833622"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Past holiday narrative and prices</a:t>
            </a:r>
            <a:endParaRPr lang="en-US" sz="1250" dirty="0"/>
          </a:p>
        </p:txBody>
      </p:sp>
      <p:sp>
        <p:nvSpPr>
          <p:cNvPr id="40" name="Shape 37"/>
          <p:cNvSpPr/>
          <p:nvPr/>
        </p:nvSpPr>
        <p:spPr>
          <a:xfrm>
            <a:off x="3504438"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350443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2" name="Text 39"/>
          <p:cNvSpPr txBox="1"/>
          <p:nvPr/>
        </p:nvSpPr>
        <p:spPr>
          <a:xfrm>
            <a:off x="3833622"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Passive and cause–effect links</a:t>
            </a:r>
            <a:endParaRPr lang="en-US" sz="1250" dirty="0"/>
          </a:p>
        </p:txBody>
      </p:sp>
      <p:sp>
        <p:nvSpPr>
          <p:cNvPr id="43" name="Shape 40"/>
          <p:cNvSpPr/>
          <p:nvPr/>
        </p:nvSpPr>
        <p:spPr>
          <a:xfrm>
            <a:off x="6185916"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6313932"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6" name="Text 43"/>
          <p:cNvSpPr txBox="1"/>
          <p:nvPr/>
        </p:nvSpPr>
        <p:spPr>
          <a:xfrm>
            <a:off x="6679692"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structures introduce solutions?</a:t>
            </a:r>
            <a:endParaRPr lang="en-US" sz="1250" dirty="0"/>
          </a:p>
        </p:txBody>
      </p:sp>
      <p:sp>
        <p:nvSpPr>
          <p:cNvPr id="47" name="Shape 44"/>
          <p:cNvSpPr/>
          <p:nvPr/>
        </p:nvSpPr>
        <p:spPr>
          <a:xfrm>
            <a:off x="6368796" y="2532888"/>
            <a:ext cx="256032" cy="256032"/>
          </a:xfrm>
          <a:prstGeom prst="ellipse">
            <a:avLst/>
          </a:prstGeom>
          <a:solidFill>
            <a:srgbClr val="F4F1EA"/>
          </a:solidFill>
          <a:ln w="12700">
            <a:solidFill>
              <a:srgbClr val="F4F1EA"/>
            </a:solidFill>
            <a:prstDash val="solid"/>
          </a:ln>
        </p:spPr>
      </p:sp>
      <p:sp>
        <p:nvSpPr>
          <p:cNvPr id="48" name="Text 45"/>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9" name="Text 46"/>
          <p:cNvSpPr txBox="1"/>
          <p:nvPr/>
        </p:nvSpPr>
        <p:spPr>
          <a:xfrm>
            <a:off x="6697980" y="2432304"/>
            <a:ext cx="2023110" cy="457200"/>
          </a:xfrm>
          <a:prstGeom prst="rect">
            <a:avLst/>
          </a:prstGeom>
          <a:noFill/>
          <a:ln/>
        </p:spPr>
        <p:txBody>
          <a:bodyPr wrap="square" lIns="0" tIns="0" rIns="0" bIns="0" rtlCol="0" anchor="ctr"/>
          <a:lstStyle/>
          <a:p>
            <a:pPr algn="l" indent="0" marL="0">
              <a:buNone/>
            </a:pPr>
            <a:r>
              <a:rPr lang="ar-SA" altLang="en-US" sz="1650" dirty="0">
                <a:solidFill>
                  <a:srgbClr val="1F2A37"/>
                </a:solidFill>
                <a:latin typeface="Amiri" pitchFamily="34" charset="0"/>
                <a:ea typeface="Amiri" pitchFamily="34" charset="-122"/>
                <a:cs typeface="Amiri" pitchFamily="34" charset="-120"/>
              </a:rPr>
              <a:t>يَجِبُ عَلَى</a:t>
            </a:r>
            <a:pPr algn="l" indent="0" marL="0">
              <a:buNone/>
            </a:pPr>
            <a:r>
              <a:rPr lang="en-US" sz="1250" dirty="0">
                <a:solidFill>
                  <a:srgbClr val="1F2A37"/>
                </a:solidFill>
                <a:latin typeface="Calibri" pitchFamily="34" charset="0"/>
                <a:ea typeface="Calibri" pitchFamily="34" charset="-122"/>
                <a:cs typeface="Calibri" pitchFamily="34" charset="-120"/>
              </a:rPr>
              <a:t> ... </a:t>
            </a:r>
            <a:pPr algn="l" indent="0" marL="0">
              <a:buNone/>
            </a:pPr>
            <a:r>
              <a:rPr lang="ar-SA" altLang="en-US" sz="1650" dirty="0">
                <a:solidFill>
                  <a:srgbClr val="1F2A37"/>
                </a:solidFill>
                <a:latin typeface="Amiri" pitchFamily="34" charset="0"/>
                <a:ea typeface="Amiri" pitchFamily="34" charset="-122"/>
                <a:cs typeface="Amiri" pitchFamily="34" charset="-120"/>
              </a:rPr>
              <a:t>أَنْ</a:t>
            </a:r>
            <a:pPr algn="l" indent="0" marL="0">
              <a:buNone/>
            </a:pPr>
            <a:r>
              <a:rPr lang="en-US" sz="1250" dirty="0">
                <a:solidFill>
                  <a:srgbClr val="1F2A37"/>
                </a:solidFill>
                <a:latin typeface="Calibri" pitchFamily="34" charset="0"/>
                <a:ea typeface="Calibri" pitchFamily="34" charset="-122"/>
                <a:cs typeface="Calibri" pitchFamily="34" charset="-120"/>
              </a:rPr>
              <a:t> and </a:t>
            </a:r>
            <a:pPr algn="l" indent="0" marL="0">
              <a:buNone/>
            </a:pPr>
            <a:r>
              <a:rPr lang="ar-SA" altLang="en-US" sz="1650" dirty="0">
                <a:solidFill>
                  <a:srgbClr val="1F2A37"/>
                </a:solidFill>
                <a:latin typeface="Amiri" pitchFamily="34" charset="0"/>
                <a:ea typeface="Amiri" pitchFamily="34" charset="-122"/>
                <a:cs typeface="Amiri" pitchFamily="34" charset="-120"/>
              </a:rPr>
              <a:t>لِكَيْ</a:t>
            </a:r>
            <a:endParaRPr lang="en-US" sz="1250" dirty="0"/>
          </a:p>
        </p:txBody>
      </p:sp>
      <p:sp>
        <p:nvSpPr>
          <p:cNvPr id="50" name="Shape 47"/>
          <p:cNvSpPr/>
          <p:nvPr/>
        </p:nvSpPr>
        <p:spPr>
          <a:xfrm>
            <a:off x="6368796" y="2990088"/>
            <a:ext cx="256032" cy="256032"/>
          </a:xfrm>
          <a:prstGeom prst="ellipse">
            <a:avLst/>
          </a:prstGeom>
          <a:solidFill>
            <a:srgbClr val="F4F1EA"/>
          </a:solidFill>
          <a:ln w="12700">
            <a:solidFill>
              <a:srgbClr val="F4F1EA"/>
            </a:solidFill>
            <a:prstDash val="solid"/>
          </a:ln>
        </p:spPr>
      </p:sp>
      <p:sp>
        <p:nvSpPr>
          <p:cNvPr id="51" name="Text 48"/>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2" name="Text 49"/>
          <p:cNvSpPr txBox="1"/>
          <p:nvPr/>
        </p:nvSpPr>
        <p:spPr>
          <a:xfrm>
            <a:off x="6697980" y="2889504"/>
            <a:ext cx="2023110" cy="457200"/>
          </a:xfrm>
          <a:prstGeom prst="rect">
            <a:avLst/>
          </a:prstGeom>
          <a:noFill/>
          <a:ln/>
        </p:spPr>
        <p:txBody>
          <a:bodyPr wrap="square" lIns="0" tIns="0" rIns="0" bIns="0" rtlCol="0" anchor="ctr"/>
          <a:lstStyle/>
          <a:p>
            <a:pPr algn="l" indent="0" marL="0">
              <a:buNone/>
            </a:pPr>
            <a:r>
              <a:rPr lang="ar-SA" altLang="en-US" sz="1650" dirty="0">
                <a:solidFill>
                  <a:srgbClr val="1F2A37"/>
                </a:solidFill>
                <a:latin typeface="Amiri" pitchFamily="34" charset="0"/>
                <a:ea typeface="Amiri" pitchFamily="34" charset="-122"/>
                <a:cs typeface="Amiri" pitchFamily="34" charset="-120"/>
              </a:rPr>
              <a:t>مُنْذُ</a:t>
            </a:r>
            <a:pPr algn="l" indent="0" marL="0">
              <a:buNone/>
            </a:pPr>
            <a:r>
              <a:rPr lang="en-US" sz="1250" dirty="0">
                <a:solidFill>
                  <a:srgbClr val="1F2A37"/>
                </a:solidFill>
                <a:latin typeface="Calibri" pitchFamily="34" charset="0"/>
                <a:ea typeface="Calibri" pitchFamily="34" charset="-122"/>
                <a:cs typeface="Calibri" pitchFamily="34" charset="-120"/>
              </a:rPr>
              <a:t> and </a:t>
            </a:r>
            <a:pPr algn="l" indent="0" marL="0">
              <a:buNone/>
            </a:pPr>
            <a:r>
              <a:rPr lang="ar-SA" altLang="en-US" sz="1650" dirty="0">
                <a:solidFill>
                  <a:srgbClr val="1F2A37"/>
                </a:solidFill>
                <a:latin typeface="Amiri" pitchFamily="34" charset="0"/>
                <a:ea typeface="Amiri" pitchFamily="34" charset="-122"/>
                <a:cs typeface="Amiri" pitchFamily="34" charset="-120"/>
              </a:rPr>
              <a:t>قَبْلَ</a:t>
            </a:r>
            <a:endParaRPr lang="en-US" sz="1250" dirty="0"/>
          </a:p>
        </p:txBody>
      </p:sp>
      <p:sp>
        <p:nvSpPr>
          <p:cNvPr id="53" name="Shape 50"/>
          <p:cNvSpPr/>
          <p:nvPr/>
        </p:nvSpPr>
        <p:spPr>
          <a:xfrm>
            <a:off x="6368796" y="3447288"/>
            <a:ext cx="256032" cy="256032"/>
          </a:xfrm>
          <a:prstGeom prst="ellipse">
            <a:avLst/>
          </a:prstGeom>
          <a:solidFill>
            <a:srgbClr val="F4F1EA"/>
          </a:solidFill>
          <a:ln w="12700">
            <a:solidFill>
              <a:srgbClr val="F4F1EA"/>
            </a:solidFill>
            <a:prstDash val="solid"/>
          </a:ln>
        </p:spPr>
      </p:sp>
      <p:sp>
        <p:nvSpPr>
          <p:cNvPr id="54" name="Text 51"/>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5" name="Text 52"/>
          <p:cNvSpPr txBox="1"/>
          <p:nvPr/>
        </p:nvSpPr>
        <p:spPr>
          <a:xfrm>
            <a:off x="6697980" y="3346704"/>
            <a:ext cx="2023110" cy="457200"/>
          </a:xfrm>
          <a:prstGeom prst="rect">
            <a:avLst/>
          </a:prstGeom>
          <a:noFill/>
          <a:ln/>
        </p:spPr>
        <p:txBody>
          <a:bodyPr wrap="square" lIns="0" tIns="0" rIns="0" bIns="0" rtlCol="0" anchor="ctr"/>
          <a:lstStyle/>
          <a:p>
            <a:pPr algn="l" indent="0" marL="0">
              <a:buNone/>
            </a:pPr>
            <a:r>
              <a:rPr lang="ar-SA" altLang="en-US" sz="1650" dirty="0">
                <a:solidFill>
                  <a:srgbClr val="1F2A37"/>
                </a:solidFill>
                <a:latin typeface="Amiri" pitchFamily="34" charset="0"/>
                <a:ea typeface="Amiri" pitchFamily="34" charset="-122"/>
                <a:cs typeface="Amiri" pitchFamily="34" charset="-120"/>
              </a:rPr>
              <a:t>كَمْ</a:t>
            </a:r>
            <a:pPr algn="l" indent="0" marL="0">
              <a:buNone/>
            </a:pPr>
            <a:r>
              <a:rPr lang="en-US" sz="1250" dirty="0">
                <a:solidFill>
                  <a:srgbClr val="1F2A37"/>
                </a:solidFill>
                <a:latin typeface="Calibri" pitchFamily="34" charset="0"/>
                <a:ea typeface="Calibri" pitchFamily="34" charset="-122"/>
                <a:cs typeface="Calibri" pitchFamily="34" charset="-120"/>
              </a:rPr>
              <a:t> and </a:t>
            </a:r>
            <a:pPr algn="l" indent="0" marL="0">
              <a:buNone/>
            </a:pPr>
            <a:r>
              <a:rPr lang="ar-SA" altLang="en-US" sz="1650" dirty="0">
                <a:solidFill>
                  <a:srgbClr val="1F2A37"/>
                </a:solidFill>
                <a:latin typeface="Amiri" pitchFamily="34" charset="0"/>
                <a:ea typeface="Amiri" pitchFamily="34" charset="-122"/>
                <a:cs typeface="Amiri" pitchFamily="34" charset="-120"/>
              </a:rPr>
              <a:t>بِكَمْ</a:t>
            </a:r>
            <a:endParaRPr lang="en-US" sz="1250" dirty="0"/>
          </a:p>
        </p:txBody>
      </p:sp>
      <p:sp>
        <p:nvSpPr>
          <p:cNvPr id="56" name="Shape 53"/>
          <p:cNvSpPr/>
          <p:nvPr/>
        </p:nvSpPr>
        <p:spPr>
          <a:xfrm>
            <a:off x="9050274"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9178290" y="1947672"/>
            <a:ext cx="310896" cy="310896"/>
          </a:xfrm>
          <a:prstGeom prst="ellipse">
            <a:avLst/>
          </a:prstGeom>
          <a:solidFill>
            <a:srgbClr val="1B3B6F"/>
          </a:solidFill>
          <a:ln w="12700">
            <a:solidFill>
              <a:srgbClr val="1B3B6F"/>
            </a:solidFill>
            <a:prstDash val="solid"/>
          </a:ln>
        </p:spPr>
      </p:sp>
      <p:sp>
        <p:nvSpPr>
          <p:cNvPr id="58" name="Text 55"/>
          <p:cNvSpPr txBox="1"/>
          <p:nvPr/>
        </p:nvSpPr>
        <p:spPr>
          <a:xfrm>
            <a:off x="917829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9" name="Text 56"/>
          <p:cNvSpPr txBox="1"/>
          <p:nvPr/>
        </p:nvSpPr>
        <p:spPr>
          <a:xfrm>
            <a:off x="9544050"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Name one digital term in the text.</a:t>
            </a:r>
            <a:endParaRPr lang="en-US" sz="1250" dirty="0"/>
          </a:p>
        </p:txBody>
      </p:sp>
      <p:sp>
        <p:nvSpPr>
          <p:cNvPr id="60" name="Shape 57"/>
          <p:cNvSpPr/>
          <p:nvPr/>
        </p:nvSpPr>
        <p:spPr>
          <a:xfrm>
            <a:off x="9233154" y="2532888"/>
            <a:ext cx="256032" cy="256032"/>
          </a:xfrm>
          <a:prstGeom prst="ellipse">
            <a:avLst/>
          </a:prstGeom>
          <a:solidFill>
            <a:srgbClr val="F4F1EA"/>
          </a:solidFill>
          <a:ln w="12700">
            <a:solidFill>
              <a:srgbClr val="F4F1EA"/>
            </a:solidFill>
            <a:prstDash val="solid"/>
          </a:ln>
        </p:spPr>
      </p:sp>
      <p:sp>
        <p:nvSpPr>
          <p:cNvPr id="61" name="Text 58"/>
          <p:cNvSpPr txBox="1"/>
          <p:nvPr/>
        </p:nvSpPr>
        <p:spPr>
          <a:xfrm>
            <a:off x="923315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2" name="Text 59"/>
          <p:cNvSpPr txBox="1"/>
          <p:nvPr/>
        </p:nvSpPr>
        <p:spPr>
          <a:xfrm>
            <a:off x="9562338" y="2432304"/>
            <a:ext cx="2023110"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المَلْعَبُ</a:t>
            </a:r>
            <a:endParaRPr lang="ar-SA" sz="2050" dirty="0"/>
          </a:p>
        </p:txBody>
      </p:sp>
      <p:sp>
        <p:nvSpPr>
          <p:cNvPr id="63" name="Shape 60"/>
          <p:cNvSpPr/>
          <p:nvPr/>
        </p:nvSpPr>
        <p:spPr>
          <a:xfrm>
            <a:off x="9233154" y="2990088"/>
            <a:ext cx="256032" cy="256032"/>
          </a:xfrm>
          <a:prstGeom prst="ellipse">
            <a:avLst/>
          </a:prstGeom>
          <a:solidFill>
            <a:srgbClr val="F4F1EA"/>
          </a:solidFill>
          <a:ln w="12700">
            <a:solidFill>
              <a:srgbClr val="F4F1EA"/>
            </a:solidFill>
            <a:prstDash val="solid"/>
          </a:ln>
        </p:spPr>
      </p:sp>
      <p:sp>
        <p:nvSpPr>
          <p:cNvPr id="64" name="Text 61"/>
          <p:cNvSpPr txBox="1"/>
          <p:nvPr/>
        </p:nvSpPr>
        <p:spPr>
          <a:xfrm>
            <a:off x="923315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5" name="Text 62"/>
          <p:cNvSpPr txBox="1"/>
          <p:nvPr/>
        </p:nvSpPr>
        <p:spPr>
          <a:xfrm>
            <a:off x="9562338" y="2889504"/>
            <a:ext cx="2023110"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الذَّكَاءُ الاصْطِنَاعِيُّ</a:t>
            </a:r>
            <a:endParaRPr lang="ar-SA" sz="2050" dirty="0"/>
          </a:p>
        </p:txBody>
      </p:sp>
      <p:sp>
        <p:nvSpPr>
          <p:cNvPr id="66" name="Shape 63"/>
          <p:cNvSpPr/>
          <p:nvPr/>
        </p:nvSpPr>
        <p:spPr>
          <a:xfrm>
            <a:off x="9233154" y="3447288"/>
            <a:ext cx="256032" cy="256032"/>
          </a:xfrm>
          <a:prstGeom prst="ellipse">
            <a:avLst/>
          </a:prstGeom>
          <a:solidFill>
            <a:srgbClr val="F4F1EA"/>
          </a:solidFill>
          <a:ln w="12700">
            <a:solidFill>
              <a:srgbClr val="F4F1EA"/>
            </a:solidFill>
            <a:prstDash val="solid"/>
          </a:ln>
        </p:spPr>
      </p:sp>
      <p:sp>
        <p:nvSpPr>
          <p:cNvPr id="67" name="Text 64"/>
          <p:cNvSpPr txBox="1"/>
          <p:nvPr/>
        </p:nvSpPr>
        <p:spPr>
          <a:xfrm>
            <a:off x="923315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8" name="Text 65"/>
          <p:cNvSpPr txBox="1"/>
          <p:nvPr/>
        </p:nvSpPr>
        <p:spPr>
          <a:xfrm>
            <a:off x="9562338" y="3346704"/>
            <a:ext cx="2023110"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المِظَلَّةُ</a:t>
            </a:r>
            <a:endParaRPr lang="ar-SA" sz="2050" dirty="0"/>
          </a:p>
        </p:txBody>
      </p:sp>
      <p:sp>
        <p:nvSpPr>
          <p:cNvPr id="69" name="Shape 66"/>
          <p:cNvSpPr/>
          <p:nvPr/>
        </p:nvSpPr>
        <p:spPr>
          <a:xfrm>
            <a:off x="457200"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585216" y="4288536"/>
            <a:ext cx="310896" cy="310896"/>
          </a:xfrm>
          <a:prstGeom prst="ellipse">
            <a:avLst/>
          </a:prstGeom>
          <a:solidFill>
            <a:srgbClr val="1B3B6F"/>
          </a:solidFill>
          <a:ln w="12700">
            <a:solidFill>
              <a:srgbClr val="1B3B6F"/>
            </a:solidFill>
            <a:prstDash val="solid"/>
          </a:ln>
        </p:spPr>
      </p:sp>
      <p:sp>
        <p:nvSpPr>
          <p:cNvPr id="71" name="Text 68"/>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2" name="Text 69"/>
          <p:cNvSpPr txBox="1"/>
          <p:nvPr/>
        </p:nvSpPr>
        <p:spPr>
          <a:xfrm>
            <a:off x="950976"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were benefits and risks evaluated?</a:t>
            </a:r>
            <a:endParaRPr lang="en-US" sz="1250" dirty="0"/>
          </a:p>
        </p:txBody>
      </p:sp>
      <p:sp>
        <p:nvSpPr>
          <p:cNvPr id="73" name="Shape 70"/>
          <p:cNvSpPr/>
          <p:nvPr/>
        </p:nvSpPr>
        <p:spPr>
          <a:xfrm>
            <a:off x="640080" y="4873752"/>
            <a:ext cx="256032" cy="256032"/>
          </a:xfrm>
          <a:prstGeom prst="ellipse">
            <a:avLst/>
          </a:prstGeom>
          <a:solidFill>
            <a:srgbClr val="F4F1EA"/>
          </a:solidFill>
          <a:ln w="12700">
            <a:solidFill>
              <a:srgbClr val="F4F1EA"/>
            </a:solidFill>
            <a:prstDash val="solid"/>
          </a:ln>
        </p:spPr>
      </p:sp>
      <p:sp>
        <p:nvSpPr>
          <p:cNvPr id="74" name="Text 71"/>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5" name="Text 72"/>
          <p:cNvSpPr txBox="1"/>
          <p:nvPr/>
        </p:nvSpPr>
        <p:spPr>
          <a:xfrm>
            <a:off x="969264" y="47731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With balanced arguments</a:t>
            </a:r>
            <a:endParaRPr lang="en-US" sz="1250" dirty="0"/>
          </a:p>
        </p:txBody>
      </p:sp>
      <p:sp>
        <p:nvSpPr>
          <p:cNvPr id="76" name="Shape 73"/>
          <p:cNvSpPr/>
          <p:nvPr/>
        </p:nvSpPr>
        <p:spPr>
          <a:xfrm>
            <a:off x="640080" y="5330952"/>
            <a:ext cx="256032" cy="256032"/>
          </a:xfrm>
          <a:prstGeom prst="ellipse">
            <a:avLst/>
          </a:prstGeom>
          <a:solidFill>
            <a:srgbClr val="F4F1EA"/>
          </a:solidFill>
          <a:ln w="12700">
            <a:solidFill>
              <a:srgbClr val="F4F1EA"/>
            </a:solidFill>
            <a:prstDash val="solid"/>
          </a:ln>
        </p:spPr>
      </p:sp>
      <p:sp>
        <p:nvSpPr>
          <p:cNvPr id="77" name="Text 74"/>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8" name="Text 75"/>
          <p:cNvSpPr txBox="1"/>
          <p:nvPr/>
        </p:nvSpPr>
        <p:spPr>
          <a:xfrm>
            <a:off x="969264" y="52303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With no reasons</a:t>
            </a:r>
            <a:endParaRPr lang="en-US" sz="1250" dirty="0"/>
          </a:p>
        </p:txBody>
      </p:sp>
      <p:sp>
        <p:nvSpPr>
          <p:cNvPr id="79" name="Shape 76"/>
          <p:cNvSpPr/>
          <p:nvPr/>
        </p:nvSpPr>
        <p:spPr>
          <a:xfrm>
            <a:off x="640080" y="5788152"/>
            <a:ext cx="256032" cy="256032"/>
          </a:xfrm>
          <a:prstGeom prst="ellipse">
            <a:avLst/>
          </a:prstGeom>
          <a:solidFill>
            <a:srgbClr val="F4F1EA"/>
          </a:solidFill>
          <a:ln w="12700">
            <a:solidFill>
              <a:srgbClr val="F4F1EA"/>
            </a:solidFill>
            <a:prstDash val="solid"/>
          </a:ln>
        </p:spPr>
      </p:sp>
      <p:sp>
        <p:nvSpPr>
          <p:cNvPr id="80" name="Text 77"/>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1" name="Text 78"/>
          <p:cNvSpPr txBox="1"/>
          <p:nvPr/>
        </p:nvSpPr>
        <p:spPr>
          <a:xfrm>
            <a:off x="969264" y="56875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With isolated vocabulary only</a:t>
            </a:r>
            <a:endParaRPr lang="en-US" sz="1250" dirty="0"/>
          </a:p>
        </p:txBody>
      </p:sp>
      <p:sp>
        <p:nvSpPr>
          <p:cNvPr id="82" name="Shape 79"/>
          <p:cNvSpPr/>
          <p:nvPr/>
        </p:nvSpPr>
        <p:spPr>
          <a:xfrm>
            <a:off x="3321558"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3" name="Shape 80"/>
          <p:cNvSpPr/>
          <p:nvPr/>
        </p:nvSpPr>
        <p:spPr>
          <a:xfrm>
            <a:off x="3449574" y="4288536"/>
            <a:ext cx="310896" cy="310896"/>
          </a:xfrm>
          <a:prstGeom prst="ellipse">
            <a:avLst/>
          </a:prstGeom>
          <a:solidFill>
            <a:srgbClr val="1B3B6F"/>
          </a:solidFill>
          <a:ln w="12700">
            <a:solidFill>
              <a:srgbClr val="1B3B6F"/>
            </a:solidFill>
            <a:prstDash val="solid"/>
          </a:ln>
        </p:spPr>
      </p:sp>
      <p:sp>
        <p:nvSpPr>
          <p:cNvPr id="84" name="Text 81"/>
          <p:cNvSpPr txBox="1"/>
          <p:nvPr/>
        </p:nvSpPr>
        <p:spPr>
          <a:xfrm>
            <a:off x="344957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85" name="Text 82"/>
          <p:cNvSpPr txBox="1"/>
          <p:nvPr/>
        </p:nvSpPr>
        <p:spPr>
          <a:xfrm>
            <a:off x="3815334"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the current goal?</a:t>
            </a:r>
            <a:endParaRPr lang="en-US" sz="1250" dirty="0"/>
          </a:p>
        </p:txBody>
      </p:sp>
      <p:sp>
        <p:nvSpPr>
          <p:cNvPr id="86" name="Shape 83"/>
          <p:cNvSpPr/>
          <p:nvPr/>
        </p:nvSpPr>
        <p:spPr>
          <a:xfrm>
            <a:off x="3504438" y="4873752"/>
            <a:ext cx="256032" cy="256032"/>
          </a:xfrm>
          <a:prstGeom prst="ellipse">
            <a:avLst/>
          </a:prstGeom>
          <a:solidFill>
            <a:srgbClr val="F4F1EA"/>
          </a:solidFill>
          <a:ln w="12700">
            <a:solidFill>
              <a:srgbClr val="F4F1EA"/>
            </a:solidFill>
            <a:prstDash val="solid"/>
          </a:ln>
        </p:spPr>
      </p:sp>
      <p:sp>
        <p:nvSpPr>
          <p:cNvPr id="87" name="Text 84"/>
          <p:cNvSpPr txBox="1"/>
          <p:nvPr/>
        </p:nvSpPr>
        <p:spPr>
          <a:xfrm>
            <a:off x="3504438"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88" name="Text 85"/>
          <p:cNvSpPr txBox="1"/>
          <p:nvPr/>
        </p:nvSpPr>
        <p:spPr>
          <a:xfrm>
            <a:off x="3833622" y="47731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Learn the alphabet again</a:t>
            </a:r>
            <a:endParaRPr lang="en-US" sz="1250" dirty="0"/>
          </a:p>
        </p:txBody>
      </p:sp>
      <p:sp>
        <p:nvSpPr>
          <p:cNvPr id="89" name="Shape 86"/>
          <p:cNvSpPr/>
          <p:nvPr/>
        </p:nvSpPr>
        <p:spPr>
          <a:xfrm>
            <a:off x="3504438" y="5330952"/>
            <a:ext cx="256032" cy="256032"/>
          </a:xfrm>
          <a:prstGeom prst="ellipse">
            <a:avLst/>
          </a:prstGeom>
          <a:solidFill>
            <a:srgbClr val="F4F1EA"/>
          </a:solidFill>
          <a:ln w="12700">
            <a:solidFill>
              <a:srgbClr val="F4F1EA"/>
            </a:solidFill>
            <a:prstDash val="solid"/>
          </a:ln>
        </p:spPr>
      </p:sp>
      <p:sp>
        <p:nvSpPr>
          <p:cNvPr id="90" name="Text 87"/>
          <p:cNvSpPr txBox="1"/>
          <p:nvPr/>
        </p:nvSpPr>
        <p:spPr>
          <a:xfrm>
            <a:off x="3504438"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91" name="Text 88"/>
          <p:cNvSpPr txBox="1"/>
          <p:nvPr/>
        </p:nvSpPr>
        <p:spPr>
          <a:xfrm>
            <a:off x="3833622" y="52303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Avoid all formal language</a:t>
            </a:r>
            <a:endParaRPr lang="en-US" sz="1250" dirty="0"/>
          </a:p>
        </p:txBody>
      </p:sp>
      <p:sp>
        <p:nvSpPr>
          <p:cNvPr id="92" name="Shape 89"/>
          <p:cNvSpPr/>
          <p:nvPr/>
        </p:nvSpPr>
        <p:spPr>
          <a:xfrm>
            <a:off x="3504438" y="5788152"/>
            <a:ext cx="256032" cy="256032"/>
          </a:xfrm>
          <a:prstGeom prst="ellipse">
            <a:avLst/>
          </a:prstGeom>
          <a:solidFill>
            <a:srgbClr val="F4F1EA"/>
          </a:solidFill>
          <a:ln w="12700">
            <a:solidFill>
              <a:srgbClr val="F4F1EA"/>
            </a:solidFill>
            <a:prstDash val="solid"/>
          </a:ln>
        </p:spPr>
      </p:sp>
      <p:sp>
        <p:nvSpPr>
          <p:cNvPr id="93" name="Text 90"/>
          <p:cNvSpPr txBox="1"/>
          <p:nvPr/>
        </p:nvSpPr>
        <p:spPr>
          <a:xfrm>
            <a:off x="3504438"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94" name="Text 91"/>
          <p:cNvSpPr txBox="1"/>
          <p:nvPr/>
        </p:nvSpPr>
        <p:spPr>
          <a:xfrm>
            <a:off x="3833622" y="56875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Use the range accurately under pressure</a:t>
            </a:r>
            <a:endParaRPr lang="en-US" sz="1250" dirty="0"/>
          </a:p>
        </p:txBody>
      </p:sp>
      <p:sp>
        <p:nvSpPr>
          <p:cNvPr id="95" name="Shape 92"/>
          <p:cNvSpPr/>
          <p:nvPr/>
        </p:nvSpPr>
        <p:spPr>
          <a:xfrm>
            <a:off x="6185916" y="4151376"/>
            <a:ext cx="2681478"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6" name="Text 93"/>
          <p:cNvSpPr txBox="1"/>
          <p:nvPr/>
        </p:nvSpPr>
        <p:spPr>
          <a:xfrm>
            <a:off x="6368796" y="4279392"/>
            <a:ext cx="2315718"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READ LIKE A DETECTIVE</a:t>
            </a:r>
            <a:endParaRPr lang="en-US" sz="1000" dirty="0"/>
          </a:p>
        </p:txBody>
      </p:sp>
      <p:sp>
        <p:nvSpPr>
          <p:cNvPr id="97" name="Text 94"/>
          <p:cNvSpPr txBox="1"/>
          <p:nvPr/>
        </p:nvSpPr>
        <p:spPr>
          <a:xfrm>
            <a:off x="6368796" y="4590288"/>
            <a:ext cx="2315718"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1. Read the question first.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2. Find ONE key word from the question in the text.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3. Read only that sentence again, then choose.</a:t>
            </a:r>
            <a:endParaRPr lang="en-US" sz="1250" dirty="0"/>
          </a:p>
        </p:txBody>
      </p:sp>
      <p:sp>
        <p:nvSpPr>
          <p:cNvPr id="98" name="Text 9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40 / 45</a:t>
            </a:r>
            <a:endParaRPr lang="en-US" sz="85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D4-L11 · Unit Review</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READING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Reading: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D4 · Environment, Weather and Technology · D4-L11</a:t>
            </a:r>
            <a:endParaRPr lang="en-US" sz="850" dirty="0"/>
          </a:p>
        </p:txBody>
      </p:sp>
      <p:sp>
        <p:nvSpPr>
          <p:cNvPr id="17" name="Shape 14"/>
          <p:cNvSpPr/>
          <p:nvPr/>
        </p:nvSpPr>
        <p:spPr>
          <a:xfrm>
            <a:off x="457200"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20" name="Text 17"/>
          <p:cNvSpPr txBox="1"/>
          <p:nvPr/>
        </p:nvSpPr>
        <p:spPr>
          <a:xfrm>
            <a:off x="950976" y="1883664"/>
            <a:ext cx="2077974"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Which two verbs are named for climate description?</a:t>
            </a:r>
            <a:endParaRPr lang="en-US" sz="120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2023110" cy="371856"/>
          </a:xfrm>
          <a:prstGeom prst="rect">
            <a:avLst/>
          </a:prstGeom>
          <a:noFill/>
          <a:ln/>
        </p:spPr>
        <p:txBody>
          <a:bodyPr wrap="square" lIns="0" tIns="0" rIns="0" bIns="0" rtlCol="0" anchor="ctr"/>
          <a:lstStyle/>
          <a:p>
            <a:pPr algn="l" indent="0" marL="0">
              <a:buNone/>
            </a:pPr>
            <a:r>
              <a:rPr lang="ar-SA" altLang="en-US" sz="1650" dirty="0">
                <a:solidFill>
                  <a:srgbClr val="9AA1AB"/>
                </a:solidFill>
                <a:latin typeface="Amiri" pitchFamily="34" charset="0"/>
                <a:ea typeface="Amiri" pitchFamily="34" charset="-122"/>
                <a:cs typeface="Amiri" pitchFamily="34" charset="-120"/>
              </a:rPr>
              <a:t>يَنْشُرُ</a:t>
            </a:r>
            <a:pPr algn="l" indent="0" marL="0">
              <a:buNone/>
            </a:pPr>
            <a:r>
              <a:rPr lang="en-US" sz="1250" dirty="0">
                <a:solidFill>
                  <a:srgbClr val="9AA1AB"/>
                </a:solidFill>
                <a:latin typeface="Calibri" pitchFamily="34" charset="0"/>
                <a:ea typeface="Calibri" pitchFamily="34" charset="-122"/>
                <a:cs typeface="Calibri" pitchFamily="34" charset="-120"/>
              </a:rPr>
              <a:t> and </a:t>
            </a:r>
            <a:pPr algn="l" indent="0" marL="0">
              <a:buNone/>
            </a:pPr>
            <a:r>
              <a:rPr lang="ar-SA" altLang="en-US" sz="1650" dirty="0">
                <a:solidFill>
                  <a:srgbClr val="9AA1AB"/>
                </a:solidFill>
                <a:latin typeface="Amiri" pitchFamily="34" charset="0"/>
                <a:ea typeface="Amiri" pitchFamily="34" charset="-122"/>
                <a:cs typeface="Amiri" pitchFamily="34" charset="-120"/>
              </a:rPr>
              <a:t>يُعَلِّقُ</a:t>
            </a:r>
            <a:endParaRPr lang="en-US" sz="1250" dirty="0"/>
          </a:p>
        </p:txBody>
      </p:sp>
      <p:sp>
        <p:nvSpPr>
          <p:cNvPr id="24" name="Shape 21"/>
          <p:cNvSpPr/>
          <p:nvPr/>
        </p:nvSpPr>
        <p:spPr>
          <a:xfrm>
            <a:off x="548640" y="2825496"/>
            <a:ext cx="2498598" cy="347472"/>
          </a:xfrm>
          <a:prstGeom prst="roundRect">
            <a:avLst>
              <a:gd name="adj" fmla="val 15789"/>
            </a:avLst>
          </a:prstGeom>
          <a:solidFill>
            <a:srgbClr val="E6F4EC"/>
          </a:solidFill>
          <a:ln w="9525">
            <a:solidFill>
              <a:srgbClr val="2E8B57"/>
            </a:solidFill>
            <a:prstDash val="solid"/>
          </a:ln>
        </p:spPr>
      </p:sp>
      <p:sp>
        <p:nvSpPr>
          <p:cNvPr id="25" name="Shape 22"/>
          <p:cNvSpPr/>
          <p:nvPr/>
        </p:nvSpPr>
        <p:spPr>
          <a:xfrm>
            <a:off x="640080" y="2862072"/>
            <a:ext cx="256032" cy="256032"/>
          </a:xfrm>
          <a:prstGeom prst="ellipse">
            <a:avLst/>
          </a:prstGeom>
          <a:solidFill>
            <a:srgbClr val="2E8B57"/>
          </a:solidFill>
          <a:ln w="12700">
            <a:solidFill>
              <a:srgbClr val="2E8B57"/>
            </a:solidFill>
            <a:prstDash val="solid"/>
          </a:ln>
        </p:spPr>
      </p:sp>
      <p:sp>
        <p:nvSpPr>
          <p:cNvPr id="26"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7" name="Text 24"/>
          <p:cNvSpPr txBox="1"/>
          <p:nvPr/>
        </p:nvSpPr>
        <p:spPr>
          <a:xfrm>
            <a:off x="969264" y="2804160"/>
            <a:ext cx="2023110" cy="371856"/>
          </a:xfrm>
          <a:prstGeom prst="rect">
            <a:avLst/>
          </a:prstGeom>
          <a:noFill/>
          <a:ln/>
        </p:spPr>
        <p:txBody>
          <a:bodyPr wrap="square" lIns="0" tIns="0" rIns="0" bIns="0" rtlCol="0" anchor="ctr"/>
          <a:lstStyle/>
          <a:p>
            <a:pPr algn="l" indent="0" marL="0">
              <a:buNone/>
            </a:pPr>
            <a:r>
              <a:rPr lang="ar-SA" altLang="en-US" sz="1650" b="1" dirty="0">
                <a:solidFill>
                  <a:srgbClr val="1F2A37"/>
                </a:solidFill>
                <a:latin typeface="Amiri" pitchFamily="34" charset="0"/>
                <a:ea typeface="Amiri" pitchFamily="34" charset="-122"/>
                <a:cs typeface="Amiri" pitchFamily="34" charset="-120"/>
              </a:rPr>
              <a:t>يَسُودُ</a:t>
            </a:r>
            <a:pPr algn="l" indent="0" marL="0">
              <a:buNone/>
            </a:pPr>
            <a:r>
              <a:rPr lang="en-US" sz="1250" b="1" dirty="0">
                <a:solidFill>
                  <a:srgbClr val="1F2A37"/>
                </a:solidFill>
                <a:latin typeface="Calibri" pitchFamily="34" charset="0"/>
                <a:ea typeface="Calibri" pitchFamily="34" charset="-122"/>
                <a:cs typeface="Calibri" pitchFamily="34" charset="-120"/>
              </a:rPr>
              <a:t> and </a:t>
            </a:r>
            <a:pPr algn="l" indent="0" marL="0">
              <a:buNone/>
            </a:pPr>
            <a:r>
              <a:rPr lang="ar-SA" altLang="en-US" sz="1650" b="1" dirty="0">
                <a:solidFill>
                  <a:srgbClr val="1F2A37"/>
                </a:solidFill>
                <a:latin typeface="Amiri" pitchFamily="34" charset="0"/>
                <a:ea typeface="Amiri" pitchFamily="34" charset="-122"/>
                <a:cs typeface="Amiri" pitchFamily="34" charset="-120"/>
              </a:rPr>
              <a:t>يَتَّسِمُ بِـ</a:t>
            </a:r>
            <a:endParaRPr lang="en-US" sz="1250" dirty="0"/>
          </a:p>
        </p:txBody>
      </p:sp>
      <p:sp>
        <p:nvSpPr>
          <p:cNvPr id="28" name="Shape 25"/>
          <p:cNvSpPr/>
          <p:nvPr/>
        </p:nvSpPr>
        <p:spPr>
          <a:xfrm>
            <a:off x="640080" y="3233928"/>
            <a:ext cx="256032" cy="256032"/>
          </a:xfrm>
          <a:prstGeom prst="ellipse">
            <a:avLst/>
          </a:prstGeom>
          <a:solidFill>
            <a:srgbClr val="C9CED6"/>
          </a:solidFill>
          <a:ln w="12700">
            <a:solidFill>
              <a:srgbClr val="C9CED6"/>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30" name="Text 27"/>
          <p:cNvSpPr txBox="1"/>
          <p:nvPr/>
        </p:nvSpPr>
        <p:spPr>
          <a:xfrm>
            <a:off x="969264" y="3176016"/>
            <a:ext cx="2023110" cy="371856"/>
          </a:xfrm>
          <a:prstGeom prst="rect">
            <a:avLst/>
          </a:prstGeom>
          <a:noFill/>
          <a:ln/>
        </p:spPr>
        <p:txBody>
          <a:bodyPr wrap="square" lIns="0" tIns="0" rIns="0" bIns="0" rtlCol="0" anchor="ctr"/>
          <a:lstStyle/>
          <a:p>
            <a:pPr algn="l" indent="0" marL="0">
              <a:buNone/>
            </a:pPr>
            <a:r>
              <a:rPr lang="ar-SA" altLang="en-US" sz="1650" dirty="0">
                <a:solidFill>
                  <a:srgbClr val="9AA1AB"/>
                </a:solidFill>
                <a:latin typeface="Amiri" pitchFamily="34" charset="0"/>
                <a:ea typeface="Amiri" pitchFamily="34" charset="-122"/>
                <a:cs typeface="Amiri" pitchFamily="34" charset="-120"/>
              </a:rPr>
              <a:t>يَأْكُلُ</a:t>
            </a:r>
            <a:pPr algn="l" indent="0" marL="0">
              <a:buNone/>
            </a:pPr>
            <a:r>
              <a:rPr lang="en-US" sz="1250" dirty="0">
                <a:solidFill>
                  <a:srgbClr val="9AA1AB"/>
                </a:solidFill>
                <a:latin typeface="Calibri" pitchFamily="34" charset="0"/>
                <a:ea typeface="Calibri" pitchFamily="34" charset="-122"/>
                <a:cs typeface="Calibri" pitchFamily="34" charset="-120"/>
              </a:rPr>
              <a:t> and </a:t>
            </a:r>
            <a:pPr algn="l" indent="0" marL="0">
              <a:buNone/>
            </a:pPr>
            <a:r>
              <a:rPr lang="ar-SA" altLang="en-US" sz="1650" dirty="0">
                <a:solidFill>
                  <a:srgbClr val="9AA1AB"/>
                </a:solidFill>
                <a:latin typeface="Amiri" pitchFamily="34" charset="0"/>
                <a:ea typeface="Amiri" pitchFamily="34" charset="-122"/>
                <a:cs typeface="Amiri" pitchFamily="34" charset="-120"/>
              </a:rPr>
              <a:t>يَشْرَبُ</a:t>
            </a:r>
            <a:endParaRPr lang="en-US" sz="1250" dirty="0"/>
          </a:p>
        </p:txBody>
      </p:sp>
      <p:sp>
        <p:nvSpPr>
          <p:cNvPr id="31" name="Text 28"/>
          <p:cNvSpPr txBox="1"/>
          <p:nvPr/>
        </p:nvSpPr>
        <p:spPr>
          <a:xfrm>
            <a:off x="585216" y="3566160"/>
            <a:ext cx="2425446"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opening names them.</a:t>
            </a:r>
            <a:endParaRPr lang="en-US" sz="1050" dirty="0"/>
          </a:p>
        </p:txBody>
      </p:sp>
      <p:sp>
        <p:nvSpPr>
          <p:cNvPr id="32" name="Shape 29"/>
          <p:cNvSpPr/>
          <p:nvPr/>
        </p:nvSpPr>
        <p:spPr>
          <a:xfrm>
            <a:off x="3321558"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3449574"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344957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5" name="Text 32"/>
          <p:cNvSpPr txBox="1"/>
          <p:nvPr/>
        </p:nvSpPr>
        <p:spPr>
          <a:xfrm>
            <a:off x="3815334"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two language areas explain problems?</a:t>
            </a:r>
            <a:endParaRPr lang="en-US" sz="1250" dirty="0"/>
          </a:p>
        </p:txBody>
      </p:sp>
      <p:sp>
        <p:nvSpPr>
          <p:cNvPr id="36" name="Shape 33"/>
          <p:cNvSpPr/>
          <p:nvPr/>
        </p:nvSpPr>
        <p:spPr>
          <a:xfrm>
            <a:off x="3504438"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350443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8" name="Text 35"/>
          <p:cNvSpPr txBox="1"/>
          <p:nvPr/>
        </p:nvSpPr>
        <p:spPr>
          <a:xfrm>
            <a:off x="3833622"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Family and clothes</a:t>
            </a:r>
            <a:endParaRPr lang="en-US" sz="1250" dirty="0"/>
          </a:p>
        </p:txBody>
      </p:sp>
      <p:sp>
        <p:nvSpPr>
          <p:cNvPr id="39" name="Shape 36"/>
          <p:cNvSpPr/>
          <p:nvPr/>
        </p:nvSpPr>
        <p:spPr>
          <a:xfrm>
            <a:off x="3504438" y="2862072"/>
            <a:ext cx="256032" cy="256032"/>
          </a:xfrm>
          <a:prstGeom prst="ellipse">
            <a:avLst/>
          </a:prstGeom>
          <a:solidFill>
            <a:srgbClr val="C9CED6"/>
          </a:solidFill>
          <a:ln w="12700">
            <a:solidFill>
              <a:srgbClr val="C9CED6"/>
            </a:solidFill>
            <a:prstDash val="solid"/>
          </a:ln>
        </p:spPr>
      </p:sp>
      <p:sp>
        <p:nvSpPr>
          <p:cNvPr id="40" name="Text 37"/>
          <p:cNvSpPr txBox="1"/>
          <p:nvPr/>
        </p:nvSpPr>
        <p:spPr>
          <a:xfrm>
            <a:off x="350443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1" name="Text 38"/>
          <p:cNvSpPr txBox="1"/>
          <p:nvPr/>
        </p:nvSpPr>
        <p:spPr>
          <a:xfrm>
            <a:off x="3833622" y="2804160"/>
            <a:ext cx="2023110" cy="371856"/>
          </a:xfrm>
          <a:prstGeom prst="rect">
            <a:avLst/>
          </a:prstGeom>
          <a:noFill/>
          <a:ln/>
        </p:spPr>
        <p:txBody>
          <a:bodyPr wrap="square" lIns="0" tIns="0" rIns="0" bIns="0" rtlCol="0" anchor="ctr"/>
          <a:lstStyle/>
          <a:p>
            <a:pPr algn="l" indent="0" marL="0">
              <a:buNone/>
            </a:pPr>
            <a:r>
              <a:rPr lang="en-US" sz="1150" dirty="0">
                <a:solidFill>
                  <a:srgbClr val="9AA1AB"/>
                </a:solidFill>
                <a:latin typeface="Calibri" pitchFamily="34" charset="0"/>
                <a:ea typeface="Calibri" pitchFamily="34" charset="-122"/>
                <a:cs typeface="Calibri" pitchFamily="34" charset="-120"/>
              </a:rPr>
              <a:t>Past holiday narrative and prices</a:t>
            </a:r>
            <a:endParaRPr lang="en-US" sz="1150" dirty="0"/>
          </a:p>
        </p:txBody>
      </p:sp>
      <p:sp>
        <p:nvSpPr>
          <p:cNvPr id="42" name="Shape 39"/>
          <p:cNvSpPr/>
          <p:nvPr/>
        </p:nvSpPr>
        <p:spPr>
          <a:xfrm>
            <a:off x="3412998" y="3197352"/>
            <a:ext cx="2498598" cy="347472"/>
          </a:xfrm>
          <a:prstGeom prst="roundRect">
            <a:avLst>
              <a:gd name="adj" fmla="val 15789"/>
            </a:avLst>
          </a:prstGeom>
          <a:solidFill>
            <a:srgbClr val="E6F4EC"/>
          </a:solidFill>
          <a:ln w="9525">
            <a:solidFill>
              <a:srgbClr val="2E8B57"/>
            </a:solidFill>
            <a:prstDash val="solid"/>
          </a:ln>
        </p:spPr>
      </p:sp>
      <p:sp>
        <p:nvSpPr>
          <p:cNvPr id="43" name="Shape 40"/>
          <p:cNvSpPr/>
          <p:nvPr/>
        </p:nvSpPr>
        <p:spPr>
          <a:xfrm>
            <a:off x="3504438" y="3233928"/>
            <a:ext cx="256032" cy="256032"/>
          </a:xfrm>
          <a:prstGeom prst="ellipse">
            <a:avLst/>
          </a:prstGeom>
          <a:solidFill>
            <a:srgbClr val="2E8B57"/>
          </a:solidFill>
          <a:ln w="12700">
            <a:solidFill>
              <a:srgbClr val="2E8B57"/>
            </a:solidFill>
            <a:prstDash val="solid"/>
          </a:ln>
        </p:spPr>
      </p:sp>
      <p:sp>
        <p:nvSpPr>
          <p:cNvPr id="44" name="Text 41"/>
          <p:cNvSpPr txBox="1"/>
          <p:nvPr/>
        </p:nvSpPr>
        <p:spPr>
          <a:xfrm>
            <a:off x="350443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45" name="Text 42"/>
          <p:cNvSpPr txBox="1"/>
          <p:nvPr/>
        </p:nvSpPr>
        <p:spPr>
          <a:xfrm>
            <a:off x="3833622" y="3176016"/>
            <a:ext cx="2023110"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ea typeface="Calibri" pitchFamily="34" charset="-122"/>
                <a:cs typeface="Calibri" pitchFamily="34" charset="-120"/>
              </a:rPr>
              <a:t>Passive and cause–effect links</a:t>
            </a:r>
            <a:endParaRPr lang="en-US" sz="1150" dirty="0"/>
          </a:p>
        </p:txBody>
      </p:sp>
      <p:sp>
        <p:nvSpPr>
          <p:cNvPr id="46" name="Text 43"/>
          <p:cNvSpPr txBox="1"/>
          <p:nvPr/>
        </p:nvSpPr>
        <p:spPr>
          <a:xfrm>
            <a:off x="3449574" y="3566160"/>
            <a:ext cx="2425446" cy="365760"/>
          </a:xfrm>
          <a:prstGeom prst="rect">
            <a:avLst/>
          </a:prstGeom>
          <a:noFill/>
          <a:ln/>
        </p:spPr>
        <p:txBody>
          <a:bodyPr wrap="square" lIns="0" tIns="0" rIns="0" bIns="0" rtlCol="0" anchor="ctr"/>
          <a:lstStyle/>
          <a:p>
            <a:pPr rtl="1" algn="r" indent="0" marL="0">
              <a:buNone/>
            </a:pPr>
            <a:r>
              <a:rPr lang="ar-SA" altLang="en-US" sz="1250" dirty="0">
                <a:solidFill>
                  <a:srgbClr val="8A6D1E"/>
                </a:solidFill>
                <a:latin typeface="Amiri" pitchFamily="34" charset="0"/>
                <a:ea typeface="Amiri" pitchFamily="34" charset="-122"/>
                <a:cs typeface="Amiri" pitchFamily="34" charset="-120"/>
              </a:rPr>
              <a:t>المبني للمجهول وروابط السبب والنتيجة.</a:t>
            </a:r>
            <a:endParaRPr lang="ar-SA" sz="1250" dirty="0"/>
          </a:p>
        </p:txBody>
      </p:sp>
      <p:sp>
        <p:nvSpPr>
          <p:cNvPr id="47" name="Shape 44"/>
          <p:cNvSpPr/>
          <p:nvPr/>
        </p:nvSpPr>
        <p:spPr>
          <a:xfrm>
            <a:off x="6185916"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6313932" y="1947672"/>
            <a:ext cx="310896" cy="310896"/>
          </a:xfrm>
          <a:prstGeom prst="ellipse">
            <a:avLst/>
          </a:prstGeom>
          <a:solidFill>
            <a:srgbClr val="1B3B6F"/>
          </a:solidFill>
          <a:ln w="12700">
            <a:solidFill>
              <a:srgbClr val="1B3B6F"/>
            </a:solidFill>
            <a:prstDash val="solid"/>
          </a:ln>
        </p:spPr>
      </p:sp>
      <p:sp>
        <p:nvSpPr>
          <p:cNvPr id="49" name="Text 46"/>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50" name="Text 47"/>
          <p:cNvSpPr txBox="1"/>
          <p:nvPr/>
        </p:nvSpPr>
        <p:spPr>
          <a:xfrm>
            <a:off x="6679692"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structures introduce solutions?</a:t>
            </a:r>
            <a:endParaRPr lang="en-US" sz="1250" dirty="0"/>
          </a:p>
        </p:txBody>
      </p:sp>
      <p:sp>
        <p:nvSpPr>
          <p:cNvPr id="51" name="Shape 48"/>
          <p:cNvSpPr/>
          <p:nvPr/>
        </p:nvSpPr>
        <p:spPr>
          <a:xfrm>
            <a:off x="6277356" y="2453640"/>
            <a:ext cx="2498598" cy="347472"/>
          </a:xfrm>
          <a:prstGeom prst="roundRect">
            <a:avLst>
              <a:gd name="adj" fmla="val 15789"/>
            </a:avLst>
          </a:prstGeom>
          <a:solidFill>
            <a:srgbClr val="E6F4EC"/>
          </a:solidFill>
          <a:ln w="9525">
            <a:solidFill>
              <a:srgbClr val="2E8B57"/>
            </a:solidFill>
            <a:prstDash val="solid"/>
          </a:ln>
        </p:spPr>
      </p:sp>
      <p:sp>
        <p:nvSpPr>
          <p:cNvPr id="52" name="Shape 49"/>
          <p:cNvSpPr/>
          <p:nvPr/>
        </p:nvSpPr>
        <p:spPr>
          <a:xfrm>
            <a:off x="6368796" y="2490216"/>
            <a:ext cx="256032" cy="256032"/>
          </a:xfrm>
          <a:prstGeom prst="ellipse">
            <a:avLst/>
          </a:prstGeom>
          <a:solidFill>
            <a:srgbClr val="2E8B57"/>
          </a:solidFill>
          <a:ln w="12700">
            <a:solidFill>
              <a:srgbClr val="2E8B57"/>
            </a:solidFill>
            <a:prstDash val="solid"/>
          </a:ln>
        </p:spPr>
      </p:sp>
      <p:sp>
        <p:nvSpPr>
          <p:cNvPr id="53" name="Text 50"/>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54" name="Text 51"/>
          <p:cNvSpPr txBox="1"/>
          <p:nvPr/>
        </p:nvSpPr>
        <p:spPr>
          <a:xfrm>
            <a:off x="6697980" y="2432304"/>
            <a:ext cx="2023110" cy="371856"/>
          </a:xfrm>
          <a:prstGeom prst="rect">
            <a:avLst/>
          </a:prstGeom>
          <a:noFill/>
          <a:ln/>
        </p:spPr>
        <p:txBody>
          <a:bodyPr wrap="square" lIns="0" tIns="0" rIns="0" bIns="0" rtlCol="0" anchor="ctr"/>
          <a:lstStyle/>
          <a:p>
            <a:pPr algn="l" indent="0" marL="0">
              <a:buNone/>
            </a:pPr>
            <a:r>
              <a:rPr lang="ar-SA" altLang="en-US" sz="1650" b="1" dirty="0">
                <a:solidFill>
                  <a:srgbClr val="1F2A37"/>
                </a:solidFill>
                <a:latin typeface="Amiri" pitchFamily="34" charset="0"/>
                <a:ea typeface="Amiri" pitchFamily="34" charset="-122"/>
                <a:cs typeface="Amiri" pitchFamily="34" charset="-120"/>
              </a:rPr>
              <a:t>يَجِبُ عَلَى</a:t>
            </a:r>
            <a:pPr algn="l" indent="0" marL="0">
              <a:buNone/>
            </a:pPr>
            <a:r>
              <a:rPr lang="en-US" sz="1250" b="1" dirty="0">
                <a:solidFill>
                  <a:srgbClr val="1F2A37"/>
                </a:solidFill>
                <a:latin typeface="Calibri" pitchFamily="34" charset="0"/>
                <a:ea typeface="Calibri" pitchFamily="34" charset="-122"/>
                <a:cs typeface="Calibri" pitchFamily="34" charset="-120"/>
              </a:rPr>
              <a:t> ... </a:t>
            </a:r>
            <a:pPr algn="l" indent="0" marL="0">
              <a:buNone/>
            </a:pPr>
            <a:r>
              <a:rPr lang="ar-SA" altLang="en-US" sz="1650" b="1" dirty="0">
                <a:solidFill>
                  <a:srgbClr val="1F2A37"/>
                </a:solidFill>
                <a:latin typeface="Amiri" pitchFamily="34" charset="0"/>
                <a:ea typeface="Amiri" pitchFamily="34" charset="-122"/>
                <a:cs typeface="Amiri" pitchFamily="34" charset="-120"/>
              </a:rPr>
              <a:t>أَنْ</a:t>
            </a:r>
            <a:pPr algn="l" indent="0" marL="0">
              <a:buNone/>
            </a:pPr>
            <a:r>
              <a:rPr lang="en-US" sz="1250" b="1" dirty="0">
                <a:solidFill>
                  <a:srgbClr val="1F2A37"/>
                </a:solidFill>
                <a:latin typeface="Calibri" pitchFamily="34" charset="0"/>
                <a:ea typeface="Calibri" pitchFamily="34" charset="-122"/>
                <a:cs typeface="Calibri" pitchFamily="34" charset="-120"/>
              </a:rPr>
              <a:t> and </a:t>
            </a:r>
            <a:pPr algn="l" indent="0" marL="0">
              <a:buNone/>
            </a:pPr>
            <a:r>
              <a:rPr lang="ar-SA" altLang="en-US" sz="1650" b="1" dirty="0">
                <a:solidFill>
                  <a:srgbClr val="1F2A37"/>
                </a:solidFill>
                <a:latin typeface="Amiri" pitchFamily="34" charset="0"/>
                <a:ea typeface="Amiri" pitchFamily="34" charset="-122"/>
                <a:cs typeface="Amiri" pitchFamily="34" charset="-120"/>
              </a:rPr>
              <a:t>لِكَيْ</a:t>
            </a:r>
            <a:endParaRPr lang="en-US" sz="1250" dirty="0"/>
          </a:p>
        </p:txBody>
      </p:sp>
      <p:sp>
        <p:nvSpPr>
          <p:cNvPr id="55" name="Shape 52"/>
          <p:cNvSpPr/>
          <p:nvPr/>
        </p:nvSpPr>
        <p:spPr>
          <a:xfrm>
            <a:off x="6368796" y="2862072"/>
            <a:ext cx="256032" cy="256032"/>
          </a:xfrm>
          <a:prstGeom prst="ellipse">
            <a:avLst/>
          </a:prstGeom>
          <a:solidFill>
            <a:srgbClr val="C9CED6"/>
          </a:solidFill>
          <a:ln w="12700">
            <a:solidFill>
              <a:srgbClr val="C9CED6"/>
            </a:solidFill>
            <a:prstDash val="solid"/>
          </a:ln>
        </p:spPr>
      </p:sp>
      <p:sp>
        <p:nvSpPr>
          <p:cNvPr id="56" name="Text 53"/>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7" name="Text 54"/>
          <p:cNvSpPr txBox="1"/>
          <p:nvPr/>
        </p:nvSpPr>
        <p:spPr>
          <a:xfrm>
            <a:off x="6697980" y="2804160"/>
            <a:ext cx="2023110" cy="371856"/>
          </a:xfrm>
          <a:prstGeom prst="rect">
            <a:avLst/>
          </a:prstGeom>
          <a:noFill/>
          <a:ln/>
        </p:spPr>
        <p:txBody>
          <a:bodyPr wrap="square" lIns="0" tIns="0" rIns="0" bIns="0" rtlCol="0" anchor="ctr"/>
          <a:lstStyle/>
          <a:p>
            <a:pPr algn="l" indent="0" marL="0">
              <a:buNone/>
            </a:pPr>
            <a:r>
              <a:rPr lang="ar-SA" altLang="en-US" sz="1650" dirty="0">
                <a:solidFill>
                  <a:srgbClr val="9AA1AB"/>
                </a:solidFill>
                <a:latin typeface="Amiri" pitchFamily="34" charset="0"/>
                <a:ea typeface="Amiri" pitchFamily="34" charset="-122"/>
                <a:cs typeface="Amiri" pitchFamily="34" charset="-120"/>
              </a:rPr>
              <a:t>مُنْذُ</a:t>
            </a:r>
            <a:pPr algn="l" indent="0" marL="0">
              <a:buNone/>
            </a:pPr>
            <a:r>
              <a:rPr lang="en-US" sz="1250" dirty="0">
                <a:solidFill>
                  <a:srgbClr val="9AA1AB"/>
                </a:solidFill>
                <a:latin typeface="Calibri" pitchFamily="34" charset="0"/>
                <a:ea typeface="Calibri" pitchFamily="34" charset="-122"/>
                <a:cs typeface="Calibri" pitchFamily="34" charset="-120"/>
              </a:rPr>
              <a:t> and </a:t>
            </a:r>
            <a:pPr algn="l" indent="0" marL="0">
              <a:buNone/>
            </a:pPr>
            <a:r>
              <a:rPr lang="ar-SA" altLang="en-US" sz="1650" dirty="0">
                <a:solidFill>
                  <a:srgbClr val="9AA1AB"/>
                </a:solidFill>
                <a:latin typeface="Amiri" pitchFamily="34" charset="0"/>
                <a:ea typeface="Amiri" pitchFamily="34" charset="-122"/>
                <a:cs typeface="Amiri" pitchFamily="34" charset="-120"/>
              </a:rPr>
              <a:t>قَبْلَ</a:t>
            </a:r>
            <a:endParaRPr lang="en-US" sz="1250" dirty="0"/>
          </a:p>
        </p:txBody>
      </p:sp>
      <p:sp>
        <p:nvSpPr>
          <p:cNvPr id="58" name="Shape 55"/>
          <p:cNvSpPr/>
          <p:nvPr/>
        </p:nvSpPr>
        <p:spPr>
          <a:xfrm>
            <a:off x="6368796" y="3233928"/>
            <a:ext cx="256032" cy="256032"/>
          </a:xfrm>
          <a:prstGeom prst="ellipse">
            <a:avLst/>
          </a:prstGeom>
          <a:solidFill>
            <a:srgbClr val="C9CED6"/>
          </a:solidFill>
          <a:ln w="12700">
            <a:solidFill>
              <a:srgbClr val="C9CED6"/>
            </a:solidFill>
            <a:prstDash val="solid"/>
          </a:ln>
        </p:spPr>
      </p:sp>
      <p:sp>
        <p:nvSpPr>
          <p:cNvPr id="59" name="Text 56"/>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0" name="Text 57"/>
          <p:cNvSpPr txBox="1"/>
          <p:nvPr/>
        </p:nvSpPr>
        <p:spPr>
          <a:xfrm>
            <a:off x="6697980" y="3176016"/>
            <a:ext cx="2023110" cy="371856"/>
          </a:xfrm>
          <a:prstGeom prst="rect">
            <a:avLst/>
          </a:prstGeom>
          <a:noFill/>
          <a:ln/>
        </p:spPr>
        <p:txBody>
          <a:bodyPr wrap="square" lIns="0" tIns="0" rIns="0" bIns="0" rtlCol="0" anchor="ctr"/>
          <a:lstStyle/>
          <a:p>
            <a:pPr algn="l" indent="0" marL="0">
              <a:buNone/>
            </a:pPr>
            <a:r>
              <a:rPr lang="ar-SA" altLang="en-US" sz="1650" dirty="0">
                <a:solidFill>
                  <a:srgbClr val="9AA1AB"/>
                </a:solidFill>
                <a:latin typeface="Amiri" pitchFamily="34" charset="0"/>
                <a:ea typeface="Amiri" pitchFamily="34" charset="-122"/>
                <a:cs typeface="Amiri" pitchFamily="34" charset="-120"/>
              </a:rPr>
              <a:t>كَمْ</a:t>
            </a:r>
            <a:pPr algn="l" indent="0" marL="0">
              <a:buNone/>
            </a:pPr>
            <a:r>
              <a:rPr lang="en-US" sz="1250" dirty="0">
                <a:solidFill>
                  <a:srgbClr val="9AA1AB"/>
                </a:solidFill>
                <a:latin typeface="Calibri" pitchFamily="34" charset="0"/>
                <a:ea typeface="Calibri" pitchFamily="34" charset="-122"/>
                <a:cs typeface="Calibri" pitchFamily="34" charset="-120"/>
              </a:rPr>
              <a:t> and </a:t>
            </a:r>
            <a:pPr algn="l" indent="0" marL="0">
              <a:buNone/>
            </a:pPr>
            <a:r>
              <a:rPr lang="ar-SA" altLang="en-US" sz="1650" dirty="0">
                <a:solidFill>
                  <a:srgbClr val="9AA1AB"/>
                </a:solidFill>
                <a:latin typeface="Amiri" pitchFamily="34" charset="0"/>
                <a:ea typeface="Amiri" pitchFamily="34" charset="-122"/>
                <a:cs typeface="Amiri" pitchFamily="34" charset="-120"/>
              </a:rPr>
              <a:t>بِكَمْ</a:t>
            </a:r>
            <a:endParaRPr lang="en-US" sz="1250" dirty="0"/>
          </a:p>
        </p:txBody>
      </p:sp>
      <p:sp>
        <p:nvSpPr>
          <p:cNvPr id="61" name="Text 58"/>
          <p:cNvSpPr txBox="1"/>
          <p:nvPr/>
        </p:nvSpPr>
        <p:spPr>
          <a:xfrm>
            <a:off x="6313932" y="3566160"/>
            <a:ext cx="2425446"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They are explicitly named.</a:t>
            </a:r>
            <a:endParaRPr lang="en-US" sz="1050" dirty="0"/>
          </a:p>
        </p:txBody>
      </p:sp>
      <p:sp>
        <p:nvSpPr>
          <p:cNvPr id="62" name="Shape 59"/>
          <p:cNvSpPr/>
          <p:nvPr/>
        </p:nvSpPr>
        <p:spPr>
          <a:xfrm>
            <a:off x="9050274"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9178290" y="1947672"/>
            <a:ext cx="310896" cy="310896"/>
          </a:xfrm>
          <a:prstGeom prst="ellipse">
            <a:avLst/>
          </a:prstGeom>
          <a:solidFill>
            <a:srgbClr val="1B3B6F"/>
          </a:solidFill>
          <a:ln w="12700">
            <a:solidFill>
              <a:srgbClr val="1B3B6F"/>
            </a:solidFill>
            <a:prstDash val="solid"/>
          </a:ln>
        </p:spPr>
      </p:sp>
      <p:sp>
        <p:nvSpPr>
          <p:cNvPr id="64" name="Text 61"/>
          <p:cNvSpPr txBox="1"/>
          <p:nvPr/>
        </p:nvSpPr>
        <p:spPr>
          <a:xfrm>
            <a:off x="917829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5" name="Text 62"/>
          <p:cNvSpPr txBox="1"/>
          <p:nvPr/>
        </p:nvSpPr>
        <p:spPr>
          <a:xfrm>
            <a:off x="9544050"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Name one digital term in the text.</a:t>
            </a:r>
            <a:endParaRPr lang="en-US" sz="1250" dirty="0"/>
          </a:p>
        </p:txBody>
      </p:sp>
      <p:sp>
        <p:nvSpPr>
          <p:cNvPr id="66" name="Shape 63"/>
          <p:cNvSpPr/>
          <p:nvPr/>
        </p:nvSpPr>
        <p:spPr>
          <a:xfrm>
            <a:off x="9233154" y="2490216"/>
            <a:ext cx="256032" cy="256032"/>
          </a:xfrm>
          <a:prstGeom prst="ellipse">
            <a:avLst/>
          </a:prstGeom>
          <a:solidFill>
            <a:srgbClr val="C9CED6"/>
          </a:solidFill>
          <a:ln w="12700">
            <a:solidFill>
              <a:srgbClr val="C9CED6"/>
            </a:solidFill>
            <a:prstDash val="solid"/>
          </a:ln>
        </p:spPr>
      </p:sp>
      <p:sp>
        <p:nvSpPr>
          <p:cNvPr id="67" name="Text 64"/>
          <p:cNvSpPr txBox="1"/>
          <p:nvPr/>
        </p:nvSpPr>
        <p:spPr>
          <a:xfrm>
            <a:off x="923315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8" name="Text 65"/>
          <p:cNvSpPr txBox="1"/>
          <p:nvPr/>
        </p:nvSpPr>
        <p:spPr>
          <a:xfrm>
            <a:off x="9562338" y="2432304"/>
            <a:ext cx="2023110"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المَلْعَبُ</a:t>
            </a:r>
            <a:endParaRPr lang="ar-SA" sz="1700" dirty="0"/>
          </a:p>
        </p:txBody>
      </p:sp>
      <p:sp>
        <p:nvSpPr>
          <p:cNvPr id="69" name="Shape 66"/>
          <p:cNvSpPr/>
          <p:nvPr/>
        </p:nvSpPr>
        <p:spPr>
          <a:xfrm>
            <a:off x="9141714" y="2825496"/>
            <a:ext cx="2498598" cy="347472"/>
          </a:xfrm>
          <a:prstGeom prst="roundRect">
            <a:avLst>
              <a:gd name="adj" fmla="val 15789"/>
            </a:avLst>
          </a:prstGeom>
          <a:solidFill>
            <a:srgbClr val="E6F4EC"/>
          </a:solidFill>
          <a:ln w="9525">
            <a:solidFill>
              <a:srgbClr val="2E8B57"/>
            </a:solidFill>
            <a:prstDash val="solid"/>
          </a:ln>
        </p:spPr>
      </p:sp>
      <p:sp>
        <p:nvSpPr>
          <p:cNvPr id="70" name="Shape 67"/>
          <p:cNvSpPr/>
          <p:nvPr/>
        </p:nvSpPr>
        <p:spPr>
          <a:xfrm>
            <a:off x="9233154" y="2862072"/>
            <a:ext cx="256032" cy="256032"/>
          </a:xfrm>
          <a:prstGeom prst="ellipse">
            <a:avLst/>
          </a:prstGeom>
          <a:solidFill>
            <a:srgbClr val="2E8B57"/>
          </a:solidFill>
          <a:ln w="12700">
            <a:solidFill>
              <a:srgbClr val="2E8B57"/>
            </a:solidFill>
            <a:prstDash val="solid"/>
          </a:ln>
        </p:spPr>
      </p:sp>
      <p:sp>
        <p:nvSpPr>
          <p:cNvPr id="71" name="Text 68"/>
          <p:cNvSpPr txBox="1"/>
          <p:nvPr/>
        </p:nvSpPr>
        <p:spPr>
          <a:xfrm>
            <a:off x="9233154"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72" name="Text 69"/>
          <p:cNvSpPr txBox="1"/>
          <p:nvPr/>
        </p:nvSpPr>
        <p:spPr>
          <a:xfrm>
            <a:off x="9562338" y="2804160"/>
            <a:ext cx="2023110"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الذَّكَاءُ الاصْطِنَاعِيُّ</a:t>
            </a:r>
            <a:endParaRPr lang="ar-SA" sz="1700" dirty="0"/>
          </a:p>
        </p:txBody>
      </p:sp>
      <p:sp>
        <p:nvSpPr>
          <p:cNvPr id="73" name="Shape 70"/>
          <p:cNvSpPr/>
          <p:nvPr/>
        </p:nvSpPr>
        <p:spPr>
          <a:xfrm>
            <a:off x="9233154" y="3233928"/>
            <a:ext cx="256032" cy="256032"/>
          </a:xfrm>
          <a:prstGeom prst="ellipse">
            <a:avLst/>
          </a:prstGeom>
          <a:solidFill>
            <a:srgbClr val="C9CED6"/>
          </a:solidFill>
          <a:ln w="12700">
            <a:solidFill>
              <a:srgbClr val="C9CED6"/>
            </a:solidFill>
            <a:prstDash val="solid"/>
          </a:ln>
        </p:spPr>
      </p:sp>
      <p:sp>
        <p:nvSpPr>
          <p:cNvPr id="74" name="Text 71"/>
          <p:cNvSpPr txBox="1"/>
          <p:nvPr/>
        </p:nvSpPr>
        <p:spPr>
          <a:xfrm>
            <a:off x="923315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5" name="Text 72"/>
          <p:cNvSpPr txBox="1"/>
          <p:nvPr/>
        </p:nvSpPr>
        <p:spPr>
          <a:xfrm>
            <a:off x="9562338" y="3176016"/>
            <a:ext cx="2023110"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المِظَلَّةُ</a:t>
            </a:r>
            <a:endParaRPr lang="ar-SA" sz="1700" dirty="0"/>
          </a:p>
        </p:txBody>
      </p:sp>
      <p:sp>
        <p:nvSpPr>
          <p:cNvPr id="76" name="Text 73"/>
          <p:cNvSpPr txBox="1"/>
          <p:nvPr/>
        </p:nvSpPr>
        <p:spPr>
          <a:xfrm>
            <a:off x="9178290" y="3566160"/>
            <a:ext cx="2425446"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AI is named.</a:t>
            </a:r>
            <a:endParaRPr lang="en-US" sz="1050" dirty="0"/>
          </a:p>
        </p:txBody>
      </p:sp>
      <p:sp>
        <p:nvSpPr>
          <p:cNvPr id="77" name="Shape 74"/>
          <p:cNvSpPr/>
          <p:nvPr/>
        </p:nvSpPr>
        <p:spPr>
          <a:xfrm>
            <a:off x="457200"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8" name="Shape 75"/>
          <p:cNvSpPr/>
          <p:nvPr/>
        </p:nvSpPr>
        <p:spPr>
          <a:xfrm>
            <a:off x="585216" y="4288536"/>
            <a:ext cx="310896" cy="310896"/>
          </a:xfrm>
          <a:prstGeom prst="ellipse">
            <a:avLst/>
          </a:prstGeom>
          <a:solidFill>
            <a:srgbClr val="1B3B6F"/>
          </a:solidFill>
          <a:ln w="12700">
            <a:solidFill>
              <a:srgbClr val="1B3B6F"/>
            </a:solidFill>
            <a:prstDash val="solid"/>
          </a:ln>
        </p:spPr>
      </p:sp>
      <p:sp>
        <p:nvSpPr>
          <p:cNvPr id="79" name="Text 7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80" name="Text 77"/>
          <p:cNvSpPr txBox="1"/>
          <p:nvPr/>
        </p:nvSpPr>
        <p:spPr>
          <a:xfrm>
            <a:off x="950976"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were benefits and risks evaluated?</a:t>
            </a:r>
            <a:endParaRPr lang="en-US" sz="1250" dirty="0"/>
          </a:p>
        </p:txBody>
      </p:sp>
      <p:sp>
        <p:nvSpPr>
          <p:cNvPr id="81" name="Shape 78"/>
          <p:cNvSpPr/>
          <p:nvPr/>
        </p:nvSpPr>
        <p:spPr>
          <a:xfrm>
            <a:off x="548640" y="4794504"/>
            <a:ext cx="2498598" cy="347472"/>
          </a:xfrm>
          <a:prstGeom prst="roundRect">
            <a:avLst>
              <a:gd name="adj" fmla="val 15789"/>
            </a:avLst>
          </a:prstGeom>
          <a:solidFill>
            <a:srgbClr val="E6F4EC"/>
          </a:solidFill>
          <a:ln w="9525">
            <a:solidFill>
              <a:srgbClr val="2E8B57"/>
            </a:solidFill>
            <a:prstDash val="solid"/>
          </a:ln>
        </p:spPr>
      </p:sp>
      <p:sp>
        <p:nvSpPr>
          <p:cNvPr id="82" name="Shape 79"/>
          <p:cNvSpPr/>
          <p:nvPr/>
        </p:nvSpPr>
        <p:spPr>
          <a:xfrm>
            <a:off x="640080" y="4831080"/>
            <a:ext cx="256032" cy="256032"/>
          </a:xfrm>
          <a:prstGeom prst="ellipse">
            <a:avLst/>
          </a:prstGeom>
          <a:solidFill>
            <a:srgbClr val="2E8B57"/>
          </a:solidFill>
          <a:ln w="12700">
            <a:solidFill>
              <a:srgbClr val="2E8B57"/>
            </a:solidFill>
            <a:prstDash val="solid"/>
          </a:ln>
        </p:spPr>
      </p:sp>
      <p:sp>
        <p:nvSpPr>
          <p:cNvPr id="83" name="Text 80"/>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84" name="Text 81"/>
          <p:cNvSpPr txBox="1"/>
          <p:nvPr/>
        </p:nvSpPr>
        <p:spPr>
          <a:xfrm>
            <a:off x="969264" y="4773168"/>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With balanced arguments</a:t>
            </a:r>
            <a:endParaRPr lang="en-US" sz="1250" dirty="0"/>
          </a:p>
        </p:txBody>
      </p:sp>
      <p:sp>
        <p:nvSpPr>
          <p:cNvPr id="85" name="Shape 82"/>
          <p:cNvSpPr/>
          <p:nvPr/>
        </p:nvSpPr>
        <p:spPr>
          <a:xfrm>
            <a:off x="640080" y="5202936"/>
            <a:ext cx="256032" cy="256032"/>
          </a:xfrm>
          <a:prstGeom prst="ellipse">
            <a:avLst/>
          </a:prstGeom>
          <a:solidFill>
            <a:srgbClr val="C9CED6"/>
          </a:solidFill>
          <a:ln w="12700">
            <a:solidFill>
              <a:srgbClr val="C9CED6"/>
            </a:solidFill>
            <a:prstDash val="solid"/>
          </a:ln>
        </p:spPr>
      </p:sp>
      <p:sp>
        <p:nvSpPr>
          <p:cNvPr id="86" name="Text 83"/>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7" name="Text 84"/>
          <p:cNvSpPr txBox="1"/>
          <p:nvPr/>
        </p:nvSpPr>
        <p:spPr>
          <a:xfrm>
            <a:off x="969264" y="514502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With no reasons</a:t>
            </a:r>
            <a:endParaRPr lang="en-US" sz="1250" dirty="0"/>
          </a:p>
        </p:txBody>
      </p:sp>
      <p:sp>
        <p:nvSpPr>
          <p:cNvPr id="88" name="Shape 85"/>
          <p:cNvSpPr/>
          <p:nvPr/>
        </p:nvSpPr>
        <p:spPr>
          <a:xfrm>
            <a:off x="640080" y="5574792"/>
            <a:ext cx="256032" cy="256032"/>
          </a:xfrm>
          <a:prstGeom prst="ellipse">
            <a:avLst/>
          </a:prstGeom>
          <a:solidFill>
            <a:srgbClr val="C9CED6"/>
          </a:solidFill>
          <a:ln w="12700">
            <a:solidFill>
              <a:srgbClr val="C9CED6"/>
            </a:solidFill>
            <a:prstDash val="solid"/>
          </a:ln>
        </p:spPr>
      </p:sp>
      <p:sp>
        <p:nvSpPr>
          <p:cNvPr id="89" name="Text 86"/>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90" name="Text 87"/>
          <p:cNvSpPr txBox="1"/>
          <p:nvPr/>
        </p:nvSpPr>
        <p:spPr>
          <a:xfrm>
            <a:off x="969264" y="5516880"/>
            <a:ext cx="2023110" cy="371856"/>
          </a:xfrm>
          <a:prstGeom prst="rect">
            <a:avLst/>
          </a:prstGeom>
          <a:noFill/>
          <a:ln/>
        </p:spPr>
        <p:txBody>
          <a:bodyPr wrap="square" lIns="0" tIns="0" rIns="0" bIns="0" rtlCol="0" anchor="ctr"/>
          <a:lstStyle/>
          <a:p>
            <a:pPr algn="l" indent="0" marL="0">
              <a:buNone/>
            </a:pPr>
            <a:r>
              <a:rPr lang="en-US" sz="1150" dirty="0">
                <a:solidFill>
                  <a:srgbClr val="9AA1AB"/>
                </a:solidFill>
                <a:latin typeface="Calibri" pitchFamily="34" charset="0"/>
                <a:ea typeface="Calibri" pitchFamily="34" charset="-122"/>
                <a:cs typeface="Calibri" pitchFamily="34" charset="-120"/>
              </a:rPr>
              <a:t>With isolated vocabulary only</a:t>
            </a:r>
            <a:endParaRPr lang="en-US" sz="1150" dirty="0"/>
          </a:p>
        </p:txBody>
      </p:sp>
      <p:sp>
        <p:nvSpPr>
          <p:cNvPr id="91" name="Text 88"/>
          <p:cNvSpPr txBox="1"/>
          <p:nvPr/>
        </p:nvSpPr>
        <p:spPr>
          <a:xfrm>
            <a:off x="585216" y="5907024"/>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بحجج متوازنة.</a:t>
            </a:r>
            <a:endParaRPr lang="ar-SA" sz="1350" dirty="0"/>
          </a:p>
        </p:txBody>
      </p:sp>
      <p:sp>
        <p:nvSpPr>
          <p:cNvPr id="92" name="Shape 89"/>
          <p:cNvSpPr/>
          <p:nvPr/>
        </p:nvSpPr>
        <p:spPr>
          <a:xfrm>
            <a:off x="3321558"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3" name="Shape 90"/>
          <p:cNvSpPr/>
          <p:nvPr/>
        </p:nvSpPr>
        <p:spPr>
          <a:xfrm>
            <a:off x="3449574" y="4288536"/>
            <a:ext cx="310896" cy="310896"/>
          </a:xfrm>
          <a:prstGeom prst="ellipse">
            <a:avLst/>
          </a:prstGeom>
          <a:solidFill>
            <a:srgbClr val="1B3B6F"/>
          </a:solidFill>
          <a:ln w="12700">
            <a:solidFill>
              <a:srgbClr val="1B3B6F"/>
            </a:solidFill>
            <a:prstDash val="solid"/>
          </a:ln>
        </p:spPr>
      </p:sp>
      <p:sp>
        <p:nvSpPr>
          <p:cNvPr id="94" name="Text 91"/>
          <p:cNvSpPr txBox="1"/>
          <p:nvPr/>
        </p:nvSpPr>
        <p:spPr>
          <a:xfrm>
            <a:off x="344957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95" name="Text 92"/>
          <p:cNvSpPr txBox="1"/>
          <p:nvPr/>
        </p:nvSpPr>
        <p:spPr>
          <a:xfrm>
            <a:off x="3815334"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the current goal?</a:t>
            </a:r>
            <a:endParaRPr lang="en-US" sz="1250" dirty="0"/>
          </a:p>
        </p:txBody>
      </p:sp>
      <p:sp>
        <p:nvSpPr>
          <p:cNvPr id="96" name="Shape 93"/>
          <p:cNvSpPr/>
          <p:nvPr/>
        </p:nvSpPr>
        <p:spPr>
          <a:xfrm>
            <a:off x="3504438" y="4831080"/>
            <a:ext cx="256032" cy="256032"/>
          </a:xfrm>
          <a:prstGeom prst="ellipse">
            <a:avLst/>
          </a:prstGeom>
          <a:solidFill>
            <a:srgbClr val="C9CED6"/>
          </a:solidFill>
          <a:ln w="12700">
            <a:solidFill>
              <a:srgbClr val="C9CED6"/>
            </a:solidFill>
            <a:prstDash val="solid"/>
          </a:ln>
        </p:spPr>
      </p:sp>
      <p:sp>
        <p:nvSpPr>
          <p:cNvPr id="97" name="Text 94"/>
          <p:cNvSpPr txBox="1"/>
          <p:nvPr/>
        </p:nvSpPr>
        <p:spPr>
          <a:xfrm>
            <a:off x="3504438"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98" name="Text 95"/>
          <p:cNvSpPr txBox="1"/>
          <p:nvPr/>
        </p:nvSpPr>
        <p:spPr>
          <a:xfrm>
            <a:off x="3833622" y="4773168"/>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Learn the alphabet again</a:t>
            </a:r>
            <a:endParaRPr lang="en-US" sz="1250" dirty="0"/>
          </a:p>
        </p:txBody>
      </p:sp>
      <p:sp>
        <p:nvSpPr>
          <p:cNvPr id="99" name="Shape 96"/>
          <p:cNvSpPr/>
          <p:nvPr/>
        </p:nvSpPr>
        <p:spPr>
          <a:xfrm>
            <a:off x="3504438" y="5202936"/>
            <a:ext cx="256032" cy="256032"/>
          </a:xfrm>
          <a:prstGeom prst="ellipse">
            <a:avLst/>
          </a:prstGeom>
          <a:solidFill>
            <a:srgbClr val="C9CED6"/>
          </a:solidFill>
          <a:ln w="12700">
            <a:solidFill>
              <a:srgbClr val="C9CED6"/>
            </a:solidFill>
            <a:prstDash val="solid"/>
          </a:ln>
        </p:spPr>
      </p:sp>
      <p:sp>
        <p:nvSpPr>
          <p:cNvPr id="100" name="Text 97"/>
          <p:cNvSpPr txBox="1"/>
          <p:nvPr/>
        </p:nvSpPr>
        <p:spPr>
          <a:xfrm>
            <a:off x="3504438"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101" name="Text 98"/>
          <p:cNvSpPr txBox="1"/>
          <p:nvPr/>
        </p:nvSpPr>
        <p:spPr>
          <a:xfrm>
            <a:off x="3833622" y="514502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Avoid all formal language</a:t>
            </a:r>
            <a:endParaRPr lang="en-US" sz="1250" dirty="0"/>
          </a:p>
        </p:txBody>
      </p:sp>
      <p:sp>
        <p:nvSpPr>
          <p:cNvPr id="102" name="Shape 99"/>
          <p:cNvSpPr/>
          <p:nvPr/>
        </p:nvSpPr>
        <p:spPr>
          <a:xfrm>
            <a:off x="3412998" y="5538216"/>
            <a:ext cx="2498598" cy="347472"/>
          </a:xfrm>
          <a:prstGeom prst="roundRect">
            <a:avLst>
              <a:gd name="adj" fmla="val 15789"/>
            </a:avLst>
          </a:prstGeom>
          <a:solidFill>
            <a:srgbClr val="E6F4EC"/>
          </a:solidFill>
          <a:ln w="9525">
            <a:solidFill>
              <a:srgbClr val="2E8B57"/>
            </a:solidFill>
            <a:prstDash val="solid"/>
          </a:ln>
        </p:spPr>
      </p:sp>
      <p:sp>
        <p:nvSpPr>
          <p:cNvPr id="103" name="Shape 100"/>
          <p:cNvSpPr/>
          <p:nvPr/>
        </p:nvSpPr>
        <p:spPr>
          <a:xfrm>
            <a:off x="3504438" y="5574792"/>
            <a:ext cx="256032" cy="256032"/>
          </a:xfrm>
          <a:prstGeom prst="ellipse">
            <a:avLst/>
          </a:prstGeom>
          <a:solidFill>
            <a:srgbClr val="2E8B57"/>
          </a:solidFill>
          <a:ln w="12700">
            <a:solidFill>
              <a:srgbClr val="2E8B57"/>
            </a:solidFill>
            <a:prstDash val="solid"/>
          </a:ln>
        </p:spPr>
      </p:sp>
      <p:sp>
        <p:nvSpPr>
          <p:cNvPr id="104" name="Text 101"/>
          <p:cNvSpPr txBox="1"/>
          <p:nvPr/>
        </p:nvSpPr>
        <p:spPr>
          <a:xfrm>
            <a:off x="3504438"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105" name="Text 102"/>
          <p:cNvSpPr txBox="1"/>
          <p:nvPr/>
        </p:nvSpPr>
        <p:spPr>
          <a:xfrm>
            <a:off x="3833622" y="5516880"/>
            <a:ext cx="2023110"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ea typeface="Calibri" pitchFamily="34" charset="-122"/>
                <a:cs typeface="Calibri" pitchFamily="34" charset="-120"/>
              </a:rPr>
              <a:t>Use the range accurately under pressure</a:t>
            </a:r>
            <a:endParaRPr lang="en-US" sz="1150" dirty="0"/>
          </a:p>
        </p:txBody>
      </p:sp>
      <p:sp>
        <p:nvSpPr>
          <p:cNvPr id="106" name="Text 103"/>
          <p:cNvSpPr txBox="1"/>
          <p:nvPr/>
        </p:nvSpPr>
        <p:spPr>
          <a:xfrm>
            <a:off x="3449574" y="5907024"/>
            <a:ext cx="2425446"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final sentence states it.</a:t>
            </a:r>
            <a:endParaRPr lang="en-US" sz="1050" dirty="0"/>
          </a:p>
        </p:txBody>
      </p:sp>
      <p:sp>
        <p:nvSpPr>
          <p:cNvPr id="107" name="Shape 104"/>
          <p:cNvSpPr/>
          <p:nvPr/>
        </p:nvSpPr>
        <p:spPr>
          <a:xfrm>
            <a:off x="6185916" y="4151376"/>
            <a:ext cx="2681478"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08" name="Text 105"/>
          <p:cNvSpPr txBox="1"/>
          <p:nvPr/>
        </p:nvSpPr>
        <p:spPr>
          <a:xfrm>
            <a:off x="6368796" y="4279392"/>
            <a:ext cx="2315718"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READ LIKE A DETECTIVE</a:t>
            </a:r>
            <a:endParaRPr lang="en-US" sz="1000" dirty="0"/>
          </a:p>
        </p:txBody>
      </p:sp>
      <p:sp>
        <p:nvSpPr>
          <p:cNvPr id="109" name="Text 106"/>
          <p:cNvSpPr txBox="1"/>
          <p:nvPr/>
        </p:nvSpPr>
        <p:spPr>
          <a:xfrm>
            <a:off x="6368796" y="4590288"/>
            <a:ext cx="2315718"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1. Read the question first.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2. Find ONE key word from the question in the text.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3. Read only that sentence again, then choose.</a:t>
            </a:r>
            <a:endParaRPr lang="en-US" sz="1250" dirty="0"/>
          </a:p>
        </p:txBody>
      </p:sp>
      <p:sp>
        <p:nvSpPr>
          <p:cNvPr id="110" name="Text 10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41 / 45</a:t>
            </a:r>
            <a:endParaRPr lang="en-US" sz="85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D4-L11 · Unit Review</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WEBSITE MISSION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1750" b="1" dirty="0">
                <a:solidFill>
                  <a:srgbClr val="1B3B6F"/>
                </a:solidFill>
                <a:latin typeface="Cambria" pitchFamily="34" charset="0"/>
                <a:ea typeface="Cambria" pitchFamily="34" charset="-122"/>
                <a:cs typeface="Cambria" pitchFamily="34" charset="-120"/>
              </a:rPr>
              <a:t>D4 Consolidation — Range Mastery and Speaking Preparation — Arabic application mission</a:t>
            </a:r>
            <a:endParaRPr lang="en-US" sz="175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المُهِمَّةُ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D4 · Environment, Weather and Technology · D4-L11</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sentence integrates passive, cause and result accurately?</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1300" dirty="0">
                <a:solidFill>
                  <a:srgbClr val="1F2A37"/>
                </a:solidFill>
                <a:latin typeface="Amiri" pitchFamily="34" charset="0"/>
                <a:ea typeface="Amiri" pitchFamily="34" charset="-122"/>
                <a:cs typeface="Amiri" pitchFamily="34" charset="-120"/>
              </a:rPr>
              <a:t>يُلَوَّثُ الهَوَاءُ لِكَيْ تَزْدَادَ الأَمْرَاضُ.</a:t>
            </a:r>
            <a:endParaRPr lang="ar-SA" sz="130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1300" dirty="0">
                <a:solidFill>
                  <a:srgbClr val="1F2A37"/>
                </a:solidFill>
                <a:latin typeface="Amiri" pitchFamily="34" charset="0"/>
                <a:ea typeface="Amiri" pitchFamily="34" charset="-122"/>
                <a:cs typeface="Amiri" pitchFamily="34" charset="-120"/>
              </a:rPr>
              <a:t>يُلَوَّثُ الهَوَاءُ بِسَبَبِ العَوَادِمِ، مِمَّا يُؤَدِّي إِلَى أَمْرَاضٍ.</a:t>
            </a:r>
            <a:endParaRPr lang="ar-SA" sz="130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9" name="Text 26"/>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1300" dirty="0">
                <a:solidFill>
                  <a:srgbClr val="1F2A37"/>
                </a:solidFill>
                <a:latin typeface="Amiri" pitchFamily="34" charset="0"/>
                <a:ea typeface="Amiri" pitchFamily="34" charset="-122"/>
                <a:cs typeface="Amiri" pitchFamily="34" charset="-120"/>
              </a:rPr>
              <a:t>يَنْبَعِثُ الهَوَاءُ مِنَ الأَمْرَاضِ.</a:t>
            </a:r>
            <a:endParaRPr lang="ar-SA" sz="130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sentence integrates responsibility and purpose?</a:t>
            </a:r>
            <a:endParaRPr lang="en-US" sz="1250" dirty="0"/>
          </a:p>
        </p:txBody>
      </p:sp>
      <p:sp>
        <p:nvSpPr>
          <p:cNvPr id="34" name="Shape 31"/>
          <p:cNvSpPr/>
          <p:nvPr/>
        </p:nvSpPr>
        <p:spPr>
          <a:xfrm>
            <a:off x="4459224"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1200" dirty="0">
                <a:solidFill>
                  <a:srgbClr val="1F2A37"/>
                </a:solidFill>
                <a:latin typeface="Amiri" pitchFamily="34" charset="0"/>
                <a:ea typeface="Amiri" pitchFamily="34" charset="-122"/>
                <a:cs typeface="Amiri" pitchFamily="34" charset="-120"/>
              </a:rPr>
              <a:t>يَجِبُ عَلَى البَلَدِيَّةِ أَنْ تَزْرَعَ الأَشْجَارَ لِكَيْ تُحَسِّنَ الهَوَاءَ.</a:t>
            </a:r>
            <a:endParaRPr lang="ar-SA" sz="1200" dirty="0"/>
          </a:p>
        </p:txBody>
      </p:sp>
      <p:sp>
        <p:nvSpPr>
          <p:cNvPr id="37" name="Shape 34"/>
          <p:cNvSpPr/>
          <p:nvPr/>
        </p:nvSpPr>
        <p:spPr>
          <a:xfrm>
            <a:off x="4459224"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1200" dirty="0">
                <a:solidFill>
                  <a:srgbClr val="1F2A37"/>
                </a:solidFill>
                <a:latin typeface="Amiri" pitchFamily="34" charset="0"/>
                <a:ea typeface="Amiri" pitchFamily="34" charset="-122"/>
                <a:cs typeface="Amiri" pitchFamily="34" charset="-120"/>
              </a:rPr>
              <a:t>يَجِبُ عَلَى الأَشْجَارِ أَنْ تَزْرَعَ البَلَدِيَّةَ.</a:t>
            </a:r>
            <a:endParaRPr lang="ar-SA" sz="1200" dirty="0"/>
          </a:p>
        </p:txBody>
      </p:sp>
      <p:sp>
        <p:nvSpPr>
          <p:cNvPr id="40" name="Shape 37"/>
          <p:cNvSpPr/>
          <p:nvPr/>
        </p:nvSpPr>
        <p:spPr>
          <a:xfrm>
            <a:off x="4459224"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2" name="Text 39"/>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1200" dirty="0">
                <a:solidFill>
                  <a:srgbClr val="1F2A37"/>
                </a:solidFill>
                <a:latin typeface="Amiri" pitchFamily="34" charset="0"/>
                <a:ea typeface="Amiri" pitchFamily="34" charset="-122"/>
                <a:cs typeface="Amiri" pitchFamily="34" charset="-120"/>
              </a:rPr>
              <a:t>يَجِبُ البَلَدِيَّةُ تَزْرَعُ الأَشْجَارَ لِكَيْ الهَوَاءُ.</a:t>
            </a:r>
            <a:endParaRPr lang="ar-SA" sz="1200" dirty="0"/>
          </a:p>
        </p:txBody>
      </p:sp>
      <p:sp>
        <p:nvSpPr>
          <p:cNvPr id="43" name="Shape 40"/>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8223504"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6" name="Text 43"/>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form after </a:t>
            </a:r>
            <a:pPr algn="l" indent="0" marL="0">
              <a:buNone/>
            </a:pPr>
            <a:r>
              <a:rPr lang="ar-SA" altLang="en-US" sz="1650" b="1" dirty="0">
                <a:solidFill>
                  <a:srgbClr val="1B3B6F"/>
                </a:solidFill>
                <a:latin typeface="Amiri" pitchFamily="34" charset="0"/>
                <a:ea typeface="Amiri" pitchFamily="34" charset="-122"/>
                <a:cs typeface="Amiri" pitchFamily="34" charset="-120"/>
              </a:rPr>
              <a:t>لكي</a:t>
            </a:r>
            <a:pPr algn="l" indent="0" marL="0">
              <a:buNone/>
            </a:pPr>
            <a:r>
              <a:rPr lang="en-US" sz="1250" b="1" dirty="0">
                <a:solidFill>
                  <a:srgbClr val="1B3B6F"/>
                </a:solidFill>
                <a:latin typeface="Calibri" pitchFamily="34" charset="0"/>
                <a:ea typeface="Calibri" pitchFamily="34" charset="-122"/>
                <a:cs typeface="Calibri" pitchFamily="34" charset="-120"/>
              </a:rPr>
              <a:t> is accurate?</a:t>
            </a:r>
            <a:endParaRPr lang="en-US" sz="1250" dirty="0"/>
          </a:p>
        </p:txBody>
      </p:sp>
      <p:sp>
        <p:nvSpPr>
          <p:cNvPr id="47" name="Shape 44"/>
          <p:cNvSpPr/>
          <p:nvPr/>
        </p:nvSpPr>
        <p:spPr>
          <a:xfrm>
            <a:off x="8278368" y="2532888"/>
            <a:ext cx="256032" cy="256032"/>
          </a:xfrm>
          <a:prstGeom prst="ellipse">
            <a:avLst/>
          </a:prstGeom>
          <a:solidFill>
            <a:srgbClr val="F4F1EA"/>
          </a:solidFill>
          <a:ln w="12700">
            <a:solidFill>
              <a:srgbClr val="F4F1EA"/>
            </a:solidFill>
            <a:prstDash val="solid"/>
          </a:ln>
        </p:spPr>
      </p:sp>
      <p:sp>
        <p:nvSpPr>
          <p:cNvPr id="48" name="Text 45"/>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9" name="Text 46"/>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لِكَيْ نُقَلِّلُ</a:t>
            </a:r>
            <a:endParaRPr lang="ar-SA" sz="2050" dirty="0"/>
          </a:p>
        </p:txBody>
      </p:sp>
      <p:sp>
        <p:nvSpPr>
          <p:cNvPr id="50" name="Shape 47"/>
          <p:cNvSpPr/>
          <p:nvPr/>
        </p:nvSpPr>
        <p:spPr>
          <a:xfrm>
            <a:off x="8278368" y="2990088"/>
            <a:ext cx="256032" cy="256032"/>
          </a:xfrm>
          <a:prstGeom prst="ellipse">
            <a:avLst/>
          </a:prstGeom>
          <a:solidFill>
            <a:srgbClr val="F4F1EA"/>
          </a:solidFill>
          <a:ln w="12700">
            <a:solidFill>
              <a:srgbClr val="F4F1EA"/>
            </a:solidFill>
            <a:prstDash val="solid"/>
          </a:ln>
        </p:spPr>
      </p:sp>
      <p:sp>
        <p:nvSpPr>
          <p:cNvPr id="51" name="Text 48"/>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2" name="Text 49"/>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لِكَيْ نُقَلِّلْ</a:t>
            </a:r>
            <a:endParaRPr lang="ar-SA" sz="2050" dirty="0"/>
          </a:p>
        </p:txBody>
      </p:sp>
      <p:sp>
        <p:nvSpPr>
          <p:cNvPr id="53" name="Shape 50"/>
          <p:cNvSpPr/>
          <p:nvPr/>
        </p:nvSpPr>
        <p:spPr>
          <a:xfrm>
            <a:off x="8278368" y="3447288"/>
            <a:ext cx="256032" cy="256032"/>
          </a:xfrm>
          <a:prstGeom prst="ellipse">
            <a:avLst/>
          </a:prstGeom>
          <a:solidFill>
            <a:srgbClr val="F4F1EA"/>
          </a:solidFill>
          <a:ln w="12700">
            <a:solidFill>
              <a:srgbClr val="F4F1EA"/>
            </a:solidFill>
            <a:prstDash val="solid"/>
          </a:ln>
        </p:spPr>
      </p:sp>
      <p:sp>
        <p:nvSpPr>
          <p:cNvPr id="54" name="Text 51"/>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5" name="Text 52"/>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لِكَيْ نُقَلِّلَ</a:t>
            </a:r>
            <a:endParaRPr lang="ar-SA" sz="2050" dirty="0"/>
          </a:p>
        </p:txBody>
      </p:sp>
      <p:sp>
        <p:nvSpPr>
          <p:cNvPr id="56" name="Shape 53"/>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585216"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9" name="Text 56"/>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phrase is accurate for water becoming scarce?</a:t>
            </a:r>
            <a:endParaRPr lang="en-US" sz="1250" dirty="0"/>
          </a:p>
        </p:txBody>
      </p:sp>
      <p:sp>
        <p:nvSpPr>
          <p:cNvPr id="60" name="Shape 57"/>
          <p:cNvSpPr/>
          <p:nvPr/>
        </p:nvSpPr>
        <p:spPr>
          <a:xfrm>
            <a:off x="640080"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2" name="Text 59"/>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يَشِحُّ المِيَاهُ</a:t>
            </a:r>
            <a:endParaRPr lang="ar-SA" sz="2050" dirty="0"/>
          </a:p>
        </p:txBody>
      </p:sp>
      <p:sp>
        <p:nvSpPr>
          <p:cNvPr id="63" name="Shape 60"/>
          <p:cNvSpPr/>
          <p:nvPr/>
        </p:nvSpPr>
        <p:spPr>
          <a:xfrm>
            <a:off x="640080"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5" name="Text 62"/>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تَنْضَبُ المِيَاهَ</a:t>
            </a:r>
            <a:endParaRPr lang="ar-SA" sz="2050" dirty="0"/>
          </a:p>
        </p:txBody>
      </p:sp>
      <p:sp>
        <p:nvSpPr>
          <p:cNvPr id="66" name="Shape 63"/>
          <p:cNvSpPr/>
          <p:nvPr/>
        </p:nvSpPr>
        <p:spPr>
          <a:xfrm>
            <a:off x="640080"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8" name="Text 65"/>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تَشِحُّ المِيَاهُ</a:t>
            </a:r>
            <a:endParaRPr lang="ar-SA" sz="2050" dirty="0"/>
          </a:p>
        </p:txBody>
      </p:sp>
      <p:sp>
        <p:nvSpPr>
          <p:cNvPr id="69" name="Shape 66"/>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4404360" y="4288536"/>
            <a:ext cx="310896" cy="310896"/>
          </a:xfrm>
          <a:prstGeom prst="ellipse">
            <a:avLst/>
          </a:prstGeom>
          <a:solidFill>
            <a:srgbClr val="1B3B6F"/>
          </a:solidFill>
          <a:ln w="12700">
            <a:solidFill>
              <a:srgbClr val="1B3B6F"/>
            </a:solidFill>
            <a:prstDash val="solid"/>
          </a:ln>
        </p:spPr>
      </p:sp>
      <p:sp>
        <p:nvSpPr>
          <p:cNvPr id="71" name="Text 68"/>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2" name="Text 69"/>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response uses self-correction productively?</a:t>
            </a:r>
            <a:endParaRPr lang="en-US" sz="1250" dirty="0"/>
          </a:p>
        </p:txBody>
      </p:sp>
      <p:sp>
        <p:nvSpPr>
          <p:cNvPr id="73" name="Shape 70"/>
          <p:cNvSpPr/>
          <p:nvPr/>
        </p:nvSpPr>
        <p:spPr>
          <a:xfrm>
            <a:off x="4459224" y="4873752"/>
            <a:ext cx="256032" cy="256032"/>
          </a:xfrm>
          <a:prstGeom prst="ellipse">
            <a:avLst/>
          </a:prstGeom>
          <a:solidFill>
            <a:srgbClr val="F4F1EA"/>
          </a:solidFill>
          <a:ln w="12700">
            <a:solidFill>
              <a:srgbClr val="F4F1EA"/>
            </a:solidFill>
            <a:prstDash val="solid"/>
          </a:ln>
        </p:spPr>
      </p:sp>
      <p:sp>
        <p:nvSpPr>
          <p:cNvPr id="74" name="Text 71"/>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5" name="Text 72"/>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1400" dirty="0">
                <a:solidFill>
                  <a:srgbClr val="1F2A37"/>
                </a:solidFill>
                <a:latin typeface="Amiri" pitchFamily="34" charset="0"/>
                <a:ea typeface="Amiri" pitchFamily="34" charset="-122"/>
                <a:cs typeface="Amiri" pitchFamily="34" charset="-120"/>
              </a:rPr>
              <a:t>المَشْرُوعُ يَبْدَأُ فِي يُونْيُو—لِأُصَحِّحْ ذٰلِكَ—فِي سِبْتَمْبَرَ.</a:t>
            </a:r>
            <a:endParaRPr lang="ar-SA" sz="1400" dirty="0"/>
          </a:p>
        </p:txBody>
      </p:sp>
      <p:sp>
        <p:nvSpPr>
          <p:cNvPr id="76" name="Shape 73"/>
          <p:cNvSpPr/>
          <p:nvPr/>
        </p:nvSpPr>
        <p:spPr>
          <a:xfrm>
            <a:off x="4459224" y="5330952"/>
            <a:ext cx="256032" cy="256032"/>
          </a:xfrm>
          <a:prstGeom prst="ellipse">
            <a:avLst/>
          </a:prstGeom>
          <a:solidFill>
            <a:srgbClr val="F4F1EA"/>
          </a:solidFill>
          <a:ln w="12700">
            <a:solidFill>
              <a:srgbClr val="F4F1EA"/>
            </a:solidFill>
            <a:prstDash val="solid"/>
          </a:ln>
        </p:spPr>
      </p:sp>
      <p:sp>
        <p:nvSpPr>
          <p:cNvPr id="77" name="Text 74"/>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8" name="Text 75"/>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1400" dirty="0">
                <a:solidFill>
                  <a:srgbClr val="1F2A37"/>
                </a:solidFill>
                <a:latin typeface="Amiri" pitchFamily="34" charset="0"/>
                <a:ea typeface="Amiri" pitchFamily="34" charset="-122"/>
                <a:cs typeface="Amiri" pitchFamily="34" charset="-120"/>
              </a:rPr>
              <a:t>لِأُصَحِّحْ ذٰلِكَ المَشْرُوعُ مَشْرُوعٌ.</a:t>
            </a:r>
            <a:endParaRPr lang="ar-SA" sz="1400" dirty="0"/>
          </a:p>
        </p:txBody>
      </p:sp>
      <p:sp>
        <p:nvSpPr>
          <p:cNvPr id="79" name="Shape 76"/>
          <p:cNvSpPr/>
          <p:nvPr/>
        </p:nvSpPr>
        <p:spPr>
          <a:xfrm>
            <a:off x="4459224" y="5788152"/>
            <a:ext cx="256032" cy="256032"/>
          </a:xfrm>
          <a:prstGeom prst="ellipse">
            <a:avLst/>
          </a:prstGeom>
          <a:solidFill>
            <a:srgbClr val="F4F1EA"/>
          </a:solidFill>
          <a:ln w="12700">
            <a:solidFill>
              <a:srgbClr val="F4F1EA"/>
            </a:solidFill>
            <a:prstDash val="solid"/>
          </a:ln>
        </p:spPr>
      </p:sp>
      <p:sp>
        <p:nvSpPr>
          <p:cNvPr id="80" name="Text 77"/>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1" name="Text 78"/>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1400" dirty="0">
                <a:solidFill>
                  <a:srgbClr val="1F2A37"/>
                </a:solidFill>
                <a:latin typeface="Amiri" pitchFamily="34" charset="0"/>
                <a:ea typeface="Amiri" pitchFamily="34" charset="-122"/>
                <a:cs typeface="Amiri" pitchFamily="34" charset="-120"/>
              </a:rPr>
              <a:t>المَشْرُوعُ يَبْدَأُ فِي يُونْيُو وَيُونْيُو فَقَطْ.</a:t>
            </a:r>
            <a:endParaRPr lang="ar-SA" sz="1400" dirty="0"/>
          </a:p>
        </p:txBody>
      </p:sp>
      <p:sp>
        <p:nvSpPr>
          <p:cNvPr id="82" name="Shape 79"/>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3" name="Shape 80"/>
          <p:cNvSpPr/>
          <p:nvPr/>
        </p:nvSpPr>
        <p:spPr>
          <a:xfrm>
            <a:off x="8223504" y="4288536"/>
            <a:ext cx="310896" cy="310896"/>
          </a:xfrm>
          <a:prstGeom prst="ellipse">
            <a:avLst/>
          </a:prstGeom>
          <a:solidFill>
            <a:srgbClr val="1B3B6F"/>
          </a:solidFill>
          <a:ln w="12700">
            <a:solidFill>
              <a:srgbClr val="1B3B6F"/>
            </a:solidFill>
            <a:prstDash val="solid"/>
          </a:ln>
        </p:spPr>
      </p:sp>
      <p:sp>
        <p:nvSpPr>
          <p:cNvPr id="84" name="Text 81"/>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85" name="Text 82"/>
          <p:cNvSpPr txBox="1"/>
          <p:nvPr/>
        </p:nvSpPr>
        <p:spPr>
          <a:xfrm>
            <a:off x="8589264"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judgement shows D4-level balance?</a:t>
            </a:r>
            <a:endParaRPr lang="en-US" sz="1250" dirty="0"/>
          </a:p>
        </p:txBody>
      </p:sp>
      <p:sp>
        <p:nvSpPr>
          <p:cNvPr id="86" name="Shape 83"/>
          <p:cNvSpPr/>
          <p:nvPr/>
        </p:nvSpPr>
        <p:spPr>
          <a:xfrm>
            <a:off x="8278368" y="4873752"/>
            <a:ext cx="256032" cy="256032"/>
          </a:xfrm>
          <a:prstGeom prst="ellipse">
            <a:avLst/>
          </a:prstGeom>
          <a:solidFill>
            <a:srgbClr val="F4F1EA"/>
          </a:solidFill>
          <a:ln w="12700">
            <a:solidFill>
              <a:srgbClr val="F4F1EA"/>
            </a:solidFill>
            <a:prstDash val="solid"/>
          </a:ln>
        </p:spPr>
      </p:sp>
      <p:sp>
        <p:nvSpPr>
          <p:cNvPr id="87" name="Text 84"/>
          <p:cNvSpPr txBox="1"/>
          <p:nvPr/>
        </p:nvSpPr>
        <p:spPr>
          <a:xfrm>
            <a:off x="8278368"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88" name="Text 85"/>
          <p:cNvSpPr txBox="1"/>
          <p:nvPr/>
        </p:nvSpPr>
        <p:spPr>
          <a:xfrm>
            <a:off x="8607552" y="4773168"/>
            <a:ext cx="2977896" cy="457200"/>
          </a:xfrm>
          <a:prstGeom prst="rect">
            <a:avLst/>
          </a:prstGeom>
          <a:noFill/>
          <a:ln/>
        </p:spPr>
        <p:txBody>
          <a:bodyPr wrap="square" lIns="0" tIns="0" rIns="0" bIns="0" rtlCol="0" anchor="ctr"/>
          <a:lstStyle/>
          <a:p>
            <a:pPr rtl="1" algn="r" indent="0" marL="0">
              <a:buNone/>
            </a:pPr>
            <a:r>
              <a:rPr lang="ar-SA" altLang="en-US" sz="1200" dirty="0">
                <a:solidFill>
                  <a:srgbClr val="1F2A37"/>
                </a:solidFill>
                <a:latin typeface="Amiri" pitchFamily="34" charset="0"/>
                <a:ea typeface="Amiri" pitchFamily="34" charset="-122"/>
                <a:cs typeface="Amiri" pitchFamily="34" charset="-120"/>
              </a:rPr>
              <a:t>التِّقْنِيَّةُ مُفِيدَةٌ دَائِمًا دُونَ شُرُوطٍ.</a:t>
            </a:r>
            <a:endParaRPr lang="ar-SA" sz="1200" dirty="0"/>
          </a:p>
        </p:txBody>
      </p:sp>
      <p:sp>
        <p:nvSpPr>
          <p:cNvPr id="89" name="Shape 86"/>
          <p:cNvSpPr/>
          <p:nvPr/>
        </p:nvSpPr>
        <p:spPr>
          <a:xfrm>
            <a:off x="8278368" y="5330952"/>
            <a:ext cx="256032" cy="256032"/>
          </a:xfrm>
          <a:prstGeom prst="ellipse">
            <a:avLst/>
          </a:prstGeom>
          <a:solidFill>
            <a:srgbClr val="F4F1EA"/>
          </a:solidFill>
          <a:ln w="12700">
            <a:solidFill>
              <a:srgbClr val="F4F1EA"/>
            </a:solidFill>
            <a:prstDash val="solid"/>
          </a:ln>
        </p:spPr>
      </p:sp>
      <p:sp>
        <p:nvSpPr>
          <p:cNvPr id="90" name="Text 87"/>
          <p:cNvSpPr txBox="1"/>
          <p:nvPr/>
        </p:nvSpPr>
        <p:spPr>
          <a:xfrm>
            <a:off x="8278368"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91" name="Text 88"/>
          <p:cNvSpPr txBox="1"/>
          <p:nvPr/>
        </p:nvSpPr>
        <p:spPr>
          <a:xfrm>
            <a:off x="8607552" y="5230368"/>
            <a:ext cx="2977896" cy="457200"/>
          </a:xfrm>
          <a:prstGeom prst="rect">
            <a:avLst/>
          </a:prstGeom>
          <a:noFill/>
          <a:ln/>
        </p:spPr>
        <p:txBody>
          <a:bodyPr wrap="square" lIns="0" tIns="0" rIns="0" bIns="0" rtlCol="0" anchor="ctr"/>
          <a:lstStyle/>
          <a:p>
            <a:pPr rtl="1" algn="r" indent="0" marL="0">
              <a:buNone/>
            </a:pPr>
            <a:r>
              <a:rPr lang="ar-SA" altLang="en-US" sz="1200" dirty="0">
                <a:solidFill>
                  <a:srgbClr val="1F2A37"/>
                </a:solidFill>
                <a:latin typeface="Amiri" pitchFamily="34" charset="0"/>
                <a:ea typeface="Amiri" pitchFamily="34" charset="-122"/>
                <a:cs typeface="Amiri" pitchFamily="34" charset="-120"/>
              </a:rPr>
              <a:t>التِّقْنِيَّةُ مُفِيدَةٌ إِلَى حَدٍّ مَا، شَرِيطَةَ أَنْ تُحْمَى البَيَانَاتُ.</a:t>
            </a:r>
            <a:endParaRPr lang="ar-SA" sz="1200" dirty="0"/>
          </a:p>
        </p:txBody>
      </p:sp>
      <p:sp>
        <p:nvSpPr>
          <p:cNvPr id="92" name="Shape 89"/>
          <p:cNvSpPr/>
          <p:nvPr/>
        </p:nvSpPr>
        <p:spPr>
          <a:xfrm>
            <a:off x="8278368" y="5788152"/>
            <a:ext cx="256032" cy="256032"/>
          </a:xfrm>
          <a:prstGeom prst="ellipse">
            <a:avLst/>
          </a:prstGeom>
          <a:solidFill>
            <a:srgbClr val="F4F1EA"/>
          </a:solidFill>
          <a:ln w="12700">
            <a:solidFill>
              <a:srgbClr val="F4F1EA"/>
            </a:solidFill>
            <a:prstDash val="solid"/>
          </a:ln>
        </p:spPr>
      </p:sp>
      <p:sp>
        <p:nvSpPr>
          <p:cNvPr id="93" name="Text 90"/>
          <p:cNvSpPr txBox="1"/>
          <p:nvPr/>
        </p:nvSpPr>
        <p:spPr>
          <a:xfrm>
            <a:off x="8278368"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94" name="Text 91"/>
          <p:cNvSpPr txBox="1"/>
          <p:nvPr/>
        </p:nvSpPr>
        <p:spPr>
          <a:xfrm>
            <a:off x="8607552" y="5687568"/>
            <a:ext cx="2977896" cy="457200"/>
          </a:xfrm>
          <a:prstGeom prst="rect">
            <a:avLst/>
          </a:prstGeom>
          <a:noFill/>
          <a:ln/>
        </p:spPr>
        <p:txBody>
          <a:bodyPr wrap="square" lIns="0" tIns="0" rIns="0" bIns="0" rtlCol="0" anchor="ctr"/>
          <a:lstStyle/>
          <a:p>
            <a:pPr rtl="1" algn="r" indent="0" marL="0">
              <a:buNone/>
            </a:pPr>
            <a:r>
              <a:rPr lang="ar-SA" altLang="en-US" sz="1200" dirty="0">
                <a:solidFill>
                  <a:srgbClr val="1F2A37"/>
                </a:solidFill>
                <a:latin typeface="Amiri" pitchFamily="34" charset="0"/>
                <a:ea typeface="Amiri" pitchFamily="34" charset="-122"/>
                <a:cs typeface="Amiri" pitchFamily="34" charset="-120"/>
              </a:rPr>
              <a:t>التِّقْنِيَّةُ غَيْرُ مُفِيدَةٍ لِأَنَّهَا تِقْنِيَّةٌ.</a:t>
            </a:r>
            <a:endParaRPr lang="ar-SA" sz="1200" dirty="0"/>
          </a:p>
        </p:txBody>
      </p:sp>
      <p:sp>
        <p:nvSpPr>
          <p:cNvPr id="95" name="Text 9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42 / 45</a:t>
            </a:r>
            <a:endParaRPr lang="en-US" sz="85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D4-L11 · Unit Review</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MISSION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Mission: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D4 · Environment, Weather and Technology · D4-L11</a:t>
            </a:r>
            <a:endParaRPr lang="en-US" sz="850" dirty="0"/>
          </a:p>
        </p:txBody>
      </p:sp>
      <p:sp>
        <p:nvSpPr>
          <p:cNvPr id="16"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7"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8"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9"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sentence integrates passive, cause and result accurately?</a:t>
            </a:r>
            <a:endParaRPr lang="en-US" sz="1250" dirty="0"/>
          </a:p>
        </p:txBody>
      </p:sp>
      <p:sp>
        <p:nvSpPr>
          <p:cNvPr id="20"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1"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2" name="Text 20"/>
          <p:cNvSpPr txBox="1"/>
          <p:nvPr/>
        </p:nvSpPr>
        <p:spPr>
          <a:xfrm>
            <a:off x="969264" y="2432304"/>
            <a:ext cx="2977896" cy="371856"/>
          </a:xfrm>
          <a:prstGeom prst="rect">
            <a:avLst/>
          </a:prstGeom>
          <a:noFill/>
          <a:ln/>
        </p:spPr>
        <p:txBody>
          <a:bodyPr wrap="square" lIns="0" tIns="0" rIns="0" bIns="0" rtlCol="0" anchor="ctr"/>
          <a:lstStyle/>
          <a:p>
            <a:pPr rtl="1" algn="r" indent="0" marL="0">
              <a:buNone/>
            </a:pPr>
            <a:r>
              <a:rPr lang="ar-SA" altLang="en-US" sz="1300" dirty="0">
                <a:solidFill>
                  <a:srgbClr val="9AA1AB"/>
                </a:solidFill>
                <a:latin typeface="Amiri" pitchFamily="34" charset="0"/>
                <a:ea typeface="Amiri" pitchFamily="34" charset="-122"/>
                <a:cs typeface="Amiri" pitchFamily="34" charset="-120"/>
              </a:rPr>
              <a:t>يُلَوَّثُ الهَوَاءُ لِكَيْ تَزْدَادَ الأَمْرَاضُ.</a:t>
            </a:r>
            <a:endParaRPr lang="ar-SA" sz="1300" dirty="0"/>
          </a:p>
        </p:txBody>
      </p:sp>
      <p:sp>
        <p:nvSpPr>
          <p:cNvPr id="23" name="Shape 21"/>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4" name="Shape 22"/>
          <p:cNvSpPr/>
          <p:nvPr/>
        </p:nvSpPr>
        <p:spPr>
          <a:xfrm>
            <a:off x="640080" y="2862072"/>
            <a:ext cx="256032" cy="256032"/>
          </a:xfrm>
          <a:prstGeom prst="ellipse">
            <a:avLst/>
          </a:prstGeom>
          <a:solidFill>
            <a:srgbClr val="2E8B57"/>
          </a:solidFill>
          <a:ln w="12700">
            <a:solidFill>
              <a:srgbClr val="2E8B57"/>
            </a:solidFill>
            <a:prstDash val="solid"/>
          </a:ln>
        </p:spPr>
      </p:sp>
      <p:sp>
        <p:nvSpPr>
          <p:cNvPr id="25"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6" name="Text 24"/>
          <p:cNvSpPr txBox="1"/>
          <p:nvPr/>
        </p:nvSpPr>
        <p:spPr>
          <a:xfrm>
            <a:off x="969264" y="2804160"/>
            <a:ext cx="2977896" cy="371856"/>
          </a:xfrm>
          <a:prstGeom prst="rect">
            <a:avLst/>
          </a:prstGeom>
          <a:noFill/>
          <a:ln/>
        </p:spPr>
        <p:txBody>
          <a:bodyPr wrap="square" lIns="0" tIns="0" rIns="0" bIns="0" rtlCol="0" anchor="ctr"/>
          <a:lstStyle/>
          <a:p>
            <a:pPr rtl="1" algn="r" indent="0" marL="0">
              <a:buNone/>
            </a:pPr>
            <a:r>
              <a:rPr lang="ar-SA" altLang="en-US" sz="1300" b="1" dirty="0">
                <a:solidFill>
                  <a:srgbClr val="1F2A37"/>
                </a:solidFill>
                <a:latin typeface="Amiri" pitchFamily="34" charset="0"/>
                <a:ea typeface="Amiri" pitchFamily="34" charset="-122"/>
                <a:cs typeface="Amiri" pitchFamily="34" charset="-120"/>
              </a:rPr>
              <a:t>يُلَوَّثُ الهَوَاءُ بِسَبَبِ العَوَادِمِ، مِمَّا يُؤَدِّي إِلَى أَمْرَاضٍ.</a:t>
            </a:r>
            <a:endParaRPr lang="ar-SA" sz="1300" dirty="0"/>
          </a:p>
        </p:txBody>
      </p:sp>
      <p:sp>
        <p:nvSpPr>
          <p:cNvPr id="27" name="Shape 25"/>
          <p:cNvSpPr/>
          <p:nvPr/>
        </p:nvSpPr>
        <p:spPr>
          <a:xfrm>
            <a:off x="640080" y="3233928"/>
            <a:ext cx="256032" cy="256032"/>
          </a:xfrm>
          <a:prstGeom prst="ellipse">
            <a:avLst/>
          </a:prstGeom>
          <a:solidFill>
            <a:srgbClr val="C9CED6"/>
          </a:solidFill>
          <a:ln w="12700">
            <a:solidFill>
              <a:srgbClr val="C9CED6"/>
            </a:solidFill>
            <a:prstDash val="solid"/>
          </a:ln>
        </p:spPr>
      </p:sp>
      <p:sp>
        <p:nvSpPr>
          <p:cNvPr id="28"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9" name="Text 27"/>
          <p:cNvSpPr txBox="1"/>
          <p:nvPr/>
        </p:nvSpPr>
        <p:spPr>
          <a:xfrm>
            <a:off x="969264" y="3176016"/>
            <a:ext cx="2977896" cy="371856"/>
          </a:xfrm>
          <a:prstGeom prst="rect">
            <a:avLst/>
          </a:prstGeom>
          <a:noFill/>
          <a:ln/>
        </p:spPr>
        <p:txBody>
          <a:bodyPr wrap="square" lIns="0" tIns="0" rIns="0" bIns="0" rtlCol="0" anchor="ctr"/>
          <a:lstStyle/>
          <a:p>
            <a:pPr rtl="1" algn="r" indent="0" marL="0">
              <a:buNone/>
            </a:pPr>
            <a:r>
              <a:rPr lang="ar-SA" altLang="en-US" sz="1300" dirty="0">
                <a:solidFill>
                  <a:srgbClr val="9AA1AB"/>
                </a:solidFill>
                <a:latin typeface="Amiri" pitchFamily="34" charset="0"/>
                <a:ea typeface="Amiri" pitchFamily="34" charset="-122"/>
                <a:cs typeface="Amiri" pitchFamily="34" charset="-120"/>
              </a:rPr>
              <a:t>يَنْبَعِثُ الهَوَاءُ مِنَ الأَمْرَاضِ.</a:t>
            </a:r>
            <a:endParaRPr lang="ar-SA" sz="1300" dirty="0"/>
          </a:p>
        </p:txBody>
      </p:sp>
      <p:sp>
        <p:nvSpPr>
          <p:cNvPr id="30" name="Text 28"/>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first is a coherent problem chain.</a:t>
            </a:r>
            <a:endParaRPr lang="en-US" sz="1050" dirty="0"/>
          </a:p>
        </p:txBody>
      </p:sp>
      <p:sp>
        <p:nvSpPr>
          <p:cNvPr id="31" name="Shape 29"/>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30"/>
          <p:cNvSpPr/>
          <p:nvPr/>
        </p:nvSpPr>
        <p:spPr>
          <a:xfrm>
            <a:off x="4404360" y="1947672"/>
            <a:ext cx="310896" cy="310896"/>
          </a:xfrm>
          <a:prstGeom prst="ellipse">
            <a:avLst/>
          </a:prstGeom>
          <a:solidFill>
            <a:srgbClr val="1B3B6F"/>
          </a:solidFill>
          <a:ln w="12700">
            <a:solidFill>
              <a:srgbClr val="1B3B6F"/>
            </a:solidFill>
            <a:prstDash val="solid"/>
          </a:ln>
        </p:spPr>
      </p:sp>
      <p:sp>
        <p:nvSpPr>
          <p:cNvPr id="33" name="Text 31"/>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4" name="Text 32"/>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sentence integrates responsibility and purpose?</a:t>
            </a:r>
            <a:endParaRPr lang="en-US" sz="1250" dirty="0"/>
          </a:p>
        </p:txBody>
      </p:sp>
      <p:sp>
        <p:nvSpPr>
          <p:cNvPr id="35" name="Shape 33"/>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6" name="Shape 34"/>
          <p:cNvSpPr/>
          <p:nvPr/>
        </p:nvSpPr>
        <p:spPr>
          <a:xfrm>
            <a:off x="4459224" y="2490216"/>
            <a:ext cx="256032" cy="256032"/>
          </a:xfrm>
          <a:prstGeom prst="ellipse">
            <a:avLst/>
          </a:prstGeom>
          <a:solidFill>
            <a:srgbClr val="2E8B57"/>
          </a:solidFill>
          <a:ln w="12700">
            <a:solidFill>
              <a:srgbClr val="2E8B57"/>
            </a:solidFill>
            <a:prstDash val="solid"/>
          </a:ln>
        </p:spPr>
      </p:sp>
      <p:sp>
        <p:nvSpPr>
          <p:cNvPr id="37" name="Text 35"/>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8" name="Text 36"/>
          <p:cNvSpPr txBox="1"/>
          <p:nvPr/>
        </p:nvSpPr>
        <p:spPr>
          <a:xfrm>
            <a:off x="4788408" y="2432304"/>
            <a:ext cx="2977896" cy="371856"/>
          </a:xfrm>
          <a:prstGeom prst="rect">
            <a:avLst/>
          </a:prstGeom>
          <a:noFill/>
          <a:ln/>
        </p:spPr>
        <p:txBody>
          <a:bodyPr wrap="square" lIns="0" tIns="0" rIns="0" bIns="0" rtlCol="0" anchor="ctr"/>
          <a:lstStyle/>
          <a:p>
            <a:pPr rtl="1" algn="r" indent="0" marL="0">
              <a:buNone/>
            </a:pPr>
            <a:r>
              <a:rPr lang="ar-SA" altLang="en-US" sz="1200" b="1" dirty="0">
                <a:solidFill>
                  <a:srgbClr val="1F2A37"/>
                </a:solidFill>
                <a:latin typeface="Amiri" pitchFamily="34" charset="0"/>
                <a:ea typeface="Amiri" pitchFamily="34" charset="-122"/>
                <a:cs typeface="Amiri" pitchFamily="34" charset="-120"/>
              </a:rPr>
              <a:t>يَجِبُ عَلَى البَلَدِيَّةِ أَنْ تَزْرَعَ الأَشْجَارَ لِكَيْ تُحَسِّنَ الهَوَاءَ.</a:t>
            </a:r>
            <a:endParaRPr lang="ar-SA" sz="1200" dirty="0"/>
          </a:p>
        </p:txBody>
      </p:sp>
      <p:sp>
        <p:nvSpPr>
          <p:cNvPr id="39" name="Shape 37"/>
          <p:cNvSpPr/>
          <p:nvPr/>
        </p:nvSpPr>
        <p:spPr>
          <a:xfrm>
            <a:off x="4459224" y="2862072"/>
            <a:ext cx="256032" cy="256032"/>
          </a:xfrm>
          <a:prstGeom prst="ellipse">
            <a:avLst/>
          </a:prstGeom>
          <a:solidFill>
            <a:srgbClr val="C9CED6"/>
          </a:solidFill>
          <a:ln w="12700">
            <a:solidFill>
              <a:srgbClr val="C9CED6"/>
            </a:solidFill>
            <a:prstDash val="solid"/>
          </a:ln>
        </p:spPr>
      </p:sp>
      <p:sp>
        <p:nvSpPr>
          <p:cNvPr id="40" name="Text 38"/>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1" name="Text 39"/>
          <p:cNvSpPr txBox="1"/>
          <p:nvPr/>
        </p:nvSpPr>
        <p:spPr>
          <a:xfrm>
            <a:off x="4788408" y="2804160"/>
            <a:ext cx="2977896" cy="371856"/>
          </a:xfrm>
          <a:prstGeom prst="rect">
            <a:avLst/>
          </a:prstGeom>
          <a:noFill/>
          <a:ln/>
        </p:spPr>
        <p:txBody>
          <a:bodyPr wrap="square" lIns="0" tIns="0" rIns="0" bIns="0" rtlCol="0" anchor="ctr"/>
          <a:lstStyle/>
          <a:p>
            <a:pPr rtl="1" algn="r" indent="0" marL="0">
              <a:buNone/>
            </a:pPr>
            <a:r>
              <a:rPr lang="ar-SA" altLang="en-US" sz="1200" dirty="0">
                <a:solidFill>
                  <a:srgbClr val="9AA1AB"/>
                </a:solidFill>
                <a:latin typeface="Amiri" pitchFamily="34" charset="0"/>
                <a:ea typeface="Amiri" pitchFamily="34" charset="-122"/>
                <a:cs typeface="Amiri" pitchFamily="34" charset="-120"/>
              </a:rPr>
              <a:t>يَجِبُ عَلَى الأَشْجَارِ أَنْ تَزْرَعَ البَلَدِيَّةَ.</a:t>
            </a:r>
            <a:endParaRPr lang="ar-SA" sz="1200" dirty="0"/>
          </a:p>
        </p:txBody>
      </p:sp>
      <p:sp>
        <p:nvSpPr>
          <p:cNvPr id="42" name="Shape 40"/>
          <p:cNvSpPr/>
          <p:nvPr/>
        </p:nvSpPr>
        <p:spPr>
          <a:xfrm>
            <a:off x="4459224" y="3233928"/>
            <a:ext cx="256032" cy="256032"/>
          </a:xfrm>
          <a:prstGeom prst="ellipse">
            <a:avLst/>
          </a:prstGeom>
          <a:solidFill>
            <a:srgbClr val="C9CED6"/>
          </a:solidFill>
          <a:ln w="12700">
            <a:solidFill>
              <a:srgbClr val="C9CED6"/>
            </a:solidFill>
            <a:prstDash val="solid"/>
          </a:ln>
        </p:spPr>
      </p:sp>
      <p:sp>
        <p:nvSpPr>
          <p:cNvPr id="43" name="Text 41"/>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4" name="Text 42"/>
          <p:cNvSpPr txBox="1"/>
          <p:nvPr/>
        </p:nvSpPr>
        <p:spPr>
          <a:xfrm>
            <a:off x="4788408" y="3176016"/>
            <a:ext cx="2977896" cy="371856"/>
          </a:xfrm>
          <a:prstGeom prst="rect">
            <a:avLst/>
          </a:prstGeom>
          <a:noFill/>
          <a:ln/>
        </p:spPr>
        <p:txBody>
          <a:bodyPr wrap="square" lIns="0" tIns="0" rIns="0" bIns="0" rtlCol="0" anchor="ctr"/>
          <a:lstStyle/>
          <a:p>
            <a:pPr rtl="1" algn="r" indent="0" marL="0">
              <a:buNone/>
            </a:pPr>
            <a:r>
              <a:rPr lang="ar-SA" altLang="en-US" sz="1200" dirty="0">
                <a:solidFill>
                  <a:srgbClr val="9AA1AB"/>
                </a:solidFill>
                <a:latin typeface="Amiri" pitchFamily="34" charset="0"/>
                <a:ea typeface="Amiri" pitchFamily="34" charset="-122"/>
                <a:cs typeface="Amiri" pitchFamily="34" charset="-120"/>
              </a:rPr>
              <a:t>يَجِبُ البَلَدِيَّةُ تَزْرَعُ الأَشْجَارَ لِكَيْ الهَوَاءُ.</a:t>
            </a:r>
            <a:endParaRPr lang="ar-SA" sz="1200" dirty="0"/>
          </a:p>
        </p:txBody>
      </p:sp>
      <p:sp>
        <p:nvSpPr>
          <p:cNvPr id="45" name="Text 43"/>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municipality acts for a clear purpose.</a:t>
            </a:r>
            <a:endParaRPr lang="en-US" sz="1050" dirty="0"/>
          </a:p>
        </p:txBody>
      </p:sp>
      <p:sp>
        <p:nvSpPr>
          <p:cNvPr id="46" name="Shape 44"/>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7" name="Shape 45"/>
          <p:cNvSpPr/>
          <p:nvPr/>
        </p:nvSpPr>
        <p:spPr>
          <a:xfrm>
            <a:off x="8223504" y="1947672"/>
            <a:ext cx="310896" cy="310896"/>
          </a:xfrm>
          <a:prstGeom prst="ellipse">
            <a:avLst/>
          </a:prstGeom>
          <a:solidFill>
            <a:srgbClr val="1B3B6F"/>
          </a:solidFill>
          <a:ln w="12700">
            <a:solidFill>
              <a:srgbClr val="1B3B6F"/>
            </a:solidFill>
            <a:prstDash val="solid"/>
          </a:ln>
        </p:spPr>
      </p:sp>
      <p:sp>
        <p:nvSpPr>
          <p:cNvPr id="48" name="Text 46"/>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9" name="Text 47"/>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form after </a:t>
            </a:r>
            <a:pPr algn="l" indent="0" marL="0">
              <a:buNone/>
            </a:pPr>
            <a:r>
              <a:rPr lang="ar-SA" altLang="en-US" sz="1650" b="1" dirty="0">
                <a:solidFill>
                  <a:srgbClr val="1B3B6F"/>
                </a:solidFill>
                <a:latin typeface="Amiri" pitchFamily="34" charset="0"/>
                <a:ea typeface="Amiri" pitchFamily="34" charset="-122"/>
                <a:cs typeface="Amiri" pitchFamily="34" charset="-120"/>
              </a:rPr>
              <a:t>لكي</a:t>
            </a:r>
            <a:pPr algn="l" indent="0" marL="0">
              <a:buNone/>
            </a:pPr>
            <a:r>
              <a:rPr lang="en-US" sz="1250" b="1" dirty="0">
                <a:solidFill>
                  <a:srgbClr val="1B3B6F"/>
                </a:solidFill>
                <a:latin typeface="Calibri" pitchFamily="34" charset="0"/>
                <a:ea typeface="Calibri" pitchFamily="34" charset="-122"/>
                <a:cs typeface="Calibri" pitchFamily="34" charset="-120"/>
              </a:rPr>
              <a:t> is accurate?</a:t>
            </a:r>
            <a:endParaRPr lang="en-US" sz="1250" dirty="0"/>
          </a:p>
        </p:txBody>
      </p:sp>
      <p:sp>
        <p:nvSpPr>
          <p:cNvPr id="50" name="Shape 48"/>
          <p:cNvSpPr/>
          <p:nvPr/>
        </p:nvSpPr>
        <p:spPr>
          <a:xfrm>
            <a:off x="8278368" y="2490216"/>
            <a:ext cx="256032" cy="256032"/>
          </a:xfrm>
          <a:prstGeom prst="ellipse">
            <a:avLst/>
          </a:prstGeom>
          <a:solidFill>
            <a:srgbClr val="C9CED6"/>
          </a:solidFill>
          <a:ln w="12700">
            <a:solidFill>
              <a:srgbClr val="C9CED6"/>
            </a:solidFill>
            <a:prstDash val="solid"/>
          </a:ln>
        </p:spPr>
      </p:sp>
      <p:sp>
        <p:nvSpPr>
          <p:cNvPr id="51" name="Text 49"/>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2" name="Text 50"/>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لِكَيْ نُقَلِّلُ</a:t>
            </a:r>
            <a:endParaRPr lang="ar-SA" sz="1700" dirty="0"/>
          </a:p>
        </p:txBody>
      </p:sp>
      <p:sp>
        <p:nvSpPr>
          <p:cNvPr id="53" name="Shape 51"/>
          <p:cNvSpPr/>
          <p:nvPr/>
        </p:nvSpPr>
        <p:spPr>
          <a:xfrm>
            <a:off x="8278368" y="2862072"/>
            <a:ext cx="256032" cy="256032"/>
          </a:xfrm>
          <a:prstGeom prst="ellipse">
            <a:avLst/>
          </a:prstGeom>
          <a:solidFill>
            <a:srgbClr val="C9CED6"/>
          </a:solidFill>
          <a:ln w="12700">
            <a:solidFill>
              <a:srgbClr val="C9CED6"/>
            </a:solidFill>
            <a:prstDash val="solid"/>
          </a:ln>
        </p:spPr>
      </p:sp>
      <p:sp>
        <p:nvSpPr>
          <p:cNvPr id="54" name="Text 52"/>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5" name="Text 53"/>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لِكَيْ نُقَلِّلْ</a:t>
            </a:r>
            <a:endParaRPr lang="ar-SA" sz="1700" dirty="0"/>
          </a:p>
        </p:txBody>
      </p:sp>
      <p:sp>
        <p:nvSpPr>
          <p:cNvPr id="56" name="Shape 54"/>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7" name="Shape 55"/>
          <p:cNvSpPr/>
          <p:nvPr/>
        </p:nvSpPr>
        <p:spPr>
          <a:xfrm>
            <a:off x="8278368" y="3233928"/>
            <a:ext cx="256032" cy="256032"/>
          </a:xfrm>
          <a:prstGeom prst="ellipse">
            <a:avLst/>
          </a:prstGeom>
          <a:solidFill>
            <a:srgbClr val="2E8B57"/>
          </a:solidFill>
          <a:ln w="12700">
            <a:solidFill>
              <a:srgbClr val="2E8B57"/>
            </a:solidFill>
            <a:prstDash val="solid"/>
          </a:ln>
        </p:spPr>
      </p:sp>
      <p:sp>
        <p:nvSpPr>
          <p:cNvPr id="58" name="Text 56"/>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59" name="Text 57"/>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لِكَيْ نُقَلِّلَ</a:t>
            </a:r>
            <a:endParaRPr lang="ar-SA" sz="1700" dirty="0"/>
          </a:p>
        </p:txBody>
      </p:sp>
      <p:sp>
        <p:nvSpPr>
          <p:cNvPr id="60" name="Text 58"/>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sound-ending subjunctive takes fatḥa.</a:t>
            </a:r>
            <a:endParaRPr lang="en-US" sz="1050" dirty="0"/>
          </a:p>
        </p:txBody>
      </p:sp>
      <p:sp>
        <p:nvSpPr>
          <p:cNvPr id="61" name="Shape 59"/>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2" name="Shape 60"/>
          <p:cNvSpPr/>
          <p:nvPr/>
        </p:nvSpPr>
        <p:spPr>
          <a:xfrm>
            <a:off x="585216" y="4288536"/>
            <a:ext cx="310896" cy="310896"/>
          </a:xfrm>
          <a:prstGeom prst="ellipse">
            <a:avLst/>
          </a:prstGeom>
          <a:solidFill>
            <a:srgbClr val="1B3B6F"/>
          </a:solidFill>
          <a:ln w="12700">
            <a:solidFill>
              <a:srgbClr val="1B3B6F"/>
            </a:solidFill>
            <a:prstDash val="solid"/>
          </a:ln>
        </p:spPr>
      </p:sp>
      <p:sp>
        <p:nvSpPr>
          <p:cNvPr id="63" name="Text 61"/>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4" name="Text 62"/>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phrase is accurate for water becoming scarce?</a:t>
            </a:r>
            <a:endParaRPr lang="en-US" sz="1250" dirty="0"/>
          </a:p>
        </p:txBody>
      </p:sp>
      <p:sp>
        <p:nvSpPr>
          <p:cNvPr id="65" name="Shape 63"/>
          <p:cNvSpPr/>
          <p:nvPr/>
        </p:nvSpPr>
        <p:spPr>
          <a:xfrm>
            <a:off x="640080" y="4831080"/>
            <a:ext cx="256032" cy="256032"/>
          </a:xfrm>
          <a:prstGeom prst="ellipse">
            <a:avLst/>
          </a:prstGeom>
          <a:solidFill>
            <a:srgbClr val="C9CED6"/>
          </a:solidFill>
          <a:ln w="12700">
            <a:solidFill>
              <a:srgbClr val="C9CED6"/>
            </a:solidFill>
            <a:prstDash val="solid"/>
          </a:ln>
        </p:spPr>
      </p:sp>
      <p:sp>
        <p:nvSpPr>
          <p:cNvPr id="66" name="Text 64"/>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7" name="Text 65"/>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يَشِحُّ المِيَاهُ</a:t>
            </a:r>
            <a:endParaRPr lang="ar-SA" sz="1700" dirty="0"/>
          </a:p>
        </p:txBody>
      </p:sp>
      <p:sp>
        <p:nvSpPr>
          <p:cNvPr id="68" name="Shape 66"/>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7"/>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0" name="Text 68"/>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تَنْضَبُ المِيَاهَ</a:t>
            </a:r>
            <a:endParaRPr lang="ar-SA" sz="1700" dirty="0"/>
          </a:p>
        </p:txBody>
      </p:sp>
      <p:sp>
        <p:nvSpPr>
          <p:cNvPr id="71" name="Shape 69"/>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2" name="Shape 70"/>
          <p:cNvSpPr/>
          <p:nvPr/>
        </p:nvSpPr>
        <p:spPr>
          <a:xfrm>
            <a:off x="640080" y="5574792"/>
            <a:ext cx="256032" cy="256032"/>
          </a:xfrm>
          <a:prstGeom prst="ellipse">
            <a:avLst/>
          </a:prstGeom>
          <a:solidFill>
            <a:srgbClr val="2E8B57"/>
          </a:solidFill>
          <a:ln w="12700">
            <a:solidFill>
              <a:srgbClr val="2E8B57"/>
            </a:solidFill>
            <a:prstDash val="solid"/>
          </a:ln>
        </p:spPr>
      </p:sp>
      <p:sp>
        <p:nvSpPr>
          <p:cNvPr id="73" name="Text 71"/>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4" name="Text 72"/>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تَشِحُّ المِيَاهُ</a:t>
            </a:r>
            <a:endParaRPr lang="ar-SA" sz="1700" dirty="0"/>
          </a:p>
        </p:txBody>
      </p:sp>
      <p:sp>
        <p:nvSpPr>
          <p:cNvPr id="75" name="Text 73"/>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المياه</a:t>
            </a:r>
            <a:pPr algn="l" indent="0" marL="0">
              <a:buNone/>
            </a:pPr>
            <a:r>
              <a:rPr lang="en-US" sz="1050" i="1" dirty="0">
                <a:solidFill>
                  <a:srgbClr val="8A6D1E"/>
                </a:solidFill>
                <a:latin typeface="Calibri" pitchFamily="34" charset="0"/>
                <a:ea typeface="Calibri" pitchFamily="34" charset="-122"/>
                <a:cs typeface="Calibri" pitchFamily="34" charset="-120"/>
              </a:rPr>
              <a:t> takes feminine agreement.</a:t>
            </a:r>
            <a:endParaRPr lang="en-US" sz="1050" dirty="0"/>
          </a:p>
        </p:txBody>
      </p:sp>
      <p:sp>
        <p:nvSpPr>
          <p:cNvPr id="76" name="Shape 7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7" name="Shape 75"/>
          <p:cNvSpPr/>
          <p:nvPr/>
        </p:nvSpPr>
        <p:spPr>
          <a:xfrm>
            <a:off x="4404360" y="4288536"/>
            <a:ext cx="310896" cy="310896"/>
          </a:xfrm>
          <a:prstGeom prst="ellipse">
            <a:avLst/>
          </a:prstGeom>
          <a:solidFill>
            <a:srgbClr val="1B3B6F"/>
          </a:solidFill>
          <a:ln w="12700">
            <a:solidFill>
              <a:srgbClr val="1B3B6F"/>
            </a:solidFill>
            <a:prstDash val="solid"/>
          </a:ln>
        </p:spPr>
      </p:sp>
      <p:sp>
        <p:nvSpPr>
          <p:cNvPr id="78" name="Text 7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9" name="Text 7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response uses self-correction productively?</a:t>
            </a:r>
            <a:endParaRPr lang="en-US" sz="1250" dirty="0"/>
          </a:p>
        </p:txBody>
      </p:sp>
      <p:sp>
        <p:nvSpPr>
          <p:cNvPr id="80" name="Shape 78"/>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1" name="Shape 79"/>
          <p:cNvSpPr/>
          <p:nvPr/>
        </p:nvSpPr>
        <p:spPr>
          <a:xfrm>
            <a:off x="4459224" y="4831080"/>
            <a:ext cx="256032" cy="256032"/>
          </a:xfrm>
          <a:prstGeom prst="ellipse">
            <a:avLst/>
          </a:prstGeom>
          <a:solidFill>
            <a:srgbClr val="2E8B57"/>
          </a:solidFill>
          <a:ln w="12700">
            <a:solidFill>
              <a:srgbClr val="2E8B57"/>
            </a:solidFill>
            <a:prstDash val="solid"/>
          </a:ln>
        </p:spPr>
      </p:sp>
      <p:sp>
        <p:nvSpPr>
          <p:cNvPr id="82" name="Text 80"/>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83" name="Text 81"/>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400" b="1" dirty="0">
                <a:solidFill>
                  <a:srgbClr val="1F2A37"/>
                </a:solidFill>
                <a:latin typeface="Amiri" pitchFamily="34" charset="0"/>
                <a:ea typeface="Amiri" pitchFamily="34" charset="-122"/>
                <a:cs typeface="Amiri" pitchFamily="34" charset="-120"/>
              </a:rPr>
              <a:t>المَشْرُوعُ يَبْدَأُ فِي يُونْيُو—لِأُصَحِّحْ ذٰلِكَ—فِي سِبْتَمْبَرَ.</a:t>
            </a:r>
            <a:endParaRPr lang="ar-SA" sz="1400" dirty="0"/>
          </a:p>
        </p:txBody>
      </p:sp>
      <p:sp>
        <p:nvSpPr>
          <p:cNvPr id="84" name="Shape 82"/>
          <p:cNvSpPr/>
          <p:nvPr/>
        </p:nvSpPr>
        <p:spPr>
          <a:xfrm>
            <a:off x="4459224" y="5202936"/>
            <a:ext cx="256032" cy="256032"/>
          </a:xfrm>
          <a:prstGeom prst="ellipse">
            <a:avLst/>
          </a:prstGeom>
          <a:solidFill>
            <a:srgbClr val="C9CED6"/>
          </a:solidFill>
          <a:ln w="12700">
            <a:solidFill>
              <a:srgbClr val="C9CED6"/>
            </a:solidFill>
            <a:prstDash val="solid"/>
          </a:ln>
        </p:spPr>
      </p:sp>
      <p:sp>
        <p:nvSpPr>
          <p:cNvPr id="85" name="Text 83"/>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6" name="Text 84"/>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400" dirty="0">
                <a:solidFill>
                  <a:srgbClr val="9AA1AB"/>
                </a:solidFill>
                <a:latin typeface="Amiri" pitchFamily="34" charset="0"/>
                <a:ea typeface="Amiri" pitchFamily="34" charset="-122"/>
                <a:cs typeface="Amiri" pitchFamily="34" charset="-120"/>
              </a:rPr>
              <a:t>لِأُصَحِّحْ ذٰلِكَ المَشْرُوعُ مَشْرُوعٌ.</a:t>
            </a:r>
            <a:endParaRPr lang="ar-SA" sz="1400" dirty="0"/>
          </a:p>
        </p:txBody>
      </p:sp>
      <p:sp>
        <p:nvSpPr>
          <p:cNvPr id="87" name="Shape 85"/>
          <p:cNvSpPr/>
          <p:nvPr/>
        </p:nvSpPr>
        <p:spPr>
          <a:xfrm>
            <a:off x="4459224" y="5574792"/>
            <a:ext cx="256032" cy="256032"/>
          </a:xfrm>
          <a:prstGeom prst="ellipse">
            <a:avLst/>
          </a:prstGeom>
          <a:solidFill>
            <a:srgbClr val="C9CED6"/>
          </a:solidFill>
          <a:ln w="12700">
            <a:solidFill>
              <a:srgbClr val="C9CED6"/>
            </a:solidFill>
            <a:prstDash val="solid"/>
          </a:ln>
        </p:spPr>
      </p:sp>
      <p:sp>
        <p:nvSpPr>
          <p:cNvPr id="88" name="Text 86"/>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9" name="Text 87"/>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400" dirty="0">
                <a:solidFill>
                  <a:srgbClr val="9AA1AB"/>
                </a:solidFill>
                <a:latin typeface="Amiri" pitchFamily="34" charset="0"/>
                <a:ea typeface="Amiri" pitchFamily="34" charset="-122"/>
                <a:cs typeface="Amiri" pitchFamily="34" charset="-120"/>
              </a:rPr>
              <a:t>المَشْرُوعُ يَبْدَأُ فِي يُونْيُو وَيُونْيُو فَقَطْ.</a:t>
            </a:r>
            <a:endParaRPr lang="ar-SA" sz="1400" dirty="0"/>
          </a:p>
        </p:txBody>
      </p:sp>
      <p:sp>
        <p:nvSpPr>
          <p:cNvPr id="90" name="Text 88"/>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speaker explicitly corrects the date.</a:t>
            </a:r>
            <a:endParaRPr lang="en-US" sz="1050" dirty="0"/>
          </a:p>
        </p:txBody>
      </p:sp>
      <p:sp>
        <p:nvSpPr>
          <p:cNvPr id="91" name="Shape 89"/>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2" name="Shape 90"/>
          <p:cNvSpPr/>
          <p:nvPr/>
        </p:nvSpPr>
        <p:spPr>
          <a:xfrm>
            <a:off x="8223504" y="4288536"/>
            <a:ext cx="310896" cy="310896"/>
          </a:xfrm>
          <a:prstGeom prst="ellipse">
            <a:avLst/>
          </a:prstGeom>
          <a:solidFill>
            <a:srgbClr val="1B3B6F"/>
          </a:solidFill>
          <a:ln w="12700">
            <a:solidFill>
              <a:srgbClr val="1B3B6F"/>
            </a:solidFill>
            <a:prstDash val="solid"/>
          </a:ln>
        </p:spPr>
      </p:sp>
      <p:sp>
        <p:nvSpPr>
          <p:cNvPr id="93" name="Text 91"/>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94" name="Text 92"/>
          <p:cNvSpPr txBox="1"/>
          <p:nvPr/>
        </p:nvSpPr>
        <p:spPr>
          <a:xfrm>
            <a:off x="8589264"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judgement shows D4-level balance?</a:t>
            </a:r>
            <a:endParaRPr lang="en-US" sz="1250" dirty="0"/>
          </a:p>
        </p:txBody>
      </p:sp>
      <p:sp>
        <p:nvSpPr>
          <p:cNvPr id="95" name="Shape 93"/>
          <p:cNvSpPr/>
          <p:nvPr/>
        </p:nvSpPr>
        <p:spPr>
          <a:xfrm>
            <a:off x="8278368" y="4831080"/>
            <a:ext cx="256032" cy="256032"/>
          </a:xfrm>
          <a:prstGeom prst="ellipse">
            <a:avLst/>
          </a:prstGeom>
          <a:solidFill>
            <a:srgbClr val="C9CED6"/>
          </a:solidFill>
          <a:ln w="12700">
            <a:solidFill>
              <a:srgbClr val="C9CED6"/>
            </a:solidFill>
            <a:prstDash val="solid"/>
          </a:ln>
        </p:spPr>
      </p:sp>
      <p:sp>
        <p:nvSpPr>
          <p:cNvPr id="96" name="Text 94"/>
          <p:cNvSpPr txBox="1"/>
          <p:nvPr/>
        </p:nvSpPr>
        <p:spPr>
          <a:xfrm>
            <a:off x="8278368"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97" name="Text 95"/>
          <p:cNvSpPr txBox="1"/>
          <p:nvPr/>
        </p:nvSpPr>
        <p:spPr>
          <a:xfrm>
            <a:off x="8607552" y="4773168"/>
            <a:ext cx="2977896" cy="371856"/>
          </a:xfrm>
          <a:prstGeom prst="rect">
            <a:avLst/>
          </a:prstGeom>
          <a:noFill/>
          <a:ln/>
        </p:spPr>
        <p:txBody>
          <a:bodyPr wrap="square" lIns="0" tIns="0" rIns="0" bIns="0" rtlCol="0" anchor="ctr"/>
          <a:lstStyle/>
          <a:p>
            <a:pPr rtl="1" algn="r" indent="0" marL="0">
              <a:buNone/>
            </a:pPr>
            <a:r>
              <a:rPr lang="ar-SA" altLang="en-US" sz="1200" dirty="0">
                <a:solidFill>
                  <a:srgbClr val="9AA1AB"/>
                </a:solidFill>
                <a:latin typeface="Amiri" pitchFamily="34" charset="0"/>
                <a:ea typeface="Amiri" pitchFamily="34" charset="-122"/>
                <a:cs typeface="Amiri" pitchFamily="34" charset="-120"/>
              </a:rPr>
              <a:t>التِّقْنِيَّةُ مُفِيدَةٌ دَائِمًا دُونَ شُرُوطٍ.</a:t>
            </a:r>
            <a:endParaRPr lang="ar-SA" sz="1200" dirty="0"/>
          </a:p>
        </p:txBody>
      </p:sp>
      <p:sp>
        <p:nvSpPr>
          <p:cNvPr id="98" name="Shape 96"/>
          <p:cNvSpPr/>
          <p:nvPr/>
        </p:nvSpPr>
        <p:spPr>
          <a:xfrm>
            <a:off x="8186928" y="5166360"/>
            <a:ext cx="3453384" cy="347472"/>
          </a:xfrm>
          <a:prstGeom prst="roundRect">
            <a:avLst>
              <a:gd name="adj" fmla="val 15789"/>
            </a:avLst>
          </a:prstGeom>
          <a:solidFill>
            <a:srgbClr val="E6F4EC"/>
          </a:solidFill>
          <a:ln w="9525">
            <a:solidFill>
              <a:srgbClr val="2E8B57"/>
            </a:solidFill>
            <a:prstDash val="solid"/>
          </a:ln>
        </p:spPr>
      </p:sp>
      <p:sp>
        <p:nvSpPr>
          <p:cNvPr id="99" name="Shape 97"/>
          <p:cNvSpPr/>
          <p:nvPr/>
        </p:nvSpPr>
        <p:spPr>
          <a:xfrm>
            <a:off x="8278368" y="5202936"/>
            <a:ext cx="256032" cy="256032"/>
          </a:xfrm>
          <a:prstGeom prst="ellipse">
            <a:avLst/>
          </a:prstGeom>
          <a:solidFill>
            <a:srgbClr val="2E8B57"/>
          </a:solidFill>
          <a:ln w="12700">
            <a:solidFill>
              <a:srgbClr val="2E8B57"/>
            </a:solidFill>
            <a:prstDash val="solid"/>
          </a:ln>
        </p:spPr>
      </p:sp>
      <p:sp>
        <p:nvSpPr>
          <p:cNvPr id="100" name="Text 98"/>
          <p:cNvSpPr txBox="1"/>
          <p:nvPr/>
        </p:nvSpPr>
        <p:spPr>
          <a:xfrm>
            <a:off x="8278368"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101" name="Text 99"/>
          <p:cNvSpPr txBox="1"/>
          <p:nvPr/>
        </p:nvSpPr>
        <p:spPr>
          <a:xfrm>
            <a:off x="8607552" y="5145024"/>
            <a:ext cx="2977896" cy="371856"/>
          </a:xfrm>
          <a:prstGeom prst="rect">
            <a:avLst/>
          </a:prstGeom>
          <a:noFill/>
          <a:ln/>
        </p:spPr>
        <p:txBody>
          <a:bodyPr wrap="square" lIns="0" tIns="0" rIns="0" bIns="0" rtlCol="0" anchor="ctr"/>
          <a:lstStyle/>
          <a:p>
            <a:pPr rtl="1" algn="r" indent="0" marL="0">
              <a:buNone/>
            </a:pPr>
            <a:r>
              <a:rPr lang="ar-SA" altLang="en-US" sz="1200" b="1" dirty="0">
                <a:solidFill>
                  <a:srgbClr val="1F2A37"/>
                </a:solidFill>
                <a:latin typeface="Amiri" pitchFamily="34" charset="0"/>
                <a:ea typeface="Amiri" pitchFamily="34" charset="-122"/>
                <a:cs typeface="Amiri" pitchFamily="34" charset="-120"/>
              </a:rPr>
              <a:t>التِّقْنِيَّةُ مُفِيدَةٌ إِلَى حَدٍّ مَا، شَرِيطَةَ أَنْ تُحْمَى البَيَانَاتُ.</a:t>
            </a:r>
            <a:endParaRPr lang="ar-SA" sz="1200" dirty="0"/>
          </a:p>
        </p:txBody>
      </p:sp>
      <p:sp>
        <p:nvSpPr>
          <p:cNvPr id="102" name="Shape 100"/>
          <p:cNvSpPr/>
          <p:nvPr/>
        </p:nvSpPr>
        <p:spPr>
          <a:xfrm>
            <a:off x="8278368" y="5574792"/>
            <a:ext cx="256032" cy="256032"/>
          </a:xfrm>
          <a:prstGeom prst="ellipse">
            <a:avLst/>
          </a:prstGeom>
          <a:solidFill>
            <a:srgbClr val="C9CED6"/>
          </a:solidFill>
          <a:ln w="12700">
            <a:solidFill>
              <a:srgbClr val="C9CED6"/>
            </a:solidFill>
            <a:prstDash val="solid"/>
          </a:ln>
        </p:spPr>
      </p:sp>
      <p:sp>
        <p:nvSpPr>
          <p:cNvPr id="103" name="Text 101"/>
          <p:cNvSpPr txBox="1"/>
          <p:nvPr/>
        </p:nvSpPr>
        <p:spPr>
          <a:xfrm>
            <a:off x="8278368"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104" name="Text 102"/>
          <p:cNvSpPr txBox="1"/>
          <p:nvPr/>
        </p:nvSpPr>
        <p:spPr>
          <a:xfrm>
            <a:off x="8607552" y="5516880"/>
            <a:ext cx="2977896" cy="371856"/>
          </a:xfrm>
          <a:prstGeom prst="rect">
            <a:avLst/>
          </a:prstGeom>
          <a:noFill/>
          <a:ln/>
        </p:spPr>
        <p:txBody>
          <a:bodyPr wrap="square" lIns="0" tIns="0" rIns="0" bIns="0" rtlCol="0" anchor="ctr"/>
          <a:lstStyle/>
          <a:p>
            <a:pPr rtl="1" algn="r" indent="0" marL="0">
              <a:buNone/>
            </a:pPr>
            <a:r>
              <a:rPr lang="ar-SA" altLang="en-US" sz="1200" dirty="0">
                <a:solidFill>
                  <a:srgbClr val="9AA1AB"/>
                </a:solidFill>
                <a:latin typeface="Amiri" pitchFamily="34" charset="0"/>
                <a:ea typeface="Amiri" pitchFamily="34" charset="-122"/>
                <a:cs typeface="Amiri" pitchFamily="34" charset="-120"/>
              </a:rPr>
              <a:t>التِّقْنِيَّةُ غَيْرُ مُفِيدَةٍ لِأَنَّهَا تِقْنِيَّةٌ.</a:t>
            </a:r>
            <a:endParaRPr lang="ar-SA" sz="1200" dirty="0"/>
          </a:p>
        </p:txBody>
      </p:sp>
      <p:sp>
        <p:nvSpPr>
          <p:cNvPr id="105" name="Text 103"/>
          <p:cNvSpPr txBox="1"/>
          <p:nvPr/>
        </p:nvSpPr>
        <p:spPr>
          <a:xfrm>
            <a:off x="8223504"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first qualifies the judgement and sets a condition.</a:t>
            </a:r>
            <a:endParaRPr lang="en-US" sz="1050" dirty="0"/>
          </a:p>
        </p:txBody>
      </p:sp>
      <p:sp>
        <p:nvSpPr>
          <p:cNvPr id="106" name="Text 10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43 / 45</a:t>
            </a:r>
            <a:endParaRPr lang="en-US" sz="85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D4-L11 · Unit Review</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ea typeface="Calibri" pitchFamily="34" charset="-122"/>
                <a:cs typeface="Calibri" pitchFamily="34" charset="-120"/>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ea typeface="Cambria" pitchFamily="34" charset="-122"/>
                <a:cs typeface="Cambria" pitchFamily="34" charset="-120"/>
              </a:rPr>
              <a:t>Before D4-L12: get ready at home</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D4 · Environment, Weather and Technology · D4-L11</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ea typeface="Calibri" pitchFamily="34" charset="-122"/>
                <a:cs typeface="Calibri" pitchFamily="34" charset="-120"/>
              </a:rPr>
              <a:t>LEARN THESE 5 WORDS</a:t>
            </a:r>
            <a:endParaRPr lang="en-US" sz="1100" dirty="0"/>
          </a:p>
          <a:p>
            <a:pPr indent="0" marL="0">
              <a:buNone/>
            </a:pPr>
            <a:r>
              <a:rPr lang="en-US" sz="1000" dirty="0">
                <a:solidFill>
                  <a:srgbClr val="5A6472"/>
                </a:solidFill>
                <a:latin typeface="Calibri" pitchFamily="34" charset="0"/>
                <a:ea typeface="Calibri" pitchFamily="34" charset="-122"/>
                <a:cs typeface="Calibri" pitchFamily="34" charset="-120"/>
              </a:rPr>
              <a:t>for D4-L12 · D4 Review and Unit Assessment</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تَقْيِيمٌ</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an assessment</a:t>
            </a:r>
            <a:pPr indent="0" marL="0">
              <a:buNone/>
            </a:pPr>
            <a:r>
              <a:rPr lang="en-US" sz="1000" i="1" dirty="0">
                <a:solidFill>
                  <a:srgbClr val="5A6472"/>
                </a:solidFill>
                <a:latin typeface="Calibri" pitchFamily="34" charset="0"/>
                <a:ea typeface="Calibri" pitchFamily="34" charset="-122"/>
                <a:cs typeface="Calibri" pitchFamily="34" charset="-120"/>
              </a:rPr>
              <a:t>  pl. تَقْيِيمَاتٌ</a:t>
            </a: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فَهْمُ المَسْمُوعِ</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listening comprehension</a:t>
            </a:r>
            <a:pPr indent="0" marL="0">
              <a:buNone/>
            </a:pPr>
            <a:r>
              <a:rPr lang="en-US" sz="1000" i="1" dirty="0">
                <a:solidFill>
                  <a:srgbClr val="5A6472"/>
                </a:solidFill>
                <a:latin typeface="Calibri" pitchFamily="34" charset="0"/>
                <a:ea typeface="Calibri" pitchFamily="34" charset="-122"/>
                <a:cs typeface="Calibri" pitchFamily="34" charset="-120"/>
              </a:rPr>
              <a:t>  —</a:t>
            </a: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فَهْمُ المَقْرُوءِ</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reading comprehension</a:t>
            </a:r>
            <a:pPr indent="0" marL="0">
              <a:buNone/>
            </a:pPr>
            <a:r>
              <a:rPr lang="en-US" sz="1000" i="1" dirty="0">
                <a:solidFill>
                  <a:srgbClr val="5A6472"/>
                </a:solidFill>
                <a:latin typeface="Calibri" pitchFamily="34" charset="0"/>
                <a:ea typeface="Calibri" pitchFamily="34" charset="-122"/>
                <a:cs typeface="Calibri" pitchFamily="34" charset="-120"/>
              </a:rPr>
              <a:t>  —</a:t>
            </a: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مَعَايِيرُ التَّصْحِيحِ</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marking criteria</a:t>
            </a:r>
            <a:pPr indent="0" marL="0">
              <a:buNone/>
            </a:pPr>
            <a:r>
              <a:rPr lang="en-US" sz="1000" i="1" dirty="0">
                <a:solidFill>
                  <a:srgbClr val="5A6472"/>
                </a:solidFill>
                <a:latin typeface="Calibri" pitchFamily="34" charset="0"/>
                <a:ea typeface="Calibri" pitchFamily="34" charset="-122"/>
                <a:cs typeface="Calibri" pitchFamily="34" charset="-120"/>
              </a:rPr>
              <a:t>  sing. مِعْيَارٌ</a:t>
            </a: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أُرَاجِعُ إِجَابَتِي</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I check my answer</a:t>
            </a:r>
            <a:pPr indent="0" marL="0">
              <a:buNone/>
            </a:pPr>
            <a:r>
              <a:rPr lang="en-US" sz="1000" i="1" dirty="0">
                <a:solidFill>
                  <a:srgbClr val="5A6472"/>
                </a:solidFill>
                <a:latin typeface="Calibri" pitchFamily="34" charset="0"/>
                <a:ea typeface="Calibri" pitchFamily="34" charset="-122"/>
                <a:cs typeface="Calibri" pitchFamily="34" charset="-120"/>
              </a:rPr>
              <a:t>  تُرَاجِعُ she</a:t>
            </a: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ea typeface="Calibri" pitchFamily="34" charset="-122"/>
                <a:cs typeface="Calibri" pitchFamily="34" charset="-120"/>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ea typeface="Calibri" pitchFamily="34" charset="-122"/>
                <a:cs typeface="Calibri" pitchFamily="34" charset="-120"/>
              </a:rPr>
              <a:t>Write your D4 chain from memory: one sentence each for climate, problem, solution and judgement.</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lnSpc>
                <a:spcPct val="120000"/>
              </a:lnSpc>
              <a:buNone/>
            </a:pPr>
            <a:r>
              <a:rPr lang="ar-SA" altLang="en-US" sz="1700" b="1" dirty="0">
                <a:solidFill>
                  <a:srgbClr val="1B3B6F"/>
                </a:solidFill>
                <a:latin typeface="Amiri" pitchFamily="34" charset="0"/>
                <a:ea typeface="Amiri" pitchFamily="34" charset="-122"/>
                <a:cs typeface="Amiri" pitchFamily="34" charset="-120"/>
              </a:rPr>
              <a:t>يَسُودُ … · يُلَوَّثُ … بِسَبَبِ … · يَجِبُ عَلَى … أَنْ … لِكَيْ … · شَرِيطَةَ أَنْ …</a:t>
            </a:r>
            <a:endParaRPr lang="ar-SA"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Learn the five chain frames and the five assessment words; redo today’s exit ticket.</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The full chain in 100–120 words, checked with the three classic slips.</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Website writing task (130–140 words) + count and label your D4 features.</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44 / 45</a:t>
            </a:r>
            <a:endParaRPr lang="en-US" sz="85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ea typeface="Calibri" pitchFamily="34" charset="-122"/>
                <a:cs typeface="Calibri" pitchFamily="34" charset="-120"/>
              </a:rPr>
              <a:t>D4-L11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34" charset="0"/>
                <a:ea typeface="Amiri" pitchFamily="34" charset="-122"/>
                <a:cs typeface="Amiri" pitchFamily="34" charset="-120"/>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ea typeface="Calibri" pitchFamily="34" charset="-122"/>
                <a:cs typeface="Calibri" pitchFamily="34" charset="-120"/>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ea typeface="Calibri" pitchFamily="34" charset="-122"/>
                <a:cs typeface="Calibri" pitchFamily="34" charset="-120"/>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2400" b="1" dirty="0">
                <a:solidFill>
                  <a:srgbClr val="FFFFFF"/>
                </a:solidFill>
                <a:latin typeface="Cambria" pitchFamily="34" charset="0"/>
                <a:ea typeface="Cambria" pitchFamily="34" charset="-122"/>
                <a:cs typeface="Cambria" pitchFamily="34" charset="-120"/>
              </a:rPr>
              <a:t>D4-L12 · D4 Review and Unit Assessment</a:t>
            </a:r>
            <a:endParaRPr lang="en-US" sz="240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34" charset="0"/>
                <a:ea typeface="Amiri" pitchFamily="34" charset="-122"/>
                <a:cs typeface="Amiri" pitchFamily="34" charset="-120"/>
              </a:rPr>
              <a:t>المُرَاجَعَةُ وَتَقْيِيمُ الوَحْدَةِ</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ea typeface="Calibri" pitchFamily="34" charset="-122"/>
                <a:cs typeface="Calibri" pitchFamily="34" charset="-120"/>
              </a:rPr>
              <a:t>Remember: build a CHAIN — climate → problem → cause → solution → judgement — and check -a after </a:t>
            </a:r>
            <a:pPr algn="l" indent="0" marL="0">
              <a:buNone/>
            </a:pPr>
            <a:r>
              <a:rPr lang="ar-SA" altLang="en-US" sz="1700" b="1" dirty="0">
                <a:solidFill>
                  <a:srgbClr val="FFFFFF"/>
                </a:solidFill>
                <a:latin typeface="Amiri" pitchFamily="34" charset="0"/>
                <a:ea typeface="Amiri" pitchFamily="34" charset="-122"/>
                <a:cs typeface="Amiri" pitchFamily="34" charset="-120"/>
              </a:rPr>
              <a:t>أَنْ</a:t>
            </a:r>
            <a:pPr algn="l" indent="0" marL="0">
              <a:buNone/>
            </a:pPr>
            <a:r>
              <a:rPr lang="en-US" sz="1300" b="1" dirty="0">
                <a:solidFill>
                  <a:srgbClr val="FFFFFF"/>
                </a:solidFill>
                <a:latin typeface="Calibri" pitchFamily="34" charset="0"/>
                <a:ea typeface="Calibri" pitchFamily="34" charset="-122"/>
                <a:cs typeface="Calibri" pitchFamily="34" charset="-120"/>
              </a:rPr>
              <a:t>, </a:t>
            </a:r>
            <a:pPr algn="l" indent="0" marL="0">
              <a:buNone/>
            </a:pPr>
            <a:r>
              <a:rPr lang="ar-SA" altLang="en-US" sz="1700" b="1" dirty="0">
                <a:solidFill>
                  <a:srgbClr val="FFFFFF"/>
                </a:solidFill>
                <a:latin typeface="Amiri" pitchFamily="34" charset="0"/>
                <a:ea typeface="Amiri" pitchFamily="34" charset="-122"/>
                <a:cs typeface="Amiri" pitchFamily="34" charset="-120"/>
              </a:rPr>
              <a:t>لِكَيْ</a:t>
            </a:r>
            <a:pPr algn="l" indent="0" marL="0">
              <a:buNone/>
            </a:pPr>
            <a:r>
              <a:rPr lang="en-US" sz="1300" b="1" dirty="0">
                <a:solidFill>
                  <a:srgbClr val="FFFFFF"/>
                </a:solidFill>
                <a:latin typeface="Calibri" pitchFamily="34" charset="0"/>
                <a:ea typeface="Calibri" pitchFamily="34" charset="-122"/>
                <a:cs typeface="Calibri" pitchFamily="34" charset="-120"/>
              </a:rPr>
              <a:t> and </a:t>
            </a:r>
            <a:pPr algn="l" indent="0" marL="0">
              <a:buNone/>
            </a:pPr>
            <a:r>
              <a:rPr lang="ar-SA" altLang="en-US" sz="1700" b="1" dirty="0">
                <a:solidFill>
                  <a:srgbClr val="FFFFFF"/>
                </a:solidFill>
                <a:latin typeface="Amiri" pitchFamily="34" charset="0"/>
                <a:ea typeface="Amiri" pitchFamily="34" charset="-122"/>
                <a:cs typeface="Amiri" pitchFamily="34" charset="-120"/>
              </a:rPr>
              <a:t>أَنَّ</a:t>
            </a:r>
            <a:pPr algn="l" indent="0" marL="0">
              <a:buNone/>
            </a:pPr>
            <a:r>
              <a:rPr lang="en-US" sz="1300" b="1" dirty="0">
                <a:solidFill>
                  <a:srgbClr val="FFFFFF"/>
                </a:solidFill>
                <a:latin typeface="Calibri" pitchFamily="34" charset="0"/>
                <a:ea typeface="Calibri" pitchFamily="34" charset="-122"/>
                <a:cs typeface="Calibri" pitchFamily="34" charset="-120"/>
              </a:rPr>
              <a:t>.</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45</Slides>
  <Notes>45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45</vt:i4>
      </vt:variant>
    </vt:vector>
  </HeadingPairs>
  <TitlesOfParts>
    <vt:vector size="4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D4-L11 · D4 Consolidation — Range Mastery and Speaking Preparation</dc:title>
  <dc:subject>PptxGenJS Presentation</dc:subject>
  <dc:creator>Al Madina Online School · Arabic Department</dc:creator>
  <cp:lastModifiedBy>Al Madina Online School · Arabic Department</cp:lastModifiedBy>
  <cp:revision>1</cp:revision>
  <dcterms:created xsi:type="dcterms:W3CDTF">2026-10-03T06:01:00Z</dcterms:created>
  <dcterms:modified xsi:type="dcterms:W3CDTF">2026-10-03T06:01:00Z</dcterms:modified>
</cp:coreProperties>
</file>