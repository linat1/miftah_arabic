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D4-L09. The website lesson “Writing — Environment and Technology Article”: vocabulary, grammar rules and quiz, patterns, common mistakes, sorter, listening, reading, speaking prompts and model, writing task and model, differentiation, final check and the lesson mission. Picture match: website visual game “Writing — Environment and Technology Article”.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supported 70–90-word article with one frame per paragraph (question · argument + example · “however” · conclusion). Develop: 130–140 words, four paragraphs, one concession and one purpose clause. Stretch: a balanced argument with a qualified judgement (شَرِيطَةَ أَنْ …) and a self-audit against the website checklist.
• Key message from the website: a range feature earns marks ONLY when it adds meaning — no “feature dumping”.
• Builds on D3-L09 (four-paragraph career text) and the D4 language: passive reporting (L03/L06/L08), conditions (L07), statistics (L08).
• TEACHER-WRITTEN ITEMS: English added to the website model sentences and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D4-L08. Question 4 retrieves D4-L08 (source); question 5 retrieves purpose + subjunctive.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paragraph does ONE job, and every connector must do a job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مثال، خاتمہ، حجت are shared. CAREFUL: Urdu مقدمہ often means a court case — Arabic مُقَدِّمَةٌ is an introduction. Urdu دلیل = an argument you make; Arabic دَلِيلٌ = the proof / evidence that supports it (the argument is حُجَّةٌ).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Academic organisation (website vocabulary (1 of 2)). Hear → Say → See → Use. Transliteration is printed for Core students (cover it for Develop/Stretch).
Academic organisation: the words examiners use about an article. التَّرَابُطُ (cohesion), التَّنَوُّعُ اللُّغَوِيُّ (range) and الدِّقَّةُ (accuracy) are the three things they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Academic organisation (website vocabulary (2 of 2)). Hear → Say → See → Use. Transliteration is printed for Core students (cover it for Develop/Stretch).
Academic organisation: the words examiners use about an article. التَّرَابُطُ (cohesion), التَّنَوُّعُ اللُّغَوِيُّ (range) and الدِّقَّةُ (accuracy) are the three things they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Formal connectors (website vocabulary (1 of 2)). Hear → Say → See → Use. Transliteration is printed for Core students (cover it for Develop/Stretch).
Formal connectors: each one has ONE job — add (عَلَاوَةً عَلَى ذٰلِكَ), contrast (مَعَ ذٰلِكَ), concede (عَلَى الرَّغْمِ مِنْ أَنَّ), result (نَتِيجَةً لِذٰلِكَ), end (فِي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Formal connectors (website vocabulary (2 of 2)). Hear → Say → See → Use. Transliteration is printed for Core students (cover it for Develop/Stretch).
Formal connectors: each one has ONE job — add (عَلَاوَةً عَلَى ذٰلِكَ), contrast (مَعَ ذٰلِكَ), concede (عَلَى الرَّغْمِ مِنْ أَنَّ), result (نَتِيجَةً لِذٰلِكَ), end (فِي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Range features (website vocabulary). Hear → Say → See → Use. Transliteration is printed for Core students (cover it for Develop/Stretch).
Range features: a checklist of structures to include — but only where they add meaning (the website warns against “feature dumping”).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“Paragraph logic” and the website listening (“decide your position, organise your ideas in three paragraphs … the conclusion must answer the question and bring together the main points without literal repetition”). Model sentences are from the website writing model.
Core: rows 1, 2 and 5 are enough for a supported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“Concession and response” (the response should genuinely contrast with the concession), “Purpose within an argument” (use purpose where the second action is genuinely intended by the first) and “Avoid feature dumping” (a correct range feature earns value only when it contributes to the topic and sentence meaning). All three examples are the website’s.
Ask: what would be WRONG with …لِكَيْ نَزِيدَ الانْبِعَاثَاتِ؟ (the purpose is illogical — website mistake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 Paragraph logic: A paragraph must develop one idea rather than list unrelated sophisticated phrases.
• Concession and response: The response should genuinely contrast with the concession.
• Purpose within an argument: Use purpose where the second action is genuinely intended by the first.
• Avoid feature dumping: A correct range feature earns value only when it contributes to the topic and sentence meaning.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plan → draft → improve cycle on paragraph 2, then the opening of the website model article in the copy box (the full model is on the Write slides: ≈ 85 words, a strong Develop model; students add one more example or a concession to reach 130–140). Students label: thesis question · argument · example · counterargument · judgement ·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item from each column and use it in a sentence about smart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item from each column and use it in a sentence about smart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6. Develop / Stretch: all 6, then use the advice as your own plan.
Listen 1: just listen. Listen 2: note answers. Then chat the letters.
Support: after the second listening, show the read-along slide (Arabic + English, line by line) for Core students.
SCRIPT (read aloud):
قَبْلَ أَنْ تَكْتُبَ مَقَالًا، حَدِّدْ مَوْقِفَكَ وَنَظِّمْ أَفْكَارَكَ فِي ثَلَاثِ فِقَرٍ. فِي الفِقْرَةِ الأُولَى، قَدِّمْ حُجَّتَكَ الرَّئِيسِيَّةَ مَعَ مِثَالٍ مُحَدَّدٍ. وَفِي الثَّانِيَةِ، أَضِفْ دَلِيلًا أَوْ نَتِيجَةً، ثُمَّ اعْرِضْ حُجَّةً مُضَادَّةً بِاسْتِخْدَامِ مَعَ ذٰلِكَ أَوْ عَلَى الرَّغْمِ مِنْ أَنَّ. أَمَّا الخَاتِمَةُ فَيَجِبُ أَنْ تُجِيبَ عَنِ السُّؤَالِ وَتَجْمَعَ بَيْنَ أَهَمِّ النِّقَاطِ دُونَ تَكْرَارٍ حَرْفِيٍّ.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rehearse and defend a thesis aloud before drafting. Pairs: 60 seconds each; the partner asks the counterargument question. To a girl: مَا مَوْقِفُكِ؟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a 130–140-word Arabic article on climate change, AI and the environment, or sustainable cities.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هَلْ يُمْكِنُ …؟ · مِنْ نَاحِيَةٍ، يُسْتَخْدَمُ لِـ … · وَعَلَاوَةً عَلَى ذٰلِكَ · فَمَثَلًا · مِنْ نَاحِيَةٍ أُخْرَى · عَلَى الرَّغْمِ مِنْ هٰذِهِ التَّحَدِّيَاتِ، أَرَى أَنَّ … شَرِيطَةَ أَنْ … · فِي الخِتَامِ … وَلٰكِنَّهَا لَا تَسْتَبْدِلُ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(D4-L10 · Listening — Environment and Technology News) will spend class time USING this language, so students prepare it tonight — short, simple, easy to access (school guidance: “Simple, Short, Interesting, Relevant, Easy to access”). The five words come from the website D4-L10 vocabulary (news and reporting language).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 Environment and Technology Article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الكِتَابَةُ — مَقَالٌ عَنِ البِيئَةِ وَالتِّقْنِيَّةِ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and write a 130–140-word article with a clear position: introduction + thesis · argument + example · counterargument · conclusion that synthesises — using connectors and range features only where they add meaning.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D4-L09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Paragraph logic, concession, purpose and meaningful range.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toolkit, fix stacked connectors, then hear how to structure an article.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حُجَّةٌ مُضَادَّةٌ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counterargument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introduction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عَلَاوَةً عَلَى ذٰلِكَ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addition, moreover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however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conclusion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خَاتِمَةٌ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paragraph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a SOURCE?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لِذٰلِكَ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الخِتَامِ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وَفْقًا لِلتَّقْرِيرِ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نَزْرَعُ الأَشْجَارَ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الهَوَاءَ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نُحَسِّنَ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نُحَسِّنُ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حَسَّنَّا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حُجَّةٌ مُضَادَّةٌ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conclusion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counterargument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introduction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عَلَاوَةً عَلَى ذٰلِكَ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addition, moreover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however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conclusion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خَاتِمَةٌ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paragraph</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evidence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conclusion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a SOURCE?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لِذٰلِكَ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الخِتَامِ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وَفْقًا لِلتَّقْرِيرِ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D4-L08.</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نَزْرَعُ الأَشْجَارَ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الهَوَاءَ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نُحَسِّنَ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نُحَسِّنُ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حَسَّنَّا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D4-L04: after li-kay the verb ends in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Every paragraph does ONE job, and every connector must do a job too.</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مِنْ نَاحِيَةٍ</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عَلَاوَةً عَلَى ذٰلِكَ</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مِنْ نَاحِيَةٍ أُخْرَى</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فِي الخِتَامِ</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 paragraph: claim → explanation → evidence → link.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genuine concession: </a:t>
            </a:r>
            <a:pPr algn="l" indent="0" marL="0">
              <a:buNone/>
            </a:pPr>
            <a:r>
              <a:rPr lang="ar-SA" altLang="en-US" sz="1700" dirty="0">
                <a:solidFill>
                  <a:srgbClr val="1F2A37"/>
                </a:solidFill>
                <a:latin typeface="Amiri" pitchFamily="2" charset="-78"/>
                <a:ea typeface="Amiri" pitchFamily="2" charset="-78"/>
                <a:cs typeface="Amiri" pitchFamily="2" charset="-78"/>
              </a:rPr>
              <a:t>عَلَى الرَّغْمِ مِنْ أَنَّ … فَإِنَّ</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purpose (</a:t>
            </a:r>
            <a:pPr algn="l" indent="0" marL="0">
              <a:buNone/>
            </a:pPr>
            <a:r>
              <a:rPr lang="ar-SA" altLang="en-US" sz="1700" dirty="0">
                <a:solidFill>
                  <a:srgbClr val="1F2A37"/>
                </a:solidFill>
                <a:latin typeface="Amiri" pitchFamily="2" charset="-78"/>
                <a:ea typeface="Amiri" pitchFamily="2" charset="-78"/>
                <a:cs typeface="Amiri" pitchFamily="2" charset="-78"/>
              </a:rPr>
              <a:t>لِكَيْ</a:t>
            </a:r>
            <a:pPr algn="l" indent="0" marL="0">
              <a:buNone/>
            </a:pPr>
            <a:r>
              <a:rPr lang="en-US" sz="1300" dirty="0">
                <a:solidFill>
                  <a:srgbClr val="1F2A37"/>
                </a:solidFill>
                <a:latin typeface="Calibri" pitchFamily="34" charset="0"/>
                <a:cs typeface="Amiri" pitchFamily="2" charset="-78"/>
              </a:rPr>
              <a:t> + subjunctive) where it adds meaning.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130–140-word article with a clear position and a conclusion that synthesises.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four short paragraphs with frames.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state my opinion with a reason.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build a paragraph with an example.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 concession and a purpose clause.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balanced, qualified argument.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audit my draft and improve it.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Academic organisation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Formal connectors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Range features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مُقَدِّمَةٌ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‎مقدمہ‎ </a:t>
            </a:r>
            <a:pPr indent="0" marL="0">
              <a:buNone/>
            </a:pPr>
            <a:r>
              <a:rPr lang="en-US" sz="950" b="1" dirty="0">
                <a:solidFill>
                  <a:srgbClr val="2E8B57"/>
                </a:solidFill>
                <a:latin typeface="Calibri" pitchFamily="34" charset="0"/>
                <a:cs typeface="Amiri" pitchFamily="2" charset="-78"/>
              </a:rPr>
              <a:t> muqaddama · Urdu: preface / lawsuit · Arabic: introduction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دَلِيلٌ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Urdu: argument · Arabic: evidence, proof</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حُجَّةٌ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‎حجت‎ </a:t>
            </a:r>
            <a:pPr indent="0" marL="0">
              <a:buNone/>
            </a:pPr>
            <a:r>
              <a:rPr lang="en-US" sz="950" b="1" dirty="0">
                <a:solidFill>
                  <a:srgbClr val="2E8B57"/>
                </a:solidFill>
                <a:latin typeface="Calibri" pitchFamily="34" charset="0"/>
                <a:cs typeface="Amiri" pitchFamily="2" charset="-78"/>
              </a:rPr>
              <a:t> ḥujjat · argument, proof</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خَاتِمَةٌ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‎خاتمہ‎ </a:t>
            </a:r>
            <a:pPr indent="0" marL="0">
              <a:buNone/>
            </a:pPr>
            <a:r>
              <a:rPr lang="en-US" sz="950" b="1" dirty="0">
                <a:solidFill>
                  <a:srgbClr val="2E8B57"/>
                </a:solidFill>
                <a:latin typeface="Calibri" pitchFamily="34" charset="0"/>
                <a:cs typeface="Amiri" pitchFamily="2" charset="-78"/>
              </a:rPr>
              <a:t> khātima · conclusion, ending</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مِثَالٌ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organisation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مُقَدِّمَةٌ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introduction</a:t>
            </a:r>
            <a:endParaRPr lang="en-US" sz="1350" dirty="0"/>
          </a:p>
          <a:p>
            <a:pPr indent="0" marL="0">
              <a:buNone/>
            </a:pPr>
            <a:r>
              <a:rPr lang="en-US" sz="1100" i="1" dirty="0">
                <a:solidFill>
                  <a:srgbClr val="5A6472"/>
                </a:solidFill>
                <a:latin typeface="Calibri" pitchFamily="34" charset="0"/>
                <a:cs typeface="Amiri" pitchFamily="2" charset="-78"/>
              </a:rPr>
              <a:t>mu-qad-di-ma-tun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فِقْرَةٌ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paragraph</a:t>
            </a:r>
            <a:endParaRPr lang="en-US" sz="1350" dirty="0"/>
          </a:p>
          <a:p>
            <a:pPr indent="0" marL="0">
              <a:buNone/>
            </a:pPr>
            <a:r>
              <a:rPr lang="en-US" sz="1100" i="1" dirty="0">
                <a:solidFill>
                  <a:srgbClr val="5A6472"/>
                </a:solidFill>
                <a:latin typeface="Calibri" pitchFamily="34" charset="0"/>
                <a:cs typeface="Amiri" pitchFamily="2" charset="-78"/>
              </a:rPr>
              <a:t>fiq-ra-tun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حُجَّةٌ رَئِيسِيَّةٌ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main argument</a:t>
            </a:r>
            <a:endParaRPr lang="en-US" sz="1350" dirty="0"/>
          </a:p>
          <a:p>
            <a:pPr indent="0" marL="0">
              <a:buNone/>
            </a:pPr>
            <a:r>
              <a:rPr lang="en-US" sz="1100" i="1" dirty="0">
                <a:solidFill>
                  <a:srgbClr val="5A6472"/>
                </a:solidFill>
                <a:latin typeface="Calibri" pitchFamily="34" charset="0"/>
                <a:cs typeface="Amiri" pitchFamily="2" charset="-78"/>
              </a:rPr>
              <a:t>ḥuj-ja-tun ra-ʾī-siy-ya-tun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مِثَالٌ مُحَدَّدٌ</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specific example</a:t>
            </a:r>
            <a:endParaRPr lang="en-US" sz="1350" dirty="0"/>
          </a:p>
          <a:p>
            <a:pPr indent="0" marL="0">
              <a:buNone/>
            </a:pPr>
            <a:r>
              <a:rPr lang="en-US" sz="1100" i="1" dirty="0">
                <a:solidFill>
                  <a:srgbClr val="5A6472"/>
                </a:solidFill>
                <a:latin typeface="Calibri" pitchFamily="34" charset="0"/>
                <a:cs typeface="Amiri" pitchFamily="2" charset="-78"/>
              </a:rPr>
              <a:t>mi-thā-lun mu-ḥad-da-dun</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organisation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حُجَّةٌ مُضَادَّةٌ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counterargument</a:t>
            </a:r>
            <a:endParaRPr lang="en-US" sz="1350" dirty="0"/>
          </a:p>
          <a:p>
            <a:pPr indent="0" marL="0">
              <a:buNone/>
            </a:pPr>
            <a:r>
              <a:rPr lang="en-US" sz="1100" i="1" dirty="0">
                <a:solidFill>
                  <a:srgbClr val="5A6472"/>
                </a:solidFill>
                <a:latin typeface="Calibri" pitchFamily="34" charset="0"/>
                <a:cs typeface="Amiri" pitchFamily="2" charset="-78"/>
              </a:rPr>
              <a:t>ḥuj-ja-tun mu-ḍād-da-tun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خَاتِمَةٌ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conclusion</a:t>
            </a:r>
            <a:endParaRPr lang="en-US" sz="1350" dirty="0"/>
          </a:p>
          <a:p>
            <a:pPr indent="0" marL="0">
              <a:buNone/>
            </a:pPr>
            <a:r>
              <a:rPr lang="en-US" sz="1100" i="1" dirty="0">
                <a:solidFill>
                  <a:srgbClr val="5A6472"/>
                </a:solidFill>
                <a:latin typeface="Calibri" pitchFamily="34" charset="0"/>
                <a:cs typeface="Amiri" pitchFamily="2" charset="-78"/>
              </a:rPr>
              <a:t>khā-ti-ma-tun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التَّرَابُطُ</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cohesion</a:t>
            </a:r>
            <a:endParaRPr lang="en-US" sz="1350" dirty="0"/>
          </a:p>
          <a:p>
            <a:pPr indent="0" marL="0">
              <a:buNone/>
            </a:pPr>
            <a:r>
              <a:rPr lang="en-US" sz="1100" i="1" dirty="0">
                <a:solidFill>
                  <a:srgbClr val="5A6472"/>
                </a:solidFill>
                <a:latin typeface="Calibri" pitchFamily="34" charset="0"/>
                <a:cs typeface="Amiri" pitchFamily="2" charset="-78"/>
              </a:rPr>
              <a:t>at-ta-rā-bu-ṭu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التَّنَوُّعُ اللُّغَوِيُّ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linguistic range</a:t>
            </a:r>
            <a:endParaRPr lang="en-US" sz="1350" dirty="0"/>
          </a:p>
          <a:p>
            <a:pPr indent="0" marL="0">
              <a:buNone/>
            </a:pPr>
            <a:r>
              <a:rPr lang="en-US" sz="1100" i="1" dirty="0">
                <a:solidFill>
                  <a:srgbClr val="5A6472"/>
                </a:solidFill>
                <a:latin typeface="Calibri" pitchFamily="34" charset="0"/>
                <a:cs typeface="Amiri" pitchFamily="2" charset="-78"/>
              </a:rPr>
              <a:t>at-ta-naw-wu-ʿu all-lu-gha-wiy-yu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البِدَايَةِ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begin with</a:t>
            </a:r>
            <a:endParaRPr lang="en-US" sz="1350" dirty="0"/>
          </a:p>
          <a:p>
            <a:pPr indent="0" marL="0">
              <a:buNone/>
            </a:pPr>
            <a:r>
              <a:rPr lang="en-US" sz="1100" i="1" dirty="0">
                <a:solidFill>
                  <a:srgbClr val="5A6472"/>
                </a:solidFill>
                <a:latin typeface="Calibri" pitchFamily="34" charset="0"/>
                <a:cs typeface="Amiri" pitchFamily="2" charset="-78"/>
              </a:rPr>
              <a:t>fī al-bi-dā-ya-ti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عَلَاوَةً عَلَى 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ʿa-lā-wa-tan ʿa-lā 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فَضْلًا عَنْ ذٰلِكَ</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moreover</a:t>
            </a:r>
            <a:endParaRPr lang="en-US" sz="1350" dirty="0"/>
          </a:p>
          <a:p>
            <a:pPr indent="0" marL="0">
              <a:buNone/>
            </a:pPr>
            <a:r>
              <a:rPr lang="en-US" sz="1100" i="1" dirty="0">
                <a:solidFill>
                  <a:srgbClr val="5A6472"/>
                </a:solidFill>
                <a:latin typeface="Calibri" pitchFamily="34" charset="0"/>
                <a:cs typeface="Amiri" pitchFamily="2" charset="-78"/>
              </a:rPr>
              <a:t>faḍ-lan ʿan dhā-li-ka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ذٰلِكَ</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nevertheless</a:t>
            </a:r>
            <a:endParaRPr lang="en-US" sz="1350" dirty="0"/>
          </a:p>
          <a:p>
            <a:pPr indent="0" marL="0">
              <a:buNone/>
            </a:pPr>
            <a:r>
              <a:rPr lang="en-US" sz="1100" i="1" dirty="0">
                <a:solidFill>
                  <a:srgbClr val="5A6472"/>
                </a:solidFill>
                <a:latin typeface="Calibri" pitchFamily="34" charset="0"/>
                <a:cs typeface="Amiri" pitchFamily="2" charset="-78"/>
              </a:rPr>
              <a:t>ma-ʿa dhā-li-ka</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نَاحِيَةٍ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nā-ḥi-ya-tin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نَاحِيَةٍ أُخْرَى</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nā-ḥi-ya-tin ukh-rā</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الخِتَامِ</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conclusion</a:t>
            </a:r>
            <a:endParaRPr lang="en-US" sz="1350" dirty="0"/>
          </a:p>
          <a:p>
            <a:pPr indent="0" marL="0">
              <a:buNone/>
            </a:pPr>
            <a:r>
              <a:rPr lang="en-US" sz="1100" i="1" dirty="0">
                <a:solidFill>
                  <a:srgbClr val="5A6472"/>
                </a:solidFill>
                <a:latin typeface="Calibri" pitchFamily="34" charset="0"/>
                <a:cs typeface="Amiri" pitchFamily="2" charset="-78"/>
              </a:rPr>
              <a:t>fī al-khi-tā-mi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Range features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مَبْنِيٌّ لِلْمَجْهُولِ</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passive</a:t>
            </a:r>
            <a:endParaRPr lang="en-US" sz="1350" dirty="0"/>
          </a:p>
          <a:p>
            <a:pPr indent="0" marL="0">
              <a:buNone/>
            </a:pPr>
            <a:r>
              <a:rPr lang="en-US" sz="1100" i="1" dirty="0">
                <a:solidFill>
                  <a:srgbClr val="5A6472"/>
                </a:solidFill>
                <a:latin typeface="Calibri" pitchFamily="34" charset="0"/>
                <a:cs typeface="Amiri" pitchFamily="2" charset="-78"/>
              </a:rPr>
              <a:t>mab-niy-yun lil-maj-hū-li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سَبَبٌ وَنَتِيجَةٌ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cause and effect</a:t>
            </a:r>
            <a:endParaRPr lang="en-US" sz="1350" dirty="0"/>
          </a:p>
          <a:p>
            <a:pPr indent="0" marL="0">
              <a:buNone/>
            </a:pPr>
            <a:r>
              <a:rPr lang="en-US" sz="1100" i="1" dirty="0">
                <a:solidFill>
                  <a:srgbClr val="5A6472"/>
                </a:solidFill>
                <a:latin typeface="Calibri" pitchFamily="34" charset="0"/>
                <a:cs typeface="Amiri" pitchFamily="2" charset="-78"/>
              </a:rPr>
              <a:t>sa-ba-bun wa-na-tī-ja-tun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 + مَنْصُوبٌ</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purpose + subjunctive</a:t>
            </a:r>
            <a:endParaRPr lang="en-US" sz="1350" dirty="0"/>
          </a:p>
          <a:p>
            <a:pPr indent="0" marL="0">
              <a:buNone/>
            </a:pPr>
            <a:r>
              <a:rPr lang="en-US" sz="1100" i="1" dirty="0">
                <a:solidFill>
                  <a:srgbClr val="5A6472"/>
                </a:solidFill>
                <a:latin typeface="Calibri" pitchFamily="34" charset="0"/>
                <a:cs typeface="Amiri" pitchFamily="2" charset="-78"/>
              </a:rPr>
              <a:t>li-kay + man-ṣū-bun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مُقَارَنَةٌ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comparison</a:t>
            </a:r>
            <a:endParaRPr lang="en-US" sz="1350" dirty="0"/>
          </a:p>
          <a:p>
            <a:pPr indent="0" marL="0">
              <a:buNone/>
            </a:pPr>
            <a:r>
              <a:rPr lang="en-US" sz="1100" i="1" dirty="0">
                <a:solidFill>
                  <a:srgbClr val="5A6472"/>
                </a:solidFill>
                <a:latin typeface="Calibri" pitchFamily="34" charset="0"/>
                <a:cs typeface="Amiri" pitchFamily="2" charset="-78"/>
              </a:rPr>
              <a:t>mu-qā-ra-na-tun</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رَأْيٌ مُعَلَّلٌ</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justified opinion</a:t>
            </a:r>
            <a:endParaRPr lang="en-US" sz="1350" dirty="0"/>
          </a:p>
          <a:p>
            <a:pPr indent="0" marL="0">
              <a:buNone/>
            </a:pPr>
            <a:r>
              <a:rPr lang="en-US" sz="1100" i="1" dirty="0">
                <a:solidFill>
                  <a:srgbClr val="5A6472"/>
                </a:solidFill>
                <a:latin typeface="Calibri" pitchFamily="34" charset="0"/>
                <a:cs typeface="Amiri" pitchFamily="2" charset="-78"/>
              </a:rPr>
              <a:t>raʾ-yun mu-ʿal-la-lun</a:t>
            </a:r>
            <a:endParaRPr lang="en-US" sz="1350" dirty="0"/>
          </a:p>
        </p:txBody>
      </p:sp>
      <p:sp>
        <p:nvSpPr>
          <p:cNvPr id="40" name="Shape 3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3" name="Text 4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حُجَّةٌ مُتَوَازِنَةٌ</a:t>
            </a:r>
            <a:endParaRPr lang="ar-SA" sz="3000" dirty="0"/>
          </a:p>
        </p:txBody>
      </p:sp>
      <p:sp>
        <p:nvSpPr>
          <p:cNvPr id="44" name="Text 4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balanced argument</a:t>
            </a:r>
            <a:endParaRPr lang="en-US" sz="1350" dirty="0"/>
          </a:p>
          <a:p>
            <a:pPr indent="0" marL="0">
              <a:buNone/>
            </a:pPr>
            <a:r>
              <a:rPr lang="en-US" sz="1100" i="1" dirty="0">
                <a:solidFill>
                  <a:srgbClr val="5A6472"/>
                </a:solidFill>
                <a:latin typeface="Calibri" pitchFamily="34" charset="0"/>
                <a:cs typeface="Amiri" pitchFamily="2" charset="-78"/>
              </a:rPr>
              <a:t>ḥuj-ja-tun mu-ta-wā-zi-na-tun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GRAMMAR FOCUS · PART 1 · THE ARTICLE PLAN (WEBSITE LISTENING + READING MODEL)</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paragraphs, four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أَرْبَعُ فِقَرٍ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Connector</a:t>
            </a:r>
            <a:endParaRPr lang="en-US" sz="1100" dirty="0"/>
          </a:p>
        </p:txBody>
      </p:sp>
      <p:sp>
        <p:nvSpPr>
          <p:cNvPr id="17" name="Text 14"/>
          <p:cNvSpPr txBox="1"/>
          <p:nvPr/>
        </p:nvSpPr>
        <p:spPr>
          <a:xfrm>
            <a:off x="27249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 (website)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26880" y="2267712"/>
            <a:ext cx="23134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البِدَايَةِ</a:t>
            </a:r>
            <a:endParaRPr lang="ar-SA" sz="2000" dirty="0"/>
          </a:p>
        </p:txBody>
      </p:sp>
      <p:sp>
        <p:nvSpPr>
          <p:cNvPr id="21" name="Text 18"/>
          <p:cNvSpPr txBox="1"/>
          <p:nvPr/>
        </p:nvSpPr>
        <p:spPr>
          <a:xfrm>
            <a:off x="2743200" y="2286000"/>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هَلْ يُمْكِنُ لِلذَّكَاءِ الاصْطِنَاعِيِّ أَنْ يُسَاعِدَ البِيئَةَ؟</a:t>
            </a:r>
            <a:endParaRPr lang="ar-SA" sz="1950" dirty="0"/>
          </a:p>
        </p:txBody>
      </p:sp>
      <p:sp>
        <p:nvSpPr>
          <p:cNvPr id="22" name="Text 19"/>
          <p:cNvSpPr txBox="1"/>
          <p:nvPr/>
        </p:nvSpPr>
        <p:spPr>
          <a:xfrm>
            <a:off x="2697480" y="267699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Can AI help the environment?</a:t>
            </a:r>
            <a:endParaRPr lang="en-US" sz="950" dirty="0"/>
          </a:p>
        </p:txBody>
      </p:sp>
      <p:sp>
        <p:nvSpPr>
          <p:cNvPr id="23" name="Text 20"/>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question + thesis</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26880" y="3004718"/>
            <a:ext cx="23134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نَاحِيَةٍ</a:t>
            </a:r>
            <a:endParaRPr lang="ar-SA" sz="2000" dirty="0"/>
          </a:p>
        </p:txBody>
      </p:sp>
      <p:sp>
        <p:nvSpPr>
          <p:cNvPr id="28" name="Text 25"/>
          <p:cNvSpPr txBox="1"/>
          <p:nvPr/>
        </p:nvSpPr>
        <p:spPr>
          <a:xfrm>
            <a:off x="2743200" y="302300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يُسْتَخْدَمُ لِرَصْدِ تَلَوُّثِ الهَوَاءِ. فَمَثَلًا، …</a:t>
            </a:r>
            <a:endParaRPr lang="ar-SA" sz="1950" dirty="0"/>
          </a:p>
        </p:txBody>
      </p:sp>
      <p:sp>
        <p:nvSpPr>
          <p:cNvPr id="29" name="Text 26"/>
          <p:cNvSpPr txBox="1"/>
          <p:nvPr/>
        </p:nvSpPr>
        <p:spPr>
          <a:xfrm>
            <a:off x="2697480" y="3414004"/>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used to monitor air pollution. For example, …</a:t>
            </a:r>
            <a:endParaRPr lang="en-US" sz="950" dirty="0"/>
          </a:p>
        </p:txBody>
      </p:sp>
      <p:sp>
        <p:nvSpPr>
          <p:cNvPr id="30" name="Text 27"/>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argument + example</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26880" y="3741725"/>
            <a:ext cx="23134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عَلَاوَةً عَلَى ذٰلِكَ</a:t>
            </a:r>
            <a:endParaRPr lang="ar-SA" sz="2000" dirty="0"/>
          </a:p>
        </p:txBody>
      </p:sp>
      <p:sp>
        <p:nvSpPr>
          <p:cNvPr id="35" name="Text 32"/>
          <p:cNvSpPr txBox="1"/>
          <p:nvPr/>
        </p:nvSpPr>
        <p:spPr>
          <a:xfrm>
            <a:off x="2743200" y="3760013"/>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تُسَاعِدُ الأَنْظِمَةُ الذَّكِيَّةُ عَلَى تَقْلِيلِ هَدْرِ الطَّاقَةِ.</a:t>
            </a:r>
            <a:endParaRPr lang="ar-SA" sz="1950" dirty="0"/>
          </a:p>
        </p:txBody>
      </p:sp>
      <p:sp>
        <p:nvSpPr>
          <p:cNvPr id="36" name="Text 33"/>
          <p:cNvSpPr txBox="1"/>
          <p:nvPr/>
        </p:nvSpPr>
        <p:spPr>
          <a:xfrm>
            <a:off x="2697480" y="4151010"/>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Smart systems help reduce energy waste.</a:t>
            </a:r>
            <a:endParaRPr lang="en-US" sz="950" dirty="0"/>
          </a:p>
        </p:txBody>
      </p:sp>
      <p:sp>
        <p:nvSpPr>
          <p:cNvPr id="37" name="Text 34"/>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extra point</a:t>
            </a:r>
            <a:endParaRPr lang="en-US" sz="11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9326880" y="4478731"/>
            <a:ext cx="23134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نَاحِيَةٍ أُخْرَى</a:t>
            </a:r>
            <a:endParaRPr lang="ar-SA" sz="2000" dirty="0"/>
          </a:p>
        </p:txBody>
      </p:sp>
      <p:sp>
        <p:nvSpPr>
          <p:cNvPr id="40" name="Text 37"/>
          <p:cNvSpPr txBox="1"/>
          <p:nvPr/>
        </p:nvSpPr>
        <p:spPr>
          <a:xfrm>
            <a:off x="2743200" y="4497019"/>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قَدْ تَكُونُ التَّكْلِفَةُ مُرْتَفِعَةً.</a:t>
            </a:r>
            <a:endParaRPr lang="ar-SA" sz="1950" dirty="0"/>
          </a:p>
        </p:txBody>
      </p:sp>
      <p:sp>
        <p:nvSpPr>
          <p:cNvPr id="41" name="Text 38"/>
          <p:cNvSpPr txBox="1"/>
          <p:nvPr/>
        </p:nvSpPr>
        <p:spPr>
          <a:xfrm>
            <a:off x="2697480" y="488801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cost may be high.</a:t>
            </a:r>
            <a:endParaRPr lang="en-US" sz="950" dirty="0"/>
          </a:p>
        </p:txBody>
      </p:sp>
      <p:sp>
        <p:nvSpPr>
          <p:cNvPr id="42" name="Text 39"/>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counterargument</a:t>
            </a:r>
            <a:endParaRPr lang="en-US" sz="11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9326880" y="5215738"/>
            <a:ext cx="23134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الخِتَامِ</a:t>
            </a:r>
            <a:endParaRPr lang="ar-SA" sz="2000" dirty="0"/>
          </a:p>
        </p:txBody>
      </p:sp>
      <p:sp>
        <p:nvSpPr>
          <p:cNvPr id="45" name="Text 42"/>
          <p:cNvSpPr txBox="1"/>
          <p:nvPr/>
        </p:nvSpPr>
        <p:spPr>
          <a:xfrm>
            <a:off x="2743200" y="523402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هِيَ جُزْءٌ مِنَ الحَلِّ، وَلٰكِنَّهَا لَا تَكْفِي وَحْدَهَا.</a:t>
            </a:r>
            <a:endParaRPr lang="ar-SA" sz="1950" dirty="0"/>
          </a:p>
        </p:txBody>
      </p:sp>
      <p:sp>
        <p:nvSpPr>
          <p:cNvPr id="46" name="Text 43"/>
          <p:cNvSpPr txBox="1"/>
          <p:nvPr/>
        </p:nvSpPr>
        <p:spPr>
          <a:xfrm>
            <a:off x="2697480" y="5625023"/>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part of the solution, but not enough on its own.</a:t>
            </a:r>
            <a:endParaRPr lang="en-US" sz="950" dirty="0"/>
          </a:p>
        </p:txBody>
      </p:sp>
      <p:sp>
        <p:nvSpPr>
          <p:cNvPr id="47" name="Text 44"/>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conclusion</a:t>
            </a:r>
            <a:endParaRPr lang="en-US" sz="1100" dirty="0"/>
          </a:p>
        </p:txBody>
      </p:sp>
      <p:sp>
        <p:nvSpPr>
          <p:cNvPr id="48" name="Shape 45"/>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rule: a paragraph develops ONE idea: claim → explanation → evidence → link.</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RANGE THAT ADDS MEANING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Concede, give purpose, report — with a reason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التَّنَوُّعُ المُفِيدُ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CONCESSION · DEVELOP</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550" b="1" dirty="0">
                <a:solidFill>
                  <a:srgbClr val="8A6D1E"/>
                </a:solidFill>
                <a:latin typeface="Amiri" pitchFamily="2" charset="-78"/>
                <a:ea typeface="Amiri" pitchFamily="2" charset="-78"/>
                <a:cs typeface="Amiri" pitchFamily="2" charset="-78"/>
              </a:rPr>
              <a:t>عَلَى الرَّغْمِ مِنْ أَنَّ … فَإِنَّ</a:t>
            </a:r>
            <a:endParaRPr lang="ar-SA" sz="155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عَلَى الرَّغْمِ مِنْ أَنَّ التِّقْنِيَّةَ مُكَلِّفَةٌ، فَإِنَّهَا تُوَفِّرُ الطَّاقَةَ.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Although the technology is expensive, it saves energy.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real contrast.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PURPOSE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لِكَيْ + مَنْصُوبٌ</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نَسْتَثْمِرُ فِي النَّقْلِ العَامِّ لِكَيْ نُقَلِّلَ الانْبِعَاثَاتِ.</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invest in public transport to reduce emissions.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logical aim.</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REPORT + LINK · STRETCH</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يُشَارُ إِلَى أَنَّ … لِذٰلِكَ</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يُشَارُ إِلَى أَنَّ شُحَّ المِيَاهِ يَزْدَادُ، لِذٰلِكَ يَجِبُ تَرْشِيدُ الاسْتِهْلَاكِ.</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Water scarcity is reported to be rising, so consumption must be rationalised.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Feature + meaning.</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concession must create a real contrast.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عَلَى الرَّغْمِ مِنْ أَنَّهَا مُكَلِّفَةٌ، فَإِنَّهَا مُوَفِّرَةٌ.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عَلَى الرَّغْمِ مِنْ أَنَّهَا مُفِيدَةٌ، فَهِيَ مُفِيدَةٌ.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Cohesion, range and accuracy in extended writing</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ea typeface="Amiri" pitchFamily="2" charset="-78"/>
                <a:cs typeface="Amiri" pitchFamily="2" charset="-78"/>
              </a:rPr>
              <a:t>التَّرَابُطُ وَالتَّنَوُّعُ وَالدِّقَّةُ فِي الكِتَابَةِ</a:t>
            </a:r>
            <a:endParaRPr lang="ar-SA" sz="25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Paragraph logic</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claim → explanation → evidence → link</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تُسَاعِدُ المُدُنُ الذَّكِيَّةُ عَلَى تَقْلِيلِ الهَدْرِ؛ فَمَثَلًا، تُطْفِئُ الأَنْظِمَةُ الإِضَاءَةَ فِي الغُرَفِ الفَارِغَةِ.</a:t>
            </a:r>
            <a:endParaRPr lang="ar-SA" sz="18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Concession and response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عَلَى الرَّغْمِ مِنْ أَنَّ</a:t>
            </a:r>
            <a:pPr algn="l" indent="0" marL="0">
              <a:buNone/>
            </a:pPr>
            <a:r>
              <a:rPr lang="en-US" sz="1050" dirty="0">
                <a:solidFill>
                  <a:srgbClr val="5A6472"/>
                </a:solidFill>
                <a:latin typeface="Calibri" pitchFamily="34" charset="0"/>
                <a:cs typeface="Amiri" pitchFamily="2" charset="-78"/>
              </a:rPr>
              <a:t> + clause, </a:t>
            </a:r>
            <a:pPr algn="l" indent="0" marL="0">
              <a:buNone/>
            </a:pPr>
            <a:r>
              <a:rPr lang="ar-SA" altLang="en-US" sz="1350" dirty="0">
                <a:solidFill>
                  <a:srgbClr val="5A6472"/>
                </a:solidFill>
                <a:latin typeface="Amiri" pitchFamily="2" charset="-78"/>
                <a:ea typeface="Amiri" pitchFamily="2" charset="-78"/>
                <a:cs typeface="Amiri" pitchFamily="2" charset="-78"/>
              </a:rPr>
              <a:t>فَـ</a:t>
            </a:r>
            <a:pPr algn="l" indent="0" marL="0">
              <a:buNone/>
            </a:pPr>
            <a:r>
              <a:rPr lang="en-US" sz="1050" dirty="0">
                <a:solidFill>
                  <a:srgbClr val="5A6472"/>
                </a:solidFill>
                <a:latin typeface="Calibri" pitchFamily="34" charset="0"/>
                <a:cs typeface="Amiri" pitchFamily="2" charset="-78"/>
              </a:rPr>
              <a:t> + response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عَلَى الرَّغْمِ مِنْ أَنَّ التِّقْنِيَّةَ مُكَلِّفَةٌ فِي البِدَايَةِ، فَإِنَّهَا تُوَفِّرُ الطَّاقَةَ عَلَى المَدَى البَعِيدِ.</a:t>
            </a:r>
            <a:endParaRPr lang="ar-SA" sz="18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Purpose within an argument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action + </a:t>
            </a:r>
            <a:pPr algn="l" indent="0" marL="0">
              <a:buNone/>
            </a:pPr>
            <a:r>
              <a:rPr lang="ar-SA" altLang="en-US" sz="1350" dirty="0">
                <a:solidFill>
                  <a:srgbClr val="5A6472"/>
                </a:solidFill>
                <a:latin typeface="Amiri" pitchFamily="2" charset="-78"/>
                <a:ea typeface="Amiri" pitchFamily="2" charset="-78"/>
                <a:cs typeface="Amiri" pitchFamily="2" charset="-78"/>
              </a:rPr>
              <a:t>لِكَيْ</a:t>
            </a:r>
            <a:pPr algn="l" indent="0" marL="0">
              <a:buNone/>
            </a:pPr>
            <a:r>
              <a:rPr lang="en-US" sz="1050" dirty="0">
                <a:solidFill>
                  <a:srgbClr val="5A6472"/>
                </a:solidFill>
                <a:latin typeface="Calibri" pitchFamily="34" charset="0"/>
                <a:cs typeface="Amiri" pitchFamily="2" charset="-78"/>
              </a:rPr>
              <a:t> + subjunctive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نَسْتَثْمِرُ فِي النَّقْلِ العَامِّ لِكَيْ نُقَلِّلَ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Avoid feature dumping</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range feature + relevant meaning</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يُشَارُ إِلَى أَنَّ شُحَّ المِيَاهِ يَزْدَادُ، لِذٰلِكَ يَجِبُ تَرْشِيدُ الاسْتِهْلَاكِ.</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sequence forms a developed paragraph?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Nine unrelated connectors → conclusion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Vocabulary list → title → repeated claim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Claim → explanation → evidence → link</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genuine concession.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عَلَى الرَّغْمِ مِنْ أَنَّ التِّقْنِيَّةَ مُكَلِّفَةٌ، فَإِنَّهَا تُوَفِّرُ المَالَ لَاحِقًا.</a:t>
            </a:r>
            <a:endParaRPr lang="ar-SA" sz="17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عَلَى الرَّغْمِ التِّقْنِيَّةُ مِنْ أَنَّ مُكَلِّفَةٌ.</a:t>
            </a:r>
            <a:endParaRPr lang="ar-SA" sz="17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عَلَى الرَّغْمِ مِنْ أَنَّ التِّقْنِيَّةَ مُكَلِّفَةٌ، فَهِيَ مُكَلِّفَةٌ.</a:t>
            </a:r>
            <a:endParaRPr lang="ar-SA" sz="17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meaningful purpose.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نَزْرَعُ الأَشْجَارَ لِكَيْ نَزِيدَ التَّصَحُّرَ.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نَزْرَعُ الأَشْجَارَ لِكَيْ نُحَسِّنَ جَوْدَةَ الهَوَاءِ.</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نَزْرَعُ الأَشْجَارَ لِكَيْ المَنَاخُ.</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adds a new supporting point?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عَلَاوَةً عَلَى ذٰلِكَ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الخِتَامِ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ذٰلِكَ</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sequence forms a developed paragraph?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Nine unrelated connectors → conclusion</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Vocabulary list → title → repeated claim</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Claim → explanation → evidence → link</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coherent paragraph develops one line of reasoning.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genuine concession.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 الرَّغْمِ مِنْ أَنَّ التِّقْنِيَّةَ مُكَلِّفَةٌ، فَإِنَّهَا تُوَفِّرُ المَالَ لَاحِقًا.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الرَّغْمِ التِّقْنِيَّةُ مِنْ أَنَّ مُكَلِّفَةٌ.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الرَّغْمِ مِنْ أَنَّ التِّقْنِيَّةَ مُكَلِّفَةٌ، فَهِيَ مُكَلِّفَةٌ.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second clause contrasts initial cost with later saving.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meaningful purpose.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نَزْرَعُ الأَشْجَارَ لِكَيْ نَزِيدَ التَّصَحُّرَ.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نَزْرَعُ الأَشْجَارَ لِكَيْ نُحَسِّنَ جَوْدَةَ الهَوَاءِ.</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نَزْرَعُ الأَشْجَارَ لِكَيْ المَنَاخُ.</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Tree planting can improve air quality.</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adds a new supporting point?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عَلَاوَةً عَلَى ذٰلِكَ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الخِتَامِ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ذٰلِكَ</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علاوة على ذلك</a:t>
            </a:r>
            <a:pPr algn="l" indent="0" marL="0">
              <a:buNone/>
            </a:pPr>
            <a:r>
              <a:rPr lang="en-US" sz="1050" i="1" dirty="0">
                <a:solidFill>
                  <a:srgbClr val="8A6D1E"/>
                </a:solidFill>
                <a:latin typeface="Calibri" pitchFamily="34" charset="0"/>
                <a:cs typeface="Amiri" pitchFamily="2" charset="-78"/>
              </a:rPr>
              <a:t> adds support.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Watch me plan, draft and improve one paragraph</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Plan · notes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الذَّكَاءُ الاصْطِنَاعِيُّ · رَصْدُ التَّلَوُّثِ</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Notes, not sentences.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Draft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الذَّكَاءُ الاصْطِنَاعِيُّ مُفِيدٌ. هُوَ مُفِيدٌ جِدًّا.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evidence, repeats.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Claim + example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0E7C86"/>
                </a:solidFill>
                <a:latin typeface="Amiri" pitchFamily="2" charset="-78"/>
                <a:ea typeface="Amiri" pitchFamily="2" charset="-78"/>
                <a:cs typeface="Amiri" pitchFamily="2" charset="-78"/>
              </a:rPr>
              <a:t>مِنْ نَاحِيَةٍ</a:t>
            </a:r>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يُسْتَخْدَمُ لِرَصْدِ التَّلَوُّثِ. </a:t>
            </a:r>
            <a:pPr rtl="1" algn="ctr" indent="0" marL="0">
              <a:lnSpc>
                <a:spcPct val="120000"/>
              </a:lnSpc>
              <a:buNone/>
            </a:pPr>
            <a:r>
              <a:rPr lang="ar-SA" altLang="en-US" sz="1650" b="1" dirty="0">
                <a:solidFill>
                  <a:srgbClr val="D6336C"/>
                </a:solidFill>
                <a:latin typeface="Amiri" pitchFamily="2" charset="-78"/>
                <a:ea typeface="Amiri" pitchFamily="2" charset="-78"/>
                <a:cs typeface="Amiri" pitchFamily="2" charset="-78"/>
              </a:rPr>
              <a:t>فَمَثَلًا</a:t>
            </a:r>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يَتَنَبَّأُ بِشُحِّ المِيَاهِ.</a:t>
            </a:r>
            <a:endParaRPr lang="ar-SA" sz="16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Claim, then proof.</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Link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نَتِيجَةً لِذٰلِكَ</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نَسْتَطِيعُ أَنْ نَتَصَرَّفَ مُبَكِّرًا.</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Back to the question.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CLAIM</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EXAMPLE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LINK</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هَلْ يُمْكِنُ لِلذَّكَاءِ الاصْطِنَاعِيِّ أَنْ يُسَاعِدَ البِيئَةَ؟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مِنْ نَاحِيَةٍ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يُسْتَخْدَمُ لِرَصْدِ تَلَوُّثِ الهَوَاءِ وَالتَّنَبُّؤِ بِشُحِّ المِيَاهِ. وَعَلَاوَةً عَلَى ذٰلِكَ، تُسَاعِدُ الأَنْظِمَةُ الذَّكِيَّةُ عَلَى تَقْلِيلِ هَدْرِ الطَّاقَةِ.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فَمَثَلًا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يُمْكِنُهَا أَنْ تُطْفِئَ الإِضَاءَةَ فِي الغُرَفِ الفَارِغَةِ.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Can AI help the environment? On the one hand, it is used to monitor air pollution and predict water scarcity. Moreover, smart systems help reduce energy waste; for example, they can turn off lights in empty rooms.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تُسَاعِدُ المُدُنُ الذَّكِيَّةُ عَلَى تَقْلِيلِ الهَدْرِ؛ فَمَثَلًا، تُطْفِئُ الأَنْظِمَةُ الإِضَاءَةَ فِي الغُرَفِ الفَارِغَةِ.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Smart cities help reduce waste; for example, systems turn off lights in empty rooms.</a:t>
            </a:r>
            <a:endParaRPr lang="en-US" sz="1250" dirty="0"/>
          </a:p>
          <a:p>
            <a:pPr indent="0" marL="0">
              <a:buNone/>
            </a:pPr>
            <a:r>
              <a:rPr lang="en-US" sz="1050" i="1" dirty="0">
                <a:solidFill>
                  <a:srgbClr val="8A6D1E"/>
                </a:solidFill>
                <a:latin typeface="Calibri" pitchFamily="34" charset="0"/>
                <a:cs typeface="Amiri" pitchFamily="2" charset="-78"/>
              </a:rPr>
              <a:t>A paragraph must develop one idea rather than list unrelated sophisticated phrases.</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عَلَى الرَّغْمِ مِنْ أَنَّ التِّقْنِيَّةَ مُكَلِّفَةٌ فِي البِدَايَةِ، فَإِنَّهَا تُوَفِّرُ الطَّاقَةَ عَلَى المَدَى البَعِيدِ.</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Although the technology is expensive at first, it saves energy in the long term.</a:t>
            </a:r>
            <a:endParaRPr lang="en-US" sz="1250" dirty="0"/>
          </a:p>
          <a:p>
            <a:pPr indent="0" marL="0">
              <a:buNone/>
            </a:pPr>
            <a:r>
              <a:rPr lang="en-US" sz="1050" i="1" dirty="0">
                <a:solidFill>
                  <a:srgbClr val="8A6D1E"/>
                </a:solidFill>
                <a:latin typeface="Calibri" pitchFamily="34" charset="0"/>
                <a:cs typeface="Amiri" pitchFamily="2" charset="-78"/>
              </a:rPr>
              <a:t>The response should genuinely contrast with the concession.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نَسْتَثْمِرُ فِي النَّقْلِ العَامِّ لِكَيْ نُقَلِّلَ الانْبِعَاثَاتِ.</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invest in public transport in order to reduce emissions.</a:t>
            </a:r>
            <a:endParaRPr lang="en-US" sz="1250" dirty="0"/>
          </a:p>
          <a:p>
            <a:pPr indent="0" marL="0">
              <a:buNone/>
            </a:pPr>
            <a:r>
              <a:rPr lang="en-US" sz="1050" i="1" dirty="0">
                <a:solidFill>
                  <a:srgbClr val="8A6D1E"/>
                </a:solidFill>
                <a:latin typeface="Calibri" pitchFamily="34" charset="0"/>
                <a:cs typeface="Amiri" pitchFamily="2" charset="-78"/>
              </a:rPr>
              <a:t>Use purpose where the second action is genuinely intended by the first.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مُقَدِّمَةٌ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فِقْرَةٌ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حُجَّةٌ رَئِيسِيَّةٌ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البِدَايَةِ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عَلَاوَةً عَلَى ذٰلِكَ</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فَضْلًا عَنْ ذٰلِكَ</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لِلْمَجْهُولِ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سَبَبٌ وَنَتِيجَةٌ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 مَنْصُوبٌ</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Academic organisation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Formal connectors</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Range features</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Academic organisation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مُقَدِّمَةٌ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فِقْرَةٌ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حُجَّةٌ رَئِيسِيَّةٌ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Formal connectors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البِدَايَةِ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عَلَاوَةً عَلَى ذٰلِكَ</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فَضْلًا عَنْ ذٰلِكَ</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Range features</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مَبْنِيٌّ لِلْمَجْهُولِ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سَبَبٌ وَنَتِيجَةٌ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 مَنْصُوبٌ</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 passive for a clear reason?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يُشَارُ إِلَى المِيَاهِ.</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يُشَارِكُ المَاءُ فِي الشُّحِّ.</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 المِيَاهَ تَشِحُّ فِي المَنْطِقَةِ.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signals a counterpoint?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البِدَايَةِ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ذٰلِكَ</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لِذٰلِكَ</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thesis is appropriately focused?</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البِيئَةُ وَالتِّقْنِيَّةُ أَشْيَاءُ كَثِيرَةٌ جِدًّا.</a:t>
            </a:r>
            <a:endParaRPr lang="ar-SA"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يُمْكِنُ لِلذَّكَاءِ الاصْطِنَاعِيِّ أَنْ يُسَاعِدَ البِيئَةَ، وَلٰكِنَّ نَجَاحَهُ يَعْتَمِدُ عَلَى طَرِيقَةِ اسْتِخْدَامِهِ.</a:t>
            </a:r>
            <a:endParaRPr lang="ar-SA"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سَأَكْتُبُ عَنِ التِّقْنِيَّةِ لِأَنَّ المَوْضُوعَ هُوَ التِّقْنِيَّةُ.</a:t>
            </a:r>
            <a:endParaRPr lang="ar-SA"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synthesises rather than repeats?</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فِي الخِتَامِ، أُعِيدُ الجُمْلَةَ الأُولَى نَفْسَهَا.</a:t>
            </a:r>
            <a:endParaRPr lang="ar-SA" sz="140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فِي الخِتَامِ، التِّقْنِيَّةُ تِقْنِيَّةٌ.</a:t>
            </a:r>
            <a:endParaRPr lang="ar-SA" sz="140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فِي الخِتَامِ، لَا يَكْفِي الحَلُّ التِّقْنِيُّ وَحْدَهُ؛ بَلْ يَجِبُ أَنْ يَصْحَبَهُ تَغْيِيرٌ فِي السُّلُوكِ.</a:t>
            </a:r>
            <a:endParaRPr lang="ar-SA" sz="140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 passive for a clear reason?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يُشَارُ إِلَى المِيَاهِ.</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يُشَارِكُ المَاءُ فِي الشُّحِّ.</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يُشَارُ إِلَى أَنَّ المِيَاهَ تَشِحُّ فِي المَنْطِقَةِ.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impersonal passive foregrounds the reported information.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signals a counterpoint?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البِدَايَةِ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ذٰلِكَ</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نَتِيجَةً لِذٰلِكَ</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مع ذلك</a:t>
            </a:r>
            <a:pPr algn="l" indent="0" marL="0">
              <a:buNone/>
            </a:pPr>
            <a:r>
              <a:rPr lang="en-US" sz="1050" i="1" dirty="0">
                <a:solidFill>
                  <a:srgbClr val="8A6D1E"/>
                </a:solidFill>
                <a:latin typeface="Calibri" pitchFamily="34" charset="0"/>
                <a:cs typeface="Amiri" pitchFamily="2" charset="-78"/>
              </a:rPr>
              <a:t> introduces contrast or reservation.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thesis is appropriately focused?</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البِيئَةُ وَالتِّقْنِيَّةُ أَشْيَاءُ كَثِيرَةٌ جِدًّا.</a:t>
            </a:r>
            <a:endParaRPr lang="ar-SA"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يُمْكِنُ لِلذَّكَاءِ الاصْطِنَاعِيِّ أَنْ يُسَاعِدَ البِيئَةَ، وَلٰكِنَّ نَجَاحَهُ يَعْتَمِدُ عَلَى طَرِيقَةِ اسْتِخْدَامِهِ.</a:t>
            </a:r>
            <a:endParaRPr lang="ar-SA"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سَأَكْتُبُ عَنِ التِّقْنِيَّةِ لِأَنَّ المَوْضُوعَ هُوَ التِّقْنِيَّةُ.</a:t>
            </a:r>
            <a:endParaRPr lang="ar-SA"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establishes a clear, arguable position.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synthesises rather than repeats?</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فِي الخِتَامِ، أُعِيدُ الجُمْلَةَ الأُولَى نَفْسَهَا.</a:t>
            </a:r>
            <a:endParaRPr lang="ar-SA" sz="14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فِي الخِتَامِ، التِّقْنِيَّةُ تِقْنِيَّةٌ.</a:t>
            </a:r>
            <a:endParaRPr lang="ar-SA" sz="14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فِي الخِتَامِ، لَا يَكْفِي الحَلُّ التِّقْنِيُّ وَحْدَهُ؛ بَلْ يَجِبُ أَنْ يَصْحَبَهُ تَغْيِيرٌ فِي السُّلُوكِ.</a:t>
            </a:r>
            <a:endParaRPr lang="ar-SA" sz="14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draws together technology and behaviour into a final judgement.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عَلَى الرَّغْمِ مِنْ أَنَّ التِّقْنِيَّةَ مُفِيدَةٌ، فَهِيَ مُفِيدَةٌ.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a real contrast?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نَسْتَخْدِمُ الطَّاقَةَ الشَّمْسِيَّةَ لِكَيْ نَزِيدَ الانْبِعَاثَاتِ.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aim logical?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2750" b="1" dirty="0">
                <a:solidFill>
                  <a:srgbClr val="B83227"/>
                </a:solidFill>
                <a:latin typeface="Amiri" pitchFamily="2" charset="-78"/>
                <a:ea typeface="Amiri" pitchFamily="2" charset="-78"/>
                <a:cs typeface="Amiri" pitchFamily="2" charset="-78"/>
              </a:rPr>
              <a:t>عَلَاوَةً عَلَى ذٰلِكَ لٰكِنْ مَعَ ذٰلِكَ فِي الخِتَامِ، التِّقْنِيَّةُ مُفِيدَةٌ.</a:t>
            </a:r>
            <a:endParaRPr lang="ar-SA" sz="275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connector, one job.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عَلَى الرَّغْمِ مِنْ أَنَّ التِّقْنِيَّةَ مُفِيدَةٌ، فَهِيَ مُفِيدَةٌ.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عَلَى الرَّغْمِ مِنْ أَنَّ التِّقْنِيَّةَ مُكَلِّفَةٌ، فَإِنَّهَا تُوَفِّرُ الطَّاقَةَ لَاحِقًا.</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concession must create a real contrast.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نَسْتَخْدِمُ الطَّاقَةَ الشَّمْسِيَّةَ لِكَيْ نَزِيدَ الانْبِعَاثَاتِ.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نَسْتَخْدِمُ الطَّاقَةَ الشَّمْسِيَّةَ لِكَيْ نُقَلِّلَ الانْبِعَاثَاتِ.</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purpose must be logically connected to the action.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عَلَاوَةً عَلَى ذٰلِكَ لٰكِنْ مَعَ ذٰلِكَ فِي الخِتَامِ، التِّقْنِيَّةُ مُفِيدَةٌ.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عَلَاوَةً عَلَى ذٰلِكَ، تُقَلِّلُ التِّقْنِيَّةُ الهَدْرَ. مَعَ ذٰلِكَ، تَحْتَاجُ إِلَى ضَوَابِطَ.</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 not stack connectors; each must perform a clear function.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Listening: how to structure an extended article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be decided before writing?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position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font colour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number of pictures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main paragraphs are suggested?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Seven</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belongs with the main argument?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unrelated vocabulary list</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repeated title</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specific example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second paragraph add?</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 or a result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 greeting</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random date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Which connectors can introduce the counterargument?</a:t>
            </a:r>
            <a:endParaRPr lang="en-US" sz="10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مُنْذُ</a:t>
            </a:r>
            <a:pPr algn="l" indent="0" marL="0">
              <a:buNone/>
            </a:pPr>
            <a:r>
              <a:rPr lang="en-US" sz="1250" dirty="0">
                <a:solidFill>
                  <a:srgbClr val="1F2A37"/>
                </a:solidFill>
                <a:latin typeface="Calibri" pitchFamily="34" charset="0"/>
                <a:cs typeface="Amiri" pitchFamily="2" charset="-78"/>
              </a:rPr>
              <a:t> or </a:t>
            </a:r>
            <a:pPr algn="l" indent="0" marL="0">
              <a:buNone/>
            </a:pPr>
            <a:r>
              <a:rPr lang="ar-SA" altLang="en-US" sz="1650" dirty="0">
                <a:solidFill>
                  <a:srgbClr val="1F2A37"/>
                </a:solidFill>
                <a:latin typeface="Amiri" pitchFamily="2" charset="-78"/>
                <a:ea typeface="Amiri" pitchFamily="2" charset="-78"/>
                <a:cs typeface="Amiri" pitchFamily="2" charset="-78"/>
              </a:rPr>
              <a:t>حَتَّى</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مَعَ ذٰلِكَ</a:t>
            </a:r>
            <a:pPr algn="l" indent="0" marL="0">
              <a:buNone/>
            </a:pPr>
            <a:r>
              <a:rPr lang="en-US" sz="1250" dirty="0">
                <a:solidFill>
                  <a:srgbClr val="1F2A37"/>
                </a:solidFill>
                <a:latin typeface="Calibri" pitchFamily="34" charset="0"/>
                <a:cs typeface="Amiri" pitchFamily="2" charset="-78"/>
              </a:rPr>
              <a:t> or </a:t>
            </a:r>
            <a:pPr algn="l" indent="0" marL="0">
              <a:buNone/>
            </a:pPr>
            <a:r>
              <a:rPr lang="ar-SA" altLang="en-US" sz="1650" dirty="0">
                <a:solidFill>
                  <a:srgbClr val="1F2A37"/>
                </a:solidFill>
                <a:latin typeface="Amiri" pitchFamily="2" charset="-78"/>
                <a:ea typeface="Amiri" pitchFamily="2" charset="-78"/>
                <a:cs typeface="Amiri" pitchFamily="2" charset="-78"/>
              </a:rPr>
              <a:t>عَلَى الرَّغْمِ مِنْ أَنَّ</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فِي البِدَايَةِ</a:t>
            </a:r>
            <a:pPr algn="l" indent="0" marL="0">
              <a:buNone/>
            </a:pPr>
            <a:r>
              <a:rPr lang="en-US" sz="1250" dirty="0">
                <a:solidFill>
                  <a:srgbClr val="1F2A37"/>
                </a:solidFill>
                <a:latin typeface="Calibri" pitchFamily="34" charset="0"/>
                <a:cs typeface="Amiri" pitchFamily="2" charset="-78"/>
              </a:rPr>
              <a:t> or </a:t>
            </a:r>
            <a:pPr algn="l" indent="0" marL="0">
              <a:buNone/>
            </a:pPr>
            <a:r>
              <a:rPr lang="ar-SA" altLang="en-US" sz="1650" dirty="0">
                <a:solidFill>
                  <a:srgbClr val="1F2A37"/>
                </a:solidFill>
                <a:latin typeface="Amiri" pitchFamily="2" charset="-78"/>
                <a:ea typeface="Amiri" pitchFamily="2" charset="-78"/>
                <a:cs typeface="Amiri" pitchFamily="2" charset="-78"/>
              </a:rPr>
              <a:t>قُرْبَ</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conclusion avoid?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Literal repetition</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Answering the question</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Combining key points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fill a plan:</a:t>
            </a:r>
            <a:endParaRPr lang="en-US" sz="1250" dirty="0"/>
          </a:p>
          <a:p>
            <a:pPr algn="l" indent="0" marL="0">
              <a:buNone/>
            </a:pPr>
            <a:r>
              <a:rPr lang="en-US" sz="1250" dirty="0">
                <a:solidFill>
                  <a:srgbClr val="1E6B52"/>
                </a:solidFill>
                <a:latin typeface="Calibri" pitchFamily="34" charset="0"/>
                <a:cs typeface="Amiri" pitchFamily="2" charset="-78"/>
              </a:rPr>
              <a:t>position · argument + example · evidence · counterargument · conclusion.</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قَبْلَ أَنْ تَكْتُبَ مَقَالًا، حَدِّدْ مَوْقِفَكَ وَنَظِّمْ أَفْكَارَكَ فِي ثَلَاثِ فِقَرٍ.</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you write an article, decide your position and organise your ideas in three paragraphs.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الفِقْرَةِ الأُولَى، قَدِّمْ حُجَّتَكَ الرَّئِيسِيَّةَ مَعَ مِثَالٍ مُحَدَّدٍ.</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paragraph, present your main argument with a specific example.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الثَّانِيَةِ، أَضِفْ دَلِيلًا أَوْ نَتِيجَةً،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second, add evidence or a result,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ثُمَّ اعْرِضْ حُجَّةً مُضَادَّةً بِاسْتِخْدَامِ مَعَ ذٰلِكَ أَوْ عَلَى الرَّغْمِ مِنْ أَنَّ.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present a counterargument using “nevertheless” or “although”.</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أَمَّا الخَاتِمَةُ فَيَجِبُ أَنْ تُجِيبَ عَنِ السُّؤَالِ وَتَجْمَعَ بَيْنَ أَهَمِّ النِّقَاطِ دُونَ تَكْرَارٍ حَرْفِيٍّ.</a:t>
            </a:r>
            <a:endParaRPr lang="ar-SA" sz="18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the conclusion, it must answer the question and bring together the main points without word-for-word repetition.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be decided before writing?</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writer’s position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font colour only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number of pictures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حدد موقفك.</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main paragraphs are suggested?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Seven</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ثلاث فقر.</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belongs with the main argument?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An unrelated vocabulary list</a:t>
            </a:r>
            <a:endParaRPr lang="en-US" sz="11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repeated title</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specific example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مع مثال محدد.</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second paragraph add?</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 or a result</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 greeting</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random date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دليلًا أو نتيجة.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Which connectors can introduce the counterargument?</a:t>
            </a:r>
            <a:endParaRPr lang="en-US" sz="10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مُنْذُ</a:t>
            </a:r>
            <a:pPr algn="l" indent="0" marL="0">
              <a:buNone/>
            </a:pPr>
            <a:r>
              <a:rPr lang="en-US" sz="1250" dirty="0">
                <a:solidFill>
                  <a:srgbClr val="9AA1AB"/>
                </a:solidFill>
                <a:latin typeface="Calibri" pitchFamily="34" charset="0"/>
                <a:cs typeface="Amiri" pitchFamily="2" charset="-78"/>
              </a:rPr>
              <a:t> or </a:t>
            </a:r>
            <a:pPr algn="l" indent="0" marL="0">
              <a:buNone/>
            </a:pPr>
            <a:r>
              <a:rPr lang="ar-SA" altLang="en-US" sz="1650" dirty="0">
                <a:solidFill>
                  <a:srgbClr val="9AA1AB"/>
                </a:solidFill>
                <a:latin typeface="Amiri" pitchFamily="2" charset="-78"/>
                <a:ea typeface="Amiri" pitchFamily="2" charset="-78"/>
                <a:cs typeface="Amiri" pitchFamily="2" charset="-78"/>
              </a:rPr>
              <a:t>حَتَّى</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2" charset="-78"/>
                <a:ea typeface="Amiri" pitchFamily="2" charset="-78"/>
                <a:cs typeface="Amiri" pitchFamily="2" charset="-78"/>
              </a:rPr>
              <a:t>مَعَ ذٰلِكَ</a:t>
            </a:r>
            <a:pPr algn="l" indent="0" marL="0">
              <a:buNone/>
            </a:pPr>
            <a:r>
              <a:rPr lang="en-US" sz="1150" b="1" dirty="0">
                <a:solidFill>
                  <a:srgbClr val="1F2A37"/>
                </a:solidFill>
                <a:latin typeface="Calibri" pitchFamily="34" charset="0"/>
                <a:cs typeface="Amiri" pitchFamily="2" charset="-78"/>
              </a:rPr>
              <a:t> or </a:t>
            </a:r>
            <a:pPr algn="l" indent="0" marL="0">
              <a:buNone/>
            </a:pPr>
            <a:r>
              <a:rPr lang="ar-SA" altLang="en-US" sz="1500" b="1" dirty="0">
                <a:solidFill>
                  <a:srgbClr val="1F2A37"/>
                </a:solidFill>
                <a:latin typeface="Amiri" pitchFamily="2" charset="-78"/>
                <a:ea typeface="Amiri" pitchFamily="2" charset="-78"/>
                <a:cs typeface="Amiri" pitchFamily="2" charset="-78"/>
              </a:rPr>
              <a:t>عَلَى الرَّغْمِ مِنْ أَنَّ</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فِي البِدَايَةِ</a:t>
            </a:r>
            <a:pPr algn="l" indent="0" marL="0">
              <a:buNone/>
            </a:pPr>
            <a:r>
              <a:rPr lang="en-US" sz="1250" dirty="0">
                <a:solidFill>
                  <a:srgbClr val="9AA1AB"/>
                </a:solidFill>
                <a:latin typeface="Calibri" pitchFamily="34" charset="0"/>
                <a:cs typeface="Amiri" pitchFamily="2" charset="-78"/>
              </a:rPr>
              <a:t> or </a:t>
            </a:r>
            <a:pPr algn="l" indent="0" marL="0">
              <a:buNone/>
            </a:pPr>
            <a:r>
              <a:rPr lang="ar-SA" altLang="en-US" sz="1650" dirty="0">
                <a:solidFill>
                  <a:srgbClr val="9AA1AB"/>
                </a:solidFill>
                <a:latin typeface="Amiri" pitchFamily="2" charset="-78"/>
                <a:ea typeface="Amiri" pitchFamily="2" charset="-78"/>
                <a:cs typeface="Amiri" pitchFamily="2" charset="-78"/>
              </a:rPr>
              <a:t>قُرْبَ</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are named in the script.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conclusion avoid?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Literal repetition</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Answering the question</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Combining key points</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دون تكرار حرفي.</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fill a plan:</a:t>
            </a:r>
            <a:endParaRPr lang="en-US" sz="1250" dirty="0"/>
          </a:p>
          <a:p>
            <a:pPr algn="l" indent="0" marL="0">
              <a:buNone/>
            </a:pPr>
            <a:r>
              <a:rPr lang="en-US" sz="1250" dirty="0">
                <a:solidFill>
                  <a:srgbClr val="1E6B52"/>
                </a:solidFill>
                <a:latin typeface="Calibri" pitchFamily="34" charset="0"/>
                <a:cs typeface="Amiri" pitchFamily="2" charset="-78"/>
              </a:rPr>
              <a:t>position · argument + example · evidence · counterargument · conclusion.</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Speaking: rehearse and defend a thesis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مَوْقِفُكَ الرَّئِيسِيُّ؟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الدَّلِيلُ الَّذِي سَتَسْتَخْدِمُهُ؟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الحُجَّةُ المُضَادَّةُ؟ وَكَيْفَ تَرُدُّ عَلَيْهَا؟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أَرَى أَنَّ ___ لِأَنَّ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الدَّلِيلُ عَلَى ذٰلِكَ أَنَّ ___ ؛ فَمَثَلًا، ___ .</a:t>
            </a:r>
            <a:endParaRPr lang="ar-SA" sz="14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عَلَى الرَّغْمِ مِنْ أَنَّ ___ ، فَإِنَّ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التِّقْنِيَّةُ وَحْدَهَا كَافِيَةٌ لِحِمَايَةِ البِيئَةِ؟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Is technology alone enough to protect the environment?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لَا، فَهِيَ تُقَلِّلُ الهَدْرَ وَتُحَسِّنُ الرَّصْدَ، لٰكِنَّ نَجَاحَهَا يَعْتَمِدُ عَلَى القَوَانِينِ وَسُلُوكِ الأَفْرَادِ أَيْضًا.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No — it reduces waste and improves monitoring, but its success also depends on laws and individual behaviour.</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70–90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frame per paragraph: question · argument + example · “however” · conclusion.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130–140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four paragraphs with one concession and one purpose clause.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 balanced, qualified judgement (شَرِيطَةَ أَنْ …) + a self-audit with the website checklist.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عَلَاوَةً عَلَى ذٰلِكَ،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Moreover,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نَسْتَخْدِمُهُ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use it in order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يُشَارُ إِلَى أَنَّ ______ ، لِذٰلِكَ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indicated that … , so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لِـ ______ أَنْ يُسَاعِدَ البِيئَةَ؟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Can … help the environment?</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مِنْ نَاحِيَةٍ، يُسَاعِدُ عَلَى ______ . فَمَثَلًا، ______ .</a:t>
            </a:r>
            <a:endParaRPr lang="ar-SA" sz="15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one hand, it helps … For example,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ذٰلِكَ، المُشْكِلَةُ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However, the problem is that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الخِتَامِ، أَرَى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conclusion, I think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فِي البِدَايَةِ  ·  مِنْ نَاحِيَةٍ  ·  مِنْ نَاحِيَةٍ أُخْرَى  ·  عَلَاوَةً عَلَى ذٰلِكَ  ·  فَضْلًا عَنْ ذٰلِكَ  ·  فَمَثَلًا  ·  مَعَ ذٰلِكَ  ·  عَلَى الرَّغْمِ مِنْ أَنَّ  ·  لِكَيْ  ·  نَتِيجَةً لِذٰلِكَ  ·  يُشَارُ إِلَى أَنَّ  ·  فِي الخِتَامِ</a:t>
            </a:r>
            <a:endParaRPr lang="ar-SA" sz="14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130–140-word Arabic article on climate change, AI and the environment, or sustainable cities.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Answer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range features only where they add meaning.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Develop each paragraph with explanation or evidence.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Proofread agreement, prepositions and verb endings.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شَرِيطَةَ أَنْ تُحْمَى الخُصُوصِيَّةُ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provided that privacy is protected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جُزْءٌ قَوِيٌّ مِنَ الحَلِّ</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strong part of the solution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تَسْتَبْدِلُ السِّيَاسَاتِ</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does not replace policies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يَكْفِي … وَحْدَهُ؛ بَلْ يَجِبُ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alone is not enough; rather, … must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المَدَى البَعِيدِ</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long term</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هَلْ يُمْكِنُ لِلذَّكَاءِ الاصْطِنَاعِيِّ أَنْ يُسَاعِدَ البِيئَةَ؟ مِنْ نَاحِيَةٍ، يُسْتَخْدَمُ لِرَصْدِ تَلَوُّثِ الهَوَاءِ وَالتَّنَبُّؤِ بِشُحِّ المِيَاهِ. وَعَلَاوَةً عَلَى ذٰلِكَ، تُسَاعِدُ الأَنْظِمَةُ الذَّكِيَّةُ عَلَى تَقْلِيلِ هَدْرِ الطَّاقَةِ. فَمَثَلًا، يُمْكِنُهَا أَنْ تُطْفِئَ الإِضَاءَةَ فِي الغُرَفِ الفَارِغَةِ. مِنْ نَاحِيَةٍ أُخْرَى، قَدْ تَكُونُ التَّكْلِفَةُ مُرْتَفِعَةً، وَقَدْ تُجْمَعُ بَيَانَاتٌ شَخْصِيَّةٌ. عَلَى الرَّغْمِ مِنْ هٰذِهِ التَّحَدِّيَاتِ، أَرَى أَنَّ الاسْتِثْمَارَ فِي هٰذِهِ التِّقْنِيَّةِ مُهِمٌّ شَرِيطَةَ أَنْ تُحْمَى الخُصُوصِيَّةُ. فِي الخِتَامِ، هِيَ جُزْءٌ قَوِيٌّ مِنَ الحَلِّ، وَلٰكِنَّهَا لَا تَسْتَبْدِلُ السِّيَاسَاتِ وَالسُّلُوكَ المَسْؤُولَ.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Can AI help the environment? On the one hand, it is used to monitor air pollution and predict water scarcity. Moreover, smart systems help reduce energy waste; for example, they can turn off lights in empty rooms. On the other hand, the cost may be high and personal data may be collected. Despite these challenges, I think investing in this technology is important, provided that privacy is protected. In conclusion, it is a strong part of the solution, but it does not replace policies and responsible behaviour.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thesis question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argument + example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counterargument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conclusion that synthesises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 with a clear position.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at least one specific example.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paragraph develops ONE idea.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concession is a real contrast; my purpose is logical.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conclusion synthesises — it does not repeat.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a counterpoint?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ذٰلِكَ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عَلَاوَةً عَلَى ذٰلِكَ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البِدَايَةِ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a meaningful purpose?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نَسْتَخْدِمُ النِّظَامَ لِكَيْ الهَدْرُ.</a:t>
            </a:r>
            <a:endParaRPr lang="ar-SA" sz="20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نَسْتَخْدِمُ النِّظَامَ لِكَيْ نُقَلِّلَ الهَدْرَ.</a:t>
            </a:r>
            <a:endParaRPr lang="ar-SA" sz="20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نَسْتَخْدِمُ النِّظَامَ لِكَيْ نَزِيدَ الهَدْرَ.</a:t>
            </a:r>
            <a:endParaRPr lang="ar-SA" sz="200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synthesises?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التِّقْنِيَّةُ جُزْءٌ مِنَ الحَلِّ، وَلٰكِنَّهَا تَحْتَاجُ إِلَى سِيَاسَاتٍ وَسُلُوكٍ مَسْؤُولٍ.</a:t>
            </a:r>
            <a:endParaRPr lang="ar-SA" sz="1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التِّقْنِيَّةُ هِيَ التِّقْنِيَّةُ.</a:t>
            </a:r>
            <a:endParaRPr lang="ar-SA" sz="1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فِي الخِتَامِ، أُعِيدُ المُقَدِّمَةَ حَرْفِيًّا.</a:t>
            </a:r>
            <a:endParaRPr lang="ar-SA" sz="1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43</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a counterpoint?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مَعَ ذٰلِكَ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عَلَاوَةً عَلَى ذٰلِكَ</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البِدَايَةِ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مع ذلك.</a:t>
            </a:r>
            <a:endParaRPr lang="ar-SA" sz="13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has a meaningful purpose?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نَسْتَخْدِمُ النِّظَامَ لِكَيْ الهَدْرُ.</a:t>
            </a:r>
            <a:endParaRPr lang="ar-SA" sz="200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نَسْتَخْدِمُ النِّظَامَ لِكَيْ نُقَلِّلَ الهَدْرَ.</a:t>
            </a:r>
            <a:endParaRPr lang="ar-SA" sz="200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نَسْتَخْدِمُ النِّظَامَ لِكَيْ نَزِيدَ الهَدْرَ.</a:t>
            </a:r>
            <a:endParaRPr lang="ar-SA" sz="200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purpose is coherent and grammatical.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synthesises?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التِّقْنِيَّةُ جُزْءٌ مِنَ الحَلِّ، وَلٰكِنَّهَا تَحْتَاجُ إِلَى سِيَاسَاتٍ وَسُلُوكٍ مَسْؤُولٍ.</a:t>
            </a:r>
            <a:endParaRPr lang="ar-SA" sz="1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التِّقْنِيَّةُ هِيَ التِّقْنِيَّةُ.</a:t>
            </a:r>
            <a:endParaRPr lang="ar-SA" sz="1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فِي الخِتَامِ، أُعِيدُ المُقَدِّمَةَ حَرْفِيًّا.</a:t>
            </a:r>
            <a:endParaRPr lang="ar-SA" sz="1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the main judgement with its condition.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43</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Reading: analyse an environment–technology model</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هَلْ تَسْتَطِيعُ التِّقْنِيَّةُ حَلَّ المُشْكِلَاتِ البِيئِيَّةِ؟ مِنْ نَاحِيَةٍ، يُسْتَخْدَمُ الذَّكَاءُ الاصْطِنَاعِيُّ لِرَصْدِ التَّلَوُّثِ وَالتَّنَبُّؤِ بِالطَّلَبِ عَلَى الطَّاقَةِ. وَعَلَاوَةً عَلَى ذٰلِكَ، تُقَلِّلُ الشَّبَكَاتُ الذَّكِيَّةُ الهَدْرَ. مِنْ نَاحِيَةٍ أُخْرَى، هٰذِهِ الأَنْظِمَةُ مُكَلِّفَةٌ، وَقَدْ تَجْمَعُ بَيَانَاتٍ شَخْصِيَّةً. لِذٰلِكَ، لَا يَكْفِي الاسْتِثْمَارُ فِي الأَجْهِزَةِ؛ بَلْ يَجِبُ وَضْعُ ضَوَابِطَ وَتَغْيِيرُ سُلُوكِ المُسْتَخْدِمِينَ. فِي الخِتَامِ، التِّقْنِيَّةُ جُزْءٌ مِنَ الحَلِّ وَلَيْسَتِ الحَلَّ كُلَّهُ.</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المُشْكِلَاتِ البِيئِيَّةِ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environmental problems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لِرَصْدِ التَّلَوُّثِ</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monitor pollution</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التَّنَبُّؤِ بِـ</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predicting</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الشَّبَكَاتُ الذَّكِيَّةُ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smart grids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الهَدْرَ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waste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مُكَلِّفَةٌ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expensive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بَيَانَاتٍ شَخْصِيَّةً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personal data</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ضَوَابِطَ</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rules, controls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سُلُوكِ المُسْتَخْدِمِينَ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users’ behaviour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الحَلَّ كُلَّهُ</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whole solution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43</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article’s central question?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Whether weather is always sunny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Whether technology can solve environmental problems</a:t>
            </a:r>
            <a:endParaRPr lang="en-US" sz="11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Whether sport is popular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use of AI.</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Cooking meals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Designing clothes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Monitoring pollution</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smart grids reduce?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Waste</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Privacy</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reservations are raised?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 and snow</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Cost and personal-data collection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Vocabulary and handwriting</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say must accompany devices?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Rules and behaviour change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planning</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waste</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final judgement?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solves everything alone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has no use at all</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Technology is part of the solution, not the whole solution</a:t>
            </a:r>
            <a:endParaRPr lang="en-US" sz="1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43</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article’s central question?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Whether weather is always sunny</a:t>
            </a:r>
            <a:endParaRPr lang="en-US" sz="11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Whether technology can solve environmental problems</a:t>
            </a:r>
            <a:endParaRPr lang="en-US" sz="11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Whether sport is popular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sentence states it.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use of AI.</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Cooking meals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Designing clothes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Monitoring pollution</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رصد التلوث.</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smart grids reduce?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Waste</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Evidence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Privacy</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الهدر.</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reservations are raised?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 and snow</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Cost and personal-data collection</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Vocabulary and handwriting</a:t>
            </a:r>
            <a:endParaRPr lang="en-US" sz="120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مكلفة وقد تجمع بيانات شخصية.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say must accompany devices?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Rules and behaviour change</a:t>
            </a:r>
            <a:endParaRPr lang="en-US" sz="120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planning</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waste</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وضع ضوابط وتغيير السلوك.</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final judgement?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Technology solves everything alone</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Technology has no use at all</a:t>
            </a:r>
            <a:endParaRPr lang="en-US" sz="12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cs typeface="Amiri" pitchFamily="2" charset="-78"/>
              </a:rPr>
              <a:t>Technology is part of the solution, not the whole solution</a:t>
            </a:r>
            <a:endParaRPr lang="en-US" sz="10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conclusion explicitly says this.</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43</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Writing — Environment and Technology Article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thesis for an article on AI and the environment?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الذَّكَاءُ الاصْطِنَاعِيُّ كَلِمَتَانِ طَوِيلَتَانِ.</a:t>
            </a:r>
            <a:endParaRPr lang="ar-SA" sz="1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قَدْ يُسَاعِدُ الذَّكَاءُ الاصْطِنَاعِيُّ فِي رَصْدِ التَّلَوُّثِ، وَلٰكِنَّ فَائِدَتَهُ تَعْتَمِدُ عَلَى الاسْتِخْدَامِ المَسْؤُولِ.</a:t>
            </a:r>
            <a:endParaRPr lang="ar-SA" sz="1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سَأَكْتُبُ عَنِ البِيئَةِ لأَنَّ السُّؤَالَ عَنِ البِيئَةِ.</a:t>
            </a:r>
            <a:endParaRPr lang="ar-SA"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specific evidence?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انْخَفَضَ الاسْتِهْلَاكُ ١٨٪ بَعْدَ تَرْكِيبِ النِّظَامِ.</a:t>
            </a:r>
            <a:endParaRPr lang="ar-SA" sz="15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أُحِبُّ النِّظَامَ لِأَنِّي أُحِبُّهُ.</a:t>
            </a:r>
            <a:endParaRPr lang="ar-SA" sz="15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النِّظَامُ جَيِّدٌ جِدًّا جِدًّا.</a:t>
            </a:r>
            <a:endParaRPr lang="ar-SA" sz="15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purpose is accurate and logical?</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نَسْتَثْمِرُ فِي النَّقْلِ العَامِّ لِكَيْ نَزِيدَ الازدِحَامَ.</a:t>
            </a:r>
            <a:endParaRPr lang="ar-SA" sz="14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نَسْتَثْمِرُ فِي النَّقْلِ العَامِّ لِكَيْ الطَّرِيقُ.</a:t>
            </a:r>
            <a:endParaRPr lang="ar-SA" sz="14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نَسْتَثْمِرُ فِي النَّقْلِ العَامِّ لِكَيْ نُقَلِّلَ التَّلَوُّثَ.</a:t>
            </a:r>
            <a:endParaRPr lang="ar-SA" sz="14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counterargument is relevant to a smart-city article?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المَدِينَةُ ذَكِيَّةٌ وَالذَّكَاءُ ذَكِيٌّ.</a:t>
            </a:r>
            <a:endParaRPr lang="ar-SA" sz="130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تُحَسِّنُ الكَفَاءَةَ، لٰكِنَّ الشَّمْسَ مُشْمِسَةٌ.</a:t>
            </a:r>
            <a:endParaRPr lang="ar-SA" sz="13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قَدْ تُحَسِّنُ الكَفَاءَةَ، لٰكِنَّهَا قَدْ تَجْمَعُ بَيَانَاتٍ شَخْصِيَّةً.</a:t>
            </a:r>
            <a:endParaRPr lang="ar-SA" sz="130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adds a related supporting idea?</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فَضْلًا عَنْ ذٰلِكَ</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الخِتَامِ</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ذٰلِكَ</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final sentence reaches a justified synthesis?</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لِذٰلِكَ، أَرَى أَنَّ الحَلَّ هُوَ الحَلُّ.</a:t>
            </a:r>
            <a:endParaRPr lang="ar-SA" sz="1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لِذٰلِكَ، أَرَى أَنَّ الحَلَّ الأَفْضَلَ يَجْمَعُ بَيْنَ التِّقْنِيَّةِ وَتَغْيِيرِ السُّلُوكِ.</a:t>
            </a:r>
            <a:endParaRPr lang="ar-SA" sz="1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لِذٰلِكَ، سَأَتَوَقَّفُ عَنِ الكِتَابَةِ.</a:t>
            </a:r>
            <a:endParaRPr lang="ar-SA" sz="1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43</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thesis for an article on AI and the environment?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الذَّكَاءُ الاصْطِنَاعِيُّ كَلِمَتَانِ طَوِيلَتَانِ.</a:t>
            </a:r>
            <a:endParaRPr lang="ar-SA" sz="10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قَدْ يُسَاعِدُ الذَّكَاءُ الاصْطِنَاعِيُّ فِي رَصْدِ التَّلَوُّثِ، وَلٰكِنَّ فَائِدَتَهُ تَعْتَمِدُ عَلَى الاسْتِخْدَامِ المَسْؤُولِ.</a:t>
            </a:r>
            <a:endParaRPr lang="ar-SA" sz="10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سَأَكْتُبُ عَنِ البِيئَةِ لأَنَّ السُّؤَالَ عَنِ البِيئَةِ.</a:t>
            </a:r>
            <a:endParaRPr lang="ar-SA" sz="10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focused and balanced.</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specific evidence?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انْخَفَضَ الاسْتِهْلَاكُ ١٨٪ بَعْدَ تَرْكِيبِ النِّظَامِ.</a:t>
            </a:r>
            <a:endParaRPr lang="ar-SA" sz="15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أُحِبُّ النِّظَامَ لِأَنِّي أُحِبُّهُ.</a:t>
            </a:r>
            <a:endParaRPr lang="ar-SA" sz="15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النِّظَامُ جَيِّدٌ جِدًّا جِدًّا.</a:t>
            </a:r>
            <a:endParaRPr lang="ar-SA" sz="15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percentage is precise evidence.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purpose is accurate and logical?</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نَسْتَثْمِرُ فِي النَّقْلِ العَامِّ لِكَيْ نَزِيدَ الازدِحَامَ.</a:t>
            </a:r>
            <a:endParaRPr lang="ar-SA" sz="14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نَسْتَثْمِرُ فِي النَّقْلِ العَامِّ لِكَيْ الطَّرِيقُ.</a:t>
            </a:r>
            <a:endParaRPr lang="ar-SA" sz="14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نَسْتَثْمِرُ فِي النَّقْلِ العَامِّ لِكَيْ نُقَلِّلَ التَّلَوُّثَ.</a:t>
            </a:r>
            <a:endParaRPr lang="ar-SA" sz="14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Public transport investment can reduce pollution.</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counterargument is relevant to a smart-city article?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المَدِينَةُ ذَكِيَّةٌ وَالذَّكَاءُ ذَكِيٌّ.</a:t>
            </a:r>
            <a:endParaRPr lang="ar-SA" sz="13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تُحَسِّنُ الكَفَاءَةَ، لٰكِنَّ الشَّمْسَ مُشْمِسَةٌ.</a:t>
            </a:r>
            <a:endParaRPr lang="ar-SA" sz="13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قَدْ تُحَسِّنُ الكَفَاءَةَ، لٰكِنَّهَا قَدْ تَجْمَعُ بَيَانَاتٍ شَخْصِيَّةً.</a:t>
            </a:r>
            <a:endParaRPr lang="ar-SA" sz="13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Privacy is a relevant counterargument.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adds a related supporting idea?</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فَضْلًا عَنْ ذٰلِكَ</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الخِتَامِ</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ذٰلِكَ</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فضلًا عن ذلك</a:t>
            </a:r>
            <a:pPr algn="l" indent="0" marL="0">
              <a:buNone/>
            </a:pPr>
            <a:r>
              <a:rPr lang="en-US" sz="1050" i="1" dirty="0">
                <a:solidFill>
                  <a:srgbClr val="8A6D1E"/>
                </a:solidFill>
                <a:latin typeface="Calibri" pitchFamily="34" charset="0"/>
                <a:cs typeface="Amiri" pitchFamily="2" charset="-78"/>
              </a:rPr>
              <a:t> adds support.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final sentence reaches a justified synthesis?</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لِذٰلِكَ، أَرَى أَنَّ الحَلَّ هُوَ الحَلُّ.</a:t>
            </a:r>
            <a:endParaRPr lang="ar-SA" sz="10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لِذٰلِكَ، أَرَى أَنَّ الحَلَّ الأَفْضَلَ يَجْمَعُ بَيْنَ التِّقْنِيَّةِ وَتَغْيِيرِ السُّلُوكِ.</a:t>
            </a:r>
            <a:endParaRPr lang="ar-SA" sz="10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لِذٰلِكَ، سَأَتَوَقَّفُ عَنِ الكِتَابَةِ.</a:t>
            </a:r>
            <a:endParaRPr lang="ar-SA" sz="10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integrates two strands of the argument.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43</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D4-L10 · Listening — Environment and Technology News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نَشْرَةٌ إِخْبَارِيَّةٌ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news bulletin</a:t>
            </a:r>
            <a:pPr indent="0" marL="0">
              <a:buNone/>
            </a:pPr>
            <a:r>
              <a:rPr lang="ar-SA" sz="1000" i="1" dirty="0">
                <a:solidFill>
                  <a:srgbClr val="5A6472"/>
                </a:solidFill>
                <a:latin typeface="Calibri" pitchFamily="34" charset="0"/>
                <a:ea typeface="Amiri" pitchFamily="2" charset="-78"/>
                <a:cs typeface="Amiri" pitchFamily="2" charset="-78"/>
              </a:rPr>
              <a:t>  pl. نَشَرَاتٌ إِخْبَارِيَّةٌ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مُرَاسِلٌ / مُرَاسِلَةٌ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correspondent (m / f)</a:t>
            </a:r>
            <a:pPr indent="0" marL="0">
              <a:buNone/>
            </a:pPr>
            <a:r>
              <a:rPr lang="ar-SA" sz="1000" i="1" dirty="0">
                <a:solidFill>
                  <a:srgbClr val="5A6472"/>
                </a:solidFill>
                <a:latin typeface="Calibri" pitchFamily="34" charset="0"/>
                <a:ea typeface="Amiri" pitchFamily="2" charset="-78"/>
                <a:cs typeface="Amiri" pitchFamily="2" charset="-78"/>
              </a:rPr>
              <a:t>  pl. مُرَاسِلُونَ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أَعْلَنَ أَنَّ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announced that</a:t>
            </a:r>
            <a:pPr indent="0" marL="0">
              <a:buNone/>
            </a:pPr>
            <a:r>
              <a:rPr lang="ar-SA" sz="1000" i="1" dirty="0">
                <a:solidFill>
                  <a:srgbClr val="5A6472"/>
                </a:solidFill>
                <a:latin typeface="Amiri" pitchFamily="2" charset="-78"/>
                <a:ea typeface="Amiri" pitchFamily="2" charset="-78"/>
                <a:cs typeface="Amiri" pitchFamily="2" charset="-78"/>
              </a:rPr>
              <a:t>  يُعْلِنُ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حَذَّرَ مِنْ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warned against</a:t>
            </a:r>
            <a:pPr indent="0" marL="0">
              <a:buNone/>
            </a:pPr>
            <a:r>
              <a:rPr lang="ar-SA" sz="1000" i="1" dirty="0">
                <a:solidFill>
                  <a:srgbClr val="5A6472"/>
                </a:solidFill>
                <a:latin typeface="Amiri" pitchFamily="2" charset="-78"/>
                <a:ea typeface="Amiri" pitchFamily="2" charset="-78"/>
                <a:cs typeface="Amiri" pitchFamily="2" charset="-78"/>
              </a:rPr>
              <a:t>  يُحَذِّرُ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كِلَاهُمَا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both of them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Finish your final draft. Then: where do you hear news about the environment?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أَسْمَعُ الأَخْبَارَ عَنِ البِيئَةِ 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70–90-word article from the frames; learn the five news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final 130–140-word article, checklist ticked.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140-word version + a self-audit naming three improvements.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43</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D4-L10 · Listening — Environment and Technology News</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أَخْبَارُ البِيئَةِ وَالتِّقْنِيَّةِ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one idea per paragraph — every connector has a job — concede, then answer — conclude by synthesising.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D4-L09 · Writing — Environment and Technology Article</dc:title>
  <dc:subject>PptxGenJS Presentation</dc:subject>
  <dc:creator>Al Madina Online School · Arabic Department</dc:creator>
  <cp:lastModifiedBy>Al Madina Online School · Arabic Department</cp:lastModifiedBy>
  <cp:revision>1</cp:revision>
  <dcterms:created xsi:type="dcterms:W3CDTF">2026-10-11T06:40:55Z</dcterms:created>
  <dcterms:modified xsi:type="dcterms:W3CDTF">2026-10-11T06:40:55Z</dcterms:modified>
</cp:coreProperties>
</file>