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D4-L09. The website lesson “Writing — Environment and Technology Article”: vocabulary, grammar rules and quiz, patterns, common mistakes, sorter, listening, reading, speaking prompts and model, writing task and model, differentiation, final check and the lesson mission. Picture match: website visual game “Writing — Environment and Technology Article”.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70–90-word article with one frame per paragraph (question · argument + example · “however” · conclusion). Develop: 130–140 words, four paragraphs, one concession and one purpose clause. Stretch: a balanced argument with a qualified judgement (شَرِيطَةَ أَنْ …) and a self-audit against the website checklist.
• Key message from the website: a range feature earns marks ONLY when it adds meaning — no “feature dumping”.
• Builds on D3-L09 (four-paragraph career text) and the D4 language: passive reporting (L03/L06/L08), conditions (L07), statistics (L08).
• TEACHER-WRITTEN ITEMS: English added to the website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D4-L08. Question 4 retrieves D4-L08 (source); question 5 retrieves purpose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paragraph does ONE job, and every connector must do a job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خاتمہ، حجت are shared. CAREFUL: Urdu مقدمہ often means a court case — Arabic مُقَدِّمَةٌ is an introduction. Urdu دلیل = an argument you make; Arabic دَلِيلٌ = the proof / evidence that supports it (the argument is حُجَّةٌ).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organisation (website vocabulary (1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organisation (website vocabulary (2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features (website vocabulary). Hear → Say → See → Use. Transliteration is printed for Core students (cover it for Develop/Stretch).
Range features: a checklist of structures to include — but only where they add meaning (the website warns against “feature dumping”).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“Paragraph logic” and the website listening (“decide your position, organise your ideas in three paragraphs … the conclusion must answer the question and bring together the main points without literal repetition”). Model sentences are from the website writing model.
Core: rows 1, 2 and 5 are enough for a supported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and response” (the response should genuinely contrast with the concession), “Purpose within an argument” (use purpose where the second action is genuinely intended by the first) and “Avoid feature dumping” (a correct range feature earns value only when it contributes to the topic and sentence meaning). All three examples are the website’s.
Ask: what would be WRONG with …لِكَيْ نَزِيدَ الانْبِعَاثَاتِ؟ (the purpose is illogical — website mistake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Paragraph logic: A paragraph must develop one idea rather than list unrelated sophisticated phrases.
• Concession and response: The response should genuinely contrast with the concession.
• Purpose within an argument: Use purpose where the second action is genuinely intended by the first.
• Avoid feature dumping: A correct range feature earns value only when it contributes to the topic and sentence meaning.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2, then the opening of the website model article in the copy box (the full model is on the Write slides: ≈ 85 words, a strong Develop model; students add one more example or a concession to reach 130–140). Students label: thesis question · argument · example · counterargument · judgement ·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then use the advice as your own plan.
Listen 1: just listen. Listen 2: note answers. Then chat the letters.
Support: after the second listening, show the read-along slide (Arabic + English, line by line) for Core students.
SCRIPT (read aloud):
قَبْلَ أَنْ تَكْتُبَ مَقَالًا، حَدِّدْ مَوْقِفَكَ وَنَظِّمْ أَفْكَارَكَ فِي ثَلَاثِ فِقَرٍ. فِي الفِقْرَةِ الأُولَى، قَدِّمْ حُجَّتَكَ الرَّئِيسِيَّةَ مَعَ مِثَالٍ مُحَدَّدٍ. وَفِي الثَّانِيَةِ، أَضِفْ دَلِيلًا أَوْ نَتِيجَةً، ثُمَّ اعْرِضْ حُجَّةً مُضَادَّةً بِاسْتِخْدَامِ مَعَ ذٰلِكَ أَوْ عَلَى الرَّغْمِ مِنْ أَنَّ. أَمَّا الخَاتِمَةُ فَيَجِبُ أَنْ تُجِيبَ عَنِ السُّؤَالِ وَتَجْمَعَ بَيْنَ أَهَمِّ النِّقَاطِ دُونَ تَكْرَارٍ حَرْفِيٍّ.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rehearse and defend a thesis aloud before drafting. Pairs: 60 seconds each; the partner asks the counterargument question. To a girl: مَا مَوْقِفُكِ؟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a 130–140-word Arabic article on climate change, AI and the environment, or sustainable cities.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يُمْكِنُ …؟ · مِنْ نَاحِيَةٍ، يُسْتَخْدَمُ لِـ … · وَعَلَاوَةً عَلَى ذٰلِكَ · فَمَثَلًا · مِنْ نَاحِيَةٍ أُخْرَى · عَلَى الرَّغْمِ مِنْ هٰذِهِ التَّحَدِّيَاتِ، أَرَى أَنَّ … شَرِيطَةَ أَنْ … · فِي الخِتَامِ … وَلٰكِنَّهَا لَا تَسْتَبْدِلُ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(D4-L10 · Listening — Environment and Technology News) will spend class time USING this language, so students prepare it tonight — short, simple, easy to access (school guidance: “Simple, Short, Interesting, Relevant, Easy to access”). The five words come from the website D4-L10 vocabulary (news and reporting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Environment and Technology Article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مَقَالٌ عَنِ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a 130–140-word article with a clear position: introduction + thesis · argument + example · counterargument · conclusion that synthesises — using connectors and range features only where they add meaning.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D4-L09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Paragraph logic, concession, purpose and meaningful range.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toolkit, fix stacked connectors, then hear how to structure an article.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introduction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addition, moreover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SOURCE?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الخِتَامِ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introduction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addition, moreover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however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conclusion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paragraph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SOURCE?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الخِتَامِ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لِلتَّقْرِيرِ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D4-L08.</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D4-L04: after li-kay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paragraph does ONE job, and every connector must do a job too.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عَلَاوَةً عَلَى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مِنْ نَاحِيَةٍ أُخْرَى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فِي الخِتَامِ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paragraph: claim → explanation → evidence → link.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genuine concession: </a:t>
            </a:r>
            <a:pPr algn="l" indent="0" marL="0">
              <a:buNone/>
            </a:pPr>
            <a:r>
              <a:rPr lang="ar-SA" altLang="en-US" sz="1700" dirty="0">
                <a:solidFill>
                  <a:srgbClr val="1F2A37"/>
                </a:solidFill>
                <a:latin typeface="Amiri" pitchFamily="34" charset="0"/>
                <a:ea typeface="Amiri" pitchFamily="34" charset="-122"/>
                <a:cs typeface="Amiri" pitchFamily="34" charset="-120"/>
              </a:rPr>
              <a:t>عَلَى الرَّغْمِ مِنْ أَنَّ … فَإِنَّ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purpose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subjunctive) where it adds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130–140-word article with a clear position and a conclusion that synthesises.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four short paragraphs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state my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paragraph with an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concession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qualified argument.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audit my draft and improve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organisation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Range features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‎مقدمہ‎ </a:t>
            </a:r>
            <a:pPr indent="0" marL="0">
              <a:buNone/>
            </a:pPr>
            <a:r>
              <a:rPr lang="en-US" sz="950" b="1" dirty="0">
                <a:solidFill>
                  <a:srgbClr val="2E8B57"/>
                </a:solidFill>
                <a:latin typeface="Calibri" pitchFamily="34" charset="0"/>
                <a:ea typeface="Calibri" pitchFamily="34" charset="-122"/>
                <a:cs typeface="Calibri" pitchFamily="34" charset="-120"/>
              </a:rPr>
              <a:t> muqaddama · Urdu: preface / lawsuit · Arabic: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Urdu: argument · Arabic: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حُجَّةٌ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‎حجت‎ </a:t>
            </a:r>
            <a:pPr indent="0" marL="0">
              <a:buNone/>
            </a:pPr>
            <a:r>
              <a:rPr lang="en-US" sz="950" b="1" dirty="0">
                <a:solidFill>
                  <a:srgbClr val="2E8B57"/>
                </a:solidFill>
                <a:latin typeface="Calibri" pitchFamily="34" charset="0"/>
                <a:ea typeface="Calibri" pitchFamily="34" charset="-122"/>
                <a:cs typeface="Calibri" pitchFamily="34" charset="-120"/>
              </a:rPr>
              <a:t> ḥujjat · argument,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conclusion, ending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organisation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introduction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paragraph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fiq-ra-tun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رَئِيسِيَّةٌ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ra-ʾī-siy-ya-tun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مِثَالٌ مُحَدَّدٌ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specific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mi-thā-lun mu-ḥad-da-dun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organisation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مُضَادَّةٌ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mu-ḍād-da-tun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خَاتِمَةٌ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khā-ti-ma-tun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التَّرَابُطُ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cohesion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at-ta-rā-bu-ṭu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اللُّغَوِيُّ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all-lu-gha-wiy-yu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البِدَايَةِ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begin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al-bi-dā-ya-ti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ʿa-lā-wa-tan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فَضْلًا عَنْ 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faḍ-lan ʿan 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الخِتَامِ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al-khi-tā-mi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Range features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لِلْمَجْهُولِ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lil-maj-hū-li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سَبَبٌ وَنَتِيجَةٌ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 and effect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sa-ba-bun wa-na-tī-ja-tun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 مَنْصُوبٌ</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 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 man-ṣū-bun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mu-qā-ra-na-tun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رَأْيٌ مُعَلَّلٌ</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justified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raʾ-yun mu-ʿal-la-lun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مُتَوَازِنَةٌ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mu-ta-wā-zi-na-tun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1 · THE ARTICLE PLAN (WEBSITE LISTENING + READING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 فِقَرٍ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فِي البِدَايَةِ</a:t>
            </a:r>
            <a:endParaRPr lang="ar-SA" sz="20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هَلْ يُمْكِنُ لِلذَّكَاءِ الاصْطِنَاعِيِّ أَنْ يُسَاعِدَ البِيئَةَ؟</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Can AI help the environment?</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question + thesis</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نَاحِيَةٍ</a:t>
            </a:r>
            <a:endParaRPr lang="ar-SA" sz="20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يُسْتَخْدَمُ لِرَصْدِ تَلَوُّثِ الهَوَاءِ. فَمَثَلًا، …</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used to monitor air pollution. For example, …</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argument + example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تُسَاعِدُ الأَنْظِمَةُ الذَّكِيَّةُ عَلَى تَقْلِيلِ هَدْرِ الطَّاقَةِ.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Smart systems help reduce energy waste.</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extra point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نَاحِيَةٍ أُخْرَى</a:t>
            </a:r>
            <a:endParaRPr lang="ar-SA" sz="2000" dirty="0"/>
          </a:p>
        </p:txBody>
      </p:sp>
      <p:sp>
        <p:nvSpPr>
          <p:cNvPr id="40" name="Text 37"/>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قَدْ تَكُونُ التَّكْلِفَةُ مُرْتَفِعَةً.</a:t>
            </a:r>
            <a:endParaRPr lang="ar-SA" sz="1950" dirty="0"/>
          </a:p>
        </p:txBody>
      </p:sp>
      <p:sp>
        <p:nvSpPr>
          <p:cNvPr id="41" name="Text 38"/>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cost may be high.</a:t>
            </a:r>
            <a:endParaRPr lang="en-US" sz="950" dirty="0"/>
          </a:p>
        </p:txBody>
      </p:sp>
      <p:sp>
        <p:nvSpPr>
          <p:cNvPr id="42" name="Text 39"/>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counterargument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فِي الخِتَامِ</a:t>
            </a:r>
            <a:endParaRPr lang="ar-SA" sz="2000" dirty="0"/>
          </a:p>
        </p:txBody>
      </p:sp>
      <p:sp>
        <p:nvSpPr>
          <p:cNvPr id="45" name="Text 42"/>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هِيَ جُزْءٌ مِنَ الحَلِّ، وَلٰكِنَّهَا لَا تَكْفِي وَحْدَهَا.</a:t>
            </a:r>
            <a:endParaRPr lang="ar-SA" sz="1950" dirty="0"/>
          </a:p>
        </p:txBody>
      </p:sp>
      <p:sp>
        <p:nvSpPr>
          <p:cNvPr id="46" name="Text 43"/>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part of the solution, but not enough on its own.</a:t>
            </a:r>
            <a:endParaRPr lang="en-US" sz="950" dirty="0"/>
          </a:p>
        </p:txBody>
      </p:sp>
      <p:sp>
        <p:nvSpPr>
          <p:cNvPr id="47" name="Text 44"/>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conclusion</a:t>
            </a:r>
            <a:endParaRPr lang="en-US" sz="11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a paragraph develops ONE idea: claim → explanation → evidence → link.</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RANGE THAT ADDS MEANING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Concede, give purpose, report — with a reason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التَّنَوُّعُ المُفِيدُ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CONCESSION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34" charset="0"/>
                <a:ea typeface="Amiri" pitchFamily="34" charset="-122"/>
                <a:cs typeface="Amiri" pitchFamily="34" charset="-120"/>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الرَّغْمِ مِنْ أَنَّ التِّقْنِيَّةَ مُكَلِّفَةٌ، فَإِنَّهَا تُوَفِّرُ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Although the technology is expensive, it saves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real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مَنْصُوبٌ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نَسْتَثْمِرُ فِي النَّقْلِ العَامِّ لِكَيْ نُقَلِّلَ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invest in public transport to reduce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logical aim.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REPORT + LINK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يُشَارُ إِلَى أَنَّ … لِذٰلِكَ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يُشَارُ إِلَى أَنَّ شُحَّ المِيَاهِ يَزْدَادُ، لِذٰلِكَ يَجِبُ تَرْشِيدُ الاسْتِهْلَاكِ.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Water scarcity is reported to be rising, so consumption must be rationalised.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Feature +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concession must create a real contrast.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عَلَى الرَّغْمِ مِنْ أَنَّهَا مُكَلِّفَةٌ، فَإِنَّهَا مُوَفِّرَةٌ.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عَلَى الرَّغْمِ مِنْ أَنَّهَا مُفِيدَةٌ، فَهِيَ مُفِيدَةٌ.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Cohesion, range and accuracy in extended writing</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التَّرَابُطُ وَالتَّنَوُّعُ وَالدِّقَّةُ فِي الكِتَابَةِ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Paragraph logic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claim → explanation → evidence → link</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تُسَاعِدُ المُدُنُ الذَّكِيَّةُ عَلَى تَقْلِيلِ الهَدْرِ؛ فَمَثَلًا، تُطْفِئُ الأَنْظِمَةُ الإِضَاءَةَ فِي الغُرَفِ الفَارِغَةِ.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Concession and response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 أَنَّ</a:t>
            </a:r>
            <a:pPr algn="l" indent="0" marL="0">
              <a:buNone/>
            </a:pPr>
            <a:r>
              <a:rPr lang="en-US" sz="1050" dirty="0">
                <a:solidFill>
                  <a:srgbClr val="5A6472"/>
                </a:solidFill>
                <a:latin typeface="Calibri" pitchFamily="34" charset="0"/>
                <a:ea typeface="Calibri" pitchFamily="34" charset="-122"/>
                <a:cs typeface="Calibri" pitchFamily="34" charset="-120"/>
              </a:rPr>
              <a:t> + clause, </a:t>
            </a:r>
            <a:pPr algn="l" indent="0" marL="0">
              <a:buNone/>
            </a:pPr>
            <a:r>
              <a:rPr lang="ar-SA" altLang="en-US" sz="1350" dirty="0">
                <a:solidFill>
                  <a:srgbClr val="5A6472"/>
                </a:solidFill>
                <a:latin typeface="Amiri" pitchFamily="34" charset="0"/>
                <a:ea typeface="Amiri" pitchFamily="34" charset="-122"/>
                <a:cs typeface="Amiri" pitchFamily="34" charset="-120"/>
              </a:rPr>
              <a:t>فَـ</a:t>
            </a:r>
            <a:pPr algn="l" indent="0" marL="0">
              <a:buNone/>
            </a:pPr>
            <a:r>
              <a:rPr lang="en-US" sz="1050" dirty="0">
                <a:solidFill>
                  <a:srgbClr val="5A6472"/>
                </a:solidFill>
                <a:latin typeface="Calibri" pitchFamily="34" charset="0"/>
                <a:ea typeface="Calibri" pitchFamily="34" charset="-122"/>
                <a:cs typeface="Calibri" pitchFamily="34" charset="-120"/>
              </a:rPr>
              <a:t> + response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عَلَى الرَّغْمِ مِنْ أَنَّ التِّقْنِيَّةَ مُكَلِّفَةٌ فِي البِدَايَةِ، فَإِنَّهَا تُوَفِّرُ الطَّاقَةَ عَلَى المَدَى البَعِيدِ.</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Purpose within an argument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نَسْتَثْمِرُ فِي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Avoid feature dumping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range feature + relevant meaning</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شُحَّ المِيَاهِ يَزْدَادُ، لِذٰلِكَ يَجِبُ تَرْشِيدُ الاسْتِهْلَاكِ.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forms a developed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Nine unrelated connectors →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list → title → repeated claim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Claim → explanation → evidence → link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genuine concession.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عَلَى الرَّغْمِ مِنْ أَنَّ التِّقْنِيَّةَ مُكَلِّفَةٌ، فَإِنَّهَا تُوَفِّرُ المَالَ لَاحِقًا.</a:t>
            </a:r>
            <a:endParaRPr lang="ar-SA" sz="17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عَلَى الرَّغْمِ التِّقْنِيَّةُ مِنْ أَنَّ مُكَلِّفَةٌ.</a:t>
            </a:r>
            <a:endParaRPr lang="ar-SA" sz="17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عَلَى الرَّغْمِ مِنْ أَنَّ التِّقْنِيَّةَ مُكَلِّفَةٌ، فَهِيَ مُكَلِّفَةٌ.</a:t>
            </a:r>
            <a:endParaRPr lang="ar-SA" sz="17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purpose.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نَزِيدَ التَّصَحُّرَ.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المَنَاخُ.</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new supporting point?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الخِتَامِ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forms a developed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Nine unrelated connectors → conclusion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list → title → repeated claim</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Claim → explanation → evidence → link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coherent paragraph develops one line of reasoning.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genuine concession.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التِّقْنِيَّةَ مُكَلِّفَةٌ، فَإِنَّهَا تُوَفِّرُ المَالَ لَاحِقًا.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التِّقْنِيَّةُ مِنْ أَنَّ مُكَلِّفَةٌ.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أَنَّ التِّقْنِيَّةَ مُكَلِّفَةٌ، فَهِيَ مُكَلِّفَةٌ.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clause contrasts initial cost with later saving.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purpose.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نَزِيدَ التَّصَحُّرَ.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المَنَاخُ.</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Tree planting can improve air quality.</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new supporting point?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عَلَاوَةً عَلَى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الخِتَامِ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علاوة على ذلك</a:t>
            </a:r>
            <a:pPr algn="l" indent="0" marL="0">
              <a:buNone/>
            </a:pPr>
            <a:r>
              <a:rPr lang="en-US" sz="1050" i="1" dirty="0">
                <a:solidFill>
                  <a:srgbClr val="8A6D1E"/>
                </a:solidFill>
                <a:latin typeface="Calibri" pitchFamily="34" charset="0"/>
                <a:ea typeface="Calibri" pitchFamily="34" charset="-122"/>
                <a:cs typeface="Calibri" pitchFamily="34" charset="-120"/>
              </a:rPr>
              <a:t> adds support.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الذَّكَاءُ الاصْطِنَاعِيُّ · رَصْدُ التَّلَوُّثِ</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الذَّكَاءُ الاصْطِنَاعِيُّ مُفِيدٌ. هُوَ مُفِيدٌ جِدًّا.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evidence, repeats.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Claim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يُسْتَخْدَمُ لِرَصْدِ التَّلَوُّثِ. </a:t>
            </a:r>
            <a:pPr rtl="1" algn="ct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فَمَثَلًا</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يَتَنَبَّأُ بِشُحِّ المِيَاهِ.</a:t>
            </a:r>
            <a:endParaRPr lang="ar-SA" sz="16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Claim, then 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نَتِيجَةً لِذٰلِكَ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نَسْتَطِيعُ أَنْ نَتَصَرَّفَ مُبَكِّرًا.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 to the question.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CLAIM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هَلْ يُمْكِنُ لِلذَّكَاءِ الاصْطِنَاعِيِّ أَنْ يُسَاعِدَ البِيئَةَ؟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نَاحِيَةٍ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يُسْتَخْدَمُ لِرَصْدِ تَلَوُّثِ الهَوَاءِ وَالتَّنَبُّؤِ بِشُحِّ المِيَاهِ. وَعَلَاوَةً عَلَى ذٰلِكَ، تُسَاعِدُ الأَنْظِمَةُ الذَّكِيَّةُ عَلَى تَقْلِيلِ هَدْرِ الطَّاقَةِ.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فَمَثَلًا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يُمْكِنُهَا أَنْ تُطْفِئَ الإِضَاءَةَ فِي الغُرَفِ الفَارِغَةِ.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Can AI help the environment? On the one hand, it is used to monitor air pollution and predict water scarcity. Moreover, smart systems help reduce energy waste; for example, they can turn off lights in empty rooms.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تُسَاعِدُ المُدُنُ الذَّكِيَّةُ عَلَى تَقْلِيلِ الهَدْرِ؛ فَمَثَلًا، تُطْفِئُ الأَنْظِمَةُ الإِضَاءَةَ فِي الغُرَفِ الفَارِغَةِ.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Smart cities help reduce waste; for example, systems turn off lights in empty rooms.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paragraph must develop one idea rather than list unrelated sophisticated phrases.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عَلَى الرَّغْمِ مِنْ أَنَّ التِّقْنِيَّةَ مُكَلِّفَةٌ فِي البِدَايَةِ، فَإِنَّهَا تُوَفِّرُ الطَّاقَةَ عَلَى المَدَى البَعِيدِ.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the technology is expensive at first, it saves energy in the long term.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response should genuinely contrast with the concession.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نَسْتَثْمِرُ فِي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invest in public transport in order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purpose where the second action is genuinely intended by the first.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فِقْرَةٌ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حُجَّةٌ رَئِيسِيَّةٌ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فَضْلًا عَنْ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لِلْمَجْهُولِ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سَبَبٌ وَنَتِيجَةٌ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 مَنْصُوبٌ</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Academic organisation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Formal connectors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Range features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Academic organisation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فِقْرَةٌ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حُجَّةٌ رَئِيسِيَّةٌ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Formal connectors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فَضْلًا عَنْ ذٰلِكَ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Range features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لِلْمَجْهُولِ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سَبَبٌ وَنَتِيجَةٌ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 مَنْصُوبٌ</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passive for a clear reason?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يُشَارُ إِلَى المِيَاهِ.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المَاءُ فِي الشُّحِّ.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المِيَاهَ تَشِحُّ فِي المَنْطِقَةِ.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counterpoint?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thesis is appropriately focused?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البِيئَةُ وَالتِّقْنِيَّةُ أَشْيَاءُ كَثِيرَةٌ جِدًّا.</a:t>
            </a:r>
            <a:endParaRPr lang="ar-SA"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يُمْكِنُ لِلذَّكَاءِ الاصْطِنَاعِيِّ أَنْ يُسَاعِدَ البِيئَةَ، وَلٰكِنَّ نَجَاحَهُ يَعْتَمِدُ عَلَى طَرِيقَةِ اسْتِخْدَامِهِ.</a:t>
            </a:r>
            <a:endParaRPr lang="ar-SA"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سَأَكْتُبُ عَنِ التِّقْنِيَّةِ لِأَنَّ المَوْضُوعَ هُوَ التِّقْنِيَّةُ.</a:t>
            </a:r>
            <a:endParaRPr lang="ar-SA"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synthesises rather than repeats?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فِي الخِتَامِ، أُعِيدُ الجُمْلَةَ الأُولَى نَفْسَهَا.</a:t>
            </a:r>
            <a:endParaRPr lang="ar-SA" sz="140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فِي الخِتَامِ، التِّقْنِيَّةُ تِقْنِيَّةٌ.</a:t>
            </a:r>
            <a:endParaRPr lang="ar-SA" sz="140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فِي الخِتَامِ، لَا يَكْفِي الحَلُّ التِّقْنِيُّ وَحْدَهُ؛ بَلْ يَجِبُ أَنْ يَصْحَبَهُ تَغْيِيرٌ فِي السُّلُوكِ.</a:t>
            </a:r>
            <a:endParaRPr lang="ar-SA" sz="14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passive for a clear reason?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يُشَارُ إِلَى المِيَاهِ.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المَاءُ فِي الشُّحِّ.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المِيَاهَ تَشِحُّ فِي المَنْطِقَةِ.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impersonal passive foregrounds the reported information.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counterpoint?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البِدَايَةِ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introduces contrast or reservation.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thesis is appropriately focused?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البِيئَةُ وَالتِّقْنِيَّةُ أَشْيَاءُ كَثِيرَةٌ جِدًّا.</a:t>
            </a:r>
            <a:endParaRPr lang="ar-SA"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يُمْكِنُ لِلذَّكَاءِ الاصْطِنَاعِيِّ أَنْ يُسَاعِدَ البِيئَةَ، وَلٰكِنَّ نَجَاحَهُ يَعْتَمِدُ عَلَى طَرِيقَةِ اسْتِخْدَامِهِ.</a:t>
            </a:r>
            <a:endParaRPr lang="ar-SA"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سَأَكْتُبُ عَنِ التِّقْنِيَّةِ لِأَنَّ المَوْضُوعَ هُوَ التِّقْنِيَّةُ.</a:t>
            </a:r>
            <a:endParaRPr lang="ar-SA"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establishes a clear, arguable position.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synthesises rather than repeats?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فِي الخِتَامِ، أُعِيدُ الجُمْلَةَ الأُولَى نَفْسَهَا.</a:t>
            </a:r>
            <a:endParaRPr lang="ar-SA" sz="14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فِي الخِتَامِ، التِّقْنِيَّةُ تِقْنِيَّةٌ.</a:t>
            </a:r>
            <a:endParaRPr lang="ar-SA" sz="14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الخِتَامِ، لَا يَكْفِي الحَلُّ التِّقْنِيُّ وَحْدَهُ؛ بَلْ يَجِبُ أَنْ يَصْحَبَهُ تَغْيِيرٌ فِي السُّلُوكِ.</a:t>
            </a:r>
            <a:endParaRPr lang="ar-SA" sz="14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draws together technology and behaviour into a final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مِنْ أَنَّ التِّقْنِيَّةَ مُفِيدَةٌ، فَهِيَ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a real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نَسْتَخْدِمُ الطَّاقَةَ الشَّمْسِيَّةَ لِكَيْ نَزِيدَ الانْبِعَاثَاتِ.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aim logical?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34" charset="0"/>
                <a:ea typeface="Amiri" pitchFamily="34" charset="-122"/>
                <a:cs typeface="Amiri" pitchFamily="34" charset="-120"/>
              </a:rPr>
              <a:t>عَلَاوَةً عَلَى ذٰلِكَ لٰكِنْ مَعَ ذٰلِكَ فِي الخِتَامِ، التِّقْنِيَّةُ مُفِيدَةٌ.</a:t>
            </a:r>
            <a:endParaRPr lang="ar-SA" sz="27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connector, one job.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مِنْ أَنَّ التِّقْنِيَّةَ مُفِيدَةٌ، فَهِيَ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عَلَى الرَّغْمِ مِنْ أَنَّ التِّقْنِيَّةَ مُكَلِّفَةٌ، فَإِنَّهَا تُوَفِّرُ الطَّاقَةَ لَاحِقًا.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create a real contrast.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نَسْتَخْدِمُ الطَّاقَةَ الشَّمْسِيَّةَ لِكَيْ نَزِيدَ الانْبِعَاثَاتِ.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نَسْتَخْدِمُ الطَّاقَةَ الشَّمْسِيَّةَ لِكَيْ نُقَلِّلَ الانْبِعَاثَاتِ.</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purpose must be logically connected to the action.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عَلَاوَةً عَلَى ذٰلِكَ لٰكِنْ مَعَ ذٰلِكَ فِي الخِتَامِ، التِّقْنِيَّةُ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عَلَاوَةً عَلَى ذٰلِكَ، تُقَلِّلُ التِّقْنِيَّةُ الهَدْرَ. مَعَ ذٰلِكَ، تَحْتَاجُ إِلَى ضَوَابِطَ.</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stack connectors; each must perform a clear function.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how to structure an extended article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decided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position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font colour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of pictures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main paragraphs are suggested?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belongs with the main argument?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unrelated vocabulary list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repeated title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specific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paragraph add?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 or a result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 greeting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random date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Which connectors can introduce the counterargument?</a:t>
            </a:r>
            <a:endParaRPr lang="en-US" sz="10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مُنْذُ</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حَتَّى</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مَعَ ذٰلِكَ</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عَلَى الرَّغْمِ مِنْ أَنَّ</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 البِدَايَةِ</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قُرْبَ</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conclusion avoid?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Literal repetition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Answering the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Combining key points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a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position · argument + example · evidence · counterargument · conclusion.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تَكْتُبَ مَقَالًا، حَدِّدْ مَوْقِفَكَ وَنَظِّمْ أَفْكَارَكَ فِي ثَلَاثِ فِقَرٍ.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you write an article, decide your position and organise your ideas in three paragraphs.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الفِقْرَةِ الأُولَى، قَدِّمْ حُجَّتَكَ الرَّئِيسِيَّةَ مَعَ مِثَالٍ مُحَدَّدٍ.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present your main argument with a specific example.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الثَّانِيَةِ، أَضِفْ دَلِيلًا أَوْ نَتِيجَةً،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add evidence or a result,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اعْرِضْ حُجَّةً مُضَادَّةً بِاسْتِخْدَامِ مَعَ ذٰلِكَ أَوْ عَلَى الرَّغْمِ مِنْ أَنَّ.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present a counterargument using “nevertheless” or “although”.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أَمَّا الخَاتِمَةُ فَيَجِبُ أَنْ تُجِيبَ عَنِ السُّؤَالِ وَتَجْمَعَ بَيْنَ أَهَمِّ النِّقَاطِ دُونَ تَكْرَارٍ حَرْفِيٍّ.</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conclusion, it must answer the question and bring together the main points without word-for-word repetition.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decided before writing?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position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font colour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of pictures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حدد موقفك.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main paragraphs are suggested?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Seven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ثلاث فقر.</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belongs with the main argument?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An unrelated vocabulary list</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repeated title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specific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 مثال محدد.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paragraph add?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 or a result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 greeting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random date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دليلًا أو نتيجة.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Which connectors can introduce the counterargument?</a:t>
            </a:r>
            <a:endParaRPr lang="en-US" sz="10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مُنْذُ</a:t>
            </a:r>
            <a:pPr algn="l" indent="0" marL="0">
              <a:buNone/>
            </a:pPr>
            <a:r>
              <a:rPr lang="en-US" sz="1250" dirty="0">
                <a:solidFill>
                  <a:srgbClr val="9AA1AB"/>
                </a:solidFill>
                <a:latin typeface="Calibri" pitchFamily="34" charset="0"/>
                <a:ea typeface="Calibri" pitchFamily="34" charset="-122"/>
                <a:cs typeface="Calibri" pitchFamily="34" charset="-120"/>
              </a:rPr>
              <a:t> or </a:t>
            </a:r>
            <a:pPr algn="l" indent="0" marL="0">
              <a:buNone/>
            </a:pPr>
            <a:r>
              <a:rPr lang="ar-SA" altLang="en-US" sz="1650" dirty="0">
                <a:solidFill>
                  <a:srgbClr val="9AA1AB"/>
                </a:solidFill>
                <a:latin typeface="Amiri" pitchFamily="34" charset="0"/>
                <a:ea typeface="Amiri" pitchFamily="34" charset="-122"/>
                <a:cs typeface="Amiri" pitchFamily="34" charset="-120"/>
              </a:rPr>
              <a:t>حَتَّى</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مَعَ ذٰلِكَ</a:t>
            </a:r>
            <a:pPr algn="l" indent="0" marL="0">
              <a:buNone/>
            </a:pPr>
            <a:r>
              <a:rPr lang="en-US" sz="1150" b="1" dirty="0">
                <a:solidFill>
                  <a:srgbClr val="1F2A37"/>
                </a:solidFill>
                <a:latin typeface="Calibri" pitchFamily="34" charset="0"/>
                <a:ea typeface="Calibri" pitchFamily="34" charset="-122"/>
                <a:cs typeface="Calibri" pitchFamily="34" charset="-120"/>
              </a:rPr>
              <a:t> or </a:t>
            </a:r>
            <a:pPr algn="l" indent="0" marL="0">
              <a:buNone/>
            </a:pPr>
            <a:r>
              <a:rPr lang="ar-SA" altLang="en-US" sz="1500" b="1" dirty="0">
                <a:solidFill>
                  <a:srgbClr val="1F2A37"/>
                </a:solidFill>
                <a:latin typeface="Amiri" pitchFamily="34" charset="0"/>
                <a:ea typeface="Amiri" pitchFamily="34" charset="-122"/>
                <a:cs typeface="Amiri" pitchFamily="34" charset="-120"/>
              </a:rPr>
              <a:t>عَلَى الرَّغْمِ مِنْ أَنَّ</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فِي البِدَايَةِ</a:t>
            </a:r>
            <a:pPr algn="l" indent="0" marL="0">
              <a:buNone/>
            </a:pPr>
            <a:r>
              <a:rPr lang="en-US" sz="1250" dirty="0">
                <a:solidFill>
                  <a:srgbClr val="9AA1AB"/>
                </a:solidFill>
                <a:latin typeface="Calibri" pitchFamily="34" charset="0"/>
                <a:ea typeface="Calibri" pitchFamily="34" charset="-122"/>
                <a:cs typeface="Calibri" pitchFamily="34" charset="-120"/>
              </a:rPr>
              <a:t> or </a:t>
            </a:r>
            <a:pPr algn="l" indent="0" marL="0">
              <a:buNone/>
            </a:pPr>
            <a:r>
              <a:rPr lang="ar-SA" altLang="en-US" sz="1650" dirty="0">
                <a:solidFill>
                  <a:srgbClr val="9AA1AB"/>
                </a:solidFill>
                <a:latin typeface="Amiri" pitchFamily="34" charset="0"/>
                <a:ea typeface="Amiri" pitchFamily="34" charset="-122"/>
                <a:cs typeface="Amiri" pitchFamily="34" charset="-120"/>
              </a:rPr>
              <a:t>قُرْبَ</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named in the script.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conclusion avoid?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Literal repetition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Answering the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Combining key points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دون تكرار حرفي.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a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position · argument + example · evidence · counterargument · conclusion.</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Speaking: rehearse and defend a thesis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مَوْقِفُكَ الرَّئِيسِيُّ؟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الدَّلِيلُ الَّذِي سَتَسْتَخْدِمُهُ؟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الحُجَّةُ المُضَادَّةُ؟ وَكَيْفَ تَرُدُّ عَلَيْهَا؟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أَرَى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الدَّلِيلُ عَلَى ذٰلِكَ أَنَّ ___ ؛ فَمَثَلًا،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التِّقْنِيَّةُ وَحْدَهَا كَافِيَةٌ لِحِمَايَةِ البِيئَةِ؟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technology alone enough to protect the environment?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فَهِيَ تُقَلِّلُ الهَدْرَ وَتُحَسِّنُ الرَّصْدَ، لٰكِنَّ نَجَاحَهَا يَعْتَمِدُ عَلَى القَوَانِينِ وَسُلُوكِ الأَفْرَادِ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No — it reduces waste and improves monitoring, but its success also depends on laws and individual behaviour.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frame per paragraph: question · argument + example · “however” · conclusion.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130–140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paragraphs with one concession and one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balanced, qualified judgement (شَرِيطَةَ أَنْ …) + a self-audit with the website checklist.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نَسْتَخْدِمُهُ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use it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______ ، فَإِنَّ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 لِذٰلِكَ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indicated that … , so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لِـ ______ أَنْ يُسَاعِدَ البِيئَةَ؟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Can … help the environment?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مِنْ نَاحِيَةٍ، يُسَاعِدُ عَلَى ______ . فَمَثَلًا،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it helps … For example,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ذٰلِكَ، المُشْكِلَةُ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the problem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الخِتَامِ، أَرَى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I think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البِدَايَةِ  ·  مِنْ نَاحِيَةٍ  ·  مِنْ نَاحِيَةٍ أُخْرَى  ·  عَلَاوَةً عَلَى ذٰلِكَ  ·  فَضْلًا عَنْ ذٰلِكَ  ·  فَمَثَلًا  ·  مَعَ ذٰلِكَ  ·  عَلَى الرَّغْمِ مِنْ أَنَّ  ·  لِكَيْ  ·  نَتِيجَةً لِذٰلِكَ  ·  يُشَارُ إِلَى أَنَّ  ·  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130–140-word Arabic article on climate change, AI and the environment, or sustainable cities.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Answer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range features only where they add meaning.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Develop each paragraph with explanation or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agreement, prepositions and verb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تُحْمَى الخُصُوصِيَّةُ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privacy is protected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جُزْءٌ قَوِيٌّ مِنَ الحَلِّ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strong part of the solution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تَسْتَبْدِلُ السِّيَاسَاتِ</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does not replace policies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يَكْفِي … وَحْدَهُ؛ بَلْ يَجِبُ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alone is not enough; rather, …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البَعِيدِ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long term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يُمْكِنُ لِلذَّكَاءِ الاصْطِنَاعِيِّ أَنْ يُسَاعِدَ البِيئَةَ؟ مِنْ نَاحِيَةٍ، يُسْتَخْدَمُ لِرَصْدِ تَلَوُّثِ الهَوَاءِ وَالتَّنَبُّؤِ بِشُحِّ المِيَاهِ. وَعَلَاوَةً عَلَى ذٰلِكَ، تُسَاعِدُ الأَنْظِمَةُ الذَّكِيَّةُ عَلَى تَقْلِيلِ هَدْرِ الطَّاقَةِ. فَمَثَلًا، يُمْكِنُهَا أَنْ تُطْفِئَ الإِضَاءَةَ فِي الغُرَفِ الفَارِغَةِ. مِنْ نَاحِيَةٍ أُخْرَى، قَدْ تَكُونُ التَّكْلِفَةُ مُرْتَفِعَةً، وَقَدْ تُجْمَعُ بَيَانَاتٌ شَخْصِيَّةٌ. عَلَى الرَّغْمِ مِنْ هٰذِهِ التَّحَدِّيَاتِ، أَرَى أَنَّ الاسْتِثْمَارَ فِي هٰذِهِ التِّقْنِيَّةِ مُهِمٌّ شَرِيطَةَ أَنْ تُحْمَى الخُصُوصِيَّةُ. فِي الخِتَامِ، هِيَ جُزْءٌ قَوِيٌّ مِنَ الحَلِّ، وَلٰكِنَّهَا لَا تَسْتَبْدِلُ السِّيَاسَاتِ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Can AI help the environment? On the one hand, it is used to monitor air pollution and predict water scarcity. Moreover, smart systems help reduce energy waste; for example, they can turn off lights in empty rooms. On the other hand, the cost may be high and personal data may be collected. Despite these challenges, I think investing in this technology is important, provided that privacy is protected. In conclusion, it is a strong part of the solution, but it does not replace policies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thesis question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argument + example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counterargument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conclusion that synthesises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question with a clear 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at least one specific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paragraph develops ONE idea.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concession is a real contrast; my purpose is logical.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conclusion synthesises — it does not repeat.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counterpoint?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a meaningful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النِّظَامَ لِكَيْ الهَدْرُ.</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النِّظَامَ لِكَيْ نُقَلِّلَ الهَدْرَ.</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النِّظَامَ لِكَيْ نَزِيدَ الهَدْرَ.</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synthesises?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التِّقْنِيَّةُ جُزْءٌ مِنَ الحَلِّ، وَلٰكِنَّهَا تَحْتَاجُ إِلَى سِيَاسَاتٍ وَسُلُوكٍ مَسْؤُولٍ.</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التِّقْنِيَّةُ هِيَ التِّقْنِيَّةُ.</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فِي الخِتَامِ، أُعِيدُ المُقَدِّمَةَ حَرْفِيًّا.</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counterpoint?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 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عَلَاوَةً عَلَى ذٰلِكَ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البِدَايَةِ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 ذلك.</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a meaningful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نَسْتَخْدِمُ النِّظَامَ لِكَيْ الهَدْرُ.</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نَسْتَخْدِمُ النِّظَامَ لِكَيْ نُقَلِّلَ الهَدْرَ.</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نَسْتَخْدِمُ النِّظَامَ لِكَيْ نَزِيدَ الهَدْرَ.</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purpose is coherent and grammatical.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synthesises?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التِّقْنِيَّةُ جُزْءٌ مِنَ الحَلِّ، وَلٰكِنَّهَا تَحْتَاجُ إِلَى سِيَاسَاتٍ وَسُلُوكٍ مَسْؤُولٍ.</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التِّقْنِيَّةُ هِيَ التِّقْنِيَّةُ.</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فِي الخِتَامِ، أُعِيدُ المُقَدِّمَةَ حَرْفِيًّا.</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the main judgement with its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Reading: analyse an environment–technology model</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هَلْ تَسْتَطِيعُ التِّقْنِيَّةُ حَلَّ المُشْكِلَاتِ البِيئِيَّةِ؟ مِنْ نَاحِيَةٍ، يُسْتَخْدَمُ الذَّكَاءُ الاصْطِنَاعِيُّ لِرَصْدِ التَّلَوُّثِ وَالتَّنَبُّؤِ بِالطَّلَبِ عَلَى الطَّاقَةِ. وَعَلَاوَةً عَلَى ذٰلِكَ، تُقَلِّلُ الشَّبَكَاتُ الذَّكِيَّةُ الهَدْرَ. مِنْ نَاحِيَةٍ أُخْرَى، هٰذِهِ الأَنْظِمَةُ مُكَلِّفَةٌ، وَقَدْ تَجْمَعُ بَيَانَاتٍ شَخْصِيَّةً. لِذٰلِكَ، لَا يَكْفِي الاسْتِثْمَارُ فِي الأَجْهِزَةِ؛ بَلْ يَجِبُ وَضْعُ ضَوَابِطَ وَتَغْيِيرُ سُلُوكِ المُسْتَخْدِمِينَ. فِي الخِتَامِ، التِّقْنِيَّةُ جُزْءٌ مِنَ الحَلِّ وَلَيْسَتِ الحَلَّ كُلَّهُ.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المُشْكِلَاتِ البِيئِيَّةِ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environmental problems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لِرَصْدِ التَّلَوُّثِ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monitor pollution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التَّنَبُّؤِ بِـ</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predicting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الشَّبَكَاتُ الذَّكِيَّةُ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smart grids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الهَدْرَ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expensive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بَيَانَاتٍ شَخْصِيَّةً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personal data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ضَوَابِطَ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rules, controls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سُلُوكِ المُسْتَخْدِمِينَ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users’ behaviour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الحَلَّ كُلَّهُ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whole solution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Whether weather is always sunny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Whether technology can solve environmental problems</a:t>
            </a:r>
            <a:endParaRPr lang="en-US" sz="11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Whether sport is popular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use of AI.</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meals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Designing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Monitoring pollution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smart grids reduce?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Privacy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reservations are raised?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and snow</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 and personal-data collection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and handwriting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must accompany devices?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and behaviour change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planning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waste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solves everything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has no use at all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Technology is part of the solution, not the whole solution</a:t>
            </a:r>
            <a:endParaRPr lang="en-US" sz="1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question?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Whether weather is always sunny</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Whether technology can solve environmental problems</a:t>
            </a:r>
            <a:endParaRPr lang="en-US" sz="11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Whether sport is popular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states it.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use of AI.</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meals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Designing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Monitoring pollution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رصد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smart grids reduce?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Waste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Privacy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الهدر.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reservations are raised?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and snow</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Cost and personal-data collection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Vocabulary and handwriting</a:t>
            </a:r>
            <a:endParaRPr lang="en-US" sz="12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مكلفة وقد تجمع بيانات شخصية.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must accompany devices?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Rules and behaviour change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planning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waste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وضع ضوابط وتغيير السلوك.</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Technology solves everything alone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Technology has no use at all</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Technology is part of the solution, not the whole solution</a:t>
            </a:r>
            <a:endParaRPr lang="en-US" sz="10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explicitly says this.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Writing — Environment and Technology Article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thesis for an article on AI and the environment?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الذَّكَاءُ الاصْطِنَاعِيُّ كَلِمَتَانِ طَوِيلَتَانِ.</a:t>
            </a:r>
            <a:endParaRPr lang="ar-SA" sz="1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قَدْ يُسَاعِدُ الذَّكَاءُ الاصْطِنَاعِيُّ فِي رَصْدِ التَّلَوُّثِ، وَلٰكِنَّ فَائِدَتَهُ تَعْتَمِدُ عَلَى الاسْتِخْدَامِ المَسْؤُولِ.</a:t>
            </a:r>
            <a:endParaRPr lang="ar-SA" sz="1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سَأَكْتُبُ عَنِ البِيئَةِ لأَنَّ السُّؤَالَ عَنِ البِيئَةِ.</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specific evidence?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انْخَفَضَ الاسْتِهْلَاكُ ١٨٪ بَعْدَ تَرْكِيبِ النِّظَامِ.</a:t>
            </a:r>
            <a:endParaRPr lang="ar-SA" sz="15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 النِّظَامَ لِأَنِّي أُحِبُّهُ.</a:t>
            </a:r>
            <a:endParaRPr lang="ar-SA" sz="15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النِّظَامُ جَيِّدٌ جِدًّا جِدًّا.</a:t>
            </a:r>
            <a:endParaRPr lang="ar-SA" sz="15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is accurate and logical?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نَسْتَثْمِرُ فِي النَّقْلِ العَامِّ لِكَيْ نَزِيدَ الازدِحَامَ.</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نَسْتَثْمِرُ فِي النَّقْلِ العَامِّ لِكَيْ الطَّرِيقُ.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نَسْتَثْمِرُ فِي النَّقْلِ العَامِّ لِكَيْ نُقَلِّلَ التَّلَوُّثَ.</a:t>
            </a:r>
            <a:endParaRPr lang="ar-SA" sz="14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counterargument is relevant to a smart-city article?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المَدِينَةُ ذَكِيَّةٌ وَالذَّكَاءُ ذَكِيٌّ.</a:t>
            </a:r>
            <a:endParaRPr lang="ar-SA" sz="13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تُحَسِّنُ الكَفَاءَةَ، لٰكِنَّ الشَّمْسَ مُشْمِسَةٌ.</a:t>
            </a:r>
            <a:endParaRPr lang="ar-SA" sz="13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قَدْ تُحَسِّنُ الكَفَاءَةَ، لٰكِنَّهَا قَدْ تَجْمَعُ بَيَانَاتٍ شَخْصِيَّةً.</a:t>
            </a:r>
            <a:endParaRPr lang="ar-SA" sz="13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related supporting idea?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فَضْلًا عَنْ ذٰلِكَ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الخِتَامِ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final sentence reaches a justified synthesis?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لِذٰلِكَ، أَرَى أَنَّ الحَلَّ هُوَ الحَلُّ.</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لِذٰلِكَ، أَرَى أَنَّ الحَلَّ الأَفْضَلَ يَجْمَعُ بَيْنَ التِّقْنِيَّةِ وَتَغْيِيرِ السُّلُوكِ.</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لِذٰلِكَ، سَأَتَوَقَّفُ عَنِ الكِتَابَةِ.</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thesis for an article on AI and the environment?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الذَّكَاءُ الاصْطِنَاعِيُّ كَلِمَتَانِ طَوِيلَتَانِ.</a:t>
            </a:r>
            <a:endParaRPr lang="ar-SA" sz="10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قَدْ يُسَاعِدُ الذَّكَاءُ الاصْطِنَاعِيُّ فِي رَصْدِ التَّلَوُّثِ، وَلٰكِنَّ فَائِدَتَهُ تَعْتَمِدُ عَلَى الاسْتِخْدَامِ المَسْؤُولِ.</a:t>
            </a:r>
            <a:endParaRPr lang="ar-SA" sz="10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سَأَكْتُبُ عَنِ البِيئَةِ لأَنَّ السُّؤَالَ عَنِ البِيئَةِ.</a:t>
            </a:r>
            <a:endParaRPr lang="ar-SA" sz="10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focused and balanced.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specific evidence?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انْخَفَضَ الاسْتِهْلَاكُ ١٨٪ بَعْدَ تَرْكِيبِ النِّظَامِ.</a:t>
            </a:r>
            <a:endParaRPr lang="ar-SA" sz="15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أُحِبُّ النِّظَامَ لِأَنِّي أُحِبُّهُ.</a:t>
            </a:r>
            <a:endParaRPr lang="ar-SA" sz="15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النِّظَامُ جَيِّدٌ جِدًّا جِدًّا.</a:t>
            </a:r>
            <a:endParaRPr lang="ar-SA" sz="15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percentage is precise evidence.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is accurate and logical?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نَسْتَثْمِرُ فِي النَّقْلِ العَامِّ لِكَيْ نَزِيدَ الازدِحَامَ.</a:t>
            </a:r>
            <a:endParaRPr lang="ar-SA" sz="14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نَسْتَثْمِرُ فِي النَّقْلِ العَامِّ لِكَيْ الطَّرِيقُ.</a:t>
            </a:r>
            <a:endParaRPr lang="ar-SA" sz="14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نَسْتَثْمِرُ فِي النَّقْلِ العَامِّ لِكَيْ نُقَلِّلَ التَّلَوُّثَ.</a:t>
            </a:r>
            <a:endParaRPr lang="ar-SA" sz="14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Public transport investment can reduce pollution.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counterargument is relevant to a smart-city article?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المَدِينَةُ ذَكِيَّةٌ وَالذَّكَاءُ ذَكِيٌّ.</a:t>
            </a:r>
            <a:endParaRPr lang="ar-SA" sz="13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تُحَسِّنُ الكَفَاءَةَ، لٰكِنَّ الشَّمْسَ مُشْمِسَةٌ.</a:t>
            </a:r>
            <a:endParaRPr lang="ar-SA" sz="13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قَدْ تُحَسِّنُ الكَفَاءَةَ، لٰكِنَّهَا قَدْ تَجْمَعُ بَيَانَاتٍ شَخْصِيَّةً.</a:t>
            </a:r>
            <a:endParaRPr lang="ar-SA" sz="13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Privacy is a relevant counterargument.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related supporting idea?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فَضْلًا عَنْ ذٰلِكَ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الخِتَامِ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فضلًا عن ذلك</a:t>
            </a:r>
            <a:pPr algn="l" indent="0" marL="0">
              <a:buNone/>
            </a:pPr>
            <a:r>
              <a:rPr lang="en-US" sz="1050" i="1" dirty="0">
                <a:solidFill>
                  <a:srgbClr val="8A6D1E"/>
                </a:solidFill>
                <a:latin typeface="Calibri" pitchFamily="34" charset="0"/>
                <a:ea typeface="Calibri" pitchFamily="34" charset="-122"/>
                <a:cs typeface="Calibri" pitchFamily="34" charset="-120"/>
              </a:rPr>
              <a:t> adds support.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final sentence reaches a justified synthesis?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لِذٰلِكَ، أَرَى أَنَّ الحَلَّ هُوَ الحَلُّ.</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لِذٰلِكَ، أَرَى أَنَّ الحَلَّ الأَفْضَلَ يَجْمَعُ بَيْنَ التِّقْنِيَّةِ وَتَغْيِيرِ السُّلُوكِ.</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لِذٰلِكَ، سَأَتَوَقَّفُ عَنِ الكِتَابَةِ.</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integrates two strands of the argument.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D4-L10 · Listening — Environment and Technology News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نَشْرَةٌ إِخْبَارِيَّةٌ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news bulletin</a:t>
            </a:r>
            <a:pPr indent="0" marL="0">
              <a:buNone/>
            </a:pPr>
            <a:r>
              <a:rPr lang="en-US" sz="1000" i="1" dirty="0">
                <a:solidFill>
                  <a:srgbClr val="5A6472"/>
                </a:solidFill>
                <a:latin typeface="Calibri" pitchFamily="34" charset="0"/>
                <a:ea typeface="Calibri" pitchFamily="34" charset="-122"/>
                <a:cs typeface="Calibri" pitchFamily="34" charset="-120"/>
              </a:rPr>
              <a:t>  pl. نَشَرَاتٌ إِخْبَارِيَّةٌ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مُرَاسِلٌ / مُرَاسِلَةٌ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correspondent (m / f)</a:t>
            </a:r>
            <a:pPr indent="0" marL="0">
              <a:buNone/>
            </a:pPr>
            <a:r>
              <a:rPr lang="en-US" sz="1000" i="1" dirty="0">
                <a:solidFill>
                  <a:srgbClr val="5A6472"/>
                </a:solidFill>
                <a:latin typeface="Calibri" pitchFamily="34" charset="0"/>
                <a:ea typeface="Calibri" pitchFamily="34" charset="-122"/>
                <a:cs typeface="Calibri" pitchFamily="34" charset="-120"/>
              </a:rPr>
              <a:t>  pl. مُرَاسِلُونَ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أَعْلَنَ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announced that</a:t>
            </a:r>
            <a:pPr indent="0" marL="0">
              <a:buNone/>
            </a:pPr>
            <a:r>
              <a:rPr lang="en-US" sz="1000" i="1" dirty="0">
                <a:solidFill>
                  <a:srgbClr val="5A6472"/>
                </a:solidFill>
                <a:latin typeface="Calibri" pitchFamily="34" charset="0"/>
                <a:ea typeface="Calibri" pitchFamily="34" charset="-122"/>
                <a:cs typeface="Calibri" pitchFamily="34" charset="-120"/>
              </a:rPr>
              <a:t>  يُعْلِنُ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warned against</a:t>
            </a:r>
            <a:pPr indent="0" marL="0">
              <a:buNone/>
            </a:pPr>
            <a:r>
              <a:rPr lang="en-US" sz="1000" i="1" dirty="0">
                <a:solidFill>
                  <a:srgbClr val="5A6472"/>
                </a:solidFill>
                <a:latin typeface="Calibri" pitchFamily="34" charset="0"/>
                <a:ea typeface="Calibri" pitchFamily="34" charset="-122"/>
                <a:cs typeface="Calibri" pitchFamily="34" charset="-120"/>
              </a:rPr>
              <a:t>  يُحَذِّرُ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both of them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Finish your final draft. Then: where do you hear news about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أَسْمَعُ الأَخْبَارَ عَنِ البِيئَةِ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70–90-word article from the frames; learn the five news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130–140-word article,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140-word version + a self-audit naming three improvements.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D4-L10 · Listening — Environment and Technology News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أَخْبَارُ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idea per paragraph — every connector has a job — concede, then answer — conclude by synthesising.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D4-L09 · Writing — Environment and Technology Article</dc:title>
  <dc:subject>PptxGenJS Presentation</dc:subject>
  <dc:creator>Al Madina Online School · Arabic Department</dc:creator>
  <cp:lastModifiedBy>Al Madina Online School · Arabic Department</cp:lastModifiedBy>
  <cp:revision>1</cp:revision>
  <dcterms:created xsi:type="dcterms:W3CDTF">2026-10-03T05:56:36Z</dcterms:created>
  <dcterms:modified xsi:type="dcterms:W3CDTF">2026-10-03T05:56:36Z</dcterms:modified>
</cp:coreProperties>
</file>