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APPLY WORKSHOP AT A GLANCE — the third lesson of the week (Learn D4-L09 · Learn D4-L10 · Apply). 60 minutes on Teams: teacher-led in the main room for the short whole-class steps, pairs or breakout rooms of two or three for speaking, individual writing.
0–3 Welcome + plan · 3–6 What we learnt this week · PART 1 REMEMBER: word race (4) · which lesson? sort (4) · PART 2 SPEAK: new dialogue (5) · mixed question cards (6) · role-play card (7) · one minute talk (4) · PART 3 WRITE: sentence builder (3) · spot and fix (3) · connected writing (12) + buddy check (3) · CHECK YOURSELF: models + self-check (5).
PURPOSE: students APPLY the language of BOTH lessons in new contexts — the question cards, builder and common mistakes come from the two practice rooms; the dialogue, role-play, talk and writing task are new and join the lessons together.
CONTENT: D4-L09 (Writing — Environment and Technology Article) and D4-L10 (Listening — Environment and Technology News).
SET-UP: share this deck or its PDF in the chat. Pairs or breakout rooms for Part 2 (same-level rooms keep the routes simple). Everyone writes in their own book or document in Part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min). Apply = use what you learnt in D4-L09 and D4-L10 in a NEW situation. Point out the step number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LEARNT (3 min, main room). Ask: “What can you say after D4-L09? After D4-L10?” Take two answers in the chat for each lesson (one word or one sentence is enough). Then read objective 3 — today’s new situation that needs BOTH lessons. Students tick their route goals at the end of the lesson.
D4-L09 language: article structure: introduction + thesis (aʿtaqidu anna …) · main argument + specific example · counterargument (yarā al-baʿḍu anna … , maʿa dhālika …) · conclusion that synthesises (fī al-khitām …); connectors only where they add meaning (ʿilāwatan ʿalā dhālika · maʿa dhālika · ʿalā al-raghmi min anna)
D4-L10 language: news reporting verbs: aʿlana anna · akkada anna · ḥadhdhara min · aḍāfa anna — WHO said it?; the FINAL detail after a change (badalan min · tamma taʾjīlu … ilā …); exact figures (irtafaʿa min … ilā … · bi-nisbati …); the speaker’s role (murāsil · khabīr · wazīr)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(4 min). Quick, energetic retrieval. Model one round with a student, then pairs race. Collect the best score in the chat. Listen for words students hesitate over and revisit them in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six words from D4-L09.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six words from D4-L10.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(4 min). Students read each card ALOUD (by invitation), then type its number in the chat with 1 or 2 (for example “card 3 → 2”). Then check the answer slide. Ask: “Which card could you use in BOTH lessons?” — this links the two lessons before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(4 min). Students read each card ALOUD (by invitation), then type its number in the chat with 1 or 2 (for example “card 3 → 2”). Then check the answer slide. Ask: “Which card could you use in BOTH lessons?” — this links the two lessons before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STEP 3 (5 min). A NEW dialogue that joins D4-L09 and D4-L10. Teacher reads it once with a confident student; then pairs. Ask: “Which lines are from D4-L09? Which from D4-L10?” Reporting verbs (أَعْلَنَ · حَذَّرَ مِنْ · أَضَافَ أَنَّ), the final detail after بَدَلًا مِنْ and figures (مِنْ … إِلَى …) come from D4-L10; thesis, counterargument and مَعَ ذٰلِكَ from D4-L09.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min, pairs or rooms). The questions come from the two practice rooms, now mixed so students switch between the lessons. Teacher: visit rooms and ask one Stretch follow-up question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STEP 5 (7 min). One NEW situation that needs both lessons: who said what, the final detail and exact figures in the news (D4-L10), then using one item as evidence in an argument (D4-L09). FADED SUPPORT: tasks 1–2 show the plan; students write their own plan for 3–5. To a girl Partner A says: كَيْفَ تَسْتَخْدِمِينَ هٰذَا الخَبَرَ؟ · وَكَيْفَ تَرُدِّينَ؟.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 (4 min). Fluency: one talk that uses BOTH lessons. Two volunteers speak to the whole class at the end (open mic).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 (3 min). Rows come from the D4-L09 and D4-L10 practice rooms. Read the English, choose the correct part from each column (start on the RIGHT). Pairs agree, then check. Students copy the correct sentences — they help in 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 (3 min). Rows come from the D4-L09 and D4-L10 practice rooms. Read the English, choose the correct part from each column (start on the RIGHT). Pairs agree, then check. Students copy the correct sentences — they help in 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 (3 min). Common mistakes from both lessons. Students type the corrected version in the chat before the answer slide. These are the mistakes to look for in the buddy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 (3 min). Common mistakes from both lessons. Students type the corrected version in the chat before the answer slide. These are the mistakes to look for in the buddy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 support. Core: use the Core frames for every bullet. Develop: use the Develop frames only if stuck. Stretch: no frames — add reasons, a time phrase and an extra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 (10 min writing, everyone on their own). Core: frames for every bullet (50–60 words). Develop: 80–100 words, frames only if stuck. Stretch: no frames, add reasons and another time frame. Teacher reads ONE sentence per student (in the chat or the shared document) and gives one live correction.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BUDDY CHECK (3 min). Pairs swap texts (or share screens). Then everyone returns to the main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Each student finds one task they answered less fully and says it again using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 (55 words). CHECK YOURSELF (2 min). Find each bullet point in the model, and one phrase from D4-L09 and one from D4-L10. Then each student copies ONE phrase from the model into their own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YEAR 8  ·  DEVELOPMENT D4  ·  D4-L09 + D4-L10 · APPLY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D4-W05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Apply Workshop — The Eco News Desk, Then the Article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التَّطْبِيقِ — نَشْرَةُ الأَخْبَارِ البِيئِيَّةِ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join news listening with opinion writing: at a school news desk they listen to environment and technology news (who said what, the final detail after </a:t>
            </a:r>
            <a:pPr algn="l" indent="0" marL="0">
              <a:buNone/>
            </a:pPr>
            <a:r>
              <a:rPr lang="ar-SA" altLang="en-US" sz="165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بَدَلًا مِنْ</a:t>
            </a:r>
            <a:pPr algn="l" indent="0" marL="0">
              <a:buNone/>
            </a:pPr>
            <a:r>
              <a:rPr lang="en-US" sz="125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, exact figures), use one news item as evidence, and write a four-paragraph opinion article: “Can technology save the environment?”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Apply workshop · D4-L09 + D4-L10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Development · A2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Pathways › Development › D4 › D4-L10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D4 · Environment, Weather and Technology · D4-W05 · Apply workshop (D4-L09 + D4-L10)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PLAN · LEARN, LEARN, APPLY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Two lessons — now use them together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D4 · Environment, Weather and Technology · D4-W05 · Apply workshop (D4-L09 + D4-L10)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 learnt: D4-L09 and D4-L10.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تَعَلَّمْنَا؟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1 · Remember: word race and “which lesson?” sort.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تَذَكَّرْ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22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2 · Speak: say the model dialogue · question cards · role-play card · short talk.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19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3 · Write: sentence builder · spot and fix · write your text · buddy check.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اكْتُبْ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WORKSHOP RUNS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Today there is no new language: you USE the words and structures of the last two lessons together. Everybody speaks in every step and everybody writes their own text. Choose your route — Core, Develop or Stretch — and move up when you are ready.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WHAT WE LEARNT THIS WEEK · D4-L09 + D4-L10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This week’s two lessons — and today’s goal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نُطَبِّقُ مَا تَعَلَّمْنَا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D4 · Environment, Weather and Technology · D4-W05 · Apply workshop (D4-L09 + D4-L10)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4663440" cy="4315968"/>
          </a:xfrm>
          <a:prstGeom prst="roundRect">
            <a:avLst>
              <a:gd name="adj" fmla="val 1695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85800" y="1920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TODAY YOU WILL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283464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سَتَتَعَلَّمُ اليَوْمَ</a:t>
            </a:r>
            <a:endParaRPr lang="ar-SA" sz="1600" dirty="0"/>
          </a:p>
        </p:txBody>
      </p:sp>
      <p:sp>
        <p:nvSpPr>
          <p:cNvPr id="18" name="Shape 15"/>
          <p:cNvSpPr/>
          <p:nvPr/>
        </p:nvSpPr>
        <p:spPr>
          <a:xfrm>
            <a:off x="685800" y="2395728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22860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D4-L09: Writing — Environment and Technology Article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85800" y="3291840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188720" y="3182112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D4-L10: Listening — Environment and Technology News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85800" y="4187952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188720" y="4078224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Apply both: Listening card — the eco news bulletin · Opinion article: can technology save the environment?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349240" y="181051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32120" y="194767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532120" y="19476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6766560" y="19476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Everyone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5532120" y="228600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☐  Answer questions from BOTH lessons in full sentences.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5532120" y="269748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☐  Write the text using the frames.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349240" y="327355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532120" y="341071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532120" y="341071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6766560" y="3410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Most of us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5532120" y="374904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☐  Join both lessons in one conversation and a one minute talk.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5532120" y="416052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☐  Write the text, frames only if stuck.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5349240" y="473659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532120" y="48737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532120" y="487375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6766560" y="48737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Aim high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5532120" y="521208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☐  Speak without notes; add reasons and opinions.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5532120" y="562356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☐  Use more than one tense; give and justify opinions.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1 · STEP 1 · WORD RACE · 4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Word race: two lessons, one race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سِبَاقُ الكَلِمَاتِ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D4 · Environment, Weather and Technology · D4-W05 · Apply workshop (D4-L09 + D4-L10)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PAIRS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🏁  English → Arabic, from both lessons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next two slides show words from D4-L09 and D4-L10. Partner A says a word in ENGLISH; Partner B says it in ARABIC. One point for every correct answer in 90 seconds — then swap.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Teacher: first round together (3 words from each slide).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Pairs: 90 seconds each, as many as you can.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Mix the lessons: one word from slide 1, one from slide 2.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use two words — one from each lesson — in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 clearly.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word, then a short sentence with it.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Join a word from each lesson in one sentence with ‏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‏ or ‏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‏.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correct!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حَاوِلْ مَرَّةً أُخْرَى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try again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نُقْطَةٌ لَكَ / لَكِ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point for you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WORDS FROM D4-L09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D4-L09 · Writing — Environment and Technology Article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كَلِمَاتُ الدَّرْسِ الأَوَّلِ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D4 · Environment, Weather and Technology · D4-W05 · Apply workshop (D4-L09 + D4-L10)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11312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مُقَدِّمَةٌ</a:t>
            </a:r>
            <a:endParaRPr lang="ar-SA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8238744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introduction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mu-qad-di-ma-tun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4389120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حُجَّةٌ رَئِيسِيَّةٌ</a:t>
            </a:r>
            <a:endParaRPr lang="ar-SA" sz="3000" dirty="0"/>
          </a:p>
        </p:txBody>
      </p:sp>
      <p:sp>
        <p:nvSpPr>
          <p:cNvPr id="28" name="Text 25"/>
          <p:cNvSpPr txBox="1"/>
          <p:nvPr/>
        </p:nvSpPr>
        <p:spPr>
          <a:xfrm>
            <a:off x="4416552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main argument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ḥuj-ja-tun ra-ʾī-siy-ya-tun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مِثَالٌ مُحَدَّدٌ</a:t>
            </a:r>
            <a:endParaRPr lang="ar-SA" sz="3000" dirty="0"/>
          </a:p>
        </p:txBody>
      </p:sp>
      <p:sp>
        <p:nvSpPr>
          <p:cNvPr id="35" name="Text 32"/>
          <p:cNvSpPr txBox="1"/>
          <p:nvPr/>
        </p:nvSpPr>
        <p:spPr>
          <a:xfrm>
            <a:off x="594360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specific example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mi-thā-lun mu-ḥad-da-dun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8211312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خَاتِمَةٌ</a:t>
            </a:r>
            <a:endParaRPr lang="ar-SA" sz="3000" dirty="0"/>
          </a:p>
        </p:txBody>
      </p:sp>
      <p:sp>
        <p:nvSpPr>
          <p:cNvPr id="42" name="Text 39"/>
          <p:cNvSpPr txBox="1"/>
          <p:nvPr/>
        </p:nvSpPr>
        <p:spPr>
          <a:xfrm>
            <a:off x="8238744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conclusion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khā-ti-ma-tun</a:t>
            </a:r>
            <a:endParaRPr lang="en-US" sz="1350" dirty="0"/>
          </a:p>
        </p:txBody>
      </p:sp>
      <p:sp>
        <p:nvSpPr>
          <p:cNvPr id="43" name="Shape 40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8" name="Text 45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ذٰلِكَ</a:t>
            </a:r>
            <a:endParaRPr lang="ar-SA" sz="3000" dirty="0"/>
          </a:p>
        </p:txBody>
      </p:sp>
      <p:sp>
        <p:nvSpPr>
          <p:cNvPr id="49" name="Text 46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nevertheless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ma-ʿa dhā-li-ka</a:t>
            </a:r>
            <a:endParaRPr lang="en-US" sz="1350" dirty="0"/>
          </a:p>
        </p:txBody>
      </p:sp>
      <p:sp>
        <p:nvSpPr>
          <p:cNvPr id="50" name="Shape 4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نَتِيجَةً لِذٰلِكَ</a:t>
            </a:r>
            <a:endParaRPr lang="ar-SA" sz="3000" dirty="0"/>
          </a:p>
        </p:txBody>
      </p:sp>
      <p:sp>
        <p:nvSpPr>
          <p:cNvPr id="56" name="Text 53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as a result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na-tī-ja-tan li-dhā-li-ka</a:t>
            </a:r>
            <a:endParaRPr lang="en-US" sz="1350" dirty="0"/>
          </a:p>
        </p:txBody>
      </p:sp>
      <p:sp>
        <p:nvSpPr>
          <p:cNvPr id="57" name="Text 5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WORDS FROM D4-L10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D4-L10 · Listening — Environment and Technology News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كَلِمَاتُ الدَّرْسِ الثَّانِي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D4 · Environment, Weather and Technology · D4-W05 · Apply workshop (D4-L09 + D4-L10)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11312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نَشْرَةٌ إِخْبَارِيَّةٌ</a:t>
            </a:r>
            <a:endParaRPr lang="ar-SA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8238744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news bulletin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nash-ra-tun ikh-bā-riy-ya-tun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4389120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خَبِيرٌ / خَبِيرَةٌ</a:t>
            </a:r>
            <a:endParaRPr lang="ar-SA" sz="3000" dirty="0"/>
          </a:p>
        </p:txBody>
      </p:sp>
      <p:sp>
        <p:nvSpPr>
          <p:cNvPr id="28" name="Text 25"/>
          <p:cNvSpPr txBox="1"/>
          <p:nvPr/>
        </p:nvSpPr>
        <p:spPr>
          <a:xfrm>
            <a:off x="4416552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expert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kha-bī-run / kha-bī-ra-tun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أَعْلَنَ أَنَّ</a:t>
            </a:r>
            <a:endParaRPr lang="ar-SA" sz="3000" dirty="0"/>
          </a:p>
        </p:txBody>
      </p:sp>
      <p:sp>
        <p:nvSpPr>
          <p:cNvPr id="35" name="Text 32"/>
          <p:cNvSpPr txBox="1"/>
          <p:nvPr/>
        </p:nvSpPr>
        <p:spPr>
          <a:xfrm>
            <a:off x="594360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announced that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aʿ-la-na an-na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8211312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حَذَّرَ مِنْ</a:t>
            </a:r>
            <a:endParaRPr lang="ar-SA" sz="3000" dirty="0"/>
          </a:p>
        </p:txBody>
      </p:sp>
      <p:sp>
        <p:nvSpPr>
          <p:cNvPr id="42" name="Text 39"/>
          <p:cNvSpPr txBox="1"/>
          <p:nvPr/>
        </p:nvSpPr>
        <p:spPr>
          <a:xfrm>
            <a:off x="8238744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warned of / against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ḥadh-dha-ra min</a:t>
            </a:r>
            <a:endParaRPr lang="en-US" sz="1350" dirty="0"/>
          </a:p>
        </p:txBody>
      </p:sp>
      <p:sp>
        <p:nvSpPr>
          <p:cNvPr id="43" name="Shape 40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8" name="Text 45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ارْتَفَعَ مِنْ ... إِلَى</a:t>
            </a:r>
            <a:endParaRPr lang="ar-SA" sz="3000" dirty="0"/>
          </a:p>
        </p:txBody>
      </p:sp>
      <p:sp>
        <p:nvSpPr>
          <p:cNvPr id="49" name="Text 46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rose from ... to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ar-ta-fa-ʿa min ... i-lā</a:t>
            </a:r>
            <a:endParaRPr lang="en-US" sz="1350" dirty="0"/>
          </a:p>
        </p:txBody>
      </p:sp>
      <p:sp>
        <p:nvSpPr>
          <p:cNvPr id="50" name="Shape 4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بَدَلًا مِنْ</a:t>
            </a:r>
            <a:endParaRPr lang="ar-SA" sz="3000" dirty="0"/>
          </a:p>
        </p:txBody>
      </p:sp>
      <p:sp>
        <p:nvSpPr>
          <p:cNvPr id="56" name="Text 53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instead of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ba-da-lan min</a:t>
            </a:r>
            <a:endParaRPr lang="en-US" sz="1350" dirty="0"/>
          </a:p>
        </p:txBody>
      </p:sp>
      <p:sp>
        <p:nvSpPr>
          <p:cNvPr id="57" name="Text 5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1 · STEP 2 · SORT IT · READ EACH CARD, THEN SORT IT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News report or article move?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صَنِّفِ البِطَاقَاتِ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D4 · Environment, Weather and Technology · D4-W05 · Apply workshop (D4-L09 + D4-L10)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9015984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9107424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 …</a:t>
            </a:r>
            <a:endParaRPr lang="ar-SA" sz="1800" dirty="0"/>
          </a:p>
        </p:txBody>
      </p:sp>
      <p:sp>
        <p:nvSpPr>
          <p:cNvPr id="17" name="Shape 14"/>
          <p:cNvSpPr/>
          <p:nvPr/>
        </p:nvSpPr>
        <p:spPr>
          <a:xfrm>
            <a:off x="6163056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254496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أَعْلَنَ الوَزِيرُ أَنَّ …</a:t>
            </a:r>
            <a:endParaRPr lang="ar-SA" sz="1800" dirty="0"/>
          </a:p>
        </p:txBody>
      </p:sp>
      <p:sp>
        <p:nvSpPr>
          <p:cNvPr id="19" name="Shape 16"/>
          <p:cNvSpPr/>
          <p:nvPr/>
        </p:nvSpPr>
        <p:spPr>
          <a:xfrm>
            <a:off x="3310128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3401568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حَذَّرَ الخَبِيرُ مِنْ …</a:t>
            </a:r>
            <a:endParaRPr lang="ar-SA" sz="1800" dirty="0"/>
          </a:p>
        </p:txBody>
      </p:sp>
      <p:sp>
        <p:nvSpPr>
          <p:cNvPr id="21" name="Shape 18"/>
          <p:cNvSpPr/>
          <p:nvPr/>
        </p:nvSpPr>
        <p:spPr>
          <a:xfrm>
            <a:off x="457200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548640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يَرَى البَعْضُ أَنَّ …</a:t>
            </a:r>
            <a:endParaRPr lang="ar-SA" sz="1800" dirty="0"/>
          </a:p>
        </p:txBody>
      </p:sp>
      <p:sp>
        <p:nvSpPr>
          <p:cNvPr id="23" name="Shape 20"/>
          <p:cNvSpPr/>
          <p:nvPr/>
        </p:nvSpPr>
        <p:spPr>
          <a:xfrm>
            <a:off x="9015984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9107424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عِلَاوَةً عَلَى ذٰلِكَ</a:t>
            </a:r>
            <a:endParaRPr lang="ar-SA" sz="1800" dirty="0"/>
          </a:p>
        </p:txBody>
      </p:sp>
      <p:sp>
        <p:nvSpPr>
          <p:cNvPr id="25" name="Shape 22"/>
          <p:cNvSpPr/>
          <p:nvPr/>
        </p:nvSpPr>
        <p:spPr>
          <a:xfrm>
            <a:off x="6163056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254496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بَدَلًا مِنْ …</a:t>
            </a:r>
            <a:endParaRPr lang="ar-SA" sz="1800" dirty="0"/>
          </a:p>
        </p:txBody>
      </p:sp>
      <p:sp>
        <p:nvSpPr>
          <p:cNvPr id="27" name="Shape 24"/>
          <p:cNvSpPr/>
          <p:nvPr/>
        </p:nvSpPr>
        <p:spPr>
          <a:xfrm>
            <a:off x="3310128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3401568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ارْتَفَعَ مِنْ … إِلَى …</a:t>
            </a:r>
            <a:endParaRPr lang="ar-SA" sz="1800" dirty="0"/>
          </a:p>
        </p:txBody>
      </p:sp>
      <p:sp>
        <p:nvSpPr>
          <p:cNvPr id="29" name="Shape 26"/>
          <p:cNvSpPr/>
          <p:nvPr/>
        </p:nvSpPr>
        <p:spPr>
          <a:xfrm>
            <a:off x="457200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548640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الخِتَامِ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6185916" y="3017520"/>
            <a:ext cx="5545836" cy="329184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23076" y="3127248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23076" y="3127248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 · Article moves · D4-L09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57200" y="3017520"/>
            <a:ext cx="5545836" cy="329184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4360" y="3127248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94360" y="3127248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 · News reporting · D4-L10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2 · ANSWERS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Sort: answers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صَنِّفِ البِطَاقَاتِ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D4 · Environment, Weather and Technology · D4-W05 · Apply workshop (D4-L09 + D4-L10)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185916" y="1810512"/>
            <a:ext cx="5545836" cy="4498848"/>
          </a:xfrm>
          <a:prstGeom prst="roundRect">
            <a:avLst>
              <a:gd name="adj" fmla="val 1626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23076" y="1920240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3076" y="1920240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 · Article moves · D4-L09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323076" y="2377440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14516" y="2377440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 …</a:t>
            </a:r>
            <a:endParaRPr lang="ar-SA" sz="1800" dirty="0"/>
          </a:p>
        </p:txBody>
      </p:sp>
      <p:sp>
        <p:nvSpPr>
          <p:cNvPr id="20" name="Shape 17"/>
          <p:cNvSpPr/>
          <p:nvPr/>
        </p:nvSpPr>
        <p:spPr>
          <a:xfrm>
            <a:off x="6323076" y="2889504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14516" y="2889504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يَرَى البَعْضُ أَنَّ …</a:t>
            </a:r>
            <a:endParaRPr lang="ar-SA" sz="1800" dirty="0"/>
          </a:p>
        </p:txBody>
      </p:sp>
      <p:sp>
        <p:nvSpPr>
          <p:cNvPr id="22" name="Shape 19"/>
          <p:cNvSpPr/>
          <p:nvPr/>
        </p:nvSpPr>
        <p:spPr>
          <a:xfrm>
            <a:off x="6323076" y="3401568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14516" y="3401568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عِلَاوَةً عَلَى ذٰلِكَ</a:t>
            </a:r>
            <a:endParaRPr lang="ar-SA" sz="1800" dirty="0"/>
          </a:p>
        </p:txBody>
      </p:sp>
      <p:sp>
        <p:nvSpPr>
          <p:cNvPr id="24" name="Shape 21"/>
          <p:cNvSpPr/>
          <p:nvPr/>
        </p:nvSpPr>
        <p:spPr>
          <a:xfrm>
            <a:off x="6323076" y="3913632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14516" y="3913632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الخِتَامِ</a:t>
            </a:r>
            <a:endParaRPr lang="ar-SA" sz="1800" dirty="0"/>
          </a:p>
        </p:txBody>
      </p:sp>
      <p:sp>
        <p:nvSpPr>
          <p:cNvPr id="26" name="Shape 23"/>
          <p:cNvSpPr/>
          <p:nvPr/>
        </p:nvSpPr>
        <p:spPr>
          <a:xfrm>
            <a:off x="457200" y="1810512"/>
            <a:ext cx="5545836" cy="4498848"/>
          </a:xfrm>
          <a:prstGeom prst="roundRect">
            <a:avLst>
              <a:gd name="adj" fmla="val 1626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4360" y="1920240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94360" y="1920240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 · News reporting · D4-L10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94360" y="2377440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85800" y="2377440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أَعْلَنَ الوَزِيرُ أَنَّ …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594360" y="2889504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85800" y="2889504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حَذَّرَ الخَبِيرُ مِنْ …</a:t>
            </a:r>
            <a:endParaRPr lang="ar-SA" sz="1800" dirty="0"/>
          </a:p>
        </p:txBody>
      </p:sp>
      <p:sp>
        <p:nvSpPr>
          <p:cNvPr id="33" name="Shape 30"/>
          <p:cNvSpPr/>
          <p:nvPr/>
        </p:nvSpPr>
        <p:spPr>
          <a:xfrm>
            <a:off x="594360" y="3401568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85800" y="3401568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بَدَلًا مِنْ …</a:t>
            </a:r>
            <a:endParaRPr lang="ar-SA" sz="1800" dirty="0"/>
          </a:p>
        </p:txBody>
      </p:sp>
      <p:sp>
        <p:nvSpPr>
          <p:cNvPr id="35" name="Shape 32"/>
          <p:cNvSpPr/>
          <p:nvPr/>
        </p:nvSpPr>
        <p:spPr>
          <a:xfrm>
            <a:off x="594360" y="3913632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85800" y="3913632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ارْتَفَعَ مِنْ … إِلَى …</a:t>
            </a:r>
            <a:endParaRPr lang="ar-SA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4" b="1" spc="15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2 · STEP 3 · SAY THE MODEL DIALOGUE · BOTH LESSONS IN ONE CONVERSATION</a:t>
            </a:r>
            <a:endParaRPr lang="en-US" sz="934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News desk briefing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اجْتِمَاعُ غُرْفَةِ الأَخْبَارِ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D4 · Environment, Weather and Technology · D4-W05 · Apply workshop (D4-L09 + D4-L10)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54112" y="1810512"/>
            <a:ext cx="3904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444752" y="1810512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Say it in Arabic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Who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90688" y="2267712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 first news item?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2267712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الخَبَرُ الأَوَّلُ؟</a:t>
            </a:r>
            <a:endParaRPr lang="ar-SA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566928" y="2267712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90688" y="2881884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council announced that the electric buses will start in autumn, instead of summer.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463040" y="2881884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أَعْلَنَتِ البَلَدِيَّةُ أَنَّ الحَافِلَاتِ الكَهْرَبَائِيَّةَ سَتَبْدَأُ فِي الخَرِيفِ، بَدَلًا مِنَ الصَّيْفِ.</a:t>
            </a:r>
            <a:endParaRPr lang="ar-SA" sz="175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881884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90688" y="3496056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what did the expert say?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1463040" y="3496056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قَالَ الخَبِيرُ؟</a:t>
            </a:r>
            <a:endParaRPr lang="ar-SA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566928" y="3496056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790688" y="4110228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He warned of air pollution, and added that the number of cars rose from one thousand to two thousand.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463040" y="4110228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حَذَّرَ مِنْ تَلَوُّثِ الهَوَاءِ، وَأَضَافَ أَنَّ عَدَدَ السَّيَّارَاتِ ارْتَفَعَ مِنْ أَلْفٍ إِلَى أَلْفَيْنِ.</a:t>
            </a:r>
            <a:endParaRPr lang="ar-SA" sz="185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4110228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90688" y="4724400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This is good evidence for our article.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463040" y="4724400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دَلِيلٌ جَيِّدٌ لِمَقَالَتِنَا.</a:t>
            </a:r>
            <a:endParaRPr lang="ar-SA" sz="19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724400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790688" y="5338572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Yes! I think technology helps, but some people think it is expensive; however …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463040" y="5338572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نَعَمْ! أَعْتَقِدُ أَنَّ التِّكْنُولُوجِيَا تُسَاعِدُ، وَلٰكِنْ يَرَى البَعْضُ أَنَّهَا غَالِيَةٌ؛ مَعَ ذٰلِكَ …</a:t>
            </a:r>
            <a:endParaRPr lang="ar-SA" sz="175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5338572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Round 1: read it in pairs (A and B). Round 2: swap letters. Round 3: cover the Arabic and say it from the English. Then change TWO details — one from each lesson — and say it again.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24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QUESTION CARDS · QUESTIONS FROM BOTH LESSONS, MIXED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Mixed questions — answer, then add more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أَسْئِلَةٌ مِنَ الدَّرْسَيْنِ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D4 · Environment, Weather and Technology · D4-W05 · Apply workshop (D4-L09 + D4-L10)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720072" y="181051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Add more (Develop · Stretch)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976872" y="181051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your answer (Core)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738360" y="2267712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لِسَبَبَيْنِ: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995160" y="2267712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 …</a:t>
            </a:r>
            <a:endParaRPr lang="ar-SA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636008" y="2267712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¶1 What is your position?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¶١ مَا مَوْقِفُكَ؟ (المُقَدِّمَةُ)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756648" y="2881884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Trap: ‏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الرَّبِيعُ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‏ = ‏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القَدِيمُ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‏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6995160" y="2881884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الصَّيْفِ …</a:t>
            </a:r>
            <a:endParaRPr lang="ar-SA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4636008" y="2881884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“The minister confirmed the project will start in summer, instead of spring.” — When?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أَكَّدَ الوَزِيرُ أَنَّ المَشْرُوعَ سَيَبْدَأُ فِي الصَّيْفِ، بَدَلًا مِنَ الرَّبِيعِ. — مَتَى يَبْدَأُ؟</a:t>
            </a:r>
            <a:endParaRPr lang="ar-SA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738360" y="3496056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عِلَاوَةً عَلَى ذٰلِكَ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6995160" y="3496056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؛ فَعَلَى سَبِيلِ المِثَالِ …</a:t>
            </a:r>
            <a:endParaRPr lang="ar-SA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4636008" y="3496056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¶2 Your main argument and example?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¶٢ مَا حُجَّتُكَ الرَّئِيسِيَّةُ وَمِثَالُكَ؟</a:t>
            </a:r>
            <a:endParaRPr lang="ar-SA" sz="17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11091672" y="354177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1091672" y="35417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756648" y="4110228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…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995160" y="4110228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الخَبِيرَةُ … مِنْ …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4636008" y="4110228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“A (female) expert warned of water shortage.” — Who? Of what?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1051560" y="4110228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حَذَّرَتْ خَبِيرَةٌ مِنْ نَقْصِ المِيَاهِ. — مَنْ حَذَّرَ؟ وَمِمَّ؟</a:t>
            </a:r>
            <a:endParaRPr lang="ar-SA" sz="1650" dirty="0"/>
          </a:p>
        </p:txBody>
      </p:sp>
      <p:sp>
        <p:nvSpPr>
          <p:cNvPr id="50" name="Text 47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11091672" y="415594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1091672" y="41559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3" name="Shape 50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738360" y="4724400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مَعَ ذٰلِكَ …</a:t>
            </a:r>
            <a:endParaRPr lang="ar-SA" sz="1500" dirty="0"/>
          </a:p>
        </p:txBody>
      </p:sp>
      <p:sp>
        <p:nvSpPr>
          <p:cNvPr id="55" name="Text 52"/>
          <p:cNvSpPr txBox="1"/>
          <p:nvPr/>
        </p:nvSpPr>
        <p:spPr>
          <a:xfrm>
            <a:off x="6995160" y="4724400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يَرَى البَعْضُ أَنَّ …</a:t>
            </a:r>
            <a:endParaRPr lang="ar-SA" sz="1600" dirty="0"/>
          </a:p>
        </p:txBody>
      </p:sp>
      <p:sp>
        <p:nvSpPr>
          <p:cNvPr id="56" name="Text 53"/>
          <p:cNvSpPr txBox="1"/>
          <p:nvPr/>
        </p:nvSpPr>
        <p:spPr>
          <a:xfrm>
            <a:off x="4636008" y="4724400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¶3 The counterargument?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1051560" y="4724400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¶٣ مَا الحُجَّةُ المُضَادَّةُ؟</a:t>
            </a:r>
            <a:endParaRPr lang="ar-SA" sz="17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9756648" y="5338572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Trap: ‏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أَلْفٌ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‏ = ‏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البِدَايَةُ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‏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6995160" y="5338572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خَمْسَةُ آلَافٍ …</a:t>
            </a:r>
            <a:endParaRPr lang="ar-SA" sz="1600" dirty="0"/>
          </a:p>
        </p:txBody>
      </p:sp>
      <p:sp>
        <p:nvSpPr>
          <p:cNvPr id="62" name="Text 59"/>
          <p:cNvSpPr txBox="1"/>
          <p:nvPr/>
        </p:nvSpPr>
        <p:spPr>
          <a:xfrm>
            <a:off x="4636008" y="5338572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“EVs rose from 1,000 to 5,000.” — How many now?</a:t>
            </a:r>
            <a:endParaRPr lang="en-US" sz="1100" dirty="0"/>
          </a:p>
        </p:txBody>
      </p:sp>
      <p:sp>
        <p:nvSpPr>
          <p:cNvPr id="63" name="Text 60"/>
          <p:cNvSpPr txBox="1"/>
          <p:nvPr/>
        </p:nvSpPr>
        <p:spPr>
          <a:xfrm>
            <a:off x="1051560" y="5338572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ارْتَفَعَ عَدَدُ السَّيَّارَاتِ الكَهْرَبَائِيَّةِ مِنْ أَلْفٍ إِلَى خَمْسَةِ آلَافٍ. — كَمِ العَدَدُ الآنَ؟</a:t>
            </a:r>
            <a:endParaRPr lang="ar-SA" sz="1200" dirty="0"/>
          </a:p>
        </p:txBody>
      </p:sp>
      <p:sp>
        <p:nvSpPr>
          <p:cNvPr id="64" name="Text 61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5" name="Text 6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Odd numbers come from D4-L09, even numbers from D4-L10. Core: a full sentence from the starter. Develop: add the “more” part. Stretch: link two answers with ‏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‏, ‏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 or ‏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‏. Swap after each question.</a:t>
            </a:r>
            <a:endParaRPr lang="en-US" sz="110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7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4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ROLE-PLAY CARD · PLANS FOR TASKS 1–2 ARE GIVEN — PLAN 3–5 YOURSELF</a:t>
            </a:r>
            <a:endParaRPr lang="en-US" sz="934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Listening card — the eco news bulletin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النَّشْرَةُ البِيئِيَّةُ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D4 · Environment, Weather and Technology · D4-W05 · Apply workshop (D4-L09 + D4-L10)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reads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← فِي … (لَيْسَ فِي …)</a:t>
            </a:r>
            <a:endParaRPr lang="ar-SA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final detail after ‏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بَدَلًا مِنْ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‏.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«أَكَّدَ الوَزِيرُ أَنَّ المَشْرُوعَ سَيَبْدَأُ فِي الصَّيْفِ، بَدَلًا مِنَ الرَّبِيعِ.» — مَتَى يَبْدَأُ؟</a:t>
            </a:r>
            <a:endParaRPr lang="ar-SA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← خَبِيرَةٌ · مِمَّ ← مِنْ …</a:t>
            </a:r>
            <a:endParaRPr lang="ar-SA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said it and what about.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«حَذَّرَتْ خَبِيرَةٌ مِنْ نَقْصِ المِيَاهِ.» — مَنْ حَذَّرَ؟ وَمِمَّ؟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exact figure.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«ارْتَفَعَ عَدَدُ الدَّرَّاجَاتِ فِي المَدِينَةِ مِنْ خَمْسِمِئَةٍ إِلَى أَلْفٍ.» — كَمْ عَدَدُهَا الآنَ؟</a:t>
            </a:r>
            <a:endParaRPr lang="ar-SA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Turn a news item into evidence.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تَسْتَخْدِمُ هٰذَا الخَبَرَ فِي مَقَالَتِكَ؟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Counterargument + your answer.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رَأْيُ مَنْ يُخَالِفُكَ؟ وَكَيْفَ تَرُدُّ؟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Partner A reads each news line twice. Answer with the exact detail first (who · when · how many), then a full sentence. Tasks 4 and ! prepare your article. Then swap.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6 · SHORT TALK · ONE MINUTE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Read the news — then give your view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اقْرَأِ الخَبَرَ ثُمَّ أَبْدِ رَأْيَكَ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D4 · Environment, Weather and Technology · D4-W05 · Apply workshop (D4-L09 + D4-L10)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6 · PAIRS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use both lessons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 for one minute as a newsreader and then a commentator: read one eco news item (a reporting verb, a figure that rises or falls, a change with ‏</a:t>
            </a:r>
            <a:pPr algn="l" indent="0" marL="0">
              <a:buNone/>
            </a:pPr>
            <a:r>
              <a:rPr lang="ar-SA" altLang="en-US" sz="17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بَدَلًا مِنْ</a:t>
            </a:r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‏), then give your thesis, one argument with this item as evidence, a counterargument and your answer.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Think for 30 seconds: 2 key words from EACH lesson,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partner times it.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Partner: one thing that went well + one thing to improve.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— then the teacher invites two volunteers.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أَعْلَنَ … أَنَّ … · أَعْتَقِدُ أَنَّ …</a:t>
            </a:r>
            <a:endParaRPr lang="ar-SA" sz="14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‏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ارْتَفَعَ مِنْ … إِلَى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…‏ and ‏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عَلَى سَبِيلِ المِثَالِ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…‏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‏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بَدَلًا مِنْ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‏, ‏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يَرَى البَعْضُ أَنَّ … ؛ مَعَ ذٰلِكَ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…‏ and a conclusion.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… then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· لِذٰلِكَ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… · so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my opinion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الخِتَامِ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 finish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3 · STEP 7 · SENTENCE BUILDER · FROM BOTH LESSONS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Build three correct sentences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ابْنِ الجُمْلَةَ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D4 · Environment, Weather and Technology · D4-W05 · Apply workshop (D4-L09 + D4-L10)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9180576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1 · start here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624828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2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069080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3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2011680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4360" y="2148840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51560" y="2121408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I believe that solar energy is the solution.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180576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35440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500616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</a:t>
            </a:r>
            <a:endParaRPr lang="ar-SA" sz="1800" dirty="0"/>
          </a:p>
        </p:txBody>
      </p:sp>
      <p:sp>
        <p:nvSpPr>
          <p:cNvPr id="25" name="Shape 22"/>
          <p:cNvSpPr/>
          <p:nvPr/>
        </p:nvSpPr>
        <p:spPr>
          <a:xfrm>
            <a:off x="9180576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235440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9500616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أَعْتَقِدَ</a:t>
            </a:r>
            <a:endParaRPr lang="ar-SA" sz="1800" dirty="0"/>
          </a:p>
        </p:txBody>
      </p:sp>
      <p:sp>
        <p:nvSpPr>
          <p:cNvPr id="28" name="Shape 25"/>
          <p:cNvSpPr/>
          <p:nvPr/>
        </p:nvSpPr>
        <p:spPr>
          <a:xfrm>
            <a:off x="6624828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679692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944868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أَنَّ الطَّاقَةَ الشَّمْسِيَّةَ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6624828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679692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6944868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أَنَّ الطَّاقَةُ الشَّمْسِيَّةُ</a:t>
            </a:r>
            <a:endParaRPr lang="ar-SA" sz="1800" dirty="0"/>
          </a:p>
        </p:txBody>
      </p:sp>
      <p:sp>
        <p:nvSpPr>
          <p:cNvPr id="34" name="Shape 31"/>
          <p:cNvSpPr/>
          <p:nvPr/>
        </p:nvSpPr>
        <p:spPr>
          <a:xfrm>
            <a:off x="4069080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123944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4389120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هِيَ الحَلُّ.</a:t>
            </a:r>
            <a:endParaRPr lang="ar-SA" sz="1800" dirty="0"/>
          </a:p>
        </p:txBody>
      </p:sp>
      <p:sp>
        <p:nvSpPr>
          <p:cNvPr id="37" name="Shape 34"/>
          <p:cNvSpPr/>
          <p:nvPr/>
        </p:nvSpPr>
        <p:spPr>
          <a:xfrm>
            <a:off x="4069080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123944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4389120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هِيَ الحَلَّ.</a:t>
            </a:r>
            <a:endParaRPr lang="ar-SA" sz="1800" dirty="0"/>
          </a:p>
        </p:txBody>
      </p:sp>
      <p:sp>
        <p:nvSpPr>
          <p:cNvPr id="40" name="Shape 37"/>
          <p:cNvSpPr/>
          <p:nvPr/>
        </p:nvSpPr>
        <p:spPr>
          <a:xfrm>
            <a:off x="457200" y="3392424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9436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3502152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minister announced that the plan will start in May.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9180576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235440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9500616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أَعْلَنَ الوَزِيرُ</a:t>
            </a:r>
            <a:endParaRPr lang="ar-SA" sz="1800" dirty="0"/>
          </a:p>
        </p:txBody>
      </p:sp>
      <p:sp>
        <p:nvSpPr>
          <p:cNvPr id="47" name="Shape 44"/>
          <p:cNvSpPr/>
          <p:nvPr/>
        </p:nvSpPr>
        <p:spPr>
          <a:xfrm>
            <a:off x="9180576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9235440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9500616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أَعْلَنَتِ الوَزِيرُ</a:t>
            </a:r>
            <a:endParaRPr lang="ar-SA" sz="1800" dirty="0"/>
          </a:p>
        </p:txBody>
      </p:sp>
      <p:sp>
        <p:nvSpPr>
          <p:cNvPr id="50" name="Shape 47"/>
          <p:cNvSpPr/>
          <p:nvPr/>
        </p:nvSpPr>
        <p:spPr>
          <a:xfrm>
            <a:off x="6624828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679692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6944868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أَنَّ الخُطَّةَ</a:t>
            </a:r>
            <a:endParaRPr lang="ar-SA" sz="1800" dirty="0"/>
          </a:p>
        </p:txBody>
      </p:sp>
      <p:sp>
        <p:nvSpPr>
          <p:cNvPr id="53" name="Shape 50"/>
          <p:cNvSpPr/>
          <p:nvPr/>
        </p:nvSpPr>
        <p:spPr>
          <a:xfrm>
            <a:off x="6624828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6679692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6944868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أَنَّ الخُطَّةُ</a:t>
            </a:r>
            <a:endParaRPr lang="ar-SA" sz="1800" dirty="0"/>
          </a:p>
        </p:txBody>
      </p:sp>
      <p:sp>
        <p:nvSpPr>
          <p:cNvPr id="56" name="Shape 53"/>
          <p:cNvSpPr/>
          <p:nvPr/>
        </p:nvSpPr>
        <p:spPr>
          <a:xfrm>
            <a:off x="4069080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4123944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4389120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سَتَبْدَأُ فِي مَايُو.</a:t>
            </a:r>
            <a:endParaRPr lang="ar-SA" sz="1800" dirty="0"/>
          </a:p>
        </p:txBody>
      </p:sp>
      <p:sp>
        <p:nvSpPr>
          <p:cNvPr id="59" name="Shape 56"/>
          <p:cNvSpPr/>
          <p:nvPr/>
        </p:nvSpPr>
        <p:spPr>
          <a:xfrm>
            <a:off x="4069080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4123944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4389120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سَتَبْدَأَ فِي مَايُو.</a:t>
            </a:r>
            <a:endParaRPr lang="ar-SA" sz="1800" dirty="0"/>
          </a:p>
        </p:txBody>
      </p:sp>
      <p:sp>
        <p:nvSpPr>
          <p:cNvPr id="62" name="Shape 59"/>
          <p:cNvSpPr/>
          <p:nvPr/>
        </p:nvSpPr>
        <p:spPr>
          <a:xfrm>
            <a:off x="457200" y="4773168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3" name="Shape 60"/>
          <p:cNvSpPr/>
          <p:nvPr/>
        </p:nvSpPr>
        <p:spPr>
          <a:xfrm>
            <a:off x="594360" y="4910328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59436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65" name="Text 62"/>
          <p:cNvSpPr txBox="1"/>
          <p:nvPr/>
        </p:nvSpPr>
        <p:spPr>
          <a:xfrm>
            <a:off x="1051560" y="4882896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Some think that it is expensive; nevertheless, it saves money.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9180576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9235440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68" name="Text 65"/>
          <p:cNvSpPr txBox="1"/>
          <p:nvPr/>
        </p:nvSpPr>
        <p:spPr>
          <a:xfrm>
            <a:off x="9500616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يَرَى البَعْضُ أَنَّهَا غَالِيَةٌ؛</a:t>
            </a:r>
            <a:endParaRPr lang="ar-SA" sz="1800" dirty="0"/>
          </a:p>
        </p:txBody>
      </p:sp>
      <p:sp>
        <p:nvSpPr>
          <p:cNvPr id="69" name="Shape 66"/>
          <p:cNvSpPr/>
          <p:nvPr/>
        </p:nvSpPr>
        <p:spPr>
          <a:xfrm>
            <a:off x="9180576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9235440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71" name="Text 68"/>
          <p:cNvSpPr txBox="1"/>
          <p:nvPr/>
        </p:nvSpPr>
        <p:spPr>
          <a:xfrm>
            <a:off x="9500616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يَرَى البَعْضَ أَنَّهَا غَالِيَةً؛</a:t>
            </a:r>
            <a:endParaRPr lang="ar-SA" sz="1800" dirty="0"/>
          </a:p>
        </p:txBody>
      </p:sp>
      <p:sp>
        <p:nvSpPr>
          <p:cNvPr id="72" name="Shape 69"/>
          <p:cNvSpPr/>
          <p:nvPr/>
        </p:nvSpPr>
        <p:spPr>
          <a:xfrm>
            <a:off x="6624828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679692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74" name="Text 71"/>
          <p:cNvSpPr txBox="1"/>
          <p:nvPr/>
        </p:nvSpPr>
        <p:spPr>
          <a:xfrm>
            <a:off x="6944868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ذٰلِكَ،</a:t>
            </a:r>
            <a:endParaRPr lang="ar-SA" sz="1800" dirty="0"/>
          </a:p>
        </p:txBody>
      </p:sp>
      <p:sp>
        <p:nvSpPr>
          <p:cNvPr id="75" name="Shape 72"/>
          <p:cNvSpPr/>
          <p:nvPr/>
        </p:nvSpPr>
        <p:spPr>
          <a:xfrm>
            <a:off x="6624828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6679692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77" name="Text 74"/>
          <p:cNvSpPr txBox="1"/>
          <p:nvPr/>
        </p:nvSpPr>
        <p:spPr>
          <a:xfrm>
            <a:off x="6944868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لِذٰلِكَ،</a:t>
            </a:r>
            <a:endParaRPr lang="ar-SA" sz="1800" dirty="0"/>
          </a:p>
        </p:txBody>
      </p:sp>
      <p:sp>
        <p:nvSpPr>
          <p:cNvPr id="78" name="Shape 75"/>
          <p:cNvSpPr/>
          <p:nvPr/>
        </p:nvSpPr>
        <p:spPr>
          <a:xfrm>
            <a:off x="4069080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123944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80" name="Text 77"/>
          <p:cNvSpPr txBox="1"/>
          <p:nvPr/>
        </p:nvSpPr>
        <p:spPr>
          <a:xfrm>
            <a:off x="4389120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فَهِيَ تُوَفِّرُ المَالَ.</a:t>
            </a:r>
            <a:endParaRPr lang="ar-SA" sz="1800" dirty="0"/>
          </a:p>
        </p:txBody>
      </p:sp>
      <p:sp>
        <p:nvSpPr>
          <p:cNvPr id="81" name="Shape 78"/>
          <p:cNvSpPr/>
          <p:nvPr/>
        </p:nvSpPr>
        <p:spPr>
          <a:xfrm>
            <a:off x="4069080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123944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83" name="Text 80"/>
          <p:cNvSpPr txBox="1"/>
          <p:nvPr/>
        </p:nvSpPr>
        <p:spPr>
          <a:xfrm>
            <a:off x="4389120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فَهِيَ تُوَفِّرَ المَالَ.</a:t>
            </a:r>
            <a:endParaRPr lang="ar-SA" sz="1800" dirty="0"/>
          </a:p>
        </p:txBody>
      </p:sp>
      <p:sp>
        <p:nvSpPr>
          <p:cNvPr id="84" name="Text 8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7 · CHECK YOUR SENTENCES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Sentence builder: answers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ابْنِ الجُمْلَةَ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D4 · Environment, Weather and Technology · D4-W05 · Apply workshop (D4-L09 + D4-L10)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47672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19019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I believe that solar energy is the solution.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23591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263347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أَنَّ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+ noun in -a.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1901952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 الطَّاقَةَ الشَّمْسِيَّةَ هِيَ الحَلُّ.</a:t>
            </a:r>
            <a:endParaRPr lang="ar-SA" sz="2800" dirty="0"/>
          </a:p>
        </p:txBody>
      </p:sp>
      <p:sp>
        <p:nvSpPr>
          <p:cNvPr id="22" name="Shape 19"/>
          <p:cNvSpPr/>
          <p:nvPr/>
        </p:nvSpPr>
        <p:spPr>
          <a:xfrm>
            <a:off x="457200" y="3291840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0080" y="3429000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14300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minister announced that the plan will start in May.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143000" y="38404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1143000" y="41148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Minister (m.) →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أَعْلَنَ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;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أَنَّ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+ -a.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3383280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أَعْلَنَ الوَزِيرُ أَنَّ الخُطَّةَ سَتَبْدَأُ فِي مَايُو.</a:t>
            </a:r>
            <a:endParaRPr lang="ar-SA" sz="2800" dirty="0"/>
          </a:p>
        </p:txBody>
      </p:sp>
      <p:sp>
        <p:nvSpPr>
          <p:cNvPr id="29" name="Shape 26"/>
          <p:cNvSpPr/>
          <p:nvPr/>
        </p:nvSpPr>
        <p:spPr>
          <a:xfrm>
            <a:off x="457200" y="4773168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40080" y="4910328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143000" y="4864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Some think that it is expensive; nevertheless, it saves money.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1143000" y="53218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143000" y="559612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Nevertheless =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ذٰلِكَ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(so =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لِذٰلِكَ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4572000" y="4864608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يَرَى البَعْضُ أَنَّهَا غَالِيَةٌ؛ مَعَ ذٰلِكَ، فَهِيَ تُوَفِّرُ المَالَ.</a:t>
            </a:r>
            <a:endParaRPr lang="ar-SA" sz="2800" dirty="0"/>
          </a:p>
        </p:txBody>
      </p:sp>
      <p:sp>
        <p:nvSpPr>
          <p:cNvPr id="36" name="Text 3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8 · SPOT AND FIX · MISTAKES FROM BOTH LESSONS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Find the mistake, fix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اكْتَشِفِ الخَطَأَ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D4 · Environment, Weather and Technology · D4-W05 · Apply workshop (D4-L09 + D4-L10)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183112" y="2249424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183112" y="2249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023360" y="1901952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 التِّكْنُولُوجِيَا مُفِيدَةٌ.</a:t>
            </a:r>
            <a:endParaRPr lang="ar-SA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1901952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thesis needs reasons.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255264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183112" y="3694176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183112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023360" y="3346704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«… فِي مَارِسَ بَدَلًا مِنْ فِبْرَايِرَ» ← فِبْرَايِرُ.</a:t>
            </a:r>
            <a:endParaRPr lang="ar-SA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3346704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month is final?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4700016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183112" y="5138928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183112" y="5138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023360" y="4791456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9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عِلَاوَةً عَلَى ذٰلِكَ … عِلَاوَةً عَلَى ذٰلِكَ … عِلَاوَةً عَلَى ذٰلِكَ …</a:t>
            </a:r>
            <a:endParaRPr lang="ar-SA" sz="29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" y="4791456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Too much!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24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8 · CORRECTIONS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Spot and fix: corrections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اكْتَشِفِ الخَطَأَ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D4 · Environment, Weather and Technology · D4-W05 · Apply workshop (D4-L09 + D4-L10)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503920" y="190195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 التِّكْنُولُوجِيَا مُفِيدَةٌ.</a:t>
            </a:r>
            <a:endParaRPr lang="ar-SA" sz="1800" dirty="0"/>
          </a:p>
        </p:txBody>
      </p:sp>
      <p:sp>
        <p:nvSpPr>
          <p:cNvPr id="17" name="Shape 14"/>
          <p:cNvSpPr/>
          <p:nvPr/>
        </p:nvSpPr>
        <p:spPr>
          <a:xfrm>
            <a:off x="8641080" y="2459736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38160" y="1901952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3566160" y="1901952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1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 التِّكْنُولُوجِيَا مُفِيدَةٌ لِلْبِيئَةِ لِسَبَبَيْنِ: الطَّاقَةُ وَالنَّقْلُ.</a:t>
            </a:r>
            <a:endParaRPr lang="ar-SA" sz="21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1901952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Thesis + preview of reasons.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" y="3255264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503920" y="3346704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«… فِي مَارِسَ بَدَلًا مِنْ فِبْرَايِرَ» ← فِبْرَايِرُ.</a:t>
            </a:r>
            <a:endParaRPr lang="ar-SA" sz="1800" dirty="0"/>
          </a:p>
        </p:txBody>
      </p:sp>
      <p:sp>
        <p:nvSpPr>
          <p:cNvPr id="23" name="Shape 20"/>
          <p:cNvSpPr/>
          <p:nvPr/>
        </p:nvSpPr>
        <p:spPr>
          <a:xfrm>
            <a:off x="8641080" y="3904488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38160" y="3346704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3566160" y="3346704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مَارِسُ.</a:t>
            </a:r>
            <a:endParaRPr lang="ar-SA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3346704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بَدَلًا مِنْ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‏ X = X is cancelled.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57200" y="4700016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8503920" y="4791456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عِلَاوَةً عَلَى ذٰلِكَ … عِلَاوَةً عَلَى ذٰلِكَ … عِلَاوَةً عَلَى ذٰلِكَ …</a:t>
            </a:r>
            <a:endParaRPr lang="ar-SA" sz="1800" dirty="0"/>
          </a:p>
        </p:txBody>
      </p:sp>
      <p:sp>
        <p:nvSpPr>
          <p:cNvPr id="29" name="Shape 26"/>
          <p:cNvSpPr/>
          <p:nvPr/>
        </p:nvSpPr>
        <p:spPr>
          <a:xfrm>
            <a:off x="8641080" y="5349240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138160" y="4791456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3566160" y="4791456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، كَمَا أَنَّ … ، وَأَخِيرًا …</a:t>
            </a:r>
            <a:endParaRPr lang="ar-SA" sz="2400" dirty="0"/>
          </a:p>
        </p:txBody>
      </p:sp>
      <p:sp>
        <p:nvSpPr>
          <p:cNvPr id="32" name="Text 29"/>
          <p:cNvSpPr txBox="1"/>
          <p:nvPr/>
        </p:nvSpPr>
        <p:spPr>
          <a:xfrm>
            <a:off x="685800" y="4791456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Vary connectors; use them only when they add meaning.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WRITE YOUR TEXT · FRAMES IF YOU NEED THEM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writing frames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قَوَالِبُ الكِتَابَةِ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D4 · Environment, Weather and Technology · D4-W05 · Apply workshop (D4-L09 + D4-L10)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541264" cy="3566160"/>
          </a:xfrm>
          <a:prstGeom prst="roundRect">
            <a:avLst>
              <a:gd name="adj" fmla="val 2051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4360" y="19019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1901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2468880" y="2249424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عِلَاوَةً عَلَى ذٰلِكَ، ______ .</a:t>
            </a:r>
            <a:endParaRPr lang="ar-SA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2249424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Moreover, …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2468880" y="281635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مِمَّا يَعْنِي أَنَّ ______ 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94360" y="2816352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means that …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190488" y="1810512"/>
            <a:ext cx="5541264" cy="3566160"/>
          </a:xfrm>
          <a:prstGeom prst="roundRect">
            <a:avLst>
              <a:gd name="adj" fmla="val 2051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543032" y="19019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543032" y="1901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8202168" y="2249424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 التِّكْنُولُوجِيَا ______ 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327648" y="2249424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¶1 I believe that technology …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8202168" y="281635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عَلَى سَبِيلِ المِثَالِ، أَعْلَنَ ______ أَنَّ ______ .</a:t>
            </a:r>
            <a:endParaRPr lang="ar-SA" sz="1650" dirty="0"/>
          </a:p>
        </p:txBody>
      </p:sp>
      <p:sp>
        <p:nvSpPr>
          <p:cNvPr id="28" name="Text 25"/>
          <p:cNvSpPr txBox="1"/>
          <p:nvPr/>
        </p:nvSpPr>
        <p:spPr>
          <a:xfrm>
            <a:off x="6327648" y="2816352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¶2 For example, … announced that …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202168" y="3383280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ارْتَفَعَ / انْخَفَضَ ______ مِنْ ______ إِلَى ______ .</a:t>
            </a:r>
            <a:endParaRPr lang="ar-SA" sz="1550" dirty="0"/>
          </a:p>
        </p:txBody>
      </p:sp>
      <p:sp>
        <p:nvSpPr>
          <p:cNvPr id="30" name="Text 27"/>
          <p:cNvSpPr txBox="1"/>
          <p:nvPr/>
        </p:nvSpPr>
        <p:spPr>
          <a:xfrm>
            <a:off x="6327648" y="3383280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¶2 … rose / fell from … to …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8202168" y="3950208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يَرَى البَعْضُ أَنَّ ______ ؛ مَعَ ذٰلِكَ، ______ .</a:t>
            </a:r>
            <a:endParaRPr lang="ar-SA" sz="1750" dirty="0"/>
          </a:p>
        </p:txBody>
      </p:sp>
      <p:sp>
        <p:nvSpPr>
          <p:cNvPr id="32" name="Text 29"/>
          <p:cNvSpPr txBox="1"/>
          <p:nvPr/>
        </p:nvSpPr>
        <p:spPr>
          <a:xfrm>
            <a:off x="6327648" y="3950208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¶3 Some think that …; however, …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8202168" y="4517136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الخِتَامِ، ______ .</a:t>
            </a:r>
            <a:endParaRPr lang="ar-SA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6327648" y="4517136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¶4 In conclusion, …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57200" y="5504688"/>
            <a:ext cx="1127455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640080" y="55412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WORD BANK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640080" y="5760720"/>
            <a:ext cx="10908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  ·  أَعْلَنَ · أَكَّدَ · حَذَّرَ مِنْ  ·  أَضَافَ أَنَّ  ·  بَدَلًا مِنْ  ·  ارْتَفَعَ · انْخَفَضَ  ·  عِلَاوَةً عَلَى ذٰلِكَ  ·  يَرَى البَعْضُ أَنَّ · مَعَ ذٰلِكَ  ·  فِي الخِتَامِ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24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10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WRITE YOUR TEXT · ABOUT 60–80 WORDS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Opinion article: can technology save the environment?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تُنْقِذُ التِّكْنُولُوجِيَا البِيئَةَ؟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D4 · Environment, Weather and Technology · D4-W05 · Apply workshop (D4-L09 + D4-L10)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57784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38528"/>
            <a:ext cx="2061972" cy="292608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38528"/>
            <a:ext cx="20619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WRITING · DIRECTED TASK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3317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Write an article (about 60–80 words) in four paragraphs for the school magazine. ¶1 your thesis. ¶2 your main argument, with a news item from today as evidence (who said it, a figure). ¶3 a counterargument and your answer (‏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ذٰلِكَ</a:t>
            </a:r>
            <a:pPr algn="l" indent="0" marL="0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…‏). ¶4 a conclusion that brings both sides together.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3310128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All the bullet points, in order.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384048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Language from D4-L09 AND D4-L10.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437083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Linking words: ‏</a:t>
            </a:r>
            <a:pPr algn="l" indent="0" marL="0">
              <a:buNone/>
            </a:pPr>
            <a:r>
              <a:rPr lang="ar-SA" altLang="en-US" sz="15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</a:t>
            </a:r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‏.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4901184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One opinion with a reason.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543153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Buddy check, then fix one thing.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217920" y="1810512"/>
            <a:ext cx="551383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400800" y="19019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8412480" y="2231136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 …</a:t>
            </a:r>
            <a:endParaRPr lang="ar-SA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0" y="2560320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believe that …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412480" y="2889504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أَعْلَنَ … أَنَّ … · ارْتَفَعَ مِنْ … إِلَى …</a:t>
            </a:r>
            <a:endParaRPr lang="ar-SA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0" y="3218688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… announced that … · rose from … to …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8412480" y="3547872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يَرَى البَعْضُ أَنَّ … ؛ مَعَ ذٰلِكَ …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0" y="3877056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some think that … ; however …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412480" y="4206240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الخِتَامِ …</a:t>
            </a:r>
            <a:endParaRPr lang="ar-SA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0" y="4535424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conclusion …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24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BUDDY CHECK · SWAP AND READ YOUR BUDDY’S TEXT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Buddy check: five points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رَاجِعْ مَعَ زَمِيلِكَ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D4 · Environment, Weather and Technology · D4-W05 · Apply workshop (D4-L09 + D4-L10)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Line / example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45552" y="181051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565392" y="1810512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888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Did the writer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882128" y="2267712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601968" y="2267712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EVERY bullet point?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3004718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882128" y="3004718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601968" y="3004718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write four paragraphs with a clear thesis and conclusion?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741725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882128" y="3741725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601968" y="3741725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match each reporting verb to the right speaker?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478731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882128" y="4478731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601968" y="4478731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linking words (‏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‏)?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5215738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882128" y="5215738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601968" y="5215738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more than one tense and give an opinion with a reason?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Give back: one thing that went well + one thing to improve. The writer fixes ONE thing straight away.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24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ROLE-PLAY CARD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Role-play card: compare with a strong answer</a:t>
            </a:r>
            <a:endParaRPr lang="en-US" sz="20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D4 · Environment, Weather and Technology · D4-W05 · Apply workshop (D4-L09 + D4-L10)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الصَّيْفِ، لَيْسَ فِي الرَّبِيعِ.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summer, not in spring.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«أَكَّدَ الوَزِيرُ أَنَّ المَشْرُوعَ سَيَبْدَأُ فِي الصَّيْفِ، بَدَلًا مِنَ الرَّبِيعِ.» — مَتَى يَبْدَأُ؟</a:t>
            </a:r>
            <a:endParaRPr lang="ar-SA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خَبِيرَةٌ حَذَّرَتْ مِنْ نَقْصِ المِيَاهِ.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 expert (woman) warned of a water shortage.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«حَذَّرَتْ خَبِيرَةٌ مِنْ نَقْصِ المِيَاهِ.» — مَنْ حَذَّرَ؟ وَمِمَّ؟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أَلْفُ دَرَّاجَةٍ؛ تَضَاعَفَ العَدَدُ.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thousand bikes; the number has doubled.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«ارْتَفَعَ عَدَدُ الدَّرَّاجَاتِ فِي المَدِينَةِ مِنْ خَمْسِمِئَةٍ إِلَى أَلْفٍ.» — كَمْ عَدَدُهَا الآنَ؟</a:t>
            </a:r>
            <a:endParaRPr lang="ar-SA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عَلَى سَبِيلِ المِثَالِ، ارْتَفَعَ عَدَدُ الدَّرَّاجَاتِ إِلَى أَلْفٍ، مِمَّا يَعْنِي أَنَّ النَّاسَ يُغَيِّرُونَ عَادَاتِهِمْ.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For example, the number of bikes rose to a thousand, which means people are changing their habits.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تَسْتَخْدِمُ هٰذَا الخَبَرَ فِي مَقَالَتِكَ؟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يَرَى البَعْضُ أَنَّ التِّكْنُولُوجِيَا غَالِيَةٌ؛ مَعَ ذٰلِكَ، تُوَفِّرُ المَالَ عَلَى المَدَى الطَّوِيلِ.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Some think technology is expensive; however, it saves money in the long run.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رَأْيُ مَنْ يُخَالِفُكَ؟ وَكَيْفَ تَرُدُّ؟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Did you answer every task in a full sentence? Find one phrase from each lesson in the models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24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WRITE YOUR TEXT · A STRONG ANSWER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Writing: compare with a strong answer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D4 · Environment, Weather and Technology · D4-W05 · Apply workshop (D4-L09 + D4-L10)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85800" y="1938528"/>
            <a:ext cx="1081735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3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 التِّكْنُولُوجِيَا تَسْتَطِيعُ أَنْ تُسَاعِدَ البِيئَةَ كَثِيرًا.</a:t>
            </a:r>
            <a:endParaRPr lang="ar-SA" sz="23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3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عَلَى سَبِيلِ المِثَالِ، أَعْلَنَتِ البَلَدِيَّةُ أَنَّ الحَافِلَاتِ الكَهْرَبَائِيَّةَ سَتَبْدَأُ فِي الخَرِيفِ، وَارْتَفَعَ عَدَدُ الدَّرَّاجَاتِ مِنْ خَمْسِمِئَةٍ إِلَى أَلْفٍ، مِمَّا يَعْنِي أَنَّ الهَوَاءَ سَيَكُونُ أَنْظَفَ.</a:t>
            </a:r>
            <a:endParaRPr lang="ar-SA" sz="23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3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يَرَى البَعْضُ أَنَّ هٰذِهِ التِّكْنُولُوجِيَا غَالِيَةٌ؛ مَعَ ذٰلِكَ، تُوَفِّرُ المَالَ عَلَى المَدَى الطَّوِيلِ.</a:t>
            </a:r>
            <a:endParaRPr lang="ar-SA" sz="23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3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الخِتَامِ، التِّكْنُولُوجِيَا مُفِيدَةٌ، وَلٰكِنَّهَا تَحْتَاجُ إِلَى تَغْيِيرِ عَادَاتِنَا أَيْضًا.</a:t>
            </a:r>
            <a:endParaRPr lang="ar-SA" sz="2300" dirty="0"/>
          </a:p>
        </p:txBody>
      </p:sp>
      <p:sp>
        <p:nvSpPr>
          <p:cNvPr id="17" name="Shape 14"/>
          <p:cNvSpPr/>
          <p:nvPr/>
        </p:nvSpPr>
        <p:spPr>
          <a:xfrm>
            <a:off x="457200" y="5166360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5202936"/>
            <a:ext cx="109087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“I believe that technology can help the environment a lot. / For example, the council announced that electric buses will start in autumn, and the number of bikes rose from five hundred to a thousand, which means the air will be cleaner. / Some think this technology is expensive; however, it saves money in the long run. / In conclusion, technology is useful, but it also needs us to change our habits.”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053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FIND IN THE MODEL: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697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D5FBF"/>
          </a:solidFill>
          <a:ln w="12700">
            <a:solidFill>
              <a:srgbClr val="1D5F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697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983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983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أَعْلَنَتِ البَلَدِيَّةُ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269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269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يَرَى البَعْضُ أَنَّ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9555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555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الخِتَامِ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24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D4-W05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Development D4 · Environment, Weather and Technology · D4-W05 · Apply workshop (D4-L09 + D4-L10)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questions from D4-L09 and D4-L10 in full sentences.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wrote a sentence for every bullet point.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language from BOTH lessons when I spoke and when I wrote.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My buddy checked my text and I fixed one mistake.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more than one tense and gave opinions with reasons.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24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D4-W05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used two lessons together!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LESSON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D4-L11 · D4 Consolidation — Range Mastery and Speaking Preparation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تَرْسِيخُ الوَحْدَةِ — إِتْقَانُ النِّطَاقِ وَإِعْدَادُ التَّحَدُّثِ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keep using this week’s language — say it, then write 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D4-W05 · Apply Workshop — The Eco News Desk, Then the Article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2026-10-26T15:37:56Z</dcterms:created>
  <dcterms:modified xsi:type="dcterms:W3CDTF">2026-10-26T15:37:56Z</dcterms:modified>
</cp:coreProperties>
</file>