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D4-L11 · Learn D4-L12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one minute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D4-L11 (D4 Consolidation — Range Mastery and Speaking Preparation) and D4-L12 (Review and Unit Assessment: Environment, Weather and Technology).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D4-L11 and D4-L12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D4-L11? After D4-L12?” Take two answers in the chat for each lesson (one word or one sentence is enough). Then read objective 3 — today’s new situation that needs BOTH lessons. Students tick their route goals at the end of the lesson.
D4-L11 language: one chain for the whole unit: climate → problem → cause → solution → qualified judgement; accuracy under pressure (an + -a · lam + jussive · non-human plural → f. sg. · anna + -a); recovering in speaking: li-uṣaḥḥiḥ dhālika · aqṣidu anna … · bi-ʿibāratin ukhrā
D4-L12 language: D4 review: yasūdu / yatamayyazu bi-; weather word as subject; yutawaqqaʿu an + -a; bi-sababi · yuʾaddī ilā · mimmā yusabbibu; passives; yanbaghī / yajibu ʿalā … an + -a (-ū for “they”); digital verbs + prepositions; tuḥawwilu … ilā …; idhā lam + jussive; impersonal reporting; qualified judgements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D4-L11.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D4-L12.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D4-L11 and D4-L12. Teacher reads it once with a confident student; then pairs. Ask: “Which lines are from D4-L11? Which from D4-L12?” The one-chain answer and recovery phrases (لِأُصَحِّحْ ذٰلِكَ · أَقْصِدُ أَنَّ …) come from D4-L11; all the D4 structures under review from D4-L12. Remind: an + -a (أَنْ تَسْتَثْمِرَ · أَنْ نَتَعَاوَنَ).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the D4 chain answered under pressure with recovery phrases (D4-L11), covering every D4 structure (D4-L12). FADED SUPPORT: tasks 1–2 show the plan; students write their own plan for 3–5. To a girl Partner A says: حَيْثُ تَسْكُنِينَ · هَلْ تَسْتَطِيعِينَ …؟ — and recovery: لِأُصَحِّحْ ذٰلِكَ · أَقْصِدُ أَنَّ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D4-L11 and D4-L12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D4-L11 and D4-L12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(50–60 words). Develop: 80–100 words, frames only if stuck. Stretch: no frames, add reasons and another time frame.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(63 words). CHECK YOURSELF (2 min). Find each bullet point in the model, and one phrase from D4-L11 and one from D4-L12.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D4  ·  D4-L11 + D4-L12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D4-W06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Our Planet: Youth Magazine Special</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كَوْكَبُنَا</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50" dirty="0">
                <a:solidFill>
                  <a:srgbClr val="C6D2E6"/>
                </a:solidFill>
                <a:latin typeface="Calibri" pitchFamily="34" charset="0"/>
                <a:cs typeface="Amiri" pitchFamily="2" charset="-78"/>
              </a:rPr>
              <a:t>Students use all of D4 for one real purpose: a youth magazine is publishing a special issue, “Our Planet”, so they build the full chain — climate → problem → cause and effect → solutions → a qualified judgement — speak it under test conditions with recovery phrases, and write the exam-style article.</a:t>
            </a:r>
            <a:endParaRPr lang="en-US" sz="12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D4-L11 + D4-L12</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end of unit D4</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D4 › D4-L12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D4-W06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D4-W06 · Apply workshop (D4-L11 + D4-L12)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D4-W06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D4-W06 · Apply workshop (D4-L11 + D4-L12)</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D4-L11 and D4-L12.</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D4-W06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D4-L11 + D4-L12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D4-W06 · Apply workshop (D4-L11 + D4-L12)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D4-L11: D4 Consolidation — Range Mastery and Speaking Preparation</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D4-L12: Review and Unit Assessment: Environment, Weather and Technology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Speaking card — the five-question chain · Exam-style article: our planet</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one minute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Use more than one tense; give and justify opinions.</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D4-W06 · Apply workshop (D4-L11 + D4-L12)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D4-L11 and D4-L12.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D4-W06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D4-L11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D4-L11 · D4 Consolidation — Range Mastery and Speaking Preparation</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D4-W06 · Apply workshop (D4-L11 + D4-L12)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النِّطَاقُ اللُّغَوِيُّ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linguistic range</a:t>
            </a:r>
            <a:endParaRPr lang="en-US" sz="1350" dirty="0"/>
          </a:p>
          <a:p>
            <a:pPr indent="0" marL="0">
              <a:buNone/>
            </a:pPr>
            <a:r>
              <a:rPr lang="en-US" sz="1100" i="1" dirty="0">
                <a:solidFill>
                  <a:srgbClr val="5A6472"/>
                </a:solidFill>
                <a:latin typeface="Calibri" pitchFamily="34" charset="0"/>
                <a:cs typeface="Amiri" pitchFamily="2" charset="-78"/>
              </a:rPr>
              <a:t>an-ni-ṭā-qu all-lu-gha-wiy-yu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نُقْطَةُ قُوَّةٍ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strength</a:t>
            </a:r>
            <a:endParaRPr lang="en-US" sz="1350" dirty="0"/>
          </a:p>
          <a:p>
            <a:pPr indent="0" marL="0">
              <a:buNone/>
            </a:pPr>
            <a:r>
              <a:rPr lang="en-US" sz="1100" i="1" dirty="0">
                <a:solidFill>
                  <a:srgbClr val="5A6472"/>
                </a:solidFill>
                <a:latin typeface="Calibri" pitchFamily="34" charset="0"/>
                <a:cs typeface="Amiri" pitchFamily="2" charset="-78"/>
              </a:rPr>
              <a:t>nuq-ṭa-tu quw-wa-tin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إِجَابَةٌ مُطَوَّرَةٌ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developed answer</a:t>
            </a:r>
            <a:endParaRPr lang="en-US" sz="1350" dirty="0"/>
          </a:p>
          <a:p>
            <a:pPr indent="0" marL="0">
              <a:buNone/>
            </a:pPr>
            <a:r>
              <a:rPr lang="en-US" sz="1100" i="1" dirty="0">
                <a:solidFill>
                  <a:srgbClr val="5A6472"/>
                </a:solidFill>
                <a:latin typeface="Calibri" pitchFamily="34" charset="0"/>
                <a:cs typeface="Amiri" pitchFamily="2" charset="-78"/>
              </a:rPr>
              <a:t>i-jā-ba-tun mu-ṭaw-wa-ra-tun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بِعِبَارَةٍ أُخْرَى</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other words</a:t>
            </a:r>
            <a:endParaRPr lang="en-US" sz="1350" dirty="0"/>
          </a:p>
          <a:p>
            <a:pPr indent="0" marL="0">
              <a:buNone/>
            </a:pPr>
            <a:r>
              <a:rPr lang="en-US" sz="1100" i="1" dirty="0">
                <a:solidFill>
                  <a:srgbClr val="5A6472"/>
                </a:solidFill>
                <a:latin typeface="Calibri" pitchFamily="34" charset="0"/>
                <a:cs typeface="Amiri" pitchFamily="2" charset="-78"/>
              </a:rPr>
              <a:t>bi-ʿi-bā-ra-tin ukh-rā</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سَأُعْطِي مِثَالًا</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will give an example</a:t>
            </a:r>
            <a:endParaRPr lang="en-US" sz="1350" dirty="0"/>
          </a:p>
          <a:p>
            <a:pPr indent="0" marL="0">
              <a:buNone/>
            </a:pPr>
            <a:r>
              <a:rPr lang="en-US" sz="1100" i="1" dirty="0">
                <a:solidFill>
                  <a:srgbClr val="5A6472"/>
                </a:solidFill>
                <a:latin typeface="Calibri" pitchFamily="34" charset="0"/>
                <a:cs typeface="Amiri" pitchFamily="2" charset="-78"/>
              </a:rPr>
              <a:t>sa-ʾuʿ-ṭī mi-thā-lan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وَجْهَةِ نَظَرِي</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from my point of view</a:t>
            </a:r>
            <a:endParaRPr lang="en-US" sz="1350" dirty="0"/>
          </a:p>
          <a:p>
            <a:pPr indent="0" marL="0">
              <a:buNone/>
            </a:pPr>
            <a:r>
              <a:rPr lang="en-US" sz="1100" i="1" dirty="0">
                <a:solidFill>
                  <a:srgbClr val="5A6472"/>
                </a:solidFill>
                <a:latin typeface="Calibri" pitchFamily="34" charset="0"/>
                <a:cs typeface="Amiri" pitchFamily="2" charset="-78"/>
              </a:rPr>
              <a:t>min waj-ha-ti na-ẓa-rī</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D4-W06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D4-L12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D4-L12 · Review and Unit Assessment: Environment, Weather and Technology</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D4-W06 · Apply workshop (D4-L11 + D4-L12)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يَسُودُ مَنَاخٌ مُعْتَدِلٌ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mild climate prevails</a:t>
            </a:r>
            <a:endParaRPr lang="en-US" sz="1350" dirty="0"/>
          </a:p>
          <a:p>
            <a:pPr indent="0" marL="0">
              <a:buNone/>
            </a:pPr>
            <a:r>
              <a:rPr lang="en-US" sz="1100" i="1" dirty="0">
                <a:solidFill>
                  <a:srgbClr val="5A6472"/>
                </a:solidFill>
                <a:latin typeface="Calibri" pitchFamily="34" charset="0"/>
                <a:cs typeface="Amiri" pitchFamily="2" charset="-78"/>
              </a:rPr>
              <a:t>ya-sū-du ma-nā-khun muʿ-ta-di-lun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يُتَوَقَّعُ أَنْ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expected that</a:t>
            </a:r>
            <a:endParaRPr lang="en-US" sz="1350" dirty="0"/>
          </a:p>
          <a:p>
            <a:pPr indent="0" marL="0">
              <a:buNone/>
            </a:pPr>
            <a:r>
              <a:rPr lang="en-US" sz="1100" i="1" dirty="0">
                <a:solidFill>
                  <a:srgbClr val="5A6472"/>
                </a:solidFill>
                <a:latin typeface="Calibri" pitchFamily="34" charset="0"/>
                <a:cs typeface="Amiri" pitchFamily="2" charset="-78"/>
              </a:rPr>
              <a:t>yu-ta-waq-qa-ʿu an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يُؤَدِّي إِلَى</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leads to</a:t>
            </a:r>
            <a:endParaRPr lang="en-US" sz="1350" dirty="0"/>
          </a:p>
          <a:p>
            <a:pPr indent="0" marL="0">
              <a:buNone/>
            </a:pPr>
            <a:r>
              <a:rPr lang="en-US" sz="1100" i="1" dirty="0">
                <a:solidFill>
                  <a:srgbClr val="5A6472"/>
                </a:solidFill>
                <a:latin typeface="Calibri" pitchFamily="34" charset="0"/>
                <a:cs typeface="Amiri" pitchFamily="2" charset="-78"/>
              </a:rPr>
              <a:t>yu-ʾad-dī i-lā</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يَجِبُ عَلَى الحُكُومَةِ أَنْ</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government must</a:t>
            </a:r>
            <a:endParaRPr lang="en-US" sz="1350" dirty="0"/>
          </a:p>
          <a:p>
            <a:pPr indent="0" marL="0">
              <a:buNone/>
            </a:pPr>
            <a:r>
              <a:rPr lang="en-US" sz="1100" i="1" dirty="0">
                <a:solidFill>
                  <a:srgbClr val="5A6472"/>
                </a:solidFill>
                <a:latin typeface="Calibri" pitchFamily="34" charset="0"/>
                <a:cs typeface="Amiri" pitchFamily="2" charset="-78"/>
              </a:rPr>
              <a:t>ya-ji-bu ʿa-lā al-ḥu-kū-ma-ti an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أَتَوَاصَلُ مَعَ</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keep in touch with</a:t>
            </a:r>
            <a:endParaRPr lang="en-US" sz="1350" dirty="0"/>
          </a:p>
          <a:p>
            <a:pPr indent="0" marL="0">
              <a:buNone/>
            </a:pPr>
            <a:r>
              <a:rPr lang="en-US" sz="1100" i="1" dirty="0">
                <a:solidFill>
                  <a:srgbClr val="5A6472"/>
                </a:solidFill>
                <a:latin typeface="Calibri" pitchFamily="34" charset="0"/>
                <a:cs typeface="Amiri" pitchFamily="2" charset="-78"/>
              </a:rPr>
              <a:t>a-ta-wā-ṣa-lu ma-ʿa</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إِذَا لَمْ نُرَشِّدْ</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if we don’t conserve</a:t>
            </a:r>
            <a:endParaRPr lang="en-US" sz="1350" dirty="0"/>
          </a:p>
          <a:p>
            <a:pPr indent="0" marL="0">
              <a:buNone/>
            </a:pPr>
            <a:r>
              <a:rPr lang="en-US" sz="1100" i="1" dirty="0">
                <a:solidFill>
                  <a:srgbClr val="5A6472"/>
                </a:solidFill>
                <a:latin typeface="Calibri" pitchFamily="34" charset="0"/>
                <a:cs typeface="Amiri" pitchFamily="2" charset="-78"/>
              </a:rPr>
              <a:t>i-dhā lam nu-rash-shid</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2 · SORT IT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Cause and effect, or solution and judgement?</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 البِطَاقَاتِ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D4-W06 · Apply workshop (D4-L11 + D4-L12)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بِسَبَبِ التَّلَوُّثِ</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يَنْبَغِي أَنْ نُقَلِّلَ …</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يَجِبُ عَلَى الحُكُومَةِ أَنْ …</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يُؤَدِّي إِلَى …</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مِمَّا يُسَبِّبُ …</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إِلَى حَدٍّ مَا</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بِشَرْطِ أَنْ …</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تُقْطَعُ الأَشْجَارُ</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Cause and effect</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Solutions and judgement</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 البِطَاقَاتِ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D4-W06 · Apply workshop (D4-L11 + D4-L12)</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Cause and effect</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بِسَبَبِ التَّلَوُّثِ</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يُؤَدِّي إِلَى …</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مِمَّا يُسَبِّبُ …</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تُقْطَعُ الأَشْجَارُ</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Solutions and judgement</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يَنْبَغِي أَنْ نُقَلِّلَ …</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يَجِبُ عَلَى الحُكُومَةِ أَنْ …</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إِلَى حَدٍّ مَا</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بِشَرْطِ أَنْ …</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full chain in one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السِّلْسِلَةُ الكَامِلَةُ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D4-W06 · Apply workshop (D4-L11 + D4-L12)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 biggest environmental challenge in the world?</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مَا أَكْبَرُ تَحَدٍّ بِيئِيٍّ فِي العَالَمِ؟</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biggest challenge is climate change; temperatures rise every year.</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أَكْبَرُ تَحَدٍّ هُوَ تَغَيُّرُ المَنَاخِ؛ تَرْتَفِعُ دَرَجَاتُ الحَرَارَةِ كُلَّ عَامٍ.</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causes it?</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وَمَا سَبَبُهُ؟</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Because of burning fuel, which leads to melting ice — let me correct that: it leads to air pollution and melting ice.</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ea typeface="Amiri" pitchFamily="2" charset="-78"/>
                <a:cs typeface="Amiri" pitchFamily="2" charset="-78"/>
              </a:rPr>
              <a:t>بِسَبَبِ حَرْقِ الوَقُودِ، مِمَّا يُؤَدِّي إِلَى ذَوَبَانِ الجَلِيدِ — لِأُصَحِّحْ ذٰلِكَ: يُؤَدِّي إِلَى تَلَوُّثِ الهَوَاءِ وَذَوَبَانِ الجَلِيدِ.</a:t>
            </a:r>
            <a:endParaRPr lang="ar-SA" sz="13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is the solution?</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وَمَا الحَلُّ؟</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Governments must invest in solar energy, and the solutions will succeed to some extent, provided that we co-operate.</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400" b="1" dirty="0">
                <a:solidFill>
                  <a:srgbClr val="1B3B6F"/>
                </a:solidFill>
                <a:latin typeface="Amiri" pitchFamily="2" charset="-78"/>
                <a:ea typeface="Amiri" pitchFamily="2" charset="-78"/>
                <a:cs typeface="Amiri" pitchFamily="2" charset="-78"/>
              </a:rPr>
              <a:t>يَجِبُ عَلَى الحُكُومَاتِ أَنْ تَسْتَثْمِرَ فِي الطَّاقَةِ الشَّمْسِيَّةِ، وَالحُلُولُ سَتَنْجَحُ إِلَى حَدٍّ مَا، بِشَرْطِ أَنْ نَتَعَاوَنَ.</a:t>
            </a:r>
            <a:endParaRPr lang="ar-SA" sz="14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D4-W06 · Apply workshop (D4-L11 + D4-L12)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وَيَتَمَيَّزُ … بِ…</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يَسُودُ مَنَاخٌ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What is the climate like in your country?</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١) كَيْفَ المَنَاخُ فِي بَلَدِكَ؟</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بَيْنَمَا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يَتَمَيَّزُ / تَتَمَيَّزُ … بِ… وَيَسُودُ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the nature and climate of a country you know.</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طَبِيعَةَ بَلَدٍ تَعْرِفُهُ وَمَنَاخَهُ.</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فِي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أَكْبَرُ مُشْكِلَةٍ هِيَ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The biggest environmental problem?</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٢) مَا المُشْكِلَةُ البِيئِيَّةُ الأَكْبَرُ؟</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أَحَرُّ / أَبْرَدُ مِنْ …</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يُتَوَقَّعُ أَنْ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What’s the forecast for the weekend?</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تَوَقُّعَاتُ الطَّقْسِ لِنِهَايَةِ الأُسْبُوعِ؟</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56648" y="4724400"/>
            <a:ext cx="1901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بِسَبَبِ … ، مِمَّا يُؤَدِّي إِلَى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Its cause and effect?</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٣) مَا سَبَبُهَا وَنَتِيجَتُهَا؟</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56648" y="5338572"/>
            <a:ext cx="1901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بِسَبَبِ … ، مِمَّا يُؤَدِّي إِلَى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Causes and effects of pollution?</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أَسْبَابُ التَّلَوُّثِ وَنَتَائِجُهُ؟</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D4-L11, even numbers from D4-L12.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5 · ROLE-PLAY CARD · PLANS FOR TASKS 1–2 ARE GIVEN — PLAN 3–5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Speaking card — the five-question chain</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السِّلْسِلَةِ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D4-W06 · Apply workshop (D4-L11 + D4-L12)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يَسُودُ مَنَاخٌ … · يَسْقُطُ المَطَرُ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Climate + a weather phrase.</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المَنَاخُ وَالطَّقْسُ حَيْثُ تَسْكُنُ؟</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 هِيَ … · تُرْمَى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problem as a maṣdar + a passive.</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المُشْكِلَةُ البِيئِيَّةُ الأَكْبَرُ عِنْدَكُمْ؟</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93608" y="3741725"/>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cause-and-effect chain.</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سَبَبُهَا وَنَتِيجَتُهَا؟</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293608" y="4478731"/>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solutions: one for the government, one for young people.</a:t>
            </a:r>
            <a:endParaRPr lang="en-US" sz="1100" dirty="0"/>
          </a:p>
        </p:txBody>
      </p:sp>
      <p:sp>
        <p:nvSpPr>
          <p:cNvPr id="42" name="Text 39"/>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الحَلُّ؟</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293608" y="5215738"/>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qualified judgement; recover if you slip.</a:t>
            </a:r>
            <a:endParaRPr lang="en-US" sz="1100" dirty="0"/>
          </a:p>
        </p:txBody>
      </p:sp>
      <p:sp>
        <p:nvSpPr>
          <p:cNvPr id="47" name="Text 44"/>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تَسْتَطِيعُ التِّكْنُولُوجِيَا أَنْ تُسَاعِدَ؟</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candidate · Partner A = the examiner. Write the plan for tasks 3–5 in your book first. Task ! is a surprise — Partner A reads it without warning. Then swap roles.</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exam chain in one minute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السِّلْسِلَةُ فِي دَقِيقَةٍ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D4-W06 · Apply workshop (D4-L11 + D4-L12)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use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Answer the exam question for one minute without notes: “What is the biggest environmental challenge, and how do we face it?” Use the full chain: context → problem → cause and effect → two solutions → a qualified judgement. If you make a mistake, recover with a phrase and carry on.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أَكْبَرُ تَحَدٍّ هُوَ … · بِسَبَبِ … · يَجِبُ أَنْ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يُؤَدِّي إِلَى … مِمَّا يُسَبِّبُ</a:t>
            </a:r>
            <a:pPr algn="l" indent="0" marL="0">
              <a:buNone/>
            </a:pPr>
            <a:r>
              <a:rPr lang="en-US" sz="1150" dirty="0">
                <a:solidFill>
                  <a:srgbClr val="1F2A37"/>
                </a:solidFill>
                <a:latin typeface="Calibri" pitchFamily="34" charset="0"/>
                <a:cs typeface="Amiri" pitchFamily="2" charset="-78"/>
              </a:rPr>
              <a:t> …‏ and a passive.</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the -ū form for “they”, ‏</a:t>
            </a:r>
            <a:pPr algn="l" indent="0" marL="0">
              <a:buNone/>
            </a:pPr>
            <a:r>
              <a:rPr lang="ar-SA" altLang="en-US" sz="1500" dirty="0">
                <a:solidFill>
                  <a:srgbClr val="1F2A37"/>
                </a:solidFill>
                <a:latin typeface="Amiri" pitchFamily="2" charset="-78"/>
                <a:ea typeface="Amiri" pitchFamily="2" charset="-78"/>
                <a:cs typeface="Amiri" pitchFamily="2" charset="-78"/>
              </a:rPr>
              <a:t>إِلَى حَدٍّ مَا</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بِشَرْطِ أَنْ</a:t>
            </a:r>
            <a:pPr algn="l" indent="0" marL="0">
              <a:buNone/>
            </a:pPr>
            <a:r>
              <a:rPr lang="en-US" sz="1150" dirty="0">
                <a:solidFill>
                  <a:srgbClr val="1F2A37"/>
                </a:solidFill>
                <a:latin typeface="Calibri" pitchFamily="34" charset="0"/>
                <a:cs typeface="Amiri" pitchFamily="2" charset="-78"/>
              </a:rPr>
              <a:t> …‏ and a recovery phrase.</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D4-W06 · Apply workshop (D4-L11 + D4-L12)</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What I mean is that the rivers are polluted.</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أَقْصِدُ</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أَقْصِدَ</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الأَنْهَارَ</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الأَنْهَارُ</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مُلَوَّثَةٌ.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مُلَوَّثُونَ.</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Snow is expected to fall in the mountains.</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يُتَوَقَّعُ</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يَتَوَقَّعُ</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تَسْقُطَ الثُّلُوجُ</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يَسْقُطُ الثُّلُوجُ</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الجِبَالِ.</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الجِبَالُ.</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If we don’t act, the ice will melt.</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إِذَا لَمْ</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إِذَا لَا</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نَتَحَرَّكْ،</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نَتَحَرَّكُ،</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فَسَوْفَ يَذُوبُ الجَلِيدُ.</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سَوْفَ يَذُوبَ الجَلِيدُ.</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D4-W06 · Apply workshop (D4-L11 + D4-L12)</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What I mean is that the rivers are polluted.</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 -a; non-human plural → f. sg.</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أَقْصِدُ أَنَّ الأَنْهَارَ مُلَوَّثَةٌ.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Snow is expected to fall in the mountains.</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Non-human plural → </a:t>
            </a:r>
            <a:pPr algn="l" indent="0" marL="0">
              <a:buNone/>
            </a:pPr>
            <a:r>
              <a:rPr lang="ar-SA" altLang="en-US" sz="1350" dirty="0">
                <a:solidFill>
                  <a:srgbClr val="5A6472"/>
                </a:solidFill>
                <a:latin typeface="Amiri" pitchFamily="2" charset="-78"/>
                <a:ea typeface="Amiri" pitchFamily="2" charset="-78"/>
                <a:cs typeface="Amiri" pitchFamily="2" charset="-78"/>
              </a:rPr>
              <a:t>تَسْقُطَ</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 -a.</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يُتَوَقَّعُ أَنْ تَسْقُطَ الثُّلُوجُ فِي الجِبَالِ.</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If we don’t act, the ice will melt.</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لَمْ</a:t>
            </a:r>
            <a:pPr algn="l" indent="0" marL="0">
              <a:buNone/>
            </a:pPr>
            <a:r>
              <a:rPr lang="en-US" sz="1050" i="1" dirty="0">
                <a:solidFill>
                  <a:srgbClr val="5A6472"/>
                </a:solidFill>
                <a:latin typeface="Calibri" pitchFamily="34" charset="0"/>
                <a:cs typeface="Amiri" pitchFamily="2" charset="-78"/>
              </a:rPr>
              <a:t> + jussive; fa-sawfa + present.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إِذَا لَمْ نَتَحَرَّكْ، فَسَوْفَ يَذُوبُ الجَلِيدُ.</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D4-W06 · Apply workshop (D4-L11 + D4-L12)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الغَابَاتُ تُقْطَعُ وَهُمْ مُهِمُّونَ.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Forests are not people.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يَسْقُطُ الثُّلُوجُ وَيُتَوَقَّعُ أَنْ يَرْتَفِعُ البَرْدُ.</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errors.</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يَجِبُ عَلَى النَّاسِ أَنْ يَسْتَخْدِمُونَ الحَافِلَاتِ.</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D4-W06 · Apply workshop (D4-L11 + D4-L12)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الغَابَاتُ تُقْطَعُ وَهُمْ مُهِمُّونَ.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الغَابَاتُ تُقْطَعُ، وَهِيَ مُهِمَّةٌ.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Non-human plural → ‏</a:t>
            </a:r>
            <a:pPr algn="l" indent="0" marL="0">
              <a:buNone/>
            </a:pPr>
            <a:r>
              <a:rPr lang="ar-SA" altLang="en-US" sz="1500" b="1" dirty="0">
                <a:solidFill>
                  <a:srgbClr val="1B3B6F"/>
                </a:solidFill>
                <a:latin typeface="Amiri" pitchFamily="2" charset="-78"/>
                <a:ea typeface="Amiri" pitchFamily="2" charset="-78"/>
                <a:cs typeface="Amiri" pitchFamily="2" charset="-78"/>
              </a:rPr>
              <a:t>هِيَ</a:t>
            </a:r>
            <a:pPr algn="l" indent="0" marL="0">
              <a:buNone/>
            </a:pPr>
            <a:r>
              <a:rPr lang="en-US" sz="1150" b="1" dirty="0">
                <a:solidFill>
                  <a:srgbClr val="1B3B6F"/>
                </a:solidFill>
                <a:latin typeface="Calibri" pitchFamily="34" charset="0"/>
                <a:cs typeface="Amiri" pitchFamily="2" charset="-78"/>
              </a:rPr>
              <a:t>‏ + f. sg.</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يَسْقُطُ الثُّلُوجُ وَيُتَوَقَّعُ أَنْ يَرْتَفِعُ البَرْدُ.</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تَسْقُطُ الثُّلُوجُ، وَيُتَوَقَّعُ أَنْ يَشْتَدَّ البَرْدُ.</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Non-human plural → f. verb;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 -a.</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يَجِبُ عَلَى النَّاسِ أَنْ يَسْتَخْدِمُونَ الحَافِلَاتِ.</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يَجِبُ عَلَى النَّاسِ أَنْ يَسْتَخْدِمُوا الحَافِلَاتِ.</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-ūna → -ū after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D4-W06 · Apply workshop (D4-L11 + D4-L12)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لَمْ ______ ، فَسَوْفَ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we don’t …, … will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التِّكْنُولُوجِيَا مُفِيدَةٌ إِلَى حَدٍّ مَا، بِشَرْطِ أَنْ ______ .</a:t>
            </a:r>
            <a:endParaRPr lang="ar-SA" sz="14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Technology is useful to some extent, provided that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بِلَادِي يَسُودُ مَنَاخٌ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In my country a … climate prevails.</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أَكْبَرُ مُشْكِلَةٍ هِيَ ______ بِسَبَبِ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The biggest problem is … because of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يُؤَدِّي ذٰلِكَ إِلَى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This leads to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عَلَى الحُكُومَةِ 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The government must …</a:t>
            </a:r>
            <a:endParaRPr lang="en-US" sz="1050" dirty="0"/>
          </a:p>
        </p:txBody>
      </p:sp>
      <p:sp>
        <p:nvSpPr>
          <p:cNvPr id="33" name="Text 30"/>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وَيَنْبَغِي أَنْ ______ .</a:t>
            </a:r>
            <a:endParaRPr lang="ar-SA" sz="1800" dirty="0"/>
          </a:p>
        </p:txBody>
      </p:sp>
      <p:sp>
        <p:nvSpPr>
          <p:cNvPr id="34" name="Text 31"/>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And we should …</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يَسُودُ · يُتَوَقَّعُ أَنْ  ·  بِسَبَبِ · يُؤَدِّي إِلَى  ·  مِمَّا يُسَبِّبُ  ·  تُرْمَى · تُقْطَعُ  ·  يَنْبَغِي أَنْ · يَجِبُ عَلَى  ·  إِذَا لَمْ … فَسَوْفَ  ·  تُحَوِّلُ … إِلَى  ·  إِلَى حَدٍّ مَا · بِشَرْطِ أَنْ</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D4-W06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60–85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Exam-style article: our planet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كَوْكَبُنَا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D4-W06 · Apply workshop (D4-L11 + D4-L12)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an article (about 60–85 words) for a youth magazine. Answer ALL four bullets: • the climate and weather where you live • one environmental problem, with causes and effects • two solutions (one for the government, one for young people) • can technology help? Give a qualified judgement. Use at least one passive and one ‏</a:t>
            </a:r>
            <a:pPr algn="l" indent="0" marL="0">
              <a:buNone/>
            </a:pPr>
            <a:r>
              <a:rPr lang="ar-SA" altLang="en-US" sz="1450" b="1" dirty="0">
                <a:solidFill>
                  <a:srgbClr val="1F2A37"/>
                </a:solidFill>
                <a:latin typeface="Amiri" pitchFamily="2" charset="-78"/>
                <a:ea typeface="Amiri" pitchFamily="2" charset="-78"/>
                <a:cs typeface="Amiri" pitchFamily="2" charset="-78"/>
              </a:rPr>
              <a:t>إِذَا</a:t>
            </a:r>
            <a:pPr algn="l" indent="0" marL="0">
              <a:buNone/>
            </a:pPr>
            <a:r>
              <a:rPr lang="en-US" sz="1100" b="1" dirty="0">
                <a:solidFill>
                  <a:srgbClr val="1F2A37"/>
                </a:solidFill>
                <a:latin typeface="Calibri" pitchFamily="34" charset="0"/>
                <a:cs typeface="Amiri" pitchFamily="2" charset="-78"/>
              </a:rPr>
              <a:t>‏ sentence.</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D4-L11 AND D4-L12.</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يَسُودُ مَنَاخٌ … · يُتَوَقَّعُ أَنْ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 climate prevails · it is expected that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بِسَبَبِ … مِمَّا يُؤَدِّي إِلَى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 of …, which leads to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عَلَى … أَنْ … · يَنْبَغِي 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must … · we should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إِلَى حَدٍّ مَا · بِشَرْطِ 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to some extent · provided that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D4-W06 · Apply workshop (D4-L11 + D4-L12)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build the chain problem → cause → solution accurately?</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 cause-effect chain, -ū after ‏</a:t>
            </a:r>
            <a:pPr algn="l" indent="0" marL="0">
              <a:buNone/>
            </a:pPr>
            <a:r>
              <a:rPr lang="ar-SA" altLang="en-US" sz="1450" dirty="0">
                <a:solidFill>
                  <a:srgbClr val="5A6472"/>
                </a:solidFill>
                <a:latin typeface="Amiri" pitchFamily="2" charset="-78"/>
                <a:ea typeface="Amiri" pitchFamily="2" charset="-78"/>
                <a:cs typeface="Amiri" pitchFamily="2" charset="-78"/>
              </a:rPr>
              <a:t>أَنْ</a:t>
            </a:r>
            <a:pPr algn="l" indent="0" marL="0">
              <a:buNone/>
            </a:pPr>
            <a:r>
              <a:rPr lang="en-US" sz="1100" dirty="0">
                <a:solidFill>
                  <a:srgbClr val="5A6472"/>
                </a:solidFill>
                <a:latin typeface="Calibri" pitchFamily="34" charset="0"/>
                <a:cs typeface="Amiri" pitchFamily="2" charset="-78"/>
              </a:rPr>
              <a:t>‏ and a qualified judgement?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D4-W06 · Apply workshop (D4-L11 + D4-L12)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يَسُودُ مَنَاخٌ مُعْتَدِلٌ، وَيَسْقُطُ المَطَرُ كَثِيرًا فِي الخَرِيفِ.</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mild climate prevails, and it rains a lot in autumn.</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المَنَاخُ وَالطَّقْسُ حَيْثُ تَسْكُنُ؟</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المُشْكِلَةُ الأَكْبَرُ هِيَ التَّلَوُّثُ البِلَاسْتِيكِيُّ؛ تُرْمَى النُّفَايَاتُ فِي الأَنْهَارِ.</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biggest problem is plastic pollution; rubbish is thrown into rivers.</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المُشْكِلَةُ البِيئِيَّةُ الأَكْبَرُ عِنْدَكُمْ؟</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بِسَبَبِ الاسْتِهْلَاكِ الكَبِيرِ، مِمَّا يُؤَدِّي إِلَى مَوْتِ الكَائِنَاتِ البَحْرِيَّةِ.</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Because of high consumption, which leads to the death of sea creatures.</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سَبَبُهَا وَنَتِيجَتُهَا؟</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يَجِبُ عَلَى الحُكُومَةِ أَنْ تَمْنَعَ الأَكْيَاسَ البِلَاسْتِيكِيَّةَ، وَيَنْبَغِي أَنْ يَسْتَخْدِمَ الشَّبَابُ قَوَارِيرَ قَابِلَةً لِإِعَادَةِ الاسْتِخْدَامِ.</a:t>
            </a:r>
            <a:endParaRPr lang="ar-SA" sz="135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government must ban plastic bags, and young people should use reusable bottles.</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الحَلُّ؟</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إِلَى حَدٍّ مَا؛ بِعِبَارَةٍ أُخْرَى، تُسَاعِدُ بِشَرْطِ أَنْ نُغَيِّرَ عَادَاتِنَا.</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To some extent; in other words, it helps provided that we change our habits.</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تَسْتَطِيعُ التِّكْنُولُوجِيَا أَنْ تُسَاعِدَ؟</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D4-W06 · Apply workshop (D4-L11 + D4-L12)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400" dirty="0">
                <a:solidFill>
                  <a:srgbClr val="1F2A37"/>
                </a:solidFill>
                <a:latin typeface="Amiri" pitchFamily="2" charset="-78"/>
                <a:ea typeface="Amiri" pitchFamily="2" charset="-78"/>
                <a:cs typeface="Amiri" pitchFamily="2" charset="-78"/>
              </a:rPr>
              <a:t>فِي بِرِيطَانِيَا يَسُودُ مَنَاخٌ مُعْتَدِلٌ، وَيَسْقُطُ المَطَرُ كَثِيرًا، وَلٰكِنْ يُتَوَقَّعُ أَنْ تَرْتَفِعَ دَرَجَاتُ الحَرَارَةِ فِي المُسْتَقْبَلِ. أَكْبَرُ مُشْكِلَةٍ هِيَ التَّلَوُّثُ البِلَاسْتِيكِيُّ؛ تُرْمَى النُّفَايَاتُ فِي الأَنْهَارِ بِسَبَبِ الاسْتِهْلَاكِ الكَبِيرِ، مِمَّا يُؤَدِّي إِلَى مَوْتِ الأَسْمَاكِ. يَجِبُ عَلَى الحُكُومَةِ أَنْ تَمْنَعَ الأَكْيَاسَ البِلَاسْتِيكِيَّةَ، وَيَنْبَغِي أَنْ يُعِيدَ الشَّبَابُ تَدْوِيرَ نُفَايَاتِهِمْ. إِذَا لَمْ نَتَحَرَّكِ الآنَ، فَسَوْفَ يَزْدَادُ التَّلَوُّثُ. التِّكْنُولُوجِيَا مُفِيدَةٌ إِلَى حَدٍّ مَا، بِشَرْطِ أَنْ نُغَيِّرَ عَادَاتِنَا أَيْضًا.</a:t>
            </a:r>
            <a:endParaRPr lang="ar-SA" sz="24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Britain a mild climate prevails and it rains a lot, but temperatures are expected to rise in future. The biggest problem is plastic pollution; rubbish is thrown into rivers because of high consumption, which leads to the death of fish. The government must ban plastic bags, and young people should recycle their rubbish. If we don’t act now, pollution will increase. Technology is useful to some extent, provided that we change our habits too.”</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يَسُودُ مَنَاخٌ مُعْتَدِلٌ</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تُرْمَى النُّفَايَاتُ</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مِمَّا يُؤَدِّي إِلَى</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إِذَا لَمْ نَتَحَرَّكِ</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D4-W06 · Apply workshop (D4-L11 + D4-L12)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D4-L11 and D4-L12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D4-W06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50" b="1" dirty="0">
                <a:solidFill>
                  <a:srgbClr val="FFFFFF"/>
                </a:solidFill>
                <a:latin typeface="Cambria" pitchFamily="34" charset="0"/>
                <a:cs typeface="Amiri" pitchFamily="2" charset="-78"/>
              </a:rPr>
              <a:t>D4 complete · Well done — the unit is complete</a:t>
            </a:r>
            <a:endParaRPr lang="en-US" sz="21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أَحْسَنْتُمْ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unit’s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D4-W06 · Apply Workshop — Our Planet: Youth Magazine Special</dc:title>
  <dc:subject>PptxGenJS Presentation</dc:subject>
  <dc:creator>Al Madina Online School · Arabic Department</dc:creator>
  <cp:lastModifiedBy>Al Madina Online School · Arabic Department</cp:lastModifiedBy>
  <cp:revision>1</cp:revision>
  <dcterms:created xsi:type="dcterms:W3CDTF">2026-10-26T15:48:10Z</dcterms:created>
  <dcterms:modified xsi:type="dcterms:W3CDTF">2026-10-26T15:48:10Z</dcterms:modified>
</cp:coreProperties>
</file>