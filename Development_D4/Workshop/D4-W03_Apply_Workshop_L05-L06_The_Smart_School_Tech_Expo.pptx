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D4-L05 · Learn D4-L06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D4-L05 (The Digital World — Technology and Social Media) and D4-L06 (Green Technology — AI, Solar Energy and Smart Cities).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D4-L05 and D4-L06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D4-L05? After D4-L06?” Take two answers in the chat for each lesson (one word or one sentence is enough). Then read objective 3 — today’s new situation that needs BOTH lessons. Students tick their route goals at the end of the lesson.
D4-L05 language: digital verbs with their prepositions: yatafāʿalu maʿa · yuʿalliqu ʿalā · yabḥathu ʿan · yatawāṣalu maʿa; benefits and risks (min fawāʾidihā anna … · min makhāṭirihā anna …); a balanced view: min nāḥiyatin … wa-min nāḥiyatin ukhrā …; a qualified judgement (ilā ḥaddin mā · bi-sharṭi an …)
D4-L06 language: how it works: tuḥawwilu X ilā Y · tuwallidu …; what it is used for: yustakhdamu / tustakhdamu li- + maṣdar; what it helps with: tusāʿidu ʿalā + maṣdar; evaluation: min ahammi al-fawāʾidi anna … · min abrazi al-taḥaddiyāti anna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D4-L05 and D4-L06. Teacher reads it once with a confident student; then pairs. Ask: “Which lines are from D4-L05? Which from D4-L06?” Digital verbs with prepositions (نَتَوَاصَلُ مَعَ · نُعَلِّقُ عَلَى) and the balanced view come from D4-L05; how green technology works (تُحَوِّلُ … إِلَى … · تُسْتَخْدَمُ لِ… · تُسَاعِدُ عَلَى …) from D4-L06.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digital verbs, benefits, risks and a qualified judgement (D4-L05) with how green technology works and what it is used for (D4-L06). FADED SUPPORT: tasks 1–2 show the plan; students write their own plan for 3–5. To a girl Partner A says: when the presenter is a girl, the judge says: فِي رَأْيِكِ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D4-L05 and D4-L06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D4-L05 and D4-L06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(64 words). CHECK YOURSELF (2 min). Find each bullet point in the model, and one phrase from D4-L05 and one from D4-L06.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D4-L05 + D4-L06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The Smart-School Tech Expo</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مَعْرِضُ المَدْرَسَةِ الذَّكِيَّةِ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join the digital world with green technology: at a tech expo they present a school eco-app (how we interact with it, benefits and risks) and the school’s new solar panels (how they work, what they are used for, what they help with), give a balanced, qualified judgement, and write an expo article.</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D4-L05 + D4-L06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D4-L05 and D4-L06.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D4-L05 + D4-L06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D4-L05: The Digital World — Technology and Social Media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D4-L06: Green Technology — AI, Solar Energy and Smart Cities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expo judge · Expo article: technology for a greener school</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D4-L05 and D4-L06.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D4-L05 · The Digital World — Technology and Social Media</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الذَّكَاءُ الاصْطِنَاعِيُّ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artificial intelligence</a:t>
            </a:r>
            <a:endParaRPr lang="en-US" sz="1350" dirty="0"/>
          </a:p>
          <a:p>
            <a:pPr indent="0" marL="0">
              <a:buNone/>
            </a:pPr>
            <a:r>
              <a:rPr lang="en-US" sz="1100" i="1" dirty="0">
                <a:solidFill>
                  <a:srgbClr val="5A6472"/>
                </a:solidFill>
                <a:latin typeface="Calibri" pitchFamily="34" charset="0"/>
                <a:cs typeface="Amiri" pitchFamily="2" charset="-78"/>
              </a:rPr>
              <a:t>adh-dha-kā-ʾu alṣ-ṭi-nā-ʿiy-yu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التَّعَلُّمُ عَنْ بُعْدٍ</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distance learning</a:t>
            </a:r>
            <a:endParaRPr lang="en-US" sz="1350" dirty="0"/>
          </a:p>
          <a:p>
            <a:pPr indent="0" marL="0">
              <a:buNone/>
            </a:pPr>
            <a:r>
              <a:rPr lang="en-US" sz="1100" i="1" dirty="0">
                <a:solidFill>
                  <a:srgbClr val="5A6472"/>
                </a:solidFill>
                <a:latin typeface="Calibri" pitchFamily="34" charset="0"/>
                <a:cs typeface="Amiri" pitchFamily="2" charset="-78"/>
              </a:rPr>
              <a:t>at-ta-ʿal-lu-mu ʿan buʿ-din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تَطْبِيقٌ</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a:t>
            </a:r>
            <a:endParaRPr lang="en-US" sz="1350" dirty="0"/>
          </a:p>
          <a:p>
            <a:pPr indent="0" marL="0">
              <a:buNone/>
            </a:pPr>
            <a:r>
              <a:rPr lang="en-US" sz="1100" i="1" dirty="0">
                <a:solidFill>
                  <a:srgbClr val="5A6472"/>
                </a:solidFill>
                <a:latin typeface="Calibri" pitchFamily="34" charset="0"/>
                <a:cs typeface="Amiri" pitchFamily="2" charset="-78"/>
              </a:rPr>
              <a:t>taṭ-bī-qun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يَنْشُرُ</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posts / publishes</a:t>
            </a:r>
            <a:endParaRPr lang="en-US" sz="1350" dirty="0"/>
          </a:p>
          <a:p>
            <a:pPr indent="0" marL="0">
              <a:buNone/>
            </a:pPr>
            <a:r>
              <a:rPr lang="en-US" sz="1100" i="1" dirty="0">
                <a:solidFill>
                  <a:srgbClr val="5A6472"/>
                </a:solidFill>
                <a:latin typeface="Calibri" pitchFamily="34" charset="0"/>
                <a:cs typeface="Amiri" pitchFamily="2" charset="-78"/>
              </a:rPr>
              <a:t>yan-shu-ru</a:t>
            </a:r>
            <a:endParaRPr lang="en-US" sz="1350" dirty="0"/>
          </a:p>
        </p:txBody>
      </p:sp>
      <p:sp>
        <p:nvSpPr>
          <p:cNvPr id="45" name="Shape 4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تَنْشُرُ</a:t>
            </a:r>
            <a:endParaRPr lang="ar-SA" sz="1500" dirty="0"/>
          </a:p>
        </p:txBody>
      </p:sp>
      <p:sp>
        <p:nvSpPr>
          <p:cNvPr id="48" name="Shape 4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0" name="Text 47"/>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يَنْشُرُ</a:t>
            </a:r>
            <a:endParaRPr lang="ar-SA" sz="1500" dirty="0"/>
          </a:p>
        </p:txBody>
      </p:sp>
      <p:sp>
        <p:nvSpPr>
          <p:cNvPr id="51" name="Shape 4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3" name="Text 50"/>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أَنْشُرُ</a:t>
            </a:r>
            <a:endParaRPr lang="ar-SA" sz="15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يُعَلِّقُ عَلَى</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comments on</a:t>
            </a:r>
            <a:endParaRPr lang="en-US" sz="1350" dirty="0"/>
          </a:p>
          <a:p>
            <a:pPr indent="0" marL="0">
              <a:buNone/>
            </a:pPr>
            <a:r>
              <a:rPr lang="en-US" sz="1100" i="1" dirty="0">
                <a:solidFill>
                  <a:srgbClr val="5A6472"/>
                </a:solidFill>
                <a:latin typeface="Calibri" pitchFamily="34" charset="0"/>
                <a:cs typeface="Amiri" pitchFamily="2" charset="-78"/>
              </a:rPr>
              <a:t>yu-ʿal-li-qu ʿa-lā</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تُعَلِّقُ</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يُعَلِّقُ</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1" name="Text 6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أُعَلِّقُ</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الخُصُوصِيَّةُ</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privacy</a:t>
            </a:r>
            <a:endParaRPr lang="en-US" sz="1350" dirty="0"/>
          </a:p>
          <a:p>
            <a:pPr indent="0" marL="0">
              <a:buNone/>
            </a:pPr>
            <a:r>
              <a:rPr lang="en-US" sz="1100" i="1" dirty="0">
                <a:solidFill>
                  <a:srgbClr val="5A6472"/>
                </a:solidFill>
                <a:latin typeface="Calibri" pitchFamily="34" charset="0"/>
                <a:cs typeface="Amiri" pitchFamily="2" charset="-78"/>
              </a:rPr>
              <a:t>al-khu-ṣū-ṣiy-ya-tu</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D4-L06 · Green Technology — AI, Solar Energy and Smart Cities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التِّقْنِيَّةُ الخَضْرَاءُ</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green technology</a:t>
            </a:r>
            <a:endParaRPr lang="en-US" sz="1350" dirty="0"/>
          </a:p>
          <a:p>
            <a:pPr indent="0" marL="0">
              <a:buNone/>
            </a:pPr>
            <a:r>
              <a:rPr lang="en-US" sz="1100" i="1" dirty="0">
                <a:solidFill>
                  <a:srgbClr val="5A6472"/>
                </a:solidFill>
                <a:latin typeface="Calibri" pitchFamily="34" charset="0"/>
                <a:cs typeface="Amiri" pitchFamily="2" charset="-78"/>
              </a:rPr>
              <a:t>at-tiq-niy-ya-tu al-khaḍ-rā-ʾu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تُورْبِينَاتُ الرِّيَاحِ</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 turbines</a:t>
            </a:r>
            <a:endParaRPr lang="en-US" sz="1350" dirty="0"/>
          </a:p>
          <a:p>
            <a:pPr indent="0" marL="0">
              <a:buNone/>
            </a:pPr>
            <a:r>
              <a:rPr lang="en-US" sz="1100" i="1" dirty="0">
                <a:solidFill>
                  <a:srgbClr val="5A6472"/>
                </a:solidFill>
                <a:latin typeface="Calibri" pitchFamily="34" charset="0"/>
                <a:cs typeface="Amiri" pitchFamily="2" charset="-78"/>
              </a:rPr>
              <a:t>tūr-bī-nā-tu ar-ri-yā-ḥi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مَدِينَةٌ ذَكِيَّةٌ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smart city</a:t>
            </a:r>
            <a:endParaRPr lang="en-US" sz="1350" dirty="0"/>
          </a:p>
          <a:p>
            <a:pPr indent="0" marL="0">
              <a:buNone/>
            </a:pPr>
            <a:r>
              <a:rPr lang="en-US" sz="1100" i="1" dirty="0">
                <a:solidFill>
                  <a:srgbClr val="5A6472"/>
                </a:solidFill>
                <a:latin typeface="Calibri" pitchFamily="34" charset="0"/>
                <a:cs typeface="Amiri" pitchFamily="2" charset="-78"/>
              </a:rPr>
              <a:t>ma-dī-na-tun dha-kiy-ya-tun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تُحَوِّلُ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converts</a:t>
            </a:r>
            <a:endParaRPr lang="en-US" sz="1350" dirty="0"/>
          </a:p>
          <a:p>
            <a:pPr indent="0" marL="0">
              <a:buNone/>
            </a:pPr>
            <a:r>
              <a:rPr lang="en-US" sz="1100" i="1" dirty="0">
                <a:solidFill>
                  <a:srgbClr val="5A6472"/>
                </a:solidFill>
                <a:latin typeface="Calibri" pitchFamily="34" charset="0"/>
                <a:cs typeface="Amiri" pitchFamily="2" charset="-78"/>
              </a:rPr>
              <a:t>tu-ḥaw-wi-lu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تُخَفِّضُ</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reduces</a:t>
            </a:r>
            <a:endParaRPr lang="en-US" sz="1350" dirty="0"/>
          </a:p>
          <a:p>
            <a:pPr indent="0" marL="0">
              <a:buNone/>
            </a:pPr>
            <a:r>
              <a:rPr lang="en-US" sz="1100" i="1" dirty="0">
                <a:solidFill>
                  <a:srgbClr val="5A6472"/>
                </a:solidFill>
                <a:latin typeface="Calibri" pitchFamily="34" charset="0"/>
                <a:cs typeface="Amiri" pitchFamily="2" charset="-78"/>
              </a:rPr>
              <a:t>tu-khaf-fi-ḍu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يُسْتَخْدَمُ</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used</a:t>
            </a:r>
            <a:endParaRPr lang="en-US" sz="1350" dirty="0"/>
          </a:p>
          <a:p>
            <a:pPr indent="0" marL="0">
              <a:buNone/>
            </a:pPr>
            <a:r>
              <a:rPr lang="en-US" sz="1100" i="1" dirty="0">
                <a:solidFill>
                  <a:srgbClr val="5A6472"/>
                </a:solidFill>
                <a:latin typeface="Calibri" pitchFamily="34" charset="0"/>
                <a:cs typeface="Amiri" pitchFamily="2" charset="-78"/>
              </a:rPr>
              <a:t>yus-takh-da-mu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أَتَوَاصَلُ مَعَ … · أُعَلِّقُ عَلَى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تُحَوِّلُ … إِلَى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تُسْتَخْدَمُ 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 فَوَائِدِهَا أَنَّ … · مِنْ مَخَاطِرِهَا أَنَّ …</a:t>
            </a:r>
            <a:endParaRPr lang="ar-SA" sz="15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تُسَاعِدُ عَلَى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150" b="1" dirty="0">
                <a:solidFill>
                  <a:srgbClr val="1B3B6F"/>
                </a:solidFill>
                <a:latin typeface="Amiri" pitchFamily="2" charset="-78"/>
                <a:ea typeface="Amiri" pitchFamily="2" charset="-78"/>
                <a:cs typeface="Amiri" pitchFamily="2" charset="-78"/>
              </a:rPr>
              <a:t>مِنْ أَهَمِّ الفَوَائِدِ أَنَّ … · مِنْ أَبْرَزِ التَّحَدِّيَاتِ أَنَّ …</a:t>
            </a:r>
            <a:endParaRPr lang="ar-SA" sz="11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مُفِيدَةٌ بِشَرْطِ أَنْ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D4-L05 · The Digital World — Technology and Social Media</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D4-L06 · Green Technology — AI, Solar Energy and Smart Cities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D4-L05 · The Digital World — Technology and Social Media</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أَتَوَاصَلُ مَعَ … · أُعَلِّقُ عَلَى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فَوَائِدِهَا أَنَّ … · مِنْ مَخَاطِرِهَا أَنَّ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مُفِيدَةٌ بِشَرْطِ أَنْ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D4-L06 · Green Technology — AI, Solar Energy and Smart Cities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تُحَوِّلُ … إِلَى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تُسْتَخْدَمُ لِ…</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تُسَاعِدُ عَلَى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أَهَمِّ الفَوَائِدِ أَنَّ … · مِنْ أَبْرَزِ التَّحَدِّيَاتِ 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expo stand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جَنَاحِ المَعْرِضِ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app?</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هٰذَا التَّطْبِيقُ؟</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“My Green School” app; we communicate with students and comment on green ideas.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تَطْبِيقُ «مَدْرَسَتِي الخَضْرَاءُ»؛ نَتَوَاصَلُ مَعَ الطُّلَّابِ، وَنُعَلِّقُ عَلَى الأَفْكَارِ البِيئِيَّةِ.</a:t>
            </a:r>
            <a:endParaRPr lang="ar-SA" sz="175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are these panels on the roof?</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هٰذِهِ الأَلْوَاحُ عَلَى السَّطْحِ؟</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Solar panels; they turn sunlight into electricity, and they are used to run the computers.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أَلْوَاحٌ شَمْسِيَّةٌ؛ تُحَوِّلُ ضَوْءَ الشَّمْسِ إِلَى كَهْرَبَاءَ، وَتُسْتَخْدَمُ لِتَشْغِيلِ الحَوَاسِيبِ.</a:t>
            </a:r>
            <a:endParaRPr lang="ar-SA" sz="185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there risks?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هُنَاكَ مَخَاطِرُ؟</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the one hand they help to save energy; on the other hand they are expensive; they are useful to a large extent.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مِنْ نَاحِيَةٍ تُسَاعِدُ عَلَى تَوْفِيرِ الطَّاقَةِ، وَمِنْ نَاحِيَةٍ أُخْرَى ثَمَنُهَا مُرْتَفِعٌ؛ هِيَ مُفِيدَةٌ إِلَى حَدٍّ كَبِيرٍ.</a:t>
            </a:r>
            <a:endParaRPr lang="ar-SA" sz="14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خُصُوصًا فِي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أَقْضِي حَوَالَيْ … سَاعَاتٍ</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hours a day on screens?</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سَاعَةً تَقْضِي عَلَى الشَّاشَةِ يَوْمِيًّا؟</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وَتُوَلِّدُ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تُحَوِّلُ طَاقَةَ الرِّيَاحِ إِلَى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wind turbines work?</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تَعْمَلُ تُورْبِينَاتُ الرِّيَاحِ؟</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لِأَنَّهُمْ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أَتَوَاصَلُ مَعَ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keep in touch with online?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تَتَوَاصَلُ عَلَى الإِنْتَرْنِت؟</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إِشَارَاتِ المُرُورِ</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يُسْتَخْدَمُ لِتَنْظِيمِ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AI used for in smart cities?</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لِمَاذَا يُسْتَخْدَمُ الذَّكَاءُ الاصْطِنَاعِيُّ فِي المُدُنِ الذَّكِيَّةِ؟</a:t>
            </a:r>
            <a:endParaRPr lang="ar-SA" sz="145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تَطْبِيقٍ … لِأَنَّهُ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best app? Why?</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أَفْضَلُ تَطْبِيقٍ عِنْدَكَ؟ لِمَاذَا؟</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يُسَاعِدُ عَلَى تَوْفِيرِ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a sustainable building help the environment?</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كَيْفَ يُسَاعِدُ المَبْنَى المُسْتَدَامُ عَلَى حِمَايَةِ البِيئَةِ؟</a:t>
            </a:r>
            <a:endParaRPr lang="ar-SA" sz="155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D4-L05, even numbers from D4-L06.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card — the expo judge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حَكَمُ المَعْرِضِ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يَتَوَاصَلُونَ مَعَ … · يُعَلِّقُونَ عَلَى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digital verbs with prepositions.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يَسْتَخْدِمُ الطُّلَّابُ تَطْبِيقَكُمْ؟</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تُحَوِّلُ … إِلَى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how it works.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تَعْمَلُ الأَلْوَاحُ الشَّمْسِيَّةُ؟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it is used for + what it helps with.</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تُسْتَخْدَمُ فِي المَدْرَسَةِ؟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benefit and one risk with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مَخَاطِرُ التَّطْبِيقِ؟</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qualified judgement.</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فِي رَأْيِكَ، هَلِ التِّكْنُولُوجِيَا تُنْقِذُ البِيئَةَ؟</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presenter · Partner A = the expo judge.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expo pitch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عَرْضُنَا فِي المَعْرِضِ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Pitch your two inventions for one minute: the eco-app (how students interact with it, one benefit, one risk) and one green technology for the school (how it works, what it is used for, what it helps with). Finish with a balanced, qualified judgement.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نَتَوَاصَلُ مَعَ … · تُحَوِّلُ … إِلَى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فَوَائِدِهَا أَنَّ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مِنْ مَخَاطِرِهَا أَنَّ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تُسْتَخْدَمُ لِ</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إِلَى حَدٍّ مَا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بِشَرْطِ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comment on my friends’ posts.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أُعَلِّقُ</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أُعَلِّقَ</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مَنْشُورَاتِ أَصْدِقَائِي.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مَنْشُورَاتُ أَصْدِقَائِي.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Turbines convert wind into electricity.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تُحَوِّلُ التُّورْبِينَاتُ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يُحَوِّلُ التُّورْبِينَاتُ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الرِّيَاحَ</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الرِّيَاحُ</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كَهْرَبَاءَ.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كَهْرَبَاءُ.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One of its risks is that it wastes time.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مَخَاطِرِهَا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مَخَاطِرُهَا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تُضَيِّعُ الوَقْتَ.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تُضَيِّعَ الوَقْتَ.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comment on my friends’ posts.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يُعَلِّقُ عَلَى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أُعَلِّقُ عَلَى مَنْشُورَاتِ أَصْدِقَائِي.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Turbines convert wind into electricity.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a:t>
            </a:r>
            <a:pPr algn="l" indent="0" marL="0">
              <a:buNone/>
            </a:pPr>
            <a:r>
              <a:rPr lang="ar-SA" altLang="en-US" sz="1350" dirty="0">
                <a:solidFill>
                  <a:srgbClr val="5A6472"/>
                </a:solidFill>
                <a:latin typeface="Amiri" pitchFamily="2" charset="-78"/>
                <a:ea typeface="Amiri" pitchFamily="2" charset="-78"/>
                <a:cs typeface="Amiri" pitchFamily="2" charset="-78"/>
              </a:rPr>
              <a:t>تُحَوِّلُ</a:t>
            </a:r>
            <a:pPr algn="l" indent="0" marL="0">
              <a:buNone/>
            </a:pPr>
            <a:r>
              <a:rPr lang="en-US" sz="1050" i="1" dirty="0">
                <a:solidFill>
                  <a:srgbClr val="5A6472"/>
                </a:solidFill>
                <a:latin typeface="Calibri" pitchFamily="34" charset="0"/>
                <a:cs typeface="Amiri" pitchFamily="2" charset="-78"/>
              </a:rPr>
              <a:t>; object in -a;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تُحَوِّلُ التُّورْبِينَاتُ الرِّيَاحَ إِلَى كَهْرَبَاءَ.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One of its risks is that it wastes time.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 genitive;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pronoun + verb in -u.</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مِنْ مَخَاطِرِهَا أَنَّهَا تُضَيِّعُ الوَقْتَ.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أَتَفَاعَلُ المُتَابِعِينَ كُلَّ يَوْمٍ.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تُحَوِّلُ الأَلْوَاحُ ضَوْءَ الشَّمْسِ كَهْرَبَاءَ.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Into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أَبْحَثُ مَعْلُومَاتٍ عَلَى الإِنْتَرْنِت.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for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أَتَفَاعَلُ المُتَابِعِينَ كُلَّ يَوْمٍ.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أَتَفَاعَلُ مَعَ المُتَابِعِينَ كُلَّ يَوْمٍ.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يَتَفَاعَلُ مَعَ …</a:t>
            </a:r>
            <a:endParaRPr lang="ar-SA" sz="14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تُحَوِّلُ الأَلْوَاحُ ضَوْءَ الشَّمْسِ كَهْرَبَاءَ.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تُحَوِّلُ الأَلْوَاحُ ضَوْءَ الشَّمْسِ إِلَى كَهْرَبَاءَ.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تُحَوِّلُ</a:t>
            </a:r>
            <a:pPr algn="l" indent="0" marL="0">
              <a:buNone/>
            </a:pPr>
            <a:r>
              <a:rPr lang="en-US" sz="1150" b="1" dirty="0">
                <a:solidFill>
                  <a:srgbClr val="1B3B6F"/>
                </a:solidFill>
                <a:latin typeface="Calibri" pitchFamily="34" charset="0"/>
                <a:cs typeface="Amiri" pitchFamily="2" charset="-78"/>
              </a:rPr>
              <a:t>‏ X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 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أَبْحَثُ مَعْلُومَاتٍ عَلَى الإِنْتَرْنِت.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أَبْحَثُ عَنْ مَعْلُومَاتٍ عَلَى الإِنْتَرْنِت.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يَبْحَثُ عَنْ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 ______ ، وَمِنْ نَاحِيَةٍ أُخْرَى ______ .</a:t>
            </a:r>
            <a:endParaRPr lang="ar-SA" sz="16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one hand …, on the other hand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مُفِيدَةٌ إِلَى حَدٍّ مَا، بِشَرْطِ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useful to some extent, provided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تَطْبِيقِنَا نَتَوَاصَلُ مَعَ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our app we communicate with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وَنُعَلِّقُ عَلَى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we comment on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الأَلْوَاحُ الشَّمْسِيَّةُ تُحَوِّلُ ______ إِلَى ______ .</a:t>
            </a:r>
            <a:endParaRPr lang="ar-SA" sz="16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Solar panels turn … into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تُسْتَخْدَمُ 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are used for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تُسَاعِدُ عَلَى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help with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يَتَوَاصَلُ مَعَ  ·  يُعَلِّقُ عَلَى · يَبْحَثُ عَنْ  ·  تُحَوِّلُ … إِلَى  ·  تُوَلِّدُ الكَهْرَبَاءَ  ·  تُسْتَخْدَمُ لِ…  ·  تُسَاعِدُ عَلَى  ·  مِنْ فَوَائِدِهَا · مِنْ مَخَاطِرِهَا  ·  إِلَى حَدٍّ مَا · بِشَرْطِ أَنْ</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Expo article: technology for a greener school</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 المَعْرِضِ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article (about 60–80 words) for the school website about the two expo inventions. Include: • how students use the app (three digital verbs with prepositions) • how the green technology works and what it is used for • what it helps with • one benefit and one risk • a balanced view (on the one hand … on the other …) • a qualified judgement.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D4-L05 AND D4-L06.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نَتَوَاصَلُ مَعَ … · نُعَلِّقُ عَلَى … · نَبْحَثُ عَنْ …</a:t>
            </a:r>
            <a:endParaRPr lang="ar-SA" sz="17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communicate with … · comment on … · search for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تُحَوِّلُ … إِلَى … · تُسْتَخْدَمُ 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turns … into … · it is used for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تُسَاعِدُ عَلَى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helps with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مُفِيدَةٌ إِلَى حَدٍّ مَا · بِشَرْطِ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useful to some extent · provided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three digital verbs with the right prepositions?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تُسْتَخْدَمُ لِ… / تُسَاعِدُ عَلَى</a:t>
            </a:r>
            <a:pPr algn="l" indent="0" marL="0">
              <a:buNone/>
            </a:pPr>
            <a:r>
              <a:rPr lang="en-US" sz="1100" dirty="0">
                <a:solidFill>
                  <a:srgbClr val="5A6472"/>
                </a:solidFill>
                <a:latin typeface="Calibri" pitchFamily="34" charset="0"/>
                <a:cs typeface="Amiri" pitchFamily="2" charset="-78"/>
              </a:rPr>
              <a:t>‏ + maṣdar and evaluate with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يَتَوَاصَلُونَ مَعَ نَادِي البِيئَةِ، وَيُعَلِّقُونَ عَلَى الأَفْكَارِ، وَيَبْحَثُونَ عَنْ نَصَائِحَ.</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communicate with the eco-club, comment on ideas and search for tips.</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يَسْتَخْدِمُ الطُّلَّابُ تَطْبِيقَكُمْ؟</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تُحَوِّلُ ضَوْءَ الشَّمْسِ إِلَى كَهْرَبَاءَ نَظِيفَةٍ.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turn sunlight into clean electricity.</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تَعْمَلُ الأَلْوَاحُ الشَّمْسِيَّةُ؟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تُسْتَخْدَمُ لِتَشْغِيلِ الحَوَاسِيبِ وَالأَضْوَاءِ، وَتُسَاعِدُ عَلَى تَقْلِيلِ الفَوَاتِيرِ.</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are used to run the computers and lights, and help to reduce the bills.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تُسْتَخْدَمُ فِي المَدْرَسَةِ؟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مِنْ فَوَائِدِهِ أَنَّهُ يَنْشُرُ الأَفْكَارَ بِسُرْعَةٍ، وَمِنْ مَخَاطِرِهِ أَنَّ الطُّلَّابَ قَدْ يَقْضُونَ وَقْتًا طَوِيلًا عَلَى الشَّاشَةِ.</a:t>
            </a:r>
            <a:endParaRPr lang="ar-SA" sz="155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One benefit is that it spreads ideas quickly; one risk is that students may spend a long time on screens.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مَخَاطِرُ التَّطْبِيقِ؟</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حَدٍّ مَا؛ هِيَ مُفِيدَةٌ بِشَرْطِ أَنْ نَسْتَخْدِمَهَا بِذَكَاءٍ وَأَنْ نُغَيِّرَ عَادَاتِنَا أَيْضًا.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 some extent; it is useful provided that we use it wisely and change our habits too.</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رَأْيِكَ، هَلِ التِّكْنُولُوجِيَا تُنْقِذُ البِيئَةَ؟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فِي مَعْرِضِنَا قَدَّمْنَا تَطْبِيقَ «مَدْرَسَتِي الخَضْرَاءُ». فِيهِ نَتَوَاصَلُ مَعَ نَادِي البِيئَةِ، وَنُعَلِّقُ عَلَى الأَفْكَارِ، وَنَبْحَثُ عَنْ نَصَائِحَ لِتَوْفِيرِ الطَّاقَةِ. وَقَدَّمْنَا أَيْضًا الأَلْوَاحَ الشَّمْسِيَّةَ؛ تُحَوِّلُ ضَوْءَ الشَّمْسِ إِلَى كَهْرَبَاءَ، وَتُسْتَخْدَمُ لِتَشْغِيلِ الحَوَاسِيبِ، وَتُسَاعِدُ عَلَى تَقْلِيلِ التَّلَوُّثِ. مِنْ نَاحِيَةٍ، التِّكْنُولُوجِيَا تَنْشُرُ الوَعْيَ بِسُرْعَةٍ، وَمِنْ نَاحِيَةٍ أُخْرَى، مِنْ مَخَاطِرِهَا أَنَّنَا نَقْضِي وَقْتًا طَوِيلًا عَلَى الشَّاشَةِ. فِي رَأْيِي هِيَ مُفِيدَةٌ إِلَى حَدٍّ كَبِيرٍ، بِشَرْطِ أَنْ نُغَيِّرَ عَادَاتِنَا أَيْضًا.</a:t>
            </a:r>
            <a:endParaRPr lang="ar-SA" sz="23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“At our expo we presented the “My Green School” app. In it we communicate with the eco-club, comment on ideas and search for tips to save energy. We also presented the solar panels; they turn sunlight into electricity, are used to run the computers, and help to reduce pollution. On the one hand, technology spreads awareness quickly; on the other, one of its risks is that we spend a long time on screens. In my opinion it is useful to a large extent, provided that we change our habits too.”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نَتَوَاصَلُ مَعَ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تُحَوِّلُ ضَوْءَ الشَّمْسِ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تُسَاعِدُ عَلَى تَقْلِيلِ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بِشَرْطِ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D4-W03 · Apply workshop (D4-L05 + D4-L06)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D4-L05 and D4-L06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D4-L07 · Resources and Sustainability — When Resources Run Out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المَوَارِدُ وَالاسْتِدَامَةُ — عِنْدَمَا تَنْضَبُ المَوَارِدُ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D4-W03 · Apply Workshop — The Smart-School Tech Expo</dc:title>
  <dc:subject>PptxGenJS Presentation</dc:subject>
  <dc:creator>Al Madina Online School · Arabic Department</dc:creator>
  <cp:lastModifiedBy>Al Madina Online School · Arabic Department</cp:lastModifiedBy>
  <cp:revision>1</cp:revision>
  <dcterms:created xsi:type="dcterms:W3CDTF">2026-10-26T15:37:54Z</dcterms:created>
  <dcterms:modified xsi:type="dcterms:W3CDTF">2026-10-26T15:37:54Z</dcterms:modified>
</cp:coreProperties>
</file>