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D4-L07 · Learn D4-L08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D4-L07 (Resources and Sustainability — When Resources Run Out) and D4-L08 (Reading — Environment and Technology Texts).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D4-L07 and D4-L08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D4-L07? After D4-L08?” Take two answers in the chat for each lesson (one word or one sentence is enough). Then read objective 3 — today’s new situation that needs BOTH lessons. Students tick their route goals at the end of the lesson.
D4-L07 language: predicting: idhā istamarra + noun, fa-sawfa + verb; negative condition: idhā lam + jussive (idhā lam nurashshidi al-miyāha …); resources run out (yanḍabu) or become scarce (yashiḥḥu); moving to sustainable sources (al-intiqāl ilā …)
D4-L08 language: impersonal reporting: yushāru ilā anna … · yutawaqqaʿu an …; statistics: yablughu … · yumaththilu … · bi-nisbati … % · wafqan li-…; claim (iddiʿāʾ) vs evidence (dalīl); tracking pronouns; comparing the tone of two texts (mutafāʾil · mutashāʾim · muḥāyid)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D4-L07 and D4-L08. Teacher reads it once with a confident student; then pairs. Ask: “Which lines are from D4-L07? Which from D4-L08?” Statistics and reporting (وَفْقًا لِ… · يَبْلُغُ · يُمَثِّلُ · يُشَارُ إِلَى أَنَّ) come from D4-L08; predictions with إِذَا اسْتَمَرَّ … فَسَوْفَ … and إِذَا لَمْ + jussive (نُرَشِّدِ) and يَشِحُّ from D4-L07.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reading statistics, reporting and telling claim from evidence (D4-L08) with predictions and conditions about a resource (D4-L07). FADED SUPPORT: tasks 1–2 show the plan; students write their own plan for 3–5. To a girl Partner A says: مَا الحَلُّ الأَفْضَلُ فِي رَأْيِكِ؟.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D4-L07 and D4-L08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D4-L07 and D4-L08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Find each bullet point in the model, and one phrase from D4-L07 and one from D4-L08.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D4-L07 + D4-L08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Our School Water Report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تَقْرِيرُ المَاءِ فِي مَدْرَسَتِنَا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join reading statistics with predictions about resources: they read a short data report on the school’s water use (</a:t>
            </a:r>
            <a:pPr algn="l" indent="0" marL="0">
              <a:buNone/>
            </a:pPr>
            <a:r>
              <a:rPr lang="ar-SA" altLang="en-US" sz="1500" dirty="0">
                <a:solidFill>
                  <a:srgbClr val="C6D2E6"/>
                </a:solidFill>
                <a:latin typeface="Amiri" pitchFamily="2" charset="-78"/>
                <a:ea typeface="Amiri" pitchFamily="2" charset="-78"/>
                <a:cs typeface="Amiri" pitchFamily="2" charset="-78"/>
              </a:rPr>
              <a:t>وَفْقًا لِ</a:t>
            </a:r>
            <a:pPr algn="l" indent="0" marL="0">
              <a:buNone/>
            </a:pPr>
            <a:r>
              <a:rPr lang="en-US" sz="1150" dirty="0">
                <a:solidFill>
                  <a:srgbClr val="C6D2E6"/>
                </a:solidFill>
                <a:latin typeface="Calibri" pitchFamily="34" charset="0"/>
                <a:cs typeface="Amiri" pitchFamily="2" charset="-78"/>
              </a:rPr>
              <a:t>… · </a:t>
            </a:r>
            <a:pPr algn="l" indent="0" marL="0">
              <a:buNone/>
            </a:pPr>
            <a:r>
              <a:rPr lang="ar-SA" altLang="en-US" sz="1500" dirty="0">
                <a:solidFill>
                  <a:srgbClr val="C6D2E6"/>
                </a:solidFill>
                <a:latin typeface="Amiri" pitchFamily="2" charset="-78"/>
                <a:ea typeface="Amiri" pitchFamily="2" charset="-78"/>
                <a:cs typeface="Amiri" pitchFamily="2" charset="-78"/>
              </a:rPr>
              <a:t>يَبْلُغُ</a:t>
            </a:r>
            <a:pPr algn="l" indent="0" marL="0">
              <a:buNone/>
            </a:pPr>
            <a:r>
              <a:rPr lang="en-US" sz="1150" dirty="0">
                <a:solidFill>
                  <a:srgbClr val="C6D2E6"/>
                </a:solidFill>
                <a:latin typeface="Calibri" pitchFamily="34" charset="0"/>
                <a:cs typeface="Amiri" pitchFamily="2" charset="-78"/>
              </a:rPr>
              <a:t> · </a:t>
            </a:r>
            <a:pPr algn="l" indent="0" marL="0">
              <a:buNone/>
            </a:pPr>
            <a:r>
              <a:rPr lang="ar-SA" altLang="en-US" sz="1500" dirty="0">
                <a:solidFill>
                  <a:srgbClr val="C6D2E6"/>
                </a:solidFill>
                <a:latin typeface="Amiri" pitchFamily="2" charset="-78"/>
                <a:ea typeface="Amiri" pitchFamily="2" charset="-78"/>
                <a:cs typeface="Amiri" pitchFamily="2" charset="-78"/>
              </a:rPr>
              <a:t>بِنِسْبَةِ</a:t>
            </a:r>
            <a:pPr algn="l" indent="0" marL="0">
              <a:buNone/>
            </a:pPr>
            <a:r>
              <a:rPr lang="en-US" sz="1150" dirty="0">
                <a:solidFill>
                  <a:srgbClr val="C6D2E6"/>
                </a:solidFill>
                <a:latin typeface="Calibri" pitchFamily="34" charset="0"/>
                <a:cs typeface="Amiri" pitchFamily="2" charset="-78"/>
              </a:rPr>
              <a:t> …), separate claims from evidence, predict what will happen if things continue (</a:t>
            </a:r>
            <a:pPr algn="l" indent="0" marL="0">
              <a:buNone/>
            </a:pPr>
            <a:r>
              <a:rPr lang="ar-SA" altLang="en-US" sz="1500" dirty="0">
                <a:solidFill>
                  <a:srgbClr val="C6D2E6"/>
                </a:solidFill>
                <a:latin typeface="Amiri" pitchFamily="2" charset="-78"/>
                <a:ea typeface="Amiri" pitchFamily="2" charset="-78"/>
                <a:cs typeface="Amiri" pitchFamily="2" charset="-78"/>
              </a:rPr>
              <a:t>إِذَا اسْتَمَرَّ</a:t>
            </a:r>
            <a:pPr algn="l" indent="0" marL="0">
              <a:buNone/>
            </a:pPr>
            <a:r>
              <a:rPr lang="en-US" sz="1150" dirty="0">
                <a:solidFill>
                  <a:srgbClr val="C6D2E6"/>
                </a:solidFill>
                <a:latin typeface="Calibri" pitchFamily="34" charset="0"/>
                <a:cs typeface="Amiri" pitchFamily="2" charset="-78"/>
              </a:rPr>
              <a:t> … · </a:t>
            </a:r>
            <a:pPr algn="l" indent="0" marL="0">
              <a:buNone/>
            </a:pPr>
            <a:r>
              <a:rPr lang="ar-SA" altLang="en-US" sz="1500" dirty="0">
                <a:solidFill>
                  <a:srgbClr val="C6D2E6"/>
                </a:solidFill>
                <a:latin typeface="Amiri" pitchFamily="2" charset="-78"/>
                <a:ea typeface="Amiri" pitchFamily="2" charset="-78"/>
                <a:cs typeface="Amiri" pitchFamily="2" charset="-78"/>
              </a:rPr>
              <a:t>إِذَا لَمْ</a:t>
            </a:r>
            <a:pPr algn="l" indent="0" marL="0">
              <a:buNone/>
            </a:pPr>
            <a:r>
              <a:rPr lang="en-US" sz="1150" dirty="0">
                <a:solidFill>
                  <a:srgbClr val="C6D2E6"/>
                </a:solidFill>
                <a:latin typeface="Calibri" pitchFamily="34" charset="0"/>
                <a:cs typeface="Amiri" pitchFamily="2" charset="-78"/>
              </a:rPr>
              <a:t> …), and write their own report with data, predictions and actions.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D4-L07 + D4-L08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D4-L07 and D4-L08.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D4-L07 + D4-L08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D4-L07: Resources and Sustainability — When Resources Run Out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D4-L08: Reading — Environment and Technology Texts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water report · Our school water report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D4-L07 and D4-L08.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D4-L07 · Resources and Sustainability — When Resources Run Out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المَوَارِدُ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resources</a:t>
            </a:r>
            <a:endParaRPr lang="en-US" sz="1350" dirty="0"/>
          </a:p>
          <a:p>
            <a:pPr indent="0" marL="0">
              <a:buNone/>
            </a:pPr>
            <a:r>
              <a:rPr lang="en-US" sz="1100" i="1" dirty="0">
                <a:solidFill>
                  <a:srgbClr val="5A6472"/>
                </a:solidFill>
                <a:latin typeface="Calibri" pitchFamily="34" charset="0"/>
                <a:cs typeface="Amiri" pitchFamily="2" charset="-78"/>
              </a:rPr>
              <a:t>al-ma-wā-ri-du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شُحُّ المِيَاهِ</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shuḥ-ḥu al-mi-yā-hi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المِيَاهُ الجَوْفِيَّةُ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groundwater</a:t>
            </a:r>
            <a:endParaRPr lang="en-US" sz="1350" dirty="0"/>
          </a:p>
          <a:p>
            <a:pPr indent="0" marL="0">
              <a:buNone/>
            </a:pPr>
            <a:r>
              <a:rPr lang="en-US" sz="1100" i="1" dirty="0">
                <a:solidFill>
                  <a:srgbClr val="5A6472"/>
                </a:solidFill>
                <a:latin typeface="Calibri" pitchFamily="34" charset="0"/>
                <a:cs typeface="Amiri" pitchFamily="2" charset="-78"/>
              </a:rPr>
              <a:t>al-mi-yā-hu al-jaw-fiy-ya-tu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يَنْضَبُ</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runs out / is depleted</a:t>
            </a:r>
            <a:endParaRPr lang="en-US" sz="1350" dirty="0"/>
          </a:p>
          <a:p>
            <a:pPr indent="0" marL="0">
              <a:buNone/>
            </a:pPr>
            <a:r>
              <a:rPr lang="en-US" sz="1100" i="1" dirty="0">
                <a:solidFill>
                  <a:srgbClr val="5A6472"/>
                </a:solidFill>
                <a:latin typeface="Calibri" pitchFamily="34" charset="0"/>
                <a:cs typeface="Amiri" pitchFamily="2" charset="-78"/>
              </a:rPr>
              <a:t>yan-ḍa-bu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يُرَشِّدُ</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rationalises / conserves</a:t>
            </a:r>
            <a:endParaRPr lang="en-US" sz="1350" dirty="0"/>
          </a:p>
          <a:p>
            <a:pPr indent="0" marL="0">
              <a:buNone/>
            </a:pPr>
            <a:r>
              <a:rPr lang="en-US" sz="1100" i="1" dirty="0">
                <a:solidFill>
                  <a:srgbClr val="5A6472"/>
                </a:solidFill>
                <a:latin typeface="Calibri" pitchFamily="34" charset="0"/>
                <a:cs typeface="Amiri" pitchFamily="2" charset="-78"/>
              </a:rPr>
              <a:t>yu-rash-shi-du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لَمْ</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does not</a:t>
            </a:r>
            <a:endParaRPr lang="en-US" sz="1350" dirty="0"/>
          </a:p>
          <a:p>
            <a:pPr indent="0" marL="0">
              <a:buNone/>
            </a:pPr>
            <a:r>
              <a:rPr lang="en-US" sz="1100" i="1" dirty="0">
                <a:solidFill>
                  <a:srgbClr val="5A6472"/>
                </a:solidFill>
                <a:latin typeface="Calibri" pitchFamily="34" charset="0"/>
                <a:cs typeface="Amiri" pitchFamily="2" charset="-78"/>
              </a:rPr>
              <a:t>i-dhā lam</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D4-L08 · Reading — Environment and Technology Texts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بَيَانَاتٌ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data</a:t>
            </a:r>
            <a:endParaRPr lang="en-US" sz="1350" dirty="0"/>
          </a:p>
          <a:p>
            <a:pPr indent="0" marL="0">
              <a:buNone/>
            </a:pPr>
            <a:r>
              <a:rPr lang="en-US" sz="1100" i="1" dirty="0">
                <a:solidFill>
                  <a:srgbClr val="5A6472"/>
                </a:solidFill>
                <a:latin typeface="Calibri" pitchFamily="34" charset="0"/>
                <a:cs typeface="Amiri" pitchFamily="2" charset="-78"/>
              </a:rPr>
              <a:t>ba-yā-nā-tun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يُشَارُ إِلَى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indicated that</a:t>
            </a:r>
            <a:endParaRPr lang="en-US" sz="1350" dirty="0"/>
          </a:p>
          <a:p>
            <a:pPr indent="0" marL="0">
              <a:buNone/>
            </a:pPr>
            <a:r>
              <a:rPr lang="en-US" sz="1100" i="1" dirty="0">
                <a:solidFill>
                  <a:srgbClr val="5A6472"/>
                </a:solidFill>
                <a:latin typeface="Calibri" pitchFamily="34" charset="0"/>
                <a:cs typeface="Amiri" pitchFamily="2" charset="-78"/>
              </a:rPr>
              <a:t>yu-shā-ru i-lā an-na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amounts to / reaches</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وَفْقًا لِـ</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a:t>
            </a:r>
            <a:endParaRPr lang="en-US" sz="1350" dirty="0"/>
          </a:p>
          <a:p>
            <a:pPr indent="0" marL="0">
              <a:buNone/>
            </a:pPr>
            <a:r>
              <a:rPr lang="en-US" sz="1100" i="1" dirty="0">
                <a:solidFill>
                  <a:srgbClr val="5A6472"/>
                </a:solidFill>
                <a:latin typeface="Calibri" pitchFamily="34" charset="0"/>
                <a:cs typeface="Amiri" pitchFamily="2" charset="-78"/>
              </a:rPr>
              <a:t>waf-qan li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 … ، فَسَوْفَ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وَفْقًا لِبَيَانَاتِ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 · يُمَثِّلُ … · بِنِسْبَةِ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نُ… ، فَسَوْفَ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يَنْضَبُ · يَشِحُّ</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يُشَارُ إِلَى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نَنْتَقِلَ إِلَى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D4-L07 · Resources and Sustainability — When Resources Run Out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D4-L08 · Reading — Environment and Technology Texts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D4-L07 · Resources and Sustainability — When Resources Run Out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 … ، فَسَوْفَ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نُ… ، فَسَوْفَ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يَنْضَبُ · يَشِحُّ</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نَنْتَقِلَ إِلَى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D4-L08 · Reading — Environment and Technology Texts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وَفْقًا لِبَيَانَاتِ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 · يُمَثِّلُ … · بِنِسْبَةِ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يُشَارُ إِلَى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water data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نَقْرَأُ بَيَانَاتِ المَاءِ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According to the school’s data, water use reaches twenty thousand litres a week.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وَفْقًا لِبَيَانَاتِ المَدْرَسَةِ، يَبْلُغُ اسْتِهْلَاكُ المَاءِ عِشْرِينَ أَلْفَ لِتْرٍ فِي الأُسْبُوعِ.</a:t>
            </a:r>
            <a:endParaRPr lang="ar-SA" sz="18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represents the largest share?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الَّذِي يُمَثِّلُ أَكْبَرَ نِسْبَةٍ؟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toilets represent sixty per cent of the use.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الحَمَّامَاتُ تُمَثِّلُ سِتِّينَ فِي المِئَةِ مِنَ الاسْتِهْلَاكِ.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this use continues, the bill will rise a lot.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اسْتَمَرَّ هٰذَا الاسْتِهْلَاكُ، فَسَوْفَ تَرْتَفِعُ الفَاتُورَةُ كَثِيرًا.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it is reported that water becomes scarce in summer.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وَيُشَارُ إِلَى أَنَّ المَاءَ يَشِحُّ فِي الصَّيْفِ.</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we don’t use water wisely, we will face a big problem.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لَمْ نُرَشِّدِ المَاءَ، فَسَوْفَ نُوَاجِهُ مُشْكِلَةً كَبِيرَةً.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مِمَّا يُؤَدِّي إِلَى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اسْتَمَرَّ التَّلَوُّثُ، فَسَوْفَ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happen if pollution continues?</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اسْتَمَرَّ التَّلَوُّثُ؟</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الفِعْلُ: يَبْلُغُ</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يَبْلُغُ عَدَدُهَا أَلْفَيْ سَيَّارَةٍ</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number of electric cars reaches 2,000.” — How many?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«يَبْلُغُ عَدَدُ السَّيَّارَاتِ الكَهْرَبَائِيَّةِ ٢٠٠٠ سَيَّارَةٍ.» — كَمْ عَدَدُهَا؟</a:t>
            </a:r>
            <a:endParaRPr lang="ar-SA" sz="12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لَمْ نُرَشِّدِ الطَّاقَةَ، فَسَوْفَ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if we don’t save energy?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لَمْ نُرَشِّدِ الطَّاقَةَ؟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خَبَرٌ جَيِّدٌ</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انْخَفَضَ التَّلَوُّثُ بِنِسْبَةِ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“Pollution fell by 15%.” — What happened?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«انْخَفَضَ التَّلَوُّثُ بِنِسْبَةِ ١٥٪.» — مَاذَا حَدَثَ؟</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وَالاسْتِهْلَاكِ الكَبِيرِ</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water scarce in some countries?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يَشِحُّ المَاءُ فِي بَعْضِ البِلَادِ؟</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لِلْمُسْتَقْبَلِ</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هٰذَا تَوَقُّعٌ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“Temperatures are expected to rise two degrees.” — Has it happened?</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«يُتَوَقَّعُ أَنْ تَرْتَفِعَ الحَرَارَةُ دَرَجَتَيْنِ.» — هَلْ هٰذَا حَدَثَ؟</a:t>
            </a:r>
            <a:endParaRPr lang="ar-SA" sz="145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D4-L07, even numbers from D4-L08.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the water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انْخَفَضَ … بِنِسْبَةِ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statistic.</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«انْخَفَضَ اسْتِهْلَاكُ المَاءِ بِنِسْبَةِ عَشَرَةٍ فِي المِئَةِ بَعْدَ تَرْكِيبِ صَنَابِيرَ ذَكِيَّةٍ.» — مَاذَا حَدَثَ؟</a:t>
            </a:r>
            <a:endParaRPr lang="ar-SA" sz="13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ادِّعَاءٌ ← لَا أَرْقَامَ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Claim or evidence? Why?</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«المَاءُ لَنْ يَنْضَبَ أَبَدًا فِي بِرِيطَانِيَا.» — هٰذَا ادِّعَاءٌ أَمْ دَلِيلٌ؟</a:t>
            </a:r>
            <a:endParaRPr lang="ar-SA" sz="135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prediction with ‏</a:t>
            </a:r>
            <a:pPr algn="l" indent="0" marL="0">
              <a:buNone/>
            </a:pPr>
            <a:r>
              <a:rPr lang="ar-SA" altLang="en-US" sz="1450" dirty="0">
                <a:solidFill>
                  <a:srgbClr val="5A6472"/>
                </a:solidFill>
                <a:latin typeface="Amiri" pitchFamily="2" charset="-78"/>
                <a:ea typeface="Amiri" pitchFamily="2" charset="-78"/>
                <a:cs typeface="Amiri" pitchFamily="2" charset="-78"/>
              </a:rPr>
              <a:t>إِذَا اسْتَمَرَّ</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اسْتَمَرَّ الاسْتِهْلَاكُ؟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prediction with ‏</a:t>
            </a:r>
            <a:pPr algn="l" indent="0" marL="0">
              <a:buNone/>
            </a:pPr>
            <a:r>
              <a:rPr lang="ar-SA" altLang="en-US" sz="1450" dirty="0">
                <a:solidFill>
                  <a:srgbClr val="5A6472"/>
                </a:solidFill>
                <a:latin typeface="Amiri" pitchFamily="2" charset="-78"/>
                <a:ea typeface="Amiri" pitchFamily="2" charset="-78"/>
                <a:cs typeface="Amiri" pitchFamily="2" charset="-78"/>
              </a:rPr>
              <a:t>إِذَا لَمْ</a:t>
            </a:r>
            <a:pPr algn="l" indent="0" marL="0">
              <a:buNone/>
            </a:pPr>
            <a:r>
              <a:rPr lang="en-US" sz="1100" dirty="0">
                <a:solidFill>
                  <a:srgbClr val="5A6472"/>
                </a:solidFill>
                <a:latin typeface="Calibri" pitchFamily="34" charset="0"/>
                <a:cs typeface="Amiri" pitchFamily="2" charset="-78"/>
              </a:rPr>
              <a:t>‏ + jussive.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لَمْ نَفْعَلْ شَيْئًا؟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action + a move to a sustainable source.</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الحَلُّ الأَفْضَلُ فِي رَأْيِكَ؟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Partner A reads each line of the report and asks. Answer with the figure or the reason from the text, then a full sentence. Task ! is your view. Then swap.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The water figures — and what they mean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أَرْقَامُ المَاءِ وَمَعْنَاهَا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the school water report for one minute: two statistics with their source, one claim you do not trust and why, two predictions (‏</a:t>
            </a:r>
            <a:pPr algn="l" indent="0" marL="0">
              <a:buNone/>
            </a:pPr>
            <a:r>
              <a:rPr lang="ar-SA" altLang="en-US" sz="1750" dirty="0">
                <a:solidFill>
                  <a:srgbClr val="1F2A37"/>
                </a:solidFill>
                <a:latin typeface="Amiri" pitchFamily="2" charset="-78"/>
                <a:ea typeface="Amiri" pitchFamily="2" charset="-78"/>
                <a:cs typeface="Amiri" pitchFamily="2" charset="-78"/>
              </a:rPr>
              <a:t>إِذَا اسْتَمَرَّ … / إِذَا لَمْ</a:t>
            </a:r>
            <a:pPr algn="l" indent="0" marL="0">
              <a:buNone/>
            </a:pPr>
            <a:r>
              <a:rPr lang="en-US" sz="1350" dirty="0">
                <a:solidFill>
                  <a:srgbClr val="1F2A37"/>
                </a:solidFill>
                <a:latin typeface="Calibri" pitchFamily="34" charset="0"/>
                <a:cs typeface="Amiri" pitchFamily="2" charset="-78"/>
              </a:rPr>
              <a:t> …‏), and two actions for the school.</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وَفْقًا لِبَيَانَاتِ … · يَبْلُغُ … · يَجِبُ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بِنِسْبَةِ</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إِذَا اسْتَمَرَّ … فَسَوْفَ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يُشَارُ إِلَى أَنَّ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إِذَا لَمْ</a:t>
            </a:r>
            <a:pPr algn="l" indent="0" marL="0">
              <a:buNone/>
            </a:pPr>
            <a:r>
              <a:rPr lang="en-US" sz="1150" dirty="0">
                <a:solidFill>
                  <a:srgbClr val="1F2A37"/>
                </a:solidFill>
                <a:latin typeface="Calibri" pitchFamily="34" charset="0"/>
                <a:cs typeface="Amiri" pitchFamily="2" charset="-78"/>
              </a:rPr>
              <a:t>‏ + jussive and claim vs evidence.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consumption continues, oil will run out.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اسْتَمَرَّ الاسْتِهْلَاكُ،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يَسْتَمِرُّ الاسْتِهْلَاكُ،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لَا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يَنْضَبُ النِّفْطُ.</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يَنْضَبَ النِّفْطُ.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indicated that pollution is increasing.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يُشَارُ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يُشِيرُ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أَنَّ التَّلَوُّثَ</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التَّلَوُّثُ</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يَزْدَادُ.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يَزْدَادَ.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we don’t conserve water, it will become scarce.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نُرَشِّدِ المِيَاهَ،</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نُرَشِّدُ المِيَاهَ،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تَشِحُّ.</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يَشِحُّونَ.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consumption continues, oil will run out.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fa-sawfa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اسْتَمَرَّ الاسْتِهْلَاكُ، فَسَوْفَ يَنْضَبُ النِّفْطُ.</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indicated that pollution is increasing.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يُشَارُ إِلَى أَنَّ</a:t>
            </a:r>
            <a:pPr algn="l" indent="0" marL="0">
              <a:buNone/>
            </a:pPr>
            <a:r>
              <a:rPr lang="en-US" sz="1050" i="1" dirty="0">
                <a:solidFill>
                  <a:srgbClr val="5A6472"/>
                </a:solidFill>
                <a:latin typeface="Calibri" pitchFamily="34" charset="0"/>
                <a:cs typeface="Amiri" pitchFamily="2" charset="-78"/>
              </a:rPr>
              <a:t> + noun in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يُشَارُ إِلَى أَنَّ التَّلَوُّثَ يَزْدَادُ.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we don’t conserve water, it will become scarce.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a:t>
            </a:r>
            <a:pPr algn="l" indent="0" marL="0">
              <a:buNone/>
            </a:pPr>
            <a:r>
              <a:rPr lang="en-US" sz="1050" i="1" dirty="0">
                <a:solidFill>
                  <a:srgbClr val="5A6472"/>
                </a:solidFill>
                <a:latin typeface="Calibri" pitchFamily="34" charset="0"/>
                <a:cs typeface="Amiri" pitchFamily="2" charset="-78"/>
              </a:rPr>
              <a:t> + jussive (vowel -i before al-); </a:t>
            </a:r>
            <a:pPr algn="l" indent="0" marL="0">
              <a:buNone/>
            </a:pPr>
            <a:r>
              <a:rPr lang="ar-SA" altLang="en-US" sz="1350" dirty="0">
                <a:solidFill>
                  <a:srgbClr val="5A6472"/>
                </a:solidFill>
                <a:latin typeface="Amiri" pitchFamily="2" charset="-78"/>
                <a:ea typeface="Amiri" pitchFamily="2" charset="-78"/>
                <a:cs typeface="Amiri" pitchFamily="2" charset="-78"/>
              </a:rPr>
              <a:t>مِيَاهٌ</a:t>
            </a:r>
            <a:pPr algn="l" indent="0" marL="0">
              <a:buNone/>
            </a:pPr>
            <a:r>
              <a:rPr lang="en-US" sz="1050" i="1" dirty="0">
                <a:solidFill>
                  <a:srgbClr val="5A6472"/>
                </a:solidFill>
                <a:latin typeface="Calibri" pitchFamily="34" charset="0"/>
                <a:cs typeface="Amiri" pitchFamily="2" charset="-78"/>
              </a:rPr>
              <a:t> → feminine 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لَمْ نُرَشِّدِ المِيَاهَ، فَسَوْفَ تَشِحُّ.</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لَا نُرَشِّدُ المَاءَ …</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condition.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«تُمَثِّلُ رُبْعَ» ← خَمْسُونَ بِالمِئَةِ.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quarter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اسْتَمَرَّ التَّلَوُّثُ، سَيَنْضَبُ المَاءُ النَّظِيفُ.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Join the result.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لَا نُرَشِّدُ المَاءَ …</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لَمْ نُرَشِّدِ المَاءَ …</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إِذَا لَمْ</a:t>
            </a:r>
            <a:pPr algn="l" indent="0" marL="0">
              <a:buNone/>
            </a:pPr>
            <a:r>
              <a:rPr lang="en-US" sz="1150" b="1" dirty="0">
                <a:solidFill>
                  <a:srgbClr val="1B3B6F"/>
                </a:solidFill>
                <a:latin typeface="Calibri" pitchFamily="34" charset="0"/>
                <a:cs typeface="Amiri" pitchFamily="2" charset="-78"/>
              </a:rPr>
              <a:t>‏ + jussive.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«تُمَثِّلُ رُبْعَ» ← خَمْسُونَ بِالمِئَةِ.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«تُمَثِّلُ رُبْعَ» = خَمْسَةٌ وَعِشْرُونَ بِالمِئَةِ.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fractions exactly: ‏</a:t>
            </a:r>
            <a:pPr algn="l" indent="0" marL="0">
              <a:buNone/>
            </a:pPr>
            <a:r>
              <a:rPr lang="ar-SA" altLang="en-US" sz="1500" b="1" dirty="0">
                <a:solidFill>
                  <a:srgbClr val="1B3B6F"/>
                </a:solidFill>
                <a:latin typeface="Amiri" pitchFamily="2" charset="-78"/>
                <a:ea typeface="Amiri" pitchFamily="2" charset="-78"/>
                <a:cs typeface="Amiri" pitchFamily="2" charset="-78"/>
              </a:rPr>
              <a:t>رُبْعٌ</a:t>
            </a:r>
            <a:pPr algn="l" indent="0" marL="0">
              <a:buNone/>
            </a:pPr>
            <a:r>
              <a:rPr lang="en-US" sz="1150" b="1" dirty="0">
                <a:solidFill>
                  <a:srgbClr val="1B3B6F"/>
                </a:solidFill>
                <a:latin typeface="Calibri" pitchFamily="34" charset="0"/>
                <a:cs typeface="Amiri" pitchFamily="2" charset="-78"/>
              </a:rPr>
              <a:t>‏ = 25%.</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اسْتَمَرَّ التَّلَوُّثُ، سَيَنْضَبُ المَاءُ النَّظِيفُ.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ea typeface="Amiri" pitchFamily="2" charset="-78"/>
                <a:cs typeface="Amiri" pitchFamily="2" charset="-78"/>
              </a:rPr>
              <a:t>إِذَا اسْتَمَرَّ التَّلَوُّثُ، فَسَوْفَ يَنْضَبُ المَاءُ النَّظِيفُ.</a:t>
            </a:r>
            <a:endParaRPr lang="ar-SA" sz="21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Result with ‏</a:t>
            </a:r>
            <a:pPr algn="l" indent="0" marL="0">
              <a:buNone/>
            </a:pPr>
            <a:r>
              <a:rPr lang="ar-SA" altLang="en-US" sz="1500" b="1" dirty="0">
                <a:solidFill>
                  <a:srgbClr val="1B3B6F"/>
                </a:solidFill>
                <a:latin typeface="Amiri" pitchFamily="2" charset="-78"/>
                <a:ea typeface="Amiri" pitchFamily="2" charset="-78"/>
                <a:cs typeface="Amiri" pitchFamily="2" charset="-78"/>
              </a:rPr>
              <a:t>سَوْفَ</a:t>
            </a:r>
            <a:pPr algn="l" indent="0" marL="0">
              <a:buNone/>
            </a:pPr>
            <a:r>
              <a:rPr lang="en-US" sz="1150" b="1" dirty="0">
                <a:solidFill>
                  <a:srgbClr val="1B3B6F"/>
                </a:solidFill>
                <a:latin typeface="Calibri" pitchFamily="34" charset="0"/>
                <a:cs typeface="Amiri" pitchFamily="2" charset="-78"/>
              </a:rPr>
              <a:t>‏ takes fa-.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______ ، فَسَوْفَ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don’t …, …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reported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نَنْتَقِلَ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move to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وَفْقًا لِبَيَانَاتِ ______ ، يَبْلُغُ اسْتِهْلَاكُ المَاءِ ______ .</a:t>
            </a:r>
            <a:endParaRPr lang="ar-SA" sz="135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 data, water use reaches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تُمَثِّلُ ______ فِي المِئَةِ.</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represent … per cent.</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______ ، فَسَوْفَ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 continues, … will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وَفْقًا لِبَيَانَاتِ  ·  يَبْلُغُ · يُمَثِّلُ  ·  بِنِسْبَةِ … فِي المِئَةِ  ·  ارْتَفَعَ · انْخَفَضَ  ·  يُشَارُ إِلَى أَنَّ  ·  إِذَا اسْتَمَرَّ … فَسَوْفَ  ·  إِذَا لَمْ + نُرَشِّدْ  ·  يَشِحُّ · يَنْضَبُ</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water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تَقْرِيرُنَا عَنِ المَاءِ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report (about 60–80 words) for the school website (you may invent realistic data). Include: • the source (‏</a:t>
            </a:r>
            <a:pPr algn="l" indent="0" marL="0">
              <a:buNone/>
            </a:pPr>
            <a:r>
              <a:rPr lang="ar-SA" altLang="en-US" sz="1450" b="1" dirty="0">
                <a:solidFill>
                  <a:srgbClr val="1F2A37"/>
                </a:solidFill>
                <a:latin typeface="Amiri" pitchFamily="2" charset="-78"/>
                <a:ea typeface="Amiri" pitchFamily="2" charset="-78"/>
                <a:cs typeface="Amiri" pitchFamily="2" charset="-78"/>
              </a:rPr>
              <a:t>وَفْقًا لِ</a:t>
            </a:r>
            <a:pPr algn="l" indent="0" marL="0">
              <a:buNone/>
            </a:pPr>
            <a:r>
              <a:rPr lang="en-US" sz="1100" b="1" dirty="0">
                <a:solidFill>
                  <a:srgbClr val="1F2A37"/>
                </a:solidFill>
                <a:latin typeface="Calibri" pitchFamily="34" charset="0"/>
                <a:cs typeface="Amiri" pitchFamily="2" charset="-78"/>
              </a:rPr>
              <a:t>…‏) • three statistics (‏</a:t>
            </a:r>
            <a:pPr algn="l" indent="0" marL="0">
              <a:buNone/>
            </a:pPr>
            <a:r>
              <a:rPr lang="ar-SA" altLang="en-US" sz="1450" b="1" dirty="0">
                <a:solidFill>
                  <a:srgbClr val="1F2A37"/>
                </a:solidFill>
                <a:latin typeface="Amiri" pitchFamily="2" charset="-78"/>
                <a:ea typeface="Amiri" pitchFamily="2" charset="-78"/>
                <a:cs typeface="Amiri" pitchFamily="2" charset="-78"/>
              </a:rPr>
              <a:t>يَبْلُغُ</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يُمَثِّلُ</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بِنِسْبَةِ</a:t>
            </a:r>
            <a:pPr algn="l" indent="0" marL="0">
              <a:buNone/>
            </a:pPr>
            <a:r>
              <a:rPr lang="en-US" sz="1100" b="1" dirty="0">
                <a:solidFill>
                  <a:srgbClr val="1F2A37"/>
                </a:solidFill>
                <a:latin typeface="Calibri" pitchFamily="34" charset="0"/>
                <a:cs typeface="Amiri" pitchFamily="2" charset="-78"/>
              </a:rPr>
              <a:t> …‏) • why water is at risk • two predictions (‏</a:t>
            </a:r>
            <a:pPr algn="l" indent="0" marL="0">
              <a:buNone/>
            </a:pPr>
            <a:r>
              <a:rPr lang="ar-SA" altLang="en-US" sz="1450" b="1" dirty="0">
                <a:solidFill>
                  <a:srgbClr val="1F2A37"/>
                </a:solidFill>
                <a:latin typeface="Amiri" pitchFamily="2" charset="-78"/>
                <a:ea typeface="Amiri" pitchFamily="2" charset="-78"/>
                <a:cs typeface="Amiri" pitchFamily="2" charset="-78"/>
              </a:rPr>
              <a:t>إِذَا اسْتَمَرَّ … فَسَوْفَ … / إِذَا لَمْ … فَسَوْفَ</a:t>
            </a:r>
            <a:pPr algn="l" indent="0" marL="0">
              <a:buNone/>
            </a:pPr>
            <a:r>
              <a:rPr lang="en-US" sz="1100" b="1" dirty="0">
                <a:solidFill>
                  <a:srgbClr val="1F2A37"/>
                </a:solidFill>
                <a:latin typeface="Calibri" pitchFamily="34" charset="0"/>
                <a:cs typeface="Amiri" pitchFamily="2" charset="-78"/>
              </a:rPr>
              <a:t> …‏) • two actions, one moving to a sustainable solution.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D4-L07 AND D4-L08.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وَفْقًا لِبَيَانَاتِ المَدْرَسَةِ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the school’s data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 · يُمَثِّلُ … · بِنِسْبَةِ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reaches … · represents … · by … per cent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 ، فَسَوْفَ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 continues, … will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نُرَشِّدِ المَاءَ ، فَسَوْفَ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we don’t use water wisely,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two predictions with ‏</a:t>
            </a:r>
            <a:pPr algn="l" indent="0" marL="0">
              <a:buNone/>
            </a:pPr>
            <a:r>
              <a:rPr lang="ar-SA" altLang="en-US" sz="1450" dirty="0">
                <a:solidFill>
                  <a:srgbClr val="5A6472"/>
                </a:solidFill>
                <a:latin typeface="Amiri" pitchFamily="2" charset="-78"/>
                <a:ea typeface="Amiri" pitchFamily="2" charset="-78"/>
                <a:cs typeface="Amiri" pitchFamily="2" charset="-78"/>
              </a:rPr>
              <a:t>إِذَا … فَسَوْفَ</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impersonal reporting and separate claim from evidence?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انْخَفَضَ الاسْتِهْلَاكُ بِنِسْبَةِ عَشَرَةٍ فِي المِئَةِ بِسَبَبِ الصَّنَابِيرِ الذَّكِيَّةِ.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Use fell by ten per cent because of the smart taps.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«انْخَفَضَ اسْتِهْلَاكُ المَاءِ بِنِسْبَةِ عَشَرَةٍ فِي المِئَةِ بَعْدَ تَرْكِيبِ صَنَابِيرَ ذَكِيَّةٍ.» — مَاذَا حَدَثَ؟</a:t>
            </a:r>
            <a:endParaRPr lang="ar-SA" sz="13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ادِّعَاءٌ، لِأَنَّهُ لَيْسَ فِيهِ أَرْقَامٌ وَلَا مَصْدَرٌ.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claim, because it has no figures and no source.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«المَاءُ لَنْ يَنْضَبَ أَبَدًا فِي بِرِيطَانِيَا.» — هٰذَا ادِّعَاءٌ أَمْ دَلِيلٌ؟</a:t>
            </a:r>
            <a:endParaRPr lang="ar-SA" sz="13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 الاسْتِهْلَاكُ، فَسَوْفَ يَشِحُّ المَاءُ فِي الصَّيْفِ.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use continues, water will become scarce in summer.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سَيَحْدُثُ إِذَا اسْتَمَرَّ الاسْتِهْلَاكُ؟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نُصْلِحِ الصَّنَابِيرَ المَكْسُورَةَ، فَسَوْفَ نُضَيِّعُ آلَافَ اللِّتْرَاتِ.</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we don’t fix the broken taps, we will waste thousands of litres.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لَمْ نَفْعَلْ شَيْئًا؟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نَجْمَعَ مَاءَ المَطَرِ، وَأَنْ نَنْتَقِلَ إِلَى صَنَابِيرَ ذَكِيَّةٍ فِي كُلِّ المَدْرَسَةِ.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collect rainwater, and move to smart taps across the whole school.</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الحَلُّ الأَفْضَلُ فِي رَأْيِكَ؟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وَفْقًا لِبَيَانَاتِ المَدْرَسَةِ، يَبْلُغُ اسْتِهْلَاكُ المَاءِ عِشْرِينَ أَلْفَ لِتْرٍ فِي الأُسْبُوعِ، وَتُمَثِّلُ الحَمَّامَاتُ سِتِّينَ فِي المِئَةِ مِنْهُ. وَقَدِ ارْتَفَعَ الاسْتِهْلَاكُ بِنِسْبَةِ خَمْسَةَ عَشَرَ فِي المِئَةِ هٰذَا العَامَ. يُشَارُ إِلَى أَنَّ المَاءَ يَشِحُّ فِي الصَّيْفِ بِسَبَبِ قِلَّةِ المَطَرِ. إِذَا اسْتَمَرَّ هٰذَا الاسْتِهْلَاكُ، فَسَوْفَ تَرْتَفِعُ الفَاتُورَةُ كَثِيرًا، وَإِذَا لَمْ نُصْلِحِ الصَّنَابِيرَ، فَسَوْفَ نُضَيِّعُ آلَافَ اللِّتْرَاتِ. لِذٰلِكَ يَجِبُ أَنْ نَجْمَعَ مَاءَ المَطَرِ، وَأَنْ نَنْتَقِلَ إِلَى صَنَابِيرَ ذَكِيَّةٍ.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“According to the school’s data, water use reaches twenty thousand litres a week, and the toilets represent sixty per cent of it. Use has risen by fifteen per cent this year. It is reported that water becomes scarce in summer because of the lack of rain. If this use continues, the bill will rise a lot, and if we don’t fix the taps, we will waste thousands of litres. So we must collect rainwater and move to smart taps.”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وَفْقًا لِبَيَانَاتِ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بِنِسْبَةِ خَمْسَةَ عَشَرَ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اسْتَمَرَّ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وَإِذَا لَمْ نُصْلِحِ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D4-W04 · Apply workshop (D4-L07 + D4-L08)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D4-L07 and D4-L08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D4-L09 · Writing — Environment and Technology Article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مَقَالٌ عَنِ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D4-W04 · Apply Workshop — Our School Water Report</dc:title>
  <dc:subject>PptxGenJS Presentation</dc:subject>
  <dc:creator>Al Madina Online School · Arabic Department</dc:creator>
  <cp:lastModifiedBy>Al Madina Online School · Arabic Department</cp:lastModifiedBy>
  <cp:revision>1</cp:revision>
  <dcterms:created xsi:type="dcterms:W3CDTF">2026-10-26T15:48:08Z</dcterms:created>
  <dcterms:modified xsi:type="dcterms:W3CDTF">2026-10-26T15:48:08Z</dcterms:modified>
</cp:coreProperties>
</file>