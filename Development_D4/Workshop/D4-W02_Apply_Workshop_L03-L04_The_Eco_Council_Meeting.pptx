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D4-L03 · Learn D4-L04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D4-L03 (Environmental Problems — Causes and Effects) and D4-L04 (Environmental Solutions — What Can Be Done?).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D4-L03 and D4-L04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D4-L03? After D4-L04?” Take two answers in the chat for each lesson (one word or one sentence is enough). Then read objective 3 — today’s new situation that needs BOTH lessons. Students tick their route goals at the end of the lesson.
D4-L03 language: cause → effect chains: bi-sababi + genitive · yuʾaddī ilā + genitive · mimmā yusabbibu …; active (tulawwithu al-maṣāniʿu al-hawāʾa) vs passive (yulawwathu al-hawāʾu · tuqṭaʿu al-ashjāru); naming the problem with a maṣdar (talawwuth · izālat al-ghābāt · al-taṣaḥḥur)
D4-L04 language: should / must: yanbaghī an nuqallila · yajibu ʿalā al-ḥukūmati an + verb in -a; purpose: li-kay + -a; “they / you all” in the subjunctive: -ūna → -ū (yajibu an yastakhdimū · ʿalaykum an tuʿīdū); solutions as maṣdars (iʿādat al-tadwīr · al-tashjīr · tarshīd al-miyāh)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D4-L03 and D4-L04. Teacher reads it once with a confident student; then pairs. Ask: “Which lines are from D4-L03? Which from D4-L04?” The problem as a maṣdar (تَلَوُّثُ) and the chain بِسَبَبِ … يُؤَدِّي إِلَى … مِمَّا يُسَبِّبُ … come from D4-L03; يَنْبَغِي أَنْ · يَجِبُ عَلَى … أَنْ … with the -ū form (يُطْفِئُوا) and لِكَيْ from D4-L04.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naming the problem, causes, effects and passives (D4-L03) with solutions for us, for others and for “them” with purposes (D4-L04). FADED SUPPORT: tasks 1–2 show the plan; students write their own plan for 3–5. To a girl Partner A says: مَا المُشْكِلَةُ الَّتِي تُرِيدِينَ أَنْ تَعْرِضِيهَا؟.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D4-L03 and D4-L04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D4-L03 and D4-L04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and one phrase from D4-L03 and one from D4-L04.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D4-L03 + D4-L04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Eco-Council Meeting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اجْتِمَاعُ المَجْلِسِ البِيئِيِّ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join problems with solutions: at the school eco-council they present a local problem (a maṣdar, causes with </a:t>
            </a:r>
            <a:pPr algn="l" indent="0" marL="0">
              <a:buNone/>
            </a:pPr>
            <a:r>
              <a:rPr lang="ar-SA" altLang="en-US" sz="1550" dirty="0">
                <a:solidFill>
                  <a:srgbClr val="C6D2E6"/>
                </a:solidFill>
                <a:latin typeface="Amiri" pitchFamily="2" charset="-78"/>
                <a:ea typeface="Amiri" pitchFamily="2" charset="-78"/>
                <a:cs typeface="Amiri" pitchFamily="2" charset="-78"/>
              </a:rPr>
              <a:t>بِسَبَبِ</a:t>
            </a:r>
            <a:pPr algn="l" indent="0" marL="0">
              <a:buNone/>
            </a:pPr>
            <a:r>
              <a:rPr lang="en-US" sz="1200" dirty="0">
                <a:solidFill>
                  <a:srgbClr val="C6D2E6"/>
                </a:solidFill>
                <a:latin typeface="Calibri" pitchFamily="34" charset="0"/>
                <a:cs typeface="Amiri" pitchFamily="2" charset="-78"/>
              </a:rPr>
              <a:t>, a cause-and-effect chain, a passive), then propose solutions for us, for the council and for “them” (</a:t>
            </a:r>
            <a:pPr algn="l" indent="0" marL="0">
              <a:buNone/>
            </a:pPr>
            <a:r>
              <a:rPr lang="ar-SA" altLang="en-US" sz="1550" dirty="0">
                <a:solidFill>
                  <a:srgbClr val="C6D2E6"/>
                </a:solidFill>
                <a:latin typeface="Amiri" pitchFamily="2" charset="-78"/>
                <a:ea typeface="Amiri" pitchFamily="2" charset="-78"/>
                <a:cs typeface="Amiri" pitchFamily="2" charset="-78"/>
              </a:rPr>
              <a:t>يَنْبَغِي أَنْ</a:t>
            </a:r>
            <a:pPr algn="l" indent="0" marL="0">
              <a:buNone/>
            </a:pPr>
            <a:r>
              <a:rPr lang="en-US" sz="1200" dirty="0">
                <a:solidFill>
                  <a:srgbClr val="C6D2E6"/>
                </a:solidFill>
                <a:latin typeface="Calibri" pitchFamily="34" charset="0"/>
                <a:cs typeface="Amiri" pitchFamily="2" charset="-78"/>
              </a:rPr>
              <a:t> · </a:t>
            </a:r>
            <a:pPr algn="l" indent="0" marL="0">
              <a:buNone/>
            </a:pPr>
            <a:r>
              <a:rPr lang="ar-SA" altLang="en-US" sz="1550" dirty="0">
                <a:solidFill>
                  <a:srgbClr val="C6D2E6"/>
                </a:solidFill>
                <a:latin typeface="Amiri" pitchFamily="2" charset="-78"/>
                <a:ea typeface="Amiri" pitchFamily="2" charset="-78"/>
                <a:cs typeface="Amiri" pitchFamily="2" charset="-78"/>
              </a:rPr>
              <a:t>يَجِبُ عَلَى … أَنْ</a:t>
            </a:r>
            <a:pPr algn="l" indent="0" marL="0">
              <a:buNone/>
            </a:pPr>
            <a:r>
              <a:rPr lang="en-US" sz="1200" dirty="0">
                <a:solidFill>
                  <a:srgbClr val="C6D2E6"/>
                </a:solidFill>
                <a:latin typeface="Calibri" pitchFamily="34" charset="0"/>
                <a:cs typeface="Amiri" pitchFamily="2" charset="-78"/>
              </a:rPr>
              <a:t> … · -ū forms · </a:t>
            </a:r>
            <a:pPr algn="l" indent="0" marL="0">
              <a:buNone/>
            </a:pPr>
            <a:r>
              <a:rPr lang="ar-SA" altLang="en-US" sz="1550" dirty="0">
                <a:solidFill>
                  <a:srgbClr val="C6D2E6"/>
                </a:solidFill>
                <a:latin typeface="Amiri" pitchFamily="2" charset="-78"/>
                <a:ea typeface="Amiri" pitchFamily="2" charset="-78"/>
                <a:cs typeface="Amiri" pitchFamily="2" charset="-78"/>
              </a:rPr>
              <a:t>لِكَيْ</a:t>
            </a:r>
            <a:pPr algn="l" indent="0" marL="0">
              <a:buNone/>
            </a:pPr>
            <a:r>
              <a:rPr lang="en-US" sz="1200" dirty="0">
                <a:solidFill>
                  <a:srgbClr val="C6D2E6"/>
                </a:solidFill>
                <a:latin typeface="Calibri" pitchFamily="34" charset="0"/>
                <a:cs typeface="Amiri" pitchFamily="2" charset="-78"/>
              </a:rPr>
              <a:t>), and write a persuasive council proposal.</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D4-L03 + D4-L04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D4-L03 and D4-L04.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D4-L03 + D4-L04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D4-L03: Environmental Problems — Causes and Effects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D4-L04: Environmental Solutions — What Can Be Done?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presenting to the eco-council · A proposal to the eco-council</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D4-L03 and D4-L04.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D4-L03 · Environmental Problems — Causes and Effects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تَلَوُّثُ الهَوَاءِ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 pollution</a:t>
            </a:r>
            <a:endParaRPr lang="en-US" sz="1350" dirty="0"/>
          </a:p>
          <a:p>
            <a:pPr indent="0" marL="0">
              <a:buNone/>
            </a:pPr>
            <a:r>
              <a:rPr lang="en-US" sz="1100" i="1" dirty="0">
                <a:solidFill>
                  <a:srgbClr val="5A6472"/>
                </a:solidFill>
                <a:latin typeface="Calibri" pitchFamily="34" charset="0"/>
                <a:cs typeface="Amiri" pitchFamily="2" charset="-78"/>
              </a:rPr>
              <a:t>ta-law-wu-thu al-ha-wā-ʾi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النُّفَايَاتُ البِلَاسْتِيكِيَّةُ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plastic waste</a:t>
            </a:r>
            <a:endParaRPr lang="en-US" sz="1350" dirty="0"/>
          </a:p>
          <a:p>
            <a:pPr indent="0" marL="0">
              <a:buNone/>
            </a:pPr>
            <a:r>
              <a:rPr lang="en-US" sz="1100" i="1" dirty="0">
                <a:solidFill>
                  <a:srgbClr val="5A6472"/>
                </a:solidFill>
                <a:latin typeface="Calibri" pitchFamily="34" charset="0"/>
                <a:cs typeface="Amiri" pitchFamily="2" charset="-78"/>
              </a:rPr>
              <a:t>an-nu-fā-yā-tu al-bi-lās-tī-kiy-ya-tu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التَّصَحُّرُ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desertification</a:t>
            </a:r>
            <a:endParaRPr lang="en-US" sz="1350" dirty="0"/>
          </a:p>
          <a:p>
            <a:pPr indent="0" marL="0">
              <a:buNone/>
            </a:pPr>
            <a:r>
              <a:rPr lang="en-US" sz="1100" i="1" dirty="0">
                <a:solidFill>
                  <a:srgbClr val="5A6472"/>
                </a:solidFill>
                <a:latin typeface="Calibri" pitchFamily="34" charset="0"/>
                <a:cs typeface="Amiri" pitchFamily="2" charset="-78"/>
              </a:rPr>
              <a:t>at-ta-ṣaḥ-ḥu-ru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ذَوَبَانُ الجَلِيدِ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melting ice</a:t>
            </a:r>
            <a:endParaRPr lang="en-US" sz="1350" dirty="0"/>
          </a:p>
          <a:p>
            <a:pPr indent="0" marL="0">
              <a:buNone/>
            </a:pPr>
            <a:r>
              <a:rPr lang="en-US" sz="1100" i="1" dirty="0">
                <a:solidFill>
                  <a:srgbClr val="5A6472"/>
                </a:solidFill>
                <a:latin typeface="Calibri" pitchFamily="34" charset="0"/>
                <a:cs typeface="Amiri" pitchFamily="2" charset="-78"/>
              </a:rPr>
              <a:t>dha-wa-bā-nu al-ja-lī-di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بِسَبَبِ</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of</a:t>
            </a:r>
            <a:endParaRPr lang="en-US" sz="1350" dirty="0"/>
          </a:p>
          <a:p>
            <a:pPr indent="0" marL="0">
              <a:buNone/>
            </a:pPr>
            <a:r>
              <a:rPr lang="en-US" sz="1100" i="1" dirty="0">
                <a:solidFill>
                  <a:srgbClr val="5A6472"/>
                </a:solidFill>
                <a:latin typeface="Calibri" pitchFamily="34" charset="0"/>
                <a:cs typeface="Amiri" pitchFamily="2" charset="-78"/>
              </a:rPr>
              <a:t>bi-sa-ba-bi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مِمَّا يُسَبِّبُ</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causes</a:t>
            </a:r>
            <a:endParaRPr lang="en-US" sz="1350" dirty="0"/>
          </a:p>
          <a:p>
            <a:pPr indent="0" marL="0">
              <a:buNone/>
            </a:pPr>
            <a:r>
              <a:rPr lang="en-US" sz="1100" i="1" dirty="0">
                <a:solidFill>
                  <a:srgbClr val="5A6472"/>
                </a:solidFill>
                <a:latin typeface="Calibri" pitchFamily="34" charset="0"/>
                <a:cs typeface="Amiri" pitchFamily="2" charset="-78"/>
              </a:rPr>
              <a:t>mim-mā yu-sab-bi-bu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D4-L04 · Environmental Solutions — What Can Be Done?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إِعَادَةُ التَّدْوِيرِ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recycling</a:t>
            </a:r>
            <a:endParaRPr lang="en-US" sz="1350" dirty="0"/>
          </a:p>
          <a:p>
            <a:pPr indent="0" marL="0">
              <a:buNone/>
            </a:pPr>
            <a:r>
              <a:rPr lang="en-US" sz="1100" i="1" dirty="0">
                <a:solidFill>
                  <a:srgbClr val="5A6472"/>
                </a:solidFill>
                <a:latin typeface="Calibri" pitchFamily="34" charset="0"/>
                <a:cs typeface="Amiri" pitchFamily="2" charset="-78"/>
              </a:rPr>
              <a:t>i-ʿā-da-tu at-tad-wī-ri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الطَّاقَةُ الشَّمْسِيَّةُ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energy</a:t>
            </a:r>
            <a:endParaRPr lang="en-US" sz="1350" dirty="0"/>
          </a:p>
          <a:p>
            <a:pPr indent="0" marL="0">
              <a:buNone/>
            </a:pPr>
            <a:r>
              <a:rPr lang="en-US" sz="1100" i="1" dirty="0">
                <a:solidFill>
                  <a:srgbClr val="5A6472"/>
                </a:solidFill>
                <a:latin typeface="Calibri" pitchFamily="34" charset="0"/>
                <a:cs typeface="Amiri" pitchFamily="2" charset="-78"/>
              </a:rPr>
              <a:t>aṭ-ṭā-qa-tu ash-sham-siy-ya-tu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تَرْشِيدُ المِيَاهِ</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conservation</a:t>
            </a:r>
            <a:endParaRPr lang="en-US" sz="1350" dirty="0"/>
          </a:p>
          <a:p>
            <a:pPr indent="0" marL="0">
              <a:buNone/>
            </a:pPr>
            <a:r>
              <a:rPr lang="en-US" sz="1100" i="1" dirty="0">
                <a:solidFill>
                  <a:srgbClr val="5A6472"/>
                </a:solidFill>
                <a:latin typeface="Calibri" pitchFamily="34" charset="0"/>
                <a:cs typeface="Amiri" pitchFamily="2" charset="-78"/>
              </a:rPr>
              <a:t>tar-shī-du al-mi-yā-hi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نُقَلِّلُ مِنْ</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reduce</a:t>
            </a:r>
            <a:endParaRPr lang="en-US" sz="1350" dirty="0"/>
          </a:p>
          <a:p>
            <a:pPr indent="0" marL="0">
              <a:buNone/>
            </a:pPr>
            <a:r>
              <a:rPr lang="en-US" sz="1100" i="1" dirty="0">
                <a:solidFill>
                  <a:srgbClr val="5A6472"/>
                </a:solidFill>
                <a:latin typeface="Calibri" pitchFamily="34" charset="0"/>
                <a:cs typeface="Amiri" pitchFamily="2" charset="-78"/>
              </a:rPr>
              <a:t>nu-qal-li-lu min</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7" name="Text 44"/>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يُقَلِّلُونَ</a:t>
            </a:r>
            <a:endParaRPr lang="ar-SA" sz="135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أُقَلِّلُ</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نُقَلِّلُ</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108265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 · I · they</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نُعِيدُ التَّدْوِيرَ</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recycle</a:t>
            </a:r>
            <a:endParaRPr lang="en-US" sz="1350" dirty="0"/>
          </a:p>
          <a:p>
            <a:pPr indent="0" marL="0">
              <a:buNone/>
            </a:pPr>
            <a:r>
              <a:rPr lang="en-US" sz="1100" i="1" dirty="0">
                <a:solidFill>
                  <a:srgbClr val="5A6472"/>
                </a:solidFill>
                <a:latin typeface="Calibri" pitchFamily="34" charset="0"/>
                <a:cs typeface="Amiri" pitchFamily="2" charset="-78"/>
              </a:rPr>
              <a:t>nu-ʿī-du at-tad-wī-ra</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65" name="Text 62"/>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يُعِيدُونَ</a:t>
            </a:r>
            <a:endParaRPr lang="ar-SA" sz="135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أُعِيدُ</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نُعِيدُ</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عَلَى ... أَنْ</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 must</a:t>
            </a:r>
            <a:endParaRPr lang="en-US" sz="1350" dirty="0"/>
          </a:p>
          <a:p>
            <a:pPr indent="0" marL="0">
              <a:buNone/>
            </a:pPr>
            <a:r>
              <a:rPr lang="en-US" sz="1100" i="1" dirty="0">
                <a:solidFill>
                  <a:srgbClr val="5A6472"/>
                </a:solidFill>
                <a:latin typeface="Calibri" pitchFamily="34" charset="0"/>
                <a:cs typeface="Amiri" pitchFamily="2" charset="-78"/>
              </a:rPr>
              <a:t>ya-ji-bu ʿa-lā ... an</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مُشْكِلَةٍ فِي مِنْطَقَتِي هِيَ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أَيُّهَا الزُّمَلَاءُ،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 لِكَيْ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 إِلَى … مِمَّا يُسَبِّبُ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هَيَّا نَبْدَأُ اليَوْمَ!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المَسْؤُولُ هُوَ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D4-L03 · Environmental Problems — Causes and Effects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D4-L04 · Environmental Solutions — What Can Be Done?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D4-L03 · Environmental Problems — Causes and Effects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مُشْكِلَةٍ فِي مِنْطَقَتِي هِيَ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 إِلَى … مِمَّا يُسَبِّبُ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المَسْؤُولُ هُوَ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D4-L04 · Environmental Solutions — What Can Be Done?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أَيُّهَا الزُّمَلَاءُ،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 لِكَيْ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هَيَّا نَبْدَأُ اليَوْمَ!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problem — and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المُشْكِلَةُ وَالحَلُّ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environmental problem near our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أَكْبَرُ مُشْكِلَةٍ بِيئِيَّةٍ قُرْبَ مَدْرَسَتِنَا؟</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Air pollution, because of the cars that wait in front of the gate.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تَلَوُّثُ الهَوَاءِ، بِسَبَبِ السَّيَّارَاتِ الَّتِي تَنْتَظِرُ أَمَامَ البَوَّابَةِ.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its result?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نَتِيجَتُهُ؟</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leads to polluted air, which causes breathing problems.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يُؤَدِّي إِلَى هَوَاءٍ مُلَوَّثٍ، مِمَّا يُسَبِّبُ مَشَاكِلَ فِي التَّنَفُّسِ.</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solution?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الحَلُّ؟</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should walk to school, and parents must switch off car engines so that the air becomes clean.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يَنْبَغِي أَنْ نَمْشِيَ إِلَى المَدْرَسَةِ، وَيَجِبُ عَلَى الأَهْلِ أَنْ يُطْفِئُوا مُحَرِّكَاتِ السَّيَّارَاتِ لِكَيْ يَنْظُفَ الهَوَاءُ.</a:t>
            </a:r>
            <a:endParaRPr lang="ar-SA" sz="14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بِسَبَبِ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أَكْبَرُ مُشْكِلَةٍ هِيَ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biggest environmental problem in your city?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مُشْكِلَةٍ بِيئِيَّةٍ فِي مَدِينَتِكَ؟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يَنْبَغِي أَنْ نَسْتَخْدِمَ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reduce plastic waste?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نُقَلِّلُ مِنَ النُّفَايَاتِ البِلَاسْتِيكِيَّةِ؟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السَّيَّارَاتِ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بِسَبَبِ … وَ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causes air pollution?</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أَسْبَابُ تَلَوُّثِ الهَوَاءِ؟</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عَلَى الحُكُومَةِ 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the government do?</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عَلَى الحُكُومَةِ أَنْ تَفْعَلَ؟</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مِمَّا يُسَبِّبُ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تُؤَدِّي إِلَى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deforestation lead to?</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إِلَامَ تُؤَدِّي إِزَالَةُ الغَابَاتِ؟</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الأَشْجَارَ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التَّشْجِيرُ يُسَاعِدُ عَلَى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benefit of planting trees?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فَائِدَةُ التَّشْجِيرِ؟</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D4-L03, even numbers from D4-L04.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 presenting to the eco-council</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العَرْضُ أَمَامَ المَجْلِسِ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أَكْبَرُ مُشْكِلَةٍ هِيَ … (تَلَوُّثُ / إِزَالَةُ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problem with a maṣdar.</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الَّتِي تُرِيدُ أَنْ تَعْرِضَهَا؟</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بِسَبَبِ … · تُرْمَى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causes, one with a passive.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أَسْبَابُهَا؟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cause-and-effect chain.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نَتَائِجُهَا؟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solution for us + a purpose.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يَنْبَغِي أَنْ نَفْعَلَ نَحْنُ الطُّلَّابَ؟</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rule for “them” (the -ū form) + a purpose.</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وَالمَصَانِعُ؟ مَاذَا يَجِبُ عَلَيْهَا؟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representative · Partner A = the eco-council chair.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problem, three solutions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مُشْكِلَةٌ وَاحِدَةٌ وَثَلَاثَةُ حُلُولٍ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one minute to the eco-council: name one local problem, give two causes and one cause-and-effect chain, then propose three solutions — one for us, one for the council or government, one for “them” — each with a purpose. End with a call to action.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أَكْبَرُ مُشْكِلَةٍ هِيَ … · بِسَبَبِ … · يَنْبَغِي 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يُؤَدِّي إِلَى … مِمَّا يُسَبِّبُ</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يَجِبُ عَلَى …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passive, the -ū form for “they” and two purposes with ‏</a:t>
            </a:r>
            <a:pPr algn="l" indent="0" marL="0">
              <a:buNone/>
            </a:pPr>
            <a:r>
              <a:rPr lang="ar-SA" altLang="en-US" sz="1500" dirty="0">
                <a:solidFill>
                  <a:srgbClr val="1F2A37"/>
                </a:solidFill>
                <a:latin typeface="Amiri" pitchFamily="2" charset="-78"/>
                <a:ea typeface="Amiri" pitchFamily="2" charset="-78"/>
                <a:cs typeface="Amiri" pitchFamily="2" charset="-78"/>
              </a:rPr>
              <a:t>لِكَيْ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air is polluted because of factories.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يُلَوَّثُ الهَوَاءُ</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يُلَوِّثُ الهَوَاءَ</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بِسَبَبِ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بِسَبَبُ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المَصَانِعِ.</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المَصَانِعُ.</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should use public transport.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يَنْبَغِي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يَنْبَغِيَ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نَسْتَخْدِمَ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نَسْتَخْدِمُ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النَّقْلَ العَامَّ.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النَّقْلُ العَامُّ.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Deforestation leads to desertification.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تُؤَدِّي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يُؤَدِّي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إِزَالَةُ الغَابَاتِ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إِزَالَةَ الغَابَاتِ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التَّصَحُّرِ.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التَّصَحُّرُ.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air is polluted because of factories.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t>
            </a:r>
            <a:pPr algn="l" indent="0" marL="0">
              <a:buNone/>
            </a:pPr>
            <a:r>
              <a:rPr lang="ar-SA" altLang="en-US" sz="1350" dirty="0">
                <a:solidFill>
                  <a:srgbClr val="5A6472"/>
                </a:solidFill>
                <a:latin typeface="Amiri" pitchFamily="2" charset="-78"/>
                <a:ea typeface="Amiri" pitchFamily="2" charset="-78"/>
                <a:cs typeface="Amiri" pitchFamily="2" charset="-78"/>
              </a:rPr>
              <a:t>يُلَوَّثُ</a:t>
            </a:r>
            <a:pPr algn="l" indent="0" marL="0">
              <a:buNone/>
            </a:pPr>
            <a:r>
              <a:rPr lang="en-US" sz="1050" i="1" dirty="0">
                <a:solidFill>
                  <a:srgbClr val="5A6472"/>
                </a:solidFill>
                <a:latin typeface="Calibri" pitchFamily="34" charset="0"/>
                <a:cs typeface="Amiri" pitchFamily="2" charset="-78"/>
              </a:rPr>
              <a:t> + subject; </a:t>
            </a:r>
            <a:pPr algn="l" indent="0" marL="0">
              <a:buNone/>
            </a:pPr>
            <a:r>
              <a:rPr lang="ar-SA" altLang="en-US" sz="1350" dirty="0">
                <a:solidFill>
                  <a:srgbClr val="5A6472"/>
                </a:solidFill>
                <a:latin typeface="Amiri" pitchFamily="2" charset="-78"/>
                <a:ea typeface="Amiri" pitchFamily="2" charset="-78"/>
                <a:cs typeface="Amiri" pitchFamily="2" charset="-78"/>
              </a:rPr>
              <a:t>بِسَبَبِ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يُلَوَّثُ الهَوَاءُ بِسَبَبِ المَصَانِعِ.</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should use public transport.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object in -a.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يَنْبَغِي أَنْ نَسْتَخْدِمَ النَّقْلَ العَامَّ.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Deforestation leads to desertification.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إِزَالَةٌ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تُؤَدِّي</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تُؤَدِّي إِزَالَةُ الغَابَاتِ إِلَى التَّصَحُّرِ.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بِسَبَبِ السَّيَّارَاتُ الهَوَاءُ مُلَوَّثٌ.</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بِسَبَبِ</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يَسْتَخْدِمُونَ الدَّرَّاجَاتِ.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They +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يُؤَدِّي التَّلَوُّثُ المَرَضَ.</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بِسَبَبِ السَّيَّارَاتُ الهَوَاءُ مُلَوَّثٌ.</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الهَوَاءُ مُلَوَّثٌ بِسَبَبِ السَّيَّارَاتِ.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بِسَبَبِ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يَسْتَخْدِمُونَ الدَّرَّاجَاتِ.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يَسْتَخْدِمُوا الدَّرَّاجَاتِ.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-ūna → -ū.</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يُؤَدِّي التَّلَوُّثُ المَرَضَ.</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يُؤَدِّي التَّلَوُّثُ إِلَى المَرَضِ.</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يُؤَدِّي إِلَى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______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must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مِمَّا يُسَبِّبُ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which causes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يَجِبُ عَلَى الأَهْلِ أَنْ يُطْفِئُوا / يَمْشُوا ______ .</a:t>
            </a:r>
            <a:endParaRPr lang="ar-SA" sz="16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Parents must switch off / walk … (-ū form).</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أَيُّهَا الزُّمَلَاءُ، أَكْبَرُ مُشْكِلَةٍ هِيَ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colleagues, the biggest problem is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of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______ إِلَى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leads to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______ لِكَيْ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should … so that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هَيَّا نَبْدَأُ اليَوْمَ!</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Let’s start today!</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تَلَوُّثٌ · إِزَالَةُ الغَابَاتِ  ·  بِسَبَبِ  ·  يُؤَدِّي إِلَى  ·  مِمَّا يُسَبِّبُ  ·  تُرْمَى · يُلَوَّثُ  ·  يَنْبَغِي أَنْ نُقَلِّلَ  ·  يَجِبُ عَلَى … أَنْ  ·  لِكَيْ · هَيَّا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proposal to the eco-council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اقْتِرَاحٌ لِلْمَجْلِسِ البِيئِيِّ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persuasive proposal (about 60–80 words). Include: • the problem as a maṣdar • two causes (one with a passive verb) • a chain: ‏</a:t>
            </a:r>
            <a:pPr algn="l" indent="0" marL="0">
              <a:buNone/>
            </a:pPr>
            <a:r>
              <a:rPr lang="ar-SA" altLang="en-US" sz="1450" b="1" dirty="0">
                <a:solidFill>
                  <a:srgbClr val="1F2A37"/>
                </a:solidFill>
                <a:latin typeface="Amiri" pitchFamily="2" charset="-78"/>
                <a:ea typeface="Amiri" pitchFamily="2" charset="-78"/>
                <a:cs typeface="Amiri" pitchFamily="2" charset="-78"/>
              </a:rPr>
              <a:t>يُؤَدِّي إِلَى … مِمَّا يُسَبِّبُ</a:t>
            </a:r>
            <a:pPr algn="l" indent="0" marL="0">
              <a:buNone/>
            </a:pPr>
            <a:r>
              <a:rPr lang="en-US" sz="1100" b="1" dirty="0">
                <a:solidFill>
                  <a:srgbClr val="1F2A37"/>
                </a:solidFill>
                <a:latin typeface="Calibri" pitchFamily="34" charset="0"/>
                <a:cs typeface="Amiri" pitchFamily="2" charset="-78"/>
              </a:rPr>
              <a:t> …‏ • three solutions: one with ‏</a:t>
            </a:r>
            <a:pPr algn="l" indent="0" marL="0">
              <a:buNone/>
            </a:pPr>
            <a:r>
              <a:rPr lang="ar-SA" altLang="en-US" sz="1450" b="1" dirty="0">
                <a:solidFill>
                  <a:srgbClr val="1F2A37"/>
                </a:solidFill>
                <a:latin typeface="Amiri" pitchFamily="2" charset="-78"/>
                <a:ea typeface="Amiri" pitchFamily="2" charset="-78"/>
                <a:cs typeface="Amiri" pitchFamily="2" charset="-78"/>
              </a:rPr>
              <a:t>يَنْبَغِي أَنْ</a:t>
            </a:r>
            <a:pPr algn="l" indent="0" marL="0">
              <a:buNone/>
            </a:pPr>
            <a:r>
              <a:rPr lang="en-US" sz="1100" b="1" dirty="0">
                <a:solidFill>
                  <a:srgbClr val="1F2A37"/>
                </a:solidFill>
                <a:latin typeface="Calibri" pitchFamily="34" charset="0"/>
                <a:cs typeface="Amiri" pitchFamily="2" charset="-78"/>
              </a:rPr>
              <a:t>‏, one with ‏</a:t>
            </a:r>
            <a:pPr algn="l" indent="0" marL="0">
              <a:buNone/>
            </a:pPr>
            <a:r>
              <a:rPr lang="ar-SA" altLang="en-US" sz="1450" b="1" dirty="0">
                <a:solidFill>
                  <a:srgbClr val="1F2A37"/>
                </a:solidFill>
                <a:latin typeface="Amiri" pitchFamily="2" charset="-78"/>
                <a:ea typeface="Amiri" pitchFamily="2" charset="-78"/>
                <a:cs typeface="Amiri" pitchFamily="2" charset="-78"/>
              </a:rPr>
              <a:t>يَجِبُ عَلَى … أَنْ</a:t>
            </a:r>
            <a:pPr algn="l" indent="0" marL="0">
              <a:buNone/>
            </a:pPr>
            <a:r>
              <a:rPr lang="en-US" sz="1100" b="1" dirty="0">
                <a:solidFill>
                  <a:srgbClr val="1F2A37"/>
                </a:solidFill>
                <a:latin typeface="Calibri" pitchFamily="34" charset="0"/>
                <a:cs typeface="Amiri" pitchFamily="2" charset="-78"/>
              </a:rPr>
              <a:t> …‏, one for “they” with the -ū form • two purposes with ‏</a:t>
            </a:r>
            <a:pPr algn="l" indent="0" marL="0">
              <a:buNone/>
            </a:pPr>
            <a:r>
              <a:rPr lang="ar-SA" altLang="en-US" sz="1450" b="1" dirty="0">
                <a:solidFill>
                  <a:srgbClr val="1F2A37"/>
                </a:solidFill>
                <a:latin typeface="Amiri" pitchFamily="2" charset="-78"/>
                <a:ea typeface="Amiri" pitchFamily="2" charset="-78"/>
                <a:cs typeface="Amiri" pitchFamily="2" charset="-78"/>
              </a:rPr>
              <a:t>لِكَيْ</a:t>
            </a:r>
            <a:pPr algn="l" indent="0" marL="0">
              <a:buNone/>
            </a:pPr>
            <a:r>
              <a:rPr lang="en-US" sz="1100" b="1" dirty="0">
                <a:solidFill>
                  <a:srgbClr val="1F2A37"/>
                </a:solidFill>
                <a:latin typeface="Calibri" pitchFamily="34" charset="0"/>
                <a:cs typeface="Amiri" pitchFamily="2" charset="-78"/>
              </a:rPr>
              <a:t>‏ • a call to action.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D4-L03 AND D4-L04.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مُشْكِلَةٍ هِيَ تَلَوُّثُ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biggest problem is the pollution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 تُرْمَى النُّفَايَاتُ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 rubbish is thrown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إِلَى … مِمَّا يُسَبِّبُ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leads to …, which causes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يَنْبَغِي أَنْ نُقَلِّلَ … لِكَيْ … · هَيَّا نَبْدَأُ!</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should reduce … so that … · let’s start!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 problem and give a cause with ‏</a:t>
            </a:r>
            <a:pPr algn="l" indent="0" marL="0">
              <a:buNone/>
            </a:pPr>
            <a:r>
              <a:rPr lang="ar-SA" altLang="en-US" sz="1450" dirty="0">
                <a:solidFill>
                  <a:srgbClr val="5A6472"/>
                </a:solidFill>
                <a:latin typeface="Amiri" pitchFamily="2" charset="-78"/>
                <a:ea typeface="Amiri" pitchFamily="2" charset="-78"/>
                <a:cs typeface="Amiri" pitchFamily="2" charset="-78"/>
              </a:rPr>
              <a:t>بِسَبَبِ</a:t>
            </a:r>
            <a:pPr algn="l" indent="0" marL="0">
              <a:buNone/>
            </a:pPr>
            <a:r>
              <a:rPr lang="en-US" sz="1100" dirty="0">
                <a:solidFill>
                  <a:srgbClr val="5A6472"/>
                </a:solidFill>
                <a:latin typeface="Calibri" pitchFamily="34" charset="0"/>
                <a:cs typeface="Amiri" pitchFamily="2" charset="-78"/>
              </a:rPr>
              <a:t>‏ + genitive?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يَجِبُ عَلَى … 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لِكَيْ</a:t>
            </a:r>
            <a:pPr algn="l" indent="0" marL="0">
              <a:buNone/>
            </a:pPr>
            <a:r>
              <a:rPr lang="en-US" sz="1100" dirty="0">
                <a:solidFill>
                  <a:srgbClr val="5A6472"/>
                </a:solidFill>
                <a:latin typeface="Calibri" pitchFamily="34" charset="0"/>
                <a:cs typeface="Amiri" pitchFamily="2" charset="-78"/>
              </a:rPr>
              <a:t>‏ and the -ū form for “they”?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مُشْكِلَةٍ هِيَ تَلَوُّثُ النَّهْرِ القَرِيبِ مِنَ المَدْرَسَةِ.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biggest problem is the pollution of the river near the school.</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الَّتِي تُرِيدُ أَنْ تَعْرِضَهَا؟</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بِسَبَبِ المَصَانِعِ، وَلِأَنَّ النُّفَايَاتِ تُرْمَى فِي المَاءِ.</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of the factories, and because rubbish is thrown into the water.</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أَسْبَابُهَا؟</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يُؤَدِّي التَّلَوُّثُ إِلَى مَوْتِ الأَسْمَاكِ، مِمَّا يُسَبِّبُ مَشَاكِلَ لِلطُّيُورِ أَيْضًا.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Pollution leads to the death of fish, which causes problems for birds too.</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نَتَائِجُهَا؟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يَنْبَغِي أَنْ نُنَظِّمَ يَوْمًا لِتَنْظِيفِ النَّهْرِ لِكَيْ نَحْمِيَ الحَيَوَانَاتِ.</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should organise a day to clean the river so that we protect the animals.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يَنْبَغِي أَنْ نَفْعَلَ نَحْنُ الطُّلَّابَ؟</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عَلَى أَصْحَابِ المَصَانِعِ أَنْ يُعَالِجُوا مِيَاهَهُمْ قَبْلَ رَمْيِهَا، لِكَيْ يَبْقَى النَّهْرُ نَظِيفًا.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Factory owners must treat their water before disposing of it, so that the river stays clean.</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وَالمَصَانِعُ؟ مَاذَا يَجِبُ عَلَيْهَا؟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أَيُّهَا الزُّمَلَاءُ، أَكْبَرُ مُشْكِلَةٍ قُرْبَ مَدْرَسَتِنَا هِيَ تَلَوُّثُ الهَوَاءِ، بِسَبَبِ السَّيَّارَاتِ الكَثِيرَةِ فِي الصَّبَاحِ. كَذٰلِكَ تُرْمَى النُّفَايَاتُ البِلَاسْتِيكِيَّةُ فِي الشَّارِعِ. يُؤَدِّي التَّلَوُّثُ إِلَى هَوَاءٍ غَيْرِ صِحِّيٍّ، مِمَّا يُسَبِّبُ مَشَاكِلَ فِي التَّنَفُّسِ. يَنْبَغِي أَنْ نَمْشِيَ إِلَى المَدْرَسَةِ لِكَيْ نُقَلِّلَ التَّلَوُّثَ، وَيَجِبُ عَلَى البَلَدِيَّةِ أَنْ تَضَعَ صَنَادِيقَ لِإِعَادَةِ التَّدْوِيرِ. وَيَجِبُ عَلَى الأَهْلِ أَنْ يُطْفِئُوا مُحَرِّكَاتِ سَيَّارَاتِهِمْ لِكَيْ يَنْظُفَ الهَوَاءُ. هَيَّا نَبْدَأُ اليَوْمَ!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colleagues, the biggest problem near our school is air pollution, because of the many cars in the morning. Also, plastic rubbish is thrown in the street. Pollution leads to unhealthy air, which causes breathing problems. We should walk to school so that we reduce pollution, and the council must put out recycling bins. And parents must switch off their car engines so that the air becomes clean. Let’s start today!”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تَلَوُّثُ الهَوَاءِ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تُرْمَى النُّفَايَاتُ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يُسَبِّبُ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 يُطْفِئُوا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D4-W02 · Apply workshop (D4-L03 + D4-L04)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D4-L03 and D4-L04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D4-L05 · The Digital World — Technology and Social Media</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العَالَمُ الرَّقْمِيُّ — التِّقْنِيَّةُ وَوَسَائِلُ 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D4-W02 · Apply Workshop — The Eco-Council Meeting</dc:title>
  <dc:subject>PptxGenJS Presentation</dc:subject>
  <dc:creator>Al Madina Online School · Arabic Department</dc:creator>
  <cp:lastModifiedBy>Al Madina Online School · Arabic Department</cp:lastModifiedBy>
  <cp:revision>1</cp:revision>
  <dcterms:created xsi:type="dcterms:W3CDTF">2026-10-26T15:37:53Z</dcterms:created>
  <dcterms:modified xsi:type="dcterms:W3CDTF">2026-10-26T15:37:53Z</dcterms:modified>
</cp:coreProperties>
</file>