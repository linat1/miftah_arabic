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D4-L01 · Learn D4-L02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D4-L01 (The Natural World — Environment and Climate Vocabulary) and D4-L02 (Weather Patterns — Describing and Comparing Weather).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D4-L01 and D4-L02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D4-L01? After D4-L02?” Take two answers in the chat for each lesson (one word or one sentence is enough). Then read objective 3 — today’s new situation that needs BOTH lessons. Students tick their route goals at the end of the lesson.
D4-L01 language: natural features with agreeing adjectives (ṣaḥrāʾu wāsiʿatun · jibālun ʿāliyatun); formal verbs: yasūdu (prevails) · yattasimu bi- (is characterised by) · tatamayyazu bi- (is distinguished by); fī al-shamāli / al-janūbi; mild · dry · humid
D4-L02 language: the weather word as the subject of the verb (yasquṭu al-maṭaru · tahubbu al-riyāḥu · tushriqu al-shamsu); temperatures rise / fall (tartafiʿu / tankhafiḍu darajātu al-ḥarāra); comparing places (aḥarru min · abradu min · akthar maṭaran); forecasting: yutawaqqaʿu an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D4-L01 and D4-L02. Teacher reads it once with a confident student; then pairs. Ask: “Which lines are from D4-L01? Which from D4-L02?” Formal geography (يَتَمَيَّزُ بِ… · يَسُودُ مَنَاخٌ …) comes from D4-L01; temperatures rising and falling, يُتَوَقَّعُ أَنْ + -a and comparatives (أَحَرُّ مِنْ) from D4-L02.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natural features, climate and formal verbs (D4-L01) with weather as subject, forecasts and comparisons (D4-L02). FADED SUPPORT: tasks 1–2 show the plan; students write their own plan for 3–5. To a girl Partner A says: when the planner is a girl, the teacher says: صِفِي · قَارِنِي.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D4-L01 and D4-L02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D4-L01 and D4-L02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CHECK YOURSELF (2 min). Find each bullet point in the model, and one phrase from D4-L01 and one from D4-L02.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D4-L01 + D4-L02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Planning a School Trip to Jordan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نُخَطِّطُ لِرِحْلَةٍ إِلَى الأُرْدُنِّ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geography and climate with weather and forecasts: they plan a school trip to Jordan — describing natural features and climate in formal language, comparing the weather with Britain, reading a forecast (</a:t>
            </a:r>
            <a:pPr algn="l" indent="0" marL="0">
              <a:buNone/>
            </a:pPr>
            <a:r>
              <a:rPr lang="ar-SA" altLang="en-US" sz="1700" dirty="0">
                <a:solidFill>
                  <a:srgbClr val="C6D2E6"/>
                </a:solidFill>
                <a:latin typeface="Amiri" pitchFamily="2" charset="-78"/>
                <a:ea typeface="Amiri" pitchFamily="2" charset="-78"/>
                <a:cs typeface="Amiri" pitchFamily="2" charset="-78"/>
              </a:rPr>
              <a:t>يُتَوَقَّعُ أَنْ</a:t>
            </a:r>
            <a:pPr algn="l" indent="0" marL="0">
              <a:buNone/>
            </a:pPr>
            <a:r>
              <a:rPr lang="en-US" sz="1300" dirty="0">
                <a:solidFill>
                  <a:srgbClr val="C6D2E6"/>
                </a:solidFill>
                <a:latin typeface="Calibri" pitchFamily="34" charset="0"/>
                <a:cs typeface="Amiri" pitchFamily="2" charset="-78"/>
              </a:rPr>
              <a:t> …) — and write a trip briefing for parents with packing advice.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D4-L01 + D4-L02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D4-L01 and D4-L02.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D4-L01 + D4-L02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D4-L01: The Natural World — Environment and Climate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D4-L02: Weather Patterns — Describing and Comparing Weather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trip planning meeting · A trip briefing for parents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D4-L01 and D4-L02.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D4-L01 · The Natural World — Environment and Climate Vocabulary</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البِيئَةُ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t>
            </a:r>
            <a:endParaRPr lang="en-US" sz="1350" dirty="0"/>
          </a:p>
          <a:p>
            <a:pPr indent="0" marL="0">
              <a:buNone/>
            </a:pPr>
            <a:r>
              <a:rPr lang="en-US" sz="1100" i="1" dirty="0">
                <a:solidFill>
                  <a:srgbClr val="5A6472"/>
                </a:solidFill>
                <a:latin typeface="Calibri" pitchFamily="34" charset="0"/>
                <a:cs typeface="Amiri" pitchFamily="2" charset="-78"/>
              </a:rPr>
              <a:t>al-bī-ʾa-tu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الطَّقْسُ</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weather</a:t>
            </a:r>
            <a:endParaRPr lang="en-US" sz="1350" dirty="0"/>
          </a:p>
          <a:p>
            <a:pPr indent="0" marL="0">
              <a:buNone/>
            </a:pPr>
            <a:r>
              <a:rPr lang="en-US" sz="1100" i="1" dirty="0">
                <a:solidFill>
                  <a:srgbClr val="5A6472"/>
                </a:solidFill>
                <a:latin typeface="Calibri" pitchFamily="34" charset="0"/>
                <a:cs typeface="Amiri" pitchFamily="2" charset="-78"/>
              </a:rPr>
              <a:t>aṭ-ṭaq-su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الغَابَةُ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forest</a:t>
            </a:r>
            <a:endParaRPr lang="en-US" sz="1350" dirty="0"/>
          </a:p>
          <a:p>
            <a:pPr indent="0" marL="0">
              <a:buNone/>
            </a:pPr>
            <a:r>
              <a:rPr lang="en-US" sz="1100" i="1" dirty="0">
                <a:solidFill>
                  <a:srgbClr val="5A6472"/>
                </a:solidFill>
                <a:latin typeface="Calibri" pitchFamily="34" charset="0"/>
                <a:cs typeface="Amiri" pitchFamily="2" charset="-78"/>
              </a:rPr>
              <a:t>al-ghā-ba-tu</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الغَابَاتُ</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البَحْرُ</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a:t>
            </a:r>
            <a:endParaRPr lang="en-US" sz="1350" dirty="0"/>
          </a:p>
          <a:p>
            <a:pPr indent="0" marL="0">
              <a:buNone/>
            </a:pPr>
            <a:r>
              <a:rPr lang="en-US" sz="1100" i="1" dirty="0">
                <a:solidFill>
                  <a:srgbClr val="5A6472"/>
                </a:solidFill>
                <a:latin typeface="Calibri" pitchFamily="34" charset="0"/>
                <a:cs typeface="Amiri" pitchFamily="2" charset="-78"/>
              </a:rPr>
              <a:t>al-baḥ-ru</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البِحَارُ</a:t>
            </a:r>
            <a:endParaRPr lang="ar-SA" sz="150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السَّاحِلُ</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coast</a:t>
            </a:r>
            <a:endParaRPr lang="en-US" sz="1350" dirty="0"/>
          </a:p>
          <a:p>
            <a:pPr indent="0" marL="0">
              <a:buNone/>
            </a:pPr>
            <a:r>
              <a:rPr lang="en-US" sz="1100" i="1" dirty="0">
                <a:solidFill>
                  <a:srgbClr val="5A6472"/>
                </a:solidFill>
                <a:latin typeface="Calibri" pitchFamily="34" charset="0"/>
                <a:cs typeface="Amiri" pitchFamily="2" charset="-78"/>
              </a:rPr>
              <a:t>as-sā-ḥi-lu</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السَّوَاحِلُ</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جَافٌّ / جَافَّةٌ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dry</a:t>
            </a:r>
            <a:endParaRPr lang="en-US" sz="1350" dirty="0"/>
          </a:p>
          <a:p>
            <a:pPr indent="0" marL="0">
              <a:buNone/>
            </a:pPr>
            <a:r>
              <a:rPr lang="en-US" sz="1100" i="1" dirty="0">
                <a:solidFill>
                  <a:srgbClr val="5A6472"/>
                </a:solidFill>
                <a:latin typeface="Calibri" pitchFamily="34" charset="0"/>
                <a:cs typeface="Amiri" pitchFamily="2" charset="-78"/>
              </a:rPr>
              <a:t>jāf-fun / jāf-fa-tun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D4-L02 · Weather Patterns — Describing and Comparing Weather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a:t>
            </a:r>
            <a:endParaRPr lang="en-US" sz="1350" dirty="0"/>
          </a:p>
          <a:p>
            <a:pPr indent="0" marL="0">
              <a:buNone/>
            </a:pPr>
            <a:r>
              <a:rPr lang="en-US" sz="1100" i="1" dirty="0">
                <a:solidFill>
                  <a:srgbClr val="5A6472"/>
                </a:solidFill>
                <a:latin typeface="Calibri" pitchFamily="34" charset="0"/>
                <a:cs typeface="Amiri" pitchFamily="2" charset="-78"/>
              </a:rPr>
              <a:t>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winds</a:t>
            </a:r>
            <a:endParaRPr lang="en-US" sz="1350" dirty="0"/>
          </a:p>
          <a:p>
            <a:pPr indent="0" marL="0">
              <a:buNone/>
            </a:pPr>
            <a:r>
              <a:rPr lang="en-US" sz="1100" i="1" dirty="0">
                <a:solidFill>
                  <a:srgbClr val="5A6472"/>
                </a:solidFill>
                <a:latin typeface="Calibri" pitchFamily="34" charset="0"/>
                <a:cs typeface="Amiri" pitchFamily="2" charset="-78"/>
              </a:rPr>
              <a:t>ar-ri-yā-ḥu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السُّحُبُ / الغُيُومُ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clouds</a:t>
            </a:r>
            <a:endParaRPr lang="en-US" sz="1350" dirty="0"/>
          </a:p>
          <a:p>
            <a:pPr indent="0" marL="0">
              <a:buNone/>
            </a:pPr>
            <a:r>
              <a:rPr lang="en-US" sz="1100" i="1" dirty="0">
                <a:solidFill>
                  <a:srgbClr val="5A6472"/>
                </a:solidFill>
                <a:latin typeface="Calibri" pitchFamily="34" charset="0"/>
                <a:cs typeface="Amiri" pitchFamily="2" charset="-78"/>
              </a:rPr>
              <a:t>as-su-ḥu-bu / al-ghu-yū-mu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يَسْقُطُ المَطَرُ</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 falls / it rains</a:t>
            </a:r>
            <a:endParaRPr lang="en-US" sz="1350" dirty="0"/>
          </a:p>
          <a:p>
            <a:pPr indent="0" marL="0">
              <a:buNone/>
            </a:pPr>
            <a:r>
              <a:rPr lang="en-US" sz="1100" i="1" dirty="0">
                <a:solidFill>
                  <a:srgbClr val="5A6472"/>
                </a:solidFill>
                <a:latin typeface="Calibri" pitchFamily="34" charset="0"/>
                <a:cs typeface="Amiri" pitchFamily="2" charset="-78"/>
              </a:rPr>
              <a:t>yas-qu-ṭu al-ma-ṭa-ru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تَهُبُّ الرِّيَاحُ</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winds blow</a:t>
            </a:r>
            <a:endParaRPr lang="en-US" sz="1350" dirty="0"/>
          </a:p>
          <a:p>
            <a:pPr indent="0" marL="0">
              <a:buNone/>
            </a:pPr>
            <a:r>
              <a:rPr lang="en-US" sz="1100" i="1" dirty="0">
                <a:solidFill>
                  <a:srgbClr val="5A6472"/>
                </a:solidFill>
                <a:latin typeface="Calibri" pitchFamily="34" charset="0"/>
                <a:cs typeface="Amiri" pitchFamily="2" charset="-78"/>
              </a:rPr>
              <a:t>ta-hub-bu ar-ri-yā-ḥu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تَرْتَفِعُ دَرَجَةُ الحَرَارَةِ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temperature rises</a:t>
            </a:r>
            <a:endParaRPr lang="en-US" sz="1350" dirty="0"/>
          </a:p>
          <a:p>
            <a:pPr indent="0" marL="0">
              <a:buNone/>
            </a:pPr>
            <a:r>
              <a:rPr lang="en-US" sz="1100" i="1" dirty="0">
                <a:solidFill>
                  <a:srgbClr val="5A6472"/>
                </a:solidFill>
                <a:latin typeface="Calibri" pitchFamily="34" charset="0"/>
                <a:cs typeface="Amiri" pitchFamily="2" charset="-78"/>
              </a:rPr>
              <a:t>tar-ta-fi-ʿu da-ra-ja-tu al-ḥa-rā-ra-ti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 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 · تَهُبُّ الرِّيَاحُ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تَرْتَفِعُ / تَنْخَفِضُ دَرَجَاتُ الحَرَارَةِ إِلَى …</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مَنَاخٌ … فِي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يَتَّسِمُ … 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أَحَرُّ / أَبْرَدُ مِنْ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وَقْتٍ لِلزِّيَارَةِ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D4-L01 · The Natural World — Environment and Climate Vocabulary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D4-L02 · Weather Patterns — Describing and Comparing Weather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D4-L01 · The Natural World — Environment and Climate Vocabulary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 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مَنَاخٌ …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يَتَّسِمُ … 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وَقْتٍ لِلزِّيَارَةِ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D4-L02 · Weather Patterns — Describing and Comparing Weather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 · تَهُبُّ الرِّيَاحُ</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تَرْتَفِعُ / تَنْخَفِضُ دَرَجَاتُ الحَرَارَةِ إِلَى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أَحَرُّ / أَبْرَدُ مِنْ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shall we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إِلَى أَيْنَ نَذْهَبُ؟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Jordan distinguished by?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بِمَاذَا يَتَمَيَّزُ الأُرْدُنُّ؟</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distinguished by a vast desert in the south and the Dead Sea in the west.</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يَتَمَيَّزُ بِصَحْرَاءَ وَاسِعَةٍ فِي الجَنُوبِ، وَبِالبَحْرِ المَيِّتِ فِي الغَرْبِ.</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the climate like in spring?</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المَنَاخُ فِي الرَّبِيعِ؟</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mild climate prevails, but temperatures are expected to rise to thirty degrees in the desert.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يَسُودُ مَنَاخٌ مُعْتَدِلٌ، وَلٰكِنْ يُتَوَقَّعُ أَنْ تَرْتَفِعَ دَرَجَاتُ الحَرَارَةِ فِي الصَّحْرَاءِ إِلَى ثَلَاثِينَ دَرَجَةً.</a:t>
            </a:r>
            <a:endParaRPr lang="ar-SA" sz="155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it hotter than Britain?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هُوَ أَحَرُّ مِنْ بِرِيطَانِيَا؟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much! And at night the temperature falls, so we must take warm clothes.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بِكَثِيرٍ! وَفِي اللَّيْلِ تَنْخَفِضُ الحَرَارَةُ، لِذٰلِكَ يَجِبُ أَنْ نَأْخُذَ مَلَابِسَ دَافِئَةً.</a:t>
            </a:r>
            <a:endParaRPr lang="ar-SA" sz="18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الشَّمَالِ / الجَنُوبِ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بَلَدِي … وَ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nature like in your country?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الطَّبِيعَةُ فِي بَلَدِكَ؟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وَدَرَجَةُ الحَرَارَةِ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اليَوْمَ … ← تُشْرِقُ الشَّمْسُ / يَسْقُطُ المَطَرُ</a:t>
            </a:r>
            <a:endParaRPr lang="ar-SA" sz="15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What’s the weather today?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الطَّقْسُ اليَوْمَ؟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رَطْبٌ / جَافٌّ</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الصَّيْفِ … بَيْنَمَا فِي الشِّتَاءِ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climate like in summer and winter?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المَنَاخُ فِي الصَّيْفِ وَالشِّتَاءِ؟</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lnSpc>
                <a:spcPct val="120000"/>
              </a:lnSpc>
              <a:buNone/>
            </a:pPr>
            <a:r>
              <a:rPr lang="ar-SA" altLang="en-US" sz="1250" b="1" dirty="0">
                <a:solidFill>
                  <a:srgbClr val="1B3B6F"/>
                </a:solidFill>
                <a:latin typeface="Amiri" pitchFamily="2" charset="-78"/>
                <a:ea typeface="Amiri" pitchFamily="2" charset="-78"/>
                <a:cs typeface="Amiri" pitchFamily="2" charset="-78"/>
              </a:rPr>
              <a:t>… لِذٰلِكَ سَنَبْقَى فِي البَيْتِ / سَنَخْرُجُ</a:t>
            </a:r>
            <a:endParaRPr lang="ar-SA" sz="125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يُتَوَقَّعُ 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expected weather at the weekend?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الطَّقْسُ المُتَوَقَّعُ فِي نِهَايَةِ الأُسْبُوعِ؟</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الهَوَاءَ نَقِيٌّ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لِأَنَّ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Mountains or the sea?</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تُفَضِّلُ الجِبَالَ أَمِ البَحْرَ؟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خُصُوصًا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أَبْرَدُ مِنْ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is colder: your country or your family’s?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أَبْرَدُ: بَلَدُكَ أَمْ بَلَدُ عَائِلَتِكَ؟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D4-L01, even numbers from D4-L02.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trip planning meeting</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اجْتِمَاعُ التَّخْطِيطِ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 يَتَمَيَّزُ بِ… فِي الجَنُوبِ · جِبَالٌ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natural features with agreeing adjectives and a place.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طَبِيعَةَ الأُرْدُنِّ.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يَسُودُ مَنَاخٌ …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Climate with ‏</a:t>
            </a:r>
            <a:pPr algn="l" indent="0" marL="0">
              <a:buNone/>
            </a:pPr>
            <a:r>
              <a:rPr lang="ar-SA" altLang="en-US" sz="1450" dirty="0">
                <a:solidFill>
                  <a:srgbClr val="5A6472"/>
                </a:solidFill>
                <a:latin typeface="Amiri" pitchFamily="2" charset="-78"/>
                <a:ea typeface="Amiri" pitchFamily="2" charset="-78"/>
                <a:cs typeface="Amiri" pitchFamily="2" charset="-78"/>
              </a:rPr>
              <a:t>يَسُودُ</a:t>
            </a:r>
            <a:pPr algn="l" indent="0" marL="0">
              <a:buNone/>
            </a:pPr>
            <a:r>
              <a:rPr lang="en-US" sz="1100" dirty="0">
                <a:solidFill>
                  <a:srgbClr val="5A6472"/>
                </a:solidFill>
                <a:latin typeface="Calibri" pitchFamily="34" charset="0"/>
                <a:cs typeface="Amiri" pitchFamily="2" charset="-78"/>
              </a:rPr>
              <a:t>‏ and a season.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المَنَاخُ الَّذِي يَسُودُ هُنَاكَ؟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forecast with ‏</a:t>
            </a:r>
            <a:pPr algn="l" indent="0" marL="0">
              <a:buNone/>
            </a:pPr>
            <a:r>
              <a:rPr lang="ar-SA" altLang="en-US" sz="1450" dirty="0">
                <a:solidFill>
                  <a:srgbClr val="5A6472"/>
                </a:solidFill>
                <a:latin typeface="Amiri" pitchFamily="2" charset="-78"/>
                <a:ea typeface="Amiri" pitchFamily="2" charset="-78"/>
                <a:cs typeface="Amiri" pitchFamily="2" charset="-78"/>
              </a:rPr>
              <a:t>يُتَوَقَّعُ 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الطَّقْسُ المُتَوَقَّعُ فِي أُسْبُوعِ الرِّحْلَةِ؟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comparatives.</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طَقْسَ الأُرْدُنِّ بِطَقْسِ بِرِيطَانِيَا.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Packing advice linked to the weather.</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يَأْخُذَ الطُّلَّابُ مَعَهُمْ؟ لِمَاذَا؟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trip planner · Partner A = the head of geography.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Jordan in one minute: nature and weather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الأُرْدُنُّ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Jordan (or another country you know) to the trip group for one minute: three natural features and where they are, the climate in two seasons, the forecast for the trip week, a comparison with Britain, and what to pack.</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يَتَمَيَّزُ بِ… · الطَّقْسُ … · أَحَرُّ مِنْ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يَسُودُ مَنَاخٌ</a:t>
            </a:r>
            <a:pPr algn="l" indent="0" marL="0">
              <a:buNone/>
            </a:pPr>
            <a:r>
              <a:rPr lang="en-US" sz="1150" dirty="0">
                <a:solidFill>
                  <a:srgbClr val="1F2A37"/>
                </a:solidFill>
                <a:latin typeface="Calibri" pitchFamily="34" charset="0"/>
                <a:cs typeface="Amiri" pitchFamily="2" charset="-78"/>
              </a:rPr>
              <a:t> …‏ and temperatures that rise or fall.</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يُتَوَقَّعُ أَنْ</a:t>
            </a:r>
            <a:pPr algn="l" indent="0" marL="0">
              <a:buNone/>
            </a:pPr>
            <a:r>
              <a:rPr lang="en-US" sz="1150" dirty="0">
                <a:solidFill>
                  <a:srgbClr val="1F2A37"/>
                </a:solidFill>
                <a:latin typeface="Calibri" pitchFamily="34" charset="0"/>
                <a:cs typeface="Amiri" pitchFamily="2" charset="-78"/>
              </a:rPr>
              <a:t>‏ + -a, ‏</a:t>
            </a:r>
            <a:pPr algn="l" indent="0" marL="0">
              <a:buNone/>
            </a:pPr>
            <a:r>
              <a:rPr lang="ar-SA" altLang="en-US" sz="1500" dirty="0">
                <a:solidFill>
                  <a:srgbClr val="1F2A37"/>
                </a:solidFill>
                <a:latin typeface="Amiri" pitchFamily="2" charset="-78"/>
                <a:ea typeface="Amiri" pitchFamily="2" charset="-78"/>
                <a:cs typeface="Amiri" pitchFamily="2" charset="-78"/>
              </a:rPr>
              <a:t>يَتَّسِمُ بِ</a:t>
            </a:r>
            <a:pPr algn="l" indent="0" marL="0">
              <a:buNone/>
            </a:pPr>
            <a:r>
              <a:rPr lang="en-US" sz="1150" dirty="0">
                <a:solidFill>
                  <a:srgbClr val="1F2A37"/>
                </a:solidFill>
                <a:latin typeface="Calibri" pitchFamily="34" charset="0"/>
                <a:cs typeface="Amiri" pitchFamily="2" charset="-78"/>
              </a:rPr>
              <a:t>…‏ and advice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Egypt is distinguished by a long river.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تَتَمَيَّزُ مِصْرُ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يَتَمَيَّزُ مِصْرُ</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بِنَهْرٍ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بِنَهْرٌ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Strong winds blow in the north.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رِيَاحًا قَوِيَّةً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الشَّمَالِ.</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الشَّمَالُ.</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 dry climate prevails in the south.</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يَسُودُ</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تَسُودُ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مَنَاخٌ جَافٌّ</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مَنَاخًا جَافًّا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الجَنُوبِ.</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الجَنُوبُ.</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Egypt is distinguished by a long river.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Most countries are feminine (</a:t>
            </a:r>
            <a:pPr algn="l" indent="0" marL="0">
              <a:buNone/>
            </a:pPr>
            <a:r>
              <a:rPr lang="ar-SA" altLang="en-US" sz="1250" dirty="0">
                <a:solidFill>
                  <a:srgbClr val="5A6472"/>
                </a:solidFill>
                <a:latin typeface="Amiri" pitchFamily="2" charset="-78"/>
                <a:ea typeface="Amiri" pitchFamily="2" charset="-78"/>
                <a:cs typeface="Amiri" pitchFamily="2" charset="-78"/>
              </a:rPr>
              <a:t>مِصْرُ</a:t>
            </a:r>
            <a:pPr algn="l" indent="0" marL="0">
              <a:buNone/>
            </a:pPr>
            <a:r>
              <a:rPr lang="en-US" sz="950" i="1" dirty="0">
                <a:solidFill>
                  <a:srgbClr val="5A6472"/>
                </a:solidFill>
                <a:latin typeface="Calibri" pitchFamily="34" charset="0"/>
                <a:cs typeface="Amiri" pitchFamily="2" charset="-78"/>
              </a:rPr>
              <a:t>) → </a:t>
            </a:r>
            <a:pPr algn="l" indent="0" marL="0">
              <a:buNone/>
            </a:pPr>
            <a:r>
              <a:rPr lang="ar-SA" altLang="en-US" sz="1250" dirty="0">
                <a:solidFill>
                  <a:srgbClr val="5A6472"/>
                </a:solidFill>
                <a:latin typeface="Amiri" pitchFamily="2" charset="-78"/>
                <a:ea typeface="Amiri" pitchFamily="2" charset="-78"/>
                <a:cs typeface="Amiri" pitchFamily="2" charset="-78"/>
              </a:rPr>
              <a:t>تَتَمَيَّزُ</a:t>
            </a:r>
            <a:pPr algn="l" indent="0" marL="0">
              <a:buNone/>
            </a:pPr>
            <a:r>
              <a:rPr lang="en-US" sz="950" i="1" dirty="0">
                <a:solidFill>
                  <a:srgbClr val="5A6472"/>
                </a:solidFill>
                <a:latin typeface="Calibri" pitchFamily="34" charset="0"/>
                <a:cs typeface="Amiri" pitchFamily="2" charset="-78"/>
              </a:rPr>
              <a:t>; but </a:t>
            </a:r>
            <a:pPr algn="l" indent="0" marL="0">
              <a:buNone/>
            </a:pPr>
            <a:r>
              <a:rPr lang="ar-SA" altLang="en-US" sz="1250" dirty="0">
                <a:solidFill>
                  <a:srgbClr val="5A6472"/>
                </a:solidFill>
                <a:latin typeface="Amiri" pitchFamily="2" charset="-78"/>
                <a:ea typeface="Amiri" pitchFamily="2" charset="-78"/>
                <a:cs typeface="Amiri" pitchFamily="2" charset="-78"/>
              </a:rPr>
              <a:t>المَغْرِبُ</a:t>
            </a:r>
            <a:pPr algn="l" indent="0" marL="0">
              <a:buNone/>
            </a:pPr>
            <a:r>
              <a:rPr lang="en-US" sz="950" i="1" dirty="0">
                <a:solidFill>
                  <a:srgbClr val="5A6472"/>
                </a:solidFill>
                <a:latin typeface="Calibri" pitchFamily="34" charset="0"/>
                <a:cs typeface="Amiri" pitchFamily="2" charset="-78"/>
              </a:rPr>
              <a:t>, </a:t>
            </a:r>
            <a:pPr algn="l" indent="0" marL="0">
              <a:buNone/>
            </a:pPr>
            <a:r>
              <a:rPr lang="ar-SA" altLang="en-US" sz="1250" dirty="0">
                <a:solidFill>
                  <a:srgbClr val="5A6472"/>
                </a:solidFill>
                <a:latin typeface="Amiri" pitchFamily="2" charset="-78"/>
                <a:ea typeface="Amiri" pitchFamily="2" charset="-78"/>
                <a:cs typeface="Amiri" pitchFamily="2" charset="-78"/>
              </a:rPr>
              <a:t>العِرَاقُ</a:t>
            </a:r>
            <a:pPr algn="l" indent="0" marL="0">
              <a:buNone/>
            </a:pPr>
            <a:r>
              <a:rPr lang="en-US" sz="950" i="1" dirty="0">
                <a:solidFill>
                  <a:srgbClr val="5A6472"/>
                </a:solidFill>
                <a:latin typeface="Calibri" pitchFamily="34" charset="0"/>
                <a:cs typeface="Amiri" pitchFamily="2" charset="-78"/>
              </a:rPr>
              <a:t>, </a:t>
            </a:r>
            <a:pPr algn="l" indent="0" marL="0">
              <a:buNone/>
            </a:pPr>
            <a:r>
              <a:rPr lang="ar-SA" altLang="en-US" sz="1250" dirty="0">
                <a:solidFill>
                  <a:srgbClr val="5A6472"/>
                </a:solidFill>
                <a:latin typeface="Amiri" pitchFamily="2" charset="-78"/>
                <a:ea typeface="Amiri" pitchFamily="2" charset="-78"/>
                <a:cs typeface="Amiri" pitchFamily="2" charset="-78"/>
              </a:rPr>
              <a:t>الأُرْدُنُّ</a:t>
            </a:r>
            <a:pPr algn="l" indent="0" marL="0">
              <a:buNone/>
            </a:pPr>
            <a:r>
              <a:rPr lang="en-US" sz="950" i="1" dirty="0">
                <a:solidFill>
                  <a:srgbClr val="5A6472"/>
                </a:solidFill>
                <a:latin typeface="Calibri" pitchFamily="34" charset="0"/>
                <a:cs typeface="Amiri" pitchFamily="2" charset="-78"/>
              </a:rPr>
              <a:t> are masculine. </a:t>
            </a:r>
            <a:pPr algn="l" indent="0" marL="0">
              <a:buNone/>
            </a:pPr>
            <a:r>
              <a:rPr lang="ar-SA" altLang="en-US" sz="1250" dirty="0">
                <a:solidFill>
                  <a:srgbClr val="5A6472"/>
                </a:solidFill>
                <a:latin typeface="Amiri" pitchFamily="2" charset="-78"/>
                <a:ea typeface="Amiri" pitchFamily="2" charset="-78"/>
                <a:cs typeface="Amiri" pitchFamily="2" charset="-78"/>
              </a:rPr>
              <a:t>بِ</a:t>
            </a:r>
            <a:pPr algn="l" indent="0" marL="0">
              <a:buNone/>
            </a:pPr>
            <a:r>
              <a:rPr lang="en-US" sz="950" i="1" dirty="0">
                <a:solidFill>
                  <a:srgbClr val="5A6472"/>
                </a:solidFill>
                <a:latin typeface="Calibri" pitchFamily="34" charset="0"/>
                <a:cs typeface="Amiri" pitchFamily="2" charset="-78"/>
              </a:rPr>
              <a:t> + genitive.</a:t>
            </a:r>
            <a:endParaRPr lang="en-US" sz="9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تَتَمَيَّزُ مِصْرُ بِنَهْرٍ طَوِيلٍ.</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Strong winds blow in the north.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رِيَاحٌ</a:t>
            </a:r>
            <a:pPr algn="l" indent="0" marL="0">
              <a:buNone/>
            </a:pPr>
            <a:r>
              <a:rPr lang="en-US" sz="1050" i="1" dirty="0">
                <a:solidFill>
                  <a:srgbClr val="5A6472"/>
                </a:solidFill>
                <a:latin typeface="Calibri" pitchFamily="34" charset="0"/>
                <a:cs typeface="Amiri" pitchFamily="2" charset="-78"/>
              </a:rPr>
              <a:t> (f.) is the subject → </a:t>
            </a:r>
            <a:pPr algn="l" indent="0" marL="0">
              <a:buNone/>
            </a:pPr>
            <a:r>
              <a:rPr lang="ar-SA" altLang="en-US" sz="1350" dirty="0">
                <a:solidFill>
                  <a:srgbClr val="5A6472"/>
                </a:solidFill>
                <a:latin typeface="Amiri" pitchFamily="2" charset="-78"/>
                <a:ea typeface="Amiri" pitchFamily="2" charset="-78"/>
                <a:cs typeface="Amiri" pitchFamily="2" charset="-78"/>
              </a:rPr>
              <a:t>تَهُبُّ رِيَاحٌ</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تَهُبُّ رِيَاحٌ قَوِيَّةٌ فِي الشَّمَالِ.</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 dry climate prevails in the south.</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مَنَاخٌ</a:t>
            </a:r>
            <a:pPr algn="l" indent="0" marL="0">
              <a:buNone/>
            </a:pPr>
            <a:r>
              <a:rPr lang="en-US" sz="1050" i="1" dirty="0">
                <a:solidFill>
                  <a:srgbClr val="5A6472"/>
                </a:solidFill>
                <a:latin typeface="Calibri" pitchFamily="34" charset="0"/>
                <a:cs typeface="Amiri" pitchFamily="2" charset="-78"/>
              </a:rPr>
              <a:t> (m.) is the subject → </a:t>
            </a:r>
            <a:pPr algn="l" indent="0" marL="0">
              <a:buNone/>
            </a:pPr>
            <a:r>
              <a:rPr lang="ar-SA" altLang="en-US" sz="1350" dirty="0">
                <a:solidFill>
                  <a:srgbClr val="5A6472"/>
                </a:solidFill>
                <a:latin typeface="Amiri" pitchFamily="2" charset="-78"/>
                <a:ea typeface="Amiri" pitchFamily="2" charset="-78"/>
                <a:cs typeface="Amiri" pitchFamily="2" charset="-78"/>
              </a:rPr>
              <a:t>يَسُودُ مَنَاخٌ</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يَسُودُ مَنَاخٌ جَافٌّ فِي الجَنُوبِ.</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الصَّحْرَاءُ وَاسِعٌ وَجَافٌّ.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صَحْرَاءُ</a:t>
            </a:r>
            <a:pPr algn="l" indent="0" marL="0">
              <a:buNone/>
            </a:pPr>
            <a:r>
              <a:rPr lang="en-US" sz="1300" i="1" dirty="0">
                <a:solidFill>
                  <a:srgbClr val="5A6472"/>
                </a:solidFill>
                <a:latin typeface="Calibri" pitchFamily="34" charset="0"/>
                <a:cs typeface="Amiri" pitchFamily="2" charset="-78"/>
              </a:rPr>
              <a:t> is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يَسْقُطُ الثُّلُوجُ فِي الجِبَالِ.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Plural of a thing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البَلَدُ الجِبَالَ.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الصَّحْرَاءُ وَاسِعٌ وَجَافٌّ.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الصَّحْرَاءُ وَاسِعَةٌ وَجَافَّةٌ.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صَحْرَاءُ</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يَسْقُطُ الثُّلُوجُ فِي الجِبَالِ.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تَسْقُطُ الثُّلُوجُ فِي الجِبَالِ.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subject → feminine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البَلَدُ الجِبَالَ.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يَتَمَيَّزُ البَلَدُ بِالجِبَالِ.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يَتَمَيَّزُ 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تَرْتَفِعُ / تَنْخَفِضُ دَرَجَاتُ الحَرَارَةِ إِلَى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Temperatures rise / fall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بِرِيطَانِيَا 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Britain,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الأُرْدُنُّ بِ ______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Jordan is distinguished by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______ فِي الرَّبِيعِ.</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climate prevails in spring.</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يُتَوَقَّعُ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expected that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الأُرْدُنُّ ______ مِنْ بِرِيطَانِيَا.</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Jordan is …-er than Britain.</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يَجِبُ أَنْ يَأْخُذَ الطُّلَّابُ ______ لِأَنَّ ______ .</a:t>
            </a:r>
            <a:endParaRPr lang="ar-SA" sz="175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must take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صَحْرَاءُ وَاسِعَةٌ  ·  جِبَالٌ عَالِيَةٌ  ·  يَتَمَيَّزُ بِ… · يَتَّسِمُ بِ…  ·  يَسُودُ مَنَاخٌ …  ·  حَارٌّ · جَافٌّ · مُعْتَدِلٌ  ·  تَرْتَفِعُ · تَنْخَفِضُ  ·  يُتَوَقَّعُ أَنْ  ·  أَحَرُّ · أَبْرَدُ مِنْ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briefing for parents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الرِّحْلَةِ لِلْأَهْلِ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briefing (about 60–80 words) for parents about the trip to Jordan. Include: • three natural features with agreeing adjectives and where they are • the climate with ‏</a:t>
            </a:r>
            <a:pPr algn="l" indent="0" marL="0">
              <a:buNone/>
            </a:pPr>
            <a:r>
              <a:rPr lang="ar-SA" altLang="en-US" sz="1450" b="1" dirty="0">
                <a:solidFill>
                  <a:srgbClr val="1F2A37"/>
                </a:solidFill>
                <a:latin typeface="Amiri" pitchFamily="2" charset="-78"/>
                <a:ea typeface="Amiri" pitchFamily="2" charset="-78"/>
                <a:cs typeface="Amiri" pitchFamily="2" charset="-78"/>
              </a:rPr>
              <a:t>يَسُودُ</a:t>
            </a:r>
            <a:pPr algn="l" indent="0" marL="0">
              <a:buNone/>
            </a:pPr>
            <a:r>
              <a:rPr lang="en-US" sz="1100" b="1" dirty="0">
                <a:solidFill>
                  <a:srgbClr val="1F2A37"/>
                </a:solidFill>
                <a:latin typeface="Calibri" pitchFamily="34" charset="0"/>
                <a:cs typeface="Amiri" pitchFamily="2" charset="-78"/>
              </a:rPr>
              <a:t> …‏ • the forecast with ‏</a:t>
            </a:r>
            <a:pPr algn="l" indent="0" marL="0">
              <a:buNone/>
            </a:pPr>
            <a:r>
              <a:rPr lang="ar-SA" altLang="en-US" sz="1450" b="1" dirty="0">
                <a:solidFill>
                  <a:srgbClr val="1F2A37"/>
                </a:solidFill>
                <a:latin typeface="Amiri" pitchFamily="2" charset="-78"/>
                <a:ea typeface="Amiri" pitchFamily="2" charset="-78"/>
                <a:cs typeface="Amiri" pitchFamily="2" charset="-78"/>
              </a:rPr>
              <a:t>يُتَوَقَّعُ أَنْ</a:t>
            </a:r>
            <a:pPr algn="l" indent="0" marL="0">
              <a:buNone/>
            </a:pPr>
            <a:r>
              <a:rPr lang="en-US" sz="1100" b="1" dirty="0">
                <a:solidFill>
                  <a:srgbClr val="1F2A37"/>
                </a:solidFill>
                <a:latin typeface="Calibri" pitchFamily="34" charset="0"/>
                <a:cs typeface="Amiri" pitchFamily="2" charset="-78"/>
              </a:rPr>
              <a:t> …‏ and temperatures rising or falling • a comparison with Britain • two packing tips with reasons.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D4-L01 AND D4-L02.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الأُرْدُنُّ بِصَحْرَاءَ وَاسِعَةٍ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Jordan is distinguished by a vast desert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مُعْتَدِلٌ فِي الرَّبِيعِ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mild climate prevails in spring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يُتَوَقَّعُ أَنْ تَرْتَفِعَ دَرَجَاتُ الحَرَارَةِ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temperatures are expected to rise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أَحَرُّ مِنْ · أَكْثَرُ مَطَرًا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hotter than · rainier</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four features with agreeing adjectives (incl. non-human plurals)?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يُتَوَقَّعُ أَنْ</a:t>
            </a:r>
            <a:pPr algn="l" indent="0" marL="0">
              <a:buNone/>
            </a:pPr>
            <a:r>
              <a:rPr lang="en-US" sz="1100" dirty="0">
                <a:solidFill>
                  <a:srgbClr val="5A6472"/>
                </a:solidFill>
                <a:latin typeface="Calibri" pitchFamily="34" charset="0"/>
                <a:cs typeface="Amiri" pitchFamily="2" charset="-78"/>
              </a:rPr>
              <a:t>‏ + -a and two comparatives?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بِجِبَالٍ عَالِيَةٍ فِي البَتْرَاءِ، وَبِصَحْرَاءَ وَاسِعَةٍ فِي وَادِي رَمٍّ.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distinguished by high mountains in Petra and a vast desert in Wadi Rum.</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طَبِيعَةَ الأُرْدُنِّ.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مَنَاخٌ حَارٌّ وَجَافٌّ فِي الصَّيْفِ، وَمُعْتَدِلٌ فِي الرَّبِيعِ.</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hot, dry climate prevails in summer, and a mild one in spring.</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المَنَاخُ الَّذِي يَسُودُ هُنَاكَ؟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 تُشْرِقَ الشَّمْسُ، وَأَنْ تَهُبَّ رِيَاحٌ خَفِيفَةٌ فِي المَسَاءِ.</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sun is expected to shine, and light winds are expected in the evening.</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الطَّقْسُ المُتَوَقَّعُ فِي أُسْبُوعِ الرِّحْلَةِ؟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 أَحَرُّ وَأَجَفُّ مِنْ بِرِيطَانِيَا، أَمَّا بِرِيطَانِيَا فَأَكْثَرُ مَطَرًا.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Jordan is hotter and drier than Britain, whereas Britain is rainier.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قَارِنْ طَقْسَ الأُرْدُنِّ بِطَقْسِ بِرِيطَانِيَا.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يَأْخُذُوا قُبَّعَةً وَمَاءً بِسَبَبِ الشَّمْسِ، وَسُتْرَةً لِأَنَّ الحَرَارَةَ تَنْخَفِضُ 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must take a hat and water because of the sun, and a jacket because the temperature falls at night.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يَجِبُ أَنْ يَأْخُذَ الطُّلَّابُ مَعَهُمْ؟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أَعِزَّاءَنَا الأَهْلَ، يَتَمَيَّزُ الأُرْدُنُّ بِطَبِيعَةٍ مُتَنَوِّعَةٍ: جِبَالٌ عَالِيَةٌ فِي البَتْرَاءِ، وَصَحْرَاءُ وَاسِعَةٌ فِي الجَنُوبِ، وَالبَحْرُ المَيِّتُ فِي الغَرْبِ. يَسُودُ مَنَاخٌ مُعْتَدِلٌ فِي الرَّبِيعِ، وَلٰكِنْ يُتَوَقَّعُ أَنْ تَرْتَفِعَ دَرَجَاتُ الحَرَارَةِ إِلَى ثَلَاثِينَ دَرَجَةً فِي وَادِي رَمٍّ، ثُمَّ تَنْخَفِضَ كَثِيرًا فِي اللَّيْلِ. الأُرْدُنُّ أَحَرُّ وَأَجَفُّ مِنْ بِرِيطَانِيَا. لِذٰلِكَ يَجِبُ أَنْ يَأْخُذَ الطُّلَّابُ قُبَّعَةً وَمَاءً بِسَبَبِ الشَّمْسِ، وَسُتْرَةً دَافِئَةً لِلَّيْلِ.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parents, Jordan is distinguished by varied nature: high mountains in Petra, a vast desert in the south and the Dead Sea in the west. A mild climate prevails in spring, but temperatures are expected to rise to thirty degrees in Wadi Rum, then fall a lot at night. Jordan is hotter and drier than Britain. So students must take a hat and water because of the sun, and a warm jacket for the night.”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يَتَمَيَّزُ الأُرْدُنُّ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يَسُودُ مَنَاخٌ مُعْتَدِلٌ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يُتَوَقَّعُ أَنْ تَرْتَفِعَ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أَحَرُّ وَأَجَفُّ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D4-W01 · Apply workshop (D4-L01 + D4-L02)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D4-L01 and D4-L02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D4-L03 · Environmental Problems — Causes and Effects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المُشْكِلَاتُ البِيئِيَّةُ — الأَسْبَابُ وَالنَّتَائِجُ</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D4-W01 · Apply Workshop — Planning a School Trip to Jordan</dc:title>
  <dc:subject>PptxGenJS Presentation</dc:subject>
  <dc:creator>Al Madina Online School · Arabic Department</dc:creator>
  <cp:lastModifiedBy>Al Madina Online School · Arabic Department</cp:lastModifiedBy>
  <cp:revision>1</cp:revision>
  <dcterms:created xsi:type="dcterms:W3CDTF">2026-10-26T15:37:52Z</dcterms:created>
  <dcterms:modified xsi:type="dcterms:W3CDTF">2026-10-26T15:37:52Z</dcterms:modified>
</cp:coreProperties>
</file>