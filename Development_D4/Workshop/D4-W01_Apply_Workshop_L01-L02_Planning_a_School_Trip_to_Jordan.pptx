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APPLY WORKSHOP AT A GLANCE — the third lesson of the week (Learn D4-L01 · Learn D4-L02 · Apply). 60 minutes on Teams: teacher-led in the main room for the short whole-class steps, pairs or breakout rooms of two or three for speaking, individual writing.
0–3 Welcome + plan · 3–6 What we learnt this week · PART 1 REMEMBER: word race (4) · which lesson? sort (4) · PART 2 SPEAK: new dialogue (5) · mixed question cards (6) · role-play card (7) · one minute talk (4) · PART 3 WRITE: sentence builder (3) · spot and fix (3) · connected writing (12) + buddy check (3) · CHECK YOURSELF: models + self-check (5).
PURPOSE: students APPLY the language of BOTH lessons in new contexts — the question cards, builder and common mistakes come from the two practice rooms; the dialogue, role-play, talk and writing task are new and join the lessons together.
CONTENT: D4-L01 (The Natural World — Environment and Climate Vocabulary) and D4-L02 (Weather Patterns — Describing and Comparing Weather).
SET-UP: share this deck or its PDF in the chat. Pairs or breakout rooms for Part 2 (same-level rooms keep the routes simple). Everyone writes in their own book or document in Part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Apply = use what you learnt in D4-L01 and D4-L02 in a NEW situation. Point out the step number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WE LEARNT (3 min, main room). Ask: “What can you say after D4-L01? After D4-L02?” Take two answers in the chat for each lesson (one word or one sentence is enough). Then read objective 3 — today’s new situation that needs BOTH lessons. Students tick their route goals at the end of the lesson.
D4-L01 language: natural features with agreeing adjectives (ṣaḥrāʾu wāsiʿatun · jibālun ʿāliyatun); formal verbs: yasūdu (prevails) · yattasimu bi- (is characterised by) · tatamayyazu bi- (is distinguished by); fī al-shamāli / al-janūbi; mild · dry · humid
D4-L02 language: the weather word as the subject of the verb (yasquṭu al-maṭaru · tahubbu al-riyāḥu · tushriqu al-shamsu); temperatures rise / fall (tartafiʿu / tankhafiḍu darajātu al-ḥarāra); comparing places (aḥarru min · abradu min · akthar maṭaran); forecasting: yutawaqqaʿu an + verb in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(4 min). Quick, energetic retrieval. Model one round with a student, then pairs race. Collect the best score in the chat. Listen for words students hesitate over and revisit them in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six words from D4-L01.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six words from D4-L02.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(4 min). Students read each card ALOUD (by invitation), then type its number in the chat with 1 or 2 (for example “card 3 → 2”). Then check the answer slide. Ask: “Which card could you use in BOTH lessons?” — this links the two lessons before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(4 min). Students read each card ALOUD (by invitation), then type its number in the chat with 1 or 2 (for example “card 3 → 2”). Then check the answer slide. Ask: “Which card could you use in BOTH lessons?” — this links the two lessons before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3 (5 min). A NEW dialogue that joins D4-L01 and D4-L02. Teacher reads it once with a confident student; then pairs. Ask: “Which lines are from D4-L01? Which from D4-L02?” Formal geography (يَتَمَيَّزُ بِ… · يَسُودُ مَنَاخٌ …) comes from D4-L01; temperatures rising and falling, يُتَوَقَّعُ أَنْ + -a and comparatives (أَحَرُّ مِنْ) from D4-L02.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(6 min, pairs or rooms). The questions come from the two practice rooms, now mixed so students switch between the lessons. Teacher: visit rooms and ask one Stretch follow-up question in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5 (7 min). One NEW situation that needs both lessons: natural features, climate and formal verbs (D4-L01) with weather as subject, forecasts and comparisons (D4-L02). FADED SUPPORT: tasks 1–2 show the plan; students write their own plan for 3–5. To a girl Partner A says: when the planner is a girl, the teacher says: صِفِي · قَارِنِي.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Fluency: one talk that uses BOTH lessons. Two volunteers speak to the whole class at the end (open mic).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Rows come from the D4-L01 and D4-L02 practice rooms. Read the English, choose the correct part from each column (start on the RIGHT). Pairs agree, then check. Students copy the correct sentences — they help in Step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Rows come from the D4-L01 and D4-L02 practice rooms. Read the English, choose the correct part from each column (start on the RIGHT). Pairs agree, then check. Students copy the correct sentences — they help in Step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(3 min). Common mistakes from both lessons. Students type the corrected version in the chat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(3 min). Common mistakes from both lessons. Students type the corrected version in the chat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9 support. Core: use the Core frames for every bullet. Develop: use the Develop frames only if stuck. Stretch: no frames — add reasons, a time phrase and an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9 (10 min writing, everyone on their own). Core: frames for every bullet (50–60 words). Develop: 80–100 words, frames only if stuck. Stretch: no frames, add reasons and another time frame. Teacher reads ONE sentence per student (in the chat or the shared document) and gives one live correction.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Pairs swap texts (or share screens).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(57 words). CHECK YOURSELF (2 min). Find each bullet point in the model, and one phrase from D4-L01 and one from D4-L02.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8  ·  DEVELOPMENT D4  ·  D4-L01 + D4-L02 · APPLY WORKSHOP</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D4-W01</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Apply Workshop — Planning a School Trip to Jordan</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وَرْشَةُ التَّطْبِيقِ — نُخَطِّطُ لِرِحْلَةٍ إِلَى الأُرْدُنِّ</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300" dirty="0">
                <a:solidFill>
                  <a:srgbClr val="C6D2E6"/>
                </a:solidFill>
                <a:latin typeface="Calibri" pitchFamily="34" charset="0"/>
                <a:cs typeface="Amiri" pitchFamily="2" charset="-78"/>
              </a:rPr>
              <a:t>Students join geography and climate with weather and forecasts: they plan a school trip to Jordan — describing natural features and climate in formal language, comparing the weather with Britain, reading a forecast (</a:t>
            </a:r>
            <a:pPr algn="l" indent="0" marL="0">
              <a:buNone/>
            </a:pPr>
            <a:r>
              <a:rPr lang="ar-SA" altLang="en-US" sz="1700" dirty="0">
                <a:solidFill>
                  <a:srgbClr val="C6D2E6"/>
                </a:solidFill>
                <a:latin typeface="Amiri" pitchFamily="2" charset="-78"/>
                <a:ea typeface="Amiri" pitchFamily="2" charset="-78"/>
                <a:cs typeface="Amiri" pitchFamily="2" charset="-78"/>
              </a:rPr>
              <a:t>يُتَوَقَّعُ أَنْ</a:t>
            </a:r>
            <a:pPr algn="l" indent="0" marL="0">
              <a:buNone/>
            </a:pPr>
            <a:r>
              <a:rPr lang="en-US" sz="1300" dirty="0">
                <a:solidFill>
                  <a:srgbClr val="C6D2E6"/>
                </a:solidFill>
                <a:latin typeface="Calibri" pitchFamily="34" charset="0"/>
                <a:cs typeface="Amiri" pitchFamily="2" charset="-78"/>
              </a:rPr>
              <a:t> …) — and write a trip briefing for parents with packing advice.</a:t>
            </a:r>
            <a:endParaRPr lang="en-US" sz="13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Apply workshop · D4-L01 + D4-L02</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Development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Development › D4 › D4-L02</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D4-W01 · Apply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D4-W01 · Apply workshop (D4-L01 + D4-L02)</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24</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D4-W01 · Apply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PLAN · LEARN, LEARN, APPLY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Two lessons — now use them together</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الوَرْشَةِ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D4-W01 · Apply workshop (D4-L01 + D4-L02)</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1B3B6F"/>
          </a:solidFill>
          <a:ln w="12700">
            <a:solidFill>
              <a:srgbClr val="1B3B6F"/>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What we learnt: D4-L01 and D4-L02.</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مَاذَا تَعَلَّمْنَا؟</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2F6FB0"/>
          </a:solidFill>
          <a:ln w="12700">
            <a:solidFill>
              <a:srgbClr val="2F6FB0"/>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Part 1 · Remember: word race and “which lesson?” sort.</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تَذَكَّرْ</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1E6B52"/>
          </a:solidFill>
          <a:ln w="12700">
            <a:solidFill>
              <a:srgbClr val="1E6B52"/>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22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Part 2 · Speak: say the model dialogue · question cards · role-play card · short talk.</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19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Part 3 · Write: sentence builder · spot and fix ·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WORKSHOP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Today there is no new language: you USE the words and structures of the last two lessons together. Everybody speaks in every step and everybody writes their own text. Choose your route — Core, Develop or Stretch — and move up when you are ready.</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24</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D4-W01 · Apply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WHAT WE LEARNT THIS WEEK · D4-L01 + D4-L02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This week’s two lessons — and today’s goal</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نُطَبِّقُ مَا تَعَلَّمْنَا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D4-W01 · Apply workshop (D4-L01 + D4-L02)</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D4-L01: The Natural World — Environment and Climate Vocabulary</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D4-L02: Weather Patterns — Describing and Comparing Weather</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Apply both: the trip planning meeting · A trip briefing for parents</a:t>
            </a:r>
            <a:endParaRPr lang="en-US" sz="1300" dirty="0"/>
          </a:p>
        </p:txBody>
      </p:sp>
      <p:sp>
        <p:nvSpPr>
          <p:cNvPr id="27" name="Shape 24"/>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28" name="Shape 25"/>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29" name="Text 26"/>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0" name="Text 27"/>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1" name="Text 28"/>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Answer questions from BOTH lessons in full sentences.</a:t>
            </a:r>
            <a:endParaRPr lang="en-US" sz="1300" dirty="0"/>
          </a:p>
        </p:txBody>
      </p:sp>
      <p:sp>
        <p:nvSpPr>
          <p:cNvPr id="32" name="Text 29"/>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Write the text using the frames.</a:t>
            </a:r>
            <a:endParaRPr lang="en-US" sz="1300" dirty="0"/>
          </a:p>
        </p:txBody>
      </p:sp>
      <p:sp>
        <p:nvSpPr>
          <p:cNvPr id="33" name="Shape 30"/>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4" name="Shape 31"/>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5" name="Text 32"/>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6" name="Text 33"/>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37" name="Text 34"/>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Join both lessons in one conversation and a one minute talk.</a:t>
            </a:r>
            <a:endParaRPr lang="en-US" sz="1300" dirty="0"/>
          </a:p>
        </p:txBody>
      </p:sp>
      <p:sp>
        <p:nvSpPr>
          <p:cNvPr id="38" name="Text 35"/>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Write the text, frames only if stuck.</a:t>
            </a:r>
            <a:endParaRPr lang="en-US" sz="1300" dirty="0"/>
          </a:p>
        </p:txBody>
      </p:sp>
      <p:sp>
        <p:nvSpPr>
          <p:cNvPr id="39" name="Shape 36"/>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0" name="Shape 37"/>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1" name="Text 38"/>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2" name="Text 39"/>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3" name="Text 40"/>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Speak without notes; add reasons and opinions.</a:t>
            </a:r>
            <a:endParaRPr lang="en-US" sz="1300" dirty="0"/>
          </a:p>
        </p:txBody>
      </p:sp>
      <p:sp>
        <p:nvSpPr>
          <p:cNvPr id="44" name="Text 41"/>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Use more than one tense; give and justify opinions.</a:t>
            </a:r>
            <a:endParaRPr lang="en-US" sz="130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D4-W01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1 · STEP 1 · WORD RACE · 4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Word race: two lessons, one race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سِبَاقُ الكَلِمَاتِ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D4-W01 · Apply workshop (D4-L01 + D4-L02)</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PAIRS</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English → Arabic, from both lessons</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next two slides show words from D4-L01 and D4-L02. Partner A says a word in ENGLISH; Partner B says it in ARABIC. One point for every correct answer in 90 seconds — then swap.</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Teacher: first round together (3 words from each slide).</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Pairs: 90 seconds each, as many as you can.</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Mix the lessons: one word from slide 1, one from slide 2.</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two words — one from each lesson — in ONE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with it.</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Join a word from each lesson in one sentence with ‏</a:t>
            </a:r>
            <a:pPr algn="l" indent="0" marL="0">
              <a:buNone/>
            </a:pPr>
            <a:r>
              <a:rPr lang="ar-SA" altLang="en-US" sz="1500" dirty="0">
                <a:solidFill>
                  <a:srgbClr val="1F2A37"/>
                </a:solidFill>
                <a:latin typeface="Amiri" pitchFamily="2" charset="-78"/>
                <a:ea typeface="Amiri" pitchFamily="2" charset="-78"/>
                <a:cs typeface="Amiri" pitchFamily="2" charset="-78"/>
              </a:rPr>
              <a:t>وَ</a:t>
            </a:r>
            <a:pPr algn="l" indent="0" marL="0">
              <a:buNone/>
            </a:pPr>
            <a:r>
              <a:rPr lang="en-US" sz="1150" dirty="0">
                <a:solidFill>
                  <a:srgbClr val="1F2A37"/>
                </a:solidFill>
                <a:latin typeface="Calibri" pitchFamily="34" charset="0"/>
                <a:cs typeface="Amiri" pitchFamily="2" charset="-78"/>
              </a:rPr>
              <a:t>‏ or ‏</a:t>
            </a:r>
            <a:pPr algn="l" indent="0" marL="0">
              <a:buNone/>
            </a:pPr>
            <a:r>
              <a:rPr lang="ar-SA" altLang="en-US" sz="1500" dirty="0">
                <a:solidFill>
                  <a:srgbClr val="1F2A37"/>
                </a:solidFill>
                <a:latin typeface="Amiri" pitchFamily="2" charset="-78"/>
                <a:ea typeface="Amiri" pitchFamily="2" charset="-78"/>
                <a:cs typeface="Amiri" pitchFamily="2" charset="-78"/>
              </a:rPr>
              <a:t>لِأَنَّ</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صَحِيحٌ!</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correct!</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حَاوِلْ مَرَّةً أُخْرَى</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try again</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نُقْطَةٌ لَكَ / 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a point for you (m. / f.)</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D4-W01 · Apply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WORDS FROM D4-L01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D4-L01 · The Natural World — Environment and Climate Vocabulary</a:t>
            </a:r>
            <a:endParaRPr lang="en-US" sz="1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 الأَوَّلِ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D4-W01 · Apply workshop (D4-L01 + D4-L02)</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البِيئَةُ</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environment</a:t>
            </a:r>
            <a:endParaRPr lang="en-US" sz="1350" dirty="0"/>
          </a:p>
          <a:p>
            <a:pPr indent="0" marL="0">
              <a:buNone/>
            </a:pPr>
            <a:r>
              <a:rPr lang="en-US" sz="1100" i="1" dirty="0">
                <a:solidFill>
                  <a:srgbClr val="5A6472"/>
                </a:solidFill>
                <a:latin typeface="Calibri" pitchFamily="34" charset="0"/>
                <a:cs typeface="Amiri" pitchFamily="2" charset="-78"/>
              </a:rPr>
              <a:t>al-bī-ʾa-tu</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الطَّقْسُ</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weather</a:t>
            </a:r>
            <a:endParaRPr lang="en-US" sz="1350" dirty="0"/>
          </a:p>
          <a:p>
            <a:pPr indent="0" marL="0">
              <a:buNone/>
            </a:pPr>
            <a:r>
              <a:rPr lang="en-US" sz="1100" i="1" dirty="0">
                <a:solidFill>
                  <a:srgbClr val="5A6472"/>
                </a:solidFill>
                <a:latin typeface="Calibri" pitchFamily="34" charset="0"/>
                <a:cs typeface="Amiri" pitchFamily="2" charset="-78"/>
              </a:rPr>
              <a:t>aṭ-ṭaq-su</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2" name="Shape 29"/>
          <p:cNvSpPr/>
          <p:nvPr/>
        </p:nvSpPr>
        <p:spPr>
          <a:xfrm>
            <a:off x="960120" y="1938528"/>
            <a:ext cx="709574" cy="256032"/>
          </a:xfrm>
          <a:prstGeom prst="roundRect">
            <a:avLst>
              <a:gd name="adj" fmla="val 50000"/>
            </a:avLst>
          </a:prstGeom>
          <a:solidFill>
            <a:srgbClr val="EFE7D2"/>
          </a:solidFill>
          <a:ln w="12700">
            <a:solidFill>
              <a:srgbClr val="EFE7D2"/>
            </a:solidFill>
            <a:prstDash val="solid"/>
          </a:ln>
        </p:spPr>
      </p:sp>
      <p:sp>
        <p:nvSpPr>
          <p:cNvPr id="33" name="Text 30"/>
          <p:cNvSpPr txBox="1"/>
          <p:nvPr/>
        </p:nvSpPr>
        <p:spPr>
          <a:xfrm>
            <a:off x="960120"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34" name="Shape 3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6" name="Text 33"/>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الغَابَةُ</a:t>
            </a:r>
            <a:endParaRPr lang="ar-SA" sz="3000" dirty="0"/>
          </a:p>
        </p:txBody>
      </p:sp>
      <p:sp>
        <p:nvSpPr>
          <p:cNvPr id="37" name="Text 34"/>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forest</a:t>
            </a:r>
            <a:endParaRPr lang="en-US" sz="1350" dirty="0"/>
          </a:p>
          <a:p>
            <a:pPr indent="0" marL="0">
              <a:buNone/>
            </a:pPr>
            <a:r>
              <a:rPr lang="en-US" sz="1100" i="1" dirty="0">
                <a:solidFill>
                  <a:srgbClr val="5A6472"/>
                </a:solidFill>
                <a:latin typeface="Calibri" pitchFamily="34" charset="0"/>
                <a:cs typeface="Amiri" pitchFamily="2" charset="-78"/>
              </a:rPr>
              <a:t>al-ghā-ba-tu</a:t>
            </a:r>
            <a:endParaRPr lang="en-US" sz="1350" dirty="0"/>
          </a:p>
        </p:txBody>
      </p:sp>
      <p:sp>
        <p:nvSpPr>
          <p:cNvPr id="38" name="Shape 35"/>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39" name="Text 36"/>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0" name="Text 37"/>
          <p:cNvSpPr txBox="1"/>
          <p:nvPr/>
        </p:nvSpPr>
        <p:spPr>
          <a:xfrm>
            <a:off x="640080"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الغَابَاتُ</a:t>
            </a:r>
            <a:endParaRPr lang="ar-SA" sz="1500" dirty="0"/>
          </a:p>
        </p:txBody>
      </p:sp>
      <p:sp>
        <p:nvSpPr>
          <p:cNvPr id="41" name="Shape 38"/>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11312" y="4261104"/>
            <a:ext cx="310896" cy="310896"/>
          </a:xfrm>
          <a:prstGeom prst="ellipse">
            <a:avLst/>
          </a:prstGeom>
          <a:solidFill>
            <a:srgbClr val="F4F1EA"/>
          </a:solidFill>
          <a:ln w="12700">
            <a:solidFill>
              <a:srgbClr val="F4F1EA"/>
            </a:solidFill>
            <a:prstDash val="solid"/>
          </a:ln>
        </p:spPr>
      </p:sp>
      <p:sp>
        <p:nvSpPr>
          <p:cNvPr id="43" name="Text 40"/>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4" name="Shape 41"/>
          <p:cNvSpPr/>
          <p:nvPr/>
        </p:nvSpPr>
        <p:spPr>
          <a:xfrm>
            <a:off x="8604504" y="4279392"/>
            <a:ext cx="709574" cy="256032"/>
          </a:xfrm>
          <a:prstGeom prst="roundRect">
            <a:avLst>
              <a:gd name="adj" fmla="val 50000"/>
            </a:avLst>
          </a:prstGeom>
          <a:solidFill>
            <a:srgbClr val="EFE7D2"/>
          </a:solidFill>
          <a:ln w="12700">
            <a:solidFill>
              <a:srgbClr val="EFE7D2"/>
            </a:solidFill>
            <a:prstDash val="solid"/>
          </a:ln>
        </p:spPr>
      </p:sp>
      <p:sp>
        <p:nvSpPr>
          <p:cNvPr id="45" name="Text 42"/>
          <p:cNvSpPr txBox="1"/>
          <p:nvPr/>
        </p:nvSpPr>
        <p:spPr>
          <a:xfrm>
            <a:off x="8604504"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46" name="Shape 43"/>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8" name="Text 45"/>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البَحْرُ</a:t>
            </a:r>
            <a:endParaRPr lang="ar-SA" sz="3000" dirty="0"/>
          </a:p>
        </p:txBody>
      </p:sp>
      <p:sp>
        <p:nvSpPr>
          <p:cNvPr id="49" name="Text 46"/>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sea</a:t>
            </a:r>
            <a:endParaRPr lang="en-US" sz="1350" dirty="0"/>
          </a:p>
          <a:p>
            <a:pPr indent="0" marL="0">
              <a:buNone/>
            </a:pPr>
            <a:r>
              <a:rPr lang="en-US" sz="1100" i="1" dirty="0">
                <a:solidFill>
                  <a:srgbClr val="5A6472"/>
                </a:solidFill>
                <a:latin typeface="Calibri" pitchFamily="34" charset="0"/>
                <a:cs typeface="Amiri" pitchFamily="2" charset="-78"/>
              </a:rPr>
              <a:t>al-baḥ-ru</a:t>
            </a:r>
            <a:endParaRPr lang="en-US" sz="1350" dirty="0"/>
          </a:p>
        </p:txBody>
      </p:sp>
      <p:sp>
        <p:nvSpPr>
          <p:cNvPr id="50" name="Shape 47"/>
          <p:cNvSpPr/>
          <p:nvPr/>
        </p:nvSpPr>
        <p:spPr>
          <a:xfrm>
            <a:off x="8238744" y="5779008"/>
            <a:ext cx="3364992" cy="438912"/>
          </a:xfrm>
          <a:prstGeom prst="roundRect">
            <a:avLst>
              <a:gd name="adj" fmla="val 10417"/>
            </a:avLst>
          </a:prstGeom>
          <a:solidFill>
            <a:srgbClr val="F4F1EA"/>
          </a:solidFill>
          <a:ln w="9525">
            <a:solidFill>
              <a:srgbClr val="F4F1EA"/>
            </a:solidFill>
            <a:prstDash val="solid"/>
          </a:ln>
        </p:spPr>
      </p:sp>
      <p:sp>
        <p:nvSpPr>
          <p:cNvPr id="51" name="Text 48"/>
          <p:cNvSpPr txBox="1"/>
          <p:nvPr/>
        </p:nvSpPr>
        <p:spPr>
          <a:xfrm>
            <a:off x="8293608" y="5788152"/>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2" name="Text 49"/>
          <p:cNvSpPr txBox="1"/>
          <p:nvPr/>
        </p:nvSpPr>
        <p:spPr>
          <a:xfrm>
            <a:off x="8284464" y="5824728"/>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البِحَارُ</a:t>
            </a:r>
            <a:endParaRPr lang="ar-SA" sz="1500" dirty="0"/>
          </a:p>
        </p:txBody>
      </p:sp>
      <p:sp>
        <p:nvSpPr>
          <p:cNvPr id="53" name="Shape 5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4" name="Shape 51"/>
          <p:cNvSpPr/>
          <p:nvPr/>
        </p:nvSpPr>
        <p:spPr>
          <a:xfrm>
            <a:off x="4389120" y="4261104"/>
            <a:ext cx="310896" cy="310896"/>
          </a:xfrm>
          <a:prstGeom prst="ellipse">
            <a:avLst/>
          </a:prstGeom>
          <a:solidFill>
            <a:srgbClr val="F4F1EA"/>
          </a:solidFill>
          <a:ln w="12700">
            <a:solidFill>
              <a:srgbClr val="F4F1EA"/>
            </a:solidFill>
            <a:prstDash val="solid"/>
          </a:ln>
        </p:spPr>
      </p:sp>
      <p:sp>
        <p:nvSpPr>
          <p:cNvPr id="55" name="Text 5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56" name="Shape 53"/>
          <p:cNvSpPr/>
          <p:nvPr/>
        </p:nvSpPr>
        <p:spPr>
          <a:xfrm>
            <a:off x="4782312" y="4279392"/>
            <a:ext cx="709574" cy="256032"/>
          </a:xfrm>
          <a:prstGeom prst="roundRect">
            <a:avLst>
              <a:gd name="adj" fmla="val 50000"/>
            </a:avLst>
          </a:prstGeom>
          <a:solidFill>
            <a:srgbClr val="EFE7D2"/>
          </a:solidFill>
          <a:ln w="12700">
            <a:solidFill>
              <a:srgbClr val="EFE7D2"/>
            </a:solidFill>
            <a:prstDash val="solid"/>
          </a:ln>
        </p:spPr>
      </p:sp>
      <p:sp>
        <p:nvSpPr>
          <p:cNvPr id="57" name="Text 54"/>
          <p:cNvSpPr txBox="1"/>
          <p:nvPr/>
        </p:nvSpPr>
        <p:spPr>
          <a:xfrm>
            <a:off x="4782312"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58" name="Shape 55"/>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9" name="Text 56"/>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0" name="Text 57"/>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السَّاحِلُ</a:t>
            </a:r>
            <a:endParaRPr lang="ar-SA" sz="3000" dirty="0"/>
          </a:p>
        </p:txBody>
      </p:sp>
      <p:sp>
        <p:nvSpPr>
          <p:cNvPr id="61" name="Text 58"/>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coast</a:t>
            </a:r>
            <a:endParaRPr lang="en-US" sz="1350" dirty="0"/>
          </a:p>
          <a:p>
            <a:pPr indent="0" marL="0">
              <a:buNone/>
            </a:pPr>
            <a:r>
              <a:rPr lang="en-US" sz="1100" i="1" dirty="0">
                <a:solidFill>
                  <a:srgbClr val="5A6472"/>
                </a:solidFill>
                <a:latin typeface="Calibri" pitchFamily="34" charset="0"/>
                <a:cs typeface="Amiri" pitchFamily="2" charset="-78"/>
              </a:rPr>
              <a:t>as-sā-ḥi-lu</a:t>
            </a:r>
            <a:endParaRPr lang="en-US" sz="1350" dirty="0"/>
          </a:p>
        </p:txBody>
      </p:sp>
      <p:sp>
        <p:nvSpPr>
          <p:cNvPr id="62" name="Shape 59"/>
          <p:cNvSpPr/>
          <p:nvPr/>
        </p:nvSpPr>
        <p:spPr>
          <a:xfrm>
            <a:off x="4416552" y="5779008"/>
            <a:ext cx="3364992" cy="438912"/>
          </a:xfrm>
          <a:prstGeom prst="roundRect">
            <a:avLst>
              <a:gd name="adj" fmla="val 10417"/>
            </a:avLst>
          </a:prstGeom>
          <a:solidFill>
            <a:srgbClr val="F4F1EA"/>
          </a:solidFill>
          <a:ln w="9525">
            <a:solidFill>
              <a:srgbClr val="F4F1EA"/>
            </a:solidFill>
            <a:prstDash val="solid"/>
          </a:ln>
        </p:spPr>
      </p:sp>
      <p:sp>
        <p:nvSpPr>
          <p:cNvPr id="63" name="Text 60"/>
          <p:cNvSpPr txBox="1"/>
          <p:nvPr/>
        </p:nvSpPr>
        <p:spPr>
          <a:xfrm>
            <a:off x="4471416" y="5788152"/>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64" name="Text 61"/>
          <p:cNvSpPr txBox="1"/>
          <p:nvPr/>
        </p:nvSpPr>
        <p:spPr>
          <a:xfrm>
            <a:off x="4462272" y="5824728"/>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السَّوَاحِلُ</a:t>
            </a:r>
            <a:endParaRPr lang="ar-SA" sz="1500" dirty="0"/>
          </a:p>
        </p:txBody>
      </p:sp>
      <p:sp>
        <p:nvSpPr>
          <p:cNvPr id="65" name="Shape 62"/>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6" name="Shape 63"/>
          <p:cNvSpPr/>
          <p:nvPr/>
        </p:nvSpPr>
        <p:spPr>
          <a:xfrm>
            <a:off x="566928" y="4261104"/>
            <a:ext cx="310896" cy="310896"/>
          </a:xfrm>
          <a:prstGeom prst="ellipse">
            <a:avLst/>
          </a:prstGeom>
          <a:solidFill>
            <a:srgbClr val="F4F1EA"/>
          </a:solidFill>
          <a:ln w="12700">
            <a:solidFill>
              <a:srgbClr val="F4F1EA"/>
            </a:solidFill>
            <a:prstDash val="solid"/>
          </a:ln>
        </p:spPr>
      </p:sp>
      <p:sp>
        <p:nvSpPr>
          <p:cNvPr id="67" name="Text 64"/>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68" name="Shape 65"/>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69" name="Text 66"/>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0" name="Text 67"/>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جَافٌّ / جَافَّةٌ</a:t>
            </a:r>
            <a:endParaRPr lang="ar-SA" sz="3000" dirty="0"/>
          </a:p>
        </p:txBody>
      </p:sp>
      <p:sp>
        <p:nvSpPr>
          <p:cNvPr id="71" name="Text 68"/>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dry</a:t>
            </a:r>
            <a:endParaRPr lang="en-US" sz="1350" dirty="0"/>
          </a:p>
          <a:p>
            <a:pPr indent="0" marL="0">
              <a:buNone/>
            </a:pPr>
            <a:r>
              <a:rPr lang="en-US" sz="1100" i="1" dirty="0">
                <a:solidFill>
                  <a:srgbClr val="5A6472"/>
                </a:solidFill>
                <a:latin typeface="Calibri" pitchFamily="34" charset="0"/>
                <a:cs typeface="Amiri" pitchFamily="2" charset="-78"/>
              </a:rPr>
              <a:t>jāf-fun / jāf-fa-tun</a:t>
            </a:r>
            <a:endParaRPr lang="en-US" sz="1350" dirty="0"/>
          </a:p>
        </p:txBody>
      </p:sp>
      <p:sp>
        <p:nvSpPr>
          <p:cNvPr id="72" name="Text 6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24</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D4-W01 · Apply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WORDS FROM D4-L02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D4-L02 · Weather Patterns — Describing and Comparing Weather</a:t>
            </a:r>
            <a:endParaRPr lang="en-US" sz="1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 الثَّانِي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D4-W01 · Apply workshop (D4-L01 + D4-L02)</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المَطَرُ</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rain</a:t>
            </a:r>
            <a:endParaRPr lang="en-US" sz="1350" dirty="0"/>
          </a:p>
          <a:p>
            <a:pPr indent="0" marL="0">
              <a:buNone/>
            </a:pPr>
            <a:r>
              <a:rPr lang="en-US" sz="1100" i="1" dirty="0">
                <a:solidFill>
                  <a:srgbClr val="5A6472"/>
                </a:solidFill>
                <a:latin typeface="Calibri" pitchFamily="34" charset="0"/>
                <a:cs typeface="Amiri" pitchFamily="2" charset="-78"/>
              </a:rPr>
              <a:t>al-ma-ṭa-ru</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الرِّيَاحُ</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winds</a:t>
            </a:r>
            <a:endParaRPr lang="en-US" sz="1350" dirty="0"/>
          </a:p>
          <a:p>
            <a:pPr indent="0" marL="0">
              <a:buNone/>
            </a:pPr>
            <a:r>
              <a:rPr lang="en-US" sz="1100" i="1" dirty="0">
                <a:solidFill>
                  <a:srgbClr val="5A6472"/>
                </a:solidFill>
                <a:latin typeface="Calibri" pitchFamily="34" charset="0"/>
                <a:cs typeface="Amiri" pitchFamily="2" charset="-78"/>
              </a:rPr>
              <a:t>ar-ri-yā-ḥu</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السُّحُبُ / الغُيُومُ</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clouds</a:t>
            </a:r>
            <a:endParaRPr lang="en-US" sz="1350" dirty="0"/>
          </a:p>
          <a:p>
            <a:pPr indent="0" marL="0">
              <a:buNone/>
            </a:pPr>
            <a:r>
              <a:rPr lang="en-US" sz="1100" i="1" dirty="0">
                <a:solidFill>
                  <a:srgbClr val="5A6472"/>
                </a:solidFill>
                <a:latin typeface="Calibri" pitchFamily="34" charset="0"/>
                <a:cs typeface="Amiri" pitchFamily="2" charset="-78"/>
              </a:rPr>
              <a:t>as-su-ḥu-bu / al-ghu-yū-mu</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39" name="Shape 3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1" name="Text 3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يَسْقُطُ المَطَرُ</a:t>
            </a:r>
            <a:endParaRPr lang="ar-SA" sz="3000" dirty="0"/>
          </a:p>
        </p:txBody>
      </p:sp>
      <p:sp>
        <p:nvSpPr>
          <p:cNvPr id="42" name="Text 3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rain falls / it rains</a:t>
            </a:r>
            <a:endParaRPr lang="en-US" sz="1350" dirty="0"/>
          </a:p>
          <a:p>
            <a:pPr indent="0" marL="0">
              <a:buNone/>
            </a:pPr>
            <a:r>
              <a:rPr lang="en-US" sz="1100" i="1" dirty="0">
                <a:solidFill>
                  <a:srgbClr val="5A6472"/>
                </a:solidFill>
                <a:latin typeface="Calibri" pitchFamily="34" charset="0"/>
                <a:cs typeface="Amiri" pitchFamily="2" charset="-78"/>
              </a:rPr>
              <a:t>yas-qu-ṭu al-ma-ṭa-ru</a:t>
            </a:r>
            <a:endParaRPr lang="en-US" sz="1350" dirty="0"/>
          </a:p>
        </p:txBody>
      </p:sp>
      <p:sp>
        <p:nvSpPr>
          <p:cNvPr id="43" name="Shape 4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4389120" y="4261104"/>
            <a:ext cx="310896" cy="310896"/>
          </a:xfrm>
          <a:prstGeom prst="ellipse">
            <a:avLst/>
          </a:prstGeom>
          <a:solidFill>
            <a:srgbClr val="F4F1EA"/>
          </a:solidFill>
          <a:ln w="12700">
            <a:solidFill>
              <a:srgbClr val="F4F1EA"/>
            </a:solidFill>
            <a:prstDash val="solid"/>
          </a:ln>
        </p:spPr>
      </p:sp>
      <p:sp>
        <p:nvSpPr>
          <p:cNvPr id="45" name="Text 4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46" name="Shape 43"/>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8" name="Text 45"/>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تَهُبُّ الرِّيَاحُ</a:t>
            </a:r>
            <a:endParaRPr lang="ar-SA" sz="3000" dirty="0"/>
          </a:p>
        </p:txBody>
      </p:sp>
      <p:sp>
        <p:nvSpPr>
          <p:cNvPr id="49" name="Text 46"/>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winds blow</a:t>
            </a:r>
            <a:endParaRPr lang="en-US" sz="1350" dirty="0"/>
          </a:p>
          <a:p>
            <a:pPr indent="0" marL="0">
              <a:buNone/>
            </a:pPr>
            <a:r>
              <a:rPr lang="en-US" sz="1100" i="1" dirty="0">
                <a:solidFill>
                  <a:srgbClr val="5A6472"/>
                </a:solidFill>
                <a:latin typeface="Calibri" pitchFamily="34" charset="0"/>
                <a:cs typeface="Amiri" pitchFamily="2" charset="-78"/>
              </a:rPr>
              <a:t>ta-hub-bu ar-ri-yā-ḥu</a:t>
            </a:r>
            <a:endParaRPr lang="en-US" sz="1350" dirty="0"/>
          </a:p>
        </p:txBody>
      </p:sp>
      <p:sp>
        <p:nvSpPr>
          <p:cNvPr id="50" name="Shape 4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1" name="Shape 48"/>
          <p:cNvSpPr/>
          <p:nvPr/>
        </p:nvSpPr>
        <p:spPr>
          <a:xfrm>
            <a:off x="566928" y="4261104"/>
            <a:ext cx="310896" cy="310896"/>
          </a:xfrm>
          <a:prstGeom prst="ellipse">
            <a:avLst/>
          </a:prstGeom>
          <a:solidFill>
            <a:srgbClr val="F4F1EA"/>
          </a:solidFill>
          <a:ln w="12700">
            <a:solidFill>
              <a:srgbClr val="F4F1EA"/>
            </a:solidFill>
            <a:prstDash val="solid"/>
          </a:ln>
        </p:spPr>
      </p:sp>
      <p:sp>
        <p:nvSpPr>
          <p:cNvPr id="52" name="Text 4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53" name="Shape 50"/>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5" name="Text 5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تَرْتَفِعُ دَرَجَةُ الحَرَارَةِ</a:t>
            </a:r>
            <a:endParaRPr lang="ar-SA" sz="3000" dirty="0"/>
          </a:p>
        </p:txBody>
      </p:sp>
      <p:sp>
        <p:nvSpPr>
          <p:cNvPr id="56" name="Text 5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temperature rises</a:t>
            </a:r>
            <a:endParaRPr lang="en-US" sz="1350" dirty="0"/>
          </a:p>
          <a:p>
            <a:pPr indent="0" marL="0">
              <a:buNone/>
            </a:pPr>
            <a:r>
              <a:rPr lang="en-US" sz="1100" i="1" dirty="0">
                <a:solidFill>
                  <a:srgbClr val="5A6472"/>
                </a:solidFill>
                <a:latin typeface="Calibri" pitchFamily="34" charset="0"/>
                <a:cs typeface="Amiri" pitchFamily="2" charset="-78"/>
              </a:rPr>
              <a:t>tar-ta-fi-ʿu da-ra-ja-tu al-ḥa-rā-ra-ti</a:t>
            </a:r>
            <a:endParaRPr lang="en-US" sz="13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24</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D4-W01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1 · STEP 2 · WHICH LESSON? · READ EACH CARD, THEN SORT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Which lesson does it come from?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مِنْ أَيِّ 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D4-W01 · Apply workshop (D4-L01 + D4-L02)</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تَتَمَيَّزُ … بِ…</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يَسْقُطُ المَطَرُ · تَهُبُّ الرِّيَاحُ</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تَرْتَفِعُ / تَنْخَفِضُ دَرَجَاتُ الحَرَارَةِ إِلَى …</a:t>
            </a:r>
            <a:endParaRPr lang="ar-SA" sz="15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يَسُودُ مَنَاخٌ … فِي …</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يَتَّسِمُ … بِ…</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يُتَوَقَّعُ أَنْ …</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 أَحَرُّ / أَبْرَدُ مِنْ …</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أَفْضَلُ وَقْتٍ لِلزِّيَارَةِ …</a:t>
            </a:r>
            <a:endParaRPr lang="ar-SA" sz="1800" dirty="0"/>
          </a:p>
        </p:txBody>
      </p:sp>
      <p:sp>
        <p:nvSpPr>
          <p:cNvPr id="31" name="Shape 28"/>
          <p:cNvSpPr/>
          <p:nvPr/>
        </p:nvSpPr>
        <p:spPr>
          <a:xfrm>
            <a:off x="6185916" y="3017520"/>
            <a:ext cx="5545836"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6323076" y="3127248"/>
            <a:ext cx="5271516"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6323076"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D4-L01 · The Natural World — Environment and Climate Vocabulary</a:t>
            </a:r>
            <a:endParaRPr lang="en-US" sz="950" dirty="0"/>
          </a:p>
        </p:txBody>
      </p:sp>
      <p:sp>
        <p:nvSpPr>
          <p:cNvPr id="34" name="Shape 31"/>
          <p:cNvSpPr/>
          <p:nvPr/>
        </p:nvSpPr>
        <p:spPr>
          <a:xfrm>
            <a:off x="457200" y="3017520"/>
            <a:ext cx="5545836"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594360" y="3127248"/>
            <a:ext cx="5271516"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594360"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D4-L02 · Weather Patterns — Describing and Comparing Weather</a:t>
            </a:r>
            <a:endParaRPr lang="en-US" sz="9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24</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D4-W01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2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Which lesson?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مِنْ أَيِّ 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D4-W01 · Apply workshop (D4-L01 + D4-L02)</a:t>
            </a:r>
            <a:endParaRPr lang="en-US" sz="850" dirty="0"/>
          </a:p>
        </p:txBody>
      </p:sp>
      <p:sp>
        <p:nvSpPr>
          <p:cNvPr id="15" name="Shape 12"/>
          <p:cNvSpPr/>
          <p:nvPr/>
        </p:nvSpPr>
        <p:spPr>
          <a:xfrm>
            <a:off x="6185916" y="1810512"/>
            <a:ext cx="5545836" cy="4498848"/>
          </a:xfrm>
          <a:prstGeom prst="roundRect">
            <a:avLst>
              <a:gd name="adj" fmla="val 1626"/>
            </a:avLst>
          </a:prstGeom>
          <a:solidFill>
            <a:srgbClr val="EEF3FA"/>
          </a:solidFill>
          <a:ln w="9525">
            <a:solidFill>
              <a:srgbClr val="C9D6EA"/>
            </a:solidFill>
            <a:prstDash val="solid"/>
          </a:ln>
        </p:spPr>
      </p:sp>
      <p:sp>
        <p:nvSpPr>
          <p:cNvPr id="16" name="Shape 13"/>
          <p:cNvSpPr/>
          <p:nvPr/>
        </p:nvSpPr>
        <p:spPr>
          <a:xfrm>
            <a:off x="6323076" y="1920240"/>
            <a:ext cx="5271516"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6323076"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D4-L01 · The Natural World — Environment and Climate Vocabulary</a:t>
            </a:r>
            <a:endParaRPr lang="en-US" sz="950" dirty="0"/>
          </a:p>
        </p:txBody>
      </p:sp>
      <p:sp>
        <p:nvSpPr>
          <p:cNvPr id="18" name="Shape 15"/>
          <p:cNvSpPr/>
          <p:nvPr/>
        </p:nvSpPr>
        <p:spPr>
          <a:xfrm>
            <a:off x="6323076" y="2377440"/>
            <a:ext cx="5271516"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6414516"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تَتَمَيَّزُ … بِ…</a:t>
            </a:r>
            <a:endParaRPr lang="ar-SA" sz="1800" dirty="0"/>
          </a:p>
        </p:txBody>
      </p:sp>
      <p:sp>
        <p:nvSpPr>
          <p:cNvPr id="20" name="Shape 17"/>
          <p:cNvSpPr/>
          <p:nvPr/>
        </p:nvSpPr>
        <p:spPr>
          <a:xfrm>
            <a:off x="6323076" y="2889504"/>
            <a:ext cx="5271516"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6414516"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يَسُودُ مَنَاخٌ … فِي …</a:t>
            </a:r>
            <a:endParaRPr lang="ar-SA" sz="1800" dirty="0"/>
          </a:p>
        </p:txBody>
      </p:sp>
      <p:sp>
        <p:nvSpPr>
          <p:cNvPr id="22" name="Shape 19"/>
          <p:cNvSpPr/>
          <p:nvPr/>
        </p:nvSpPr>
        <p:spPr>
          <a:xfrm>
            <a:off x="6323076" y="3401568"/>
            <a:ext cx="5271516"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6414516"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يَتَّسِمُ … بِ…</a:t>
            </a:r>
            <a:endParaRPr lang="ar-SA" sz="1800" dirty="0"/>
          </a:p>
        </p:txBody>
      </p:sp>
      <p:sp>
        <p:nvSpPr>
          <p:cNvPr id="24" name="Shape 21"/>
          <p:cNvSpPr/>
          <p:nvPr/>
        </p:nvSpPr>
        <p:spPr>
          <a:xfrm>
            <a:off x="6323076" y="3913632"/>
            <a:ext cx="5271516"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6414516"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أَفْضَلُ وَقْتٍ لِلزِّيَارَةِ …</a:t>
            </a:r>
            <a:endParaRPr lang="ar-SA" sz="1800" dirty="0"/>
          </a:p>
        </p:txBody>
      </p:sp>
      <p:sp>
        <p:nvSpPr>
          <p:cNvPr id="26" name="Shape 23"/>
          <p:cNvSpPr/>
          <p:nvPr/>
        </p:nvSpPr>
        <p:spPr>
          <a:xfrm>
            <a:off x="457200" y="1810512"/>
            <a:ext cx="5545836" cy="4498848"/>
          </a:xfrm>
          <a:prstGeom prst="roundRect">
            <a:avLst>
              <a:gd name="adj" fmla="val 1626"/>
            </a:avLst>
          </a:prstGeom>
          <a:solidFill>
            <a:srgbClr val="EEF3FA"/>
          </a:solidFill>
          <a:ln w="9525">
            <a:solidFill>
              <a:srgbClr val="C9D6EA"/>
            </a:solidFill>
            <a:prstDash val="solid"/>
          </a:ln>
        </p:spPr>
      </p:sp>
      <p:sp>
        <p:nvSpPr>
          <p:cNvPr id="27" name="Shape 24"/>
          <p:cNvSpPr/>
          <p:nvPr/>
        </p:nvSpPr>
        <p:spPr>
          <a:xfrm>
            <a:off x="594360" y="1920240"/>
            <a:ext cx="5271516" cy="310896"/>
          </a:xfrm>
          <a:prstGeom prst="roundRect">
            <a:avLst>
              <a:gd name="adj" fmla="val 50000"/>
            </a:avLst>
          </a:prstGeom>
          <a:solidFill>
            <a:srgbClr val="2F6FB0"/>
          </a:solidFill>
          <a:ln w="12700">
            <a:solidFill>
              <a:srgbClr val="2F6FB0"/>
            </a:solidFill>
            <a:prstDash val="solid"/>
          </a:ln>
        </p:spPr>
      </p:sp>
      <p:sp>
        <p:nvSpPr>
          <p:cNvPr id="28" name="Text 25"/>
          <p:cNvSpPr txBox="1"/>
          <p:nvPr/>
        </p:nvSpPr>
        <p:spPr>
          <a:xfrm>
            <a:off x="594360"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D4-L02 · Weather Patterns — Describing and Comparing Weather</a:t>
            </a:r>
            <a:endParaRPr lang="en-US" sz="950" dirty="0"/>
          </a:p>
        </p:txBody>
      </p:sp>
      <p:sp>
        <p:nvSpPr>
          <p:cNvPr id="29" name="Shape 26"/>
          <p:cNvSpPr/>
          <p:nvPr/>
        </p:nvSpPr>
        <p:spPr>
          <a:xfrm>
            <a:off x="594360" y="2377440"/>
            <a:ext cx="5271516"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685800"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يَسْقُطُ المَطَرُ · تَهُبُّ الرِّيَاحُ</a:t>
            </a:r>
            <a:endParaRPr lang="ar-SA" sz="1800" dirty="0"/>
          </a:p>
        </p:txBody>
      </p:sp>
      <p:sp>
        <p:nvSpPr>
          <p:cNvPr id="31" name="Shape 28"/>
          <p:cNvSpPr/>
          <p:nvPr/>
        </p:nvSpPr>
        <p:spPr>
          <a:xfrm>
            <a:off x="594360" y="2889504"/>
            <a:ext cx="5271516"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685800"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تَرْتَفِعُ / تَنْخَفِضُ دَرَجَاتُ الحَرَارَةِ إِلَى …</a:t>
            </a:r>
            <a:endParaRPr lang="ar-SA" sz="1800" dirty="0"/>
          </a:p>
        </p:txBody>
      </p:sp>
      <p:sp>
        <p:nvSpPr>
          <p:cNvPr id="33" name="Shape 30"/>
          <p:cNvSpPr/>
          <p:nvPr/>
        </p:nvSpPr>
        <p:spPr>
          <a:xfrm>
            <a:off x="594360" y="3401568"/>
            <a:ext cx="5271516"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685800"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يُتَوَقَّعُ أَنْ …</a:t>
            </a:r>
            <a:endParaRPr lang="ar-SA" sz="1800" dirty="0"/>
          </a:p>
        </p:txBody>
      </p:sp>
      <p:sp>
        <p:nvSpPr>
          <p:cNvPr id="35" name="Shape 32"/>
          <p:cNvSpPr/>
          <p:nvPr/>
        </p:nvSpPr>
        <p:spPr>
          <a:xfrm>
            <a:off x="594360" y="3913632"/>
            <a:ext cx="5271516" cy="438912"/>
          </a:xfrm>
          <a:prstGeom prst="roundRect">
            <a:avLst>
              <a:gd name="adj" fmla="val 12500"/>
            </a:avLst>
          </a:prstGeom>
          <a:solidFill>
            <a:srgbClr val="FFF4DC"/>
          </a:solidFill>
          <a:ln w="9525">
            <a:solidFill>
              <a:srgbClr val="E6C98A"/>
            </a:solidFill>
            <a:prstDash val="solid"/>
          </a:ln>
        </p:spPr>
      </p:sp>
      <p:sp>
        <p:nvSpPr>
          <p:cNvPr id="36" name="Text 33"/>
          <p:cNvSpPr txBox="1"/>
          <p:nvPr/>
        </p:nvSpPr>
        <p:spPr>
          <a:xfrm>
            <a:off x="685800"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 أَحَرُّ / أَبْرَدُ مِنْ …</a:t>
            </a:r>
            <a:endParaRPr lang="ar-SA" sz="180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24</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D4-W01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2F6FB0"/>
                </a:solidFill>
                <a:latin typeface="Calibri" pitchFamily="34" charset="0"/>
                <a:cs typeface="Amiri" pitchFamily="2" charset="-78"/>
              </a:rPr>
              <a:t>PART 2 · STEP 3 · SAY THE MODEL DIALOGUE · BOTH LESSONS IN ONE CONVERSATION</a:t>
            </a:r>
            <a:endParaRPr lang="en-US" sz="93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Where shall we go?</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إِلَى أَيْنَ نَذْهَبُ؟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D4-W01 · Apply workshop (D4-L01 + D4-L02)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Jordan distinguished by?</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بِمَاذَا يَتَمَيَّزُ الأُرْدُنُّ؟</a:t>
            </a:r>
            <a:endParaRPr lang="ar-SA" sz="19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It is distinguished by a vast desert in the south and the Dead Sea in the west.</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يَتَمَيَّزُ بِصَحْرَاءَ وَاسِعَةٍ فِي الجَنُوبِ، وَبِالبَحْرِ المَيِّتِ فِي الغَرْبِ.</a:t>
            </a:r>
            <a:endParaRPr lang="ar-SA" sz="19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what is the climate like in spring?</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وَكَيْفَ المَنَاخُ فِي الرَّبِيعِ؟</a:t>
            </a:r>
            <a:endParaRPr lang="ar-SA" sz="19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mild climate prevails, but temperatures are expected to rise to thirty degrees in the desert.</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1550" b="1" dirty="0">
                <a:solidFill>
                  <a:srgbClr val="1B3B6F"/>
                </a:solidFill>
                <a:latin typeface="Amiri" pitchFamily="2" charset="-78"/>
                <a:ea typeface="Amiri" pitchFamily="2" charset="-78"/>
                <a:cs typeface="Amiri" pitchFamily="2" charset="-78"/>
              </a:rPr>
              <a:t>يَسُودُ مَنَاخٌ مُعْتَدِلٌ، وَلٰكِنْ يُتَوَقَّعُ أَنْ تَرْتَفِعَ دَرَجَاتُ الحَرَارَةِ فِي الصَّحْرَاءِ إِلَى ثَلَاثِينَ دَرَجَةً.</a:t>
            </a:r>
            <a:endParaRPr lang="ar-SA" sz="155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Is it hotter than Britain?</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هَلْ هُوَ أَحَرُّ مِنْ بِرِيطَانِيَا؟</a:t>
            </a:r>
            <a:endParaRPr lang="ar-SA" sz="19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Yes, much! And at night the temperature falls, so we must take warm clothes.</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نَعَمْ، بِكَثِيرٍ! وَفِي اللَّيْلِ تَنْخَفِضُ الحَرَارَةُ، لِذٰلِكَ يَجِبُ أَنْ نَأْخُذَ مَلَابِسَ دَافِئَةً.</a:t>
            </a:r>
            <a:endParaRPr lang="ar-SA" sz="180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Round 1: read it in pairs (A and B). Round 2: swap letters. Round 3: cover the Arabic and say it from the English. Then change TWO details — one from each lesson — and say it again.</a:t>
            </a:r>
            <a:endParaRPr lang="en-US" sz="11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24</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D4-W01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6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4 · QUESTION CARDS · QUESTIONS FROM BOTH LESSONS, MIXED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Mixed questions — answer, then add more</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مِنَ الدَّرْسَيْنِ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D4-W01 · Apply workshop (D4-L01 + D4-L02)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Partner A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2" name="Text 19"/>
          <p:cNvSpPr txBox="1"/>
          <p:nvPr/>
        </p:nvSpPr>
        <p:spPr>
          <a:xfrm>
            <a:off x="9738360" y="2267712"/>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فِي الشَّمَالِ / الجَنُوبِ …</a:t>
            </a:r>
            <a:endParaRPr lang="ar-SA" sz="1500" dirty="0"/>
          </a:p>
        </p:txBody>
      </p:sp>
      <p:sp>
        <p:nvSpPr>
          <p:cNvPr id="23" name="Text 20"/>
          <p:cNvSpPr txBox="1"/>
          <p:nvPr/>
        </p:nvSpPr>
        <p:spPr>
          <a:xfrm>
            <a:off x="6995160" y="2267712"/>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فِي بَلَدِي … وَ …</a:t>
            </a:r>
            <a:endParaRPr lang="ar-SA" sz="1600" dirty="0"/>
          </a:p>
        </p:txBody>
      </p:sp>
      <p:sp>
        <p:nvSpPr>
          <p:cNvPr id="24" name="Text 21"/>
          <p:cNvSpPr txBox="1"/>
          <p:nvPr/>
        </p:nvSpPr>
        <p:spPr>
          <a:xfrm>
            <a:off x="4636008" y="2267712"/>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nature like in your country?</a:t>
            </a:r>
            <a:endParaRPr lang="en-US" sz="1100" dirty="0"/>
          </a:p>
        </p:txBody>
      </p:sp>
      <p:sp>
        <p:nvSpPr>
          <p:cNvPr id="25" name="Text 22"/>
          <p:cNvSpPr txBox="1"/>
          <p:nvPr/>
        </p:nvSpPr>
        <p:spPr>
          <a:xfrm>
            <a:off x="1051560" y="2267712"/>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كَيْفَ الطَّبِيعَةُ فِي بَلَدِكَ؟</a:t>
            </a:r>
            <a:endParaRPr lang="ar-SA" sz="1700" dirty="0"/>
          </a:p>
        </p:txBody>
      </p:sp>
      <p:sp>
        <p:nvSpPr>
          <p:cNvPr id="26" name="Text 23"/>
          <p:cNvSpPr txBox="1"/>
          <p:nvPr/>
        </p:nvSpPr>
        <p:spPr>
          <a:xfrm>
            <a:off x="566928" y="226771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30" name="Text 27"/>
          <p:cNvSpPr txBox="1"/>
          <p:nvPr/>
        </p:nvSpPr>
        <p:spPr>
          <a:xfrm>
            <a:off x="9738360" y="2881884"/>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وَدَرَجَةُ الحَرَارَةِ …</a:t>
            </a:r>
            <a:endParaRPr lang="ar-SA" sz="1500" dirty="0"/>
          </a:p>
        </p:txBody>
      </p:sp>
      <p:sp>
        <p:nvSpPr>
          <p:cNvPr id="31" name="Text 28"/>
          <p:cNvSpPr txBox="1"/>
          <p:nvPr/>
        </p:nvSpPr>
        <p:spPr>
          <a:xfrm>
            <a:off x="6995160" y="2881884"/>
            <a:ext cx="2560320"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اليَوْمَ … ← تُشْرِقُ الشَّمْسُ / يَسْقُطُ المَطَرُ</a:t>
            </a:r>
            <a:endParaRPr lang="ar-SA" sz="1500" dirty="0"/>
          </a:p>
        </p:txBody>
      </p:sp>
      <p:sp>
        <p:nvSpPr>
          <p:cNvPr id="32" name="Text 29"/>
          <p:cNvSpPr txBox="1"/>
          <p:nvPr/>
        </p:nvSpPr>
        <p:spPr>
          <a:xfrm>
            <a:off x="4636008" y="2881884"/>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What’s the weather today?</a:t>
            </a:r>
            <a:endParaRPr lang="en-US" sz="1100" dirty="0"/>
          </a:p>
        </p:txBody>
      </p:sp>
      <p:sp>
        <p:nvSpPr>
          <p:cNvPr id="33" name="Text 30"/>
          <p:cNvSpPr txBox="1"/>
          <p:nvPr/>
        </p:nvSpPr>
        <p:spPr>
          <a:xfrm>
            <a:off x="1051560" y="2881884"/>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كَيْفَ الطَّقْسُ اليَوْمَ؟</a:t>
            </a:r>
            <a:endParaRPr lang="ar-SA" sz="1700" dirty="0"/>
          </a:p>
        </p:txBody>
      </p:sp>
      <p:sp>
        <p:nvSpPr>
          <p:cNvPr id="34" name="Text 31"/>
          <p:cNvSpPr txBox="1"/>
          <p:nvPr/>
        </p:nvSpPr>
        <p:spPr>
          <a:xfrm>
            <a:off x="566928" y="2881884"/>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8" name="Text 35"/>
          <p:cNvSpPr txBox="1"/>
          <p:nvPr/>
        </p:nvSpPr>
        <p:spPr>
          <a:xfrm>
            <a:off x="9738360" y="3496056"/>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رَطْبٌ / جَافٌّ</a:t>
            </a:r>
            <a:endParaRPr lang="ar-SA" sz="1500" dirty="0"/>
          </a:p>
        </p:txBody>
      </p:sp>
      <p:sp>
        <p:nvSpPr>
          <p:cNvPr id="39" name="Text 36"/>
          <p:cNvSpPr txBox="1"/>
          <p:nvPr/>
        </p:nvSpPr>
        <p:spPr>
          <a:xfrm>
            <a:off x="6995160" y="3496056"/>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فِي الصَّيْفِ … بَيْنَمَا فِي الشِّتَاءِ …</a:t>
            </a:r>
            <a:endParaRPr lang="ar-SA" sz="1600" dirty="0"/>
          </a:p>
        </p:txBody>
      </p:sp>
      <p:sp>
        <p:nvSpPr>
          <p:cNvPr id="40" name="Text 37"/>
          <p:cNvSpPr txBox="1"/>
          <p:nvPr/>
        </p:nvSpPr>
        <p:spPr>
          <a:xfrm>
            <a:off x="4636008" y="3496056"/>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the climate like in summer and winter?</a:t>
            </a:r>
            <a:endParaRPr lang="en-US" sz="1100" dirty="0"/>
          </a:p>
        </p:txBody>
      </p:sp>
      <p:sp>
        <p:nvSpPr>
          <p:cNvPr id="41" name="Text 38"/>
          <p:cNvSpPr txBox="1"/>
          <p:nvPr/>
        </p:nvSpPr>
        <p:spPr>
          <a:xfrm>
            <a:off x="1051560" y="3496056"/>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كَيْفَ المَنَاخُ فِي الصَّيْفِ وَالشِّتَاءِ؟</a:t>
            </a:r>
            <a:endParaRPr lang="ar-SA" sz="1700" dirty="0"/>
          </a:p>
        </p:txBody>
      </p:sp>
      <p:sp>
        <p:nvSpPr>
          <p:cNvPr id="42" name="Text 39"/>
          <p:cNvSpPr txBox="1"/>
          <p:nvPr/>
        </p:nvSpPr>
        <p:spPr>
          <a:xfrm>
            <a:off x="566928" y="3496056"/>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6" name="Text 43"/>
          <p:cNvSpPr txBox="1"/>
          <p:nvPr/>
        </p:nvSpPr>
        <p:spPr>
          <a:xfrm>
            <a:off x="9738360" y="4110228"/>
            <a:ext cx="1901952" cy="559308"/>
          </a:xfrm>
          <a:prstGeom prst="rect">
            <a:avLst/>
          </a:prstGeom>
          <a:noFill/>
          <a:ln/>
        </p:spPr>
        <p:txBody>
          <a:bodyPr wrap="square" lIns="0" tIns="0" rIns="0" bIns="0" rtlCol="0" anchor="ctr"/>
          <a:lstStyle/>
          <a:p>
            <a:pPr rtl="1" algn="ctr" indent="0" marL="0">
              <a:lnSpc>
                <a:spcPct val="120000"/>
              </a:lnSpc>
              <a:buNone/>
            </a:pPr>
            <a:r>
              <a:rPr lang="ar-SA" altLang="en-US" sz="1250" b="1" dirty="0">
                <a:solidFill>
                  <a:srgbClr val="1B3B6F"/>
                </a:solidFill>
                <a:latin typeface="Amiri" pitchFamily="2" charset="-78"/>
                <a:ea typeface="Amiri" pitchFamily="2" charset="-78"/>
                <a:cs typeface="Amiri" pitchFamily="2" charset="-78"/>
              </a:rPr>
              <a:t>… لِذٰلِكَ سَنَبْقَى فِي البَيْتِ / سَنَخْرُجُ</a:t>
            </a:r>
            <a:endParaRPr lang="ar-SA" sz="1250" dirty="0"/>
          </a:p>
        </p:txBody>
      </p:sp>
      <p:sp>
        <p:nvSpPr>
          <p:cNvPr id="47" name="Text 44"/>
          <p:cNvSpPr txBox="1"/>
          <p:nvPr/>
        </p:nvSpPr>
        <p:spPr>
          <a:xfrm>
            <a:off x="6995160" y="4110228"/>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يُتَوَقَّعُ أَنْ …</a:t>
            </a:r>
            <a:endParaRPr lang="ar-SA" sz="1600" dirty="0"/>
          </a:p>
        </p:txBody>
      </p:sp>
      <p:sp>
        <p:nvSpPr>
          <p:cNvPr id="48" name="Text 45"/>
          <p:cNvSpPr txBox="1"/>
          <p:nvPr/>
        </p:nvSpPr>
        <p:spPr>
          <a:xfrm>
            <a:off x="4636008" y="4110228"/>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the expected weather at the weekend?</a:t>
            </a:r>
            <a:endParaRPr lang="en-US" sz="1100" dirty="0"/>
          </a:p>
        </p:txBody>
      </p:sp>
      <p:sp>
        <p:nvSpPr>
          <p:cNvPr id="49" name="Text 46"/>
          <p:cNvSpPr txBox="1"/>
          <p:nvPr/>
        </p:nvSpPr>
        <p:spPr>
          <a:xfrm>
            <a:off x="1051560" y="4110228"/>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الطَّقْسُ المُتَوَقَّعُ فِي نِهَايَةِ الأُسْبُوعِ؟</a:t>
            </a:r>
            <a:endParaRPr lang="ar-SA" sz="1700" dirty="0"/>
          </a:p>
        </p:txBody>
      </p:sp>
      <p:sp>
        <p:nvSpPr>
          <p:cNvPr id="50" name="Text 47"/>
          <p:cNvSpPr txBox="1"/>
          <p:nvPr/>
        </p:nvSpPr>
        <p:spPr>
          <a:xfrm>
            <a:off x="566928" y="4110228"/>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52" name="Text 49"/>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3" name="Shape 50"/>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54" name="Text 51"/>
          <p:cNvSpPr txBox="1"/>
          <p:nvPr/>
        </p:nvSpPr>
        <p:spPr>
          <a:xfrm>
            <a:off x="9738360" y="4724400"/>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الهَوَاءَ نَقِيٌّ …</a:t>
            </a:r>
            <a:endParaRPr lang="ar-SA" sz="1500" dirty="0"/>
          </a:p>
        </p:txBody>
      </p:sp>
      <p:sp>
        <p:nvSpPr>
          <p:cNvPr id="55" name="Text 52"/>
          <p:cNvSpPr txBox="1"/>
          <p:nvPr/>
        </p:nvSpPr>
        <p:spPr>
          <a:xfrm>
            <a:off x="6995160" y="4724400"/>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أُفَضِّلُ … لِأَنَّ …</a:t>
            </a:r>
            <a:endParaRPr lang="ar-SA" sz="1600" dirty="0"/>
          </a:p>
        </p:txBody>
      </p:sp>
      <p:sp>
        <p:nvSpPr>
          <p:cNvPr id="56" name="Text 53"/>
          <p:cNvSpPr txBox="1"/>
          <p:nvPr/>
        </p:nvSpPr>
        <p:spPr>
          <a:xfrm>
            <a:off x="4636008" y="4724400"/>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Mountains or the sea?</a:t>
            </a:r>
            <a:endParaRPr lang="en-US" sz="1100" dirty="0"/>
          </a:p>
        </p:txBody>
      </p:sp>
      <p:sp>
        <p:nvSpPr>
          <p:cNvPr id="57" name="Text 54"/>
          <p:cNvSpPr txBox="1"/>
          <p:nvPr/>
        </p:nvSpPr>
        <p:spPr>
          <a:xfrm>
            <a:off x="1051560" y="4724400"/>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تُفَضِّلُ الجِبَالَ أَمِ البَحْرَ؟</a:t>
            </a:r>
            <a:endParaRPr lang="ar-SA" sz="1700" dirty="0"/>
          </a:p>
        </p:txBody>
      </p:sp>
      <p:sp>
        <p:nvSpPr>
          <p:cNvPr id="58" name="Text 55"/>
          <p:cNvSpPr txBox="1"/>
          <p:nvPr/>
        </p:nvSpPr>
        <p:spPr>
          <a:xfrm>
            <a:off x="566928" y="4724400"/>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9" name="Shape 5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60" name="Text 57"/>
          <p:cNvSpPr txBox="1"/>
          <p:nvPr/>
        </p:nvSpPr>
        <p:spPr>
          <a:xfrm>
            <a:off x="9738360" y="5338572"/>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خُصُوصًا فِي …</a:t>
            </a:r>
            <a:endParaRPr lang="ar-SA" sz="1500" dirty="0"/>
          </a:p>
        </p:txBody>
      </p:sp>
      <p:sp>
        <p:nvSpPr>
          <p:cNvPr id="61" name="Text 58"/>
          <p:cNvSpPr txBox="1"/>
          <p:nvPr/>
        </p:nvSpPr>
        <p:spPr>
          <a:xfrm>
            <a:off x="6995160" y="5338572"/>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 أَبْرَدُ مِنْ …</a:t>
            </a:r>
            <a:endParaRPr lang="ar-SA" sz="1600" dirty="0"/>
          </a:p>
        </p:txBody>
      </p:sp>
      <p:sp>
        <p:nvSpPr>
          <p:cNvPr id="62" name="Text 59"/>
          <p:cNvSpPr txBox="1"/>
          <p:nvPr/>
        </p:nvSpPr>
        <p:spPr>
          <a:xfrm>
            <a:off x="4636008" y="5338572"/>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Which is colder: your country or your family’s?</a:t>
            </a:r>
            <a:endParaRPr lang="en-US" sz="1100" dirty="0"/>
          </a:p>
        </p:txBody>
      </p:sp>
      <p:sp>
        <p:nvSpPr>
          <p:cNvPr id="63" name="Text 60"/>
          <p:cNvSpPr txBox="1"/>
          <p:nvPr/>
        </p:nvSpPr>
        <p:spPr>
          <a:xfrm>
            <a:off x="1051560" y="5338572"/>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أَيُّهُمَا أَبْرَدُ: بَلَدُكَ أَمْ بَلَدُ عَائِلَتِكَ؟</a:t>
            </a:r>
            <a:endParaRPr lang="ar-SA" sz="1700" dirty="0"/>
          </a:p>
        </p:txBody>
      </p:sp>
      <p:sp>
        <p:nvSpPr>
          <p:cNvPr id="64" name="Text 61"/>
          <p:cNvSpPr txBox="1"/>
          <p:nvPr/>
        </p:nvSpPr>
        <p:spPr>
          <a:xfrm>
            <a:off x="566928" y="533857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65" name="Text 6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Odd numbers come from D4-L01, even numbers from D4-L02. Core: a full sentence from the starter. Develop: add the “more” part. Stretch: link two answers with ‏</a:t>
            </a:r>
            <a:pPr algn="l" indent="0" marL="0">
              <a:buNone/>
            </a:pPr>
            <a:r>
              <a:rPr lang="ar-SA" altLang="en-US" sz="1450" b="1" dirty="0">
                <a:solidFill>
                  <a:srgbClr val="1B3B6F"/>
                </a:solidFill>
                <a:latin typeface="Amiri" pitchFamily="2" charset="-78"/>
                <a:ea typeface="Amiri" pitchFamily="2" charset="-78"/>
                <a:cs typeface="Amiri" pitchFamily="2" charset="-78"/>
              </a:rPr>
              <a:t>وَ</a:t>
            </a:r>
            <a:pPr algn="l" indent="0" marL="0">
              <a:buNone/>
            </a:pPr>
            <a:r>
              <a:rPr lang="en-US" sz="1100" b="1" dirty="0">
                <a:solidFill>
                  <a:srgbClr val="1B3B6F"/>
                </a:solidFill>
                <a:latin typeface="Calibri" pitchFamily="34" charset="0"/>
                <a:cs typeface="Amiri" pitchFamily="2" charset="-78"/>
              </a:rPr>
              <a:t>‏,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t>
            </a:r>
            <a:pPr algn="l" indent="0" marL="0">
              <a:buNone/>
            </a:pPr>
            <a:r>
              <a:rPr lang="ar-SA" altLang="en-US" sz="1450" b="1" dirty="0">
                <a:solidFill>
                  <a:srgbClr val="1B3B6F"/>
                </a:solidFill>
                <a:latin typeface="Amiri" pitchFamily="2" charset="-78"/>
                <a:ea typeface="Amiri" pitchFamily="2" charset="-78"/>
                <a:cs typeface="Amiri" pitchFamily="2" charset="-78"/>
              </a:rPr>
              <a:t>لٰكِنَّ</a:t>
            </a:r>
            <a:pPr algn="l" indent="0" marL="0">
              <a:buNone/>
            </a:pPr>
            <a:r>
              <a:rPr lang="en-US" sz="1100" b="1" dirty="0">
                <a:solidFill>
                  <a:srgbClr val="1B3B6F"/>
                </a:solidFill>
                <a:latin typeface="Calibri" pitchFamily="34" charset="0"/>
                <a:cs typeface="Amiri" pitchFamily="2" charset="-78"/>
              </a:rPr>
              <a:t>‏. Swap after each question.</a:t>
            </a:r>
            <a:endParaRPr lang="en-US" sz="1100" dirty="0"/>
          </a:p>
        </p:txBody>
      </p:sp>
      <p:sp>
        <p:nvSpPr>
          <p:cNvPr id="66" name="Text 6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24</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D4-W01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1E6B52"/>
                </a:solidFill>
                <a:latin typeface="Calibri" pitchFamily="34" charset="0"/>
                <a:cs typeface="Amiri" pitchFamily="2" charset="-78"/>
              </a:rPr>
              <a:t>STEP 5 · ROLE-PLAY CARD · PLANS FOR TASKS 1–2 ARE GIVEN — PLAN 3–5 YOURSELF</a:t>
            </a:r>
            <a:endParaRPr lang="en-US" sz="93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Role-play card — the trip planning meeting</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اجْتِمَاعُ التَّخْطِيطِ</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D4-W01 · Apply workshop (D4-L01 + D4-L02)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Partner A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275320" y="2267712"/>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صِفْ ← يَتَمَيَّزُ بِ… فِي الجَنُوبِ · جِبَالٌ …</a:t>
            </a:r>
            <a:endParaRPr lang="ar-SA" sz="1600" dirty="0"/>
          </a:p>
        </p:txBody>
      </p:sp>
      <p:sp>
        <p:nvSpPr>
          <p:cNvPr id="22" name="Text 19"/>
          <p:cNvSpPr txBox="1"/>
          <p:nvPr/>
        </p:nvSpPr>
        <p:spPr>
          <a:xfrm>
            <a:off x="5001768" y="2267712"/>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Two natural features with agreeing adjectives and a place.</a:t>
            </a:r>
            <a:endParaRPr lang="en-US" sz="1100" dirty="0"/>
          </a:p>
        </p:txBody>
      </p:sp>
      <p:sp>
        <p:nvSpPr>
          <p:cNvPr id="23" name="Text 20"/>
          <p:cNvSpPr txBox="1"/>
          <p:nvPr/>
        </p:nvSpPr>
        <p:spPr>
          <a:xfrm>
            <a:off x="1051560" y="2267712"/>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صِفْ طَبِيعَةَ الأُرْدُنِّ.</a:t>
            </a:r>
            <a:endParaRPr lang="ar-SA" sz="1700" dirty="0"/>
          </a:p>
        </p:txBody>
      </p:sp>
      <p:sp>
        <p:nvSpPr>
          <p:cNvPr id="24" name="Text 21"/>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275320" y="3004718"/>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 يَسُودُ مَنَاخٌ … فِي …</a:t>
            </a:r>
            <a:endParaRPr lang="ar-SA" sz="1600" dirty="0"/>
          </a:p>
        </p:txBody>
      </p:sp>
      <p:sp>
        <p:nvSpPr>
          <p:cNvPr id="29" name="Text 26"/>
          <p:cNvSpPr txBox="1"/>
          <p:nvPr/>
        </p:nvSpPr>
        <p:spPr>
          <a:xfrm>
            <a:off x="5001768" y="3004718"/>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Climate with ‏</a:t>
            </a:r>
            <a:pPr algn="l" indent="0" marL="0">
              <a:buNone/>
            </a:pPr>
            <a:r>
              <a:rPr lang="ar-SA" altLang="en-US" sz="1450" dirty="0">
                <a:solidFill>
                  <a:srgbClr val="5A6472"/>
                </a:solidFill>
                <a:latin typeface="Amiri" pitchFamily="2" charset="-78"/>
                <a:ea typeface="Amiri" pitchFamily="2" charset="-78"/>
                <a:cs typeface="Amiri" pitchFamily="2" charset="-78"/>
              </a:rPr>
              <a:t>يَسُودُ</a:t>
            </a:r>
            <a:pPr algn="l" indent="0" marL="0">
              <a:buNone/>
            </a:pPr>
            <a:r>
              <a:rPr lang="en-US" sz="1100" dirty="0">
                <a:solidFill>
                  <a:srgbClr val="5A6472"/>
                </a:solidFill>
                <a:latin typeface="Calibri" pitchFamily="34" charset="0"/>
                <a:cs typeface="Amiri" pitchFamily="2" charset="-78"/>
              </a:rPr>
              <a:t>‏ and a season.</a:t>
            </a:r>
            <a:endParaRPr lang="en-US" sz="1100" dirty="0"/>
          </a:p>
        </p:txBody>
      </p:sp>
      <p:sp>
        <p:nvSpPr>
          <p:cNvPr id="30" name="Text 27"/>
          <p:cNvSpPr txBox="1"/>
          <p:nvPr/>
        </p:nvSpPr>
        <p:spPr>
          <a:xfrm>
            <a:off x="1051560" y="3004718"/>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المَنَاخُ الَّذِي يَسُودُ هُنَاكَ؟</a:t>
            </a:r>
            <a:endParaRPr lang="ar-SA" sz="1700" dirty="0"/>
          </a:p>
        </p:txBody>
      </p:sp>
      <p:sp>
        <p:nvSpPr>
          <p:cNvPr id="31" name="Text 28"/>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293608" y="3741725"/>
            <a:ext cx="33649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5001768" y="3741725"/>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forecast with ‏</a:t>
            </a:r>
            <a:pPr algn="l" indent="0" marL="0">
              <a:buNone/>
            </a:pPr>
            <a:r>
              <a:rPr lang="ar-SA" altLang="en-US" sz="1450" dirty="0">
                <a:solidFill>
                  <a:srgbClr val="5A6472"/>
                </a:solidFill>
                <a:latin typeface="Amiri" pitchFamily="2" charset="-78"/>
                <a:ea typeface="Amiri" pitchFamily="2" charset="-78"/>
                <a:cs typeface="Amiri" pitchFamily="2" charset="-78"/>
              </a:rPr>
              <a:t>يُتَوَقَّعُ أَنْ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37" name="Text 34"/>
          <p:cNvSpPr txBox="1"/>
          <p:nvPr/>
        </p:nvSpPr>
        <p:spPr>
          <a:xfrm>
            <a:off x="1051560" y="3741725"/>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الطَّقْسُ المُتَوَقَّعُ فِي أُسْبُوعِ الرِّحْلَةِ؟</a:t>
            </a:r>
            <a:endParaRPr lang="ar-SA" sz="1700" dirty="0"/>
          </a:p>
        </p:txBody>
      </p:sp>
      <p:sp>
        <p:nvSpPr>
          <p:cNvPr id="38" name="Text 35"/>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293608" y="4478731"/>
            <a:ext cx="33649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1" name="Text 38"/>
          <p:cNvSpPr txBox="1"/>
          <p:nvPr/>
        </p:nvSpPr>
        <p:spPr>
          <a:xfrm>
            <a:off x="5001768" y="4478731"/>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Two comparatives.</a:t>
            </a:r>
            <a:endParaRPr lang="en-US" sz="1100" dirty="0"/>
          </a:p>
        </p:txBody>
      </p:sp>
      <p:sp>
        <p:nvSpPr>
          <p:cNvPr id="42" name="Text 39"/>
          <p:cNvSpPr txBox="1"/>
          <p:nvPr/>
        </p:nvSpPr>
        <p:spPr>
          <a:xfrm>
            <a:off x="1051560" y="4478731"/>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قَارِنْ طَقْسَ الأُرْدُنِّ بِطَقْسِ بِرِيطَانِيَا.</a:t>
            </a:r>
            <a:endParaRPr lang="ar-SA" sz="1700" dirty="0"/>
          </a:p>
        </p:txBody>
      </p:sp>
      <p:sp>
        <p:nvSpPr>
          <p:cNvPr id="43" name="Text 40"/>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293608" y="5215738"/>
            <a:ext cx="33649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6" name="Text 43"/>
          <p:cNvSpPr txBox="1"/>
          <p:nvPr/>
        </p:nvSpPr>
        <p:spPr>
          <a:xfrm>
            <a:off x="5001768" y="5215738"/>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Packing advice linked to the weather.</a:t>
            </a:r>
            <a:endParaRPr lang="en-US" sz="1100" dirty="0"/>
          </a:p>
        </p:txBody>
      </p:sp>
      <p:sp>
        <p:nvSpPr>
          <p:cNvPr id="47" name="Text 44"/>
          <p:cNvSpPr txBox="1"/>
          <p:nvPr/>
        </p:nvSpPr>
        <p:spPr>
          <a:xfrm>
            <a:off x="1051560" y="5215738"/>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يَجِبُ أَنْ يَأْخُذَ الطُّلَّابُ مَعَهُمْ؟ لِمَاذَا؟</a:t>
            </a:r>
            <a:endParaRPr lang="ar-SA" sz="1700" dirty="0"/>
          </a:p>
        </p:txBody>
      </p:sp>
      <p:sp>
        <p:nvSpPr>
          <p:cNvPr id="48" name="Text 45"/>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 !</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Speaker = the student trip planner · Partner A = the head of geography. Write the plan for tasks 3–5 in your book first. Task ! is a surprise — Partner A reads it without warning. Then swap roles.</a:t>
            </a:r>
            <a:endParaRPr lang="en-US" sz="110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24</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D4-W01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6 · SHORT TALK · ONE MINUTE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Jordan in one minute: nature and weather</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الأُرْدُنُّ فِي دَقِيقَةٍ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D4-W01 · Apply workshop (D4-L01 + D4-L02)</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6 · PAIRS</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Talk for one minute — use both lessons</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Present Jordan (or another country you know) to the trip group for one minute: three natural features and where they are, the climate in two seasons, the forecast for the trip week, a comparison with Britain, and what to pack.</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2 key words from EACH lesson,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partner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Partner: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 then the teacher invites two volunteers.</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rtl="1" algn="r" indent="0" marL="0">
              <a:buNone/>
            </a:pPr>
            <a:r>
              <a:rPr lang="ar-SA" altLang="en-US" sz="1450" dirty="0">
                <a:solidFill>
                  <a:srgbClr val="1F2A37"/>
                </a:solidFill>
                <a:latin typeface="Amiri" pitchFamily="2" charset="-78"/>
                <a:ea typeface="Amiri" pitchFamily="2" charset="-78"/>
                <a:cs typeface="Amiri" pitchFamily="2" charset="-78"/>
              </a:rPr>
              <a:t>يَتَمَيَّزُ بِ… · الطَّقْسُ … · أَحَرُّ مِنْ …</a:t>
            </a:r>
            <a:endParaRPr lang="ar-SA" sz="14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t>
            </a:r>
            <a:pPr algn="l" indent="0" marL="0">
              <a:buNone/>
            </a:pPr>
            <a:r>
              <a:rPr lang="ar-SA" altLang="en-US" sz="1500" dirty="0">
                <a:solidFill>
                  <a:srgbClr val="1F2A37"/>
                </a:solidFill>
                <a:latin typeface="Amiri" pitchFamily="2" charset="-78"/>
                <a:ea typeface="Amiri" pitchFamily="2" charset="-78"/>
                <a:cs typeface="Amiri" pitchFamily="2" charset="-78"/>
              </a:rPr>
              <a:t>يَسُودُ مَنَاخٌ</a:t>
            </a:r>
            <a:pPr algn="l" indent="0" marL="0">
              <a:buNone/>
            </a:pPr>
            <a:r>
              <a:rPr lang="en-US" sz="1150" dirty="0">
                <a:solidFill>
                  <a:srgbClr val="1F2A37"/>
                </a:solidFill>
                <a:latin typeface="Calibri" pitchFamily="34" charset="0"/>
                <a:cs typeface="Amiri" pitchFamily="2" charset="-78"/>
              </a:rPr>
              <a:t> …‏ and temperatures that rise or fall.</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t>
            </a:r>
            <a:pPr algn="l" indent="0" marL="0">
              <a:buNone/>
            </a:pPr>
            <a:r>
              <a:rPr lang="ar-SA" altLang="en-US" sz="1500" dirty="0">
                <a:solidFill>
                  <a:srgbClr val="1F2A37"/>
                </a:solidFill>
                <a:latin typeface="Amiri" pitchFamily="2" charset="-78"/>
                <a:ea typeface="Amiri" pitchFamily="2" charset="-78"/>
                <a:cs typeface="Amiri" pitchFamily="2" charset="-78"/>
              </a:rPr>
              <a:t>يُتَوَقَّعُ أَنْ</a:t>
            </a:r>
            <a:pPr algn="l" indent="0" marL="0">
              <a:buNone/>
            </a:pPr>
            <a:r>
              <a:rPr lang="en-US" sz="1150" dirty="0">
                <a:solidFill>
                  <a:srgbClr val="1F2A37"/>
                </a:solidFill>
                <a:latin typeface="Calibri" pitchFamily="34" charset="0"/>
                <a:cs typeface="Amiri" pitchFamily="2" charset="-78"/>
              </a:rPr>
              <a:t>‏ + -a, ‏</a:t>
            </a:r>
            <a:pPr algn="l" indent="0" marL="0">
              <a:buNone/>
            </a:pPr>
            <a:r>
              <a:rPr lang="ar-SA" altLang="en-US" sz="1500" dirty="0">
                <a:solidFill>
                  <a:srgbClr val="1F2A37"/>
                </a:solidFill>
                <a:latin typeface="Amiri" pitchFamily="2" charset="-78"/>
                <a:ea typeface="Amiri" pitchFamily="2" charset="-78"/>
                <a:cs typeface="Amiri" pitchFamily="2" charset="-78"/>
              </a:rPr>
              <a:t>يَتَّسِمُ بِ</a:t>
            </a:r>
            <a:pPr algn="l" indent="0" marL="0">
              <a:buNone/>
            </a:pPr>
            <a:r>
              <a:rPr lang="en-US" sz="1150" dirty="0">
                <a:solidFill>
                  <a:srgbClr val="1F2A37"/>
                </a:solidFill>
                <a:latin typeface="Calibri" pitchFamily="34" charset="0"/>
                <a:cs typeface="Amiri" pitchFamily="2" charset="-78"/>
              </a:rPr>
              <a:t>…‏ and advice with a reason.</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أَوَّلًا … ثُمَّ …</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first … then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لِأَنَّ … · لِذٰلِكَ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because … · so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رَأْيِي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in my opinion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الخِتَامِ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to finish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24</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D4-W01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3 · STEP 7 · SENTENCE BUILDER · FROM BOTH LESSONS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D4-W01 · Apply workshop (D4-L01 + D4-L02)</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Egypt is distinguished by a long river.</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تَتَمَيَّزُ مِصْرُ</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يَتَمَيَّزُ مِصْرُ</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بِنَهْرٍ</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بِنَهْرٌ</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طَوِيلٍ.</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طَوِيلَةٍ.</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Strong winds blow in the north.</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تَهُبُّ</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يَهُبُّ</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رِيَاحٌ قَوِيَّةٌ</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رِيَاحًا قَوِيَّةً</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الشَّمَالِ.</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الشَّمَالُ.</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A dry climate prevails in the south.</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يَسُودُ</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تَسُودُ</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مَنَاخٌ جَافٌّ</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مَنَاخًا جَافًّا</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الجَنُوبِ.</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الجَنُوبُ.</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D4-W01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D4-W01 · Apply workshop (D4-L01 + D4-L02)</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Egypt is distinguished by a long river.</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Most countries are feminine (</a:t>
            </a:r>
            <a:pPr algn="l" indent="0" marL="0">
              <a:buNone/>
            </a:pPr>
            <a:r>
              <a:rPr lang="ar-SA" altLang="en-US" sz="1250" dirty="0">
                <a:solidFill>
                  <a:srgbClr val="5A6472"/>
                </a:solidFill>
                <a:latin typeface="Amiri" pitchFamily="2" charset="-78"/>
                <a:ea typeface="Amiri" pitchFamily="2" charset="-78"/>
                <a:cs typeface="Amiri" pitchFamily="2" charset="-78"/>
              </a:rPr>
              <a:t>مِصْرُ</a:t>
            </a:r>
            <a:pPr algn="l" indent="0" marL="0">
              <a:buNone/>
            </a:pPr>
            <a:r>
              <a:rPr lang="en-US" sz="950" i="1" dirty="0">
                <a:solidFill>
                  <a:srgbClr val="5A6472"/>
                </a:solidFill>
                <a:latin typeface="Calibri" pitchFamily="34" charset="0"/>
                <a:cs typeface="Amiri" pitchFamily="2" charset="-78"/>
              </a:rPr>
              <a:t>) → </a:t>
            </a:r>
            <a:pPr algn="l" indent="0" marL="0">
              <a:buNone/>
            </a:pPr>
            <a:r>
              <a:rPr lang="ar-SA" altLang="en-US" sz="1250" dirty="0">
                <a:solidFill>
                  <a:srgbClr val="5A6472"/>
                </a:solidFill>
                <a:latin typeface="Amiri" pitchFamily="2" charset="-78"/>
                <a:ea typeface="Amiri" pitchFamily="2" charset="-78"/>
                <a:cs typeface="Amiri" pitchFamily="2" charset="-78"/>
              </a:rPr>
              <a:t>تَتَمَيَّزُ</a:t>
            </a:r>
            <a:pPr algn="l" indent="0" marL="0">
              <a:buNone/>
            </a:pPr>
            <a:r>
              <a:rPr lang="en-US" sz="950" i="1" dirty="0">
                <a:solidFill>
                  <a:srgbClr val="5A6472"/>
                </a:solidFill>
                <a:latin typeface="Calibri" pitchFamily="34" charset="0"/>
                <a:cs typeface="Amiri" pitchFamily="2" charset="-78"/>
              </a:rPr>
              <a:t>; but </a:t>
            </a:r>
            <a:pPr algn="l" indent="0" marL="0">
              <a:buNone/>
            </a:pPr>
            <a:r>
              <a:rPr lang="ar-SA" altLang="en-US" sz="1250" dirty="0">
                <a:solidFill>
                  <a:srgbClr val="5A6472"/>
                </a:solidFill>
                <a:latin typeface="Amiri" pitchFamily="2" charset="-78"/>
                <a:ea typeface="Amiri" pitchFamily="2" charset="-78"/>
                <a:cs typeface="Amiri" pitchFamily="2" charset="-78"/>
              </a:rPr>
              <a:t>المَغْرِبُ</a:t>
            </a:r>
            <a:pPr algn="l" indent="0" marL="0">
              <a:buNone/>
            </a:pPr>
            <a:r>
              <a:rPr lang="en-US" sz="950" i="1" dirty="0">
                <a:solidFill>
                  <a:srgbClr val="5A6472"/>
                </a:solidFill>
                <a:latin typeface="Calibri" pitchFamily="34" charset="0"/>
                <a:cs typeface="Amiri" pitchFamily="2" charset="-78"/>
              </a:rPr>
              <a:t>, </a:t>
            </a:r>
            <a:pPr algn="l" indent="0" marL="0">
              <a:buNone/>
            </a:pPr>
            <a:r>
              <a:rPr lang="ar-SA" altLang="en-US" sz="1250" dirty="0">
                <a:solidFill>
                  <a:srgbClr val="5A6472"/>
                </a:solidFill>
                <a:latin typeface="Amiri" pitchFamily="2" charset="-78"/>
                <a:ea typeface="Amiri" pitchFamily="2" charset="-78"/>
                <a:cs typeface="Amiri" pitchFamily="2" charset="-78"/>
              </a:rPr>
              <a:t>العِرَاقُ</a:t>
            </a:r>
            <a:pPr algn="l" indent="0" marL="0">
              <a:buNone/>
            </a:pPr>
            <a:r>
              <a:rPr lang="en-US" sz="950" i="1" dirty="0">
                <a:solidFill>
                  <a:srgbClr val="5A6472"/>
                </a:solidFill>
                <a:latin typeface="Calibri" pitchFamily="34" charset="0"/>
                <a:cs typeface="Amiri" pitchFamily="2" charset="-78"/>
              </a:rPr>
              <a:t>, </a:t>
            </a:r>
            <a:pPr algn="l" indent="0" marL="0">
              <a:buNone/>
            </a:pPr>
            <a:r>
              <a:rPr lang="ar-SA" altLang="en-US" sz="1250" dirty="0">
                <a:solidFill>
                  <a:srgbClr val="5A6472"/>
                </a:solidFill>
                <a:latin typeface="Amiri" pitchFamily="2" charset="-78"/>
                <a:ea typeface="Amiri" pitchFamily="2" charset="-78"/>
                <a:cs typeface="Amiri" pitchFamily="2" charset="-78"/>
              </a:rPr>
              <a:t>الأُرْدُنُّ</a:t>
            </a:r>
            <a:pPr algn="l" indent="0" marL="0">
              <a:buNone/>
            </a:pPr>
            <a:r>
              <a:rPr lang="en-US" sz="950" i="1" dirty="0">
                <a:solidFill>
                  <a:srgbClr val="5A6472"/>
                </a:solidFill>
                <a:latin typeface="Calibri" pitchFamily="34" charset="0"/>
                <a:cs typeface="Amiri" pitchFamily="2" charset="-78"/>
              </a:rPr>
              <a:t> are masculine. </a:t>
            </a:r>
            <a:pPr algn="l" indent="0" marL="0">
              <a:buNone/>
            </a:pPr>
            <a:r>
              <a:rPr lang="ar-SA" altLang="en-US" sz="1250" dirty="0">
                <a:solidFill>
                  <a:srgbClr val="5A6472"/>
                </a:solidFill>
                <a:latin typeface="Amiri" pitchFamily="2" charset="-78"/>
                <a:ea typeface="Amiri" pitchFamily="2" charset="-78"/>
                <a:cs typeface="Amiri" pitchFamily="2" charset="-78"/>
              </a:rPr>
              <a:t>بِ</a:t>
            </a:r>
            <a:pPr algn="l" indent="0" marL="0">
              <a:buNone/>
            </a:pPr>
            <a:r>
              <a:rPr lang="en-US" sz="950" i="1" dirty="0">
                <a:solidFill>
                  <a:srgbClr val="5A6472"/>
                </a:solidFill>
                <a:latin typeface="Calibri" pitchFamily="34" charset="0"/>
                <a:cs typeface="Amiri" pitchFamily="2" charset="-78"/>
              </a:rPr>
              <a:t> + genitive.</a:t>
            </a:r>
            <a:endParaRPr lang="en-US" sz="9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تَتَمَيَّزُ مِصْرُ بِنَهْرٍ طَوِيلٍ.</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Strong winds blow in the north.</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رِيَاحٌ</a:t>
            </a:r>
            <a:pPr algn="l" indent="0" marL="0">
              <a:buNone/>
            </a:pPr>
            <a:r>
              <a:rPr lang="en-US" sz="1050" i="1" dirty="0">
                <a:solidFill>
                  <a:srgbClr val="5A6472"/>
                </a:solidFill>
                <a:latin typeface="Calibri" pitchFamily="34" charset="0"/>
                <a:cs typeface="Amiri" pitchFamily="2" charset="-78"/>
              </a:rPr>
              <a:t> (f.) is the subject → </a:t>
            </a:r>
            <a:pPr algn="l" indent="0" marL="0">
              <a:buNone/>
            </a:pPr>
            <a:r>
              <a:rPr lang="ar-SA" altLang="en-US" sz="1350" dirty="0">
                <a:solidFill>
                  <a:srgbClr val="5A6472"/>
                </a:solidFill>
                <a:latin typeface="Amiri" pitchFamily="2" charset="-78"/>
                <a:ea typeface="Amiri" pitchFamily="2" charset="-78"/>
                <a:cs typeface="Amiri" pitchFamily="2" charset="-78"/>
              </a:rPr>
              <a:t>تَهُبُّ رِيَاحٌ</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تَهُبُّ رِيَاحٌ قَوِيَّةٌ فِي الشَّمَالِ.</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A dry climate prevails in the south.</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مَنَاخٌ</a:t>
            </a:r>
            <a:pPr algn="l" indent="0" marL="0">
              <a:buNone/>
            </a:pPr>
            <a:r>
              <a:rPr lang="en-US" sz="1050" i="1" dirty="0">
                <a:solidFill>
                  <a:srgbClr val="5A6472"/>
                </a:solidFill>
                <a:latin typeface="Calibri" pitchFamily="34" charset="0"/>
                <a:cs typeface="Amiri" pitchFamily="2" charset="-78"/>
              </a:rPr>
              <a:t> (m.) is the subject → </a:t>
            </a:r>
            <a:pPr algn="l" indent="0" marL="0">
              <a:buNone/>
            </a:pPr>
            <a:r>
              <a:rPr lang="ar-SA" altLang="en-US" sz="1350" dirty="0">
                <a:solidFill>
                  <a:srgbClr val="5A6472"/>
                </a:solidFill>
                <a:latin typeface="Amiri" pitchFamily="2" charset="-78"/>
                <a:ea typeface="Amiri" pitchFamily="2" charset="-78"/>
                <a:cs typeface="Amiri" pitchFamily="2" charset="-78"/>
              </a:rPr>
              <a:t>يَسُودُ مَنَاخٌ</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يَسُودُ مَنَاخٌ جَافٌّ فِي الجَنُوبِ.</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24</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D4-W01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8 · SPOT AND FIX · MISTAKES FROM BOTH LESSONS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D4-W01 · Apply workshop (D4-L01 + D4-L02)</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الصَّحْرَاءُ وَاسِعٌ وَجَافٌّ.</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ar-SA" altLang="en-US" sz="1700" dirty="0">
                <a:solidFill>
                  <a:srgbClr val="5A6472"/>
                </a:solidFill>
                <a:latin typeface="Amiri" pitchFamily="2" charset="-78"/>
                <a:ea typeface="Amiri" pitchFamily="2" charset="-78"/>
                <a:cs typeface="Amiri" pitchFamily="2" charset="-78"/>
              </a:rPr>
              <a:t>صَحْرَاءُ</a:t>
            </a:r>
            <a:pPr algn="l" indent="0" marL="0">
              <a:buNone/>
            </a:pPr>
            <a:r>
              <a:rPr lang="en-US" sz="1300" i="1" dirty="0">
                <a:solidFill>
                  <a:srgbClr val="5A6472"/>
                </a:solidFill>
                <a:latin typeface="Calibri" pitchFamily="34" charset="0"/>
                <a:cs typeface="Amiri" pitchFamily="2" charset="-78"/>
              </a:rPr>
              <a:t> is …</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يَسْقُطُ الثُّلُوجُ فِي الجِبَالِ.</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Plural of a thing …</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يَتَمَيَّزُ البَلَدُ الجِبَالَ.</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Missing preposition.</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24</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D4-W01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8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D4-W01 · Apply workshop (D4-L01 + D4-L02)</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الصَّحْرَاءُ وَاسِعٌ وَجَافٌّ.</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الصَّحْرَاءُ وَاسِعَةٌ وَجَافَّةٌ.</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t>
            </a:r>
            <a:pPr algn="l" indent="0" marL="0">
              <a:buNone/>
            </a:pPr>
            <a:r>
              <a:rPr lang="ar-SA" altLang="en-US" sz="1500" b="1" dirty="0">
                <a:solidFill>
                  <a:srgbClr val="1B3B6F"/>
                </a:solidFill>
                <a:latin typeface="Amiri" pitchFamily="2" charset="-78"/>
                <a:ea typeface="Amiri" pitchFamily="2" charset="-78"/>
                <a:cs typeface="Amiri" pitchFamily="2" charset="-78"/>
              </a:rPr>
              <a:t>صَحْرَاءُ</a:t>
            </a:r>
            <a:pPr algn="l" indent="0" marL="0">
              <a:buNone/>
            </a:pPr>
            <a:r>
              <a:rPr lang="en-US" sz="1150" b="1" dirty="0">
                <a:solidFill>
                  <a:srgbClr val="1B3B6F"/>
                </a:solidFill>
                <a:latin typeface="Calibri" pitchFamily="34" charset="0"/>
                <a:cs typeface="Amiri" pitchFamily="2" charset="-78"/>
              </a:rPr>
              <a:t>‏ is feminine.</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يَسْقُطُ الثُّلُوجُ فِي الجِبَالِ.</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تَسْقُطُ الثُّلُوجُ فِي الجِبَالِ.</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Non-human plural subject → feminine verb.</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يَتَمَيَّزُ البَلَدُ الجِبَالَ.</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يَتَمَيَّزُ البَلَدُ بِالجِبَالِ.</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t>
            </a:r>
            <a:pPr algn="l" indent="0" marL="0">
              <a:buNone/>
            </a:pPr>
            <a:r>
              <a:rPr lang="ar-SA" altLang="en-US" sz="1500" b="1" dirty="0">
                <a:solidFill>
                  <a:srgbClr val="1B3B6F"/>
                </a:solidFill>
                <a:latin typeface="Amiri" pitchFamily="2" charset="-78"/>
                <a:ea typeface="Amiri" pitchFamily="2" charset="-78"/>
                <a:cs typeface="Amiri" pitchFamily="2" charset="-78"/>
              </a:rPr>
              <a:t>يَتَمَيَّزُ بِ</a:t>
            </a:r>
            <a:pPr algn="l" indent="0" marL="0">
              <a:buNone/>
            </a:pPr>
            <a:r>
              <a:rPr lang="en-US" sz="1150" b="1" dirty="0">
                <a:solidFill>
                  <a:srgbClr val="1B3B6F"/>
                </a:solidFill>
                <a:latin typeface="Calibri" pitchFamily="34" charset="0"/>
                <a:cs typeface="Amiri" pitchFamily="2" charset="-78"/>
              </a:rPr>
              <a:t>‏ + genitive.</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24</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D4-W01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9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D4-W01 · Apply workshop (D4-L01 + D4-L02)</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650" b="1" dirty="0">
                <a:solidFill>
                  <a:srgbClr val="1B3B6F"/>
                </a:solidFill>
                <a:latin typeface="Amiri" pitchFamily="2" charset="-78"/>
                <a:ea typeface="Amiri" pitchFamily="2" charset="-78"/>
                <a:cs typeface="Amiri" pitchFamily="2" charset="-78"/>
              </a:rPr>
              <a:t>تَرْتَفِعُ / تَنْخَفِضُ دَرَجَاتُ الحَرَارَةِ إِلَى ______ .</a:t>
            </a:r>
            <a:endParaRPr lang="ar-SA" sz="165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Temperatures rise / fall to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أَمَّا بِرِيطَانِيَا فَ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As for Britain, …</a:t>
            </a:r>
            <a:endParaRPr lang="en-US" sz="1050" dirty="0"/>
          </a:p>
        </p:txBody>
      </p:sp>
      <p:sp>
        <p:nvSpPr>
          <p:cNvPr id="22" name="Shape 19"/>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5" name="Text 22"/>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يَتَمَيَّزُ الأُرْدُنُّ بِ ______ فِي ______ .</a:t>
            </a:r>
            <a:endParaRPr lang="ar-SA" sz="1800" dirty="0"/>
          </a:p>
        </p:txBody>
      </p:sp>
      <p:sp>
        <p:nvSpPr>
          <p:cNvPr id="26" name="Text 23"/>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Jordan is distinguished by … in …</a:t>
            </a:r>
            <a:endParaRPr lang="en-US" sz="1050" dirty="0"/>
          </a:p>
        </p:txBody>
      </p:sp>
      <p:sp>
        <p:nvSpPr>
          <p:cNvPr id="27" name="Text 24"/>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يَسُودُ مَنَاخٌ ______ فِي الرَّبِيعِ.</a:t>
            </a:r>
            <a:endParaRPr lang="ar-SA" sz="1800" dirty="0"/>
          </a:p>
        </p:txBody>
      </p:sp>
      <p:sp>
        <p:nvSpPr>
          <p:cNvPr id="28" name="Text 25"/>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 … climate prevails in spring.</a:t>
            </a:r>
            <a:endParaRPr lang="en-US" sz="1050" dirty="0"/>
          </a:p>
        </p:txBody>
      </p:sp>
      <p:sp>
        <p:nvSpPr>
          <p:cNvPr id="29" name="Text 26"/>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يُتَوَقَّعُ أَنْ ______ .</a:t>
            </a:r>
            <a:endParaRPr lang="ar-SA" sz="1800" dirty="0"/>
          </a:p>
        </p:txBody>
      </p:sp>
      <p:sp>
        <p:nvSpPr>
          <p:cNvPr id="30" name="Text 27"/>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It is expected that …</a:t>
            </a:r>
            <a:endParaRPr lang="en-US" sz="1050" dirty="0"/>
          </a:p>
        </p:txBody>
      </p:sp>
      <p:sp>
        <p:nvSpPr>
          <p:cNvPr id="31" name="Text 28"/>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الأُرْدُنُّ ______ مِنْ بِرِيطَانِيَا.</a:t>
            </a:r>
            <a:endParaRPr lang="ar-SA" sz="1800" dirty="0"/>
          </a:p>
        </p:txBody>
      </p:sp>
      <p:sp>
        <p:nvSpPr>
          <p:cNvPr id="32" name="Text 29"/>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Jordan is …-er than Britain.</a:t>
            </a:r>
            <a:endParaRPr lang="en-US" sz="1050" dirty="0"/>
          </a:p>
        </p:txBody>
      </p:sp>
      <p:sp>
        <p:nvSpPr>
          <p:cNvPr id="33" name="Text 30"/>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750" b="1" dirty="0">
                <a:solidFill>
                  <a:srgbClr val="1B3B6F"/>
                </a:solidFill>
                <a:latin typeface="Amiri" pitchFamily="2" charset="-78"/>
                <a:ea typeface="Amiri" pitchFamily="2" charset="-78"/>
                <a:cs typeface="Amiri" pitchFamily="2" charset="-78"/>
              </a:rPr>
              <a:t>يَجِبُ أَنْ يَأْخُذَ الطُّلَّابُ ______ لِأَنَّ ______ .</a:t>
            </a:r>
            <a:endParaRPr lang="ar-SA" sz="1750" dirty="0"/>
          </a:p>
        </p:txBody>
      </p:sp>
      <p:sp>
        <p:nvSpPr>
          <p:cNvPr id="34" name="Text 31"/>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Students must take … because …</a:t>
            </a:r>
            <a:endParaRPr lang="en-US" sz="1050" dirty="0"/>
          </a:p>
        </p:txBody>
      </p:sp>
      <p:sp>
        <p:nvSpPr>
          <p:cNvPr id="35" name="Shape 32"/>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Text 33"/>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7" name="Text 34"/>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صَحْرَاءُ وَاسِعَةٌ  ·  جِبَالٌ عَالِيَةٌ  ·  يَتَمَيَّزُ بِ… · يَتَّسِمُ بِ…  ·  يَسُودُ مَنَاخٌ …  ·  حَارٌّ · جَافٌّ · مُعْتَدِلٌ  ·  تَرْتَفِعُ · تَنْخَفِضُ  ·  يُتَوَقَّعُ أَنْ  ·  أَحَرُّ · أَبْرَدُ مِنْ</a:t>
            </a:r>
            <a:endParaRPr lang="ar-SA" sz="1600" dirty="0"/>
          </a:p>
        </p:txBody>
      </p:sp>
      <p:sp>
        <p:nvSpPr>
          <p:cNvPr id="38" name="Text 3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24</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D4-W01 · Apply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9 · WRITE YOUR TEXT · ABOUT 60–80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trip briefing for parents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نَشْرَةُ الرِّحْلَةِ لِلْأَهْلِ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D4-W01 · Apply workshop (D4-L01 + D4-L02)</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2061972"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2061972"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DIRECTED TASK</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00" b="1" dirty="0">
                <a:solidFill>
                  <a:srgbClr val="1F2A37"/>
                </a:solidFill>
                <a:latin typeface="Calibri" pitchFamily="34" charset="0"/>
                <a:cs typeface="Amiri" pitchFamily="2" charset="-78"/>
              </a:rPr>
              <a:t>Write a briefing (about 60–80 words) for parents about the trip to Jordan. Include: • three natural features with agreeing adjectives and where they are • the climate with ‏</a:t>
            </a:r>
            <a:pPr algn="l" indent="0" marL="0">
              <a:buNone/>
            </a:pPr>
            <a:r>
              <a:rPr lang="ar-SA" altLang="en-US" sz="1450" b="1" dirty="0">
                <a:solidFill>
                  <a:srgbClr val="1F2A37"/>
                </a:solidFill>
                <a:latin typeface="Amiri" pitchFamily="2" charset="-78"/>
                <a:ea typeface="Amiri" pitchFamily="2" charset="-78"/>
                <a:cs typeface="Amiri" pitchFamily="2" charset="-78"/>
              </a:rPr>
              <a:t>يَسُودُ</a:t>
            </a:r>
            <a:pPr algn="l" indent="0" marL="0">
              <a:buNone/>
            </a:pPr>
            <a:r>
              <a:rPr lang="en-US" sz="1100" b="1" dirty="0">
                <a:solidFill>
                  <a:srgbClr val="1F2A37"/>
                </a:solidFill>
                <a:latin typeface="Calibri" pitchFamily="34" charset="0"/>
                <a:cs typeface="Amiri" pitchFamily="2" charset="-78"/>
              </a:rPr>
              <a:t> …‏ • the forecast with ‏</a:t>
            </a:r>
            <a:pPr algn="l" indent="0" marL="0">
              <a:buNone/>
            </a:pPr>
            <a:r>
              <a:rPr lang="ar-SA" altLang="en-US" sz="1450" b="1" dirty="0">
                <a:solidFill>
                  <a:srgbClr val="1F2A37"/>
                </a:solidFill>
                <a:latin typeface="Amiri" pitchFamily="2" charset="-78"/>
                <a:ea typeface="Amiri" pitchFamily="2" charset="-78"/>
                <a:cs typeface="Amiri" pitchFamily="2" charset="-78"/>
              </a:rPr>
              <a:t>يُتَوَقَّعُ أَنْ</a:t>
            </a:r>
            <a:pPr algn="l" indent="0" marL="0">
              <a:buNone/>
            </a:pPr>
            <a:r>
              <a:rPr lang="en-US" sz="1100" b="1" dirty="0">
                <a:solidFill>
                  <a:srgbClr val="1F2A37"/>
                </a:solidFill>
                <a:latin typeface="Calibri" pitchFamily="34" charset="0"/>
                <a:cs typeface="Amiri" pitchFamily="2" charset="-78"/>
              </a:rPr>
              <a:t> …‏ and temperatures rising or falling • a comparison with Britain • two packing tips with reasons.</a:t>
            </a:r>
            <a:endParaRPr lang="en-US" sz="11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the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Language from D4-L01 AND D4-L02.</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Linking words: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ثُمَّ</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لٰكِنَّ</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opinion with a reason.</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يَتَمَيَّزُ الأُرْدُنُّ بِصَحْرَاءَ وَاسِعَةٍ</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Jordan is distinguished by a vast desert</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يَسُودُ مَنَاخٌ مُعْتَدِلٌ فِي الرَّبِيعِ</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 mild climate prevails in spring</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يُتَوَقَّعُ أَنْ تَرْتَفِعَ دَرَجَاتُ الحَرَارَةِ</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temperatures are expected to rise</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أَحَرُّ مِنْ · أَكْثَرُ مَطَرًا</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hotter than · rainier</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24</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D4-W01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9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D4-W01 · Apply workshop (D4-L01 + D4-L02)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describe four features with agreeing adjectives (incl. non-human plurals)?</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a:t>
            </a:r>
            <a:pPr algn="l" indent="0" marL="0">
              <a:buNone/>
            </a:pPr>
            <a:r>
              <a:rPr lang="ar-SA" altLang="en-US" sz="1450" dirty="0">
                <a:solidFill>
                  <a:srgbClr val="5A6472"/>
                </a:solidFill>
                <a:latin typeface="Amiri" pitchFamily="2" charset="-78"/>
                <a:ea typeface="Amiri" pitchFamily="2" charset="-78"/>
                <a:cs typeface="Amiri" pitchFamily="2" charset="-78"/>
              </a:rPr>
              <a:t>يُتَوَقَّعُ أَنْ</a:t>
            </a:r>
            <a:pPr algn="l" indent="0" marL="0">
              <a:buNone/>
            </a:pPr>
            <a:r>
              <a:rPr lang="en-US" sz="1100" dirty="0">
                <a:solidFill>
                  <a:srgbClr val="5A6472"/>
                </a:solidFill>
                <a:latin typeface="Calibri" pitchFamily="34" charset="0"/>
                <a:cs typeface="Amiri" pitchFamily="2" charset="-78"/>
              </a:rPr>
              <a:t>‏ + -a and two comparatives?</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more than one tense and give an opinion with a reason?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24</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D4-W01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D4-W01 · Apply workshop (D4-L01 + D4-L02)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Partner A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4800600" y="2286000"/>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يَتَمَيَّزُ بِجِبَالٍ عَالِيَةٍ فِي البَتْرَاءِ، وَبِصَحْرَاءَ وَاسِعَةٍ فِي وَادِي رَمٍّ.</a:t>
            </a:r>
            <a:endParaRPr lang="ar-SA" sz="1800" dirty="0"/>
          </a:p>
        </p:txBody>
      </p:sp>
      <p:sp>
        <p:nvSpPr>
          <p:cNvPr id="21" name="Text 18"/>
          <p:cNvSpPr txBox="1"/>
          <p:nvPr/>
        </p:nvSpPr>
        <p:spPr>
          <a:xfrm>
            <a:off x="4754880" y="2676997"/>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It is distinguished by high mountains in Petra and a vast desert in Wadi Rum.</a:t>
            </a:r>
            <a:endParaRPr lang="en-US" sz="950" dirty="0"/>
          </a:p>
        </p:txBody>
      </p:sp>
      <p:sp>
        <p:nvSpPr>
          <p:cNvPr id="22" name="Text 19"/>
          <p:cNvSpPr txBox="1"/>
          <p:nvPr/>
        </p:nvSpPr>
        <p:spPr>
          <a:xfrm>
            <a:off x="1051560" y="2267712"/>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صِفْ طَبِيعَةَ الأُرْدُنِّ.</a:t>
            </a:r>
            <a:endParaRPr lang="ar-SA" sz="1600" dirty="0"/>
          </a:p>
        </p:txBody>
      </p:sp>
      <p:sp>
        <p:nvSpPr>
          <p:cNvPr id="23" name="Text 20"/>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5" name="Text 22"/>
          <p:cNvSpPr txBox="1"/>
          <p:nvPr/>
        </p:nvSpPr>
        <p:spPr>
          <a:xfrm>
            <a:off x="4800600" y="3023006"/>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يَسُودُ مَنَاخٌ حَارٌّ وَجَافٌّ فِي الصَّيْفِ، وَمُعْتَدِلٌ فِي الرَّبِيعِ.</a:t>
            </a:r>
            <a:endParaRPr lang="ar-SA" sz="1800" dirty="0"/>
          </a:p>
        </p:txBody>
      </p:sp>
      <p:sp>
        <p:nvSpPr>
          <p:cNvPr id="26" name="Text 23"/>
          <p:cNvSpPr txBox="1"/>
          <p:nvPr/>
        </p:nvSpPr>
        <p:spPr>
          <a:xfrm>
            <a:off x="4754880" y="3414004"/>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A hot, dry climate prevails in summer, and a mild one in spring.</a:t>
            </a:r>
            <a:endParaRPr lang="en-US" sz="950" dirty="0"/>
          </a:p>
        </p:txBody>
      </p:sp>
      <p:sp>
        <p:nvSpPr>
          <p:cNvPr id="27" name="Text 24"/>
          <p:cNvSpPr txBox="1"/>
          <p:nvPr/>
        </p:nvSpPr>
        <p:spPr>
          <a:xfrm>
            <a:off x="1051560" y="3004718"/>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المَنَاخُ الَّذِي يَسُودُ هُنَاكَ؟</a:t>
            </a:r>
            <a:endParaRPr lang="ar-SA" sz="1600" dirty="0"/>
          </a:p>
        </p:txBody>
      </p:sp>
      <p:sp>
        <p:nvSpPr>
          <p:cNvPr id="28" name="Text 25"/>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0" name="Text 27"/>
          <p:cNvSpPr txBox="1"/>
          <p:nvPr/>
        </p:nvSpPr>
        <p:spPr>
          <a:xfrm>
            <a:off x="4800600" y="3760013"/>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يُتَوَقَّعُ أَنْ تُشْرِقَ الشَّمْسُ، وَأَنْ تَهُبَّ رِيَاحٌ خَفِيفَةٌ فِي المَسَاءِ.</a:t>
            </a:r>
            <a:endParaRPr lang="ar-SA" sz="1800" dirty="0"/>
          </a:p>
        </p:txBody>
      </p:sp>
      <p:sp>
        <p:nvSpPr>
          <p:cNvPr id="31" name="Text 28"/>
          <p:cNvSpPr txBox="1"/>
          <p:nvPr/>
        </p:nvSpPr>
        <p:spPr>
          <a:xfrm>
            <a:off x="4754880" y="4151010"/>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 sun is expected to shine, and light winds are expected in the evening.</a:t>
            </a:r>
            <a:endParaRPr lang="en-US" sz="950" dirty="0"/>
          </a:p>
        </p:txBody>
      </p:sp>
      <p:sp>
        <p:nvSpPr>
          <p:cNvPr id="32" name="Text 29"/>
          <p:cNvSpPr txBox="1"/>
          <p:nvPr/>
        </p:nvSpPr>
        <p:spPr>
          <a:xfrm>
            <a:off x="1051560" y="3741725"/>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الطَّقْسُ المُتَوَقَّعُ فِي أُسْبُوعِ الرِّحْلَةِ؟</a:t>
            </a:r>
            <a:endParaRPr lang="ar-SA" sz="1600" dirty="0"/>
          </a:p>
        </p:txBody>
      </p:sp>
      <p:sp>
        <p:nvSpPr>
          <p:cNvPr id="33" name="Text 30"/>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5" name="Text 32"/>
          <p:cNvSpPr txBox="1"/>
          <p:nvPr/>
        </p:nvSpPr>
        <p:spPr>
          <a:xfrm>
            <a:off x="4800600" y="4497019"/>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الأُرْدُنُّ أَحَرُّ وَأَجَفُّ مِنْ بِرِيطَانِيَا، أَمَّا بِرِيطَانِيَا فَأَكْثَرُ مَطَرًا.</a:t>
            </a:r>
            <a:endParaRPr lang="ar-SA" sz="1800" dirty="0"/>
          </a:p>
        </p:txBody>
      </p:sp>
      <p:sp>
        <p:nvSpPr>
          <p:cNvPr id="36" name="Text 33"/>
          <p:cNvSpPr txBox="1"/>
          <p:nvPr/>
        </p:nvSpPr>
        <p:spPr>
          <a:xfrm>
            <a:off x="4754880" y="4888017"/>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Jordan is hotter and drier than Britain, whereas Britain is rainier.</a:t>
            </a:r>
            <a:endParaRPr lang="en-US" sz="950" dirty="0"/>
          </a:p>
        </p:txBody>
      </p:sp>
      <p:sp>
        <p:nvSpPr>
          <p:cNvPr id="37" name="Text 34"/>
          <p:cNvSpPr txBox="1"/>
          <p:nvPr/>
        </p:nvSpPr>
        <p:spPr>
          <a:xfrm>
            <a:off x="1051560" y="4478731"/>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قَارِنْ طَقْسَ الأُرْدُنِّ بِطَقْسِ بِرِيطَانِيَا.</a:t>
            </a:r>
            <a:endParaRPr lang="ar-SA" sz="1600" dirty="0"/>
          </a:p>
        </p:txBody>
      </p:sp>
      <p:sp>
        <p:nvSpPr>
          <p:cNvPr id="38" name="Text 35"/>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Shape 36"/>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0" name="Text 37"/>
          <p:cNvSpPr txBox="1"/>
          <p:nvPr/>
        </p:nvSpPr>
        <p:spPr>
          <a:xfrm>
            <a:off x="4800600" y="5234026"/>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يَجِبُ أَنْ يَأْخُذُوا قُبَّعَةً وَمَاءً بِسَبَبِ الشَّمْسِ، وَسُتْرَةً لِأَنَّ الحَرَارَةَ تَنْخَفِضُ لَيْلًا.</a:t>
            </a:r>
            <a:endParaRPr lang="ar-SA" sz="1800" dirty="0"/>
          </a:p>
        </p:txBody>
      </p:sp>
      <p:sp>
        <p:nvSpPr>
          <p:cNvPr id="41" name="Text 38"/>
          <p:cNvSpPr txBox="1"/>
          <p:nvPr/>
        </p:nvSpPr>
        <p:spPr>
          <a:xfrm>
            <a:off x="4754880" y="5625023"/>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They must take a hat and water because of the sun, and a jacket because the temperature falls at night.</a:t>
            </a:r>
            <a:endParaRPr lang="en-US" sz="950" dirty="0"/>
          </a:p>
        </p:txBody>
      </p:sp>
      <p:sp>
        <p:nvSpPr>
          <p:cNvPr id="42" name="Text 39"/>
          <p:cNvSpPr txBox="1"/>
          <p:nvPr/>
        </p:nvSpPr>
        <p:spPr>
          <a:xfrm>
            <a:off x="1051560" y="5215738"/>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مَاذَا يَجِبُ أَنْ يَأْخُذَ الطُّلَّابُ مَعَهُمْ؟ لِمَاذَا؟</a:t>
            </a:r>
            <a:endParaRPr lang="ar-SA" sz="1600" dirty="0"/>
          </a:p>
        </p:txBody>
      </p:sp>
      <p:sp>
        <p:nvSpPr>
          <p:cNvPr id="43" name="Text 40"/>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44" name="Text 4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Find one phrase from each lesson in the models and say it aloud.</a:t>
            </a:r>
            <a:endParaRPr lang="en-US" sz="115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24</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D4-W01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D4-W01 · Apply workshop (D4-L01 + D4-L02)</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أَعِزَّاءَنَا الأَهْلَ، يَتَمَيَّزُ الأُرْدُنُّ بِطَبِيعَةٍ مُتَنَوِّعَةٍ: جِبَالٌ عَالِيَةٌ فِي البَتْرَاءِ، وَصَحْرَاءُ وَاسِعَةٌ فِي الجَنُوبِ، وَالبَحْرُ المَيِّتُ فِي الغَرْبِ. يَسُودُ مَنَاخٌ مُعْتَدِلٌ فِي الرَّبِيعِ، وَلٰكِنْ يُتَوَقَّعُ أَنْ تَرْتَفِعَ دَرَجَاتُ الحَرَارَةِ إِلَى ثَلَاثِينَ دَرَجَةً فِي وَادِي رَمٍّ، ثُمَّ تَنْخَفِضَ كَثِيرًا فِي اللَّيْلِ. الأُرْدُنُّ أَحَرُّ وَأَجَفُّ مِنْ بِرِيطَانِيَا. لِذٰلِكَ يَجِبُ أَنْ يَأْخُذَ الطُّلَّابُ قُبَّعَةً وَمَاءً بِسَبَبِ الشَّمْسِ، وَسُتْرَةً دَافِئَةً لِلَّيْلِ.</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“Dear parents, Jordan is distinguished by varied nature: high mountains in Petra, a vast desert in the south and the Dead Sea in the west. A mild climate prevails in spring, but temperatures are expected to rise to thirty degrees in Wadi Rum, then fall a lot at night. Jordan is hotter and drier than Britain. So students must take a hat and water because of the sun, and a warm jacket for the night.”</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يَتَمَيَّزُ الأُرْدُنُّ</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يَسُودُ مَنَاخٌ مُعْتَدِلٌ</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يُتَوَقَّعُ أَنْ تَرْتَفِعَ</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أَحَرُّ وَأَجَفُّ</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24</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D4-W01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D4-W01 · Apply workshop (D4-L01 + D4-L02)</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questions from D4-L01 and D4-L02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language from BOTH lessons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more than one tense and gave opinions with reasons.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24</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D4-W01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used two lessons together!</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750" b="1" dirty="0">
                <a:solidFill>
                  <a:srgbClr val="FFFFFF"/>
                </a:solidFill>
                <a:latin typeface="Cambria" pitchFamily="34" charset="0"/>
                <a:cs typeface="Amiri" pitchFamily="2" charset="-78"/>
              </a:rPr>
              <a:t>D4-L03 · Environmental Problems — Causes and Effects</a:t>
            </a:r>
            <a:endParaRPr lang="en-US" sz="17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المُشْكِلَاتُ البِيئِيَّةُ — الأَسْبَابُ وَالنَّتَائِجُ</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keep using this week’s language — say it, then write it.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D4-W01 · Apply Workshop — Planning a School Trip to Jordan</dc:title>
  <dc:subject>PptxGenJS Presentation</dc:subject>
  <dc:creator>Al Madina Online School · Arabic Department</dc:creator>
  <cp:lastModifiedBy>Al Madina Online School · Arabic Department</cp:lastModifiedBy>
  <cp:revision>1</cp:revision>
  <dcterms:created xsi:type="dcterms:W3CDTF">2026-10-26T15:48:05Z</dcterms:created>
  <dcterms:modified xsi:type="dcterms:W3CDTF">2026-10-26T15:48:05Z</dcterms:modified>
</cp:coreProperties>
</file>