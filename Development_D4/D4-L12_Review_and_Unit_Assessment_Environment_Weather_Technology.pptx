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laboratory (not marked) · 6–7 Assessment map · 7–21 Listening (20) · 21–29 Reading (10) · 29–46 Writing (20) · 46–56 Speaking (10, one-to-one or trusted pairs) · 56–60 Profile and D5 target.
FLEX slides are optional. Use them if the class is moving quickly; otherwise the same activities are on the website for homework.
Content source: Miftah Arabic website, Pathways › Development › D4 Environment, Weather and Technology › D4-L12. The website D4-L12 is a four-skill, 60-mark unit assessment: the complete D4 language vault (all eleven lessons), a twelve-question cumulative grammar laboratory, Part A listening (three recordings — climate and water · two views on technology · smart-city report: 20 questions × 1 = 20), Part B reading (an environment–technology article: 10), Part C writing (five-field environmental action profile 5 + 130–140-word article 15, marked task / range / accuracy) and Part D speaking (environmental discussion + topic conversation: 10), then an evidence-based D5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article recycles the D4-L08 council data (18%) — students who revised closely have an advantage; that is fine (it rewards revision), but mark the WRITING strictly for originality.
• Website: “Complete each section independently, then record a precise D5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D4 language vault · 02 cumulative grammar laboratory · 03 Part A listening · 04 Part B reading · 05 Part C writing · 06 Part D speaking · 07 reflection and D5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D4-L11. Questions 2–5 are from the website twelve-question cumulative grammar laboratory (used diagnostically; items that differ only in vowel endings are reviewed on the next slide instead).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check for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“Cumulative grammar laboratory”, correct answers): يَتَّسِمُ السَّاحِلُ بِمَنَاخٍ مُعْتَدِلٍ · تَهُبُّ الرِّيَاحُ وَتَسْقُطُ الثُّلُوجُ · يُلَوَّثُ الهَوَاءُ بِعَوَادِمِ السَّيَّارَاتِ · يُؤَدِّي إِلَى · يَنْبَغِي أَنْ نُقَلِّلَ النُّفَايَاتِ · أَنْ يُعِيدُوا التَّدْوِيرَ · إِذَا لَمْ نُرَشِّدِ المِيَاهَ، فَسَتَزْدَادُ الأَزْمَةُ · يَنْضَبُ النِّفْطُ وَتَشِحُّ المِيَاهُ · يُشَارُ إِلَى أَنَّ المَنَاخَ يَتَغَيَّرُ · يُتَوَقَّعُ أَنْ يَزْدَادَ الطَّلَبُ · عَلَى الرَّغْمِ مِنْ أَنَّ المَشْرُوعَ مُكَلِّفٌ، فَإِنَّهُ يُوَفِّرُ الطَّاقَةَ لَاحِقًا · مُفِيدَةٌ إِلَى حَدٍّ مَا، شَرِيطَةَ أَنْ تُطَبَّقَ بِمَسْؤُولِيَّةٍ.
(The website item 7 prints نُرَشِّدْ المِيَاهَ; before the article the sukūn becomes kasra: نُرَشِّدِ المِيَاهَ.)
The website language vault (all D4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20 questions × 1). Read the recording twice at natural pace (website: “each of the three recordings may be played twice”); students answer after the second reading.
SCRIPT: يَسُودُ المَنَاخُ الصَّحْرَاوِيُّ الجَافُّ فِي دَاخِلِ بَعْضِ الدُّوَلِ العَرَبِيَّةِ، وَيُشَارُ إِلَى أَنَّ فَتَرَاتِ الجَفَافِ أَصْبَحَتْ أَطْوَلَ. وَنَتِيجَةً لِذٰلِكَ، يَزْدَادُ الضَّغْطُ عَلَى المِيَاهِ الجَوْفِيَّةِ. يَقْتَرِحُ الخَبِيرُ إِعَادَةَ اسْتِخْدَامِ المِيَاهِ وَتَرْشِيدَ الاسْتِهْلَاكِ.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20 questions × 1). Read the recording twice at natural pace (website: “each of the three recordings may be played twice”); students answer after the second reading.
SCRIPT: يَسُودُ المَنَاخُ الصَّحْرَاوِيُّ الجَافُّ فِي دَاخِلِ بَعْضِ الدُّوَلِ العَرَبِيَّةِ، وَيُشَارُ إِلَى أَنَّ فَتَرَاتِ الجَفَافِ أَصْبَحَتْ أَطْوَلَ. وَنَتِيجَةً لِذٰلِكَ، يَزْدَادُ الضَّغْطُ عَلَى المِيَاهِ الجَوْفِيَّةِ. يَقْتَرِحُ الخَبِيرُ إِعَادَةَ اسْتِخْدَامِ المِيَاهِ وَتَرْشِيدَ الاسْتِهْلَاكِ.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20 questions × 1). Read the recording twice at natural pace (website: “each of the three recordings may be played twice”); students answer after the second reading.
SCRIPT: سَلْمَى: أُؤَيِّدُ الطَّاقَةَ الشَّمْسِيَّةَ وَالشَّبَكَاتِ الذَّكِيَّةَ لِأَنَّهَا تُقَلِّلُ الهَدْرَ. عُمَرُ: أُوَافِقُ عَلَى تَقْلِيلِ الهَدْرِ، وَلٰكِنِّي أَخْشَى ارْتِفَاعَ التَّكْلِفَةِ وَجَمْعَ البَيَانَاتِ الشَّخْصِيَّةِ. سَلْمَى: إِذَنْ نَحْنُ مُتَّفِقَانِ عَلَى الهَدَفِ، وَلٰكِنَّنَا نَخْتَلِفُ فِي طَرِيقَةِ التَّطْبِيقِ.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20 questions × 1). Read the recording twice at natural pace (website: “each of the three recordings may be played twice”); students answer after the second reading.
SCRIPT: تُمَثِّلُ الطَّاقَةُ المُتَجَدِّدَةُ خَمْسًا وَثَلَاثِينَ فِي المِئَةِ مِنْ إِنْتَاجِ الكَهْرَبَاءِ فِي المَدِينَةِ. وَكَانَ مِنَ المُقَرَّرِ اكْتِمَالُ شَبَكَةِ النَّقْلِ فِي عَامِ ٢٠٣٠، وَلٰكِنَّ المَوْعِدَ الجَدِيدَ هُوَ ٢٠٣٢. وَيُؤَكِّدُ الخَبِيرُ أَنَّ التِّقْنِيَّةَ وَحْدَهَا لَا تَكْفِي؛ بَلْ يَجِبُ أَنْ يَتَغَيَّرَ سُلُوكُ المُسْتَخْدِمِينَ أَيْضًا.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130–140 words explaining an environmental issue, causes and effects, a practical or technological solution, evidence and one limitation. The D4-L11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(website, 10 marks). Teacher questions (D4-L11 prompts): مَا أَهَمُّ مُشْكِلَةٍ بِيئِيَّةٍ فِي رَأْيِكَ؟ · مَا أَسْبَابُهَا وَنَتَائِجُهَا؟ · مَا الحَلُّ الَّذِي تَقْتَرِحُهُ؟ · هَلِ التِّقْنِيَّةُ جُزْءٌ مِنَ الحَلِّ؟ · هَلْ هُنَاكَ حُدُودٌ لِهٰذَا الحَلِّ؟
To a girl: رَأْيِكِ · تَقْتَرِحِينَهُ.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“D4 reflection and D5 readiness”: “Record one secure language feature and one precise next action.”). The bands are a teacher guide in line with the D1–D3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(D5-L01 · Hobbies and Free Time — Vocabulary and Present Habits) will spend class time USING this language, so students prepare it tonight — short, simple, easy to access (school guidance: “Simple, Short, Interesting, Relevant, Easy to access”). D5 begins with hobbies and free time (website D5-L01 “Hobbies and Free Time — Vocabulary and Present Habits”).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Environment, Weather and Technology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climate, weather, environmental problems, resources and technology — then choose one precise next step for D5.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D4-L12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D4 chain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recordings,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D5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D5: hobbies.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مَعَايِيرُ التَّصْحِيحِ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marking criteria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climate description.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بِمَنَاخٍ مُعْتَدِلٍ.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إِلَى مَنَاخٍ مُعْتَدِلٍ.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عَلَى مَنَاخٍ مُعْتَدِلٍ.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accurate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يُعِيدُونَ التَّدْوِيرَ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 التَّدْوِيرَ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يُعِيدُوا التَّدْوِيرَ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 and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مُفِيدَةٌ إِلَى حَدٍّ مَا، شَرِيطَةَ أَنْ تُطَبَّقَ بِمَسْؤُولِيَّةٍ.</a:t>
            </a:r>
            <a:endParaRPr lang="ar-SA" sz="14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مُفِيدَةٌ دَائِمًا دُونَ شُرُوطٍ.</a:t>
            </a:r>
            <a:endParaRPr lang="ar-SA" sz="14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غَيْرُ مُفِيدَةٍ لِأَنَّهَا تِقْنِيَّةٌ.</a:t>
            </a:r>
            <a:endParaRPr lang="ar-SA" sz="14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مَعَايِيرُ التَّصْحِيحِ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marking criteria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assessment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climate description.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يَتَّسِمُ السَّاحِلُ بِمَنَاخٍ مُعْتَدِلٍ.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 السَّاحِلُ إِلَى مَنَاخٍ مُعْتَدِلٍ.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 السَّاحِلُ عَلَى مَنَاخٍ مُعْتَدِلٍ.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accurate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يُعِيدُونَ التَّدْوِيرَ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يُعِيدُ التَّدْوِيرَ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 يُعِيدُوا التَّدْوِيرَ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6: the nūn drops.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 and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مُفِيدَةٌ إِلَى حَدٍّ مَا، شَرِيطَةَ أَنْ تُطَبَّقَ بِمَسْؤُولِيَّةٍ.</a:t>
            </a:r>
            <a:endParaRPr lang="ar-SA" sz="14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مُفِيدَةٌ دَائِمًا دُونَ شُرُوطٍ.</a:t>
            </a:r>
            <a:endParaRPr lang="ar-SA" sz="14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غَيْرُ مُفِيدَةٍ لِأَنَّهَا تِقْنِيَّةٌ.</a:t>
            </a:r>
            <a:endParaRPr lang="ar-SA" sz="14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laboratory 12.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check for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المُطَابَقَةُ · حَرْفُ الجَرِّ · أَنْ / أَنَّ · الحُكْمُ المُتَوَازِنُ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D4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D4 chain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CLIMATE + AGREEMENT</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يَسُودُ · تَهُبُّ الرِّيَاحُ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تَهُبُّ الرِّيَاحُ وَتَسْقُطُ الثُّلُوجُ.</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winds blow and the snow falls.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Non-human plurals: tu-.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PROBLEM + RESULT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يُلَوَّثُ · 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يُلَوَّثُ الهَوَاءُ بِعَوَادِمِ السَّيَّارَاتِ.</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air is polluted by car exhaust.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True passive.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SOLUTION + JUDGEMENT</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 لَمْ · شَرِيطَةَ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يَنْبَغِي أَنْ نُقَلِّلَ النُّفَايَاتِ.</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should reduce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an: -a; after lam: sukūn.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laboratory: impersonal reporting uses anna, then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يُشَارُ إِلَى أَنَّ المَنَاخَ يَتَغَيَّرُ.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يُشَارُ إِلَى أَنْ المَنَاخُ يَتَغَيَّرُ.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recordings (each heard twice): climate and water · two views on technology · a smart-city report — 20 questions, 1 mark each</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environment–technology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environmental action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environmental discussion + a topic conversation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region has the driest climate?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northern coast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interior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mountain summit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drought periods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 streams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terms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consequence is named?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snowfall everywhere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demand for water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pressure on groundwater</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solution is proposed?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greater waste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reuse and conservation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fossil-fuel 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region has the driest climate?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northern coast</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interior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mountain summit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دَاخِلِ بَعْضِ الدُّوَلِ العَرَبِيَّةِ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has become longer?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drought periods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 streams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terms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فَتَرَاتِ الجَفَافِ أَصْبَحَتْ أَطْوَلَ</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consequence is named?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snowfall everywhere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lower demand for water</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greater pressure on groundwater</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يَزْدَادُ الضَّغْطُ عَلَى المِيَاهِ الجَوْفِيَّةِ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solution is proposed?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greater waste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reuse and conservation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fossil-fuel 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إِعَادَةَ اسْتِخْدَامِ المِيَاهِ وَتَرْشِيدَ الاسْتِهْلَاكِ</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phrase introduces reported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responses are recommended?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groundwater extraction and more waste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panels and password sharing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reuse and reduced consumption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topic?</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social-media fashion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climate-related water pressure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timetable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idea is NOT mentioned?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 pressure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fossil-fuel use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drought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water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phrase introduces reported information?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 أَنَّ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وَيُشَارُ إِلَى أَنَّ …</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responses are recommended?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groundwater extraction and more waste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panels and password sharing</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reuse and reduced consumption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إِعَادَةَ اسْتِخْدَامِ … وَتَرْشِيدَ الاسْتِهْلَاكِ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topic?</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social-media fashion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climate-related water pressure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timetable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dry climate → drought → groundwater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idea is NOT mentioned?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groundwater pressure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increasing fossil-fuel use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drought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fossil fuels in the text.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views on technology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Salma support?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fossil fuels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removing public transport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energy and smart grids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Omar’s main reservation?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technology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cost and privacy risk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 is cold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speakers support?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consumption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waste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sharing passwords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 speakers disagree?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waste should be reduced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the environment exists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the technology should be implemented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Salma support smart grids?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reduce waste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collect more private data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replace all human decisions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best summarises the exchange?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discuss weather only</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 goal, different method and safeguards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disagree about every point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Two views on technology: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Salma support?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fossil fuels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removing public transport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energy and smart grids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أُؤَيِّدُ الطَّاقَةَ الشَّمْسِيَّةَ وَالشَّبَكَاتِ الذَّكِيَّةَ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Omar’s main reservation?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technology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cost and privacy risk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 is cold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ارْتِفَاعَ التَّكْلِفَةِ وَجَمْعَ البَيَانَاتِ الشَّخْصِيَّةِ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speakers support?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consumption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waste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sharing passwords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أُوَافِقُ عَلَى تَقْلِيلِ الهَدْرِ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the speakers disagree?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whether waste should be reduced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whether the environment exists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how the technology should be implemented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نَخْتَلِفُ فِي طَرِيقَةِ التَّطْبِيقِ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Salma support smart grids?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reduce waste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collect more private data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replace all human decisions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لِأَنَّهَا تُقَلِّلُ الهَدْرَ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best summarises the exchange?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discuss weather only</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same goal, different method and safeguards</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disagree about every point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مُتَّفِقَانِ عَلَى الهَدَفِ … نَخْتَلِفُ فِي طَرِيقَةِ التَّطْبِيقِ</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Smart-city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percentage of electricity is renewable?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from the original plan?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changed country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completion moved from 2030 to 2032</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percentage became zero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final judgement?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environmental action is useful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alone solves everything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 responsible behaviour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35% measure?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renewable share of electricity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fall in water demand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of buses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completion year?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2032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2030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2025</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the expert’s conclusion?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يُؤَكِّدُ</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 مَعَ</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 عَلَى</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Smart-city report: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percentage of electricity is renewable?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خَمْسًا وَثَلَاثِينَ فِي المِئَةِ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changed from the original plan?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changed country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completion moved from 2030 to 2032</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percentage became zero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وَلٰكِنَّ المَوْعِدَ الجَدِيدَ هُوَ ٢٠٣٢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final judgement?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environmental action is useful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alone solves everything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technology + responsible behaviour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التِّقْنِيَّةَ وَحْدَهَا لَا تَكْفِي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35% measure?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renewable share of electricity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fall in water demand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of buses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إِنْتَاجِ الكَهْرَبَاءِ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completion year?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2032</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2030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2025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مِنَ المُقَرَّرِ … ٢٠٣٠</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introduces the expert’s conclusion?</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يُؤَكِّدُ</a:t>
            </a:r>
            <a:endParaRPr lang="ar-SA" sz="170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 مَعَ</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يُعَلِّقُ عَلَى</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وَيُؤَكِّدُ الخَبِيرُ أَنَّ …</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Technology and the environment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التِّقْنِيَّةُ وَالبِيئَةُ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تَغَيُّرَ المَنَاخِ يَزِيدُ شُحَّ المِيَاهِ فِي مَنَاطِقَ عَرَبِيَّةٍ عِدَّةٍ. فَبِسَبَبِ طُولِ فَتَرَاتِ الجَفَافِ، يَنْخَفِضُ المَخْزُونُ الجَوْفِيُّ وَتَتَضَرَّرُ الزِّرَاعَةُ. وَفِي المُدُنِ، يُلَوَّثُ الهَوَاءُ بِعَوَادِمِ السَّيَّارَاتِ. لِذٰلِكَ تَسْتَثْمِرُ بَعْضُ البَلَدِيَّاتِ فِي النَّقْلِ الكَهْرَبَائِيِّ وَالأَنْظِمَةِ الذَّكِيَّةِ. وَفْقًا لِبَيَانَاتِ إِحْدَى البَلَدِيَّاتِ، انْخَفَضَ اسْتِهْلَاكُ الكَهْرَبَاءِ فِي المَبَانِي العَامَّةِ بِنِسْبَةِ ١٨٪ بَعْدَ تَرْكِيبِ أَنْظِمَةٍ تُطْفِئُ الإِضَاءَةَ فِي الغُرَفِ الفَارِغَةِ. مَعَ ذٰلِكَ، هٰذِهِ الحُلُولُ مُكَلِّفَةٌ وَقَدْ تَجْمَعُ بَيَانَاتٍ شَخْصِيَّةً. فِي رَأْيِي، التِّقْنِيَّةُ جُزْءٌ مُهِمٌّ مِنَ الحَلِّ، شَرِيطَةَ أَنْ تُحْمَى الخُصُوصِيَّةُ وَأَنْ تَصْحَبَهَا سِيَاسَاتٌ وَسُلُوكٌ مَسْؤُولٌ.</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has no environmental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helps but cannot replace policy and behaviour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weather vocabulary is the only issue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problem is linked to longer drought?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clothing prices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cyberbullying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foregrounds an environmental result?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يَسْتَخْدِمُ النَّاسُ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 الشَّبَكَةُ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is used as evidence?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likes green buildings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electricity use fell 18% in public buildings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has a long name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لِأَنَّهَا تُقَلِّلُ الهَدْرَ</a:t>
            </a:r>
            <a:pPr algn="l" indent="0" marL="0">
              <a:buNone/>
            </a:pPr>
            <a:r>
              <a:rPr lang="en-US" sz="1250" b="1" dirty="0">
                <a:solidFill>
                  <a:srgbClr val="1B3B6F"/>
                </a:solidFill>
                <a:latin typeface="Calibri" pitchFamily="34" charset="0"/>
                <a:cs typeface="Amiri" pitchFamily="2" charset="-78"/>
              </a:rPr>
              <a:t>” about systems in buildings, “-hā” refers to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الأَنْظِمَةُ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المَبَانِي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الهَدْرُ</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argument?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has no environmental use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technology helps but cannot replace policy and behaviour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weather vocabulary is the only issue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جُزْءٌ مُهِمٌّ مِنَ الحَلِّ، شَرِيطَةَ أَنْ …</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problem is linked to longer drought?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clothing prices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cyberbullying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شُحَّ المِيَاهِ … طُولِ فَتَرَاتِ الجَفَافِ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foregrounds an environmental result?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يَسْتَخْدِمُ النَّاسُ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 الشَّبَكَةُ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air is the affected subject.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datum is used as evidence?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likes green buildings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electricity use fell 18% in public buildings</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has a long name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بِنِسْبَةِ ١٨٪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لِأَنَّهَا تُقَلِّلُ الهَدْرَ</a:t>
            </a:r>
            <a:pPr algn="l" indent="0" marL="0">
              <a:buNone/>
            </a:pPr>
            <a:r>
              <a:rPr lang="en-US" sz="1250" b="1" dirty="0">
                <a:solidFill>
                  <a:srgbClr val="1B3B6F"/>
                </a:solidFill>
                <a:latin typeface="Calibri" pitchFamily="34" charset="0"/>
                <a:cs typeface="Amiri" pitchFamily="2" charset="-78"/>
              </a:rPr>
              <a:t>” about systems in buildings, “-hā” refers to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الأَنْظِمَةُ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المَبَانِي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الهَدْرُ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systems reduce waste.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السَّاحِلِ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وَفْقًا لِبَيَانَاتِ البَلَدِيَّةِ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of smart systems is acknowledged?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 and privacy concerns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cannot measure anything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always increase waste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the counterargument?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نَتِيجَةً لِذٰلِكَ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mention electric transport?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practical way to reduce emissions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cause of all water scarcity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example of social media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tone best describes the article?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entirely pessimistic without evidence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comic and unrelated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analytical and cautiously optimistic</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attributes information to a source?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السَّاحِلِ</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وَفْقًا لِبَيَانَاتِ البَلَدِيَّةِ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according to …</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limitation of smart systems is acknowledged?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cost and privacy concerns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cannot measure anything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always increase waste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مُكَلِّفَةٌ وَقَدْ تَجْمَعُ بَيَانَاتٍ شَخْصِيَّةً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the counterargument?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عَلَاوَةً عَلَى ذٰلِكَ</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ذٰلِكَ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نَتِيجَةً لِذٰلِكَ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nevertheless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mention electric transport?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practical way to reduce emissions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cause of all water scarcity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example of social media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تَسْتَثْمِرُ … فِي النَّقْلِ الكَهْرَبَائِيِّ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tone best describes the article?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entirely pessimistic without evidence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comic and unrelated</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analytical and cautiously optimistic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evidence + condition</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QUESTION 1 · ENVIRONMENTAL ACTION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Complete the environmental action profile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العَمَلِ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المُشْكِلَةُ البِيئِيَّةُ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environmental problem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سَبَبَانِ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Two causes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دَلِيلٌ أَوْ إِحْصَائِيَّةٌ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Evidence or a statistic</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حَلٌّ عَمَلِيٌّ</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practical solution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نَتِيجَةٌ مُتَوَقَّعَةٌ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An expected result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تَلَوُّثُ الهَوَاءِ</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عَوَادِمُ السَّيَّارَاتِ وَالمَصَانِعُ</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ارْتَفَعَ التَّلَوُّثُ بِنِسْبَةِ ١٠٪</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تَوْسِيعُ النَّقْلِ العَامِّ</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هَوَاءٌ أَنْظَفُ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Environment and technology article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مَقَالٌ عَنِ البِيئَةِ وَالتِّقْنِيَّةِ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An environmental issue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Its causes and effects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practical or technological solution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وَفْقًا لِـ · بِنِسْبَةِ · يُشَارُ إِلَى أَنَّ</a:t>
            </a:r>
            <a:endParaRPr lang="ar-SA" sz="20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Evidence (an example or a statistic)</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عَلَى الرَّغْمِ مِنْ أَنَّ … فَإِنَّ · شَرِيطَةَ أَنْ</a:t>
            </a:r>
            <a:endParaRPr lang="ar-SA" sz="20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limitation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Build the D4 chain (D4-L11) in four paragraphs (D4-L09), then check -a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Environmental discussion and topic conversation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ahammi al-mushkilāti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Identify one environmental or technological issue.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bi-sababi … mimmā yuʾaddī ilā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Explain its causes and consequences.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yajibu ʿalā … an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Propose and evaluate one solution.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wafqan li- … bi-nisbati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Use one precise example or statistic.</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ḥaddin mā · sharīṭata an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Respond to a follow-up question and justify your view.</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prepare concise cues, not a script. Self-correct if you slip (</a:t>
            </a:r>
            <a:pPr algn="l" indent="0" marL="0">
              <a:buNone/>
            </a:pPr>
            <a:r>
              <a:rPr lang="ar-SA" altLang="en-US" sz="1500" b="1" dirty="0">
                <a:solidFill>
                  <a:srgbClr val="1B3B6F"/>
                </a:solidFill>
                <a:latin typeface="Amiri" pitchFamily="2" charset="-78"/>
                <a:ea typeface="Amiri" pitchFamily="2" charset="-78"/>
                <a:cs typeface="Amiri" pitchFamily="2" charset="-78"/>
              </a:rPr>
              <a:t>لِأُصَحِّحْ ذٰلِكَ</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D4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environmental discussion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D4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D4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the climate and weather of a 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an environmental problem and its 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propose a solution with </a:t>
            </a:r>
            <a:pPr algn="l" indent="0" marL="0">
              <a:buNone/>
            </a:pPr>
            <a:r>
              <a:rPr lang="ar-SA" altLang="en-US" sz="1700" dirty="0">
                <a:solidFill>
                  <a:srgbClr val="1F2A37"/>
                </a:solidFill>
                <a:latin typeface="Amiri" pitchFamily="2" charset="-78"/>
                <a:ea typeface="Amiri" pitchFamily="2" charset="-78"/>
                <a:cs typeface="Amiri" pitchFamily="2" charset="-78"/>
              </a:rPr>
              <a:t>يَجِبُ عَلَى … أَنْ … لِكَيْ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read and report statistics and sources.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balanced, qualified article about technology.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D4-L12 · D4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D5-L01 · Hobbies and Free Time — Vocabulary and Present Habits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hobby</a:t>
            </a:r>
            <a:pPr indent="0" marL="0">
              <a:buNone/>
            </a:pPr>
            <a:r>
              <a:rPr lang="ar-SA" sz="1000" i="1" dirty="0">
                <a:solidFill>
                  <a:srgbClr val="5A6472"/>
                </a:solidFill>
                <a:latin typeface="Calibri" pitchFamily="34" charset="0"/>
                <a:ea typeface="Amiri" pitchFamily="2" charset="-78"/>
                <a:cs typeface="Amiri" pitchFamily="2" charset="-78"/>
              </a:rPr>
              <a:t>  pl. هِوَايَاتٌ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وَقْتُ الفَرَاغِ</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free time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يُمَارِسُ الرِّيَاضَةَ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practises sport</a:t>
            </a:r>
            <a:pPr indent="0" marL="0">
              <a:buNone/>
            </a:pPr>
            <a:r>
              <a:rPr lang="ar-SA" sz="1000" i="1" dirty="0">
                <a:solidFill>
                  <a:srgbClr val="5A6472"/>
                </a:solidFill>
                <a:latin typeface="Calibri" pitchFamily="34" charset="0"/>
                <a:ea typeface="Amiri" pitchFamily="2" charset="-78"/>
                <a:cs typeface="Amiri" pitchFamily="2" charset="-78"/>
              </a:rPr>
              <a:t>  تُمَارِسُ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يَعْزِفُ عَلَى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plays (an instrument)</a:t>
            </a:r>
            <a:pPr indent="0" marL="0">
              <a:buNone/>
            </a:pPr>
            <a:r>
              <a:rPr lang="ar-SA" sz="1000" i="1" dirty="0">
                <a:solidFill>
                  <a:srgbClr val="5A6472"/>
                </a:solidFill>
                <a:latin typeface="Calibri" pitchFamily="34" charset="0"/>
                <a:ea typeface="Amiri" pitchFamily="2" charset="-78"/>
                <a:cs typeface="Amiri" pitchFamily="2" charset="-78"/>
              </a:rPr>
              <a:t>  تَعْزِفُ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مَرَّتَيْنِ فِي الأُسْبُوعِ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twice a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in your free time, and how often?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وَقْتِ فَرَاغِي … مَرَّتَيْنِ فِي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D4-L12 section with your lowest score; learn the five hobby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then learn the five hobby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about your hobbies, with a frequency and a reason,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D5-L01 · Hobbies and Free Time — Vocabulary and Present Habits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الهِوَايَاتُ وَوَقْتُ الفَرَاغِ</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D4 complete — well done! Carry the D4 chain into D5: describe, explain, give evidence, judge with a condition.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D4-L12 · Review and Unit Assessment: Environment, Weather and Technology</dc:title>
  <dc:subject>PptxGenJS Presentation</dc:subject>
  <dc:creator>Al Madina Online School · Arabic Department</dc:creator>
  <cp:lastModifiedBy>Al Madina Online School · Arabic Department</cp:lastModifiedBy>
  <cp:revision>1</cp:revision>
  <dcterms:created xsi:type="dcterms:W3CDTF">2026-10-11T06:40:56Z</dcterms:created>
  <dcterms:modified xsi:type="dcterms:W3CDTF">2026-10-11T06:40:56Z</dcterms:modified>
</cp:coreProperties>
</file>