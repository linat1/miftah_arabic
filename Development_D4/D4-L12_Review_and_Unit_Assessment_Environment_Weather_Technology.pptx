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Grammar laboratory (not marked) · 6–7 Assessment map · 7–21 Listening (20) · 21–29 Reading (10) · 29–46 Writing (20) · 46–56 Speaking (10, one-to-one or trusted pairs) · 56–60 Profile and D5 target.
FLEX slides are optional. Use them if the class is moving quickly; otherwise the same activities are on the website for homework.
Content source: Miftah Arabic website, Pathways › Development › D4 Environment, Weather and Technology › D4-L12. The website D4-L12 is a four-skill, 60-mark unit assessment: the complete D4 language vault (all eleven lessons), a twelve-question cumulative grammar laboratory, Part A listening (three recordings — climate and water · two views on technology · smart-city report: 20 questions × 1 = 20), Part B reading (an environment–technology article: 10), Part C writing (five-field environmental action profile 5 + 130–140-word article 15, marked task / range / accuracy) and Part D speaking (environmental discussion + topic conversation: 10), then an evidence-based D5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NOTE: the reading article recycles the D4-L08 council data (18%) — students who revised closely have an advantage; that is fine (it rewards revision), but mark the WRITING strictly for originality.
• Website: “Complete each section independently, then record a precise D5 target.”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01 complete D4 language vault · 02 cumulative grammar laboratory · 03 Part A listening · 04 Part B reading · 05 Part C writing · 06 Part D speaking · 07 reflection and D5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D4-L11. Questions 2–5 are from the website twelve-question cumulative grammar laboratory (used diagnostically; items that differ only in vowel endings are reviewed on the next slide instead).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find ONE check for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“Cumulative grammar laboratory”, correct answers): يَتَّسِمُ السَّاحِلُ بِمَنَاخٍ مُعْتَدِلٍ · تَهُبُّ الرِّيَاحُ وَتَسْقُطُ الثُّلُوجُ · يُلَوَّثُ الهَوَاءُ بِعَوَادِمِ السَّيَّارَاتِ · يُؤَدِّي إِلَى · يَنْبَغِي أَنْ نُقَلِّلَ النُّفَايَاتِ · أَنْ يُعِيدُوا التَّدْوِيرَ · إِذَا لَمْ نُرَشِّدِ المِيَاهَ، فَسَتَزْدَادُ الأَزْمَةُ · يَنْضَبُ النِّفْطُ وَتَشِحُّ المِيَاهُ · يُشَارُ إِلَى أَنَّ المَنَاخَ يَتَغَيَّرُ · يُتَوَقَّعُ أَنْ يَزْدَادَ الطَّلَبُ · عَلَى الرَّغْمِ مِنْ أَنَّ المَشْرُوعَ مُكَلِّفٌ، فَإِنَّهُ يُوَفِّرُ الطَّاقَةَ لَاحِقًا · مُفِيدَةٌ إِلَى حَدٍّ مَا، شَرِيطَةَ أَنْ تُطَبَّقَ بِمَسْؤُولِيَّةٍ.
(The website item 7 prints نُرَشِّدْ المِيَاهَ; before the article the sukūn becomes kasra: نُرَشِّدِ المِيَاهَ.)
The website language vault (all D4 vocabulary by lesson) is for revision BEFORE the assessment — close it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“Four skills · one evidence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1–4 (website Part A, 20 marks: 20 questions × 1). Read the recording twice at natural pace (website: “each of the three recordings may be played twice”); students answer after the second reading.
SCRIPT: يَسُودُ المَنَاخُ الصَّحْرَاوِيُّ الجَافُّ فِي دَاخِلِ بَعْضِ الدُّوَلِ العَرَبِيَّةِ، وَيُشَارُ إِلَى أَنَّ فَتَرَاتِ الجَفَافِ أَصْبَحَتْ أَطْوَلَ. وَنَتِيجَةً لِذٰلِكَ، يَزْدَادُ الضَّغْطُ عَلَى المِيَاهِ الجَوْفِيَّةِ. يَقْتَرِحُ الخَبِيرُ إِعَادَةَ اسْتِخْدَامِ المِيَاهِ وَتَرْشِيدَ الاسْتِهْلَاكِ.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Website: reveal the script only after the attempt; ask which final or corrected detail caught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5–8 (website Part A, 20 marks: 20 questions × 1). Read the recording twice at natural pace (website: “each of the three recordings may be played twice”); students answer after the second reading.
SCRIPT: يَسُودُ المَنَاخُ الصَّحْرَاوِيُّ الجَافُّ فِي دَاخِلِ بَعْضِ الدُّوَلِ العَرَبِيَّةِ، وَيُشَارُ إِلَى أَنَّ فَتَرَاتِ الجَفَافِ أَصْبَحَتْ أَطْوَلَ. وَنَتِيجَةً لِذٰلِكَ، يَزْدَادُ الضَّغْطُ عَلَى المِيَاهِ الجَوْفِيَّةِ. يَقْتَرِحُ الخَبِيرُ إِعَادَةَ اسْتِخْدَامِ المِيَاهِ وَتَرْشِيدَ الاسْتِهْلَاكِ.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Website: reveal the script only after the attempt; ask which final or corrected detail caught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 6 QUESTIONS (website Part A, 20 marks: 20 questions × 1). Read the recording twice at natural pace (website: “each of the three recordings may be played twice”); students answer after the second reading.
SCRIPT: سَلْمَى: أُؤَيِّدُ الطَّاقَةَ الشَّمْسِيَّةَ وَالشَّبَكَاتِ الذَّكِيَّةَ لِأَنَّهَا تُقَلِّلُ الهَدْرَ. عُمَرُ: أُوَافِقُ عَلَى تَقْلِيلِ الهَدْرِ، وَلٰكِنِّي أَخْشَى ارْتِفَاعَ التَّكْلِفَةِ وَجَمْعَ البَيَانَاتِ الشَّخْصِيَّةِ. سَلْمَى: إِذَنْ نَحْنُ مُتَّفِقَانِ عَلَى الهَدَفِ، وَلٰكِنَّنَا نَخْتَلِفُ فِي طَرِيقَةِ التَّطْبِيقِ.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Website: reveal the script only after the attempt; ask which final or corrected detail caught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 6 QUESTIONS (website Part A, 20 marks: 20 questions × 1). Read the recording twice at natural pace (website: “each of the three recordings may be played twice”); students answer after the second reading.
SCRIPT: تُمَثِّلُ الطَّاقَةُ المُتَجَدِّدَةُ خَمْسًا وَثَلَاثِينَ فِي المِئَةِ مِنْ إِنْتَاجِ الكَهْرَبَاءِ فِي المَدِينَةِ. وَكَانَ مِنَ المُقَرَّرِ اكْتِمَالُ شَبَكَةِ النَّقْلِ فِي عَامِ ٢٠٣٠، وَلٰكِنَّ المَوْعِدَ الجَدِيدَ هُوَ ٢٠٣٢. وَيُؤَكِّدُ الخَبِيرُ أَنَّ التِّقْنِيَّةَ وَحْدَهَا لَا تَكْفِي؛ بَلْ يَجِبُ أَنْ يَتَغَيَّرَ سُلُوكُ المُسْتَخْدِمِينَ أَيْضًا.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Website: reveal the script only after the attempt; ask which final or corrected detail caught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 No English support on assessment texts. Website strategy: “Locate · infer ·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 “locate · infer · prove”).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 “locate · infer · prove”).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1 (website, 5 marks): one mark per field completed accurately in Arabic (a phrase is enough; spelling and agreement must be correct for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2 (website, 15 marks: Task 5 · Range 5 · Accuracy 5): 130–140 words explaining an environmental issue, causes and effects, a practical or technological solution, evidence and one limitation. The D4-L11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(website, 10 marks). Teacher questions (D4-L11 prompts): مَا أَهَمُّ مُشْكِلَةٍ بِيئِيَّةٍ فِي رَأْيِكَ؟ · مَا أَسْبَابُهَا وَنَتَائِجُهَا؟ · مَا الحَلُّ الَّذِي تَقْتَرِحُهُ؟ · هَلِ التِّقْنِيَّةُ جُزْءٌ مِنَ الحَلِّ؟ · هَلْ هُنَاكَ حُدُودٌ لِهٰذَا الحَلِّ؟
To a girl: رَأْيِكِ · تَقْتَرِحِينَهُ.
Suggested marking: communication and development 4 · range 3 · accuracy and pronunciation 3. ORGANISATION: one-to-one while others finish writing, or trusted pairs with the teacher as interviewer.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“D4 reflection and D5 readiness”: “Record one secure language feature and one precise next action.”). The bands are a teacher guide in line with the D1–D3 assessments.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(D5-L01 · Hobbies and Free Time — Vocabulary and Present Habits) will spend class time USING this language, so students prepare it tonight — short, simple, easy to access (school guidance: “Simple, Short, Interesting, Relevant, Easy to access”). D5 begins with hobbies and free time (website D5-L01 “Hobbies and Free Time — Vocabulary and Present Habits”).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Environment, Weather and Technology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climate, weather, environmental problems, resources and technology — then choose one precise next step for D5.</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D4-L12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D4</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laboratory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D4 chain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recordings,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D5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D5: hobbies.</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laboratory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مَعَايِيرُ التَّصْحِيحِ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comprehension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marking criteria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assessment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climate description.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يَتَّسِمُ السَّاحِلُ بِمَنَاخٍ مُعْتَدِلٍ.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يَتَّسِمُ السَّاحِلُ إِلَى مَنَاخٍ مُعْتَدِلٍ.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يَتَّسِمُ السَّاحِلُ عَلَى مَنَاخٍ مُعْتَدِلٍ.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must be followed by </a:t>
            </a:r>
            <a:pPr algn="l" indent="0" marL="0">
              <a:buNone/>
            </a:pPr>
            <a:r>
              <a:rPr lang="ar-SA" altLang="en-US" sz="1650" b="1" dirty="0">
                <a:solidFill>
                  <a:srgbClr val="1B3B6F"/>
                </a:solidFill>
                <a:latin typeface="Amiri" pitchFamily="2" charset="-78"/>
                <a:ea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five-verb form is accurate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يُعِيدُونَ التَّدْوِيرَ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يُعِيدُ التَّدْوِيرَ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يُعِيدُوا التَّدْوِيرَ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is balanced and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مُفِيدَةٌ إِلَى حَدٍّ مَا، شَرِيطَةَ أَنْ تُطَبَّقَ بِمَسْؤُولِيَّةٍ.</a:t>
            </a:r>
            <a:endParaRPr lang="ar-SA" sz="14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مُفِيدَةٌ دَائِمًا دُونَ شُرُوطٍ.</a:t>
            </a:r>
            <a:endParaRPr lang="ar-SA" sz="14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غَيْرُ مُفِيدَةٍ لِأَنَّهَا تِقْنِيَّةٌ.</a:t>
            </a:r>
            <a:endParaRPr lang="ar-SA" sz="14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مَعَايِيرُ التَّصْحِيحِ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comprehension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marking criteria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assessment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climate description.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يَتَّسِمُ السَّاحِلُ بِمَنَاخٍ مُعْتَدِلٍ.</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يَتَّسِمُ السَّاحِلُ إِلَى مَنَاخٍ مُعْتَدِلٍ.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يَتَّسِمُ السَّاحِلُ عَلَى مَنَاخٍ مُعْتَدِلٍ.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must be followed by </a:t>
            </a:r>
            <a:pPr algn="l" indent="0" marL="0">
              <a:buNone/>
            </a:pPr>
            <a:r>
              <a:rPr lang="ar-SA" altLang="en-US" sz="1650" b="1" dirty="0">
                <a:solidFill>
                  <a:srgbClr val="1B3B6F"/>
                </a:solidFill>
                <a:latin typeface="Amiri" pitchFamily="2" charset="-78"/>
                <a:ea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يُؤَدِّي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five-verb form is accurate after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يُعِيدُونَ التَّدْوِيرَ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يُعِيدُ التَّدْوِيرَ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 يُعِيدُوا التَّدْوِيرَ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6: the nūn drops.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is balanced and conditional?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مُفِيدَةٌ إِلَى حَدٍّ مَا، شَرِيطَةَ أَنْ تُطَبَّقَ بِمَسْؤُولِيَّةٍ.</a:t>
            </a:r>
            <a:endParaRPr lang="ar-SA" sz="14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مُفِيدَةٌ دَائِمًا دُونَ شُرُوطٍ.</a:t>
            </a:r>
            <a:endParaRPr lang="ar-SA" sz="14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غَيْرُ مُفِيدَةٍ لِأَنَّهَا تِقْنِيَّةٌ.</a:t>
            </a:r>
            <a:endParaRPr lang="ar-SA" sz="14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12.</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find ONE check for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المُطَابَقَةُ · حَرْفُ الجَرِّ · أَنْ / أَنَّ · الحُكْمُ المُتَوَازِنُ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D4 GRAMMAR SYSTEM (WEBSITE GRAMMAR LABORATORY)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D4 chain before you write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CLIMATE + AGREEMENT</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يَسُودُ · تَهُبُّ الرِّيَاحُ</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تَهُبُّ الرِّيَاحُ وَتَسْقُطُ الثُّلُوجُ.</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winds blow and the snow falls.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Non-human plurals: tu-.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PROBLEM + RESULT</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يُلَوَّثُ · يُؤَدِّي إِلَى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يُلَوَّثُ الهَوَاءُ بِعَوَادِمِ السَّيَّارَاتِ.</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air is polluted by car exhaust.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True passive.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SOLUTION + JUDGEMENT</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 / لَمْ · شَرِيطَةَ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يَنْبَغِي أَنْ نُقَلِّلَ النُّفَايَاتِ.</a:t>
            </a:r>
            <a:endParaRPr lang="ar-SA" sz="28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should reduce waste.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an: -a; after lam: sukūn.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grammar laboratory: impersonal reporting uses anna, then -a.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يُشَارُ إِلَى أَنَّ المَنَاخَ يَتَغَيَّرُ.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يُشَارُ إِلَى أَنْ المَنَاخُ يَتَغَيَّرُ.</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recordings (each heard twice): climate and water · two views on technology · a smart-city report — 20 questions, 1 mark each</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environment–technology article: locate, infer and prove — 10 questions</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environmental action profile (5) + a 130–140-word article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environmental discussion + a topic conversation</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and water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region has the driest climate?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northern coast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interior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mountain summit</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become longer?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drought periods</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live streams</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terms</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consequence is named?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snowfall everywhere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lower demand for water</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greater pressure on groundwater</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solution is proposed?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greater waste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reuse and conservation</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fossil-fuel use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and water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region has the driest climate?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northern coast</a:t>
            </a:r>
            <a:endParaRPr lang="en-US" sz="1250" dirty="0"/>
          </a:p>
        </p:txBody>
      </p:sp>
      <p:sp>
        <p:nvSpPr>
          <p:cNvPr id="22" name="Shape 19"/>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interior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mountain summit</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دَاخِلِ بَعْضِ الدُّوَلِ العَرَبِيَّةِ</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become longer?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drought periods</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live streams</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terms</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فَتَرَاتِ الجَفَافِ أَصْبَحَتْ أَطْوَلَ</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consequence is named?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snowfall everywhere</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lower demand for water</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greater pressure on groundwater</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يَزْدَادُ الضَّغْطُ عَلَى المِيَاهِ الجَوْفِيَّةِ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solution is proposed?</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greater waste</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reuse and conservation</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fossil-fuel use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إِعَادَةَ اسْتِخْدَامِ المِيَاهِ وَتَرْشِيدَ الاسْتِهْلَاكِ</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and water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formal phrase introduces reported information?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نَاحِيَةٍ أُخْرَى</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responses are recommended?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groundwater extraction and more waste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panels and password sharing</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reuse and reduced consumption</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overall topic?</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social-media fashion</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climate-related water pressure</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timetable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idea is NOT mentioned?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groundwater pressure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increasing fossil-fuel use</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longer drought</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and water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formal phrase introduces reported information?</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يُشَارُ إِلَى أَنَّ</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 أُخْرَى</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وَيُشَارُ إِلَى أَنَّ …</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responses are recommended?</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groundwater extraction and more waste</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solar panels and password sharing</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reuse and reduced consumption</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إِعَادَةَ اسْتِخْدَامِ … وَتَرْشِيدَ الاسْتِهْلَاكِ</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overall topic?</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social-media fashion</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climate-related water pressure</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timetable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dry climate → drought → groundwater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idea is NOT mentioned?</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groundwater pressure</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increasing fossil-fuel use</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longer drought</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fossil fuels in the text.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views on technology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Salma support?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fossil fuels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removing public transport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energy and smart grids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Omar’s main reservation?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technology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 cost and privacy risk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weather is cold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both speakers support?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increasing consumption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reducing waste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sharing passwords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the speakers disagree?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whether waste should be reduced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whether the environment exists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the technology should be implemented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Salma support smart grids?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reduce waste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collect more private data</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replace all human decisions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best summarises the exchange?</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discuss weather only</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 goal, different method and safeguards</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disagree about every point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Two views on technology: answers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Salma support?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fossil fuels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removing public transport</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solar energy and smart grids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أُؤَيِّدُ الطَّاقَةَ الشَّمْسِيَّةَ وَالشَّبَكَاتِ الذَّكِيَّةَ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Omar’s main reservation?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technology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high cost and privacy risk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weather is cold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ارْتِفَاعَ التَّكْلِفَةِ وَجَمْعَ البَيَانَاتِ الشَّخْصِيَّةِ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both speakers support?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increasing consumption</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reducing waste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sharing passwords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أُوَافِقُ عَلَى تَقْلِيلِ الهَدْرِ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the speakers disagree?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whether waste should be reduced</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whether the environment exists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how the technology should be implemented</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نَخْتَلِفُ فِي طَرِيقَةِ التَّطْبِيقِ</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Salma support smart grids?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reduce waste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collect more private data</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replace all human decisions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لِأَنَّهَا تُقَلِّلُ الهَدْرَ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best summarises the exchange?</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discuss weather only</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same goal, different method and safeguards</a:t>
            </a:r>
            <a:endParaRPr lang="en-US" sz="11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disagree about every point</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مُتَّفِقَانِ عَلَى الهَدَفِ … نَخْتَلِفُ فِي طَرِيقَةِ التَّطْبِيقِ</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Smart-city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percentage of electricity is renewable?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changed from the original plan?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changed country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completion moved from 2030 to 2032</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percentage became zero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expert’s final judgement?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environmental action is useful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alone solves everything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 responsible behaviour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35% measure?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renewable share of electricity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fall in water demand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 of buses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original completion year?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2032</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2030</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2025</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introduces the expert’s conclusion?</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يُؤَكِّدُ</a:t>
            </a:r>
            <a:endParaRPr lang="ar-SA" sz="20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يَتَفَاعَلُ مَعَ</a:t>
            </a:r>
            <a:endParaRPr lang="ar-SA" sz="20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يُعَلِّقُ عَلَى</a:t>
            </a:r>
            <a:endParaRPr lang="ar-SA" sz="20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Smart-city report: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percentage of electricity is renewable?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خَمْسًا وَثَلَاثِينَ فِي المِئَةِ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changed from the original plan?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 changed country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completion moved from 2030 to 2032</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percentage became zero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وَلٰكِنَّ المَوْعِدَ الجَدِيدَ هُوَ ٢٠٣٢</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expert’s final judgement?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environmental action is useful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technology alone solves everything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technology + responsible behaviour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التِّقْنِيَّةَ وَحْدَهَا لَا تَكْفِي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35% measure?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renewable share of electricity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fall in water demand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number of buses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إِنْتَاجِ الكَهْرَبَاءِ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original completion year?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2032</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2030</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2025</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 مِنَ المُقَرَّرِ … ٢٠٣٠</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introduces the expert’s conclusion?</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يُؤَكِّدُ</a:t>
            </a:r>
            <a:endParaRPr lang="ar-SA" sz="170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يَتَفَاعَلُ مَعَ</a:t>
            </a:r>
            <a:endParaRPr lang="ar-SA" sz="170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يُعَلِّقُ عَلَى</a:t>
            </a:r>
            <a:endParaRPr lang="ar-SA" sz="170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وَيُؤَكِّدُ الخَبِيرُ أَنَّ …</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Technology and the environment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التِّقْنِيَّةُ وَالبِيئَةُ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يُشَارُ إِلَى أَنَّ تَغَيُّرَ المَنَاخِ يَزِيدُ شُحَّ المِيَاهِ فِي مَنَاطِقَ عَرَبِيَّةٍ عِدَّةٍ. فَبِسَبَبِ طُولِ فَتَرَاتِ الجَفَافِ، يَنْخَفِضُ المَخْزُونُ الجَوْفِيُّ وَتَتَضَرَّرُ الزِّرَاعَةُ. وَفِي المُدُنِ، يُلَوَّثُ الهَوَاءُ بِعَوَادِمِ السَّيَّارَاتِ. لِذٰلِكَ تَسْتَثْمِرُ بَعْضُ البَلَدِيَّاتِ فِي النَّقْلِ الكَهْرَبَائِيِّ وَالأَنْظِمَةِ الذَّكِيَّةِ. وَفْقًا لِبَيَانَاتِ إِحْدَى البَلَدِيَّاتِ، انْخَفَضَ اسْتِهْلَاكُ الكَهْرَبَاءِ فِي المَبَانِي العَامَّةِ بِنِسْبَةِ ١٨٪ بَعْدَ تَرْكِيبِ أَنْظِمَةٍ تُطْفِئُ الإِضَاءَةَ فِي الغُرَفِ الفَارِغَةِ. مَعَ ذٰلِكَ، هٰذِهِ الحُلُولُ مُكَلِّفَةٌ وَقَدْ تَجْمَعُ بَيَانَاتٍ شَخْصِيَّةً. فِي رَأْيِي، التِّقْنِيَّةُ جُزْءٌ مُهِمٌّ مِنَ الحَلِّ، شَرِيطَةَ أَنْ تُحْمَى الخُصُوصِيَّةُ وَأَنْ تَصْحَبَهَا سِيَاسَاتٌ وَسُلُوكٌ مَسْؤُولٌ.</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article’s central argument?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has no environmental 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helps but cannot replace policy and behaviour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weather vocabulary is the only issue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problem is linked to longer drought?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clothing prices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cyberbullying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scarcity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foregrounds an environmental result?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يَسْتَخْدِمُ النَّاسُ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تُسَاعِدُ الشَّبَكَةُ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datum is used as evidence?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likes green buildings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electricity use fell 18% in public buildings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has a long name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لِأَنَّهَا تُقَلِّلُ الهَدْرَ</a:t>
            </a:r>
            <a:pPr algn="l" indent="0" marL="0">
              <a:buNone/>
            </a:pPr>
            <a:r>
              <a:rPr lang="en-US" sz="1250" b="1" dirty="0">
                <a:solidFill>
                  <a:srgbClr val="1B3B6F"/>
                </a:solidFill>
                <a:latin typeface="Calibri" pitchFamily="34" charset="0"/>
                <a:cs typeface="Amiri" pitchFamily="2" charset="-78"/>
              </a:rPr>
              <a:t>” about systems in buildings, “-hā” refers to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الأَنْظِمَةُ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المَبَانِي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الهَدْرُ</a:t>
            </a:r>
            <a:endParaRPr lang="ar-SA" sz="2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article’s central argument?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technology has no environmental use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technology helps but cannot replace policy and behaviour</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weather vocabulary is the only issue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جُزْءٌ مُهِمٌّ مِنَ الحَلِّ، شَرِيطَةَ أَنْ …</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problem is linked to longer drought?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clothing prices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cyberbullying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scarcity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شُحَّ المِيَاهِ … طُولِ فَتَرَاتِ الجَفَافِ</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foregrounds an environmental result?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يُلَوَّثُ الهَوَاءُ</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يَسْتَخْدِمُ النَّاسُ</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تُسَاعِدُ الشَّبَكَةُ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air is the affected subject.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datum is used as evidence?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likes green buildings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electricity use fell 18% in public buildings</a:t>
            </a:r>
            <a:endParaRPr lang="en-US" sz="12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 has a long name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بِنِسْبَةِ ١٨٪</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لِأَنَّهَا تُقَلِّلُ الهَدْرَ</a:t>
            </a:r>
            <a:pPr algn="l" indent="0" marL="0">
              <a:buNone/>
            </a:pPr>
            <a:r>
              <a:rPr lang="en-US" sz="1250" b="1" dirty="0">
                <a:solidFill>
                  <a:srgbClr val="1B3B6F"/>
                </a:solidFill>
                <a:latin typeface="Calibri" pitchFamily="34" charset="0"/>
                <a:cs typeface="Amiri" pitchFamily="2" charset="-78"/>
              </a:rPr>
              <a:t>” about systems in buildings, “-hā” refers to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الأَنْظِمَةُ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المَبَانِي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الهَدْرُ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systems reduce waste.</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attributes information to a source?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نَاحِيَةٍ أُخْرَى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السَّاحِلِ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وَفْقًا لِبَيَانَاتِ البَلَدِيَّةِ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limitation of smart systems is acknowledged?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cost and privacy concerns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cannot measure anything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always increase waste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the counterargument?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عَلَاوَةً عَلَى ذٰلِكَ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ذٰلِكَ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لِذٰلِكَ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mention electric transport?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practical way to reduce emissions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cause of all water scarcity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example of social media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tone best describes the article?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entirely pessimistic without evidence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comic and unrelated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analytical and cautiously optimistic</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attributes information to a source?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 أُخْرَى</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السَّاحِلِ</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وَفْقًا لِبَيَانَاتِ البَلَدِيَّةِ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according to …</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limitation of smart systems is acknowledged?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cost and privacy concerns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cannot measure anything</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always increase waste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مُكَلِّفَةٌ وَقَدْ تَجْمَعُ بَيَانَاتٍ شَخْصِيَّةً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the counterargument?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عَلَاوَةً عَلَى ذٰلِكَ</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ذٰلِكَ</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لِذٰلِكَ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nevertheless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mention electric transport?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practical way to reduce emissions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cause of all water scarcity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example of social media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تَسْتَثْمِرُ … فِي النَّقْلِ الكَهْرَبَائِيِّ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tone best describes the article?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entirely pessimistic without evidence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comic and unrelated</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analytical and cautiously optimistic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evidence + condition</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QUESTION 1 · ENVIRONMENTAL ACTION PROFILE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Complete the environmental action profile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العَمَلِ البِيئِيِّ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المُشْكِلَةُ البِيئِيَّةُ</a:t>
            </a:r>
            <a:endParaRPr lang="ar-SA" sz="22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environmental problem</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سَبَبَانِ</a:t>
            </a:r>
            <a:endParaRPr lang="ar-SA" sz="22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Two causes</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دَلِيلٌ أَوْ إِحْصَائِيَّةٌ</a:t>
            </a:r>
            <a:endParaRPr lang="ar-SA" sz="22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Evidence or a statistic</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حَلٌّ عَمَلِيٌّ</a:t>
            </a:r>
            <a:endParaRPr lang="ar-SA" sz="22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 practical solution</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نَتِيجَةٌ مُتَوَقَّعَةٌ</a:t>
            </a:r>
            <a:endParaRPr lang="ar-SA" sz="22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An expected result</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ea typeface="Amiri" pitchFamily="2" charset="-78"/>
                <a:cs typeface="Amiri" pitchFamily="2" charset="-78"/>
              </a:rPr>
              <a:t>تَلَوُّثُ الهَوَاءِ</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عَوَادِمُ السَّيَّارَاتِ وَالمَصَانِعُ</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ارْتَفَعَ التَّلَوُّثُ بِنِسْبَةِ ١٠٪</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تَوْسِيعُ النَّقْلِ العَامِّ</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هَوَاءٌ أَنْظَفُ</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130–140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Environment and technology article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 عَنِ البِيئَةِ وَالتِّقْنِيَّةِ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Marked for (website)</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Include all five points</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601968" y="2267712"/>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/5 — all points developed</a:t>
            </a:r>
            <a:endParaRPr lang="en-US" sz="1100" dirty="0"/>
          </a:p>
        </p:txBody>
      </p:sp>
      <p:sp>
        <p:nvSpPr>
          <p:cNvPr id="20" name="Text 17"/>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An environmental issue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601968" y="3004718"/>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 — varied grammar and vocabulary</a:t>
            </a:r>
            <a:endParaRPr lang="en-US" sz="1100" dirty="0"/>
          </a:p>
        </p:txBody>
      </p:sp>
      <p:sp>
        <p:nvSpPr>
          <p:cNvPr id="25" name="Text 22"/>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Its causes and effects</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601968" y="3741725"/>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 — agreement, patterns, spelling</a:t>
            </a:r>
            <a:endParaRPr lang="en-US" sz="1100" dirty="0"/>
          </a:p>
        </p:txBody>
      </p:sp>
      <p:sp>
        <p:nvSpPr>
          <p:cNvPr id="30" name="Text 27"/>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 practical or technological solution</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583680" y="4478731"/>
            <a:ext cx="50566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وَفْقًا لِـ · بِنِسْبَةِ · يُشَارُ إِلَى أَنَّ</a:t>
            </a:r>
            <a:endParaRPr lang="ar-SA" sz="2000" dirty="0"/>
          </a:p>
        </p:txBody>
      </p:sp>
      <p:sp>
        <p:nvSpPr>
          <p:cNvPr id="35" name="Text 32"/>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Evidence (an example or a statistic)</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6583680" y="5215738"/>
            <a:ext cx="50566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عَلَى الرَّغْمِ مِنْ أَنَّ … فَإِنَّ · شَرِيطَةَ أَنْ</a:t>
            </a:r>
            <a:endParaRPr lang="ar-SA" sz="2000" dirty="0"/>
          </a:p>
        </p:txBody>
      </p:sp>
      <p:sp>
        <p:nvSpPr>
          <p:cNvPr id="40" name="Text 37"/>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limitation</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Build the D4 chain (D4-L11) in four paragraphs (D4-L09), then check -a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D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Environmental discussion and topic conversation</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Useful language</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Cue (website)</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ahammi al-mushkilāti …</a:t>
            </a:r>
            <a:endParaRPr lang="en-US" sz="1100" dirty="0"/>
          </a:p>
        </p:txBody>
      </p:sp>
      <p:sp>
        <p:nvSpPr>
          <p:cNvPr id="20" name="Text 17"/>
          <p:cNvSpPr txBox="1"/>
          <p:nvPr/>
        </p:nvSpPr>
        <p:spPr>
          <a:xfrm>
            <a:off x="566928" y="2267712"/>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Identify one environmental or technological issue.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bi-sababi … mimmā yuʾaddī ilā …</a:t>
            </a:r>
            <a:endParaRPr lang="en-US" sz="1100" dirty="0"/>
          </a:p>
        </p:txBody>
      </p:sp>
      <p:sp>
        <p:nvSpPr>
          <p:cNvPr id="25" name="Text 22"/>
          <p:cNvSpPr txBox="1"/>
          <p:nvPr/>
        </p:nvSpPr>
        <p:spPr>
          <a:xfrm>
            <a:off x="566928" y="3004718"/>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Explain its causes and consequences.</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yajibu ʿalā … an … li-kay …</a:t>
            </a:r>
            <a:endParaRPr lang="en-US" sz="1100" dirty="0"/>
          </a:p>
        </p:txBody>
      </p:sp>
      <p:sp>
        <p:nvSpPr>
          <p:cNvPr id="30" name="Text 27"/>
          <p:cNvSpPr txBox="1"/>
          <p:nvPr/>
        </p:nvSpPr>
        <p:spPr>
          <a:xfrm>
            <a:off x="566928" y="3741725"/>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Propose and evaluate one solution.</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wafqan li- … bi-nisbati …</a:t>
            </a:r>
            <a:endParaRPr lang="en-US" sz="1100" dirty="0"/>
          </a:p>
        </p:txBody>
      </p:sp>
      <p:sp>
        <p:nvSpPr>
          <p:cNvPr id="35" name="Text 32"/>
          <p:cNvSpPr txBox="1"/>
          <p:nvPr/>
        </p:nvSpPr>
        <p:spPr>
          <a:xfrm>
            <a:off x="566928" y="4478731"/>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Use one precise example or statistic.</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 ḥaddin mā · sharīṭata an …</a:t>
            </a:r>
            <a:endParaRPr lang="en-US" sz="1100" dirty="0"/>
          </a:p>
        </p:txBody>
      </p:sp>
      <p:sp>
        <p:nvSpPr>
          <p:cNvPr id="40" name="Text 37"/>
          <p:cNvSpPr txBox="1"/>
          <p:nvPr/>
        </p:nvSpPr>
        <p:spPr>
          <a:xfrm>
            <a:off x="566928" y="5215738"/>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Respond to a follow-up question and justify your view.</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prepare concise cues, not a script. Self-correct if you slip (</a:t>
            </a:r>
            <a:pPr algn="l" indent="0" marL="0">
              <a:buNone/>
            </a:pPr>
            <a:r>
              <a:rPr lang="ar-SA" altLang="en-US" sz="1500" b="1" dirty="0">
                <a:solidFill>
                  <a:srgbClr val="1B3B6F"/>
                </a:solidFill>
                <a:latin typeface="Amiri" pitchFamily="2" charset="-78"/>
                <a:ea typeface="Amiri" pitchFamily="2" charset="-78"/>
                <a:cs typeface="Amiri" pitchFamily="2" charset="-78"/>
              </a:rPr>
              <a:t>لِأُصَحِّحْ ذٰلِكَ</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D4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D4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confident environmental discussion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selected D4 lessons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reflection: My strongest D4 evidence was … · My precise next action is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the climate and weather of a place.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an environmental problem and its cause.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propose a solution with </a:t>
            </a:r>
            <a:pPr algn="l" indent="0" marL="0">
              <a:buNone/>
            </a:pPr>
            <a:r>
              <a:rPr lang="ar-SA" altLang="en-US" sz="1700" dirty="0">
                <a:solidFill>
                  <a:srgbClr val="1F2A37"/>
                </a:solidFill>
                <a:latin typeface="Amiri" pitchFamily="2" charset="-78"/>
                <a:ea typeface="Amiri" pitchFamily="2" charset="-78"/>
                <a:cs typeface="Amiri" pitchFamily="2" charset="-78"/>
              </a:rPr>
              <a:t>يَجِبُ عَلَى … أَنْ … لِكَيْ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and report statistics and sources.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balanced, qualified article about technology.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D4-L12 · D4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D5-L01 · Hobbies and Free Time — Vocabulary and Present Habits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هِوَايَةٌ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hobby</a:t>
            </a:r>
            <a:pPr indent="0" marL="0">
              <a:buNone/>
            </a:pPr>
            <a:r>
              <a:rPr lang="ar-SA" sz="1000" i="1" dirty="0">
                <a:solidFill>
                  <a:srgbClr val="5A6472"/>
                </a:solidFill>
                <a:latin typeface="Calibri" pitchFamily="34" charset="0"/>
                <a:ea typeface="Amiri" pitchFamily="2" charset="-78"/>
                <a:cs typeface="Amiri" pitchFamily="2" charset="-78"/>
              </a:rPr>
              <a:t>  pl. هِوَايَاتٌ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وَقْتُ الفَرَاغِ</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free time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يُمَارِسُ الرِّيَاضَةَ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practises sport</a:t>
            </a:r>
            <a:pPr indent="0" marL="0">
              <a:buNone/>
            </a:pPr>
            <a:r>
              <a:rPr lang="ar-SA" sz="1000" i="1" dirty="0">
                <a:solidFill>
                  <a:srgbClr val="5A6472"/>
                </a:solidFill>
                <a:latin typeface="Calibri" pitchFamily="34" charset="0"/>
                <a:ea typeface="Amiri" pitchFamily="2" charset="-78"/>
                <a:cs typeface="Amiri" pitchFamily="2" charset="-78"/>
              </a:rPr>
              <a:t>  تُمَارِسُ she</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يَعْزِفُ عَلَى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plays (an instrument)</a:t>
            </a:r>
            <a:pPr indent="0" marL="0">
              <a:buNone/>
            </a:pPr>
            <a:r>
              <a:rPr lang="ar-SA" sz="1000" i="1" dirty="0">
                <a:solidFill>
                  <a:srgbClr val="5A6472"/>
                </a:solidFill>
                <a:latin typeface="Calibri" pitchFamily="34" charset="0"/>
                <a:ea typeface="Amiri" pitchFamily="2" charset="-78"/>
                <a:cs typeface="Amiri" pitchFamily="2" charset="-78"/>
              </a:rPr>
              <a:t>  تَعْزِفُ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مَرَّتَيْنِ فِي الأُسْبُوعِ</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twice a week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do in your free time, and how often?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فِي وَقْتِ فَرَاغِي … مَرَّتَيْنِ فِي الأُسْبُوعِ.</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D4-L12 section with your lowest score; learn the five hobby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article, then learn the five hobby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about your hobbies, with a frequency and a reason, using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D5-L01 · Hobbies and Free Time — Vocabulary and Present Habits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الهِوَايَاتُ وَوَقْتُ الفَرَاغِ</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D4 complete — well done! Carry the D4 chain into D5: describe, explain, give evidence, judge with a condition.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D4-L12 · Review and Unit Assessment: Environment, Weather and Technology</dc:title>
  <dc:subject>PptxGenJS Presentation</dc:subject>
  <dc:creator>Al Madina Online School · Arabic Department</dc:creator>
  <cp:lastModifiedBy>Al Madina Online School · Arabic Department</cp:lastModifiedBy>
  <cp:revision>1</cp:revision>
  <dcterms:created xsi:type="dcterms:W3CDTF">2026-10-11T06:40:56Z</dcterms:created>
  <dcterms:modified xsi:type="dcterms:W3CDTF">2026-10-11T06:40:56Z</dcterms:modified>
</cp:coreProperties>
</file>