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Lst>
  <p:notesMasterIdLst>
    <p:notesMasterId r:id="rId47"/>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notesMaster" Target="notesMasters/notesMaster1.xml"/><Relationship Id="rId48" Type="http://schemas.openxmlformats.org/officeDocument/2006/relationships/presProps" Target="presProps.xml"/><Relationship Id="rId49" Type="http://schemas.openxmlformats.org/officeDocument/2006/relationships/viewProps" Target="viewProps.xml"/><Relationship Id="rId50" Type="http://schemas.openxmlformats.org/officeDocument/2006/relationships/theme" Target="theme/theme1.xml"/><Relationship Id="rId51"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LESSON AT A GLANCE — planned for 56 minutes, leaving about 4 minutes for Teams delays.
0–1 Welcome · 1–2 Lesson map · 2–9 Do Now + answers · 9–10 Objectives · 10–17 Key words · 17–23 Grammar · 23–25 Quick check · 25–28 I Do · 28–37 We Do · 37–49 You Do (speaking 3 + writing 9, with live feedback) · 49–54 Feedback (model, self-check, exit ticket) · 54–56 Preparation for next lesson.
FLEX slides are optional. Use them if the class is moving quickly; otherwise the same activities are on the website for homework.
Content source: Miftah Arabic website, Pathways › Development › D4 Environment, Weather and Technology › D4-L02. The website lesson “Weather Patterns — Describing and Comparing Weather”: vocabulary, grammar rules and quiz, patterns, common mistakes, sorter, listening, reading, speaking prompts and model, writing task and model, differentiation, final check and the lesson mission. Picture match: website visual game “Weather Patterns — Describing and Comparing Weather”.
All vocabulary, grammar rules, quizzes, the listening script, the reading text, speaking prompts and model answers come from those pages, so students meet the same language in class and at home. Anything teacher-made (Core scaffolds, riddles, translations) is labelled in the notes.
SUPPORT FOR THIS CLASS (Arabic not yet secure; mixed levels):
• Core: 10 weather words + four forecast verbs with the right first letter (يَسْقُطُ المَطَرُ but تَسْقُطُ الثُّلُوجُ / تَهُبُّ الرِّيَاحُ / تُشْرِقُ الشَّمْسُ) and one temperature. Develop: comparison (أَكْثَرُ حَرَارَةً مِنْ) and a range (تَتَرَاوَحُ بَيْنَ … وَ …). Stretch: a forecast with مِنَ المُتَوَقَّعِ أَنْ + verb in -a and a practical conclusion.
• Builds on D4-L01 (agreement: non-human plurals are feminine → الثُّلُوجُ / الرِّيَاحُ take ta-) and D3-L05 (comparison with min).
• UK link: compare London with Cairo / Amman / Dubai — students know UK weather well!
• Numbers: keep temperatures in digits on the board; say them in Arabic only for Stretch.
• TEACHER-WRITTEN ITEMS: several website quiz items had options differing only in final vowels (distractors replaced with meaningful errors); English added to the website speaking model.
• Colour code (same as all Miftah lessons): WHO = blue, MEANING = purple, ENDING = pink, PATTERN = orange, KEY WORD = teal.
• SEND “automatic doors”: lesson map, chunked tasks, read-along scripts with English, cover-the-text reading and “pass” for reading aloud are built in for everyone, so no one is singled out.
ROUTES: Core (green) = students whose Arabic is not yet secure; Develop (amber) = on track; Stretch (red) = confident. Same objective for everyone — the task changes, not the goal (EAL Guide: adapt the task, not the objective).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MAP (30 seconds) — SEND training: “absolute predictability”. Show the whole journey so students know what is coming and when they will be asked to speak or write. Point to the green box: using the Core supports is normal and expected (“automatic doors”).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(5 min independent + 2 min going through answers).
Questions 1–2 test two of the five words prepared at home at the end of D4-L01. Questions 3–4 retrieve D4-L01 (agreement, yattasimu bi-); question 5 retrieves D3-L05 (comparison with min).
• Students work silently. Answers go in the chat as five letters only when the timer ends.
• Core students may answer in English and use their book.
• While they work: register, note late joiners, note anyone not attempting (Self-Management).
• Go THROUGH the answers on the next slide — ask one student (after thinking time) to explain WHY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(2 min). Reveal and ask “why?” for each (● 10s think → named student, warned in advance).
Key idea for today (bottom-right card): The weather is the SUBJECT: “falls the rain”, “blow the winds” — and the verb agrees with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OBJECTIVES (1 min).
Left: the lesson objectives exactly as they appear on the website.
Right: the same objectives broken into three routes. Everyone starts with Core; most students reach Develop; confident students aim for Stretch. Students decide privately which route they are aiming for (● Think 10s) — revisit in Feedback.
The route statements turn the website objectives into this lesson’s concrete targets.
EAL: read the Core statements aloud, pointing to the Arabic as you say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HOW TO TEACH EACH GROUP (EAL pre-teaching routine, 7 min)
1. HEAR IT: say the word twice, clearly, with a gesture where possible.
2. SAY IT: choral repetition — “I say, you say” — then two volunteers.
3. SEE IT: point out the part of the word that carries today’s grammar (colour code).
4. USE IT: quick check — “Type the NUMBER of the word that means …” in the chat.
Transliteration is printed for Core students. Develop/Stretch students should cover it and read the Arabic.
FLEX groups are for fast classes or homework — every word is on the website vocabulary tab.
URDU BRIDGE: حرارت، رطوبت، برق are shared. CAREFUL: Urdu موسم means “the weather”; Arabic مَوْسِمٌ means a SEASON — Arabic weather is الطَّقْسُ or الجَوُّ.</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Weather phenomena (website vocabulary (1 of 2)). Hear → Say → See → Use. Transliteration is printed for Core students (cover it for Develop/Stretch).
Weather phenomena. الشَّمْسُ is feminine (a natural feminine); الرِّيَاحُ / الثُّلُوجُ / السُّحُبُ are non-human plurals → feminine verbs.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Weather phenomena (website vocabulary (2 of 2)). Hear → Say → See → Use. Transliteration is printed for Core students (cover it for Develop/Stretch).
Weather phenomena. الشَّمْسُ is feminine (a natural feminine); الرِّيَاحُ / الثُّلُوجُ / السُّحُبُ are non-human plurals → feminine verbs.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Forecast language (website vocabulary (1 of 2)). Hear → Say → See → Use. Transliteration is printed for Core students (cover it for Develop/Stretch).
Forecast language: say each one with a hand action (rain falling, wind blowing, temperature up / down). Notice the first letter: ya- only for المَطَرُ.</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Forecast language (website vocabulary (2 of 2)). Hear → Say → See → Use. Transliteration is printed for Core students (cover it for Develop/Stretch).
Forecast language: say each one with a hand action (rain falling, wind blowing, temperature up / down). Notice the first letter: ya- only for المَطَرُ.</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Comparison and measurement (website vocabulary). Hear → Say → See → Use. Transliteration is printed for Core students (cover it for Develop/Stretch).
FLEX: teach if time allows; otherwise these are on the website vocabulary tab for homework.
Comparison and measurement (FLEX for Core). أَكْثَرُ / أَقَلُّ + a noun in -an: أَكْثَرُ حَرَارَةً، أَقَلُّ رُطُوبَةً.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GRAMMAR PART 1 — website rules “Natural phenomena are grammatical subjects” (the verb agrees with the named phenomenon: المطر masculine; الثلوج and الرياح treated as feminine) and “Temperature changes” (درجة الحرارة is feminine, so use ترتفع and تنخفض). Website examples as shown.
Website mistakes: يَسْقُطُ الثُّلُوجُ ✗ → تَسْقُطُ الثُّلُوجُ ✓ · يَرْتَفِعُ دَرَجَةُ الحَرَارَةِ ✗ → تَرْتَفِعُ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GRAMMAR PART 2 — website rules “Comparing weather” (أَكْثَرُ / أَقَلُّ + verbal noun + مِنْ: use a comparison noun such as حَرَارَةً، بُرُودَةً، رُطُوبَةً) and “Forecasting” (مِنَ المُتَوَقَّعِ أَنْ + subjunctive present). Website examples as shown; the range is from the vocabulary and reading text.
Short future (D3-L04) also works in a forecast: سَتُشْرِقُ الشَّمْسُ، سَيَسْقُطُ المَطَرُ (from the listening).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WEBSITE GRAMMAR RULES AND EXAMPLES (FLEX — revision or homework). Website overview: “Study each structure in context, compare accurate and inaccurate forms, then apply it in meaningful Arabic.”
• Natural phenomena are grammatical subjects: The verb agrees with the named phenomenon: المطر masculine; الثلوج and الرياح treated as feminine.
• Temperature changes: درجة الحرارة is feminine, so use ترتفع and تنخفض.
• Comparing weather: Use a comparison noun such as حرارةً، برودةً، رطوبةً.
• Forecasting: After أن, a sound-ending present verb takes the subjunctive ending.
Website common error: Do not select a sentence merely because its words are familiar. Check meaning, agreement, governing prepositions and verb endings.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FOR UNDERSTANDING (2 min) — website grammar quiz questions 1, 2, 3, 5.
● Think 20s silently → everyone types four letters in chat together on “3-2-1-go”. “Show me” alternative: A/B/C fingers to camera (EAL: show, not tell).
Read the chat: if more than a quarter of the class misses a question, re-teach that rule with its grammar slide before moving on (Live feedback: correct misconceptions immediately).
Use the results to confirm routes for the You Do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each answer. Ask “Who can build on that?” (+) — a student explains why one wrong option is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DO (3 min) — the website listening script read as a model, plus one comparison sentence. Think aloud: “Which weather word is the subject — masculine or feminine?”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SENTENCES (1 min) — website patterns. Students copy TWO that are useful for them.
• Core: copy one and change one word. • Develop: copy two and change the subject. • Stretch: combine two into one longer sentence with a connector.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 DO — the website’s interactive lesson game (“Visual game — Weather Patterns — Describing and Comparing Weather”) as a whole-class picture match (2 min). The sentences are the website game sentences; the pictures are icons standing in for the website images.
● 20s: look at each picture and find ONE key word you know in each sentence → type “1_ 2_ 3_” in the chat.
This is the most accessible task in the lesson — use it to build confidence before independent work. Core students read the sentence aloud after the answer is revealed (by invitation).
Website visual game (3 of 6). Other cards: الجَوُّ غَائِمٌ (cloudy) · الجَوُّ عَاصِفٌ (stormy / windy) · دَرَجَةُ الحَرَارَةِ مُرْتَفِعَةٌ. Stretch: turn each card into a verb sentence (تُشْرِقُ الشَّمْسُ، يَسْقُطُ المَطَرُ، تَسْقُطُ الثُّلُوجُ).</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 DO — the website’s interactive lesson game (“Visual game — Weather Patterns — Describing and Comparing Weather”) as a whole-class picture match (2 min). The sentences are the website game sentences; the pictures are icons standing in for the website images.
● 20s: look at each picture and find ONE key word you know in each sentence → type “1_ 2_ 3_” in the chat.
This is the most accessible task in the lesson — use it to build confidence before independent work. Core students read the sentence aloud after the answer is revealed (by invitation).
Website visual game (3 of 6). Other cards: الجَوُّ غَائِمٌ (cloudy) · الجَوُّ عَاصِفٌ (stormy / windy) · دَرَجَةُ الحَرَارَةِ مُرْتَفِعَةٌ. Stretch: turn each card into a verb sentence (تُشْرِقُ الشَّمْسُ، يَسْقُطُ المَطَرُ، تَسْقُطُ الثُّلُوجُ).</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 DO — website sorter (2 min). Website instruction: sort each item into the right group.
Then match each phenomenon to its verb: المَطَرُ → يَسْقُطُ · الثُّلُوجُ → تَسْقُطُ · الرِّيَاحُ → تَهُبُّ.</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 DO — website sorter (2 min). Website instruction: sort each item into the right group.
Then match each phenomenon to its verb: المَطَرُ → يَسْقُطُ · الثُّلُوجُ → تَسْقُطُ · الرِّيَاحُ → تَهُبُّ.</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quiz questions 4, 6, 7, 8 (FLEX, 2 min). If time is short these are homework on the website.
“Show me” alternative: students hold up A/B/C fingers to camera.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link each to the grammar rule or vocabulary card it 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LISTENING (4 min) — website script. Read it aloud yourself, twice, at natural speed with pauses.
Before listening: students read the questions (● 30s). Core: questions 1, 2 and 5. Develop / Stretch: all 6.
Listen 1: just listen. Listen 2: note answers. Then chat the letters.
Support: after the second listening, show the read-along slide (Arabic + English, line by line) for Core students.
SCRIPT (read aloud):
مَرْحَبًا بِكُمْ فِي النَّشْرَةِ الجَوِّيَّةِ. فِي القَاهِرَةِ سَتُشْرِقُ الشَّمْسُ، وَسَتَرْتَفِعُ دَرَجَةُ الحَرَارَةِ إِلَى ثَلَاثٍ وَثَلَاثِينَ دَرَجَةً. أَمَّا فِي عَمَّانَ فَمِنَ المُتَوَقَّعِ أَنْ تَنْخَفِضَ دَرَجَةُ الحَرَارَةِ لَيْلًا إِلَى اثْنَتَيْ عَشْرَةَ دَرَجَةً. وَفِي الرِّبَاطِ سَيَسْقُطُ المَطَرُ صَبَاحًا، ثُمَّ تَهُبُّ رِيَاحٌ قَوِيَّةٌ مَسَاءً.</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READ-ALONG (Core support) — show AFTER the second listening. The Arabic is the website script, line by line; the English is a teacher translation.
Read it once more while Core students follow. Annotate the words that gave each answer.
Stretch: cover the English column and translate one line aloud.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answers. For each, ask “Which Arabic words gave you the answer?” — the evidence line is under each card.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SPEAKING REHEARSAL (3 min) — website speaking prompts. No breakout rooms (saves setup time).
Sequence: ● 10s think → ↔ 45s everyone rehearses their answer aloud with mic muted → ◎ pairs on open mic: name two students (warned in advance); A asks, B answers; the rest of the class types one follow-up question in chat (+ / ?) → ↺ one student summarises the answer they heard.
Routes: Core uses the Core prompt and stem; Develop the Develop prompts; Stretch the last prompt.
Model (website) at the bottom — read it with a confident student first. The website model continues:
Website prompts (Core prompt teacher-added) and website model. Fun task: one student is the TV weather presenter (Stretch) and reads a 30-second forecast for London and an Arab capital. To a girl: أَيُّ فَصْلٍ تُفَضِّلِينَ؟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DO (9 min writing). Steer routes using the Do Now and quick-check results.
Website differentiation tasks: Core — Use the vocabulary banks and sentence frames to produce four accurate connected sentences. · Develop — Use several target structures in a linked paragraph or sustained spoken answer. · Stretch — Evaluate, compare or qualify ideas using precise evidence and formal linking language.
Website writing task (Stretch): Write 100–120 Arabic words comparing weather in two Arabic-speaking cities or regions.
LIVE FEEDBACK: students post their first two sentences in the chat (or OneNote) after 3 minutes. Scan and correct misconceptions immediately — use private chat for individual corrections (Behaviour: quiet, individual).
Work with the less able: stay with Core students for the first 3 minutes; Develop/Stretch continue independently. SEND: chunk the Core task — “two sentences, then show me”.
Extension (fast finishers): the reading on the Extension slides. Pastoral: Self-Management point for students who work without prompting.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on screen during writing — Core students complete the frames on the right; Develop students use the frames on the left.
Frames and word bank use only this lesson’s website language (EAL: sentence frame + word bank scaffold; same objective, adapted task).
EAL Band A–B students: complete three frames, then copy and adapt one model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Stretch students work from this slide. Checklist = website writing checklist; phrase bank = phrases from the website model, reading text and listening script. Live feedback for Stretch: check the target structures appear and are accurate.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FEEDBACK (1 min) — website model answer, with an English translation for Core students.
Students find in the model (● 20s → ◎) the four items on the chips. Website writing model. Evidence: تَرْتَفِعُ دَرَجَةُ الحَرَارَةِ، تَسْقُطَ الثُّلُوجُ، يَسْقُطُ المَطَرُ، تَهُبُّ الرِّيَاحُ · أَرْبَعِينَ دَرَجَةً مِئَوِيَّةً · أَكْثَرُ بُرُودَةً · مِنَ المُتَوَقَّعِ أَنْ تَسْقُطَ · يَجِبُ عَلَى المُسَافِرِ أَنْ يَقْرَأَ …
Then each student chooses ONE thing from the model to add to their own writing (specific, actionable feedback on the success criteria).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(2 min) — 3 of the website’s 4 end-of-lesson questions (“Final self-marking check”). The rest are on the website for homework.
Anyone scoring low → Core route next lesson and a check-in during the Do Now. Record Pastoral Tracker points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reveal. Students self-mark and type their score out of 3 in the chat.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EXTENSION — website reading text. For fast finishers during You Do, or Stretch homework. “You don’t need every word; find the words the question asks about.”
The green key-words panel is a teacher-made glossary so Develop students can also attempt it.
SEND reading strategy (Toolkit 1): cover the text with a piece of paper and uncover one sentence at a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questions from the website. The detective steps follow the SEND “modular reading” strategy: read one part at a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from the website, with the evidence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WEBSITE LESSON MISSION (FLEX) — fast finishers or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PREPARATION — flipped learning (2 min to explain).
Next lesson (D4-L03 · Environmental Problems — Causes and Effects) will spend class time USING this language, so students prepare it tonight — short, simple, easy to access (school guidance: “Simple, Short, Interesting, Relevant, Easy to access”). The five words come from the website D4-L03 vocabulary (environmental problems, cause and effect).
Follow-up: the next Do Now tests two of these words (Flipped Learning: keep it short AND follow up).
Homework by route (website tasks). No internet? Students copy the five words from this slide into their book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image" Target="../media/image-20-4.png"/><Relationship Id="rId5" Type="http://schemas.openxmlformats.org/officeDocument/2006/relationships/image" Target="../media/image-20-5.png"/><Relationship Id="rId6" Type="http://schemas.openxmlformats.org/officeDocument/2006/relationships/image" Target="../media/image-20-6.png"/><Relationship Id="rId7" Type="http://schemas.openxmlformats.org/officeDocument/2006/relationships/slideLayout" Target="../slideLayouts/slideLayout1.xml"/><Relationship Id="rId8"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image" Target="../media/image-21-4.png"/><Relationship Id="rId5" Type="http://schemas.openxmlformats.org/officeDocument/2006/relationships/image" Target="../media/image-21-5.png"/><Relationship Id="rId6" Type="http://schemas.openxmlformats.org/officeDocument/2006/relationships/image" Target="../media/image-21-6.png"/><Relationship Id="rId7" Type="http://schemas.openxmlformats.org/officeDocument/2006/relationships/slideLayout" Target="../slideLayouts/slideLayout1.xml"/><Relationship Id="rId8"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1.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1.xml"/><Relationship Id="rId3" Type="http://schemas.openxmlformats.org/officeDocument/2006/relationships/notesSlide" Target="../notesSlides/notesSlide4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ea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YEAR 8  ·  DEVELOPMENT D4  ·  D4-L02</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D4-L02</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650" b="1" dirty="0">
                <a:solidFill>
                  <a:srgbClr val="FFFFFF"/>
                </a:solidFill>
                <a:latin typeface="Cambria" pitchFamily="34" charset="0"/>
                <a:cs typeface="Amiri" pitchFamily="2" charset="-78"/>
              </a:rPr>
              <a:t>Weather Patterns — Describing and Comparing Weather</a:t>
            </a:r>
            <a:endParaRPr lang="en-US" sz="26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ea typeface="Amiri" pitchFamily="2" charset="-78"/>
                <a:cs typeface="Amiri" pitchFamily="2" charset="-78"/>
              </a:rPr>
              <a:t>أَنْمَاطُ الطَّقْسِ — وَصْفُ الطَّقْسِ وَالمُقَارَنَةُ</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cs typeface="Amiri" pitchFamily="2" charset="-78"/>
              </a:rPr>
              <a:t>Give a weather forecast and compare places: the weather word is the subject of the verb (</a:t>
            </a:r>
            <a:pPr algn="l" indent="0" marL="0">
              <a:buNone/>
            </a:pPr>
            <a:r>
              <a:rPr lang="ar-SA" altLang="en-US" sz="1800" dirty="0">
                <a:solidFill>
                  <a:srgbClr val="C6D2E6"/>
                </a:solidFill>
                <a:latin typeface="Amiri" pitchFamily="2" charset="-78"/>
                <a:ea typeface="Amiri" pitchFamily="2" charset="-78"/>
                <a:cs typeface="Amiri" pitchFamily="2" charset="-78"/>
              </a:rPr>
              <a:t>يَسْقُطُ المَطَرُ</a:t>
            </a:r>
            <a:pPr algn="l" indent="0" marL="0">
              <a:buNone/>
            </a:pPr>
            <a:r>
              <a:rPr lang="en-US" sz="1400" dirty="0">
                <a:solidFill>
                  <a:srgbClr val="C6D2E6"/>
                </a:solidFill>
                <a:latin typeface="Calibri" pitchFamily="34" charset="0"/>
                <a:cs typeface="Amiri" pitchFamily="2" charset="-78"/>
              </a:rPr>
              <a:t> · </a:t>
            </a:r>
            <a:pPr algn="l" indent="0" marL="0">
              <a:buNone/>
            </a:pPr>
            <a:r>
              <a:rPr lang="ar-SA" altLang="en-US" sz="1800" dirty="0">
                <a:solidFill>
                  <a:srgbClr val="C6D2E6"/>
                </a:solidFill>
                <a:latin typeface="Amiri" pitchFamily="2" charset="-78"/>
                <a:ea typeface="Amiri" pitchFamily="2" charset="-78"/>
                <a:cs typeface="Amiri" pitchFamily="2" charset="-78"/>
              </a:rPr>
              <a:t>تَهُبُّ الرِّيَاحُ</a:t>
            </a:r>
            <a:pPr algn="l" indent="0" marL="0">
              <a:buNone/>
            </a:pPr>
            <a:r>
              <a:rPr lang="en-US" sz="1400" dirty="0">
                <a:solidFill>
                  <a:srgbClr val="C6D2E6"/>
                </a:solidFill>
                <a:latin typeface="Calibri" pitchFamily="34" charset="0"/>
                <a:cs typeface="Amiri" pitchFamily="2" charset="-78"/>
              </a:rPr>
              <a:t>), temperatures rise and fall, one city is “hotter than” another, and “it is expected that …”.</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D4-L02 · Development D4 · Environment, Weather and Technology</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Development · A2 → B1</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Pathways › Development › D4 › D4-L02</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D4-L02 · Weather</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D4-L02</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45</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D4-L02 · Weather</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LESSON MAP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lesson today, step by step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خَرِيطَةُ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D4-L02</a:t>
            </a:r>
            <a:endParaRPr lang="en-US" sz="850" dirty="0"/>
          </a:p>
        </p:txBody>
      </p:sp>
      <p:sp>
        <p:nvSpPr>
          <p:cNvPr id="15" name="Shape 12"/>
          <p:cNvSpPr/>
          <p:nvPr/>
        </p:nvSpPr>
        <p:spPr>
          <a:xfrm>
            <a:off x="45720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281466" cy="566928"/>
          </a:xfrm>
          <a:prstGeom prst="roundRect">
            <a:avLst>
              <a:gd name="adj" fmla="val 9677"/>
            </a:avLst>
          </a:prstGeom>
          <a:solidFill>
            <a:srgbClr val="0E7C86"/>
          </a:solidFill>
          <a:ln w="12700">
            <a:solidFill>
              <a:srgbClr val="0E7C86"/>
            </a:solidFill>
            <a:prstDash val="solid"/>
          </a:ln>
        </p:spPr>
      </p:sp>
      <p:sp>
        <p:nvSpPr>
          <p:cNvPr id="17" name="Text 14"/>
          <p:cNvSpPr txBox="1"/>
          <p:nvPr/>
        </p:nvSpPr>
        <p:spPr>
          <a:xfrm>
            <a:off x="60350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DO NOW</a:t>
            </a:r>
            <a:endParaRPr lang="en-US" sz="1000" dirty="0"/>
          </a:p>
        </p:txBody>
      </p:sp>
      <p:sp>
        <p:nvSpPr>
          <p:cNvPr id="18" name="Text 15"/>
          <p:cNvSpPr txBox="1"/>
          <p:nvPr/>
        </p:nvSpPr>
        <p:spPr>
          <a:xfrm>
            <a:off x="60350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7 min</a:t>
            </a:r>
            <a:endParaRPr lang="en-US" sz="1000" dirty="0"/>
          </a:p>
        </p:txBody>
      </p:sp>
      <p:sp>
        <p:nvSpPr>
          <p:cNvPr id="19" name="Shape 16"/>
          <p:cNvSpPr/>
          <p:nvPr/>
        </p:nvSpPr>
        <p:spPr>
          <a:xfrm>
            <a:off x="1006493"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00649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Retrieval quiz on your own, then we check together.</a:t>
            </a:r>
            <a:endParaRPr lang="en-US" sz="1200" dirty="0"/>
          </a:p>
        </p:txBody>
      </p:sp>
      <p:sp>
        <p:nvSpPr>
          <p:cNvPr id="22" name="Text 19"/>
          <p:cNvSpPr txBox="1"/>
          <p:nvPr/>
        </p:nvSpPr>
        <p:spPr>
          <a:xfrm>
            <a:off x="54864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0E7C86"/>
                </a:solidFill>
                <a:latin typeface="Amiri" pitchFamily="2" charset="-78"/>
                <a:ea typeface="Amiri" pitchFamily="2" charset="-78"/>
                <a:cs typeface="Amiri" pitchFamily="2" charset="-78"/>
              </a:rPr>
              <a:t>اِبْدَأِ الآنَ</a:t>
            </a:r>
            <a:endParaRPr lang="ar-SA" sz="1500" dirty="0"/>
          </a:p>
        </p:txBody>
      </p:sp>
      <p:sp>
        <p:nvSpPr>
          <p:cNvPr id="23" name="Shape 20"/>
          <p:cNvSpPr/>
          <p:nvPr/>
        </p:nvSpPr>
        <p:spPr>
          <a:xfrm>
            <a:off x="2086138"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195866" y="1938528"/>
            <a:ext cx="1281466" cy="566928"/>
          </a:xfrm>
          <a:prstGeom prst="roundRect">
            <a:avLst>
              <a:gd name="adj" fmla="val 9677"/>
            </a:avLst>
          </a:prstGeom>
          <a:solidFill>
            <a:srgbClr val="1B3B6F"/>
          </a:solidFill>
          <a:ln w="12700">
            <a:solidFill>
              <a:srgbClr val="1B3B6F"/>
            </a:solidFill>
            <a:prstDash val="solid"/>
          </a:ln>
        </p:spPr>
      </p:sp>
      <p:sp>
        <p:nvSpPr>
          <p:cNvPr id="25" name="Text 22"/>
          <p:cNvSpPr txBox="1"/>
          <p:nvPr/>
        </p:nvSpPr>
        <p:spPr>
          <a:xfrm>
            <a:off x="2232442"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TEACHER INSTRUCTION</a:t>
            </a:r>
            <a:endParaRPr lang="en-US" sz="1000" dirty="0"/>
          </a:p>
        </p:txBody>
      </p:sp>
      <p:sp>
        <p:nvSpPr>
          <p:cNvPr id="26" name="Text 23"/>
          <p:cNvSpPr txBox="1"/>
          <p:nvPr/>
        </p:nvSpPr>
        <p:spPr>
          <a:xfrm>
            <a:off x="2232442"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14 min</a:t>
            </a:r>
            <a:endParaRPr lang="en-US" sz="1000" dirty="0"/>
          </a:p>
        </p:txBody>
      </p:sp>
      <p:sp>
        <p:nvSpPr>
          <p:cNvPr id="27" name="Shape 24"/>
          <p:cNvSpPr/>
          <p:nvPr/>
        </p:nvSpPr>
        <p:spPr>
          <a:xfrm>
            <a:off x="2635431"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263543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214154"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Weather verbs that agree, rising and falling temperatures, comparison and forecasts.</a:t>
            </a:r>
            <a:endParaRPr lang="en-US" sz="1200" dirty="0"/>
          </a:p>
        </p:txBody>
      </p:sp>
      <p:sp>
        <p:nvSpPr>
          <p:cNvPr id="30" name="Text 27"/>
          <p:cNvSpPr txBox="1"/>
          <p:nvPr/>
        </p:nvSpPr>
        <p:spPr>
          <a:xfrm>
            <a:off x="2177578"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كَلِمَاتٌ وَقَوَاعِدُ</a:t>
            </a:r>
            <a:endParaRPr lang="ar-SA" sz="1500" dirty="0"/>
          </a:p>
        </p:txBody>
      </p:sp>
      <p:sp>
        <p:nvSpPr>
          <p:cNvPr id="31" name="Shape 28"/>
          <p:cNvSpPr/>
          <p:nvPr/>
        </p:nvSpPr>
        <p:spPr>
          <a:xfrm>
            <a:off x="3715077"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3824805" y="1938528"/>
            <a:ext cx="1281466" cy="566928"/>
          </a:xfrm>
          <a:prstGeom prst="roundRect">
            <a:avLst>
              <a:gd name="adj" fmla="val 9677"/>
            </a:avLst>
          </a:prstGeom>
          <a:solidFill>
            <a:srgbClr val="6B4C9A"/>
          </a:solidFill>
          <a:ln w="12700">
            <a:solidFill>
              <a:srgbClr val="6B4C9A"/>
            </a:solidFill>
            <a:prstDash val="solid"/>
          </a:ln>
        </p:spPr>
      </p:sp>
      <p:sp>
        <p:nvSpPr>
          <p:cNvPr id="33" name="Text 30"/>
          <p:cNvSpPr txBox="1"/>
          <p:nvPr/>
        </p:nvSpPr>
        <p:spPr>
          <a:xfrm>
            <a:off x="3861381"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I DO</a:t>
            </a:r>
            <a:endParaRPr lang="en-US" sz="1000" dirty="0"/>
          </a:p>
        </p:txBody>
      </p:sp>
      <p:sp>
        <p:nvSpPr>
          <p:cNvPr id="34" name="Text 31"/>
          <p:cNvSpPr txBox="1"/>
          <p:nvPr/>
        </p:nvSpPr>
        <p:spPr>
          <a:xfrm>
            <a:off x="3861381"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3 min</a:t>
            </a:r>
            <a:endParaRPr lang="en-US" sz="1000" dirty="0"/>
          </a:p>
        </p:txBody>
      </p:sp>
      <p:sp>
        <p:nvSpPr>
          <p:cNvPr id="35" name="Shape 32"/>
          <p:cNvSpPr/>
          <p:nvPr/>
        </p:nvSpPr>
        <p:spPr>
          <a:xfrm>
            <a:off x="4264370"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4264370"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3843093"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Watch me build one sentence. Copy it into your book.</a:t>
            </a:r>
            <a:endParaRPr lang="en-US" sz="1200" dirty="0"/>
          </a:p>
        </p:txBody>
      </p:sp>
      <p:sp>
        <p:nvSpPr>
          <p:cNvPr id="38" name="Text 35"/>
          <p:cNvSpPr txBox="1"/>
          <p:nvPr/>
        </p:nvSpPr>
        <p:spPr>
          <a:xfrm>
            <a:off x="3806517"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6B4C9A"/>
                </a:solidFill>
                <a:latin typeface="Amiri" pitchFamily="2" charset="-78"/>
                <a:ea typeface="Amiri" pitchFamily="2" charset="-78"/>
                <a:cs typeface="Amiri" pitchFamily="2" charset="-78"/>
              </a:rPr>
              <a:t>شَاهِدْ</a:t>
            </a:r>
            <a:endParaRPr lang="ar-SA" sz="1500" dirty="0"/>
          </a:p>
        </p:txBody>
      </p:sp>
      <p:sp>
        <p:nvSpPr>
          <p:cNvPr id="39" name="Shape 36"/>
          <p:cNvSpPr/>
          <p:nvPr/>
        </p:nvSpPr>
        <p:spPr>
          <a:xfrm>
            <a:off x="5344015"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5453743" y="1938528"/>
            <a:ext cx="1281466" cy="566928"/>
          </a:xfrm>
          <a:prstGeom prst="roundRect">
            <a:avLst>
              <a:gd name="adj" fmla="val 9677"/>
            </a:avLst>
          </a:prstGeom>
          <a:solidFill>
            <a:srgbClr val="2F6FB0"/>
          </a:solidFill>
          <a:ln w="12700">
            <a:solidFill>
              <a:srgbClr val="2F6FB0"/>
            </a:solidFill>
            <a:prstDash val="solid"/>
          </a:ln>
        </p:spPr>
      </p:sp>
      <p:sp>
        <p:nvSpPr>
          <p:cNvPr id="41" name="Text 38"/>
          <p:cNvSpPr txBox="1"/>
          <p:nvPr/>
        </p:nvSpPr>
        <p:spPr>
          <a:xfrm>
            <a:off x="5490319"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42" name="Text 39"/>
          <p:cNvSpPr txBox="1"/>
          <p:nvPr/>
        </p:nvSpPr>
        <p:spPr>
          <a:xfrm>
            <a:off x="5490319"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9 min</a:t>
            </a:r>
            <a:endParaRPr lang="en-US" sz="1000" dirty="0"/>
          </a:p>
        </p:txBody>
      </p:sp>
      <p:sp>
        <p:nvSpPr>
          <p:cNvPr id="43" name="Shape 40"/>
          <p:cNvSpPr/>
          <p:nvPr/>
        </p:nvSpPr>
        <p:spPr>
          <a:xfrm>
            <a:off x="5893308"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5472031"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Picture match, sort the words, fix and listen to a weather bulletin.</a:t>
            </a:r>
            <a:endParaRPr lang="en-US" sz="1200" dirty="0"/>
          </a:p>
        </p:txBody>
      </p:sp>
      <p:sp>
        <p:nvSpPr>
          <p:cNvPr id="46" name="Text 43"/>
          <p:cNvSpPr txBox="1"/>
          <p:nvPr/>
        </p:nvSpPr>
        <p:spPr>
          <a:xfrm>
            <a:off x="5435455"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مَعًا</a:t>
            </a:r>
            <a:endParaRPr lang="ar-SA" sz="1500" dirty="0"/>
          </a:p>
        </p:txBody>
      </p:sp>
      <p:sp>
        <p:nvSpPr>
          <p:cNvPr id="47" name="Shape 44"/>
          <p:cNvSpPr/>
          <p:nvPr/>
        </p:nvSpPr>
        <p:spPr>
          <a:xfrm>
            <a:off x="6972953"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7082681" y="1938528"/>
            <a:ext cx="1281466" cy="566928"/>
          </a:xfrm>
          <a:prstGeom prst="roundRect">
            <a:avLst>
              <a:gd name="adj" fmla="val 9677"/>
            </a:avLst>
          </a:prstGeom>
          <a:solidFill>
            <a:srgbClr val="1E6B52"/>
          </a:solidFill>
          <a:ln w="12700">
            <a:solidFill>
              <a:srgbClr val="1E6B52"/>
            </a:solidFill>
            <a:prstDash val="solid"/>
          </a:ln>
        </p:spPr>
      </p:sp>
      <p:sp>
        <p:nvSpPr>
          <p:cNvPr id="49" name="Text 46"/>
          <p:cNvSpPr txBox="1"/>
          <p:nvPr/>
        </p:nvSpPr>
        <p:spPr>
          <a:xfrm>
            <a:off x="7119257"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50" name="Text 47"/>
          <p:cNvSpPr txBox="1"/>
          <p:nvPr/>
        </p:nvSpPr>
        <p:spPr>
          <a:xfrm>
            <a:off x="7119257"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12 min</a:t>
            </a:r>
            <a:endParaRPr lang="en-US" sz="1000" dirty="0"/>
          </a:p>
        </p:txBody>
      </p:sp>
      <p:sp>
        <p:nvSpPr>
          <p:cNvPr id="51" name="Shape 48"/>
          <p:cNvSpPr/>
          <p:nvPr/>
        </p:nvSpPr>
        <p:spPr>
          <a:xfrm>
            <a:off x="7522246"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7522246"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7100969"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Speak first, then write on your route.</a:t>
            </a:r>
            <a:endParaRPr lang="en-US" sz="1200" dirty="0"/>
          </a:p>
        </p:txBody>
      </p:sp>
      <p:sp>
        <p:nvSpPr>
          <p:cNvPr id="54" name="Text 51"/>
          <p:cNvSpPr txBox="1"/>
          <p:nvPr/>
        </p:nvSpPr>
        <p:spPr>
          <a:xfrm>
            <a:off x="7064393"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وَحْدَكَ</a:t>
            </a:r>
            <a:endParaRPr lang="ar-SA" sz="1500" dirty="0"/>
          </a:p>
        </p:txBody>
      </p:sp>
      <p:sp>
        <p:nvSpPr>
          <p:cNvPr id="55" name="Shape 52"/>
          <p:cNvSpPr/>
          <p:nvPr/>
        </p:nvSpPr>
        <p:spPr>
          <a:xfrm>
            <a:off x="8601891"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8711619" y="1938528"/>
            <a:ext cx="1281466" cy="566928"/>
          </a:xfrm>
          <a:prstGeom prst="roundRect">
            <a:avLst>
              <a:gd name="adj" fmla="val 9677"/>
            </a:avLst>
          </a:prstGeom>
          <a:solidFill>
            <a:srgbClr val="8A6D1E"/>
          </a:solidFill>
          <a:ln w="12700">
            <a:solidFill>
              <a:srgbClr val="8A6D1E"/>
            </a:solidFill>
            <a:prstDash val="solid"/>
          </a:ln>
        </p:spPr>
      </p:sp>
      <p:sp>
        <p:nvSpPr>
          <p:cNvPr id="57" name="Text 54"/>
          <p:cNvSpPr txBox="1"/>
          <p:nvPr/>
        </p:nvSpPr>
        <p:spPr>
          <a:xfrm>
            <a:off x="8748195"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8" name="Text 55"/>
          <p:cNvSpPr txBox="1"/>
          <p:nvPr/>
        </p:nvSpPr>
        <p:spPr>
          <a:xfrm>
            <a:off x="8748195"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5 min</a:t>
            </a:r>
            <a:endParaRPr lang="en-US" sz="1000" dirty="0"/>
          </a:p>
        </p:txBody>
      </p:sp>
      <p:sp>
        <p:nvSpPr>
          <p:cNvPr id="59" name="Shape 56"/>
          <p:cNvSpPr/>
          <p:nvPr/>
        </p:nvSpPr>
        <p:spPr>
          <a:xfrm>
            <a:off x="9151185" y="2651760"/>
            <a:ext cx="402336" cy="402336"/>
          </a:xfrm>
          <a:prstGeom prst="ellipse">
            <a:avLst/>
          </a:prstGeom>
          <a:solidFill>
            <a:srgbClr val="F4F1EA"/>
          </a:solidFill>
          <a:ln w="12700">
            <a:solidFill>
              <a:srgbClr val="F4F1EA"/>
            </a:solidFill>
            <a:prstDash val="solid"/>
          </a:ln>
        </p:spPr>
      </p:sp>
      <p:sp>
        <p:nvSpPr>
          <p:cNvPr id="60" name="Text 57"/>
          <p:cNvSpPr txBox="1"/>
          <p:nvPr/>
        </p:nvSpPr>
        <p:spPr>
          <a:xfrm>
            <a:off x="915118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6</a:t>
            </a:r>
            <a:endParaRPr lang="en-US" sz="1300" dirty="0"/>
          </a:p>
        </p:txBody>
      </p:sp>
      <p:sp>
        <p:nvSpPr>
          <p:cNvPr id="61" name="Text 58"/>
          <p:cNvSpPr txBox="1"/>
          <p:nvPr/>
        </p:nvSpPr>
        <p:spPr>
          <a:xfrm>
            <a:off x="8729907"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Compare with a model and complete the exit ticket.</a:t>
            </a:r>
            <a:endParaRPr lang="en-US" sz="1200" dirty="0"/>
          </a:p>
        </p:txBody>
      </p:sp>
      <p:sp>
        <p:nvSpPr>
          <p:cNvPr id="62" name="Text 59"/>
          <p:cNvSpPr txBox="1"/>
          <p:nvPr/>
        </p:nvSpPr>
        <p:spPr>
          <a:xfrm>
            <a:off x="8693331"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ea typeface="Amiri" pitchFamily="2" charset="-78"/>
                <a:cs typeface="Amiri" pitchFamily="2" charset="-78"/>
              </a:rPr>
              <a:t>قَيِّمْ عَمَلَكَ</a:t>
            </a:r>
            <a:endParaRPr lang="ar-SA" sz="1500" dirty="0"/>
          </a:p>
        </p:txBody>
      </p:sp>
      <p:sp>
        <p:nvSpPr>
          <p:cNvPr id="63" name="Shape 60"/>
          <p:cNvSpPr/>
          <p:nvPr/>
        </p:nvSpPr>
        <p:spPr>
          <a:xfrm>
            <a:off x="1023083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10340558" y="1938528"/>
            <a:ext cx="1281466" cy="566928"/>
          </a:xfrm>
          <a:prstGeom prst="roundRect">
            <a:avLst>
              <a:gd name="adj" fmla="val 9677"/>
            </a:avLst>
          </a:prstGeom>
          <a:solidFill>
            <a:srgbClr val="C45A3C"/>
          </a:solidFill>
          <a:ln w="12700">
            <a:solidFill>
              <a:srgbClr val="C45A3C"/>
            </a:solidFill>
            <a:prstDash val="solid"/>
          </a:ln>
        </p:spPr>
      </p:sp>
      <p:sp>
        <p:nvSpPr>
          <p:cNvPr id="65" name="Text 62"/>
          <p:cNvSpPr txBox="1"/>
          <p:nvPr/>
        </p:nvSpPr>
        <p:spPr>
          <a:xfrm>
            <a:off x="1037713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PREPARATION</a:t>
            </a:r>
            <a:endParaRPr lang="en-US" sz="1000" dirty="0"/>
          </a:p>
        </p:txBody>
      </p:sp>
      <p:sp>
        <p:nvSpPr>
          <p:cNvPr id="66" name="Text 63"/>
          <p:cNvSpPr txBox="1"/>
          <p:nvPr/>
        </p:nvSpPr>
        <p:spPr>
          <a:xfrm>
            <a:off x="1037713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2 min</a:t>
            </a:r>
            <a:endParaRPr lang="en-US" sz="1000" dirty="0"/>
          </a:p>
        </p:txBody>
      </p:sp>
      <p:sp>
        <p:nvSpPr>
          <p:cNvPr id="67" name="Shape 64"/>
          <p:cNvSpPr/>
          <p:nvPr/>
        </p:nvSpPr>
        <p:spPr>
          <a:xfrm>
            <a:off x="10780123" y="2651760"/>
            <a:ext cx="402336" cy="402336"/>
          </a:xfrm>
          <a:prstGeom prst="ellipse">
            <a:avLst/>
          </a:prstGeom>
          <a:solidFill>
            <a:srgbClr val="F4F1EA"/>
          </a:solidFill>
          <a:ln w="12700">
            <a:solidFill>
              <a:srgbClr val="F4F1EA"/>
            </a:solidFill>
            <a:prstDash val="solid"/>
          </a:ln>
        </p:spPr>
      </p:sp>
      <p:sp>
        <p:nvSpPr>
          <p:cNvPr id="68" name="Text 65"/>
          <p:cNvSpPr txBox="1"/>
          <p:nvPr/>
        </p:nvSpPr>
        <p:spPr>
          <a:xfrm>
            <a:off x="1078012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7</a:t>
            </a:r>
            <a:endParaRPr lang="en-US" sz="1300" dirty="0"/>
          </a:p>
        </p:txBody>
      </p:sp>
      <p:sp>
        <p:nvSpPr>
          <p:cNvPr id="69" name="Text 66"/>
          <p:cNvSpPr txBox="1"/>
          <p:nvPr/>
        </p:nvSpPr>
        <p:spPr>
          <a:xfrm>
            <a:off x="1035884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Get ready at home for D4-L03.</a:t>
            </a:r>
            <a:endParaRPr lang="en-US" sz="1200" dirty="0"/>
          </a:p>
        </p:txBody>
      </p:sp>
      <p:sp>
        <p:nvSpPr>
          <p:cNvPr id="70" name="Text 67"/>
          <p:cNvSpPr txBox="1"/>
          <p:nvPr/>
        </p:nvSpPr>
        <p:spPr>
          <a:xfrm>
            <a:off x="1032227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C45A3C"/>
                </a:solidFill>
                <a:latin typeface="Amiri" pitchFamily="2" charset="-78"/>
                <a:ea typeface="Amiri" pitchFamily="2" charset="-78"/>
                <a:cs typeface="Amiri" pitchFamily="2" charset="-78"/>
              </a:rPr>
              <a:t>اِسْتَعِدَّ</a:t>
            </a:r>
            <a:endParaRPr lang="ar-SA" sz="1500" dirty="0"/>
          </a:p>
        </p:txBody>
      </p:sp>
      <p:sp>
        <p:nvSpPr>
          <p:cNvPr id="71" name="Shape 68"/>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2" name="Text 69"/>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IF ARABIC FEELS HARD TODAY</a:t>
            </a:r>
            <a:endParaRPr lang="en-US" sz="1000" dirty="0"/>
          </a:p>
        </p:txBody>
      </p:sp>
      <p:sp>
        <p:nvSpPr>
          <p:cNvPr id="73" name="Text 70"/>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Look for the green CORE boxes: they give you transliteration, English meanings and sentence frames. You never need every word — find the key word first. You can answer in the chat, in English, or by holding up A / B / C to your camera.</a:t>
            </a:r>
            <a:endParaRPr lang="en-US" sz="1250" dirty="0"/>
          </a:p>
        </p:txBody>
      </p:sp>
      <p:sp>
        <p:nvSpPr>
          <p:cNvPr id="74" name="Text 7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45</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D4-L02 · Weather</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ON YOUR OWN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Retrieval: what do you remember?</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اِبْدَأِ الآنَ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D4-L02</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العَاصِفَةُ</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cloud</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storm</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rain</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دَرَجَةُ الحَرَارَةِ</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temperature</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climate</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humidity</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adjective agrees: </a:t>
            </a:r>
            <a:pPr algn="l" indent="0" marL="0">
              <a:buNone/>
            </a:pPr>
            <a:r>
              <a:rPr lang="ar-SA" altLang="en-US" sz="1650" b="1" dirty="0">
                <a:solidFill>
                  <a:srgbClr val="1B3B6F"/>
                </a:solidFill>
                <a:latin typeface="Amiri" pitchFamily="2" charset="-78"/>
                <a:ea typeface="Amiri" pitchFamily="2" charset="-78"/>
                <a:cs typeface="Amiri" pitchFamily="2" charset="-78"/>
              </a:rPr>
              <a:t>جِبَالٌ</a:t>
            </a:r>
            <a:pPr algn="l" indent="0" marL="0">
              <a:buNone/>
            </a:pPr>
            <a:r>
              <a:rPr lang="en-US" sz="1250" b="1" dirty="0">
                <a:solidFill>
                  <a:srgbClr val="1B3B6F"/>
                </a:solidFill>
                <a:latin typeface="Calibri" pitchFamily="34" charset="0"/>
                <a:cs typeface="Amiri" pitchFamily="2" charset="-78"/>
              </a:rPr>
              <a:t> ___</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عَالٍ</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عَالِيُونَ</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عَالِيَةٌ</a:t>
            </a:r>
            <a:endParaRPr lang="ar-SA" sz="20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ea typeface="Amiri" pitchFamily="2" charset="-78"/>
                <a:cs typeface="Amiri" pitchFamily="2" charset="-78"/>
              </a:rPr>
              <a:t>يَتَّسِمُ السَّاحِلُ</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مَنَاخٍ مُعْتَدِلٍ</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فِي</a:t>
            </a:r>
            <a:endParaRPr lang="ar-SA" sz="20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مِنْ</a:t>
            </a:r>
            <a:endParaRPr lang="ar-SA" sz="20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بِـ</a:t>
            </a:r>
            <a:endParaRPr lang="ar-SA" sz="20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ea typeface="Amiri" pitchFamily="2" charset="-78"/>
                <a:cs typeface="Amiri" pitchFamily="2" charset="-78"/>
              </a:rPr>
              <a:t>الجَامِعَةُ أَفْضَلُ</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الدَّوْرَةِ</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مِنَ</a:t>
            </a:r>
            <a:endParaRPr lang="ar-SA" sz="20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عَلَى</a:t>
            </a:r>
            <a:endParaRPr lang="ar-SA" sz="20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إِلَى</a:t>
            </a:r>
            <a:endParaRPr lang="ar-SA" sz="2050" dirty="0"/>
          </a:p>
        </p:txBody>
      </p:sp>
      <p:sp>
        <p:nvSpPr>
          <p:cNvPr id="80" name="Shape 77"/>
          <p:cNvSpPr/>
          <p:nvPr/>
        </p:nvSpPr>
        <p:spPr>
          <a:xfrm>
            <a:off x="8095488" y="4151376"/>
            <a:ext cx="3636264" cy="2157984"/>
          </a:xfrm>
          <a:prstGeom prst="roundRect">
            <a:avLst>
              <a:gd name="adj" fmla="val 3390"/>
            </a:avLst>
          </a:prstGeom>
          <a:solidFill>
            <a:srgbClr val="E8F4F5"/>
          </a:solidFill>
          <a:ln w="9525">
            <a:solidFill>
              <a:srgbClr val="9CCFD4"/>
            </a:solidFill>
            <a:prstDash val="solid"/>
          </a:ln>
          <a:effectLst>
            <a:outerShdw sx="100000" sy="100000" kx="0" ky="0" algn="bl" rotWithShape="0" blurRad="50800" dist="19050" dir="5400000">
              <a:srgbClr val="000000">
                <a:alpha val="10000"/>
              </a:srgbClr>
            </a:outerShdw>
          </a:effectLst>
        </p:spPr>
      </p:sp>
      <p:sp>
        <p:nvSpPr>
          <p:cNvPr id="81" name="Text 78"/>
          <p:cNvSpPr txBox="1"/>
          <p:nvPr/>
        </p:nvSpPr>
        <p:spPr>
          <a:xfrm>
            <a:off x="8296656" y="4471416"/>
            <a:ext cx="3270504" cy="274320"/>
          </a:xfrm>
          <a:prstGeom prst="rect">
            <a:avLst/>
          </a:prstGeom>
          <a:noFill/>
          <a:ln/>
        </p:spPr>
        <p:txBody>
          <a:bodyPr wrap="square" lIns="0" tIns="0" rIns="0" bIns="0" rtlCol="0" anchor="ctr"/>
          <a:lstStyle/>
          <a:p>
            <a:pPr algn="l" indent="0" marL="0">
              <a:buNone/>
            </a:pPr>
            <a:r>
              <a:rPr lang="en-US" sz="1100" b="1" spc="200" kern="0" dirty="0">
                <a:solidFill>
                  <a:srgbClr val="0E7C86"/>
                </a:solidFill>
                <a:latin typeface="Calibri" pitchFamily="34" charset="0"/>
                <a:cs typeface="Amiri" pitchFamily="2" charset="-78"/>
              </a:rPr>
              <a:t>HOW TO ANSWER</a:t>
            </a:r>
            <a:endParaRPr lang="en-US" sz="1100" dirty="0"/>
          </a:p>
        </p:txBody>
      </p:sp>
      <p:sp>
        <p:nvSpPr>
          <p:cNvPr id="82" name="Text 79"/>
          <p:cNvSpPr txBox="1"/>
          <p:nvPr/>
        </p:nvSpPr>
        <p:spPr>
          <a:xfrm>
            <a:off x="8296656" y="4754880"/>
            <a:ext cx="3270504" cy="82296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Work on your own in silence.</a:t>
            </a:r>
            <a:endParaRPr lang="en-US" sz="1350" dirty="0"/>
          </a:p>
          <a:p>
            <a:pPr algn="l" indent="0" marL="0">
              <a:buNone/>
            </a:pPr>
            <a:r>
              <a:rPr lang="en-US" sz="1350" dirty="0">
                <a:solidFill>
                  <a:srgbClr val="1F2A37"/>
                </a:solidFill>
                <a:latin typeface="Calibri" pitchFamily="34" charset="0"/>
                <a:cs typeface="Amiri" pitchFamily="2" charset="-78"/>
              </a:rPr>
              <a:t>When the timer ends, type in the chat:</a:t>
            </a:r>
            <a:endParaRPr lang="en-US" sz="1350" dirty="0"/>
          </a:p>
        </p:txBody>
      </p:sp>
      <p:sp>
        <p:nvSpPr>
          <p:cNvPr id="83" name="Text 80"/>
          <p:cNvSpPr txBox="1"/>
          <p:nvPr/>
        </p:nvSpPr>
        <p:spPr>
          <a:xfrm>
            <a:off x="8296656" y="5522976"/>
            <a:ext cx="3270504" cy="310896"/>
          </a:xfrm>
          <a:prstGeom prst="rect">
            <a:avLst/>
          </a:prstGeom>
          <a:noFill/>
          <a:ln/>
        </p:spPr>
        <p:txBody>
          <a:bodyPr wrap="square" lIns="0" tIns="0" rIns="0" bIns="0" rtlCol="0" anchor="ctr"/>
          <a:lstStyle/>
          <a:p>
            <a:pPr algn="l" indent="0" marL="0">
              <a:buNone/>
            </a:pPr>
            <a:r>
              <a:rPr lang="en-US" sz="1400" b="1" dirty="0">
                <a:solidFill>
                  <a:srgbClr val="1B3B6F"/>
                </a:solidFill>
                <a:latin typeface="Consolas" pitchFamily="34" charset="0"/>
                <a:cs typeface="Amiri" pitchFamily="2" charset="-78"/>
              </a:rPr>
              <a:t>1_  2_  3_  4_  5_</a:t>
            </a:r>
            <a:endParaRPr lang="en-US" sz="1400" dirty="0"/>
          </a:p>
        </p:txBody>
      </p:sp>
      <p:sp>
        <p:nvSpPr>
          <p:cNvPr id="84" name="Text 81"/>
          <p:cNvSpPr txBox="1"/>
          <p:nvPr/>
        </p:nvSpPr>
        <p:spPr>
          <a:xfrm>
            <a:off x="8296656" y="5742432"/>
            <a:ext cx="3270504" cy="402336"/>
          </a:xfrm>
          <a:prstGeom prst="rect">
            <a:avLst/>
          </a:prstGeom>
          <a:noFill/>
          <a:ln/>
        </p:spPr>
        <p:txBody>
          <a:bodyPr wrap="square" lIns="0" tIns="0" rIns="0" bIns="0" rtlCol="0" anchor="ctr"/>
          <a:lstStyle/>
          <a:p>
            <a:pPr algn="l" indent="0" marL="0">
              <a:buNone/>
            </a:pPr>
            <a:r>
              <a:rPr lang="en-US" sz="1800" b="1" dirty="0">
                <a:solidFill>
                  <a:srgbClr val="0E7C86"/>
                </a:solidFill>
                <a:latin typeface="Calibri" pitchFamily="34" charset="0"/>
                <a:cs typeface="Amiri" pitchFamily="2" charset="-78"/>
              </a:rPr>
              <a:t>⏱  5 : 00</a:t>
            </a:r>
            <a:endParaRPr lang="en-US" sz="1800" dirty="0"/>
          </a:p>
        </p:txBody>
      </p:sp>
      <p:sp>
        <p:nvSpPr>
          <p:cNvPr id="85" name="Text 8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45</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D4-L02 · Weather</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ANSWERS AND REASONS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Let’s check — and explain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D4-L02</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العَاصِفَةُ</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cloud</a:t>
            </a:r>
            <a:endParaRPr lang="en-US" sz="125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 storm</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rain</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 (D4-L01).</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دَرَجَةُ الحَرَارَةِ</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34" name="Shape 31"/>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4459224"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the temperature</a:t>
            </a:r>
            <a:endParaRPr lang="en-US" sz="1250" dirty="0"/>
          </a:p>
        </p:txBody>
      </p:sp>
      <p:sp>
        <p:nvSpPr>
          <p:cNvPr id="38" name="Shape 35"/>
          <p:cNvSpPr/>
          <p:nvPr/>
        </p:nvSpPr>
        <p:spPr>
          <a:xfrm>
            <a:off x="4459224"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climate</a:t>
            </a:r>
            <a:endParaRPr lang="en-US" sz="1250" dirty="0"/>
          </a:p>
        </p:txBody>
      </p:sp>
      <p:sp>
        <p:nvSpPr>
          <p:cNvPr id="41" name="Shape 38"/>
          <p:cNvSpPr/>
          <p:nvPr/>
        </p:nvSpPr>
        <p:spPr>
          <a:xfrm>
            <a:off x="4459224"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humidity</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 (D4-L01).</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adjective agrees: </a:t>
            </a:r>
            <a:pPr algn="l" indent="0" marL="0">
              <a:buNone/>
            </a:pPr>
            <a:r>
              <a:rPr lang="ar-SA" altLang="en-US" sz="1650" b="1" dirty="0">
                <a:solidFill>
                  <a:srgbClr val="1B3B6F"/>
                </a:solidFill>
                <a:latin typeface="Amiri" pitchFamily="2" charset="-78"/>
                <a:ea typeface="Amiri" pitchFamily="2" charset="-78"/>
                <a:cs typeface="Amiri" pitchFamily="2" charset="-78"/>
              </a:rPr>
              <a:t>جِبَالٌ</a:t>
            </a:r>
            <a:pPr algn="l" indent="0" marL="0">
              <a:buNone/>
            </a:pPr>
            <a:r>
              <a:rPr lang="en-US" sz="1250" b="1" dirty="0">
                <a:solidFill>
                  <a:srgbClr val="1B3B6F"/>
                </a:solidFill>
                <a:latin typeface="Calibri" pitchFamily="34" charset="0"/>
                <a:cs typeface="Amiri" pitchFamily="2" charset="-78"/>
              </a:rPr>
              <a:t> ___</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عَالٍ</a:t>
            </a:r>
            <a:endParaRPr lang="ar-SA" sz="170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عَالِيُونَ</a:t>
            </a:r>
            <a:endParaRPr lang="ar-SA" sz="170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عَالِيَةٌ</a:t>
            </a:r>
            <a:endParaRPr lang="ar-SA" sz="170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D4-L01: non-human plural → feminine singular.</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ea typeface="Amiri" pitchFamily="2" charset="-78"/>
                <a:cs typeface="Amiri" pitchFamily="2" charset="-78"/>
              </a:rPr>
              <a:t>يَتَّسِمُ السَّاحِلُ</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مَنَاخٍ مُعْتَدِلٍ</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فِي</a:t>
            </a:r>
            <a:endParaRPr lang="ar-SA" sz="1700" dirty="0"/>
          </a:p>
        </p:txBody>
      </p:sp>
      <p:sp>
        <p:nvSpPr>
          <p:cNvPr id="67" name="Shape 64"/>
          <p:cNvSpPr/>
          <p:nvPr/>
        </p:nvSpPr>
        <p:spPr>
          <a:xfrm>
            <a:off x="640080" y="5202936"/>
            <a:ext cx="256032" cy="256032"/>
          </a:xfrm>
          <a:prstGeom prst="ellipse">
            <a:avLst/>
          </a:prstGeom>
          <a:solidFill>
            <a:srgbClr val="C9CED6"/>
          </a:solidFill>
          <a:ln w="12700">
            <a:solidFill>
              <a:srgbClr val="C9CED6"/>
            </a:solidFill>
            <a:prstDash val="solid"/>
          </a:ln>
        </p:spPr>
      </p:sp>
      <p:sp>
        <p:nvSpPr>
          <p:cNvPr id="68" name="Text 65"/>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9" name="Text 66"/>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مِنْ</a:t>
            </a:r>
            <a:endParaRPr lang="ar-SA" sz="1700" dirty="0"/>
          </a:p>
        </p:txBody>
      </p:sp>
      <p:sp>
        <p:nvSpPr>
          <p:cNvPr id="70" name="Shape 67"/>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1" name="Shape 68"/>
          <p:cNvSpPr/>
          <p:nvPr/>
        </p:nvSpPr>
        <p:spPr>
          <a:xfrm>
            <a:off x="640080" y="5574792"/>
            <a:ext cx="256032" cy="256032"/>
          </a:xfrm>
          <a:prstGeom prst="ellipse">
            <a:avLst/>
          </a:prstGeom>
          <a:solidFill>
            <a:srgbClr val="2E8B57"/>
          </a:solidFill>
          <a:ln w="12700">
            <a:solidFill>
              <a:srgbClr val="2E8B57"/>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بِـ</a:t>
            </a:r>
            <a:endParaRPr lang="ar-SA" sz="170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D4-L01.</a:t>
            </a:r>
            <a:endParaRPr lang="en-US" sz="10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ea typeface="Amiri" pitchFamily="2" charset="-78"/>
                <a:cs typeface="Amiri" pitchFamily="2" charset="-78"/>
              </a:rPr>
              <a:t>الجَامِعَةُ أَفْضَلُ</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الدَّوْرَةِ</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79" name="Shape 76"/>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0" name="Shape 77"/>
          <p:cNvSpPr/>
          <p:nvPr/>
        </p:nvSpPr>
        <p:spPr>
          <a:xfrm>
            <a:off x="4459224" y="4831080"/>
            <a:ext cx="256032" cy="256032"/>
          </a:xfrm>
          <a:prstGeom prst="ellipse">
            <a:avLst/>
          </a:prstGeom>
          <a:solidFill>
            <a:srgbClr val="2E8B57"/>
          </a:solidFill>
          <a:ln w="12700">
            <a:solidFill>
              <a:srgbClr val="2E8B57"/>
            </a:solidFill>
            <a:prstDash val="solid"/>
          </a:ln>
        </p:spPr>
      </p:sp>
      <p:sp>
        <p:nvSpPr>
          <p:cNvPr id="81" name="Text 78"/>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2" name="Text 79"/>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مِنَ</a:t>
            </a:r>
            <a:endParaRPr lang="ar-SA" sz="1700" dirty="0"/>
          </a:p>
        </p:txBody>
      </p:sp>
      <p:sp>
        <p:nvSpPr>
          <p:cNvPr id="83" name="Shape 80"/>
          <p:cNvSpPr/>
          <p:nvPr/>
        </p:nvSpPr>
        <p:spPr>
          <a:xfrm>
            <a:off x="4459224" y="5202936"/>
            <a:ext cx="256032" cy="256032"/>
          </a:xfrm>
          <a:prstGeom prst="ellipse">
            <a:avLst/>
          </a:prstGeom>
          <a:solidFill>
            <a:srgbClr val="C9CED6"/>
          </a:solidFill>
          <a:ln w="12700">
            <a:solidFill>
              <a:srgbClr val="C9CED6"/>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عَلَى</a:t>
            </a:r>
            <a:endParaRPr lang="ar-SA" sz="170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إِلَى</a:t>
            </a:r>
            <a:endParaRPr lang="ar-SA" sz="170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D3-L05: comparative + min.</a:t>
            </a:r>
            <a:endParaRPr lang="en-US" sz="1050" dirty="0"/>
          </a:p>
        </p:txBody>
      </p:sp>
      <p:sp>
        <p:nvSpPr>
          <p:cNvPr id="90" name="Shape 87"/>
          <p:cNvSpPr/>
          <p:nvPr/>
        </p:nvSpPr>
        <p:spPr>
          <a:xfrm>
            <a:off x="8095488" y="4151376"/>
            <a:ext cx="3636264" cy="2157984"/>
          </a:xfrm>
          <a:prstGeom prst="roundRect">
            <a:avLst>
              <a:gd name="adj" fmla="val 3390"/>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91" name="Text 88"/>
          <p:cNvSpPr txBox="1"/>
          <p:nvPr/>
        </p:nvSpPr>
        <p:spPr>
          <a:xfrm>
            <a:off x="8278368" y="4279392"/>
            <a:ext cx="3270504" cy="256032"/>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THE KEY IDEA FOR TODAY</a:t>
            </a:r>
            <a:endParaRPr lang="en-US" sz="1000" dirty="0"/>
          </a:p>
        </p:txBody>
      </p:sp>
      <p:sp>
        <p:nvSpPr>
          <p:cNvPr id="92" name="Text 89"/>
          <p:cNvSpPr txBox="1"/>
          <p:nvPr/>
        </p:nvSpPr>
        <p:spPr>
          <a:xfrm>
            <a:off x="8278368" y="4553712"/>
            <a:ext cx="3270504" cy="640080"/>
          </a:xfrm>
          <a:prstGeom prst="rect">
            <a:avLst/>
          </a:prstGeom>
          <a:noFill/>
          <a:ln/>
        </p:spPr>
        <p:txBody>
          <a:bodyPr wrap="square" lIns="0" tIns="0" rIns="0" bIns="0" rtlCol="0" anchor="t"/>
          <a:lstStyle/>
          <a:p>
            <a:pPr algn="l" indent="0" marL="0">
              <a:buNone/>
            </a:pPr>
            <a:r>
              <a:rPr lang="en-US" sz="1300" b="1" dirty="0">
                <a:solidFill>
                  <a:srgbClr val="1F2A37"/>
                </a:solidFill>
                <a:latin typeface="Calibri" pitchFamily="34" charset="0"/>
                <a:cs typeface="Amiri" pitchFamily="2" charset="-78"/>
              </a:rPr>
              <a:t>The weather is the SUBJECT: “falls the rain”, “blow the winds” — and the verb agrees with it.</a:t>
            </a:r>
            <a:endParaRPr lang="en-US" sz="1300" dirty="0"/>
          </a:p>
        </p:txBody>
      </p:sp>
      <p:sp>
        <p:nvSpPr>
          <p:cNvPr id="93" name="Text 90"/>
          <p:cNvSpPr txBox="1"/>
          <p:nvPr/>
        </p:nvSpPr>
        <p:spPr>
          <a:xfrm>
            <a:off x="8278368" y="5202936"/>
            <a:ext cx="3270504" cy="1014984"/>
          </a:xfrm>
          <a:prstGeom prst="rect">
            <a:avLst/>
          </a:prstGeom>
          <a:noFill/>
          <a:ln/>
        </p:spPr>
        <p:txBody>
          <a:bodyPr wrap="square" lIns="0" tIns="0" rIns="0" bIns="0" rtlCol="0" anchor="ctr"/>
          <a:lstStyle/>
          <a:p>
            <a:pPr rtl="1" algn="ctr" indent="0" marL="0">
              <a:lnSpc>
                <a:spcPct val="120000"/>
              </a:lnSpc>
              <a:buNone/>
            </a:pPr>
            <a:r>
              <a:rPr lang="ar-SA" altLang="en-US" sz="1950" b="1" dirty="0">
                <a:solidFill>
                  <a:srgbClr val="1D5FBF"/>
                </a:solidFill>
                <a:latin typeface="Amiri" pitchFamily="2" charset="-78"/>
                <a:ea typeface="Amiri" pitchFamily="2" charset="-78"/>
                <a:cs typeface="Amiri" pitchFamily="2" charset="-78"/>
              </a:rPr>
              <a:t>يَسْقُطُ</a:t>
            </a:r>
            <a:pPr rtl="1" algn="ctr" indent="0" marL="0">
              <a:lnSpc>
                <a:spcPct val="120000"/>
              </a:lnSpc>
              <a:buNone/>
            </a:pPr>
            <a:r>
              <a:rPr lang="ar-SA" altLang="en-US" sz="1950" b="1" dirty="0">
                <a:solidFill>
                  <a:srgbClr val="1B3B6F"/>
                </a:solidFill>
                <a:latin typeface="Amiri" pitchFamily="2" charset="-78"/>
                <a:ea typeface="Amiri" pitchFamily="2" charset="-78"/>
                <a:cs typeface="Amiri" pitchFamily="2" charset="-78"/>
              </a:rPr>
              <a:t> المَطَرُ · </a:t>
            </a:r>
            <a:pPr rtl="1" algn="ctr" indent="0" marL="0">
              <a:lnSpc>
                <a:spcPct val="120000"/>
              </a:lnSpc>
              <a:buNone/>
            </a:pPr>
            <a:r>
              <a:rPr lang="ar-SA" altLang="en-US" sz="1950" b="1" dirty="0">
                <a:solidFill>
                  <a:srgbClr val="D6336C"/>
                </a:solidFill>
                <a:latin typeface="Amiri" pitchFamily="2" charset="-78"/>
                <a:ea typeface="Amiri" pitchFamily="2" charset="-78"/>
                <a:cs typeface="Amiri" pitchFamily="2" charset="-78"/>
              </a:rPr>
              <a:t>تَهُبُّ</a:t>
            </a:r>
            <a:pPr rtl="1" algn="ctr" indent="0" marL="0">
              <a:lnSpc>
                <a:spcPct val="120000"/>
              </a:lnSpc>
              <a:buNone/>
            </a:pPr>
            <a:r>
              <a:rPr lang="ar-SA" altLang="en-US" sz="1950" b="1" dirty="0">
                <a:solidFill>
                  <a:srgbClr val="1B3B6F"/>
                </a:solidFill>
                <a:latin typeface="Amiri" pitchFamily="2" charset="-78"/>
                <a:ea typeface="Amiri" pitchFamily="2" charset="-78"/>
                <a:cs typeface="Amiri" pitchFamily="2" charset="-78"/>
              </a:rPr>
              <a:t> الرِّيَاحُ · </a:t>
            </a:r>
            <a:pPr rtl="1" algn="ctr" indent="0" marL="0">
              <a:lnSpc>
                <a:spcPct val="120000"/>
              </a:lnSpc>
              <a:buNone/>
            </a:pPr>
            <a:r>
              <a:rPr lang="ar-SA" altLang="en-US" sz="1950" b="1" dirty="0">
                <a:solidFill>
                  <a:srgbClr val="D6336C"/>
                </a:solidFill>
                <a:latin typeface="Amiri" pitchFamily="2" charset="-78"/>
                <a:ea typeface="Amiri" pitchFamily="2" charset="-78"/>
                <a:cs typeface="Amiri" pitchFamily="2" charset="-78"/>
              </a:rPr>
              <a:t>تَرْتَفِعُ</a:t>
            </a:r>
            <a:pPr rtl="1" algn="ctr" indent="0" marL="0">
              <a:lnSpc>
                <a:spcPct val="120000"/>
              </a:lnSpc>
              <a:buNone/>
            </a:pPr>
            <a:r>
              <a:rPr lang="ar-SA" altLang="en-US" sz="1950" b="1" dirty="0">
                <a:solidFill>
                  <a:srgbClr val="1B3B6F"/>
                </a:solidFill>
                <a:latin typeface="Amiri" pitchFamily="2" charset="-78"/>
                <a:ea typeface="Amiri" pitchFamily="2" charset="-78"/>
                <a:cs typeface="Amiri" pitchFamily="2" charset="-78"/>
              </a:rPr>
              <a:t> دَرَجَةُ الحَرَارَةِ</a:t>
            </a:r>
            <a:endParaRPr lang="ar-SA" sz="195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45</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D4-L02 · Weather</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LESSON OBJECTIVES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Objectives and success criteria</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الأَهْدَافُ وَمَعَايِيرُ النَّجَاحِ</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D4-L02</a:t>
            </a:r>
            <a:endParaRPr lang="en-US" sz="850" dirty="0"/>
          </a:p>
        </p:txBody>
      </p:sp>
      <p:sp>
        <p:nvSpPr>
          <p:cNvPr id="15" name="Shape 12"/>
          <p:cNvSpPr/>
          <p:nvPr/>
        </p:nvSpPr>
        <p:spPr>
          <a:xfrm>
            <a:off x="457200" y="1810512"/>
            <a:ext cx="4663440" cy="4315968"/>
          </a:xfrm>
          <a:prstGeom prst="roundRect">
            <a:avLst>
              <a:gd name="adj" fmla="val 1695"/>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20240"/>
            <a:ext cx="2743200" cy="292608"/>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TODAY YOU WILL</a:t>
            </a:r>
            <a:endParaRPr lang="en-US" sz="1100" dirty="0"/>
          </a:p>
        </p:txBody>
      </p:sp>
      <p:sp>
        <p:nvSpPr>
          <p:cNvPr id="17" name="Text 14"/>
          <p:cNvSpPr txBox="1"/>
          <p:nvPr/>
        </p:nvSpPr>
        <p:spPr>
          <a:xfrm>
            <a:off x="2834640" y="1874520"/>
            <a:ext cx="2103120" cy="365760"/>
          </a:xfrm>
          <a:prstGeom prst="rect">
            <a:avLst/>
          </a:prstGeom>
          <a:noFill/>
          <a:ln/>
        </p:spPr>
        <p:txBody>
          <a:bodyPr wrap="square" lIns="0" tIns="0" rIns="0" bIns="0" rtlCol="0" anchor="ctr"/>
          <a:lstStyle/>
          <a:p>
            <a:pPr rtl="1" algn="r" indent="0" marL="0">
              <a:buNone/>
            </a:pPr>
            <a:r>
              <a:rPr lang="ar-SA" altLang="en-US" sz="1600" dirty="0">
                <a:solidFill>
                  <a:srgbClr val="8A6D1E"/>
                </a:solidFill>
                <a:latin typeface="Amiri" pitchFamily="2" charset="-78"/>
                <a:ea typeface="Amiri" pitchFamily="2" charset="-78"/>
                <a:cs typeface="Amiri" pitchFamily="2" charset="-78"/>
              </a:rPr>
              <a:t>سَتَتَعَلَّمُ اليَوْمَ</a:t>
            </a:r>
            <a:endParaRPr lang="ar-SA" sz="1600" dirty="0"/>
          </a:p>
        </p:txBody>
      </p:sp>
      <p:sp>
        <p:nvSpPr>
          <p:cNvPr id="18" name="Shape 15"/>
          <p:cNvSpPr/>
          <p:nvPr/>
        </p:nvSpPr>
        <p:spPr>
          <a:xfrm>
            <a:off x="685800" y="2395728"/>
            <a:ext cx="365760" cy="365760"/>
          </a:xfrm>
          <a:prstGeom prst="ellipse">
            <a:avLst/>
          </a:prstGeom>
          <a:solidFill>
            <a:srgbClr val="1B3B6F"/>
          </a:solidFill>
          <a:ln w="12700">
            <a:solidFill>
              <a:srgbClr val="1B3B6F"/>
            </a:solidFill>
            <a:prstDash val="solid"/>
          </a:ln>
        </p:spPr>
      </p:sp>
      <p:sp>
        <p:nvSpPr>
          <p:cNvPr id="19" name="Text 16"/>
          <p:cNvSpPr txBox="1"/>
          <p:nvPr/>
        </p:nvSpPr>
        <p:spPr>
          <a:xfrm>
            <a:off x="685800" y="2395728"/>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1</a:t>
            </a:r>
            <a:endParaRPr lang="en-US" sz="1200" dirty="0"/>
          </a:p>
        </p:txBody>
      </p:sp>
      <p:sp>
        <p:nvSpPr>
          <p:cNvPr id="20" name="Text 17"/>
          <p:cNvSpPr txBox="1"/>
          <p:nvPr/>
        </p:nvSpPr>
        <p:spPr>
          <a:xfrm>
            <a:off x="1188720" y="2286000"/>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Name weather phenomena and describe the weather.</a:t>
            </a:r>
            <a:endParaRPr lang="en-US" sz="1300" dirty="0"/>
          </a:p>
        </p:txBody>
      </p:sp>
      <p:sp>
        <p:nvSpPr>
          <p:cNvPr id="21" name="Shape 18"/>
          <p:cNvSpPr/>
          <p:nvPr/>
        </p:nvSpPr>
        <p:spPr>
          <a:xfrm>
            <a:off x="685800" y="3291840"/>
            <a:ext cx="365760" cy="365760"/>
          </a:xfrm>
          <a:prstGeom prst="ellipse">
            <a:avLst/>
          </a:prstGeom>
          <a:solidFill>
            <a:srgbClr val="1B3B6F"/>
          </a:solidFill>
          <a:ln w="12700">
            <a:solidFill>
              <a:srgbClr val="1B3B6F"/>
            </a:solidFill>
            <a:prstDash val="solid"/>
          </a:ln>
        </p:spPr>
      </p:sp>
      <p:sp>
        <p:nvSpPr>
          <p:cNvPr id="22" name="Text 19"/>
          <p:cNvSpPr txBox="1"/>
          <p:nvPr/>
        </p:nvSpPr>
        <p:spPr>
          <a:xfrm>
            <a:off x="685800" y="3291840"/>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2</a:t>
            </a:r>
            <a:endParaRPr lang="en-US" sz="1200" dirty="0"/>
          </a:p>
        </p:txBody>
      </p:sp>
      <p:sp>
        <p:nvSpPr>
          <p:cNvPr id="23" name="Text 20"/>
          <p:cNvSpPr txBox="1"/>
          <p:nvPr/>
        </p:nvSpPr>
        <p:spPr>
          <a:xfrm>
            <a:off x="1188720" y="3182112"/>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Make the weather verb agree with its subject.</a:t>
            </a:r>
            <a:endParaRPr lang="en-US" sz="1300" dirty="0"/>
          </a:p>
        </p:txBody>
      </p:sp>
      <p:sp>
        <p:nvSpPr>
          <p:cNvPr id="24" name="Shape 21"/>
          <p:cNvSpPr/>
          <p:nvPr/>
        </p:nvSpPr>
        <p:spPr>
          <a:xfrm>
            <a:off x="685800" y="4187952"/>
            <a:ext cx="365760" cy="365760"/>
          </a:xfrm>
          <a:prstGeom prst="ellipse">
            <a:avLst/>
          </a:prstGeom>
          <a:solidFill>
            <a:srgbClr val="1B3B6F"/>
          </a:solidFill>
          <a:ln w="12700">
            <a:solidFill>
              <a:srgbClr val="1B3B6F"/>
            </a:solidFill>
            <a:prstDash val="solid"/>
          </a:ln>
        </p:spPr>
      </p:sp>
      <p:sp>
        <p:nvSpPr>
          <p:cNvPr id="25" name="Text 22"/>
          <p:cNvSpPr txBox="1"/>
          <p:nvPr/>
        </p:nvSpPr>
        <p:spPr>
          <a:xfrm>
            <a:off x="685800" y="4187952"/>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3</a:t>
            </a:r>
            <a:endParaRPr lang="en-US" sz="1200" dirty="0"/>
          </a:p>
        </p:txBody>
      </p:sp>
      <p:sp>
        <p:nvSpPr>
          <p:cNvPr id="26" name="Text 23"/>
          <p:cNvSpPr txBox="1"/>
          <p:nvPr/>
        </p:nvSpPr>
        <p:spPr>
          <a:xfrm>
            <a:off x="1188720" y="4078224"/>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Compare the weather in two places (</a:t>
            </a:r>
            <a:pPr algn="l" indent="0" marL="0">
              <a:buNone/>
            </a:pPr>
            <a:r>
              <a:rPr lang="ar-SA" altLang="en-US" sz="1700" dirty="0">
                <a:solidFill>
                  <a:srgbClr val="1F2A37"/>
                </a:solidFill>
                <a:latin typeface="Amiri" pitchFamily="2" charset="-78"/>
                <a:ea typeface="Amiri" pitchFamily="2" charset="-78"/>
                <a:cs typeface="Amiri" pitchFamily="2" charset="-78"/>
              </a:rPr>
              <a:t>أَكْثَرُ … مِنْ</a:t>
            </a:r>
            <a:pPr algn="l" indent="0" marL="0">
              <a:buNone/>
            </a:pPr>
            <a:r>
              <a:rPr lang="en-US" sz="1300" dirty="0">
                <a:solidFill>
                  <a:srgbClr val="1F2A37"/>
                </a:solidFill>
                <a:latin typeface="Calibri" pitchFamily="34" charset="0"/>
                <a:cs typeface="Amiri" pitchFamily="2" charset="-78"/>
              </a:rPr>
              <a:t>).</a:t>
            </a:r>
            <a:endParaRPr lang="en-US" sz="1300" dirty="0"/>
          </a:p>
        </p:txBody>
      </p:sp>
      <p:sp>
        <p:nvSpPr>
          <p:cNvPr id="27" name="Shape 24"/>
          <p:cNvSpPr/>
          <p:nvPr/>
        </p:nvSpPr>
        <p:spPr>
          <a:xfrm>
            <a:off x="685800" y="5084064"/>
            <a:ext cx="365760" cy="365760"/>
          </a:xfrm>
          <a:prstGeom prst="ellipse">
            <a:avLst/>
          </a:prstGeom>
          <a:solidFill>
            <a:srgbClr val="1B3B6F"/>
          </a:solidFill>
          <a:ln w="12700">
            <a:solidFill>
              <a:srgbClr val="1B3B6F"/>
            </a:solidFill>
            <a:prstDash val="solid"/>
          </a:ln>
        </p:spPr>
      </p:sp>
      <p:sp>
        <p:nvSpPr>
          <p:cNvPr id="28" name="Text 25"/>
          <p:cNvSpPr txBox="1"/>
          <p:nvPr/>
        </p:nvSpPr>
        <p:spPr>
          <a:xfrm>
            <a:off x="685800" y="5084064"/>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4</a:t>
            </a:r>
            <a:endParaRPr lang="en-US" sz="1200" dirty="0"/>
          </a:p>
        </p:txBody>
      </p:sp>
      <p:sp>
        <p:nvSpPr>
          <p:cNvPr id="29" name="Text 26"/>
          <p:cNvSpPr txBox="1"/>
          <p:nvPr/>
        </p:nvSpPr>
        <p:spPr>
          <a:xfrm>
            <a:off x="1188720" y="4974336"/>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Give a forecast with </a:t>
            </a:r>
            <a:pPr algn="l" indent="0" marL="0">
              <a:buNone/>
            </a:pPr>
            <a:r>
              <a:rPr lang="ar-SA" altLang="en-US" sz="1700" dirty="0">
                <a:solidFill>
                  <a:srgbClr val="1F2A37"/>
                </a:solidFill>
                <a:latin typeface="Amiri" pitchFamily="2" charset="-78"/>
                <a:ea typeface="Amiri" pitchFamily="2" charset="-78"/>
                <a:cs typeface="Amiri" pitchFamily="2" charset="-78"/>
              </a:rPr>
              <a:t>مِنَ المُتَوَقَّعِ أَنْ</a:t>
            </a:r>
            <a:pPr algn="l" indent="0" marL="0">
              <a:buNone/>
            </a:pPr>
            <a:r>
              <a:rPr lang="en-US" sz="1300" dirty="0">
                <a:solidFill>
                  <a:srgbClr val="1F2A37"/>
                </a:solidFill>
                <a:latin typeface="Calibri" pitchFamily="34" charset="0"/>
                <a:cs typeface="Amiri" pitchFamily="2" charset="-78"/>
              </a:rPr>
              <a:t>.</a:t>
            </a:r>
            <a:endParaRPr lang="en-US" sz="1300" dirty="0"/>
          </a:p>
        </p:txBody>
      </p:sp>
      <p:sp>
        <p:nvSpPr>
          <p:cNvPr id="30" name="Shape 27"/>
          <p:cNvSpPr/>
          <p:nvPr/>
        </p:nvSpPr>
        <p:spPr>
          <a:xfrm>
            <a:off x="5349240" y="1810512"/>
            <a:ext cx="6382512" cy="1353312"/>
          </a:xfrm>
          <a:prstGeom prst="roundRect">
            <a:avLst>
              <a:gd name="adj" fmla="val 5405"/>
            </a:avLst>
          </a:prstGeom>
          <a:solidFill>
            <a:srgbClr val="E9F5EE"/>
          </a:solidFill>
          <a:ln w="9525">
            <a:solidFill>
              <a:srgbClr val="2E8B57"/>
            </a:solidFill>
            <a:prstDash val="solid"/>
          </a:ln>
        </p:spPr>
      </p:sp>
      <p:sp>
        <p:nvSpPr>
          <p:cNvPr id="31" name="Shape 28"/>
          <p:cNvSpPr/>
          <p:nvPr/>
        </p:nvSpPr>
        <p:spPr>
          <a:xfrm>
            <a:off x="5532120" y="1947672"/>
            <a:ext cx="1143000" cy="292608"/>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5532120" y="194767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CORE</a:t>
            </a:r>
            <a:endParaRPr lang="en-US" sz="950" dirty="0"/>
          </a:p>
        </p:txBody>
      </p:sp>
      <p:sp>
        <p:nvSpPr>
          <p:cNvPr id="33" name="Text 30"/>
          <p:cNvSpPr txBox="1"/>
          <p:nvPr/>
        </p:nvSpPr>
        <p:spPr>
          <a:xfrm>
            <a:off x="6766560" y="1947672"/>
            <a:ext cx="1828800" cy="292608"/>
          </a:xfrm>
          <a:prstGeom prst="rect">
            <a:avLst/>
          </a:prstGeom>
          <a:noFill/>
          <a:ln/>
        </p:spPr>
        <p:txBody>
          <a:bodyPr wrap="square" lIns="0" tIns="0" rIns="0" bIns="0" rtlCol="0" anchor="ctr"/>
          <a:lstStyle/>
          <a:p>
            <a:pPr algn="l" indent="0" marL="0">
              <a:buNone/>
            </a:pPr>
            <a:r>
              <a:rPr lang="en-US" sz="1050" b="1" i="1" dirty="0">
                <a:solidFill>
                  <a:srgbClr val="2E8B57"/>
                </a:solidFill>
                <a:latin typeface="Calibri" pitchFamily="34" charset="0"/>
                <a:cs typeface="Amiri" pitchFamily="2" charset="-78"/>
              </a:rPr>
              <a:t>Everyone</a:t>
            </a:r>
            <a:endParaRPr lang="en-US" sz="1050" dirty="0"/>
          </a:p>
        </p:txBody>
      </p:sp>
      <p:sp>
        <p:nvSpPr>
          <p:cNvPr id="34" name="Text 31"/>
          <p:cNvSpPr txBox="1"/>
          <p:nvPr/>
        </p:nvSpPr>
        <p:spPr>
          <a:xfrm>
            <a:off x="5532120" y="228600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can describe today’s weather.</a:t>
            </a:r>
            <a:endParaRPr lang="en-US" sz="1300" dirty="0"/>
          </a:p>
        </p:txBody>
      </p:sp>
      <p:sp>
        <p:nvSpPr>
          <p:cNvPr id="35" name="Text 32"/>
          <p:cNvSpPr txBox="1"/>
          <p:nvPr/>
        </p:nvSpPr>
        <p:spPr>
          <a:xfrm>
            <a:off x="5532120" y="269748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can make the weather verb agree.</a:t>
            </a:r>
            <a:endParaRPr lang="en-US" sz="1300" dirty="0"/>
          </a:p>
        </p:txBody>
      </p:sp>
      <p:sp>
        <p:nvSpPr>
          <p:cNvPr id="36" name="Shape 33"/>
          <p:cNvSpPr/>
          <p:nvPr/>
        </p:nvSpPr>
        <p:spPr>
          <a:xfrm>
            <a:off x="5349240" y="3273552"/>
            <a:ext cx="6382512" cy="1353312"/>
          </a:xfrm>
          <a:prstGeom prst="roundRect">
            <a:avLst>
              <a:gd name="adj" fmla="val 5405"/>
            </a:avLst>
          </a:prstGeom>
          <a:solidFill>
            <a:srgbClr val="FCF1E0"/>
          </a:solidFill>
          <a:ln w="9525">
            <a:solidFill>
              <a:srgbClr val="C9780A"/>
            </a:solidFill>
            <a:prstDash val="solid"/>
          </a:ln>
        </p:spPr>
      </p:sp>
      <p:sp>
        <p:nvSpPr>
          <p:cNvPr id="37" name="Shape 34"/>
          <p:cNvSpPr/>
          <p:nvPr/>
        </p:nvSpPr>
        <p:spPr>
          <a:xfrm>
            <a:off x="5532120" y="3410712"/>
            <a:ext cx="1143000" cy="292608"/>
          </a:xfrm>
          <a:prstGeom prst="roundRect">
            <a:avLst>
              <a:gd name="adj" fmla="val 50000"/>
            </a:avLst>
          </a:prstGeom>
          <a:solidFill>
            <a:srgbClr val="C9780A"/>
          </a:solidFill>
          <a:ln w="12700">
            <a:solidFill>
              <a:srgbClr val="C9780A"/>
            </a:solidFill>
            <a:prstDash val="solid"/>
          </a:ln>
        </p:spPr>
      </p:sp>
      <p:sp>
        <p:nvSpPr>
          <p:cNvPr id="38" name="Text 35"/>
          <p:cNvSpPr txBox="1"/>
          <p:nvPr/>
        </p:nvSpPr>
        <p:spPr>
          <a:xfrm>
            <a:off x="5532120" y="341071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DEVELOP</a:t>
            </a:r>
            <a:endParaRPr lang="en-US" sz="950" dirty="0"/>
          </a:p>
        </p:txBody>
      </p:sp>
      <p:sp>
        <p:nvSpPr>
          <p:cNvPr id="39" name="Text 36"/>
          <p:cNvSpPr txBox="1"/>
          <p:nvPr/>
        </p:nvSpPr>
        <p:spPr>
          <a:xfrm>
            <a:off x="6766560" y="3410712"/>
            <a:ext cx="1828800" cy="292608"/>
          </a:xfrm>
          <a:prstGeom prst="rect">
            <a:avLst/>
          </a:prstGeom>
          <a:noFill/>
          <a:ln/>
        </p:spPr>
        <p:txBody>
          <a:bodyPr wrap="square" lIns="0" tIns="0" rIns="0" bIns="0" rtlCol="0" anchor="ctr"/>
          <a:lstStyle/>
          <a:p>
            <a:pPr algn="l" indent="0" marL="0">
              <a:buNone/>
            </a:pPr>
            <a:r>
              <a:rPr lang="en-US" sz="1050" b="1" i="1" dirty="0">
                <a:solidFill>
                  <a:srgbClr val="C9780A"/>
                </a:solidFill>
                <a:latin typeface="Calibri" pitchFamily="34" charset="0"/>
                <a:cs typeface="Amiri" pitchFamily="2" charset="-78"/>
              </a:rPr>
              <a:t>Most of us</a:t>
            </a:r>
            <a:endParaRPr lang="en-US" sz="1050" dirty="0"/>
          </a:p>
        </p:txBody>
      </p:sp>
      <p:sp>
        <p:nvSpPr>
          <p:cNvPr id="40" name="Text 37"/>
          <p:cNvSpPr txBox="1"/>
          <p:nvPr/>
        </p:nvSpPr>
        <p:spPr>
          <a:xfrm>
            <a:off x="5532120" y="374904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can compare the weather in two cities.</a:t>
            </a:r>
            <a:endParaRPr lang="en-US" sz="1300" dirty="0"/>
          </a:p>
        </p:txBody>
      </p:sp>
      <p:sp>
        <p:nvSpPr>
          <p:cNvPr id="41" name="Text 38"/>
          <p:cNvSpPr txBox="1"/>
          <p:nvPr/>
        </p:nvSpPr>
        <p:spPr>
          <a:xfrm>
            <a:off x="5532120" y="416052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can give a temperature range.</a:t>
            </a:r>
            <a:endParaRPr lang="en-US" sz="1300" dirty="0"/>
          </a:p>
        </p:txBody>
      </p:sp>
      <p:sp>
        <p:nvSpPr>
          <p:cNvPr id="42" name="Shape 39"/>
          <p:cNvSpPr/>
          <p:nvPr/>
        </p:nvSpPr>
        <p:spPr>
          <a:xfrm>
            <a:off x="5349240" y="4736592"/>
            <a:ext cx="6382512" cy="1353312"/>
          </a:xfrm>
          <a:prstGeom prst="roundRect">
            <a:avLst>
              <a:gd name="adj" fmla="val 5405"/>
            </a:avLst>
          </a:prstGeom>
          <a:solidFill>
            <a:srgbClr val="FBEAEA"/>
          </a:solidFill>
          <a:ln w="9525">
            <a:solidFill>
              <a:srgbClr val="B83227"/>
            </a:solidFill>
            <a:prstDash val="solid"/>
          </a:ln>
        </p:spPr>
      </p:sp>
      <p:sp>
        <p:nvSpPr>
          <p:cNvPr id="43" name="Shape 40"/>
          <p:cNvSpPr/>
          <p:nvPr/>
        </p:nvSpPr>
        <p:spPr>
          <a:xfrm>
            <a:off x="5532120" y="4873752"/>
            <a:ext cx="1143000" cy="292608"/>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5532120" y="487375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45" name="Text 42"/>
          <p:cNvSpPr txBox="1"/>
          <p:nvPr/>
        </p:nvSpPr>
        <p:spPr>
          <a:xfrm>
            <a:off x="6766560" y="4873752"/>
            <a:ext cx="1828800" cy="292608"/>
          </a:xfrm>
          <a:prstGeom prst="rect">
            <a:avLst/>
          </a:prstGeom>
          <a:noFill/>
          <a:ln/>
        </p:spPr>
        <p:txBody>
          <a:bodyPr wrap="square" lIns="0" tIns="0" rIns="0" bIns="0" rtlCol="0" anchor="ctr"/>
          <a:lstStyle/>
          <a:p>
            <a:pPr algn="l" indent="0" marL="0">
              <a:buNone/>
            </a:pPr>
            <a:r>
              <a:rPr lang="en-US" sz="1050" b="1" i="1" dirty="0">
                <a:solidFill>
                  <a:srgbClr val="B83227"/>
                </a:solidFill>
                <a:latin typeface="Calibri" pitchFamily="34" charset="0"/>
                <a:cs typeface="Amiri" pitchFamily="2" charset="-78"/>
              </a:rPr>
              <a:t>Aim high</a:t>
            </a:r>
            <a:endParaRPr lang="en-US" sz="1050" dirty="0"/>
          </a:p>
        </p:txBody>
      </p:sp>
      <p:sp>
        <p:nvSpPr>
          <p:cNvPr id="46" name="Text 43"/>
          <p:cNvSpPr txBox="1"/>
          <p:nvPr/>
        </p:nvSpPr>
        <p:spPr>
          <a:xfrm>
            <a:off x="5532120" y="521208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can give a forecast with “it is expected that …”.</a:t>
            </a:r>
            <a:endParaRPr lang="en-US" sz="1300" dirty="0"/>
          </a:p>
        </p:txBody>
      </p:sp>
      <p:sp>
        <p:nvSpPr>
          <p:cNvPr id="47" name="Text 44"/>
          <p:cNvSpPr txBox="1"/>
          <p:nvPr/>
        </p:nvSpPr>
        <p:spPr>
          <a:xfrm>
            <a:off x="5532120" y="562356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can give practical advice from a forecast.</a:t>
            </a:r>
            <a:endParaRPr lang="en-US" sz="1300" dirty="0"/>
          </a:p>
        </p:txBody>
      </p:sp>
      <p:sp>
        <p:nvSpPr>
          <p:cNvPr id="48"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45</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8412480" y="1005840"/>
            <a:ext cx="4754880" cy="4754880"/>
          </a:xfrm>
          <a:prstGeom prst="ellipse">
            <a:avLst/>
          </a:prstGeom>
          <a:solidFill>
            <a:srgbClr val="22477F"/>
          </a:solidFill>
          <a:ln w="12700">
            <a:solidFill>
              <a:srgbClr val="22477F"/>
            </a:solidFill>
            <a:prstDash val="solid"/>
          </a:ln>
        </p:spPr>
      </p:sp>
      <p:sp>
        <p:nvSpPr>
          <p:cNvPr id="3" name="Shape 1"/>
          <p:cNvSpPr/>
          <p:nvPr/>
        </p:nvSpPr>
        <p:spPr>
          <a:xfrm>
            <a:off x="457200" y="1097280"/>
            <a:ext cx="3108960" cy="365760"/>
          </a:xfrm>
          <a:prstGeom prst="roundRect">
            <a:avLst>
              <a:gd name="adj" fmla="val 50000"/>
            </a:avLst>
          </a:prstGeom>
          <a:solidFill>
            <a:srgbClr val="D4AF37"/>
          </a:solidFill>
          <a:ln w="12700">
            <a:solidFill>
              <a:srgbClr val="D4AF37"/>
            </a:solidFill>
            <a:prstDash val="solid"/>
          </a:ln>
        </p:spPr>
      </p:sp>
      <p:sp>
        <p:nvSpPr>
          <p:cNvPr id="4" name="Text 2"/>
          <p:cNvSpPr txBox="1"/>
          <p:nvPr/>
        </p:nvSpPr>
        <p:spPr>
          <a:xfrm>
            <a:off x="457200" y="1097280"/>
            <a:ext cx="3108960" cy="365760"/>
          </a:xfrm>
          <a:prstGeom prst="rect">
            <a:avLst/>
          </a:prstGeom>
          <a:noFill/>
          <a:ln/>
        </p:spPr>
        <p:txBody>
          <a:bodyPr wrap="square" lIns="0" tIns="0" rIns="0" bIns="0" rtlCol="0" anchor="ctr"/>
          <a:lstStyle/>
          <a:p>
            <a:pPr algn="ctr" indent="0" marL="0">
              <a:buNone/>
            </a:pPr>
            <a:r>
              <a:rPr lang="en-US" sz="1000" b="1" spc="100" kern="0" dirty="0">
                <a:solidFill>
                  <a:srgbClr val="0D1F3C"/>
                </a:solidFill>
                <a:latin typeface="Calibri" pitchFamily="34" charset="0"/>
                <a:cs typeface="Amiri" pitchFamily="2" charset="-78"/>
              </a:rPr>
              <a:t>TEACHER INSTRUCTION · 7 MIN</a:t>
            </a:r>
            <a:endParaRPr lang="en-US" sz="1000" dirty="0"/>
          </a:p>
        </p:txBody>
      </p:sp>
      <p:sp>
        <p:nvSpPr>
          <p:cNvPr id="5" name="Text 3"/>
          <p:cNvSpPr txBox="1"/>
          <p:nvPr/>
        </p:nvSpPr>
        <p:spPr>
          <a:xfrm>
            <a:off x="457200" y="1783080"/>
            <a:ext cx="7863840" cy="822960"/>
          </a:xfrm>
          <a:prstGeom prst="rect">
            <a:avLst/>
          </a:prstGeom>
          <a:noFill/>
          <a:ln/>
        </p:spPr>
        <p:txBody>
          <a:bodyPr wrap="square" lIns="0" tIns="0" rIns="0" bIns="0" rtlCol="0" anchor="ctr"/>
          <a:lstStyle/>
          <a:p>
            <a:pPr algn="l" indent="0" marL="0">
              <a:buNone/>
            </a:pPr>
            <a:r>
              <a:rPr lang="en-US" sz="4000" b="1" dirty="0">
                <a:solidFill>
                  <a:srgbClr val="FFFFFF"/>
                </a:solidFill>
                <a:latin typeface="Cambria" pitchFamily="34" charset="0"/>
                <a:cs typeface="Amiri" pitchFamily="2" charset="-78"/>
              </a:rPr>
              <a:t>Key words for today</a:t>
            </a:r>
            <a:endParaRPr lang="en-US" sz="4000" dirty="0"/>
          </a:p>
        </p:txBody>
      </p:sp>
      <p:sp>
        <p:nvSpPr>
          <p:cNvPr id="6" name="Text 4"/>
          <p:cNvSpPr txBox="1"/>
          <p:nvPr/>
        </p:nvSpPr>
        <p:spPr>
          <a:xfrm>
            <a:off x="457200" y="2606040"/>
            <a:ext cx="7863840" cy="822960"/>
          </a:xfrm>
          <a:prstGeom prst="rect">
            <a:avLst/>
          </a:prstGeom>
          <a:noFill/>
          <a:ln/>
        </p:spPr>
        <p:txBody>
          <a:bodyPr wrap="square" lIns="0" tIns="0" rIns="0" bIns="0" rtlCol="0" anchor="ctr"/>
          <a:lstStyle/>
          <a:p>
            <a:pPr rtl="1" algn="l" indent="0" marL="0">
              <a:buNone/>
            </a:pPr>
            <a:r>
              <a:rPr lang="ar-SA" altLang="en-US" sz="3800" b="1" dirty="0">
                <a:solidFill>
                  <a:srgbClr val="D4AF37"/>
                </a:solidFill>
                <a:latin typeface="Amiri" pitchFamily="2" charset="-78"/>
                <a:ea typeface="Amiri" pitchFamily="2" charset="-78"/>
                <a:cs typeface="Amiri" pitchFamily="2" charset="-78"/>
              </a:rPr>
              <a:t>كَلِمَاتُ الدَّرْسِ</a:t>
            </a:r>
            <a:endParaRPr lang="ar-SA" sz="3800" dirty="0"/>
          </a:p>
        </p:txBody>
      </p:sp>
      <p:sp>
        <p:nvSpPr>
          <p:cNvPr id="7" name="Text 5"/>
          <p:cNvSpPr txBox="1"/>
          <p:nvPr/>
        </p:nvSpPr>
        <p:spPr>
          <a:xfrm>
            <a:off x="457200" y="3566160"/>
            <a:ext cx="7680960" cy="822960"/>
          </a:xfrm>
          <a:prstGeom prst="rect">
            <a:avLst/>
          </a:prstGeom>
          <a:noFill/>
          <a:ln/>
        </p:spPr>
        <p:txBody>
          <a:bodyPr wrap="square" lIns="0" tIns="0" rIns="0" bIns="0" rtlCol="0" anchor="t"/>
          <a:lstStyle/>
          <a:p>
            <a:pPr algn="l" indent="0" marL="0">
              <a:buNone/>
            </a:pPr>
            <a:r>
              <a:rPr lang="en-US" sz="1600" dirty="0">
                <a:solidFill>
                  <a:srgbClr val="C6D2E6"/>
                </a:solidFill>
                <a:latin typeface="Calibri" pitchFamily="34" charset="0"/>
                <a:cs typeface="Amiri" pitchFamily="2" charset="-78"/>
              </a:rPr>
              <a:t>24 words from the website in 3 groups. Learn the CORE words first. Hear it → say it → see it → use it.</a:t>
            </a:r>
            <a:endParaRPr lang="en-US" sz="1600" dirty="0"/>
          </a:p>
        </p:txBody>
      </p:sp>
      <p:sp>
        <p:nvSpPr>
          <p:cNvPr id="8" name="Shape 6"/>
          <p:cNvSpPr/>
          <p:nvPr/>
        </p:nvSpPr>
        <p:spPr>
          <a:xfrm>
            <a:off x="457200" y="4572000"/>
            <a:ext cx="2529840" cy="960120"/>
          </a:xfrm>
          <a:prstGeom prst="roundRect">
            <a:avLst>
              <a:gd name="adj" fmla="val 7619"/>
            </a:avLst>
          </a:prstGeom>
          <a:solidFill>
            <a:srgbClr val="16335F"/>
          </a:solidFill>
          <a:ln w="12700">
            <a:solidFill>
              <a:srgbClr val="2A4B7C"/>
            </a:solidFill>
            <a:prstDash val="solid"/>
          </a:ln>
        </p:spPr>
      </p:sp>
      <p:sp>
        <p:nvSpPr>
          <p:cNvPr id="9" name="Text 7"/>
          <p:cNvSpPr txBox="1"/>
          <p:nvPr/>
        </p:nvSpPr>
        <p:spPr>
          <a:xfrm>
            <a:off x="594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1</a:t>
            </a:r>
            <a:endParaRPr lang="en-US" sz="900" dirty="0"/>
          </a:p>
          <a:p>
            <a:pPr indent="0" marL="0">
              <a:buNone/>
            </a:pPr>
            <a:r>
              <a:rPr lang="en-US" sz="1200" b="1" dirty="0">
                <a:solidFill>
                  <a:srgbClr val="FFFFFF"/>
                </a:solidFill>
                <a:latin typeface="Calibri" pitchFamily="34" charset="0"/>
                <a:cs typeface="Amiri" pitchFamily="2" charset="-78"/>
              </a:rPr>
              <a:t>Weather phenomena · 10</a:t>
            </a:r>
            <a:endParaRPr lang="en-US" sz="900" dirty="0"/>
          </a:p>
        </p:txBody>
      </p:sp>
      <p:sp>
        <p:nvSpPr>
          <p:cNvPr id="10" name="Shape 8"/>
          <p:cNvSpPr/>
          <p:nvPr/>
        </p:nvSpPr>
        <p:spPr>
          <a:xfrm>
            <a:off x="3124200" y="4572000"/>
            <a:ext cx="2529840" cy="960120"/>
          </a:xfrm>
          <a:prstGeom prst="roundRect">
            <a:avLst>
              <a:gd name="adj" fmla="val 7619"/>
            </a:avLst>
          </a:prstGeom>
          <a:solidFill>
            <a:srgbClr val="16335F"/>
          </a:solidFill>
          <a:ln w="12700">
            <a:solidFill>
              <a:srgbClr val="2A4B7C"/>
            </a:solidFill>
            <a:prstDash val="solid"/>
          </a:ln>
        </p:spPr>
      </p:sp>
      <p:sp>
        <p:nvSpPr>
          <p:cNvPr id="11" name="Text 9"/>
          <p:cNvSpPr txBox="1"/>
          <p:nvPr/>
        </p:nvSpPr>
        <p:spPr>
          <a:xfrm>
            <a:off x="3261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2</a:t>
            </a:r>
            <a:endParaRPr lang="en-US" sz="900" dirty="0"/>
          </a:p>
          <a:p>
            <a:pPr indent="0" marL="0">
              <a:buNone/>
            </a:pPr>
            <a:r>
              <a:rPr lang="en-US" sz="1200" b="1" dirty="0">
                <a:solidFill>
                  <a:srgbClr val="FFFFFF"/>
                </a:solidFill>
                <a:latin typeface="Calibri" pitchFamily="34" charset="0"/>
                <a:cs typeface="Amiri" pitchFamily="2" charset="-78"/>
              </a:rPr>
              <a:t>Forecast language · 8</a:t>
            </a:r>
            <a:endParaRPr lang="en-US" sz="900" dirty="0"/>
          </a:p>
        </p:txBody>
      </p:sp>
      <p:sp>
        <p:nvSpPr>
          <p:cNvPr id="12" name="Shape 10"/>
          <p:cNvSpPr/>
          <p:nvPr/>
        </p:nvSpPr>
        <p:spPr>
          <a:xfrm>
            <a:off x="5791200" y="4572000"/>
            <a:ext cx="2529840" cy="960120"/>
          </a:xfrm>
          <a:prstGeom prst="roundRect">
            <a:avLst>
              <a:gd name="adj" fmla="val 7619"/>
            </a:avLst>
          </a:prstGeom>
          <a:solidFill>
            <a:srgbClr val="16335F"/>
          </a:solidFill>
          <a:ln w="12700">
            <a:solidFill>
              <a:srgbClr val="2A4B7C"/>
            </a:solidFill>
            <a:prstDash val="solid"/>
          </a:ln>
        </p:spPr>
      </p:sp>
      <p:sp>
        <p:nvSpPr>
          <p:cNvPr id="13" name="Text 11"/>
          <p:cNvSpPr txBox="1"/>
          <p:nvPr/>
        </p:nvSpPr>
        <p:spPr>
          <a:xfrm>
            <a:off x="5928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3</a:t>
            </a:r>
            <a:endParaRPr lang="en-US" sz="900" dirty="0"/>
          </a:p>
          <a:p>
            <a:pPr indent="0" marL="0">
              <a:buNone/>
            </a:pPr>
            <a:r>
              <a:rPr lang="en-US" sz="1200" b="1" dirty="0">
                <a:solidFill>
                  <a:srgbClr val="FFFFFF"/>
                </a:solidFill>
                <a:latin typeface="Calibri" pitchFamily="34" charset="0"/>
                <a:cs typeface="Amiri" pitchFamily="2" charset="-78"/>
              </a:rPr>
              <a:t>Comparison and measurement · 6</a:t>
            </a:r>
            <a:endParaRPr lang="en-US" sz="900" dirty="0"/>
          </a:p>
        </p:txBody>
      </p:sp>
      <p:sp>
        <p:nvSpPr>
          <p:cNvPr id="14" name="Shape 12"/>
          <p:cNvSpPr/>
          <p:nvPr/>
        </p:nvSpPr>
        <p:spPr>
          <a:xfrm>
            <a:off x="8732520" y="1371600"/>
            <a:ext cx="3017520" cy="3291840"/>
          </a:xfrm>
          <a:prstGeom prst="roundRect">
            <a:avLst>
              <a:gd name="adj" fmla="val 2424"/>
            </a:avLst>
          </a:prstGeom>
          <a:solidFill>
            <a:srgbClr val="EAF6EF"/>
          </a:solidFill>
          <a:ln w="12700">
            <a:solidFill>
              <a:srgbClr val="9CCFB0"/>
            </a:solidFill>
            <a:prstDash val="solid"/>
          </a:ln>
        </p:spPr>
      </p:sp>
      <p:sp>
        <p:nvSpPr>
          <p:cNvPr id="15" name="Text 13"/>
          <p:cNvSpPr txBox="1"/>
          <p:nvPr/>
        </p:nvSpPr>
        <p:spPr>
          <a:xfrm>
            <a:off x="8915400" y="1426464"/>
            <a:ext cx="2651760" cy="310896"/>
          </a:xfrm>
          <a:prstGeom prst="rect">
            <a:avLst/>
          </a:prstGeom>
          <a:noFill/>
          <a:ln/>
        </p:spPr>
        <p:txBody>
          <a:bodyPr wrap="square" lIns="0" tIns="0" rIns="0" bIns="0" rtlCol="0" anchor="ctr"/>
          <a:lstStyle/>
          <a:p>
            <a:pPr algn="l" indent="0" marL="0">
              <a:buNone/>
            </a:pPr>
            <a:r>
              <a:rPr lang="en-US" sz="1000" b="1" spc="200" kern="0" dirty="0">
                <a:solidFill>
                  <a:srgbClr val="2E8B57"/>
                </a:solidFill>
                <a:latin typeface="Calibri" pitchFamily="34" charset="0"/>
                <a:cs typeface="Amiri" pitchFamily="2" charset="-78"/>
              </a:rPr>
              <a:t>BRIDGE FROM URDU</a:t>
            </a:r>
            <a:endParaRPr lang="en-US" sz="1000" dirty="0"/>
          </a:p>
        </p:txBody>
      </p:sp>
      <p:sp>
        <p:nvSpPr>
          <p:cNvPr id="16" name="Text 14"/>
          <p:cNvSpPr txBox="1"/>
          <p:nvPr/>
        </p:nvSpPr>
        <p:spPr>
          <a:xfrm>
            <a:off x="10241280" y="1810512"/>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مَطَرٌ</a:t>
            </a:r>
            <a:endParaRPr lang="ar-SA" sz="1900" dirty="0"/>
          </a:p>
        </p:txBody>
      </p:sp>
      <p:sp>
        <p:nvSpPr>
          <p:cNvPr id="17" name="Text 15"/>
          <p:cNvSpPr txBox="1"/>
          <p:nvPr/>
        </p:nvSpPr>
        <p:spPr>
          <a:xfrm>
            <a:off x="8842248" y="1810512"/>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‎مینہ / بارش‎ </a:t>
            </a:r>
            <a:pPr indent="0" marL="0">
              <a:buNone/>
            </a:pPr>
            <a:r>
              <a:rPr lang="en-US" sz="950" b="1" dirty="0">
                <a:solidFill>
                  <a:srgbClr val="2E8B57"/>
                </a:solidFill>
                <a:latin typeface="Calibri" pitchFamily="34" charset="0"/>
                <a:cs typeface="Amiri" pitchFamily="2" charset="-78"/>
              </a:rPr>
              <a:t> bārish · rain (meaning only)</a:t>
            </a:r>
            <a:endParaRPr lang="en-US" sz="1400" dirty="0"/>
          </a:p>
        </p:txBody>
      </p:sp>
      <p:sp>
        <p:nvSpPr>
          <p:cNvPr id="18" name="Text 16"/>
          <p:cNvSpPr txBox="1"/>
          <p:nvPr/>
        </p:nvSpPr>
        <p:spPr>
          <a:xfrm>
            <a:off x="10241280" y="2377440"/>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حَرَارَةٌ</a:t>
            </a:r>
            <a:endParaRPr lang="ar-SA" sz="1900" dirty="0"/>
          </a:p>
        </p:txBody>
      </p:sp>
      <p:sp>
        <p:nvSpPr>
          <p:cNvPr id="19" name="Text 17"/>
          <p:cNvSpPr txBox="1"/>
          <p:nvPr/>
        </p:nvSpPr>
        <p:spPr>
          <a:xfrm>
            <a:off x="8842248" y="2377440"/>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‎حرارت‎ </a:t>
            </a:r>
            <a:pPr indent="0" marL="0">
              <a:buNone/>
            </a:pPr>
            <a:r>
              <a:rPr lang="en-US" sz="950" b="1" dirty="0">
                <a:solidFill>
                  <a:srgbClr val="2E8B57"/>
                </a:solidFill>
                <a:latin typeface="Calibri" pitchFamily="34" charset="0"/>
                <a:cs typeface="Amiri" pitchFamily="2" charset="-78"/>
              </a:rPr>
              <a:t> harārat · heat → temperature</a:t>
            </a:r>
            <a:endParaRPr lang="en-US" sz="1400" dirty="0"/>
          </a:p>
        </p:txBody>
      </p:sp>
      <p:sp>
        <p:nvSpPr>
          <p:cNvPr id="20" name="Text 18"/>
          <p:cNvSpPr txBox="1"/>
          <p:nvPr/>
        </p:nvSpPr>
        <p:spPr>
          <a:xfrm>
            <a:off x="10241280" y="2944368"/>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رُطُوبَةٌ</a:t>
            </a:r>
            <a:endParaRPr lang="ar-SA" sz="1900" dirty="0"/>
          </a:p>
        </p:txBody>
      </p:sp>
      <p:sp>
        <p:nvSpPr>
          <p:cNvPr id="21" name="Text 19"/>
          <p:cNvSpPr txBox="1"/>
          <p:nvPr/>
        </p:nvSpPr>
        <p:spPr>
          <a:xfrm>
            <a:off x="8842248" y="2944368"/>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‎رطوبت‎ </a:t>
            </a:r>
            <a:pPr indent="0" marL="0">
              <a:buNone/>
            </a:pPr>
            <a:r>
              <a:rPr lang="en-US" sz="950" b="1" dirty="0">
                <a:solidFill>
                  <a:srgbClr val="2E8B57"/>
                </a:solidFill>
                <a:latin typeface="Calibri" pitchFamily="34" charset="0"/>
                <a:cs typeface="Amiri" pitchFamily="2" charset="-78"/>
              </a:rPr>
              <a:t> rutūbat · humidity</a:t>
            </a:r>
            <a:endParaRPr lang="en-US" sz="1400" dirty="0"/>
          </a:p>
        </p:txBody>
      </p:sp>
      <p:sp>
        <p:nvSpPr>
          <p:cNvPr id="22" name="Text 20"/>
          <p:cNvSpPr txBox="1"/>
          <p:nvPr/>
        </p:nvSpPr>
        <p:spPr>
          <a:xfrm>
            <a:off x="10241280" y="3511296"/>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مَوْسِمٌ</a:t>
            </a:r>
            <a:endParaRPr lang="ar-SA" sz="1900" dirty="0"/>
          </a:p>
        </p:txBody>
      </p:sp>
      <p:sp>
        <p:nvSpPr>
          <p:cNvPr id="23" name="Text 21"/>
          <p:cNvSpPr txBox="1"/>
          <p:nvPr/>
        </p:nvSpPr>
        <p:spPr>
          <a:xfrm>
            <a:off x="8842248" y="3511296"/>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‎موسم‎ </a:t>
            </a:r>
            <a:pPr indent="0" marL="0">
              <a:buNone/>
            </a:pPr>
            <a:r>
              <a:rPr lang="en-US" sz="950" b="1" dirty="0">
                <a:solidFill>
                  <a:srgbClr val="2E8B57"/>
                </a:solidFill>
                <a:latin typeface="Calibri" pitchFamily="34" charset="0"/>
                <a:cs typeface="Amiri" pitchFamily="2" charset="-78"/>
              </a:rPr>
              <a:t> mausam · Urdu: weather · Arabic: season</a:t>
            </a:r>
            <a:endParaRPr lang="en-US" sz="1400" dirty="0"/>
          </a:p>
        </p:txBody>
      </p:sp>
      <p:sp>
        <p:nvSpPr>
          <p:cNvPr id="24" name="Text 22"/>
          <p:cNvSpPr txBox="1"/>
          <p:nvPr/>
        </p:nvSpPr>
        <p:spPr>
          <a:xfrm>
            <a:off x="10241280" y="4078224"/>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بَرْقٌ</a:t>
            </a:r>
            <a:endParaRPr lang="ar-SA" sz="1900" dirty="0"/>
          </a:p>
        </p:txBody>
      </p:sp>
      <p:sp>
        <p:nvSpPr>
          <p:cNvPr id="25" name="Text 23"/>
          <p:cNvSpPr txBox="1"/>
          <p:nvPr/>
        </p:nvSpPr>
        <p:spPr>
          <a:xfrm>
            <a:off x="8842248" y="4078224"/>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‎برق‎ </a:t>
            </a:r>
            <a:pPr indent="0" marL="0">
              <a:buNone/>
            </a:pPr>
            <a:r>
              <a:rPr lang="en-US" sz="950" b="1" dirty="0">
                <a:solidFill>
                  <a:srgbClr val="2E8B57"/>
                </a:solidFill>
                <a:latin typeface="Calibri" pitchFamily="34" charset="0"/>
                <a:cs typeface="Amiri" pitchFamily="2" charset="-78"/>
              </a:rPr>
              <a:t> barq · lightning (and Urdu “electricity”)</a:t>
            </a:r>
            <a:endParaRPr lang="en-US" sz="1400" dirty="0"/>
          </a:p>
        </p:txBody>
      </p:sp>
      <p:sp>
        <p:nvSpPr>
          <p:cNvPr id="27" name="Text 2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45</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D4-L02 · Weather</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1</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Weather phenomena (1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D4-L02</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المَطَرُ</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rain</a:t>
            </a:r>
            <a:endParaRPr lang="en-US" sz="1350" dirty="0"/>
          </a:p>
          <a:p>
            <a:pPr indent="0" marL="0">
              <a:buNone/>
            </a:pPr>
            <a:r>
              <a:rPr lang="en-US" sz="1100" i="1" dirty="0">
                <a:solidFill>
                  <a:srgbClr val="5A6472"/>
                </a:solidFill>
                <a:latin typeface="Calibri" pitchFamily="34" charset="0"/>
                <a:cs typeface="Amiri" pitchFamily="2" charset="-78"/>
              </a:rPr>
              <a:t>al-ma-ṭa-ru</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25" name="Shape 22"/>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7" name="Text 24"/>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الثُّلُوجُ</a:t>
            </a:r>
            <a:endParaRPr lang="ar-SA" sz="3000" dirty="0"/>
          </a:p>
        </p:txBody>
      </p:sp>
      <p:sp>
        <p:nvSpPr>
          <p:cNvPr id="28" name="Text 25"/>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snow</a:t>
            </a:r>
            <a:endParaRPr lang="en-US" sz="1350" dirty="0"/>
          </a:p>
          <a:p>
            <a:pPr indent="0" marL="0">
              <a:buNone/>
            </a:pPr>
            <a:r>
              <a:rPr lang="en-US" sz="1100" i="1" dirty="0">
                <a:solidFill>
                  <a:srgbClr val="5A6472"/>
                </a:solidFill>
                <a:latin typeface="Calibri" pitchFamily="34" charset="0"/>
                <a:cs typeface="Amiri" pitchFamily="2" charset="-78"/>
              </a:rPr>
              <a:t>ath-thu-lū-ju</a:t>
            </a:r>
            <a:endParaRPr lang="en-US" sz="1350" dirty="0"/>
          </a:p>
        </p:txBody>
      </p:sp>
      <p:sp>
        <p:nvSpPr>
          <p:cNvPr id="29" name="Shape 26"/>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66928" y="1920240"/>
            <a:ext cx="310896" cy="310896"/>
          </a:xfrm>
          <a:prstGeom prst="ellipse">
            <a:avLst/>
          </a:prstGeom>
          <a:solidFill>
            <a:srgbClr val="F4F1EA"/>
          </a:solidFill>
          <a:ln w="12700">
            <a:solidFill>
              <a:srgbClr val="F4F1EA"/>
            </a:solidFill>
            <a:prstDash val="solid"/>
          </a:ln>
        </p:spPr>
      </p:sp>
      <p:sp>
        <p:nvSpPr>
          <p:cNvPr id="31" name="Text 28"/>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32" name="Shape 29"/>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4" name="Text 31"/>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الرِّيَاحُ</a:t>
            </a:r>
            <a:endParaRPr lang="ar-SA" sz="3000" dirty="0"/>
          </a:p>
        </p:txBody>
      </p:sp>
      <p:sp>
        <p:nvSpPr>
          <p:cNvPr id="35" name="Text 32"/>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winds</a:t>
            </a:r>
            <a:endParaRPr lang="en-US" sz="1350" dirty="0"/>
          </a:p>
          <a:p>
            <a:pPr indent="0" marL="0">
              <a:buNone/>
            </a:pPr>
            <a:r>
              <a:rPr lang="en-US" sz="1100" i="1" dirty="0">
                <a:solidFill>
                  <a:srgbClr val="5A6472"/>
                </a:solidFill>
                <a:latin typeface="Calibri" pitchFamily="34" charset="0"/>
                <a:cs typeface="Amiri" pitchFamily="2" charset="-78"/>
              </a:rPr>
              <a:t>ar-ri-yā-ḥu</a:t>
            </a:r>
            <a:endParaRPr lang="en-US" sz="1350" dirty="0"/>
          </a:p>
        </p:txBody>
      </p:sp>
      <p:sp>
        <p:nvSpPr>
          <p:cNvPr id="36" name="Shape 33"/>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8211312" y="4261104"/>
            <a:ext cx="310896" cy="310896"/>
          </a:xfrm>
          <a:prstGeom prst="ellipse">
            <a:avLst/>
          </a:prstGeom>
          <a:solidFill>
            <a:srgbClr val="F4F1EA"/>
          </a:solidFill>
          <a:ln w="12700">
            <a:solidFill>
              <a:srgbClr val="F4F1EA"/>
            </a:solidFill>
            <a:prstDash val="solid"/>
          </a:ln>
        </p:spPr>
      </p:sp>
      <p:sp>
        <p:nvSpPr>
          <p:cNvPr id="38" name="Text 35"/>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39" name="Shape 36"/>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1" name="Text 38"/>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الشَّمْسُ</a:t>
            </a:r>
            <a:endParaRPr lang="ar-SA" sz="3000" dirty="0"/>
          </a:p>
        </p:txBody>
      </p:sp>
      <p:sp>
        <p:nvSpPr>
          <p:cNvPr id="42" name="Text 39"/>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sun</a:t>
            </a:r>
            <a:endParaRPr lang="en-US" sz="1350" dirty="0"/>
          </a:p>
          <a:p>
            <a:pPr indent="0" marL="0">
              <a:buNone/>
            </a:pPr>
            <a:r>
              <a:rPr lang="en-US" sz="1100" i="1" dirty="0">
                <a:solidFill>
                  <a:srgbClr val="5A6472"/>
                </a:solidFill>
                <a:latin typeface="Calibri" pitchFamily="34" charset="0"/>
                <a:cs typeface="Amiri" pitchFamily="2" charset="-78"/>
              </a:rPr>
              <a:t>ash-sham-su</a:t>
            </a:r>
            <a:endParaRPr lang="en-US" sz="1350" dirty="0"/>
          </a:p>
        </p:txBody>
      </p:sp>
      <p:sp>
        <p:nvSpPr>
          <p:cNvPr id="43" name="Shape 40"/>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4389120" y="4261104"/>
            <a:ext cx="310896" cy="310896"/>
          </a:xfrm>
          <a:prstGeom prst="ellipse">
            <a:avLst/>
          </a:prstGeom>
          <a:solidFill>
            <a:srgbClr val="F4F1EA"/>
          </a:solidFill>
          <a:ln w="12700">
            <a:solidFill>
              <a:srgbClr val="F4F1EA"/>
            </a:solidFill>
            <a:prstDash val="solid"/>
          </a:ln>
        </p:spPr>
      </p:sp>
      <p:sp>
        <p:nvSpPr>
          <p:cNvPr id="45" name="Text 42"/>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46" name="Shape 43"/>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47" name="Text 44"/>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8" name="Text 45"/>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السُّحُبُ / الغُيُومُ</a:t>
            </a:r>
            <a:endParaRPr lang="ar-SA" sz="3000" dirty="0"/>
          </a:p>
        </p:txBody>
      </p:sp>
      <p:sp>
        <p:nvSpPr>
          <p:cNvPr id="49" name="Text 46"/>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clouds</a:t>
            </a:r>
            <a:endParaRPr lang="en-US" sz="1350" dirty="0"/>
          </a:p>
          <a:p>
            <a:pPr indent="0" marL="0">
              <a:buNone/>
            </a:pPr>
            <a:r>
              <a:rPr lang="en-US" sz="1100" i="1" dirty="0">
                <a:solidFill>
                  <a:srgbClr val="5A6472"/>
                </a:solidFill>
                <a:latin typeface="Calibri" pitchFamily="34" charset="0"/>
                <a:cs typeface="Amiri" pitchFamily="2" charset="-78"/>
              </a:rPr>
              <a:t>as-su-ḥu-bu / al-ghu-yū-mu</a:t>
            </a:r>
            <a:endParaRPr lang="en-US" sz="1350" dirty="0"/>
          </a:p>
        </p:txBody>
      </p:sp>
      <p:sp>
        <p:nvSpPr>
          <p:cNvPr id="50"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45</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D4-L02 · Weather</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1</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Weather phenomena (2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D4-L02</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العَاصِفَةُ</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storm</a:t>
            </a:r>
            <a:endParaRPr lang="en-US" sz="1350" dirty="0"/>
          </a:p>
          <a:p>
            <a:pPr indent="0" marL="0">
              <a:buNone/>
            </a:pPr>
            <a:r>
              <a:rPr lang="en-US" sz="1100" i="1" dirty="0">
                <a:solidFill>
                  <a:srgbClr val="5A6472"/>
                </a:solidFill>
                <a:latin typeface="Calibri" pitchFamily="34" charset="0"/>
                <a:cs typeface="Amiri" pitchFamily="2" charset="-78"/>
              </a:rPr>
              <a:t>al-ʿā-ṣi-fa-tu</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7</a:t>
            </a:r>
            <a:endParaRPr lang="en-US" sz="1000" dirty="0"/>
          </a:p>
        </p:txBody>
      </p:sp>
      <p:sp>
        <p:nvSpPr>
          <p:cNvPr id="25" name="Text 22"/>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الضَّبَابُ</a:t>
            </a:r>
            <a:endParaRPr lang="ar-SA" sz="3000" dirty="0"/>
          </a:p>
        </p:txBody>
      </p:sp>
      <p:sp>
        <p:nvSpPr>
          <p:cNvPr id="26" name="Text 23"/>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fog</a:t>
            </a:r>
            <a:endParaRPr lang="en-US" sz="1350" dirty="0"/>
          </a:p>
          <a:p>
            <a:pPr indent="0" marL="0">
              <a:buNone/>
            </a:pPr>
            <a:r>
              <a:rPr lang="en-US" sz="1100" i="1" dirty="0">
                <a:solidFill>
                  <a:srgbClr val="5A6472"/>
                </a:solidFill>
                <a:latin typeface="Calibri" pitchFamily="34" charset="0"/>
                <a:cs typeface="Amiri" pitchFamily="2" charset="-78"/>
              </a:rPr>
              <a:t>aḍ-ḍa-bā-bu</a:t>
            </a:r>
            <a:endParaRPr lang="en-US" sz="1350" dirty="0"/>
          </a:p>
        </p:txBody>
      </p:sp>
      <p:sp>
        <p:nvSpPr>
          <p:cNvPr id="27" name="Shape 24"/>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5"/>
          <p:cNvSpPr/>
          <p:nvPr/>
        </p:nvSpPr>
        <p:spPr>
          <a:xfrm>
            <a:off x="566928" y="1920240"/>
            <a:ext cx="310896" cy="310896"/>
          </a:xfrm>
          <a:prstGeom prst="ellipse">
            <a:avLst/>
          </a:prstGeom>
          <a:solidFill>
            <a:srgbClr val="F4F1EA"/>
          </a:solidFill>
          <a:ln w="12700">
            <a:solidFill>
              <a:srgbClr val="F4F1EA"/>
            </a:solidFill>
            <a:prstDash val="solid"/>
          </a:ln>
        </p:spPr>
      </p:sp>
      <p:sp>
        <p:nvSpPr>
          <p:cNvPr id="29" name="Text 26"/>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8</a:t>
            </a:r>
            <a:endParaRPr lang="en-US" sz="1000" dirty="0"/>
          </a:p>
        </p:txBody>
      </p:sp>
      <p:sp>
        <p:nvSpPr>
          <p:cNvPr id="30" name="Text 27"/>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الرَّعْدُ</a:t>
            </a:r>
            <a:endParaRPr lang="ar-SA" sz="3000" dirty="0"/>
          </a:p>
        </p:txBody>
      </p:sp>
      <p:sp>
        <p:nvSpPr>
          <p:cNvPr id="31" name="Text 28"/>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thunder</a:t>
            </a:r>
            <a:endParaRPr lang="en-US" sz="1350" dirty="0"/>
          </a:p>
          <a:p>
            <a:pPr indent="0" marL="0">
              <a:buNone/>
            </a:pPr>
            <a:r>
              <a:rPr lang="en-US" sz="1100" i="1" dirty="0">
                <a:solidFill>
                  <a:srgbClr val="5A6472"/>
                </a:solidFill>
                <a:latin typeface="Calibri" pitchFamily="34" charset="0"/>
                <a:cs typeface="Amiri" pitchFamily="2" charset="-78"/>
              </a:rPr>
              <a:t>ar-raʿ-du</a:t>
            </a:r>
            <a:endParaRPr lang="en-US" sz="1350" dirty="0"/>
          </a:p>
        </p:txBody>
      </p:sp>
      <p:sp>
        <p:nvSpPr>
          <p:cNvPr id="32" name="Shape 29"/>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8211312" y="4261104"/>
            <a:ext cx="310896" cy="310896"/>
          </a:xfrm>
          <a:prstGeom prst="ellipse">
            <a:avLst/>
          </a:prstGeom>
          <a:solidFill>
            <a:srgbClr val="F4F1EA"/>
          </a:solidFill>
          <a:ln w="12700">
            <a:solidFill>
              <a:srgbClr val="F4F1EA"/>
            </a:solidFill>
            <a:prstDash val="solid"/>
          </a:ln>
        </p:spPr>
      </p:sp>
      <p:sp>
        <p:nvSpPr>
          <p:cNvPr id="34" name="Text 31"/>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9</a:t>
            </a:r>
            <a:endParaRPr lang="en-US" sz="1000" dirty="0"/>
          </a:p>
        </p:txBody>
      </p:sp>
      <p:sp>
        <p:nvSpPr>
          <p:cNvPr id="35" name="Text 32"/>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البَرْقُ</a:t>
            </a:r>
            <a:endParaRPr lang="ar-SA" sz="3000" dirty="0"/>
          </a:p>
        </p:txBody>
      </p:sp>
      <p:sp>
        <p:nvSpPr>
          <p:cNvPr id="36" name="Text 33"/>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lightning</a:t>
            </a:r>
            <a:endParaRPr lang="en-US" sz="1350" dirty="0"/>
          </a:p>
          <a:p>
            <a:pPr indent="0" marL="0">
              <a:buNone/>
            </a:pPr>
            <a:r>
              <a:rPr lang="en-US" sz="1100" i="1" dirty="0">
                <a:solidFill>
                  <a:srgbClr val="5A6472"/>
                </a:solidFill>
                <a:latin typeface="Calibri" pitchFamily="34" charset="0"/>
                <a:cs typeface="Amiri" pitchFamily="2" charset="-78"/>
              </a:rPr>
              <a:t>al-bar-qu</a:t>
            </a:r>
            <a:endParaRPr lang="en-US" sz="1350" dirty="0"/>
          </a:p>
        </p:txBody>
      </p:sp>
      <p:sp>
        <p:nvSpPr>
          <p:cNvPr id="37" name="Shape 34"/>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4389120" y="4261104"/>
            <a:ext cx="310896" cy="310896"/>
          </a:xfrm>
          <a:prstGeom prst="ellipse">
            <a:avLst/>
          </a:prstGeom>
          <a:solidFill>
            <a:srgbClr val="F4F1EA"/>
          </a:solidFill>
          <a:ln w="12700">
            <a:solidFill>
              <a:srgbClr val="F4F1EA"/>
            </a:solidFill>
            <a:prstDash val="solid"/>
          </a:ln>
        </p:spPr>
      </p:sp>
      <p:sp>
        <p:nvSpPr>
          <p:cNvPr id="39" name="Text 36"/>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10</a:t>
            </a:r>
            <a:endParaRPr lang="en-US" sz="1000" dirty="0"/>
          </a:p>
        </p:txBody>
      </p:sp>
      <p:sp>
        <p:nvSpPr>
          <p:cNvPr id="40" name="Text 37"/>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الرُّطُوبَةُ</a:t>
            </a:r>
            <a:endParaRPr lang="ar-SA" sz="3000" dirty="0"/>
          </a:p>
        </p:txBody>
      </p:sp>
      <p:sp>
        <p:nvSpPr>
          <p:cNvPr id="41" name="Text 38"/>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humidity</a:t>
            </a:r>
            <a:endParaRPr lang="en-US" sz="1350" dirty="0"/>
          </a:p>
          <a:p>
            <a:pPr indent="0" marL="0">
              <a:buNone/>
            </a:pPr>
            <a:r>
              <a:rPr lang="en-US" sz="1100" i="1" dirty="0">
                <a:solidFill>
                  <a:srgbClr val="5A6472"/>
                </a:solidFill>
                <a:latin typeface="Calibri" pitchFamily="34" charset="0"/>
                <a:cs typeface="Amiri" pitchFamily="2" charset="-78"/>
              </a:rPr>
              <a:t>ar-ru-ṭū-ba-tu</a:t>
            </a:r>
            <a:endParaRPr lang="en-US" sz="1350" dirty="0"/>
          </a:p>
        </p:txBody>
      </p:sp>
      <p:sp>
        <p:nvSpPr>
          <p:cNvPr id="42" name="Text 3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45</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D4-L02 · Weather</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2</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Forecast language (1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D4-L02</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11</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يَسْقُطُ المَطَرُ</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rain falls / it rains</a:t>
            </a:r>
            <a:endParaRPr lang="en-US" sz="1350" dirty="0"/>
          </a:p>
          <a:p>
            <a:pPr indent="0" marL="0">
              <a:buNone/>
            </a:pPr>
            <a:r>
              <a:rPr lang="en-US" sz="1100" i="1" dirty="0">
                <a:solidFill>
                  <a:srgbClr val="5A6472"/>
                </a:solidFill>
                <a:latin typeface="Calibri" pitchFamily="34" charset="0"/>
                <a:cs typeface="Amiri" pitchFamily="2" charset="-78"/>
              </a:rPr>
              <a:t>yas-qu-ṭu al-ma-ṭa-ru</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12</a:t>
            </a:r>
            <a:endParaRPr lang="en-US" sz="1000" dirty="0"/>
          </a:p>
        </p:txBody>
      </p:sp>
      <p:sp>
        <p:nvSpPr>
          <p:cNvPr id="25" name="Shape 22"/>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7" name="Text 24"/>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تَسْقُطُ الثُّلُوجُ</a:t>
            </a:r>
            <a:endParaRPr lang="ar-SA" sz="3000" dirty="0"/>
          </a:p>
        </p:txBody>
      </p:sp>
      <p:sp>
        <p:nvSpPr>
          <p:cNvPr id="28" name="Text 25"/>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snow falls / it snows</a:t>
            </a:r>
            <a:endParaRPr lang="en-US" sz="1350" dirty="0"/>
          </a:p>
          <a:p>
            <a:pPr indent="0" marL="0">
              <a:buNone/>
            </a:pPr>
            <a:r>
              <a:rPr lang="en-US" sz="1100" i="1" dirty="0">
                <a:solidFill>
                  <a:srgbClr val="5A6472"/>
                </a:solidFill>
                <a:latin typeface="Calibri" pitchFamily="34" charset="0"/>
                <a:cs typeface="Amiri" pitchFamily="2" charset="-78"/>
              </a:rPr>
              <a:t>tas-qu-ṭu ath-thu-lū-ju</a:t>
            </a:r>
            <a:endParaRPr lang="en-US" sz="1350" dirty="0"/>
          </a:p>
        </p:txBody>
      </p:sp>
      <p:sp>
        <p:nvSpPr>
          <p:cNvPr id="29" name="Shape 26"/>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66928" y="1920240"/>
            <a:ext cx="310896" cy="310896"/>
          </a:xfrm>
          <a:prstGeom prst="ellipse">
            <a:avLst/>
          </a:prstGeom>
          <a:solidFill>
            <a:srgbClr val="F4F1EA"/>
          </a:solidFill>
          <a:ln w="12700">
            <a:solidFill>
              <a:srgbClr val="F4F1EA"/>
            </a:solidFill>
            <a:prstDash val="solid"/>
          </a:ln>
        </p:spPr>
      </p:sp>
      <p:sp>
        <p:nvSpPr>
          <p:cNvPr id="31" name="Text 28"/>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13</a:t>
            </a:r>
            <a:endParaRPr lang="en-US" sz="1000" dirty="0"/>
          </a:p>
        </p:txBody>
      </p:sp>
      <p:sp>
        <p:nvSpPr>
          <p:cNvPr id="32" name="Shape 29"/>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4" name="Text 31"/>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تَهُبُّ الرِّيَاحُ</a:t>
            </a:r>
            <a:endParaRPr lang="ar-SA" sz="3000" dirty="0"/>
          </a:p>
        </p:txBody>
      </p:sp>
      <p:sp>
        <p:nvSpPr>
          <p:cNvPr id="35" name="Text 32"/>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the winds blow</a:t>
            </a:r>
            <a:endParaRPr lang="en-US" sz="1350" dirty="0"/>
          </a:p>
          <a:p>
            <a:pPr indent="0" marL="0">
              <a:buNone/>
            </a:pPr>
            <a:r>
              <a:rPr lang="en-US" sz="1100" i="1" dirty="0">
                <a:solidFill>
                  <a:srgbClr val="5A6472"/>
                </a:solidFill>
                <a:latin typeface="Calibri" pitchFamily="34" charset="0"/>
                <a:cs typeface="Amiri" pitchFamily="2" charset="-78"/>
              </a:rPr>
              <a:t>ta-hub-bu ar-ri-yā-ḥu</a:t>
            </a:r>
            <a:endParaRPr lang="en-US" sz="1350" dirty="0"/>
          </a:p>
        </p:txBody>
      </p:sp>
      <p:sp>
        <p:nvSpPr>
          <p:cNvPr id="36" name="Shape 33"/>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8211312" y="4261104"/>
            <a:ext cx="310896" cy="310896"/>
          </a:xfrm>
          <a:prstGeom prst="ellipse">
            <a:avLst/>
          </a:prstGeom>
          <a:solidFill>
            <a:srgbClr val="F4F1EA"/>
          </a:solidFill>
          <a:ln w="12700">
            <a:solidFill>
              <a:srgbClr val="F4F1EA"/>
            </a:solidFill>
            <a:prstDash val="solid"/>
          </a:ln>
        </p:spPr>
      </p:sp>
      <p:sp>
        <p:nvSpPr>
          <p:cNvPr id="38" name="Text 35"/>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14</a:t>
            </a:r>
            <a:endParaRPr lang="en-US" sz="1000" dirty="0"/>
          </a:p>
        </p:txBody>
      </p:sp>
      <p:sp>
        <p:nvSpPr>
          <p:cNvPr id="39" name="Shape 36"/>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1" name="Text 38"/>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تُشْرِقُ الشَّمْسُ</a:t>
            </a:r>
            <a:endParaRPr lang="ar-SA" sz="3000" dirty="0"/>
          </a:p>
        </p:txBody>
      </p:sp>
      <p:sp>
        <p:nvSpPr>
          <p:cNvPr id="42" name="Text 39"/>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the sun shines</a:t>
            </a:r>
            <a:endParaRPr lang="en-US" sz="1350" dirty="0"/>
          </a:p>
          <a:p>
            <a:pPr indent="0" marL="0">
              <a:buNone/>
            </a:pPr>
            <a:r>
              <a:rPr lang="en-US" sz="1100" i="1" dirty="0">
                <a:solidFill>
                  <a:srgbClr val="5A6472"/>
                </a:solidFill>
                <a:latin typeface="Calibri" pitchFamily="34" charset="0"/>
                <a:cs typeface="Amiri" pitchFamily="2" charset="-78"/>
              </a:rPr>
              <a:t>tush-ri-qu ash-sham-su</a:t>
            </a:r>
            <a:endParaRPr lang="en-US" sz="1350" dirty="0"/>
          </a:p>
        </p:txBody>
      </p:sp>
      <p:sp>
        <p:nvSpPr>
          <p:cNvPr id="43" name="Text 4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45</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D4-L02 · Weather</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2</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Forecast language (2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D4-L02</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15</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تَرْتَفِعُ دَرَجَةُ الحَرَارَةِ</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the temperature rises</a:t>
            </a:r>
            <a:endParaRPr lang="en-US" sz="1350" dirty="0"/>
          </a:p>
          <a:p>
            <a:pPr indent="0" marL="0">
              <a:buNone/>
            </a:pPr>
            <a:r>
              <a:rPr lang="en-US" sz="1100" i="1" dirty="0">
                <a:solidFill>
                  <a:srgbClr val="5A6472"/>
                </a:solidFill>
                <a:latin typeface="Calibri" pitchFamily="34" charset="0"/>
                <a:cs typeface="Amiri" pitchFamily="2" charset="-78"/>
              </a:rPr>
              <a:t>tar-ta-fi-ʿu da-ra-ja-tu al-ḥa-rā-ra-ti</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16</a:t>
            </a:r>
            <a:endParaRPr lang="en-US" sz="1000" dirty="0"/>
          </a:p>
        </p:txBody>
      </p:sp>
      <p:sp>
        <p:nvSpPr>
          <p:cNvPr id="25" name="Shape 22"/>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7" name="Text 24"/>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تَنْخَفِضُ دَرَجَةُ الحَرَارَةِ</a:t>
            </a:r>
            <a:endParaRPr lang="ar-SA" sz="3000" dirty="0"/>
          </a:p>
        </p:txBody>
      </p:sp>
      <p:sp>
        <p:nvSpPr>
          <p:cNvPr id="28" name="Text 25"/>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the temperature falls</a:t>
            </a:r>
            <a:endParaRPr lang="en-US" sz="1350" dirty="0"/>
          </a:p>
          <a:p>
            <a:pPr indent="0" marL="0">
              <a:buNone/>
            </a:pPr>
            <a:r>
              <a:rPr lang="en-US" sz="1100" i="1" dirty="0">
                <a:solidFill>
                  <a:srgbClr val="5A6472"/>
                </a:solidFill>
                <a:latin typeface="Calibri" pitchFamily="34" charset="0"/>
                <a:cs typeface="Amiri" pitchFamily="2" charset="-78"/>
              </a:rPr>
              <a:t>tan-kha-fi-ḍu da-ra-ja-tu al-ḥa-rā-ra-ti</a:t>
            </a:r>
            <a:endParaRPr lang="en-US" sz="1350" dirty="0"/>
          </a:p>
        </p:txBody>
      </p:sp>
      <p:sp>
        <p:nvSpPr>
          <p:cNvPr id="29" name="Shape 26"/>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66928" y="1920240"/>
            <a:ext cx="310896" cy="310896"/>
          </a:xfrm>
          <a:prstGeom prst="ellipse">
            <a:avLst/>
          </a:prstGeom>
          <a:solidFill>
            <a:srgbClr val="F4F1EA"/>
          </a:solidFill>
          <a:ln w="12700">
            <a:solidFill>
              <a:srgbClr val="F4F1EA"/>
            </a:solidFill>
            <a:prstDash val="solid"/>
          </a:ln>
        </p:spPr>
      </p:sp>
      <p:sp>
        <p:nvSpPr>
          <p:cNvPr id="31" name="Text 28"/>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17</a:t>
            </a:r>
            <a:endParaRPr lang="en-US" sz="1000" dirty="0"/>
          </a:p>
        </p:txBody>
      </p:sp>
      <p:sp>
        <p:nvSpPr>
          <p:cNvPr id="32" name="Text 29"/>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مِنَ المُتَوَقَّعِ أَنْ</a:t>
            </a:r>
            <a:endParaRPr lang="ar-SA" sz="3000" dirty="0"/>
          </a:p>
        </p:txBody>
      </p:sp>
      <p:sp>
        <p:nvSpPr>
          <p:cNvPr id="33" name="Text 30"/>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it is expected that</a:t>
            </a:r>
            <a:endParaRPr lang="en-US" sz="1350" dirty="0"/>
          </a:p>
          <a:p>
            <a:pPr indent="0" marL="0">
              <a:buNone/>
            </a:pPr>
            <a:r>
              <a:rPr lang="en-US" sz="1100" i="1" dirty="0">
                <a:solidFill>
                  <a:srgbClr val="5A6472"/>
                </a:solidFill>
                <a:latin typeface="Calibri" pitchFamily="34" charset="0"/>
                <a:cs typeface="Amiri" pitchFamily="2" charset="-78"/>
              </a:rPr>
              <a:t>mi-na al-mu-ta-waq-qa-ʿi an</a:t>
            </a:r>
            <a:endParaRPr lang="en-US" sz="1350" dirty="0"/>
          </a:p>
        </p:txBody>
      </p:sp>
      <p:sp>
        <p:nvSpPr>
          <p:cNvPr id="34" name="Shape 31"/>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8211312" y="4261104"/>
            <a:ext cx="310896" cy="310896"/>
          </a:xfrm>
          <a:prstGeom prst="ellipse">
            <a:avLst/>
          </a:prstGeom>
          <a:solidFill>
            <a:srgbClr val="F4F1EA"/>
          </a:solidFill>
          <a:ln w="12700">
            <a:solidFill>
              <a:srgbClr val="F4F1EA"/>
            </a:solidFill>
            <a:prstDash val="solid"/>
          </a:ln>
        </p:spPr>
      </p:sp>
      <p:sp>
        <p:nvSpPr>
          <p:cNvPr id="36" name="Text 33"/>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18</a:t>
            </a:r>
            <a:endParaRPr lang="en-US" sz="1000" dirty="0"/>
          </a:p>
        </p:txBody>
      </p:sp>
      <p:sp>
        <p:nvSpPr>
          <p:cNvPr id="37" name="Text 34"/>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النَّشْرَةُ الجَوِّيَّةُ</a:t>
            </a:r>
            <a:endParaRPr lang="ar-SA" sz="3000" dirty="0"/>
          </a:p>
        </p:txBody>
      </p:sp>
      <p:sp>
        <p:nvSpPr>
          <p:cNvPr id="38" name="Text 35"/>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weather forecast</a:t>
            </a:r>
            <a:endParaRPr lang="en-US" sz="1350" dirty="0"/>
          </a:p>
          <a:p>
            <a:pPr indent="0" marL="0">
              <a:buNone/>
            </a:pPr>
            <a:r>
              <a:rPr lang="en-US" sz="1100" i="1" dirty="0">
                <a:solidFill>
                  <a:srgbClr val="5A6472"/>
                </a:solidFill>
                <a:latin typeface="Calibri" pitchFamily="34" charset="0"/>
                <a:cs typeface="Amiri" pitchFamily="2" charset="-78"/>
              </a:rPr>
              <a:t>an-nash-ra-tu al-jaw-wiy-ya-tu</a:t>
            </a:r>
            <a:endParaRPr lang="en-US" sz="135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45</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D4-L02 · Weather</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3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Comparison and measurement</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D4-L02</a:t>
            </a:r>
            <a:endParaRPr lang="en-US" sz="850" dirty="0"/>
          </a:p>
        </p:txBody>
      </p:sp>
      <p:sp>
        <p:nvSpPr>
          <p:cNvPr id="17" name="Shape 14"/>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8211312" y="1920240"/>
            <a:ext cx="310896" cy="310896"/>
          </a:xfrm>
          <a:prstGeom prst="ellipse">
            <a:avLst/>
          </a:prstGeom>
          <a:solidFill>
            <a:srgbClr val="F4F1EA"/>
          </a:solidFill>
          <a:ln w="12700">
            <a:solidFill>
              <a:srgbClr val="F4F1EA"/>
            </a:solidFill>
            <a:prstDash val="solid"/>
          </a:ln>
        </p:spPr>
      </p:sp>
      <p:sp>
        <p:nvSpPr>
          <p:cNvPr id="19" name="Text 16"/>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19</a:t>
            </a:r>
            <a:endParaRPr lang="en-US" sz="10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الحَدُّ الأَقْصَى</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maximum</a:t>
            </a:r>
            <a:endParaRPr lang="en-US" sz="1350" dirty="0"/>
          </a:p>
          <a:p>
            <a:pPr indent="0" marL="0">
              <a:buNone/>
            </a:pPr>
            <a:r>
              <a:rPr lang="en-US" sz="1100" i="1" dirty="0">
                <a:solidFill>
                  <a:srgbClr val="5A6472"/>
                </a:solidFill>
                <a:latin typeface="Calibri" pitchFamily="34" charset="0"/>
                <a:cs typeface="Amiri" pitchFamily="2" charset="-78"/>
              </a:rPr>
              <a:t>al-ḥad-du al-aq-ṣā</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20</a:t>
            </a:r>
            <a:endParaRPr lang="en-US" sz="1000" dirty="0"/>
          </a:p>
        </p:txBody>
      </p:sp>
      <p:sp>
        <p:nvSpPr>
          <p:cNvPr id="25" name="Text 22"/>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الحَدُّ الأَدْنَى</a:t>
            </a:r>
            <a:endParaRPr lang="ar-SA" sz="3000" dirty="0"/>
          </a:p>
        </p:txBody>
      </p:sp>
      <p:sp>
        <p:nvSpPr>
          <p:cNvPr id="26" name="Text 23"/>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minimum</a:t>
            </a:r>
            <a:endParaRPr lang="en-US" sz="1350" dirty="0"/>
          </a:p>
          <a:p>
            <a:pPr indent="0" marL="0">
              <a:buNone/>
            </a:pPr>
            <a:r>
              <a:rPr lang="en-US" sz="1100" i="1" dirty="0">
                <a:solidFill>
                  <a:srgbClr val="5A6472"/>
                </a:solidFill>
                <a:latin typeface="Calibri" pitchFamily="34" charset="0"/>
                <a:cs typeface="Amiri" pitchFamily="2" charset="-78"/>
              </a:rPr>
              <a:t>al-ḥad-du al-ad-nā</a:t>
            </a:r>
            <a:endParaRPr lang="en-US" sz="1350" dirty="0"/>
          </a:p>
        </p:txBody>
      </p:sp>
      <p:sp>
        <p:nvSpPr>
          <p:cNvPr id="27" name="Shape 24"/>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5"/>
          <p:cNvSpPr/>
          <p:nvPr/>
        </p:nvSpPr>
        <p:spPr>
          <a:xfrm>
            <a:off x="566928" y="1920240"/>
            <a:ext cx="310896" cy="310896"/>
          </a:xfrm>
          <a:prstGeom prst="ellipse">
            <a:avLst/>
          </a:prstGeom>
          <a:solidFill>
            <a:srgbClr val="F4F1EA"/>
          </a:solidFill>
          <a:ln w="12700">
            <a:solidFill>
              <a:srgbClr val="F4F1EA"/>
            </a:solidFill>
            <a:prstDash val="solid"/>
          </a:ln>
        </p:spPr>
      </p:sp>
      <p:sp>
        <p:nvSpPr>
          <p:cNvPr id="29" name="Text 26"/>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21</a:t>
            </a:r>
            <a:endParaRPr lang="en-US" sz="1000" dirty="0"/>
          </a:p>
        </p:txBody>
      </p:sp>
      <p:sp>
        <p:nvSpPr>
          <p:cNvPr id="30" name="Text 27"/>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دَرَجَةٌ مِئَوِيَّةٌ</a:t>
            </a:r>
            <a:endParaRPr lang="ar-SA" sz="3000" dirty="0"/>
          </a:p>
        </p:txBody>
      </p:sp>
      <p:sp>
        <p:nvSpPr>
          <p:cNvPr id="31" name="Text 28"/>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degree Celsius</a:t>
            </a:r>
            <a:endParaRPr lang="en-US" sz="1350" dirty="0"/>
          </a:p>
          <a:p>
            <a:pPr indent="0" marL="0">
              <a:buNone/>
            </a:pPr>
            <a:r>
              <a:rPr lang="en-US" sz="1100" i="1" dirty="0">
                <a:solidFill>
                  <a:srgbClr val="5A6472"/>
                </a:solidFill>
                <a:latin typeface="Calibri" pitchFamily="34" charset="0"/>
                <a:cs typeface="Amiri" pitchFamily="2" charset="-78"/>
              </a:rPr>
              <a:t>da-ra-ja-tun mi-ʾa-wiy-ya-tun</a:t>
            </a:r>
            <a:endParaRPr lang="en-US" sz="1350" dirty="0"/>
          </a:p>
        </p:txBody>
      </p:sp>
      <p:sp>
        <p:nvSpPr>
          <p:cNvPr id="32" name="Shape 29"/>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8211312" y="4261104"/>
            <a:ext cx="310896" cy="310896"/>
          </a:xfrm>
          <a:prstGeom prst="ellipse">
            <a:avLst/>
          </a:prstGeom>
          <a:solidFill>
            <a:srgbClr val="F4F1EA"/>
          </a:solidFill>
          <a:ln w="12700">
            <a:solidFill>
              <a:srgbClr val="F4F1EA"/>
            </a:solidFill>
            <a:prstDash val="solid"/>
          </a:ln>
        </p:spPr>
      </p:sp>
      <p:sp>
        <p:nvSpPr>
          <p:cNvPr id="34" name="Text 31"/>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22</a:t>
            </a:r>
            <a:endParaRPr lang="en-US" sz="1000" dirty="0"/>
          </a:p>
        </p:txBody>
      </p:sp>
      <p:sp>
        <p:nvSpPr>
          <p:cNvPr id="35" name="Text 32"/>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أَكْثَرُ حَرَارَةً مِنْ</a:t>
            </a:r>
            <a:endParaRPr lang="ar-SA" sz="3000" dirty="0"/>
          </a:p>
        </p:txBody>
      </p:sp>
      <p:sp>
        <p:nvSpPr>
          <p:cNvPr id="36" name="Text 33"/>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hotter than</a:t>
            </a:r>
            <a:endParaRPr lang="en-US" sz="1350" dirty="0"/>
          </a:p>
          <a:p>
            <a:pPr indent="0" marL="0">
              <a:buNone/>
            </a:pPr>
            <a:r>
              <a:rPr lang="en-US" sz="1100" i="1" dirty="0">
                <a:solidFill>
                  <a:srgbClr val="5A6472"/>
                </a:solidFill>
                <a:latin typeface="Calibri" pitchFamily="34" charset="0"/>
                <a:cs typeface="Amiri" pitchFamily="2" charset="-78"/>
              </a:rPr>
              <a:t>ak-tha-ru ḥa-rā-ra-tan min</a:t>
            </a:r>
            <a:endParaRPr lang="en-US" sz="1350" dirty="0"/>
          </a:p>
        </p:txBody>
      </p:sp>
      <p:sp>
        <p:nvSpPr>
          <p:cNvPr id="37" name="Shape 34"/>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4389120" y="4261104"/>
            <a:ext cx="310896" cy="310896"/>
          </a:xfrm>
          <a:prstGeom prst="ellipse">
            <a:avLst/>
          </a:prstGeom>
          <a:solidFill>
            <a:srgbClr val="F4F1EA"/>
          </a:solidFill>
          <a:ln w="12700">
            <a:solidFill>
              <a:srgbClr val="F4F1EA"/>
            </a:solidFill>
            <a:prstDash val="solid"/>
          </a:ln>
        </p:spPr>
      </p:sp>
      <p:sp>
        <p:nvSpPr>
          <p:cNvPr id="39" name="Text 36"/>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23</a:t>
            </a:r>
            <a:endParaRPr lang="en-US" sz="1000" dirty="0"/>
          </a:p>
        </p:txBody>
      </p:sp>
      <p:sp>
        <p:nvSpPr>
          <p:cNvPr id="40" name="Text 37"/>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أَقَلُّ رُطُوبَةً مِنْ</a:t>
            </a:r>
            <a:endParaRPr lang="ar-SA" sz="3000" dirty="0"/>
          </a:p>
        </p:txBody>
      </p:sp>
      <p:sp>
        <p:nvSpPr>
          <p:cNvPr id="41" name="Text 38"/>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less humid than</a:t>
            </a:r>
            <a:endParaRPr lang="en-US" sz="1350" dirty="0"/>
          </a:p>
          <a:p>
            <a:pPr indent="0" marL="0">
              <a:buNone/>
            </a:pPr>
            <a:r>
              <a:rPr lang="en-US" sz="1100" i="1" dirty="0">
                <a:solidFill>
                  <a:srgbClr val="5A6472"/>
                </a:solidFill>
                <a:latin typeface="Calibri" pitchFamily="34" charset="0"/>
                <a:cs typeface="Amiri" pitchFamily="2" charset="-78"/>
              </a:rPr>
              <a:t>a-qal-lu ru-ṭū-ba-tan min</a:t>
            </a:r>
            <a:endParaRPr lang="en-US" sz="1350" dirty="0"/>
          </a:p>
        </p:txBody>
      </p:sp>
      <p:sp>
        <p:nvSpPr>
          <p:cNvPr id="42" name="Shape 39"/>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3" name="Shape 40"/>
          <p:cNvSpPr/>
          <p:nvPr/>
        </p:nvSpPr>
        <p:spPr>
          <a:xfrm>
            <a:off x="566928" y="4261104"/>
            <a:ext cx="310896" cy="310896"/>
          </a:xfrm>
          <a:prstGeom prst="ellipse">
            <a:avLst/>
          </a:prstGeom>
          <a:solidFill>
            <a:srgbClr val="F4F1EA"/>
          </a:solidFill>
          <a:ln w="12700">
            <a:solidFill>
              <a:srgbClr val="F4F1EA"/>
            </a:solidFill>
            <a:prstDash val="solid"/>
          </a:ln>
        </p:spPr>
      </p:sp>
      <p:sp>
        <p:nvSpPr>
          <p:cNvPr id="44" name="Text 41"/>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24</a:t>
            </a:r>
            <a:endParaRPr lang="en-US" sz="1000" dirty="0"/>
          </a:p>
        </p:txBody>
      </p:sp>
      <p:sp>
        <p:nvSpPr>
          <p:cNvPr id="45" name="Text 42"/>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تَتَرَاوَحُ بَيْنَ ... وَ...</a:t>
            </a:r>
            <a:endParaRPr lang="ar-SA" sz="3000" dirty="0"/>
          </a:p>
        </p:txBody>
      </p:sp>
      <p:sp>
        <p:nvSpPr>
          <p:cNvPr id="46" name="Text 43"/>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ranges between ... and ...</a:t>
            </a:r>
            <a:endParaRPr lang="en-US" sz="1350" dirty="0"/>
          </a:p>
          <a:p>
            <a:pPr indent="0" marL="0">
              <a:buNone/>
            </a:pPr>
            <a:r>
              <a:rPr lang="en-US" sz="1100" i="1" dirty="0">
                <a:solidFill>
                  <a:srgbClr val="5A6472"/>
                </a:solidFill>
                <a:latin typeface="Calibri" pitchFamily="34" charset="0"/>
                <a:cs typeface="Amiri" pitchFamily="2" charset="-78"/>
              </a:rPr>
              <a:t>ta-ta-rā-wa-ḥu bay-na ... wa...</a:t>
            </a:r>
            <a:endParaRPr lang="en-US" sz="1350" dirty="0"/>
          </a:p>
        </p:txBody>
      </p:sp>
      <p:sp>
        <p:nvSpPr>
          <p:cNvPr id="47" name="Text 4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45</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D4-L02 · Weather</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B3B6F"/>
                </a:solidFill>
                <a:latin typeface="Calibri" pitchFamily="34" charset="0"/>
                <a:cs typeface="Amiri" pitchFamily="2" charset="-78"/>
              </a:rPr>
              <a:t>GRAMMAR FOCUS · PART 1 · THE WEATHER IS THE SUBJECT (WEBSITE RULES 1–2)</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550" b="1" dirty="0">
                <a:solidFill>
                  <a:srgbClr val="1B3B6F"/>
                </a:solidFill>
                <a:latin typeface="Cambria" pitchFamily="34" charset="0"/>
                <a:cs typeface="Amiri" pitchFamily="2" charset="-78"/>
              </a:rPr>
              <a:t>ya- or ta-? Check the weather word</a:t>
            </a:r>
            <a:endParaRPr lang="en-US" sz="25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الفِعْلُ وَالفَاعِلُ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D4-L02</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759952" y="1810512"/>
            <a:ext cx="28986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Why</a:t>
            </a:r>
            <a:endParaRPr lang="en-US" sz="1100" dirty="0"/>
          </a:p>
        </p:txBody>
      </p:sp>
      <p:sp>
        <p:nvSpPr>
          <p:cNvPr id="17" name="Text 14"/>
          <p:cNvSpPr txBox="1"/>
          <p:nvPr/>
        </p:nvSpPr>
        <p:spPr>
          <a:xfrm>
            <a:off x="5650992" y="1810512"/>
            <a:ext cx="29626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Subject</a:t>
            </a:r>
            <a:endParaRPr lang="en-US" sz="1100" dirty="0"/>
          </a:p>
        </p:txBody>
      </p:sp>
      <p:sp>
        <p:nvSpPr>
          <p:cNvPr id="18" name="Text 15"/>
          <p:cNvSpPr txBox="1"/>
          <p:nvPr/>
        </p:nvSpPr>
        <p:spPr>
          <a:xfrm>
            <a:off x="530352" y="1810512"/>
            <a:ext cx="49743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Forecast</a:t>
            </a:r>
            <a:endParaRPr lang="en-US" sz="1100" dirty="0"/>
          </a:p>
        </p:txBody>
      </p:sp>
      <p:sp>
        <p:nvSpPr>
          <p:cNvPr id="19" name="Shape 16"/>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0" name="Text 17"/>
          <p:cNvSpPr txBox="1"/>
          <p:nvPr/>
        </p:nvSpPr>
        <p:spPr>
          <a:xfrm>
            <a:off x="8796528" y="2267712"/>
            <a:ext cx="28620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masculine → ya-</a:t>
            </a:r>
            <a:endParaRPr lang="en-US" sz="1100" dirty="0"/>
          </a:p>
        </p:txBody>
      </p:sp>
      <p:sp>
        <p:nvSpPr>
          <p:cNvPr id="21" name="Text 18"/>
          <p:cNvSpPr txBox="1"/>
          <p:nvPr/>
        </p:nvSpPr>
        <p:spPr>
          <a:xfrm>
            <a:off x="5687568" y="2267712"/>
            <a:ext cx="29260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al-maṭar</a:t>
            </a:r>
            <a:endParaRPr lang="en-US" sz="1100" dirty="0"/>
          </a:p>
        </p:txBody>
      </p:sp>
      <p:sp>
        <p:nvSpPr>
          <p:cNvPr id="22" name="Text 19"/>
          <p:cNvSpPr txBox="1"/>
          <p:nvPr/>
        </p:nvSpPr>
        <p:spPr>
          <a:xfrm>
            <a:off x="548640" y="2286000"/>
            <a:ext cx="4937760" cy="422928"/>
          </a:xfrm>
          <a:prstGeom prst="rect">
            <a:avLst/>
          </a:prstGeom>
          <a:noFill/>
          <a:ln/>
        </p:spPr>
        <p:txBody>
          <a:bodyPr wrap="square" lIns="0" tIns="0" rIns="0" bIns="0" rtlCol="0" anchor="ctr"/>
          <a:lstStyle/>
          <a:p>
            <a:pPr rtl="1" algn="ctr" indent="0" marL="0">
              <a:buNone/>
            </a:pPr>
            <a:r>
              <a:rPr lang="ar-SA" altLang="en-US" sz="1950" b="1" dirty="0">
                <a:solidFill>
                  <a:srgbClr val="1D5FBF"/>
                </a:solidFill>
                <a:latin typeface="Amiri" pitchFamily="2" charset="-78"/>
                <a:ea typeface="Amiri" pitchFamily="2" charset="-78"/>
                <a:cs typeface="Amiri" pitchFamily="2" charset="-78"/>
              </a:rPr>
              <a:t>يَسْقُطُ</a:t>
            </a:r>
            <a:pPr rtl="1" algn="ctr" indent="0" marL="0">
              <a:buNone/>
            </a:pPr>
            <a:r>
              <a:rPr lang="ar-SA" altLang="en-US" sz="1950" b="1" dirty="0">
                <a:solidFill>
                  <a:srgbClr val="1B3B6F"/>
                </a:solidFill>
                <a:latin typeface="Amiri" pitchFamily="2" charset="-78"/>
                <a:ea typeface="Amiri" pitchFamily="2" charset="-78"/>
                <a:cs typeface="Amiri" pitchFamily="2" charset="-78"/>
              </a:rPr>
              <a:t> المَطَرُ.</a:t>
            </a:r>
            <a:endParaRPr lang="ar-SA" sz="1950" dirty="0"/>
          </a:p>
        </p:txBody>
      </p:sp>
      <p:sp>
        <p:nvSpPr>
          <p:cNvPr id="23" name="Text 20"/>
          <p:cNvSpPr txBox="1"/>
          <p:nvPr/>
        </p:nvSpPr>
        <p:spPr>
          <a:xfrm>
            <a:off x="502920" y="2676997"/>
            <a:ext cx="5029200"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It rains.</a:t>
            </a:r>
            <a:endParaRPr lang="en-US" sz="950" dirty="0"/>
          </a:p>
        </p:txBody>
      </p:sp>
      <p:sp>
        <p:nvSpPr>
          <p:cNvPr id="24" name="Shape 21"/>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5" name="Text 22"/>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6" name="Shape 23"/>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7" name="Text 24"/>
          <p:cNvSpPr txBox="1"/>
          <p:nvPr/>
        </p:nvSpPr>
        <p:spPr>
          <a:xfrm>
            <a:off x="8796528" y="3004718"/>
            <a:ext cx="28620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non-human plural → ta-</a:t>
            </a:r>
            <a:endParaRPr lang="en-US" sz="1100" dirty="0"/>
          </a:p>
        </p:txBody>
      </p:sp>
      <p:sp>
        <p:nvSpPr>
          <p:cNvPr id="28" name="Text 25"/>
          <p:cNvSpPr txBox="1"/>
          <p:nvPr/>
        </p:nvSpPr>
        <p:spPr>
          <a:xfrm>
            <a:off x="5687568" y="3004718"/>
            <a:ext cx="29260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al-thulūj (pl.)</a:t>
            </a:r>
            <a:endParaRPr lang="en-US" sz="1100" dirty="0"/>
          </a:p>
        </p:txBody>
      </p:sp>
      <p:sp>
        <p:nvSpPr>
          <p:cNvPr id="29" name="Text 26"/>
          <p:cNvSpPr txBox="1"/>
          <p:nvPr/>
        </p:nvSpPr>
        <p:spPr>
          <a:xfrm>
            <a:off x="548640" y="3023006"/>
            <a:ext cx="4937760" cy="422928"/>
          </a:xfrm>
          <a:prstGeom prst="rect">
            <a:avLst/>
          </a:prstGeom>
          <a:noFill/>
          <a:ln/>
        </p:spPr>
        <p:txBody>
          <a:bodyPr wrap="square" lIns="0" tIns="0" rIns="0" bIns="0" rtlCol="0" anchor="ctr"/>
          <a:lstStyle/>
          <a:p>
            <a:pPr rtl="1" algn="ctr" indent="0" marL="0">
              <a:buNone/>
            </a:pPr>
            <a:r>
              <a:rPr lang="ar-SA" altLang="en-US" sz="1950" b="1" dirty="0">
                <a:solidFill>
                  <a:srgbClr val="D6336C"/>
                </a:solidFill>
                <a:latin typeface="Amiri" pitchFamily="2" charset="-78"/>
                <a:ea typeface="Amiri" pitchFamily="2" charset="-78"/>
                <a:cs typeface="Amiri" pitchFamily="2" charset="-78"/>
              </a:rPr>
              <a:t>تَسْقُطُ</a:t>
            </a:r>
            <a:pPr rtl="1" algn="ctr" indent="0" marL="0">
              <a:buNone/>
            </a:pPr>
            <a:r>
              <a:rPr lang="ar-SA" altLang="en-US" sz="1950" b="1" dirty="0">
                <a:solidFill>
                  <a:srgbClr val="1B3B6F"/>
                </a:solidFill>
                <a:latin typeface="Amiri" pitchFamily="2" charset="-78"/>
                <a:ea typeface="Amiri" pitchFamily="2" charset="-78"/>
                <a:cs typeface="Amiri" pitchFamily="2" charset="-78"/>
              </a:rPr>
              <a:t> الثُّلُوجُ.</a:t>
            </a:r>
            <a:endParaRPr lang="ar-SA" sz="1950" dirty="0"/>
          </a:p>
        </p:txBody>
      </p:sp>
      <p:sp>
        <p:nvSpPr>
          <p:cNvPr id="30" name="Text 27"/>
          <p:cNvSpPr txBox="1"/>
          <p:nvPr/>
        </p:nvSpPr>
        <p:spPr>
          <a:xfrm>
            <a:off x="502920" y="3414004"/>
            <a:ext cx="5029200"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It snows.</a:t>
            </a:r>
            <a:endParaRPr lang="en-US" sz="950" dirty="0"/>
          </a:p>
        </p:txBody>
      </p:sp>
      <p:sp>
        <p:nvSpPr>
          <p:cNvPr id="31" name="Shape 28"/>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3" name="Shape 30"/>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4" name="Text 31"/>
          <p:cNvSpPr txBox="1"/>
          <p:nvPr/>
        </p:nvSpPr>
        <p:spPr>
          <a:xfrm>
            <a:off x="8796528" y="3741725"/>
            <a:ext cx="28620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non-human plural → ta-</a:t>
            </a:r>
            <a:endParaRPr lang="en-US" sz="1100" dirty="0"/>
          </a:p>
        </p:txBody>
      </p:sp>
      <p:sp>
        <p:nvSpPr>
          <p:cNvPr id="35" name="Text 32"/>
          <p:cNvSpPr txBox="1"/>
          <p:nvPr/>
        </p:nvSpPr>
        <p:spPr>
          <a:xfrm>
            <a:off x="5687568" y="3741725"/>
            <a:ext cx="29260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al-riyāḥ (pl.)</a:t>
            </a:r>
            <a:endParaRPr lang="en-US" sz="1100" dirty="0"/>
          </a:p>
        </p:txBody>
      </p:sp>
      <p:sp>
        <p:nvSpPr>
          <p:cNvPr id="36" name="Text 33"/>
          <p:cNvSpPr txBox="1"/>
          <p:nvPr/>
        </p:nvSpPr>
        <p:spPr>
          <a:xfrm>
            <a:off x="548640" y="3760013"/>
            <a:ext cx="4937760" cy="422928"/>
          </a:xfrm>
          <a:prstGeom prst="rect">
            <a:avLst/>
          </a:prstGeom>
          <a:noFill/>
          <a:ln/>
        </p:spPr>
        <p:txBody>
          <a:bodyPr wrap="square" lIns="0" tIns="0" rIns="0" bIns="0" rtlCol="0" anchor="ctr"/>
          <a:lstStyle/>
          <a:p>
            <a:pPr rtl="1" algn="ctr" indent="0" marL="0">
              <a:buNone/>
            </a:pPr>
            <a:r>
              <a:rPr lang="ar-SA" altLang="en-US" sz="1950" b="1" dirty="0">
                <a:solidFill>
                  <a:srgbClr val="D6336C"/>
                </a:solidFill>
                <a:latin typeface="Amiri" pitchFamily="2" charset="-78"/>
                <a:ea typeface="Amiri" pitchFamily="2" charset="-78"/>
                <a:cs typeface="Amiri" pitchFamily="2" charset="-78"/>
              </a:rPr>
              <a:t>تَهُبُّ</a:t>
            </a:r>
            <a:pPr rtl="1" algn="ctr" indent="0" marL="0">
              <a:buNone/>
            </a:pPr>
            <a:r>
              <a:rPr lang="ar-SA" altLang="en-US" sz="1950" b="1" dirty="0">
                <a:solidFill>
                  <a:srgbClr val="1B3B6F"/>
                </a:solidFill>
                <a:latin typeface="Amiri" pitchFamily="2" charset="-78"/>
                <a:ea typeface="Amiri" pitchFamily="2" charset="-78"/>
                <a:cs typeface="Amiri" pitchFamily="2" charset="-78"/>
              </a:rPr>
              <a:t> الرِّيَاحُ.</a:t>
            </a:r>
            <a:endParaRPr lang="ar-SA" sz="1950" dirty="0"/>
          </a:p>
        </p:txBody>
      </p:sp>
      <p:sp>
        <p:nvSpPr>
          <p:cNvPr id="37" name="Text 34"/>
          <p:cNvSpPr txBox="1"/>
          <p:nvPr/>
        </p:nvSpPr>
        <p:spPr>
          <a:xfrm>
            <a:off x="502920" y="4151010"/>
            <a:ext cx="5029200"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The winds blow.</a:t>
            </a:r>
            <a:endParaRPr lang="en-US" sz="950" dirty="0"/>
          </a:p>
        </p:txBody>
      </p:sp>
      <p:sp>
        <p:nvSpPr>
          <p:cNvPr id="38" name="Shape 35"/>
          <p:cNvSpPr/>
          <p:nvPr/>
        </p:nvSpPr>
        <p:spPr>
          <a:xfrm>
            <a:off x="11091672" y="3787445"/>
            <a:ext cx="548640" cy="182880"/>
          </a:xfrm>
          <a:prstGeom prst="roundRect">
            <a:avLst>
              <a:gd name="adj" fmla="val 50000"/>
            </a:avLst>
          </a:prstGeom>
          <a:solidFill>
            <a:srgbClr val="2E8B57"/>
          </a:solidFill>
          <a:ln w="12700">
            <a:solidFill>
              <a:srgbClr val="2E8B57"/>
            </a:solidFill>
            <a:prstDash val="solid"/>
          </a:ln>
        </p:spPr>
      </p:sp>
      <p:sp>
        <p:nvSpPr>
          <p:cNvPr id="39" name="Text 36"/>
          <p:cNvSpPr txBox="1"/>
          <p:nvPr/>
        </p:nvSpPr>
        <p:spPr>
          <a:xfrm>
            <a:off x="11091672" y="3787445"/>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0" name="Shape 37"/>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1" name="Text 38"/>
          <p:cNvSpPr txBox="1"/>
          <p:nvPr/>
        </p:nvSpPr>
        <p:spPr>
          <a:xfrm>
            <a:off x="8796528" y="4478731"/>
            <a:ext cx="28620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feminine → ta-</a:t>
            </a:r>
            <a:endParaRPr lang="en-US" sz="1100" dirty="0"/>
          </a:p>
        </p:txBody>
      </p:sp>
      <p:sp>
        <p:nvSpPr>
          <p:cNvPr id="42" name="Text 39"/>
          <p:cNvSpPr txBox="1"/>
          <p:nvPr/>
        </p:nvSpPr>
        <p:spPr>
          <a:xfrm>
            <a:off x="5687568" y="4478731"/>
            <a:ext cx="29260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al-shams</a:t>
            </a:r>
            <a:endParaRPr lang="en-US" sz="1100" dirty="0"/>
          </a:p>
        </p:txBody>
      </p:sp>
      <p:sp>
        <p:nvSpPr>
          <p:cNvPr id="43" name="Text 40"/>
          <p:cNvSpPr txBox="1"/>
          <p:nvPr/>
        </p:nvSpPr>
        <p:spPr>
          <a:xfrm>
            <a:off x="548640" y="4497019"/>
            <a:ext cx="4937760" cy="422928"/>
          </a:xfrm>
          <a:prstGeom prst="rect">
            <a:avLst/>
          </a:prstGeom>
          <a:noFill/>
          <a:ln/>
        </p:spPr>
        <p:txBody>
          <a:bodyPr wrap="square" lIns="0" tIns="0" rIns="0" bIns="0" rtlCol="0" anchor="ctr"/>
          <a:lstStyle/>
          <a:p>
            <a:pPr rtl="1" algn="ctr" indent="0" marL="0">
              <a:buNone/>
            </a:pPr>
            <a:r>
              <a:rPr lang="ar-SA" altLang="en-US" sz="1950" b="1" dirty="0">
                <a:solidFill>
                  <a:srgbClr val="D6336C"/>
                </a:solidFill>
                <a:latin typeface="Amiri" pitchFamily="2" charset="-78"/>
                <a:ea typeface="Amiri" pitchFamily="2" charset="-78"/>
                <a:cs typeface="Amiri" pitchFamily="2" charset="-78"/>
              </a:rPr>
              <a:t>تُشْرِقُ</a:t>
            </a:r>
            <a:pPr rtl="1" algn="ctr" indent="0" marL="0">
              <a:buNone/>
            </a:pPr>
            <a:r>
              <a:rPr lang="ar-SA" altLang="en-US" sz="1950" b="1" dirty="0">
                <a:solidFill>
                  <a:srgbClr val="1B3B6F"/>
                </a:solidFill>
                <a:latin typeface="Amiri" pitchFamily="2" charset="-78"/>
                <a:ea typeface="Amiri" pitchFamily="2" charset="-78"/>
                <a:cs typeface="Amiri" pitchFamily="2" charset="-78"/>
              </a:rPr>
              <a:t> الشَّمْسُ.</a:t>
            </a:r>
            <a:endParaRPr lang="ar-SA" sz="1950" dirty="0"/>
          </a:p>
        </p:txBody>
      </p:sp>
      <p:sp>
        <p:nvSpPr>
          <p:cNvPr id="44" name="Text 41"/>
          <p:cNvSpPr txBox="1"/>
          <p:nvPr/>
        </p:nvSpPr>
        <p:spPr>
          <a:xfrm>
            <a:off x="502920" y="4888017"/>
            <a:ext cx="5029200"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The sun shines.</a:t>
            </a:r>
            <a:endParaRPr lang="en-US" sz="950" dirty="0"/>
          </a:p>
        </p:txBody>
      </p:sp>
      <p:sp>
        <p:nvSpPr>
          <p:cNvPr id="45" name="Shape 42"/>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6" name="Text 43"/>
          <p:cNvSpPr txBox="1"/>
          <p:nvPr/>
        </p:nvSpPr>
        <p:spPr>
          <a:xfrm>
            <a:off x="8796528" y="5215738"/>
            <a:ext cx="28620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daraja (f.) → ta-</a:t>
            </a:r>
            <a:endParaRPr lang="en-US" sz="1100" dirty="0"/>
          </a:p>
        </p:txBody>
      </p:sp>
      <p:sp>
        <p:nvSpPr>
          <p:cNvPr id="47" name="Text 44"/>
          <p:cNvSpPr txBox="1"/>
          <p:nvPr/>
        </p:nvSpPr>
        <p:spPr>
          <a:xfrm>
            <a:off x="5687568" y="5215738"/>
            <a:ext cx="29260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darajatu …</a:t>
            </a:r>
            <a:endParaRPr lang="en-US" sz="1100" dirty="0"/>
          </a:p>
        </p:txBody>
      </p:sp>
      <p:sp>
        <p:nvSpPr>
          <p:cNvPr id="48" name="Text 45"/>
          <p:cNvSpPr txBox="1"/>
          <p:nvPr/>
        </p:nvSpPr>
        <p:spPr>
          <a:xfrm>
            <a:off x="548640" y="5234026"/>
            <a:ext cx="4937760" cy="422928"/>
          </a:xfrm>
          <a:prstGeom prst="rect">
            <a:avLst/>
          </a:prstGeom>
          <a:noFill/>
          <a:ln/>
        </p:spPr>
        <p:txBody>
          <a:bodyPr wrap="square" lIns="0" tIns="0" rIns="0" bIns="0" rtlCol="0" anchor="ctr"/>
          <a:lstStyle/>
          <a:p>
            <a:pPr rtl="1" algn="ctr" indent="0" marL="0">
              <a:buNone/>
            </a:pPr>
            <a:r>
              <a:rPr lang="ar-SA" altLang="en-US" sz="1950" b="1" dirty="0">
                <a:solidFill>
                  <a:srgbClr val="D6336C"/>
                </a:solidFill>
                <a:latin typeface="Amiri" pitchFamily="2" charset="-78"/>
                <a:ea typeface="Amiri" pitchFamily="2" charset="-78"/>
                <a:cs typeface="Amiri" pitchFamily="2" charset="-78"/>
              </a:rPr>
              <a:t>تَرْتَفِعُ</a:t>
            </a:r>
            <a:pPr rtl="1" algn="ctr" indent="0" marL="0">
              <a:buNone/>
            </a:pPr>
            <a:r>
              <a:rPr lang="ar-SA" altLang="en-US" sz="1950" b="1" dirty="0">
                <a:solidFill>
                  <a:srgbClr val="1B3B6F"/>
                </a:solidFill>
                <a:latin typeface="Amiri" pitchFamily="2" charset="-78"/>
                <a:ea typeface="Amiri" pitchFamily="2" charset="-78"/>
                <a:cs typeface="Amiri" pitchFamily="2" charset="-78"/>
              </a:rPr>
              <a:t> دَرَجَةُ الحَرَارَةِ إِلَى ٣٠ دَرَجَةً.</a:t>
            </a:r>
            <a:endParaRPr lang="ar-SA" sz="1950" dirty="0"/>
          </a:p>
        </p:txBody>
      </p:sp>
      <p:sp>
        <p:nvSpPr>
          <p:cNvPr id="49" name="Text 46"/>
          <p:cNvSpPr txBox="1"/>
          <p:nvPr/>
        </p:nvSpPr>
        <p:spPr>
          <a:xfrm>
            <a:off x="502920" y="5625023"/>
            <a:ext cx="5029200"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The temperature rises to 30°.</a:t>
            </a:r>
            <a:endParaRPr lang="en-US" sz="950" dirty="0"/>
          </a:p>
        </p:txBody>
      </p:sp>
      <p:sp>
        <p:nvSpPr>
          <p:cNvPr id="50" name="Text 47"/>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The verb comes FIRST and agrees with the weather word after it. tanẖafiḍu = falls · tartafiʿu = rises.</a:t>
            </a:r>
            <a:endParaRPr lang="en-US" sz="1150" dirty="0"/>
          </a:p>
        </p:txBody>
      </p:sp>
      <p:sp>
        <p:nvSpPr>
          <p:cNvPr id="51" name="Text 4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45</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D4-L02 · Weather</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00" b="1" spc="150" kern="0" dirty="0">
                <a:solidFill>
                  <a:srgbClr val="1B3B6F"/>
                </a:solidFill>
                <a:latin typeface="Calibri" pitchFamily="34" charset="0"/>
                <a:cs typeface="Amiri" pitchFamily="2" charset="-78"/>
              </a:rPr>
              <a:t>GRAMMAR FOCUS · PART 2 · COMPARE AND FORECAST (WEBSITE RULES 3–4) · DEVELOP / STRETCH</a:t>
            </a:r>
            <a:endParaRPr lang="en-US" sz="8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00" b="1" dirty="0">
                <a:solidFill>
                  <a:srgbClr val="1B3B6F"/>
                </a:solidFill>
                <a:latin typeface="Cambria" pitchFamily="34" charset="0"/>
                <a:cs typeface="Amiri" pitchFamily="2" charset="-78"/>
              </a:rPr>
              <a:t>Hotter than … · it is expected that …</a:t>
            </a:r>
            <a:endParaRPr lang="en-US" sz="26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أَكْثَرُ حَرَارَةً · مِنَ المُتَوَقَّعِ أَنْ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D4-L02</a:t>
            </a:r>
            <a:endParaRPr lang="en-US" sz="850" dirty="0"/>
          </a:p>
        </p:txBody>
      </p:sp>
      <p:sp>
        <p:nvSpPr>
          <p:cNvPr id="15" name="Shape 12"/>
          <p:cNvSpPr/>
          <p:nvPr/>
        </p:nvSpPr>
        <p:spPr>
          <a:xfrm>
            <a:off x="8095488"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32648" y="1920240"/>
            <a:ext cx="1440180" cy="274320"/>
          </a:xfrm>
          <a:prstGeom prst="roundRect">
            <a:avLst>
              <a:gd name="adj" fmla="val 50000"/>
            </a:avLst>
          </a:prstGeom>
          <a:solidFill>
            <a:srgbClr val="1D5FBF"/>
          </a:solidFill>
          <a:ln w="12700">
            <a:solidFill>
              <a:srgbClr val="1D5FBF"/>
            </a:solidFill>
            <a:prstDash val="solid"/>
          </a:ln>
        </p:spPr>
      </p:sp>
      <p:sp>
        <p:nvSpPr>
          <p:cNvPr id="17" name="Text 14"/>
          <p:cNvSpPr txBox="1"/>
          <p:nvPr/>
        </p:nvSpPr>
        <p:spPr>
          <a:xfrm>
            <a:off x="8232648" y="1920240"/>
            <a:ext cx="144018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COMPARE · DEVELOP</a:t>
            </a:r>
            <a:endParaRPr lang="en-US" sz="850" dirty="0"/>
          </a:p>
        </p:txBody>
      </p:sp>
      <p:sp>
        <p:nvSpPr>
          <p:cNvPr id="18" name="Text 15"/>
          <p:cNvSpPr txBox="1"/>
          <p:nvPr/>
        </p:nvSpPr>
        <p:spPr>
          <a:xfrm>
            <a:off x="9718548" y="1874520"/>
            <a:ext cx="187604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ea typeface="Amiri" pitchFamily="2" charset="-78"/>
                <a:cs typeface="Amiri" pitchFamily="2" charset="-78"/>
              </a:rPr>
              <a:t>أَكْثَرُ حَرَارَةً مِنْ</a:t>
            </a:r>
            <a:endParaRPr lang="ar-SA" sz="1600" dirty="0"/>
          </a:p>
        </p:txBody>
      </p:sp>
      <p:sp>
        <p:nvSpPr>
          <p:cNvPr id="19" name="Text 16"/>
          <p:cNvSpPr txBox="1"/>
          <p:nvPr/>
        </p:nvSpPr>
        <p:spPr>
          <a:xfrm>
            <a:off x="8232648" y="2286000"/>
            <a:ext cx="3361944" cy="1097280"/>
          </a:xfrm>
          <a:prstGeom prst="rect">
            <a:avLst/>
          </a:prstGeom>
          <a:noFill/>
          <a:ln/>
        </p:spPr>
        <p:txBody>
          <a:bodyPr wrap="square" lIns="0" tIns="0" rIns="0" bIns="0" rtlCol="0" anchor="ctr"/>
          <a:lstStyle/>
          <a:p>
            <a:pPr rtl="1" algn="ctr" indent="0" marL="0">
              <a:lnSpc>
                <a:spcPct val="120000"/>
              </a:lnSpc>
              <a:buNone/>
            </a:pPr>
            <a:r>
              <a:rPr lang="ar-SA" altLang="en-US" sz="2450" b="1" dirty="0">
                <a:solidFill>
                  <a:srgbClr val="1B3B6F"/>
                </a:solidFill>
                <a:latin typeface="Amiri" pitchFamily="2" charset="-78"/>
                <a:ea typeface="Amiri" pitchFamily="2" charset="-78"/>
                <a:cs typeface="Amiri" pitchFamily="2" charset="-78"/>
              </a:rPr>
              <a:t>القَاهِرَةُ أَكْثَرُ حَرَارَةً مِنْ لَنْدَنَ.</a:t>
            </a:r>
            <a:endParaRPr lang="ar-SA" sz="2450" dirty="0"/>
          </a:p>
        </p:txBody>
      </p:sp>
      <p:sp>
        <p:nvSpPr>
          <p:cNvPr id="20" name="Text 17"/>
          <p:cNvSpPr txBox="1"/>
          <p:nvPr/>
        </p:nvSpPr>
        <p:spPr>
          <a:xfrm>
            <a:off x="8232648"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Cairo is hotter than London.</a:t>
            </a:r>
            <a:endParaRPr lang="en-US" sz="1200" dirty="0"/>
          </a:p>
        </p:txBody>
      </p:sp>
      <p:sp>
        <p:nvSpPr>
          <p:cNvPr id="21" name="Shape 18"/>
          <p:cNvSpPr/>
          <p:nvPr/>
        </p:nvSpPr>
        <p:spPr>
          <a:xfrm>
            <a:off x="8205216" y="3913632"/>
            <a:ext cx="3416808" cy="804672"/>
          </a:xfrm>
          <a:prstGeom prst="roundRect">
            <a:avLst>
              <a:gd name="adj" fmla="val 5682"/>
            </a:avLst>
          </a:prstGeom>
          <a:solidFill>
            <a:srgbClr val="FFF4E0"/>
          </a:solidFill>
          <a:ln w="9525">
            <a:solidFill>
              <a:srgbClr val="FFF4E0"/>
            </a:solidFill>
            <a:prstDash val="solid"/>
          </a:ln>
        </p:spPr>
      </p:sp>
      <p:sp>
        <p:nvSpPr>
          <p:cNvPr id="22" name="Text 19"/>
          <p:cNvSpPr txBox="1"/>
          <p:nvPr/>
        </p:nvSpPr>
        <p:spPr>
          <a:xfrm>
            <a:off x="8296656"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akthar + noun in -an + min.</a:t>
            </a:r>
            <a:endParaRPr lang="en-US" sz="1100" dirty="0"/>
          </a:p>
        </p:txBody>
      </p:sp>
      <p:sp>
        <p:nvSpPr>
          <p:cNvPr id="23" name="Shape 20"/>
          <p:cNvSpPr/>
          <p:nvPr/>
        </p:nvSpPr>
        <p:spPr>
          <a:xfrm>
            <a:off x="4276344"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13504" y="1920240"/>
            <a:ext cx="1303020" cy="274320"/>
          </a:xfrm>
          <a:prstGeom prst="roundRect">
            <a:avLst>
              <a:gd name="adj" fmla="val 50000"/>
            </a:avLst>
          </a:prstGeom>
          <a:solidFill>
            <a:srgbClr val="6B4C9A"/>
          </a:solidFill>
          <a:ln w="12700">
            <a:solidFill>
              <a:srgbClr val="6B4C9A"/>
            </a:solidFill>
            <a:prstDash val="solid"/>
          </a:ln>
        </p:spPr>
      </p:sp>
      <p:sp>
        <p:nvSpPr>
          <p:cNvPr id="25" name="Text 22"/>
          <p:cNvSpPr txBox="1"/>
          <p:nvPr/>
        </p:nvSpPr>
        <p:spPr>
          <a:xfrm>
            <a:off x="4413504" y="1920240"/>
            <a:ext cx="130302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RANGE · DEVELOP</a:t>
            </a:r>
            <a:endParaRPr lang="en-US" sz="850" dirty="0"/>
          </a:p>
        </p:txBody>
      </p:sp>
      <p:sp>
        <p:nvSpPr>
          <p:cNvPr id="26" name="Text 23"/>
          <p:cNvSpPr txBox="1"/>
          <p:nvPr/>
        </p:nvSpPr>
        <p:spPr>
          <a:xfrm>
            <a:off x="5762244" y="1874520"/>
            <a:ext cx="201320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ea typeface="Amiri" pitchFamily="2" charset="-78"/>
                <a:cs typeface="Amiri" pitchFamily="2" charset="-78"/>
              </a:rPr>
              <a:t>تَتَرَاوَحُ بَيْنَ … وَ …</a:t>
            </a:r>
            <a:endParaRPr lang="ar-SA" sz="1600" dirty="0"/>
          </a:p>
        </p:txBody>
      </p:sp>
      <p:sp>
        <p:nvSpPr>
          <p:cNvPr id="27" name="Text 24"/>
          <p:cNvSpPr txBox="1"/>
          <p:nvPr/>
        </p:nvSpPr>
        <p:spPr>
          <a:xfrm>
            <a:off x="4413504" y="2286000"/>
            <a:ext cx="3361944" cy="1097280"/>
          </a:xfrm>
          <a:prstGeom prst="rect">
            <a:avLst/>
          </a:prstGeom>
          <a:noFill/>
          <a:ln/>
        </p:spPr>
        <p:txBody>
          <a:bodyPr wrap="square" lIns="0" tIns="0" rIns="0" bIns="0" rtlCol="0" anchor="ctr"/>
          <a:lstStyle/>
          <a:p>
            <a:pPr rtl="1" algn="ctr" indent="0" marL="0">
              <a:lnSpc>
                <a:spcPct val="120000"/>
              </a:lnSpc>
              <a:buNone/>
            </a:pPr>
            <a:r>
              <a:rPr lang="ar-SA" altLang="en-US" sz="2100" b="1" dirty="0">
                <a:solidFill>
                  <a:srgbClr val="1B3B6F"/>
                </a:solidFill>
                <a:latin typeface="Amiri" pitchFamily="2" charset="-78"/>
                <a:ea typeface="Amiri" pitchFamily="2" charset="-78"/>
                <a:cs typeface="Amiri" pitchFamily="2" charset="-78"/>
              </a:rPr>
              <a:t>تَتَرَاوَحُ دَرَجَةُ الحَرَارَةِ بَيْنَ ١٨ وَ٢٥ دَرَجَةً.</a:t>
            </a:r>
            <a:endParaRPr lang="ar-SA" sz="2100" dirty="0"/>
          </a:p>
        </p:txBody>
      </p:sp>
      <p:sp>
        <p:nvSpPr>
          <p:cNvPr id="28" name="Text 25"/>
          <p:cNvSpPr txBox="1"/>
          <p:nvPr/>
        </p:nvSpPr>
        <p:spPr>
          <a:xfrm>
            <a:off x="4413504"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The temperature ranges between 18 and 25 degrees.</a:t>
            </a:r>
            <a:endParaRPr lang="en-US" sz="1200" dirty="0"/>
          </a:p>
        </p:txBody>
      </p:sp>
      <p:sp>
        <p:nvSpPr>
          <p:cNvPr id="29" name="Shape 26"/>
          <p:cNvSpPr/>
          <p:nvPr/>
        </p:nvSpPr>
        <p:spPr>
          <a:xfrm>
            <a:off x="4386072" y="3913632"/>
            <a:ext cx="3416808" cy="804672"/>
          </a:xfrm>
          <a:prstGeom prst="roundRect">
            <a:avLst>
              <a:gd name="adj" fmla="val 5682"/>
            </a:avLst>
          </a:prstGeom>
          <a:solidFill>
            <a:srgbClr val="FFF4E0"/>
          </a:solidFill>
          <a:ln w="9525">
            <a:solidFill>
              <a:srgbClr val="FFF4E0"/>
            </a:solidFill>
            <a:prstDash val="solid"/>
          </a:ln>
        </p:spPr>
      </p:sp>
      <p:sp>
        <p:nvSpPr>
          <p:cNvPr id="30" name="Text 27"/>
          <p:cNvSpPr txBox="1"/>
          <p:nvPr/>
        </p:nvSpPr>
        <p:spPr>
          <a:xfrm>
            <a:off x="4477512"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bayna … wa …</a:t>
            </a:r>
            <a:endParaRPr lang="en-US" sz="1100" dirty="0"/>
          </a:p>
        </p:txBody>
      </p:sp>
      <p:sp>
        <p:nvSpPr>
          <p:cNvPr id="31" name="Shape 28"/>
          <p:cNvSpPr/>
          <p:nvPr/>
        </p:nvSpPr>
        <p:spPr>
          <a:xfrm>
            <a:off x="457200"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94360" y="1920240"/>
            <a:ext cx="1508760" cy="274320"/>
          </a:xfrm>
          <a:prstGeom prst="roundRect">
            <a:avLst>
              <a:gd name="adj" fmla="val 50000"/>
            </a:avLst>
          </a:prstGeom>
          <a:solidFill>
            <a:srgbClr val="1E7B4F"/>
          </a:solidFill>
          <a:ln w="12700">
            <a:solidFill>
              <a:srgbClr val="1E7B4F"/>
            </a:solidFill>
            <a:prstDash val="solid"/>
          </a:ln>
        </p:spPr>
      </p:sp>
      <p:sp>
        <p:nvSpPr>
          <p:cNvPr id="33" name="Text 30"/>
          <p:cNvSpPr txBox="1"/>
          <p:nvPr/>
        </p:nvSpPr>
        <p:spPr>
          <a:xfrm>
            <a:off x="594360" y="1920240"/>
            <a:ext cx="15087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FORECAST · STRETCH</a:t>
            </a:r>
            <a:endParaRPr lang="en-US" sz="850" dirty="0"/>
          </a:p>
        </p:txBody>
      </p:sp>
      <p:sp>
        <p:nvSpPr>
          <p:cNvPr id="34" name="Text 31"/>
          <p:cNvSpPr txBox="1"/>
          <p:nvPr/>
        </p:nvSpPr>
        <p:spPr>
          <a:xfrm>
            <a:off x="2148840" y="1874520"/>
            <a:ext cx="180746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ea typeface="Amiri" pitchFamily="2" charset="-78"/>
                <a:cs typeface="Amiri" pitchFamily="2" charset="-78"/>
              </a:rPr>
              <a:t>مِنَ المُتَوَقَّعِ أَنْ</a:t>
            </a:r>
            <a:endParaRPr lang="ar-SA" sz="1600" dirty="0"/>
          </a:p>
        </p:txBody>
      </p:sp>
      <p:sp>
        <p:nvSpPr>
          <p:cNvPr id="35" name="Text 32"/>
          <p:cNvSpPr txBox="1"/>
          <p:nvPr/>
        </p:nvSpPr>
        <p:spPr>
          <a:xfrm>
            <a:off x="594360" y="2286000"/>
            <a:ext cx="3361944" cy="1097280"/>
          </a:xfrm>
          <a:prstGeom prst="rect">
            <a:avLst/>
          </a:prstGeom>
          <a:noFill/>
          <a:ln/>
        </p:spPr>
        <p:txBody>
          <a:bodyPr wrap="square" lIns="0" tIns="0" rIns="0" bIns="0" rtlCol="0" anchor="ctr"/>
          <a:lstStyle/>
          <a:p>
            <a:pPr rtl="1" algn="ctr" indent="0" marL="0">
              <a:lnSpc>
                <a:spcPct val="120000"/>
              </a:lnSpc>
              <a:buNone/>
            </a:pPr>
            <a:r>
              <a:rPr lang="ar-SA" altLang="en-US" sz="2100" b="1" dirty="0">
                <a:solidFill>
                  <a:srgbClr val="1B3B6F"/>
                </a:solidFill>
                <a:latin typeface="Amiri" pitchFamily="2" charset="-78"/>
                <a:ea typeface="Amiri" pitchFamily="2" charset="-78"/>
                <a:cs typeface="Amiri" pitchFamily="2" charset="-78"/>
              </a:rPr>
              <a:t>مِنَ المُتَوَقَّعِ أَنْ تَنْخَفِضَ دَرَجَةُ الحَرَارَةِ لَيْلًا.</a:t>
            </a:r>
            <a:endParaRPr lang="ar-SA" sz="2100" dirty="0"/>
          </a:p>
        </p:txBody>
      </p:sp>
      <p:sp>
        <p:nvSpPr>
          <p:cNvPr id="36" name="Text 33"/>
          <p:cNvSpPr txBox="1"/>
          <p:nvPr/>
        </p:nvSpPr>
        <p:spPr>
          <a:xfrm>
            <a:off x="594360"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The temperature is expected to fall at night.</a:t>
            </a:r>
            <a:endParaRPr lang="en-US" sz="1200" dirty="0"/>
          </a:p>
        </p:txBody>
      </p:sp>
      <p:sp>
        <p:nvSpPr>
          <p:cNvPr id="37" name="Shape 34"/>
          <p:cNvSpPr/>
          <p:nvPr/>
        </p:nvSpPr>
        <p:spPr>
          <a:xfrm>
            <a:off x="566928" y="3913632"/>
            <a:ext cx="3416808" cy="804672"/>
          </a:xfrm>
          <a:prstGeom prst="roundRect">
            <a:avLst>
              <a:gd name="adj" fmla="val 5682"/>
            </a:avLst>
          </a:prstGeom>
          <a:solidFill>
            <a:srgbClr val="FFF4E0"/>
          </a:solidFill>
          <a:ln w="9525">
            <a:solidFill>
              <a:srgbClr val="FFF4E0"/>
            </a:solidFill>
            <a:prstDash val="solid"/>
          </a:ln>
        </p:spPr>
      </p:sp>
      <p:sp>
        <p:nvSpPr>
          <p:cNvPr id="38" name="Text 35"/>
          <p:cNvSpPr txBox="1"/>
          <p:nvPr/>
        </p:nvSpPr>
        <p:spPr>
          <a:xfrm>
            <a:off x="658368"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an + verb in -a.</a:t>
            </a:r>
            <a:endParaRPr lang="en-US" sz="1100" dirty="0"/>
          </a:p>
        </p:txBody>
      </p:sp>
      <p:sp>
        <p:nvSpPr>
          <p:cNvPr id="39" name="Shape 36"/>
          <p:cNvSpPr/>
          <p:nvPr/>
        </p:nvSpPr>
        <p:spPr>
          <a:xfrm>
            <a:off x="457200" y="50109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40" name="Text 37"/>
          <p:cNvSpPr txBox="1"/>
          <p:nvPr/>
        </p:nvSpPr>
        <p:spPr>
          <a:xfrm>
            <a:off x="685800" y="5102352"/>
            <a:ext cx="2743200" cy="274320"/>
          </a:xfrm>
          <a:prstGeom prst="rect">
            <a:avLst/>
          </a:prstGeom>
          <a:noFill/>
          <a:ln/>
        </p:spPr>
        <p:txBody>
          <a:bodyPr wrap="square" lIns="0" tIns="0" rIns="0" bIns="0" rtlCol="0" anchor="ctr"/>
          <a:lstStyle/>
          <a:p>
            <a:pPr algn="l" indent="0" marL="0">
              <a:buNone/>
            </a:pPr>
            <a:r>
              <a:rPr lang="en-US" sz="1000" b="1" spc="200" kern="0" dirty="0">
                <a:solidFill>
                  <a:srgbClr val="B83227"/>
                </a:solidFill>
                <a:latin typeface="Calibri" pitchFamily="34" charset="0"/>
                <a:cs typeface="Amiri" pitchFamily="2" charset="-78"/>
              </a:rPr>
              <a:t>COMMON ERROR</a:t>
            </a:r>
            <a:endParaRPr lang="en-US" sz="1000" dirty="0"/>
          </a:p>
        </p:txBody>
      </p:sp>
      <p:sp>
        <p:nvSpPr>
          <p:cNvPr id="41" name="Text 38"/>
          <p:cNvSpPr txBox="1"/>
          <p:nvPr/>
        </p:nvSpPr>
        <p:spPr>
          <a:xfrm>
            <a:off x="685800" y="5394960"/>
            <a:ext cx="3291840" cy="822960"/>
          </a:xfrm>
          <a:prstGeom prst="rect">
            <a:avLst/>
          </a:prstGeom>
          <a:noFill/>
          <a:ln/>
        </p:spPr>
        <p:txBody>
          <a:bodyPr wrap="square" lIns="0" tIns="0" rIns="0" bIns="0" rtlCol="0" anchor="t"/>
          <a:lstStyle/>
          <a:p>
            <a:pPr algn="l" indent="0" marL="0">
              <a:buNone/>
            </a:pPr>
            <a:r>
              <a:rPr lang="en-US" sz="1150" dirty="0">
                <a:solidFill>
                  <a:srgbClr val="1F2A37"/>
                </a:solidFill>
                <a:latin typeface="Calibri" pitchFamily="34" charset="0"/>
                <a:cs typeface="Amiri" pitchFamily="2" charset="-78"/>
              </a:rPr>
              <a:t>Website mistake: akthar + a NOUN, not an adjective.</a:t>
            </a:r>
            <a:endParaRPr lang="en-US" sz="1150" dirty="0"/>
          </a:p>
        </p:txBody>
      </p:sp>
      <p:sp>
        <p:nvSpPr>
          <p:cNvPr id="42" name="Text 39"/>
          <p:cNvSpPr txBox="1"/>
          <p:nvPr/>
        </p:nvSpPr>
        <p:spPr>
          <a:xfrm>
            <a:off x="9966960" y="5230368"/>
            <a:ext cx="1645920" cy="868680"/>
          </a:xfrm>
          <a:prstGeom prst="rect">
            <a:avLst/>
          </a:prstGeom>
          <a:noFill/>
          <a:ln/>
        </p:spPr>
        <p:txBody>
          <a:bodyPr wrap="square" lIns="0" tIns="0" rIns="0" bIns="0" rtlCol="0" anchor="ctr"/>
          <a:lstStyle/>
          <a:p>
            <a:pPr rtl="1" algn="ctr" indent="0" marL="0">
              <a:lnSpc>
                <a:spcPct val="120000"/>
              </a:lnSpc>
              <a:buNone/>
            </a:pPr>
            <a:r>
              <a:rPr lang="ar-SA" altLang="en-US" sz="1650" b="1" dirty="0">
                <a:solidFill>
                  <a:srgbClr val="1B3B6F"/>
                </a:solidFill>
                <a:latin typeface="Amiri" pitchFamily="2" charset="-78"/>
                <a:ea typeface="Amiri" pitchFamily="2" charset="-78"/>
                <a:cs typeface="Amiri" pitchFamily="2" charset="-78"/>
              </a:rPr>
              <a:t>القَاهِرَةُ أَكْثَرُ حَرَارَةً مِنْ لَنْدَنَ.</a:t>
            </a:r>
            <a:endParaRPr lang="ar-SA" sz="1650" dirty="0"/>
          </a:p>
        </p:txBody>
      </p:sp>
      <p:sp>
        <p:nvSpPr>
          <p:cNvPr id="43" name="Text 40"/>
          <p:cNvSpPr txBox="1"/>
          <p:nvPr/>
        </p:nvSpPr>
        <p:spPr>
          <a:xfrm>
            <a:off x="9601200" y="5230368"/>
            <a:ext cx="365760" cy="8686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44" name="Text 41"/>
          <p:cNvSpPr txBox="1"/>
          <p:nvPr/>
        </p:nvSpPr>
        <p:spPr>
          <a:xfrm>
            <a:off x="8001000" y="5230368"/>
            <a:ext cx="1645920" cy="868680"/>
          </a:xfrm>
          <a:prstGeom prst="rect">
            <a:avLst/>
          </a:prstGeom>
          <a:noFill/>
          <a:ln/>
        </p:spPr>
        <p:txBody>
          <a:bodyPr wrap="square" lIns="0" tIns="0" rIns="0" bIns="0" rtlCol="0" anchor="ctr"/>
          <a:lstStyle/>
          <a:p>
            <a:pPr rtl="1" algn="ctr" indent="0" marL="0">
              <a:lnSpc>
                <a:spcPct val="120000"/>
              </a:lnSpc>
              <a:buNone/>
            </a:pPr>
            <a:r>
              <a:rPr lang="ar-SA" altLang="en-US" sz="1650" b="1" dirty="0">
                <a:solidFill>
                  <a:srgbClr val="B83227"/>
                </a:solidFill>
                <a:latin typeface="Amiri" pitchFamily="2" charset="-78"/>
                <a:ea typeface="Amiri" pitchFamily="2" charset="-78"/>
                <a:cs typeface="Amiri" pitchFamily="2" charset="-78"/>
              </a:rPr>
              <a:t>القَاهِرَةُ أَكْثَرُ حَارٌّ مِنْ لَنْدَنَ.</a:t>
            </a:r>
            <a:endParaRPr lang="ar-SA" sz="1650" dirty="0"/>
          </a:p>
        </p:txBody>
      </p:sp>
      <p:sp>
        <p:nvSpPr>
          <p:cNvPr id="45" name="Shape 42"/>
          <p:cNvSpPr/>
          <p:nvPr/>
        </p:nvSpPr>
        <p:spPr>
          <a:xfrm>
            <a:off x="8138160" y="5669280"/>
            <a:ext cx="1371600" cy="0"/>
          </a:xfrm>
          <a:prstGeom prst="line">
            <a:avLst/>
          </a:prstGeom>
          <a:noFill/>
          <a:ln w="25400">
            <a:solidFill>
              <a:srgbClr val="B83227"/>
            </a:solidFill>
            <a:prstDash val="solid"/>
          </a:ln>
        </p:spPr>
      </p:sp>
      <p:sp>
        <p:nvSpPr>
          <p:cNvPr id="46" name="Text 4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45</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D4-L02 · Weather</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GRAMMAR FOCUS · THE WEBSITE RULES WITH EXAMPLES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Grammar for weather patterns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قَوَاعِدُ وَصْفِ الطَّقْسِ</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D4-L02</a:t>
            </a:r>
            <a:endParaRPr lang="en-US" sz="850" dirty="0"/>
          </a:p>
        </p:txBody>
      </p:sp>
      <p:sp>
        <p:nvSpPr>
          <p:cNvPr id="17" name="Shape 14"/>
          <p:cNvSpPr/>
          <p:nvPr/>
        </p:nvSpPr>
        <p:spPr>
          <a:xfrm>
            <a:off x="457200" y="1810512"/>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40080" y="1883664"/>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1. Natural phenomena are grammatical subjects</a:t>
            </a:r>
            <a:endParaRPr lang="en-US" sz="1250" dirty="0"/>
          </a:p>
        </p:txBody>
      </p:sp>
      <p:sp>
        <p:nvSpPr>
          <p:cNvPr id="19" name="Text 16"/>
          <p:cNvSpPr txBox="1"/>
          <p:nvPr/>
        </p:nvSpPr>
        <p:spPr>
          <a:xfrm>
            <a:off x="640080" y="2345436"/>
            <a:ext cx="3566160" cy="432054"/>
          </a:xfrm>
          <a:prstGeom prst="rect">
            <a:avLst/>
          </a:prstGeom>
          <a:noFill/>
          <a:ln/>
        </p:spPr>
        <p:txBody>
          <a:bodyPr wrap="square" lIns="0" tIns="0" rIns="0" bIns="0" rtlCol="0" anchor="ctr"/>
          <a:lstStyle/>
          <a:p>
            <a:pPr algn="l" indent="0" marL="0">
              <a:buNone/>
            </a:pPr>
            <a:r>
              <a:rPr lang="en-US" sz="1050" dirty="0">
                <a:solidFill>
                  <a:srgbClr val="5A6472"/>
                </a:solidFill>
                <a:latin typeface="Calibri" pitchFamily="34" charset="0"/>
                <a:cs typeface="Amiri" pitchFamily="2" charset="-78"/>
              </a:rPr>
              <a:t>verb + weather subject</a:t>
            </a:r>
            <a:endParaRPr lang="en-US" sz="1050" dirty="0"/>
          </a:p>
        </p:txBody>
      </p:sp>
      <p:sp>
        <p:nvSpPr>
          <p:cNvPr id="20" name="Text 17"/>
          <p:cNvSpPr txBox="1"/>
          <p:nvPr/>
        </p:nvSpPr>
        <p:spPr>
          <a:xfrm>
            <a:off x="4297680" y="1847088"/>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ea typeface="Amiri" pitchFamily="2" charset="-78"/>
                <a:cs typeface="Amiri" pitchFamily="2" charset="-78"/>
              </a:rPr>
              <a:t>يَسْقُطُ المَطَرُ.   ·   تَسْقُطُ الثُّلُوجُ.   ·   تَهُبُّ الرِّيَاحُ.</a:t>
            </a:r>
            <a:endParaRPr lang="ar-SA" sz="2000" dirty="0"/>
          </a:p>
        </p:txBody>
      </p:sp>
      <p:sp>
        <p:nvSpPr>
          <p:cNvPr id="21" name="Shape 18"/>
          <p:cNvSpPr/>
          <p:nvPr/>
        </p:nvSpPr>
        <p:spPr>
          <a:xfrm>
            <a:off x="457200" y="2967228"/>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640080" y="3040380"/>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2. Temperature changes</a:t>
            </a:r>
            <a:endParaRPr lang="en-US" sz="1250" dirty="0"/>
          </a:p>
        </p:txBody>
      </p:sp>
      <p:sp>
        <p:nvSpPr>
          <p:cNvPr id="23" name="Text 20"/>
          <p:cNvSpPr txBox="1"/>
          <p:nvPr/>
        </p:nvSpPr>
        <p:spPr>
          <a:xfrm>
            <a:off x="640080" y="3502152"/>
            <a:ext cx="3566160" cy="432054"/>
          </a:xfrm>
          <a:prstGeom prst="rect">
            <a:avLst/>
          </a:prstGeom>
          <a:noFill/>
          <a:ln/>
        </p:spPr>
        <p:txBody>
          <a:bodyPr wrap="square" lIns="0" tIns="0" rIns="0" bIns="0" rtlCol="0" anchor="ctr"/>
          <a:lstStyle/>
          <a:p>
            <a:pPr algn="l" indent="0" marL="0">
              <a:buNone/>
            </a:pPr>
            <a:r>
              <a:rPr lang="ar-SA" altLang="en-US" sz="1350" dirty="0">
                <a:solidFill>
                  <a:srgbClr val="5A6472"/>
                </a:solidFill>
                <a:latin typeface="Amiri" pitchFamily="2" charset="-78"/>
                <a:ea typeface="Amiri" pitchFamily="2" charset="-78"/>
                <a:cs typeface="Amiri" pitchFamily="2" charset="-78"/>
              </a:rPr>
              <a:t>تَرْتَفِعُ / تَنْخَفِضُ دَرَجَةُ الحَرَارَةِ إِلَى</a:t>
            </a:r>
            <a:pPr algn="l" indent="0" marL="0">
              <a:buNone/>
            </a:pPr>
            <a:r>
              <a:rPr lang="en-US" sz="1050" dirty="0">
                <a:solidFill>
                  <a:srgbClr val="5A6472"/>
                </a:solidFill>
                <a:latin typeface="Calibri" pitchFamily="34" charset="0"/>
                <a:cs typeface="Amiri" pitchFamily="2" charset="-78"/>
              </a:rPr>
              <a:t> + number</a:t>
            </a:r>
            <a:endParaRPr lang="en-US" sz="1050" dirty="0"/>
          </a:p>
        </p:txBody>
      </p:sp>
      <p:sp>
        <p:nvSpPr>
          <p:cNvPr id="24" name="Text 21"/>
          <p:cNvSpPr txBox="1"/>
          <p:nvPr/>
        </p:nvSpPr>
        <p:spPr>
          <a:xfrm>
            <a:off x="4297680" y="3003804"/>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ea typeface="Amiri" pitchFamily="2" charset="-78"/>
                <a:cs typeface="Amiri" pitchFamily="2" charset="-78"/>
              </a:rPr>
              <a:t>تَرْتَفِعُ دَرَجَةُ الحَرَارَةِ إِلَى ثَلَاثِينَ دَرَجَةً.</a:t>
            </a:r>
            <a:endParaRPr lang="ar-SA" sz="2000" dirty="0"/>
          </a:p>
        </p:txBody>
      </p:sp>
      <p:sp>
        <p:nvSpPr>
          <p:cNvPr id="25" name="Shape 22"/>
          <p:cNvSpPr/>
          <p:nvPr/>
        </p:nvSpPr>
        <p:spPr>
          <a:xfrm>
            <a:off x="457200" y="4123944"/>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40080" y="4197096"/>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3. Comparing weather</a:t>
            </a:r>
            <a:endParaRPr lang="en-US" sz="1250" dirty="0"/>
          </a:p>
        </p:txBody>
      </p:sp>
      <p:sp>
        <p:nvSpPr>
          <p:cNvPr id="27" name="Text 24"/>
          <p:cNvSpPr txBox="1"/>
          <p:nvPr/>
        </p:nvSpPr>
        <p:spPr>
          <a:xfrm>
            <a:off x="640080" y="4658868"/>
            <a:ext cx="3566160" cy="432054"/>
          </a:xfrm>
          <a:prstGeom prst="rect">
            <a:avLst/>
          </a:prstGeom>
          <a:noFill/>
          <a:ln/>
        </p:spPr>
        <p:txBody>
          <a:bodyPr wrap="square" lIns="0" tIns="0" rIns="0" bIns="0" rtlCol="0" anchor="ctr"/>
          <a:lstStyle/>
          <a:p>
            <a:pPr algn="l" indent="0" marL="0">
              <a:buNone/>
            </a:pPr>
            <a:r>
              <a:rPr lang="ar-SA" altLang="en-US" sz="1350" dirty="0">
                <a:solidFill>
                  <a:srgbClr val="5A6472"/>
                </a:solidFill>
                <a:latin typeface="Amiri" pitchFamily="2" charset="-78"/>
                <a:ea typeface="Amiri" pitchFamily="2" charset="-78"/>
                <a:cs typeface="Amiri" pitchFamily="2" charset="-78"/>
              </a:rPr>
              <a:t>أَكْثَرُ / أَقَلُّ</a:t>
            </a:r>
            <a:pPr algn="l" indent="0" marL="0">
              <a:buNone/>
            </a:pPr>
            <a:r>
              <a:rPr lang="en-US" sz="1050" dirty="0">
                <a:solidFill>
                  <a:srgbClr val="5A6472"/>
                </a:solidFill>
                <a:latin typeface="Calibri" pitchFamily="34" charset="0"/>
                <a:cs typeface="Amiri" pitchFamily="2" charset="-78"/>
              </a:rPr>
              <a:t> + verbal noun + </a:t>
            </a:r>
            <a:pPr algn="l" indent="0" marL="0">
              <a:buNone/>
            </a:pPr>
            <a:r>
              <a:rPr lang="ar-SA" altLang="en-US" sz="1350" dirty="0">
                <a:solidFill>
                  <a:srgbClr val="5A6472"/>
                </a:solidFill>
                <a:latin typeface="Amiri" pitchFamily="2" charset="-78"/>
                <a:ea typeface="Amiri" pitchFamily="2" charset="-78"/>
                <a:cs typeface="Amiri" pitchFamily="2" charset="-78"/>
              </a:rPr>
              <a:t>مِنْ</a:t>
            </a:r>
            <a:endParaRPr lang="en-US" sz="1050" dirty="0"/>
          </a:p>
        </p:txBody>
      </p:sp>
      <p:sp>
        <p:nvSpPr>
          <p:cNvPr id="28" name="Text 25"/>
          <p:cNvSpPr txBox="1"/>
          <p:nvPr/>
        </p:nvSpPr>
        <p:spPr>
          <a:xfrm>
            <a:off x="4297680" y="4160520"/>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ea typeface="Amiri" pitchFamily="2" charset="-78"/>
                <a:cs typeface="Amiri" pitchFamily="2" charset="-78"/>
              </a:rPr>
              <a:t>القَاهِرَةُ أَكْثَرُ حَرَارَةً مِنْ لَنْدَنَ.</a:t>
            </a:r>
            <a:endParaRPr lang="ar-SA" sz="2000" dirty="0"/>
          </a:p>
        </p:txBody>
      </p:sp>
      <p:sp>
        <p:nvSpPr>
          <p:cNvPr id="29" name="Shape 26"/>
          <p:cNvSpPr/>
          <p:nvPr/>
        </p:nvSpPr>
        <p:spPr>
          <a:xfrm>
            <a:off x="457200" y="5280660"/>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40080" y="5353812"/>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4. Forecasting</a:t>
            </a:r>
            <a:endParaRPr lang="en-US" sz="1250" dirty="0"/>
          </a:p>
        </p:txBody>
      </p:sp>
      <p:sp>
        <p:nvSpPr>
          <p:cNvPr id="31" name="Text 28"/>
          <p:cNvSpPr txBox="1"/>
          <p:nvPr/>
        </p:nvSpPr>
        <p:spPr>
          <a:xfrm>
            <a:off x="640080" y="5815584"/>
            <a:ext cx="3566160" cy="432054"/>
          </a:xfrm>
          <a:prstGeom prst="rect">
            <a:avLst/>
          </a:prstGeom>
          <a:noFill/>
          <a:ln/>
        </p:spPr>
        <p:txBody>
          <a:bodyPr wrap="square" lIns="0" tIns="0" rIns="0" bIns="0" rtlCol="0" anchor="ctr"/>
          <a:lstStyle/>
          <a:p>
            <a:pPr algn="l" indent="0" marL="0">
              <a:buNone/>
            </a:pPr>
            <a:r>
              <a:rPr lang="ar-SA" altLang="en-US" sz="1350" dirty="0">
                <a:solidFill>
                  <a:srgbClr val="5A6472"/>
                </a:solidFill>
                <a:latin typeface="Amiri" pitchFamily="2" charset="-78"/>
                <a:ea typeface="Amiri" pitchFamily="2" charset="-78"/>
                <a:cs typeface="Amiri" pitchFamily="2" charset="-78"/>
              </a:rPr>
              <a:t>مِنَ المُتَوَقَّعِ أَنْ</a:t>
            </a:r>
            <a:pPr algn="l" indent="0" marL="0">
              <a:buNone/>
            </a:pPr>
            <a:r>
              <a:rPr lang="en-US" sz="1050" dirty="0">
                <a:solidFill>
                  <a:srgbClr val="5A6472"/>
                </a:solidFill>
                <a:latin typeface="Calibri" pitchFamily="34" charset="0"/>
                <a:cs typeface="Amiri" pitchFamily="2" charset="-78"/>
              </a:rPr>
              <a:t> + subjunctive present</a:t>
            </a:r>
            <a:endParaRPr lang="en-US" sz="1050" dirty="0"/>
          </a:p>
        </p:txBody>
      </p:sp>
      <p:sp>
        <p:nvSpPr>
          <p:cNvPr id="32" name="Text 29"/>
          <p:cNvSpPr txBox="1"/>
          <p:nvPr/>
        </p:nvSpPr>
        <p:spPr>
          <a:xfrm>
            <a:off x="4297680" y="5317236"/>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ea typeface="Amiri" pitchFamily="2" charset="-78"/>
                <a:cs typeface="Amiri" pitchFamily="2" charset="-78"/>
              </a:rPr>
              <a:t>مِنَ المُتَوَقَّعِ أَنْ تَنْخَفِضَ دَرَجَةُ الحَرَارَةِ لَيْلًا.</a:t>
            </a:r>
            <a:endParaRPr lang="ar-SA" sz="200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45</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D4-L02 · Weather</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HINGE QUESTIONS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Quick check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فَحْصٌ سَرِيعٌ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D4-L02</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sentence.</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تَسْقُطُ المَطَرُ غَزِيرًا.</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يَسْقُطُ المَطَرُ فِي غَزِيرٍ.</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يَسْقُطُ المَطَرُ غَزِيرًا.</a:t>
            </a:r>
            <a:endParaRPr lang="ar-SA" sz="2050" dirty="0"/>
          </a:p>
        </p:txBody>
      </p:sp>
      <p:sp>
        <p:nvSpPr>
          <p:cNvPr id="28" name="Shape 25"/>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6313932"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sentence about snow.</a:t>
            </a:r>
            <a:endParaRPr lang="en-US" sz="1250" dirty="0"/>
          </a:p>
        </p:txBody>
      </p:sp>
      <p:sp>
        <p:nvSpPr>
          <p:cNvPr id="32" name="Shape 29"/>
          <p:cNvSpPr/>
          <p:nvPr/>
        </p:nvSpPr>
        <p:spPr>
          <a:xfrm>
            <a:off x="6368796"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تَسْقُطُ الثُّلُوجُ فِي الشِّتَاءِ.</a:t>
            </a:r>
            <a:endParaRPr lang="ar-SA" sz="2050" dirty="0"/>
          </a:p>
        </p:txBody>
      </p:sp>
      <p:sp>
        <p:nvSpPr>
          <p:cNvPr id="35" name="Shape 32"/>
          <p:cNvSpPr/>
          <p:nvPr/>
        </p:nvSpPr>
        <p:spPr>
          <a:xfrm>
            <a:off x="6368796"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يَسْقُطُ الثُّلُوجُ فِي الشِّتَاءِ.</a:t>
            </a:r>
            <a:endParaRPr lang="ar-SA" sz="2050" dirty="0"/>
          </a:p>
        </p:txBody>
      </p:sp>
      <p:sp>
        <p:nvSpPr>
          <p:cNvPr id="38" name="Shape 35"/>
          <p:cNvSpPr/>
          <p:nvPr/>
        </p:nvSpPr>
        <p:spPr>
          <a:xfrm>
            <a:off x="6368796"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تَسْقُطُ الثُّلُوجُ إِلَى الشِّتَاءِ.</a:t>
            </a:r>
            <a:endParaRPr lang="ar-SA" sz="2050" dirty="0"/>
          </a:p>
        </p:txBody>
      </p:sp>
      <p:sp>
        <p:nvSpPr>
          <p:cNvPr id="41" name="Shape 38"/>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585216" y="4288536"/>
            <a:ext cx="310896" cy="310896"/>
          </a:xfrm>
          <a:prstGeom prst="ellipse">
            <a:avLst/>
          </a:prstGeom>
          <a:solidFill>
            <a:srgbClr val="1B3B6F"/>
          </a:solidFill>
          <a:ln w="12700">
            <a:solidFill>
              <a:srgbClr val="1B3B6F"/>
            </a:solidFill>
            <a:prstDash val="solid"/>
          </a:ln>
        </p:spPr>
      </p:sp>
      <p:sp>
        <p:nvSpPr>
          <p:cNvPr id="43" name="Text 40"/>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___ </a:t>
            </a:r>
            <a:pPr algn="l" indent="0" marL="0">
              <a:buNone/>
            </a:pPr>
            <a:r>
              <a:rPr lang="ar-SA" altLang="en-US" sz="1650" b="1" dirty="0">
                <a:solidFill>
                  <a:srgbClr val="1B3B6F"/>
                </a:solidFill>
                <a:latin typeface="Amiri" pitchFamily="2" charset="-78"/>
                <a:ea typeface="Amiri" pitchFamily="2" charset="-78"/>
                <a:cs typeface="Amiri" pitchFamily="2" charset="-78"/>
              </a:rPr>
              <a:t>الرِّيَاحُ بِقُوَّةٍ</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45" name="Shape 42"/>
          <p:cNvSpPr/>
          <p:nvPr/>
        </p:nvSpPr>
        <p:spPr>
          <a:xfrm>
            <a:off x="640080" y="4873752"/>
            <a:ext cx="256032" cy="256032"/>
          </a:xfrm>
          <a:prstGeom prst="ellipse">
            <a:avLst/>
          </a:prstGeom>
          <a:solidFill>
            <a:srgbClr val="F4F1EA"/>
          </a:solidFill>
          <a:ln w="12700">
            <a:solidFill>
              <a:srgbClr val="F4F1EA"/>
            </a:solidFill>
            <a:prstDash val="solid"/>
          </a:ln>
        </p:spPr>
      </p:sp>
      <p:sp>
        <p:nvSpPr>
          <p:cNvPr id="46" name="Text 43"/>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يَهُبُّ</a:t>
            </a:r>
            <a:endParaRPr lang="ar-SA" sz="2050" dirty="0"/>
          </a:p>
        </p:txBody>
      </p:sp>
      <p:sp>
        <p:nvSpPr>
          <p:cNvPr id="48" name="Shape 45"/>
          <p:cNvSpPr/>
          <p:nvPr/>
        </p:nvSpPr>
        <p:spPr>
          <a:xfrm>
            <a:off x="640080" y="5330952"/>
            <a:ext cx="256032" cy="256032"/>
          </a:xfrm>
          <a:prstGeom prst="ellipse">
            <a:avLst/>
          </a:prstGeom>
          <a:solidFill>
            <a:srgbClr val="F4F1EA"/>
          </a:solidFill>
          <a:ln w="12700">
            <a:solidFill>
              <a:srgbClr val="F4F1EA"/>
            </a:solidFill>
            <a:prstDash val="solid"/>
          </a:ln>
        </p:spPr>
      </p:sp>
      <p:sp>
        <p:nvSpPr>
          <p:cNvPr id="49" name="Text 46"/>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تَهُبُّ</a:t>
            </a:r>
            <a:endParaRPr lang="ar-SA" sz="2050" dirty="0"/>
          </a:p>
        </p:txBody>
      </p:sp>
      <p:sp>
        <p:nvSpPr>
          <p:cNvPr id="51" name="Shape 48"/>
          <p:cNvSpPr/>
          <p:nvPr/>
        </p:nvSpPr>
        <p:spPr>
          <a:xfrm>
            <a:off x="640080" y="5788152"/>
            <a:ext cx="256032" cy="256032"/>
          </a:xfrm>
          <a:prstGeom prst="ellipse">
            <a:avLst/>
          </a:prstGeom>
          <a:solidFill>
            <a:srgbClr val="F4F1EA"/>
          </a:solidFill>
          <a:ln w="12700">
            <a:solidFill>
              <a:srgbClr val="F4F1EA"/>
            </a:solidFill>
            <a:prstDash val="solid"/>
          </a:ln>
        </p:spPr>
      </p:sp>
      <p:sp>
        <p:nvSpPr>
          <p:cNvPr id="52" name="Text 49"/>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يَهُبُّونَ</a:t>
            </a:r>
            <a:endParaRPr lang="ar-SA" sz="2050" dirty="0"/>
          </a:p>
        </p:txBody>
      </p:sp>
      <p:sp>
        <p:nvSpPr>
          <p:cNvPr id="54" name="Shape 51"/>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6313932"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sentence means “Amman is colder than Dubai”?</a:t>
            </a:r>
            <a:endParaRPr lang="en-US" sz="1250" dirty="0"/>
          </a:p>
        </p:txBody>
      </p:sp>
      <p:sp>
        <p:nvSpPr>
          <p:cNvPr id="58" name="Shape 55"/>
          <p:cNvSpPr/>
          <p:nvPr/>
        </p:nvSpPr>
        <p:spPr>
          <a:xfrm>
            <a:off x="6368796"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عَمَّانُ أَكْثَرُ بُرُودَةً مِنْ دُبَيَّ.</a:t>
            </a:r>
            <a:endParaRPr lang="ar-SA" sz="2050" dirty="0"/>
          </a:p>
        </p:txBody>
      </p:sp>
      <p:sp>
        <p:nvSpPr>
          <p:cNvPr id="61" name="Shape 58"/>
          <p:cNvSpPr/>
          <p:nvPr/>
        </p:nvSpPr>
        <p:spPr>
          <a:xfrm>
            <a:off x="6368796"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عَمَّانُ أَقَلُّ بُرُودَةً مِنْ دُبَيَّ.</a:t>
            </a:r>
            <a:endParaRPr lang="ar-SA" sz="2050" dirty="0"/>
          </a:p>
        </p:txBody>
      </p:sp>
      <p:sp>
        <p:nvSpPr>
          <p:cNvPr id="64" name="Shape 61"/>
          <p:cNvSpPr/>
          <p:nvPr/>
        </p:nvSpPr>
        <p:spPr>
          <a:xfrm>
            <a:off x="6368796"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عَمَّانُ أَكْثَرُ بَارِدٌ مِنْ دُبَيَّ.</a:t>
            </a:r>
            <a:endParaRPr lang="ar-SA" sz="2050" dirty="0"/>
          </a:p>
        </p:txBody>
      </p:sp>
      <p:sp>
        <p:nvSpPr>
          <p:cNvPr id="67" name="Text 6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45</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D4-L02 · Weather</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D4-L02</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sentence.</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تَسْقُطُ المَطَرُ غَزِيرًا.</a:t>
            </a:r>
            <a:endParaRPr lang="ar-SA" sz="1700" dirty="0"/>
          </a:p>
        </p:txBody>
      </p:sp>
      <p:sp>
        <p:nvSpPr>
          <p:cNvPr id="22" name="Shape 19"/>
          <p:cNvSpPr/>
          <p:nvPr/>
        </p:nvSpPr>
        <p:spPr>
          <a:xfrm>
            <a:off x="640080" y="2862072"/>
            <a:ext cx="256032" cy="256032"/>
          </a:xfrm>
          <a:prstGeom prst="ellipse">
            <a:avLst/>
          </a:prstGeom>
          <a:solidFill>
            <a:srgbClr val="C9CED6"/>
          </a:solidFill>
          <a:ln w="12700">
            <a:solidFill>
              <a:srgbClr val="C9CED6"/>
            </a:solidFill>
            <a:prstDash val="solid"/>
          </a:ln>
        </p:spPr>
      </p:sp>
      <p:sp>
        <p:nvSpPr>
          <p:cNvPr id="23" name="Text 20"/>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يَسْقُطُ المَطَرُ فِي غَزِيرٍ.</a:t>
            </a:r>
            <a:endParaRPr lang="ar-SA" sz="1700" dirty="0"/>
          </a:p>
        </p:txBody>
      </p:sp>
      <p:sp>
        <p:nvSpPr>
          <p:cNvPr id="25" name="Shape 22"/>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6" name="Shape 23"/>
          <p:cNvSpPr/>
          <p:nvPr/>
        </p:nvSpPr>
        <p:spPr>
          <a:xfrm>
            <a:off x="640080" y="3233928"/>
            <a:ext cx="256032" cy="256032"/>
          </a:xfrm>
          <a:prstGeom prst="ellipse">
            <a:avLst/>
          </a:prstGeom>
          <a:solidFill>
            <a:srgbClr val="2E8B57"/>
          </a:solidFill>
          <a:ln w="12700">
            <a:solidFill>
              <a:srgbClr val="2E8B57"/>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28" name="Text 25"/>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يَسْقُطُ المَطَرُ غَزِيرًا.</a:t>
            </a:r>
            <a:endParaRPr lang="ar-SA" sz="1700" dirty="0"/>
          </a:p>
        </p:txBody>
      </p:sp>
      <p:sp>
        <p:nvSpPr>
          <p:cNvPr id="29" name="Text 26"/>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al-maṭar is masculine → ya-.</a:t>
            </a:r>
            <a:endParaRPr lang="en-US" sz="10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sentence about snow.</a:t>
            </a:r>
            <a:endParaRPr lang="en-US" sz="1250" dirty="0"/>
          </a:p>
        </p:txBody>
      </p:sp>
      <p:sp>
        <p:nvSpPr>
          <p:cNvPr id="34" name="Shape 31"/>
          <p:cNvSpPr/>
          <p:nvPr/>
        </p:nvSpPr>
        <p:spPr>
          <a:xfrm>
            <a:off x="6277356" y="2453640"/>
            <a:ext cx="5362956"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6368796"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تَسْقُطُ الثُّلُوجُ فِي الشِّتَاءِ.</a:t>
            </a:r>
            <a:endParaRPr lang="ar-SA" sz="1700" dirty="0"/>
          </a:p>
        </p:txBody>
      </p:sp>
      <p:sp>
        <p:nvSpPr>
          <p:cNvPr id="38" name="Shape 35"/>
          <p:cNvSpPr/>
          <p:nvPr/>
        </p:nvSpPr>
        <p:spPr>
          <a:xfrm>
            <a:off x="6368796"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يَسْقُطُ الثُّلُوجُ فِي الشِّتَاءِ.</a:t>
            </a:r>
            <a:endParaRPr lang="ar-SA" sz="1700" dirty="0"/>
          </a:p>
        </p:txBody>
      </p:sp>
      <p:sp>
        <p:nvSpPr>
          <p:cNvPr id="41" name="Shape 38"/>
          <p:cNvSpPr/>
          <p:nvPr/>
        </p:nvSpPr>
        <p:spPr>
          <a:xfrm>
            <a:off x="6368796"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تَسْقُطُ الثُّلُوجُ إِلَى الشِّتَاءِ.</a:t>
            </a:r>
            <a:endParaRPr lang="ar-SA" sz="1700" dirty="0"/>
          </a:p>
        </p:txBody>
      </p:sp>
      <p:sp>
        <p:nvSpPr>
          <p:cNvPr id="44" name="Text 41"/>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Non-human plural → ta-.</a:t>
            </a:r>
            <a:endParaRPr lang="en-US" sz="1050" dirty="0"/>
          </a:p>
        </p:txBody>
      </p:sp>
      <p:sp>
        <p:nvSpPr>
          <p:cNvPr id="45" name="Shape 42"/>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585216" y="4288536"/>
            <a:ext cx="310896" cy="310896"/>
          </a:xfrm>
          <a:prstGeom prst="ellipse">
            <a:avLst/>
          </a:prstGeom>
          <a:solidFill>
            <a:srgbClr val="1B3B6F"/>
          </a:solidFill>
          <a:ln w="12700">
            <a:solidFill>
              <a:srgbClr val="1B3B6F"/>
            </a:solidFill>
            <a:prstDash val="solid"/>
          </a:ln>
        </p:spPr>
      </p:sp>
      <p:sp>
        <p:nvSpPr>
          <p:cNvPr id="47" name="Text 44"/>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___ </a:t>
            </a:r>
            <a:pPr algn="l" indent="0" marL="0">
              <a:buNone/>
            </a:pPr>
            <a:r>
              <a:rPr lang="ar-SA" altLang="en-US" sz="1650" b="1" dirty="0">
                <a:solidFill>
                  <a:srgbClr val="1B3B6F"/>
                </a:solidFill>
                <a:latin typeface="Amiri" pitchFamily="2" charset="-78"/>
                <a:ea typeface="Amiri" pitchFamily="2" charset="-78"/>
                <a:cs typeface="Amiri" pitchFamily="2" charset="-78"/>
              </a:rPr>
              <a:t>الرِّيَاحُ بِقُوَّةٍ</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49" name="Shape 46"/>
          <p:cNvSpPr/>
          <p:nvPr/>
        </p:nvSpPr>
        <p:spPr>
          <a:xfrm>
            <a:off x="640080" y="4831080"/>
            <a:ext cx="256032" cy="256032"/>
          </a:xfrm>
          <a:prstGeom prst="ellipse">
            <a:avLst/>
          </a:prstGeom>
          <a:solidFill>
            <a:srgbClr val="C9CED6"/>
          </a:solidFill>
          <a:ln w="12700">
            <a:solidFill>
              <a:srgbClr val="C9CED6"/>
            </a:solidFill>
            <a:prstDash val="solid"/>
          </a:ln>
        </p:spPr>
      </p:sp>
      <p:sp>
        <p:nvSpPr>
          <p:cNvPr id="50" name="Text 47"/>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يَهُبُّ</a:t>
            </a:r>
            <a:endParaRPr lang="ar-SA" sz="1700" dirty="0"/>
          </a:p>
        </p:txBody>
      </p:sp>
      <p:sp>
        <p:nvSpPr>
          <p:cNvPr id="52" name="Shape 49"/>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3" name="Shape 50"/>
          <p:cNvSpPr/>
          <p:nvPr/>
        </p:nvSpPr>
        <p:spPr>
          <a:xfrm>
            <a:off x="640080" y="5202936"/>
            <a:ext cx="256032" cy="256032"/>
          </a:xfrm>
          <a:prstGeom prst="ellipse">
            <a:avLst/>
          </a:prstGeom>
          <a:solidFill>
            <a:srgbClr val="2E8B57"/>
          </a:solidFill>
          <a:ln w="12700">
            <a:solidFill>
              <a:srgbClr val="2E8B57"/>
            </a:solidFill>
            <a:prstDash val="solid"/>
          </a:ln>
        </p:spPr>
      </p:sp>
      <p:sp>
        <p:nvSpPr>
          <p:cNvPr id="54" name="Text 51"/>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5" name="Text 52"/>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تَهُبُّ</a:t>
            </a:r>
            <a:endParaRPr lang="ar-SA" sz="1700" dirty="0"/>
          </a:p>
        </p:txBody>
      </p:sp>
      <p:sp>
        <p:nvSpPr>
          <p:cNvPr id="56" name="Shape 53"/>
          <p:cNvSpPr/>
          <p:nvPr/>
        </p:nvSpPr>
        <p:spPr>
          <a:xfrm>
            <a:off x="640080" y="5574792"/>
            <a:ext cx="256032" cy="256032"/>
          </a:xfrm>
          <a:prstGeom prst="ellipse">
            <a:avLst/>
          </a:prstGeom>
          <a:solidFill>
            <a:srgbClr val="C9CED6"/>
          </a:solidFill>
          <a:ln w="12700">
            <a:solidFill>
              <a:srgbClr val="C9CED6"/>
            </a:solidFill>
            <a:prstDash val="solid"/>
          </a:ln>
        </p:spPr>
      </p:sp>
      <p:sp>
        <p:nvSpPr>
          <p:cNvPr id="57" name="Text 54"/>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يَهُبُّونَ</a:t>
            </a:r>
            <a:endParaRPr lang="ar-SA" sz="1700" dirty="0"/>
          </a:p>
        </p:txBody>
      </p:sp>
      <p:sp>
        <p:nvSpPr>
          <p:cNvPr id="59" name="Text 56"/>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al-riyāḥ → ta-.</a:t>
            </a:r>
            <a:endParaRPr lang="en-US" sz="1050" dirty="0"/>
          </a:p>
        </p:txBody>
      </p:sp>
      <p:sp>
        <p:nvSpPr>
          <p:cNvPr id="60" name="Shape 57"/>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6313932"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sentence means “Amman is colder than Dubai”?</a:t>
            </a:r>
            <a:endParaRPr lang="en-US" sz="1250" dirty="0"/>
          </a:p>
        </p:txBody>
      </p:sp>
      <p:sp>
        <p:nvSpPr>
          <p:cNvPr id="64" name="Shape 61"/>
          <p:cNvSpPr/>
          <p:nvPr/>
        </p:nvSpPr>
        <p:spPr>
          <a:xfrm>
            <a:off x="6277356" y="4794504"/>
            <a:ext cx="5362956"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6368796" y="4831080"/>
            <a:ext cx="256032" cy="256032"/>
          </a:xfrm>
          <a:prstGeom prst="ellipse">
            <a:avLst/>
          </a:prstGeom>
          <a:solidFill>
            <a:srgbClr val="2E8B57"/>
          </a:solidFill>
          <a:ln w="12700">
            <a:solidFill>
              <a:srgbClr val="2E8B57"/>
            </a:solidFill>
            <a:prstDash val="solid"/>
          </a:ln>
        </p:spPr>
      </p:sp>
      <p:sp>
        <p:nvSpPr>
          <p:cNvPr id="66" name="Text 63"/>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7" name="Text 64"/>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عَمَّانُ أَكْثَرُ بُرُودَةً مِنْ دُبَيَّ.</a:t>
            </a:r>
            <a:endParaRPr lang="ar-SA" sz="1700" dirty="0"/>
          </a:p>
        </p:txBody>
      </p:sp>
      <p:sp>
        <p:nvSpPr>
          <p:cNvPr id="68" name="Shape 65"/>
          <p:cNvSpPr/>
          <p:nvPr/>
        </p:nvSpPr>
        <p:spPr>
          <a:xfrm>
            <a:off x="6368796" y="5202936"/>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7"/>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عَمَّانُ أَقَلُّ بُرُودَةً مِنْ دُبَيَّ.</a:t>
            </a:r>
            <a:endParaRPr lang="ar-SA" sz="1700" dirty="0"/>
          </a:p>
        </p:txBody>
      </p:sp>
      <p:sp>
        <p:nvSpPr>
          <p:cNvPr id="71" name="Shape 68"/>
          <p:cNvSpPr/>
          <p:nvPr/>
        </p:nvSpPr>
        <p:spPr>
          <a:xfrm>
            <a:off x="6368796"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عَمَّانُ أَكْثَرُ بَارِدٌ مِنْ دُبَيَّ.</a:t>
            </a:r>
            <a:endParaRPr lang="ar-SA" sz="1700" dirty="0"/>
          </a:p>
        </p:txBody>
      </p:sp>
      <p:sp>
        <p:nvSpPr>
          <p:cNvPr id="74" name="Text 71"/>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akthar + noun (-an) + min.</a:t>
            </a:r>
            <a:endParaRPr lang="en-US" sz="1050" dirty="0"/>
          </a:p>
        </p:txBody>
      </p:sp>
      <p:sp>
        <p:nvSpPr>
          <p:cNvPr id="75" name="Text 7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45</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D4-L02 · Weather</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WATCH, THEN COPY</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50" b="1" dirty="0">
                <a:solidFill>
                  <a:srgbClr val="1B3B6F"/>
                </a:solidFill>
                <a:latin typeface="Cambria" pitchFamily="34" charset="0"/>
                <a:cs typeface="Amiri" pitchFamily="2" charset="-78"/>
              </a:rPr>
              <a:t>Watch me read a weather forecast</a:t>
            </a:r>
            <a:endParaRPr lang="en-US" sz="26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شَاهِدْ ثُمَّ 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D4-L02</a:t>
            </a:r>
            <a:endParaRPr lang="en-US" sz="850" dirty="0"/>
          </a:p>
        </p:txBody>
      </p:sp>
      <p:sp>
        <p:nvSpPr>
          <p:cNvPr id="15" name="Shape 12"/>
          <p:cNvSpPr/>
          <p:nvPr/>
        </p:nvSpPr>
        <p:spPr>
          <a:xfrm>
            <a:off x="9050274"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19688" y="1938528"/>
            <a:ext cx="384048" cy="384048"/>
          </a:xfrm>
          <a:prstGeom prst="ellipse">
            <a:avLst/>
          </a:prstGeom>
          <a:solidFill>
            <a:srgbClr val="6B4C9A"/>
          </a:solidFill>
          <a:ln w="12700">
            <a:solidFill>
              <a:srgbClr val="6B4C9A"/>
            </a:solidFill>
            <a:prstDash val="solid"/>
          </a:ln>
        </p:spPr>
      </p:sp>
      <p:sp>
        <p:nvSpPr>
          <p:cNvPr id="17" name="Text 14"/>
          <p:cNvSpPr txBox="1"/>
          <p:nvPr/>
        </p:nvSpPr>
        <p:spPr>
          <a:xfrm>
            <a:off x="11219688"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1</a:t>
            </a:r>
            <a:endParaRPr lang="en-US" sz="1400" dirty="0"/>
          </a:p>
        </p:txBody>
      </p:sp>
      <p:sp>
        <p:nvSpPr>
          <p:cNvPr id="18" name="Text 15"/>
          <p:cNvSpPr txBox="1"/>
          <p:nvPr/>
        </p:nvSpPr>
        <p:spPr>
          <a:xfrm>
            <a:off x="9187434"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City 1</a:t>
            </a:r>
            <a:endParaRPr lang="en-US" sz="1250" dirty="0"/>
          </a:p>
        </p:txBody>
      </p:sp>
      <p:sp>
        <p:nvSpPr>
          <p:cNvPr id="19" name="Text 16"/>
          <p:cNvSpPr txBox="1"/>
          <p:nvPr/>
        </p:nvSpPr>
        <p:spPr>
          <a:xfrm>
            <a:off x="9160002" y="2450592"/>
            <a:ext cx="2462022" cy="914400"/>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2" charset="-78"/>
                <a:ea typeface="Amiri" pitchFamily="2" charset="-78"/>
                <a:cs typeface="Amiri" pitchFamily="2" charset="-78"/>
              </a:rPr>
              <a:t>فِي القَاهِرَةِ </a:t>
            </a:r>
            <a:pPr rtl="1" algn="ctr" indent="0" marL="0">
              <a:buNone/>
            </a:pPr>
            <a:r>
              <a:rPr lang="ar-SA" altLang="en-US" sz="2100" b="1" dirty="0">
                <a:solidFill>
                  <a:srgbClr val="D6336C"/>
                </a:solidFill>
                <a:latin typeface="Amiri" pitchFamily="2" charset="-78"/>
                <a:ea typeface="Amiri" pitchFamily="2" charset="-78"/>
                <a:cs typeface="Amiri" pitchFamily="2" charset="-78"/>
              </a:rPr>
              <a:t>سَتُشْرِقُ</a:t>
            </a:r>
            <a:pPr rtl="1" algn="ctr" indent="0" marL="0">
              <a:buNone/>
            </a:pPr>
            <a:r>
              <a:rPr lang="ar-SA" altLang="en-US" sz="2100" b="1" dirty="0">
                <a:solidFill>
                  <a:srgbClr val="1B3B6F"/>
                </a:solidFill>
                <a:latin typeface="Amiri" pitchFamily="2" charset="-78"/>
                <a:ea typeface="Amiri" pitchFamily="2" charset="-78"/>
                <a:cs typeface="Amiri" pitchFamily="2" charset="-78"/>
              </a:rPr>
              <a:t> الشَّمْسُ.</a:t>
            </a:r>
            <a:endParaRPr lang="ar-SA" sz="2100" dirty="0"/>
          </a:p>
        </p:txBody>
      </p:sp>
      <p:sp>
        <p:nvSpPr>
          <p:cNvPr id="20" name="Text 17"/>
          <p:cNvSpPr txBox="1"/>
          <p:nvPr/>
        </p:nvSpPr>
        <p:spPr>
          <a:xfrm>
            <a:off x="9187434"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shams (f.) → ta-.</a:t>
            </a:r>
            <a:endParaRPr lang="en-US" sz="1150" dirty="0"/>
          </a:p>
        </p:txBody>
      </p:sp>
      <p:sp>
        <p:nvSpPr>
          <p:cNvPr id="21" name="Text 18"/>
          <p:cNvSpPr txBox="1"/>
          <p:nvPr/>
        </p:nvSpPr>
        <p:spPr>
          <a:xfrm>
            <a:off x="8867394"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2" name="Shape 19"/>
          <p:cNvSpPr/>
          <p:nvPr/>
        </p:nvSpPr>
        <p:spPr>
          <a:xfrm>
            <a:off x="6185916"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8355330" y="1938528"/>
            <a:ext cx="384048" cy="384048"/>
          </a:xfrm>
          <a:prstGeom prst="ellipse">
            <a:avLst/>
          </a:prstGeom>
          <a:solidFill>
            <a:srgbClr val="6B4C9A"/>
          </a:solidFill>
          <a:ln w="12700">
            <a:solidFill>
              <a:srgbClr val="6B4C9A"/>
            </a:solidFill>
            <a:prstDash val="solid"/>
          </a:ln>
        </p:spPr>
      </p:sp>
      <p:sp>
        <p:nvSpPr>
          <p:cNvPr id="24" name="Text 21"/>
          <p:cNvSpPr txBox="1"/>
          <p:nvPr/>
        </p:nvSpPr>
        <p:spPr>
          <a:xfrm>
            <a:off x="8355330"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2</a:t>
            </a:r>
            <a:endParaRPr lang="en-US" sz="1400" dirty="0"/>
          </a:p>
        </p:txBody>
      </p:sp>
      <p:sp>
        <p:nvSpPr>
          <p:cNvPr id="25" name="Text 22"/>
          <p:cNvSpPr txBox="1"/>
          <p:nvPr/>
        </p:nvSpPr>
        <p:spPr>
          <a:xfrm>
            <a:off x="6323076"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Temperature</a:t>
            </a:r>
            <a:endParaRPr lang="en-US" sz="1250" dirty="0"/>
          </a:p>
        </p:txBody>
      </p:sp>
      <p:sp>
        <p:nvSpPr>
          <p:cNvPr id="26" name="Text 23"/>
          <p:cNvSpPr txBox="1"/>
          <p:nvPr/>
        </p:nvSpPr>
        <p:spPr>
          <a:xfrm>
            <a:off x="6295644" y="2450592"/>
            <a:ext cx="2462022" cy="914400"/>
          </a:xfrm>
          <a:prstGeom prst="rect">
            <a:avLst/>
          </a:prstGeom>
          <a:noFill/>
          <a:ln/>
        </p:spPr>
        <p:txBody>
          <a:bodyPr wrap="square" lIns="0" tIns="0" rIns="0" bIns="0" rtlCol="0" anchor="ctr"/>
          <a:lstStyle/>
          <a:p>
            <a:pPr rtl="1" algn="ctr" indent="0" marL="0">
              <a:lnSpc>
                <a:spcPct val="120000"/>
              </a:lnSpc>
              <a:buNone/>
            </a:pPr>
            <a:r>
              <a:rPr lang="ar-SA" altLang="en-US" sz="1750" b="1" dirty="0">
                <a:solidFill>
                  <a:srgbClr val="1B3B6F"/>
                </a:solidFill>
                <a:latin typeface="Amiri" pitchFamily="2" charset="-78"/>
                <a:ea typeface="Amiri" pitchFamily="2" charset="-78"/>
                <a:cs typeface="Amiri" pitchFamily="2" charset="-78"/>
              </a:rPr>
              <a:t>وَ</a:t>
            </a:r>
            <a:pPr rtl="1" algn="ctr" indent="0" marL="0">
              <a:lnSpc>
                <a:spcPct val="120000"/>
              </a:lnSpc>
              <a:buNone/>
            </a:pPr>
            <a:r>
              <a:rPr lang="ar-SA" altLang="en-US" sz="1750" b="1" dirty="0">
                <a:solidFill>
                  <a:srgbClr val="D6336C"/>
                </a:solidFill>
                <a:latin typeface="Amiri" pitchFamily="2" charset="-78"/>
                <a:ea typeface="Amiri" pitchFamily="2" charset="-78"/>
                <a:cs typeface="Amiri" pitchFamily="2" charset="-78"/>
              </a:rPr>
              <a:t>سَتَرْتَفِعُ</a:t>
            </a:r>
            <a:pPr rtl="1" algn="ctr" indent="0" marL="0">
              <a:lnSpc>
                <a:spcPct val="120000"/>
              </a:lnSpc>
              <a:buNone/>
            </a:pPr>
            <a:r>
              <a:rPr lang="ar-SA" altLang="en-US" sz="1750" b="1" dirty="0">
                <a:solidFill>
                  <a:srgbClr val="1B3B6F"/>
                </a:solidFill>
                <a:latin typeface="Amiri" pitchFamily="2" charset="-78"/>
                <a:ea typeface="Amiri" pitchFamily="2" charset="-78"/>
                <a:cs typeface="Amiri" pitchFamily="2" charset="-78"/>
              </a:rPr>
              <a:t> دَرَجَةُ الحَرَارَةِ إِلَى ٣٣ دَرَجَةً.</a:t>
            </a:r>
            <a:endParaRPr lang="ar-SA" sz="1750" dirty="0"/>
          </a:p>
        </p:txBody>
      </p:sp>
      <p:sp>
        <p:nvSpPr>
          <p:cNvPr id="27" name="Text 24"/>
          <p:cNvSpPr txBox="1"/>
          <p:nvPr/>
        </p:nvSpPr>
        <p:spPr>
          <a:xfrm>
            <a:off x="6323076"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daraja (f.) → ta-.</a:t>
            </a:r>
            <a:endParaRPr lang="en-US" sz="1150" dirty="0"/>
          </a:p>
        </p:txBody>
      </p:sp>
      <p:sp>
        <p:nvSpPr>
          <p:cNvPr id="28" name="Text 25"/>
          <p:cNvSpPr txBox="1"/>
          <p:nvPr/>
        </p:nvSpPr>
        <p:spPr>
          <a:xfrm>
            <a:off x="6003036"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9" name="Shape 26"/>
          <p:cNvSpPr/>
          <p:nvPr/>
        </p:nvSpPr>
        <p:spPr>
          <a:xfrm>
            <a:off x="3321558"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490972" y="1938528"/>
            <a:ext cx="384048" cy="384048"/>
          </a:xfrm>
          <a:prstGeom prst="ellipse">
            <a:avLst/>
          </a:prstGeom>
          <a:solidFill>
            <a:srgbClr val="6B4C9A"/>
          </a:solidFill>
          <a:ln w="12700">
            <a:solidFill>
              <a:srgbClr val="6B4C9A"/>
            </a:solidFill>
            <a:prstDash val="solid"/>
          </a:ln>
        </p:spPr>
      </p:sp>
      <p:sp>
        <p:nvSpPr>
          <p:cNvPr id="31" name="Text 28"/>
          <p:cNvSpPr txBox="1"/>
          <p:nvPr/>
        </p:nvSpPr>
        <p:spPr>
          <a:xfrm>
            <a:off x="5490972"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3</a:t>
            </a:r>
            <a:endParaRPr lang="en-US" sz="1400" dirty="0"/>
          </a:p>
        </p:txBody>
      </p:sp>
      <p:sp>
        <p:nvSpPr>
          <p:cNvPr id="32" name="Text 29"/>
          <p:cNvSpPr txBox="1"/>
          <p:nvPr/>
        </p:nvSpPr>
        <p:spPr>
          <a:xfrm>
            <a:off x="3458718"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City 2 + rain</a:t>
            </a:r>
            <a:endParaRPr lang="en-US" sz="1250" dirty="0"/>
          </a:p>
        </p:txBody>
      </p:sp>
      <p:sp>
        <p:nvSpPr>
          <p:cNvPr id="33" name="Text 30"/>
          <p:cNvSpPr txBox="1"/>
          <p:nvPr/>
        </p:nvSpPr>
        <p:spPr>
          <a:xfrm>
            <a:off x="3431286" y="2450592"/>
            <a:ext cx="2462022" cy="914400"/>
          </a:xfrm>
          <a:prstGeom prst="rect">
            <a:avLst/>
          </a:prstGeom>
          <a:noFill/>
          <a:ln/>
        </p:spPr>
        <p:txBody>
          <a:bodyPr wrap="square" lIns="0" tIns="0" rIns="0" bIns="0" rtlCol="0" anchor="ctr"/>
          <a:lstStyle/>
          <a:p>
            <a:pPr rtl="1" algn="ctr" indent="0" marL="0">
              <a:lnSpc>
                <a:spcPct val="120000"/>
              </a:lnSpc>
              <a:buNone/>
            </a:pPr>
            <a:r>
              <a:rPr lang="ar-SA" altLang="en-US" sz="1750" b="1" dirty="0">
                <a:solidFill>
                  <a:srgbClr val="1B3B6F"/>
                </a:solidFill>
                <a:latin typeface="Amiri" pitchFamily="2" charset="-78"/>
                <a:ea typeface="Amiri" pitchFamily="2" charset="-78"/>
                <a:cs typeface="Amiri" pitchFamily="2" charset="-78"/>
              </a:rPr>
              <a:t>وَفِي الرِّبَاطِ </a:t>
            </a:r>
            <a:pPr rtl="1" algn="ctr" indent="0" marL="0">
              <a:lnSpc>
                <a:spcPct val="120000"/>
              </a:lnSpc>
              <a:buNone/>
            </a:pPr>
            <a:r>
              <a:rPr lang="ar-SA" altLang="en-US" sz="1750" b="1" dirty="0">
                <a:solidFill>
                  <a:srgbClr val="1D5FBF"/>
                </a:solidFill>
                <a:latin typeface="Amiri" pitchFamily="2" charset="-78"/>
                <a:ea typeface="Amiri" pitchFamily="2" charset="-78"/>
                <a:cs typeface="Amiri" pitchFamily="2" charset="-78"/>
              </a:rPr>
              <a:t>سَيَسْقُطُ</a:t>
            </a:r>
            <a:pPr rtl="1" algn="ctr" indent="0" marL="0">
              <a:lnSpc>
                <a:spcPct val="120000"/>
              </a:lnSpc>
              <a:buNone/>
            </a:pPr>
            <a:r>
              <a:rPr lang="ar-SA" altLang="en-US" sz="1750" b="1" dirty="0">
                <a:solidFill>
                  <a:srgbClr val="1B3B6F"/>
                </a:solidFill>
                <a:latin typeface="Amiri" pitchFamily="2" charset="-78"/>
                <a:ea typeface="Amiri" pitchFamily="2" charset="-78"/>
                <a:cs typeface="Amiri" pitchFamily="2" charset="-78"/>
              </a:rPr>
              <a:t> المَطَرُ صَبَاحًا.</a:t>
            </a:r>
            <a:endParaRPr lang="ar-SA" sz="1750" dirty="0"/>
          </a:p>
        </p:txBody>
      </p:sp>
      <p:sp>
        <p:nvSpPr>
          <p:cNvPr id="34" name="Text 31"/>
          <p:cNvSpPr txBox="1"/>
          <p:nvPr/>
        </p:nvSpPr>
        <p:spPr>
          <a:xfrm>
            <a:off x="3458718"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maṭar (m.) → ya-.</a:t>
            </a:r>
            <a:endParaRPr lang="en-US" sz="1150" dirty="0"/>
          </a:p>
        </p:txBody>
      </p:sp>
      <p:sp>
        <p:nvSpPr>
          <p:cNvPr id="35" name="Text 32"/>
          <p:cNvSpPr txBox="1"/>
          <p:nvPr/>
        </p:nvSpPr>
        <p:spPr>
          <a:xfrm>
            <a:off x="3138678"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36" name="Shape 33"/>
          <p:cNvSpPr/>
          <p:nvPr/>
        </p:nvSpPr>
        <p:spPr>
          <a:xfrm>
            <a:off x="457200"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2626614" y="1938528"/>
            <a:ext cx="384048" cy="384048"/>
          </a:xfrm>
          <a:prstGeom prst="ellipse">
            <a:avLst/>
          </a:prstGeom>
          <a:solidFill>
            <a:srgbClr val="6B4C9A"/>
          </a:solidFill>
          <a:ln w="12700">
            <a:solidFill>
              <a:srgbClr val="6B4C9A"/>
            </a:solidFill>
            <a:prstDash val="solid"/>
          </a:ln>
        </p:spPr>
      </p:sp>
      <p:sp>
        <p:nvSpPr>
          <p:cNvPr id="38" name="Text 35"/>
          <p:cNvSpPr txBox="1"/>
          <p:nvPr/>
        </p:nvSpPr>
        <p:spPr>
          <a:xfrm>
            <a:off x="2626614"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4</a:t>
            </a:r>
            <a:endParaRPr lang="en-US" sz="1400" dirty="0"/>
          </a:p>
        </p:txBody>
      </p:sp>
      <p:sp>
        <p:nvSpPr>
          <p:cNvPr id="39" name="Text 36"/>
          <p:cNvSpPr txBox="1"/>
          <p:nvPr/>
        </p:nvSpPr>
        <p:spPr>
          <a:xfrm>
            <a:off x="594360"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Compare</a:t>
            </a:r>
            <a:endParaRPr lang="en-US" sz="1250" dirty="0"/>
          </a:p>
        </p:txBody>
      </p:sp>
      <p:sp>
        <p:nvSpPr>
          <p:cNvPr id="40" name="Text 37"/>
          <p:cNvSpPr txBox="1"/>
          <p:nvPr/>
        </p:nvSpPr>
        <p:spPr>
          <a:xfrm>
            <a:off x="566928" y="2450592"/>
            <a:ext cx="2462022" cy="914400"/>
          </a:xfrm>
          <a:prstGeom prst="rect">
            <a:avLst/>
          </a:prstGeom>
          <a:noFill/>
          <a:ln/>
        </p:spPr>
        <p:txBody>
          <a:bodyPr wrap="square" lIns="0" tIns="0" rIns="0" bIns="0" rtlCol="0" anchor="ctr"/>
          <a:lstStyle/>
          <a:p>
            <a:pPr rtl="1" algn="ctr" indent="0" marL="0">
              <a:lnSpc>
                <a:spcPct val="120000"/>
              </a:lnSpc>
              <a:buNone/>
            </a:pPr>
            <a:r>
              <a:rPr lang="ar-SA" altLang="en-US" sz="1750" b="1" dirty="0">
                <a:solidFill>
                  <a:srgbClr val="1B3B6F"/>
                </a:solidFill>
                <a:latin typeface="Amiri" pitchFamily="2" charset="-78"/>
                <a:ea typeface="Amiri" pitchFamily="2" charset="-78"/>
                <a:cs typeface="Amiri" pitchFamily="2" charset="-78"/>
              </a:rPr>
              <a:t>القَاهِرَةُ </a:t>
            </a:r>
            <a:pPr rtl="1" algn="ctr" indent="0" marL="0">
              <a:lnSpc>
                <a:spcPct val="120000"/>
              </a:lnSpc>
              <a:buNone/>
            </a:pPr>
            <a:r>
              <a:rPr lang="ar-SA" altLang="en-US" sz="1750" b="1" dirty="0">
                <a:solidFill>
                  <a:srgbClr val="0E7C86"/>
                </a:solidFill>
                <a:latin typeface="Amiri" pitchFamily="2" charset="-78"/>
                <a:ea typeface="Amiri" pitchFamily="2" charset="-78"/>
                <a:cs typeface="Amiri" pitchFamily="2" charset="-78"/>
              </a:rPr>
              <a:t>أَكْثَرُ حَرَارَةً مِنَ</a:t>
            </a:r>
            <a:pPr rtl="1" algn="ctr" indent="0" marL="0">
              <a:lnSpc>
                <a:spcPct val="120000"/>
              </a:lnSpc>
              <a:buNone/>
            </a:pPr>
            <a:r>
              <a:rPr lang="ar-SA" altLang="en-US" sz="1750" b="1" dirty="0">
                <a:solidFill>
                  <a:srgbClr val="1B3B6F"/>
                </a:solidFill>
                <a:latin typeface="Amiri" pitchFamily="2" charset="-78"/>
                <a:ea typeface="Amiri" pitchFamily="2" charset="-78"/>
                <a:cs typeface="Amiri" pitchFamily="2" charset="-78"/>
              </a:rPr>
              <a:t> الرِّبَاطِ.</a:t>
            </a:r>
            <a:endParaRPr lang="ar-SA" sz="1750" dirty="0"/>
          </a:p>
        </p:txBody>
      </p:sp>
      <p:sp>
        <p:nvSpPr>
          <p:cNvPr id="41" name="Text 38"/>
          <p:cNvSpPr txBox="1"/>
          <p:nvPr/>
        </p:nvSpPr>
        <p:spPr>
          <a:xfrm>
            <a:off x="594360"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akthar + -an + min.</a:t>
            </a:r>
            <a:endParaRPr lang="en-US" sz="1150" dirty="0"/>
          </a:p>
        </p:txBody>
      </p:sp>
      <p:sp>
        <p:nvSpPr>
          <p:cNvPr id="42" name="Shape 39"/>
          <p:cNvSpPr/>
          <p:nvPr/>
        </p:nvSpPr>
        <p:spPr>
          <a:xfrm>
            <a:off x="457200" y="4480560"/>
            <a:ext cx="11274552" cy="1828800"/>
          </a:xfrm>
          <a:prstGeom prst="roundRect">
            <a:avLst>
              <a:gd name="adj" fmla="val 4000"/>
            </a:avLst>
          </a:prstGeom>
          <a:solidFill>
            <a:srgbClr val="F1ECF8"/>
          </a:solidFill>
          <a:ln w="9525">
            <a:solidFill>
              <a:srgbClr val="CFC2E3"/>
            </a:solidFill>
            <a:prstDash val="solid"/>
          </a:ln>
          <a:effectLst>
            <a:outerShdw sx="100000" sy="100000" kx="0" ky="0" algn="bl" rotWithShape="0" blurRad="50800" dist="19050" dir="5400000">
              <a:srgbClr val="000000">
                <a:alpha val="10000"/>
              </a:srgbClr>
            </a:outerShdw>
          </a:effectLst>
        </p:spPr>
      </p:sp>
      <p:pic>
        <p:nvPicPr>
          <p:cNvPr id="43" name="Image 0" descr="preencoded.png">    </p:cNvPr>
          <p:cNvPicPr>
            <a:picLocks noChangeAspect="1"/>
          </p:cNvPicPr>
          <p:nvPr/>
        </p:nvPicPr>
        <p:blipFill>
          <a:blip r:embed="rId1"/>
          <a:stretch>
            <a:fillRect/>
          </a:stretch>
        </p:blipFill>
        <p:spPr>
          <a:xfrm>
            <a:off x="685800" y="4663440"/>
            <a:ext cx="457200" cy="457200"/>
          </a:xfrm>
          <a:prstGeom prst="rect">
            <a:avLst/>
          </a:prstGeom>
        </p:spPr>
      </p:pic>
      <p:sp>
        <p:nvSpPr>
          <p:cNvPr id="44" name="Text 40"/>
          <p:cNvSpPr txBox="1"/>
          <p:nvPr/>
        </p:nvSpPr>
        <p:spPr>
          <a:xfrm>
            <a:off x="1280160" y="4736592"/>
            <a:ext cx="3657600" cy="310896"/>
          </a:xfrm>
          <a:prstGeom prst="rect">
            <a:avLst/>
          </a:prstGeom>
          <a:noFill/>
          <a:ln/>
        </p:spPr>
        <p:txBody>
          <a:bodyPr wrap="square" lIns="0" tIns="0" rIns="0" bIns="0" rtlCol="0" anchor="ctr"/>
          <a:lstStyle/>
          <a:p>
            <a:pPr algn="l" indent="0" marL="0">
              <a:buNone/>
            </a:pPr>
            <a:r>
              <a:rPr lang="en-US" sz="1200" b="1" spc="200" kern="0" dirty="0">
                <a:solidFill>
                  <a:srgbClr val="6B4C9A"/>
                </a:solidFill>
                <a:latin typeface="Calibri" pitchFamily="34" charset="0"/>
                <a:cs typeface="Amiri" pitchFamily="2" charset="-78"/>
              </a:rPr>
              <a:t>COPY THIS INTO YOUR BOOK</a:t>
            </a:r>
            <a:endParaRPr lang="en-US" sz="1200" dirty="0"/>
          </a:p>
        </p:txBody>
      </p:sp>
      <p:sp>
        <p:nvSpPr>
          <p:cNvPr id="45" name="Shape 41"/>
          <p:cNvSpPr/>
          <p:nvPr/>
        </p:nvSpPr>
        <p:spPr>
          <a:xfrm>
            <a:off x="8540496" y="4736592"/>
            <a:ext cx="914400" cy="237744"/>
          </a:xfrm>
          <a:prstGeom prst="roundRect">
            <a:avLst>
              <a:gd name="adj" fmla="val 50000"/>
            </a:avLst>
          </a:prstGeom>
          <a:solidFill>
            <a:srgbClr val="1D5FBF"/>
          </a:solidFill>
          <a:ln w="12700">
            <a:solidFill>
              <a:srgbClr val="1D5FBF"/>
            </a:solidFill>
            <a:prstDash val="solid"/>
          </a:ln>
        </p:spPr>
      </p:sp>
      <p:sp>
        <p:nvSpPr>
          <p:cNvPr id="46" name="Text 42"/>
          <p:cNvSpPr txBox="1"/>
          <p:nvPr/>
        </p:nvSpPr>
        <p:spPr>
          <a:xfrm>
            <a:off x="8540496"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ya- (m.)</a:t>
            </a:r>
            <a:endParaRPr lang="en-US" sz="800" dirty="0"/>
          </a:p>
        </p:txBody>
      </p:sp>
      <p:sp>
        <p:nvSpPr>
          <p:cNvPr id="47" name="Shape 43"/>
          <p:cNvSpPr/>
          <p:nvPr/>
        </p:nvSpPr>
        <p:spPr>
          <a:xfrm>
            <a:off x="9528048" y="4736592"/>
            <a:ext cx="914400" cy="237744"/>
          </a:xfrm>
          <a:prstGeom prst="roundRect">
            <a:avLst>
              <a:gd name="adj" fmla="val 50000"/>
            </a:avLst>
          </a:prstGeom>
          <a:solidFill>
            <a:srgbClr val="D6336C"/>
          </a:solidFill>
          <a:ln w="12700">
            <a:solidFill>
              <a:srgbClr val="D6336C"/>
            </a:solidFill>
            <a:prstDash val="solid"/>
          </a:ln>
        </p:spPr>
      </p:sp>
      <p:sp>
        <p:nvSpPr>
          <p:cNvPr id="48" name="Text 44"/>
          <p:cNvSpPr txBox="1"/>
          <p:nvPr/>
        </p:nvSpPr>
        <p:spPr>
          <a:xfrm>
            <a:off x="9528048"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ta- (f.)</a:t>
            </a:r>
            <a:endParaRPr lang="en-US" sz="800" dirty="0"/>
          </a:p>
        </p:txBody>
      </p:sp>
      <p:sp>
        <p:nvSpPr>
          <p:cNvPr id="49" name="Shape 45"/>
          <p:cNvSpPr/>
          <p:nvPr/>
        </p:nvSpPr>
        <p:spPr>
          <a:xfrm>
            <a:off x="10515600" y="4736592"/>
            <a:ext cx="914400" cy="237744"/>
          </a:xfrm>
          <a:prstGeom prst="roundRect">
            <a:avLst>
              <a:gd name="adj" fmla="val 50000"/>
            </a:avLst>
          </a:prstGeom>
          <a:solidFill>
            <a:srgbClr val="0E7C86"/>
          </a:solidFill>
          <a:ln w="12700">
            <a:solidFill>
              <a:srgbClr val="0E7C86"/>
            </a:solidFill>
            <a:prstDash val="solid"/>
          </a:ln>
        </p:spPr>
      </p:sp>
      <p:sp>
        <p:nvSpPr>
          <p:cNvPr id="50" name="Text 46"/>
          <p:cNvSpPr txBox="1"/>
          <p:nvPr/>
        </p:nvSpPr>
        <p:spPr>
          <a:xfrm>
            <a:off x="10515600"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COMPARISON</a:t>
            </a:r>
            <a:endParaRPr lang="en-US" sz="800" dirty="0"/>
          </a:p>
        </p:txBody>
      </p:sp>
      <p:sp>
        <p:nvSpPr>
          <p:cNvPr id="51" name="Text 47"/>
          <p:cNvSpPr txBox="1"/>
          <p:nvPr/>
        </p:nvSpPr>
        <p:spPr>
          <a:xfrm>
            <a:off x="685800" y="5029200"/>
            <a:ext cx="10817352" cy="731520"/>
          </a:xfrm>
          <a:prstGeom prst="rect">
            <a:avLst/>
          </a:prstGeom>
          <a:noFill/>
          <a:ln/>
        </p:spPr>
        <p:txBody>
          <a:bodyPr wrap="square" lIns="0" tIns="0" rIns="0" bIns="0" rtlCol="0" anchor="ctr"/>
          <a:lstStyle/>
          <a:p>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مَرْحَبًا بِكُمْ فِي النَّشْرَةِ الجَوِّيَّةِ. فِي القَاهِرَةِ </a:t>
            </a:r>
            <a:pPr rtl="1" algn="r" indent="0" marL="0">
              <a:lnSpc>
                <a:spcPct val="120000"/>
              </a:lnSpc>
              <a:buNone/>
            </a:pPr>
            <a:r>
              <a:rPr lang="ar-SA" altLang="en-US" sz="1400" b="1" dirty="0">
                <a:solidFill>
                  <a:srgbClr val="D6336C"/>
                </a:solidFill>
                <a:latin typeface="Amiri" pitchFamily="2" charset="-78"/>
                <a:ea typeface="Amiri" pitchFamily="2" charset="-78"/>
                <a:cs typeface="Amiri" pitchFamily="2" charset="-78"/>
              </a:rPr>
              <a:t>سَتُشْرِقُ</a:t>
            </a:r>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الشَّمْسُ، وَ</a:t>
            </a:r>
            <a:pPr rtl="1" algn="r" indent="0" marL="0">
              <a:lnSpc>
                <a:spcPct val="120000"/>
              </a:lnSpc>
              <a:buNone/>
            </a:pPr>
            <a:r>
              <a:rPr lang="ar-SA" altLang="en-US" sz="1400" b="1" dirty="0">
                <a:solidFill>
                  <a:srgbClr val="D6336C"/>
                </a:solidFill>
                <a:latin typeface="Amiri" pitchFamily="2" charset="-78"/>
                <a:ea typeface="Amiri" pitchFamily="2" charset="-78"/>
                <a:cs typeface="Amiri" pitchFamily="2" charset="-78"/>
              </a:rPr>
              <a:t>سَتَرْتَفِعُ</a:t>
            </a:r>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دَرَجَةُ الحَرَارَةِ إِلَى ٣٣ دَرَجَةً. وَفِي الرِّبَاطِ </a:t>
            </a:r>
            <a:pPr rtl="1" algn="r" indent="0" marL="0">
              <a:lnSpc>
                <a:spcPct val="120000"/>
              </a:lnSpc>
              <a:buNone/>
            </a:pPr>
            <a:r>
              <a:rPr lang="ar-SA" altLang="en-US" sz="1400" b="1" dirty="0">
                <a:solidFill>
                  <a:srgbClr val="1D5FBF"/>
                </a:solidFill>
                <a:latin typeface="Amiri" pitchFamily="2" charset="-78"/>
                <a:ea typeface="Amiri" pitchFamily="2" charset="-78"/>
                <a:cs typeface="Amiri" pitchFamily="2" charset="-78"/>
              </a:rPr>
              <a:t>سَيَسْقُطُ</a:t>
            </a:r>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المَطَرُ صَبَاحًا، ثُمَّ </a:t>
            </a:r>
            <a:pPr rtl="1" algn="r" indent="0" marL="0">
              <a:lnSpc>
                <a:spcPct val="120000"/>
              </a:lnSpc>
              <a:buNone/>
            </a:pPr>
            <a:r>
              <a:rPr lang="ar-SA" altLang="en-US" sz="1400" b="1" dirty="0">
                <a:solidFill>
                  <a:srgbClr val="D6336C"/>
                </a:solidFill>
                <a:latin typeface="Amiri" pitchFamily="2" charset="-78"/>
                <a:ea typeface="Amiri" pitchFamily="2" charset="-78"/>
                <a:cs typeface="Amiri" pitchFamily="2" charset="-78"/>
              </a:rPr>
              <a:t>تَهُبُّ</a:t>
            </a:r>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رِيَاحٌ قَوِيَّةٌ مَسَاءً. إِذَنْ، القَاهِرَةُ </a:t>
            </a:r>
            <a:pPr rtl="1" algn="r" indent="0" marL="0">
              <a:lnSpc>
                <a:spcPct val="120000"/>
              </a:lnSpc>
              <a:buNone/>
            </a:pPr>
            <a:r>
              <a:rPr lang="ar-SA" altLang="en-US" sz="1400" b="1" dirty="0">
                <a:solidFill>
                  <a:srgbClr val="0E7C86"/>
                </a:solidFill>
                <a:latin typeface="Amiri" pitchFamily="2" charset="-78"/>
                <a:ea typeface="Amiri" pitchFamily="2" charset="-78"/>
                <a:cs typeface="Amiri" pitchFamily="2" charset="-78"/>
              </a:rPr>
              <a:t>أَكْثَرُ حَرَارَةً مِنَ</a:t>
            </a:r>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الرِّبَاطِ اليَوْمَ.</a:t>
            </a:r>
            <a:endParaRPr lang="ar-SA" sz="1400" dirty="0"/>
          </a:p>
        </p:txBody>
      </p:sp>
      <p:sp>
        <p:nvSpPr>
          <p:cNvPr id="52" name="Text 48"/>
          <p:cNvSpPr txBox="1"/>
          <p:nvPr/>
        </p:nvSpPr>
        <p:spPr>
          <a:xfrm>
            <a:off x="685800" y="5760720"/>
            <a:ext cx="10817352" cy="365760"/>
          </a:xfrm>
          <a:prstGeom prst="rect">
            <a:avLst/>
          </a:prstGeom>
          <a:noFill/>
          <a:ln/>
        </p:spPr>
        <p:txBody>
          <a:bodyPr wrap="square" lIns="0" tIns="0" rIns="0" bIns="0" rtlCol="0" anchor="ctr"/>
          <a:lstStyle/>
          <a:p>
            <a:pPr algn="r" indent="0" marL="0">
              <a:buNone/>
            </a:pPr>
            <a:r>
              <a:rPr lang="en-US" sz="1100" i="1" dirty="0">
                <a:solidFill>
                  <a:srgbClr val="5A6472"/>
                </a:solidFill>
                <a:latin typeface="Calibri" pitchFamily="34" charset="0"/>
                <a:cs typeface="Amiri" pitchFamily="2" charset="-78"/>
              </a:rPr>
              <a:t>Welcome to the weather forecast. In Cairo the sun will shine and the temperature will rise to 33 degrees. In Rabat rain will fall in the morning, then strong winds will blow in the evening. So Cairo is hotter than Rabat today.</a:t>
            </a:r>
            <a:endParaRPr lang="en-US" sz="1100" dirty="0"/>
          </a:p>
        </p:txBody>
      </p:sp>
      <p:sp>
        <p:nvSpPr>
          <p:cNvPr id="53" name="Text 4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45</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D4-L02 · Weather</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MODEL SENTENCES FROM THE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Sentences to borrow</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جُمَلٌ نَمُوذَجِيَّةٌ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D4-L02</a:t>
            </a:r>
            <a:endParaRPr lang="en-US" sz="850" dirty="0"/>
          </a:p>
        </p:txBody>
      </p:sp>
      <p:sp>
        <p:nvSpPr>
          <p:cNvPr id="15" name="Shape 12"/>
          <p:cNvSpPr/>
          <p:nvPr/>
        </p:nvSpPr>
        <p:spPr>
          <a:xfrm>
            <a:off x="457200" y="1810512"/>
            <a:ext cx="11274552" cy="1414272"/>
          </a:xfrm>
          <a:prstGeom prst="roundRect">
            <a:avLst>
              <a:gd name="adj" fmla="val 517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01400" y="2316480"/>
            <a:ext cx="402336" cy="402336"/>
          </a:xfrm>
          <a:prstGeom prst="ellipse">
            <a:avLst/>
          </a:prstGeom>
          <a:solidFill>
            <a:srgbClr val="1B3B6F"/>
          </a:solidFill>
          <a:ln w="12700">
            <a:solidFill>
              <a:srgbClr val="1B3B6F"/>
            </a:solidFill>
            <a:prstDash val="solid"/>
          </a:ln>
        </p:spPr>
      </p:sp>
      <p:sp>
        <p:nvSpPr>
          <p:cNvPr id="17" name="Text 14"/>
          <p:cNvSpPr txBox="1"/>
          <p:nvPr/>
        </p:nvSpPr>
        <p:spPr>
          <a:xfrm>
            <a:off x="11201400" y="2316480"/>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572000" y="1847088"/>
            <a:ext cx="6492240" cy="1341120"/>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يَسْقُطُ المَطَرُ.</a:t>
            </a:r>
            <a:endParaRPr lang="ar-SA" sz="2600" dirty="0"/>
          </a:p>
        </p:txBody>
      </p:sp>
      <p:sp>
        <p:nvSpPr>
          <p:cNvPr id="19" name="Text 16"/>
          <p:cNvSpPr txBox="1"/>
          <p:nvPr/>
        </p:nvSpPr>
        <p:spPr>
          <a:xfrm>
            <a:off x="685800" y="1856232"/>
            <a:ext cx="3749040" cy="1322832"/>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It rains (rain falls).</a:t>
            </a:r>
            <a:endParaRPr lang="en-US" sz="1250" dirty="0"/>
          </a:p>
          <a:p>
            <a:pPr indent="0" marL="0">
              <a:buNone/>
            </a:pPr>
            <a:r>
              <a:rPr lang="ar-SA" sz="1050" i="1" dirty="0">
                <a:solidFill>
                  <a:srgbClr val="8A6D1E"/>
                </a:solidFill>
                <a:latin typeface="Calibri" pitchFamily="34" charset="0"/>
                <a:ea typeface="Amiri" pitchFamily="2" charset="-78"/>
                <a:cs typeface="Amiri" pitchFamily="2" charset="-78"/>
              </a:rPr>
              <a:t>The verb agrees with the named phenomenon: المطر masculine; الثلوج and الرياح treated as feminine.</a:t>
            </a:r>
            <a:endParaRPr lang="en-US" sz="1250" dirty="0"/>
          </a:p>
        </p:txBody>
      </p:sp>
      <p:sp>
        <p:nvSpPr>
          <p:cNvPr id="20" name="Shape 17"/>
          <p:cNvSpPr/>
          <p:nvPr/>
        </p:nvSpPr>
        <p:spPr>
          <a:xfrm>
            <a:off x="457200" y="3352800"/>
            <a:ext cx="11274552" cy="1414272"/>
          </a:xfrm>
          <a:prstGeom prst="roundRect">
            <a:avLst>
              <a:gd name="adj" fmla="val 517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201400" y="3858768"/>
            <a:ext cx="402336" cy="402336"/>
          </a:xfrm>
          <a:prstGeom prst="ellipse">
            <a:avLst/>
          </a:prstGeom>
          <a:solidFill>
            <a:srgbClr val="1B3B6F"/>
          </a:solidFill>
          <a:ln w="12700">
            <a:solidFill>
              <a:srgbClr val="1B3B6F"/>
            </a:solidFill>
            <a:prstDash val="solid"/>
          </a:ln>
        </p:spPr>
      </p:sp>
      <p:sp>
        <p:nvSpPr>
          <p:cNvPr id="22" name="Text 19"/>
          <p:cNvSpPr txBox="1"/>
          <p:nvPr/>
        </p:nvSpPr>
        <p:spPr>
          <a:xfrm>
            <a:off x="11201400" y="385876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572000" y="3389376"/>
            <a:ext cx="6492240" cy="1341120"/>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تَرْتَفِعُ دَرَجَةُ الحَرَارَةِ إِلَى ثَلَاثِينَ دَرَجَةً.</a:t>
            </a:r>
            <a:endParaRPr lang="ar-SA" sz="2600" dirty="0"/>
          </a:p>
        </p:txBody>
      </p:sp>
      <p:sp>
        <p:nvSpPr>
          <p:cNvPr id="24" name="Text 21"/>
          <p:cNvSpPr txBox="1"/>
          <p:nvPr/>
        </p:nvSpPr>
        <p:spPr>
          <a:xfrm>
            <a:off x="685800" y="3398520"/>
            <a:ext cx="3749040" cy="1322832"/>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The temperature rises to thirty degrees.</a:t>
            </a:r>
            <a:endParaRPr lang="en-US" sz="1250" dirty="0"/>
          </a:p>
          <a:p>
            <a:pPr indent="0" marL="0">
              <a:buNone/>
            </a:pPr>
            <a:r>
              <a:rPr lang="ar-SA" sz="1050" i="1" dirty="0">
                <a:solidFill>
                  <a:srgbClr val="8A6D1E"/>
                </a:solidFill>
                <a:latin typeface="Calibri" pitchFamily="34" charset="0"/>
                <a:ea typeface="Amiri" pitchFamily="2" charset="-78"/>
                <a:cs typeface="Amiri" pitchFamily="2" charset="-78"/>
              </a:rPr>
              <a:t>درجة الحرارة is feminine, so use ترتفع and تنخفض.</a:t>
            </a:r>
            <a:endParaRPr lang="en-US" sz="1250" dirty="0"/>
          </a:p>
        </p:txBody>
      </p:sp>
      <p:sp>
        <p:nvSpPr>
          <p:cNvPr id="25" name="Shape 22"/>
          <p:cNvSpPr/>
          <p:nvPr/>
        </p:nvSpPr>
        <p:spPr>
          <a:xfrm>
            <a:off x="457200" y="4895088"/>
            <a:ext cx="11274552" cy="1414272"/>
          </a:xfrm>
          <a:prstGeom prst="roundRect">
            <a:avLst>
              <a:gd name="adj" fmla="val 517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201400" y="5401056"/>
            <a:ext cx="402336" cy="402336"/>
          </a:xfrm>
          <a:prstGeom prst="ellipse">
            <a:avLst/>
          </a:prstGeom>
          <a:solidFill>
            <a:srgbClr val="1B3B6F"/>
          </a:solidFill>
          <a:ln w="12700">
            <a:solidFill>
              <a:srgbClr val="1B3B6F"/>
            </a:solidFill>
            <a:prstDash val="solid"/>
          </a:ln>
        </p:spPr>
      </p:sp>
      <p:sp>
        <p:nvSpPr>
          <p:cNvPr id="27" name="Text 24"/>
          <p:cNvSpPr txBox="1"/>
          <p:nvPr/>
        </p:nvSpPr>
        <p:spPr>
          <a:xfrm>
            <a:off x="11201400" y="540105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572000" y="4931664"/>
            <a:ext cx="6492240" cy="1341120"/>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القَاهِرَةُ أَكْثَرُ حَرَارَةً مِنْ لَنْدَنَ.</a:t>
            </a:r>
            <a:endParaRPr lang="ar-SA" sz="2600" dirty="0"/>
          </a:p>
        </p:txBody>
      </p:sp>
      <p:sp>
        <p:nvSpPr>
          <p:cNvPr id="29" name="Text 26"/>
          <p:cNvSpPr txBox="1"/>
          <p:nvPr/>
        </p:nvSpPr>
        <p:spPr>
          <a:xfrm>
            <a:off x="685800" y="4940808"/>
            <a:ext cx="3749040" cy="1322832"/>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Cairo is hotter than London.</a:t>
            </a:r>
            <a:endParaRPr lang="en-US" sz="1250" dirty="0"/>
          </a:p>
          <a:p>
            <a:pPr indent="0" marL="0">
              <a:buNone/>
            </a:pPr>
            <a:r>
              <a:rPr lang="ar-SA" sz="1050" i="1" dirty="0">
                <a:solidFill>
                  <a:srgbClr val="8A6D1E"/>
                </a:solidFill>
                <a:latin typeface="Calibri" pitchFamily="34" charset="0"/>
                <a:ea typeface="Amiri" pitchFamily="2" charset="-78"/>
                <a:cs typeface="Amiri" pitchFamily="2" charset="-78"/>
              </a:rPr>
              <a:t>Use a comparison noun such as حرارةً، برودةً، رطوبةً.</a:t>
            </a:r>
            <a:endParaRPr lang="en-US" sz="125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45</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D4-L02 · Weather</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00" b="1" spc="150" kern="0" dirty="0">
                <a:solidFill>
                  <a:srgbClr val="2F6FB0"/>
                </a:solidFill>
                <a:latin typeface="Calibri" pitchFamily="34" charset="0"/>
                <a:cs typeface="Amiri" pitchFamily="2" charset="-78"/>
              </a:rPr>
              <a:t>WE DO · PICTURE MATCH · WEBSITE GAME “VISUAL GAME — WEATHER PATTERNS — DESCRIBING AND COMPARING WEATHER”</a:t>
            </a:r>
            <a:endParaRPr lang="en-US" sz="8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100" b="1" dirty="0">
                <a:solidFill>
                  <a:srgbClr val="1B3B6F"/>
                </a:solidFill>
                <a:latin typeface="Cambria" pitchFamily="34" charset="0"/>
                <a:cs typeface="Amiri" pitchFamily="2" charset="-78"/>
              </a:rPr>
              <a:t>What is the weather like? Match the picture</a:t>
            </a:r>
            <a:endParaRPr lang="en-US" sz="21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نَافِذَةُ الطَّقْسِ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D4-L02</a:t>
            </a:r>
            <a:endParaRPr lang="en-US" sz="850" dirty="0"/>
          </a:p>
        </p:txBody>
      </p:sp>
      <p:sp>
        <p:nvSpPr>
          <p:cNvPr id="15" name="Shape 12"/>
          <p:cNvSpPr/>
          <p:nvPr/>
        </p:nvSpPr>
        <p:spPr>
          <a:xfrm>
            <a:off x="8095488"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23504" y="1938528"/>
            <a:ext cx="365760" cy="365760"/>
          </a:xfrm>
          <a:prstGeom prst="ellipse">
            <a:avLst/>
          </a:prstGeom>
          <a:solidFill>
            <a:srgbClr val="1B3B6F"/>
          </a:solidFill>
          <a:ln w="12700">
            <a:solidFill>
              <a:srgbClr val="1B3B6F"/>
            </a:solidFill>
            <a:prstDash val="solid"/>
          </a:ln>
        </p:spPr>
      </p:sp>
      <p:sp>
        <p:nvSpPr>
          <p:cNvPr id="17" name="Text 14"/>
          <p:cNvSpPr txBox="1"/>
          <p:nvPr/>
        </p:nvSpPr>
        <p:spPr>
          <a:xfrm>
            <a:off x="8223504"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Shape 15"/>
          <p:cNvSpPr/>
          <p:nvPr/>
        </p:nvSpPr>
        <p:spPr>
          <a:xfrm>
            <a:off x="8811768" y="2066544"/>
            <a:ext cx="1014984" cy="1014984"/>
          </a:xfrm>
          <a:prstGeom prst="ellipse">
            <a:avLst/>
          </a:prstGeom>
          <a:solidFill>
            <a:srgbClr val="F4F1EA"/>
          </a:solidFill>
          <a:ln w="12700">
            <a:solidFill>
              <a:srgbClr val="F4F1EA"/>
            </a:solidFill>
            <a:prstDash val="solid"/>
          </a:ln>
        </p:spPr>
      </p:sp>
      <p:pic>
        <p:nvPicPr>
          <p:cNvPr id="19" name="Image 0" descr="preencoded.png">    </p:cNvPr>
          <p:cNvPicPr>
            <a:picLocks noChangeAspect="1"/>
          </p:cNvPicPr>
          <p:nvPr/>
        </p:nvPicPr>
        <p:blipFill>
          <a:blip r:embed="rId1"/>
          <a:stretch>
            <a:fillRect/>
          </a:stretch>
        </p:blipFill>
        <p:spPr>
          <a:xfrm>
            <a:off x="8994648" y="2249424"/>
            <a:ext cx="649224" cy="649224"/>
          </a:xfrm>
          <a:prstGeom prst="rect">
            <a:avLst/>
          </a:prstGeom>
        </p:spPr>
      </p:pic>
      <p:sp>
        <p:nvSpPr>
          <p:cNvPr id="20" name="Shape 16"/>
          <p:cNvSpPr/>
          <p:nvPr/>
        </p:nvSpPr>
        <p:spPr>
          <a:xfrm>
            <a:off x="10000488" y="2066544"/>
            <a:ext cx="1014984" cy="1014984"/>
          </a:xfrm>
          <a:prstGeom prst="ellipse">
            <a:avLst/>
          </a:prstGeom>
          <a:solidFill>
            <a:srgbClr val="F4F1EA"/>
          </a:solidFill>
          <a:ln w="12700">
            <a:solidFill>
              <a:srgbClr val="F4F1EA"/>
            </a:solidFill>
            <a:prstDash val="solid"/>
          </a:ln>
        </p:spPr>
      </p:sp>
      <p:pic>
        <p:nvPicPr>
          <p:cNvPr id="21" name="Image 1" descr="preencoded.png">    </p:cNvPr>
          <p:cNvPicPr>
            <a:picLocks noChangeAspect="1"/>
          </p:cNvPicPr>
          <p:nvPr/>
        </p:nvPicPr>
        <p:blipFill>
          <a:blip r:embed="rId2"/>
          <a:stretch>
            <a:fillRect/>
          </a:stretch>
        </p:blipFill>
        <p:spPr>
          <a:xfrm>
            <a:off x="10183368" y="2249424"/>
            <a:ext cx="649224" cy="649224"/>
          </a:xfrm>
          <a:prstGeom prst="rect">
            <a:avLst/>
          </a:prstGeom>
        </p:spPr>
      </p:pic>
      <p:sp>
        <p:nvSpPr>
          <p:cNvPr id="22" name="Text 17"/>
          <p:cNvSpPr txBox="1"/>
          <p:nvPr/>
        </p:nvSpPr>
        <p:spPr>
          <a:xfrm>
            <a:off x="8232648"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sun · heat</a:t>
            </a:r>
            <a:endParaRPr lang="en-US" sz="1100" dirty="0"/>
          </a:p>
        </p:txBody>
      </p:sp>
      <p:sp>
        <p:nvSpPr>
          <p:cNvPr id="23" name="Shape 18"/>
          <p:cNvSpPr/>
          <p:nvPr/>
        </p:nvSpPr>
        <p:spPr>
          <a:xfrm>
            <a:off x="4276344"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4404360" y="1938528"/>
            <a:ext cx="365760" cy="365760"/>
          </a:xfrm>
          <a:prstGeom prst="ellipse">
            <a:avLst/>
          </a:prstGeom>
          <a:solidFill>
            <a:srgbClr val="1B3B6F"/>
          </a:solidFill>
          <a:ln w="12700">
            <a:solidFill>
              <a:srgbClr val="1B3B6F"/>
            </a:solidFill>
            <a:prstDash val="solid"/>
          </a:ln>
        </p:spPr>
      </p:sp>
      <p:sp>
        <p:nvSpPr>
          <p:cNvPr id="25" name="Text 20"/>
          <p:cNvSpPr txBox="1"/>
          <p:nvPr/>
        </p:nvSpPr>
        <p:spPr>
          <a:xfrm>
            <a:off x="4404360"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26" name="Shape 21"/>
          <p:cNvSpPr/>
          <p:nvPr/>
        </p:nvSpPr>
        <p:spPr>
          <a:xfrm>
            <a:off x="4992624" y="2066544"/>
            <a:ext cx="1014984" cy="1014984"/>
          </a:xfrm>
          <a:prstGeom prst="ellipse">
            <a:avLst/>
          </a:prstGeom>
          <a:solidFill>
            <a:srgbClr val="F4F1EA"/>
          </a:solidFill>
          <a:ln w="12700">
            <a:solidFill>
              <a:srgbClr val="F4F1EA"/>
            </a:solidFill>
            <a:prstDash val="solid"/>
          </a:ln>
        </p:spPr>
      </p:sp>
      <p:pic>
        <p:nvPicPr>
          <p:cNvPr id="27" name="Image 2" descr="preencoded.png">    </p:cNvPr>
          <p:cNvPicPr>
            <a:picLocks noChangeAspect="1"/>
          </p:cNvPicPr>
          <p:nvPr/>
        </p:nvPicPr>
        <p:blipFill>
          <a:blip r:embed="rId3"/>
          <a:stretch>
            <a:fillRect/>
          </a:stretch>
        </p:blipFill>
        <p:spPr>
          <a:xfrm>
            <a:off x="5175504" y="2249424"/>
            <a:ext cx="649224" cy="649224"/>
          </a:xfrm>
          <a:prstGeom prst="rect">
            <a:avLst/>
          </a:prstGeom>
        </p:spPr>
      </p:pic>
      <p:sp>
        <p:nvSpPr>
          <p:cNvPr id="28" name="Shape 22"/>
          <p:cNvSpPr/>
          <p:nvPr/>
        </p:nvSpPr>
        <p:spPr>
          <a:xfrm>
            <a:off x="6181344" y="2066544"/>
            <a:ext cx="1014984" cy="1014984"/>
          </a:xfrm>
          <a:prstGeom prst="ellipse">
            <a:avLst/>
          </a:prstGeom>
          <a:solidFill>
            <a:srgbClr val="F4F1EA"/>
          </a:solidFill>
          <a:ln w="12700">
            <a:solidFill>
              <a:srgbClr val="F4F1EA"/>
            </a:solidFill>
            <a:prstDash val="solid"/>
          </a:ln>
        </p:spPr>
      </p:sp>
      <p:pic>
        <p:nvPicPr>
          <p:cNvPr id="29" name="Image 3" descr="preencoded.png">    </p:cNvPr>
          <p:cNvPicPr>
            <a:picLocks noChangeAspect="1"/>
          </p:cNvPicPr>
          <p:nvPr/>
        </p:nvPicPr>
        <p:blipFill>
          <a:blip r:embed="rId4"/>
          <a:stretch>
            <a:fillRect/>
          </a:stretch>
        </p:blipFill>
        <p:spPr>
          <a:xfrm>
            <a:off x="6364224" y="2249424"/>
            <a:ext cx="649224" cy="649224"/>
          </a:xfrm>
          <a:prstGeom prst="rect">
            <a:avLst/>
          </a:prstGeom>
        </p:spPr>
      </p:pic>
      <p:sp>
        <p:nvSpPr>
          <p:cNvPr id="30" name="Text 23"/>
          <p:cNvSpPr txBox="1"/>
          <p:nvPr/>
        </p:nvSpPr>
        <p:spPr>
          <a:xfrm>
            <a:off x="4413504"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rain · umbrella</a:t>
            </a:r>
            <a:endParaRPr lang="en-US" sz="1100" dirty="0"/>
          </a:p>
        </p:txBody>
      </p:sp>
      <p:sp>
        <p:nvSpPr>
          <p:cNvPr id="31" name="Shape 24"/>
          <p:cNvSpPr/>
          <p:nvPr/>
        </p:nvSpPr>
        <p:spPr>
          <a:xfrm>
            <a:off x="457200"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5"/>
          <p:cNvSpPr/>
          <p:nvPr/>
        </p:nvSpPr>
        <p:spPr>
          <a:xfrm>
            <a:off x="585216" y="1938528"/>
            <a:ext cx="365760" cy="365760"/>
          </a:xfrm>
          <a:prstGeom prst="ellipse">
            <a:avLst/>
          </a:prstGeom>
          <a:solidFill>
            <a:srgbClr val="1B3B6F"/>
          </a:solidFill>
          <a:ln w="12700">
            <a:solidFill>
              <a:srgbClr val="1B3B6F"/>
            </a:solidFill>
            <a:prstDash val="solid"/>
          </a:ln>
        </p:spPr>
      </p:sp>
      <p:sp>
        <p:nvSpPr>
          <p:cNvPr id="33" name="Text 26"/>
          <p:cNvSpPr txBox="1"/>
          <p:nvPr/>
        </p:nvSpPr>
        <p:spPr>
          <a:xfrm>
            <a:off x="585216"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34" name="Shape 27"/>
          <p:cNvSpPr/>
          <p:nvPr/>
        </p:nvSpPr>
        <p:spPr>
          <a:xfrm>
            <a:off x="1173480" y="2066544"/>
            <a:ext cx="1014984" cy="1014984"/>
          </a:xfrm>
          <a:prstGeom prst="ellipse">
            <a:avLst/>
          </a:prstGeom>
          <a:solidFill>
            <a:srgbClr val="F4F1EA"/>
          </a:solidFill>
          <a:ln w="12700">
            <a:solidFill>
              <a:srgbClr val="F4F1EA"/>
            </a:solidFill>
            <a:prstDash val="solid"/>
          </a:ln>
        </p:spPr>
      </p:sp>
      <p:pic>
        <p:nvPicPr>
          <p:cNvPr id="35" name="Image 4" descr="preencoded.png">    </p:cNvPr>
          <p:cNvPicPr>
            <a:picLocks noChangeAspect="1"/>
          </p:cNvPicPr>
          <p:nvPr/>
        </p:nvPicPr>
        <p:blipFill>
          <a:blip r:embed="rId5"/>
          <a:stretch>
            <a:fillRect/>
          </a:stretch>
        </p:blipFill>
        <p:spPr>
          <a:xfrm>
            <a:off x="1356360" y="2249424"/>
            <a:ext cx="649224" cy="649224"/>
          </a:xfrm>
          <a:prstGeom prst="rect">
            <a:avLst/>
          </a:prstGeom>
        </p:spPr>
      </p:pic>
      <p:sp>
        <p:nvSpPr>
          <p:cNvPr id="36" name="Shape 28"/>
          <p:cNvSpPr/>
          <p:nvPr/>
        </p:nvSpPr>
        <p:spPr>
          <a:xfrm>
            <a:off x="2362200" y="2066544"/>
            <a:ext cx="1014984" cy="1014984"/>
          </a:xfrm>
          <a:prstGeom prst="ellipse">
            <a:avLst/>
          </a:prstGeom>
          <a:solidFill>
            <a:srgbClr val="F4F1EA"/>
          </a:solidFill>
          <a:ln w="12700">
            <a:solidFill>
              <a:srgbClr val="F4F1EA"/>
            </a:solidFill>
            <a:prstDash val="solid"/>
          </a:ln>
        </p:spPr>
      </p:sp>
      <p:pic>
        <p:nvPicPr>
          <p:cNvPr id="37" name="Image 5" descr="preencoded.png">    </p:cNvPr>
          <p:cNvPicPr>
            <a:picLocks noChangeAspect="1"/>
          </p:cNvPicPr>
          <p:nvPr/>
        </p:nvPicPr>
        <p:blipFill>
          <a:blip r:embed="rId6"/>
          <a:stretch>
            <a:fillRect/>
          </a:stretch>
        </p:blipFill>
        <p:spPr>
          <a:xfrm>
            <a:off x="2545080" y="2249424"/>
            <a:ext cx="649224" cy="649224"/>
          </a:xfrm>
          <a:prstGeom prst="rect">
            <a:avLst/>
          </a:prstGeom>
        </p:spPr>
      </p:pic>
      <p:sp>
        <p:nvSpPr>
          <p:cNvPr id="38" name="Text 29"/>
          <p:cNvSpPr txBox="1"/>
          <p:nvPr/>
        </p:nvSpPr>
        <p:spPr>
          <a:xfrm>
            <a:off x="594360"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snow · cold</a:t>
            </a:r>
            <a:endParaRPr lang="en-US" sz="1100" dirty="0"/>
          </a:p>
        </p:txBody>
      </p:sp>
      <p:sp>
        <p:nvSpPr>
          <p:cNvPr id="39" name="Shape 30"/>
          <p:cNvSpPr/>
          <p:nvPr/>
        </p:nvSpPr>
        <p:spPr>
          <a:xfrm>
            <a:off x="457200" y="3730752"/>
            <a:ext cx="11274552" cy="493776"/>
          </a:xfrm>
          <a:prstGeom prst="roundRect">
            <a:avLst>
              <a:gd name="adj" fmla="val 11111"/>
            </a:avLst>
          </a:prstGeom>
          <a:solidFill>
            <a:srgbClr val="EEF3FA"/>
          </a:solidFill>
          <a:ln w="9525">
            <a:solidFill>
              <a:srgbClr val="C9D6EA"/>
            </a:solidFill>
            <a:prstDash val="solid"/>
          </a:ln>
        </p:spPr>
      </p:sp>
      <p:sp>
        <p:nvSpPr>
          <p:cNvPr id="40" name="Shape 31"/>
          <p:cNvSpPr/>
          <p:nvPr/>
        </p:nvSpPr>
        <p:spPr>
          <a:xfrm>
            <a:off x="11247120" y="3831336"/>
            <a:ext cx="292608" cy="292608"/>
          </a:xfrm>
          <a:prstGeom prst="ellipse">
            <a:avLst/>
          </a:prstGeom>
          <a:solidFill>
            <a:srgbClr val="2F6FB0"/>
          </a:solidFill>
          <a:ln w="12700">
            <a:solidFill>
              <a:srgbClr val="2F6FB0"/>
            </a:solidFill>
            <a:prstDash val="solid"/>
          </a:ln>
        </p:spPr>
      </p:sp>
      <p:sp>
        <p:nvSpPr>
          <p:cNvPr id="41" name="Text 32"/>
          <p:cNvSpPr txBox="1"/>
          <p:nvPr/>
        </p:nvSpPr>
        <p:spPr>
          <a:xfrm>
            <a:off x="11247120" y="3831336"/>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A</a:t>
            </a:r>
            <a:endParaRPr lang="en-US" sz="1000" dirty="0"/>
          </a:p>
        </p:txBody>
      </p:sp>
      <p:sp>
        <p:nvSpPr>
          <p:cNvPr id="42" name="Text 33"/>
          <p:cNvSpPr txBox="1"/>
          <p:nvPr/>
        </p:nvSpPr>
        <p:spPr>
          <a:xfrm>
            <a:off x="731520" y="3730752"/>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الجَوُّ بَارِدٌ وَمُثْلِجٌ.</a:t>
            </a:r>
            <a:endParaRPr lang="ar-SA" sz="2000" dirty="0"/>
          </a:p>
        </p:txBody>
      </p:sp>
      <p:sp>
        <p:nvSpPr>
          <p:cNvPr id="43" name="Shape 34"/>
          <p:cNvSpPr/>
          <p:nvPr/>
        </p:nvSpPr>
        <p:spPr>
          <a:xfrm>
            <a:off x="457200" y="4297680"/>
            <a:ext cx="11274552" cy="493776"/>
          </a:xfrm>
          <a:prstGeom prst="roundRect">
            <a:avLst>
              <a:gd name="adj" fmla="val 11111"/>
            </a:avLst>
          </a:prstGeom>
          <a:solidFill>
            <a:srgbClr val="EEF3FA"/>
          </a:solidFill>
          <a:ln w="9525">
            <a:solidFill>
              <a:srgbClr val="C9D6EA"/>
            </a:solidFill>
            <a:prstDash val="solid"/>
          </a:ln>
        </p:spPr>
      </p:sp>
      <p:sp>
        <p:nvSpPr>
          <p:cNvPr id="44" name="Shape 35"/>
          <p:cNvSpPr/>
          <p:nvPr/>
        </p:nvSpPr>
        <p:spPr>
          <a:xfrm>
            <a:off x="11247120" y="4398264"/>
            <a:ext cx="292608" cy="292608"/>
          </a:xfrm>
          <a:prstGeom prst="ellipse">
            <a:avLst/>
          </a:prstGeom>
          <a:solidFill>
            <a:srgbClr val="2F6FB0"/>
          </a:solidFill>
          <a:ln w="12700">
            <a:solidFill>
              <a:srgbClr val="2F6FB0"/>
            </a:solidFill>
            <a:prstDash val="solid"/>
          </a:ln>
        </p:spPr>
      </p:sp>
      <p:sp>
        <p:nvSpPr>
          <p:cNvPr id="45" name="Text 36"/>
          <p:cNvSpPr txBox="1"/>
          <p:nvPr/>
        </p:nvSpPr>
        <p:spPr>
          <a:xfrm>
            <a:off x="11247120" y="4398264"/>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B</a:t>
            </a:r>
            <a:endParaRPr lang="en-US" sz="1000" dirty="0"/>
          </a:p>
        </p:txBody>
      </p:sp>
      <p:sp>
        <p:nvSpPr>
          <p:cNvPr id="46" name="Text 37"/>
          <p:cNvSpPr txBox="1"/>
          <p:nvPr/>
        </p:nvSpPr>
        <p:spPr>
          <a:xfrm>
            <a:off x="731520" y="4297680"/>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الجَوُّ مُشْمِسٌ.</a:t>
            </a:r>
            <a:endParaRPr lang="ar-SA" sz="2000" dirty="0"/>
          </a:p>
        </p:txBody>
      </p:sp>
      <p:sp>
        <p:nvSpPr>
          <p:cNvPr id="47" name="Shape 38"/>
          <p:cNvSpPr/>
          <p:nvPr/>
        </p:nvSpPr>
        <p:spPr>
          <a:xfrm>
            <a:off x="457200" y="4864608"/>
            <a:ext cx="11274552" cy="493776"/>
          </a:xfrm>
          <a:prstGeom prst="roundRect">
            <a:avLst>
              <a:gd name="adj" fmla="val 11111"/>
            </a:avLst>
          </a:prstGeom>
          <a:solidFill>
            <a:srgbClr val="EEF3FA"/>
          </a:solidFill>
          <a:ln w="9525">
            <a:solidFill>
              <a:srgbClr val="C9D6EA"/>
            </a:solidFill>
            <a:prstDash val="solid"/>
          </a:ln>
        </p:spPr>
      </p:sp>
      <p:sp>
        <p:nvSpPr>
          <p:cNvPr id="48" name="Shape 39"/>
          <p:cNvSpPr/>
          <p:nvPr/>
        </p:nvSpPr>
        <p:spPr>
          <a:xfrm>
            <a:off x="11247120" y="4965192"/>
            <a:ext cx="292608" cy="292608"/>
          </a:xfrm>
          <a:prstGeom prst="ellipse">
            <a:avLst/>
          </a:prstGeom>
          <a:solidFill>
            <a:srgbClr val="2F6FB0"/>
          </a:solidFill>
          <a:ln w="12700">
            <a:solidFill>
              <a:srgbClr val="2F6FB0"/>
            </a:solidFill>
            <a:prstDash val="solid"/>
          </a:ln>
        </p:spPr>
      </p:sp>
      <p:sp>
        <p:nvSpPr>
          <p:cNvPr id="49" name="Text 40"/>
          <p:cNvSpPr txBox="1"/>
          <p:nvPr/>
        </p:nvSpPr>
        <p:spPr>
          <a:xfrm>
            <a:off x="11247120" y="496519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C</a:t>
            </a:r>
            <a:endParaRPr lang="en-US" sz="1000" dirty="0"/>
          </a:p>
        </p:txBody>
      </p:sp>
      <p:sp>
        <p:nvSpPr>
          <p:cNvPr id="50" name="Text 41"/>
          <p:cNvSpPr txBox="1"/>
          <p:nvPr/>
        </p:nvSpPr>
        <p:spPr>
          <a:xfrm>
            <a:off x="731520" y="4864608"/>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الجَوُّ مُمْطِرٌ.</a:t>
            </a:r>
            <a:endParaRPr lang="ar-SA" sz="2000" dirty="0"/>
          </a:p>
        </p:txBody>
      </p:sp>
      <p:sp>
        <p:nvSpPr>
          <p:cNvPr id="51" name="Text 42"/>
          <p:cNvSpPr txBox="1"/>
          <p:nvPr/>
        </p:nvSpPr>
        <p:spPr>
          <a:xfrm>
            <a:off x="457200" y="5468112"/>
            <a:ext cx="11274552" cy="365760"/>
          </a:xfrm>
          <a:prstGeom prst="rect">
            <a:avLst/>
          </a:prstGeom>
          <a:noFill/>
          <a:ln/>
        </p:spPr>
        <p:txBody>
          <a:bodyPr wrap="square" lIns="0" tIns="0" rIns="0" bIns="0" rtlCol="0" anchor="ctr"/>
          <a:lstStyle/>
          <a:p>
            <a:pPr algn="l" indent="0" marL="0">
              <a:buNone/>
            </a:pPr>
            <a:r>
              <a:rPr lang="en-US" sz="1250" b="1" dirty="0">
                <a:solidFill>
                  <a:srgbClr val="2F6FB0"/>
                </a:solidFill>
                <a:latin typeface="Calibri" pitchFamily="34" charset="0"/>
                <a:cs typeface="Amiri" pitchFamily="2" charset="-78"/>
              </a:rPr>
              <a:t>Match each picture to a sentence. Type in the chat: 1_  2_  3_</a:t>
            </a:r>
            <a:endParaRPr lang="en-US" sz="1250" dirty="0"/>
          </a:p>
        </p:txBody>
      </p:sp>
      <p:sp>
        <p:nvSpPr>
          <p:cNvPr id="52" name="Text 43"/>
          <p:cNvSpPr txBox="1"/>
          <p:nvPr/>
        </p:nvSpPr>
        <p:spPr>
          <a:xfrm>
            <a:off x="457200" y="5852160"/>
            <a:ext cx="11274552" cy="365760"/>
          </a:xfrm>
          <a:prstGeom prst="rect">
            <a:avLst/>
          </a:prstGeom>
          <a:noFill/>
          <a:ln/>
        </p:spPr>
        <p:txBody>
          <a:bodyPr wrap="square" lIns="0" tIns="0" rIns="0" bIns="0" rtlCol="0" anchor="ctr"/>
          <a:lstStyle/>
          <a:p>
            <a:pPr algn="l" indent="0" marL="0">
              <a:buNone/>
            </a:pPr>
            <a:r>
              <a:rPr lang="en-US" sz="1150" i="1" dirty="0">
                <a:solidFill>
                  <a:srgbClr val="5A6472"/>
                </a:solidFill>
                <a:latin typeface="Calibri" pitchFamily="34" charset="0"/>
                <a:cs typeface="Amiri" pitchFamily="2" charset="-78"/>
              </a:rPr>
              <a:t>Core: find ONE key word you know in each sentence first.</a:t>
            </a:r>
            <a:endParaRPr lang="en-US" sz="1150" dirty="0"/>
          </a:p>
        </p:txBody>
      </p:sp>
      <p:sp>
        <p:nvSpPr>
          <p:cNvPr id="53" name="Text 4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45</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D4-L02 · Weather</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PICTURE MATCH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Picture match: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نَافِذَةُ الطَّقْسِ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D4-L02</a:t>
            </a:r>
            <a:endParaRPr lang="en-US" sz="850" dirty="0"/>
          </a:p>
        </p:txBody>
      </p:sp>
      <p:sp>
        <p:nvSpPr>
          <p:cNvPr id="15" name="Shape 12"/>
          <p:cNvSpPr/>
          <p:nvPr/>
        </p:nvSpPr>
        <p:spPr>
          <a:xfrm>
            <a:off x="8095488"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23504" y="1938528"/>
            <a:ext cx="365760" cy="365760"/>
          </a:xfrm>
          <a:prstGeom prst="ellipse">
            <a:avLst/>
          </a:prstGeom>
          <a:solidFill>
            <a:srgbClr val="1B3B6F"/>
          </a:solidFill>
          <a:ln w="12700">
            <a:solidFill>
              <a:srgbClr val="1B3B6F"/>
            </a:solidFill>
            <a:prstDash val="solid"/>
          </a:ln>
        </p:spPr>
      </p:sp>
      <p:sp>
        <p:nvSpPr>
          <p:cNvPr id="17" name="Text 14"/>
          <p:cNvSpPr txBox="1"/>
          <p:nvPr/>
        </p:nvSpPr>
        <p:spPr>
          <a:xfrm>
            <a:off x="8223504"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Shape 15"/>
          <p:cNvSpPr/>
          <p:nvPr/>
        </p:nvSpPr>
        <p:spPr>
          <a:xfrm>
            <a:off x="8811768" y="2066544"/>
            <a:ext cx="1014984" cy="1014984"/>
          </a:xfrm>
          <a:prstGeom prst="ellipse">
            <a:avLst/>
          </a:prstGeom>
          <a:solidFill>
            <a:srgbClr val="F4F1EA"/>
          </a:solidFill>
          <a:ln w="12700">
            <a:solidFill>
              <a:srgbClr val="F4F1EA"/>
            </a:solidFill>
            <a:prstDash val="solid"/>
          </a:ln>
        </p:spPr>
      </p:sp>
      <p:pic>
        <p:nvPicPr>
          <p:cNvPr id="19" name="Image 0" descr="preencoded.png">    </p:cNvPr>
          <p:cNvPicPr>
            <a:picLocks noChangeAspect="1"/>
          </p:cNvPicPr>
          <p:nvPr/>
        </p:nvPicPr>
        <p:blipFill>
          <a:blip r:embed="rId1"/>
          <a:stretch>
            <a:fillRect/>
          </a:stretch>
        </p:blipFill>
        <p:spPr>
          <a:xfrm>
            <a:off x="8994648" y="2249424"/>
            <a:ext cx="649224" cy="649224"/>
          </a:xfrm>
          <a:prstGeom prst="rect">
            <a:avLst/>
          </a:prstGeom>
        </p:spPr>
      </p:pic>
      <p:sp>
        <p:nvSpPr>
          <p:cNvPr id="20" name="Shape 16"/>
          <p:cNvSpPr/>
          <p:nvPr/>
        </p:nvSpPr>
        <p:spPr>
          <a:xfrm>
            <a:off x="10000488" y="2066544"/>
            <a:ext cx="1014984" cy="1014984"/>
          </a:xfrm>
          <a:prstGeom prst="ellipse">
            <a:avLst/>
          </a:prstGeom>
          <a:solidFill>
            <a:srgbClr val="F4F1EA"/>
          </a:solidFill>
          <a:ln w="12700">
            <a:solidFill>
              <a:srgbClr val="F4F1EA"/>
            </a:solidFill>
            <a:prstDash val="solid"/>
          </a:ln>
        </p:spPr>
      </p:sp>
      <p:pic>
        <p:nvPicPr>
          <p:cNvPr id="21" name="Image 1" descr="preencoded.png">    </p:cNvPr>
          <p:cNvPicPr>
            <a:picLocks noChangeAspect="1"/>
          </p:cNvPicPr>
          <p:nvPr/>
        </p:nvPicPr>
        <p:blipFill>
          <a:blip r:embed="rId2"/>
          <a:stretch>
            <a:fillRect/>
          </a:stretch>
        </p:blipFill>
        <p:spPr>
          <a:xfrm>
            <a:off x="10183368" y="2249424"/>
            <a:ext cx="649224" cy="649224"/>
          </a:xfrm>
          <a:prstGeom prst="rect">
            <a:avLst/>
          </a:prstGeom>
        </p:spPr>
      </p:pic>
      <p:sp>
        <p:nvSpPr>
          <p:cNvPr id="22" name="Text 17"/>
          <p:cNvSpPr txBox="1"/>
          <p:nvPr/>
        </p:nvSpPr>
        <p:spPr>
          <a:xfrm>
            <a:off x="8232648"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sun · heat</a:t>
            </a:r>
            <a:endParaRPr lang="en-US" sz="1100" dirty="0"/>
          </a:p>
        </p:txBody>
      </p:sp>
      <p:sp>
        <p:nvSpPr>
          <p:cNvPr id="23" name="Shape 18"/>
          <p:cNvSpPr/>
          <p:nvPr/>
        </p:nvSpPr>
        <p:spPr>
          <a:xfrm>
            <a:off x="8095488"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11256264" y="3785616"/>
            <a:ext cx="329184" cy="329184"/>
          </a:xfrm>
          <a:prstGeom prst="ellipse">
            <a:avLst/>
          </a:prstGeom>
          <a:solidFill>
            <a:srgbClr val="2E8B57"/>
          </a:solidFill>
          <a:ln w="12700">
            <a:solidFill>
              <a:srgbClr val="2E8B57"/>
            </a:solidFill>
            <a:prstDash val="solid"/>
          </a:ln>
        </p:spPr>
      </p:sp>
      <p:sp>
        <p:nvSpPr>
          <p:cNvPr id="25" name="Text 20"/>
          <p:cNvSpPr txBox="1"/>
          <p:nvPr/>
        </p:nvSpPr>
        <p:spPr>
          <a:xfrm>
            <a:off x="11256264"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B</a:t>
            </a:r>
            <a:endParaRPr lang="en-US" sz="1100" dirty="0"/>
          </a:p>
        </p:txBody>
      </p:sp>
      <p:sp>
        <p:nvSpPr>
          <p:cNvPr id="26" name="Text 21"/>
          <p:cNvSpPr txBox="1"/>
          <p:nvPr/>
        </p:nvSpPr>
        <p:spPr>
          <a:xfrm>
            <a:off x="8232648" y="4160520"/>
            <a:ext cx="3361944" cy="114300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الجَوُّ مُشْمِسٌ.</a:t>
            </a:r>
            <a:endParaRPr lang="ar-SA" sz="2200" dirty="0"/>
          </a:p>
        </p:txBody>
      </p:sp>
      <p:sp>
        <p:nvSpPr>
          <p:cNvPr id="27" name="Text 22"/>
          <p:cNvSpPr txBox="1"/>
          <p:nvPr/>
        </p:nvSpPr>
        <p:spPr>
          <a:xfrm>
            <a:off x="8232648"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cs typeface="Amiri" pitchFamily="2" charset="-78"/>
              </a:rPr>
              <a:t>The weather is sunny.</a:t>
            </a:r>
            <a:endParaRPr lang="en-US" sz="1200" dirty="0"/>
          </a:p>
        </p:txBody>
      </p:sp>
      <p:sp>
        <p:nvSpPr>
          <p:cNvPr id="28" name="Shape 23"/>
          <p:cNvSpPr/>
          <p:nvPr/>
        </p:nvSpPr>
        <p:spPr>
          <a:xfrm>
            <a:off x="4276344"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4"/>
          <p:cNvSpPr/>
          <p:nvPr/>
        </p:nvSpPr>
        <p:spPr>
          <a:xfrm>
            <a:off x="4404360" y="1938528"/>
            <a:ext cx="365760" cy="365760"/>
          </a:xfrm>
          <a:prstGeom prst="ellipse">
            <a:avLst/>
          </a:prstGeom>
          <a:solidFill>
            <a:srgbClr val="1B3B6F"/>
          </a:solidFill>
          <a:ln w="12700">
            <a:solidFill>
              <a:srgbClr val="1B3B6F"/>
            </a:solidFill>
            <a:prstDash val="solid"/>
          </a:ln>
        </p:spPr>
      </p:sp>
      <p:sp>
        <p:nvSpPr>
          <p:cNvPr id="30" name="Text 25"/>
          <p:cNvSpPr txBox="1"/>
          <p:nvPr/>
        </p:nvSpPr>
        <p:spPr>
          <a:xfrm>
            <a:off x="4404360"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31" name="Shape 26"/>
          <p:cNvSpPr/>
          <p:nvPr/>
        </p:nvSpPr>
        <p:spPr>
          <a:xfrm>
            <a:off x="4992624" y="2066544"/>
            <a:ext cx="1014984" cy="1014984"/>
          </a:xfrm>
          <a:prstGeom prst="ellipse">
            <a:avLst/>
          </a:prstGeom>
          <a:solidFill>
            <a:srgbClr val="F4F1EA"/>
          </a:solidFill>
          <a:ln w="12700">
            <a:solidFill>
              <a:srgbClr val="F4F1EA"/>
            </a:solidFill>
            <a:prstDash val="solid"/>
          </a:ln>
        </p:spPr>
      </p:sp>
      <p:pic>
        <p:nvPicPr>
          <p:cNvPr id="32" name="Image 2" descr="preencoded.png">    </p:cNvPr>
          <p:cNvPicPr>
            <a:picLocks noChangeAspect="1"/>
          </p:cNvPicPr>
          <p:nvPr/>
        </p:nvPicPr>
        <p:blipFill>
          <a:blip r:embed="rId3"/>
          <a:stretch>
            <a:fillRect/>
          </a:stretch>
        </p:blipFill>
        <p:spPr>
          <a:xfrm>
            <a:off x="5175504" y="2249424"/>
            <a:ext cx="649224" cy="649224"/>
          </a:xfrm>
          <a:prstGeom prst="rect">
            <a:avLst/>
          </a:prstGeom>
        </p:spPr>
      </p:pic>
      <p:sp>
        <p:nvSpPr>
          <p:cNvPr id="33" name="Shape 27"/>
          <p:cNvSpPr/>
          <p:nvPr/>
        </p:nvSpPr>
        <p:spPr>
          <a:xfrm>
            <a:off x="6181344" y="2066544"/>
            <a:ext cx="1014984" cy="1014984"/>
          </a:xfrm>
          <a:prstGeom prst="ellipse">
            <a:avLst/>
          </a:prstGeom>
          <a:solidFill>
            <a:srgbClr val="F4F1EA"/>
          </a:solidFill>
          <a:ln w="12700">
            <a:solidFill>
              <a:srgbClr val="F4F1EA"/>
            </a:solidFill>
            <a:prstDash val="solid"/>
          </a:ln>
        </p:spPr>
      </p:sp>
      <p:pic>
        <p:nvPicPr>
          <p:cNvPr id="34" name="Image 3" descr="preencoded.png">    </p:cNvPr>
          <p:cNvPicPr>
            <a:picLocks noChangeAspect="1"/>
          </p:cNvPicPr>
          <p:nvPr/>
        </p:nvPicPr>
        <p:blipFill>
          <a:blip r:embed="rId4"/>
          <a:stretch>
            <a:fillRect/>
          </a:stretch>
        </p:blipFill>
        <p:spPr>
          <a:xfrm>
            <a:off x="6364224" y="2249424"/>
            <a:ext cx="649224" cy="649224"/>
          </a:xfrm>
          <a:prstGeom prst="rect">
            <a:avLst/>
          </a:prstGeom>
        </p:spPr>
      </p:pic>
      <p:sp>
        <p:nvSpPr>
          <p:cNvPr id="35" name="Text 28"/>
          <p:cNvSpPr txBox="1"/>
          <p:nvPr/>
        </p:nvSpPr>
        <p:spPr>
          <a:xfrm>
            <a:off x="4413504"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rain · umbrella</a:t>
            </a:r>
            <a:endParaRPr lang="en-US" sz="1100" dirty="0"/>
          </a:p>
        </p:txBody>
      </p:sp>
      <p:sp>
        <p:nvSpPr>
          <p:cNvPr id="36" name="Shape 29"/>
          <p:cNvSpPr/>
          <p:nvPr/>
        </p:nvSpPr>
        <p:spPr>
          <a:xfrm>
            <a:off x="4276344"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37" name="Shape 30"/>
          <p:cNvSpPr/>
          <p:nvPr/>
        </p:nvSpPr>
        <p:spPr>
          <a:xfrm>
            <a:off x="7437120" y="3785616"/>
            <a:ext cx="329184" cy="329184"/>
          </a:xfrm>
          <a:prstGeom prst="ellipse">
            <a:avLst/>
          </a:prstGeom>
          <a:solidFill>
            <a:srgbClr val="2E8B57"/>
          </a:solidFill>
          <a:ln w="12700">
            <a:solidFill>
              <a:srgbClr val="2E8B57"/>
            </a:solidFill>
            <a:prstDash val="solid"/>
          </a:ln>
        </p:spPr>
      </p:sp>
      <p:sp>
        <p:nvSpPr>
          <p:cNvPr id="38" name="Text 31"/>
          <p:cNvSpPr txBox="1"/>
          <p:nvPr/>
        </p:nvSpPr>
        <p:spPr>
          <a:xfrm>
            <a:off x="7437120"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C</a:t>
            </a:r>
            <a:endParaRPr lang="en-US" sz="1100" dirty="0"/>
          </a:p>
        </p:txBody>
      </p:sp>
      <p:sp>
        <p:nvSpPr>
          <p:cNvPr id="39" name="Text 32"/>
          <p:cNvSpPr txBox="1"/>
          <p:nvPr/>
        </p:nvSpPr>
        <p:spPr>
          <a:xfrm>
            <a:off x="4413504" y="4160520"/>
            <a:ext cx="3361944" cy="114300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الجَوُّ مُمْطِرٌ.</a:t>
            </a:r>
            <a:endParaRPr lang="ar-SA" sz="2200" dirty="0"/>
          </a:p>
        </p:txBody>
      </p:sp>
      <p:sp>
        <p:nvSpPr>
          <p:cNvPr id="40" name="Text 33"/>
          <p:cNvSpPr txBox="1"/>
          <p:nvPr/>
        </p:nvSpPr>
        <p:spPr>
          <a:xfrm>
            <a:off x="4413504"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cs typeface="Amiri" pitchFamily="2" charset="-78"/>
              </a:rPr>
              <a:t>The weather is rainy.</a:t>
            </a:r>
            <a:endParaRPr lang="en-US" sz="1200" dirty="0"/>
          </a:p>
        </p:txBody>
      </p:sp>
      <p:sp>
        <p:nvSpPr>
          <p:cNvPr id="41" name="Shape 34"/>
          <p:cNvSpPr/>
          <p:nvPr/>
        </p:nvSpPr>
        <p:spPr>
          <a:xfrm>
            <a:off x="457200"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5"/>
          <p:cNvSpPr/>
          <p:nvPr/>
        </p:nvSpPr>
        <p:spPr>
          <a:xfrm>
            <a:off x="585216" y="1938528"/>
            <a:ext cx="365760" cy="365760"/>
          </a:xfrm>
          <a:prstGeom prst="ellipse">
            <a:avLst/>
          </a:prstGeom>
          <a:solidFill>
            <a:srgbClr val="1B3B6F"/>
          </a:solidFill>
          <a:ln w="12700">
            <a:solidFill>
              <a:srgbClr val="1B3B6F"/>
            </a:solidFill>
            <a:prstDash val="solid"/>
          </a:ln>
        </p:spPr>
      </p:sp>
      <p:sp>
        <p:nvSpPr>
          <p:cNvPr id="43" name="Text 36"/>
          <p:cNvSpPr txBox="1"/>
          <p:nvPr/>
        </p:nvSpPr>
        <p:spPr>
          <a:xfrm>
            <a:off x="585216"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44" name="Shape 37"/>
          <p:cNvSpPr/>
          <p:nvPr/>
        </p:nvSpPr>
        <p:spPr>
          <a:xfrm>
            <a:off x="1173480" y="2066544"/>
            <a:ext cx="1014984" cy="1014984"/>
          </a:xfrm>
          <a:prstGeom prst="ellipse">
            <a:avLst/>
          </a:prstGeom>
          <a:solidFill>
            <a:srgbClr val="F4F1EA"/>
          </a:solidFill>
          <a:ln w="12700">
            <a:solidFill>
              <a:srgbClr val="F4F1EA"/>
            </a:solidFill>
            <a:prstDash val="solid"/>
          </a:ln>
        </p:spPr>
      </p:sp>
      <p:pic>
        <p:nvPicPr>
          <p:cNvPr id="45" name="Image 4" descr="preencoded.png">    </p:cNvPr>
          <p:cNvPicPr>
            <a:picLocks noChangeAspect="1"/>
          </p:cNvPicPr>
          <p:nvPr/>
        </p:nvPicPr>
        <p:blipFill>
          <a:blip r:embed="rId5"/>
          <a:stretch>
            <a:fillRect/>
          </a:stretch>
        </p:blipFill>
        <p:spPr>
          <a:xfrm>
            <a:off x="1356360" y="2249424"/>
            <a:ext cx="649224" cy="649224"/>
          </a:xfrm>
          <a:prstGeom prst="rect">
            <a:avLst/>
          </a:prstGeom>
        </p:spPr>
      </p:pic>
      <p:sp>
        <p:nvSpPr>
          <p:cNvPr id="46" name="Shape 38"/>
          <p:cNvSpPr/>
          <p:nvPr/>
        </p:nvSpPr>
        <p:spPr>
          <a:xfrm>
            <a:off x="2362200" y="2066544"/>
            <a:ext cx="1014984" cy="1014984"/>
          </a:xfrm>
          <a:prstGeom prst="ellipse">
            <a:avLst/>
          </a:prstGeom>
          <a:solidFill>
            <a:srgbClr val="F4F1EA"/>
          </a:solidFill>
          <a:ln w="12700">
            <a:solidFill>
              <a:srgbClr val="F4F1EA"/>
            </a:solidFill>
            <a:prstDash val="solid"/>
          </a:ln>
        </p:spPr>
      </p:sp>
      <p:pic>
        <p:nvPicPr>
          <p:cNvPr id="47" name="Image 5" descr="preencoded.png">    </p:cNvPr>
          <p:cNvPicPr>
            <a:picLocks noChangeAspect="1"/>
          </p:cNvPicPr>
          <p:nvPr/>
        </p:nvPicPr>
        <p:blipFill>
          <a:blip r:embed="rId6"/>
          <a:stretch>
            <a:fillRect/>
          </a:stretch>
        </p:blipFill>
        <p:spPr>
          <a:xfrm>
            <a:off x="2545080" y="2249424"/>
            <a:ext cx="649224" cy="649224"/>
          </a:xfrm>
          <a:prstGeom prst="rect">
            <a:avLst/>
          </a:prstGeom>
        </p:spPr>
      </p:pic>
      <p:sp>
        <p:nvSpPr>
          <p:cNvPr id="48" name="Text 39"/>
          <p:cNvSpPr txBox="1"/>
          <p:nvPr/>
        </p:nvSpPr>
        <p:spPr>
          <a:xfrm>
            <a:off x="594360"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snow · cold</a:t>
            </a:r>
            <a:endParaRPr lang="en-US" sz="1100" dirty="0"/>
          </a:p>
        </p:txBody>
      </p:sp>
      <p:sp>
        <p:nvSpPr>
          <p:cNvPr id="49" name="Shape 40"/>
          <p:cNvSpPr/>
          <p:nvPr/>
        </p:nvSpPr>
        <p:spPr>
          <a:xfrm>
            <a:off x="457200"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50" name="Shape 41"/>
          <p:cNvSpPr/>
          <p:nvPr/>
        </p:nvSpPr>
        <p:spPr>
          <a:xfrm>
            <a:off x="3617976" y="3785616"/>
            <a:ext cx="329184" cy="329184"/>
          </a:xfrm>
          <a:prstGeom prst="ellipse">
            <a:avLst/>
          </a:prstGeom>
          <a:solidFill>
            <a:srgbClr val="2E8B57"/>
          </a:solidFill>
          <a:ln w="12700">
            <a:solidFill>
              <a:srgbClr val="2E8B57"/>
            </a:solidFill>
            <a:prstDash val="solid"/>
          </a:ln>
        </p:spPr>
      </p:sp>
      <p:sp>
        <p:nvSpPr>
          <p:cNvPr id="51" name="Text 42"/>
          <p:cNvSpPr txBox="1"/>
          <p:nvPr/>
        </p:nvSpPr>
        <p:spPr>
          <a:xfrm>
            <a:off x="3617976"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a:t>
            </a:r>
            <a:endParaRPr lang="en-US" sz="1100" dirty="0"/>
          </a:p>
        </p:txBody>
      </p:sp>
      <p:sp>
        <p:nvSpPr>
          <p:cNvPr id="52" name="Text 43"/>
          <p:cNvSpPr txBox="1"/>
          <p:nvPr/>
        </p:nvSpPr>
        <p:spPr>
          <a:xfrm>
            <a:off x="594360" y="4160520"/>
            <a:ext cx="3361944" cy="114300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الجَوُّ بَارِدٌ وَمُثْلِجٌ.</a:t>
            </a:r>
            <a:endParaRPr lang="ar-SA" sz="2200" dirty="0"/>
          </a:p>
        </p:txBody>
      </p:sp>
      <p:sp>
        <p:nvSpPr>
          <p:cNvPr id="53" name="Text 44"/>
          <p:cNvSpPr txBox="1"/>
          <p:nvPr/>
        </p:nvSpPr>
        <p:spPr>
          <a:xfrm>
            <a:off x="594360"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cs typeface="Amiri" pitchFamily="2" charset="-78"/>
              </a:rPr>
              <a:t>The weather is cold and snowy.</a:t>
            </a:r>
            <a:endParaRPr lang="en-US" sz="1200" dirty="0"/>
          </a:p>
        </p:txBody>
      </p:sp>
      <p:sp>
        <p:nvSpPr>
          <p:cNvPr id="54"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45</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D4-L02 · Weather</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WEBSITE SORTER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Sort it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صَنِّفْ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D4-L02</a:t>
            </a:r>
            <a:endParaRPr lang="en-US" sz="850" dirty="0"/>
          </a:p>
        </p:txBody>
      </p:sp>
      <p:sp>
        <p:nvSpPr>
          <p:cNvPr id="15" name="Shape 12"/>
          <p:cNvSpPr/>
          <p:nvPr/>
        </p:nvSpPr>
        <p:spPr>
          <a:xfrm>
            <a:off x="9015984"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9107424"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المَطَرُ</a:t>
            </a:r>
            <a:endParaRPr lang="ar-SA" sz="1800" dirty="0"/>
          </a:p>
        </p:txBody>
      </p:sp>
      <p:sp>
        <p:nvSpPr>
          <p:cNvPr id="17" name="Shape 14"/>
          <p:cNvSpPr/>
          <p:nvPr/>
        </p:nvSpPr>
        <p:spPr>
          <a:xfrm>
            <a:off x="6163056"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254496"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الثُّلُوجُ</a:t>
            </a:r>
            <a:endParaRPr lang="ar-SA" sz="1800" dirty="0"/>
          </a:p>
        </p:txBody>
      </p:sp>
      <p:sp>
        <p:nvSpPr>
          <p:cNvPr id="19" name="Shape 16"/>
          <p:cNvSpPr/>
          <p:nvPr/>
        </p:nvSpPr>
        <p:spPr>
          <a:xfrm>
            <a:off x="3310128"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3401568"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الرِّيَاحُ</a:t>
            </a:r>
            <a:endParaRPr lang="ar-SA" sz="1800" dirty="0"/>
          </a:p>
        </p:txBody>
      </p:sp>
      <p:sp>
        <p:nvSpPr>
          <p:cNvPr id="21" name="Shape 18"/>
          <p:cNvSpPr/>
          <p:nvPr/>
        </p:nvSpPr>
        <p:spPr>
          <a:xfrm>
            <a:off x="457200"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548640"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يَسْقُطُ المَطَرُ</a:t>
            </a:r>
            <a:endParaRPr lang="ar-SA" sz="1800" dirty="0"/>
          </a:p>
        </p:txBody>
      </p:sp>
      <p:sp>
        <p:nvSpPr>
          <p:cNvPr id="23" name="Shape 20"/>
          <p:cNvSpPr/>
          <p:nvPr/>
        </p:nvSpPr>
        <p:spPr>
          <a:xfrm>
            <a:off x="9015984"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9107424"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تَسْقُطُ الثُّلُوجُ</a:t>
            </a:r>
            <a:endParaRPr lang="ar-SA" sz="1800" dirty="0"/>
          </a:p>
        </p:txBody>
      </p:sp>
      <p:sp>
        <p:nvSpPr>
          <p:cNvPr id="25" name="Shape 22"/>
          <p:cNvSpPr/>
          <p:nvPr/>
        </p:nvSpPr>
        <p:spPr>
          <a:xfrm>
            <a:off x="6163056"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254496"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تَهُبُّ الرِّيَاحُ</a:t>
            </a:r>
            <a:endParaRPr lang="ar-SA" sz="1800" dirty="0"/>
          </a:p>
        </p:txBody>
      </p:sp>
      <p:sp>
        <p:nvSpPr>
          <p:cNvPr id="27" name="Shape 24"/>
          <p:cNvSpPr/>
          <p:nvPr/>
        </p:nvSpPr>
        <p:spPr>
          <a:xfrm>
            <a:off x="3310128"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3401568"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الحَدُّ الأَقْصَى</a:t>
            </a:r>
            <a:endParaRPr lang="ar-SA" sz="1800" dirty="0"/>
          </a:p>
        </p:txBody>
      </p:sp>
      <p:sp>
        <p:nvSpPr>
          <p:cNvPr id="29" name="Shape 26"/>
          <p:cNvSpPr/>
          <p:nvPr/>
        </p:nvSpPr>
        <p:spPr>
          <a:xfrm>
            <a:off x="457200"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548640"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الحَدُّ الأَدْنَى</a:t>
            </a:r>
            <a:endParaRPr lang="ar-SA" sz="1800" dirty="0"/>
          </a:p>
        </p:txBody>
      </p:sp>
      <p:sp>
        <p:nvSpPr>
          <p:cNvPr id="31" name="Shape 28"/>
          <p:cNvSpPr/>
          <p:nvPr/>
        </p:nvSpPr>
        <p:spPr>
          <a:xfrm>
            <a:off x="9015984" y="2834640"/>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2" name="Text 29"/>
          <p:cNvSpPr txBox="1"/>
          <p:nvPr/>
        </p:nvSpPr>
        <p:spPr>
          <a:xfrm>
            <a:off x="9107424" y="2834640"/>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دَرَجَةٌ مِئَوِيَّةٌ</a:t>
            </a:r>
            <a:endParaRPr lang="ar-SA" sz="1800" dirty="0"/>
          </a:p>
        </p:txBody>
      </p:sp>
      <p:sp>
        <p:nvSpPr>
          <p:cNvPr id="33" name="Shape 30"/>
          <p:cNvSpPr/>
          <p:nvPr/>
        </p:nvSpPr>
        <p:spPr>
          <a:xfrm>
            <a:off x="8095488" y="3529584"/>
            <a:ext cx="3636264" cy="2779776"/>
          </a:xfrm>
          <a:prstGeom prst="roundRect">
            <a:avLst>
              <a:gd name="adj" fmla="val 2632"/>
            </a:avLst>
          </a:prstGeom>
          <a:solidFill>
            <a:srgbClr val="EEF3FA"/>
          </a:solidFill>
          <a:ln w="9525">
            <a:solidFill>
              <a:srgbClr val="C9D6EA"/>
            </a:solidFill>
            <a:prstDash val="solid"/>
          </a:ln>
        </p:spPr>
      </p:sp>
      <p:sp>
        <p:nvSpPr>
          <p:cNvPr id="34" name="Shape 31"/>
          <p:cNvSpPr/>
          <p:nvPr/>
        </p:nvSpPr>
        <p:spPr>
          <a:xfrm>
            <a:off x="8232648" y="3639312"/>
            <a:ext cx="3361944" cy="310896"/>
          </a:xfrm>
          <a:prstGeom prst="roundRect">
            <a:avLst>
              <a:gd name="adj" fmla="val 50000"/>
            </a:avLst>
          </a:prstGeom>
          <a:solidFill>
            <a:srgbClr val="2F6FB0"/>
          </a:solidFill>
          <a:ln w="12700">
            <a:solidFill>
              <a:srgbClr val="2F6FB0"/>
            </a:solidFill>
            <a:prstDash val="solid"/>
          </a:ln>
        </p:spPr>
      </p:sp>
      <p:sp>
        <p:nvSpPr>
          <p:cNvPr id="35" name="Text 32"/>
          <p:cNvSpPr txBox="1"/>
          <p:nvPr/>
        </p:nvSpPr>
        <p:spPr>
          <a:xfrm>
            <a:off x="8232648" y="3639312"/>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Weather phenomena</a:t>
            </a:r>
            <a:endParaRPr lang="en-US" sz="950" dirty="0"/>
          </a:p>
        </p:txBody>
      </p:sp>
      <p:sp>
        <p:nvSpPr>
          <p:cNvPr id="36" name="Shape 33"/>
          <p:cNvSpPr/>
          <p:nvPr/>
        </p:nvSpPr>
        <p:spPr>
          <a:xfrm>
            <a:off x="4276344" y="3529584"/>
            <a:ext cx="3636264" cy="2779776"/>
          </a:xfrm>
          <a:prstGeom prst="roundRect">
            <a:avLst>
              <a:gd name="adj" fmla="val 2632"/>
            </a:avLst>
          </a:prstGeom>
          <a:solidFill>
            <a:srgbClr val="EEF3FA"/>
          </a:solidFill>
          <a:ln w="9525">
            <a:solidFill>
              <a:srgbClr val="C9D6EA"/>
            </a:solidFill>
            <a:prstDash val="solid"/>
          </a:ln>
        </p:spPr>
      </p:sp>
      <p:sp>
        <p:nvSpPr>
          <p:cNvPr id="37" name="Shape 34"/>
          <p:cNvSpPr/>
          <p:nvPr/>
        </p:nvSpPr>
        <p:spPr>
          <a:xfrm>
            <a:off x="4413504" y="3639312"/>
            <a:ext cx="3361944" cy="310896"/>
          </a:xfrm>
          <a:prstGeom prst="roundRect">
            <a:avLst>
              <a:gd name="adj" fmla="val 50000"/>
            </a:avLst>
          </a:prstGeom>
          <a:solidFill>
            <a:srgbClr val="2F6FB0"/>
          </a:solidFill>
          <a:ln w="12700">
            <a:solidFill>
              <a:srgbClr val="2F6FB0"/>
            </a:solidFill>
            <a:prstDash val="solid"/>
          </a:ln>
        </p:spPr>
      </p:sp>
      <p:sp>
        <p:nvSpPr>
          <p:cNvPr id="38" name="Text 35"/>
          <p:cNvSpPr txBox="1"/>
          <p:nvPr/>
        </p:nvSpPr>
        <p:spPr>
          <a:xfrm>
            <a:off x="4413504" y="3639312"/>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Forecast language</a:t>
            </a:r>
            <a:endParaRPr lang="en-US" sz="950" dirty="0"/>
          </a:p>
        </p:txBody>
      </p:sp>
      <p:sp>
        <p:nvSpPr>
          <p:cNvPr id="39" name="Shape 36"/>
          <p:cNvSpPr/>
          <p:nvPr/>
        </p:nvSpPr>
        <p:spPr>
          <a:xfrm>
            <a:off x="457200" y="3529584"/>
            <a:ext cx="3636264" cy="2779776"/>
          </a:xfrm>
          <a:prstGeom prst="roundRect">
            <a:avLst>
              <a:gd name="adj" fmla="val 2632"/>
            </a:avLst>
          </a:prstGeom>
          <a:solidFill>
            <a:srgbClr val="EEF3FA"/>
          </a:solidFill>
          <a:ln w="9525">
            <a:solidFill>
              <a:srgbClr val="C9D6EA"/>
            </a:solidFill>
            <a:prstDash val="solid"/>
          </a:ln>
        </p:spPr>
      </p:sp>
      <p:sp>
        <p:nvSpPr>
          <p:cNvPr id="40" name="Shape 37"/>
          <p:cNvSpPr/>
          <p:nvPr/>
        </p:nvSpPr>
        <p:spPr>
          <a:xfrm>
            <a:off x="594360" y="3639312"/>
            <a:ext cx="3361944" cy="310896"/>
          </a:xfrm>
          <a:prstGeom prst="roundRect">
            <a:avLst>
              <a:gd name="adj" fmla="val 50000"/>
            </a:avLst>
          </a:prstGeom>
          <a:solidFill>
            <a:srgbClr val="2F6FB0"/>
          </a:solidFill>
          <a:ln w="12700">
            <a:solidFill>
              <a:srgbClr val="2F6FB0"/>
            </a:solidFill>
            <a:prstDash val="solid"/>
          </a:ln>
        </p:spPr>
      </p:sp>
      <p:sp>
        <p:nvSpPr>
          <p:cNvPr id="41" name="Text 38"/>
          <p:cNvSpPr txBox="1"/>
          <p:nvPr/>
        </p:nvSpPr>
        <p:spPr>
          <a:xfrm>
            <a:off x="594360" y="3639312"/>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3 · Comparison and measurement</a:t>
            </a:r>
            <a:endParaRPr lang="en-US" sz="950" dirty="0"/>
          </a:p>
        </p:txBody>
      </p:sp>
      <p:sp>
        <p:nvSpPr>
          <p:cNvPr id="42" name="Text 3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22 / 45</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D4-L02 · Weather</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SORTER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Sorted</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D4-L02</a:t>
            </a:r>
            <a:endParaRPr lang="en-US" sz="850" dirty="0"/>
          </a:p>
        </p:txBody>
      </p:sp>
      <p:sp>
        <p:nvSpPr>
          <p:cNvPr id="15" name="Shape 12"/>
          <p:cNvSpPr/>
          <p:nvPr/>
        </p:nvSpPr>
        <p:spPr>
          <a:xfrm>
            <a:off x="8095488" y="1810512"/>
            <a:ext cx="3636264" cy="4498848"/>
          </a:xfrm>
          <a:prstGeom prst="roundRect">
            <a:avLst>
              <a:gd name="adj" fmla="val 2012"/>
            </a:avLst>
          </a:prstGeom>
          <a:solidFill>
            <a:srgbClr val="EEF3FA"/>
          </a:solidFill>
          <a:ln w="9525">
            <a:solidFill>
              <a:srgbClr val="C9D6EA"/>
            </a:solidFill>
            <a:prstDash val="solid"/>
          </a:ln>
        </p:spPr>
      </p:sp>
      <p:sp>
        <p:nvSpPr>
          <p:cNvPr id="16" name="Shape 13"/>
          <p:cNvSpPr/>
          <p:nvPr/>
        </p:nvSpPr>
        <p:spPr>
          <a:xfrm>
            <a:off x="8232648" y="1920240"/>
            <a:ext cx="3361944" cy="310896"/>
          </a:xfrm>
          <a:prstGeom prst="roundRect">
            <a:avLst>
              <a:gd name="adj" fmla="val 50000"/>
            </a:avLst>
          </a:prstGeom>
          <a:solidFill>
            <a:srgbClr val="2F6FB0"/>
          </a:solidFill>
          <a:ln w="12700">
            <a:solidFill>
              <a:srgbClr val="2F6FB0"/>
            </a:solidFill>
            <a:prstDash val="solid"/>
          </a:ln>
        </p:spPr>
      </p:sp>
      <p:sp>
        <p:nvSpPr>
          <p:cNvPr id="17" name="Text 14"/>
          <p:cNvSpPr txBox="1"/>
          <p:nvPr/>
        </p:nvSpPr>
        <p:spPr>
          <a:xfrm>
            <a:off x="8232648" y="1920240"/>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Weather phenomena</a:t>
            </a:r>
            <a:endParaRPr lang="en-US" sz="950" dirty="0"/>
          </a:p>
        </p:txBody>
      </p:sp>
      <p:sp>
        <p:nvSpPr>
          <p:cNvPr id="18" name="Shape 15"/>
          <p:cNvSpPr/>
          <p:nvPr/>
        </p:nvSpPr>
        <p:spPr>
          <a:xfrm>
            <a:off x="8232648" y="2377440"/>
            <a:ext cx="3361944" cy="438912"/>
          </a:xfrm>
          <a:prstGeom prst="roundRect">
            <a:avLst>
              <a:gd name="adj" fmla="val 12500"/>
            </a:avLst>
          </a:prstGeom>
          <a:solidFill>
            <a:srgbClr val="FFF4DC"/>
          </a:solidFill>
          <a:ln w="9525">
            <a:solidFill>
              <a:srgbClr val="E6C98A"/>
            </a:solidFill>
            <a:prstDash val="solid"/>
          </a:ln>
        </p:spPr>
      </p:sp>
      <p:sp>
        <p:nvSpPr>
          <p:cNvPr id="19" name="Text 16"/>
          <p:cNvSpPr txBox="1"/>
          <p:nvPr/>
        </p:nvSpPr>
        <p:spPr>
          <a:xfrm>
            <a:off x="8324088"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المَطَرُ</a:t>
            </a:r>
            <a:endParaRPr lang="ar-SA" sz="1800" dirty="0"/>
          </a:p>
        </p:txBody>
      </p:sp>
      <p:sp>
        <p:nvSpPr>
          <p:cNvPr id="20" name="Shape 17"/>
          <p:cNvSpPr/>
          <p:nvPr/>
        </p:nvSpPr>
        <p:spPr>
          <a:xfrm>
            <a:off x="8232648" y="2889504"/>
            <a:ext cx="3361944" cy="438912"/>
          </a:xfrm>
          <a:prstGeom prst="roundRect">
            <a:avLst>
              <a:gd name="adj" fmla="val 12500"/>
            </a:avLst>
          </a:prstGeom>
          <a:solidFill>
            <a:srgbClr val="FFF4DC"/>
          </a:solidFill>
          <a:ln w="9525">
            <a:solidFill>
              <a:srgbClr val="E6C98A"/>
            </a:solidFill>
            <a:prstDash val="solid"/>
          </a:ln>
        </p:spPr>
      </p:sp>
      <p:sp>
        <p:nvSpPr>
          <p:cNvPr id="21" name="Text 18"/>
          <p:cNvSpPr txBox="1"/>
          <p:nvPr/>
        </p:nvSpPr>
        <p:spPr>
          <a:xfrm>
            <a:off x="8324088"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الثُّلُوجُ</a:t>
            </a:r>
            <a:endParaRPr lang="ar-SA" sz="1800" dirty="0"/>
          </a:p>
        </p:txBody>
      </p:sp>
      <p:sp>
        <p:nvSpPr>
          <p:cNvPr id="22" name="Shape 19"/>
          <p:cNvSpPr/>
          <p:nvPr/>
        </p:nvSpPr>
        <p:spPr>
          <a:xfrm>
            <a:off x="8232648" y="3401568"/>
            <a:ext cx="3361944" cy="438912"/>
          </a:xfrm>
          <a:prstGeom prst="roundRect">
            <a:avLst>
              <a:gd name="adj" fmla="val 12500"/>
            </a:avLst>
          </a:prstGeom>
          <a:solidFill>
            <a:srgbClr val="FFF4DC"/>
          </a:solidFill>
          <a:ln w="9525">
            <a:solidFill>
              <a:srgbClr val="E6C98A"/>
            </a:solidFill>
            <a:prstDash val="solid"/>
          </a:ln>
        </p:spPr>
      </p:sp>
      <p:sp>
        <p:nvSpPr>
          <p:cNvPr id="23" name="Text 20"/>
          <p:cNvSpPr txBox="1"/>
          <p:nvPr/>
        </p:nvSpPr>
        <p:spPr>
          <a:xfrm>
            <a:off x="8324088" y="3401568"/>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الرِّيَاحُ</a:t>
            </a:r>
            <a:endParaRPr lang="ar-SA" sz="1800" dirty="0"/>
          </a:p>
        </p:txBody>
      </p:sp>
      <p:sp>
        <p:nvSpPr>
          <p:cNvPr id="24" name="Shape 21"/>
          <p:cNvSpPr/>
          <p:nvPr/>
        </p:nvSpPr>
        <p:spPr>
          <a:xfrm>
            <a:off x="4276344" y="1810512"/>
            <a:ext cx="3636264" cy="4498848"/>
          </a:xfrm>
          <a:prstGeom prst="roundRect">
            <a:avLst>
              <a:gd name="adj" fmla="val 2012"/>
            </a:avLst>
          </a:prstGeom>
          <a:solidFill>
            <a:srgbClr val="EEF3FA"/>
          </a:solidFill>
          <a:ln w="9525">
            <a:solidFill>
              <a:srgbClr val="C9D6EA"/>
            </a:solidFill>
            <a:prstDash val="solid"/>
          </a:ln>
        </p:spPr>
      </p:sp>
      <p:sp>
        <p:nvSpPr>
          <p:cNvPr id="25" name="Shape 22"/>
          <p:cNvSpPr/>
          <p:nvPr/>
        </p:nvSpPr>
        <p:spPr>
          <a:xfrm>
            <a:off x="4413504" y="1920240"/>
            <a:ext cx="3361944" cy="310896"/>
          </a:xfrm>
          <a:prstGeom prst="roundRect">
            <a:avLst>
              <a:gd name="adj" fmla="val 50000"/>
            </a:avLst>
          </a:prstGeom>
          <a:solidFill>
            <a:srgbClr val="2F6FB0"/>
          </a:solidFill>
          <a:ln w="12700">
            <a:solidFill>
              <a:srgbClr val="2F6FB0"/>
            </a:solidFill>
            <a:prstDash val="solid"/>
          </a:ln>
        </p:spPr>
      </p:sp>
      <p:sp>
        <p:nvSpPr>
          <p:cNvPr id="26" name="Text 23"/>
          <p:cNvSpPr txBox="1"/>
          <p:nvPr/>
        </p:nvSpPr>
        <p:spPr>
          <a:xfrm>
            <a:off x="4413504" y="1920240"/>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Forecast language</a:t>
            </a:r>
            <a:endParaRPr lang="en-US" sz="950" dirty="0"/>
          </a:p>
        </p:txBody>
      </p:sp>
      <p:sp>
        <p:nvSpPr>
          <p:cNvPr id="27" name="Shape 24"/>
          <p:cNvSpPr/>
          <p:nvPr/>
        </p:nvSpPr>
        <p:spPr>
          <a:xfrm>
            <a:off x="4413504" y="2377440"/>
            <a:ext cx="3361944" cy="438912"/>
          </a:xfrm>
          <a:prstGeom prst="roundRect">
            <a:avLst>
              <a:gd name="adj" fmla="val 12500"/>
            </a:avLst>
          </a:prstGeom>
          <a:solidFill>
            <a:srgbClr val="FFF4DC"/>
          </a:solidFill>
          <a:ln w="9525">
            <a:solidFill>
              <a:srgbClr val="E6C98A"/>
            </a:solidFill>
            <a:prstDash val="solid"/>
          </a:ln>
        </p:spPr>
      </p:sp>
      <p:sp>
        <p:nvSpPr>
          <p:cNvPr id="28" name="Text 25"/>
          <p:cNvSpPr txBox="1"/>
          <p:nvPr/>
        </p:nvSpPr>
        <p:spPr>
          <a:xfrm>
            <a:off x="4504944"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يَسْقُطُ المَطَرُ</a:t>
            </a:r>
            <a:endParaRPr lang="ar-SA" sz="1800" dirty="0"/>
          </a:p>
        </p:txBody>
      </p:sp>
      <p:sp>
        <p:nvSpPr>
          <p:cNvPr id="29" name="Shape 26"/>
          <p:cNvSpPr/>
          <p:nvPr/>
        </p:nvSpPr>
        <p:spPr>
          <a:xfrm>
            <a:off x="4413504" y="2889504"/>
            <a:ext cx="3361944" cy="438912"/>
          </a:xfrm>
          <a:prstGeom prst="roundRect">
            <a:avLst>
              <a:gd name="adj" fmla="val 12500"/>
            </a:avLst>
          </a:prstGeom>
          <a:solidFill>
            <a:srgbClr val="FFF4DC"/>
          </a:solidFill>
          <a:ln w="9525">
            <a:solidFill>
              <a:srgbClr val="E6C98A"/>
            </a:solidFill>
            <a:prstDash val="solid"/>
          </a:ln>
        </p:spPr>
      </p:sp>
      <p:sp>
        <p:nvSpPr>
          <p:cNvPr id="30" name="Text 27"/>
          <p:cNvSpPr txBox="1"/>
          <p:nvPr/>
        </p:nvSpPr>
        <p:spPr>
          <a:xfrm>
            <a:off x="4504944"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تَسْقُطُ الثُّلُوجُ</a:t>
            </a:r>
            <a:endParaRPr lang="ar-SA" sz="1800" dirty="0"/>
          </a:p>
        </p:txBody>
      </p:sp>
      <p:sp>
        <p:nvSpPr>
          <p:cNvPr id="31" name="Shape 28"/>
          <p:cNvSpPr/>
          <p:nvPr/>
        </p:nvSpPr>
        <p:spPr>
          <a:xfrm>
            <a:off x="4413504" y="3401568"/>
            <a:ext cx="3361944" cy="438912"/>
          </a:xfrm>
          <a:prstGeom prst="roundRect">
            <a:avLst>
              <a:gd name="adj" fmla="val 12500"/>
            </a:avLst>
          </a:prstGeom>
          <a:solidFill>
            <a:srgbClr val="FFF4DC"/>
          </a:solidFill>
          <a:ln w="9525">
            <a:solidFill>
              <a:srgbClr val="E6C98A"/>
            </a:solidFill>
            <a:prstDash val="solid"/>
          </a:ln>
        </p:spPr>
      </p:sp>
      <p:sp>
        <p:nvSpPr>
          <p:cNvPr id="32" name="Text 29"/>
          <p:cNvSpPr txBox="1"/>
          <p:nvPr/>
        </p:nvSpPr>
        <p:spPr>
          <a:xfrm>
            <a:off x="4504944" y="3401568"/>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تَهُبُّ الرِّيَاحُ</a:t>
            </a:r>
            <a:endParaRPr lang="ar-SA" sz="1800" dirty="0"/>
          </a:p>
        </p:txBody>
      </p:sp>
      <p:sp>
        <p:nvSpPr>
          <p:cNvPr id="33" name="Shape 30"/>
          <p:cNvSpPr/>
          <p:nvPr/>
        </p:nvSpPr>
        <p:spPr>
          <a:xfrm>
            <a:off x="457200" y="1810512"/>
            <a:ext cx="3636264" cy="4498848"/>
          </a:xfrm>
          <a:prstGeom prst="roundRect">
            <a:avLst>
              <a:gd name="adj" fmla="val 2012"/>
            </a:avLst>
          </a:prstGeom>
          <a:solidFill>
            <a:srgbClr val="EEF3FA"/>
          </a:solidFill>
          <a:ln w="9525">
            <a:solidFill>
              <a:srgbClr val="C9D6EA"/>
            </a:solidFill>
            <a:prstDash val="solid"/>
          </a:ln>
        </p:spPr>
      </p:sp>
      <p:sp>
        <p:nvSpPr>
          <p:cNvPr id="34" name="Shape 31"/>
          <p:cNvSpPr/>
          <p:nvPr/>
        </p:nvSpPr>
        <p:spPr>
          <a:xfrm>
            <a:off x="594360" y="1920240"/>
            <a:ext cx="3361944" cy="310896"/>
          </a:xfrm>
          <a:prstGeom prst="roundRect">
            <a:avLst>
              <a:gd name="adj" fmla="val 50000"/>
            </a:avLst>
          </a:prstGeom>
          <a:solidFill>
            <a:srgbClr val="2F6FB0"/>
          </a:solidFill>
          <a:ln w="12700">
            <a:solidFill>
              <a:srgbClr val="2F6FB0"/>
            </a:solidFill>
            <a:prstDash val="solid"/>
          </a:ln>
        </p:spPr>
      </p:sp>
      <p:sp>
        <p:nvSpPr>
          <p:cNvPr id="35" name="Text 32"/>
          <p:cNvSpPr txBox="1"/>
          <p:nvPr/>
        </p:nvSpPr>
        <p:spPr>
          <a:xfrm>
            <a:off x="594360" y="1920240"/>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3 · Comparison and measurement</a:t>
            </a:r>
            <a:endParaRPr lang="en-US" sz="950" dirty="0"/>
          </a:p>
        </p:txBody>
      </p:sp>
      <p:sp>
        <p:nvSpPr>
          <p:cNvPr id="36" name="Shape 33"/>
          <p:cNvSpPr/>
          <p:nvPr/>
        </p:nvSpPr>
        <p:spPr>
          <a:xfrm>
            <a:off x="594360" y="2377440"/>
            <a:ext cx="3361944" cy="438912"/>
          </a:xfrm>
          <a:prstGeom prst="roundRect">
            <a:avLst>
              <a:gd name="adj" fmla="val 12500"/>
            </a:avLst>
          </a:prstGeom>
          <a:solidFill>
            <a:srgbClr val="FFF4DC"/>
          </a:solidFill>
          <a:ln w="9525">
            <a:solidFill>
              <a:srgbClr val="E6C98A"/>
            </a:solidFill>
            <a:prstDash val="solid"/>
          </a:ln>
        </p:spPr>
      </p:sp>
      <p:sp>
        <p:nvSpPr>
          <p:cNvPr id="37" name="Text 34"/>
          <p:cNvSpPr txBox="1"/>
          <p:nvPr/>
        </p:nvSpPr>
        <p:spPr>
          <a:xfrm>
            <a:off x="685800"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الحَدُّ الأَقْصَى</a:t>
            </a:r>
            <a:endParaRPr lang="ar-SA" sz="1800" dirty="0"/>
          </a:p>
        </p:txBody>
      </p:sp>
      <p:sp>
        <p:nvSpPr>
          <p:cNvPr id="38" name="Shape 35"/>
          <p:cNvSpPr/>
          <p:nvPr/>
        </p:nvSpPr>
        <p:spPr>
          <a:xfrm>
            <a:off x="594360" y="2889504"/>
            <a:ext cx="3361944" cy="438912"/>
          </a:xfrm>
          <a:prstGeom prst="roundRect">
            <a:avLst>
              <a:gd name="adj" fmla="val 12500"/>
            </a:avLst>
          </a:prstGeom>
          <a:solidFill>
            <a:srgbClr val="FFF4DC"/>
          </a:solidFill>
          <a:ln w="9525">
            <a:solidFill>
              <a:srgbClr val="E6C98A"/>
            </a:solidFill>
            <a:prstDash val="solid"/>
          </a:ln>
        </p:spPr>
      </p:sp>
      <p:sp>
        <p:nvSpPr>
          <p:cNvPr id="39" name="Text 36"/>
          <p:cNvSpPr txBox="1"/>
          <p:nvPr/>
        </p:nvSpPr>
        <p:spPr>
          <a:xfrm>
            <a:off x="685800"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الحَدُّ الأَدْنَى</a:t>
            </a:r>
            <a:endParaRPr lang="ar-SA" sz="1800" dirty="0"/>
          </a:p>
        </p:txBody>
      </p:sp>
      <p:sp>
        <p:nvSpPr>
          <p:cNvPr id="40" name="Shape 37"/>
          <p:cNvSpPr/>
          <p:nvPr/>
        </p:nvSpPr>
        <p:spPr>
          <a:xfrm>
            <a:off x="594360" y="3401568"/>
            <a:ext cx="3361944" cy="438912"/>
          </a:xfrm>
          <a:prstGeom prst="roundRect">
            <a:avLst>
              <a:gd name="adj" fmla="val 12500"/>
            </a:avLst>
          </a:prstGeom>
          <a:solidFill>
            <a:srgbClr val="FFF4DC"/>
          </a:solidFill>
          <a:ln w="9525">
            <a:solidFill>
              <a:srgbClr val="E6C98A"/>
            </a:solidFill>
            <a:prstDash val="solid"/>
          </a:ln>
        </p:spPr>
      </p:sp>
      <p:sp>
        <p:nvSpPr>
          <p:cNvPr id="41" name="Text 38"/>
          <p:cNvSpPr txBox="1"/>
          <p:nvPr/>
        </p:nvSpPr>
        <p:spPr>
          <a:xfrm>
            <a:off x="685800" y="3401568"/>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دَرَجَةٌ مِئَوِيَّةٌ</a:t>
            </a:r>
            <a:endParaRPr lang="ar-SA" sz="1800" dirty="0"/>
          </a:p>
        </p:txBody>
      </p:sp>
      <p:sp>
        <p:nvSpPr>
          <p:cNvPr id="42" name="Text 3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23 / 45</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D4-L02 · Weather</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GUIDED PRACTICE · WEBSITE QUIZ QUESTIONS 4, 6, 7, 8</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More practice</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تَدْرِيبٌ إِضَافِيٌّ</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D4-L02</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20" name="Text 17"/>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temperature sentence.</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يَرْتَفِعُ دَرَجَةُ الحَرَارَةِ إِلَى ٣٢ دَرَجَةً.</a:t>
            </a:r>
            <a:endParaRPr lang="ar-SA" sz="20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تَرْتَفِعُ دَرَجَةُ الحَرَارَةِ فِي ٣٢ دَرَجَةً.</a:t>
            </a:r>
            <a:endParaRPr lang="ar-SA" sz="20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تَرْتَفِعُ دَرَجَةُ الحَرَارَةِ إِلَى ٣٢ دَرَجَةً.</a:t>
            </a:r>
            <a:endParaRPr lang="ar-SA" sz="20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33" name="Text 30"/>
          <p:cNvSpPr txBox="1"/>
          <p:nvPr/>
        </p:nvSpPr>
        <p:spPr>
          <a:xfrm>
            <a:off x="6679692" y="1883664"/>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34" name="Text 31"/>
          <p:cNvSpPr txBox="1"/>
          <p:nvPr/>
        </p:nvSpPr>
        <p:spPr>
          <a:xfrm>
            <a:off x="9052011" y="1883664"/>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ea typeface="Amiri" pitchFamily="2" charset="-78"/>
                <a:cs typeface="Amiri" pitchFamily="2" charset="-78"/>
              </a:rPr>
              <a:t>مِنَ المُتَوَقَّعِ أَنْ ___ دَرَجَةُ الحَرَارَةِ.</a:t>
            </a:r>
            <a:endParaRPr lang="ar-SA" sz="1500" dirty="0"/>
          </a:p>
        </p:txBody>
      </p:sp>
      <p:sp>
        <p:nvSpPr>
          <p:cNvPr id="35" name="Shape 32"/>
          <p:cNvSpPr/>
          <p:nvPr/>
        </p:nvSpPr>
        <p:spPr>
          <a:xfrm>
            <a:off x="6368796" y="25328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7" name="Text 34"/>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انْخَفَضَتْ</a:t>
            </a:r>
            <a:endParaRPr lang="ar-SA" sz="2050" dirty="0"/>
          </a:p>
        </p:txBody>
      </p:sp>
      <p:sp>
        <p:nvSpPr>
          <p:cNvPr id="38" name="Shape 35"/>
          <p:cNvSpPr/>
          <p:nvPr/>
        </p:nvSpPr>
        <p:spPr>
          <a:xfrm>
            <a:off x="6368796" y="29900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تَنْخَفِضَ</a:t>
            </a:r>
            <a:endParaRPr lang="ar-SA" sz="2050" dirty="0"/>
          </a:p>
        </p:txBody>
      </p:sp>
      <p:sp>
        <p:nvSpPr>
          <p:cNvPr id="41" name="Shape 38"/>
          <p:cNvSpPr/>
          <p:nvPr/>
        </p:nvSpPr>
        <p:spPr>
          <a:xfrm>
            <a:off x="6368796" y="3447288"/>
            <a:ext cx="256032" cy="256032"/>
          </a:xfrm>
          <a:prstGeom prst="ellipse">
            <a:avLst/>
          </a:prstGeom>
          <a:solidFill>
            <a:srgbClr val="F4F1EA"/>
          </a:solidFill>
          <a:ln w="12700">
            <a:solidFill>
              <a:srgbClr val="F4F1EA"/>
            </a:solidFill>
            <a:prstDash val="solid"/>
          </a:ln>
        </p:spPr>
      </p:sp>
      <p:sp>
        <p:nvSpPr>
          <p:cNvPr id="42" name="Text 39"/>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سَتَنْخَفِضُ</a:t>
            </a:r>
            <a:endParaRPr lang="ar-SA" sz="2050" dirty="0"/>
          </a:p>
        </p:txBody>
      </p:sp>
      <p:sp>
        <p:nvSpPr>
          <p:cNvPr id="44" name="Shape 41"/>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5" name="Shape 42"/>
          <p:cNvSpPr/>
          <p:nvPr/>
        </p:nvSpPr>
        <p:spPr>
          <a:xfrm>
            <a:off x="585216" y="4288536"/>
            <a:ext cx="310896" cy="310896"/>
          </a:xfrm>
          <a:prstGeom prst="ellipse">
            <a:avLst/>
          </a:prstGeom>
          <a:solidFill>
            <a:srgbClr val="1B3B6F"/>
          </a:solidFill>
          <a:ln w="12700">
            <a:solidFill>
              <a:srgbClr val="1B3B6F"/>
            </a:solidFill>
            <a:prstDash val="solid"/>
          </a:ln>
        </p:spPr>
      </p:sp>
      <p:sp>
        <p:nvSpPr>
          <p:cNvPr id="46" name="Text 4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7</a:t>
            </a:r>
            <a:endParaRPr lang="en-US" sz="1100" dirty="0"/>
          </a:p>
        </p:txBody>
      </p:sp>
      <p:sp>
        <p:nvSpPr>
          <p:cNvPr id="47" name="Text 44"/>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range.</a:t>
            </a:r>
            <a:endParaRPr lang="en-US" sz="1250" dirty="0"/>
          </a:p>
        </p:txBody>
      </p:sp>
      <p:sp>
        <p:nvSpPr>
          <p:cNvPr id="48" name="Shape 45"/>
          <p:cNvSpPr/>
          <p:nvPr/>
        </p:nvSpPr>
        <p:spPr>
          <a:xfrm>
            <a:off x="640080" y="4873752"/>
            <a:ext cx="256032" cy="256032"/>
          </a:xfrm>
          <a:prstGeom prst="ellipse">
            <a:avLst/>
          </a:prstGeom>
          <a:solidFill>
            <a:srgbClr val="F4F1EA"/>
          </a:solidFill>
          <a:ln w="12700">
            <a:solidFill>
              <a:srgbClr val="F4F1EA"/>
            </a:solidFill>
            <a:prstDash val="solid"/>
          </a:ln>
        </p:spPr>
      </p:sp>
      <p:sp>
        <p:nvSpPr>
          <p:cNvPr id="49" name="Text 4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0" name="Text 47"/>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تَتَرَاوَحُ دَرَجَةُ الحَرَارَةِ مِنْ ١٨ إِلَى بَيْنَ ٢٥.</a:t>
            </a:r>
            <a:endParaRPr lang="ar-SA" sz="2050" dirty="0"/>
          </a:p>
        </p:txBody>
      </p:sp>
      <p:sp>
        <p:nvSpPr>
          <p:cNvPr id="51" name="Shape 48"/>
          <p:cNvSpPr/>
          <p:nvPr/>
        </p:nvSpPr>
        <p:spPr>
          <a:xfrm>
            <a:off x="640080" y="5330952"/>
            <a:ext cx="256032" cy="256032"/>
          </a:xfrm>
          <a:prstGeom prst="ellipse">
            <a:avLst/>
          </a:prstGeom>
          <a:solidFill>
            <a:srgbClr val="F4F1EA"/>
          </a:solidFill>
          <a:ln w="12700">
            <a:solidFill>
              <a:srgbClr val="F4F1EA"/>
            </a:solidFill>
            <a:prstDash val="solid"/>
          </a:ln>
        </p:spPr>
      </p:sp>
      <p:sp>
        <p:nvSpPr>
          <p:cNvPr id="52" name="Text 4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3" name="Text 50"/>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تَتَرَاوَحُ دَرَجَةُ الحَرَارَةِ بَيْنَ ١٨ وَ٢٥ دَرَجَةً.</a:t>
            </a:r>
            <a:endParaRPr lang="ar-SA" sz="2050" dirty="0"/>
          </a:p>
        </p:txBody>
      </p:sp>
      <p:sp>
        <p:nvSpPr>
          <p:cNvPr id="54" name="Shape 51"/>
          <p:cNvSpPr/>
          <p:nvPr/>
        </p:nvSpPr>
        <p:spPr>
          <a:xfrm>
            <a:off x="640080" y="5788152"/>
            <a:ext cx="256032" cy="256032"/>
          </a:xfrm>
          <a:prstGeom prst="ellipse">
            <a:avLst/>
          </a:prstGeom>
          <a:solidFill>
            <a:srgbClr val="F4F1EA"/>
          </a:solidFill>
          <a:ln w="12700">
            <a:solidFill>
              <a:srgbClr val="F4F1EA"/>
            </a:solidFill>
            <a:prstDash val="solid"/>
          </a:ln>
        </p:spPr>
      </p:sp>
      <p:sp>
        <p:nvSpPr>
          <p:cNvPr id="55" name="Text 5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6" name="Text 53"/>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يَتَرَاوَحُ دَرَجَةُ الحَرَارَةِ بَيْنَ ١٨ وَ٢٥.</a:t>
            </a:r>
            <a:endParaRPr lang="ar-SA" sz="2050" dirty="0"/>
          </a:p>
        </p:txBody>
      </p:sp>
      <p:sp>
        <p:nvSpPr>
          <p:cNvPr id="57" name="Shape 54"/>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8" name="Shape 55"/>
          <p:cNvSpPr/>
          <p:nvPr/>
        </p:nvSpPr>
        <p:spPr>
          <a:xfrm>
            <a:off x="6313932" y="4288536"/>
            <a:ext cx="310896" cy="310896"/>
          </a:xfrm>
          <a:prstGeom prst="ellipse">
            <a:avLst/>
          </a:prstGeom>
          <a:solidFill>
            <a:srgbClr val="1B3B6F"/>
          </a:solidFill>
          <a:ln w="12700">
            <a:solidFill>
              <a:srgbClr val="1B3B6F"/>
            </a:solidFill>
            <a:prstDash val="solid"/>
          </a:ln>
        </p:spPr>
      </p:sp>
      <p:sp>
        <p:nvSpPr>
          <p:cNvPr id="59" name="Text 56"/>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8</a:t>
            </a:r>
            <a:endParaRPr lang="en-US" sz="1100" dirty="0"/>
          </a:p>
        </p:txBody>
      </p:sp>
      <p:sp>
        <p:nvSpPr>
          <p:cNvPr id="60" name="Text 57"/>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phrase means “less humid than”?</a:t>
            </a:r>
            <a:endParaRPr lang="en-US" sz="1250" dirty="0"/>
          </a:p>
        </p:txBody>
      </p:sp>
      <p:sp>
        <p:nvSpPr>
          <p:cNvPr id="61" name="Shape 58"/>
          <p:cNvSpPr/>
          <p:nvPr/>
        </p:nvSpPr>
        <p:spPr>
          <a:xfrm>
            <a:off x="6368796" y="48737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3" name="Text 60"/>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أَكْثَرُ رُطُوبَةً مِنْ</a:t>
            </a:r>
            <a:endParaRPr lang="ar-SA" sz="2050" dirty="0"/>
          </a:p>
        </p:txBody>
      </p:sp>
      <p:sp>
        <p:nvSpPr>
          <p:cNvPr id="64" name="Shape 61"/>
          <p:cNvSpPr/>
          <p:nvPr/>
        </p:nvSpPr>
        <p:spPr>
          <a:xfrm>
            <a:off x="6368796" y="53309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6" name="Text 63"/>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أَصْغَرُ رَطْبٌ مِنْ</a:t>
            </a:r>
            <a:endParaRPr lang="ar-SA" sz="2050" dirty="0"/>
          </a:p>
        </p:txBody>
      </p:sp>
      <p:sp>
        <p:nvSpPr>
          <p:cNvPr id="67" name="Shape 64"/>
          <p:cNvSpPr/>
          <p:nvPr/>
        </p:nvSpPr>
        <p:spPr>
          <a:xfrm>
            <a:off x="6368796" y="5788152"/>
            <a:ext cx="256032" cy="256032"/>
          </a:xfrm>
          <a:prstGeom prst="ellipse">
            <a:avLst/>
          </a:prstGeom>
          <a:solidFill>
            <a:srgbClr val="F4F1EA"/>
          </a:solidFill>
          <a:ln w="12700">
            <a:solidFill>
              <a:srgbClr val="F4F1EA"/>
            </a:solidFill>
            <a:prstDash val="solid"/>
          </a:ln>
        </p:spPr>
      </p:sp>
      <p:sp>
        <p:nvSpPr>
          <p:cNvPr id="68" name="Text 65"/>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9" name="Text 66"/>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أَقَلُّ رُطُوبَةً مِنْ</a:t>
            </a:r>
            <a:endParaRPr lang="ar-SA" sz="2050" dirty="0"/>
          </a:p>
        </p:txBody>
      </p:sp>
      <p:sp>
        <p:nvSpPr>
          <p:cNvPr id="70" name="Text 6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24 / 45</a:t>
            </a:r>
            <a:endParaRPr lang="en-US" sz="8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D4-L02 · Weather</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D4-L02</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20" name="Text 17"/>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temperature sentence.</a:t>
            </a:r>
            <a:endParaRPr lang="en-US" sz="1250" dirty="0"/>
          </a:p>
        </p:txBody>
      </p:sp>
      <p:sp>
        <p:nvSpPr>
          <p:cNvPr id="21"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2"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يَرْتَفِعُ دَرَجَةُ الحَرَارَةِ إِلَى ٣٢ دَرَجَةً.</a:t>
            </a:r>
            <a:endParaRPr lang="ar-SA" sz="1700" dirty="0"/>
          </a:p>
        </p:txBody>
      </p:sp>
      <p:sp>
        <p:nvSpPr>
          <p:cNvPr id="24" name="Shape 21"/>
          <p:cNvSpPr/>
          <p:nvPr/>
        </p:nvSpPr>
        <p:spPr>
          <a:xfrm>
            <a:off x="640080" y="2862072"/>
            <a:ext cx="256032" cy="256032"/>
          </a:xfrm>
          <a:prstGeom prst="ellipse">
            <a:avLst/>
          </a:prstGeom>
          <a:solidFill>
            <a:srgbClr val="C9CED6"/>
          </a:solidFill>
          <a:ln w="12700">
            <a:solidFill>
              <a:srgbClr val="C9CED6"/>
            </a:solidFill>
            <a:prstDash val="solid"/>
          </a:ln>
        </p:spPr>
      </p:sp>
      <p:sp>
        <p:nvSpPr>
          <p:cNvPr id="25" name="Text 22"/>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تَرْتَفِعُ دَرَجَةُ الحَرَارَةِ فِي ٣٢ دَرَجَةً.</a:t>
            </a:r>
            <a:endParaRPr lang="ar-SA" sz="1700" dirty="0"/>
          </a:p>
        </p:txBody>
      </p:sp>
      <p:sp>
        <p:nvSpPr>
          <p:cNvPr id="27" name="Shape 24"/>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8" name="Shape 25"/>
          <p:cNvSpPr/>
          <p:nvPr/>
        </p:nvSpPr>
        <p:spPr>
          <a:xfrm>
            <a:off x="640080" y="3233928"/>
            <a:ext cx="256032" cy="256032"/>
          </a:xfrm>
          <a:prstGeom prst="ellipse">
            <a:avLst/>
          </a:prstGeom>
          <a:solidFill>
            <a:srgbClr val="2E8B57"/>
          </a:solidFill>
          <a:ln w="12700">
            <a:solidFill>
              <a:srgbClr val="2E8B57"/>
            </a:solidFill>
            <a:prstDash val="solid"/>
          </a:ln>
        </p:spPr>
      </p:sp>
      <p:sp>
        <p:nvSpPr>
          <p:cNvPr id="29"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30" name="Text 27"/>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تَرْتَفِعُ دَرَجَةُ الحَرَارَةِ إِلَى ٣٢ دَرَجَةً.</a:t>
            </a:r>
            <a:endParaRPr lang="ar-SA" sz="1700" dirty="0"/>
          </a:p>
        </p:txBody>
      </p:sp>
      <p:sp>
        <p:nvSpPr>
          <p:cNvPr id="31" name="Text 28"/>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daraja (f.) + ilā.</a:t>
            </a:r>
            <a:endParaRPr lang="en-US" sz="1050" dirty="0"/>
          </a:p>
        </p:txBody>
      </p:sp>
      <p:sp>
        <p:nvSpPr>
          <p:cNvPr id="32" name="Shape 29"/>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6313932" y="1947672"/>
            <a:ext cx="310896" cy="310896"/>
          </a:xfrm>
          <a:prstGeom prst="ellipse">
            <a:avLst/>
          </a:prstGeom>
          <a:solidFill>
            <a:srgbClr val="1B3B6F"/>
          </a:solidFill>
          <a:ln w="12700">
            <a:solidFill>
              <a:srgbClr val="1B3B6F"/>
            </a:solidFill>
            <a:prstDash val="solid"/>
          </a:ln>
        </p:spPr>
      </p:sp>
      <p:sp>
        <p:nvSpPr>
          <p:cNvPr id="34" name="Text 31"/>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35" name="Text 32"/>
          <p:cNvSpPr txBox="1"/>
          <p:nvPr/>
        </p:nvSpPr>
        <p:spPr>
          <a:xfrm>
            <a:off x="6679692" y="1883664"/>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36" name="Text 33"/>
          <p:cNvSpPr txBox="1"/>
          <p:nvPr/>
        </p:nvSpPr>
        <p:spPr>
          <a:xfrm>
            <a:off x="9052011" y="1883664"/>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ea typeface="Amiri" pitchFamily="2" charset="-78"/>
                <a:cs typeface="Amiri" pitchFamily="2" charset="-78"/>
              </a:rPr>
              <a:t>مِنَ المُتَوَقَّعِ أَنْ ___ دَرَجَةُ الحَرَارَةِ.</a:t>
            </a:r>
            <a:endParaRPr lang="ar-SA" sz="1500" dirty="0"/>
          </a:p>
        </p:txBody>
      </p:sp>
      <p:sp>
        <p:nvSpPr>
          <p:cNvPr id="37" name="Shape 34"/>
          <p:cNvSpPr/>
          <p:nvPr/>
        </p:nvSpPr>
        <p:spPr>
          <a:xfrm>
            <a:off x="6368796" y="2490216"/>
            <a:ext cx="256032" cy="256032"/>
          </a:xfrm>
          <a:prstGeom prst="ellipse">
            <a:avLst/>
          </a:prstGeom>
          <a:solidFill>
            <a:srgbClr val="C9CED6"/>
          </a:solidFill>
          <a:ln w="12700">
            <a:solidFill>
              <a:srgbClr val="C9CED6"/>
            </a:solidFill>
            <a:prstDash val="solid"/>
          </a:ln>
        </p:spPr>
      </p:sp>
      <p:sp>
        <p:nvSpPr>
          <p:cNvPr id="38" name="Text 35"/>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9" name="Text 36"/>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انْخَفَضَتْ</a:t>
            </a:r>
            <a:endParaRPr lang="ar-SA" sz="1700" dirty="0"/>
          </a:p>
        </p:txBody>
      </p:sp>
      <p:sp>
        <p:nvSpPr>
          <p:cNvPr id="40" name="Shape 37"/>
          <p:cNvSpPr/>
          <p:nvPr/>
        </p:nvSpPr>
        <p:spPr>
          <a:xfrm>
            <a:off x="6277356" y="2825496"/>
            <a:ext cx="5362956"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6368796" y="2862072"/>
            <a:ext cx="256032" cy="256032"/>
          </a:xfrm>
          <a:prstGeom prst="ellipse">
            <a:avLst/>
          </a:prstGeom>
          <a:solidFill>
            <a:srgbClr val="2E8B57"/>
          </a:solidFill>
          <a:ln w="12700">
            <a:solidFill>
              <a:srgbClr val="2E8B57"/>
            </a:solidFill>
            <a:prstDash val="solid"/>
          </a:ln>
        </p:spPr>
      </p:sp>
      <p:sp>
        <p:nvSpPr>
          <p:cNvPr id="42" name="Text 39"/>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3" name="Text 40"/>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تَنْخَفِضَ</a:t>
            </a:r>
            <a:endParaRPr lang="ar-SA" sz="1700" dirty="0"/>
          </a:p>
        </p:txBody>
      </p:sp>
      <p:sp>
        <p:nvSpPr>
          <p:cNvPr id="44" name="Shape 41"/>
          <p:cNvSpPr/>
          <p:nvPr/>
        </p:nvSpPr>
        <p:spPr>
          <a:xfrm>
            <a:off x="6368796" y="3233928"/>
            <a:ext cx="256032" cy="256032"/>
          </a:xfrm>
          <a:prstGeom prst="ellipse">
            <a:avLst/>
          </a:prstGeom>
          <a:solidFill>
            <a:srgbClr val="C9CED6"/>
          </a:solidFill>
          <a:ln w="12700">
            <a:solidFill>
              <a:srgbClr val="C9CED6"/>
            </a:solidFill>
            <a:prstDash val="solid"/>
          </a:ln>
        </p:spPr>
      </p:sp>
      <p:sp>
        <p:nvSpPr>
          <p:cNvPr id="45" name="Text 42"/>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6" name="Text 43"/>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سَتَنْخَفِضُ</a:t>
            </a:r>
            <a:endParaRPr lang="ar-SA" sz="1700" dirty="0"/>
          </a:p>
        </p:txBody>
      </p:sp>
      <p:sp>
        <p:nvSpPr>
          <p:cNvPr id="47" name="Text 44"/>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an + present verb in -a.</a:t>
            </a:r>
            <a:endParaRPr lang="en-US" sz="1050" dirty="0"/>
          </a:p>
        </p:txBody>
      </p:sp>
      <p:sp>
        <p:nvSpPr>
          <p:cNvPr id="48" name="Shape 45"/>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9" name="Shape 46"/>
          <p:cNvSpPr/>
          <p:nvPr/>
        </p:nvSpPr>
        <p:spPr>
          <a:xfrm>
            <a:off x="585216" y="4288536"/>
            <a:ext cx="310896" cy="310896"/>
          </a:xfrm>
          <a:prstGeom prst="ellipse">
            <a:avLst/>
          </a:prstGeom>
          <a:solidFill>
            <a:srgbClr val="1B3B6F"/>
          </a:solidFill>
          <a:ln w="12700">
            <a:solidFill>
              <a:srgbClr val="1B3B6F"/>
            </a:solidFill>
            <a:prstDash val="solid"/>
          </a:ln>
        </p:spPr>
      </p:sp>
      <p:sp>
        <p:nvSpPr>
          <p:cNvPr id="50" name="Text 47"/>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7</a:t>
            </a:r>
            <a:endParaRPr lang="en-US" sz="1100" dirty="0"/>
          </a:p>
        </p:txBody>
      </p:sp>
      <p:sp>
        <p:nvSpPr>
          <p:cNvPr id="51" name="Text 48"/>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range.</a:t>
            </a:r>
            <a:endParaRPr lang="en-US" sz="1250" dirty="0"/>
          </a:p>
        </p:txBody>
      </p:sp>
      <p:sp>
        <p:nvSpPr>
          <p:cNvPr id="52" name="Shape 49"/>
          <p:cNvSpPr/>
          <p:nvPr/>
        </p:nvSpPr>
        <p:spPr>
          <a:xfrm>
            <a:off x="640080" y="4831080"/>
            <a:ext cx="256032" cy="256032"/>
          </a:xfrm>
          <a:prstGeom prst="ellipse">
            <a:avLst/>
          </a:prstGeom>
          <a:solidFill>
            <a:srgbClr val="C9CED6"/>
          </a:solidFill>
          <a:ln w="12700">
            <a:solidFill>
              <a:srgbClr val="C9CED6"/>
            </a:solidFill>
            <a:prstDash val="solid"/>
          </a:ln>
        </p:spPr>
      </p:sp>
      <p:sp>
        <p:nvSpPr>
          <p:cNvPr id="53" name="Text 50"/>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4" name="Text 51"/>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تَتَرَاوَحُ دَرَجَةُ الحَرَارَةِ مِنْ ١٨ إِلَى بَيْنَ ٢٥.</a:t>
            </a:r>
            <a:endParaRPr lang="ar-SA" sz="1700" dirty="0"/>
          </a:p>
        </p:txBody>
      </p:sp>
      <p:sp>
        <p:nvSpPr>
          <p:cNvPr id="55" name="Shape 52"/>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640080" y="5202936"/>
            <a:ext cx="256032" cy="256032"/>
          </a:xfrm>
          <a:prstGeom prst="ellipse">
            <a:avLst/>
          </a:prstGeom>
          <a:solidFill>
            <a:srgbClr val="2E8B57"/>
          </a:solidFill>
          <a:ln w="12700">
            <a:solidFill>
              <a:srgbClr val="2E8B57"/>
            </a:solidFill>
            <a:prstDash val="solid"/>
          </a:ln>
        </p:spPr>
      </p:sp>
      <p:sp>
        <p:nvSpPr>
          <p:cNvPr id="57" name="Text 54"/>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8" name="Text 55"/>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تَتَرَاوَحُ دَرَجَةُ الحَرَارَةِ بَيْنَ ١٨ وَ٢٥ دَرَجَةً.</a:t>
            </a:r>
            <a:endParaRPr lang="ar-SA" sz="1700" dirty="0"/>
          </a:p>
        </p:txBody>
      </p:sp>
      <p:sp>
        <p:nvSpPr>
          <p:cNvPr id="59" name="Shape 56"/>
          <p:cNvSpPr/>
          <p:nvPr/>
        </p:nvSpPr>
        <p:spPr>
          <a:xfrm>
            <a:off x="640080" y="5574792"/>
            <a:ext cx="256032" cy="256032"/>
          </a:xfrm>
          <a:prstGeom prst="ellipse">
            <a:avLst/>
          </a:prstGeom>
          <a:solidFill>
            <a:srgbClr val="C9CED6"/>
          </a:solidFill>
          <a:ln w="12700">
            <a:solidFill>
              <a:srgbClr val="C9CED6"/>
            </a:solidFill>
            <a:prstDash val="solid"/>
          </a:ln>
        </p:spPr>
      </p:sp>
      <p:sp>
        <p:nvSpPr>
          <p:cNvPr id="60" name="Text 57"/>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1" name="Text 58"/>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يَتَرَاوَحُ دَرَجَةُ الحَرَارَةِ بَيْنَ ١٨ وَ٢٥.</a:t>
            </a:r>
            <a:endParaRPr lang="ar-SA" sz="1700" dirty="0"/>
          </a:p>
        </p:txBody>
      </p:sp>
      <p:sp>
        <p:nvSpPr>
          <p:cNvPr id="62" name="Text 59"/>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bayna … wa …; daraja → ta-.</a:t>
            </a:r>
            <a:endParaRPr lang="en-US" sz="1050" dirty="0"/>
          </a:p>
        </p:txBody>
      </p:sp>
      <p:sp>
        <p:nvSpPr>
          <p:cNvPr id="63" name="Shape 60"/>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6313932" y="4288536"/>
            <a:ext cx="310896" cy="310896"/>
          </a:xfrm>
          <a:prstGeom prst="ellipse">
            <a:avLst/>
          </a:prstGeom>
          <a:solidFill>
            <a:srgbClr val="1B3B6F"/>
          </a:solidFill>
          <a:ln w="12700">
            <a:solidFill>
              <a:srgbClr val="1B3B6F"/>
            </a:solidFill>
            <a:prstDash val="solid"/>
          </a:ln>
        </p:spPr>
      </p:sp>
      <p:sp>
        <p:nvSpPr>
          <p:cNvPr id="65" name="Text 62"/>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8</a:t>
            </a:r>
            <a:endParaRPr lang="en-US" sz="1100" dirty="0"/>
          </a:p>
        </p:txBody>
      </p:sp>
      <p:sp>
        <p:nvSpPr>
          <p:cNvPr id="66" name="Text 63"/>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phrase means “less humid than”?</a:t>
            </a:r>
            <a:endParaRPr lang="en-US" sz="1250" dirty="0"/>
          </a:p>
        </p:txBody>
      </p:sp>
      <p:sp>
        <p:nvSpPr>
          <p:cNvPr id="67" name="Shape 64"/>
          <p:cNvSpPr/>
          <p:nvPr/>
        </p:nvSpPr>
        <p:spPr>
          <a:xfrm>
            <a:off x="6368796" y="4831080"/>
            <a:ext cx="256032" cy="256032"/>
          </a:xfrm>
          <a:prstGeom prst="ellipse">
            <a:avLst/>
          </a:prstGeom>
          <a:solidFill>
            <a:srgbClr val="C9CED6"/>
          </a:solidFill>
          <a:ln w="12700">
            <a:solidFill>
              <a:srgbClr val="C9CED6"/>
            </a:solidFill>
            <a:prstDash val="solid"/>
          </a:ln>
        </p:spPr>
      </p:sp>
      <p:sp>
        <p:nvSpPr>
          <p:cNvPr id="68" name="Text 65"/>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9" name="Text 66"/>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أَكْثَرُ رُطُوبَةً مِنْ</a:t>
            </a:r>
            <a:endParaRPr lang="ar-SA" sz="1700" dirty="0"/>
          </a:p>
        </p:txBody>
      </p:sp>
      <p:sp>
        <p:nvSpPr>
          <p:cNvPr id="70" name="Shape 67"/>
          <p:cNvSpPr/>
          <p:nvPr/>
        </p:nvSpPr>
        <p:spPr>
          <a:xfrm>
            <a:off x="6368796" y="5202936"/>
            <a:ext cx="256032" cy="256032"/>
          </a:xfrm>
          <a:prstGeom prst="ellipse">
            <a:avLst/>
          </a:prstGeom>
          <a:solidFill>
            <a:srgbClr val="C9CED6"/>
          </a:solidFill>
          <a:ln w="12700">
            <a:solidFill>
              <a:srgbClr val="C9CED6"/>
            </a:solidFill>
            <a:prstDash val="solid"/>
          </a:ln>
        </p:spPr>
      </p:sp>
      <p:sp>
        <p:nvSpPr>
          <p:cNvPr id="71" name="Text 68"/>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2" name="Text 69"/>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أَصْغَرُ رَطْبٌ مِنْ</a:t>
            </a:r>
            <a:endParaRPr lang="ar-SA" sz="1700" dirty="0"/>
          </a:p>
        </p:txBody>
      </p:sp>
      <p:sp>
        <p:nvSpPr>
          <p:cNvPr id="73" name="Shape 70"/>
          <p:cNvSpPr/>
          <p:nvPr/>
        </p:nvSpPr>
        <p:spPr>
          <a:xfrm>
            <a:off x="6277356" y="5538216"/>
            <a:ext cx="5362956" cy="347472"/>
          </a:xfrm>
          <a:prstGeom prst="roundRect">
            <a:avLst>
              <a:gd name="adj" fmla="val 15789"/>
            </a:avLst>
          </a:prstGeom>
          <a:solidFill>
            <a:srgbClr val="E6F4EC"/>
          </a:solidFill>
          <a:ln w="9525">
            <a:solidFill>
              <a:srgbClr val="2E8B57"/>
            </a:solidFill>
            <a:prstDash val="solid"/>
          </a:ln>
        </p:spPr>
      </p:sp>
      <p:sp>
        <p:nvSpPr>
          <p:cNvPr id="74" name="Shape 71"/>
          <p:cNvSpPr/>
          <p:nvPr/>
        </p:nvSpPr>
        <p:spPr>
          <a:xfrm>
            <a:off x="6368796" y="5574792"/>
            <a:ext cx="256032" cy="256032"/>
          </a:xfrm>
          <a:prstGeom prst="ellipse">
            <a:avLst/>
          </a:prstGeom>
          <a:solidFill>
            <a:srgbClr val="2E8B57"/>
          </a:solidFill>
          <a:ln w="12700">
            <a:solidFill>
              <a:srgbClr val="2E8B57"/>
            </a:solidFill>
            <a:prstDash val="solid"/>
          </a:ln>
        </p:spPr>
      </p:sp>
      <p:sp>
        <p:nvSpPr>
          <p:cNvPr id="75" name="Text 72"/>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6" name="Text 73"/>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أَقَلُّ رُطُوبَةً مِنْ</a:t>
            </a:r>
            <a:endParaRPr lang="ar-SA" sz="1700" dirty="0"/>
          </a:p>
        </p:txBody>
      </p:sp>
      <p:sp>
        <p:nvSpPr>
          <p:cNvPr id="77" name="Text 74"/>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aqall = less.</a:t>
            </a:r>
            <a:endParaRPr lang="en-US" sz="1050" dirty="0"/>
          </a:p>
        </p:txBody>
      </p:sp>
      <p:sp>
        <p:nvSpPr>
          <p:cNvPr id="78" name="Text 7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25 / 45</a:t>
            </a:r>
            <a:endParaRPr lang="en-US" sz="8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D4-L02 · Weather</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SPOT AND FIX</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Repair the mistake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صَحِّحِ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D4-L02</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يَسْقُطُ الثُّلُوجُ.</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al-thulūj is a non-human plural: ya- or ta-?</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يَرْتَفِعُ دَرَجَةُ الحَرَارَةِ.</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daraja is feminine: ya- or ta-?</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القَاهِرَةُ أَكْثَرُ حَارٌّ مِنْ لَنْدَنَ.</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akthar + adjective or noun?</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26 / 45</a:t>
            </a:r>
            <a:endParaRPr lang="en-US" sz="8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D4-L02 · Weather</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Fixed — and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التَّصْحِيحُ وَالسَّبَبُ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D4-L02</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يَسْقُطُ الثُّلُوجُ.</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تَسْقُطُ الثُّلُوجُ.</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ar-SA" altLang="en-US" sz="1500" b="1" dirty="0">
                <a:solidFill>
                  <a:srgbClr val="1B3B6F"/>
                </a:solidFill>
                <a:latin typeface="Amiri" pitchFamily="2" charset="-78"/>
                <a:ea typeface="Amiri" pitchFamily="2" charset="-78"/>
                <a:cs typeface="Amiri" pitchFamily="2" charset="-78"/>
              </a:rPr>
              <a:t>الثلوج</a:t>
            </a:r>
            <a:pPr algn="l" indent="0" marL="0">
              <a:buNone/>
            </a:pPr>
            <a:r>
              <a:rPr lang="en-US" sz="1150" b="1" dirty="0">
                <a:solidFill>
                  <a:srgbClr val="1B3B6F"/>
                </a:solidFill>
                <a:latin typeface="Calibri" pitchFamily="34" charset="0"/>
                <a:cs typeface="Amiri" pitchFamily="2" charset="-78"/>
              </a:rPr>
              <a:t> is treated as feminine, so the verb begins with </a:t>
            </a:r>
            <a:pPr algn="l" indent="0" marL="0">
              <a:buNone/>
            </a:pPr>
            <a:r>
              <a:rPr lang="ar-SA" altLang="en-US" sz="1500" b="1" dirty="0">
                <a:solidFill>
                  <a:srgbClr val="1B3B6F"/>
                </a:solidFill>
                <a:latin typeface="Amiri" pitchFamily="2" charset="-78"/>
                <a:ea typeface="Amiri" pitchFamily="2" charset="-78"/>
                <a:cs typeface="Amiri" pitchFamily="2" charset="-78"/>
              </a:rPr>
              <a:t>تـ</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يَرْتَفِعُ دَرَجَةُ الحَرَارَةِ.</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تَرْتَفِعُ دَرَجَةُ الحَرَارَةِ.</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ar-SA" altLang="en-US" sz="1500" b="1" dirty="0">
                <a:solidFill>
                  <a:srgbClr val="1B3B6F"/>
                </a:solidFill>
                <a:latin typeface="Amiri" pitchFamily="2" charset="-78"/>
                <a:ea typeface="Amiri" pitchFamily="2" charset="-78"/>
                <a:cs typeface="Amiri" pitchFamily="2" charset="-78"/>
              </a:rPr>
              <a:t>درجة</a:t>
            </a:r>
            <a:pPr algn="l" indent="0" marL="0">
              <a:buNone/>
            </a:pPr>
            <a:r>
              <a:rPr lang="en-US" sz="1150" b="1" dirty="0">
                <a:solidFill>
                  <a:srgbClr val="1B3B6F"/>
                </a:solidFill>
                <a:latin typeface="Calibri" pitchFamily="34" charset="0"/>
                <a:cs typeface="Amiri" pitchFamily="2" charset="-78"/>
              </a:rPr>
              <a:t> is feminine.</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القَاهِرَةُ أَكْثَرُ حَارٌّ مِنْ لَنْدَنَ.</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القَاهِرَةُ أَكْثَرُ حَرَارَةً مِنْ لَنْدَنَ.</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Use </a:t>
            </a:r>
            <a:pPr algn="l" indent="0" marL="0">
              <a:buNone/>
            </a:pPr>
            <a:r>
              <a:rPr lang="ar-SA" altLang="en-US" sz="1500" b="1" dirty="0">
                <a:solidFill>
                  <a:srgbClr val="1B3B6F"/>
                </a:solidFill>
                <a:latin typeface="Amiri" pitchFamily="2" charset="-78"/>
                <a:ea typeface="Amiri" pitchFamily="2" charset="-78"/>
                <a:cs typeface="Amiri" pitchFamily="2" charset="-78"/>
              </a:rPr>
              <a:t>أكثر</a:t>
            </a:r>
            <a:pPr algn="l" indent="0" marL="0">
              <a:buNone/>
            </a:pPr>
            <a:r>
              <a:rPr lang="en-US" sz="1150" b="1" dirty="0">
                <a:solidFill>
                  <a:srgbClr val="1B3B6F"/>
                </a:solidFill>
                <a:latin typeface="Calibri" pitchFamily="34" charset="0"/>
                <a:cs typeface="Amiri" pitchFamily="2" charset="-78"/>
              </a:rPr>
              <a:t> + verbal noun in the accusative: </a:t>
            </a:r>
            <a:pPr algn="l" indent="0" marL="0">
              <a:buNone/>
            </a:pPr>
            <a:r>
              <a:rPr lang="ar-SA" altLang="en-US" sz="1500" b="1" dirty="0">
                <a:solidFill>
                  <a:srgbClr val="1B3B6F"/>
                </a:solidFill>
                <a:latin typeface="Amiri" pitchFamily="2" charset="-78"/>
                <a:ea typeface="Amiri" pitchFamily="2" charset="-78"/>
                <a:cs typeface="Amiri" pitchFamily="2" charset="-78"/>
              </a:rPr>
              <a:t>حرارةً</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27 / 45</a:t>
            </a:r>
            <a:endParaRPr lang="en-US" sz="8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D4-L02 · Weather</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 TEACHER READS ALOUD TWICE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150" b="1" dirty="0">
                <a:solidFill>
                  <a:srgbClr val="1B3B6F"/>
                </a:solidFill>
                <a:latin typeface="Cambria" pitchFamily="34" charset="0"/>
                <a:cs typeface="Amiri" pitchFamily="2" charset="-78"/>
              </a:rPr>
              <a:t>Listening: an Arab-world weather forecast</a:t>
            </a:r>
            <a:endParaRPr lang="en-US" sz="21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D4-L02</a:t>
            </a:r>
            <a:endParaRPr lang="en-US" sz="850" dirty="0"/>
          </a:p>
        </p:txBody>
      </p:sp>
      <p:sp>
        <p:nvSpPr>
          <p:cNvPr id="15" name="Shape 12"/>
          <p:cNvSpPr/>
          <p:nvPr/>
        </p:nvSpPr>
        <p:spPr>
          <a:xfrm>
            <a:off x="457200"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will the weather be like in Cairo?</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Sunny</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Snowy</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Foggy</a:t>
            </a:r>
            <a:endParaRPr lang="en-US" sz="1250" dirty="0"/>
          </a:p>
        </p:txBody>
      </p:sp>
      <p:sp>
        <p:nvSpPr>
          <p:cNvPr id="28" name="Shape 25"/>
          <p:cNvSpPr/>
          <p:nvPr/>
        </p:nvSpPr>
        <p:spPr>
          <a:xfrm>
            <a:off x="3321558"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3449574"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344957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3815334"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Cairo’s maximum temperature?</a:t>
            </a:r>
            <a:endParaRPr lang="en-US" sz="1250" dirty="0"/>
          </a:p>
        </p:txBody>
      </p:sp>
      <p:sp>
        <p:nvSpPr>
          <p:cNvPr id="32" name="Shape 29"/>
          <p:cNvSpPr/>
          <p:nvPr/>
        </p:nvSpPr>
        <p:spPr>
          <a:xfrm>
            <a:off x="3504438"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350443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3833622"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23°C</a:t>
            </a:r>
            <a:endParaRPr lang="en-US" sz="1250" dirty="0"/>
          </a:p>
        </p:txBody>
      </p:sp>
      <p:sp>
        <p:nvSpPr>
          <p:cNvPr id="35" name="Shape 32"/>
          <p:cNvSpPr/>
          <p:nvPr/>
        </p:nvSpPr>
        <p:spPr>
          <a:xfrm>
            <a:off x="3504438"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350443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3833622"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13°C</a:t>
            </a:r>
            <a:endParaRPr lang="en-US" sz="1250" dirty="0"/>
          </a:p>
        </p:txBody>
      </p:sp>
      <p:sp>
        <p:nvSpPr>
          <p:cNvPr id="38" name="Shape 35"/>
          <p:cNvSpPr/>
          <p:nvPr/>
        </p:nvSpPr>
        <p:spPr>
          <a:xfrm>
            <a:off x="3504438"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350443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3833622"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33°C</a:t>
            </a:r>
            <a:endParaRPr lang="en-US" sz="1250" dirty="0"/>
          </a:p>
        </p:txBody>
      </p:sp>
      <p:sp>
        <p:nvSpPr>
          <p:cNvPr id="41" name="Shape 38"/>
          <p:cNvSpPr/>
          <p:nvPr/>
        </p:nvSpPr>
        <p:spPr>
          <a:xfrm>
            <a:off x="6185916"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313932"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6679692"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will happen in Amman at night?</a:t>
            </a:r>
            <a:endParaRPr lang="en-US" sz="1250" dirty="0"/>
          </a:p>
        </p:txBody>
      </p:sp>
      <p:sp>
        <p:nvSpPr>
          <p:cNvPr id="45" name="Shape 42"/>
          <p:cNvSpPr/>
          <p:nvPr/>
        </p:nvSpPr>
        <p:spPr>
          <a:xfrm>
            <a:off x="6368796"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6697980"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temperature will reach 40°C</a:t>
            </a:r>
            <a:endParaRPr lang="en-US" sz="1250" dirty="0"/>
          </a:p>
        </p:txBody>
      </p:sp>
      <p:sp>
        <p:nvSpPr>
          <p:cNvPr id="48" name="Shape 45"/>
          <p:cNvSpPr/>
          <p:nvPr/>
        </p:nvSpPr>
        <p:spPr>
          <a:xfrm>
            <a:off x="6368796"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6697980"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Heavy snow will begin</a:t>
            </a:r>
            <a:endParaRPr lang="en-US" sz="1250" dirty="0"/>
          </a:p>
        </p:txBody>
      </p:sp>
      <p:sp>
        <p:nvSpPr>
          <p:cNvPr id="51" name="Shape 48"/>
          <p:cNvSpPr/>
          <p:nvPr/>
        </p:nvSpPr>
        <p:spPr>
          <a:xfrm>
            <a:off x="6368796"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6697980"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temperature will fall</a:t>
            </a:r>
            <a:endParaRPr lang="en-US" sz="1250" dirty="0"/>
          </a:p>
        </p:txBody>
      </p:sp>
      <p:sp>
        <p:nvSpPr>
          <p:cNvPr id="54" name="Shape 51"/>
          <p:cNvSpPr/>
          <p:nvPr/>
        </p:nvSpPr>
        <p:spPr>
          <a:xfrm>
            <a:off x="9050274"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9178290" y="1947672"/>
            <a:ext cx="310896" cy="310896"/>
          </a:xfrm>
          <a:prstGeom prst="ellipse">
            <a:avLst/>
          </a:prstGeom>
          <a:solidFill>
            <a:srgbClr val="1B3B6F"/>
          </a:solidFill>
          <a:ln w="12700">
            <a:solidFill>
              <a:srgbClr val="1B3B6F"/>
            </a:solidFill>
            <a:prstDash val="solid"/>
          </a:ln>
        </p:spPr>
      </p:sp>
      <p:sp>
        <p:nvSpPr>
          <p:cNvPr id="56" name="Text 53"/>
          <p:cNvSpPr txBox="1"/>
          <p:nvPr/>
        </p:nvSpPr>
        <p:spPr>
          <a:xfrm>
            <a:off x="917829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44050"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Amman’s night temperature?</a:t>
            </a:r>
            <a:endParaRPr lang="en-US" sz="1250" dirty="0"/>
          </a:p>
        </p:txBody>
      </p:sp>
      <p:sp>
        <p:nvSpPr>
          <p:cNvPr id="58" name="Shape 55"/>
          <p:cNvSpPr/>
          <p:nvPr/>
        </p:nvSpPr>
        <p:spPr>
          <a:xfrm>
            <a:off x="9233154" y="2532888"/>
            <a:ext cx="256032" cy="256032"/>
          </a:xfrm>
          <a:prstGeom prst="ellipse">
            <a:avLst/>
          </a:prstGeom>
          <a:solidFill>
            <a:srgbClr val="F4F1EA"/>
          </a:solidFill>
          <a:ln w="12700">
            <a:solidFill>
              <a:srgbClr val="F4F1EA"/>
            </a:solidFill>
            <a:prstDash val="solid"/>
          </a:ln>
        </p:spPr>
      </p:sp>
      <p:sp>
        <p:nvSpPr>
          <p:cNvPr id="59" name="Text 56"/>
          <p:cNvSpPr txBox="1"/>
          <p:nvPr/>
        </p:nvSpPr>
        <p:spPr>
          <a:xfrm>
            <a:off x="923315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562338"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12°C</a:t>
            </a:r>
            <a:endParaRPr lang="en-US" sz="1250" dirty="0"/>
          </a:p>
        </p:txBody>
      </p:sp>
      <p:sp>
        <p:nvSpPr>
          <p:cNvPr id="61" name="Shape 58"/>
          <p:cNvSpPr/>
          <p:nvPr/>
        </p:nvSpPr>
        <p:spPr>
          <a:xfrm>
            <a:off x="9233154" y="2990088"/>
            <a:ext cx="256032" cy="256032"/>
          </a:xfrm>
          <a:prstGeom prst="ellipse">
            <a:avLst/>
          </a:prstGeom>
          <a:solidFill>
            <a:srgbClr val="F4F1EA"/>
          </a:solidFill>
          <a:ln w="12700">
            <a:solidFill>
              <a:srgbClr val="F4F1EA"/>
            </a:solidFill>
            <a:prstDash val="solid"/>
          </a:ln>
        </p:spPr>
      </p:sp>
      <p:sp>
        <p:nvSpPr>
          <p:cNvPr id="62" name="Text 59"/>
          <p:cNvSpPr txBox="1"/>
          <p:nvPr/>
        </p:nvSpPr>
        <p:spPr>
          <a:xfrm>
            <a:off x="923315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562338"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20°C</a:t>
            </a:r>
            <a:endParaRPr lang="en-US" sz="1250" dirty="0"/>
          </a:p>
        </p:txBody>
      </p:sp>
      <p:sp>
        <p:nvSpPr>
          <p:cNvPr id="64" name="Shape 61"/>
          <p:cNvSpPr/>
          <p:nvPr/>
        </p:nvSpPr>
        <p:spPr>
          <a:xfrm>
            <a:off x="9233154" y="3447288"/>
            <a:ext cx="256032" cy="256032"/>
          </a:xfrm>
          <a:prstGeom prst="ellipse">
            <a:avLst/>
          </a:prstGeom>
          <a:solidFill>
            <a:srgbClr val="F4F1EA"/>
          </a:solidFill>
          <a:ln w="12700">
            <a:solidFill>
              <a:srgbClr val="F4F1EA"/>
            </a:solidFill>
            <a:prstDash val="solid"/>
          </a:ln>
        </p:spPr>
      </p:sp>
      <p:sp>
        <p:nvSpPr>
          <p:cNvPr id="65" name="Text 62"/>
          <p:cNvSpPr txBox="1"/>
          <p:nvPr/>
        </p:nvSpPr>
        <p:spPr>
          <a:xfrm>
            <a:off x="923315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562338"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2°C</a:t>
            </a:r>
            <a:endParaRPr lang="en-US" sz="1250" dirty="0"/>
          </a:p>
        </p:txBody>
      </p:sp>
      <p:sp>
        <p:nvSpPr>
          <p:cNvPr id="67" name="Shape 64"/>
          <p:cNvSpPr/>
          <p:nvPr/>
        </p:nvSpPr>
        <p:spPr>
          <a:xfrm>
            <a:off x="457200"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585216"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950976"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When will rain fall in Rabat?</a:t>
            </a:r>
            <a:endParaRPr lang="en-US" sz="1250" dirty="0"/>
          </a:p>
        </p:txBody>
      </p:sp>
      <p:sp>
        <p:nvSpPr>
          <p:cNvPr id="71" name="Shape 68"/>
          <p:cNvSpPr/>
          <p:nvPr/>
        </p:nvSpPr>
        <p:spPr>
          <a:xfrm>
            <a:off x="640080"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969264" y="47731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Next week</a:t>
            </a:r>
            <a:endParaRPr lang="en-US" sz="1250" dirty="0"/>
          </a:p>
        </p:txBody>
      </p:sp>
      <p:sp>
        <p:nvSpPr>
          <p:cNvPr id="74" name="Shape 71"/>
          <p:cNvSpPr/>
          <p:nvPr/>
        </p:nvSpPr>
        <p:spPr>
          <a:xfrm>
            <a:off x="640080"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969264" y="52303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In the morning</a:t>
            </a:r>
            <a:endParaRPr lang="en-US" sz="1250" dirty="0"/>
          </a:p>
        </p:txBody>
      </p:sp>
      <p:sp>
        <p:nvSpPr>
          <p:cNvPr id="77" name="Shape 74"/>
          <p:cNvSpPr/>
          <p:nvPr/>
        </p:nvSpPr>
        <p:spPr>
          <a:xfrm>
            <a:off x="640080"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969264" y="56875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At noon only</a:t>
            </a:r>
            <a:endParaRPr lang="en-US" sz="1250" dirty="0"/>
          </a:p>
        </p:txBody>
      </p:sp>
      <p:sp>
        <p:nvSpPr>
          <p:cNvPr id="80" name="Shape 77"/>
          <p:cNvSpPr/>
          <p:nvPr/>
        </p:nvSpPr>
        <p:spPr>
          <a:xfrm>
            <a:off x="3321558"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1" name="Shape 78"/>
          <p:cNvSpPr/>
          <p:nvPr/>
        </p:nvSpPr>
        <p:spPr>
          <a:xfrm>
            <a:off x="3449574" y="4288536"/>
            <a:ext cx="310896" cy="310896"/>
          </a:xfrm>
          <a:prstGeom prst="ellipse">
            <a:avLst/>
          </a:prstGeom>
          <a:solidFill>
            <a:srgbClr val="1B3B6F"/>
          </a:solidFill>
          <a:ln w="12700">
            <a:solidFill>
              <a:srgbClr val="1B3B6F"/>
            </a:solidFill>
            <a:prstDash val="solid"/>
          </a:ln>
        </p:spPr>
      </p:sp>
      <p:sp>
        <p:nvSpPr>
          <p:cNvPr id="82" name="Text 79"/>
          <p:cNvSpPr txBox="1"/>
          <p:nvPr/>
        </p:nvSpPr>
        <p:spPr>
          <a:xfrm>
            <a:off x="344957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83" name="Text 80"/>
          <p:cNvSpPr txBox="1"/>
          <p:nvPr/>
        </p:nvSpPr>
        <p:spPr>
          <a:xfrm>
            <a:off x="3815334"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will happen in Rabat in the evening?</a:t>
            </a:r>
            <a:endParaRPr lang="en-US" sz="1250" dirty="0"/>
          </a:p>
        </p:txBody>
      </p:sp>
      <p:sp>
        <p:nvSpPr>
          <p:cNvPr id="84" name="Shape 81"/>
          <p:cNvSpPr/>
          <p:nvPr/>
        </p:nvSpPr>
        <p:spPr>
          <a:xfrm>
            <a:off x="3504438" y="4873752"/>
            <a:ext cx="256032" cy="256032"/>
          </a:xfrm>
          <a:prstGeom prst="ellipse">
            <a:avLst/>
          </a:prstGeom>
          <a:solidFill>
            <a:srgbClr val="F4F1EA"/>
          </a:solidFill>
          <a:ln w="12700">
            <a:solidFill>
              <a:srgbClr val="F4F1EA"/>
            </a:solidFill>
            <a:prstDash val="solid"/>
          </a:ln>
        </p:spPr>
      </p:sp>
      <p:sp>
        <p:nvSpPr>
          <p:cNvPr id="85" name="Text 82"/>
          <p:cNvSpPr txBox="1"/>
          <p:nvPr/>
        </p:nvSpPr>
        <p:spPr>
          <a:xfrm>
            <a:off x="3504438"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6" name="Text 83"/>
          <p:cNvSpPr txBox="1"/>
          <p:nvPr/>
        </p:nvSpPr>
        <p:spPr>
          <a:xfrm>
            <a:off x="3833622" y="47731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Strong winds will blow</a:t>
            </a:r>
            <a:endParaRPr lang="en-US" sz="1250" dirty="0"/>
          </a:p>
        </p:txBody>
      </p:sp>
      <p:sp>
        <p:nvSpPr>
          <p:cNvPr id="87" name="Shape 84"/>
          <p:cNvSpPr/>
          <p:nvPr/>
        </p:nvSpPr>
        <p:spPr>
          <a:xfrm>
            <a:off x="3504438" y="5330952"/>
            <a:ext cx="256032" cy="256032"/>
          </a:xfrm>
          <a:prstGeom prst="ellipse">
            <a:avLst/>
          </a:prstGeom>
          <a:solidFill>
            <a:srgbClr val="F4F1EA"/>
          </a:solidFill>
          <a:ln w="12700">
            <a:solidFill>
              <a:srgbClr val="F4F1EA"/>
            </a:solidFill>
            <a:prstDash val="solid"/>
          </a:ln>
        </p:spPr>
      </p:sp>
      <p:sp>
        <p:nvSpPr>
          <p:cNvPr id="88" name="Text 85"/>
          <p:cNvSpPr txBox="1"/>
          <p:nvPr/>
        </p:nvSpPr>
        <p:spPr>
          <a:xfrm>
            <a:off x="3504438"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9" name="Text 86"/>
          <p:cNvSpPr txBox="1"/>
          <p:nvPr/>
        </p:nvSpPr>
        <p:spPr>
          <a:xfrm>
            <a:off x="3833622" y="52303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sun will rise</a:t>
            </a:r>
            <a:endParaRPr lang="en-US" sz="1250" dirty="0"/>
          </a:p>
        </p:txBody>
      </p:sp>
      <p:sp>
        <p:nvSpPr>
          <p:cNvPr id="90" name="Shape 87"/>
          <p:cNvSpPr/>
          <p:nvPr/>
        </p:nvSpPr>
        <p:spPr>
          <a:xfrm>
            <a:off x="3504438" y="5788152"/>
            <a:ext cx="256032" cy="256032"/>
          </a:xfrm>
          <a:prstGeom prst="ellipse">
            <a:avLst/>
          </a:prstGeom>
          <a:solidFill>
            <a:srgbClr val="F4F1EA"/>
          </a:solidFill>
          <a:ln w="12700">
            <a:solidFill>
              <a:srgbClr val="F4F1EA"/>
            </a:solidFill>
            <a:prstDash val="solid"/>
          </a:ln>
        </p:spPr>
      </p:sp>
      <p:sp>
        <p:nvSpPr>
          <p:cNvPr id="91" name="Text 88"/>
          <p:cNvSpPr txBox="1"/>
          <p:nvPr/>
        </p:nvSpPr>
        <p:spPr>
          <a:xfrm>
            <a:off x="3504438"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2" name="Text 89"/>
          <p:cNvSpPr txBox="1"/>
          <p:nvPr/>
        </p:nvSpPr>
        <p:spPr>
          <a:xfrm>
            <a:off x="3833622" y="56875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temperature will reach 33°C</a:t>
            </a:r>
            <a:endParaRPr lang="en-US" sz="1250" dirty="0"/>
          </a:p>
        </p:txBody>
      </p:sp>
      <p:sp>
        <p:nvSpPr>
          <p:cNvPr id="93" name="Shape 90"/>
          <p:cNvSpPr/>
          <p:nvPr/>
        </p:nvSpPr>
        <p:spPr>
          <a:xfrm>
            <a:off x="6185916" y="4151376"/>
            <a:ext cx="2681478"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4" name="Shape 91"/>
          <p:cNvSpPr/>
          <p:nvPr/>
        </p:nvSpPr>
        <p:spPr>
          <a:xfrm>
            <a:off x="6807708" y="4361688"/>
            <a:ext cx="914400" cy="274320"/>
          </a:xfrm>
          <a:prstGeom prst="roundRect">
            <a:avLst>
              <a:gd name="adj" fmla="val 50000"/>
            </a:avLst>
          </a:prstGeom>
          <a:solidFill>
            <a:srgbClr val="2E8B57"/>
          </a:solidFill>
          <a:ln w="12700">
            <a:solidFill>
              <a:srgbClr val="2E8B57"/>
            </a:solidFill>
            <a:prstDash val="solid"/>
          </a:ln>
        </p:spPr>
      </p:sp>
      <p:sp>
        <p:nvSpPr>
          <p:cNvPr id="95" name="Text 92"/>
          <p:cNvSpPr txBox="1"/>
          <p:nvPr/>
        </p:nvSpPr>
        <p:spPr>
          <a:xfrm>
            <a:off x="6807708"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96" name="Text 93"/>
          <p:cNvSpPr txBox="1"/>
          <p:nvPr/>
        </p:nvSpPr>
        <p:spPr>
          <a:xfrm>
            <a:off x="6387084" y="4791456"/>
            <a:ext cx="2315718" cy="1380744"/>
          </a:xfrm>
          <a:prstGeom prst="rect">
            <a:avLst/>
          </a:prstGeom>
          <a:noFill/>
          <a:ln/>
        </p:spPr>
        <p:txBody>
          <a:bodyPr wrap="square" lIns="0" tIns="0" rIns="0" bIns="0" rtlCol="0" anchor="t"/>
          <a:lstStyle/>
          <a:p>
            <a:pPr algn="l" indent="0" marL="0">
              <a:lnSpc>
                <a:spcPct val="115000"/>
              </a:lnSpc>
              <a:buNone/>
            </a:pPr>
            <a:r>
              <a:rPr lang="en-US" sz="1250" dirty="0">
                <a:solidFill>
                  <a:srgbClr val="1E6B52"/>
                </a:solidFill>
                <a:latin typeface="Calibri" pitchFamily="34" charset="0"/>
                <a:cs typeface="Amiri" pitchFamily="2" charset="-78"/>
              </a:rPr>
              <a:t>Listen twice. Core: questions 1, 2 and 5.</a:t>
            </a:r>
            <a:endParaRPr lang="en-US" sz="1250" dirty="0"/>
          </a:p>
          <a:p>
            <a:pPr algn="l" indent="0" marL="0">
              <a:lnSpc>
                <a:spcPct val="115000"/>
              </a:lnSpc>
              <a:buNone/>
            </a:pPr>
            <a:r>
              <a:rPr lang="en-US" sz="1250" dirty="0">
                <a:solidFill>
                  <a:srgbClr val="1E6B52"/>
                </a:solidFill>
                <a:latin typeface="Calibri" pitchFamily="34" charset="0"/>
                <a:cs typeface="Amiri" pitchFamily="2" charset="-78"/>
              </a:rPr>
              <a:t>Listen for: </a:t>
            </a:r>
            <a:pPr algn="l" indent="0" marL="0">
              <a:lnSpc>
                <a:spcPct val="115000"/>
              </a:lnSpc>
              <a:buNone/>
            </a:pPr>
            <a:r>
              <a:rPr lang="ar-SA" altLang="en-US" sz="1650" dirty="0">
                <a:solidFill>
                  <a:srgbClr val="1E6B52"/>
                </a:solidFill>
                <a:latin typeface="Amiri" pitchFamily="2" charset="-78"/>
                <a:ea typeface="Amiri" pitchFamily="2" charset="-78"/>
                <a:cs typeface="Amiri" pitchFamily="2" charset="-78"/>
              </a:rPr>
              <a:t>القَاهِرَةِ</a:t>
            </a:r>
            <a:pPr algn="l" indent="0" marL="0">
              <a:lnSpc>
                <a:spcPct val="115000"/>
              </a:lnSpc>
              <a:buNone/>
            </a:pPr>
            <a:r>
              <a:rPr lang="en-US" sz="1250" dirty="0">
                <a:solidFill>
                  <a:srgbClr val="1E6B52"/>
                </a:solidFill>
                <a:latin typeface="Calibri" pitchFamily="34" charset="0"/>
                <a:cs typeface="Amiri" pitchFamily="2" charset="-78"/>
              </a:rPr>
              <a:t> · </a:t>
            </a:r>
            <a:pPr algn="l" indent="0" marL="0">
              <a:lnSpc>
                <a:spcPct val="115000"/>
              </a:lnSpc>
              <a:buNone/>
            </a:pPr>
            <a:r>
              <a:rPr lang="ar-SA" altLang="en-US" sz="1650" dirty="0">
                <a:solidFill>
                  <a:srgbClr val="1E6B52"/>
                </a:solidFill>
                <a:latin typeface="Amiri" pitchFamily="2" charset="-78"/>
                <a:ea typeface="Amiri" pitchFamily="2" charset="-78"/>
                <a:cs typeface="Amiri" pitchFamily="2" charset="-78"/>
              </a:rPr>
              <a:t>ثَلَاثٍ وَثَلَاثِينَ</a:t>
            </a:r>
            <a:pPr algn="l" indent="0" marL="0">
              <a:lnSpc>
                <a:spcPct val="115000"/>
              </a:lnSpc>
              <a:buNone/>
            </a:pPr>
            <a:r>
              <a:rPr lang="en-US" sz="1250" dirty="0">
                <a:solidFill>
                  <a:srgbClr val="1E6B52"/>
                </a:solidFill>
                <a:latin typeface="Calibri" pitchFamily="34" charset="0"/>
                <a:cs typeface="Amiri" pitchFamily="2" charset="-78"/>
              </a:rPr>
              <a:t> · </a:t>
            </a:r>
            <a:pPr algn="l" indent="0" marL="0">
              <a:lnSpc>
                <a:spcPct val="115000"/>
              </a:lnSpc>
              <a:buNone/>
            </a:pPr>
            <a:r>
              <a:rPr lang="ar-SA" altLang="en-US" sz="1650" dirty="0">
                <a:solidFill>
                  <a:srgbClr val="1E6B52"/>
                </a:solidFill>
                <a:latin typeface="Amiri" pitchFamily="2" charset="-78"/>
                <a:ea typeface="Amiri" pitchFamily="2" charset="-78"/>
                <a:cs typeface="Amiri" pitchFamily="2" charset="-78"/>
              </a:rPr>
              <a:t>الرِّبَاطِ</a:t>
            </a:r>
            <a:pPr algn="l" indent="0" marL="0">
              <a:lnSpc>
                <a:spcPct val="115000"/>
              </a:lnSpc>
              <a:buNone/>
            </a:pPr>
            <a:r>
              <a:rPr lang="en-US" sz="1250" dirty="0">
                <a:solidFill>
                  <a:srgbClr val="1E6B52"/>
                </a:solidFill>
                <a:latin typeface="Calibri" pitchFamily="34" charset="0"/>
                <a:cs typeface="Amiri" pitchFamily="2" charset="-78"/>
              </a:rPr>
              <a:t>.</a:t>
            </a:r>
            <a:endParaRPr lang="en-US" sz="1250" dirty="0"/>
          </a:p>
        </p:txBody>
      </p:sp>
      <p:sp>
        <p:nvSpPr>
          <p:cNvPr id="97" name="Text 9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28 / 45</a:t>
            </a:r>
            <a:endParaRPr lang="en-US" sz="8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D4-L02 · Weather</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SUPPORT · READ ALONG (CORE)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50" b="1" dirty="0">
                <a:solidFill>
                  <a:srgbClr val="1B3B6F"/>
                </a:solidFill>
                <a:latin typeface="Cambria" pitchFamily="34" charset="0"/>
                <a:cs typeface="Amiri" pitchFamily="2" charset="-78"/>
              </a:rPr>
              <a:t>The script — read along with English</a:t>
            </a:r>
            <a:endParaRPr lang="en-US" sz="26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نَصُّ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D4-L02</a:t>
            </a:r>
            <a:endParaRPr lang="en-US" sz="850" dirty="0"/>
          </a:p>
        </p:txBody>
      </p:sp>
      <p:sp>
        <p:nvSpPr>
          <p:cNvPr id="15" name="Shape 12"/>
          <p:cNvSpPr/>
          <p:nvPr/>
        </p:nvSpPr>
        <p:spPr>
          <a:xfrm>
            <a:off x="457200" y="1810512"/>
            <a:ext cx="11274552" cy="841248"/>
          </a:xfrm>
          <a:prstGeom prst="roundRect">
            <a:avLst>
              <a:gd name="adj" fmla="val 5435"/>
            </a:avLst>
          </a:prstGeom>
          <a:solidFill>
            <a:srgbClr val="FFFFFF"/>
          </a:solidFill>
          <a:ln w="9525">
            <a:solidFill>
              <a:srgbClr val="D8D0BF"/>
            </a:solidFill>
            <a:prstDash val="solid"/>
          </a:ln>
        </p:spPr>
      </p:sp>
      <p:sp>
        <p:nvSpPr>
          <p:cNvPr id="16" name="Text 13"/>
          <p:cNvSpPr txBox="1"/>
          <p:nvPr/>
        </p:nvSpPr>
        <p:spPr>
          <a:xfrm>
            <a:off x="4937760" y="18288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مَرْحَبًا بِكُمْ فِي النَّشْرَةِ الجَوِّيَّةِ.</a:t>
            </a:r>
            <a:endParaRPr lang="ar-SA" sz="2000" dirty="0"/>
          </a:p>
        </p:txBody>
      </p:sp>
      <p:sp>
        <p:nvSpPr>
          <p:cNvPr id="17" name="Text 14"/>
          <p:cNvSpPr txBox="1"/>
          <p:nvPr/>
        </p:nvSpPr>
        <p:spPr>
          <a:xfrm>
            <a:off x="640080" y="18288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Welcome to the weather forecast.</a:t>
            </a:r>
            <a:endParaRPr lang="en-US" sz="1250" dirty="0"/>
          </a:p>
        </p:txBody>
      </p:sp>
      <p:sp>
        <p:nvSpPr>
          <p:cNvPr id="18" name="Shape 15"/>
          <p:cNvSpPr/>
          <p:nvPr/>
        </p:nvSpPr>
        <p:spPr>
          <a:xfrm>
            <a:off x="457200" y="2724912"/>
            <a:ext cx="11274552" cy="841248"/>
          </a:xfrm>
          <a:prstGeom prst="roundRect">
            <a:avLst>
              <a:gd name="adj" fmla="val 5435"/>
            </a:avLst>
          </a:prstGeom>
          <a:solidFill>
            <a:srgbClr val="F4F1EA"/>
          </a:solidFill>
          <a:ln w="9525">
            <a:solidFill>
              <a:srgbClr val="D8D0BF"/>
            </a:solidFill>
            <a:prstDash val="solid"/>
          </a:ln>
        </p:spPr>
      </p:sp>
      <p:sp>
        <p:nvSpPr>
          <p:cNvPr id="19" name="Text 16"/>
          <p:cNvSpPr txBox="1"/>
          <p:nvPr/>
        </p:nvSpPr>
        <p:spPr>
          <a:xfrm>
            <a:off x="4937760" y="2743200"/>
            <a:ext cx="6675120" cy="804672"/>
          </a:xfrm>
          <a:prstGeom prst="rect">
            <a:avLst/>
          </a:prstGeom>
          <a:noFill/>
          <a:ln/>
        </p:spPr>
        <p:txBody>
          <a:bodyPr wrap="square" lIns="0" tIns="0" rIns="0" bIns="0" rtlCol="0" anchor="ctr"/>
          <a:lstStyle/>
          <a:p>
            <a:pPr rtl="1" algn="r" indent="0" marL="0">
              <a:buNone/>
            </a:pPr>
            <a:r>
              <a:rPr lang="ar-SA" altLang="en-US" sz="1950" b="1" dirty="0">
                <a:solidFill>
                  <a:srgbClr val="1B3B6F"/>
                </a:solidFill>
                <a:latin typeface="Amiri" pitchFamily="2" charset="-78"/>
                <a:ea typeface="Amiri" pitchFamily="2" charset="-78"/>
                <a:cs typeface="Amiri" pitchFamily="2" charset="-78"/>
              </a:rPr>
              <a:t>فِي القَاهِرَةِ سَتُشْرِقُ الشَّمْسُ، وَسَتَرْتَفِعُ دَرَجَةُ الحَرَارَةِ إِلَى ثَلَاثٍ وَثَلَاثِينَ دَرَجَةً.</a:t>
            </a:r>
            <a:endParaRPr lang="ar-SA" sz="1950" dirty="0"/>
          </a:p>
        </p:txBody>
      </p:sp>
      <p:sp>
        <p:nvSpPr>
          <p:cNvPr id="20" name="Text 17"/>
          <p:cNvSpPr txBox="1"/>
          <p:nvPr/>
        </p:nvSpPr>
        <p:spPr>
          <a:xfrm>
            <a:off x="640080" y="27432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In Cairo the sun will shine, and the temperature will rise to 33 degrees.</a:t>
            </a:r>
            <a:endParaRPr lang="en-US" sz="1250" dirty="0"/>
          </a:p>
        </p:txBody>
      </p:sp>
      <p:sp>
        <p:nvSpPr>
          <p:cNvPr id="21" name="Shape 18"/>
          <p:cNvSpPr/>
          <p:nvPr/>
        </p:nvSpPr>
        <p:spPr>
          <a:xfrm>
            <a:off x="457200" y="3639312"/>
            <a:ext cx="11274552" cy="841248"/>
          </a:xfrm>
          <a:prstGeom prst="roundRect">
            <a:avLst>
              <a:gd name="adj" fmla="val 5435"/>
            </a:avLst>
          </a:prstGeom>
          <a:solidFill>
            <a:srgbClr val="FFFFFF"/>
          </a:solidFill>
          <a:ln w="9525">
            <a:solidFill>
              <a:srgbClr val="D8D0BF"/>
            </a:solidFill>
            <a:prstDash val="solid"/>
          </a:ln>
        </p:spPr>
      </p:sp>
      <p:sp>
        <p:nvSpPr>
          <p:cNvPr id="22" name="Text 19"/>
          <p:cNvSpPr txBox="1"/>
          <p:nvPr/>
        </p:nvSpPr>
        <p:spPr>
          <a:xfrm>
            <a:off x="4937760" y="36576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أَمَّا فِي عَمَّانَ فَمِنَ المُتَوَقَّعِ أَنْ تَنْخَفِضَ دَرَجَةُ الحَرَارَةِ لَيْلًا</a:t>
            </a:r>
            <a:endParaRPr lang="ar-SA" sz="2000" dirty="0"/>
          </a:p>
        </p:txBody>
      </p:sp>
      <p:sp>
        <p:nvSpPr>
          <p:cNvPr id="23" name="Text 20"/>
          <p:cNvSpPr txBox="1"/>
          <p:nvPr/>
        </p:nvSpPr>
        <p:spPr>
          <a:xfrm>
            <a:off x="640080" y="36576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As for Amman, the temperature is expected to fall at night</a:t>
            </a:r>
            <a:endParaRPr lang="en-US" sz="1250" dirty="0"/>
          </a:p>
        </p:txBody>
      </p:sp>
      <p:sp>
        <p:nvSpPr>
          <p:cNvPr id="24" name="Shape 21"/>
          <p:cNvSpPr/>
          <p:nvPr/>
        </p:nvSpPr>
        <p:spPr>
          <a:xfrm>
            <a:off x="457200" y="4553712"/>
            <a:ext cx="11274552" cy="841248"/>
          </a:xfrm>
          <a:prstGeom prst="roundRect">
            <a:avLst>
              <a:gd name="adj" fmla="val 5435"/>
            </a:avLst>
          </a:prstGeom>
          <a:solidFill>
            <a:srgbClr val="F4F1EA"/>
          </a:solidFill>
          <a:ln w="9525">
            <a:solidFill>
              <a:srgbClr val="D8D0BF"/>
            </a:solidFill>
            <a:prstDash val="solid"/>
          </a:ln>
        </p:spPr>
      </p:sp>
      <p:sp>
        <p:nvSpPr>
          <p:cNvPr id="25" name="Text 22"/>
          <p:cNvSpPr txBox="1"/>
          <p:nvPr/>
        </p:nvSpPr>
        <p:spPr>
          <a:xfrm>
            <a:off x="4937760" y="45720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إِلَى اثْنَتَيْ عَشْرَةَ دَرَجَةً.</a:t>
            </a:r>
            <a:endParaRPr lang="ar-SA" sz="2000" dirty="0"/>
          </a:p>
        </p:txBody>
      </p:sp>
      <p:sp>
        <p:nvSpPr>
          <p:cNvPr id="26" name="Text 23"/>
          <p:cNvSpPr txBox="1"/>
          <p:nvPr/>
        </p:nvSpPr>
        <p:spPr>
          <a:xfrm>
            <a:off x="640080" y="45720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to 12 degrees.</a:t>
            </a:r>
            <a:endParaRPr lang="en-US" sz="1250" dirty="0"/>
          </a:p>
        </p:txBody>
      </p:sp>
      <p:sp>
        <p:nvSpPr>
          <p:cNvPr id="27" name="Shape 24"/>
          <p:cNvSpPr/>
          <p:nvPr/>
        </p:nvSpPr>
        <p:spPr>
          <a:xfrm>
            <a:off x="457200" y="5468112"/>
            <a:ext cx="11274552" cy="841248"/>
          </a:xfrm>
          <a:prstGeom prst="roundRect">
            <a:avLst>
              <a:gd name="adj" fmla="val 5435"/>
            </a:avLst>
          </a:prstGeom>
          <a:solidFill>
            <a:srgbClr val="FFFFFF"/>
          </a:solidFill>
          <a:ln w="9525">
            <a:solidFill>
              <a:srgbClr val="D8D0BF"/>
            </a:solidFill>
            <a:prstDash val="solid"/>
          </a:ln>
        </p:spPr>
      </p:sp>
      <p:sp>
        <p:nvSpPr>
          <p:cNvPr id="28" name="Text 25"/>
          <p:cNvSpPr txBox="1"/>
          <p:nvPr/>
        </p:nvSpPr>
        <p:spPr>
          <a:xfrm>
            <a:off x="4937760" y="54864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وَفِي الرِّبَاطِ سَيَسْقُطُ المَطَرُ صَبَاحًا، ثُمَّ تَهُبُّ رِيَاحٌ قَوِيَّةٌ مَسَاءً.</a:t>
            </a:r>
            <a:endParaRPr lang="ar-SA" sz="2000" dirty="0"/>
          </a:p>
        </p:txBody>
      </p:sp>
      <p:sp>
        <p:nvSpPr>
          <p:cNvPr id="29" name="Text 26"/>
          <p:cNvSpPr txBox="1"/>
          <p:nvPr/>
        </p:nvSpPr>
        <p:spPr>
          <a:xfrm>
            <a:off x="640080" y="54864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And in Rabat rain will fall in the morning, then strong winds will blow in the evening.</a:t>
            </a:r>
            <a:endParaRPr lang="en-US" sz="125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29 / 45</a:t>
            </a:r>
            <a:endParaRPr lang="en-US" sz="8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D4-L02 · Weather</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Listening: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D4-L02</a:t>
            </a:r>
            <a:endParaRPr lang="en-US" sz="850" dirty="0"/>
          </a:p>
        </p:txBody>
      </p:sp>
      <p:sp>
        <p:nvSpPr>
          <p:cNvPr id="15" name="Shape 12"/>
          <p:cNvSpPr/>
          <p:nvPr/>
        </p:nvSpPr>
        <p:spPr>
          <a:xfrm>
            <a:off x="457200"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will the weather be like in Cairo?</a:t>
            </a:r>
            <a:endParaRPr lang="en-US" sz="1250" dirty="0"/>
          </a:p>
        </p:txBody>
      </p:sp>
      <p:sp>
        <p:nvSpPr>
          <p:cNvPr id="19" name="Shape 16"/>
          <p:cNvSpPr/>
          <p:nvPr/>
        </p:nvSpPr>
        <p:spPr>
          <a:xfrm>
            <a:off x="548640" y="2453640"/>
            <a:ext cx="2498598"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490216"/>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Sunny</a:t>
            </a:r>
            <a:endParaRPr lang="en-US" sz="1250" dirty="0"/>
          </a:p>
        </p:txBody>
      </p:sp>
      <p:sp>
        <p:nvSpPr>
          <p:cNvPr id="23" name="Shape 20"/>
          <p:cNvSpPr/>
          <p:nvPr/>
        </p:nvSpPr>
        <p:spPr>
          <a:xfrm>
            <a:off x="640080" y="2862072"/>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0416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Snowy</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Foggy</a:t>
            </a:r>
            <a:endParaRPr lang="en-US" sz="1250" dirty="0"/>
          </a:p>
        </p:txBody>
      </p:sp>
      <p:sp>
        <p:nvSpPr>
          <p:cNvPr id="29" name="Text 26"/>
          <p:cNvSpPr txBox="1"/>
          <p:nvPr/>
        </p:nvSpPr>
        <p:spPr>
          <a:xfrm>
            <a:off x="585216" y="3566160"/>
            <a:ext cx="2425446"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ستشرق الشمس</a:t>
            </a:r>
            <a:pPr algn="l" indent="0" marL="0">
              <a:buNone/>
            </a:pPr>
            <a:r>
              <a:rPr lang="en-US" sz="1050" i="1" dirty="0">
                <a:solidFill>
                  <a:srgbClr val="8A6D1E"/>
                </a:solidFill>
                <a:latin typeface="Calibri" pitchFamily="34" charset="0"/>
                <a:cs typeface="Amiri" pitchFamily="2" charset="-78"/>
              </a:rPr>
              <a:t> means it will be sunny.</a:t>
            </a:r>
            <a:endParaRPr lang="en-US" sz="1050" dirty="0"/>
          </a:p>
        </p:txBody>
      </p:sp>
      <p:sp>
        <p:nvSpPr>
          <p:cNvPr id="30" name="Shape 27"/>
          <p:cNvSpPr/>
          <p:nvPr/>
        </p:nvSpPr>
        <p:spPr>
          <a:xfrm>
            <a:off x="3321558"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3449574"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344957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3815334"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Cairo’s maximum temperature?</a:t>
            </a:r>
            <a:endParaRPr lang="en-US" sz="1250" dirty="0"/>
          </a:p>
        </p:txBody>
      </p:sp>
      <p:sp>
        <p:nvSpPr>
          <p:cNvPr id="34" name="Shape 31"/>
          <p:cNvSpPr/>
          <p:nvPr/>
        </p:nvSpPr>
        <p:spPr>
          <a:xfrm>
            <a:off x="3504438"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350443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3833622" y="243230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23°C</a:t>
            </a:r>
            <a:endParaRPr lang="en-US" sz="1250" dirty="0"/>
          </a:p>
        </p:txBody>
      </p:sp>
      <p:sp>
        <p:nvSpPr>
          <p:cNvPr id="37" name="Shape 34"/>
          <p:cNvSpPr/>
          <p:nvPr/>
        </p:nvSpPr>
        <p:spPr>
          <a:xfrm>
            <a:off x="3504438" y="2862072"/>
            <a:ext cx="256032" cy="256032"/>
          </a:xfrm>
          <a:prstGeom prst="ellipse">
            <a:avLst/>
          </a:prstGeom>
          <a:solidFill>
            <a:srgbClr val="C9CED6"/>
          </a:solidFill>
          <a:ln w="12700">
            <a:solidFill>
              <a:srgbClr val="C9CED6"/>
            </a:solidFill>
            <a:prstDash val="solid"/>
          </a:ln>
        </p:spPr>
      </p:sp>
      <p:sp>
        <p:nvSpPr>
          <p:cNvPr id="38" name="Text 35"/>
          <p:cNvSpPr txBox="1"/>
          <p:nvPr/>
        </p:nvSpPr>
        <p:spPr>
          <a:xfrm>
            <a:off x="350443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3833622" y="280416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13°C</a:t>
            </a:r>
            <a:endParaRPr lang="en-US" sz="1250" dirty="0"/>
          </a:p>
        </p:txBody>
      </p:sp>
      <p:sp>
        <p:nvSpPr>
          <p:cNvPr id="40" name="Shape 37"/>
          <p:cNvSpPr/>
          <p:nvPr/>
        </p:nvSpPr>
        <p:spPr>
          <a:xfrm>
            <a:off x="3412998" y="3197352"/>
            <a:ext cx="2498598"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3504438" y="3233928"/>
            <a:ext cx="256032" cy="256032"/>
          </a:xfrm>
          <a:prstGeom prst="ellipse">
            <a:avLst/>
          </a:prstGeom>
          <a:solidFill>
            <a:srgbClr val="2E8B57"/>
          </a:solidFill>
          <a:ln w="12700">
            <a:solidFill>
              <a:srgbClr val="2E8B57"/>
            </a:solidFill>
            <a:prstDash val="solid"/>
          </a:ln>
        </p:spPr>
      </p:sp>
      <p:sp>
        <p:nvSpPr>
          <p:cNvPr id="42" name="Text 39"/>
          <p:cNvSpPr txBox="1"/>
          <p:nvPr/>
        </p:nvSpPr>
        <p:spPr>
          <a:xfrm>
            <a:off x="350443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3" name="Text 40"/>
          <p:cNvSpPr txBox="1"/>
          <p:nvPr/>
        </p:nvSpPr>
        <p:spPr>
          <a:xfrm>
            <a:off x="3833622" y="3176016"/>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33°C</a:t>
            </a:r>
            <a:endParaRPr lang="en-US" sz="1250" dirty="0"/>
          </a:p>
        </p:txBody>
      </p:sp>
      <p:sp>
        <p:nvSpPr>
          <p:cNvPr id="44" name="Text 41"/>
          <p:cNvSpPr txBox="1"/>
          <p:nvPr/>
        </p:nvSpPr>
        <p:spPr>
          <a:xfrm>
            <a:off x="3449574" y="3566160"/>
            <a:ext cx="2425446"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script says </a:t>
            </a:r>
            <a:pPr algn="l" indent="0" marL="0">
              <a:buNone/>
            </a:pPr>
            <a:r>
              <a:rPr lang="ar-SA" altLang="en-US" sz="1350" dirty="0">
                <a:solidFill>
                  <a:srgbClr val="8A6D1E"/>
                </a:solidFill>
                <a:latin typeface="Amiri" pitchFamily="2" charset="-78"/>
                <a:ea typeface="Amiri" pitchFamily="2" charset="-78"/>
                <a:cs typeface="Amiri" pitchFamily="2" charset="-78"/>
              </a:rPr>
              <a:t>ثلاث وثلاثين درجة</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45" name="Shape 42"/>
          <p:cNvSpPr/>
          <p:nvPr/>
        </p:nvSpPr>
        <p:spPr>
          <a:xfrm>
            <a:off x="6185916"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6313932"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6679692"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will happen in Amman at night?</a:t>
            </a:r>
            <a:endParaRPr lang="en-US" sz="1250" dirty="0"/>
          </a:p>
        </p:txBody>
      </p:sp>
      <p:sp>
        <p:nvSpPr>
          <p:cNvPr id="49" name="Shape 46"/>
          <p:cNvSpPr/>
          <p:nvPr/>
        </p:nvSpPr>
        <p:spPr>
          <a:xfrm>
            <a:off x="6368796"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6697980" y="2432304"/>
            <a:ext cx="2023110" cy="371856"/>
          </a:xfrm>
          <a:prstGeom prst="rect">
            <a:avLst/>
          </a:prstGeom>
          <a:noFill/>
          <a:ln/>
        </p:spPr>
        <p:txBody>
          <a:bodyPr wrap="square" lIns="0" tIns="0" rIns="0" bIns="0" rtlCol="0" anchor="ctr"/>
          <a:lstStyle/>
          <a:p>
            <a:pPr algn="l" indent="0" marL="0">
              <a:buNone/>
            </a:pPr>
            <a:r>
              <a:rPr lang="en-US" sz="1150" dirty="0">
                <a:solidFill>
                  <a:srgbClr val="9AA1AB"/>
                </a:solidFill>
                <a:latin typeface="Calibri" pitchFamily="34" charset="0"/>
                <a:cs typeface="Amiri" pitchFamily="2" charset="-78"/>
              </a:rPr>
              <a:t>The temperature will reach 40°C</a:t>
            </a:r>
            <a:endParaRPr lang="en-US" sz="1150" dirty="0"/>
          </a:p>
        </p:txBody>
      </p:sp>
      <p:sp>
        <p:nvSpPr>
          <p:cNvPr id="52" name="Shape 49"/>
          <p:cNvSpPr/>
          <p:nvPr/>
        </p:nvSpPr>
        <p:spPr>
          <a:xfrm>
            <a:off x="6368796"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6697980" y="280416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Heavy snow will begin</a:t>
            </a:r>
            <a:endParaRPr lang="en-US" sz="1250" dirty="0"/>
          </a:p>
        </p:txBody>
      </p:sp>
      <p:sp>
        <p:nvSpPr>
          <p:cNvPr id="55" name="Shape 52"/>
          <p:cNvSpPr/>
          <p:nvPr/>
        </p:nvSpPr>
        <p:spPr>
          <a:xfrm>
            <a:off x="6277356" y="3197352"/>
            <a:ext cx="2498598"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6368796"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6697980" y="3176016"/>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The temperature will fall</a:t>
            </a:r>
            <a:endParaRPr lang="en-US" sz="1250" dirty="0"/>
          </a:p>
        </p:txBody>
      </p:sp>
      <p:sp>
        <p:nvSpPr>
          <p:cNvPr id="59" name="Text 56"/>
          <p:cNvSpPr txBox="1"/>
          <p:nvPr/>
        </p:nvSpPr>
        <p:spPr>
          <a:xfrm>
            <a:off x="6313932" y="3566160"/>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تنخفض درجة الحرارة ليلاً.</a:t>
            </a:r>
            <a:endParaRPr lang="ar-SA" sz="1350" dirty="0"/>
          </a:p>
        </p:txBody>
      </p:sp>
      <p:sp>
        <p:nvSpPr>
          <p:cNvPr id="60" name="Shape 57"/>
          <p:cNvSpPr/>
          <p:nvPr/>
        </p:nvSpPr>
        <p:spPr>
          <a:xfrm>
            <a:off x="9050274"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9178290" y="1947672"/>
            <a:ext cx="310896" cy="310896"/>
          </a:xfrm>
          <a:prstGeom prst="ellipse">
            <a:avLst/>
          </a:prstGeom>
          <a:solidFill>
            <a:srgbClr val="1B3B6F"/>
          </a:solidFill>
          <a:ln w="12700">
            <a:solidFill>
              <a:srgbClr val="1B3B6F"/>
            </a:solidFill>
            <a:prstDash val="solid"/>
          </a:ln>
        </p:spPr>
      </p:sp>
      <p:sp>
        <p:nvSpPr>
          <p:cNvPr id="62" name="Text 59"/>
          <p:cNvSpPr txBox="1"/>
          <p:nvPr/>
        </p:nvSpPr>
        <p:spPr>
          <a:xfrm>
            <a:off x="917829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44050"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Amman’s night temperature?</a:t>
            </a:r>
            <a:endParaRPr lang="en-US" sz="1250" dirty="0"/>
          </a:p>
        </p:txBody>
      </p:sp>
      <p:sp>
        <p:nvSpPr>
          <p:cNvPr id="64" name="Shape 61"/>
          <p:cNvSpPr/>
          <p:nvPr/>
        </p:nvSpPr>
        <p:spPr>
          <a:xfrm>
            <a:off x="9141714" y="2453640"/>
            <a:ext cx="2498598"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9233154" y="2490216"/>
            <a:ext cx="256032" cy="256032"/>
          </a:xfrm>
          <a:prstGeom prst="ellipse">
            <a:avLst/>
          </a:prstGeom>
          <a:solidFill>
            <a:srgbClr val="2E8B57"/>
          </a:solidFill>
          <a:ln w="12700">
            <a:solidFill>
              <a:srgbClr val="2E8B57"/>
            </a:solidFill>
            <a:prstDash val="solid"/>
          </a:ln>
        </p:spPr>
      </p:sp>
      <p:sp>
        <p:nvSpPr>
          <p:cNvPr id="66" name="Text 63"/>
          <p:cNvSpPr txBox="1"/>
          <p:nvPr/>
        </p:nvSpPr>
        <p:spPr>
          <a:xfrm>
            <a:off x="923315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7" name="Text 64"/>
          <p:cNvSpPr txBox="1"/>
          <p:nvPr/>
        </p:nvSpPr>
        <p:spPr>
          <a:xfrm>
            <a:off x="9562338" y="2432304"/>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12°C</a:t>
            </a:r>
            <a:endParaRPr lang="en-US" sz="1250" dirty="0"/>
          </a:p>
        </p:txBody>
      </p:sp>
      <p:sp>
        <p:nvSpPr>
          <p:cNvPr id="68" name="Shape 65"/>
          <p:cNvSpPr/>
          <p:nvPr/>
        </p:nvSpPr>
        <p:spPr>
          <a:xfrm>
            <a:off x="9233154" y="2862072"/>
            <a:ext cx="256032" cy="256032"/>
          </a:xfrm>
          <a:prstGeom prst="ellipse">
            <a:avLst/>
          </a:prstGeom>
          <a:solidFill>
            <a:srgbClr val="C9CED6"/>
          </a:solidFill>
          <a:ln w="12700">
            <a:solidFill>
              <a:srgbClr val="C9CED6"/>
            </a:solidFill>
            <a:prstDash val="solid"/>
          </a:ln>
        </p:spPr>
      </p:sp>
      <p:sp>
        <p:nvSpPr>
          <p:cNvPr id="69" name="Text 66"/>
          <p:cNvSpPr txBox="1"/>
          <p:nvPr/>
        </p:nvSpPr>
        <p:spPr>
          <a:xfrm>
            <a:off x="923315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7"/>
          <p:cNvSpPr txBox="1"/>
          <p:nvPr/>
        </p:nvSpPr>
        <p:spPr>
          <a:xfrm>
            <a:off x="9562338" y="280416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20°C</a:t>
            </a:r>
            <a:endParaRPr lang="en-US" sz="1250" dirty="0"/>
          </a:p>
        </p:txBody>
      </p:sp>
      <p:sp>
        <p:nvSpPr>
          <p:cNvPr id="71" name="Shape 68"/>
          <p:cNvSpPr/>
          <p:nvPr/>
        </p:nvSpPr>
        <p:spPr>
          <a:xfrm>
            <a:off x="9233154" y="3233928"/>
            <a:ext cx="256032" cy="256032"/>
          </a:xfrm>
          <a:prstGeom prst="ellipse">
            <a:avLst/>
          </a:prstGeom>
          <a:solidFill>
            <a:srgbClr val="C9CED6"/>
          </a:solidFill>
          <a:ln w="12700">
            <a:solidFill>
              <a:srgbClr val="C9CED6"/>
            </a:solidFill>
            <a:prstDash val="solid"/>
          </a:ln>
        </p:spPr>
      </p:sp>
      <p:sp>
        <p:nvSpPr>
          <p:cNvPr id="72" name="Text 69"/>
          <p:cNvSpPr txBox="1"/>
          <p:nvPr/>
        </p:nvSpPr>
        <p:spPr>
          <a:xfrm>
            <a:off x="923315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9562338" y="3176016"/>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2°C</a:t>
            </a:r>
            <a:endParaRPr lang="en-US" sz="1250" dirty="0"/>
          </a:p>
        </p:txBody>
      </p:sp>
      <p:sp>
        <p:nvSpPr>
          <p:cNvPr id="74" name="Text 71"/>
          <p:cNvSpPr txBox="1"/>
          <p:nvPr/>
        </p:nvSpPr>
        <p:spPr>
          <a:xfrm>
            <a:off x="9178290" y="3566160"/>
            <a:ext cx="2425446"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script gives </a:t>
            </a:r>
            <a:pPr algn="l" indent="0" marL="0">
              <a:buNone/>
            </a:pPr>
            <a:r>
              <a:rPr lang="ar-SA" altLang="en-US" sz="1350" dirty="0">
                <a:solidFill>
                  <a:srgbClr val="8A6D1E"/>
                </a:solidFill>
                <a:latin typeface="Amiri" pitchFamily="2" charset="-78"/>
                <a:ea typeface="Amiri" pitchFamily="2" charset="-78"/>
                <a:cs typeface="Amiri" pitchFamily="2" charset="-78"/>
              </a:rPr>
              <a:t>اثنتي عشرة درجة</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75" name="Shape 72"/>
          <p:cNvSpPr/>
          <p:nvPr/>
        </p:nvSpPr>
        <p:spPr>
          <a:xfrm>
            <a:off x="457200"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585216"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950976"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When will rain fall in Rabat?</a:t>
            </a:r>
            <a:endParaRPr lang="en-US" sz="1250" dirty="0"/>
          </a:p>
        </p:txBody>
      </p:sp>
      <p:sp>
        <p:nvSpPr>
          <p:cNvPr id="79" name="Shape 76"/>
          <p:cNvSpPr/>
          <p:nvPr/>
        </p:nvSpPr>
        <p:spPr>
          <a:xfrm>
            <a:off x="640080" y="4831080"/>
            <a:ext cx="256032" cy="256032"/>
          </a:xfrm>
          <a:prstGeom prst="ellipse">
            <a:avLst/>
          </a:prstGeom>
          <a:solidFill>
            <a:srgbClr val="C9CED6"/>
          </a:solidFill>
          <a:ln w="12700">
            <a:solidFill>
              <a:srgbClr val="C9CED6"/>
            </a:solidFill>
            <a:prstDash val="solid"/>
          </a:ln>
        </p:spPr>
      </p:sp>
      <p:sp>
        <p:nvSpPr>
          <p:cNvPr id="80" name="Text 77"/>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1" name="Text 78"/>
          <p:cNvSpPr txBox="1"/>
          <p:nvPr/>
        </p:nvSpPr>
        <p:spPr>
          <a:xfrm>
            <a:off x="969264" y="4773168"/>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Next week</a:t>
            </a:r>
            <a:endParaRPr lang="en-US" sz="1250" dirty="0"/>
          </a:p>
        </p:txBody>
      </p:sp>
      <p:sp>
        <p:nvSpPr>
          <p:cNvPr id="82" name="Shape 79"/>
          <p:cNvSpPr/>
          <p:nvPr/>
        </p:nvSpPr>
        <p:spPr>
          <a:xfrm>
            <a:off x="548640" y="5166360"/>
            <a:ext cx="2498598" cy="347472"/>
          </a:xfrm>
          <a:prstGeom prst="roundRect">
            <a:avLst>
              <a:gd name="adj" fmla="val 15789"/>
            </a:avLst>
          </a:prstGeom>
          <a:solidFill>
            <a:srgbClr val="E6F4EC"/>
          </a:solidFill>
          <a:ln w="9525">
            <a:solidFill>
              <a:srgbClr val="2E8B57"/>
            </a:solidFill>
            <a:prstDash val="solid"/>
          </a:ln>
        </p:spPr>
      </p:sp>
      <p:sp>
        <p:nvSpPr>
          <p:cNvPr id="83" name="Shape 80"/>
          <p:cNvSpPr/>
          <p:nvPr/>
        </p:nvSpPr>
        <p:spPr>
          <a:xfrm>
            <a:off x="640080" y="5202936"/>
            <a:ext cx="256032" cy="256032"/>
          </a:xfrm>
          <a:prstGeom prst="ellipse">
            <a:avLst/>
          </a:prstGeom>
          <a:solidFill>
            <a:srgbClr val="2E8B57"/>
          </a:solidFill>
          <a:ln w="12700">
            <a:solidFill>
              <a:srgbClr val="2E8B57"/>
            </a:solidFill>
            <a:prstDash val="solid"/>
          </a:ln>
        </p:spPr>
      </p:sp>
      <p:sp>
        <p:nvSpPr>
          <p:cNvPr id="84" name="Text 81"/>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85" name="Text 82"/>
          <p:cNvSpPr txBox="1"/>
          <p:nvPr/>
        </p:nvSpPr>
        <p:spPr>
          <a:xfrm>
            <a:off x="969264" y="5145024"/>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In the morning</a:t>
            </a:r>
            <a:endParaRPr lang="en-US" sz="1250" dirty="0"/>
          </a:p>
        </p:txBody>
      </p:sp>
      <p:sp>
        <p:nvSpPr>
          <p:cNvPr id="86" name="Shape 83"/>
          <p:cNvSpPr/>
          <p:nvPr/>
        </p:nvSpPr>
        <p:spPr>
          <a:xfrm>
            <a:off x="640080"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969264" y="551688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At noon only</a:t>
            </a:r>
            <a:endParaRPr lang="en-US" sz="1250" dirty="0"/>
          </a:p>
        </p:txBody>
      </p:sp>
      <p:sp>
        <p:nvSpPr>
          <p:cNvPr id="89" name="Text 86"/>
          <p:cNvSpPr txBox="1"/>
          <p:nvPr/>
        </p:nvSpPr>
        <p:spPr>
          <a:xfrm>
            <a:off x="585216" y="5907024"/>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سيسقط المطر صباحًا.</a:t>
            </a:r>
            <a:endParaRPr lang="ar-SA" sz="1350" dirty="0"/>
          </a:p>
        </p:txBody>
      </p:sp>
      <p:sp>
        <p:nvSpPr>
          <p:cNvPr id="90" name="Shape 87"/>
          <p:cNvSpPr/>
          <p:nvPr/>
        </p:nvSpPr>
        <p:spPr>
          <a:xfrm>
            <a:off x="3321558"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91" name="Shape 88"/>
          <p:cNvSpPr/>
          <p:nvPr/>
        </p:nvSpPr>
        <p:spPr>
          <a:xfrm>
            <a:off x="3449574" y="4288536"/>
            <a:ext cx="310896" cy="310896"/>
          </a:xfrm>
          <a:prstGeom prst="ellipse">
            <a:avLst/>
          </a:prstGeom>
          <a:solidFill>
            <a:srgbClr val="1B3B6F"/>
          </a:solidFill>
          <a:ln w="12700">
            <a:solidFill>
              <a:srgbClr val="1B3B6F"/>
            </a:solidFill>
            <a:prstDash val="solid"/>
          </a:ln>
        </p:spPr>
      </p:sp>
      <p:sp>
        <p:nvSpPr>
          <p:cNvPr id="92" name="Text 89"/>
          <p:cNvSpPr txBox="1"/>
          <p:nvPr/>
        </p:nvSpPr>
        <p:spPr>
          <a:xfrm>
            <a:off x="344957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93" name="Text 90"/>
          <p:cNvSpPr txBox="1"/>
          <p:nvPr/>
        </p:nvSpPr>
        <p:spPr>
          <a:xfrm>
            <a:off x="3815334"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will happen in Rabat in the evening?</a:t>
            </a:r>
            <a:endParaRPr lang="en-US" sz="1250" dirty="0"/>
          </a:p>
        </p:txBody>
      </p:sp>
      <p:sp>
        <p:nvSpPr>
          <p:cNvPr id="94" name="Shape 91"/>
          <p:cNvSpPr/>
          <p:nvPr/>
        </p:nvSpPr>
        <p:spPr>
          <a:xfrm>
            <a:off x="3412998" y="4794504"/>
            <a:ext cx="2498598" cy="347472"/>
          </a:xfrm>
          <a:prstGeom prst="roundRect">
            <a:avLst>
              <a:gd name="adj" fmla="val 15789"/>
            </a:avLst>
          </a:prstGeom>
          <a:solidFill>
            <a:srgbClr val="E6F4EC"/>
          </a:solidFill>
          <a:ln w="9525">
            <a:solidFill>
              <a:srgbClr val="2E8B57"/>
            </a:solidFill>
            <a:prstDash val="solid"/>
          </a:ln>
        </p:spPr>
      </p:sp>
      <p:sp>
        <p:nvSpPr>
          <p:cNvPr id="95" name="Shape 92"/>
          <p:cNvSpPr/>
          <p:nvPr/>
        </p:nvSpPr>
        <p:spPr>
          <a:xfrm>
            <a:off x="3504438" y="4831080"/>
            <a:ext cx="256032" cy="256032"/>
          </a:xfrm>
          <a:prstGeom prst="ellipse">
            <a:avLst/>
          </a:prstGeom>
          <a:solidFill>
            <a:srgbClr val="2E8B57"/>
          </a:solidFill>
          <a:ln w="12700">
            <a:solidFill>
              <a:srgbClr val="2E8B57"/>
            </a:solidFill>
            <a:prstDash val="solid"/>
          </a:ln>
        </p:spPr>
      </p:sp>
      <p:sp>
        <p:nvSpPr>
          <p:cNvPr id="96" name="Text 93"/>
          <p:cNvSpPr txBox="1"/>
          <p:nvPr/>
        </p:nvSpPr>
        <p:spPr>
          <a:xfrm>
            <a:off x="3504438"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97" name="Text 94"/>
          <p:cNvSpPr txBox="1"/>
          <p:nvPr/>
        </p:nvSpPr>
        <p:spPr>
          <a:xfrm>
            <a:off x="3833622" y="4773168"/>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Strong winds will blow</a:t>
            </a:r>
            <a:endParaRPr lang="en-US" sz="1250" dirty="0"/>
          </a:p>
        </p:txBody>
      </p:sp>
      <p:sp>
        <p:nvSpPr>
          <p:cNvPr id="98" name="Shape 95"/>
          <p:cNvSpPr/>
          <p:nvPr/>
        </p:nvSpPr>
        <p:spPr>
          <a:xfrm>
            <a:off x="3504438" y="5202936"/>
            <a:ext cx="256032" cy="256032"/>
          </a:xfrm>
          <a:prstGeom prst="ellipse">
            <a:avLst/>
          </a:prstGeom>
          <a:solidFill>
            <a:srgbClr val="C9CED6"/>
          </a:solidFill>
          <a:ln w="12700">
            <a:solidFill>
              <a:srgbClr val="C9CED6"/>
            </a:solidFill>
            <a:prstDash val="solid"/>
          </a:ln>
        </p:spPr>
      </p:sp>
      <p:sp>
        <p:nvSpPr>
          <p:cNvPr id="99" name="Text 96"/>
          <p:cNvSpPr txBox="1"/>
          <p:nvPr/>
        </p:nvSpPr>
        <p:spPr>
          <a:xfrm>
            <a:off x="3504438"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100" name="Text 97"/>
          <p:cNvSpPr txBox="1"/>
          <p:nvPr/>
        </p:nvSpPr>
        <p:spPr>
          <a:xfrm>
            <a:off x="3833622" y="514502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sun will rise</a:t>
            </a:r>
            <a:endParaRPr lang="en-US" sz="1250" dirty="0"/>
          </a:p>
        </p:txBody>
      </p:sp>
      <p:sp>
        <p:nvSpPr>
          <p:cNvPr id="101" name="Shape 98"/>
          <p:cNvSpPr/>
          <p:nvPr/>
        </p:nvSpPr>
        <p:spPr>
          <a:xfrm>
            <a:off x="3504438" y="5574792"/>
            <a:ext cx="256032" cy="256032"/>
          </a:xfrm>
          <a:prstGeom prst="ellipse">
            <a:avLst/>
          </a:prstGeom>
          <a:solidFill>
            <a:srgbClr val="C9CED6"/>
          </a:solidFill>
          <a:ln w="12700">
            <a:solidFill>
              <a:srgbClr val="C9CED6"/>
            </a:solidFill>
            <a:prstDash val="solid"/>
          </a:ln>
        </p:spPr>
      </p:sp>
      <p:sp>
        <p:nvSpPr>
          <p:cNvPr id="102" name="Text 99"/>
          <p:cNvSpPr txBox="1"/>
          <p:nvPr/>
        </p:nvSpPr>
        <p:spPr>
          <a:xfrm>
            <a:off x="3504438"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103" name="Text 100"/>
          <p:cNvSpPr txBox="1"/>
          <p:nvPr/>
        </p:nvSpPr>
        <p:spPr>
          <a:xfrm>
            <a:off x="3833622" y="5516880"/>
            <a:ext cx="2023110" cy="371856"/>
          </a:xfrm>
          <a:prstGeom prst="rect">
            <a:avLst/>
          </a:prstGeom>
          <a:noFill/>
          <a:ln/>
        </p:spPr>
        <p:txBody>
          <a:bodyPr wrap="square" lIns="0" tIns="0" rIns="0" bIns="0" rtlCol="0" anchor="ctr"/>
          <a:lstStyle/>
          <a:p>
            <a:pPr algn="l" indent="0" marL="0">
              <a:buNone/>
            </a:pPr>
            <a:r>
              <a:rPr lang="en-US" sz="1150" dirty="0">
                <a:solidFill>
                  <a:srgbClr val="9AA1AB"/>
                </a:solidFill>
                <a:latin typeface="Calibri" pitchFamily="34" charset="0"/>
                <a:cs typeface="Amiri" pitchFamily="2" charset="-78"/>
              </a:rPr>
              <a:t>The temperature will reach 33°C</a:t>
            </a:r>
            <a:endParaRPr lang="en-US" sz="1150" dirty="0"/>
          </a:p>
        </p:txBody>
      </p:sp>
      <p:sp>
        <p:nvSpPr>
          <p:cNvPr id="104" name="Text 101"/>
          <p:cNvSpPr txBox="1"/>
          <p:nvPr/>
        </p:nvSpPr>
        <p:spPr>
          <a:xfrm>
            <a:off x="3449574" y="5907024"/>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تهب رياح قوية مساءً.</a:t>
            </a:r>
            <a:endParaRPr lang="ar-SA" sz="1350" dirty="0"/>
          </a:p>
        </p:txBody>
      </p:sp>
      <p:sp>
        <p:nvSpPr>
          <p:cNvPr id="105" name="Shape 102"/>
          <p:cNvSpPr/>
          <p:nvPr/>
        </p:nvSpPr>
        <p:spPr>
          <a:xfrm>
            <a:off x="6185916" y="4151376"/>
            <a:ext cx="2681478"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06" name="Shape 103"/>
          <p:cNvSpPr/>
          <p:nvPr/>
        </p:nvSpPr>
        <p:spPr>
          <a:xfrm>
            <a:off x="6807708" y="4361688"/>
            <a:ext cx="914400" cy="274320"/>
          </a:xfrm>
          <a:prstGeom prst="roundRect">
            <a:avLst>
              <a:gd name="adj" fmla="val 50000"/>
            </a:avLst>
          </a:prstGeom>
          <a:solidFill>
            <a:srgbClr val="2E8B57"/>
          </a:solidFill>
          <a:ln w="12700">
            <a:solidFill>
              <a:srgbClr val="2E8B57"/>
            </a:solidFill>
            <a:prstDash val="solid"/>
          </a:ln>
        </p:spPr>
      </p:sp>
      <p:sp>
        <p:nvSpPr>
          <p:cNvPr id="107" name="Text 104"/>
          <p:cNvSpPr txBox="1"/>
          <p:nvPr/>
        </p:nvSpPr>
        <p:spPr>
          <a:xfrm>
            <a:off x="6807708"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108" name="Text 105"/>
          <p:cNvSpPr txBox="1"/>
          <p:nvPr/>
        </p:nvSpPr>
        <p:spPr>
          <a:xfrm>
            <a:off x="6387084" y="4791456"/>
            <a:ext cx="2315718" cy="1380744"/>
          </a:xfrm>
          <a:prstGeom prst="rect">
            <a:avLst/>
          </a:prstGeom>
          <a:noFill/>
          <a:ln/>
        </p:spPr>
        <p:txBody>
          <a:bodyPr wrap="square" lIns="0" tIns="0" rIns="0" bIns="0" rtlCol="0" anchor="t"/>
          <a:lstStyle/>
          <a:p>
            <a:pPr algn="l" indent="0" marL="0">
              <a:lnSpc>
                <a:spcPct val="115000"/>
              </a:lnSpc>
              <a:buNone/>
            </a:pPr>
            <a:r>
              <a:rPr lang="en-US" sz="1250" dirty="0">
                <a:solidFill>
                  <a:srgbClr val="1E6B52"/>
                </a:solidFill>
                <a:latin typeface="Calibri" pitchFamily="34" charset="0"/>
                <a:cs typeface="Amiri" pitchFamily="2" charset="-78"/>
              </a:rPr>
              <a:t>Listen twice. Core: questions 1, 2 and 5.</a:t>
            </a:r>
            <a:endParaRPr lang="en-US" sz="1250" dirty="0"/>
          </a:p>
          <a:p>
            <a:pPr algn="l" indent="0" marL="0">
              <a:lnSpc>
                <a:spcPct val="115000"/>
              </a:lnSpc>
              <a:buNone/>
            </a:pPr>
            <a:r>
              <a:rPr lang="en-US" sz="1250" dirty="0">
                <a:solidFill>
                  <a:srgbClr val="1E6B52"/>
                </a:solidFill>
                <a:latin typeface="Calibri" pitchFamily="34" charset="0"/>
                <a:cs typeface="Amiri" pitchFamily="2" charset="-78"/>
              </a:rPr>
              <a:t>Listen for: </a:t>
            </a:r>
            <a:pPr algn="l" indent="0" marL="0">
              <a:lnSpc>
                <a:spcPct val="115000"/>
              </a:lnSpc>
              <a:buNone/>
            </a:pPr>
            <a:r>
              <a:rPr lang="ar-SA" altLang="en-US" sz="1650" dirty="0">
                <a:solidFill>
                  <a:srgbClr val="1E6B52"/>
                </a:solidFill>
                <a:latin typeface="Amiri" pitchFamily="2" charset="-78"/>
                <a:ea typeface="Amiri" pitchFamily="2" charset="-78"/>
                <a:cs typeface="Amiri" pitchFamily="2" charset="-78"/>
              </a:rPr>
              <a:t>القَاهِرَةِ</a:t>
            </a:r>
            <a:pPr algn="l" indent="0" marL="0">
              <a:lnSpc>
                <a:spcPct val="115000"/>
              </a:lnSpc>
              <a:buNone/>
            </a:pPr>
            <a:r>
              <a:rPr lang="en-US" sz="1250" dirty="0">
                <a:solidFill>
                  <a:srgbClr val="1E6B52"/>
                </a:solidFill>
                <a:latin typeface="Calibri" pitchFamily="34" charset="0"/>
                <a:cs typeface="Amiri" pitchFamily="2" charset="-78"/>
              </a:rPr>
              <a:t> · </a:t>
            </a:r>
            <a:pPr algn="l" indent="0" marL="0">
              <a:lnSpc>
                <a:spcPct val="115000"/>
              </a:lnSpc>
              <a:buNone/>
            </a:pPr>
            <a:r>
              <a:rPr lang="ar-SA" altLang="en-US" sz="1650" dirty="0">
                <a:solidFill>
                  <a:srgbClr val="1E6B52"/>
                </a:solidFill>
                <a:latin typeface="Amiri" pitchFamily="2" charset="-78"/>
                <a:ea typeface="Amiri" pitchFamily="2" charset="-78"/>
                <a:cs typeface="Amiri" pitchFamily="2" charset="-78"/>
              </a:rPr>
              <a:t>ثَلَاثٍ وَثَلَاثِينَ</a:t>
            </a:r>
            <a:pPr algn="l" indent="0" marL="0">
              <a:lnSpc>
                <a:spcPct val="115000"/>
              </a:lnSpc>
              <a:buNone/>
            </a:pPr>
            <a:r>
              <a:rPr lang="en-US" sz="1250" dirty="0">
                <a:solidFill>
                  <a:srgbClr val="1E6B52"/>
                </a:solidFill>
                <a:latin typeface="Calibri" pitchFamily="34" charset="0"/>
                <a:cs typeface="Amiri" pitchFamily="2" charset="-78"/>
              </a:rPr>
              <a:t> · </a:t>
            </a:r>
            <a:pPr algn="l" indent="0" marL="0">
              <a:lnSpc>
                <a:spcPct val="115000"/>
              </a:lnSpc>
              <a:buNone/>
            </a:pPr>
            <a:r>
              <a:rPr lang="ar-SA" altLang="en-US" sz="1650" dirty="0">
                <a:solidFill>
                  <a:srgbClr val="1E6B52"/>
                </a:solidFill>
                <a:latin typeface="Amiri" pitchFamily="2" charset="-78"/>
                <a:ea typeface="Amiri" pitchFamily="2" charset="-78"/>
                <a:cs typeface="Amiri" pitchFamily="2" charset="-78"/>
              </a:rPr>
              <a:t>الرِّبَاطِ</a:t>
            </a:r>
            <a:pPr algn="l" indent="0" marL="0">
              <a:lnSpc>
                <a:spcPct val="115000"/>
              </a:lnSpc>
              <a:buNone/>
            </a:pPr>
            <a:r>
              <a:rPr lang="en-US" sz="1250" dirty="0">
                <a:solidFill>
                  <a:srgbClr val="1E6B52"/>
                </a:solidFill>
                <a:latin typeface="Calibri" pitchFamily="34" charset="0"/>
                <a:cs typeface="Amiri" pitchFamily="2" charset="-78"/>
              </a:rPr>
              <a:t>.</a:t>
            </a:r>
            <a:endParaRPr lang="en-US" sz="1250" dirty="0"/>
          </a:p>
        </p:txBody>
      </p:sp>
      <p:sp>
        <p:nvSpPr>
          <p:cNvPr id="109" name="Text 10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30 / 45</a:t>
            </a:r>
            <a:endParaRPr lang="en-US" sz="8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D4-L02 · Weather</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SAY IT BEFORE YOU WRITE IT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550" b="1" dirty="0">
                <a:solidFill>
                  <a:srgbClr val="1B3B6F"/>
                </a:solidFill>
                <a:latin typeface="Cambria" pitchFamily="34" charset="0"/>
                <a:cs typeface="Amiri" pitchFamily="2" charset="-78"/>
              </a:rPr>
              <a:t>Speaking: compare weather patterns</a:t>
            </a:r>
            <a:endParaRPr lang="en-US" sz="25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التَّحَدُّثُ</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D4-L02</a:t>
            </a:r>
            <a:endParaRPr lang="en-US" sz="850" dirty="0"/>
          </a:p>
        </p:txBody>
      </p:sp>
      <p:sp>
        <p:nvSpPr>
          <p:cNvPr id="15" name="Shape 12"/>
          <p:cNvSpPr/>
          <p:nvPr/>
        </p:nvSpPr>
        <p:spPr>
          <a:xfrm>
            <a:off x="457200" y="1810512"/>
            <a:ext cx="2185416" cy="566928"/>
          </a:xfrm>
          <a:prstGeom prst="roundRect">
            <a:avLst>
              <a:gd name="adj" fmla="val 12903"/>
            </a:avLst>
          </a:prstGeom>
          <a:solidFill>
            <a:srgbClr val="EEF3FA"/>
          </a:solidFill>
          <a:ln w="9525">
            <a:solidFill>
              <a:srgbClr val="C9D6EA"/>
            </a:solidFill>
            <a:prstDash val="solid"/>
          </a:ln>
        </p:spPr>
      </p:sp>
      <p:sp>
        <p:nvSpPr>
          <p:cNvPr id="16" name="Text 13"/>
          <p:cNvSpPr txBox="1"/>
          <p:nvPr/>
        </p:nvSpPr>
        <p:spPr>
          <a:xfrm>
            <a:off x="512064"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17" name="Text 14"/>
          <p:cNvSpPr txBox="1"/>
          <p:nvPr/>
        </p:nvSpPr>
        <p:spPr>
          <a:xfrm>
            <a:off x="914400"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Think</a:t>
            </a:r>
            <a:endParaRPr lang="en-US" sz="1050" dirty="0"/>
          </a:p>
          <a:p>
            <a:pPr indent="0" marL="0">
              <a:buNone/>
            </a:pPr>
            <a:r>
              <a:rPr lang="en-US" sz="950" dirty="0">
                <a:solidFill>
                  <a:srgbClr val="5A6472"/>
                </a:solidFill>
                <a:latin typeface="Calibri" pitchFamily="34" charset="0"/>
                <a:cs typeface="Amiri" pitchFamily="2" charset="-78"/>
              </a:rPr>
              <a:t>10 seconds</a:t>
            </a:r>
            <a:endParaRPr lang="en-US" sz="1050" dirty="0"/>
          </a:p>
        </p:txBody>
      </p:sp>
      <p:sp>
        <p:nvSpPr>
          <p:cNvPr id="18" name="Shape 15"/>
          <p:cNvSpPr/>
          <p:nvPr/>
        </p:nvSpPr>
        <p:spPr>
          <a:xfrm>
            <a:off x="2729484" y="1810512"/>
            <a:ext cx="2185416" cy="566928"/>
          </a:xfrm>
          <a:prstGeom prst="roundRect">
            <a:avLst>
              <a:gd name="adj" fmla="val 12903"/>
            </a:avLst>
          </a:prstGeom>
          <a:solidFill>
            <a:srgbClr val="EEF3FA"/>
          </a:solidFill>
          <a:ln w="9525">
            <a:solidFill>
              <a:srgbClr val="C9D6EA"/>
            </a:solidFill>
            <a:prstDash val="solid"/>
          </a:ln>
        </p:spPr>
      </p:sp>
      <p:sp>
        <p:nvSpPr>
          <p:cNvPr id="19" name="Text 16"/>
          <p:cNvSpPr txBox="1"/>
          <p:nvPr/>
        </p:nvSpPr>
        <p:spPr>
          <a:xfrm>
            <a:off x="2784348"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0" name="Text 17"/>
          <p:cNvSpPr txBox="1"/>
          <p:nvPr/>
        </p:nvSpPr>
        <p:spPr>
          <a:xfrm>
            <a:off x="3186684"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Rehearse</a:t>
            </a:r>
            <a:endParaRPr lang="en-US" sz="1050" dirty="0"/>
          </a:p>
          <a:p>
            <a:pPr indent="0" marL="0">
              <a:buNone/>
            </a:pPr>
            <a:r>
              <a:rPr lang="en-US" sz="950" dirty="0">
                <a:solidFill>
                  <a:srgbClr val="5A6472"/>
                </a:solidFill>
                <a:latin typeface="Calibri" pitchFamily="34" charset="0"/>
                <a:cs typeface="Amiri" pitchFamily="2" charset="-78"/>
              </a:rPr>
              <a:t>muted · 45 s</a:t>
            </a:r>
            <a:endParaRPr lang="en-US" sz="1050" dirty="0"/>
          </a:p>
        </p:txBody>
      </p:sp>
      <p:sp>
        <p:nvSpPr>
          <p:cNvPr id="21" name="Shape 18"/>
          <p:cNvSpPr/>
          <p:nvPr/>
        </p:nvSpPr>
        <p:spPr>
          <a:xfrm>
            <a:off x="5001768" y="1810512"/>
            <a:ext cx="2185416" cy="566928"/>
          </a:xfrm>
          <a:prstGeom prst="roundRect">
            <a:avLst>
              <a:gd name="adj" fmla="val 12903"/>
            </a:avLst>
          </a:prstGeom>
          <a:solidFill>
            <a:srgbClr val="EEF3FA"/>
          </a:solidFill>
          <a:ln w="9525">
            <a:solidFill>
              <a:srgbClr val="C9D6EA"/>
            </a:solidFill>
            <a:prstDash val="solid"/>
          </a:ln>
        </p:spPr>
      </p:sp>
      <p:sp>
        <p:nvSpPr>
          <p:cNvPr id="22" name="Text 19"/>
          <p:cNvSpPr txBox="1"/>
          <p:nvPr/>
        </p:nvSpPr>
        <p:spPr>
          <a:xfrm>
            <a:off x="5056632"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3" name="Text 20"/>
          <p:cNvSpPr txBox="1"/>
          <p:nvPr/>
        </p:nvSpPr>
        <p:spPr>
          <a:xfrm>
            <a:off x="5458968"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Pairs share</a:t>
            </a:r>
            <a:endParaRPr lang="en-US" sz="1050" dirty="0"/>
          </a:p>
          <a:p>
            <a:pPr indent="0" marL="0">
              <a:buNone/>
            </a:pPr>
            <a:r>
              <a:rPr lang="en-US" sz="950" dirty="0">
                <a:solidFill>
                  <a:srgbClr val="5A6472"/>
                </a:solidFill>
                <a:latin typeface="Calibri" pitchFamily="34" charset="0"/>
                <a:cs typeface="Amiri" pitchFamily="2" charset="-78"/>
              </a:rPr>
              <a:t>open mic</a:t>
            </a:r>
            <a:endParaRPr lang="en-US" sz="1050" dirty="0"/>
          </a:p>
        </p:txBody>
      </p:sp>
      <p:sp>
        <p:nvSpPr>
          <p:cNvPr id="24" name="Shape 21"/>
          <p:cNvSpPr/>
          <p:nvPr/>
        </p:nvSpPr>
        <p:spPr>
          <a:xfrm>
            <a:off x="7274052" y="1810512"/>
            <a:ext cx="2185416" cy="566928"/>
          </a:xfrm>
          <a:prstGeom prst="roundRect">
            <a:avLst>
              <a:gd name="adj" fmla="val 12903"/>
            </a:avLst>
          </a:prstGeom>
          <a:solidFill>
            <a:srgbClr val="EEF3FA"/>
          </a:solidFill>
          <a:ln w="9525">
            <a:solidFill>
              <a:srgbClr val="C9D6EA"/>
            </a:solidFill>
            <a:prstDash val="solid"/>
          </a:ln>
        </p:spPr>
      </p:sp>
      <p:sp>
        <p:nvSpPr>
          <p:cNvPr id="25" name="Text 22"/>
          <p:cNvSpPr txBox="1"/>
          <p:nvPr/>
        </p:nvSpPr>
        <p:spPr>
          <a:xfrm>
            <a:off x="7328916"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 ?</a:t>
            </a:r>
            <a:endParaRPr lang="en-US" sz="1800" dirty="0"/>
          </a:p>
        </p:txBody>
      </p:sp>
      <p:sp>
        <p:nvSpPr>
          <p:cNvPr id="26" name="Text 23"/>
          <p:cNvSpPr txBox="1"/>
          <p:nvPr/>
        </p:nvSpPr>
        <p:spPr>
          <a:xfrm>
            <a:off x="7731252"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Build / ask</a:t>
            </a:r>
            <a:endParaRPr lang="en-US" sz="1050" dirty="0"/>
          </a:p>
          <a:p>
            <a:pPr indent="0" marL="0">
              <a:buNone/>
            </a:pPr>
            <a:r>
              <a:rPr lang="en-US" sz="950" dirty="0">
                <a:solidFill>
                  <a:srgbClr val="5A6472"/>
                </a:solidFill>
                <a:latin typeface="Calibri" pitchFamily="34" charset="0"/>
                <a:cs typeface="Amiri" pitchFamily="2" charset="-78"/>
              </a:rPr>
              <a:t>in the chat</a:t>
            </a:r>
            <a:endParaRPr lang="en-US" sz="1050" dirty="0"/>
          </a:p>
        </p:txBody>
      </p:sp>
      <p:sp>
        <p:nvSpPr>
          <p:cNvPr id="27" name="Shape 24"/>
          <p:cNvSpPr/>
          <p:nvPr/>
        </p:nvSpPr>
        <p:spPr>
          <a:xfrm>
            <a:off x="9546336" y="1810512"/>
            <a:ext cx="2185416" cy="566928"/>
          </a:xfrm>
          <a:prstGeom prst="roundRect">
            <a:avLst>
              <a:gd name="adj" fmla="val 12903"/>
            </a:avLst>
          </a:prstGeom>
          <a:solidFill>
            <a:srgbClr val="EEF3FA"/>
          </a:solidFill>
          <a:ln w="9525">
            <a:solidFill>
              <a:srgbClr val="C9D6EA"/>
            </a:solidFill>
            <a:prstDash val="solid"/>
          </a:ln>
        </p:spPr>
      </p:sp>
      <p:sp>
        <p:nvSpPr>
          <p:cNvPr id="28" name="Text 25"/>
          <p:cNvSpPr txBox="1"/>
          <p:nvPr/>
        </p:nvSpPr>
        <p:spPr>
          <a:xfrm>
            <a:off x="9601200"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9" name="Text 26"/>
          <p:cNvSpPr txBox="1"/>
          <p:nvPr/>
        </p:nvSpPr>
        <p:spPr>
          <a:xfrm>
            <a:off x="10003536"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Summarise</a:t>
            </a:r>
            <a:endParaRPr lang="en-US" sz="1050" dirty="0"/>
          </a:p>
          <a:p>
            <a:pPr indent="0" marL="0">
              <a:buNone/>
            </a:pPr>
            <a:r>
              <a:rPr lang="en-US" sz="950" dirty="0">
                <a:solidFill>
                  <a:srgbClr val="5A6472"/>
                </a:solidFill>
                <a:latin typeface="Calibri" pitchFamily="34" charset="0"/>
                <a:cs typeface="Amiri" pitchFamily="2" charset="-78"/>
              </a:rPr>
              <a:t>he / she …</a:t>
            </a:r>
            <a:endParaRPr lang="en-US" sz="1050" dirty="0"/>
          </a:p>
        </p:txBody>
      </p:sp>
      <p:sp>
        <p:nvSpPr>
          <p:cNvPr id="30" name="Shape 27"/>
          <p:cNvSpPr/>
          <p:nvPr/>
        </p:nvSpPr>
        <p:spPr>
          <a:xfrm>
            <a:off x="4754880" y="2487168"/>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846320" y="2642616"/>
            <a:ext cx="960120" cy="256032"/>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4846320" y="2642616"/>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3" name="Text 30"/>
          <p:cNvSpPr txBox="1"/>
          <p:nvPr/>
        </p:nvSpPr>
        <p:spPr>
          <a:xfrm>
            <a:off x="5897880" y="2487168"/>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كَيْفَ الطَّقْسُ اليَوْمَ؟</a:t>
            </a:r>
            <a:endParaRPr lang="ar-SA" sz="1800" dirty="0"/>
          </a:p>
        </p:txBody>
      </p:sp>
      <p:sp>
        <p:nvSpPr>
          <p:cNvPr id="34" name="Shape 31"/>
          <p:cNvSpPr/>
          <p:nvPr/>
        </p:nvSpPr>
        <p:spPr>
          <a:xfrm>
            <a:off x="4754880" y="3108960"/>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4846320" y="3264408"/>
            <a:ext cx="960120" cy="256032"/>
          </a:xfrm>
          <a:prstGeom prst="roundRect">
            <a:avLst>
              <a:gd name="adj" fmla="val 50000"/>
            </a:avLst>
          </a:prstGeom>
          <a:solidFill>
            <a:srgbClr val="C9780A"/>
          </a:solidFill>
          <a:ln w="12700">
            <a:solidFill>
              <a:srgbClr val="C9780A"/>
            </a:solidFill>
            <a:prstDash val="solid"/>
          </a:ln>
        </p:spPr>
      </p:sp>
      <p:sp>
        <p:nvSpPr>
          <p:cNvPr id="36" name="Text 33"/>
          <p:cNvSpPr txBox="1"/>
          <p:nvPr/>
        </p:nvSpPr>
        <p:spPr>
          <a:xfrm>
            <a:off x="4846320" y="3264408"/>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7" name="Text 34"/>
          <p:cNvSpPr txBox="1"/>
          <p:nvPr/>
        </p:nvSpPr>
        <p:spPr>
          <a:xfrm>
            <a:off x="5897880" y="3108960"/>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قَارِنْ بَيْنَ الطَّقْسِ فِي مَدِينَتَيْنِ.</a:t>
            </a:r>
            <a:endParaRPr lang="ar-SA" sz="1800" dirty="0"/>
          </a:p>
        </p:txBody>
      </p:sp>
      <p:sp>
        <p:nvSpPr>
          <p:cNvPr id="38" name="Shape 35"/>
          <p:cNvSpPr/>
          <p:nvPr/>
        </p:nvSpPr>
        <p:spPr>
          <a:xfrm>
            <a:off x="4754880" y="3730752"/>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9" name="Shape 36"/>
          <p:cNvSpPr/>
          <p:nvPr/>
        </p:nvSpPr>
        <p:spPr>
          <a:xfrm>
            <a:off x="4846320" y="3886200"/>
            <a:ext cx="960120" cy="256032"/>
          </a:xfrm>
          <a:prstGeom prst="roundRect">
            <a:avLst>
              <a:gd name="adj" fmla="val 50000"/>
            </a:avLst>
          </a:prstGeom>
          <a:solidFill>
            <a:srgbClr val="C9780A"/>
          </a:solidFill>
          <a:ln w="12700">
            <a:solidFill>
              <a:srgbClr val="C9780A"/>
            </a:solidFill>
            <a:prstDash val="solid"/>
          </a:ln>
        </p:spPr>
      </p:sp>
      <p:sp>
        <p:nvSpPr>
          <p:cNvPr id="40" name="Text 37"/>
          <p:cNvSpPr txBox="1"/>
          <p:nvPr/>
        </p:nvSpPr>
        <p:spPr>
          <a:xfrm>
            <a:off x="4846320" y="3886200"/>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41" name="Text 38"/>
          <p:cNvSpPr txBox="1"/>
          <p:nvPr/>
        </p:nvSpPr>
        <p:spPr>
          <a:xfrm>
            <a:off x="5897880" y="3730752"/>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مَا الطَّقْسُ المُتَوَقَّعُ غَدًا؟</a:t>
            </a:r>
            <a:endParaRPr lang="ar-SA" sz="1800" dirty="0"/>
          </a:p>
        </p:txBody>
      </p:sp>
      <p:sp>
        <p:nvSpPr>
          <p:cNvPr id="42" name="Shape 39"/>
          <p:cNvSpPr/>
          <p:nvPr/>
        </p:nvSpPr>
        <p:spPr>
          <a:xfrm>
            <a:off x="4754880" y="4352544"/>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3" name="Shape 40"/>
          <p:cNvSpPr/>
          <p:nvPr/>
        </p:nvSpPr>
        <p:spPr>
          <a:xfrm>
            <a:off x="4846320" y="4507992"/>
            <a:ext cx="960120" cy="256032"/>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4846320" y="4507992"/>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5" name="Text 42"/>
          <p:cNvSpPr txBox="1"/>
          <p:nvPr/>
        </p:nvSpPr>
        <p:spPr>
          <a:xfrm>
            <a:off x="5897880" y="4352544"/>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أَيُّ فَصْلٍ تُفَضِّلُ وَلِمَاذَا؟</a:t>
            </a:r>
            <a:endParaRPr lang="ar-SA" sz="1800" dirty="0"/>
          </a:p>
        </p:txBody>
      </p:sp>
      <p:sp>
        <p:nvSpPr>
          <p:cNvPr id="46" name="Shape 43"/>
          <p:cNvSpPr/>
          <p:nvPr/>
        </p:nvSpPr>
        <p:spPr>
          <a:xfrm>
            <a:off x="457200" y="2487168"/>
            <a:ext cx="4114800" cy="2651760"/>
          </a:xfrm>
          <a:prstGeom prst="roundRect">
            <a:avLst>
              <a:gd name="adj" fmla="val 2759"/>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47" name="Text 44"/>
          <p:cNvSpPr txBox="1"/>
          <p:nvPr/>
        </p:nvSpPr>
        <p:spPr>
          <a:xfrm>
            <a:off x="640080" y="2542032"/>
            <a:ext cx="27432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SENTENCE STEMS</a:t>
            </a:r>
            <a:endParaRPr lang="en-US" sz="1000" dirty="0"/>
          </a:p>
        </p:txBody>
      </p:sp>
      <p:sp>
        <p:nvSpPr>
          <p:cNvPr id="48" name="Shape 45"/>
          <p:cNvSpPr/>
          <p:nvPr/>
        </p:nvSpPr>
        <p:spPr>
          <a:xfrm>
            <a:off x="640080" y="3008376"/>
            <a:ext cx="1051560" cy="256032"/>
          </a:xfrm>
          <a:prstGeom prst="roundRect">
            <a:avLst>
              <a:gd name="adj" fmla="val 50000"/>
            </a:avLst>
          </a:prstGeom>
          <a:solidFill>
            <a:srgbClr val="2E8B57"/>
          </a:solidFill>
          <a:ln w="12700">
            <a:solidFill>
              <a:srgbClr val="2E8B57"/>
            </a:solidFill>
            <a:prstDash val="solid"/>
          </a:ln>
        </p:spPr>
      </p:sp>
      <p:sp>
        <p:nvSpPr>
          <p:cNvPr id="49" name="Text 46"/>
          <p:cNvSpPr txBox="1"/>
          <p:nvPr/>
        </p:nvSpPr>
        <p:spPr>
          <a:xfrm>
            <a:off x="640080" y="3008376"/>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0" name="Text 47"/>
          <p:cNvSpPr txBox="1"/>
          <p:nvPr/>
        </p:nvSpPr>
        <p:spPr>
          <a:xfrm>
            <a:off x="1783080" y="2852928"/>
            <a:ext cx="2697480" cy="557784"/>
          </a:xfrm>
          <a:prstGeom prst="rect">
            <a:avLst/>
          </a:prstGeom>
          <a:noFill/>
          <a:ln/>
        </p:spPr>
        <p:txBody>
          <a:bodyPr wrap="square" lIns="0" tIns="0" rIns="0" bIns="0" rtlCol="0" anchor="ctr"/>
          <a:lstStyle/>
          <a:p>
            <a:pPr rtl="1" algn="r" indent="0" marL="0">
              <a:lnSpc>
                <a:spcPct val="120000"/>
              </a:lnSpc>
              <a:buNone/>
            </a:pPr>
            <a:r>
              <a:rPr lang="ar-SA" altLang="en-US" sz="1050" b="1" dirty="0">
                <a:solidFill>
                  <a:srgbClr val="1D5FBF"/>
                </a:solidFill>
                <a:latin typeface="Amiri" pitchFamily="2" charset="-78"/>
                <a:ea typeface="Amiri" pitchFamily="2" charset="-78"/>
                <a:cs typeface="Amiri" pitchFamily="2" charset="-78"/>
              </a:rPr>
              <a:t>اليَوْمَ تُشْرِقُ الشَّمْسُ / يَسْقُطُ المَطَرُ ، وَدَرَجَةُ الحَرَارَةِ ___ .</a:t>
            </a:r>
            <a:endParaRPr lang="ar-SA" sz="1050" dirty="0"/>
          </a:p>
        </p:txBody>
      </p:sp>
      <p:sp>
        <p:nvSpPr>
          <p:cNvPr id="51" name="Shape 48"/>
          <p:cNvSpPr/>
          <p:nvPr/>
        </p:nvSpPr>
        <p:spPr>
          <a:xfrm>
            <a:off x="640080" y="3566160"/>
            <a:ext cx="1051560" cy="256032"/>
          </a:xfrm>
          <a:prstGeom prst="roundRect">
            <a:avLst>
              <a:gd name="adj" fmla="val 50000"/>
            </a:avLst>
          </a:prstGeom>
          <a:solidFill>
            <a:srgbClr val="C9780A"/>
          </a:solidFill>
          <a:ln w="12700">
            <a:solidFill>
              <a:srgbClr val="C9780A"/>
            </a:solidFill>
            <a:prstDash val="solid"/>
          </a:ln>
        </p:spPr>
      </p:sp>
      <p:sp>
        <p:nvSpPr>
          <p:cNvPr id="52" name="Text 49"/>
          <p:cNvSpPr txBox="1"/>
          <p:nvPr/>
        </p:nvSpPr>
        <p:spPr>
          <a:xfrm>
            <a:off x="640080" y="3566160"/>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53" name="Text 50"/>
          <p:cNvSpPr txBox="1"/>
          <p:nvPr/>
        </p:nvSpPr>
        <p:spPr>
          <a:xfrm>
            <a:off x="1783080" y="3410712"/>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ea typeface="Amiri" pitchFamily="2" charset="-78"/>
                <a:cs typeface="Amiri" pitchFamily="2" charset="-78"/>
              </a:rPr>
              <a:t>___ أَكْثَرُ حَرَارَةً مِنْ ___ .</a:t>
            </a:r>
            <a:endParaRPr lang="ar-SA" sz="1600" dirty="0"/>
          </a:p>
        </p:txBody>
      </p:sp>
      <p:sp>
        <p:nvSpPr>
          <p:cNvPr id="54" name="Shape 51"/>
          <p:cNvSpPr/>
          <p:nvPr/>
        </p:nvSpPr>
        <p:spPr>
          <a:xfrm>
            <a:off x="640080" y="4123944"/>
            <a:ext cx="1051560" cy="256032"/>
          </a:xfrm>
          <a:prstGeom prst="roundRect">
            <a:avLst>
              <a:gd name="adj" fmla="val 50000"/>
            </a:avLst>
          </a:prstGeom>
          <a:solidFill>
            <a:srgbClr val="C9780A"/>
          </a:solidFill>
          <a:ln w="12700">
            <a:solidFill>
              <a:srgbClr val="C9780A"/>
            </a:solidFill>
            <a:prstDash val="solid"/>
          </a:ln>
        </p:spPr>
      </p:sp>
      <p:sp>
        <p:nvSpPr>
          <p:cNvPr id="55" name="Text 52"/>
          <p:cNvSpPr txBox="1"/>
          <p:nvPr/>
        </p:nvSpPr>
        <p:spPr>
          <a:xfrm>
            <a:off x="640080" y="4123944"/>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56" name="Text 53"/>
          <p:cNvSpPr txBox="1"/>
          <p:nvPr/>
        </p:nvSpPr>
        <p:spPr>
          <a:xfrm>
            <a:off x="1783080" y="3968496"/>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ea typeface="Amiri" pitchFamily="2" charset="-78"/>
                <a:cs typeface="Amiri" pitchFamily="2" charset="-78"/>
              </a:rPr>
              <a:t>مِنَ المُتَوَقَّعِ أَنْ ___ غَدًا.</a:t>
            </a:r>
            <a:endParaRPr lang="ar-SA" sz="1600" dirty="0"/>
          </a:p>
        </p:txBody>
      </p:sp>
      <p:sp>
        <p:nvSpPr>
          <p:cNvPr id="57" name="Shape 54"/>
          <p:cNvSpPr/>
          <p:nvPr/>
        </p:nvSpPr>
        <p:spPr>
          <a:xfrm>
            <a:off x="640080" y="4681728"/>
            <a:ext cx="1051560" cy="256032"/>
          </a:xfrm>
          <a:prstGeom prst="roundRect">
            <a:avLst>
              <a:gd name="adj" fmla="val 50000"/>
            </a:avLst>
          </a:prstGeom>
          <a:solidFill>
            <a:srgbClr val="B83227"/>
          </a:solidFill>
          <a:ln w="12700">
            <a:solidFill>
              <a:srgbClr val="B83227"/>
            </a:solidFill>
            <a:prstDash val="solid"/>
          </a:ln>
        </p:spPr>
      </p:sp>
      <p:sp>
        <p:nvSpPr>
          <p:cNvPr id="58" name="Text 55"/>
          <p:cNvSpPr txBox="1"/>
          <p:nvPr/>
        </p:nvSpPr>
        <p:spPr>
          <a:xfrm>
            <a:off x="640080" y="4681728"/>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59" name="Text 56"/>
          <p:cNvSpPr txBox="1"/>
          <p:nvPr/>
        </p:nvSpPr>
        <p:spPr>
          <a:xfrm>
            <a:off x="1783080" y="4526280"/>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ea typeface="Amiri" pitchFamily="2" charset="-78"/>
                <a:cs typeface="Amiri" pitchFamily="2" charset="-78"/>
              </a:rPr>
              <a:t>أُفَضِّلُ فَصْلَ ___ لِأَنَّ ___ .</a:t>
            </a:r>
            <a:endParaRPr lang="ar-SA" sz="1600" dirty="0"/>
          </a:p>
        </p:txBody>
      </p:sp>
      <p:sp>
        <p:nvSpPr>
          <p:cNvPr id="60" name="Shape 57"/>
          <p:cNvSpPr/>
          <p:nvPr/>
        </p:nvSpPr>
        <p:spPr>
          <a:xfrm>
            <a:off x="457200" y="5248656"/>
            <a:ext cx="11274552" cy="1060704"/>
          </a:xfrm>
          <a:prstGeom prst="roundRect">
            <a:avLst>
              <a:gd name="adj" fmla="val 6897"/>
            </a:avLst>
          </a:prstGeom>
          <a:solidFill>
            <a:srgbClr val="EAF3EF"/>
          </a:solidFill>
          <a:ln w="9525">
            <a:solidFill>
              <a:srgbClr val="A8CDB9"/>
            </a:solidFill>
            <a:prstDash val="solid"/>
          </a:ln>
          <a:effectLst>
            <a:outerShdw sx="100000" sy="100000" kx="0" ky="0" algn="bl" rotWithShape="0" blurRad="50800" dist="19050" dir="5400000">
              <a:srgbClr val="000000">
                <a:alpha val="10000"/>
              </a:srgbClr>
            </a:outerShdw>
          </a:effectLst>
        </p:spPr>
      </p:sp>
      <p:sp>
        <p:nvSpPr>
          <p:cNvPr id="61" name="Text 58"/>
          <p:cNvSpPr txBox="1"/>
          <p:nvPr/>
        </p:nvSpPr>
        <p:spPr>
          <a:xfrm>
            <a:off x="640080" y="5285232"/>
            <a:ext cx="2011680" cy="256032"/>
          </a:xfrm>
          <a:prstGeom prst="rect">
            <a:avLst/>
          </a:prstGeom>
          <a:noFill/>
          <a:ln/>
        </p:spPr>
        <p:txBody>
          <a:bodyPr wrap="square" lIns="0" tIns="0" rIns="0" bIns="0" rtlCol="0" anchor="ctr"/>
          <a:lstStyle/>
          <a:p>
            <a:pPr algn="l" indent="0" marL="0">
              <a:buNone/>
            </a:pPr>
            <a:r>
              <a:rPr lang="en-US" sz="950" b="1" spc="100" kern="0" dirty="0">
                <a:solidFill>
                  <a:srgbClr val="1E6B52"/>
                </a:solidFill>
                <a:latin typeface="Calibri" pitchFamily="34" charset="0"/>
                <a:cs typeface="Amiri" pitchFamily="2" charset="-78"/>
              </a:rPr>
              <a:t>MODEL (WEBSITE)</a:t>
            </a:r>
            <a:endParaRPr lang="en-US" sz="950" dirty="0"/>
          </a:p>
        </p:txBody>
      </p:sp>
      <p:sp>
        <p:nvSpPr>
          <p:cNvPr id="62" name="Shape 59"/>
          <p:cNvSpPr/>
          <p:nvPr/>
        </p:nvSpPr>
        <p:spPr>
          <a:xfrm>
            <a:off x="11274552" y="5559552"/>
            <a:ext cx="292608" cy="292608"/>
          </a:xfrm>
          <a:prstGeom prst="ellipse">
            <a:avLst/>
          </a:prstGeom>
          <a:solidFill>
            <a:srgbClr val="1E6B52"/>
          </a:solidFill>
          <a:ln w="12700">
            <a:solidFill>
              <a:srgbClr val="1E6B52"/>
            </a:solidFill>
            <a:prstDash val="solid"/>
          </a:ln>
        </p:spPr>
      </p:sp>
      <p:sp>
        <p:nvSpPr>
          <p:cNvPr id="63" name="Text 60"/>
          <p:cNvSpPr txBox="1"/>
          <p:nvPr/>
        </p:nvSpPr>
        <p:spPr>
          <a:xfrm>
            <a:off x="11274552" y="555955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A</a:t>
            </a:r>
            <a:endParaRPr lang="en-US" sz="1000" dirty="0"/>
          </a:p>
        </p:txBody>
      </p:sp>
      <p:sp>
        <p:nvSpPr>
          <p:cNvPr id="64" name="Text 61"/>
          <p:cNvSpPr txBox="1"/>
          <p:nvPr/>
        </p:nvSpPr>
        <p:spPr>
          <a:xfrm>
            <a:off x="2834640" y="552297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ea typeface="Amiri" pitchFamily="2" charset="-78"/>
                <a:cs typeface="Amiri" pitchFamily="2" charset="-78"/>
              </a:rPr>
              <a:t>كَيْفَ يَخْتَلِفُ الطَّقْسُ بَيْنَ مَدِينَتَيْنِ؟</a:t>
            </a:r>
            <a:endParaRPr lang="ar-SA" sz="1550" dirty="0"/>
          </a:p>
        </p:txBody>
      </p:sp>
      <p:sp>
        <p:nvSpPr>
          <p:cNvPr id="65" name="Text 62"/>
          <p:cNvSpPr txBox="1"/>
          <p:nvPr/>
        </p:nvSpPr>
        <p:spPr>
          <a:xfrm>
            <a:off x="640080" y="552297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cs typeface="Amiri" pitchFamily="2" charset="-78"/>
              </a:rPr>
              <a:t>How does the weather differ between two cities?</a:t>
            </a:r>
            <a:endParaRPr lang="en-US" sz="950" dirty="0"/>
          </a:p>
        </p:txBody>
      </p:sp>
      <p:sp>
        <p:nvSpPr>
          <p:cNvPr id="66" name="Shape 63"/>
          <p:cNvSpPr/>
          <p:nvPr/>
        </p:nvSpPr>
        <p:spPr>
          <a:xfrm>
            <a:off x="11274552" y="5925312"/>
            <a:ext cx="292608" cy="292608"/>
          </a:xfrm>
          <a:prstGeom prst="ellipse">
            <a:avLst/>
          </a:prstGeom>
          <a:solidFill>
            <a:srgbClr val="1E6B52"/>
          </a:solidFill>
          <a:ln w="12700">
            <a:solidFill>
              <a:srgbClr val="1E6B52"/>
            </a:solidFill>
            <a:prstDash val="solid"/>
          </a:ln>
        </p:spPr>
      </p:sp>
      <p:sp>
        <p:nvSpPr>
          <p:cNvPr id="67" name="Text 64"/>
          <p:cNvSpPr txBox="1"/>
          <p:nvPr/>
        </p:nvSpPr>
        <p:spPr>
          <a:xfrm>
            <a:off x="11274552" y="592531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B</a:t>
            </a:r>
            <a:endParaRPr lang="en-US" sz="1000" dirty="0"/>
          </a:p>
        </p:txBody>
      </p:sp>
      <p:sp>
        <p:nvSpPr>
          <p:cNvPr id="68" name="Text 65"/>
          <p:cNvSpPr txBox="1"/>
          <p:nvPr/>
        </p:nvSpPr>
        <p:spPr>
          <a:xfrm>
            <a:off x="2834640" y="588873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ea typeface="Amiri" pitchFamily="2" charset="-78"/>
                <a:cs typeface="Amiri" pitchFamily="2" charset="-78"/>
              </a:rPr>
              <a:t>دُبَيُّ أَكْثَرُ حَرَارَةً مِنْ عَمَّانَ، بَيْنَمَا عَمَّانُ أَقَلُّ رُطُوبَةً فِي فَصْلِ الشِّتَاءِ.</a:t>
            </a:r>
            <a:endParaRPr lang="ar-SA" sz="1550" dirty="0"/>
          </a:p>
        </p:txBody>
      </p:sp>
      <p:sp>
        <p:nvSpPr>
          <p:cNvPr id="69" name="Text 66"/>
          <p:cNvSpPr txBox="1"/>
          <p:nvPr/>
        </p:nvSpPr>
        <p:spPr>
          <a:xfrm>
            <a:off x="640080" y="5888736"/>
            <a:ext cx="2148840" cy="365760"/>
          </a:xfrm>
          <a:prstGeom prst="rect">
            <a:avLst/>
          </a:prstGeom>
          <a:noFill/>
          <a:ln/>
        </p:spPr>
        <p:txBody>
          <a:bodyPr wrap="square" lIns="0" tIns="0" rIns="0" bIns="0" rtlCol="0" anchor="ctr"/>
          <a:lstStyle/>
          <a:p>
            <a:pPr algn="l" indent="0" marL="0">
              <a:buNone/>
            </a:pPr>
            <a:r>
              <a:rPr lang="en-US" sz="900" i="1" dirty="0">
                <a:solidFill>
                  <a:srgbClr val="5A6472"/>
                </a:solidFill>
                <a:latin typeface="Calibri" pitchFamily="34" charset="0"/>
                <a:cs typeface="Amiri" pitchFamily="2" charset="-78"/>
              </a:rPr>
              <a:t>Dubai is hotter than Amman, whereas Amman is less humid in winter.</a:t>
            </a:r>
            <a:endParaRPr lang="en-US" sz="900" dirty="0"/>
          </a:p>
        </p:txBody>
      </p:sp>
      <p:sp>
        <p:nvSpPr>
          <p:cNvPr id="70" name="Text 6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31 / 45</a:t>
            </a:r>
            <a:endParaRPr lang="en-US" sz="8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D4-L02 · Weather</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9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INDEPENDENT PRACTICE · 9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Write: choose your route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D4-L02</a:t>
            </a:r>
            <a:endParaRPr lang="en-US" sz="850" dirty="0"/>
          </a:p>
        </p:txBody>
      </p:sp>
      <p:sp>
        <p:nvSpPr>
          <p:cNvPr id="15" name="Shape 12"/>
          <p:cNvSpPr/>
          <p:nvPr/>
        </p:nvSpPr>
        <p:spPr>
          <a:xfrm>
            <a:off x="457200" y="1810512"/>
            <a:ext cx="3639312" cy="4315968"/>
          </a:xfrm>
          <a:prstGeom prst="roundRect">
            <a:avLst>
              <a:gd name="adj" fmla="val 2010"/>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310896"/>
          </a:xfrm>
          <a:prstGeom prst="roundRect">
            <a:avLst>
              <a:gd name="adj" fmla="val 50000"/>
            </a:avLst>
          </a:prstGeom>
          <a:solidFill>
            <a:srgbClr val="2E8B57"/>
          </a:solidFill>
          <a:ln w="12700">
            <a:solidFill>
              <a:srgbClr val="2E8B57"/>
            </a:solidFill>
            <a:prstDash val="solid"/>
          </a:ln>
        </p:spPr>
      </p:sp>
      <p:sp>
        <p:nvSpPr>
          <p:cNvPr id="17" name="Text 14"/>
          <p:cNvSpPr txBox="1"/>
          <p:nvPr/>
        </p:nvSpPr>
        <p:spPr>
          <a:xfrm>
            <a:off x="640080"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CORE</a:t>
            </a:r>
            <a:endParaRPr lang="en-US" sz="1000" dirty="0"/>
          </a:p>
        </p:txBody>
      </p:sp>
      <p:sp>
        <p:nvSpPr>
          <p:cNvPr id="18" name="Text 15"/>
          <p:cNvSpPr txBox="1"/>
          <p:nvPr/>
        </p:nvSpPr>
        <p:spPr>
          <a:xfrm>
            <a:off x="2450592"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2E8B57"/>
                </a:solidFill>
                <a:latin typeface="Amiri" pitchFamily="2" charset="-78"/>
                <a:ea typeface="Amiri" pitchFamily="2" charset="-78"/>
                <a:cs typeface="Amiri" pitchFamily="2" charset="-78"/>
              </a:rPr>
              <a:t>الأَسَاسُ</a:t>
            </a:r>
            <a:endParaRPr lang="ar-SA" sz="1800" dirty="0"/>
          </a:p>
        </p:txBody>
      </p:sp>
      <p:sp>
        <p:nvSpPr>
          <p:cNvPr id="19" name="Text 16"/>
          <p:cNvSpPr txBox="1"/>
          <p:nvPr/>
        </p:nvSpPr>
        <p:spPr>
          <a:xfrm>
            <a:off x="640080" y="2377440"/>
            <a:ext cx="3273552" cy="457200"/>
          </a:xfrm>
          <a:prstGeom prst="rect">
            <a:avLst/>
          </a:prstGeom>
          <a:noFill/>
          <a:ln/>
        </p:spPr>
        <p:txBody>
          <a:bodyPr wrap="square" lIns="0" tIns="0" rIns="0" bIns="0" rtlCol="0" anchor="ctr"/>
          <a:lstStyle/>
          <a:p>
            <a:pPr algn="l" indent="0" marL="0">
              <a:buNone/>
            </a:pPr>
            <a:r>
              <a:rPr lang="en-US" sz="2200" b="1" dirty="0">
                <a:solidFill>
                  <a:srgbClr val="2E8B57"/>
                </a:solidFill>
                <a:latin typeface="Cambria" pitchFamily="34" charset="0"/>
                <a:cs typeface="Amiri" pitchFamily="2" charset="-78"/>
              </a:rPr>
              <a:t>5 sentences</a:t>
            </a:r>
            <a:endParaRPr lang="en-US" sz="2200" dirty="0"/>
          </a:p>
        </p:txBody>
      </p:sp>
      <p:sp>
        <p:nvSpPr>
          <p:cNvPr id="20" name="Text 17"/>
          <p:cNvSpPr txBox="1"/>
          <p:nvPr/>
        </p:nvSpPr>
        <p:spPr>
          <a:xfrm>
            <a:off x="640080"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Use the vocabulary banks and sentence frames to produce four accurate connected sentences.</a:t>
            </a:r>
            <a:endParaRPr lang="en-US" sz="1400" dirty="0"/>
          </a:p>
        </p:txBody>
      </p:sp>
      <p:sp>
        <p:nvSpPr>
          <p:cNvPr id="21" name="Shape 18"/>
          <p:cNvSpPr/>
          <p:nvPr/>
        </p:nvSpPr>
        <p:spPr>
          <a:xfrm>
            <a:off x="640080" y="4160520"/>
            <a:ext cx="3273552" cy="1783080"/>
          </a:xfrm>
          <a:prstGeom prst="roundRect">
            <a:avLst>
              <a:gd name="adj" fmla="val 4103"/>
            </a:avLst>
          </a:prstGeom>
          <a:solidFill>
            <a:srgbClr val="FFFFFF"/>
          </a:solidFill>
          <a:ln w="9525">
            <a:solidFill>
              <a:srgbClr val="FFFFFF"/>
            </a:solidFill>
            <a:prstDash val="solid"/>
          </a:ln>
        </p:spPr>
      </p:sp>
      <p:sp>
        <p:nvSpPr>
          <p:cNvPr id="22" name="Text 19"/>
          <p:cNvSpPr txBox="1"/>
          <p:nvPr/>
        </p:nvSpPr>
        <p:spPr>
          <a:xfrm>
            <a:off x="731520" y="4224528"/>
            <a:ext cx="3090672" cy="1645920"/>
          </a:xfrm>
          <a:prstGeom prst="rect">
            <a:avLst/>
          </a:prstGeom>
          <a:noFill/>
          <a:ln/>
        </p:spPr>
        <p:txBody>
          <a:bodyPr wrap="square" lIns="0" tIns="0" rIns="0" bIns="0" rtlCol="0" anchor="t"/>
          <a:lstStyle/>
          <a:p>
            <a:pPr indent="0" marL="0">
              <a:buNone/>
            </a:pPr>
            <a:r>
              <a:rPr lang="en-US" sz="900" b="1" spc="200" kern="0" dirty="0">
                <a:solidFill>
                  <a:srgbClr val="2E8B5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Today’s weather in two cities: three weather verbs and one temperature.</a:t>
            </a:r>
            <a:endParaRPr lang="en-US" sz="900" dirty="0"/>
          </a:p>
        </p:txBody>
      </p:sp>
      <p:sp>
        <p:nvSpPr>
          <p:cNvPr id="23" name="Shape 20"/>
          <p:cNvSpPr/>
          <p:nvPr/>
        </p:nvSpPr>
        <p:spPr>
          <a:xfrm>
            <a:off x="4279392" y="1810512"/>
            <a:ext cx="3639312" cy="4315968"/>
          </a:xfrm>
          <a:prstGeom prst="roundRect">
            <a:avLst>
              <a:gd name="adj" fmla="val 2010"/>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62272" y="1938528"/>
            <a:ext cx="1188720" cy="310896"/>
          </a:xfrm>
          <a:prstGeom prst="roundRect">
            <a:avLst>
              <a:gd name="adj" fmla="val 50000"/>
            </a:avLst>
          </a:prstGeom>
          <a:solidFill>
            <a:srgbClr val="C9780A"/>
          </a:solidFill>
          <a:ln w="12700">
            <a:solidFill>
              <a:srgbClr val="C9780A"/>
            </a:solidFill>
            <a:prstDash val="solid"/>
          </a:ln>
        </p:spPr>
      </p:sp>
      <p:sp>
        <p:nvSpPr>
          <p:cNvPr id="25" name="Text 22"/>
          <p:cNvSpPr txBox="1"/>
          <p:nvPr/>
        </p:nvSpPr>
        <p:spPr>
          <a:xfrm>
            <a:off x="4462272"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DEVELOP</a:t>
            </a:r>
            <a:endParaRPr lang="en-US" sz="1000" dirty="0"/>
          </a:p>
        </p:txBody>
      </p:sp>
      <p:sp>
        <p:nvSpPr>
          <p:cNvPr id="26" name="Text 23"/>
          <p:cNvSpPr txBox="1"/>
          <p:nvPr/>
        </p:nvSpPr>
        <p:spPr>
          <a:xfrm>
            <a:off x="6272784"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C9780A"/>
                </a:solidFill>
                <a:latin typeface="Amiri" pitchFamily="2" charset="-78"/>
                <a:ea typeface="Amiri" pitchFamily="2" charset="-78"/>
                <a:cs typeface="Amiri" pitchFamily="2" charset="-78"/>
              </a:rPr>
              <a:t>التَّطْوِيرُ</a:t>
            </a:r>
            <a:endParaRPr lang="ar-SA" sz="1800" dirty="0"/>
          </a:p>
        </p:txBody>
      </p:sp>
      <p:sp>
        <p:nvSpPr>
          <p:cNvPr id="27" name="Text 24"/>
          <p:cNvSpPr txBox="1"/>
          <p:nvPr/>
        </p:nvSpPr>
        <p:spPr>
          <a:xfrm>
            <a:off x="4462272" y="2377440"/>
            <a:ext cx="3273552" cy="457200"/>
          </a:xfrm>
          <a:prstGeom prst="rect">
            <a:avLst/>
          </a:prstGeom>
          <a:noFill/>
          <a:ln/>
        </p:spPr>
        <p:txBody>
          <a:bodyPr wrap="square" lIns="0" tIns="0" rIns="0" bIns="0" rtlCol="0" anchor="ctr"/>
          <a:lstStyle/>
          <a:p>
            <a:pPr algn="l" indent="0" marL="0">
              <a:buNone/>
            </a:pPr>
            <a:r>
              <a:rPr lang="en-US" sz="2200" b="1" dirty="0">
                <a:solidFill>
                  <a:srgbClr val="C9780A"/>
                </a:solidFill>
                <a:latin typeface="Cambria" pitchFamily="34" charset="0"/>
                <a:cs typeface="Amiri" pitchFamily="2" charset="-78"/>
              </a:rPr>
              <a:t>80–100 words</a:t>
            </a:r>
            <a:endParaRPr lang="en-US" sz="2200" dirty="0"/>
          </a:p>
        </p:txBody>
      </p:sp>
      <p:sp>
        <p:nvSpPr>
          <p:cNvPr id="28" name="Text 25"/>
          <p:cNvSpPr txBox="1"/>
          <p:nvPr/>
        </p:nvSpPr>
        <p:spPr>
          <a:xfrm>
            <a:off x="4462272"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Use several target structures in a linked paragraph or sustained spoken answer.</a:t>
            </a:r>
            <a:endParaRPr lang="en-US" sz="1400" dirty="0"/>
          </a:p>
        </p:txBody>
      </p:sp>
      <p:sp>
        <p:nvSpPr>
          <p:cNvPr id="29" name="Shape 26"/>
          <p:cNvSpPr/>
          <p:nvPr/>
        </p:nvSpPr>
        <p:spPr>
          <a:xfrm>
            <a:off x="4462272" y="4160520"/>
            <a:ext cx="3273552" cy="1783080"/>
          </a:xfrm>
          <a:prstGeom prst="roundRect">
            <a:avLst>
              <a:gd name="adj" fmla="val 4103"/>
            </a:avLst>
          </a:prstGeom>
          <a:solidFill>
            <a:srgbClr val="FFFFFF"/>
          </a:solidFill>
          <a:ln w="9525">
            <a:solidFill>
              <a:srgbClr val="FFFFFF"/>
            </a:solidFill>
            <a:prstDash val="solid"/>
          </a:ln>
        </p:spPr>
      </p:sp>
      <p:sp>
        <p:nvSpPr>
          <p:cNvPr id="30" name="Text 27"/>
          <p:cNvSpPr txBox="1"/>
          <p:nvPr/>
        </p:nvSpPr>
        <p:spPr>
          <a:xfrm>
            <a:off x="4553712" y="4224528"/>
            <a:ext cx="3090672" cy="1645920"/>
          </a:xfrm>
          <a:prstGeom prst="rect">
            <a:avLst/>
          </a:prstGeom>
          <a:noFill/>
          <a:ln/>
        </p:spPr>
        <p:txBody>
          <a:bodyPr wrap="square" lIns="0" tIns="0" rIns="0" bIns="0" rtlCol="0" anchor="t"/>
          <a:lstStyle/>
          <a:p>
            <a:pPr indent="0" marL="0">
              <a:buNone/>
            </a:pPr>
            <a:r>
              <a:rPr lang="en-US" sz="900" b="1" spc="200" kern="0" dirty="0">
                <a:solidFill>
                  <a:srgbClr val="C9780A"/>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Compare two cities with akthar / aqall … min and a temperature range.</a:t>
            </a:r>
            <a:endParaRPr lang="en-US" sz="900" dirty="0"/>
          </a:p>
        </p:txBody>
      </p:sp>
      <p:sp>
        <p:nvSpPr>
          <p:cNvPr id="31" name="Shape 28"/>
          <p:cNvSpPr/>
          <p:nvPr/>
        </p:nvSpPr>
        <p:spPr>
          <a:xfrm>
            <a:off x="8101584" y="1810512"/>
            <a:ext cx="3639312" cy="4315968"/>
          </a:xfrm>
          <a:prstGeom prst="roundRect">
            <a:avLst>
              <a:gd name="adj" fmla="val 2010"/>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8284464" y="1938528"/>
            <a:ext cx="1188720" cy="310896"/>
          </a:xfrm>
          <a:prstGeom prst="roundRect">
            <a:avLst>
              <a:gd name="adj" fmla="val 50000"/>
            </a:avLst>
          </a:prstGeom>
          <a:solidFill>
            <a:srgbClr val="B83227"/>
          </a:solidFill>
          <a:ln w="12700">
            <a:solidFill>
              <a:srgbClr val="B83227"/>
            </a:solidFill>
            <a:prstDash val="solid"/>
          </a:ln>
        </p:spPr>
      </p:sp>
      <p:sp>
        <p:nvSpPr>
          <p:cNvPr id="33" name="Text 30"/>
          <p:cNvSpPr txBox="1"/>
          <p:nvPr/>
        </p:nvSpPr>
        <p:spPr>
          <a:xfrm>
            <a:off x="8284464"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STRETCH</a:t>
            </a:r>
            <a:endParaRPr lang="en-US" sz="1000" dirty="0"/>
          </a:p>
        </p:txBody>
      </p:sp>
      <p:sp>
        <p:nvSpPr>
          <p:cNvPr id="34" name="Text 31"/>
          <p:cNvSpPr txBox="1"/>
          <p:nvPr/>
        </p:nvSpPr>
        <p:spPr>
          <a:xfrm>
            <a:off x="10094976"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التَّحَدِّي</a:t>
            </a:r>
            <a:endParaRPr lang="ar-SA" sz="1800" dirty="0"/>
          </a:p>
        </p:txBody>
      </p:sp>
      <p:sp>
        <p:nvSpPr>
          <p:cNvPr id="35" name="Text 32"/>
          <p:cNvSpPr txBox="1"/>
          <p:nvPr/>
        </p:nvSpPr>
        <p:spPr>
          <a:xfrm>
            <a:off x="8284464" y="2377440"/>
            <a:ext cx="3273552" cy="457200"/>
          </a:xfrm>
          <a:prstGeom prst="rect">
            <a:avLst/>
          </a:prstGeom>
          <a:noFill/>
          <a:ln/>
        </p:spPr>
        <p:txBody>
          <a:bodyPr wrap="square" lIns="0" tIns="0" rIns="0" bIns="0" rtlCol="0" anchor="ctr"/>
          <a:lstStyle/>
          <a:p>
            <a:pPr algn="l" indent="0" marL="0">
              <a:buNone/>
            </a:pPr>
            <a:r>
              <a:rPr lang="en-US" sz="2200" b="1" dirty="0">
                <a:solidFill>
                  <a:srgbClr val="B83227"/>
                </a:solidFill>
                <a:latin typeface="Cambria" pitchFamily="34" charset="0"/>
                <a:cs typeface="Amiri" pitchFamily="2" charset="-78"/>
              </a:rPr>
              <a:t>100–120 words</a:t>
            </a:r>
            <a:endParaRPr lang="en-US" sz="2200" dirty="0"/>
          </a:p>
        </p:txBody>
      </p:sp>
      <p:sp>
        <p:nvSpPr>
          <p:cNvPr id="36" name="Text 33"/>
          <p:cNvSpPr txBox="1"/>
          <p:nvPr/>
        </p:nvSpPr>
        <p:spPr>
          <a:xfrm>
            <a:off x="8284464"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Evaluate, compare or qualify ideas using precise evidence and formal linking language.</a:t>
            </a:r>
            <a:endParaRPr lang="en-US" sz="1400" dirty="0"/>
          </a:p>
        </p:txBody>
      </p:sp>
      <p:sp>
        <p:nvSpPr>
          <p:cNvPr id="37" name="Shape 34"/>
          <p:cNvSpPr/>
          <p:nvPr/>
        </p:nvSpPr>
        <p:spPr>
          <a:xfrm>
            <a:off x="8284464" y="4160520"/>
            <a:ext cx="3273552" cy="1783080"/>
          </a:xfrm>
          <a:prstGeom prst="roundRect">
            <a:avLst>
              <a:gd name="adj" fmla="val 4103"/>
            </a:avLst>
          </a:prstGeom>
          <a:solidFill>
            <a:srgbClr val="FFFFFF"/>
          </a:solidFill>
          <a:ln w="9525">
            <a:solidFill>
              <a:srgbClr val="FFFFFF"/>
            </a:solidFill>
            <a:prstDash val="solid"/>
          </a:ln>
        </p:spPr>
      </p:sp>
      <p:sp>
        <p:nvSpPr>
          <p:cNvPr id="38" name="Text 35"/>
          <p:cNvSpPr txBox="1"/>
          <p:nvPr/>
        </p:nvSpPr>
        <p:spPr>
          <a:xfrm>
            <a:off x="8375904" y="4224528"/>
            <a:ext cx="3090672" cy="1645920"/>
          </a:xfrm>
          <a:prstGeom prst="rect">
            <a:avLst/>
          </a:prstGeom>
          <a:noFill/>
          <a:ln/>
        </p:spPr>
        <p:txBody>
          <a:bodyPr wrap="square" lIns="0" tIns="0" rIns="0" bIns="0" rtlCol="0" anchor="t"/>
          <a:lstStyle/>
          <a:p>
            <a:pPr indent="0" marL="0">
              <a:buNone/>
            </a:pPr>
            <a:r>
              <a:rPr lang="en-US" sz="900" b="1" spc="200" kern="0" dirty="0">
                <a:solidFill>
                  <a:srgbClr val="B8322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Website task: compare two cities, add a forecast (min al-mutawaqqaʿ an) and practical advice.</a:t>
            </a:r>
            <a:endParaRPr lang="en-US" sz="9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32 / 45</a:t>
            </a:r>
            <a:endParaRPr lang="en-US" sz="8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D4-L02 · Weather</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SUPPORT · CORE AND DEVELOP FRAMES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frames and word bank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قَوَالِبُ الجُمَلِ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D4-L02</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______ أَكْثَرُ حَرَارَةً مِنْ ______ .</a:t>
            </a:r>
            <a:endParaRPr lang="ar-SA" sz="180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 is hotter than …</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______ أَقَلُّ رُطُوبَةً مِنْ ______ .</a:t>
            </a:r>
            <a:endParaRPr lang="ar-SA" sz="180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 is less humid than …</a:t>
            </a:r>
            <a:endParaRPr lang="en-US" sz="1050" dirty="0"/>
          </a:p>
        </p:txBody>
      </p:sp>
      <p:sp>
        <p:nvSpPr>
          <p:cNvPr id="22" name="Text 19"/>
          <p:cNvSpPr txBox="1"/>
          <p:nvPr/>
        </p:nvSpPr>
        <p:spPr>
          <a:xfrm>
            <a:off x="2468880" y="3383280"/>
            <a:ext cx="3383280" cy="538582"/>
          </a:xfrm>
          <a:prstGeom prst="rect">
            <a:avLst/>
          </a:prstGeom>
          <a:noFill/>
          <a:ln/>
        </p:spPr>
        <p:txBody>
          <a:bodyPr wrap="square" lIns="0" tIns="0" rIns="0" bIns="0" rtlCol="0" anchor="ctr"/>
          <a:lstStyle/>
          <a:p>
            <a:pPr rtl="1" algn="r" indent="0" marL="0">
              <a:buNone/>
            </a:pPr>
            <a:r>
              <a:rPr lang="ar-SA" altLang="en-US" sz="1450" b="1" dirty="0">
                <a:solidFill>
                  <a:srgbClr val="1B3B6F"/>
                </a:solidFill>
                <a:latin typeface="Amiri" pitchFamily="2" charset="-78"/>
                <a:ea typeface="Amiri" pitchFamily="2" charset="-78"/>
                <a:cs typeface="Amiri" pitchFamily="2" charset="-78"/>
              </a:rPr>
              <a:t>تَتَرَاوَحُ دَرَجَةُ الحَرَارَةِ بَيْنَ ______ وَ ______ دَرَجَةً.</a:t>
            </a:r>
            <a:endParaRPr lang="ar-SA" sz="1450" dirty="0"/>
          </a:p>
        </p:txBody>
      </p:sp>
      <p:sp>
        <p:nvSpPr>
          <p:cNvPr id="23" name="Text 20"/>
          <p:cNvSpPr txBox="1"/>
          <p:nvPr/>
        </p:nvSpPr>
        <p:spPr>
          <a:xfrm>
            <a:off x="594360"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The temperature ranges between … and …</a:t>
            </a:r>
            <a:endParaRPr lang="en-US" sz="1050" dirty="0"/>
          </a:p>
        </p:txBody>
      </p:sp>
      <p:sp>
        <p:nvSpPr>
          <p:cNvPr id="24" name="Text 21"/>
          <p:cNvSpPr txBox="1"/>
          <p:nvPr/>
        </p:nvSpPr>
        <p:spPr>
          <a:xfrm>
            <a:off x="2468880"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مِنَ المُتَوَقَّعِ أَنْ ______ غَدًا.</a:t>
            </a:r>
            <a:endParaRPr lang="ar-SA" sz="1800" dirty="0"/>
          </a:p>
        </p:txBody>
      </p:sp>
      <p:sp>
        <p:nvSpPr>
          <p:cNvPr id="25" name="Text 22"/>
          <p:cNvSpPr txBox="1"/>
          <p:nvPr/>
        </p:nvSpPr>
        <p:spPr>
          <a:xfrm>
            <a:off x="594360"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It is expected that … tomorrow.</a:t>
            </a:r>
            <a:endParaRPr lang="en-US" sz="1050" dirty="0"/>
          </a:p>
        </p:txBody>
      </p:sp>
      <p:sp>
        <p:nvSpPr>
          <p:cNvPr id="26" name="Shape 23"/>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7" name="Shape 24"/>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29" name="Text 26"/>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فِي ______ تُشْرِقُ الشَّمْسُ.</a:t>
            </a:r>
            <a:endParaRPr lang="ar-SA" sz="1800" dirty="0"/>
          </a:p>
        </p:txBody>
      </p:sp>
      <p:sp>
        <p:nvSpPr>
          <p:cNvPr id="30" name="Text 27"/>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In … the sun shines.</a:t>
            </a:r>
            <a:endParaRPr lang="en-US" sz="1050" dirty="0"/>
          </a:p>
        </p:txBody>
      </p:sp>
      <p:sp>
        <p:nvSpPr>
          <p:cNvPr id="31" name="Text 28"/>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فِي ______ يَسْقُطُ المَطَرُ.</a:t>
            </a:r>
            <a:endParaRPr lang="ar-SA" sz="1800" dirty="0"/>
          </a:p>
        </p:txBody>
      </p:sp>
      <p:sp>
        <p:nvSpPr>
          <p:cNvPr id="32" name="Text 29"/>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In … it rains.</a:t>
            </a:r>
            <a:endParaRPr lang="en-US" sz="1050" dirty="0"/>
          </a:p>
        </p:txBody>
      </p:sp>
      <p:sp>
        <p:nvSpPr>
          <p:cNvPr id="33" name="Text 30"/>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تَهُبُّ الرِّيَاحُ بِقُوَّةٍ.</a:t>
            </a:r>
            <a:endParaRPr lang="ar-SA" sz="1800" dirty="0"/>
          </a:p>
        </p:txBody>
      </p:sp>
      <p:sp>
        <p:nvSpPr>
          <p:cNvPr id="34" name="Text 31"/>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The winds blow strongly.</a:t>
            </a:r>
            <a:endParaRPr lang="en-US" sz="1050" dirty="0"/>
          </a:p>
        </p:txBody>
      </p:sp>
      <p:sp>
        <p:nvSpPr>
          <p:cNvPr id="35" name="Text 32"/>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تَرْتَفِعُ دَرَجَةُ الحَرَارَةِ إِلَى ______ دَرَجَةً.</a:t>
            </a:r>
            <a:endParaRPr lang="ar-SA" sz="1800" dirty="0"/>
          </a:p>
        </p:txBody>
      </p:sp>
      <p:sp>
        <p:nvSpPr>
          <p:cNvPr id="36" name="Text 33"/>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The temperature rises to … degrees.</a:t>
            </a:r>
            <a:endParaRPr lang="en-US" sz="1050" dirty="0"/>
          </a:p>
        </p:txBody>
      </p:sp>
      <p:sp>
        <p:nvSpPr>
          <p:cNvPr id="37" name="Shape 34"/>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8" name="Text 35"/>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39" name="Text 36"/>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400" b="1" dirty="0">
                <a:solidFill>
                  <a:srgbClr val="1B3B6F"/>
                </a:solidFill>
                <a:latin typeface="Amiri" pitchFamily="2" charset="-78"/>
                <a:ea typeface="Amiri" pitchFamily="2" charset="-78"/>
                <a:cs typeface="Amiri" pitchFamily="2" charset="-78"/>
              </a:rPr>
              <a:t>يَسْقُطُ المَطَرُ  ·  تَسْقُطُ الثُّلُوجُ  ·  تَهُبُّ الرِّيَاحُ  ·  تُشْرِقُ الشَّمْسُ  ·  تَرْتَفِعُ  ·  تَنْخَفِضُ  ·  دَرَجَةُ الحَرَارَةِ  ·  أَكْثَرُ حَرَارَةً مِنْ  ·  أَقَلُّ رُطُوبَةً مِنْ  ·  أَكْثَرُ بُرُودَةً  ·  تَتَرَاوَحُ بَيْنَ  ·  مِنَ المُتَوَقَّعِ أَنْ</a:t>
            </a:r>
            <a:endParaRPr lang="ar-SA" sz="140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33 / 45</a:t>
            </a:r>
            <a:endParaRPr lang="en-US" sz="8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D4-L02 · Weather</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STRETCH · THE WEBSITE WRITING TASK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Stretch: the full writing task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مُهِمَّةُ التَّحَدِّي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D4-L02</a:t>
            </a:r>
            <a:endParaRPr lang="en-US" sz="850" dirty="0"/>
          </a:p>
        </p:txBody>
      </p:sp>
      <p:sp>
        <p:nvSpPr>
          <p:cNvPr id="15" name="Shape 12"/>
          <p:cNvSpPr/>
          <p:nvPr/>
        </p:nvSpPr>
        <p:spPr>
          <a:xfrm>
            <a:off x="457200" y="1810512"/>
            <a:ext cx="5577840" cy="4498848"/>
          </a:xfrm>
          <a:prstGeom prst="roundRect">
            <a:avLst>
              <a:gd name="adj" fmla="val 1626"/>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292608"/>
          </a:xfrm>
          <a:prstGeom prst="roundRect">
            <a:avLst>
              <a:gd name="adj" fmla="val 50000"/>
            </a:avLst>
          </a:prstGeom>
          <a:solidFill>
            <a:srgbClr val="B83227"/>
          </a:solidFill>
          <a:ln w="12700">
            <a:solidFill>
              <a:srgbClr val="B83227"/>
            </a:solidFill>
            <a:prstDash val="solid"/>
          </a:ln>
        </p:spPr>
      </p:sp>
      <p:sp>
        <p:nvSpPr>
          <p:cNvPr id="17" name="Text 14"/>
          <p:cNvSpPr txBox="1"/>
          <p:nvPr/>
        </p:nvSpPr>
        <p:spPr>
          <a:xfrm>
            <a:off x="640080" y="1938528"/>
            <a:ext cx="118872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350" b="1" dirty="0">
                <a:solidFill>
                  <a:srgbClr val="1F2A37"/>
                </a:solidFill>
                <a:latin typeface="Calibri" pitchFamily="34" charset="0"/>
                <a:cs typeface="Amiri" pitchFamily="2" charset="-78"/>
              </a:rPr>
              <a:t>Write 100–120 Arabic words comparing weather in two Arabic-speaking cities or regions.</a:t>
            </a:r>
            <a:endParaRPr lang="en-US" sz="135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Use at least three weather verbs.</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Include a temperature or range.</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Use two accurate comparisons.</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Add a forecast and practical conclusion.</a:t>
            </a:r>
            <a:endParaRPr lang="en-US" sz="1200" dirty="0"/>
          </a:p>
        </p:txBody>
      </p:sp>
      <p:sp>
        <p:nvSpPr>
          <p:cNvPr id="23" name="Shape 20"/>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PHRASE BANK — FROM THE WEBSITE TEXTS</a:t>
            </a:r>
            <a:endParaRPr lang="en-US" sz="950" dirty="0"/>
          </a:p>
        </p:txBody>
      </p:sp>
      <p:sp>
        <p:nvSpPr>
          <p:cNvPr id="25" name="Text 22"/>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750" b="1" dirty="0">
                <a:solidFill>
                  <a:srgbClr val="1B3B6F"/>
                </a:solidFill>
                <a:latin typeface="Amiri" pitchFamily="2" charset="-78"/>
                <a:ea typeface="Amiri" pitchFamily="2" charset="-78"/>
                <a:cs typeface="Amiri" pitchFamily="2" charset="-78"/>
              </a:rPr>
              <a:t>تَخْتَلِفُ أَحْوَالُ الطَّقْسِ مِنْ مَنْطِقَةٍ إِلَى أُخْرَى</a:t>
            </a:r>
            <a:endParaRPr lang="ar-SA" sz="1750" dirty="0"/>
          </a:p>
        </p:txBody>
      </p:sp>
      <p:sp>
        <p:nvSpPr>
          <p:cNvPr id="26" name="Text 23"/>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weather conditions differ from one region to another</a:t>
            </a:r>
            <a:endParaRPr lang="en-US" sz="1050" dirty="0"/>
          </a:p>
        </p:txBody>
      </p:sp>
      <p:sp>
        <p:nvSpPr>
          <p:cNvPr id="27" name="Text 24"/>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قَدْ تَتَجَاوَزُ أَرْبَعِينَ دَرَجَةً</a:t>
            </a:r>
            <a:endParaRPr lang="ar-SA" sz="1800" dirty="0"/>
          </a:p>
        </p:txBody>
      </p:sp>
      <p:sp>
        <p:nvSpPr>
          <p:cNvPr id="28" name="Text 25"/>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it may exceed forty degrees</a:t>
            </a:r>
            <a:endParaRPr lang="en-US" sz="1050" dirty="0"/>
          </a:p>
        </p:txBody>
      </p:sp>
      <p:sp>
        <p:nvSpPr>
          <p:cNvPr id="29" name="Text 26"/>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تَكُونُ الرُّطُوبَةُ مُرْتَفِعَةً</a:t>
            </a:r>
            <a:endParaRPr lang="ar-SA" sz="1800" dirty="0"/>
          </a:p>
        </p:txBody>
      </p:sp>
      <p:sp>
        <p:nvSpPr>
          <p:cNvPr id="30" name="Text 27"/>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the humidity is high</a:t>
            </a:r>
            <a:endParaRPr lang="en-US" sz="1050" dirty="0"/>
          </a:p>
        </p:txBody>
      </p:sp>
      <p:sp>
        <p:nvSpPr>
          <p:cNvPr id="31" name="Text 28"/>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يَجِبُ عَلَى المُسَافِرِ أَنْ …</a:t>
            </a:r>
            <a:endParaRPr lang="ar-SA" sz="1800" dirty="0"/>
          </a:p>
        </p:txBody>
      </p:sp>
      <p:sp>
        <p:nvSpPr>
          <p:cNvPr id="32" name="Text 29"/>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the traveller must …</a:t>
            </a:r>
            <a:endParaRPr lang="en-US" sz="1050" dirty="0"/>
          </a:p>
        </p:txBody>
      </p:sp>
      <p:sp>
        <p:nvSpPr>
          <p:cNvPr id="33" name="Text 30"/>
          <p:cNvSpPr txBox="1"/>
          <p:nvPr/>
        </p:nvSpPr>
        <p:spPr>
          <a:xfrm>
            <a:off x="8412480" y="4864608"/>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قَبْلَ الرِّحْلَةِ</a:t>
            </a:r>
            <a:endParaRPr lang="ar-SA" sz="1800" dirty="0"/>
          </a:p>
        </p:txBody>
      </p:sp>
      <p:sp>
        <p:nvSpPr>
          <p:cNvPr id="34" name="Text 31"/>
          <p:cNvSpPr txBox="1"/>
          <p:nvPr/>
        </p:nvSpPr>
        <p:spPr>
          <a:xfrm>
            <a:off x="6400800" y="5193792"/>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before the trip</a:t>
            </a:r>
            <a:endParaRPr lang="en-US" sz="1050" dirty="0"/>
          </a:p>
        </p:txBody>
      </p:sp>
      <p:sp>
        <p:nvSpPr>
          <p:cNvPr id="35" name="Text 3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34 / 45</a:t>
            </a:r>
            <a:endParaRPr lang="en-US" sz="8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D4-L02 · Weather</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COMPARE WITH THE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What a strong answer looks like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D4-L02</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600" dirty="0">
                <a:solidFill>
                  <a:srgbClr val="1F2A37"/>
                </a:solidFill>
                <a:latin typeface="Amiri" pitchFamily="2" charset="-78"/>
                <a:ea typeface="Amiri" pitchFamily="2" charset="-78"/>
                <a:cs typeface="Amiri" pitchFamily="2" charset="-78"/>
              </a:rPr>
              <a:t>تَخْتَلِفُ أَحْوَالُ الطَّقْسِ فِي العَالَمِ العَرَبِيِّ مِنْ مَنْطِقَةٍ إِلَى أُخْرَى. فِي دُبَيَّ تَرْتَفِعُ دَرَجَةُ الحَرَارَةِ صَيْفًا، وَقَدْ تَتَجَاوَزُ أَرْبَعِينَ دَرَجَةً مِئَوِيَّةً. أَمَّا فِي عَمَّانَ فَالجَوُّ أَكْثَرُ بُرُودَةً شِتَاءً، وَمِنَ المُتَوَقَّعِ أَنْ تَسْقُطَ الثُّلُوجُ فِي بَعْضِ الأَيَّامِ. وَفِي الرِّبَاطِ يَسْقُطُ المَطَرُ أَكْثَرَ مِنْ دُبَيَّ، كَمَا تَهُبُّ الرِّيَاحُ عَلَى السَّاحِلِ. لِذٰلِكَ، يَجِبُ عَلَى المُسَافِرِ أَنْ يَقْرَأَ النَّشْرَةَ الجَوِّيَّةَ قَبْلَ الرِّحْلَةِ.</a:t>
            </a:r>
            <a:endParaRPr lang="ar-SA" sz="26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Weather conditions in the Arab world differ from one region to another. In Dubai the temperature rises in summer and may exceed forty degrees Celsius. In Amman the weather is colder in winter, and snow is expected to fall on some days. In Rabat it rains more than in Dubai, and winds blow on the coast. So a traveller should read the weather forecast before the trip.</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three weather verbs that agree</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a temperature</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a comparison</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a forecast and advice</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35 / 45</a:t>
            </a:r>
            <a:endParaRPr lang="en-US" sz="8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D4-L02 · Weather</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D4-L02</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weather verbs agree (ya- / ta-).</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gave a temperature.</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akthar / aqall + noun in -an + min.</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gave a temperature range.</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Forecast: min al-mutawaqqaʿ an + verb in -a.</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36 / 45</a:t>
            </a:r>
            <a:endParaRPr lang="en-US" sz="8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D4-L02 · Weather</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ON YOUR OWN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three questions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D4-L02</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sentence has correct weather agreement?</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تَسْقُطُ الثُّلُوجُ فِي الجِبَالِ.</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يَسْقُطُ الثُّلُوجُ فِي الجِبَالِ.</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تَسْقُطَ الثُّلُوجَ فِي الجِبَالِ.</a:t>
            </a:r>
            <a:endParaRPr lang="ar-SA" sz="2050" dirty="0"/>
          </a:p>
        </p:txBody>
      </p:sp>
      <p:sp>
        <p:nvSpPr>
          <p:cNvPr id="28" name="Shape 25"/>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forecast form.</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مِنَ المُتَوَقَّعِ تَهُبُّ الرِّيَاحَ.</a:t>
            </a:r>
            <a:endParaRPr lang="ar-SA" sz="20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مِنَ المُتَوَقَّعِ أَنْ تَهُبَّ الرِّيَاحُ.</a:t>
            </a:r>
            <a:endParaRPr lang="ar-SA" sz="20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مِنَ المُتَوَقَّعِ أَنْ يَهُبُّ الرِّيَاحُ.</a:t>
            </a:r>
            <a:endParaRPr lang="ar-SA" sz="2050" dirty="0"/>
          </a:p>
        </p:txBody>
      </p:sp>
      <p:sp>
        <p:nvSpPr>
          <p:cNvPr id="41" name="Shape 38"/>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comparison is accurate?</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جُدَّةُ أَكْثَرُ رُطُوبَةً مِنَ الرِّيَاضِ.</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جُدَّةُ أَكْثَرُ رَطْبَةٌ إِلَى الرِّيَاضِ.</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جُدَّةُ رُطُوبَةٌ مِنْ أَكْثَرِ الرِّيَاضِ.</a:t>
            </a:r>
            <a:endParaRPr lang="ar-SA" sz="2050" dirty="0"/>
          </a:p>
        </p:txBody>
      </p:sp>
      <p:sp>
        <p:nvSpPr>
          <p:cNvPr id="54" name="Shape 51"/>
          <p:cNvSpPr/>
          <p:nvPr/>
        </p:nvSpPr>
        <p:spPr>
          <a:xfrm>
            <a:off x="457200" y="5532120"/>
            <a:ext cx="11274552" cy="777240"/>
          </a:xfrm>
          <a:prstGeom prst="roundRect">
            <a:avLst>
              <a:gd name="adj" fmla="val 9412"/>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55" name="Text 52"/>
          <p:cNvSpPr txBox="1"/>
          <p:nvPr/>
        </p:nvSpPr>
        <p:spPr>
          <a:xfrm>
            <a:off x="685800" y="5577840"/>
            <a:ext cx="2830068" cy="685800"/>
          </a:xfrm>
          <a:prstGeom prst="rect">
            <a:avLst/>
          </a:prstGeom>
          <a:noFill/>
          <a:ln/>
        </p:spPr>
        <p:txBody>
          <a:bodyPr wrap="square" lIns="0" tIns="0" rIns="0" bIns="0" rtlCol="0" anchor="ctr"/>
          <a:lstStyle/>
          <a:p>
            <a:pPr algn="l" indent="0" marL="0">
              <a:buNone/>
            </a:pPr>
            <a:r>
              <a:rPr lang="en-US" sz="1200" b="1" spc="100" kern="0" dirty="0">
                <a:solidFill>
                  <a:srgbClr val="8A6D1E"/>
                </a:solidFill>
                <a:latin typeface="Calibri" pitchFamily="34" charset="0"/>
                <a:cs typeface="Amiri" pitchFamily="2" charset="-78"/>
              </a:rPr>
              <a:t>ON YOUR OWN · 2 MINUTES</a:t>
            </a:r>
            <a:endParaRPr lang="en-US" sz="1200" dirty="0"/>
          </a:p>
        </p:txBody>
      </p:sp>
      <p:sp>
        <p:nvSpPr>
          <p:cNvPr id="56" name="Text 53"/>
          <p:cNvSpPr txBox="1"/>
          <p:nvPr/>
        </p:nvSpPr>
        <p:spPr>
          <a:xfrm>
            <a:off x="3515868" y="5577840"/>
            <a:ext cx="8051292"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Answer silently. When the timer ends, type your three letters in the chat: 1_ 2_ 3_. The other end-of-lesson questions are on the website.</a:t>
            </a:r>
            <a:endParaRPr lang="en-US" sz="125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37 / 45</a:t>
            </a:r>
            <a:endParaRPr lang="en-US" sz="8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D4-L02 · Weather</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D4-L02</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sentence has correct weather agreement?</a:t>
            </a:r>
            <a:endParaRPr lang="en-US" sz="1250" dirty="0"/>
          </a:p>
        </p:txBody>
      </p:sp>
      <p:sp>
        <p:nvSpPr>
          <p:cNvPr id="19" name="Shape 16"/>
          <p:cNvSpPr/>
          <p:nvPr/>
        </p:nvSpPr>
        <p:spPr>
          <a:xfrm>
            <a:off x="548640" y="2496312"/>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532888"/>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تَسْقُطُ الثُّلُوجُ فِي الجِبَالِ.</a:t>
            </a:r>
            <a:endParaRPr lang="ar-SA" sz="2050" dirty="0"/>
          </a:p>
        </p:txBody>
      </p:sp>
      <p:sp>
        <p:nvSpPr>
          <p:cNvPr id="23" name="Shape 20"/>
          <p:cNvSpPr/>
          <p:nvPr/>
        </p:nvSpPr>
        <p:spPr>
          <a:xfrm>
            <a:off x="640080" y="2990088"/>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يَسْقُطُ الثُّلُوجُ فِي الجِبَالِ.</a:t>
            </a:r>
            <a:endParaRPr lang="ar-SA" sz="2050" dirty="0"/>
          </a:p>
        </p:txBody>
      </p:sp>
      <p:sp>
        <p:nvSpPr>
          <p:cNvPr id="26" name="Shape 23"/>
          <p:cNvSpPr/>
          <p:nvPr/>
        </p:nvSpPr>
        <p:spPr>
          <a:xfrm>
            <a:off x="640080" y="344728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تَسْقُطَ الثُّلُوجَ فِي الجِبَالِ.</a:t>
            </a:r>
            <a:endParaRPr lang="ar-SA" sz="2050" dirty="0"/>
          </a:p>
        </p:txBody>
      </p:sp>
      <p:sp>
        <p:nvSpPr>
          <p:cNvPr id="29" name="Text 26"/>
          <p:cNvSpPr txBox="1"/>
          <p:nvPr/>
        </p:nvSpPr>
        <p:spPr>
          <a:xfrm>
            <a:off x="585216" y="494690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الثلوج</a:t>
            </a:r>
            <a:pPr algn="l" indent="0" marL="0">
              <a:buNone/>
            </a:pPr>
            <a:r>
              <a:rPr lang="en-US" sz="1050" i="1" dirty="0">
                <a:solidFill>
                  <a:srgbClr val="8A6D1E"/>
                </a:solidFill>
                <a:latin typeface="Calibri" pitchFamily="34" charset="0"/>
                <a:cs typeface="Amiri" pitchFamily="2" charset="-78"/>
              </a:rPr>
              <a:t> is treated as feminine.</a:t>
            </a:r>
            <a:endParaRPr lang="en-US" sz="1050" dirty="0"/>
          </a:p>
        </p:txBody>
      </p:sp>
      <p:sp>
        <p:nvSpPr>
          <p:cNvPr id="30" name="Shape 27"/>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forecast form.</a:t>
            </a:r>
            <a:endParaRPr lang="en-US" sz="1250" dirty="0"/>
          </a:p>
        </p:txBody>
      </p:sp>
      <p:sp>
        <p:nvSpPr>
          <p:cNvPr id="34" name="Shape 31"/>
          <p:cNvSpPr/>
          <p:nvPr/>
        </p:nvSpPr>
        <p:spPr>
          <a:xfrm>
            <a:off x="4459224" y="2532888"/>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مِنَ المُتَوَقَّعِ تَهُبُّ الرِّيَاحَ.</a:t>
            </a:r>
            <a:endParaRPr lang="ar-SA" sz="2050" dirty="0"/>
          </a:p>
        </p:txBody>
      </p:sp>
      <p:sp>
        <p:nvSpPr>
          <p:cNvPr id="37" name="Shape 34"/>
          <p:cNvSpPr/>
          <p:nvPr/>
        </p:nvSpPr>
        <p:spPr>
          <a:xfrm>
            <a:off x="4367784" y="2953512"/>
            <a:ext cx="3453384" cy="347472"/>
          </a:xfrm>
          <a:prstGeom prst="roundRect">
            <a:avLst>
              <a:gd name="adj" fmla="val 15789"/>
            </a:avLst>
          </a:prstGeom>
          <a:solidFill>
            <a:srgbClr val="E6F4EC"/>
          </a:solidFill>
          <a:ln w="9525">
            <a:solidFill>
              <a:srgbClr val="2E8B57"/>
            </a:solidFill>
            <a:prstDash val="solid"/>
          </a:ln>
        </p:spPr>
      </p:sp>
      <p:sp>
        <p:nvSpPr>
          <p:cNvPr id="38" name="Shape 35"/>
          <p:cNvSpPr/>
          <p:nvPr/>
        </p:nvSpPr>
        <p:spPr>
          <a:xfrm>
            <a:off x="4459224" y="2990088"/>
            <a:ext cx="256032" cy="256032"/>
          </a:xfrm>
          <a:prstGeom prst="ellipse">
            <a:avLst/>
          </a:prstGeom>
          <a:solidFill>
            <a:srgbClr val="2E8B57"/>
          </a:solidFill>
          <a:ln w="12700">
            <a:solidFill>
              <a:srgbClr val="2E8B57"/>
            </a:solidFill>
            <a:prstDash val="solid"/>
          </a:ln>
        </p:spPr>
      </p:sp>
      <p:sp>
        <p:nvSpPr>
          <p:cNvPr id="39" name="Text 36"/>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0" name="Text 37"/>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مِنَ المُتَوَقَّعِ أَنْ تَهُبَّ الرِّيَاحُ.</a:t>
            </a:r>
            <a:endParaRPr lang="ar-SA" sz="2050" dirty="0"/>
          </a:p>
        </p:txBody>
      </p:sp>
      <p:sp>
        <p:nvSpPr>
          <p:cNvPr id="41" name="Shape 38"/>
          <p:cNvSpPr/>
          <p:nvPr/>
        </p:nvSpPr>
        <p:spPr>
          <a:xfrm>
            <a:off x="4459224" y="344728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مِنَ المُتَوَقَّعِ أَنْ يَهُبُّ الرِّيَاحُ.</a:t>
            </a:r>
            <a:endParaRPr lang="ar-SA" sz="2050" dirty="0"/>
          </a:p>
        </p:txBody>
      </p:sp>
      <p:sp>
        <p:nvSpPr>
          <p:cNvPr id="44" name="Text 41"/>
          <p:cNvSpPr txBox="1"/>
          <p:nvPr/>
        </p:nvSpPr>
        <p:spPr>
          <a:xfrm>
            <a:off x="4404360"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After </a:t>
            </a:r>
            <a:pPr algn="l" indent="0" marL="0">
              <a:buNone/>
            </a:pPr>
            <a:r>
              <a:rPr lang="ar-SA" altLang="en-US" sz="1350" dirty="0">
                <a:solidFill>
                  <a:srgbClr val="8A6D1E"/>
                </a:solidFill>
                <a:latin typeface="Amiri" pitchFamily="2" charset="-78"/>
                <a:ea typeface="Amiri" pitchFamily="2" charset="-78"/>
                <a:cs typeface="Amiri" pitchFamily="2" charset="-78"/>
              </a:rPr>
              <a:t>أن</a:t>
            </a:r>
            <a:pPr algn="l" indent="0" marL="0">
              <a:buNone/>
            </a:pPr>
            <a:r>
              <a:rPr lang="en-US" sz="1050" i="1" dirty="0">
                <a:solidFill>
                  <a:srgbClr val="8A6D1E"/>
                </a:solidFill>
                <a:latin typeface="Calibri" pitchFamily="34" charset="0"/>
                <a:cs typeface="Amiri" pitchFamily="2" charset="-78"/>
              </a:rPr>
              <a:t> use subjunctive </a:t>
            </a:r>
            <a:pPr algn="l" indent="0" marL="0">
              <a:buNone/>
            </a:pPr>
            <a:r>
              <a:rPr lang="ar-SA" altLang="en-US" sz="1350" dirty="0">
                <a:solidFill>
                  <a:srgbClr val="8A6D1E"/>
                </a:solidFill>
                <a:latin typeface="Amiri" pitchFamily="2" charset="-78"/>
                <a:ea typeface="Amiri" pitchFamily="2" charset="-78"/>
                <a:cs typeface="Amiri" pitchFamily="2" charset="-78"/>
              </a:rPr>
              <a:t>تهبَّ</a:t>
            </a:r>
            <a:pPr algn="l" indent="0" marL="0">
              <a:buNone/>
            </a:pPr>
            <a:r>
              <a:rPr lang="en-US" sz="1050" i="1" dirty="0">
                <a:solidFill>
                  <a:srgbClr val="8A6D1E"/>
                </a:solidFill>
                <a:latin typeface="Calibri" pitchFamily="34" charset="0"/>
                <a:cs typeface="Amiri" pitchFamily="2" charset="-78"/>
              </a:rPr>
              <a:t> and feminine agreement.</a:t>
            </a:r>
            <a:endParaRPr lang="en-US" sz="1050" dirty="0"/>
          </a:p>
        </p:txBody>
      </p:sp>
      <p:sp>
        <p:nvSpPr>
          <p:cNvPr id="45" name="Shape 42"/>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comparison is accurate?</a:t>
            </a:r>
            <a:endParaRPr lang="en-US" sz="1250" dirty="0"/>
          </a:p>
        </p:txBody>
      </p:sp>
      <p:sp>
        <p:nvSpPr>
          <p:cNvPr id="49" name="Shape 46"/>
          <p:cNvSpPr/>
          <p:nvPr/>
        </p:nvSpPr>
        <p:spPr>
          <a:xfrm>
            <a:off x="8186928" y="2496312"/>
            <a:ext cx="3453384"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8278368" y="2532888"/>
            <a:ext cx="256032" cy="256032"/>
          </a:xfrm>
          <a:prstGeom prst="ellipse">
            <a:avLst/>
          </a:prstGeom>
          <a:solidFill>
            <a:srgbClr val="2E8B57"/>
          </a:solidFill>
          <a:ln w="12700">
            <a:solidFill>
              <a:srgbClr val="2E8B57"/>
            </a:solidFill>
            <a:prstDash val="solid"/>
          </a:ln>
        </p:spPr>
      </p:sp>
      <p:sp>
        <p:nvSpPr>
          <p:cNvPr id="51" name="Text 48"/>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2" name="Text 49"/>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جُدَّةُ أَكْثَرُ رُطُوبَةً مِنَ الرِّيَاضِ.</a:t>
            </a:r>
            <a:endParaRPr lang="ar-SA" sz="2050" dirty="0"/>
          </a:p>
        </p:txBody>
      </p:sp>
      <p:sp>
        <p:nvSpPr>
          <p:cNvPr id="53" name="Shape 50"/>
          <p:cNvSpPr/>
          <p:nvPr/>
        </p:nvSpPr>
        <p:spPr>
          <a:xfrm>
            <a:off x="8278368" y="2990088"/>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2"/>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جُدَّةُ أَكْثَرُ رَطْبَةٌ إِلَى الرِّيَاضِ.</a:t>
            </a:r>
            <a:endParaRPr lang="ar-SA" sz="2050" dirty="0"/>
          </a:p>
        </p:txBody>
      </p:sp>
      <p:sp>
        <p:nvSpPr>
          <p:cNvPr id="56" name="Shape 53"/>
          <p:cNvSpPr/>
          <p:nvPr/>
        </p:nvSpPr>
        <p:spPr>
          <a:xfrm>
            <a:off x="8278368" y="344728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جُدَّةُ رُطُوبَةٌ مِنْ أَكْثَرِ الرِّيَاضِ.</a:t>
            </a:r>
            <a:endParaRPr lang="ar-SA" sz="2050" dirty="0"/>
          </a:p>
        </p:txBody>
      </p:sp>
      <p:sp>
        <p:nvSpPr>
          <p:cNvPr id="59" name="Text 56"/>
          <p:cNvSpPr txBox="1"/>
          <p:nvPr/>
        </p:nvSpPr>
        <p:spPr>
          <a:xfrm>
            <a:off x="8223504"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Use </a:t>
            </a:r>
            <a:pPr algn="l" indent="0" marL="0">
              <a:buNone/>
            </a:pPr>
            <a:r>
              <a:rPr lang="ar-SA" altLang="en-US" sz="1350" dirty="0">
                <a:solidFill>
                  <a:srgbClr val="8A6D1E"/>
                </a:solidFill>
                <a:latin typeface="Amiri" pitchFamily="2" charset="-78"/>
                <a:ea typeface="Amiri" pitchFamily="2" charset="-78"/>
                <a:cs typeface="Amiri" pitchFamily="2" charset="-78"/>
              </a:rPr>
              <a:t>أكثر رطوبةً من</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60" name="Shape 57"/>
          <p:cNvSpPr/>
          <p:nvPr/>
        </p:nvSpPr>
        <p:spPr>
          <a:xfrm>
            <a:off x="457200" y="5532120"/>
            <a:ext cx="11274552" cy="777240"/>
          </a:xfrm>
          <a:prstGeom prst="roundRect">
            <a:avLst>
              <a:gd name="adj" fmla="val 9412"/>
            </a:avLst>
          </a:prstGeom>
          <a:solidFill>
            <a:srgbClr val="EEF3FA"/>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61" name="Text 58"/>
          <p:cNvSpPr txBox="1"/>
          <p:nvPr/>
        </p:nvSpPr>
        <p:spPr>
          <a:xfrm>
            <a:off x="685800" y="5577840"/>
            <a:ext cx="937260" cy="685800"/>
          </a:xfrm>
          <a:prstGeom prst="rect">
            <a:avLst/>
          </a:prstGeom>
          <a:noFill/>
          <a:ln/>
        </p:spPr>
        <p:txBody>
          <a:bodyPr wrap="square" lIns="0" tIns="0" rIns="0" bIns="0" rtlCol="0" anchor="ctr"/>
          <a:lstStyle/>
          <a:p>
            <a:pPr algn="l" indent="0" marL="0">
              <a:buNone/>
            </a:pPr>
            <a:r>
              <a:rPr lang="en-US" sz="1200" b="1" spc="100" kern="0" dirty="0">
                <a:solidFill>
                  <a:srgbClr val="1B3B6F"/>
                </a:solidFill>
                <a:latin typeface="Calibri" pitchFamily="34" charset="0"/>
                <a:cs typeface="Amiri" pitchFamily="2" charset="-78"/>
              </a:rPr>
              <a:t>SCORE</a:t>
            </a:r>
            <a:endParaRPr lang="en-US" sz="1200" dirty="0"/>
          </a:p>
        </p:txBody>
      </p:sp>
      <p:sp>
        <p:nvSpPr>
          <p:cNvPr id="62" name="Text 59"/>
          <p:cNvSpPr txBox="1"/>
          <p:nvPr/>
        </p:nvSpPr>
        <p:spPr>
          <a:xfrm>
            <a:off x="1623060" y="5577840"/>
            <a:ext cx="9944100"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3/3 → aim for Stretch next lesson  ·  2/3 → Develop  ·  0–1 → Core route and a quick check-in during the next Do Now.</a:t>
            </a:r>
            <a:endParaRPr lang="en-US" sz="125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38 / 45</a:t>
            </a:r>
            <a:endParaRPr lang="en-US" sz="8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D4-L02 · Weather</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FAST FINISHERS OR HOMEWORK (STRETCH)</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50" b="1" dirty="0">
                <a:solidFill>
                  <a:srgbClr val="1B3B6F"/>
                </a:solidFill>
                <a:latin typeface="Cambria" pitchFamily="34" charset="0"/>
                <a:cs typeface="Amiri" pitchFamily="2" charset="-78"/>
              </a:rPr>
              <a:t>Reading: regional weather differences</a:t>
            </a:r>
            <a:endParaRPr lang="en-US" sz="245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D4-L02</a:t>
            </a:r>
            <a:endParaRPr lang="en-US" sz="850" dirty="0"/>
          </a:p>
        </p:txBody>
      </p:sp>
      <p:sp>
        <p:nvSpPr>
          <p:cNvPr id="17" name="Shape 14"/>
          <p:cNvSpPr/>
          <p:nvPr/>
        </p:nvSpPr>
        <p:spPr>
          <a:xfrm>
            <a:off x="457200" y="1810512"/>
            <a:ext cx="807415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85800" y="1965960"/>
            <a:ext cx="7616952" cy="4206240"/>
          </a:xfrm>
          <a:prstGeom prst="rect">
            <a:avLst/>
          </a:prstGeom>
          <a:noFill/>
          <a:ln/>
        </p:spPr>
        <p:txBody>
          <a:bodyPr wrap="square" lIns="0" tIns="0" rIns="0" bIns="0" rtlCol="0" anchor="t"/>
          <a:lstStyle/>
          <a:p>
            <a:pPr rtl="1" algn="r" indent="0" marL="0">
              <a:lnSpc>
                <a:spcPct val="120000"/>
              </a:lnSpc>
              <a:buNone/>
            </a:pPr>
            <a:r>
              <a:rPr lang="ar-SA" altLang="en-US" sz="2600" dirty="0">
                <a:solidFill>
                  <a:srgbClr val="1F2A37"/>
                </a:solidFill>
                <a:latin typeface="Amiri" pitchFamily="2" charset="-78"/>
                <a:ea typeface="Amiri" pitchFamily="2" charset="-78"/>
                <a:cs typeface="Amiri" pitchFamily="2" charset="-78"/>
              </a:rPr>
              <a:t>تُشِيرُ النَّشْرَةُ الجَوِّيَّةُ إِلَى اخْتِلَافٍ كَبِيرٍ بَيْنَ مَنَاطِقِ البِلَادِ. فِي السَّاحِلِ تَتَرَاوَحُ دَرَجَةُ الحَرَارَةِ بَيْنَ ثَمَانِيَ عَشْرَةَ وَخَمْسٍ وَعِشْرِينَ دَرَجَةً، وَتَكُونُ الرُّطُوبَةُ مُرْتَفِعَةً. أَمَّا فِي الدَّاخِلِ فَالجَوُّ أَكْثَرُ حَرَارَةً وَأَقَلُّ رُطُوبَةً. وَمِنَ المُتَوَقَّعِ أَنْ تَهُبَّ رِيَاحٌ قَوِيَّةٌ فِي بَعْضِ المَنَاطِقِ الجَنُوبِيَّةِ.</a:t>
            </a:r>
            <a:endParaRPr lang="ar-SA" sz="2600" dirty="0"/>
          </a:p>
        </p:txBody>
      </p:sp>
      <p:sp>
        <p:nvSpPr>
          <p:cNvPr id="19" name="Shape 16"/>
          <p:cNvSpPr/>
          <p:nvPr/>
        </p:nvSpPr>
        <p:spPr>
          <a:xfrm>
            <a:off x="8714232" y="1810512"/>
            <a:ext cx="3017520" cy="4498848"/>
          </a:xfrm>
          <a:prstGeom prst="roundRect">
            <a:avLst>
              <a:gd name="adj" fmla="val 2424"/>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8897112" y="1883664"/>
            <a:ext cx="2651760" cy="292608"/>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KEY WORDS</a:t>
            </a:r>
            <a:endParaRPr lang="en-US" sz="1000" dirty="0"/>
          </a:p>
        </p:txBody>
      </p:sp>
      <p:sp>
        <p:nvSpPr>
          <p:cNvPr id="21" name="Text 18"/>
          <p:cNvSpPr txBox="1"/>
          <p:nvPr/>
        </p:nvSpPr>
        <p:spPr>
          <a:xfrm>
            <a:off x="10102291" y="2212848"/>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تُشِيرُ … إِلَى</a:t>
            </a:r>
            <a:endParaRPr lang="ar-SA" sz="1600" dirty="0"/>
          </a:p>
        </p:txBody>
      </p:sp>
      <p:sp>
        <p:nvSpPr>
          <p:cNvPr id="22" name="Text 19"/>
          <p:cNvSpPr txBox="1"/>
          <p:nvPr/>
        </p:nvSpPr>
        <p:spPr>
          <a:xfrm>
            <a:off x="8851392" y="2212848"/>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indicates</a:t>
            </a:r>
            <a:endParaRPr lang="en-US" sz="1050" dirty="0"/>
          </a:p>
        </p:txBody>
      </p:sp>
      <p:sp>
        <p:nvSpPr>
          <p:cNvPr id="23" name="Text 20"/>
          <p:cNvSpPr txBox="1"/>
          <p:nvPr/>
        </p:nvSpPr>
        <p:spPr>
          <a:xfrm>
            <a:off x="10102291" y="2615184"/>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اخْتِلَافٍ كَبِيرٍ</a:t>
            </a:r>
            <a:endParaRPr lang="ar-SA" sz="1600" dirty="0"/>
          </a:p>
        </p:txBody>
      </p:sp>
      <p:sp>
        <p:nvSpPr>
          <p:cNvPr id="24" name="Text 21"/>
          <p:cNvSpPr txBox="1"/>
          <p:nvPr/>
        </p:nvSpPr>
        <p:spPr>
          <a:xfrm>
            <a:off x="8851392" y="2615184"/>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a big difference</a:t>
            </a:r>
            <a:endParaRPr lang="en-US" sz="1050" dirty="0"/>
          </a:p>
        </p:txBody>
      </p:sp>
      <p:sp>
        <p:nvSpPr>
          <p:cNvPr id="25" name="Text 22"/>
          <p:cNvSpPr txBox="1"/>
          <p:nvPr/>
        </p:nvSpPr>
        <p:spPr>
          <a:xfrm>
            <a:off x="10102291" y="3017520"/>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مَنَاطِقِ البِلَادِ</a:t>
            </a:r>
            <a:endParaRPr lang="ar-SA" sz="1600" dirty="0"/>
          </a:p>
        </p:txBody>
      </p:sp>
      <p:sp>
        <p:nvSpPr>
          <p:cNvPr id="26" name="Text 23"/>
          <p:cNvSpPr txBox="1"/>
          <p:nvPr/>
        </p:nvSpPr>
        <p:spPr>
          <a:xfrm>
            <a:off x="8851392" y="3017520"/>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the country’s regions</a:t>
            </a:r>
            <a:endParaRPr lang="en-US" sz="1050" dirty="0"/>
          </a:p>
        </p:txBody>
      </p:sp>
      <p:sp>
        <p:nvSpPr>
          <p:cNvPr id="27" name="Text 24"/>
          <p:cNvSpPr txBox="1"/>
          <p:nvPr/>
        </p:nvSpPr>
        <p:spPr>
          <a:xfrm>
            <a:off x="10102291" y="3419856"/>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تَتَرَاوَحُ</a:t>
            </a:r>
            <a:endParaRPr lang="ar-SA" sz="1600" dirty="0"/>
          </a:p>
        </p:txBody>
      </p:sp>
      <p:sp>
        <p:nvSpPr>
          <p:cNvPr id="28" name="Text 25"/>
          <p:cNvSpPr txBox="1"/>
          <p:nvPr/>
        </p:nvSpPr>
        <p:spPr>
          <a:xfrm>
            <a:off x="8851392" y="3419856"/>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ranges</a:t>
            </a:r>
            <a:endParaRPr lang="en-US" sz="1050" dirty="0"/>
          </a:p>
        </p:txBody>
      </p:sp>
      <p:sp>
        <p:nvSpPr>
          <p:cNvPr id="29" name="Text 26"/>
          <p:cNvSpPr txBox="1"/>
          <p:nvPr/>
        </p:nvSpPr>
        <p:spPr>
          <a:xfrm>
            <a:off x="10102291" y="3822192"/>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ثَمَانِيَ عَشْرَةَ</a:t>
            </a:r>
            <a:endParaRPr lang="ar-SA" sz="1600" dirty="0"/>
          </a:p>
        </p:txBody>
      </p:sp>
      <p:sp>
        <p:nvSpPr>
          <p:cNvPr id="30" name="Text 27"/>
          <p:cNvSpPr txBox="1"/>
          <p:nvPr/>
        </p:nvSpPr>
        <p:spPr>
          <a:xfrm>
            <a:off x="8851392" y="3822192"/>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eighteen</a:t>
            </a:r>
            <a:endParaRPr lang="en-US" sz="1050" dirty="0"/>
          </a:p>
        </p:txBody>
      </p:sp>
      <p:sp>
        <p:nvSpPr>
          <p:cNvPr id="31" name="Text 28"/>
          <p:cNvSpPr txBox="1"/>
          <p:nvPr/>
        </p:nvSpPr>
        <p:spPr>
          <a:xfrm>
            <a:off x="10102291" y="4224528"/>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خَمْسٍ وَعِشْرِينَ</a:t>
            </a:r>
            <a:endParaRPr lang="ar-SA" sz="1600" dirty="0"/>
          </a:p>
        </p:txBody>
      </p:sp>
      <p:sp>
        <p:nvSpPr>
          <p:cNvPr id="32" name="Text 29"/>
          <p:cNvSpPr txBox="1"/>
          <p:nvPr/>
        </p:nvSpPr>
        <p:spPr>
          <a:xfrm>
            <a:off x="8851392" y="4224528"/>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twenty-five</a:t>
            </a:r>
            <a:endParaRPr lang="en-US" sz="1050" dirty="0"/>
          </a:p>
        </p:txBody>
      </p:sp>
      <p:sp>
        <p:nvSpPr>
          <p:cNvPr id="33" name="Text 30"/>
          <p:cNvSpPr txBox="1"/>
          <p:nvPr/>
        </p:nvSpPr>
        <p:spPr>
          <a:xfrm>
            <a:off x="10102291" y="4626864"/>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مُرْتَفِعَةً</a:t>
            </a:r>
            <a:endParaRPr lang="ar-SA" sz="1600" dirty="0"/>
          </a:p>
        </p:txBody>
      </p:sp>
      <p:sp>
        <p:nvSpPr>
          <p:cNvPr id="34" name="Text 31"/>
          <p:cNvSpPr txBox="1"/>
          <p:nvPr/>
        </p:nvSpPr>
        <p:spPr>
          <a:xfrm>
            <a:off x="8851392" y="4626864"/>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high</a:t>
            </a:r>
            <a:endParaRPr lang="en-US" sz="1050" dirty="0"/>
          </a:p>
        </p:txBody>
      </p:sp>
      <p:sp>
        <p:nvSpPr>
          <p:cNvPr id="35" name="Text 32"/>
          <p:cNvSpPr txBox="1"/>
          <p:nvPr/>
        </p:nvSpPr>
        <p:spPr>
          <a:xfrm>
            <a:off x="10102291" y="5029200"/>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الجَوُّ</a:t>
            </a:r>
            <a:endParaRPr lang="ar-SA" sz="1600" dirty="0"/>
          </a:p>
        </p:txBody>
      </p:sp>
      <p:sp>
        <p:nvSpPr>
          <p:cNvPr id="36" name="Text 33"/>
          <p:cNvSpPr txBox="1"/>
          <p:nvPr/>
        </p:nvSpPr>
        <p:spPr>
          <a:xfrm>
            <a:off x="8851392" y="5029200"/>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the weather</a:t>
            </a:r>
            <a:endParaRPr lang="en-US" sz="1050" dirty="0"/>
          </a:p>
        </p:txBody>
      </p:sp>
      <p:sp>
        <p:nvSpPr>
          <p:cNvPr id="37" name="Text 34"/>
          <p:cNvSpPr txBox="1"/>
          <p:nvPr/>
        </p:nvSpPr>
        <p:spPr>
          <a:xfrm>
            <a:off x="10102291" y="5431536"/>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أَقَلُّ رُطُوبَةً</a:t>
            </a:r>
            <a:endParaRPr lang="ar-SA" sz="1600" dirty="0"/>
          </a:p>
        </p:txBody>
      </p:sp>
      <p:sp>
        <p:nvSpPr>
          <p:cNvPr id="38" name="Text 35"/>
          <p:cNvSpPr txBox="1"/>
          <p:nvPr/>
        </p:nvSpPr>
        <p:spPr>
          <a:xfrm>
            <a:off x="8851392" y="5431536"/>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less humid</a:t>
            </a:r>
            <a:endParaRPr lang="en-US" sz="1050" dirty="0"/>
          </a:p>
        </p:txBody>
      </p:sp>
      <p:sp>
        <p:nvSpPr>
          <p:cNvPr id="39" name="Text 36"/>
          <p:cNvSpPr txBox="1"/>
          <p:nvPr/>
        </p:nvSpPr>
        <p:spPr>
          <a:xfrm>
            <a:off x="10102291" y="5833872"/>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الجَنُوبِيَّةِ</a:t>
            </a:r>
            <a:endParaRPr lang="ar-SA" sz="1600" dirty="0"/>
          </a:p>
        </p:txBody>
      </p:sp>
      <p:sp>
        <p:nvSpPr>
          <p:cNvPr id="40" name="Text 37"/>
          <p:cNvSpPr txBox="1"/>
          <p:nvPr/>
        </p:nvSpPr>
        <p:spPr>
          <a:xfrm>
            <a:off x="8851392" y="5833872"/>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southern</a:t>
            </a:r>
            <a:endParaRPr lang="en-US" sz="1050" dirty="0"/>
          </a:p>
        </p:txBody>
      </p:sp>
      <p:sp>
        <p:nvSpPr>
          <p:cNvPr id="41" name="Text 3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39 / 45</a:t>
            </a:r>
            <a:endParaRPr lang="en-US" sz="85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D4-L02 · Weather</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READING QUESTIONS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questions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أَسْئِلَةُ 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D4-L02</a:t>
            </a:r>
            <a:endParaRPr lang="en-US" sz="850" dirty="0"/>
          </a:p>
        </p:txBody>
      </p:sp>
      <p:sp>
        <p:nvSpPr>
          <p:cNvPr id="17" name="Shape 14"/>
          <p:cNvSpPr/>
          <p:nvPr/>
        </p:nvSpPr>
        <p:spPr>
          <a:xfrm>
            <a:off x="457200"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the forecast highlight?</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Identical weather everywhere</a:t>
            </a:r>
            <a:endParaRPr lang="en-US" sz="12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Large regional differences</a:t>
            </a:r>
            <a:endParaRPr lang="en-US" sz="12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Only winter snow</a:t>
            </a:r>
            <a:endParaRPr lang="en-US" sz="1250" dirty="0"/>
          </a:p>
        </p:txBody>
      </p:sp>
      <p:sp>
        <p:nvSpPr>
          <p:cNvPr id="30" name="Shape 27"/>
          <p:cNvSpPr/>
          <p:nvPr/>
        </p:nvSpPr>
        <p:spPr>
          <a:xfrm>
            <a:off x="3321558"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3449574"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344957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3815334"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temperature range is given for the coast?</a:t>
            </a:r>
            <a:endParaRPr lang="en-US" sz="1250" dirty="0"/>
          </a:p>
        </p:txBody>
      </p:sp>
      <p:sp>
        <p:nvSpPr>
          <p:cNvPr id="34" name="Shape 31"/>
          <p:cNvSpPr/>
          <p:nvPr/>
        </p:nvSpPr>
        <p:spPr>
          <a:xfrm>
            <a:off x="3504438"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350443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3833622"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25–35°C</a:t>
            </a:r>
            <a:endParaRPr lang="en-US" sz="1250" dirty="0"/>
          </a:p>
        </p:txBody>
      </p:sp>
      <p:sp>
        <p:nvSpPr>
          <p:cNvPr id="37" name="Shape 34"/>
          <p:cNvSpPr/>
          <p:nvPr/>
        </p:nvSpPr>
        <p:spPr>
          <a:xfrm>
            <a:off x="3504438"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350443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3833622"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8–15°C</a:t>
            </a:r>
            <a:endParaRPr lang="en-US" sz="1250" dirty="0"/>
          </a:p>
        </p:txBody>
      </p:sp>
      <p:sp>
        <p:nvSpPr>
          <p:cNvPr id="40" name="Shape 37"/>
          <p:cNvSpPr/>
          <p:nvPr/>
        </p:nvSpPr>
        <p:spPr>
          <a:xfrm>
            <a:off x="3504438"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350443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3833622"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18–25°C</a:t>
            </a:r>
            <a:endParaRPr lang="en-US" sz="1250" dirty="0"/>
          </a:p>
        </p:txBody>
      </p:sp>
      <p:sp>
        <p:nvSpPr>
          <p:cNvPr id="43" name="Shape 40"/>
          <p:cNvSpPr/>
          <p:nvPr/>
        </p:nvSpPr>
        <p:spPr>
          <a:xfrm>
            <a:off x="6185916"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6313932" y="1947672"/>
            <a:ext cx="310896" cy="310896"/>
          </a:xfrm>
          <a:prstGeom prst="ellipse">
            <a:avLst/>
          </a:prstGeom>
          <a:solidFill>
            <a:srgbClr val="1B3B6F"/>
          </a:solidFill>
          <a:ln w="12700">
            <a:solidFill>
              <a:srgbClr val="1B3B6F"/>
            </a:solidFill>
            <a:prstDash val="solid"/>
          </a:ln>
        </p:spPr>
      </p:sp>
      <p:sp>
        <p:nvSpPr>
          <p:cNvPr id="45" name="Text 42"/>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6" name="Text 43"/>
          <p:cNvSpPr txBox="1"/>
          <p:nvPr/>
        </p:nvSpPr>
        <p:spPr>
          <a:xfrm>
            <a:off x="6679692"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high on the coast?</a:t>
            </a:r>
            <a:endParaRPr lang="en-US" sz="1250" dirty="0"/>
          </a:p>
        </p:txBody>
      </p:sp>
      <p:sp>
        <p:nvSpPr>
          <p:cNvPr id="47" name="Shape 44"/>
          <p:cNvSpPr/>
          <p:nvPr/>
        </p:nvSpPr>
        <p:spPr>
          <a:xfrm>
            <a:off x="6368796" y="2532888"/>
            <a:ext cx="256032" cy="256032"/>
          </a:xfrm>
          <a:prstGeom prst="ellipse">
            <a:avLst/>
          </a:prstGeom>
          <a:solidFill>
            <a:srgbClr val="F4F1EA"/>
          </a:solidFill>
          <a:ln w="12700">
            <a:solidFill>
              <a:srgbClr val="F4F1EA"/>
            </a:solidFill>
            <a:prstDash val="solid"/>
          </a:ln>
        </p:spPr>
      </p:sp>
      <p:sp>
        <p:nvSpPr>
          <p:cNvPr id="48" name="Text 45"/>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9" name="Text 46"/>
          <p:cNvSpPr txBox="1"/>
          <p:nvPr/>
        </p:nvSpPr>
        <p:spPr>
          <a:xfrm>
            <a:off x="6697980"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Humidity</a:t>
            </a:r>
            <a:endParaRPr lang="en-US" sz="1250" dirty="0"/>
          </a:p>
        </p:txBody>
      </p:sp>
      <p:sp>
        <p:nvSpPr>
          <p:cNvPr id="50" name="Shape 47"/>
          <p:cNvSpPr/>
          <p:nvPr/>
        </p:nvSpPr>
        <p:spPr>
          <a:xfrm>
            <a:off x="6368796" y="2990088"/>
            <a:ext cx="256032" cy="256032"/>
          </a:xfrm>
          <a:prstGeom prst="ellipse">
            <a:avLst/>
          </a:prstGeom>
          <a:solidFill>
            <a:srgbClr val="F4F1EA"/>
          </a:solidFill>
          <a:ln w="12700">
            <a:solidFill>
              <a:srgbClr val="F4F1EA"/>
            </a:solidFill>
            <a:prstDash val="solid"/>
          </a:ln>
        </p:spPr>
      </p:sp>
      <p:sp>
        <p:nvSpPr>
          <p:cNvPr id="51" name="Text 48"/>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2" name="Text 49"/>
          <p:cNvSpPr txBox="1"/>
          <p:nvPr/>
        </p:nvSpPr>
        <p:spPr>
          <a:xfrm>
            <a:off x="6697980"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Snowfall</a:t>
            </a:r>
            <a:endParaRPr lang="en-US" sz="1250" dirty="0"/>
          </a:p>
        </p:txBody>
      </p:sp>
      <p:sp>
        <p:nvSpPr>
          <p:cNvPr id="53" name="Shape 50"/>
          <p:cNvSpPr/>
          <p:nvPr/>
        </p:nvSpPr>
        <p:spPr>
          <a:xfrm>
            <a:off x="6368796" y="3447288"/>
            <a:ext cx="256032" cy="256032"/>
          </a:xfrm>
          <a:prstGeom prst="ellipse">
            <a:avLst/>
          </a:prstGeom>
          <a:solidFill>
            <a:srgbClr val="F4F1EA"/>
          </a:solidFill>
          <a:ln w="12700">
            <a:solidFill>
              <a:srgbClr val="F4F1EA"/>
            </a:solidFill>
            <a:prstDash val="solid"/>
          </a:ln>
        </p:spPr>
      </p:sp>
      <p:sp>
        <p:nvSpPr>
          <p:cNvPr id="54" name="Text 51"/>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5" name="Text 52"/>
          <p:cNvSpPr txBox="1"/>
          <p:nvPr/>
        </p:nvSpPr>
        <p:spPr>
          <a:xfrm>
            <a:off x="6697980"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Altitude</a:t>
            </a:r>
            <a:endParaRPr lang="en-US" sz="1250" dirty="0"/>
          </a:p>
        </p:txBody>
      </p:sp>
      <p:sp>
        <p:nvSpPr>
          <p:cNvPr id="56" name="Shape 53"/>
          <p:cNvSpPr/>
          <p:nvPr/>
        </p:nvSpPr>
        <p:spPr>
          <a:xfrm>
            <a:off x="9050274"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9178290" y="1947672"/>
            <a:ext cx="310896" cy="310896"/>
          </a:xfrm>
          <a:prstGeom prst="ellipse">
            <a:avLst/>
          </a:prstGeom>
          <a:solidFill>
            <a:srgbClr val="1B3B6F"/>
          </a:solidFill>
          <a:ln w="12700">
            <a:solidFill>
              <a:srgbClr val="1B3B6F"/>
            </a:solidFill>
            <a:prstDash val="solid"/>
          </a:ln>
        </p:spPr>
      </p:sp>
      <p:sp>
        <p:nvSpPr>
          <p:cNvPr id="58" name="Text 55"/>
          <p:cNvSpPr txBox="1"/>
          <p:nvPr/>
        </p:nvSpPr>
        <p:spPr>
          <a:xfrm>
            <a:off x="917829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9" name="Text 56"/>
          <p:cNvSpPr txBox="1"/>
          <p:nvPr/>
        </p:nvSpPr>
        <p:spPr>
          <a:xfrm>
            <a:off x="9544050"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is the interior compared with the coast?</a:t>
            </a:r>
            <a:endParaRPr lang="en-US" sz="1250" dirty="0"/>
          </a:p>
        </p:txBody>
      </p:sp>
      <p:sp>
        <p:nvSpPr>
          <p:cNvPr id="60" name="Shape 57"/>
          <p:cNvSpPr/>
          <p:nvPr/>
        </p:nvSpPr>
        <p:spPr>
          <a:xfrm>
            <a:off x="9233154" y="2532888"/>
            <a:ext cx="256032" cy="256032"/>
          </a:xfrm>
          <a:prstGeom prst="ellipse">
            <a:avLst/>
          </a:prstGeom>
          <a:solidFill>
            <a:srgbClr val="F4F1EA"/>
          </a:solidFill>
          <a:ln w="12700">
            <a:solidFill>
              <a:srgbClr val="F4F1EA"/>
            </a:solidFill>
            <a:prstDash val="solid"/>
          </a:ln>
        </p:spPr>
      </p:sp>
      <p:sp>
        <p:nvSpPr>
          <p:cNvPr id="61" name="Text 58"/>
          <p:cNvSpPr txBox="1"/>
          <p:nvPr/>
        </p:nvSpPr>
        <p:spPr>
          <a:xfrm>
            <a:off x="923315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2" name="Text 59"/>
          <p:cNvSpPr txBox="1"/>
          <p:nvPr/>
        </p:nvSpPr>
        <p:spPr>
          <a:xfrm>
            <a:off x="9562338"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Colder and wetter</a:t>
            </a:r>
            <a:endParaRPr lang="en-US" sz="1250" dirty="0"/>
          </a:p>
        </p:txBody>
      </p:sp>
      <p:sp>
        <p:nvSpPr>
          <p:cNvPr id="63" name="Shape 60"/>
          <p:cNvSpPr/>
          <p:nvPr/>
        </p:nvSpPr>
        <p:spPr>
          <a:xfrm>
            <a:off x="9233154" y="2990088"/>
            <a:ext cx="256032" cy="256032"/>
          </a:xfrm>
          <a:prstGeom prst="ellipse">
            <a:avLst/>
          </a:prstGeom>
          <a:solidFill>
            <a:srgbClr val="F4F1EA"/>
          </a:solidFill>
          <a:ln w="12700">
            <a:solidFill>
              <a:srgbClr val="F4F1EA"/>
            </a:solidFill>
            <a:prstDash val="solid"/>
          </a:ln>
        </p:spPr>
      </p:sp>
      <p:sp>
        <p:nvSpPr>
          <p:cNvPr id="64" name="Text 61"/>
          <p:cNvSpPr txBox="1"/>
          <p:nvPr/>
        </p:nvSpPr>
        <p:spPr>
          <a:xfrm>
            <a:off x="923315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5" name="Text 62"/>
          <p:cNvSpPr txBox="1"/>
          <p:nvPr/>
        </p:nvSpPr>
        <p:spPr>
          <a:xfrm>
            <a:off x="9562338"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Hotter and less humid</a:t>
            </a:r>
            <a:endParaRPr lang="en-US" sz="1250" dirty="0"/>
          </a:p>
        </p:txBody>
      </p:sp>
      <p:sp>
        <p:nvSpPr>
          <p:cNvPr id="66" name="Shape 63"/>
          <p:cNvSpPr/>
          <p:nvPr/>
        </p:nvSpPr>
        <p:spPr>
          <a:xfrm>
            <a:off x="9233154" y="3447288"/>
            <a:ext cx="256032" cy="256032"/>
          </a:xfrm>
          <a:prstGeom prst="ellipse">
            <a:avLst/>
          </a:prstGeom>
          <a:solidFill>
            <a:srgbClr val="F4F1EA"/>
          </a:solidFill>
          <a:ln w="12700">
            <a:solidFill>
              <a:srgbClr val="F4F1EA"/>
            </a:solidFill>
            <a:prstDash val="solid"/>
          </a:ln>
        </p:spPr>
      </p:sp>
      <p:sp>
        <p:nvSpPr>
          <p:cNvPr id="67" name="Text 64"/>
          <p:cNvSpPr txBox="1"/>
          <p:nvPr/>
        </p:nvSpPr>
        <p:spPr>
          <a:xfrm>
            <a:off x="923315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8" name="Text 65"/>
          <p:cNvSpPr txBox="1"/>
          <p:nvPr/>
        </p:nvSpPr>
        <p:spPr>
          <a:xfrm>
            <a:off x="9562338"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Exactly the same</a:t>
            </a:r>
            <a:endParaRPr lang="en-US" sz="1250" dirty="0"/>
          </a:p>
        </p:txBody>
      </p:sp>
      <p:sp>
        <p:nvSpPr>
          <p:cNvPr id="69" name="Shape 66"/>
          <p:cNvSpPr/>
          <p:nvPr/>
        </p:nvSpPr>
        <p:spPr>
          <a:xfrm>
            <a:off x="457200"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0" name="Shape 67"/>
          <p:cNvSpPr/>
          <p:nvPr/>
        </p:nvSpPr>
        <p:spPr>
          <a:xfrm>
            <a:off x="585216" y="4288536"/>
            <a:ext cx="310896" cy="310896"/>
          </a:xfrm>
          <a:prstGeom prst="ellipse">
            <a:avLst/>
          </a:prstGeom>
          <a:solidFill>
            <a:srgbClr val="1B3B6F"/>
          </a:solidFill>
          <a:ln w="12700">
            <a:solidFill>
              <a:srgbClr val="1B3B6F"/>
            </a:solidFill>
            <a:prstDash val="solid"/>
          </a:ln>
        </p:spPr>
      </p:sp>
      <p:sp>
        <p:nvSpPr>
          <p:cNvPr id="71" name="Text 68"/>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2" name="Text 69"/>
          <p:cNvSpPr txBox="1"/>
          <p:nvPr/>
        </p:nvSpPr>
        <p:spPr>
          <a:xfrm>
            <a:off x="950976"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expected in some southern regions?</a:t>
            </a:r>
            <a:endParaRPr lang="en-US" sz="1250" dirty="0"/>
          </a:p>
        </p:txBody>
      </p:sp>
      <p:sp>
        <p:nvSpPr>
          <p:cNvPr id="73" name="Shape 70"/>
          <p:cNvSpPr/>
          <p:nvPr/>
        </p:nvSpPr>
        <p:spPr>
          <a:xfrm>
            <a:off x="640080" y="4873752"/>
            <a:ext cx="256032" cy="256032"/>
          </a:xfrm>
          <a:prstGeom prst="ellipse">
            <a:avLst/>
          </a:prstGeom>
          <a:solidFill>
            <a:srgbClr val="F4F1EA"/>
          </a:solidFill>
          <a:ln w="12700">
            <a:solidFill>
              <a:srgbClr val="F4F1EA"/>
            </a:solidFill>
            <a:prstDash val="solid"/>
          </a:ln>
        </p:spPr>
      </p:sp>
      <p:sp>
        <p:nvSpPr>
          <p:cNvPr id="74" name="Text 71"/>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5" name="Text 72"/>
          <p:cNvSpPr txBox="1"/>
          <p:nvPr/>
        </p:nvSpPr>
        <p:spPr>
          <a:xfrm>
            <a:off x="969264" y="47731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Strong winds</a:t>
            </a:r>
            <a:endParaRPr lang="en-US" sz="1250" dirty="0"/>
          </a:p>
        </p:txBody>
      </p:sp>
      <p:sp>
        <p:nvSpPr>
          <p:cNvPr id="76" name="Shape 73"/>
          <p:cNvSpPr/>
          <p:nvPr/>
        </p:nvSpPr>
        <p:spPr>
          <a:xfrm>
            <a:off x="640080" y="5330952"/>
            <a:ext cx="256032" cy="256032"/>
          </a:xfrm>
          <a:prstGeom prst="ellipse">
            <a:avLst/>
          </a:prstGeom>
          <a:solidFill>
            <a:srgbClr val="F4F1EA"/>
          </a:solidFill>
          <a:ln w="12700">
            <a:solidFill>
              <a:srgbClr val="F4F1EA"/>
            </a:solidFill>
            <a:prstDash val="solid"/>
          </a:ln>
        </p:spPr>
      </p:sp>
      <p:sp>
        <p:nvSpPr>
          <p:cNvPr id="77" name="Text 74"/>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8" name="Text 75"/>
          <p:cNvSpPr txBox="1"/>
          <p:nvPr/>
        </p:nvSpPr>
        <p:spPr>
          <a:xfrm>
            <a:off x="969264" y="52303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heat-free day</a:t>
            </a:r>
            <a:endParaRPr lang="en-US" sz="1250" dirty="0"/>
          </a:p>
        </p:txBody>
      </p:sp>
      <p:sp>
        <p:nvSpPr>
          <p:cNvPr id="79" name="Shape 76"/>
          <p:cNvSpPr/>
          <p:nvPr/>
        </p:nvSpPr>
        <p:spPr>
          <a:xfrm>
            <a:off x="640080" y="5788152"/>
            <a:ext cx="256032" cy="256032"/>
          </a:xfrm>
          <a:prstGeom prst="ellipse">
            <a:avLst/>
          </a:prstGeom>
          <a:solidFill>
            <a:srgbClr val="F4F1EA"/>
          </a:solidFill>
          <a:ln w="12700">
            <a:solidFill>
              <a:srgbClr val="F4F1EA"/>
            </a:solidFill>
            <a:prstDash val="solid"/>
          </a:ln>
        </p:spPr>
      </p:sp>
      <p:sp>
        <p:nvSpPr>
          <p:cNvPr id="80" name="Text 77"/>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1" name="Text 78"/>
          <p:cNvSpPr txBox="1"/>
          <p:nvPr/>
        </p:nvSpPr>
        <p:spPr>
          <a:xfrm>
            <a:off x="969264" y="56875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Heavy snow</a:t>
            </a:r>
            <a:endParaRPr lang="en-US" sz="1250" dirty="0"/>
          </a:p>
        </p:txBody>
      </p:sp>
      <p:sp>
        <p:nvSpPr>
          <p:cNvPr id="82" name="Shape 79"/>
          <p:cNvSpPr/>
          <p:nvPr/>
        </p:nvSpPr>
        <p:spPr>
          <a:xfrm>
            <a:off x="3321558"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3" name="Shape 80"/>
          <p:cNvSpPr/>
          <p:nvPr/>
        </p:nvSpPr>
        <p:spPr>
          <a:xfrm>
            <a:off x="3449574" y="4288536"/>
            <a:ext cx="310896" cy="310896"/>
          </a:xfrm>
          <a:prstGeom prst="ellipse">
            <a:avLst/>
          </a:prstGeom>
          <a:solidFill>
            <a:srgbClr val="1B3B6F"/>
          </a:solidFill>
          <a:ln w="12700">
            <a:solidFill>
              <a:srgbClr val="1B3B6F"/>
            </a:solidFill>
            <a:prstDash val="solid"/>
          </a:ln>
        </p:spPr>
      </p:sp>
      <p:sp>
        <p:nvSpPr>
          <p:cNvPr id="84" name="Text 81"/>
          <p:cNvSpPr txBox="1"/>
          <p:nvPr/>
        </p:nvSpPr>
        <p:spPr>
          <a:xfrm>
            <a:off x="344957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85" name="Text 82"/>
          <p:cNvSpPr txBox="1"/>
          <p:nvPr/>
        </p:nvSpPr>
        <p:spPr>
          <a:xfrm>
            <a:off x="3815334"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phrase introduces the forecast?</a:t>
            </a:r>
            <a:endParaRPr lang="en-US" sz="1250" dirty="0"/>
          </a:p>
        </p:txBody>
      </p:sp>
      <p:sp>
        <p:nvSpPr>
          <p:cNvPr id="86" name="Shape 83"/>
          <p:cNvSpPr/>
          <p:nvPr/>
        </p:nvSpPr>
        <p:spPr>
          <a:xfrm>
            <a:off x="3504438" y="4873752"/>
            <a:ext cx="256032" cy="256032"/>
          </a:xfrm>
          <a:prstGeom prst="ellipse">
            <a:avLst/>
          </a:prstGeom>
          <a:solidFill>
            <a:srgbClr val="F4F1EA"/>
          </a:solidFill>
          <a:ln w="12700">
            <a:solidFill>
              <a:srgbClr val="F4F1EA"/>
            </a:solidFill>
            <a:prstDash val="solid"/>
          </a:ln>
        </p:spPr>
      </p:sp>
      <p:sp>
        <p:nvSpPr>
          <p:cNvPr id="87" name="Text 84"/>
          <p:cNvSpPr txBox="1"/>
          <p:nvPr/>
        </p:nvSpPr>
        <p:spPr>
          <a:xfrm>
            <a:off x="3504438"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8" name="Text 85"/>
          <p:cNvSpPr txBox="1"/>
          <p:nvPr/>
        </p:nvSpPr>
        <p:spPr>
          <a:xfrm>
            <a:off x="3833622" y="4773168"/>
            <a:ext cx="2023110"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عَلَى الرَّغْمِ مِنْ</a:t>
            </a:r>
            <a:endParaRPr lang="ar-SA" sz="2050" dirty="0"/>
          </a:p>
        </p:txBody>
      </p:sp>
      <p:sp>
        <p:nvSpPr>
          <p:cNvPr id="89" name="Shape 86"/>
          <p:cNvSpPr/>
          <p:nvPr/>
        </p:nvSpPr>
        <p:spPr>
          <a:xfrm>
            <a:off x="3504438" y="5330952"/>
            <a:ext cx="256032" cy="256032"/>
          </a:xfrm>
          <a:prstGeom prst="ellipse">
            <a:avLst/>
          </a:prstGeom>
          <a:solidFill>
            <a:srgbClr val="F4F1EA"/>
          </a:solidFill>
          <a:ln w="12700">
            <a:solidFill>
              <a:srgbClr val="F4F1EA"/>
            </a:solidFill>
            <a:prstDash val="solid"/>
          </a:ln>
        </p:spPr>
      </p:sp>
      <p:sp>
        <p:nvSpPr>
          <p:cNvPr id="90" name="Text 87"/>
          <p:cNvSpPr txBox="1"/>
          <p:nvPr/>
        </p:nvSpPr>
        <p:spPr>
          <a:xfrm>
            <a:off x="3504438"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91" name="Text 88"/>
          <p:cNvSpPr txBox="1"/>
          <p:nvPr/>
        </p:nvSpPr>
        <p:spPr>
          <a:xfrm>
            <a:off x="3833622" y="5230368"/>
            <a:ext cx="2023110"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بِسَبَبِ</a:t>
            </a:r>
            <a:endParaRPr lang="ar-SA" sz="2050" dirty="0"/>
          </a:p>
        </p:txBody>
      </p:sp>
      <p:sp>
        <p:nvSpPr>
          <p:cNvPr id="92" name="Shape 89"/>
          <p:cNvSpPr/>
          <p:nvPr/>
        </p:nvSpPr>
        <p:spPr>
          <a:xfrm>
            <a:off x="3504438" y="5788152"/>
            <a:ext cx="256032" cy="256032"/>
          </a:xfrm>
          <a:prstGeom prst="ellipse">
            <a:avLst/>
          </a:prstGeom>
          <a:solidFill>
            <a:srgbClr val="F4F1EA"/>
          </a:solidFill>
          <a:ln w="12700">
            <a:solidFill>
              <a:srgbClr val="F4F1EA"/>
            </a:solidFill>
            <a:prstDash val="solid"/>
          </a:ln>
        </p:spPr>
      </p:sp>
      <p:sp>
        <p:nvSpPr>
          <p:cNvPr id="93" name="Text 90"/>
          <p:cNvSpPr txBox="1"/>
          <p:nvPr/>
        </p:nvSpPr>
        <p:spPr>
          <a:xfrm>
            <a:off x="3504438"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4" name="Text 91"/>
          <p:cNvSpPr txBox="1"/>
          <p:nvPr/>
        </p:nvSpPr>
        <p:spPr>
          <a:xfrm>
            <a:off x="3833622" y="5687568"/>
            <a:ext cx="2023110"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مِنَ المُتَوَقَّعِ أَنْ</a:t>
            </a:r>
            <a:endParaRPr lang="ar-SA" sz="2050" dirty="0"/>
          </a:p>
        </p:txBody>
      </p:sp>
      <p:sp>
        <p:nvSpPr>
          <p:cNvPr id="95" name="Shape 92"/>
          <p:cNvSpPr/>
          <p:nvPr/>
        </p:nvSpPr>
        <p:spPr>
          <a:xfrm>
            <a:off x="6185916" y="4151376"/>
            <a:ext cx="2681478"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6" name="Text 93"/>
          <p:cNvSpPr txBox="1"/>
          <p:nvPr/>
        </p:nvSpPr>
        <p:spPr>
          <a:xfrm>
            <a:off x="6368796" y="4279392"/>
            <a:ext cx="2315718"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READ LIKE A DETECTIVE</a:t>
            </a:r>
            <a:endParaRPr lang="en-US" sz="1000" dirty="0"/>
          </a:p>
        </p:txBody>
      </p:sp>
      <p:sp>
        <p:nvSpPr>
          <p:cNvPr id="97" name="Text 94"/>
          <p:cNvSpPr txBox="1"/>
          <p:nvPr/>
        </p:nvSpPr>
        <p:spPr>
          <a:xfrm>
            <a:off x="6368796" y="4590288"/>
            <a:ext cx="2315718"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ONE key word from the question in the text.</a:t>
            </a:r>
            <a:endParaRPr lang="en-US" sz="1250" dirty="0"/>
          </a:p>
          <a:p>
            <a:pPr algn="l" indent="0" marL="0">
              <a:buNone/>
            </a:pPr>
            <a:r>
              <a:rPr lang="en-US" sz="1250" dirty="0">
                <a:solidFill>
                  <a:srgbClr val="1F2A37"/>
                </a:solidFill>
                <a:latin typeface="Calibri" pitchFamily="34" charset="0"/>
                <a:cs typeface="Amiri" pitchFamily="2" charset="-78"/>
              </a:rPr>
              <a:t>3. Read only that sentence again, then choose.</a:t>
            </a:r>
            <a:endParaRPr lang="en-US" sz="1250" dirty="0"/>
          </a:p>
        </p:txBody>
      </p:sp>
      <p:sp>
        <p:nvSpPr>
          <p:cNvPr id="98" name="Text 9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40 / 45</a:t>
            </a:r>
            <a:endParaRPr lang="en-US" sz="85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D4-L02 · Weather</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READING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answers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D4-L02</a:t>
            </a:r>
            <a:endParaRPr lang="en-US" sz="850" dirty="0"/>
          </a:p>
        </p:txBody>
      </p:sp>
      <p:sp>
        <p:nvSpPr>
          <p:cNvPr id="17" name="Shape 14"/>
          <p:cNvSpPr/>
          <p:nvPr/>
        </p:nvSpPr>
        <p:spPr>
          <a:xfrm>
            <a:off x="457200"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the forecast highlight?</a:t>
            </a:r>
            <a:endParaRPr lang="en-US" sz="1250" dirty="0"/>
          </a:p>
        </p:txBody>
      </p:sp>
      <p:sp>
        <p:nvSpPr>
          <p:cNvPr id="21"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2"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2023110" cy="371856"/>
          </a:xfrm>
          <a:prstGeom prst="rect">
            <a:avLst/>
          </a:prstGeom>
          <a:noFill/>
          <a:ln/>
        </p:spPr>
        <p:txBody>
          <a:bodyPr wrap="square" lIns="0" tIns="0" rIns="0" bIns="0" rtlCol="0" anchor="ctr"/>
          <a:lstStyle/>
          <a:p>
            <a:pPr algn="l" indent="0" marL="0">
              <a:buNone/>
            </a:pPr>
            <a:r>
              <a:rPr lang="en-US" sz="1150" dirty="0">
                <a:solidFill>
                  <a:srgbClr val="9AA1AB"/>
                </a:solidFill>
                <a:latin typeface="Calibri" pitchFamily="34" charset="0"/>
                <a:cs typeface="Amiri" pitchFamily="2" charset="-78"/>
              </a:rPr>
              <a:t>Identical weather everywhere</a:t>
            </a:r>
            <a:endParaRPr lang="en-US" sz="1150" dirty="0"/>
          </a:p>
        </p:txBody>
      </p:sp>
      <p:sp>
        <p:nvSpPr>
          <p:cNvPr id="24" name="Shape 21"/>
          <p:cNvSpPr/>
          <p:nvPr/>
        </p:nvSpPr>
        <p:spPr>
          <a:xfrm>
            <a:off x="548640" y="2825496"/>
            <a:ext cx="2498598" cy="347472"/>
          </a:xfrm>
          <a:prstGeom prst="roundRect">
            <a:avLst>
              <a:gd name="adj" fmla="val 15789"/>
            </a:avLst>
          </a:prstGeom>
          <a:solidFill>
            <a:srgbClr val="E6F4EC"/>
          </a:solidFill>
          <a:ln w="9525">
            <a:solidFill>
              <a:srgbClr val="2E8B57"/>
            </a:solidFill>
            <a:prstDash val="solid"/>
          </a:ln>
        </p:spPr>
      </p:sp>
      <p:sp>
        <p:nvSpPr>
          <p:cNvPr id="25" name="Shape 22"/>
          <p:cNvSpPr/>
          <p:nvPr/>
        </p:nvSpPr>
        <p:spPr>
          <a:xfrm>
            <a:off x="640080" y="2862072"/>
            <a:ext cx="256032" cy="256032"/>
          </a:xfrm>
          <a:prstGeom prst="ellipse">
            <a:avLst/>
          </a:prstGeom>
          <a:solidFill>
            <a:srgbClr val="2E8B57"/>
          </a:solidFill>
          <a:ln w="12700">
            <a:solidFill>
              <a:srgbClr val="2E8B57"/>
            </a:solidFill>
            <a:prstDash val="solid"/>
          </a:ln>
        </p:spPr>
      </p:sp>
      <p:sp>
        <p:nvSpPr>
          <p:cNvPr id="26" name="Text 23"/>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7" name="Text 24"/>
          <p:cNvSpPr txBox="1"/>
          <p:nvPr/>
        </p:nvSpPr>
        <p:spPr>
          <a:xfrm>
            <a:off x="969264" y="2804160"/>
            <a:ext cx="2023110" cy="371856"/>
          </a:xfrm>
          <a:prstGeom prst="rect">
            <a:avLst/>
          </a:prstGeom>
          <a:noFill/>
          <a:ln/>
        </p:spPr>
        <p:txBody>
          <a:bodyPr wrap="square" lIns="0" tIns="0" rIns="0" bIns="0" rtlCol="0" anchor="ctr"/>
          <a:lstStyle/>
          <a:p>
            <a:pPr algn="l" indent="0" marL="0">
              <a:buNone/>
            </a:pPr>
            <a:r>
              <a:rPr lang="en-US" sz="1200" b="1" dirty="0">
                <a:solidFill>
                  <a:srgbClr val="1F2A37"/>
                </a:solidFill>
                <a:latin typeface="Calibri" pitchFamily="34" charset="0"/>
                <a:cs typeface="Amiri" pitchFamily="2" charset="-78"/>
              </a:rPr>
              <a:t>Large regional differences</a:t>
            </a:r>
            <a:endParaRPr lang="en-US" sz="1200" dirty="0"/>
          </a:p>
        </p:txBody>
      </p:sp>
      <p:sp>
        <p:nvSpPr>
          <p:cNvPr id="28" name="Shape 25"/>
          <p:cNvSpPr/>
          <p:nvPr/>
        </p:nvSpPr>
        <p:spPr>
          <a:xfrm>
            <a:off x="640080" y="3233928"/>
            <a:ext cx="256032" cy="256032"/>
          </a:xfrm>
          <a:prstGeom prst="ellipse">
            <a:avLst/>
          </a:prstGeom>
          <a:solidFill>
            <a:srgbClr val="C9CED6"/>
          </a:solidFill>
          <a:ln w="12700">
            <a:solidFill>
              <a:srgbClr val="C9CED6"/>
            </a:solidFill>
            <a:prstDash val="solid"/>
          </a:ln>
        </p:spPr>
      </p:sp>
      <p:sp>
        <p:nvSpPr>
          <p:cNvPr id="29"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30" name="Text 27"/>
          <p:cNvSpPr txBox="1"/>
          <p:nvPr/>
        </p:nvSpPr>
        <p:spPr>
          <a:xfrm>
            <a:off x="969264" y="3176016"/>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Only winter snow</a:t>
            </a:r>
            <a:endParaRPr lang="en-US" sz="1250" dirty="0"/>
          </a:p>
        </p:txBody>
      </p:sp>
      <p:sp>
        <p:nvSpPr>
          <p:cNvPr id="31" name="Text 28"/>
          <p:cNvSpPr txBox="1"/>
          <p:nvPr/>
        </p:nvSpPr>
        <p:spPr>
          <a:xfrm>
            <a:off x="585216" y="3566160"/>
            <a:ext cx="2425446"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first sentence mentions </a:t>
            </a:r>
            <a:pPr algn="l" indent="0" marL="0">
              <a:buNone/>
            </a:pPr>
            <a:r>
              <a:rPr lang="ar-SA" altLang="en-US" sz="1350" dirty="0">
                <a:solidFill>
                  <a:srgbClr val="8A6D1E"/>
                </a:solidFill>
                <a:latin typeface="Amiri" pitchFamily="2" charset="-78"/>
                <a:ea typeface="Amiri" pitchFamily="2" charset="-78"/>
                <a:cs typeface="Amiri" pitchFamily="2" charset="-78"/>
              </a:rPr>
              <a:t>اختلاف كبير</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32" name="Shape 29"/>
          <p:cNvSpPr/>
          <p:nvPr/>
        </p:nvSpPr>
        <p:spPr>
          <a:xfrm>
            <a:off x="3321558"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3449574" y="1947672"/>
            <a:ext cx="310896" cy="310896"/>
          </a:xfrm>
          <a:prstGeom prst="ellipse">
            <a:avLst/>
          </a:prstGeom>
          <a:solidFill>
            <a:srgbClr val="1B3B6F"/>
          </a:solidFill>
          <a:ln w="12700">
            <a:solidFill>
              <a:srgbClr val="1B3B6F"/>
            </a:solidFill>
            <a:prstDash val="solid"/>
          </a:ln>
        </p:spPr>
      </p:sp>
      <p:sp>
        <p:nvSpPr>
          <p:cNvPr id="34" name="Text 31"/>
          <p:cNvSpPr txBox="1"/>
          <p:nvPr/>
        </p:nvSpPr>
        <p:spPr>
          <a:xfrm>
            <a:off x="344957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5" name="Text 32"/>
          <p:cNvSpPr txBox="1"/>
          <p:nvPr/>
        </p:nvSpPr>
        <p:spPr>
          <a:xfrm>
            <a:off x="3815334"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temperature range is given for the coast?</a:t>
            </a:r>
            <a:endParaRPr lang="en-US" sz="1250" dirty="0"/>
          </a:p>
        </p:txBody>
      </p:sp>
      <p:sp>
        <p:nvSpPr>
          <p:cNvPr id="36" name="Shape 33"/>
          <p:cNvSpPr/>
          <p:nvPr/>
        </p:nvSpPr>
        <p:spPr>
          <a:xfrm>
            <a:off x="3504438" y="2490216"/>
            <a:ext cx="256032" cy="256032"/>
          </a:xfrm>
          <a:prstGeom prst="ellipse">
            <a:avLst/>
          </a:prstGeom>
          <a:solidFill>
            <a:srgbClr val="C9CED6"/>
          </a:solidFill>
          <a:ln w="12700">
            <a:solidFill>
              <a:srgbClr val="C9CED6"/>
            </a:solidFill>
            <a:prstDash val="solid"/>
          </a:ln>
        </p:spPr>
      </p:sp>
      <p:sp>
        <p:nvSpPr>
          <p:cNvPr id="37" name="Text 34"/>
          <p:cNvSpPr txBox="1"/>
          <p:nvPr/>
        </p:nvSpPr>
        <p:spPr>
          <a:xfrm>
            <a:off x="350443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8" name="Text 35"/>
          <p:cNvSpPr txBox="1"/>
          <p:nvPr/>
        </p:nvSpPr>
        <p:spPr>
          <a:xfrm>
            <a:off x="3833622" y="243230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25–35°C</a:t>
            </a:r>
            <a:endParaRPr lang="en-US" sz="1250" dirty="0"/>
          </a:p>
        </p:txBody>
      </p:sp>
      <p:sp>
        <p:nvSpPr>
          <p:cNvPr id="39" name="Shape 36"/>
          <p:cNvSpPr/>
          <p:nvPr/>
        </p:nvSpPr>
        <p:spPr>
          <a:xfrm>
            <a:off x="3504438" y="2862072"/>
            <a:ext cx="256032" cy="256032"/>
          </a:xfrm>
          <a:prstGeom prst="ellipse">
            <a:avLst/>
          </a:prstGeom>
          <a:solidFill>
            <a:srgbClr val="C9CED6"/>
          </a:solidFill>
          <a:ln w="12700">
            <a:solidFill>
              <a:srgbClr val="C9CED6"/>
            </a:solidFill>
            <a:prstDash val="solid"/>
          </a:ln>
        </p:spPr>
      </p:sp>
      <p:sp>
        <p:nvSpPr>
          <p:cNvPr id="40" name="Text 37"/>
          <p:cNvSpPr txBox="1"/>
          <p:nvPr/>
        </p:nvSpPr>
        <p:spPr>
          <a:xfrm>
            <a:off x="350443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1" name="Text 38"/>
          <p:cNvSpPr txBox="1"/>
          <p:nvPr/>
        </p:nvSpPr>
        <p:spPr>
          <a:xfrm>
            <a:off x="3833622" y="280416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8–15°C</a:t>
            </a:r>
            <a:endParaRPr lang="en-US" sz="1250" dirty="0"/>
          </a:p>
        </p:txBody>
      </p:sp>
      <p:sp>
        <p:nvSpPr>
          <p:cNvPr id="42" name="Shape 39"/>
          <p:cNvSpPr/>
          <p:nvPr/>
        </p:nvSpPr>
        <p:spPr>
          <a:xfrm>
            <a:off x="3412998" y="3197352"/>
            <a:ext cx="2498598" cy="347472"/>
          </a:xfrm>
          <a:prstGeom prst="roundRect">
            <a:avLst>
              <a:gd name="adj" fmla="val 15789"/>
            </a:avLst>
          </a:prstGeom>
          <a:solidFill>
            <a:srgbClr val="E6F4EC"/>
          </a:solidFill>
          <a:ln w="9525">
            <a:solidFill>
              <a:srgbClr val="2E8B57"/>
            </a:solidFill>
            <a:prstDash val="solid"/>
          </a:ln>
        </p:spPr>
      </p:sp>
      <p:sp>
        <p:nvSpPr>
          <p:cNvPr id="43" name="Shape 40"/>
          <p:cNvSpPr/>
          <p:nvPr/>
        </p:nvSpPr>
        <p:spPr>
          <a:xfrm>
            <a:off x="3504438" y="3233928"/>
            <a:ext cx="256032" cy="256032"/>
          </a:xfrm>
          <a:prstGeom prst="ellipse">
            <a:avLst/>
          </a:prstGeom>
          <a:solidFill>
            <a:srgbClr val="2E8B57"/>
          </a:solidFill>
          <a:ln w="12700">
            <a:solidFill>
              <a:srgbClr val="2E8B57"/>
            </a:solidFill>
            <a:prstDash val="solid"/>
          </a:ln>
        </p:spPr>
      </p:sp>
      <p:sp>
        <p:nvSpPr>
          <p:cNvPr id="44" name="Text 41"/>
          <p:cNvSpPr txBox="1"/>
          <p:nvPr/>
        </p:nvSpPr>
        <p:spPr>
          <a:xfrm>
            <a:off x="350443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5" name="Text 42"/>
          <p:cNvSpPr txBox="1"/>
          <p:nvPr/>
        </p:nvSpPr>
        <p:spPr>
          <a:xfrm>
            <a:off x="3833622" y="3176016"/>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18–25°C</a:t>
            </a:r>
            <a:endParaRPr lang="en-US" sz="1250" dirty="0"/>
          </a:p>
        </p:txBody>
      </p:sp>
      <p:sp>
        <p:nvSpPr>
          <p:cNvPr id="46" name="Text 43"/>
          <p:cNvSpPr txBox="1"/>
          <p:nvPr/>
        </p:nvSpPr>
        <p:spPr>
          <a:xfrm>
            <a:off x="3449574" y="3566160"/>
            <a:ext cx="2425446"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coastal range is 18 to 25.</a:t>
            </a:r>
            <a:endParaRPr lang="en-US" sz="1050" dirty="0"/>
          </a:p>
        </p:txBody>
      </p:sp>
      <p:sp>
        <p:nvSpPr>
          <p:cNvPr id="47" name="Shape 44"/>
          <p:cNvSpPr/>
          <p:nvPr/>
        </p:nvSpPr>
        <p:spPr>
          <a:xfrm>
            <a:off x="6185916"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6313932" y="1947672"/>
            <a:ext cx="310896" cy="310896"/>
          </a:xfrm>
          <a:prstGeom prst="ellipse">
            <a:avLst/>
          </a:prstGeom>
          <a:solidFill>
            <a:srgbClr val="1B3B6F"/>
          </a:solidFill>
          <a:ln w="12700">
            <a:solidFill>
              <a:srgbClr val="1B3B6F"/>
            </a:solidFill>
            <a:prstDash val="solid"/>
          </a:ln>
        </p:spPr>
      </p:sp>
      <p:sp>
        <p:nvSpPr>
          <p:cNvPr id="49" name="Text 46"/>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50" name="Text 47"/>
          <p:cNvSpPr txBox="1"/>
          <p:nvPr/>
        </p:nvSpPr>
        <p:spPr>
          <a:xfrm>
            <a:off x="6679692"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high on the coast?</a:t>
            </a:r>
            <a:endParaRPr lang="en-US" sz="1250" dirty="0"/>
          </a:p>
        </p:txBody>
      </p:sp>
      <p:sp>
        <p:nvSpPr>
          <p:cNvPr id="51" name="Shape 48"/>
          <p:cNvSpPr/>
          <p:nvPr/>
        </p:nvSpPr>
        <p:spPr>
          <a:xfrm>
            <a:off x="6277356" y="2453640"/>
            <a:ext cx="2498598" cy="347472"/>
          </a:xfrm>
          <a:prstGeom prst="roundRect">
            <a:avLst>
              <a:gd name="adj" fmla="val 15789"/>
            </a:avLst>
          </a:prstGeom>
          <a:solidFill>
            <a:srgbClr val="E6F4EC"/>
          </a:solidFill>
          <a:ln w="9525">
            <a:solidFill>
              <a:srgbClr val="2E8B57"/>
            </a:solidFill>
            <a:prstDash val="solid"/>
          </a:ln>
        </p:spPr>
      </p:sp>
      <p:sp>
        <p:nvSpPr>
          <p:cNvPr id="52" name="Shape 49"/>
          <p:cNvSpPr/>
          <p:nvPr/>
        </p:nvSpPr>
        <p:spPr>
          <a:xfrm>
            <a:off x="6368796" y="2490216"/>
            <a:ext cx="256032" cy="256032"/>
          </a:xfrm>
          <a:prstGeom prst="ellipse">
            <a:avLst/>
          </a:prstGeom>
          <a:solidFill>
            <a:srgbClr val="2E8B57"/>
          </a:solidFill>
          <a:ln w="12700">
            <a:solidFill>
              <a:srgbClr val="2E8B57"/>
            </a:solidFill>
            <a:prstDash val="solid"/>
          </a:ln>
        </p:spPr>
      </p:sp>
      <p:sp>
        <p:nvSpPr>
          <p:cNvPr id="53" name="Text 50"/>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4" name="Text 51"/>
          <p:cNvSpPr txBox="1"/>
          <p:nvPr/>
        </p:nvSpPr>
        <p:spPr>
          <a:xfrm>
            <a:off x="6697980" y="2432304"/>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Humidity</a:t>
            </a:r>
            <a:endParaRPr lang="en-US" sz="1250" dirty="0"/>
          </a:p>
        </p:txBody>
      </p:sp>
      <p:sp>
        <p:nvSpPr>
          <p:cNvPr id="55" name="Shape 52"/>
          <p:cNvSpPr/>
          <p:nvPr/>
        </p:nvSpPr>
        <p:spPr>
          <a:xfrm>
            <a:off x="6368796" y="2862072"/>
            <a:ext cx="256032" cy="256032"/>
          </a:xfrm>
          <a:prstGeom prst="ellipse">
            <a:avLst/>
          </a:prstGeom>
          <a:solidFill>
            <a:srgbClr val="C9CED6"/>
          </a:solidFill>
          <a:ln w="12700">
            <a:solidFill>
              <a:srgbClr val="C9CED6"/>
            </a:solidFill>
            <a:prstDash val="solid"/>
          </a:ln>
        </p:spPr>
      </p:sp>
      <p:sp>
        <p:nvSpPr>
          <p:cNvPr id="56" name="Text 53"/>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7" name="Text 54"/>
          <p:cNvSpPr txBox="1"/>
          <p:nvPr/>
        </p:nvSpPr>
        <p:spPr>
          <a:xfrm>
            <a:off x="6697980" y="280416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Snowfall</a:t>
            </a:r>
            <a:endParaRPr lang="en-US" sz="1250" dirty="0"/>
          </a:p>
        </p:txBody>
      </p:sp>
      <p:sp>
        <p:nvSpPr>
          <p:cNvPr id="58" name="Shape 55"/>
          <p:cNvSpPr/>
          <p:nvPr/>
        </p:nvSpPr>
        <p:spPr>
          <a:xfrm>
            <a:off x="6368796" y="3233928"/>
            <a:ext cx="256032" cy="256032"/>
          </a:xfrm>
          <a:prstGeom prst="ellipse">
            <a:avLst/>
          </a:prstGeom>
          <a:solidFill>
            <a:srgbClr val="C9CED6"/>
          </a:solidFill>
          <a:ln w="12700">
            <a:solidFill>
              <a:srgbClr val="C9CED6"/>
            </a:solidFill>
            <a:prstDash val="solid"/>
          </a:ln>
        </p:spPr>
      </p:sp>
      <p:sp>
        <p:nvSpPr>
          <p:cNvPr id="59" name="Text 56"/>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0" name="Text 57"/>
          <p:cNvSpPr txBox="1"/>
          <p:nvPr/>
        </p:nvSpPr>
        <p:spPr>
          <a:xfrm>
            <a:off x="6697980" y="3176016"/>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Altitude</a:t>
            </a:r>
            <a:endParaRPr lang="en-US" sz="1250" dirty="0"/>
          </a:p>
        </p:txBody>
      </p:sp>
      <p:sp>
        <p:nvSpPr>
          <p:cNvPr id="61" name="Text 58"/>
          <p:cNvSpPr txBox="1"/>
          <p:nvPr/>
        </p:nvSpPr>
        <p:spPr>
          <a:xfrm>
            <a:off x="6313932" y="3566160"/>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الرطوبة مرتفعة.</a:t>
            </a:r>
            <a:endParaRPr lang="ar-SA" sz="1350" dirty="0"/>
          </a:p>
        </p:txBody>
      </p:sp>
      <p:sp>
        <p:nvSpPr>
          <p:cNvPr id="62" name="Shape 59"/>
          <p:cNvSpPr/>
          <p:nvPr/>
        </p:nvSpPr>
        <p:spPr>
          <a:xfrm>
            <a:off x="9050274"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9178290" y="1947672"/>
            <a:ext cx="310896" cy="310896"/>
          </a:xfrm>
          <a:prstGeom prst="ellipse">
            <a:avLst/>
          </a:prstGeom>
          <a:solidFill>
            <a:srgbClr val="1B3B6F"/>
          </a:solidFill>
          <a:ln w="12700">
            <a:solidFill>
              <a:srgbClr val="1B3B6F"/>
            </a:solidFill>
            <a:prstDash val="solid"/>
          </a:ln>
        </p:spPr>
      </p:sp>
      <p:sp>
        <p:nvSpPr>
          <p:cNvPr id="64" name="Text 61"/>
          <p:cNvSpPr txBox="1"/>
          <p:nvPr/>
        </p:nvSpPr>
        <p:spPr>
          <a:xfrm>
            <a:off x="917829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5" name="Text 62"/>
          <p:cNvSpPr txBox="1"/>
          <p:nvPr/>
        </p:nvSpPr>
        <p:spPr>
          <a:xfrm>
            <a:off x="9544050"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is the interior compared with the coast?</a:t>
            </a:r>
            <a:endParaRPr lang="en-US" sz="1250" dirty="0"/>
          </a:p>
        </p:txBody>
      </p:sp>
      <p:sp>
        <p:nvSpPr>
          <p:cNvPr id="66" name="Shape 63"/>
          <p:cNvSpPr/>
          <p:nvPr/>
        </p:nvSpPr>
        <p:spPr>
          <a:xfrm>
            <a:off x="9233154" y="2490216"/>
            <a:ext cx="256032" cy="256032"/>
          </a:xfrm>
          <a:prstGeom prst="ellipse">
            <a:avLst/>
          </a:prstGeom>
          <a:solidFill>
            <a:srgbClr val="C9CED6"/>
          </a:solidFill>
          <a:ln w="12700">
            <a:solidFill>
              <a:srgbClr val="C9CED6"/>
            </a:solidFill>
            <a:prstDash val="solid"/>
          </a:ln>
        </p:spPr>
      </p:sp>
      <p:sp>
        <p:nvSpPr>
          <p:cNvPr id="67" name="Text 64"/>
          <p:cNvSpPr txBox="1"/>
          <p:nvPr/>
        </p:nvSpPr>
        <p:spPr>
          <a:xfrm>
            <a:off x="923315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8" name="Text 65"/>
          <p:cNvSpPr txBox="1"/>
          <p:nvPr/>
        </p:nvSpPr>
        <p:spPr>
          <a:xfrm>
            <a:off x="9562338" y="243230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Colder and wetter</a:t>
            </a:r>
            <a:endParaRPr lang="en-US" sz="1250" dirty="0"/>
          </a:p>
        </p:txBody>
      </p:sp>
      <p:sp>
        <p:nvSpPr>
          <p:cNvPr id="69" name="Shape 66"/>
          <p:cNvSpPr/>
          <p:nvPr/>
        </p:nvSpPr>
        <p:spPr>
          <a:xfrm>
            <a:off x="9141714" y="2825496"/>
            <a:ext cx="2498598" cy="347472"/>
          </a:xfrm>
          <a:prstGeom prst="roundRect">
            <a:avLst>
              <a:gd name="adj" fmla="val 15789"/>
            </a:avLst>
          </a:prstGeom>
          <a:solidFill>
            <a:srgbClr val="E6F4EC"/>
          </a:solidFill>
          <a:ln w="9525">
            <a:solidFill>
              <a:srgbClr val="2E8B57"/>
            </a:solidFill>
            <a:prstDash val="solid"/>
          </a:ln>
        </p:spPr>
      </p:sp>
      <p:sp>
        <p:nvSpPr>
          <p:cNvPr id="70" name="Shape 67"/>
          <p:cNvSpPr/>
          <p:nvPr/>
        </p:nvSpPr>
        <p:spPr>
          <a:xfrm>
            <a:off x="9233154" y="2862072"/>
            <a:ext cx="256032" cy="256032"/>
          </a:xfrm>
          <a:prstGeom prst="ellipse">
            <a:avLst/>
          </a:prstGeom>
          <a:solidFill>
            <a:srgbClr val="2E8B57"/>
          </a:solidFill>
          <a:ln w="12700">
            <a:solidFill>
              <a:srgbClr val="2E8B57"/>
            </a:solidFill>
            <a:prstDash val="solid"/>
          </a:ln>
        </p:spPr>
      </p:sp>
      <p:sp>
        <p:nvSpPr>
          <p:cNvPr id="71" name="Text 68"/>
          <p:cNvSpPr txBox="1"/>
          <p:nvPr/>
        </p:nvSpPr>
        <p:spPr>
          <a:xfrm>
            <a:off x="9233154"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72" name="Text 69"/>
          <p:cNvSpPr txBox="1"/>
          <p:nvPr/>
        </p:nvSpPr>
        <p:spPr>
          <a:xfrm>
            <a:off x="9562338" y="2804160"/>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Hotter and less humid</a:t>
            </a:r>
            <a:endParaRPr lang="en-US" sz="1250" dirty="0"/>
          </a:p>
        </p:txBody>
      </p:sp>
      <p:sp>
        <p:nvSpPr>
          <p:cNvPr id="73" name="Shape 70"/>
          <p:cNvSpPr/>
          <p:nvPr/>
        </p:nvSpPr>
        <p:spPr>
          <a:xfrm>
            <a:off x="9233154" y="3233928"/>
            <a:ext cx="256032" cy="256032"/>
          </a:xfrm>
          <a:prstGeom prst="ellipse">
            <a:avLst/>
          </a:prstGeom>
          <a:solidFill>
            <a:srgbClr val="C9CED6"/>
          </a:solidFill>
          <a:ln w="12700">
            <a:solidFill>
              <a:srgbClr val="C9CED6"/>
            </a:solidFill>
            <a:prstDash val="solid"/>
          </a:ln>
        </p:spPr>
      </p:sp>
      <p:sp>
        <p:nvSpPr>
          <p:cNvPr id="74" name="Text 71"/>
          <p:cNvSpPr txBox="1"/>
          <p:nvPr/>
        </p:nvSpPr>
        <p:spPr>
          <a:xfrm>
            <a:off x="923315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5" name="Text 72"/>
          <p:cNvSpPr txBox="1"/>
          <p:nvPr/>
        </p:nvSpPr>
        <p:spPr>
          <a:xfrm>
            <a:off x="9562338" y="3176016"/>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Exactly the same</a:t>
            </a:r>
            <a:endParaRPr lang="en-US" sz="1250" dirty="0"/>
          </a:p>
        </p:txBody>
      </p:sp>
      <p:sp>
        <p:nvSpPr>
          <p:cNvPr id="76" name="Text 73"/>
          <p:cNvSpPr txBox="1"/>
          <p:nvPr/>
        </p:nvSpPr>
        <p:spPr>
          <a:xfrm>
            <a:off x="9178290" y="3566160"/>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أكثر حرارةً وأقل رطوبةً.</a:t>
            </a:r>
            <a:endParaRPr lang="ar-SA" sz="1350" dirty="0"/>
          </a:p>
        </p:txBody>
      </p:sp>
      <p:sp>
        <p:nvSpPr>
          <p:cNvPr id="77" name="Shape 74"/>
          <p:cNvSpPr/>
          <p:nvPr/>
        </p:nvSpPr>
        <p:spPr>
          <a:xfrm>
            <a:off x="457200"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8" name="Shape 75"/>
          <p:cNvSpPr/>
          <p:nvPr/>
        </p:nvSpPr>
        <p:spPr>
          <a:xfrm>
            <a:off x="585216" y="4288536"/>
            <a:ext cx="310896" cy="310896"/>
          </a:xfrm>
          <a:prstGeom prst="ellipse">
            <a:avLst/>
          </a:prstGeom>
          <a:solidFill>
            <a:srgbClr val="1B3B6F"/>
          </a:solidFill>
          <a:ln w="12700">
            <a:solidFill>
              <a:srgbClr val="1B3B6F"/>
            </a:solidFill>
            <a:prstDash val="solid"/>
          </a:ln>
        </p:spPr>
      </p:sp>
      <p:sp>
        <p:nvSpPr>
          <p:cNvPr id="79" name="Text 76"/>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80" name="Text 77"/>
          <p:cNvSpPr txBox="1"/>
          <p:nvPr/>
        </p:nvSpPr>
        <p:spPr>
          <a:xfrm>
            <a:off x="950976"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expected in some southern regions?</a:t>
            </a:r>
            <a:endParaRPr lang="en-US" sz="1250" dirty="0"/>
          </a:p>
        </p:txBody>
      </p:sp>
      <p:sp>
        <p:nvSpPr>
          <p:cNvPr id="81" name="Shape 78"/>
          <p:cNvSpPr/>
          <p:nvPr/>
        </p:nvSpPr>
        <p:spPr>
          <a:xfrm>
            <a:off x="548640" y="4794504"/>
            <a:ext cx="2498598" cy="347472"/>
          </a:xfrm>
          <a:prstGeom prst="roundRect">
            <a:avLst>
              <a:gd name="adj" fmla="val 15789"/>
            </a:avLst>
          </a:prstGeom>
          <a:solidFill>
            <a:srgbClr val="E6F4EC"/>
          </a:solidFill>
          <a:ln w="9525">
            <a:solidFill>
              <a:srgbClr val="2E8B57"/>
            </a:solidFill>
            <a:prstDash val="solid"/>
          </a:ln>
        </p:spPr>
      </p:sp>
      <p:sp>
        <p:nvSpPr>
          <p:cNvPr id="82" name="Shape 79"/>
          <p:cNvSpPr/>
          <p:nvPr/>
        </p:nvSpPr>
        <p:spPr>
          <a:xfrm>
            <a:off x="640080" y="4831080"/>
            <a:ext cx="256032" cy="256032"/>
          </a:xfrm>
          <a:prstGeom prst="ellipse">
            <a:avLst/>
          </a:prstGeom>
          <a:solidFill>
            <a:srgbClr val="2E8B57"/>
          </a:solidFill>
          <a:ln w="12700">
            <a:solidFill>
              <a:srgbClr val="2E8B57"/>
            </a:solidFill>
            <a:prstDash val="solid"/>
          </a:ln>
        </p:spPr>
      </p:sp>
      <p:sp>
        <p:nvSpPr>
          <p:cNvPr id="83" name="Text 80"/>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4" name="Text 81"/>
          <p:cNvSpPr txBox="1"/>
          <p:nvPr/>
        </p:nvSpPr>
        <p:spPr>
          <a:xfrm>
            <a:off x="969264" y="4773168"/>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Strong winds</a:t>
            </a:r>
            <a:endParaRPr lang="en-US" sz="1250" dirty="0"/>
          </a:p>
        </p:txBody>
      </p:sp>
      <p:sp>
        <p:nvSpPr>
          <p:cNvPr id="85" name="Shape 82"/>
          <p:cNvSpPr/>
          <p:nvPr/>
        </p:nvSpPr>
        <p:spPr>
          <a:xfrm>
            <a:off x="640080" y="5202936"/>
            <a:ext cx="256032" cy="256032"/>
          </a:xfrm>
          <a:prstGeom prst="ellipse">
            <a:avLst/>
          </a:prstGeom>
          <a:solidFill>
            <a:srgbClr val="C9CED6"/>
          </a:solidFill>
          <a:ln w="12700">
            <a:solidFill>
              <a:srgbClr val="C9CED6"/>
            </a:solidFill>
            <a:prstDash val="solid"/>
          </a:ln>
        </p:spPr>
      </p:sp>
      <p:sp>
        <p:nvSpPr>
          <p:cNvPr id="86" name="Text 83"/>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7" name="Text 84"/>
          <p:cNvSpPr txBox="1"/>
          <p:nvPr/>
        </p:nvSpPr>
        <p:spPr>
          <a:xfrm>
            <a:off x="969264" y="514502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heat-free day</a:t>
            </a:r>
            <a:endParaRPr lang="en-US" sz="1250" dirty="0"/>
          </a:p>
        </p:txBody>
      </p:sp>
      <p:sp>
        <p:nvSpPr>
          <p:cNvPr id="88" name="Shape 85"/>
          <p:cNvSpPr/>
          <p:nvPr/>
        </p:nvSpPr>
        <p:spPr>
          <a:xfrm>
            <a:off x="640080" y="5574792"/>
            <a:ext cx="256032" cy="256032"/>
          </a:xfrm>
          <a:prstGeom prst="ellipse">
            <a:avLst/>
          </a:prstGeom>
          <a:solidFill>
            <a:srgbClr val="C9CED6"/>
          </a:solidFill>
          <a:ln w="12700">
            <a:solidFill>
              <a:srgbClr val="C9CED6"/>
            </a:solidFill>
            <a:prstDash val="solid"/>
          </a:ln>
        </p:spPr>
      </p:sp>
      <p:sp>
        <p:nvSpPr>
          <p:cNvPr id="89" name="Text 86"/>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0" name="Text 87"/>
          <p:cNvSpPr txBox="1"/>
          <p:nvPr/>
        </p:nvSpPr>
        <p:spPr>
          <a:xfrm>
            <a:off x="969264" y="551688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Heavy snow</a:t>
            </a:r>
            <a:endParaRPr lang="en-US" sz="1250" dirty="0"/>
          </a:p>
        </p:txBody>
      </p:sp>
      <p:sp>
        <p:nvSpPr>
          <p:cNvPr id="91" name="Text 88"/>
          <p:cNvSpPr txBox="1"/>
          <p:nvPr/>
        </p:nvSpPr>
        <p:spPr>
          <a:xfrm>
            <a:off x="585216" y="5907024"/>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تهب رياح قوية.</a:t>
            </a:r>
            <a:endParaRPr lang="ar-SA" sz="1350" dirty="0"/>
          </a:p>
        </p:txBody>
      </p:sp>
      <p:sp>
        <p:nvSpPr>
          <p:cNvPr id="92" name="Shape 89"/>
          <p:cNvSpPr/>
          <p:nvPr/>
        </p:nvSpPr>
        <p:spPr>
          <a:xfrm>
            <a:off x="3321558"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93" name="Shape 90"/>
          <p:cNvSpPr/>
          <p:nvPr/>
        </p:nvSpPr>
        <p:spPr>
          <a:xfrm>
            <a:off x="3449574" y="4288536"/>
            <a:ext cx="310896" cy="310896"/>
          </a:xfrm>
          <a:prstGeom prst="ellipse">
            <a:avLst/>
          </a:prstGeom>
          <a:solidFill>
            <a:srgbClr val="1B3B6F"/>
          </a:solidFill>
          <a:ln w="12700">
            <a:solidFill>
              <a:srgbClr val="1B3B6F"/>
            </a:solidFill>
            <a:prstDash val="solid"/>
          </a:ln>
        </p:spPr>
      </p:sp>
      <p:sp>
        <p:nvSpPr>
          <p:cNvPr id="94" name="Text 91"/>
          <p:cNvSpPr txBox="1"/>
          <p:nvPr/>
        </p:nvSpPr>
        <p:spPr>
          <a:xfrm>
            <a:off x="344957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95" name="Text 92"/>
          <p:cNvSpPr txBox="1"/>
          <p:nvPr/>
        </p:nvSpPr>
        <p:spPr>
          <a:xfrm>
            <a:off x="3815334"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phrase introduces the forecast?</a:t>
            </a:r>
            <a:endParaRPr lang="en-US" sz="1250" dirty="0"/>
          </a:p>
        </p:txBody>
      </p:sp>
      <p:sp>
        <p:nvSpPr>
          <p:cNvPr id="96" name="Shape 93"/>
          <p:cNvSpPr/>
          <p:nvPr/>
        </p:nvSpPr>
        <p:spPr>
          <a:xfrm>
            <a:off x="3504438" y="4831080"/>
            <a:ext cx="256032" cy="256032"/>
          </a:xfrm>
          <a:prstGeom prst="ellipse">
            <a:avLst/>
          </a:prstGeom>
          <a:solidFill>
            <a:srgbClr val="C9CED6"/>
          </a:solidFill>
          <a:ln w="12700">
            <a:solidFill>
              <a:srgbClr val="C9CED6"/>
            </a:solidFill>
            <a:prstDash val="solid"/>
          </a:ln>
        </p:spPr>
      </p:sp>
      <p:sp>
        <p:nvSpPr>
          <p:cNvPr id="97" name="Text 94"/>
          <p:cNvSpPr txBox="1"/>
          <p:nvPr/>
        </p:nvSpPr>
        <p:spPr>
          <a:xfrm>
            <a:off x="3504438"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98" name="Text 95"/>
          <p:cNvSpPr txBox="1"/>
          <p:nvPr/>
        </p:nvSpPr>
        <p:spPr>
          <a:xfrm>
            <a:off x="3833622" y="4773168"/>
            <a:ext cx="2023110"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عَلَى الرَّغْمِ مِنْ</a:t>
            </a:r>
            <a:endParaRPr lang="ar-SA" sz="1700" dirty="0"/>
          </a:p>
        </p:txBody>
      </p:sp>
      <p:sp>
        <p:nvSpPr>
          <p:cNvPr id="99" name="Shape 96"/>
          <p:cNvSpPr/>
          <p:nvPr/>
        </p:nvSpPr>
        <p:spPr>
          <a:xfrm>
            <a:off x="3504438" y="5202936"/>
            <a:ext cx="256032" cy="256032"/>
          </a:xfrm>
          <a:prstGeom prst="ellipse">
            <a:avLst/>
          </a:prstGeom>
          <a:solidFill>
            <a:srgbClr val="C9CED6"/>
          </a:solidFill>
          <a:ln w="12700">
            <a:solidFill>
              <a:srgbClr val="C9CED6"/>
            </a:solidFill>
            <a:prstDash val="solid"/>
          </a:ln>
        </p:spPr>
      </p:sp>
      <p:sp>
        <p:nvSpPr>
          <p:cNvPr id="100" name="Text 97"/>
          <p:cNvSpPr txBox="1"/>
          <p:nvPr/>
        </p:nvSpPr>
        <p:spPr>
          <a:xfrm>
            <a:off x="3504438"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101" name="Text 98"/>
          <p:cNvSpPr txBox="1"/>
          <p:nvPr/>
        </p:nvSpPr>
        <p:spPr>
          <a:xfrm>
            <a:off x="3833622" y="5145024"/>
            <a:ext cx="2023110"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بِسَبَبِ</a:t>
            </a:r>
            <a:endParaRPr lang="ar-SA" sz="1700" dirty="0"/>
          </a:p>
        </p:txBody>
      </p:sp>
      <p:sp>
        <p:nvSpPr>
          <p:cNvPr id="102" name="Shape 99"/>
          <p:cNvSpPr/>
          <p:nvPr/>
        </p:nvSpPr>
        <p:spPr>
          <a:xfrm>
            <a:off x="3412998" y="5538216"/>
            <a:ext cx="2498598" cy="347472"/>
          </a:xfrm>
          <a:prstGeom prst="roundRect">
            <a:avLst>
              <a:gd name="adj" fmla="val 15789"/>
            </a:avLst>
          </a:prstGeom>
          <a:solidFill>
            <a:srgbClr val="E6F4EC"/>
          </a:solidFill>
          <a:ln w="9525">
            <a:solidFill>
              <a:srgbClr val="2E8B57"/>
            </a:solidFill>
            <a:prstDash val="solid"/>
          </a:ln>
        </p:spPr>
      </p:sp>
      <p:sp>
        <p:nvSpPr>
          <p:cNvPr id="103" name="Shape 100"/>
          <p:cNvSpPr/>
          <p:nvPr/>
        </p:nvSpPr>
        <p:spPr>
          <a:xfrm>
            <a:off x="3504438" y="5574792"/>
            <a:ext cx="256032" cy="256032"/>
          </a:xfrm>
          <a:prstGeom prst="ellipse">
            <a:avLst/>
          </a:prstGeom>
          <a:solidFill>
            <a:srgbClr val="2E8B57"/>
          </a:solidFill>
          <a:ln w="12700">
            <a:solidFill>
              <a:srgbClr val="2E8B57"/>
            </a:solidFill>
            <a:prstDash val="solid"/>
          </a:ln>
        </p:spPr>
      </p:sp>
      <p:sp>
        <p:nvSpPr>
          <p:cNvPr id="104" name="Text 101"/>
          <p:cNvSpPr txBox="1"/>
          <p:nvPr/>
        </p:nvSpPr>
        <p:spPr>
          <a:xfrm>
            <a:off x="3504438"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105" name="Text 102"/>
          <p:cNvSpPr txBox="1"/>
          <p:nvPr/>
        </p:nvSpPr>
        <p:spPr>
          <a:xfrm>
            <a:off x="3833622" y="5516880"/>
            <a:ext cx="2023110"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مِنَ المُتَوَقَّعِ أَنْ</a:t>
            </a:r>
            <a:endParaRPr lang="ar-SA" sz="1700" dirty="0"/>
          </a:p>
        </p:txBody>
      </p:sp>
      <p:sp>
        <p:nvSpPr>
          <p:cNvPr id="106" name="Text 103"/>
          <p:cNvSpPr txBox="1"/>
          <p:nvPr/>
        </p:nvSpPr>
        <p:spPr>
          <a:xfrm>
            <a:off x="3449574" y="5907024"/>
            <a:ext cx="2425446"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من المتوقع أن</a:t>
            </a:r>
            <a:pPr algn="l" indent="0" marL="0">
              <a:buNone/>
            </a:pPr>
            <a:r>
              <a:rPr lang="en-US" sz="1050" i="1" dirty="0">
                <a:solidFill>
                  <a:srgbClr val="8A6D1E"/>
                </a:solidFill>
                <a:latin typeface="Calibri" pitchFamily="34" charset="0"/>
                <a:cs typeface="Amiri" pitchFamily="2" charset="-78"/>
              </a:rPr>
              <a:t> signals a forecast.</a:t>
            </a:r>
            <a:endParaRPr lang="en-US" sz="1050" dirty="0"/>
          </a:p>
        </p:txBody>
      </p:sp>
      <p:sp>
        <p:nvSpPr>
          <p:cNvPr id="107" name="Shape 104"/>
          <p:cNvSpPr/>
          <p:nvPr/>
        </p:nvSpPr>
        <p:spPr>
          <a:xfrm>
            <a:off x="6185916" y="4151376"/>
            <a:ext cx="2681478"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08" name="Text 105"/>
          <p:cNvSpPr txBox="1"/>
          <p:nvPr/>
        </p:nvSpPr>
        <p:spPr>
          <a:xfrm>
            <a:off x="6368796" y="4279392"/>
            <a:ext cx="2315718"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READ LIKE A DETECTIVE</a:t>
            </a:r>
            <a:endParaRPr lang="en-US" sz="1000" dirty="0"/>
          </a:p>
        </p:txBody>
      </p:sp>
      <p:sp>
        <p:nvSpPr>
          <p:cNvPr id="109" name="Text 106"/>
          <p:cNvSpPr txBox="1"/>
          <p:nvPr/>
        </p:nvSpPr>
        <p:spPr>
          <a:xfrm>
            <a:off x="6368796" y="4590288"/>
            <a:ext cx="2315718"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ONE key word from the question in the text.</a:t>
            </a:r>
            <a:endParaRPr lang="en-US" sz="1250" dirty="0"/>
          </a:p>
          <a:p>
            <a:pPr algn="l" indent="0" marL="0">
              <a:buNone/>
            </a:pPr>
            <a:r>
              <a:rPr lang="en-US" sz="1250" dirty="0">
                <a:solidFill>
                  <a:srgbClr val="1F2A37"/>
                </a:solidFill>
                <a:latin typeface="Calibri" pitchFamily="34" charset="0"/>
                <a:cs typeface="Amiri" pitchFamily="2" charset="-78"/>
              </a:rPr>
              <a:t>3. Read only that sentence again, then choose.</a:t>
            </a:r>
            <a:endParaRPr lang="en-US" sz="1250" dirty="0"/>
          </a:p>
        </p:txBody>
      </p:sp>
      <p:sp>
        <p:nvSpPr>
          <p:cNvPr id="110" name="Text 10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41 / 45</a:t>
            </a:r>
            <a:endParaRPr lang="en-US" sz="85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D4-L02 · Weather</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WEBSITE MISSION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1750" b="1" dirty="0">
                <a:solidFill>
                  <a:srgbClr val="1B3B6F"/>
                </a:solidFill>
                <a:latin typeface="Cambria" pitchFamily="34" charset="0"/>
                <a:cs typeface="Amiri" pitchFamily="2" charset="-78"/>
              </a:rPr>
              <a:t>Weather Patterns — Describing and Comparing Weather — Arabic application mission</a:t>
            </a:r>
            <a:endParaRPr lang="en-US" sz="175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المُهِمَّةُ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D4-L02</a:t>
            </a:r>
            <a:endParaRPr lang="en-US" sz="850" dirty="0"/>
          </a:p>
        </p:txBody>
      </p:sp>
      <p:sp>
        <p:nvSpPr>
          <p:cNvPr id="17"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forecast sentence has correct agreement?</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يَهُبُّ الرِّيَاحُ بِقُوَّةٍ.</a:t>
            </a:r>
            <a:endParaRPr lang="ar-SA" sz="20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تَهُبُّ الرِّيَاحُ بِقُوَّةٍ.</a:t>
            </a:r>
            <a:endParaRPr lang="ar-SA" sz="20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تَهُبَّ الرِّيَاحَ بِقُوَّةٍ.</a:t>
            </a:r>
            <a:endParaRPr lang="ar-SA" sz="2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Arabic sentence says that the temperature will fall at night?</a:t>
            </a:r>
            <a:endParaRPr lang="en-US" sz="1250" dirty="0"/>
          </a:p>
        </p:txBody>
      </p:sp>
      <p:sp>
        <p:nvSpPr>
          <p:cNvPr id="34" name="Shape 31"/>
          <p:cNvSpPr/>
          <p:nvPr/>
        </p:nvSpPr>
        <p:spPr>
          <a:xfrm>
            <a:off x="4459224"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1500" dirty="0">
                <a:solidFill>
                  <a:srgbClr val="1F2A37"/>
                </a:solidFill>
                <a:latin typeface="Amiri" pitchFamily="2" charset="-78"/>
                <a:ea typeface="Amiri" pitchFamily="2" charset="-78"/>
                <a:cs typeface="Amiri" pitchFamily="2" charset="-78"/>
              </a:rPr>
              <a:t>مِنَ المُتَوَقَّعِ أَنْ تَنْخَفِضَ دَرَجَةُ الحَرَارَةِ لَيْلًا.</a:t>
            </a:r>
            <a:endParaRPr lang="ar-SA" sz="1500" dirty="0"/>
          </a:p>
        </p:txBody>
      </p:sp>
      <p:sp>
        <p:nvSpPr>
          <p:cNvPr id="37" name="Shape 34"/>
          <p:cNvSpPr/>
          <p:nvPr/>
        </p:nvSpPr>
        <p:spPr>
          <a:xfrm>
            <a:off x="4459224"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1500" dirty="0">
                <a:solidFill>
                  <a:srgbClr val="1F2A37"/>
                </a:solidFill>
                <a:latin typeface="Amiri" pitchFamily="2" charset="-78"/>
                <a:ea typeface="Amiri" pitchFamily="2" charset="-78"/>
                <a:cs typeface="Amiri" pitchFamily="2" charset="-78"/>
              </a:rPr>
              <a:t>مِنَ المُتَوَقَّعِ تَنْخَفِضُ دَرَجَةَ الحَرَارَةِ.</a:t>
            </a:r>
            <a:endParaRPr lang="ar-SA" sz="1500" dirty="0"/>
          </a:p>
        </p:txBody>
      </p:sp>
      <p:sp>
        <p:nvSpPr>
          <p:cNvPr id="40" name="Shape 37"/>
          <p:cNvSpPr/>
          <p:nvPr/>
        </p:nvSpPr>
        <p:spPr>
          <a:xfrm>
            <a:off x="4459224"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1500" dirty="0">
                <a:solidFill>
                  <a:srgbClr val="1F2A37"/>
                </a:solidFill>
                <a:latin typeface="Amiri" pitchFamily="2" charset="-78"/>
                <a:ea typeface="Amiri" pitchFamily="2" charset="-78"/>
                <a:cs typeface="Amiri" pitchFamily="2" charset="-78"/>
              </a:rPr>
              <a:t>مِنَ المُتَوَقَّعِ أَنْ يَنْخَفِضُ دَرَجَةُ الحَرَارَةِ لَيْلًا.</a:t>
            </a:r>
            <a:endParaRPr lang="ar-SA" sz="1500" dirty="0"/>
          </a:p>
        </p:txBody>
      </p:sp>
      <p:sp>
        <p:nvSpPr>
          <p:cNvPr id="43" name="Shape 40"/>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8223504" y="1947672"/>
            <a:ext cx="310896" cy="310896"/>
          </a:xfrm>
          <a:prstGeom prst="ellipse">
            <a:avLst/>
          </a:prstGeom>
          <a:solidFill>
            <a:srgbClr val="1B3B6F"/>
          </a:solidFill>
          <a:ln w="12700">
            <a:solidFill>
              <a:srgbClr val="1B3B6F"/>
            </a:solidFill>
            <a:prstDash val="solid"/>
          </a:ln>
        </p:spPr>
      </p:sp>
      <p:sp>
        <p:nvSpPr>
          <p:cNvPr id="45" name="Text 42"/>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6" name="Text 43"/>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comparison.</a:t>
            </a:r>
            <a:endParaRPr lang="en-US" sz="1250" dirty="0"/>
          </a:p>
        </p:txBody>
      </p:sp>
      <p:sp>
        <p:nvSpPr>
          <p:cNvPr id="47" name="Shape 44"/>
          <p:cNvSpPr/>
          <p:nvPr/>
        </p:nvSpPr>
        <p:spPr>
          <a:xfrm>
            <a:off x="8278368" y="2532888"/>
            <a:ext cx="256032" cy="256032"/>
          </a:xfrm>
          <a:prstGeom prst="ellipse">
            <a:avLst/>
          </a:prstGeom>
          <a:solidFill>
            <a:srgbClr val="F4F1EA"/>
          </a:solidFill>
          <a:ln w="12700">
            <a:solidFill>
              <a:srgbClr val="F4F1EA"/>
            </a:solidFill>
            <a:prstDash val="solid"/>
          </a:ln>
        </p:spPr>
      </p:sp>
      <p:sp>
        <p:nvSpPr>
          <p:cNvPr id="48" name="Text 45"/>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9" name="Text 46"/>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بَيْرُوتُ أَكْثَرُ رَطْبٌ إِلَى عَمَّانَ.</a:t>
            </a:r>
            <a:endParaRPr lang="ar-SA" sz="2050" dirty="0"/>
          </a:p>
        </p:txBody>
      </p:sp>
      <p:sp>
        <p:nvSpPr>
          <p:cNvPr id="50" name="Shape 47"/>
          <p:cNvSpPr/>
          <p:nvPr/>
        </p:nvSpPr>
        <p:spPr>
          <a:xfrm>
            <a:off x="8278368" y="2990088"/>
            <a:ext cx="256032" cy="256032"/>
          </a:xfrm>
          <a:prstGeom prst="ellipse">
            <a:avLst/>
          </a:prstGeom>
          <a:solidFill>
            <a:srgbClr val="F4F1EA"/>
          </a:solidFill>
          <a:ln w="12700">
            <a:solidFill>
              <a:srgbClr val="F4F1EA"/>
            </a:solidFill>
            <a:prstDash val="solid"/>
          </a:ln>
        </p:spPr>
      </p:sp>
      <p:sp>
        <p:nvSpPr>
          <p:cNvPr id="51" name="Text 48"/>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2" name="Text 49"/>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بَيْرُوتُ رُطُوبَةً أَكْثَرَ عَمَّانَ.</a:t>
            </a:r>
            <a:endParaRPr lang="ar-SA" sz="2050" dirty="0"/>
          </a:p>
        </p:txBody>
      </p:sp>
      <p:sp>
        <p:nvSpPr>
          <p:cNvPr id="53" name="Shape 50"/>
          <p:cNvSpPr/>
          <p:nvPr/>
        </p:nvSpPr>
        <p:spPr>
          <a:xfrm>
            <a:off x="8278368" y="3447288"/>
            <a:ext cx="256032" cy="256032"/>
          </a:xfrm>
          <a:prstGeom prst="ellipse">
            <a:avLst/>
          </a:prstGeom>
          <a:solidFill>
            <a:srgbClr val="F4F1EA"/>
          </a:solidFill>
          <a:ln w="12700">
            <a:solidFill>
              <a:srgbClr val="F4F1EA"/>
            </a:solidFill>
            <a:prstDash val="solid"/>
          </a:ln>
        </p:spPr>
      </p:sp>
      <p:sp>
        <p:nvSpPr>
          <p:cNvPr id="54" name="Text 51"/>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5" name="Text 52"/>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بَيْرُوتُ أَكْثَرُ رُطُوبَةً مِنْ عَمَّانَ.</a:t>
            </a:r>
            <a:endParaRPr lang="ar-SA" sz="2050" dirty="0"/>
          </a:p>
        </p:txBody>
      </p:sp>
      <p:sp>
        <p:nvSpPr>
          <p:cNvPr id="56" name="Shape 53"/>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585216" y="4288536"/>
            <a:ext cx="310896" cy="310896"/>
          </a:xfrm>
          <a:prstGeom prst="ellipse">
            <a:avLst/>
          </a:prstGeom>
          <a:solidFill>
            <a:srgbClr val="1B3B6F"/>
          </a:solidFill>
          <a:ln w="12700">
            <a:solidFill>
              <a:srgbClr val="1B3B6F"/>
            </a:solidFill>
            <a:prstDash val="solid"/>
          </a:ln>
        </p:spPr>
      </p:sp>
      <p:sp>
        <p:nvSpPr>
          <p:cNvPr id="58" name="Text 55"/>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9" name="Text 56"/>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phrase means “maximum temperature”?</a:t>
            </a:r>
            <a:endParaRPr lang="en-US" sz="1250" dirty="0"/>
          </a:p>
        </p:txBody>
      </p:sp>
      <p:sp>
        <p:nvSpPr>
          <p:cNvPr id="60" name="Shape 57"/>
          <p:cNvSpPr/>
          <p:nvPr/>
        </p:nvSpPr>
        <p:spPr>
          <a:xfrm>
            <a:off x="640080" y="4873752"/>
            <a:ext cx="256032" cy="256032"/>
          </a:xfrm>
          <a:prstGeom prst="ellipse">
            <a:avLst/>
          </a:prstGeom>
          <a:solidFill>
            <a:srgbClr val="F4F1EA"/>
          </a:solidFill>
          <a:ln w="12700">
            <a:solidFill>
              <a:srgbClr val="F4F1EA"/>
            </a:solidFill>
            <a:prstDash val="solid"/>
          </a:ln>
        </p:spPr>
      </p:sp>
      <p:sp>
        <p:nvSpPr>
          <p:cNvPr id="61" name="Text 58"/>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2" name="Text 59"/>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الحَدُّ الأَدْنَى لِلرُّطُوبَةِ</a:t>
            </a:r>
            <a:endParaRPr lang="ar-SA" sz="2050" dirty="0"/>
          </a:p>
        </p:txBody>
      </p:sp>
      <p:sp>
        <p:nvSpPr>
          <p:cNvPr id="63" name="Shape 60"/>
          <p:cNvSpPr/>
          <p:nvPr/>
        </p:nvSpPr>
        <p:spPr>
          <a:xfrm>
            <a:off x="640080" y="5330952"/>
            <a:ext cx="256032" cy="256032"/>
          </a:xfrm>
          <a:prstGeom prst="ellipse">
            <a:avLst/>
          </a:prstGeom>
          <a:solidFill>
            <a:srgbClr val="F4F1EA"/>
          </a:solidFill>
          <a:ln w="12700">
            <a:solidFill>
              <a:srgbClr val="F4F1EA"/>
            </a:solidFill>
            <a:prstDash val="solid"/>
          </a:ln>
        </p:spPr>
      </p:sp>
      <p:sp>
        <p:nvSpPr>
          <p:cNvPr id="64" name="Text 61"/>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5" name="Text 62"/>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مَوْجَةُ بَرْدٍ</a:t>
            </a:r>
            <a:endParaRPr lang="ar-SA" sz="2050" dirty="0"/>
          </a:p>
        </p:txBody>
      </p:sp>
      <p:sp>
        <p:nvSpPr>
          <p:cNvPr id="66" name="Shape 63"/>
          <p:cNvSpPr/>
          <p:nvPr/>
        </p:nvSpPr>
        <p:spPr>
          <a:xfrm>
            <a:off x="640080" y="5788152"/>
            <a:ext cx="256032" cy="256032"/>
          </a:xfrm>
          <a:prstGeom prst="ellipse">
            <a:avLst/>
          </a:prstGeom>
          <a:solidFill>
            <a:srgbClr val="F4F1EA"/>
          </a:solidFill>
          <a:ln w="12700">
            <a:solidFill>
              <a:srgbClr val="F4F1EA"/>
            </a:solidFill>
            <a:prstDash val="solid"/>
          </a:ln>
        </p:spPr>
      </p:sp>
      <p:sp>
        <p:nvSpPr>
          <p:cNvPr id="67" name="Text 64"/>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8" name="Text 65"/>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الحَدُّ الأَقْصَى لِدَرَجَةِ الحَرَارَةِ</a:t>
            </a:r>
            <a:endParaRPr lang="ar-SA" sz="2050" dirty="0"/>
          </a:p>
        </p:txBody>
      </p:sp>
      <p:sp>
        <p:nvSpPr>
          <p:cNvPr id="69" name="Shape 66"/>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0" name="Shape 67"/>
          <p:cNvSpPr/>
          <p:nvPr/>
        </p:nvSpPr>
        <p:spPr>
          <a:xfrm>
            <a:off x="4404360" y="4288536"/>
            <a:ext cx="310896" cy="310896"/>
          </a:xfrm>
          <a:prstGeom prst="ellipse">
            <a:avLst/>
          </a:prstGeom>
          <a:solidFill>
            <a:srgbClr val="1B3B6F"/>
          </a:solidFill>
          <a:ln w="12700">
            <a:solidFill>
              <a:srgbClr val="1B3B6F"/>
            </a:solidFill>
            <a:prstDash val="solid"/>
          </a:ln>
        </p:spPr>
      </p:sp>
      <p:sp>
        <p:nvSpPr>
          <p:cNvPr id="71" name="Text 68"/>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2" name="Text 69"/>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sentence correctly describes rain?</a:t>
            </a:r>
            <a:endParaRPr lang="en-US" sz="1250" dirty="0"/>
          </a:p>
        </p:txBody>
      </p:sp>
      <p:sp>
        <p:nvSpPr>
          <p:cNvPr id="73" name="Shape 70"/>
          <p:cNvSpPr/>
          <p:nvPr/>
        </p:nvSpPr>
        <p:spPr>
          <a:xfrm>
            <a:off x="4459224" y="4873752"/>
            <a:ext cx="256032" cy="256032"/>
          </a:xfrm>
          <a:prstGeom prst="ellipse">
            <a:avLst/>
          </a:prstGeom>
          <a:solidFill>
            <a:srgbClr val="F4F1EA"/>
          </a:solidFill>
          <a:ln w="12700">
            <a:solidFill>
              <a:srgbClr val="F4F1EA"/>
            </a:solidFill>
            <a:prstDash val="solid"/>
          </a:ln>
        </p:spPr>
      </p:sp>
      <p:sp>
        <p:nvSpPr>
          <p:cNvPr id="74" name="Text 71"/>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5" name="Text 72"/>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يَسْقُطُ المَطَرُ فِي المَسَاءِ.</a:t>
            </a:r>
            <a:endParaRPr lang="ar-SA" sz="2050" dirty="0"/>
          </a:p>
        </p:txBody>
      </p:sp>
      <p:sp>
        <p:nvSpPr>
          <p:cNvPr id="76" name="Shape 73"/>
          <p:cNvSpPr/>
          <p:nvPr/>
        </p:nvSpPr>
        <p:spPr>
          <a:xfrm>
            <a:off x="4459224" y="5330952"/>
            <a:ext cx="256032" cy="256032"/>
          </a:xfrm>
          <a:prstGeom prst="ellipse">
            <a:avLst/>
          </a:prstGeom>
          <a:solidFill>
            <a:srgbClr val="F4F1EA"/>
          </a:solidFill>
          <a:ln w="12700">
            <a:solidFill>
              <a:srgbClr val="F4F1EA"/>
            </a:solidFill>
            <a:prstDash val="solid"/>
          </a:ln>
        </p:spPr>
      </p:sp>
      <p:sp>
        <p:nvSpPr>
          <p:cNvPr id="77" name="Text 74"/>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8" name="Text 75"/>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يَسْقُطُ المَطَرَاتُ فِي المَسَاءِ.</a:t>
            </a:r>
            <a:endParaRPr lang="ar-SA" sz="2050" dirty="0"/>
          </a:p>
        </p:txBody>
      </p:sp>
      <p:sp>
        <p:nvSpPr>
          <p:cNvPr id="79" name="Shape 76"/>
          <p:cNvSpPr/>
          <p:nvPr/>
        </p:nvSpPr>
        <p:spPr>
          <a:xfrm>
            <a:off x="4459224" y="5788152"/>
            <a:ext cx="256032" cy="256032"/>
          </a:xfrm>
          <a:prstGeom prst="ellipse">
            <a:avLst/>
          </a:prstGeom>
          <a:solidFill>
            <a:srgbClr val="F4F1EA"/>
          </a:solidFill>
          <a:ln w="12700">
            <a:solidFill>
              <a:srgbClr val="F4F1EA"/>
            </a:solidFill>
            <a:prstDash val="solid"/>
          </a:ln>
        </p:spPr>
      </p:sp>
      <p:sp>
        <p:nvSpPr>
          <p:cNvPr id="80" name="Text 77"/>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1" name="Text 78"/>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تَسْقُطُ المَطَرَ فِي المَسَاءِ.</a:t>
            </a:r>
            <a:endParaRPr lang="ar-SA" sz="2050" dirty="0"/>
          </a:p>
        </p:txBody>
      </p:sp>
      <p:sp>
        <p:nvSpPr>
          <p:cNvPr id="82" name="Shape 79"/>
          <p:cNvSpPr/>
          <p:nvPr/>
        </p:nvSpPr>
        <p:spPr>
          <a:xfrm>
            <a:off x="8095488"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3" name="Shape 80"/>
          <p:cNvSpPr/>
          <p:nvPr/>
        </p:nvSpPr>
        <p:spPr>
          <a:xfrm>
            <a:off x="8223504" y="4288536"/>
            <a:ext cx="310896" cy="310896"/>
          </a:xfrm>
          <a:prstGeom prst="ellipse">
            <a:avLst/>
          </a:prstGeom>
          <a:solidFill>
            <a:srgbClr val="1B3B6F"/>
          </a:solidFill>
          <a:ln w="12700">
            <a:solidFill>
              <a:srgbClr val="1B3B6F"/>
            </a:solidFill>
            <a:prstDash val="solid"/>
          </a:ln>
        </p:spPr>
      </p:sp>
      <p:sp>
        <p:nvSpPr>
          <p:cNvPr id="84" name="Text 81"/>
          <p:cNvSpPr txBox="1"/>
          <p:nvPr/>
        </p:nvSpPr>
        <p:spPr>
          <a:xfrm>
            <a:off x="822350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85" name="Text 82"/>
          <p:cNvSpPr txBox="1"/>
          <p:nvPr/>
        </p:nvSpPr>
        <p:spPr>
          <a:xfrm>
            <a:off x="8589264"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valid temperature range.</a:t>
            </a:r>
            <a:endParaRPr lang="en-US" sz="1250" dirty="0"/>
          </a:p>
        </p:txBody>
      </p:sp>
      <p:sp>
        <p:nvSpPr>
          <p:cNvPr id="86" name="Shape 83"/>
          <p:cNvSpPr/>
          <p:nvPr/>
        </p:nvSpPr>
        <p:spPr>
          <a:xfrm>
            <a:off x="8278368" y="4873752"/>
            <a:ext cx="256032" cy="256032"/>
          </a:xfrm>
          <a:prstGeom prst="ellipse">
            <a:avLst/>
          </a:prstGeom>
          <a:solidFill>
            <a:srgbClr val="F4F1EA"/>
          </a:solidFill>
          <a:ln w="12700">
            <a:solidFill>
              <a:srgbClr val="F4F1EA"/>
            </a:solidFill>
            <a:prstDash val="solid"/>
          </a:ln>
        </p:spPr>
      </p:sp>
      <p:sp>
        <p:nvSpPr>
          <p:cNvPr id="87" name="Text 84"/>
          <p:cNvSpPr txBox="1"/>
          <p:nvPr/>
        </p:nvSpPr>
        <p:spPr>
          <a:xfrm>
            <a:off x="8278368"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8" name="Text 85"/>
          <p:cNvSpPr txBox="1"/>
          <p:nvPr/>
        </p:nvSpPr>
        <p:spPr>
          <a:xfrm>
            <a:off x="8607552"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تَتَرَاوَحُ مِنْ ٢٠ بَيْنَ ٢٨.</a:t>
            </a:r>
            <a:endParaRPr lang="ar-SA" sz="2050" dirty="0"/>
          </a:p>
        </p:txBody>
      </p:sp>
      <p:sp>
        <p:nvSpPr>
          <p:cNvPr id="89" name="Shape 86"/>
          <p:cNvSpPr/>
          <p:nvPr/>
        </p:nvSpPr>
        <p:spPr>
          <a:xfrm>
            <a:off x="8278368" y="5330952"/>
            <a:ext cx="256032" cy="256032"/>
          </a:xfrm>
          <a:prstGeom prst="ellipse">
            <a:avLst/>
          </a:prstGeom>
          <a:solidFill>
            <a:srgbClr val="F4F1EA"/>
          </a:solidFill>
          <a:ln w="12700">
            <a:solidFill>
              <a:srgbClr val="F4F1EA"/>
            </a:solidFill>
            <a:prstDash val="solid"/>
          </a:ln>
        </p:spPr>
      </p:sp>
      <p:sp>
        <p:nvSpPr>
          <p:cNvPr id="90" name="Text 87"/>
          <p:cNvSpPr txBox="1"/>
          <p:nvPr/>
        </p:nvSpPr>
        <p:spPr>
          <a:xfrm>
            <a:off x="8278368"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91" name="Text 88"/>
          <p:cNvSpPr txBox="1"/>
          <p:nvPr/>
        </p:nvSpPr>
        <p:spPr>
          <a:xfrm>
            <a:off x="8607552"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تَتَرَاوَحُ بَيْنَ ٢٠ وَ٢٨ دَرَجَةً.</a:t>
            </a:r>
            <a:endParaRPr lang="ar-SA" sz="2050" dirty="0"/>
          </a:p>
        </p:txBody>
      </p:sp>
      <p:sp>
        <p:nvSpPr>
          <p:cNvPr id="92" name="Shape 89"/>
          <p:cNvSpPr/>
          <p:nvPr/>
        </p:nvSpPr>
        <p:spPr>
          <a:xfrm>
            <a:off x="8278368" y="5788152"/>
            <a:ext cx="256032" cy="256032"/>
          </a:xfrm>
          <a:prstGeom prst="ellipse">
            <a:avLst/>
          </a:prstGeom>
          <a:solidFill>
            <a:srgbClr val="F4F1EA"/>
          </a:solidFill>
          <a:ln w="12700">
            <a:solidFill>
              <a:srgbClr val="F4F1EA"/>
            </a:solidFill>
            <a:prstDash val="solid"/>
          </a:ln>
        </p:spPr>
      </p:sp>
      <p:sp>
        <p:nvSpPr>
          <p:cNvPr id="93" name="Text 90"/>
          <p:cNvSpPr txBox="1"/>
          <p:nvPr/>
        </p:nvSpPr>
        <p:spPr>
          <a:xfrm>
            <a:off x="8278368"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4" name="Text 91"/>
          <p:cNvSpPr txBox="1"/>
          <p:nvPr/>
        </p:nvSpPr>
        <p:spPr>
          <a:xfrm>
            <a:off x="8607552"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يَتَرَاوَحُ بَيْنَ ٢٠ إِلَى ٢٨ دَرَجَةً.</a:t>
            </a:r>
            <a:endParaRPr lang="ar-SA" sz="2050" dirty="0"/>
          </a:p>
        </p:txBody>
      </p:sp>
      <p:sp>
        <p:nvSpPr>
          <p:cNvPr id="95" name="Text 9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42 / 45</a:t>
            </a:r>
            <a:endParaRPr lang="en-US" sz="85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D4-L02 · Weather</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MISSION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Mission: answers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D4-L02</a:t>
            </a:r>
            <a:endParaRPr lang="en-US" sz="850" dirty="0"/>
          </a:p>
        </p:txBody>
      </p:sp>
      <p:sp>
        <p:nvSpPr>
          <p:cNvPr id="16"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7"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8"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9"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forecast sentence has correct agreement?</a:t>
            </a:r>
            <a:endParaRPr lang="en-US" sz="1250" dirty="0"/>
          </a:p>
        </p:txBody>
      </p:sp>
      <p:sp>
        <p:nvSpPr>
          <p:cNvPr id="20"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1"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2" name="Text 20"/>
          <p:cNvSpPr txBox="1"/>
          <p:nvPr/>
        </p:nvSpPr>
        <p:spPr>
          <a:xfrm>
            <a:off x="969264"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يَهُبُّ الرِّيَاحُ بِقُوَّةٍ.</a:t>
            </a:r>
            <a:endParaRPr lang="ar-SA" sz="1700" dirty="0"/>
          </a:p>
        </p:txBody>
      </p:sp>
      <p:sp>
        <p:nvSpPr>
          <p:cNvPr id="23" name="Shape 21"/>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4" name="Shape 22"/>
          <p:cNvSpPr/>
          <p:nvPr/>
        </p:nvSpPr>
        <p:spPr>
          <a:xfrm>
            <a:off x="640080" y="2862072"/>
            <a:ext cx="256032" cy="256032"/>
          </a:xfrm>
          <a:prstGeom prst="ellipse">
            <a:avLst/>
          </a:prstGeom>
          <a:solidFill>
            <a:srgbClr val="2E8B57"/>
          </a:solidFill>
          <a:ln w="12700">
            <a:solidFill>
              <a:srgbClr val="2E8B57"/>
            </a:solidFill>
            <a:prstDash val="solid"/>
          </a:ln>
        </p:spPr>
      </p:sp>
      <p:sp>
        <p:nvSpPr>
          <p:cNvPr id="25" name="Text 23"/>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6" name="Text 24"/>
          <p:cNvSpPr txBox="1"/>
          <p:nvPr/>
        </p:nvSpPr>
        <p:spPr>
          <a:xfrm>
            <a:off x="969264" y="280416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تَهُبُّ الرِّيَاحُ بِقُوَّةٍ.</a:t>
            </a:r>
            <a:endParaRPr lang="ar-SA" sz="1700" dirty="0"/>
          </a:p>
        </p:txBody>
      </p:sp>
      <p:sp>
        <p:nvSpPr>
          <p:cNvPr id="27" name="Shape 25"/>
          <p:cNvSpPr/>
          <p:nvPr/>
        </p:nvSpPr>
        <p:spPr>
          <a:xfrm>
            <a:off x="640080" y="3233928"/>
            <a:ext cx="256032" cy="256032"/>
          </a:xfrm>
          <a:prstGeom prst="ellipse">
            <a:avLst/>
          </a:prstGeom>
          <a:solidFill>
            <a:srgbClr val="C9CED6"/>
          </a:solidFill>
          <a:ln w="12700">
            <a:solidFill>
              <a:srgbClr val="C9CED6"/>
            </a:solidFill>
            <a:prstDash val="solid"/>
          </a:ln>
        </p:spPr>
      </p:sp>
      <p:sp>
        <p:nvSpPr>
          <p:cNvPr id="28"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7"/>
          <p:cNvSpPr txBox="1"/>
          <p:nvPr/>
        </p:nvSpPr>
        <p:spPr>
          <a:xfrm>
            <a:off x="969264"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تَهُبَّ الرِّيَاحَ بِقُوَّةٍ.</a:t>
            </a:r>
            <a:endParaRPr lang="ar-SA" sz="1700" dirty="0"/>
          </a:p>
        </p:txBody>
      </p:sp>
      <p:sp>
        <p:nvSpPr>
          <p:cNvPr id="30" name="Text 28"/>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الرياح</a:t>
            </a:r>
            <a:pPr algn="l" indent="0" marL="0">
              <a:buNone/>
            </a:pPr>
            <a:r>
              <a:rPr lang="en-US" sz="1050" i="1" dirty="0">
                <a:solidFill>
                  <a:srgbClr val="8A6D1E"/>
                </a:solidFill>
                <a:latin typeface="Calibri" pitchFamily="34" charset="0"/>
                <a:cs typeface="Amiri" pitchFamily="2" charset="-78"/>
              </a:rPr>
              <a:t> is feminine.</a:t>
            </a:r>
            <a:endParaRPr lang="en-US" sz="1050" dirty="0"/>
          </a:p>
        </p:txBody>
      </p:sp>
      <p:sp>
        <p:nvSpPr>
          <p:cNvPr id="31" name="Shape 29"/>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30"/>
          <p:cNvSpPr/>
          <p:nvPr/>
        </p:nvSpPr>
        <p:spPr>
          <a:xfrm>
            <a:off x="4404360" y="1947672"/>
            <a:ext cx="310896" cy="310896"/>
          </a:xfrm>
          <a:prstGeom prst="ellipse">
            <a:avLst/>
          </a:prstGeom>
          <a:solidFill>
            <a:srgbClr val="1B3B6F"/>
          </a:solidFill>
          <a:ln w="12700">
            <a:solidFill>
              <a:srgbClr val="1B3B6F"/>
            </a:solidFill>
            <a:prstDash val="solid"/>
          </a:ln>
        </p:spPr>
      </p:sp>
      <p:sp>
        <p:nvSpPr>
          <p:cNvPr id="33" name="Text 31"/>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4" name="Text 32"/>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Arabic sentence says that the temperature will fall at night?</a:t>
            </a:r>
            <a:endParaRPr lang="en-US" sz="1250" dirty="0"/>
          </a:p>
        </p:txBody>
      </p:sp>
      <p:sp>
        <p:nvSpPr>
          <p:cNvPr id="35" name="Shape 33"/>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6" name="Shape 34"/>
          <p:cNvSpPr/>
          <p:nvPr/>
        </p:nvSpPr>
        <p:spPr>
          <a:xfrm>
            <a:off x="4459224" y="2490216"/>
            <a:ext cx="256032" cy="256032"/>
          </a:xfrm>
          <a:prstGeom prst="ellipse">
            <a:avLst/>
          </a:prstGeom>
          <a:solidFill>
            <a:srgbClr val="2E8B57"/>
          </a:solidFill>
          <a:ln w="12700">
            <a:solidFill>
              <a:srgbClr val="2E8B57"/>
            </a:solidFill>
            <a:prstDash val="solid"/>
          </a:ln>
        </p:spPr>
      </p:sp>
      <p:sp>
        <p:nvSpPr>
          <p:cNvPr id="37" name="Text 35"/>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8" name="Text 36"/>
          <p:cNvSpPr txBox="1"/>
          <p:nvPr/>
        </p:nvSpPr>
        <p:spPr>
          <a:xfrm>
            <a:off x="4788408" y="2432304"/>
            <a:ext cx="2977896" cy="371856"/>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ea typeface="Amiri" pitchFamily="2" charset="-78"/>
                <a:cs typeface="Amiri" pitchFamily="2" charset="-78"/>
              </a:rPr>
              <a:t>مِنَ المُتَوَقَّعِ أَنْ تَنْخَفِضَ دَرَجَةُ الحَرَارَةِ لَيْلًا.</a:t>
            </a:r>
            <a:endParaRPr lang="ar-SA" sz="1500" dirty="0"/>
          </a:p>
        </p:txBody>
      </p:sp>
      <p:sp>
        <p:nvSpPr>
          <p:cNvPr id="39" name="Shape 37"/>
          <p:cNvSpPr/>
          <p:nvPr/>
        </p:nvSpPr>
        <p:spPr>
          <a:xfrm>
            <a:off x="4459224" y="2862072"/>
            <a:ext cx="256032" cy="256032"/>
          </a:xfrm>
          <a:prstGeom prst="ellipse">
            <a:avLst/>
          </a:prstGeom>
          <a:solidFill>
            <a:srgbClr val="C9CED6"/>
          </a:solidFill>
          <a:ln w="12700">
            <a:solidFill>
              <a:srgbClr val="C9CED6"/>
            </a:solidFill>
            <a:prstDash val="solid"/>
          </a:ln>
        </p:spPr>
      </p:sp>
      <p:sp>
        <p:nvSpPr>
          <p:cNvPr id="40" name="Text 38"/>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1" name="Text 39"/>
          <p:cNvSpPr txBox="1"/>
          <p:nvPr/>
        </p:nvSpPr>
        <p:spPr>
          <a:xfrm>
            <a:off x="4788408" y="2804160"/>
            <a:ext cx="2977896" cy="371856"/>
          </a:xfrm>
          <a:prstGeom prst="rect">
            <a:avLst/>
          </a:prstGeom>
          <a:noFill/>
          <a:ln/>
        </p:spPr>
        <p:txBody>
          <a:bodyPr wrap="square" lIns="0" tIns="0" rIns="0" bIns="0" rtlCol="0" anchor="ctr"/>
          <a:lstStyle/>
          <a:p>
            <a:pPr rtl="1" algn="r" indent="0" marL="0">
              <a:buNone/>
            </a:pPr>
            <a:r>
              <a:rPr lang="ar-SA" altLang="en-US" sz="1500" dirty="0">
                <a:solidFill>
                  <a:srgbClr val="9AA1AB"/>
                </a:solidFill>
                <a:latin typeface="Amiri" pitchFamily="2" charset="-78"/>
                <a:ea typeface="Amiri" pitchFamily="2" charset="-78"/>
                <a:cs typeface="Amiri" pitchFamily="2" charset="-78"/>
              </a:rPr>
              <a:t>مِنَ المُتَوَقَّعِ تَنْخَفِضُ دَرَجَةَ الحَرَارَةِ.</a:t>
            </a:r>
            <a:endParaRPr lang="ar-SA" sz="1500" dirty="0"/>
          </a:p>
        </p:txBody>
      </p:sp>
      <p:sp>
        <p:nvSpPr>
          <p:cNvPr id="42" name="Shape 40"/>
          <p:cNvSpPr/>
          <p:nvPr/>
        </p:nvSpPr>
        <p:spPr>
          <a:xfrm>
            <a:off x="4459224" y="3233928"/>
            <a:ext cx="256032" cy="256032"/>
          </a:xfrm>
          <a:prstGeom prst="ellipse">
            <a:avLst/>
          </a:prstGeom>
          <a:solidFill>
            <a:srgbClr val="C9CED6"/>
          </a:solidFill>
          <a:ln w="12700">
            <a:solidFill>
              <a:srgbClr val="C9CED6"/>
            </a:solidFill>
            <a:prstDash val="solid"/>
          </a:ln>
        </p:spPr>
      </p:sp>
      <p:sp>
        <p:nvSpPr>
          <p:cNvPr id="43" name="Text 41"/>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4" name="Text 42"/>
          <p:cNvSpPr txBox="1"/>
          <p:nvPr/>
        </p:nvSpPr>
        <p:spPr>
          <a:xfrm>
            <a:off x="4788408" y="3176016"/>
            <a:ext cx="2977896" cy="371856"/>
          </a:xfrm>
          <a:prstGeom prst="rect">
            <a:avLst/>
          </a:prstGeom>
          <a:noFill/>
          <a:ln/>
        </p:spPr>
        <p:txBody>
          <a:bodyPr wrap="square" lIns="0" tIns="0" rIns="0" bIns="0" rtlCol="0" anchor="ctr"/>
          <a:lstStyle/>
          <a:p>
            <a:pPr rtl="1" algn="r" indent="0" marL="0">
              <a:buNone/>
            </a:pPr>
            <a:r>
              <a:rPr lang="ar-SA" altLang="en-US" sz="1500" dirty="0">
                <a:solidFill>
                  <a:srgbClr val="9AA1AB"/>
                </a:solidFill>
                <a:latin typeface="Amiri" pitchFamily="2" charset="-78"/>
                <a:ea typeface="Amiri" pitchFamily="2" charset="-78"/>
                <a:cs typeface="Amiri" pitchFamily="2" charset="-78"/>
              </a:rPr>
              <a:t>مِنَ المُتَوَقَّعِ أَنْ يَنْخَفِضُ دَرَجَةُ الحَرَارَةِ لَيْلًا.</a:t>
            </a:r>
            <a:endParaRPr lang="ar-SA" sz="1500" dirty="0"/>
          </a:p>
        </p:txBody>
      </p:sp>
      <p:sp>
        <p:nvSpPr>
          <p:cNvPr id="45" name="Text 43"/>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Use </a:t>
            </a:r>
            <a:pPr algn="l" indent="0" marL="0">
              <a:buNone/>
            </a:pPr>
            <a:r>
              <a:rPr lang="ar-SA" altLang="en-US" sz="1350" dirty="0">
                <a:solidFill>
                  <a:srgbClr val="8A6D1E"/>
                </a:solidFill>
                <a:latin typeface="Amiri" pitchFamily="2" charset="-78"/>
                <a:ea typeface="Amiri" pitchFamily="2" charset="-78"/>
                <a:cs typeface="Amiri" pitchFamily="2" charset="-78"/>
              </a:rPr>
              <a:t>أن</a:t>
            </a:r>
            <a:pPr algn="l" indent="0" marL="0">
              <a:buNone/>
            </a:pPr>
            <a:r>
              <a:rPr lang="en-US" sz="1050" i="1" dirty="0">
                <a:solidFill>
                  <a:srgbClr val="8A6D1E"/>
                </a:solidFill>
                <a:latin typeface="Calibri" pitchFamily="34" charset="0"/>
                <a:cs typeface="Amiri" pitchFamily="2" charset="-78"/>
              </a:rPr>
              <a:t> + subjunctive </a:t>
            </a:r>
            <a:pPr algn="l" indent="0" marL="0">
              <a:buNone/>
            </a:pPr>
            <a:r>
              <a:rPr lang="ar-SA" altLang="en-US" sz="1350" dirty="0">
                <a:solidFill>
                  <a:srgbClr val="8A6D1E"/>
                </a:solidFill>
                <a:latin typeface="Amiri" pitchFamily="2" charset="-78"/>
                <a:ea typeface="Amiri" pitchFamily="2" charset="-78"/>
                <a:cs typeface="Amiri" pitchFamily="2" charset="-78"/>
              </a:rPr>
              <a:t>تنخفضَ</a:t>
            </a:r>
            <a:pPr algn="l" indent="0" marL="0">
              <a:buNone/>
            </a:pPr>
            <a:r>
              <a:rPr lang="en-US" sz="1050" i="1" dirty="0">
                <a:solidFill>
                  <a:srgbClr val="8A6D1E"/>
                </a:solidFill>
                <a:latin typeface="Calibri" pitchFamily="34" charset="0"/>
                <a:cs typeface="Amiri" pitchFamily="2" charset="-78"/>
              </a:rPr>
              <a:t> and feminine agreement.</a:t>
            </a:r>
            <a:endParaRPr lang="en-US" sz="1050" dirty="0"/>
          </a:p>
        </p:txBody>
      </p:sp>
      <p:sp>
        <p:nvSpPr>
          <p:cNvPr id="46" name="Shape 44"/>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7" name="Shape 45"/>
          <p:cNvSpPr/>
          <p:nvPr/>
        </p:nvSpPr>
        <p:spPr>
          <a:xfrm>
            <a:off x="8223504" y="1947672"/>
            <a:ext cx="310896" cy="310896"/>
          </a:xfrm>
          <a:prstGeom prst="ellipse">
            <a:avLst/>
          </a:prstGeom>
          <a:solidFill>
            <a:srgbClr val="1B3B6F"/>
          </a:solidFill>
          <a:ln w="12700">
            <a:solidFill>
              <a:srgbClr val="1B3B6F"/>
            </a:solidFill>
            <a:prstDash val="solid"/>
          </a:ln>
        </p:spPr>
      </p:sp>
      <p:sp>
        <p:nvSpPr>
          <p:cNvPr id="48" name="Text 46"/>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9" name="Text 47"/>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comparison.</a:t>
            </a:r>
            <a:endParaRPr lang="en-US" sz="1250" dirty="0"/>
          </a:p>
        </p:txBody>
      </p:sp>
      <p:sp>
        <p:nvSpPr>
          <p:cNvPr id="50" name="Shape 48"/>
          <p:cNvSpPr/>
          <p:nvPr/>
        </p:nvSpPr>
        <p:spPr>
          <a:xfrm>
            <a:off x="8278368" y="2490216"/>
            <a:ext cx="256032" cy="256032"/>
          </a:xfrm>
          <a:prstGeom prst="ellipse">
            <a:avLst/>
          </a:prstGeom>
          <a:solidFill>
            <a:srgbClr val="C9CED6"/>
          </a:solidFill>
          <a:ln w="12700">
            <a:solidFill>
              <a:srgbClr val="C9CED6"/>
            </a:solidFill>
            <a:prstDash val="solid"/>
          </a:ln>
        </p:spPr>
      </p:sp>
      <p:sp>
        <p:nvSpPr>
          <p:cNvPr id="51" name="Text 49"/>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2" name="Text 50"/>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بَيْرُوتُ أَكْثَرُ رَطْبٌ إِلَى عَمَّانَ.</a:t>
            </a:r>
            <a:endParaRPr lang="ar-SA" sz="1700" dirty="0"/>
          </a:p>
        </p:txBody>
      </p:sp>
      <p:sp>
        <p:nvSpPr>
          <p:cNvPr id="53" name="Shape 51"/>
          <p:cNvSpPr/>
          <p:nvPr/>
        </p:nvSpPr>
        <p:spPr>
          <a:xfrm>
            <a:off x="8278368" y="2862072"/>
            <a:ext cx="256032" cy="256032"/>
          </a:xfrm>
          <a:prstGeom prst="ellipse">
            <a:avLst/>
          </a:prstGeom>
          <a:solidFill>
            <a:srgbClr val="C9CED6"/>
          </a:solidFill>
          <a:ln w="12700">
            <a:solidFill>
              <a:srgbClr val="C9CED6"/>
            </a:solidFill>
            <a:prstDash val="solid"/>
          </a:ln>
        </p:spPr>
      </p:sp>
      <p:sp>
        <p:nvSpPr>
          <p:cNvPr id="54" name="Text 52"/>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3"/>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بَيْرُوتُ رُطُوبَةً أَكْثَرَ عَمَّانَ.</a:t>
            </a:r>
            <a:endParaRPr lang="ar-SA" sz="1700" dirty="0"/>
          </a:p>
        </p:txBody>
      </p:sp>
      <p:sp>
        <p:nvSpPr>
          <p:cNvPr id="56" name="Shape 54"/>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7" name="Shape 55"/>
          <p:cNvSpPr/>
          <p:nvPr/>
        </p:nvSpPr>
        <p:spPr>
          <a:xfrm>
            <a:off x="8278368" y="3233928"/>
            <a:ext cx="256032" cy="256032"/>
          </a:xfrm>
          <a:prstGeom prst="ellipse">
            <a:avLst/>
          </a:prstGeom>
          <a:solidFill>
            <a:srgbClr val="2E8B57"/>
          </a:solidFill>
          <a:ln w="12700">
            <a:solidFill>
              <a:srgbClr val="2E8B57"/>
            </a:solidFill>
            <a:prstDash val="solid"/>
          </a:ln>
        </p:spPr>
      </p:sp>
      <p:sp>
        <p:nvSpPr>
          <p:cNvPr id="58" name="Text 56"/>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9" name="Text 57"/>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بَيْرُوتُ أَكْثَرُ رُطُوبَةً مِنْ عَمَّانَ.</a:t>
            </a:r>
            <a:endParaRPr lang="ar-SA" sz="1700" dirty="0"/>
          </a:p>
        </p:txBody>
      </p:sp>
      <p:sp>
        <p:nvSpPr>
          <p:cNvPr id="60" name="Text 58"/>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Use </a:t>
            </a:r>
            <a:pPr algn="l" indent="0" marL="0">
              <a:buNone/>
            </a:pPr>
            <a:r>
              <a:rPr lang="ar-SA" altLang="en-US" sz="1350" dirty="0">
                <a:solidFill>
                  <a:srgbClr val="8A6D1E"/>
                </a:solidFill>
                <a:latin typeface="Amiri" pitchFamily="2" charset="-78"/>
                <a:ea typeface="Amiri" pitchFamily="2" charset="-78"/>
                <a:cs typeface="Amiri" pitchFamily="2" charset="-78"/>
              </a:rPr>
              <a:t>أكثر رطوبةً من</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61" name="Shape 59"/>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2" name="Shape 60"/>
          <p:cNvSpPr/>
          <p:nvPr/>
        </p:nvSpPr>
        <p:spPr>
          <a:xfrm>
            <a:off x="585216" y="4288536"/>
            <a:ext cx="310896" cy="310896"/>
          </a:xfrm>
          <a:prstGeom prst="ellipse">
            <a:avLst/>
          </a:prstGeom>
          <a:solidFill>
            <a:srgbClr val="1B3B6F"/>
          </a:solidFill>
          <a:ln w="12700">
            <a:solidFill>
              <a:srgbClr val="1B3B6F"/>
            </a:solidFill>
            <a:prstDash val="solid"/>
          </a:ln>
        </p:spPr>
      </p:sp>
      <p:sp>
        <p:nvSpPr>
          <p:cNvPr id="63" name="Text 61"/>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4" name="Text 62"/>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phrase means “maximum temperature”?</a:t>
            </a:r>
            <a:endParaRPr lang="en-US" sz="1250" dirty="0"/>
          </a:p>
        </p:txBody>
      </p:sp>
      <p:sp>
        <p:nvSpPr>
          <p:cNvPr id="65" name="Shape 63"/>
          <p:cNvSpPr/>
          <p:nvPr/>
        </p:nvSpPr>
        <p:spPr>
          <a:xfrm>
            <a:off x="640080" y="4831080"/>
            <a:ext cx="256032" cy="256032"/>
          </a:xfrm>
          <a:prstGeom prst="ellipse">
            <a:avLst/>
          </a:prstGeom>
          <a:solidFill>
            <a:srgbClr val="C9CED6"/>
          </a:solidFill>
          <a:ln w="12700">
            <a:solidFill>
              <a:srgbClr val="C9CED6"/>
            </a:solidFill>
            <a:prstDash val="solid"/>
          </a:ln>
        </p:spPr>
      </p:sp>
      <p:sp>
        <p:nvSpPr>
          <p:cNvPr id="66" name="Text 64"/>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7" name="Text 65"/>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الحَدُّ الأَدْنَى لِلرُّطُوبَةِ</a:t>
            </a:r>
            <a:endParaRPr lang="ar-SA" sz="1700" dirty="0"/>
          </a:p>
        </p:txBody>
      </p:sp>
      <p:sp>
        <p:nvSpPr>
          <p:cNvPr id="68" name="Shape 66"/>
          <p:cNvSpPr/>
          <p:nvPr/>
        </p:nvSpPr>
        <p:spPr>
          <a:xfrm>
            <a:off x="640080" y="5202936"/>
            <a:ext cx="256032" cy="256032"/>
          </a:xfrm>
          <a:prstGeom prst="ellipse">
            <a:avLst/>
          </a:prstGeom>
          <a:solidFill>
            <a:srgbClr val="C9CED6"/>
          </a:solidFill>
          <a:ln w="12700">
            <a:solidFill>
              <a:srgbClr val="C9CED6"/>
            </a:solidFill>
            <a:prstDash val="solid"/>
          </a:ln>
        </p:spPr>
      </p:sp>
      <p:sp>
        <p:nvSpPr>
          <p:cNvPr id="69" name="Text 67"/>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8"/>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مَوْجَةُ بَرْدٍ</a:t>
            </a:r>
            <a:endParaRPr lang="ar-SA" sz="1700" dirty="0"/>
          </a:p>
        </p:txBody>
      </p:sp>
      <p:sp>
        <p:nvSpPr>
          <p:cNvPr id="71" name="Shape 69"/>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2" name="Shape 70"/>
          <p:cNvSpPr/>
          <p:nvPr/>
        </p:nvSpPr>
        <p:spPr>
          <a:xfrm>
            <a:off x="640080" y="5574792"/>
            <a:ext cx="256032" cy="256032"/>
          </a:xfrm>
          <a:prstGeom prst="ellipse">
            <a:avLst/>
          </a:prstGeom>
          <a:solidFill>
            <a:srgbClr val="2E8B57"/>
          </a:solidFill>
          <a:ln w="12700">
            <a:solidFill>
              <a:srgbClr val="2E8B57"/>
            </a:solidFill>
            <a:prstDash val="solid"/>
          </a:ln>
        </p:spPr>
      </p:sp>
      <p:sp>
        <p:nvSpPr>
          <p:cNvPr id="73" name="Text 71"/>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4" name="Text 72"/>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الحَدُّ الأَقْصَى لِدَرَجَةِ الحَرَارَةِ</a:t>
            </a:r>
            <a:endParaRPr lang="ar-SA" sz="1700" dirty="0"/>
          </a:p>
        </p:txBody>
      </p:sp>
      <p:sp>
        <p:nvSpPr>
          <p:cNvPr id="75" name="Text 73"/>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الحد الأقصى</a:t>
            </a:r>
            <a:pPr algn="l" indent="0" marL="0">
              <a:buNone/>
            </a:pPr>
            <a:r>
              <a:rPr lang="en-US" sz="1050" i="1" dirty="0">
                <a:solidFill>
                  <a:srgbClr val="8A6D1E"/>
                </a:solidFill>
                <a:latin typeface="Calibri" pitchFamily="34" charset="0"/>
                <a:cs typeface="Amiri" pitchFamily="2" charset="-78"/>
              </a:rPr>
              <a:t> is the maximum.</a:t>
            </a:r>
            <a:endParaRPr lang="en-US" sz="1050" dirty="0"/>
          </a:p>
        </p:txBody>
      </p:sp>
      <p:sp>
        <p:nvSpPr>
          <p:cNvPr id="76" name="Shape 7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7" name="Shape 75"/>
          <p:cNvSpPr/>
          <p:nvPr/>
        </p:nvSpPr>
        <p:spPr>
          <a:xfrm>
            <a:off x="4404360" y="4288536"/>
            <a:ext cx="310896" cy="310896"/>
          </a:xfrm>
          <a:prstGeom prst="ellipse">
            <a:avLst/>
          </a:prstGeom>
          <a:solidFill>
            <a:srgbClr val="1B3B6F"/>
          </a:solidFill>
          <a:ln w="12700">
            <a:solidFill>
              <a:srgbClr val="1B3B6F"/>
            </a:solidFill>
            <a:prstDash val="solid"/>
          </a:ln>
        </p:spPr>
      </p:sp>
      <p:sp>
        <p:nvSpPr>
          <p:cNvPr id="78" name="Text 7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9" name="Text 7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sentence correctly describes rain?</a:t>
            </a:r>
            <a:endParaRPr lang="en-US" sz="1250" dirty="0"/>
          </a:p>
        </p:txBody>
      </p:sp>
      <p:sp>
        <p:nvSpPr>
          <p:cNvPr id="80" name="Shape 78"/>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1" name="Shape 79"/>
          <p:cNvSpPr/>
          <p:nvPr/>
        </p:nvSpPr>
        <p:spPr>
          <a:xfrm>
            <a:off x="4459224" y="4831080"/>
            <a:ext cx="256032" cy="256032"/>
          </a:xfrm>
          <a:prstGeom prst="ellipse">
            <a:avLst/>
          </a:prstGeom>
          <a:solidFill>
            <a:srgbClr val="2E8B57"/>
          </a:solidFill>
          <a:ln w="12700">
            <a:solidFill>
              <a:srgbClr val="2E8B57"/>
            </a:solidFill>
            <a:prstDash val="solid"/>
          </a:ln>
        </p:spPr>
      </p:sp>
      <p:sp>
        <p:nvSpPr>
          <p:cNvPr id="82" name="Text 80"/>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3" name="Text 81"/>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يَسْقُطُ المَطَرُ فِي المَسَاءِ.</a:t>
            </a:r>
            <a:endParaRPr lang="ar-SA" sz="1700" dirty="0"/>
          </a:p>
        </p:txBody>
      </p:sp>
      <p:sp>
        <p:nvSpPr>
          <p:cNvPr id="84" name="Shape 82"/>
          <p:cNvSpPr/>
          <p:nvPr/>
        </p:nvSpPr>
        <p:spPr>
          <a:xfrm>
            <a:off x="4459224" y="5202936"/>
            <a:ext cx="256032" cy="256032"/>
          </a:xfrm>
          <a:prstGeom prst="ellipse">
            <a:avLst/>
          </a:prstGeom>
          <a:solidFill>
            <a:srgbClr val="C9CED6"/>
          </a:solidFill>
          <a:ln w="12700">
            <a:solidFill>
              <a:srgbClr val="C9CED6"/>
            </a:solidFill>
            <a:prstDash val="solid"/>
          </a:ln>
        </p:spPr>
      </p:sp>
      <p:sp>
        <p:nvSpPr>
          <p:cNvPr id="85" name="Text 83"/>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6" name="Text 84"/>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يَسْقُطُ المَطَرَاتُ فِي المَسَاءِ.</a:t>
            </a:r>
            <a:endParaRPr lang="ar-SA" sz="1700" dirty="0"/>
          </a:p>
        </p:txBody>
      </p:sp>
      <p:sp>
        <p:nvSpPr>
          <p:cNvPr id="87" name="Shape 85"/>
          <p:cNvSpPr/>
          <p:nvPr/>
        </p:nvSpPr>
        <p:spPr>
          <a:xfrm>
            <a:off x="4459224" y="5574792"/>
            <a:ext cx="256032" cy="256032"/>
          </a:xfrm>
          <a:prstGeom prst="ellipse">
            <a:avLst/>
          </a:prstGeom>
          <a:solidFill>
            <a:srgbClr val="C9CED6"/>
          </a:solidFill>
          <a:ln w="12700">
            <a:solidFill>
              <a:srgbClr val="C9CED6"/>
            </a:solidFill>
            <a:prstDash val="solid"/>
          </a:ln>
        </p:spPr>
      </p:sp>
      <p:sp>
        <p:nvSpPr>
          <p:cNvPr id="88" name="Text 86"/>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9" name="Text 87"/>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تَسْقُطُ المَطَرَ فِي المَسَاءِ.</a:t>
            </a:r>
            <a:endParaRPr lang="ar-SA" sz="1700" dirty="0"/>
          </a:p>
        </p:txBody>
      </p:sp>
      <p:sp>
        <p:nvSpPr>
          <p:cNvPr id="90" name="Text 88"/>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المطر</a:t>
            </a:r>
            <a:pPr algn="l" indent="0" marL="0">
              <a:buNone/>
            </a:pPr>
            <a:r>
              <a:rPr lang="en-US" sz="1050" i="1" dirty="0">
                <a:solidFill>
                  <a:srgbClr val="8A6D1E"/>
                </a:solidFill>
                <a:latin typeface="Calibri" pitchFamily="34" charset="0"/>
                <a:cs typeface="Amiri" pitchFamily="2" charset="-78"/>
              </a:rPr>
              <a:t> is masculine singular.</a:t>
            </a:r>
            <a:endParaRPr lang="en-US" sz="1050" dirty="0"/>
          </a:p>
        </p:txBody>
      </p:sp>
      <p:sp>
        <p:nvSpPr>
          <p:cNvPr id="91" name="Shape 89"/>
          <p:cNvSpPr/>
          <p:nvPr/>
        </p:nvSpPr>
        <p:spPr>
          <a:xfrm>
            <a:off x="8095488"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92" name="Shape 90"/>
          <p:cNvSpPr/>
          <p:nvPr/>
        </p:nvSpPr>
        <p:spPr>
          <a:xfrm>
            <a:off x="8223504" y="4288536"/>
            <a:ext cx="310896" cy="310896"/>
          </a:xfrm>
          <a:prstGeom prst="ellipse">
            <a:avLst/>
          </a:prstGeom>
          <a:solidFill>
            <a:srgbClr val="1B3B6F"/>
          </a:solidFill>
          <a:ln w="12700">
            <a:solidFill>
              <a:srgbClr val="1B3B6F"/>
            </a:solidFill>
            <a:prstDash val="solid"/>
          </a:ln>
        </p:spPr>
      </p:sp>
      <p:sp>
        <p:nvSpPr>
          <p:cNvPr id="93" name="Text 91"/>
          <p:cNvSpPr txBox="1"/>
          <p:nvPr/>
        </p:nvSpPr>
        <p:spPr>
          <a:xfrm>
            <a:off x="822350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94" name="Text 92"/>
          <p:cNvSpPr txBox="1"/>
          <p:nvPr/>
        </p:nvSpPr>
        <p:spPr>
          <a:xfrm>
            <a:off x="8589264"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valid temperature range.</a:t>
            </a:r>
            <a:endParaRPr lang="en-US" sz="1250" dirty="0"/>
          </a:p>
        </p:txBody>
      </p:sp>
      <p:sp>
        <p:nvSpPr>
          <p:cNvPr id="95" name="Shape 93"/>
          <p:cNvSpPr/>
          <p:nvPr/>
        </p:nvSpPr>
        <p:spPr>
          <a:xfrm>
            <a:off x="8278368" y="4831080"/>
            <a:ext cx="256032" cy="256032"/>
          </a:xfrm>
          <a:prstGeom prst="ellipse">
            <a:avLst/>
          </a:prstGeom>
          <a:solidFill>
            <a:srgbClr val="C9CED6"/>
          </a:solidFill>
          <a:ln w="12700">
            <a:solidFill>
              <a:srgbClr val="C9CED6"/>
            </a:solidFill>
            <a:prstDash val="solid"/>
          </a:ln>
        </p:spPr>
      </p:sp>
      <p:sp>
        <p:nvSpPr>
          <p:cNvPr id="96" name="Text 94"/>
          <p:cNvSpPr txBox="1"/>
          <p:nvPr/>
        </p:nvSpPr>
        <p:spPr>
          <a:xfrm>
            <a:off x="8278368"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97" name="Text 95"/>
          <p:cNvSpPr txBox="1"/>
          <p:nvPr/>
        </p:nvSpPr>
        <p:spPr>
          <a:xfrm>
            <a:off x="8607552"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تَتَرَاوَحُ مِنْ ٢٠ بَيْنَ ٢٨.</a:t>
            </a:r>
            <a:endParaRPr lang="ar-SA" sz="1700" dirty="0"/>
          </a:p>
        </p:txBody>
      </p:sp>
      <p:sp>
        <p:nvSpPr>
          <p:cNvPr id="98" name="Shape 96"/>
          <p:cNvSpPr/>
          <p:nvPr/>
        </p:nvSpPr>
        <p:spPr>
          <a:xfrm>
            <a:off x="8186928" y="5166360"/>
            <a:ext cx="3453384" cy="347472"/>
          </a:xfrm>
          <a:prstGeom prst="roundRect">
            <a:avLst>
              <a:gd name="adj" fmla="val 15789"/>
            </a:avLst>
          </a:prstGeom>
          <a:solidFill>
            <a:srgbClr val="E6F4EC"/>
          </a:solidFill>
          <a:ln w="9525">
            <a:solidFill>
              <a:srgbClr val="2E8B57"/>
            </a:solidFill>
            <a:prstDash val="solid"/>
          </a:ln>
        </p:spPr>
      </p:sp>
      <p:sp>
        <p:nvSpPr>
          <p:cNvPr id="99" name="Shape 97"/>
          <p:cNvSpPr/>
          <p:nvPr/>
        </p:nvSpPr>
        <p:spPr>
          <a:xfrm>
            <a:off x="8278368" y="5202936"/>
            <a:ext cx="256032" cy="256032"/>
          </a:xfrm>
          <a:prstGeom prst="ellipse">
            <a:avLst/>
          </a:prstGeom>
          <a:solidFill>
            <a:srgbClr val="2E8B57"/>
          </a:solidFill>
          <a:ln w="12700">
            <a:solidFill>
              <a:srgbClr val="2E8B57"/>
            </a:solidFill>
            <a:prstDash val="solid"/>
          </a:ln>
        </p:spPr>
      </p:sp>
      <p:sp>
        <p:nvSpPr>
          <p:cNvPr id="100" name="Text 98"/>
          <p:cNvSpPr txBox="1"/>
          <p:nvPr/>
        </p:nvSpPr>
        <p:spPr>
          <a:xfrm>
            <a:off x="8278368"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101" name="Text 99"/>
          <p:cNvSpPr txBox="1"/>
          <p:nvPr/>
        </p:nvSpPr>
        <p:spPr>
          <a:xfrm>
            <a:off x="8607552" y="514502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تَتَرَاوَحُ بَيْنَ ٢٠ وَ٢٨ دَرَجَةً.</a:t>
            </a:r>
            <a:endParaRPr lang="ar-SA" sz="1700" dirty="0"/>
          </a:p>
        </p:txBody>
      </p:sp>
      <p:sp>
        <p:nvSpPr>
          <p:cNvPr id="102" name="Shape 100"/>
          <p:cNvSpPr/>
          <p:nvPr/>
        </p:nvSpPr>
        <p:spPr>
          <a:xfrm>
            <a:off x="8278368" y="5574792"/>
            <a:ext cx="256032" cy="256032"/>
          </a:xfrm>
          <a:prstGeom prst="ellipse">
            <a:avLst/>
          </a:prstGeom>
          <a:solidFill>
            <a:srgbClr val="C9CED6"/>
          </a:solidFill>
          <a:ln w="12700">
            <a:solidFill>
              <a:srgbClr val="C9CED6"/>
            </a:solidFill>
            <a:prstDash val="solid"/>
          </a:ln>
        </p:spPr>
      </p:sp>
      <p:sp>
        <p:nvSpPr>
          <p:cNvPr id="103" name="Text 101"/>
          <p:cNvSpPr txBox="1"/>
          <p:nvPr/>
        </p:nvSpPr>
        <p:spPr>
          <a:xfrm>
            <a:off x="8278368"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104" name="Text 102"/>
          <p:cNvSpPr txBox="1"/>
          <p:nvPr/>
        </p:nvSpPr>
        <p:spPr>
          <a:xfrm>
            <a:off x="8607552"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يَتَرَاوَحُ بَيْنَ ٢٠ إِلَى ٢٨ دَرَجَةً.</a:t>
            </a:r>
            <a:endParaRPr lang="ar-SA" sz="1700" dirty="0"/>
          </a:p>
        </p:txBody>
      </p:sp>
      <p:sp>
        <p:nvSpPr>
          <p:cNvPr id="105" name="Text 103"/>
          <p:cNvSpPr txBox="1"/>
          <p:nvPr/>
        </p:nvSpPr>
        <p:spPr>
          <a:xfrm>
            <a:off x="8223504"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pattern is </a:t>
            </a:r>
            <a:pPr algn="l" indent="0" marL="0">
              <a:buNone/>
            </a:pPr>
            <a:r>
              <a:rPr lang="ar-SA" altLang="en-US" sz="1350" dirty="0">
                <a:solidFill>
                  <a:srgbClr val="8A6D1E"/>
                </a:solidFill>
                <a:latin typeface="Amiri" pitchFamily="2" charset="-78"/>
                <a:ea typeface="Amiri" pitchFamily="2" charset="-78"/>
                <a:cs typeface="Amiri" pitchFamily="2" charset="-78"/>
              </a:rPr>
              <a:t>تتراوح بين</a:t>
            </a:r>
            <a:pPr algn="l" indent="0" marL="0">
              <a:buNone/>
            </a:pPr>
            <a:r>
              <a:rPr lang="en-US" sz="1050" i="1" dirty="0">
                <a:solidFill>
                  <a:srgbClr val="8A6D1E"/>
                </a:solidFill>
                <a:latin typeface="Calibri" pitchFamily="34" charset="0"/>
                <a:cs typeface="Amiri" pitchFamily="2" charset="-78"/>
              </a:rPr>
              <a:t> ... </a:t>
            </a:r>
            <a:pPr algn="l" indent="0" marL="0">
              <a:buNone/>
            </a:pPr>
            <a:r>
              <a:rPr lang="ar-SA" altLang="en-US" sz="1350" dirty="0">
                <a:solidFill>
                  <a:srgbClr val="8A6D1E"/>
                </a:solidFill>
                <a:latin typeface="Amiri" pitchFamily="2" charset="-78"/>
                <a:ea typeface="Amiri" pitchFamily="2" charset="-78"/>
                <a:cs typeface="Amiri" pitchFamily="2" charset="-78"/>
              </a:rPr>
              <a:t>و</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106" name="Text 10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43 / 45</a:t>
            </a:r>
            <a:endParaRPr lang="en-US" sz="85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D4-L02 · Weather</a:t>
            </a:r>
            <a:endParaRPr lang="en-US" sz="950" dirty="0"/>
          </a:p>
        </p:txBody>
      </p:sp>
      <p:sp>
        <p:nvSpPr>
          <p:cNvPr id="8" name="Shape 6"/>
          <p:cNvSpPr/>
          <p:nvPr/>
        </p:nvSpPr>
        <p:spPr>
          <a:xfrm>
            <a:off x="6915607" y="274320"/>
            <a:ext cx="1844345" cy="329184"/>
          </a:xfrm>
          <a:prstGeom prst="roundRect">
            <a:avLst>
              <a:gd name="adj" fmla="val 50000"/>
            </a:avLst>
          </a:prstGeom>
          <a:solidFill>
            <a:srgbClr val="C45A3C"/>
          </a:solidFill>
          <a:ln w="12700">
            <a:solidFill>
              <a:srgbClr val="C45A3C"/>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PREPARATION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C45A3C"/>
                </a:solidFill>
                <a:latin typeface="Calibri" pitchFamily="34" charset="0"/>
                <a:cs typeface="Amiri" pitchFamily="2" charset="-78"/>
              </a:rPr>
              <a:t>PREPARATION FOR NEXT LESSON · ABOUT 10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Before D4-L03: get ready at home</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التَّحْضِيرُ لِلدَّرْسِ القَادِمِ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D4-L02</a:t>
            </a:r>
            <a:endParaRPr lang="en-US" sz="850" dirty="0"/>
          </a:p>
        </p:txBody>
      </p:sp>
      <p:sp>
        <p:nvSpPr>
          <p:cNvPr id="15" name="Shape 12"/>
          <p:cNvSpPr/>
          <p:nvPr/>
        </p:nvSpPr>
        <p:spPr>
          <a:xfrm>
            <a:off x="457200" y="1810512"/>
            <a:ext cx="5394960" cy="4498848"/>
          </a:xfrm>
          <a:prstGeom prst="roundRect">
            <a:avLst>
              <a:gd name="adj" fmla="val 1626"/>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475488" cy="475488"/>
          </a:xfrm>
          <a:prstGeom prst="ellipse">
            <a:avLst/>
          </a:prstGeom>
          <a:solidFill>
            <a:srgbClr val="C45A3C"/>
          </a:solidFill>
          <a:ln w="12700">
            <a:solidFill>
              <a:srgbClr val="C45A3C"/>
            </a:solidFill>
            <a:prstDash val="solid"/>
          </a:ln>
        </p:spPr>
      </p:sp>
      <p:pic>
        <p:nvPicPr>
          <p:cNvPr id="17" name="Image 0" descr="preencoded.png">    </p:cNvPr>
          <p:cNvPicPr>
            <a:picLocks noChangeAspect="1"/>
          </p:cNvPicPr>
          <p:nvPr/>
        </p:nvPicPr>
        <p:blipFill>
          <a:blip r:embed="rId1"/>
          <a:stretch>
            <a:fillRect/>
          </a:stretch>
        </p:blipFill>
        <p:spPr>
          <a:xfrm>
            <a:off x="731520" y="2029968"/>
            <a:ext cx="292608" cy="292608"/>
          </a:xfrm>
          <a:prstGeom prst="rect">
            <a:avLst/>
          </a:prstGeom>
        </p:spPr>
      </p:pic>
      <p:sp>
        <p:nvSpPr>
          <p:cNvPr id="18" name="Text 14"/>
          <p:cNvSpPr txBox="1"/>
          <p:nvPr/>
        </p:nvSpPr>
        <p:spPr>
          <a:xfrm>
            <a:off x="1207008" y="1920240"/>
            <a:ext cx="4480560" cy="512064"/>
          </a:xfrm>
          <a:prstGeom prst="rect">
            <a:avLst/>
          </a:prstGeom>
          <a:noFill/>
          <a:ln/>
        </p:spPr>
        <p:txBody>
          <a:bodyPr wrap="square" lIns="0" tIns="0" rIns="0" bIns="0" rtlCol="0" anchor="ctr"/>
          <a:lstStyle/>
          <a:p>
            <a:pPr indent="0" marL="0">
              <a:buNone/>
            </a:pPr>
            <a:r>
              <a:rPr lang="en-US" sz="1100" b="1" spc="200" kern="0" dirty="0">
                <a:solidFill>
                  <a:srgbClr val="C45A3C"/>
                </a:solidFill>
                <a:latin typeface="Calibri" pitchFamily="34" charset="0"/>
                <a:cs typeface="Amiri" pitchFamily="2" charset="-78"/>
              </a:rPr>
              <a:t>LEARN THESE 5 WORDS</a:t>
            </a:r>
            <a:endParaRPr lang="en-US" sz="1100" dirty="0"/>
          </a:p>
          <a:p>
            <a:pPr indent="0" marL="0">
              <a:buNone/>
            </a:pPr>
            <a:r>
              <a:rPr lang="en-US" sz="1000" dirty="0">
                <a:solidFill>
                  <a:srgbClr val="5A6472"/>
                </a:solidFill>
                <a:latin typeface="Calibri" pitchFamily="34" charset="0"/>
                <a:cs typeface="Amiri" pitchFamily="2" charset="-78"/>
              </a:rPr>
              <a:t>for D4-L03 · Environmental Problems — Causes and Effects</a:t>
            </a:r>
            <a:endParaRPr lang="en-US" sz="1100" dirty="0"/>
          </a:p>
        </p:txBody>
      </p:sp>
      <p:sp>
        <p:nvSpPr>
          <p:cNvPr id="19" name="Text 15"/>
          <p:cNvSpPr txBox="1"/>
          <p:nvPr/>
        </p:nvSpPr>
        <p:spPr>
          <a:xfrm>
            <a:off x="3017520" y="25603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التَّلَوُّثُ</a:t>
            </a:r>
            <a:endParaRPr lang="ar-SA" sz="2000" dirty="0"/>
          </a:p>
        </p:txBody>
      </p:sp>
      <p:sp>
        <p:nvSpPr>
          <p:cNvPr id="20" name="Text 16"/>
          <p:cNvSpPr txBox="1"/>
          <p:nvPr/>
        </p:nvSpPr>
        <p:spPr>
          <a:xfrm>
            <a:off x="685800" y="25603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pollution</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1" name="Text 17"/>
          <p:cNvSpPr txBox="1"/>
          <p:nvPr/>
        </p:nvSpPr>
        <p:spPr>
          <a:xfrm>
            <a:off x="3017520" y="30175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النُّفَايَاتُ</a:t>
            </a:r>
            <a:endParaRPr lang="ar-SA" sz="2000" dirty="0"/>
          </a:p>
        </p:txBody>
      </p:sp>
      <p:sp>
        <p:nvSpPr>
          <p:cNvPr id="22" name="Text 18"/>
          <p:cNvSpPr txBox="1"/>
          <p:nvPr/>
        </p:nvSpPr>
        <p:spPr>
          <a:xfrm>
            <a:off x="685800" y="30175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waste, rubbish</a:t>
            </a:r>
            <a:pPr indent="0" marL="0">
              <a:buNone/>
            </a:pPr>
            <a:r>
              <a:rPr lang="ar-SA" sz="1000" i="1" dirty="0">
                <a:solidFill>
                  <a:srgbClr val="5A6472"/>
                </a:solidFill>
                <a:latin typeface="Calibri" pitchFamily="34" charset="0"/>
                <a:ea typeface="Amiri" pitchFamily="2" charset="-78"/>
                <a:cs typeface="Amiri" pitchFamily="2" charset="-78"/>
              </a:rPr>
              <a:t>  sing. نُفَايَةٌ</a:t>
            </a:r>
            <a:endParaRPr lang="en-US" sz="1200" dirty="0"/>
          </a:p>
        </p:txBody>
      </p:sp>
      <p:sp>
        <p:nvSpPr>
          <p:cNvPr id="23" name="Text 19"/>
          <p:cNvSpPr txBox="1"/>
          <p:nvPr/>
        </p:nvSpPr>
        <p:spPr>
          <a:xfrm>
            <a:off x="3017520" y="34747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المَصَانِعُ</a:t>
            </a:r>
            <a:endParaRPr lang="ar-SA" sz="2000" dirty="0"/>
          </a:p>
        </p:txBody>
      </p:sp>
      <p:sp>
        <p:nvSpPr>
          <p:cNvPr id="24" name="Text 20"/>
          <p:cNvSpPr txBox="1"/>
          <p:nvPr/>
        </p:nvSpPr>
        <p:spPr>
          <a:xfrm>
            <a:off x="685800" y="34747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factories</a:t>
            </a:r>
            <a:pPr indent="0" marL="0">
              <a:buNone/>
            </a:pPr>
            <a:r>
              <a:rPr lang="ar-SA" sz="1000" i="1" dirty="0">
                <a:solidFill>
                  <a:srgbClr val="5A6472"/>
                </a:solidFill>
                <a:latin typeface="Calibri" pitchFamily="34" charset="0"/>
                <a:ea typeface="Amiri" pitchFamily="2" charset="-78"/>
                <a:cs typeface="Amiri" pitchFamily="2" charset="-78"/>
              </a:rPr>
              <a:t>  sing. مَصْنَعٌ</a:t>
            </a:r>
            <a:endParaRPr lang="en-US" sz="1200" dirty="0"/>
          </a:p>
        </p:txBody>
      </p:sp>
      <p:sp>
        <p:nvSpPr>
          <p:cNvPr id="25" name="Text 21"/>
          <p:cNvSpPr txBox="1"/>
          <p:nvPr/>
        </p:nvSpPr>
        <p:spPr>
          <a:xfrm>
            <a:off x="3017520" y="39319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بِسَبَبِ</a:t>
            </a:r>
            <a:endParaRPr lang="ar-SA" sz="2000" dirty="0"/>
          </a:p>
        </p:txBody>
      </p:sp>
      <p:sp>
        <p:nvSpPr>
          <p:cNvPr id="26" name="Text 22"/>
          <p:cNvSpPr txBox="1"/>
          <p:nvPr/>
        </p:nvSpPr>
        <p:spPr>
          <a:xfrm>
            <a:off x="685800" y="39319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because of</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7" name="Text 23"/>
          <p:cNvSpPr txBox="1"/>
          <p:nvPr/>
        </p:nvSpPr>
        <p:spPr>
          <a:xfrm>
            <a:off x="3017520" y="43891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يُؤَدِّي إِلَى</a:t>
            </a:r>
            <a:endParaRPr lang="ar-SA" sz="2000" dirty="0"/>
          </a:p>
        </p:txBody>
      </p:sp>
      <p:sp>
        <p:nvSpPr>
          <p:cNvPr id="28" name="Text 24"/>
          <p:cNvSpPr txBox="1"/>
          <p:nvPr/>
        </p:nvSpPr>
        <p:spPr>
          <a:xfrm>
            <a:off x="685800" y="43891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leads to</a:t>
            </a:r>
            <a:pPr indent="0" marL="0">
              <a:buNone/>
            </a:pPr>
            <a:r>
              <a:rPr lang="ar-SA" sz="1000" i="1" dirty="0">
                <a:solidFill>
                  <a:srgbClr val="5A6472"/>
                </a:solidFill>
                <a:latin typeface="Calibri" pitchFamily="34" charset="0"/>
                <a:ea typeface="Amiri" pitchFamily="2" charset="-78"/>
                <a:cs typeface="Amiri" pitchFamily="2" charset="-78"/>
              </a:rPr>
              <a:t>  تُؤَدِّي she / it (f.)</a:t>
            </a:r>
            <a:endParaRPr lang="en-US" sz="1200" dirty="0"/>
          </a:p>
        </p:txBody>
      </p:sp>
      <p:sp>
        <p:nvSpPr>
          <p:cNvPr id="29" name="Text 25"/>
          <p:cNvSpPr txBox="1"/>
          <p:nvPr/>
        </p:nvSpPr>
        <p:spPr>
          <a:xfrm>
            <a:off x="685800" y="4892040"/>
            <a:ext cx="2743200" cy="237744"/>
          </a:xfrm>
          <a:prstGeom prst="rect">
            <a:avLst/>
          </a:prstGeom>
          <a:noFill/>
          <a:ln/>
        </p:spPr>
        <p:txBody>
          <a:bodyPr wrap="square" lIns="0" tIns="0" rIns="0" bIns="0" rtlCol="0" anchor="ctr"/>
          <a:lstStyle/>
          <a:p>
            <a:pPr algn="l" indent="0" marL="0">
              <a:buNone/>
            </a:pPr>
            <a:r>
              <a:rPr lang="en-US" sz="900" b="1" spc="200" kern="0" dirty="0">
                <a:solidFill>
                  <a:srgbClr val="C45A3C"/>
                </a:solidFill>
                <a:latin typeface="Calibri" pitchFamily="34" charset="0"/>
                <a:cs typeface="Amiri" pitchFamily="2" charset="-78"/>
              </a:rPr>
              <a:t>AND ANSWER ONE QUESTION</a:t>
            </a:r>
            <a:endParaRPr lang="en-US" sz="900" dirty="0"/>
          </a:p>
        </p:txBody>
      </p:sp>
      <p:sp>
        <p:nvSpPr>
          <p:cNvPr id="30" name="Text 26"/>
          <p:cNvSpPr txBox="1"/>
          <p:nvPr/>
        </p:nvSpPr>
        <p:spPr>
          <a:xfrm>
            <a:off x="685800" y="5129784"/>
            <a:ext cx="2194560" cy="1005840"/>
          </a:xfrm>
          <a:prstGeom prst="rect">
            <a:avLst/>
          </a:prstGeom>
          <a:noFill/>
          <a:ln/>
        </p:spPr>
        <p:txBody>
          <a:bodyPr wrap="square" lIns="0" tIns="0" rIns="0" bIns="0" rtlCol="0" anchor="t"/>
          <a:lstStyle/>
          <a:p>
            <a:pPr algn="l" indent="0" marL="0">
              <a:buNone/>
            </a:pPr>
            <a:r>
              <a:rPr lang="en-US" sz="1050" dirty="0">
                <a:solidFill>
                  <a:srgbClr val="1F2A37"/>
                </a:solidFill>
                <a:latin typeface="Calibri" pitchFamily="34" charset="0"/>
                <a:cs typeface="Amiri" pitchFamily="2" charset="-78"/>
              </a:rPr>
              <a:t>Name one environmental problem in your town and one cause.</a:t>
            </a:r>
            <a:endParaRPr lang="en-US" sz="1050" dirty="0"/>
          </a:p>
        </p:txBody>
      </p:sp>
      <p:sp>
        <p:nvSpPr>
          <p:cNvPr id="31" name="Text 27"/>
          <p:cNvSpPr txBox="1"/>
          <p:nvPr/>
        </p:nvSpPr>
        <p:spPr>
          <a:xfrm>
            <a:off x="2926080" y="5074920"/>
            <a:ext cx="2743200" cy="1051560"/>
          </a:xfrm>
          <a:prstGeom prst="rect">
            <a:avLst/>
          </a:prstGeom>
          <a:noFill/>
          <a:ln/>
        </p:spPr>
        <p:txBody>
          <a:bodyPr wrap="square" lIns="0" tIns="0" rIns="0" bIns="0" rtlCol="0" anchor="ctr"/>
          <a:lstStyle/>
          <a:p>
            <a:pPr rtl="1" algn="r" indent="0" marL="0">
              <a:buNone/>
            </a:pPr>
            <a:r>
              <a:rPr lang="ar-SA" altLang="en-US" sz="1700" b="1" dirty="0">
                <a:solidFill>
                  <a:srgbClr val="1B3B6F"/>
                </a:solidFill>
                <a:latin typeface="Amiri" pitchFamily="2" charset="-78"/>
                <a:ea typeface="Amiri" pitchFamily="2" charset="-78"/>
                <a:cs typeface="Amiri" pitchFamily="2" charset="-78"/>
              </a:rPr>
              <a:t>مِنَ المُشْكِلَاتِ فِي مَدِينَتِي … بِسَبَبِ …</a:t>
            </a:r>
            <a:endParaRPr lang="ar-SA" sz="1700" dirty="0"/>
          </a:p>
        </p:txBody>
      </p:sp>
      <p:sp>
        <p:nvSpPr>
          <p:cNvPr id="32" name="Text 28"/>
          <p:cNvSpPr txBox="1"/>
          <p:nvPr/>
        </p:nvSpPr>
        <p:spPr>
          <a:xfrm>
            <a:off x="6126480" y="1828800"/>
            <a:ext cx="54864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HOMEWORK — CHOOSE YOUR ROUTE</a:t>
            </a:r>
            <a:endParaRPr lang="en-US" sz="1000" dirty="0"/>
          </a:p>
        </p:txBody>
      </p:sp>
      <p:sp>
        <p:nvSpPr>
          <p:cNvPr id="33" name="Shape 29"/>
          <p:cNvSpPr/>
          <p:nvPr/>
        </p:nvSpPr>
        <p:spPr>
          <a:xfrm>
            <a:off x="6126480" y="2194560"/>
            <a:ext cx="5605272" cy="1243584"/>
          </a:xfrm>
          <a:prstGeom prst="roundRect">
            <a:avLst>
              <a:gd name="adj" fmla="val 5882"/>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0"/>
          <p:cNvSpPr/>
          <p:nvPr/>
        </p:nvSpPr>
        <p:spPr>
          <a:xfrm>
            <a:off x="6309360" y="2322576"/>
            <a:ext cx="1051560" cy="274320"/>
          </a:xfrm>
          <a:prstGeom prst="roundRect">
            <a:avLst>
              <a:gd name="adj" fmla="val 50000"/>
            </a:avLst>
          </a:prstGeom>
          <a:solidFill>
            <a:srgbClr val="2E8B57"/>
          </a:solidFill>
          <a:ln w="12700">
            <a:solidFill>
              <a:srgbClr val="2E8B57"/>
            </a:solidFill>
            <a:prstDash val="solid"/>
          </a:ln>
        </p:spPr>
      </p:sp>
      <p:sp>
        <p:nvSpPr>
          <p:cNvPr id="35" name="Text 31"/>
          <p:cNvSpPr txBox="1"/>
          <p:nvPr/>
        </p:nvSpPr>
        <p:spPr>
          <a:xfrm>
            <a:off x="6309360" y="23225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2"/>
          <p:cNvSpPr txBox="1"/>
          <p:nvPr/>
        </p:nvSpPr>
        <p:spPr>
          <a:xfrm>
            <a:off x="6309360" y="26517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Learn the 12 weather words and verbs; write a 5-sentence forecast for tomorrow.</a:t>
            </a:r>
            <a:endParaRPr lang="en-US" sz="1200" dirty="0"/>
          </a:p>
        </p:txBody>
      </p:sp>
      <p:sp>
        <p:nvSpPr>
          <p:cNvPr id="37" name="Shape 33"/>
          <p:cNvSpPr/>
          <p:nvPr/>
        </p:nvSpPr>
        <p:spPr>
          <a:xfrm>
            <a:off x="6126480" y="3566160"/>
            <a:ext cx="5605272" cy="1243584"/>
          </a:xfrm>
          <a:prstGeom prst="roundRect">
            <a:avLst>
              <a:gd name="adj" fmla="val 5882"/>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4"/>
          <p:cNvSpPr/>
          <p:nvPr/>
        </p:nvSpPr>
        <p:spPr>
          <a:xfrm>
            <a:off x="6309360" y="3694176"/>
            <a:ext cx="1051560" cy="274320"/>
          </a:xfrm>
          <a:prstGeom prst="roundRect">
            <a:avLst>
              <a:gd name="adj" fmla="val 50000"/>
            </a:avLst>
          </a:prstGeom>
          <a:solidFill>
            <a:srgbClr val="C9780A"/>
          </a:solidFill>
          <a:ln w="12700">
            <a:solidFill>
              <a:srgbClr val="C9780A"/>
            </a:solidFill>
            <a:prstDash val="solid"/>
          </a:ln>
        </p:spPr>
      </p:sp>
      <p:sp>
        <p:nvSpPr>
          <p:cNvPr id="39" name="Text 35"/>
          <p:cNvSpPr txBox="1"/>
          <p:nvPr/>
        </p:nvSpPr>
        <p:spPr>
          <a:xfrm>
            <a:off x="6309360" y="36941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6"/>
          <p:cNvSpPr txBox="1"/>
          <p:nvPr/>
        </p:nvSpPr>
        <p:spPr>
          <a:xfrm>
            <a:off x="6309360" y="40233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Compare London and an Arab city in 80–100 words.</a:t>
            </a:r>
            <a:endParaRPr lang="en-US" sz="1200" dirty="0"/>
          </a:p>
        </p:txBody>
      </p:sp>
      <p:sp>
        <p:nvSpPr>
          <p:cNvPr id="41" name="Shape 37"/>
          <p:cNvSpPr/>
          <p:nvPr/>
        </p:nvSpPr>
        <p:spPr>
          <a:xfrm>
            <a:off x="6126480" y="4937760"/>
            <a:ext cx="5605272" cy="1243584"/>
          </a:xfrm>
          <a:prstGeom prst="roundRect">
            <a:avLst>
              <a:gd name="adj" fmla="val 5882"/>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8"/>
          <p:cNvSpPr/>
          <p:nvPr/>
        </p:nvSpPr>
        <p:spPr>
          <a:xfrm>
            <a:off x="6309360" y="5065776"/>
            <a:ext cx="1051560" cy="274320"/>
          </a:xfrm>
          <a:prstGeom prst="roundRect">
            <a:avLst>
              <a:gd name="adj" fmla="val 50000"/>
            </a:avLst>
          </a:prstGeom>
          <a:solidFill>
            <a:srgbClr val="B83227"/>
          </a:solidFill>
          <a:ln w="12700">
            <a:solidFill>
              <a:srgbClr val="B83227"/>
            </a:solidFill>
            <a:prstDash val="solid"/>
          </a:ln>
        </p:spPr>
      </p:sp>
      <p:sp>
        <p:nvSpPr>
          <p:cNvPr id="43" name="Text 39"/>
          <p:cNvSpPr txBox="1"/>
          <p:nvPr/>
        </p:nvSpPr>
        <p:spPr>
          <a:xfrm>
            <a:off x="6309360" y="50657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0"/>
          <p:cNvSpPr txBox="1"/>
          <p:nvPr/>
        </p:nvSpPr>
        <p:spPr>
          <a:xfrm>
            <a:off x="6309360" y="53949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Website writing task: compare two cities with a forecast and advice (100–120 words).</a:t>
            </a:r>
            <a:endParaRPr lang="en-US" sz="1200" dirty="0"/>
          </a:p>
        </p:txBody>
      </p:sp>
      <p:sp>
        <p:nvSpPr>
          <p:cNvPr id="45"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44 / 45</a:t>
            </a:r>
            <a:endParaRPr lang="en-US" sz="85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D4-L02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ea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see you next lesson.</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 LESSON</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1750" b="1" dirty="0">
                <a:solidFill>
                  <a:srgbClr val="FFFFFF"/>
                </a:solidFill>
                <a:latin typeface="Cambria" pitchFamily="34" charset="0"/>
                <a:cs typeface="Amiri" pitchFamily="2" charset="-78"/>
              </a:rPr>
              <a:t>D4-L03 · Environmental Problems — Causes and Effects</a:t>
            </a:r>
            <a:endParaRPr lang="en-US" sz="175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ea typeface="Amiri" pitchFamily="2" charset="-78"/>
                <a:cs typeface="Amiri" pitchFamily="2" charset="-78"/>
              </a:rPr>
              <a:t>المُشْكِلَاتُ البِيئِيَّةُ</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the weather word is the subject — ya- for al-maṭar, ta- for al-shams, al-riyāḥ, al-thulūj, darajat al-ḥarāra.</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miri" pitchFamily="2" charset="-78"/>
        <a:cs typeface="Amiri" pitchFamily="2" charset="-78"/>
        <a:font script="Arab" typeface="Amir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miri" pitchFamily="2" charset="-78"/>
        <a:cs typeface="Amiri" pitchFamily="2" charset="-78"/>
        <a:font script="Arab" typeface="Amir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45</Slides>
  <Notes>45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45</vt:i4>
      </vt:variant>
    </vt:vector>
  </HeadingPairs>
  <TitlesOfParts>
    <vt:vector size="4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D4-L02 · Weather Patterns — Describing and Comparing Weather</dc:title>
  <dc:subject>PptxGenJS Presentation</dc:subject>
  <dc:creator>Al Madina Online School · Arabic Department</dc:creator>
  <cp:lastModifiedBy>Al Madina Online School · Arabic Department</cp:lastModifiedBy>
  <cp:revision>1</cp:revision>
  <dcterms:created xsi:type="dcterms:W3CDTF">2026-10-11T06:40:50Z</dcterms:created>
  <dcterms:modified xsi:type="dcterms:W3CDTF">2026-10-11T06:40:50Z</dcterms:modified>
</cp:coreProperties>
</file>