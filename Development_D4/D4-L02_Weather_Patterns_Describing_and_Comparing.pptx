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D4-L02. The website lesson “Weather Patterns — Describing and Comparing Weather”: vocabulary, grammar rules and quiz, patterns, common mistakes, sorter, listening, reading, speaking prompts and model, writing task and model, differentiation, final check and the lesson mission. Picture match: website visual game “Weather Patterns — Describing and Comparing Weather”.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weather words + four forecast verbs with the right first letter (يَسْقُطُ المَطَرُ but تَسْقُطُ الثُّلُوجُ / تَهُبُّ الرِّيَاحُ / تُشْرِقُ الشَّمْسُ) and one temperature. Develop: comparison (أَكْثَرُ حَرَارَةً مِنْ) and a range (تَتَرَاوَحُ بَيْنَ … وَ …). Stretch: a forecast with مِنَ المُتَوَقَّعِ أَنْ + verb in -a and a practical conclusion.
• Builds on D4-L01 (agreement: non-human plurals are feminine → الثُّلُوجُ / الرِّيَاحُ take ta-) and D3-L05 (comparison with min).
• UK link: compare London with Cairo / Amman / Dubai — students know UK weather well!
• Numbers: keep temperatures in digits on the board; say them in Arabic only for Stretch.
• TEACHER-WRITTEN ITEMS: several website quiz items had options differing only in final vowels (distractors replaced with meaningful errors);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D4-L01. Questions 3–4 retrieve D4-L01 (agreement, yattasimu bi-); question 5 retrieves D3-L05 (comparison with min).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weather is the SUBJECT: “falls the rain”, “blow the winds” — and the verb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حرارت، رطوبت، برق are shared. CAREFUL: Urdu موسم means “the weather”; Arabic مَوْسِمٌ means a SEASON — Arabic weather is الطَّقْسُ or الجَوُّ.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Weather phenomena (website vocabulary (1 of 2)). Hear → Say → See → Use. Transliteration is printed for Core students (cover it for Develop/Stretch).
Weather phenomena. الشَّمْسُ is feminine (a natural feminine); الرِّيَاحُ / الثُّلُوجُ / السُّحُبُ are non-human plurals → feminine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Weather phenomena (website vocabulary (2 of 2)). Hear → Say → See → Use. Transliteration is printed for Core students (cover it for Develop/Stretch).
Weather phenomena. الشَّمْسُ is feminine (a natural feminine); الرِّيَاحُ / الثُّلُوجُ / السُّحُبُ are non-human plurals → feminine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Forecast language (website vocabulary (1 of 2)). Hear → Say → See → Use. Transliteration is printed for Core students (cover it for Develop/Stretch).
Forecast language: say each one with a hand action (rain falling, wind blowing, temperature up / down). Notice the first letter: ya- only for المَطَرُ.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Forecast language (website vocabulary (2 of 2)). Hear → Say → See → Use. Transliteration is printed for Core students (cover it for Develop/Stretch).
Forecast language: say each one with a hand action (rain falling, wind blowing, temperature up / down). Notice the first letter: ya- only for المَطَرُ.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Comparison and measurement (website vocabulary). Hear → Say → See → Use. Transliteration is printed for Core students (cover it for Develop/Stretch).
FLEX: teach if time allows; otherwise these are on the website vocabulary tab for homework.
Comparison and measurement (FLEX for Core). أَكْثَرُ / أَقَلُّ + a noun in -an: أَكْثَرُ حَرَارَةً، أَقَلُّ رُطُوبَةً.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“Natural phenomena are grammatical subjects” (the verb agrees with the named phenomenon: المطر masculine; الثلوج and الرياح treated as feminine) and “Temperature changes” (درجة الحرارة is feminine, so use ترتفع and تنخفض). Website examples as shown.
Website mistakes: يَسْقُطُ الثُّلُوجُ ✗ → تَسْقُطُ الثُّلُوجُ ✓ · يَرْتَفِعُ دَرَجَةُ الحَرَارَةِ ✗ → تَرْتَفِعُ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“Comparing weather” (أَكْثَرُ / أَقَلُّ + verbal noun + مِنْ: use a comparison noun such as حَرَارَةً، بُرُودَةً، رُطُوبَةً) and “Forecasting” (مِنَ المُتَوَقَّعِ أَنْ + subjunctive present). Website examples as shown; the range is from the vocabulary and reading text.
Short future (D3-L04) also works in a forecast: سَتُشْرِقُ الشَّمْسُ، سَيَسْقُطُ المَطَرُ (from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“Study each structure in context, compare accurate and inaccurate forms, then apply it in meaningful Arabic.”
• Natural phenomena are grammatical subjects: The verb agrees with the named phenomenon: المطر masculine; الثلوج and الرياح treated as feminine.
• Temperature changes: درجة الحرارة is feminine, so use ترتفع and تنخفض.
• Comparing weather: Use a comparison noun such as حرارةً، برودةً، رطوبةً.
• Forecasting: After أن, a sound-ending present verb takes the subjunctive ending.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script read as a model, plus one comparison sentence. Think aloud: “Which weather word is the subject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Weather Patterns — Describing and Comparing Weather”)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الجَوُّ غَائِمٌ (cloudy) · الجَوُّ عَاصِفٌ (stormy / windy) · دَرَجَةُ الحَرَارَةِ مُرْتَفِعَةٌ. Stretch: turn each card into a verb sentence (تُشْرِقُ الشَّمْسُ، يَسْقُطُ المَطَرُ، تَسْقُطُ الثُّلُوجُ).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Weather Patterns — Describing and Comparing Weather”)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الجَوُّ غَائِمٌ (cloudy) · الجَوُّ عَاصِفٌ (stormy / windy) · دَرَجَةُ الحَرَارَةِ مُرْتَفِعَةٌ. Stretch: turn each card into a verb sentence (تُشْرِقُ الشَّمْسُ، يَسْقُطُ المَطَرُ، تَسْقُطُ الثُّلُوجُ).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match each phenomenon to its verb: المَطَرُ → يَسْقُطُ · الثُّلُوجُ → تَسْقُطُ · الرِّيَاحُ → تَهُبُّ.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match each phenomenon to its verb: المَطَرُ → يَسْقُطُ · الثُّلُوجُ → تَسْقُطُ · الرِّيَاحُ → تَهُبُّ.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مَرْحَبًا بِكُمْ فِي النَّشْرَةِ الجَوِّيَّةِ. فِي القَاهِرَةِ سَتُشْرِقُ الشَّمْسُ، وَسَتَرْتَفِعُ دَرَجَةُ الحَرَارَةِ إِلَى ثَلَاثٍ وَثَلَاثِينَ دَرَجَةً. أَمَّا فِي عَمَّانَ فَمِنَ المُتَوَقَّعِ أَنْ تَنْخَفِضَ دَرَجَةُ الحَرَارَةِ لَيْلًا إِلَى اثْنَتَيْ عَشْرَةَ دَرَجَةً. وَفِي الرِّبَاطِ سَيَسْقُطُ المَطَرُ صَبَاحًا، ثُمَّ تَهُبُّ رِيَاحٌ قَوِيَّةٌ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(Core prompt teacher-added) and website model. Fun task: one student is the TV weather presenter (Stretch) and reads a 30-second forecast for London and an Arab capital. To a girl: أَيُّ فَصْلٍ تُفَضِّلِينَ؟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comparing weather in two Arabic-speaking cities or regions.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تَرْتَفِعُ دَرَجَةُ الحَرَارَةِ، تَسْقُطَ الثُّلُوجُ، يَسْقُطُ المَطَرُ، تَهُبُّ الرِّيَاحُ · أَرْبَعِينَ دَرَجَةً مِئَوِيَّةً · أَكْثَرُ بُرُودَةً · مِنَ المُتَوَقَّعِ أَنْ تَسْقُطَ · يَجِبُ عَلَى المُسَافِرِ أَنْ يَقْرَأَ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(D4-L03 · Environmental Problems — Causes and Effects) will spend class time USING this language, so students prepare it tonight — short, simple, easy to access (school guidance: “Simple, Short, Interesting, Relevant, Easy to access”). The five words come from the website D4-L03 vocabulary (environmental problems, cause and effect).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Weather Patterns — Describing and Comparing Weather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أَنْمَاطُ الطَّقْسِ — وَصْفُ الطَّقْسِ وَالمُقَارَنَةُ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Give a weather forecast and compare places: the weather word is the subject of the verb (</a:t>
            </a:r>
            <a:pPr algn="l" indent="0" marL="0">
              <a:buNone/>
            </a:pPr>
            <a:r>
              <a:rPr lang="ar-SA" altLang="en-US" sz="1800" dirty="0">
                <a:solidFill>
                  <a:srgbClr val="C6D2E6"/>
                </a:solidFill>
                <a:latin typeface="Amiri" pitchFamily="2" charset="-78"/>
                <a:ea typeface="Amiri" pitchFamily="2" charset="-78"/>
                <a:cs typeface="Amiri" pitchFamily="2" charset="-78"/>
              </a:rPr>
              <a:t>يَسْقُطُ المَطَرُ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تَهُبُّ الرِّيَاحُ</a:t>
            </a:r>
            <a:pPr algn="l" indent="0" marL="0">
              <a:buNone/>
            </a:pPr>
            <a:r>
              <a:rPr lang="en-US" sz="1400" dirty="0">
                <a:solidFill>
                  <a:srgbClr val="C6D2E6"/>
                </a:solidFill>
                <a:latin typeface="Calibri" pitchFamily="34" charset="0"/>
                <a:cs typeface="Amiri" pitchFamily="2" charset="-78"/>
              </a:rPr>
              <a:t>), temperatures rise and fall, one city is “hotter than” another, and “it is expected that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D4-L02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Weather verbs that agree, rising and falling temperatures, comparison and forecasts.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words, fix and listen to a weather bulletin.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العَاصِفَةُ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cloud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دَرَجَةُ الحَرَارَةِ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climate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humidity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a:t>
            </a:r>
            <a:pPr algn="l" indent="0" marL="0">
              <a:buNone/>
            </a:pPr>
            <a:r>
              <a:rPr lang="ar-SA" altLang="en-US" sz="1650" b="1" dirty="0">
                <a:solidFill>
                  <a:srgbClr val="1B3B6F"/>
                </a:solidFill>
                <a:latin typeface="Amiri" pitchFamily="2" charset="-78"/>
                <a:ea typeface="Amiri" pitchFamily="2" charset="-78"/>
                <a:cs typeface="Amiri" pitchFamily="2" charset="-78"/>
              </a:rPr>
              <a:t>جِبَالٌ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عَالِيُونَ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عَالِيَةٌ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يَتَّسِمُ السَّاحِلُ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مَنَاخٍ مُعْتَدِلٍ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العَاصِفَةُ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cloud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storm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دَرَجَةُ الحَرَارَةِ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temperature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climate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humidity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agrees: </a:t>
            </a:r>
            <a:pPr algn="l" indent="0" marL="0">
              <a:buNone/>
            </a:pPr>
            <a:r>
              <a:rPr lang="ar-SA" altLang="en-US" sz="1650" b="1" dirty="0">
                <a:solidFill>
                  <a:srgbClr val="1B3B6F"/>
                </a:solidFill>
                <a:latin typeface="Amiri" pitchFamily="2" charset="-78"/>
                <a:ea typeface="Amiri" pitchFamily="2" charset="-78"/>
                <a:cs typeface="Amiri" pitchFamily="2" charset="-78"/>
              </a:rPr>
              <a:t>جِبَالٌ</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عَالِيُونَ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عَالِيَةٌ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D4-L01: 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يَتَّسِمُ السَّاحِلُ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مَنَاخٍ مُعْتَدِلٍ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D4-L01.</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الجَامِعَةُ أَفْضَلُ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الدَّوْرَةِ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D3-L05: comparative + min.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weather is the SUBJECT: “falls the rain”, “blow the winds” — and the verb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يَسْقُطُ</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المَطَرُ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تَهُبُّ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الرِّيَاحُ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تَرْتَفِعُ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دَرَجَةُ الحَرَارَةِ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weather phenomena and describe the weather.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weather verb agree with its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the weather in two places (</a:t>
            </a:r>
            <a:pPr algn="l" indent="0" marL="0">
              <a:buNone/>
            </a:pPr>
            <a:r>
              <a:rPr lang="ar-SA" altLang="en-US" sz="1700" dirty="0">
                <a:solidFill>
                  <a:srgbClr val="1F2A37"/>
                </a:solidFill>
                <a:latin typeface="Amiri" pitchFamily="2" charset="-78"/>
                <a:ea typeface="Amiri" pitchFamily="2" charset="-78"/>
                <a:cs typeface="Amiri" pitchFamily="2" charset="-78"/>
              </a:rPr>
              <a:t>أَكْثَرُ …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a forecast with </a:t>
            </a:r>
            <a:pPr algn="l" indent="0" marL="0">
              <a:buNone/>
            </a:pPr>
            <a:r>
              <a:rPr lang="ar-SA" altLang="en-US" sz="1700" dirty="0">
                <a:solidFill>
                  <a:srgbClr val="1F2A37"/>
                </a:solidFill>
                <a:latin typeface="Amiri" pitchFamily="2" charset="-78"/>
                <a:ea typeface="Amiri" pitchFamily="2" charset="-78"/>
                <a:cs typeface="Amiri" pitchFamily="2" charset="-78"/>
              </a:rPr>
              <a:t>مِنَ المُتَوَقَّعِ أَنْ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today’s weather.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the weather verb agree.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the weather in two cities.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temperature range.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forecast with “it is expected that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practical advice from a forecast.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Weather phenomena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Forecast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Comparison and measurement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‎مینہ / بارش‎ </a:t>
            </a:r>
            <a:pPr indent="0" marL="0">
              <a:buNone/>
            </a:pPr>
            <a:r>
              <a:rPr lang="en-US" sz="950" b="1" dirty="0">
                <a:solidFill>
                  <a:srgbClr val="2E8B57"/>
                </a:solidFill>
                <a:latin typeface="Calibri" pitchFamily="34" charset="0"/>
                <a:cs typeface="Amiri" pitchFamily="2" charset="-78"/>
              </a:rPr>
              <a:t> bārish · rain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حَرَارَةٌ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‎حرارت‎ </a:t>
            </a:r>
            <a:pPr indent="0" marL="0">
              <a:buNone/>
            </a:pPr>
            <a:r>
              <a:rPr lang="en-US" sz="950" b="1" dirty="0">
                <a:solidFill>
                  <a:srgbClr val="2E8B57"/>
                </a:solidFill>
                <a:latin typeface="Calibri" pitchFamily="34" charset="0"/>
                <a:cs typeface="Amiri" pitchFamily="2" charset="-78"/>
              </a:rPr>
              <a:t> harārat · heat → temperature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رُطُوبَةٌ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‎رطوبت‎ </a:t>
            </a:r>
            <a:pPr indent="0" marL="0">
              <a:buNone/>
            </a:pPr>
            <a:r>
              <a:rPr lang="en-US" sz="950" b="1" dirty="0">
                <a:solidFill>
                  <a:srgbClr val="2E8B57"/>
                </a:solidFill>
                <a:latin typeface="Calibri" pitchFamily="34" charset="0"/>
                <a:cs typeface="Amiri" pitchFamily="2" charset="-78"/>
              </a:rPr>
              <a:t> rutūbat · humidity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مَوْسِمٌ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‎موسم‎ </a:t>
            </a:r>
            <a:pPr indent="0" marL="0">
              <a:buNone/>
            </a:pPr>
            <a:r>
              <a:rPr lang="en-US" sz="950" b="1" dirty="0">
                <a:solidFill>
                  <a:srgbClr val="2E8B57"/>
                </a:solidFill>
                <a:latin typeface="Calibri" pitchFamily="34" charset="0"/>
                <a:cs typeface="Amiri" pitchFamily="2" charset="-78"/>
              </a:rPr>
              <a:t> mausam · Urdu: weather · Arabic: season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بَرْقٌ</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‎برق‎ </a:t>
            </a:r>
            <a:pPr indent="0" marL="0">
              <a:buNone/>
            </a:pPr>
            <a:r>
              <a:rPr lang="en-US" sz="950" b="1" dirty="0">
                <a:solidFill>
                  <a:srgbClr val="2E8B57"/>
                </a:solidFill>
                <a:latin typeface="Calibri" pitchFamily="34" charset="0"/>
                <a:cs typeface="Amiri" pitchFamily="2" charset="-78"/>
              </a:rPr>
              <a:t> barq · lightning (and Urdu “electricity”)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Weather phenomena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a:t>
            </a:r>
            <a:endParaRPr lang="en-US" sz="1350" dirty="0"/>
          </a:p>
          <a:p>
            <a:pPr indent="0" marL="0">
              <a:buNone/>
            </a:pPr>
            <a:r>
              <a:rPr lang="en-US" sz="1100" i="1" dirty="0">
                <a:solidFill>
                  <a:srgbClr val="5A6472"/>
                </a:solidFill>
                <a:latin typeface="Calibri" pitchFamily="34" charset="0"/>
                <a:cs typeface="Amiri" pitchFamily="2" charset="-78"/>
              </a:rPr>
              <a:t>al-ma-ṭa-ru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الثُّلُوجُ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snow</a:t>
            </a:r>
            <a:endParaRPr lang="en-US" sz="1350" dirty="0"/>
          </a:p>
          <a:p>
            <a:pPr indent="0" marL="0">
              <a:buNone/>
            </a:pPr>
            <a:r>
              <a:rPr lang="en-US" sz="1100" i="1" dirty="0">
                <a:solidFill>
                  <a:srgbClr val="5A6472"/>
                </a:solidFill>
                <a:latin typeface="Calibri" pitchFamily="34" charset="0"/>
                <a:cs typeface="Amiri" pitchFamily="2" charset="-78"/>
              </a:rPr>
              <a:t>ath-thu-lū-ju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winds</a:t>
            </a:r>
            <a:endParaRPr lang="en-US" sz="1350" dirty="0"/>
          </a:p>
          <a:p>
            <a:pPr indent="0" marL="0">
              <a:buNone/>
            </a:pPr>
            <a:r>
              <a:rPr lang="en-US" sz="1100" i="1" dirty="0">
                <a:solidFill>
                  <a:srgbClr val="5A6472"/>
                </a:solidFill>
                <a:latin typeface="Calibri" pitchFamily="34" charset="0"/>
                <a:cs typeface="Amiri" pitchFamily="2" charset="-78"/>
              </a:rPr>
              <a:t>ar-ri-yā-ḥu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الشَّمْسُ</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a:t>
            </a:r>
            <a:endParaRPr lang="en-US" sz="1350" dirty="0"/>
          </a:p>
          <a:p>
            <a:pPr indent="0" marL="0">
              <a:buNone/>
            </a:pPr>
            <a:r>
              <a:rPr lang="en-US" sz="1100" i="1" dirty="0">
                <a:solidFill>
                  <a:srgbClr val="5A6472"/>
                </a:solidFill>
                <a:latin typeface="Calibri" pitchFamily="34" charset="0"/>
                <a:cs typeface="Amiri" pitchFamily="2" charset="-78"/>
              </a:rPr>
              <a:t>ash-sham-su</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السُّحُبُ / الغُيُومُ</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clouds</a:t>
            </a:r>
            <a:endParaRPr lang="en-US" sz="1350" dirty="0"/>
          </a:p>
          <a:p>
            <a:pPr indent="0" marL="0">
              <a:buNone/>
            </a:pPr>
            <a:r>
              <a:rPr lang="en-US" sz="1100" i="1" dirty="0">
                <a:solidFill>
                  <a:srgbClr val="5A6472"/>
                </a:solidFill>
                <a:latin typeface="Calibri" pitchFamily="34" charset="0"/>
                <a:cs typeface="Amiri" pitchFamily="2" charset="-78"/>
              </a:rPr>
              <a:t>as-su-ḥu-bu / al-ghu-yū-mu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Weather phenomena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العَاصِفَةُ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storm</a:t>
            </a:r>
            <a:endParaRPr lang="en-US" sz="1350" dirty="0"/>
          </a:p>
          <a:p>
            <a:pPr indent="0" marL="0">
              <a:buNone/>
            </a:pPr>
            <a:r>
              <a:rPr lang="en-US" sz="1100" i="1" dirty="0">
                <a:solidFill>
                  <a:srgbClr val="5A6472"/>
                </a:solidFill>
                <a:latin typeface="Calibri" pitchFamily="34" charset="0"/>
                <a:cs typeface="Amiri" pitchFamily="2" charset="-78"/>
              </a:rPr>
              <a:t>al-ʿā-ṣi-fa-tu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الضَّبَابُ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fog</a:t>
            </a:r>
            <a:endParaRPr lang="en-US" sz="1350" dirty="0"/>
          </a:p>
          <a:p>
            <a:pPr indent="0" marL="0">
              <a:buNone/>
            </a:pPr>
            <a:r>
              <a:rPr lang="en-US" sz="1100" i="1" dirty="0">
                <a:solidFill>
                  <a:srgbClr val="5A6472"/>
                </a:solidFill>
                <a:latin typeface="Calibri" pitchFamily="34" charset="0"/>
                <a:cs typeface="Amiri" pitchFamily="2" charset="-78"/>
              </a:rPr>
              <a:t>aḍ-ḍa-bā-bu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thunder</a:t>
            </a:r>
            <a:endParaRPr lang="en-US" sz="1350" dirty="0"/>
          </a:p>
          <a:p>
            <a:pPr indent="0" marL="0">
              <a:buNone/>
            </a:pPr>
            <a:r>
              <a:rPr lang="en-US" sz="1100" i="1" dirty="0">
                <a:solidFill>
                  <a:srgbClr val="5A6472"/>
                </a:solidFill>
                <a:latin typeface="Calibri" pitchFamily="34" charset="0"/>
                <a:cs typeface="Amiri" pitchFamily="2" charset="-78"/>
              </a:rPr>
              <a:t>ar-raʿ-du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البَرْقُ</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lightning</a:t>
            </a:r>
            <a:endParaRPr lang="en-US" sz="1350" dirty="0"/>
          </a:p>
          <a:p>
            <a:pPr indent="0" marL="0">
              <a:buNone/>
            </a:pPr>
            <a:r>
              <a:rPr lang="en-US" sz="1100" i="1" dirty="0">
                <a:solidFill>
                  <a:srgbClr val="5A6472"/>
                </a:solidFill>
                <a:latin typeface="Calibri" pitchFamily="34" charset="0"/>
                <a:cs typeface="Amiri" pitchFamily="2" charset="-78"/>
              </a:rPr>
              <a:t>al-bar-qu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الرُّطُوبَةُ</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humidity</a:t>
            </a:r>
            <a:endParaRPr lang="en-US" sz="1350" dirty="0"/>
          </a:p>
          <a:p>
            <a:pPr indent="0" marL="0">
              <a:buNone/>
            </a:pPr>
            <a:r>
              <a:rPr lang="en-US" sz="1100" i="1" dirty="0">
                <a:solidFill>
                  <a:srgbClr val="5A6472"/>
                </a:solidFill>
                <a:latin typeface="Calibri" pitchFamily="34" charset="0"/>
                <a:cs typeface="Amiri" pitchFamily="2" charset="-78"/>
              </a:rPr>
              <a:t>ar-ru-ṭū-ba-tu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Forecast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يَسْقُطُ المَطَرُ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rain falls / it rains</a:t>
            </a:r>
            <a:endParaRPr lang="en-US" sz="1350" dirty="0"/>
          </a:p>
          <a:p>
            <a:pPr indent="0" marL="0">
              <a:buNone/>
            </a:pPr>
            <a:r>
              <a:rPr lang="en-US" sz="1100" i="1" dirty="0">
                <a:solidFill>
                  <a:srgbClr val="5A6472"/>
                </a:solidFill>
                <a:latin typeface="Calibri" pitchFamily="34" charset="0"/>
                <a:cs typeface="Amiri" pitchFamily="2" charset="-78"/>
              </a:rPr>
              <a:t>yas-qu-ṭu al-ma-ṭa-ru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تَسْقُطُ الثُّلُوجُ</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snow falls / it snows</a:t>
            </a:r>
            <a:endParaRPr lang="en-US" sz="1350" dirty="0"/>
          </a:p>
          <a:p>
            <a:pPr indent="0" marL="0">
              <a:buNone/>
            </a:pPr>
            <a:r>
              <a:rPr lang="en-US" sz="1100" i="1" dirty="0">
                <a:solidFill>
                  <a:srgbClr val="5A6472"/>
                </a:solidFill>
                <a:latin typeface="Calibri" pitchFamily="34" charset="0"/>
                <a:cs typeface="Amiri" pitchFamily="2" charset="-78"/>
              </a:rPr>
              <a:t>tas-qu-ṭu ath-thu-lū-ju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تَهُبُّ الرِّيَاحُ</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winds blow</a:t>
            </a:r>
            <a:endParaRPr lang="en-US" sz="1350" dirty="0"/>
          </a:p>
          <a:p>
            <a:pPr indent="0" marL="0">
              <a:buNone/>
            </a:pPr>
            <a:r>
              <a:rPr lang="en-US" sz="1100" i="1" dirty="0">
                <a:solidFill>
                  <a:srgbClr val="5A6472"/>
                </a:solidFill>
                <a:latin typeface="Calibri" pitchFamily="34" charset="0"/>
                <a:cs typeface="Amiri" pitchFamily="2" charset="-78"/>
              </a:rPr>
              <a:t>ta-hub-bu ar-ri-yā-ḥu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تُشْرِقُ الشَّمْسُ</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sun shines</a:t>
            </a:r>
            <a:endParaRPr lang="en-US" sz="1350" dirty="0"/>
          </a:p>
          <a:p>
            <a:pPr indent="0" marL="0">
              <a:buNone/>
            </a:pPr>
            <a:r>
              <a:rPr lang="en-US" sz="1100" i="1" dirty="0">
                <a:solidFill>
                  <a:srgbClr val="5A6472"/>
                </a:solidFill>
                <a:latin typeface="Calibri" pitchFamily="34" charset="0"/>
                <a:cs typeface="Amiri" pitchFamily="2" charset="-78"/>
              </a:rPr>
              <a:t>tush-ri-qu ash-sham-su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Forecast language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تَرْتَفِعُ دَرَجَةُ الحَرَارَةِ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temperature rises</a:t>
            </a:r>
            <a:endParaRPr lang="en-US" sz="1350" dirty="0"/>
          </a:p>
          <a:p>
            <a:pPr indent="0" marL="0">
              <a:buNone/>
            </a:pPr>
            <a:r>
              <a:rPr lang="en-US" sz="1100" i="1" dirty="0">
                <a:solidFill>
                  <a:srgbClr val="5A6472"/>
                </a:solidFill>
                <a:latin typeface="Calibri" pitchFamily="34" charset="0"/>
                <a:cs typeface="Amiri" pitchFamily="2" charset="-78"/>
              </a:rPr>
              <a:t>tar-ta-fi-ʿu da-ra-ja-tu al-ḥa-rā-ra-ti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تَنْخَفِضُ دَرَجَةُ الحَرَارَةِ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temperature falls</a:t>
            </a:r>
            <a:endParaRPr lang="en-US" sz="1350" dirty="0"/>
          </a:p>
          <a:p>
            <a:pPr indent="0" marL="0">
              <a:buNone/>
            </a:pPr>
            <a:r>
              <a:rPr lang="en-US" sz="1100" i="1" dirty="0">
                <a:solidFill>
                  <a:srgbClr val="5A6472"/>
                </a:solidFill>
                <a:latin typeface="Calibri" pitchFamily="34" charset="0"/>
                <a:cs typeface="Amiri" pitchFamily="2" charset="-78"/>
              </a:rPr>
              <a:t>tan-kha-fi-ḍu da-ra-ja-tu al-ḥa-rā-ra-ti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المُتَوَقَّعِ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expected that</a:t>
            </a:r>
            <a:endParaRPr lang="en-US" sz="1350" dirty="0"/>
          </a:p>
          <a:p>
            <a:pPr indent="0" marL="0">
              <a:buNone/>
            </a:pPr>
            <a:r>
              <a:rPr lang="en-US" sz="1100" i="1" dirty="0">
                <a:solidFill>
                  <a:srgbClr val="5A6472"/>
                </a:solidFill>
                <a:latin typeface="Calibri" pitchFamily="34" charset="0"/>
                <a:cs typeface="Amiri" pitchFamily="2" charset="-78"/>
              </a:rPr>
              <a:t>mi-na al-mu-ta-waq-qa-ʿi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النَّشْرَةُ الجَوِّيَّةُ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weather forecast</a:t>
            </a:r>
            <a:endParaRPr lang="en-US" sz="1350" dirty="0"/>
          </a:p>
          <a:p>
            <a:pPr indent="0" marL="0">
              <a:buNone/>
            </a:pPr>
            <a:r>
              <a:rPr lang="en-US" sz="1100" i="1" dirty="0">
                <a:solidFill>
                  <a:srgbClr val="5A6472"/>
                </a:solidFill>
                <a:latin typeface="Calibri" pitchFamily="34" charset="0"/>
                <a:cs typeface="Amiri" pitchFamily="2" charset="-78"/>
              </a:rPr>
              <a:t>an-nash-ra-tu al-jaw-wiy-ya-tu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Comparison and measurement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الحَدُّ الأَقْصَى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maximum</a:t>
            </a:r>
            <a:endParaRPr lang="en-US" sz="1350" dirty="0"/>
          </a:p>
          <a:p>
            <a:pPr indent="0" marL="0">
              <a:buNone/>
            </a:pPr>
            <a:r>
              <a:rPr lang="en-US" sz="1100" i="1" dirty="0">
                <a:solidFill>
                  <a:srgbClr val="5A6472"/>
                </a:solidFill>
                <a:latin typeface="Calibri" pitchFamily="34" charset="0"/>
                <a:cs typeface="Amiri" pitchFamily="2" charset="-78"/>
              </a:rPr>
              <a:t>al-ḥad-du al-aq-ṣā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الحَدُّ الأَدْنَى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minimum</a:t>
            </a:r>
            <a:endParaRPr lang="en-US" sz="1350" dirty="0"/>
          </a:p>
          <a:p>
            <a:pPr indent="0" marL="0">
              <a:buNone/>
            </a:pPr>
            <a:r>
              <a:rPr lang="en-US" sz="1100" i="1" dirty="0">
                <a:solidFill>
                  <a:srgbClr val="5A6472"/>
                </a:solidFill>
                <a:latin typeface="Calibri" pitchFamily="34" charset="0"/>
                <a:cs typeface="Amiri" pitchFamily="2" charset="-78"/>
              </a:rPr>
              <a:t>al-ḥad-du al-ad-nā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دَرَجَةٌ مِئَوِيَّةٌ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degree Celsius</a:t>
            </a:r>
            <a:endParaRPr lang="en-US" sz="1350" dirty="0"/>
          </a:p>
          <a:p>
            <a:pPr indent="0" marL="0">
              <a:buNone/>
            </a:pPr>
            <a:r>
              <a:rPr lang="en-US" sz="1100" i="1" dirty="0">
                <a:solidFill>
                  <a:srgbClr val="5A6472"/>
                </a:solidFill>
                <a:latin typeface="Calibri" pitchFamily="34" charset="0"/>
                <a:cs typeface="Amiri" pitchFamily="2" charset="-78"/>
              </a:rPr>
              <a:t>da-ra-ja-tun mi-ʾa-wiy-ya-tun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حَرَارَةً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hotter than</a:t>
            </a:r>
            <a:endParaRPr lang="en-US" sz="1350" dirty="0"/>
          </a:p>
          <a:p>
            <a:pPr indent="0" marL="0">
              <a:buNone/>
            </a:pPr>
            <a:r>
              <a:rPr lang="en-US" sz="1100" i="1" dirty="0">
                <a:solidFill>
                  <a:srgbClr val="5A6472"/>
                </a:solidFill>
                <a:latin typeface="Calibri" pitchFamily="34" charset="0"/>
                <a:cs typeface="Amiri" pitchFamily="2" charset="-78"/>
              </a:rPr>
              <a:t>ak-tha-ru ḥa-rā-ra-tan min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رُطُوبَةً مِنْ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humid than</a:t>
            </a:r>
            <a:endParaRPr lang="en-US" sz="1350" dirty="0"/>
          </a:p>
          <a:p>
            <a:pPr indent="0" marL="0">
              <a:buNone/>
            </a:pPr>
            <a:r>
              <a:rPr lang="en-US" sz="1100" i="1" dirty="0">
                <a:solidFill>
                  <a:srgbClr val="5A6472"/>
                </a:solidFill>
                <a:latin typeface="Calibri" pitchFamily="34" charset="0"/>
                <a:cs typeface="Amiri" pitchFamily="2" charset="-78"/>
              </a:rPr>
              <a:t>a-qal-lu ru-ṭū-ba-tan min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تَتَرَاوَحُ بَيْنَ ... وَ...</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ranges between ... and ...</a:t>
            </a:r>
            <a:endParaRPr lang="en-US" sz="1350" dirty="0"/>
          </a:p>
          <a:p>
            <a:pPr indent="0" marL="0">
              <a:buNone/>
            </a:pPr>
            <a:r>
              <a:rPr lang="en-US" sz="1100" i="1" dirty="0">
                <a:solidFill>
                  <a:srgbClr val="5A6472"/>
                </a:solidFill>
                <a:latin typeface="Calibri" pitchFamily="34" charset="0"/>
                <a:cs typeface="Amiri" pitchFamily="2" charset="-78"/>
              </a:rPr>
              <a:t>ta-ta-rā-wa-ḥu bay-na ... wa...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WEATHER IS THE SUBJECT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ya- or ta-? Check the weather word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الفِعْلُ وَالفَاعِلُ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18" name="Text 15"/>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Forecast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 ya-</a:t>
            </a:r>
            <a:endParaRPr lang="en-US" sz="1100" dirty="0"/>
          </a:p>
        </p:txBody>
      </p:sp>
      <p:sp>
        <p:nvSpPr>
          <p:cNvPr id="21" name="Text 18"/>
          <p:cNvSpPr txBox="1"/>
          <p:nvPr/>
        </p:nvSpPr>
        <p:spPr>
          <a:xfrm>
            <a:off x="568756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al-maṭar</a:t>
            </a:r>
            <a:endParaRPr lang="en-US" sz="1100" dirty="0"/>
          </a:p>
        </p:txBody>
      </p:sp>
      <p:sp>
        <p:nvSpPr>
          <p:cNvPr id="22" name="Text 19"/>
          <p:cNvSpPr txBox="1"/>
          <p:nvPr/>
        </p:nvSpPr>
        <p:spPr>
          <a:xfrm>
            <a:off x="548640"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يَسْقُطُ</a:t>
            </a:r>
            <a:pPr rtl="1" algn="ctr" indent="0" marL="0">
              <a:buNone/>
            </a:pPr>
            <a:r>
              <a:rPr lang="ar-SA" altLang="en-US" sz="1950" b="1" dirty="0">
                <a:solidFill>
                  <a:srgbClr val="1B3B6F"/>
                </a:solidFill>
                <a:latin typeface="Amiri" pitchFamily="2" charset="-78"/>
                <a:ea typeface="Amiri" pitchFamily="2" charset="-78"/>
                <a:cs typeface="Amiri" pitchFamily="2" charset="-78"/>
              </a:rPr>
              <a:t> المَطَرُ.</a:t>
            </a:r>
            <a:endParaRPr lang="ar-SA" sz="1950" dirty="0"/>
          </a:p>
        </p:txBody>
      </p:sp>
      <p:sp>
        <p:nvSpPr>
          <p:cNvPr id="23" name="Text 20"/>
          <p:cNvSpPr txBox="1"/>
          <p:nvPr/>
        </p:nvSpPr>
        <p:spPr>
          <a:xfrm>
            <a:off x="502920"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rains.</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 → ta-</a:t>
            </a:r>
            <a:endParaRPr lang="en-US" sz="1100" dirty="0"/>
          </a:p>
        </p:txBody>
      </p:sp>
      <p:sp>
        <p:nvSpPr>
          <p:cNvPr id="28" name="Text 25"/>
          <p:cNvSpPr txBox="1"/>
          <p:nvPr/>
        </p:nvSpPr>
        <p:spPr>
          <a:xfrm>
            <a:off x="568756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al-thulūj (pl.)</a:t>
            </a:r>
            <a:endParaRPr lang="en-US" sz="1100" dirty="0"/>
          </a:p>
        </p:txBody>
      </p:sp>
      <p:sp>
        <p:nvSpPr>
          <p:cNvPr id="29" name="Text 26"/>
          <p:cNvSpPr txBox="1"/>
          <p:nvPr/>
        </p:nvSpPr>
        <p:spPr>
          <a:xfrm>
            <a:off x="548640"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تَسْقُطُ</a:t>
            </a:r>
            <a:pPr rtl="1" algn="ctr" indent="0" marL="0">
              <a:buNone/>
            </a:pPr>
            <a:r>
              <a:rPr lang="ar-SA" altLang="en-US" sz="1950" b="1" dirty="0">
                <a:solidFill>
                  <a:srgbClr val="1B3B6F"/>
                </a:solidFill>
                <a:latin typeface="Amiri" pitchFamily="2" charset="-78"/>
                <a:ea typeface="Amiri" pitchFamily="2" charset="-78"/>
                <a:cs typeface="Amiri" pitchFamily="2" charset="-78"/>
              </a:rPr>
              <a:t> الثُّلُوجُ.</a:t>
            </a:r>
            <a:endParaRPr lang="ar-SA" sz="1950" dirty="0"/>
          </a:p>
        </p:txBody>
      </p:sp>
      <p:sp>
        <p:nvSpPr>
          <p:cNvPr id="30" name="Text 27"/>
          <p:cNvSpPr txBox="1"/>
          <p:nvPr/>
        </p:nvSpPr>
        <p:spPr>
          <a:xfrm>
            <a:off x="502920"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snows.</a:t>
            </a:r>
            <a:endParaRPr lang="en-US" sz="95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 → ta-</a:t>
            </a:r>
            <a:endParaRPr lang="en-US" sz="1100" dirty="0"/>
          </a:p>
        </p:txBody>
      </p:sp>
      <p:sp>
        <p:nvSpPr>
          <p:cNvPr id="35" name="Text 32"/>
          <p:cNvSpPr txBox="1"/>
          <p:nvPr/>
        </p:nvSpPr>
        <p:spPr>
          <a:xfrm>
            <a:off x="568756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al-riyāḥ (pl.)</a:t>
            </a:r>
            <a:endParaRPr lang="en-US" sz="1100" dirty="0"/>
          </a:p>
        </p:txBody>
      </p:sp>
      <p:sp>
        <p:nvSpPr>
          <p:cNvPr id="36" name="Text 33"/>
          <p:cNvSpPr txBox="1"/>
          <p:nvPr/>
        </p:nvSpPr>
        <p:spPr>
          <a:xfrm>
            <a:off x="548640"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تَهُبُّ</a:t>
            </a:r>
            <a:pPr rtl="1" algn="ctr" indent="0" marL="0">
              <a:buNone/>
            </a:pPr>
            <a:r>
              <a:rPr lang="ar-SA" altLang="en-US" sz="1950" b="1" dirty="0">
                <a:solidFill>
                  <a:srgbClr val="1B3B6F"/>
                </a:solidFill>
                <a:latin typeface="Amiri" pitchFamily="2" charset="-78"/>
                <a:ea typeface="Amiri" pitchFamily="2" charset="-78"/>
                <a:cs typeface="Amiri" pitchFamily="2" charset="-78"/>
              </a:rPr>
              <a:t> الرِّيَاحُ.</a:t>
            </a:r>
            <a:endParaRPr lang="ar-SA" sz="1950" dirty="0"/>
          </a:p>
        </p:txBody>
      </p:sp>
      <p:sp>
        <p:nvSpPr>
          <p:cNvPr id="37" name="Text 34"/>
          <p:cNvSpPr txBox="1"/>
          <p:nvPr/>
        </p:nvSpPr>
        <p:spPr>
          <a:xfrm>
            <a:off x="502920"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winds blow.</a:t>
            </a:r>
            <a:endParaRPr lang="en-US" sz="95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ta-</a:t>
            </a:r>
            <a:endParaRPr lang="en-US" sz="1100" dirty="0"/>
          </a:p>
        </p:txBody>
      </p:sp>
      <p:sp>
        <p:nvSpPr>
          <p:cNvPr id="42" name="Text 39"/>
          <p:cNvSpPr txBox="1"/>
          <p:nvPr/>
        </p:nvSpPr>
        <p:spPr>
          <a:xfrm>
            <a:off x="568756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al-shams</a:t>
            </a:r>
            <a:endParaRPr lang="en-US" sz="1100" dirty="0"/>
          </a:p>
        </p:txBody>
      </p:sp>
      <p:sp>
        <p:nvSpPr>
          <p:cNvPr id="43" name="Text 40"/>
          <p:cNvSpPr txBox="1"/>
          <p:nvPr/>
        </p:nvSpPr>
        <p:spPr>
          <a:xfrm>
            <a:off x="548640"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تُشْرِقُ</a:t>
            </a:r>
            <a:pPr rtl="1" algn="ctr" indent="0" marL="0">
              <a:buNone/>
            </a:pPr>
            <a:r>
              <a:rPr lang="ar-SA" altLang="en-US" sz="1950" b="1" dirty="0">
                <a:solidFill>
                  <a:srgbClr val="1B3B6F"/>
                </a:solidFill>
                <a:latin typeface="Amiri" pitchFamily="2" charset="-78"/>
                <a:ea typeface="Amiri" pitchFamily="2" charset="-78"/>
                <a:cs typeface="Amiri" pitchFamily="2" charset="-78"/>
              </a:rPr>
              <a:t> الشَّمْسُ.</a:t>
            </a:r>
            <a:endParaRPr lang="ar-SA" sz="1950" dirty="0"/>
          </a:p>
        </p:txBody>
      </p:sp>
      <p:sp>
        <p:nvSpPr>
          <p:cNvPr id="44" name="Text 41"/>
          <p:cNvSpPr txBox="1"/>
          <p:nvPr/>
        </p:nvSpPr>
        <p:spPr>
          <a:xfrm>
            <a:off x="502920"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sun shines.</a:t>
            </a:r>
            <a:endParaRPr lang="en-US" sz="9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daraja (f.) → ta-</a:t>
            </a:r>
            <a:endParaRPr lang="en-US" sz="1100" dirty="0"/>
          </a:p>
        </p:txBody>
      </p:sp>
      <p:sp>
        <p:nvSpPr>
          <p:cNvPr id="47" name="Text 44"/>
          <p:cNvSpPr txBox="1"/>
          <p:nvPr/>
        </p:nvSpPr>
        <p:spPr>
          <a:xfrm>
            <a:off x="568756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darajatu …</a:t>
            </a:r>
            <a:endParaRPr lang="en-US" sz="1100" dirty="0"/>
          </a:p>
        </p:txBody>
      </p:sp>
      <p:sp>
        <p:nvSpPr>
          <p:cNvPr id="48" name="Text 45"/>
          <p:cNvSpPr txBox="1"/>
          <p:nvPr/>
        </p:nvSpPr>
        <p:spPr>
          <a:xfrm>
            <a:off x="548640"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تَرْتَفِعُ</a:t>
            </a:r>
            <a:pPr rtl="1" algn="ctr" indent="0" marL="0">
              <a:buNone/>
            </a:pPr>
            <a:r>
              <a:rPr lang="ar-SA" altLang="en-US" sz="1950" b="1" dirty="0">
                <a:solidFill>
                  <a:srgbClr val="1B3B6F"/>
                </a:solidFill>
                <a:latin typeface="Amiri" pitchFamily="2" charset="-78"/>
                <a:ea typeface="Amiri" pitchFamily="2" charset="-78"/>
                <a:cs typeface="Amiri" pitchFamily="2" charset="-78"/>
              </a:rPr>
              <a:t> دَرَجَةُ الحَرَارَةِ إِلَى ٣٠ دَرَجَةً.</a:t>
            </a:r>
            <a:endParaRPr lang="ar-SA" sz="1950" dirty="0"/>
          </a:p>
        </p:txBody>
      </p:sp>
      <p:sp>
        <p:nvSpPr>
          <p:cNvPr id="49" name="Text 46"/>
          <p:cNvSpPr txBox="1"/>
          <p:nvPr/>
        </p:nvSpPr>
        <p:spPr>
          <a:xfrm>
            <a:off x="502920"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temperature rises to 30°.</a:t>
            </a:r>
            <a:endParaRPr lang="en-US" sz="9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comes FIRST and agrees with the weather word after it. tanẖafiḍu = falls · tartafiʿu = rises.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COMPARE AND FORECAST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Hotter than … · it is expected that …</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أَكْثَرُ حَرَارَةً · مِنَ المُتَوَقَّعِ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COMPARE · DEVELOP</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حَرَارَةً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القَاهِرَةُ أَكْثَرُ حَرَارَةً مِنْ لَنْدَنَ.</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Cairo is hotter than London.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akthar + noun in -an + min.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RANGE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تَتَرَاوَحُ بَيْنَ … وَ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تَتَرَاوَحُ دَرَجَةُ الحَرَارَةِ بَيْنَ ١٨ وَ٢٥ دَرَجَةً.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ranges between 18 and 25 degrees.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bayna … wa …</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FORECAST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مِنَ المُتَوَقَّعِ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المُتَوَقَّعِ أَنْ تَنْخَفِضَ دَرَجَةُ الحَرَارَةِ لَيْلًا.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temperature is expected to fall at night.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 + verb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akthar + a NOUN, not an adjective.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القَاهِرَةُ أَكْثَرُ حَرَارَةً مِنْ لَنْدَنَ.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القَاهِرَةُ أَكْثَرُ حَارٌّ مِنْ لَنْدَنَ.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for weather patterns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وَصْفِ الطَّقْسِ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Natural phenomena are grammatical subjects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weather subject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يَسْقُطُ المَطَرُ.   ·   تَسْقُطُ الثُّلُوجُ.   ·   تَهُبُّ الرِّيَاحُ.</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Temperature changes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تَرْتَفِعُ / تَنْخَفِضُ دَرَجَةُ الحَرَارَةِ إِلَى</a:t>
            </a:r>
            <a:pPr algn="l" indent="0" marL="0">
              <a:buNone/>
            </a:pPr>
            <a:r>
              <a:rPr lang="en-US" sz="1050" dirty="0">
                <a:solidFill>
                  <a:srgbClr val="5A6472"/>
                </a:solidFill>
                <a:latin typeface="Calibri" pitchFamily="34" charset="0"/>
                <a:cs typeface="Amiri" pitchFamily="2" charset="-78"/>
              </a:rPr>
              <a:t> + number</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تَرْتَفِعُ دَرَجَةُ الحَرَارَةِ إِلَى ثَلَاثِينَ دَرَجَةً.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Comparing weather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verbal noun + </a:t>
            </a:r>
            <a:pPr algn="l" indent="0" marL="0">
              <a:buNone/>
            </a:pPr>
            <a:r>
              <a:rPr lang="ar-SA" altLang="en-US" sz="1350" dirty="0">
                <a:solidFill>
                  <a:srgbClr val="5A6472"/>
                </a:solidFill>
                <a:latin typeface="Amiri" pitchFamily="2" charset="-78"/>
                <a:ea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القَاهِرَةُ أَكْثَرُ حَرَارَةً مِنْ لَنْدَنَ.</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Forecasting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مِنَ المُتَوَقَّعِ أَنْ</a:t>
            </a:r>
            <a:pPr algn="l" indent="0" marL="0">
              <a:buNone/>
            </a:pPr>
            <a:r>
              <a:rPr lang="en-US" sz="1050" dirty="0">
                <a:solidFill>
                  <a:srgbClr val="5A6472"/>
                </a:solidFill>
                <a:latin typeface="Calibri" pitchFamily="34" charset="0"/>
                <a:cs typeface="Amiri" pitchFamily="2" charset="-78"/>
              </a:rPr>
              <a:t> + subjunctive present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المُتَوَقَّعِ أَنْ تَنْخَفِضَ دَرَجَةُ الحَرَارَةِ لَيْلًا.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المَطَرُ غَزِيرًا.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المَطَرُ فِي غَزِيرٍ.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المَطَرُ غَزِيرًا.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الشِّتَاءِ.</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الشِّتَاءِ.</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إِلَى الشِّتَاءِ.</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يَهُبُّونَ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عَمَّانُ أَكْثَرُ بُرُودَةً مِنْ دُبَيَّ.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عَمَّانُ أَقَلُّ بُرُودَةً مِنْ دُبَيَّ.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عَمَّانُ أَكْثَرُ بَارِدٌ مِنْ دُبَيَّ.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تَسْقُطُ المَطَرُ غَزِيرًا.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المَطَرُ فِي غَزِيرٍ.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يَسْقُطُ المَطَرُ غَزِيرًا.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al-maṭar is masculine → ya-.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about snow.</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تَسْقُطُ الثُّلُوجُ فِي الشِّتَاءِ.</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الثُّلُوجُ فِي الشِّتَاءِ.</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تَسْقُطُ الثُّلُوجُ إِلَى الشِّتَاءِ.</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الرِّيَاحُ بِقُوَّةٍ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يَهُبُّونَ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al-riyāḥ → ta-.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“Amman is colder than Dubai”?</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عَمَّانُ أَكْثَرُ بُرُودَةً مِنْ دُبَيَّ.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عَمَّانُ أَقَلُّ بُرُودَةً مِنْ دُبَيَّ.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عَمَّانُ أَكْثَرُ بَارِدٌ مِنْ دُبَيَّ.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akthar + noun (-an) + min.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read a weather forecast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City 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القَاهِرَةِ </a:t>
            </a:r>
            <a:pPr rtl="1" algn="ctr" indent="0" marL="0">
              <a:buNone/>
            </a:pPr>
            <a:r>
              <a:rPr lang="ar-SA" altLang="en-US" sz="2100" b="1" dirty="0">
                <a:solidFill>
                  <a:srgbClr val="D6336C"/>
                </a:solidFill>
                <a:latin typeface="Amiri" pitchFamily="2" charset="-78"/>
                <a:ea typeface="Amiri" pitchFamily="2" charset="-78"/>
                <a:cs typeface="Amiri" pitchFamily="2" charset="-78"/>
              </a:rPr>
              <a:t>سَتُشْرِقُ</a:t>
            </a:r>
            <a:pPr rtl="1" algn="ctr" indent="0" marL="0">
              <a:buNone/>
            </a:pPr>
            <a:r>
              <a:rPr lang="ar-SA" altLang="en-US" sz="2100" b="1" dirty="0">
                <a:solidFill>
                  <a:srgbClr val="1B3B6F"/>
                </a:solidFill>
                <a:latin typeface="Amiri" pitchFamily="2" charset="-78"/>
                <a:ea typeface="Amiri" pitchFamily="2" charset="-78"/>
                <a:cs typeface="Amiri" pitchFamily="2" charset="-78"/>
              </a:rPr>
              <a:t> الشَّمْسُ.</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shams (f.) →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Temperature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سَتَرْتَفِعُ</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دَرَجَةُ الحَرَارَةِ إِلَى ٣٣ دَرَجَةً.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daraja (f.) → ta-.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City 2 + rain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وَفِي الرِّبَاطِ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سَيَسْقُطُ</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المَطَرُ صَبَاحًا.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maṭar (m.) → ya-.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القَاهِرَةُ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أَكْثَرُ حَرَارَةً مِنَ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الرِّبَاطِ.</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akthar + -an + min.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ya- (m.)</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ta- (f.)</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مَرْحَبًا بِكُمْ فِي النَّشْرَةِ الجَوِّيَّةِ. فِي القَاهِرَةِ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سَتُشْرِقُ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الشَّمْسُ،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سَتَرْتَفِعُ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دَرَجَةُ الحَرَارَةِ إِلَى ٣٣ دَرَجَةً. وَفِي الرِّبَاطِ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سَيَسْقُطُ</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المَطَرُ صَبَاحًا، ثُمَّ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تَهُبُّ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رِيَاحٌ قَوِيَّةٌ مَسَاءً. إِذَنْ، القَاهِرَةُ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أَكْثَرُ حَرَارَةً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الرِّبَاطِ اليَوْمَ.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Welcome to the weather forecast. In Cairo the sun will shine and the temperature will rise to 33 degrees. In Rabat rain will fall in the morning, then strong winds will blow in the evening. So Cairo is hotter than Rabat today.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يَسْقُطُ المَطَرُ.</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rains (rain falls).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verb agrees with the named phenomenon: المطر masculine; الثلوج and الرياح treated as feminine.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تَرْتَفِعُ دَرَجَةُ الحَرَارَةِ إِلَى ثَلَاثِينَ دَرَجَةً.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temperature rises to thirty degrees.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درجة الحرارة is feminine, so use ترتفع and تنخفض.</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القَاهِرَةُ أَكْثَرُ حَرَارَةً مِنْ لَنْدَنَ.</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Cairo is hotter than London.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a comparison noun such as حرارةً، برودةً، رطوبةً.</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WEATHER PATTERNS — DESCRIBING AND COMPARING WEATHER”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What is the weather like? Match the picture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نَافِذَةُ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heat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umbrella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snow · cold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الجَوُّ بَارِدٌ وَمُثْلِجٌ.</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الجَوُّ مُشْمِسٌ.</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الجَوُّ مُمْطِرٌ.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نَافِذَةُ الطَّقْسِ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heat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الجَوُّ مُشْمِسٌ.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sunny.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rain · umbrella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الجَوُّ مُمْطِرٌ.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rainy.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snow · cold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الجَوُّ بَارِدٌ وَمُثْلِجٌ.</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weather is cold and snowy.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الثُّلُوجُ</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الرِّيَاحُ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المَطَرُ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تَسْقُطُ الثُّلُوجُ</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تَهُبُّ الرِّيَاحُ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الأَقْصَى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الأَدْنَى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دَرَجَةٌ مِئَوِيَّةٌ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Weather phenomena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المَطَرُ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الثُّلُوجُ</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الرِّيَاحُ</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Forecast language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المَطَرُ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تَسْقُطُ الثُّلُوجُ</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تَهُبُّ الرِّيَاحُ</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Comparison and measurement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الأَقْصَى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الحَدُّ الأَدْنَى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دَرَجَةٌ مِئَوِيَّةٌ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يَرْتَفِعُ دَرَجَةُ الحَرَارَةِ إِلَى ٣٢ دَرَجَةً.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دَرَجَةُ الحَرَارَةِ فِي ٣٢ دَرَجَةً.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تَرْتَفِعُ دَرَجَةُ الحَرَارَةِ إِلَى ٣٢ دَرَجَةً.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المُتَوَقَّعِ أَنْ ___ دَرَجَةُ الحَرَارَةِ.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انْخَفَضَتْ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تَنْخَفِضَ</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سَتَنْخَفِضُ</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تَتَرَاوَحُ دَرَجَةُ الحَرَارَةِ مِنْ ١٨ إِلَى بَيْنَ ٢٥.</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تَتَرَاوَحُ دَرَجَةُ الحَرَارَةِ بَيْنَ ١٨ وَ٢٥ دَرَجَةً.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يَتَرَاوَحُ دَرَجَةُ الحَرَارَةِ بَيْنَ ١٨ وَ٢٥.</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رُطُوبَةً 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أَصْغَرُ رَطْبٌ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أَقَلُّ رُطُوبَةً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temperature sentence.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يَرْتَفِعُ دَرَجَةُ الحَرَارَةِ إِلَى ٣٢ دَرَجَةً.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تَرْتَفِعُ دَرَجَةُ الحَرَارَةِ فِي ٣٢ دَرَجَةً.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تَرْتَفِعُ دَرَجَةُ الحَرَارَةِ إِلَى ٣٢ دَرَجَةً.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daraja (f.) + ilā.</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المُتَوَقَّعِ أَنْ ___ دَرَجَةُ الحَرَارَةِ.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انْخَفَضَتْ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تَنْخَفِضَ</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سَتَنْخَفِضُ</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 present verb in -a.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تَتَرَاوَحُ دَرَجَةُ الحَرَارَةِ مِنْ ١٨ إِلَى بَيْنَ ٢٥.</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تَتَرَاوَحُ دَرَجَةُ الحَرَارَةِ بَيْنَ ١٨ وَ٢٥ دَرَجَةً.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يَتَرَاوَحُ دَرَجَةُ الحَرَارَةِ بَيْنَ ١٨ وَ٢٥.</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bayna … wa …; daraja → ta-.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“less humid than”?</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رُطُوبَةً 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أَصْغَرُ رَطْبٌ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أَقَلُّ رُطُوبَةً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aqall = less.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يَسْقُطُ الثُّلُوجُ.</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al-thulūj is a non-human plural: ya- or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يَرْتَفِعُ دَرَجَةُ الحَرَارَةِ.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daraja is feminine: ya- or ta-?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القَاهِرَةُ أَكْثَرُ حَارٌّ مِنْ لَنْدَنَ.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akthar + adjective or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يَسْقُطُ الثُّلُوجُ.</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تَسْقُطُ الثُّلُوجُ.</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الثلوج</a:t>
            </a:r>
            <a:pPr algn="l" indent="0" marL="0">
              <a:buNone/>
            </a:pPr>
            <a:r>
              <a:rPr lang="en-US" sz="1150" b="1" dirty="0">
                <a:solidFill>
                  <a:srgbClr val="1B3B6F"/>
                </a:solidFill>
                <a:latin typeface="Calibri" pitchFamily="34" charset="0"/>
                <a:cs typeface="Amiri" pitchFamily="2" charset="-78"/>
              </a:rPr>
              <a:t> is treated as feminine, so the verb begins with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يَرْتَفِعُ دَرَجَةُ الحَرَارَةِ.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تَرْتَفِعُ دَرَجَةُ الحَرَارَةِ.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درجة</a:t>
            </a:r>
            <a:pPr algn="l" indent="0" marL="0">
              <a:buNone/>
            </a:pPr>
            <a:r>
              <a:rPr lang="en-US" sz="1150" b="1" dirty="0">
                <a:solidFill>
                  <a:srgbClr val="1B3B6F"/>
                </a:solidFill>
                <a:latin typeface="Calibri" pitchFamily="34" charset="0"/>
                <a:cs typeface="Amiri" pitchFamily="2" charset="-78"/>
              </a:rPr>
              <a:t> is feminine.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القَاهِرَةُ أَكْثَرُ حَارٌّ مِنْ لَنْدَنَ.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القَاهِرَةُ أَكْثَرُ حَرَارَةً مِنْ لَنْدَنَ.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أكثر</a:t>
            </a:r>
            <a:pPr algn="l" indent="0" marL="0">
              <a:buNone/>
            </a:pPr>
            <a:r>
              <a:rPr lang="en-US" sz="1150" b="1" dirty="0">
                <a:solidFill>
                  <a:srgbClr val="1B3B6F"/>
                </a:solidFill>
                <a:latin typeface="Calibri" pitchFamily="34" charset="0"/>
                <a:cs typeface="Amiri" pitchFamily="2" charset="-78"/>
              </a:rPr>
              <a:t> + verbal noun in the accusative: </a:t>
            </a:r>
            <a:pPr algn="l" indent="0" marL="0">
              <a:buNone/>
            </a:pPr>
            <a:r>
              <a:rPr lang="ar-SA" altLang="en-US" sz="1500" b="1" dirty="0">
                <a:solidFill>
                  <a:srgbClr val="1B3B6F"/>
                </a:solidFill>
                <a:latin typeface="Amiri" pitchFamily="2" charset="-78"/>
                <a:ea typeface="Amiri" pitchFamily="2" charset="-78"/>
                <a:cs typeface="Amiri" pitchFamily="2" charset="-78"/>
              </a:rPr>
              <a:t>حرارةً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an Arab-world weather forecast</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Sunny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Foggy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23°C</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13°C</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33°C</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40°C</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 will begin</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fall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12°C</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20°C</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noon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 will blow</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sun will rise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temperature will reach 33°C</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القَاهِرَةِ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 وَثَلَاثِينَ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الرِّبَاطِ</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مَرْحَبًا بِكُمْ فِي النَّشْرَةِ الجَوِّيَّةِ.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to the weather forecast.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فِي القَاهِرَةِ سَتُشْرِقُ الشَّمْسُ، وَسَتَرْتَفِعُ دَرَجَةُ الحَرَارَةِ إِلَى ثَلَاثٍ وَثَلَاثِينَ دَرَجَةً.</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Cairo the sun will shine, and the temperature will rise to 33 degrees.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فِي عَمَّانَ فَمِنَ المُتَوَقَّعِ أَنْ تَنْخَفِضَ دَرَجَةُ الحَرَارَةِ لَيْلًا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Amman, the temperature is expected to fall at night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إِلَى اثْنَتَيْ عَشْرَةَ دَرَجَةً.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12 degrees.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الرِّبَاطِ سَيَسْقُطُ المَطَرُ صَبَاحًا، ثُمَّ تَهُبُّ رِيَاحٌ قَوِيَّةٌ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Rabat rain will fall in the morning, then strong winds will blow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weather be like in Cairo?</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Sunny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Foggy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ستشرق الشمس</a:t>
            </a:r>
            <a:pPr algn="l" indent="0" marL="0">
              <a:buNone/>
            </a:pPr>
            <a:r>
              <a:rPr lang="en-US" sz="1050" i="1" dirty="0">
                <a:solidFill>
                  <a:srgbClr val="8A6D1E"/>
                </a:solidFill>
                <a:latin typeface="Calibri" pitchFamily="34" charset="0"/>
                <a:cs typeface="Amiri" pitchFamily="2" charset="-78"/>
              </a:rPr>
              <a:t> means it will be sunny.</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Cairo’s maximum temperature?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23°C</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13°C</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33°C</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says </a:t>
            </a:r>
            <a:pPr algn="l" indent="0" marL="0">
              <a:buNone/>
            </a:pPr>
            <a:r>
              <a:rPr lang="ar-SA" altLang="en-US" sz="1350" dirty="0">
                <a:solidFill>
                  <a:srgbClr val="8A6D1E"/>
                </a:solidFill>
                <a:latin typeface="Amiri" pitchFamily="2" charset="-78"/>
                <a:ea typeface="Amiri" pitchFamily="2" charset="-78"/>
                <a:cs typeface="Amiri" pitchFamily="2" charset="-78"/>
              </a:rPr>
              <a:t>ثلاث وثلاثين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Amman at night?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40°C</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 will begin</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temperature will fall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تنخفض درجة الحرارة ليلاً.</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Amman’s night temperature?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12°C</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20°C</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gives </a:t>
            </a:r>
            <a:pPr algn="l" indent="0" marL="0">
              <a:buNone/>
            </a:pPr>
            <a:r>
              <a:rPr lang="ar-SA" altLang="en-US" sz="1350" dirty="0">
                <a:solidFill>
                  <a:srgbClr val="8A6D1E"/>
                </a:solidFill>
                <a:latin typeface="Amiri" pitchFamily="2" charset="-78"/>
                <a:ea typeface="Amiri" pitchFamily="2" charset="-78"/>
                <a:cs typeface="Amiri" pitchFamily="2" charset="-78"/>
              </a:rPr>
              <a:t>اثنتي عشرة درجة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will rain fall in Rabat?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week</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morning</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noon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سيسقط المطر صباحًا.</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in Rabat in the evening?</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 will blow</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sun will rise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temperature will reach 33°C</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تهب رياح قوية مساءً.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القَاهِرَةِ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 وَثَلَاثِينَ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الرِّبَاطِ</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Speaking: compare weather patterns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الطَّقْسُ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الطَّقْسِ فِي مَدِينَتَيْنِ.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الطَّقْسُ المُتَوَقَّعُ غَدًا؟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فَصْلٍ تُفَضِّلُ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2" charset="-78"/>
                <a:ea typeface="Amiri" pitchFamily="2" charset="-78"/>
                <a:cs typeface="Amiri" pitchFamily="2" charset="-78"/>
              </a:rPr>
              <a:t>اليَوْمَ تُشْرِقُ الشَّمْسُ / يَسْقُطُ المَطَرُ ، وَدَرَجَةُ الحَرَارَةِ ___ .</a:t>
            </a:r>
            <a:endParaRPr lang="ar-SA" sz="10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أَكْثَرُ حَرَارَةً مِنْ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المُتَوَقَّعِ أَنْ ___ غَدًا.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فَصْلَ ___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يَخْتَلِفُ الطَّقْسُ بَيْنَ مَدِينَتَيْنِ؟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does the weather differ between two cities?</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دُبَيُّ أَكْثَرُ حَرَارَةً مِنْ عَمَّانَ، بَيْنَمَا عَمَّانُ أَقَلُّ رُطُوبَةً فِي فَصْلِ الشِّتَاءِ.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Dubai is hotter than Amman, whereas Amman is less humid in winter.</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Today’s weather in two cities: three weather verbs and one temperature.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cities with akthar / aqall … min and a temperature range.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two cities, add a forecast (min al-mutawaqqaʿ an) and practical advice.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حَرَارَةً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hotter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أَقَلُّ رُطُوبَةً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less humid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تَتَرَاوَحُ دَرَجَةُ الحَرَارَةِ بَيْنَ ______ وَ ______ دَرَجَةً.</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ranges between … and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المُتَوَقَّعِ أَنْ ______ غَدًا.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expected that … tomorrow.</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______ تُشْرِقُ الشَّمْسُ.</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 the sun shines.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______ يَسْقُطُ المَطَرُ.</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 it rains.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تَهُبُّ الرِّيَاحُ بِقُوَّةٍ.</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winds blow strongly.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تَرْتَفِعُ دَرَجَةُ الحَرَارَةِ إِلَى ______ دَرَجَةً.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temperature rises to … degrees.</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يَسْقُطُ المَطَرُ  ·  تَسْقُطُ الثُّلُوجُ  ·  تَهُبُّ الرِّيَاحُ  ·  تُشْرِقُ الشَّمْسُ  ·  تَرْتَفِعُ  ·  تَنْخَفِضُ  ·  دَرَجَةُ الحَرَارَةِ  ·  أَكْثَرُ حَرَارَةً مِنْ  ·  أَقَلُّ رُطُوبَةً مِنْ  ·  أَكْثَرُ بُرُودَةً  ·  تَتَرَاوَحُ بَيْنَ  ·  مِنَ المُتَوَقَّعِ أَنْ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comparing weather in two Arabic-speaking cities or regions.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three weather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 temperature or range.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two accurate comparisons.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forecast and practical conclusion.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تَخْتَلِفُ أَحْوَالُ الطَّقْسِ مِنْ مَنْطِقَةٍ إِلَى أُخْرَى</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weather conditions differ from one region to another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 تَتَجَاوَزُ أَرْبَعِينَ دَرَجَةً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may exceed forty degrees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تَكُونُ الرُّطُوبَةُ مُرْتَفِعَةً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humidity is high</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المُسَافِرِ أَنْ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traveller must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الرِّحْلَةِ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the trip</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تَخْتَلِفُ أَحْوَالُ الطَّقْسِ فِي العَالَمِ العَرَبِيِّ مِنْ مَنْطِقَةٍ إِلَى أُخْرَى. فِي دُبَيَّ تَرْتَفِعُ دَرَجَةُ الحَرَارَةِ صَيْفًا، وَقَدْ تَتَجَاوَزُ أَرْبَعِينَ دَرَجَةً مِئَوِيَّةً. أَمَّا فِي عَمَّانَ فَالجَوُّ أَكْثَرُ بُرُودَةً شِتَاءً، وَمِنَ المُتَوَقَّعِ أَنْ تَسْقُطَ الثُّلُوجُ فِي بَعْضِ الأَيَّامِ. وَفِي الرِّبَاطِ يَسْقُطُ المَطَرُ أَكْثَرَ مِنْ دُبَيَّ، كَمَا تَهُبُّ الرِّيَاحُ عَلَى السَّاحِلِ. لِذٰلِكَ، يَجِبُ عَلَى المُسَافِرِ أَنْ يَقْرَأَ النَّشْرَةَ الجَوِّيَّةَ قَبْلَ الرِّحْلَةِ.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Weather conditions in the Arab world differ from one region to another. In Dubai the temperature rises in summer and may exceed forty degrees Celsius. In Amman the weather is colder in winter, and snow is expected to fall on some days. In Rabat it rains more than in Dubai, and winds blow on the coast. So a traveller should read the weather forecast before the trip.</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weather verbs that agree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temperature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forecast and advice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weather verbs agree (ya- / ta-).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temperature.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akthar / aqall + noun in -an + min.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temperature range.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Forecast: min al-mutawaqqaʿ an + verb in -a.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الثُّلُوجُ فِي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الثُّلُوجَ فِي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forecast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المُتَوَقَّعِ تَهُبُّ الرِّيَاحَ.</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المُتَوَقَّعِ أَنْ تَهُبَّ الرِّيَاحُ.</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المُتَوَقَّعِ أَنْ يَهُبُّ الرِّيَاحُ.</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جُدَّةُ أَكْثَرُ رُطُوبَةً مِنَ الرِّيَاضِ.</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جُدَّةُ أَكْثَرُ رَطْبَةٌ إِلَى الرِّيَاضِ.</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جُدَّةُ رُطُوبَةٌ مِنْ أَكْثَرِ الرِّيَاضِ.</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weather agreement?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تَسْقُطُ الثُّلُوجُ فِي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يَسْقُطُ الثُّلُوجُ فِي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تَسْقُطَ الثُّلُوجَ فِي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is treated as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forecast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المُتَوَقَّعِ تَهُبُّ الرِّيَاحَ.</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 المُتَوَقَّعِ أَنْ تَهُبَّ الرِّيَاحُ.</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 المُتَوَقَّعِ أَنْ يَهُبُّ الرِّيَاحُ.</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use subjunctive </a:t>
            </a:r>
            <a:pPr algn="l" indent="0" marL="0">
              <a:buNone/>
            </a:pPr>
            <a:r>
              <a:rPr lang="ar-SA" altLang="en-US" sz="1350" dirty="0">
                <a:solidFill>
                  <a:srgbClr val="8A6D1E"/>
                </a:solidFill>
                <a:latin typeface="Amiri" pitchFamily="2" charset="-78"/>
                <a:ea typeface="Amiri" pitchFamily="2" charset="-78"/>
                <a:cs typeface="Amiri" pitchFamily="2" charset="-78"/>
              </a:rPr>
              <a:t>تهبَّ</a:t>
            </a:r>
            <a:pPr algn="l" indent="0" marL="0">
              <a:buNone/>
            </a:pPr>
            <a:r>
              <a:rPr lang="en-US" sz="1050" i="1" dirty="0">
                <a:solidFill>
                  <a:srgbClr val="8A6D1E"/>
                </a:solidFill>
                <a:latin typeface="Calibri" pitchFamily="34" charset="0"/>
                <a:cs typeface="Amiri" pitchFamily="2" charset="-78"/>
              </a:rPr>
              <a:t> and feminine agreement.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comparison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جُدَّةُ أَكْثَرُ رُطُوبَةً مِنَ الرِّيَاضِ.</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جُدَّةُ أَكْثَرُ رَطْبَةٌ إِلَى الرِّيَاضِ.</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جُدَّةُ رُطُوبَةٌ مِنْ أَكْثَرِ الرِّيَاضِ.</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 رطوبةً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regional weather differences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تُشِيرُ النَّشْرَةُ الجَوِّيَّةُ إِلَى اخْتِلَافٍ كَبِيرٍ بَيْنَ مَنَاطِقِ البِلَادِ. فِي السَّاحِلِ تَتَرَاوَحُ دَرَجَةُ الحَرَارَةِ بَيْنَ ثَمَانِيَ عَشْرَةَ وَخَمْسٍ وَعِشْرِينَ دَرَجَةً، وَتَكُونُ الرُّطُوبَةُ مُرْتَفِعَةً. أَمَّا فِي الدَّاخِلِ فَالجَوُّ أَكْثَرُ حَرَارَةً وَأَقَلُّ رُطُوبَةً. وَمِنَ المُتَوَقَّعِ أَنْ تَهُبَّ رِيَاحٌ قَوِيَّةٌ فِي بَعْضِ المَنَاطِقِ الجَنُوبِيَّةِ.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تُشِيرُ … إِلَى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indicates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اخْتِلَافٍ كَبِيرٍ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big difference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مَنَاطِقِ البِلَادِ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country’s regions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تَتَرَاوَحُ</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ranges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ثَمَانِيَ عَشْرَةَ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eighteen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خَمْسٍ وَعِشْرِينَ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twenty-five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high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الجَوُّ</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weather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أَقَلُّ رُطُوبَةً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humid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الجَنُوبِيَّةِ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southern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 weather everywhere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regional differences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winter snow</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25–35°C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8–15°C</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18–25°C</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Humidity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Snowfall</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Altitude</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Colder and wetter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Hotter and less humid</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Exactly the same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Strong winds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heat-free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Heavy snow</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الرَّغْمِ مِنْ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المُتَوَقَّعِ أَنْ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forecast highlight?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Identical weather everywhere</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Large regional differences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winter snow</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mentions </a:t>
            </a:r>
            <a:pPr algn="l" indent="0" marL="0">
              <a:buNone/>
            </a:pPr>
            <a:r>
              <a:rPr lang="ar-SA" altLang="en-US" sz="1350" dirty="0">
                <a:solidFill>
                  <a:srgbClr val="8A6D1E"/>
                </a:solidFill>
                <a:latin typeface="Amiri" pitchFamily="2" charset="-78"/>
                <a:ea typeface="Amiri" pitchFamily="2" charset="-78"/>
                <a:cs typeface="Amiri" pitchFamily="2" charset="-78"/>
              </a:rPr>
              <a:t>اختلاف كبير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temperature range is given for the coast?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25–35°C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8–15°C</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18–25°C</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coastal range is 18 to 25.</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high on the coast?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Humidity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Snowfall</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Altitude</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الرطوبة مرتفعة.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interior compared with the coast?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Colder and wetter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Hotter and less humid</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Exactly the same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حرارةً وأقل رطوبةً.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expected in some southern regions?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Strong winds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heat-free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Heavy snow</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تهب رياح قوية.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introduces the forecast?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الرَّغْمِ مِنْ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المُتَوَقَّعِ أَنْ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 المتوقع أن</a:t>
            </a:r>
            <a:pPr algn="l" indent="0" marL="0">
              <a:buNone/>
            </a:pPr>
            <a:r>
              <a:rPr lang="en-US" sz="1050" i="1" dirty="0">
                <a:solidFill>
                  <a:srgbClr val="8A6D1E"/>
                </a:solidFill>
                <a:latin typeface="Calibri" pitchFamily="34" charset="0"/>
                <a:cs typeface="Amiri" pitchFamily="2" charset="-78"/>
              </a:rPr>
              <a:t> signals a forecast.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Weather Patterns — Describing and Comparing Weather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forecast sentence has correct agreement?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 الرِّيَاحُ بِقُوَّةٍ.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بِقُوَّةٍ.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بِقُوَّةٍ.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says that the temperature will fall at night?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مِنَ المُتَوَقَّعِ أَنْ تَنْخَفِضَ دَرَجَةُ الحَرَارَةِ لَيْلًا.</a:t>
            </a:r>
            <a:endParaRPr lang="ar-SA" sz="15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مِنَ المُتَوَقَّعِ تَنْخَفِضُ دَرَجَةَ الحَرَارَةِ.</a:t>
            </a:r>
            <a:endParaRPr lang="ar-SA" sz="15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مِنَ المُتَوَقَّعِ أَنْ يَنْخَفِضُ دَرَجَةُ الحَرَارَةِ لَيْلًا.</a:t>
            </a:r>
            <a:endParaRPr lang="ar-SA" sz="15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بَيْرُوتُ أَكْثَرُ رَطْبٌ إِلَى عَمَّانَ.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بَيْرُوتُ رُطُوبَةً أَكْثَرَ عَمَّانَ.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بَيْرُوتُ أَكْثَرُ رُطُوبَةً مِنْ عَمَّانَ.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“maximum temperature”?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 الأَدْنَى لِلرُّطُوبَةِ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مَوْجَةُ بَرْدٍ</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 الأَقْصَى لِدَرَجَةِ الحَرَارَةِ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describes rain?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المَطَرُ فِي المَسَاءِ.</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يَسْقُطُ المَطَرَاتُ فِي المَسَاءِ.</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تَسْقُطُ المَطَرَ فِي المَسَاءِ.</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valid temperature range.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تَتَرَاوَحُ مِنْ ٢٠ بَيْنَ ٢٨.</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تَتَرَاوَحُ بَيْنَ ٢٠ وَ٢٨ دَرَجَةً.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يَتَرَاوَحُ بَيْنَ ٢٠ إِلَى ٢٨ دَرَجَةً.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forecast sentence has correct agreement?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 الرِّيَاحُ بِقُوَّةٍ.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 الرِّيَاحُ بِقُوَّةٍ.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تَهُبَّ الرِّيَاحَ بِقُوَّةٍ.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sentence says that the temperature will fall at night?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المُتَوَقَّعِ أَنْ تَنْخَفِضَ دَرَجَةُ الحَرَارَةِ لَيْلًا.</a:t>
            </a:r>
            <a:endParaRPr lang="ar-SA" sz="15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مِنَ المُتَوَقَّعِ تَنْخَفِضُ دَرَجَةَ الحَرَارَةِ.</a:t>
            </a:r>
            <a:endParaRPr lang="ar-SA" sz="15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مِنَ المُتَوَقَّعِ أَنْ يَنْخَفِضُ دَرَجَةُ الحَرَارَةِ لَيْلًا.</a:t>
            </a:r>
            <a:endParaRPr lang="ar-SA" sz="15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 subjunctive </a:t>
            </a:r>
            <a:pPr algn="l" indent="0" marL="0">
              <a:buNone/>
            </a:pPr>
            <a:r>
              <a:rPr lang="ar-SA" altLang="en-US" sz="1350" dirty="0">
                <a:solidFill>
                  <a:srgbClr val="8A6D1E"/>
                </a:solidFill>
                <a:latin typeface="Amiri" pitchFamily="2" charset="-78"/>
                <a:ea typeface="Amiri" pitchFamily="2" charset="-78"/>
                <a:cs typeface="Amiri" pitchFamily="2" charset="-78"/>
              </a:rPr>
              <a:t>تنخفضَ</a:t>
            </a:r>
            <a:pPr algn="l" indent="0" marL="0">
              <a:buNone/>
            </a:pPr>
            <a:r>
              <a:rPr lang="en-US" sz="1050" i="1" dirty="0">
                <a:solidFill>
                  <a:srgbClr val="8A6D1E"/>
                </a:solidFill>
                <a:latin typeface="Calibri" pitchFamily="34" charset="0"/>
                <a:cs typeface="Amiri" pitchFamily="2" charset="-78"/>
              </a:rPr>
              <a:t> and feminine agreement.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بَيْرُوتُ أَكْثَرُ رَطْبٌ إِلَى عَمَّانَ.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بَيْرُوتُ رُطُوبَةً أَكْثَرَ عَمَّانَ.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بَيْرُوتُ أَكْثَرُ رُطُوبَةً مِنْ عَمَّانَ.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أكثر رطوبةً 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“maximum temperature”?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الحَدُّ الأَدْنَى لِلرُّطُوبَةِ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مَوْجَةُ بَرْدٍ</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الحَدُّ الأَقْصَى لِدَرَجَةِ الحَرَارَةِ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الحد الأقصى</a:t>
            </a:r>
            <a:pPr algn="l" indent="0" marL="0">
              <a:buNone/>
            </a:pPr>
            <a:r>
              <a:rPr lang="en-US" sz="1050" i="1" dirty="0">
                <a:solidFill>
                  <a:srgbClr val="8A6D1E"/>
                </a:solidFill>
                <a:latin typeface="Calibri" pitchFamily="34" charset="0"/>
                <a:cs typeface="Amiri" pitchFamily="2" charset="-78"/>
              </a:rPr>
              <a:t> is the maximum.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correctly describes rain?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يَسْقُطُ المَطَرُ فِي المَسَاءِ.</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يَسْقُطُ المَطَرَاتُ فِي المَسَاءِ.</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تَسْقُطُ المَطَرَ فِي المَسَاءِ.</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المطر</a:t>
            </a:r>
            <a:pPr algn="l" indent="0" marL="0">
              <a:buNone/>
            </a:pPr>
            <a:r>
              <a:rPr lang="en-US" sz="1050" i="1" dirty="0">
                <a:solidFill>
                  <a:srgbClr val="8A6D1E"/>
                </a:solidFill>
                <a:latin typeface="Calibri" pitchFamily="34" charset="0"/>
                <a:cs typeface="Amiri" pitchFamily="2" charset="-78"/>
              </a:rPr>
              <a:t> is masculine singular.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valid temperature range.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تَتَرَاوَحُ مِنْ ٢٠ بَيْنَ ٢٨.</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تَتَرَاوَحُ بَيْنَ ٢٠ وَ٢٨ دَرَجَةً.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يَتَرَاوَحُ بَيْنَ ٢٠ إِلَى ٢٨ دَرَجَةً.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is </a:t>
            </a:r>
            <a:pPr algn="l" indent="0" marL="0">
              <a:buNone/>
            </a:pPr>
            <a:r>
              <a:rPr lang="ar-SA" altLang="en-US" sz="1350" dirty="0">
                <a:solidFill>
                  <a:srgbClr val="8A6D1E"/>
                </a:solidFill>
                <a:latin typeface="Amiri" pitchFamily="2" charset="-78"/>
                <a:ea typeface="Amiri" pitchFamily="2" charset="-78"/>
                <a:cs typeface="Amiri" pitchFamily="2" charset="-78"/>
              </a:rPr>
              <a:t>تتراوح بين</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و</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D4-L02 · Weather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D4-L03 · Environmental Problems — Causes and Effects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التَّلَوُّثُ</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pollution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النُّفَايَاتُ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waste, rubbish</a:t>
            </a:r>
            <a:pPr indent="0" marL="0">
              <a:buNone/>
            </a:pPr>
            <a:r>
              <a:rPr lang="ar-SA" sz="1000" i="1" dirty="0">
                <a:solidFill>
                  <a:srgbClr val="5A6472"/>
                </a:solidFill>
                <a:latin typeface="Calibri" pitchFamily="34" charset="0"/>
                <a:ea typeface="Amiri" pitchFamily="2" charset="-78"/>
                <a:cs typeface="Amiri" pitchFamily="2" charset="-78"/>
              </a:rPr>
              <a:t>  sing. نُفَايَةٌ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المَصَانِعُ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factories</a:t>
            </a:r>
            <a:pPr indent="0" marL="0">
              <a:buNone/>
            </a:pPr>
            <a:r>
              <a:rPr lang="ar-SA" sz="1000" i="1" dirty="0">
                <a:solidFill>
                  <a:srgbClr val="5A6472"/>
                </a:solidFill>
                <a:latin typeface="Calibri" pitchFamily="34" charset="0"/>
                <a:ea typeface="Amiri" pitchFamily="2" charset="-78"/>
                <a:cs typeface="Amiri" pitchFamily="2" charset="-78"/>
              </a:rPr>
              <a:t>  sing. مَصْنَعٌ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بِسَبَبِ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because of</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يُؤَدِّي إِلَى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leads to</a:t>
            </a:r>
            <a:pPr indent="0" marL="0">
              <a:buNone/>
            </a:pPr>
            <a:r>
              <a:rPr lang="ar-SA" sz="1000" i="1" dirty="0">
                <a:solidFill>
                  <a:srgbClr val="5A6472"/>
                </a:solidFill>
                <a:latin typeface="Calibri" pitchFamily="34" charset="0"/>
                <a:ea typeface="Amiri" pitchFamily="2" charset="-78"/>
                <a:cs typeface="Amiri" pitchFamily="2" charset="-78"/>
              </a:rPr>
              <a:t>  تُؤَدِّي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environmental problem in your town and one cause.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المُشْكِلَاتِ فِي مَدِينَتِي … بِسَبَبِ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weather words and verbs; write a 5-sentence forecast for tomorrow.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London and an Arab city in 80–100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compare two cities with a forecast and advice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D4-L03 · Environmental Problems — Causes and Effects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المُشْكِلَاتُ البِيئِيَّةُ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weather word is the subject — ya- for al-maṭar, ta- for al-shams, al-riyāḥ, al-thulūj, darajat al-ḥarāra.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D4-L02 · Weather Patterns — Describing and Comparing Weather</dc:title>
  <dc:subject>PptxGenJS Presentation</dc:subject>
  <dc:creator>Al Madina Online School · Arabic Department</dc:creator>
  <cp:lastModifiedBy>Al Madina Online School · Arabic Department</cp:lastModifiedBy>
  <cp:revision>1</cp:revision>
  <dcterms:created xsi:type="dcterms:W3CDTF">2026-10-11T06:40:50Z</dcterms:created>
  <dcterms:modified xsi:type="dcterms:W3CDTF">2026-10-11T06:40:50Z</dcterms:modified>
</cp:coreProperties>
</file>