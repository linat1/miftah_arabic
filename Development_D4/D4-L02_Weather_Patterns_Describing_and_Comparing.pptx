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D4-L02. The website lesson “Weather Patterns — Describing and Comparing Weather”: vocabulary, grammar rules and quiz, patterns, common mistakes, sorter, listening, reading, speaking prompts and model, writing task and model, differentiation, final check and the lesson mission. Picture match: website visual game “Weather Patterns — Describing and Comparing Weather”.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weather words + four forecast verbs with the right first letter (يَسْقُطُ المَطَرُ but تَسْقُطُ الثُّلُوجُ / تَهُبُّ الرِّيَاحُ / تُشْرِقُ الشَّمْسُ) and one temperature. Develop: comparison (أَكْثَرُ حَرَارَةً مِنْ) and a range (تَتَرَاوَحُ بَيْنَ … وَ …). Stretch: a forecast with مِنَ المُتَوَقَّعِ أَنْ + verb in -a and a practical conclusion.
• Builds on D4-L01 (agreement: non-human plurals are feminine → الثُّلُوجُ / الرِّيَاحُ take ta-) and D3-L05 (comparison with min).
• UK link: compare London with Cairo / Amman / Dubai — students know UK weather well!
• Numbers: keep temperatures in digits on the board; say them in Arabic only for Stretch.
• TEACHER-WRITTEN ITEMS: several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D4-L01. Questions 3–4 retrieve D4-L01 (agreement, yattasimu bi-); question 5 retrieves D3-L05 (comparison with min).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“falls the rain”, “blow the winds” — and the verb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رطوبت، برق are shared. CAREFUL: Urdu موسم means “the weather”; Arabic مَوْسِمٌ means a SEASON — Arabic weather is الطَّقْسُ or الجَوُّ.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vocabulary (1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vocabulary (2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vocabulary (1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vocabulary (2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vocabulary). Hear → Say → See → Use. Transliteration is printed for Core students (cover it for Develop/Stretch).
FLEX: teach if time allows; otherwise these are on the website vocabulary tab for homework.
Comparison and measurement (FLEX for Core). أَكْثَرُ / أَقَلُّ + a noun in -an: أَكْثَرُ حَرَارَةً، أَقَلُّ رُطُوبَةً.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“Natural phenomena are grammatical subjects” (the verb agrees with the named phenomenon: المطر masculine; الثلوج and الرياح treated as feminine) and “Temperature changes” (درجة الحرارة is feminine, so use ترتفع and تنخفض). Website examples as shown.
Website mistakes: يَسْقُطُ الثُّلُوجُ ✗ → تَسْقُطُ الثُّلُوجُ ✓ · يَرْتَفِعُ دَرَجَةُ الحَرَارَةِ ✗ → تَرْتَفِعُ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“Comparing weather” (أَكْثَرُ / أَقَلُّ + verbal noun + مِنْ: use a comparison noun such as حَرَارَةً، بُرُودَةً، رُطُوبَةً) and “Forecasting” (مِنَ المُتَوَقَّعِ أَنْ + subjunctive present). Website examples as shown; the range is from the vocabulary and reading text.
Short future (D3-L04) also works in a forecast: سَتُشْرِقُ الشَّمْسُ، سَيَسْقُطُ المَطَرُ (from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Natural phenomena are grammatical subjects: The verb agrees with the named phenomenon: المطر masculine; الثلوج and الرياح treated as feminine.
• Temperature changes: درجة الحرارة is feminine, so use ترتفع and تنخفض.
• Comparing weather: Use a comparison noun such as حرارةً، برودةً، رطوبةً.
• Forecasting: After أن, a sound-ending present verb takes the subjunctive ending.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read as a model, plus one comparison sentence. Think aloud: “Which weather word is the subject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(Core prompt teacher-added) and website model. Fun task: one student is the TV weather presenter (Stretch) and reads a 30-second forecast for London and an Arab capital. To a girl: أَيُّ فَصْلٍ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تَرْتَفِعُ دَرَجَةُ الحَرَارَةِ، تَسْقُطَ الثُّلُوجُ، يَسْقُطُ المَطَرُ، تَهُبُّ الرِّيَاحُ · أَرْبَعِينَ دَرَجَةً مِئَوِيَّةً · أَكْثَرُ بُرُودَةً · مِنَ المُتَوَقَّعِ أَنْ تَسْقُطَ · يَجِبُ عَلَى المُسَافِرِ أَنْ يَقْرَأَ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(D4-L03 · Environmental Problems — Causes and Effects) will spend class time USING this language, so students prepare it tonight — short, simple, easy to access (school guidance: “Simple, Short, Interesting, Relevant, Easy to access”). The five words come from the website D4-L03 vocabulary (environmental problems, cause and effect).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Weather Patterns — Describing and Comparing Weather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أَنْمَاطُ الطَّقْسِ — وَصْفُ الطَّقْسِ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Give a weather forecast and compare places: the weather word is the subject of the verb (</a:t>
            </a:r>
            <a:pPr algn="l" indent="0" marL="0">
              <a:buNone/>
            </a:pPr>
            <a:r>
              <a:rPr lang="ar-SA" altLang="en-US" sz="1800" dirty="0">
                <a:solidFill>
                  <a:srgbClr val="C6D2E6"/>
                </a:solidFill>
                <a:latin typeface="Amiri" pitchFamily="34" charset="0"/>
                <a:ea typeface="Amiri" pitchFamily="34" charset="-122"/>
                <a:cs typeface="Amiri" pitchFamily="34" charset="-120"/>
              </a:rPr>
              <a:t>يَسْقُطُ المَطَرُ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تَهُبُّ الرِّيَاحُ</a:t>
            </a:r>
            <a:pPr algn="l" indent="0" marL="0">
              <a:buNone/>
            </a:pPr>
            <a:r>
              <a:rPr lang="en-US" sz="1400" dirty="0">
                <a:solidFill>
                  <a:srgbClr val="C6D2E6"/>
                </a:solidFill>
                <a:latin typeface="Calibri" pitchFamily="34" charset="0"/>
                <a:ea typeface="Calibri" pitchFamily="34" charset="-122"/>
                <a:cs typeface="Calibri" pitchFamily="34" charset="-120"/>
              </a:rPr>
              <a:t>), temperatures rise and fall, one city is “hotter than” another, and “it is expected that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verbs that agree, rising and falling temperatures, comparison and forecasts.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to a weather bulletin.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العَاصِفَةُ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دَرَجَةُ الحَرَارَةِ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climate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humidity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a:t>
            </a:r>
            <a:pPr algn="l" indent="0" marL="0">
              <a:buNone/>
            </a:pPr>
            <a:r>
              <a:rPr lang="ar-SA" altLang="en-US" sz="1650" b="1" dirty="0">
                <a:solidFill>
                  <a:srgbClr val="1B3B6F"/>
                </a:solidFill>
                <a:latin typeface="Amiri" pitchFamily="34" charset="0"/>
                <a:ea typeface="Amiri" pitchFamily="34" charset="-122"/>
                <a:cs typeface="Amiri" pitchFamily="34" charset="-120"/>
              </a:rPr>
              <a:t>جِبَالٌ</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يَتَّسِمُ السَّاحِلُ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مَنَاخٍ مُعْتَدِلٍ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العَاصِفَةُ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storm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دَرَجَةُ الحَرَارَةِ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climate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humidity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a:t>
            </a:r>
            <a:pPr algn="l" indent="0" marL="0">
              <a:buNone/>
            </a:pPr>
            <a:r>
              <a:rPr lang="ar-SA" altLang="en-US" sz="1650" b="1" dirty="0">
                <a:solidFill>
                  <a:srgbClr val="1B3B6F"/>
                </a:solidFill>
                <a:latin typeface="Amiri" pitchFamily="34" charset="0"/>
                <a:ea typeface="Amiri" pitchFamily="34" charset="-122"/>
                <a:cs typeface="Amiri" pitchFamily="34" charset="-120"/>
              </a:rPr>
              <a:t>جِبَالٌ</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عَالِيُونَ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عَالِيَةٌ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D4-L01: 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يَتَّسِمُ السَّاحِلُ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مَنَاخٍ مُعْتَدِلٍ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D3-L05: comparative +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“falls the rain”, “blow the winds” — and the verb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يَسْقُطُ</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المَطَرُ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تَهُبُّ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الرِّيَاحُ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تَرْتَفِعُ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دَرَجَةُ الحَرَارَةِ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weather phenomena and describe the weather.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weather verb agree with its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the weather in two places (</a:t>
            </a:r>
            <a:pPr algn="l" indent="0" marL="0">
              <a:buNone/>
            </a:pPr>
            <a:r>
              <a:rPr lang="ar-SA" altLang="en-US" sz="1700" dirty="0">
                <a:solidFill>
                  <a:srgbClr val="1F2A37"/>
                </a:solidFill>
                <a:latin typeface="Amiri" pitchFamily="34" charset="0"/>
                <a:ea typeface="Amiri" pitchFamily="34" charset="-122"/>
                <a:cs typeface="Amiri" pitchFamily="34" charset="-120"/>
              </a:rPr>
              <a:t>أَكْثَرُ …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today’s weather.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the weather verb agree.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the weather in two cities.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range.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forecast with “it is expected that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practical advice from a forecast.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phenomena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Comparison and measurement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‎مینہ / بارش‎ </a:t>
            </a:r>
            <a:pPr indent="0" marL="0">
              <a:buNone/>
            </a:pPr>
            <a:r>
              <a:rPr lang="en-US" sz="950" b="1" dirty="0">
                <a:solidFill>
                  <a:srgbClr val="2E8B57"/>
                </a:solidFill>
                <a:latin typeface="Calibri" pitchFamily="34" charset="0"/>
                <a:ea typeface="Calibri" pitchFamily="34" charset="-122"/>
                <a:cs typeface="Calibri" pitchFamily="34" charset="-120"/>
              </a:rPr>
              <a:t> bārish · rain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harārat · heat → temperature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rutūbat · humidity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‎موسم‎ </a:t>
            </a:r>
            <a:pPr indent="0" marL="0">
              <a:buNone/>
            </a:pPr>
            <a:r>
              <a:rPr lang="en-US" sz="950" b="1" dirty="0">
                <a:solidFill>
                  <a:srgbClr val="2E8B57"/>
                </a:solidFill>
                <a:latin typeface="Calibri" pitchFamily="34" charset="0"/>
                <a:ea typeface="Calibri" pitchFamily="34" charset="-122"/>
                <a:cs typeface="Calibri" pitchFamily="34" charset="-120"/>
              </a:rPr>
              <a:t> mausam · Urdu: weather · Arabic: season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 (and Urdu “electricity”)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 phenomena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as-su-ḥu-bu / al-ghu-yū-mu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 phenomena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Forecast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يَسْقُطُ 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 falls / it rains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yas-qu-ṭu 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تَسْقُطُ 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 falls / it snows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tas-qu-ṭu 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تَهُبُّ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winds blow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ta-hub-bu 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تُشْرِقُ 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sun shines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tush-ri-qu ash-sham-su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Forecast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تَرْتَفِعُ دَرَجَةُ الحَرَارَةِ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temperature 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tar-ta-fi-ʿu da-ra-ja-tu al-ḥa-rā-ra-ti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تَنْخَفِضُ دَرَجَةُ الحَرَارَةِ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temperature falls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tan-kha-fi-ḍu da-ra-ja-tu al-ḥa-rā-ra-ti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expected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al-mu-ta-waq-qa-ʿi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النَّشْرَةُ الجَوِّيَّةُ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weather forecast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an-nash-ra-tu al-jaw-wiy-ya-tu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Comparison and measurement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al-ḥad-du al-aq-ṣā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al-ḥad-du al-ad-nā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da-ra-ja-tun mi-ʾa-wiy-ya-tun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WEATHER IS THE SUBJECT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ya- or ta-? Check the weather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18" name="Text 15"/>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 ya-</a:t>
            </a:r>
            <a:endParaRPr lang="en-US" sz="1100" dirty="0"/>
          </a:p>
        </p:txBody>
      </p:sp>
      <p:sp>
        <p:nvSpPr>
          <p:cNvPr id="21" name="Text 18"/>
          <p:cNvSpPr txBox="1"/>
          <p:nvPr/>
        </p:nvSpPr>
        <p:spPr>
          <a:xfrm>
            <a:off x="56875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al-maṭar</a:t>
            </a:r>
            <a:endParaRPr lang="en-US" sz="1100" dirty="0"/>
          </a:p>
        </p:txBody>
      </p:sp>
      <p:sp>
        <p:nvSpPr>
          <p:cNvPr id="22" name="Text 19"/>
          <p:cNvSpPr txBox="1"/>
          <p:nvPr/>
        </p:nvSpPr>
        <p:spPr>
          <a:xfrm>
            <a:off x="548640"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يَسْقُطُ</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المَطَرُ.</a:t>
            </a:r>
            <a:endParaRPr lang="ar-SA" sz="1950" dirty="0"/>
          </a:p>
        </p:txBody>
      </p:sp>
      <p:sp>
        <p:nvSpPr>
          <p:cNvPr id="23" name="Text 20"/>
          <p:cNvSpPr txBox="1"/>
          <p:nvPr/>
        </p:nvSpPr>
        <p:spPr>
          <a:xfrm>
            <a:off x="502920"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rains.</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 → ta-</a:t>
            </a:r>
            <a:endParaRPr lang="en-US" sz="1100" dirty="0"/>
          </a:p>
        </p:txBody>
      </p:sp>
      <p:sp>
        <p:nvSpPr>
          <p:cNvPr id="28" name="Text 25"/>
          <p:cNvSpPr txBox="1"/>
          <p:nvPr/>
        </p:nvSpPr>
        <p:spPr>
          <a:xfrm>
            <a:off x="56875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al-thulūj (pl.)</a:t>
            </a:r>
            <a:endParaRPr lang="en-US" sz="1100" dirty="0"/>
          </a:p>
        </p:txBody>
      </p:sp>
      <p:sp>
        <p:nvSpPr>
          <p:cNvPr id="29" name="Text 26"/>
          <p:cNvSpPr txBox="1"/>
          <p:nvPr/>
        </p:nvSpPr>
        <p:spPr>
          <a:xfrm>
            <a:off x="548640"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تَسْقُطُ</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الثُّلُوجُ.</a:t>
            </a:r>
            <a:endParaRPr lang="ar-SA" sz="1950" dirty="0"/>
          </a:p>
        </p:txBody>
      </p:sp>
      <p:sp>
        <p:nvSpPr>
          <p:cNvPr id="30" name="Text 27"/>
          <p:cNvSpPr txBox="1"/>
          <p:nvPr/>
        </p:nvSpPr>
        <p:spPr>
          <a:xfrm>
            <a:off x="502920"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snows.</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 → ta-</a:t>
            </a:r>
            <a:endParaRPr lang="en-US" sz="1100" dirty="0"/>
          </a:p>
        </p:txBody>
      </p:sp>
      <p:sp>
        <p:nvSpPr>
          <p:cNvPr id="35" name="Text 32"/>
          <p:cNvSpPr txBox="1"/>
          <p:nvPr/>
        </p:nvSpPr>
        <p:spPr>
          <a:xfrm>
            <a:off x="56875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al-riyāḥ (pl.)</a:t>
            </a:r>
            <a:endParaRPr lang="en-US" sz="1100" dirty="0"/>
          </a:p>
        </p:txBody>
      </p:sp>
      <p:sp>
        <p:nvSpPr>
          <p:cNvPr id="36" name="Text 33"/>
          <p:cNvSpPr txBox="1"/>
          <p:nvPr/>
        </p:nvSpPr>
        <p:spPr>
          <a:xfrm>
            <a:off x="548640"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تَهُبُّ</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الرِّيَاحُ.</a:t>
            </a:r>
            <a:endParaRPr lang="ar-SA" sz="1950" dirty="0"/>
          </a:p>
        </p:txBody>
      </p:sp>
      <p:sp>
        <p:nvSpPr>
          <p:cNvPr id="37" name="Text 34"/>
          <p:cNvSpPr txBox="1"/>
          <p:nvPr/>
        </p:nvSpPr>
        <p:spPr>
          <a:xfrm>
            <a:off x="502920"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winds blow.</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ta-</a:t>
            </a:r>
            <a:endParaRPr lang="en-US" sz="1100" dirty="0"/>
          </a:p>
        </p:txBody>
      </p:sp>
      <p:sp>
        <p:nvSpPr>
          <p:cNvPr id="42" name="Text 39"/>
          <p:cNvSpPr txBox="1"/>
          <p:nvPr/>
        </p:nvSpPr>
        <p:spPr>
          <a:xfrm>
            <a:off x="56875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al-shams</a:t>
            </a:r>
            <a:endParaRPr lang="en-US" sz="1100" dirty="0"/>
          </a:p>
        </p:txBody>
      </p:sp>
      <p:sp>
        <p:nvSpPr>
          <p:cNvPr id="43" name="Text 40"/>
          <p:cNvSpPr txBox="1"/>
          <p:nvPr/>
        </p:nvSpPr>
        <p:spPr>
          <a:xfrm>
            <a:off x="548640"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تُشْرِقُ</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الشَّمْسُ.</a:t>
            </a:r>
            <a:endParaRPr lang="ar-SA" sz="1950" dirty="0"/>
          </a:p>
        </p:txBody>
      </p:sp>
      <p:sp>
        <p:nvSpPr>
          <p:cNvPr id="44" name="Text 41"/>
          <p:cNvSpPr txBox="1"/>
          <p:nvPr/>
        </p:nvSpPr>
        <p:spPr>
          <a:xfrm>
            <a:off x="502920"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sun shines.</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daraja (f.) → ta-</a:t>
            </a:r>
            <a:endParaRPr lang="en-US" sz="1100" dirty="0"/>
          </a:p>
        </p:txBody>
      </p:sp>
      <p:sp>
        <p:nvSpPr>
          <p:cNvPr id="47" name="Text 44"/>
          <p:cNvSpPr txBox="1"/>
          <p:nvPr/>
        </p:nvSpPr>
        <p:spPr>
          <a:xfrm>
            <a:off x="56875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darajatu …</a:t>
            </a:r>
            <a:endParaRPr lang="en-US" sz="1100" dirty="0"/>
          </a:p>
        </p:txBody>
      </p:sp>
      <p:sp>
        <p:nvSpPr>
          <p:cNvPr id="48" name="Text 45"/>
          <p:cNvSpPr txBox="1"/>
          <p:nvPr/>
        </p:nvSpPr>
        <p:spPr>
          <a:xfrm>
            <a:off x="548640"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تَرْتَفِعُ</a:t>
            </a:r>
            <a:pPr rtl="1" algn="ctr" indent="0" marL="0">
              <a:buNone/>
            </a:pPr>
            <a:r>
              <a:rPr lang="ar-SA" altLang="en-US" sz="1950" b="1" dirty="0">
                <a:solidFill>
                  <a:srgbClr val="1B3B6F"/>
                </a:solidFill>
                <a:latin typeface="Amiri" pitchFamily="34" charset="0"/>
                <a:ea typeface="Amiri" pitchFamily="34" charset="-122"/>
                <a:cs typeface="Amiri" pitchFamily="34" charset="-120"/>
              </a:rPr>
              <a:t> دَرَجَةُ الحَرَارَةِ إِلَى ٣٠ دَرَجَةً.</a:t>
            </a:r>
            <a:endParaRPr lang="ar-SA" sz="1950" dirty="0"/>
          </a:p>
        </p:txBody>
      </p:sp>
      <p:sp>
        <p:nvSpPr>
          <p:cNvPr id="49" name="Text 46"/>
          <p:cNvSpPr txBox="1"/>
          <p:nvPr/>
        </p:nvSpPr>
        <p:spPr>
          <a:xfrm>
            <a:off x="502920"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temperature rises to 30°.</a:t>
            </a:r>
            <a:endParaRPr lang="en-US" sz="9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comes FIRST and agrees with the weather word after it. tanẖafiḍu = falls · tartafiʿu = rises.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AND FORECAST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Hotter than … · it is expected that …</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أَكْثَرُ حَرَارَةً · مِنَ المُتَوَقَّعِ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حَرَارَةً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القَاهِرَةُ أَكْثَرُ حَرَارَةً مِنْ لَنْدَنَ.</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Cairo is hotter than London.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akthar + noun in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RANGE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تَتَرَاوَحُ بَيْنَ … وَ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تَتَرَاوَحُ دَرَجَةُ الحَرَارَةِ بَيْنَ ١٨ وَ٢٥ دَرَجَةً.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ranges between 18 and 25 degrees.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bayna … wa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 at night.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akthar + a NOUN, not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القَاهِرَةُ أَكْثَرُ حَرَارَةً مِنْ لَنْدَنَ.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القَاهِرَةُ أَكْثَرُ حَارٌّ مِنْ لَنْدَنَ.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for weather patterns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وَصْفِ الطَّقْسِ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فِي غَزِيرٍ.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إِلَى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مِنْ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فِي غَزِيرٍ.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al-maṭar is masculine → ya-.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إِلَى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al-riyāḥ → 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مِنْ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akthar + noun (-an) + min.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read a weather forecast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City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القَاهِرَةِ </a:t>
            </a:r>
            <a:pPr rtl="1" algn="ctr" indent="0" marL="0">
              <a:buNone/>
            </a:pPr>
            <a:r>
              <a:rPr lang="ar-SA" altLang="en-US" sz="2100" b="1" dirty="0">
                <a:solidFill>
                  <a:srgbClr val="D6336C"/>
                </a:solidFill>
                <a:latin typeface="Amiri" pitchFamily="34" charset="0"/>
                <a:ea typeface="Amiri" pitchFamily="34" charset="-122"/>
                <a:cs typeface="Amiri" pitchFamily="34" charset="-120"/>
              </a:rPr>
              <a:t>سَتُشْرِقُ</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الشَّمْسُ.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shams (f.)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Temperature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سَتَرْتَفِعُ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دَرَجَةُ الحَرَارَةِ إِلَى ٣٣ دَرَجَةً.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daraja (f.)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City 2 + rain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وَفِي الرِّبَاطِ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سَيَسْقُطُ</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المَطَرُ صَبَاحًا.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maṭar (m.) → 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القَاهِرَةُ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حَرَارَةً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الرِّبَاطِ.</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akthar + -an + min.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ya- (m.)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ta- (f.)</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مَرْحَبًا بِكُمْ فِي النَّشْرَةِ الجَوِّيَّةِ. فِي القَاهِرَةِ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سَتُشْرِقُ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الشَّمْسُ،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سَتَرْتَفِعُ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دَرَجَةُ الحَرَارَةِ إِلَى ٣٣ دَرَجَةً. وَفِي الرِّبَاطِ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سَيَسْقُطُ</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المَطَرُ صَبَاحًا، ثُمَّ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تَهُبُّ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رِيَاحٌ قَوِيَّةٌ مَسَاءً. إِذَنْ، القَاهِرَةُ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أَكْثَرُ حَرَارَةً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الرِّبَاطِ اليَوْمَ.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Welcome to the weather forecast. In Cairo the sun will shine and the temperature will rise to 33 degrees. In Rabat rain will fall in the morning, then strong winds will blow in the evening. So Cairo is hotter than Rabat today.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يَسْقُطُ المَطَرُ.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rains (rain falls).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verb agrees with the named phenomenon: المطر masculine; الثلوج and الرياح treated as feminine.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تَرْتَفِعُ دَرَجَةُ الحَرَارَةِ إِلَى ثَلَاثِينَ دَرَجَةً.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rises to thirty degrees.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درجة الحرارة is feminine, so use ترتفع and تنخفض.</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comparison noun such as حرارةً، برودةً، رطوبةً.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WEATHER PATTERNS — DESCRIBING AND COMPARING WEATHER”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What is the weather like? Match the picture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heat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umbrella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snow · cold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الجَوُّ بَارِدٌ وَمُثْلِجٌ.</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الجَوُّ مُشْمِسٌ.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الجَوُّ مُمْطِرٌ.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heat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الجَوُّ مُشْمِسٌ.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sunny.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umbrella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الجَوُّ مُمْطِرٌ.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rainy.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snow · cold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الجَوُّ بَارِدٌ وَمُثْلِجٌ.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cold and snowy.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إِلَى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فِي ٣٢ دَرَجَةً.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انْخَفَضَتْ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رُطُوبَةً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إِلَى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فِي ٣٢ دَرَجَةً.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daraja (f.) + ilā.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انْخَفَضَتْ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present verb in -a.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 … wa …; daraja → ta-.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رُطُوبَةً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less.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al-thulūj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daraja is feminine: ya- or 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akthar + adjective or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القَاهِرَةِ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وَثَلَاثِينَ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الرِّبَاطِ</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33 degrees.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إِلَى اثْنَتَيْ عَشْرَةَ دَرَجَةً.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12 degrees.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rain will fall in the morning, then strong winds will blow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القَاهِرَةِ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وَثَلَاثِينَ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الرِّبَاطِ</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34" charset="0"/>
                <a:ea typeface="Amiri" pitchFamily="34" charset="-122"/>
                <a:cs typeface="Amiri" pitchFamily="34" charset="-120"/>
              </a:rPr>
              <a:t>اليَوْمَ تُشْرِقُ الشَّمْسُ / يَسْقُطُ المَطَرُ ، وَدَرَجَةُ الحَرَارَةِ ___ .</a:t>
            </a:r>
            <a:endParaRPr lang="ar-SA" sz="10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حَرَارَةً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غَدًا.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فَصْلَ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Dubai is hotter than Amman, whereas Amman is less humid in winter.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Today’s weather in two cities: three weather verbs and one temperature.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cities with akthar / aqall … min and a temperature range.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cities, add a forecast (min al-mutawaqqaʿ an) and practical advice.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أَقَلُّ رُطُوبَةً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less humid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تَتَرَاوَحُ دَرَجَةُ الحَرَارَةِ بَيْنَ ______ وَ ______ دَرَجَةً.</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______ تُشْرِقُ الشَّمْسُ.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 the sun shines.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______ يَسْقُطُ المَطَرُ.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 it rains.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تَهُبُّ الرِّيَاحُ بِقُوَّةٍ.</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winds blow strongly.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تَرْتَفِعُ دَرَجَةُ الحَرَارَةِ إِلَى ______ دَرَجَةً.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rises to … degrees.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يَسْقُطُ المَطَرُ  ·  تَسْقُطُ الثُّلُوجُ  ·  تَهُبُّ الرِّيَاحُ  ·  تُشْرِقُ الشَّمْسُ  ·  تَرْتَفِعُ  ·  تَنْخَفِضُ  ·  دَرَجَةُ الحَرَارَةِ  ·  أَكْثَرُ حَرَارَةً مِنْ  ·  أَقَلُّ رُطُوبَةً مِنْ  ·  أَكْثَرُ بُرُودَةً  ·  تَتَرَاوَحُ بَيْنَ  ·  مِنَ المُتَوَقَّعِ أَنْ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تَتَجَاوَزُ أَرْبَعِينَ دَرَجَةً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may exceed forty degrees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تَكُونُ الرُّطُوبَةُ مُرْتَفِعَةً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humidity is high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المُسَافِرِ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traveller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الرِّحْلَةِ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the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may exceed forty degrees Celsius. In Amman the weather is colder in winter, and snow is expected to fall on some days. In Rabat it rains more than in Dubai, and winds blow on the coast. So a traveller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weather verbs that agree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 and advice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weather verbs agree (ya- /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temperature.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akthar / aqall + noun in -an +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temperature range.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Forecast: min al-mutawaqqaʿ an +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forecast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تَهُبُّ الرِّيَاحَ.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 تَهُبَّ الرِّيَاحُ.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 يَهُبُّ الرِّيَاحُ.</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forecast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المُتَوَقَّعِ تَهُبُّ الرِّيَاحَ.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المُتَوَقَّعِ أَنْ تَهُبَّ الرِّيَاحُ.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المُتَوَقَّعِ أَنْ يَهُبُّ الرِّيَاحُ.</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 and feminine agreement.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indicates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 كَبِيرٍ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big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ثَمَانِيَ عَشْرَةَ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eighteen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خَمْسٍ وَعِشْرِينَ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twenty-five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رُطُوبَةً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humid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Weather Patterns — Describing and Comparing Weather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forecast sentence has correct agreement?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بِقُوَّةٍ.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says that the temperature will fall at night?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15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المُتَوَقَّعِ تَنْخَفِضُ دَرَجَةَ الحَرَارَةِ.</a:t>
            </a:r>
            <a:endParaRPr lang="ar-SA" sz="15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المُتَوَقَّعِ أَنْ يَنْخَفِضُ دَرَجَةُ الحَرَارَةِ لَيْلًا.</a:t>
            </a:r>
            <a:endParaRPr lang="ar-SA" sz="15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بَيْرُوتُ أَكْثَرُ رَطْبٌ إِلَى عَمَّانَ.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بَيْرُوتُ رُطُوبَةً أَكْثَرَ عَمَّانَ.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بَيْرُوتُ أَكْثَرُ رُطُوبَةً مِنْ عَمَّانَ.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“maximum temperature”?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 الأَدْنَى لِلرُّطُوبَةِ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مَوْجَةُ بَرْدٍ</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 الأَقْصَى لِدَرَجَةِ الحَرَارَةِ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describes rain?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فِي المَسَاءِ.</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المَطَرَاتُ فِي المَسَاءِ.</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فِي المَسَاءِ.</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valid temperature range.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مِنْ ٢٠ بَيْنَ ٢٨.</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بَيْنَ ٢٠ وَ٢٨ دَرَجَةً.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بَيْنَ ٢٠ إِلَى ٢٨ دَرَجَةً.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forecast sentence has correct agreement?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بِقُوَّةٍ.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بِقُوَّةٍ.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بِقُوَّةٍ.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says that the temperature will fall at night?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15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مِنَ المُتَوَقَّعِ تَنْخَفِضُ دَرَجَةَ الحَرَارَةِ.</a:t>
            </a:r>
            <a:endParaRPr lang="ar-SA" sz="15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مِنَ المُتَوَقَّعِ أَنْ يَنْخَفِضُ دَرَجَةُ الحَرَارَةِ لَيْلًا.</a:t>
            </a:r>
            <a:endParaRPr lang="ar-SA" sz="15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and feminine agreement.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بَيْرُوتُ أَكْثَرُ رَطْبٌ إِلَى عَمَّانَ.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بَيْرُوتُ رُطُوبَةً أَكْثَرَ عَمَّانَ.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بَيْرُوتُ أَكْثَرُ رُطُوبَةً مِنْ عَمَّانَ.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“maximum temperature”?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 الأَدْنَى لِلرُّطُوبَةِ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مَوْجَةُ بَرْدٍ</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الحَدُّ الأَقْصَى لِدَرَجَةِ الحَرَارَةِ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الحد الأقصى</a:t>
            </a:r>
            <a:pPr algn="l" indent="0" marL="0">
              <a:buNone/>
            </a:pPr>
            <a:r>
              <a:rPr lang="en-US" sz="1050" i="1" dirty="0">
                <a:solidFill>
                  <a:srgbClr val="8A6D1E"/>
                </a:solidFill>
                <a:latin typeface="Calibri" pitchFamily="34" charset="0"/>
                <a:ea typeface="Calibri" pitchFamily="34" charset="-122"/>
                <a:cs typeface="Calibri" pitchFamily="34" charset="-120"/>
              </a:rPr>
              <a:t> is the maximum.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describes rain?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فِي المَسَاءِ.</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المَطَرَاتُ فِي المَسَاءِ.</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فِي المَسَاءِ.</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valid temperature range.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مِنْ ٢٠ بَيْنَ ٢٨.</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بَيْنَ ٢٠ وَ٢٨ دَرَجَةً.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بَيْنَ ٢٠ إِلَى ٢٨ دَرَجَةً.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D4-L03 · Environmental Problems — Causes and Effects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r>
              <a:rPr lang="en-US" sz="1000" i="1" dirty="0">
                <a:solidFill>
                  <a:srgbClr val="5A6472"/>
                </a:solidFill>
                <a:latin typeface="Calibri" pitchFamily="34" charset="0"/>
                <a:ea typeface="Calibri" pitchFamily="34" charset="-122"/>
                <a:cs typeface="Calibri" pitchFamily="34" charset="-120"/>
              </a:rPr>
              <a:t>  sing. نُفَايَةٌ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المَصَانِعُ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factories</a:t>
            </a:r>
            <a:pPr indent="0" marL="0">
              <a:buNone/>
            </a:pPr>
            <a:r>
              <a:rPr lang="en-US" sz="1000" i="1" dirty="0">
                <a:solidFill>
                  <a:srgbClr val="5A6472"/>
                </a:solidFill>
                <a:latin typeface="Calibri" pitchFamily="34" charset="0"/>
                <a:ea typeface="Calibri" pitchFamily="34" charset="-122"/>
                <a:cs typeface="Calibri" pitchFamily="34" charset="-120"/>
              </a:rPr>
              <a:t>  sing. مَصْنَعٌ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leads to</a:t>
            </a:r>
            <a:pPr indent="0" marL="0">
              <a:buNone/>
            </a:pPr>
            <a:r>
              <a:rPr lang="en-US" sz="1000" i="1" dirty="0">
                <a:solidFill>
                  <a:srgbClr val="5A6472"/>
                </a:solidFill>
                <a:latin typeface="Calibri" pitchFamily="34" charset="0"/>
                <a:ea typeface="Calibri" pitchFamily="34" charset="-122"/>
                <a:cs typeface="Calibri" pitchFamily="34" charset="-120"/>
              </a:rPr>
              <a:t>  تُؤَدِّي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environmental problem in your town and one cause.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المُشْكِلَاتِ فِي مَدِينَتِي … بِسَبَبِ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weather words and verbs; write a 5-sentence forecast for tomorrow.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London and an Arab city in 80–100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two cities with a forecast and advice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D4-L03 · Environmental Problems — Causes and Effects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weather word is the subject — ya- for al-maṭar, ta- for al-shams, al-riyāḥ, al-thulūj, darajat al-ḥarāra.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D4-L02 · Weather Patterns — Describing and Comparing Weather</dc:title>
  <dc:subject>PptxGenJS Presentation</dc:subject>
  <dc:creator>Al Madina Online School · Arabic Department</dc:creator>
  <cp:lastModifiedBy>Al Madina Online School · Arabic Department</cp:lastModifiedBy>
  <cp:revision>1</cp:revision>
  <dcterms:created xsi:type="dcterms:W3CDTF">2026-10-03T05:41:48Z</dcterms:created>
  <dcterms:modified xsi:type="dcterms:W3CDTF">2026-10-03T05:41:48Z</dcterms:modified>
</cp:coreProperties>
</file>