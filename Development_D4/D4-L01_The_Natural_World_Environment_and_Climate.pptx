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D4-L01. The website lesson “The Natural World — Environment and Climate Vocabulary”: vocabulary, grammar rules and quiz, patterns, common mistakes, sorter, listening, reading, speaking prompts and model, writing task and model, differentiation, final check and the lesson mission. Picture match: website visual game “The Natural World — Environment and Climate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(D4 · Environment, Weather and Technology). Core: 12 landscape words + “There is … / The climate is …” with agreeing adjectives (صَحْرَاءُ وَاسِعَةٌ · مَنَاخٌ جَافٌّ). Develop: the formal verbs يَسُودُ / يَتَّسِمُ بِـ / تَتَمَيَّزُ بِـ. Stretch: contrast two regions (أَمَّا … فَـ / بَيْنَمَا) and end with an environmental comment.
• Grammar link: تَتَمَيَّزُ بِـ is from F6-L05 (towns) and يَقَعُ فِي from F6; agreement is the D2 / D3 habit.
• Map idea: show a physical map of Morocco and Oman (the two website texts) and label north / south / coast / desert in Arabic.
• Careful: country names are mostly feminine (عُمَانُ، مِصْرُ) but some are masculine (المَغْرِبُ، العِرَاقُ، الأُرْدُنُّ) — check the verb!
• TEACHER-WRITTEN ITEMS: two website quiz items had options differing only in a final vowel (one distractor replaced in each); one vowel / gender slip in the website writing model is corrected (website: تَتَمَيَّزُ المَغْرِبُ — al-Maghrib is masculine: يَتَمَيَّزُ), and English is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D3-L12. Questions 3–4 retrieve F6-L05 and the agreement habit; question 5 links D3 (Amal, environmental engineer) to D4.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Formal Arabic describes a climate with a verb: the climate PREVAILS, the coast IS CHARACTERISED BY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صحرا، جزیرہ، ساحل، معتدل are shared (and دریا ≠ Arabic: Arabic نَهْرٌ = river). بِيئَةٌ has no Urdu cognate: link it to ماحول — but note Urdu ماحول comes from Arabic مُحِيطٌ (surroundings).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Natural features (website vocabulary (1 of 2)). Hear → Say → See → Use. Transliteration is printed for Core students (cover it for Develop/Stretch).
Natural features. Cards show the plural where useful. الصَّحْرَاءُ is FEMININE (no ة, but -āʾ): صَحْرَاءُ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Natural features (website vocabulary (2 of 2)). Hear → Say → See → Use. Transliteration is printed for Core students (cover it for Develop/Stretch).
Natural features. Cards show the plural where useful. الصَّحْرَاءُ is FEMININE (no ة, but -āʾ): صَحْرَاءُ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Climate and resources (website vocabulary (1 of 2)). Hear → Say → See → Use. Transliteration is printed for Core students (cover it for Develop/Stretch).
Climate and resources. The adjectives show m. / f.: مَنَاخٌ جَافٌّ but مِنْطَقَةٌ جَافَّةٌ. Non-human plurals take a feminine singular adjective: جِبَالٌ عَالِيَةٌ.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Climate and resources (website vocabulary (2 of 2)). Hear → Say → See → Use. Transliteration is printed for Core students (cover it for Develop/Stretch).
Climate and resources. The adjectives show m. / f.: مَنَاخٌ جَافٌّ but مِنْطَقَةٌ جَافَّةٌ. Non-human plurals take a feminine singular adjective: جِبَالٌ عَالِيَةٌ.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description (website vocabulary). Hear → Say → See → Use. Transliteration is printed for Core students (cover it for Develop/Stretch).
FLEX: teach if time allows; otherwise these are on the website vocabulary tab for homework.
Formal description (FLEX for Core): six formal verbs / phrases. Each one controls a preposition: يَتَّسِمُ بِـ، يَتَمَيَّزُ بِـ، يَقَعُ فِي، غَنِيٌّ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“Adjective agreement” (a feminine noun normally takes a feminine adjective; a masculine noun a masculine adjective) and “تَتَمَيَّزُ بِـ with a feminine subject”. Website examples: صَحْرَاءُ وَاسِعَةٌ · مَنَاخٌ جَافٌّ · تَتَمَيَّزُ المِنْطَقَةُ بِسُهُولٍ خَصْبَةٍ.
The non-human plural column is the website quiz item 6 (جِبَالٌ عَالِيَةٌ) made explicit. Core: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“يَسُودُ for a prevailing climate” (the climate or weather feature is the subject after يَسُودُ) and “يَتَّسِمُ بِـ” (the preposition بِـ introduces the characteristic and makes the following noun genitive). غَنِيٌّ بِـ is from the vocabulary and quiz item 5.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“Study each structure in context, compare accurate and inaccurate forms, then apply it in meaningful Arabic.”
• Adjective agreement: A feminine noun normally takes a feminine adjective; a masculine noun takes a masculine adjective.
• يَسُودُ for a prevailing climate: The climate or weather feature is the subject after يَسُودُ.
• يَتَّسِمُ بِـ: The preposition بِـ introduces the characteristic and makes the following noun genitive.
• تَتَمَيَّزُ بِـ with a feminine subject: Use the feminine verb when the singular subject is feminine.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listening and writing model (Morocco). Think aloud: “Is the country masculine or feminine? Is the noun a non-human plural? Which preposition does the verb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Natural World — Environment and Climate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forest and desert but هٰذَا for sea? (feminine / masculine — الصَّحْرَاءُ is feminine without ة). Other website cards: هٰذَا جَبَلٌ · هٰذَا وَادٍ · يَجِبُ أَنْ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Natural World — Environment and Climate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forest and desert but هٰذَا for sea? (feminine / masculine — الصَّحْرَاءُ is feminine without ة). Other website cards: هٰذَا جَبَلٌ · هٰذَا وَادٍ · يَجِبُ أَنْ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pick one word from each group and make one formal sentence: يَتَّسِمُ السَّاحِلُ بِـ … / البَلَدُ غَنِيٌّ بِـ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pick one word from each group and make one formal sentence: يَتَّسِمُ السَّاحِلُ بِـ … / البَلَدُ غَنِيٌّ بِـ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تَتَنَوَّعُ الطَّبِيعَةُ فِي المَغْرِبِ. فِي الشَّمَالِ تَمْتَدُّ جِبَالٌ عَالِيَةٌ، وَيَتَّسِمُ السَّاحِلُ بِمَنَاخٍ مُعْتَدِلٍ وَرَطْبٍ. أَمَّا فِي الجَنُوبِ فَيَسُودُ المَنَاخُ الصَّحْرَاوِيُّ الجَافُّ. وَتَقَعُ بَعْضُ الوَاحَاتِ قُرْبَ الأَوْدِيَةِ، حَيْثُ تَتَوَفَّرُ المِيَاهُ الجَوْفِيَّةُ.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Choose a country: Morocco and Oman are in today’s texts; students with family in Pakistan, Bangladesh, Somalia etc. may describe that country instead (great for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describing the natural features and climate of an Arabic-speaking country.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(one gender slip corrected: يَتَمَيَّزُ المَغْرِبُ). Evidence: جِبَالُ الرِّيفِ، السَّاحِلُ، سُهُولٌ، وَاحَاتٌ · يَسُودُ المَنَاخُ الصَّحْرَاوِيُّ · يَتَّسِمُ السَّاحِلُ بِمَنَاخٍ · أَمَّا فِي الدَّاخِلِ فَـ … · فِي رَأْيِي، يَجِبُ حِمَايَةُ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(D4-L02 · Weather Patterns — Describing and Comparing Weather) will spend class time USING this language, so students prepare it tonight — short, simple, easy to access (school guidance: “Simple, Short, Interesting, Relevant, Easy to access”). The five words come from the website D4-L02 vocabulary (weather phenomena and forecasts).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The Natural World — Environment and Climate Vocabulary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العَالَمُ الطَّبِيعِيُّ — مُفْرَدَاتُ البِيئَةِ وَالمَنَاخِ</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the landscape and climate of a country formally: natural features, agreeing adjectives, and the formal verbs </a:t>
            </a:r>
            <a:pPr algn="l" indent="0" marL="0">
              <a:buNone/>
            </a:pPr>
            <a:r>
              <a:rPr lang="ar-SA" altLang="en-US" sz="1800" dirty="0">
                <a:solidFill>
                  <a:srgbClr val="C6D2E6"/>
                </a:solidFill>
                <a:latin typeface="Amiri" pitchFamily="2" charset="-78"/>
                <a:ea typeface="Amiri" pitchFamily="2" charset="-78"/>
                <a:cs typeface="Amiri" pitchFamily="2" charset="-78"/>
              </a:rPr>
              <a:t>يَسُودُ</a:t>
            </a:r>
            <a:pPr algn="l" indent="0" marL="0">
              <a:buNone/>
            </a:pPr>
            <a:r>
              <a:rPr lang="en-US" sz="1400" dirty="0">
                <a:solidFill>
                  <a:srgbClr val="C6D2E6"/>
                </a:solidFill>
                <a:latin typeface="Calibri" pitchFamily="34" charset="0"/>
                <a:cs typeface="Amiri" pitchFamily="2" charset="-78"/>
              </a:rPr>
              <a:t> (prevails), </a:t>
            </a:r>
            <a:pPr algn="l" indent="0" marL="0">
              <a:buNone/>
            </a:pPr>
            <a:r>
              <a:rPr lang="ar-SA" altLang="en-US" sz="1800" dirty="0">
                <a:solidFill>
                  <a:srgbClr val="C6D2E6"/>
                </a:solidFill>
                <a:latin typeface="Amiri" pitchFamily="2" charset="-78"/>
                <a:ea typeface="Amiri" pitchFamily="2" charset="-78"/>
                <a:cs typeface="Amiri" pitchFamily="2" charset="-78"/>
              </a:rPr>
              <a:t>يَتَّسِمُ بِـ</a:t>
            </a:r>
            <a:pPr algn="l" indent="0" marL="0">
              <a:buNone/>
            </a:pPr>
            <a:r>
              <a:rPr lang="en-US" sz="1400" dirty="0">
                <a:solidFill>
                  <a:srgbClr val="C6D2E6"/>
                </a:solidFill>
                <a:latin typeface="Calibri" pitchFamily="34" charset="0"/>
                <a:cs typeface="Amiri" pitchFamily="2" charset="-78"/>
              </a:rPr>
              <a:t> (is characterised by) and </a:t>
            </a:r>
            <a:pPr algn="l" indent="0" marL="0">
              <a:buNone/>
            </a:pPr>
            <a:r>
              <a:rPr lang="ar-SA" altLang="en-US" sz="1800" dirty="0">
                <a:solidFill>
                  <a:srgbClr val="C6D2E6"/>
                </a:solidFill>
                <a:latin typeface="Amiri" pitchFamily="2" charset="-78"/>
                <a:ea typeface="Amiri" pitchFamily="2" charset="-78"/>
                <a:cs typeface="Amiri" pitchFamily="2" charset="-78"/>
              </a:rPr>
              <a:t>تَتَمَيَّزُ بِـ</a:t>
            </a:r>
            <a:pPr algn="l" indent="0" marL="0">
              <a:buNone/>
            </a:pPr>
            <a:r>
              <a:rPr lang="en-US" sz="1400" dirty="0">
                <a:solidFill>
                  <a:srgbClr val="C6D2E6"/>
                </a:solidFill>
                <a:latin typeface="Calibri" pitchFamily="34" charset="0"/>
                <a:cs typeface="Amiri" pitchFamily="2" charset="-78"/>
              </a:rPr>
              <a:t> (is distinguished by).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D4-L01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Landscape words, agreement and three formal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words, fix and listen: the nature of Morocco.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المَنَاخُ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climate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environment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الغَابَةُ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forest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desert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island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المَدِينَةُ إِلَى حَدَائِقِهَا.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المَدِينَةُ بِحَدَائِقِهَا.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المَدِينَةُ بِحَدَائِقِهَا.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مَدِينَةٌ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كِبَارٌ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كَبِيرَةٌ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أَطْمَحُ إِلَى أَنْ أُصْبِحَ مُهَنْدِسَةَ</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بِيئَةٍ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بِيئَةٌ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بِيئَةً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المَنَاخُ</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weather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climate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environment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الغَابَةُ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forest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desert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island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تَتَمَيَّزُ المَدِينَةُ إِلَى حَدَائِقِهَا.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يَتَمَيَّزُ المَدِينَةُ بِحَدَائِقِهَا.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تَتَمَيَّزُ المَدِينَةُ بِحَدَائِقِهَا.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 tatamayyazu bi-.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with </a:t>
            </a:r>
            <a:pPr algn="l" indent="0" marL="0">
              <a:buNone/>
            </a:pPr>
            <a:r>
              <a:rPr lang="ar-SA" altLang="en-US" sz="1650" b="1" dirty="0">
                <a:solidFill>
                  <a:srgbClr val="1B3B6F"/>
                </a:solidFill>
                <a:latin typeface="Amiri" pitchFamily="2" charset="-78"/>
                <a:ea typeface="Amiri" pitchFamily="2" charset="-78"/>
                <a:cs typeface="Amiri" pitchFamily="2" charset="-78"/>
              </a:rPr>
              <a:t>مَدِينَةٌ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كَبِيرٌ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كِبَارٌ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كَبِيرَةٌ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 / D3: feminine noun → -atun.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أَطْمَحُ إِلَى أَنْ أُصْبِحَ مُهَنْدِسَةَ</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بِيئَةٍ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بِيئَةٌ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بِيئَةً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 environmental engineer — today’s topic!</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Formal Arabic describes a climate with a verb: the climate PREVAILS, the coast IS CHARACTERISED BY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يَسُودُ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المَنَاخُ الصَّحْرَاوِيُّ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يَتَّسِمُ</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السَّاحِلُ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بِمَنَاخٍ</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مُعْتَدِلٍ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natural features and climate types in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adjectives agree with the noun (</a:t>
            </a:r>
            <a:pPr algn="l" indent="0" marL="0">
              <a:buNone/>
            </a:pPr>
            <a:r>
              <a:rPr lang="ar-SA" altLang="en-US" sz="1700" dirty="0">
                <a:solidFill>
                  <a:srgbClr val="1F2A37"/>
                </a:solidFill>
                <a:latin typeface="Amiri" pitchFamily="2" charset="-78"/>
                <a:ea typeface="Amiri" pitchFamily="2" charset="-78"/>
                <a:cs typeface="Amiri" pitchFamily="2" charset="-78"/>
              </a:rPr>
              <a:t>صَحْرَاءُ وَاسِعَةٌ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climate formally with </a:t>
            </a:r>
            <a:pPr algn="l" indent="0" marL="0">
              <a:buNone/>
            </a:pPr>
            <a:r>
              <a:rPr lang="ar-SA" altLang="en-US" sz="1700" dirty="0">
                <a:solidFill>
                  <a:srgbClr val="1F2A37"/>
                </a:solidFill>
                <a:latin typeface="Amiri" pitchFamily="2" charset="-78"/>
                <a:ea typeface="Amiri" pitchFamily="2" charset="-78"/>
                <a:cs typeface="Amiri" pitchFamily="2" charset="-78"/>
              </a:rPr>
              <a:t>يَسُودُ</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يَتَّسِمُ بِـ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two regions of a country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twelve natural features.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a place with an agreeing adjective.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yasūdu and yattasimu bi-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 country is rich in.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contrast two regions of a country.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justified environmental comment.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Natural features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Climate and resources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Formal description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بِيئَةٌ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‎ماحول‎ </a:t>
            </a:r>
            <a:pPr indent="0" marL="0">
              <a:buNone/>
            </a:pPr>
            <a:r>
              <a:rPr lang="en-US" sz="950" b="1" dirty="0">
                <a:solidFill>
                  <a:srgbClr val="2E8B57"/>
                </a:solidFill>
                <a:latin typeface="Calibri" pitchFamily="34" charset="0"/>
                <a:cs typeface="Amiri" pitchFamily="2" charset="-78"/>
              </a:rPr>
              <a:t> māhaul · environment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صَحْرَاءُ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‎صحرا‎ </a:t>
            </a:r>
            <a:pPr indent="0" marL="0">
              <a:buNone/>
            </a:pPr>
            <a:r>
              <a:rPr lang="en-US" sz="950" b="1" dirty="0">
                <a:solidFill>
                  <a:srgbClr val="2E8B57"/>
                </a:solidFill>
                <a:latin typeface="Calibri" pitchFamily="34" charset="0"/>
                <a:cs typeface="Amiri" pitchFamily="2" charset="-78"/>
              </a:rPr>
              <a:t> sahrā · desert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جَزِيرَةٌ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‎جزیرہ‎ </a:t>
            </a:r>
            <a:pPr indent="0" marL="0">
              <a:buNone/>
            </a:pPr>
            <a:r>
              <a:rPr lang="en-US" sz="950" b="1" dirty="0">
                <a:solidFill>
                  <a:srgbClr val="2E8B57"/>
                </a:solidFill>
                <a:latin typeface="Calibri" pitchFamily="34" charset="0"/>
                <a:cs typeface="Amiri" pitchFamily="2" charset="-78"/>
              </a:rPr>
              <a:t> jazīra · island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سَاحِلٌ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‎ساحل‎ </a:t>
            </a:r>
            <a:pPr indent="0" marL="0">
              <a:buNone/>
            </a:pPr>
            <a:r>
              <a:rPr lang="en-US" sz="950" b="1" dirty="0">
                <a:solidFill>
                  <a:srgbClr val="2E8B57"/>
                </a:solidFill>
                <a:latin typeface="Calibri" pitchFamily="34" charset="0"/>
                <a:cs typeface="Amiri" pitchFamily="2" charset="-78"/>
              </a:rPr>
              <a:t> sāhil · coast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مُعْتَدِلٌ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‎معتدل‎ </a:t>
            </a:r>
            <a:pPr indent="0" marL="0">
              <a:buNone/>
            </a:pPr>
            <a:r>
              <a:rPr lang="en-US" sz="950" b="1" dirty="0">
                <a:solidFill>
                  <a:srgbClr val="2E8B57"/>
                </a:solidFill>
                <a:latin typeface="Calibri" pitchFamily="34" charset="0"/>
                <a:cs typeface="Amiri" pitchFamily="2" charset="-78"/>
              </a:rPr>
              <a:t> muʿtadil · moderate → mild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Natural features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البِيئَةُ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environment</a:t>
            </a:r>
            <a:endParaRPr lang="en-US" sz="1350" dirty="0"/>
          </a:p>
          <a:p>
            <a:pPr indent="0" marL="0">
              <a:buNone/>
            </a:pPr>
            <a:r>
              <a:rPr lang="en-US" sz="1100" i="1" dirty="0">
                <a:solidFill>
                  <a:srgbClr val="5A6472"/>
                </a:solidFill>
                <a:latin typeface="Calibri" pitchFamily="34" charset="0"/>
                <a:cs typeface="Amiri" pitchFamily="2" charset="-78"/>
              </a:rPr>
              <a:t>al-bī-ʾa-tu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المَنَاخُ</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climate</a:t>
            </a:r>
            <a:endParaRPr lang="en-US" sz="1350" dirty="0"/>
          </a:p>
          <a:p>
            <a:pPr indent="0" marL="0">
              <a:buNone/>
            </a:pPr>
            <a:r>
              <a:rPr lang="en-US" sz="1100" i="1" dirty="0">
                <a:solidFill>
                  <a:srgbClr val="5A6472"/>
                </a:solidFill>
                <a:latin typeface="Calibri" pitchFamily="34" charset="0"/>
                <a:cs typeface="Amiri" pitchFamily="2" charset="-78"/>
              </a:rPr>
              <a:t>al-ma-nā-khu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الطَّقْسُ</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weather</a:t>
            </a:r>
            <a:endParaRPr lang="en-US" sz="1350" dirty="0"/>
          </a:p>
          <a:p>
            <a:pPr indent="0" marL="0">
              <a:buNone/>
            </a:pPr>
            <a:r>
              <a:rPr lang="en-US" sz="1100" i="1" dirty="0">
                <a:solidFill>
                  <a:srgbClr val="5A6472"/>
                </a:solidFill>
                <a:latin typeface="Calibri" pitchFamily="34" charset="0"/>
                <a:cs typeface="Amiri" pitchFamily="2" charset="-78"/>
              </a:rPr>
              <a:t>aṭ-ṭaq-su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الصَّحْرَاءُ</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desert</a:t>
            </a:r>
            <a:endParaRPr lang="en-US" sz="1350" dirty="0"/>
          </a:p>
          <a:p>
            <a:pPr indent="0" marL="0">
              <a:buNone/>
            </a:pPr>
            <a:r>
              <a:rPr lang="en-US" sz="1100" i="1" dirty="0">
                <a:solidFill>
                  <a:srgbClr val="5A6472"/>
                </a:solidFill>
                <a:latin typeface="Calibri" pitchFamily="34" charset="0"/>
                <a:cs typeface="Amiri" pitchFamily="2" charset="-78"/>
              </a:rPr>
              <a:t>aṣ-ṣaḥ-rā-ʾu</a:t>
            </a:r>
            <a:endParaRPr lang="en-US" sz="1350" dirty="0"/>
          </a:p>
        </p:txBody>
      </p:sp>
      <p:sp>
        <p:nvSpPr>
          <p:cNvPr id="45" name="Shape 4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الصَّحَارِي / الصَّحَارَى</a:t>
            </a:r>
            <a:endParaRPr lang="ar-SA" sz="15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1" name="Shape 48"/>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الغَابَةُ</a:t>
            </a:r>
            <a:endParaRPr lang="ar-SA" sz="3000" dirty="0"/>
          </a:p>
        </p:txBody>
      </p:sp>
      <p:sp>
        <p:nvSpPr>
          <p:cNvPr id="56" name="Text 5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forest</a:t>
            </a:r>
            <a:endParaRPr lang="en-US" sz="1350" dirty="0"/>
          </a:p>
          <a:p>
            <a:pPr indent="0" marL="0">
              <a:buNone/>
            </a:pPr>
            <a:r>
              <a:rPr lang="en-US" sz="1100" i="1" dirty="0">
                <a:solidFill>
                  <a:srgbClr val="5A6472"/>
                </a:solidFill>
                <a:latin typeface="Calibri" pitchFamily="34" charset="0"/>
                <a:cs typeface="Amiri" pitchFamily="2" charset="-78"/>
              </a:rPr>
              <a:t>al-ghā-ba-tu</a:t>
            </a:r>
            <a:endParaRPr lang="en-US" sz="1350" dirty="0"/>
          </a:p>
        </p:txBody>
      </p:sp>
      <p:sp>
        <p:nvSpPr>
          <p:cNvPr id="57" name="Shape 54"/>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الغَابَاتُ</a:t>
            </a:r>
            <a:endParaRPr lang="ar-SA" sz="150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3" name="Shape 6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الجَبَلُ / الجِبَالُ</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mountain / mountains</a:t>
            </a:r>
            <a:endParaRPr lang="en-US" sz="1350" dirty="0"/>
          </a:p>
          <a:p>
            <a:pPr indent="0" marL="0">
              <a:buNone/>
            </a:pPr>
            <a:r>
              <a:rPr lang="en-US" sz="1100" i="1" dirty="0">
                <a:solidFill>
                  <a:srgbClr val="5A6472"/>
                </a:solidFill>
                <a:latin typeface="Calibri" pitchFamily="34" charset="0"/>
                <a:cs typeface="Amiri" pitchFamily="2" charset="-78"/>
              </a:rPr>
              <a:t>al-ja-ba-lu / al-ji-bā-lu</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Natural features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البَحْرُ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a:t>
            </a:r>
            <a:endParaRPr lang="en-US" sz="1350" dirty="0"/>
          </a:p>
          <a:p>
            <a:pPr indent="0" marL="0">
              <a:buNone/>
            </a:pPr>
            <a:r>
              <a:rPr lang="en-US" sz="1100" i="1" dirty="0">
                <a:solidFill>
                  <a:srgbClr val="5A6472"/>
                </a:solidFill>
                <a:latin typeface="Calibri" pitchFamily="34" charset="0"/>
                <a:cs typeface="Amiri" pitchFamily="2" charset="-78"/>
              </a:rPr>
              <a:t>al-baḥ-ru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البِحَارُ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النَّهْرُ / الأَنْهَارُ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river / rivers</a:t>
            </a:r>
            <a:endParaRPr lang="en-US" sz="1350" dirty="0"/>
          </a:p>
          <a:p>
            <a:pPr indent="0" marL="0">
              <a:buNone/>
            </a:pPr>
            <a:r>
              <a:rPr lang="en-US" sz="1100" i="1" dirty="0">
                <a:solidFill>
                  <a:srgbClr val="5A6472"/>
                </a:solidFill>
                <a:latin typeface="Calibri" pitchFamily="34" charset="0"/>
                <a:cs typeface="Amiri" pitchFamily="2" charset="-78"/>
              </a:rPr>
              <a:t>an-nah-ru / al-an-hā-ru</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البُحَيْرَةُ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lake</a:t>
            </a:r>
            <a:endParaRPr lang="en-US" sz="1350" dirty="0"/>
          </a:p>
          <a:p>
            <a:pPr indent="0" marL="0">
              <a:buNone/>
            </a:pPr>
            <a:r>
              <a:rPr lang="en-US" sz="1100" i="1" dirty="0">
                <a:solidFill>
                  <a:srgbClr val="5A6472"/>
                </a:solidFill>
                <a:latin typeface="Calibri" pitchFamily="34" charset="0"/>
                <a:cs typeface="Amiri" pitchFamily="2" charset="-78"/>
              </a:rPr>
              <a:t>al-bu-ḥay-ra-tu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البُحَيْرَاتُ</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السَّاحِلُ</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coast</a:t>
            </a:r>
            <a:endParaRPr lang="en-US" sz="1350" dirty="0"/>
          </a:p>
          <a:p>
            <a:pPr indent="0" marL="0">
              <a:buNone/>
            </a:pPr>
            <a:r>
              <a:rPr lang="en-US" sz="1100" i="1" dirty="0">
                <a:solidFill>
                  <a:srgbClr val="5A6472"/>
                </a:solidFill>
                <a:latin typeface="Calibri" pitchFamily="34" charset="0"/>
                <a:cs typeface="Amiri" pitchFamily="2" charset="-78"/>
              </a:rPr>
              <a:t>as-sā-ḥi-lu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السَّوَاحِلُ</a:t>
            </a:r>
            <a:endParaRPr lang="ar-SA" sz="150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9" name="Shape 5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الجَزِيرَةُ</a:t>
            </a:r>
            <a:endParaRPr lang="ar-SA" sz="3000" dirty="0"/>
          </a:p>
        </p:txBody>
      </p:sp>
      <p:sp>
        <p:nvSpPr>
          <p:cNvPr id="64" name="Text 6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island</a:t>
            </a:r>
            <a:endParaRPr lang="en-US" sz="1350" dirty="0"/>
          </a:p>
          <a:p>
            <a:pPr indent="0" marL="0">
              <a:buNone/>
            </a:pPr>
            <a:r>
              <a:rPr lang="en-US" sz="1100" i="1" dirty="0">
                <a:solidFill>
                  <a:srgbClr val="5A6472"/>
                </a:solidFill>
                <a:latin typeface="Calibri" pitchFamily="34" charset="0"/>
                <a:cs typeface="Amiri" pitchFamily="2" charset="-78"/>
              </a:rPr>
              <a:t>al-ja-zī-ra-tu</a:t>
            </a:r>
            <a:endParaRPr lang="en-US" sz="1350" dirty="0"/>
          </a:p>
        </p:txBody>
      </p:sp>
      <p:sp>
        <p:nvSpPr>
          <p:cNvPr id="65" name="Shape 6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7" name="Text 6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الجُزُرُ</a:t>
            </a:r>
            <a:endParaRPr lang="ar-SA" sz="150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الوَادِي / الأَوْدِيَةُ</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valley / valleys</a:t>
            </a:r>
            <a:endParaRPr lang="en-US" sz="1350" dirty="0"/>
          </a:p>
          <a:p>
            <a:pPr indent="0" marL="0">
              <a:buNone/>
            </a:pPr>
            <a:r>
              <a:rPr lang="en-US" sz="1100" i="1" dirty="0">
                <a:solidFill>
                  <a:srgbClr val="5A6472"/>
                </a:solidFill>
                <a:latin typeface="Calibri" pitchFamily="34" charset="0"/>
                <a:cs typeface="Amiri" pitchFamily="2" charset="-78"/>
              </a:rPr>
              <a:t>al-wā-dī / al-aw-di-ya-tu</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and resources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السُّهُولُ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plains</a:t>
            </a:r>
            <a:endParaRPr lang="en-US" sz="1350" dirty="0"/>
          </a:p>
          <a:p>
            <a:pPr indent="0" marL="0">
              <a:buNone/>
            </a:pPr>
            <a:r>
              <a:rPr lang="en-US" sz="1100" i="1" dirty="0">
                <a:solidFill>
                  <a:srgbClr val="5A6472"/>
                </a:solidFill>
                <a:latin typeface="Calibri" pitchFamily="34" charset="0"/>
                <a:cs typeface="Amiri" pitchFamily="2" charset="-78"/>
              </a:rPr>
              <a:t>as-su-hū-lu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التُّرْبَةُ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soil</a:t>
            </a:r>
            <a:endParaRPr lang="en-US" sz="1350" dirty="0"/>
          </a:p>
          <a:p>
            <a:pPr indent="0" marL="0">
              <a:buNone/>
            </a:pPr>
            <a:r>
              <a:rPr lang="en-US" sz="1100" i="1" dirty="0">
                <a:solidFill>
                  <a:srgbClr val="5A6472"/>
                </a:solidFill>
                <a:latin typeface="Calibri" pitchFamily="34" charset="0"/>
                <a:cs typeface="Amiri" pitchFamily="2" charset="-78"/>
              </a:rPr>
              <a:t>at-tur-ba-tu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المِيَاهُ العَذْبَةُ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fresh water</a:t>
            </a:r>
            <a:endParaRPr lang="en-US" sz="1350" dirty="0"/>
          </a:p>
          <a:p>
            <a:pPr indent="0" marL="0">
              <a:buNone/>
            </a:pPr>
            <a:r>
              <a:rPr lang="en-US" sz="1100" i="1" dirty="0">
                <a:solidFill>
                  <a:srgbClr val="5A6472"/>
                </a:solidFill>
                <a:latin typeface="Calibri" pitchFamily="34" charset="0"/>
                <a:cs typeface="Amiri" pitchFamily="2" charset="-78"/>
              </a:rPr>
              <a:t>al-mi-yā-hu al-ʿadh-ba-tu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المَوَارِدُ الطَّبِيعِيَّةُ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natural resources</a:t>
            </a:r>
            <a:endParaRPr lang="en-US" sz="1350" dirty="0"/>
          </a:p>
          <a:p>
            <a:pPr indent="0" marL="0">
              <a:buNone/>
            </a:pPr>
            <a:r>
              <a:rPr lang="en-US" sz="1100" i="1" dirty="0">
                <a:solidFill>
                  <a:srgbClr val="5A6472"/>
                </a:solidFill>
                <a:latin typeface="Calibri" pitchFamily="34" charset="0"/>
                <a:cs typeface="Amiri" pitchFamily="2" charset="-78"/>
              </a:rPr>
              <a:t>al-ma-wā-ri-du aṭ-ṭa-bī-ʿiy-ya-tu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النِّفْطُ</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oil</a:t>
            </a:r>
            <a:endParaRPr lang="en-US" sz="1350" dirty="0"/>
          </a:p>
          <a:p>
            <a:pPr indent="0" marL="0">
              <a:buNone/>
            </a:pPr>
            <a:r>
              <a:rPr lang="en-US" sz="1100" i="1" dirty="0">
                <a:solidFill>
                  <a:srgbClr val="5A6472"/>
                </a:solidFill>
                <a:latin typeface="Calibri" pitchFamily="34" charset="0"/>
                <a:cs typeface="Amiri" pitchFamily="2" charset="-78"/>
              </a:rPr>
              <a:t>an-nif-ṭu</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and resources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الغَازُ الطَّبِيعِيُّ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natural gas</a:t>
            </a:r>
            <a:endParaRPr lang="en-US" sz="1350" dirty="0"/>
          </a:p>
          <a:p>
            <a:pPr indent="0" marL="0">
              <a:buNone/>
            </a:pPr>
            <a:r>
              <a:rPr lang="en-US" sz="1100" i="1" dirty="0">
                <a:solidFill>
                  <a:srgbClr val="5A6472"/>
                </a:solidFill>
                <a:latin typeface="Calibri" pitchFamily="34" charset="0"/>
                <a:cs typeface="Amiri" pitchFamily="2" charset="-78"/>
              </a:rPr>
              <a:t>al-ghā-zu aṭ-ṭa-bī-ʿiy-yu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جَافٌّ / جَافَّةٌ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dry</a:t>
            </a:r>
            <a:endParaRPr lang="en-US" sz="1350" dirty="0"/>
          </a:p>
          <a:p>
            <a:pPr indent="0" marL="0">
              <a:buNone/>
            </a:pPr>
            <a:r>
              <a:rPr lang="en-US" sz="1100" i="1" dirty="0">
                <a:solidFill>
                  <a:srgbClr val="5A6472"/>
                </a:solidFill>
                <a:latin typeface="Calibri" pitchFamily="34" charset="0"/>
                <a:cs typeface="Amiri" pitchFamily="2" charset="-78"/>
              </a:rPr>
              <a:t>jāf-fun / jāf-fa-tun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رَطْبٌ / رَطْبَةٌ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humid</a:t>
            </a:r>
            <a:endParaRPr lang="en-US" sz="1350" dirty="0"/>
          </a:p>
          <a:p>
            <a:pPr indent="0" marL="0">
              <a:buNone/>
            </a:pPr>
            <a:r>
              <a:rPr lang="en-US" sz="1100" i="1" dirty="0">
                <a:solidFill>
                  <a:srgbClr val="5A6472"/>
                </a:solidFill>
                <a:latin typeface="Calibri" pitchFamily="34" charset="0"/>
                <a:cs typeface="Amiri" pitchFamily="2" charset="-78"/>
              </a:rPr>
              <a:t>raṭ-bun / raṭ-ba-tun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مُعْتَدِلٌ / مُعْتَدِلَةٌ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mild / temperate</a:t>
            </a:r>
            <a:endParaRPr lang="en-US" sz="1350" dirty="0"/>
          </a:p>
          <a:p>
            <a:pPr indent="0" marL="0">
              <a:buNone/>
            </a:pPr>
            <a:r>
              <a:rPr lang="en-US" sz="1100" i="1" dirty="0">
                <a:solidFill>
                  <a:srgbClr val="5A6472"/>
                </a:solidFill>
                <a:latin typeface="Calibri" pitchFamily="34" charset="0"/>
                <a:cs typeface="Amiri" pitchFamily="2" charset="-78"/>
              </a:rPr>
              <a:t>muʿ-ta-di-lun / muʿ-ta-di-la-tun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صَحْرَاوِيٌّ / صَحْرَاوِيَّةٌ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desert (adjective)</a:t>
            </a:r>
            <a:endParaRPr lang="en-US" sz="1350" dirty="0"/>
          </a:p>
          <a:p>
            <a:pPr indent="0" marL="0">
              <a:buNone/>
            </a:pPr>
            <a:r>
              <a:rPr lang="en-US" sz="1100" i="1" dirty="0">
                <a:solidFill>
                  <a:srgbClr val="5A6472"/>
                </a:solidFill>
                <a:latin typeface="Calibri" pitchFamily="34" charset="0"/>
                <a:cs typeface="Amiri" pitchFamily="2" charset="-78"/>
              </a:rPr>
              <a:t>ṣaḥ-rā-wiy-yun / ṣaḥ-rā-wiy-ya-tun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description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prevails</a:t>
            </a:r>
            <a:endParaRPr lang="en-US" sz="1350" dirty="0"/>
          </a:p>
          <a:p>
            <a:pPr indent="0" marL="0">
              <a:buNone/>
            </a:pPr>
            <a:r>
              <a:rPr lang="en-US" sz="1100" i="1" dirty="0">
                <a:solidFill>
                  <a:srgbClr val="5A6472"/>
                </a:solidFill>
                <a:latin typeface="Calibri" pitchFamily="34" charset="0"/>
                <a:cs typeface="Amiri" pitchFamily="2" charset="-78"/>
              </a:rPr>
              <a:t>ya-sū-du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يَتَّسِمُ بِـ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characterised by</a:t>
            </a:r>
            <a:endParaRPr lang="en-US" sz="1350" dirty="0"/>
          </a:p>
          <a:p>
            <a:pPr indent="0" marL="0">
              <a:buNone/>
            </a:pPr>
            <a:r>
              <a:rPr lang="en-US" sz="1100" i="1" dirty="0">
                <a:solidFill>
                  <a:srgbClr val="5A6472"/>
                </a:solidFill>
                <a:latin typeface="Calibri" pitchFamily="34" charset="0"/>
                <a:cs typeface="Amiri" pitchFamily="2" charset="-78"/>
              </a:rPr>
              <a:t>yat-ta-si-mu 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يَتَمَيَّزُ بِـ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ya-ta-may-ya-zu bi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يَقَعُ فِي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located in</a:t>
            </a:r>
            <a:endParaRPr lang="en-US" sz="1350" dirty="0"/>
          </a:p>
          <a:p>
            <a:pPr indent="0" marL="0">
              <a:buNone/>
            </a:pPr>
            <a:r>
              <a:rPr lang="en-US" sz="1100" i="1" dirty="0">
                <a:solidFill>
                  <a:srgbClr val="5A6472"/>
                </a:solidFill>
                <a:latin typeface="Calibri" pitchFamily="34" charset="0"/>
                <a:cs typeface="Amiri" pitchFamily="2" charset="-78"/>
              </a:rPr>
              <a:t>ya-qa-ʿu fī</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يَمْتَدُّ عَلَى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extends across</a:t>
            </a:r>
            <a:endParaRPr lang="en-US" sz="1350" dirty="0"/>
          </a:p>
          <a:p>
            <a:pPr indent="0" marL="0">
              <a:buNone/>
            </a:pPr>
            <a:r>
              <a:rPr lang="en-US" sz="1100" i="1" dirty="0">
                <a:solidFill>
                  <a:srgbClr val="5A6472"/>
                </a:solidFill>
                <a:latin typeface="Calibri" pitchFamily="34" charset="0"/>
                <a:cs typeface="Amiri" pitchFamily="2" charset="-78"/>
              </a:rPr>
              <a:t>yam-tad-du ʿa-lā</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غَنِيٌّ بِـ</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rich in</a:t>
            </a:r>
            <a:endParaRPr lang="en-US" sz="1350" dirty="0"/>
          </a:p>
          <a:p>
            <a:pPr indent="0" marL="0">
              <a:buNone/>
            </a:pPr>
            <a:r>
              <a:rPr lang="en-US" sz="1100" i="1" dirty="0">
                <a:solidFill>
                  <a:srgbClr val="5A6472"/>
                </a:solidFill>
                <a:latin typeface="Calibri" pitchFamily="34" charset="0"/>
                <a:cs typeface="Amiri" pitchFamily="2" charset="-78"/>
              </a:rPr>
              <a:t>gha-niy-yun 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AGREEMENT (WEBSITE RULES 1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The adjective and the verb follow the noun</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Non-human plural</a:t>
            </a:r>
            <a:endParaRPr lang="en-US" sz="1100" dirty="0"/>
          </a:p>
        </p:txBody>
      </p:sp>
      <p:sp>
        <p:nvSpPr>
          <p:cNvPr id="17" name="Text 14"/>
          <p:cNvSpPr txBox="1"/>
          <p:nvPr/>
        </p:nvSpPr>
        <p:spPr>
          <a:xfrm>
            <a:off x="45537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595360" y="2286000"/>
            <a:ext cx="30449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جِبَالٌ </a:t>
            </a:r>
            <a:pPr rtl="1" algn="ctr" indent="0" marL="0">
              <a:buNone/>
            </a:pPr>
            <a:r>
              <a:rPr lang="ar-SA" altLang="en-US" sz="2100" b="1" dirty="0">
                <a:solidFill>
                  <a:srgbClr val="D6336C"/>
                </a:solidFill>
                <a:latin typeface="Amiri" pitchFamily="2" charset="-78"/>
                <a:ea typeface="Amiri" pitchFamily="2" charset="-78"/>
                <a:cs typeface="Amiri" pitchFamily="2" charset="-78"/>
              </a:rPr>
              <a:t>عَالِيَةٌ</a:t>
            </a:r>
            <a:endParaRPr lang="ar-SA" sz="2100" dirty="0"/>
          </a:p>
        </p:txBody>
      </p:sp>
      <p:sp>
        <p:nvSpPr>
          <p:cNvPr id="21" name="Text 18"/>
          <p:cNvSpPr txBox="1"/>
          <p:nvPr/>
        </p:nvSpPr>
        <p:spPr>
          <a:xfrm>
            <a:off x="8549640" y="2706624"/>
            <a:ext cx="3136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high mountains</a:t>
            </a:r>
            <a:endParaRPr lang="en-US" sz="950" dirty="0"/>
          </a:p>
        </p:txBody>
      </p:sp>
      <p:sp>
        <p:nvSpPr>
          <p:cNvPr id="22" name="Text 19"/>
          <p:cNvSpPr txBox="1"/>
          <p:nvPr/>
        </p:nvSpPr>
        <p:spPr>
          <a:xfrm>
            <a:off x="4572000"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صَحْرَاءُ </a:t>
            </a:r>
            <a:pPr rtl="1" algn="ctr" indent="0" marL="0">
              <a:buNone/>
            </a:pPr>
            <a:r>
              <a:rPr lang="ar-SA" altLang="en-US" sz="2100" b="1" dirty="0">
                <a:solidFill>
                  <a:srgbClr val="D6336C"/>
                </a:solidFill>
                <a:latin typeface="Amiri" pitchFamily="2" charset="-78"/>
                <a:ea typeface="Amiri" pitchFamily="2" charset="-78"/>
                <a:cs typeface="Amiri" pitchFamily="2" charset="-78"/>
              </a:rPr>
              <a:t>وَاسِعَةٌ</a:t>
            </a:r>
            <a:endParaRPr lang="ar-SA" sz="2100" dirty="0"/>
          </a:p>
        </p:txBody>
      </p:sp>
      <p:sp>
        <p:nvSpPr>
          <p:cNvPr id="23" name="Text 20"/>
          <p:cNvSpPr txBox="1"/>
          <p:nvPr/>
        </p:nvSpPr>
        <p:spPr>
          <a:xfrm>
            <a:off x="4526280"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vast desert</a:t>
            </a:r>
            <a:endParaRPr lang="en-US" sz="950" dirty="0"/>
          </a:p>
        </p:txBody>
      </p:sp>
      <p:sp>
        <p:nvSpPr>
          <p:cNvPr id="24" name="Text 21"/>
          <p:cNvSpPr txBox="1"/>
          <p:nvPr/>
        </p:nvSpPr>
        <p:spPr>
          <a:xfrm>
            <a:off x="548640"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مَنَاخٌ </a:t>
            </a:r>
            <a:pPr rtl="1" algn="ctr" indent="0" marL="0">
              <a:buNone/>
            </a:pPr>
            <a:r>
              <a:rPr lang="ar-SA" altLang="en-US" sz="2100" b="1" dirty="0">
                <a:solidFill>
                  <a:srgbClr val="1D5FBF"/>
                </a:solidFill>
                <a:latin typeface="Amiri" pitchFamily="2" charset="-78"/>
                <a:ea typeface="Amiri" pitchFamily="2" charset="-78"/>
                <a:cs typeface="Amiri" pitchFamily="2" charset="-78"/>
              </a:rPr>
              <a:t>جَافٌّ</a:t>
            </a:r>
            <a:endParaRPr lang="ar-SA" sz="2100" dirty="0"/>
          </a:p>
        </p:txBody>
      </p:sp>
      <p:sp>
        <p:nvSpPr>
          <p:cNvPr id="25" name="Text 22"/>
          <p:cNvSpPr txBox="1"/>
          <p:nvPr/>
        </p:nvSpPr>
        <p:spPr>
          <a:xfrm>
            <a:off x="502920"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dry climate</a:t>
            </a:r>
            <a:endParaRPr lang="en-US" sz="95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595360" y="3072384"/>
            <a:ext cx="30449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سُهُولٌ </a:t>
            </a:r>
            <a:pPr rtl="1" algn="ctr" indent="0" marL="0">
              <a:buNone/>
            </a:pPr>
            <a:r>
              <a:rPr lang="ar-SA" altLang="en-US" sz="2100" b="1" dirty="0">
                <a:solidFill>
                  <a:srgbClr val="D6336C"/>
                </a:solidFill>
                <a:latin typeface="Amiri" pitchFamily="2" charset="-78"/>
                <a:ea typeface="Amiri" pitchFamily="2" charset="-78"/>
                <a:cs typeface="Amiri" pitchFamily="2" charset="-78"/>
              </a:rPr>
              <a:t>خَصْبَةٌ</a:t>
            </a:r>
            <a:endParaRPr lang="ar-SA" sz="2100" dirty="0"/>
          </a:p>
        </p:txBody>
      </p:sp>
      <p:sp>
        <p:nvSpPr>
          <p:cNvPr id="30" name="Text 27"/>
          <p:cNvSpPr txBox="1"/>
          <p:nvPr/>
        </p:nvSpPr>
        <p:spPr>
          <a:xfrm>
            <a:off x="8549640" y="3493008"/>
            <a:ext cx="3136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fertile plains</a:t>
            </a:r>
            <a:endParaRPr lang="en-US" sz="950" dirty="0"/>
          </a:p>
        </p:txBody>
      </p:sp>
      <p:sp>
        <p:nvSpPr>
          <p:cNvPr id="31" name="Text 28"/>
          <p:cNvSpPr txBox="1"/>
          <p:nvPr/>
        </p:nvSpPr>
        <p:spPr>
          <a:xfrm>
            <a:off x="4572000" y="3072384"/>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غَابَةٌ </a:t>
            </a:r>
            <a:pPr rtl="1" algn="ctr" indent="0" marL="0">
              <a:buNone/>
            </a:pPr>
            <a:r>
              <a:rPr lang="ar-SA" altLang="en-US" sz="2100" b="1" dirty="0">
                <a:solidFill>
                  <a:srgbClr val="D6336C"/>
                </a:solidFill>
                <a:latin typeface="Amiri" pitchFamily="2" charset="-78"/>
                <a:ea typeface="Amiri" pitchFamily="2" charset="-78"/>
                <a:cs typeface="Amiri" pitchFamily="2" charset="-78"/>
              </a:rPr>
              <a:t>كَثِيفَةٌ</a:t>
            </a:r>
            <a:endParaRPr lang="ar-SA" sz="2100" dirty="0"/>
          </a:p>
        </p:txBody>
      </p:sp>
      <p:sp>
        <p:nvSpPr>
          <p:cNvPr id="32" name="Text 29"/>
          <p:cNvSpPr txBox="1"/>
          <p:nvPr/>
        </p:nvSpPr>
        <p:spPr>
          <a:xfrm>
            <a:off x="4526280"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dense forest</a:t>
            </a:r>
            <a:endParaRPr lang="en-US" sz="950" dirty="0"/>
          </a:p>
        </p:txBody>
      </p:sp>
      <p:sp>
        <p:nvSpPr>
          <p:cNvPr id="33" name="Text 30"/>
          <p:cNvSpPr txBox="1"/>
          <p:nvPr/>
        </p:nvSpPr>
        <p:spPr>
          <a:xfrm>
            <a:off x="548640" y="3072384"/>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سَاحِلٌ </a:t>
            </a:r>
            <a:pPr rtl="1" algn="ctr" indent="0" marL="0">
              <a:buNone/>
            </a:pPr>
            <a:r>
              <a:rPr lang="ar-SA" altLang="en-US" sz="2100" b="1" dirty="0">
                <a:solidFill>
                  <a:srgbClr val="1D5FBF"/>
                </a:solidFill>
                <a:latin typeface="Amiri" pitchFamily="2" charset="-78"/>
                <a:ea typeface="Amiri" pitchFamily="2" charset="-78"/>
                <a:cs typeface="Amiri" pitchFamily="2" charset="-78"/>
              </a:rPr>
              <a:t>طَوِيلٌ</a:t>
            </a:r>
            <a:endParaRPr lang="ar-SA" sz="2100" dirty="0"/>
          </a:p>
        </p:txBody>
      </p:sp>
      <p:sp>
        <p:nvSpPr>
          <p:cNvPr id="34" name="Text 31"/>
          <p:cNvSpPr txBox="1"/>
          <p:nvPr/>
        </p:nvSpPr>
        <p:spPr>
          <a:xfrm>
            <a:off x="502920"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long coast</a:t>
            </a:r>
            <a:endParaRPr lang="en-US" sz="95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8595360" y="3858768"/>
            <a:ext cx="30449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تَتَمَيَّزُ الجُزُرُ بِشَوَاطِئِهَا.</a:t>
            </a:r>
            <a:endParaRPr lang="ar-SA" sz="2100" dirty="0"/>
          </a:p>
        </p:txBody>
      </p:sp>
      <p:sp>
        <p:nvSpPr>
          <p:cNvPr id="39" name="Text 36"/>
          <p:cNvSpPr txBox="1"/>
          <p:nvPr/>
        </p:nvSpPr>
        <p:spPr>
          <a:xfrm>
            <a:off x="8549640" y="4279392"/>
            <a:ext cx="3136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islands …</a:t>
            </a:r>
            <a:endParaRPr lang="en-US" sz="950" dirty="0"/>
          </a:p>
        </p:txBody>
      </p:sp>
      <p:sp>
        <p:nvSpPr>
          <p:cNvPr id="40" name="Text 37"/>
          <p:cNvSpPr txBox="1"/>
          <p:nvPr/>
        </p:nvSpPr>
        <p:spPr>
          <a:xfrm>
            <a:off x="4572000"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تَتَمَيَّزُ</a:t>
            </a:r>
            <a:pPr rtl="1" algn="ctr" indent="0" marL="0">
              <a:buNone/>
            </a:pPr>
            <a:r>
              <a:rPr lang="ar-SA" altLang="en-US" sz="2100" b="1" dirty="0">
                <a:solidFill>
                  <a:srgbClr val="1B3B6F"/>
                </a:solidFill>
                <a:latin typeface="Amiri" pitchFamily="2" charset="-78"/>
                <a:ea typeface="Amiri" pitchFamily="2" charset="-78"/>
                <a:cs typeface="Amiri" pitchFamily="2" charset="-78"/>
              </a:rPr>
              <a:t> المِنْطَقَةُ بِسُهُولٍ.</a:t>
            </a:r>
            <a:endParaRPr lang="ar-SA" sz="2100" dirty="0"/>
          </a:p>
        </p:txBody>
      </p:sp>
      <p:sp>
        <p:nvSpPr>
          <p:cNvPr id="41" name="Text 38"/>
          <p:cNvSpPr txBox="1"/>
          <p:nvPr/>
        </p:nvSpPr>
        <p:spPr>
          <a:xfrm>
            <a:off x="4526280"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region is known for plains.</a:t>
            </a:r>
            <a:endParaRPr lang="en-US" sz="950" dirty="0"/>
          </a:p>
        </p:txBody>
      </p:sp>
      <p:sp>
        <p:nvSpPr>
          <p:cNvPr id="42" name="Text 39"/>
          <p:cNvSpPr txBox="1"/>
          <p:nvPr/>
        </p:nvSpPr>
        <p:spPr>
          <a:xfrm>
            <a:off x="548640"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يَتَمَيَّزُ</a:t>
            </a:r>
            <a:pPr rtl="1" algn="ctr" indent="0" marL="0">
              <a:buNone/>
            </a:pPr>
            <a:r>
              <a:rPr lang="ar-SA" altLang="en-US" sz="2100" b="1" dirty="0">
                <a:solidFill>
                  <a:srgbClr val="1B3B6F"/>
                </a:solidFill>
                <a:latin typeface="Amiri" pitchFamily="2" charset="-78"/>
                <a:ea typeface="Amiri" pitchFamily="2" charset="-78"/>
                <a:cs typeface="Amiri" pitchFamily="2" charset="-78"/>
              </a:rPr>
              <a:t> البَلَدُ بِجِبَالِهِ.</a:t>
            </a:r>
            <a:endParaRPr lang="ar-SA" sz="2100" dirty="0"/>
          </a:p>
        </p:txBody>
      </p:sp>
      <p:sp>
        <p:nvSpPr>
          <p:cNvPr id="43" name="Text 40"/>
          <p:cNvSpPr txBox="1"/>
          <p:nvPr/>
        </p:nvSpPr>
        <p:spPr>
          <a:xfrm>
            <a:off x="502920"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country is known for its mountains.</a:t>
            </a:r>
            <a:endParaRPr lang="en-US" sz="95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plurals (mountains, plains, islands) take a FEMININE SINGULAR adjective and verb: jibālun ʿāliyatun.</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FORMAL CLIMATE VERBS (WEBSITE RULES 2–3)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Prevails · is characterised by · is rich in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يَسُودُ · يَتَّسِمُ بِـ · غَنِيٌّ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PREVAILS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يَسُودُ + المَنَاخُ</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يَسُودُ المَنَاخُ الصَّحْرَاوِيُّ فِي دَاخِلِ البِلَادِ.</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desert climate prevails in the interior.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climate is the subject.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CHARACTERISED · DEVELOP</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يَتَّسِمُ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يَتَّسِمُ السَّاحِلُ بِمَنَاخٍ مُعْتَدِلٍ.</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coast has a mild climate.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bi- + noun in -in.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RICH IN · CORE</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غَنِيٌّ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البَلَدُ غَنِيٌّ بِالمَوَارِدِ الطَّبِيعِيَّةِ.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country is rich in natural resources.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ghaniyyun bi-, not min.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yattasimu needs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يَتَّسِمُ السَّاحِلُ بِمَنَاخٍ مُعْتَدِلٍ.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يَتَّسِمُ السَّاحِلُ مَنَاخٍ مُعْتَدِلٍ.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for the natural world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قَوَاعِدُ وَصْفِ العَالَمِ الطَّبِيعِيِّ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Adjective agreement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noun + matching adjective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صَحْرَاءُ وَاسِعَةٌ   ·   مَنَاخٌ جَافٌّ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يَسُودُ</a:t>
            </a:r>
            <a:pPr algn="l" indent="0" marL="0">
              <a:buNone/>
            </a:pPr>
            <a:r>
              <a:rPr lang="en-US" sz="1250" b="1" dirty="0">
                <a:solidFill>
                  <a:srgbClr val="1B3B6F"/>
                </a:solidFill>
                <a:latin typeface="Calibri" pitchFamily="34" charset="0"/>
                <a:cs typeface="Amiri" pitchFamily="2" charset="-78"/>
              </a:rPr>
              <a:t> for a prevailing climate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يَسُودُ</a:t>
            </a:r>
            <a:pPr algn="l" indent="0" marL="0">
              <a:buNone/>
            </a:pPr>
            <a:r>
              <a:rPr lang="en-US" sz="1050" dirty="0">
                <a:solidFill>
                  <a:srgbClr val="5A6472"/>
                </a:solidFill>
                <a:latin typeface="Calibri" pitchFamily="34" charset="0"/>
                <a:cs typeface="Amiri" pitchFamily="2" charset="-78"/>
              </a:rPr>
              <a:t> +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يَسُودُ المَنَاخُ الصَّحْرَاوِيُّ فِي دَاخِلِ البِلَادِ.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يَتَّسِمُ بِـ</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place + </a:t>
            </a:r>
            <a:pPr algn="l" indent="0" marL="0">
              <a:buNone/>
            </a:pPr>
            <a:r>
              <a:rPr lang="ar-SA" altLang="en-US" sz="1350" dirty="0">
                <a:solidFill>
                  <a:srgbClr val="5A6472"/>
                </a:solidFill>
                <a:latin typeface="Amiri" pitchFamily="2" charset="-78"/>
                <a:ea typeface="Amiri" pitchFamily="2" charset="-78"/>
                <a:cs typeface="Amiri" pitchFamily="2" charset="-78"/>
              </a:rPr>
              <a:t>يَتَّسِمُ بِـ</a:t>
            </a:r>
            <a:pPr algn="l" indent="0" marL="0">
              <a:buNone/>
            </a:pPr>
            <a:r>
              <a:rPr lang="en-US" sz="1050" dirty="0">
                <a:solidFill>
                  <a:srgbClr val="5A6472"/>
                </a:solidFill>
                <a:latin typeface="Calibri" pitchFamily="34" charset="0"/>
                <a:cs typeface="Amiri" pitchFamily="2" charset="-78"/>
              </a:rPr>
              <a:t>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يَتَّسِمُ السَّاحِلُ بِمَنَاخٍ مُعْتَدِلٍ.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t>
            </a:r>
            <a:pPr algn="l" indent="0" marL="0">
              <a:buNone/>
            </a:pPr>
            <a:r>
              <a:rPr lang="ar-SA" altLang="en-US" sz="1650" b="1" dirty="0">
                <a:solidFill>
                  <a:srgbClr val="1B3B6F"/>
                </a:solidFill>
                <a:latin typeface="Amiri" pitchFamily="2" charset="-78"/>
                <a:ea typeface="Amiri" pitchFamily="2" charset="-78"/>
                <a:cs typeface="Amiri" pitchFamily="2" charset="-78"/>
              </a:rPr>
              <a:t>تَتَمَيَّزُ بِـ</a:t>
            </a:r>
            <a:pPr algn="l" indent="0" marL="0">
              <a:buNone/>
            </a:pPr>
            <a:r>
              <a:rPr lang="en-US" sz="1250" b="1" dirty="0">
                <a:solidFill>
                  <a:srgbClr val="1B3B6F"/>
                </a:solidFill>
                <a:latin typeface="Calibri" pitchFamily="34" charset="0"/>
                <a:cs typeface="Amiri" pitchFamily="2" charset="-78"/>
              </a:rPr>
              <a:t> with a feminine subject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feminine subject + </a:t>
            </a:r>
            <a:pPr algn="l" indent="0" marL="0">
              <a:buNone/>
            </a:pPr>
            <a:r>
              <a:rPr lang="ar-SA" altLang="en-US" sz="1350" dirty="0">
                <a:solidFill>
                  <a:srgbClr val="5A6472"/>
                </a:solidFill>
                <a:latin typeface="Amiri" pitchFamily="2" charset="-78"/>
                <a:ea typeface="Amiri" pitchFamily="2" charset="-78"/>
                <a:cs typeface="Amiri" pitchFamily="2" charset="-78"/>
              </a:rPr>
              <a:t>تَتَمَيَّزُ بِـ</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تَتَمَيَّزُ المِنْطَقَةُ بِسُهُولٍ خَصْبَةٍ.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noun–adjective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صَحْرَاءُ وَاسِعٌ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صَحَارِي وَاسِعُونَ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صَحْرَاءُ وَاسِعَةٌ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use of </a:t>
            </a:r>
            <a:pPr algn="l" indent="0" marL="0">
              <a:buNone/>
            </a:pPr>
            <a:r>
              <a:rPr lang="ar-SA" altLang="en-US" sz="1650" b="1" dirty="0">
                <a:solidFill>
                  <a:srgbClr val="1B3B6F"/>
                </a:solidFill>
                <a:latin typeface="Amiri" pitchFamily="2" charset="-78"/>
                <a:ea typeface="Amiri" pitchFamily="2" charset="-78"/>
                <a:cs typeface="Amiri" pitchFamily="2" charset="-78"/>
              </a:rPr>
              <a:t>يَتَّسِمُ بِـ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السَّاحِلُ بِمَنَاخٍ مُعْتَدِلٍ.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السَّاحِلُ مَنَاخًا مُعْتَدِلًا.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السَّاحِلُ إِلَى مَنَاخٍ مُعْتَدِلٍ.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correct subject–verb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المِنْطَقَةُ بِجِبَالٍ عَالِيَةٍ.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المِنْطَقَةُ بِجِبَالٍ عَالِيَةٍ.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المِنْطَقَةُ إِلَى جِبَالٍ عَالِيَةٍ.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“The country is rich in natural resources”?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البَلَدُ غَنِيٌّ بِالمَوَارِدِ الطَّبِيعِيَّةِ.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البَلَدُ يَسُودُ المَوَارِدَ.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البَلَدُ غَنِيَّةٌ مِنَ المَوَارِدِ.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noun–adjective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صَحْرَاءُ وَاسِعٌ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صَحَارِي وَاسِعُونَ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صَحْرَاءُ وَاسِعَةٌ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صحراء</a:t>
            </a:r>
            <a:pPr algn="l" indent="0" marL="0">
              <a:buNone/>
            </a:pPr>
            <a:r>
              <a:rPr lang="en-US" sz="1050" i="1" dirty="0">
                <a:solidFill>
                  <a:srgbClr val="8A6D1E"/>
                </a:solidFill>
                <a:latin typeface="Calibri" pitchFamily="34" charset="0"/>
                <a:cs typeface="Amiri" pitchFamily="2" charset="-78"/>
              </a:rPr>
              <a:t> is feminine, so the adjective is </a:t>
            </a:r>
            <a:pPr algn="l" indent="0" marL="0">
              <a:buNone/>
            </a:pPr>
            <a:r>
              <a:rPr lang="ar-SA" altLang="en-US" sz="1350" dirty="0">
                <a:solidFill>
                  <a:srgbClr val="8A6D1E"/>
                </a:solidFill>
                <a:latin typeface="Amiri" pitchFamily="2" charset="-78"/>
                <a:ea typeface="Amiri" pitchFamily="2" charset="-78"/>
                <a:cs typeface="Amiri" pitchFamily="2" charset="-78"/>
              </a:rPr>
              <a:t>واسعة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use of </a:t>
            </a:r>
            <a:pPr algn="l" indent="0" marL="0">
              <a:buNone/>
            </a:pPr>
            <a:r>
              <a:rPr lang="ar-SA" altLang="en-US" sz="1650" b="1" dirty="0">
                <a:solidFill>
                  <a:srgbClr val="1B3B6F"/>
                </a:solidFill>
                <a:latin typeface="Amiri" pitchFamily="2" charset="-78"/>
                <a:ea typeface="Amiri" pitchFamily="2" charset="-78"/>
                <a:cs typeface="Amiri" pitchFamily="2" charset="-78"/>
              </a:rPr>
              <a:t>يَتَّسِمُ بِـ</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يَتَّسِمُ السَّاحِلُ بِمَنَاخٍ مُعْتَدِلٍ.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يَتَّسِمُ السَّاحِلُ مَنَاخًا مُعْتَدِلًا.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يَتَّسِمُ السَّاحِلُ إِلَى مَنَاخٍ مُعْتَدِلٍ.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يتسم</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before the characteristic.</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correct subject–verb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يَتَمَيَّزُ المِنْطَقَةُ بِجِبَالٍ عَالِيَةٍ.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تَتَمَيَّزُ المِنْطَقَةُ بِجِبَالٍ عَالِيَةٍ.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تَتَمَيَّزُ المِنْطَقَةُ إِلَى جِبَالٍ عَالِيَةٍ.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المنطقة</a:t>
            </a:r>
            <a:pPr algn="l" indent="0" marL="0">
              <a:buNone/>
            </a:pPr>
            <a:r>
              <a:rPr lang="en-US" sz="1050" i="1" dirty="0">
                <a:solidFill>
                  <a:srgbClr val="8A6D1E"/>
                </a:solidFill>
                <a:latin typeface="Calibri" pitchFamily="34" charset="0"/>
                <a:cs typeface="Amiri" pitchFamily="2" charset="-78"/>
              </a:rPr>
              <a:t> is a feminine singular subject, so use </a:t>
            </a:r>
            <a:pPr algn="l" indent="0" marL="0">
              <a:buNone/>
            </a:pPr>
            <a:r>
              <a:rPr lang="ar-SA" altLang="en-US" sz="1350" dirty="0">
                <a:solidFill>
                  <a:srgbClr val="8A6D1E"/>
                </a:solidFill>
                <a:latin typeface="Amiri" pitchFamily="2" charset="-78"/>
                <a:ea typeface="Amiri" pitchFamily="2" charset="-78"/>
                <a:cs typeface="Amiri" pitchFamily="2" charset="-78"/>
              </a:rPr>
              <a:t>تتميز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“The country is rich in natural resources”?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البَلَدُ غَنِيٌّ بِالمَوَارِدِ الطَّبِيعِيَّةِ.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البَلَدُ يَسُودُ المَوَارِدَ.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البَلَدُ غَنِيَّةٌ مِنَ المَوَارِدِ.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 بـ</a:t>
            </a:r>
            <a:pPr algn="l" indent="0" marL="0">
              <a:buNone/>
            </a:pPr>
            <a:r>
              <a:rPr lang="en-US" sz="1050" i="1" dirty="0">
                <a:solidFill>
                  <a:srgbClr val="8A6D1E"/>
                </a:solidFill>
                <a:latin typeface="Calibri" pitchFamily="34" charset="0"/>
                <a:cs typeface="Amiri" pitchFamily="2" charset="-78"/>
              </a:rPr>
              <a:t> is the correct collocation.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Watch me describe a country’s landscape and climate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Location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يَقَعُ المَغْرِبُ فِي شَمَالِ إِفْرِيقِيَا.</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al-Maghrib is masculine → yaqaʿu.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Features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يَتَمَيَّزُ</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بِجِبَالٍ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عَالِيَةٍ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وَسَوَاحِلَ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طَوِيلَةٍ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Non-human plurals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Region 1</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يَتَّسِمُ</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السَّاحِلُ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بِمَنَاخٍ</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مُعْتَدِلٍ وَرَطْبٍ.</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yattasimu + bi-.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Region 2</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أَمَّا فِي الجَنُوبِ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فَيَسُودُ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المَنَاخُ الصَّحْرَاوِيُّ.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Contrast: ammā … fa-.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FORMAL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AGREEMENT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yattasimu bi-</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يَقَعُ المَغْرِبُ فِي شَمَالِ إِفْرِيقِيَا،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يَتَمَيَّزُ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بِتَنَوُّعٍ طَبِيعِيٍّ كَبِيرٍ: جِبَالٌ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عَالِيَةٌ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وَسَوَاحِلُ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طَوِيلَةٌ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وَسُهُولٌ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خَصْبَةٌ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يَتَّسِمُ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السَّاحِلُ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بِمَنَاخٍ</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مُعْتَدِلٍ وَرَطْبٍ، أَمَّا فِي الجَنُوبِ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فَيَسُودُ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المَنَاخُ الصَّحْرَاوِيُّ الجَافُّ.</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Morocco lies in North Africa and is known for great natural variety: high mountains, long coasts and fertile plains. The coast has a mild, humid climate, whereas in the south a dry desert climate prevails.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صَحْرَاءُ وَاسِعَةٌ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vast desert</a:t>
            </a:r>
            <a:endParaRPr lang="en-US" sz="1250" dirty="0"/>
          </a:p>
          <a:p>
            <a:pPr indent="0" marL="0">
              <a:buNone/>
            </a:pPr>
            <a:r>
              <a:rPr lang="en-US" sz="1050" i="1" dirty="0">
                <a:solidFill>
                  <a:srgbClr val="8A6D1E"/>
                </a:solidFill>
                <a:latin typeface="Calibri" pitchFamily="34" charset="0"/>
                <a:cs typeface="Amiri" pitchFamily="2" charset="-78"/>
              </a:rPr>
              <a:t>A feminine noun normally takes a feminine adjective; a masculine noun takes a masculine adjective.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يَسُودُ المَنَاخُ الصَّحْرَاوِيُّ فِي دَاخِلِ البِلَادِ.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desert climate prevails in the interior of the country.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climate or weather feature is the subject after يَسُودُ.</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يَتَّسِمُ السَّاحِلُ بِمَنَاخٍ مُعْتَدِلٍ.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coast is characterised by a mild climate.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preposition بِـ introduces the characteristic and makes the following noun genitive.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NATURAL WORLD — ENVIRONMENT AND CLIMATE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this?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trees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and sand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water and ship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صَحْرَاءُ.</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بَحْرٌ.</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غَابَةٌ.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trees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غَابَةٌ.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forest.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and sand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صَحْرَاءُ.</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desert.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water and ship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بَحْرٌ.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sea.</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البِيئَةُ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المَنَاخُ</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الطَّقْسُ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السُّهُولُ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التُّرْبَةُ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المِيَاهُ العَذْبَةُ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يَسُودُ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يَتَّسِمُ بِـ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 بِـ</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Natural features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Climate and resources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Formal description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Natural features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البِيئَةُ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المَنَاخُ</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الطَّقْسُ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Climate and resources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السُّهُولُ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التُّرْبَةُ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المِيَاهُ العَذْبَةُ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Formal description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يَسُودُ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يَتَّسِمُ بِـ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يَتَمَيَّزُ بِـ</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plural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جِبَالٌ عَالِيُونَ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جِبَالٌ عَالٍ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جِبَالٌ عَالِيَةٌ</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تَقَعُ المَدِينَةُ ___ السَّاحِلِ.</a:t>
            </a:r>
            <a:endParaRPr lang="ar-SA" sz="13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formal climate description?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الشَّمَالِ مَنَاخٌ وَبَسْ.</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شَمَالُ البِلَادِ بِمَنَاخٍ رَطْبٍ.</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شَمَالُ البِلَادِ جَوٌّ حُلْوٌ جِدًّا.</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plural phrase.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جِبَالٌ عَالِيُونَ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جِبَالٌ عَالٍ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جِبَالٌ عَالِيَةٌ</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normally takes a feminine singular adjective.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تَقَعُ المَدِينَةُ ___ السَّاحِلِ.</a:t>
            </a:r>
            <a:endParaRPr lang="ar-SA" sz="135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تقع على الساحل</a:t>
            </a:r>
            <a:pPr algn="l" indent="0" marL="0">
              <a:buNone/>
            </a:pPr>
            <a:r>
              <a:rPr lang="en-US" sz="1050" i="1" dirty="0">
                <a:solidFill>
                  <a:srgbClr val="8A6D1E"/>
                </a:solidFill>
                <a:latin typeface="Calibri" pitchFamily="34" charset="0"/>
                <a:cs typeface="Amiri" pitchFamily="2" charset="-78"/>
              </a:rPr>
              <a:t> means it is located on the coast.</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formal climate description?</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الشَّمَالِ مَنَاخٌ وَبَسْ.</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يَتَّسِمُ شَمَالُ البِلَادِ بِمَنَاخٍ رَطْبٍ.</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شَمَالُ البِلَادِ جَوٌّ حُلْوٌ جِدًّا.</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يتسم بـ</a:t>
            </a:r>
            <a:pPr algn="l" indent="0" marL="0">
              <a:buNone/>
            </a:pPr>
            <a:r>
              <a:rPr lang="en-US" sz="1050" i="1" dirty="0">
                <a:solidFill>
                  <a:srgbClr val="8A6D1E"/>
                </a:solidFill>
                <a:latin typeface="Calibri" pitchFamily="34" charset="0"/>
                <a:cs typeface="Amiri" pitchFamily="2" charset="-78"/>
              </a:rPr>
              <a:t> gives a precise formal description.</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الصَّحْرَاءُ وَاسِعٌ.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ṣaḥrāʾ: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يَتَّسِمُ السَّاحِلُ مَنَاخٍ مُعْتَدِلٍ.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 after yattasimu?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يَتَمَيَّزُ المِنْطَقَةُ بِسُهُولٍ.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al-minṭaqa is feminine: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الصَّحْرَاءُ وَاسِعٌ.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الصَّحْرَاءُ وَاسِعَةٌ.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feminine noun </a:t>
            </a:r>
            <a:pPr algn="l" indent="0" marL="0">
              <a:buNone/>
            </a:pPr>
            <a:r>
              <a:rPr lang="ar-SA" altLang="en-US" sz="1500" b="1" dirty="0">
                <a:solidFill>
                  <a:srgbClr val="1B3B6F"/>
                </a:solidFill>
                <a:latin typeface="Amiri" pitchFamily="2" charset="-78"/>
                <a:ea typeface="Amiri" pitchFamily="2" charset="-78"/>
                <a:cs typeface="Amiri" pitchFamily="2" charset="-78"/>
              </a:rPr>
              <a:t>صحراء</a:t>
            </a:r>
            <a:pPr algn="l" indent="0" marL="0">
              <a:buNone/>
            </a:pPr>
            <a:r>
              <a:rPr lang="en-US" sz="1150" b="1" dirty="0">
                <a:solidFill>
                  <a:srgbClr val="1B3B6F"/>
                </a:solidFill>
                <a:latin typeface="Calibri" pitchFamily="34" charset="0"/>
                <a:cs typeface="Amiri" pitchFamily="2" charset="-78"/>
              </a:rPr>
              <a:t> needs a feminine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يَتَّسِمُ السَّاحِلُ مَنَاخٍ مُعْتَدِلٍ.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يَتَّسِمُ السَّاحِلُ بِمَنَاخٍ مُعْتَدِلٍ.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يتسم</a:t>
            </a:r>
            <a:pPr algn="l" indent="0" marL="0">
              <a:buNone/>
            </a:pPr>
            <a:r>
              <a:rPr lang="en-US" sz="1150" b="1" dirty="0">
                <a:solidFill>
                  <a:srgbClr val="1B3B6F"/>
                </a:solidFill>
                <a:latin typeface="Calibri" pitchFamily="34" charset="0"/>
                <a:cs typeface="Amiri" pitchFamily="2" charset="-78"/>
              </a:rPr>
              <a:t> requires the preposition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يَتَمَيَّزُ المِنْطَقَةُ بِسُهُولٍ.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تَتَمَيَّزُ المِنْطَقَةُ بِسُهُولٍ.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singular feminine subject </a:t>
            </a:r>
            <a:pPr algn="l" indent="0" marL="0">
              <a:buNone/>
            </a:pPr>
            <a:r>
              <a:rPr lang="ar-SA" altLang="en-US" sz="1500" b="1" dirty="0">
                <a:solidFill>
                  <a:srgbClr val="1B3B6F"/>
                </a:solidFill>
                <a:latin typeface="Amiri" pitchFamily="2" charset="-78"/>
                <a:ea typeface="Amiri" pitchFamily="2" charset="-78"/>
                <a:cs typeface="Amiri" pitchFamily="2" charset="-78"/>
              </a:rPr>
              <a:t>المنطقة</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تتميز</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natural features and climate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high mountains mentioned?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north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islands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far west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characterises the coast?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natural features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snowy desert climate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mild, humid climate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climate prevails in the south?</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cold mountain climate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tropical forest climate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dry desert climate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some oases located?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valleys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Inside large cities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high islands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water source is mentioned?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 tanks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Groundwater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Sea 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formally describes the coast?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السَّاحِلُ بِـ</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يَسْتَهْلِكُ السَّاحِلُ</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يُنْتِجُ السَّاحِلُ</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الشَّمَالِ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السَّاحِلُ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الجَنُوبِ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تَتَنَوَّعُ الطَّبِيعَةُ فِي المَغْرِبِ.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Nature in Morocco is varied.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الشَّمَالِ تَمْتَدُّ جِبَالٌ عَالِيَةٌ،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north, high mountains stretch out,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وَيَتَّسِمُ السَّاحِلُ بِمَنَاخٍ مُعْتَدِلٍ وَرَطْبٍ.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the coast has a mild, humid climate.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فِي الجَنُوبِ فَيَسُودُ المَنَاخُ الصَّحْرَاوِيُّ الجَافُّ.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south, a dry desert climate prevails.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وَتَقَعُ بَعْضُ الوَاحَاتِ قُرْبَ الأَوْدِيَةِ، حَيْثُ تَتَوَفَّرُ المِيَاهُ الجَوْفِيَّةُ.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oases lie near the valleys, where groundwater is available.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the high mountains mentioned?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north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islands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far west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ea typeface="Amiri" pitchFamily="2" charset="-78"/>
                <a:cs typeface="Amiri" pitchFamily="2" charset="-78"/>
              </a:rPr>
              <a:t>فِي الشَّمَالِ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characterises the coast?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natural features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snowy desert climate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mild, humid climate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coast has a mild and humid climate.</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climate prevails in the south?</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cold mountain climate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tropical forest climate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dry desert climate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يَسُودُ المَنَاخُ الصَّحْرَاوِيُّ الجَافُّ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are some oases located?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Near valleys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Inside large cities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high islands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are </a:t>
            </a:r>
            <a:pPr algn="l" indent="0" marL="0">
              <a:buNone/>
            </a:pPr>
            <a:r>
              <a:rPr lang="ar-SA" altLang="en-US" sz="1350" dirty="0">
                <a:solidFill>
                  <a:srgbClr val="8A6D1E"/>
                </a:solidFill>
                <a:latin typeface="Amiri" pitchFamily="2" charset="-78"/>
                <a:ea typeface="Amiri" pitchFamily="2" charset="-78"/>
                <a:cs typeface="Amiri" pitchFamily="2" charset="-78"/>
              </a:rPr>
              <a:t>قُرْبَ الأَوْدِيَةِ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water source is mentioned?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 tanks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Groundwater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Sea 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المياه الجوفية</a:t>
            </a:r>
            <a:pPr algn="l" indent="0" marL="0">
              <a:buNone/>
            </a:pPr>
            <a:r>
              <a:rPr lang="en-US" sz="1050" i="1" dirty="0">
                <a:solidFill>
                  <a:srgbClr val="8A6D1E"/>
                </a:solidFill>
                <a:latin typeface="Calibri" pitchFamily="34" charset="0"/>
                <a:cs typeface="Amiri" pitchFamily="2" charset="-78"/>
              </a:rPr>
              <a:t> means groundwater.</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formally describes the coast?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يَتَّسِمُ السَّاحِلُ بِـ</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يَسْتَهْلِكُ السَّاحِلُ</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يُنْتِجُ السَّاحِلُ</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يتسم بـ</a:t>
            </a:r>
            <a:pPr algn="l" indent="0" marL="0">
              <a:buNone/>
            </a:pPr>
            <a:r>
              <a:rPr lang="en-US" sz="1050" i="1" dirty="0">
                <a:solidFill>
                  <a:srgbClr val="8A6D1E"/>
                </a:solidFill>
                <a:latin typeface="Calibri" pitchFamily="34" charset="0"/>
                <a:cs typeface="Amiri" pitchFamily="2" charset="-78"/>
              </a:rPr>
              <a:t> introduces a characteristic.</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الشَّمَالِ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السَّاحِلُ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الجَنُوبِ</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Speaking: describe a natural environment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مَنَاخَ بَلَدٍ عَرَبِيٍّ.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المَعَالِمِ الطَّبِيعِيَّةِ فِيهِ؟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تَخْتَلِفُ المَنَاطِقُ دَاخِلَ البَلَدِ؟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يَسُودُ فِي ___ مَنَاخٌ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يَتَمَيَّزُ / تَتَمَيَّزُ ___ بِـ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فِي الشَّمَالِ ___ ، أَمَّا فِي الجَنُوبِ فَـ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تَصِفُ الطَّبِيعَةَ فِي بَلَدٍ عَرَبِيٍّ؟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would you describe nature in an Arab country?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تَتَمَيَّزُ عُمَانُ بِسَوَاحِلَ طَوِيلَةٍ وَجِبَالٍ عَالِيَةٍ، وَيَسُودُ فِيهَا مَنَاخٌ حَارٌّ وَجَافٌّ فِي مُعْظَمِ السَّنَةِ.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Oman is known for long coasts and high mountains, and a hot, dry climate prevails for most of the year.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natural features with agreeing adjectives + one climate sentence (yasūdu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country’s landscape and climate with yasūdu, yattasimu bi- and one contrast.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features, two regions contrasted, and a justified environmental comment.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يَتَّسِمُ السَّاحِلُ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coast is characterised by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تَتَمَيَّزُ المِنْطَقَةُ بِـ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region is known for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فِي الجَنُوبِ فَـ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the south,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فِي رَأْيِي، يَجِبُ حِمَايَةُ ______ لِأَنَّ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we must protect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يَقَعُ / تَقَعُ ______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lies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فِيهَا جِبَالٌ ______ وَسَاحِلٌ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high mountains and a long coast.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يَسُودُ مَنَاخٌ ______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 climate prevails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البَلَدُ غَنِيٌّ بِـ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country is rich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جِبَالٌ عَالِيَةٌ  ·  صَحْرَاءُ وَاسِعَةٌ  ·  سُهُولٌ خَصْبَةٌ  ·  سَاحِلٌ طَوِيلٌ  ·  مَنَاخٌ جَافٌّ  ·  مَنَاخٌ مُعْتَدِلٌ  ·  رَطْبٌ  ·  يَسُودُ  ·  يَتَّسِمُ بِـ  ·  يَتَمَيَّزُ بِـ  ·  يَقَعُ فِي  ·  غَنِيٌّ بِـ</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describing the natural features and climate of an Arabic-speaking country.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at least four natural features.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يَسُودُ</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يَتَّسِمُ بِـ</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contrast between two regions.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Finish with a justified environmental comment.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تَتَنَوَّعُ الطَّبِيعَةُ فِي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nature is varied in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تَتَوَفَّرُ المِيَاهُ الجَوْفِيَّةُ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groundwater is available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المِيَاهُ العَذْبَةُ مَوْرِدًا مَحْدُودًا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fresh water is considered a limited resource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تَحْتَاجُ البِلَادُ إِلَى إِدَارَتِهَا بِعِنَايَةٍ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country needs to manage it carefully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حِمَايَةُ هٰذِهِ البِيئَاتِ</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these environments must be protected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يَتَمَيَّزُ المَغْرِبُ بِتَنَوُّعٍ طَبِيعِيٍّ كَبِيرٍ. فِي الشَّمَالِ تَمْتَدُّ جِبَالُ الرِّيفِ، وَيَتَّسِمُ السَّاحِلُ بِمَنَاخٍ مُعْتَدِلٍ وَرَطْبٍ. أَمَّا فِي الدَّاخِلِ فَتُوجَدُ سُهُولٌ خَصْبَةٌ تُسَاعِدُ عَلَى الزِّرَاعَةِ. وَفِي الجَنُوبِ يَسُودُ المَنَاخُ الصَّحْرَاوِيُّ الجَافُّ، وَتَقَعُ وَاحَاتٌ قُرْبَ بَعْضِ الأَوْدِيَةِ. كَمَا أَنَّ البِلَادَ غَنِيَّةٌ بِمَوَارِدَ طَبِيعِيَّةٍ مُتَنَوِّعَةٍ. فِي رَأْيِي، يَجِبُ حِمَايَةُ هٰذِهِ البِيئَاتِ لِأَنَّهَا مُهِمَّةٌ لِلنَّاسِ وَالحَيَوَانَاتِ وَالاقْتِصَادِ.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Morocco is known for great natural variety. In the north the Rif mountains stretch out, and the coast has a mild, humid climate. In the interior there are fertile plains that help farming. In the south a dry desert climate prevails, and there are oases near some valleys. The country is also rich in varied natural resources. In my opinion, these environments must be protected because they are important for people, animals and the economy.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natural features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yasūdu</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yattasimu bi-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 and a comment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agree (incl. non-human plurals).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four natural features.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yasūdu and yattasimu bi-.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verb agrees with the country / region.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two regions and added a comment.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formal description.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السَّاحِلُ بِمَنَاخٍ مُعْتَدِلٍ.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السَّاحِلُ إِلَى مَنَاخٍ مُعْتَدِلٍ.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تَتَّسِمُ السَّاحِلَ بِمَنَاخٍ.</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phrase means “fertile plains”?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صَحَارَى جَافَّةٌ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سُهُولٌ خَصْبَةٌ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سَوَاحِلُ رَطْبَةٌ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المِنْطَقَةُ بِجِبَالٍ عَالِيَةٍ.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المِنْطَقَةُ بِجِبَالٍ عَالِيُونَ.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المِنْطَقَةَ بِجَبَلٌ عَالٍ.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formal description.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يَتَّسِمُ السَّاحِلُ بِمَنَاخٍ مُعْتَدِلٍ.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يَتَّسِمُ السَّاحِلُ إِلَى مَنَاخٍ مُعْتَدِلٍ.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تَتَّسِمُ السَّاحِلَ بِمَنَاخٍ.</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يتسم</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the masculine verb agrees with </a:t>
            </a:r>
            <a:pPr algn="l" indent="0" marL="0">
              <a:buNone/>
            </a:pPr>
            <a:r>
              <a:rPr lang="ar-SA" altLang="en-US" sz="1350" dirty="0">
                <a:solidFill>
                  <a:srgbClr val="8A6D1E"/>
                </a:solidFill>
                <a:latin typeface="Amiri" pitchFamily="2" charset="-78"/>
                <a:ea typeface="Amiri" pitchFamily="2" charset="-78"/>
                <a:cs typeface="Amiri" pitchFamily="2" charset="-78"/>
              </a:rPr>
              <a:t>الساحل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phrase means “fertile plains”?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صَحَارَى جَافَّةٌ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سُهُولٌ خَصْبَةٌ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سَوَاحِلُ رَطْبَةٌ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سهول خصبة</a:t>
            </a:r>
            <a:pPr algn="l" indent="0" marL="0">
              <a:buNone/>
            </a:pPr>
            <a:r>
              <a:rPr lang="en-US" sz="1050" i="1" dirty="0">
                <a:solidFill>
                  <a:srgbClr val="8A6D1E"/>
                </a:solidFill>
                <a:latin typeface="Calibri" pitchFamily="34" charset="0"/>
                <a:cs typeface="Amiri" pitchFamily="2" charset="-78"/>
              </a:rPr>
              <a:t> means fertile plains.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تَتَمَيَّزُ المِنْطَقَةُ بِجِبَالٍ عَالِيَةٍ.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يَتَمَيَّزُ المِنْطَقَةُ بِجِبَالٍ عَالِيُونَ.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تَتَمَيَّزُ المِنْطَقَةَ بِجَبَلٌ عَالٍ.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subject takes </a:t>
            </a:r>
            <a:pPr algn="l" indent="0" marL="0">
              <a:buNone/>
            </a:pPr>
            <a:r>
              <a:rPr lang="ar-SA" altLang="en-US" sz="1350" dirty="0">
                <a:solidFill>
                  <a:srgbClr val="8A6D1E"/>
                </a:solidFill>
                <a:latin typeface="Amiri" pitchFamily="2" charset="-78"/>
                <a:ea typeface="Amiri" pitchFamily="2" charset="-78"/>
                <a:cs typeface="Amiri" pitchFamily="2" charset="-78"/>
              </a:rPr>
              <a:t>تتميز</a:t>
            </a:r>
            <a:pPr algn="l" indent="0" marL="0">
              <a:buNone/>
            </a:pPr>
            <a:r>
              <a:rPr lang="en-US" sz="1050" i="1" dirty="0">
                <a:solidFill>
                  <a:srgbClr val="8A6D1E"/>
                </a:solidFill>
                <a:latin typeface="Calibri" pitchFamily="34" charset="0"/>
                <a:cs typeface="Amiri" pitchFamily="2" charset="-78"/>
              </a:rPr>
              <a:t> and the non-human plural takes </a:t>
            </a:r>
            <a:pPr algn="l" indent="0" marL="0">
              <a:buNone/>
            </a:pPr>
            <a:r>
              <a:rPr lang="ar-SA" altLang="en-US" sz="1350" dirty="0">
                <a:solidFill>
                  <a:srgbClr val="8A6D1E"/>
                </a:solidFill>
                <a:latin typeface="Amiri" pitchFamily="2" charset="-78"/>
                <a:ea typeface="Amiri" pitchFamily="2" charset="-78"/>
                <a:cs typeface="Amiri" pitchFamily="2" charset="-78"/>
              </a:rPr>
              <a:t>عالية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Reading: a country’s natural environment</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تَقَعُ سَلْطَنَةُ عُمَانَ فِي جَنُوبِ شَرْقِ شِبْهِ الجَزِيرَةِ العَرَبِيَّةِ. تَتَمَيَّزُ بِسَوَاحِلَ طَوِيلَةٍ وَجِبَالٍ وَصَحَارَى وَاسِعَةٍ. يَسُودُ المَنَاخُ الحَارُّ وَالجَافُّ فِي مُعْظَمِ المَنَاطِقِ، بَيْنَمَا يَتَّسِمُ بَعْضُ السَّاحِلِ بِرُطُوبَةٍ مُرْتَفِعَةٍ. وَتُعَدُّ المِيَاهُ العَذْبَةُ مَوْرِدًا مَحْدُودًا، لِذٰلِكَ تَحْتَاجُ البِلَادُ إِلَى إِدَارَتِهَا بِعِنَايَةٍ.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lies, is located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شِبْهِ الجَزِيرَةِ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Arabian Peninsula</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سَوَاحِلَ طَوِيلَةٍ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 coasts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صَحَارَى وَاسِعَةٍ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vast deserts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الحَارُّ وَالجَافُّ</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hot and dry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مُعْظَمِ المَنَاطِقِ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most regions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بِرُطُوبَةٍ 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high humidity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considered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مَوْرِدًا مَحْدُودًا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limited resource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بِعِنَايَةٍ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carefully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Oman located?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North Africa</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south-east of the Arabian Peninsula</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Atlantic coast of Europe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natural features are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Lakes, plains and volcanoes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Forests, glaciers and rivers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Coasts, mountains and deserts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climate prevails in most areas?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 and dry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and wet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Mild and snowy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humid?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desert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Part of the coast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mountains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water be managed carefully?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 water is limited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 falls every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sea is frozen</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a contrast?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Oman located?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North Africa</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 the south-east of the Arabian Peninsula</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On the Atlantic coast of Europe</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sentence gives the location.</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three natural features are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Lakes, plains and volcanoes</a:t>
            </a:r>
            <a:endParaRPr lang="en-US" sz="12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Forests, glaciers and rivers</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Coasts, mountains and deserts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names </a:t>
            </a:r>
            <a:pPr algn="l" indent="0" marL="0">
              <a:buNone/>
            </a:pPr>
            <a:r>
              <a:rPr lang="ar-SA" altLang="en-US" sz="1350" dirty="0">
                <a:solidFill>
                  <a:srgbClr val="8A6D1E"/>
                </a:solidFill>
                <a:latin typeface="Amiri" pitchFamily="2" charset="-78"/>
                <a:ea typeface="Amiri" pitchFamily="2" charset="-78"/>
                <a:cs typeface="Amiri" pitchFamily="2" charset="-78"/>
              </a:rPr>
              <a:t>سواحل، جبال، صحارى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climate prevails in most areas?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Hot and dry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 and wet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Mild and snowy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states </a:t>
            </a:r>
            <a:pPr algn="l" indent="0" marL="0">
              <a:buNone/>
            </a:pPr>
            <a:r>
              <a:rPr lang="ar-SA" altLang="en-US" sz="1350" dirty="0">
                <a:solidFill>
                  <a:srgbClr val="8A6D1E"/>
                </a:solidFill>
                <a:latin typeface="Amiri" pitchFamily="2" charset="-78"/>
                <a:ea typeface="Amiri" pitchFamily="2" charset="-78"/>
                <a:cs typeface="Amiri" pitchFamily="2" charset="-78"/>
              </a:rPr>
              <a:t>الحار والجاف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humid?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desert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Part of the coast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mountains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بعض الساحل</a:t>
            </a:r>
            <a:pPr algn="l" indent="0" marL="0">
              <a:buNone/>
            </a:pPr>
            <a:r>
              <a:rPr lang="en-US" sz="1050" i="1" dirty="0">
                <a:solidFill>
                  <a:srgbClr val="8A6D1E"/>
                </a:solidFill>
                <a:latin typeface="Calibri" pitchFamily="34" charset="0"/>
                <a:cs typeface="Amiri" pitchFamily="2" charset="-78"/>
              </a:rPr>
              <a:t> has high humidity.</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water be managed carefully?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Fresh water is limited</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 falls every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sea is frozen</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Fresh water is described as a limited resource.</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a contrast?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بَيْنَمَا</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contrasts most areas with part of the coast.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The Natural World — Environment and Climate Vocabulary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sentence describes a desert climate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تَسُودُ المَنَاخَ الصَّحْرَاوِيَّ فِي الدَّاخِلِ.</a:t>
            </a:r>
            <a:endParaRPr lang="ar-SA" sz="18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يَسُودُ المَنَاخُ الصَّحْرَاوِيُّ فِي الدَّاخِلِ.</a:t>
            </a:r>
            <a:endParaRPr lang="ar-SA" sz="18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يَسُودُ الصَّحْرَاءُ المَنَاخَ.</a:t>
            </a:r>
            <a:endParaRPr lang="ar-SA" sz="18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sentence meaning “The coast is characterised by a mild climate.”</a:t>
            </a:r>
            <a:endParaRPr lang="en-US" sz="1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السَّاحِلُ بِمَنَاخٍ مُعْتَدِلٍ.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المَنَاخُ إِلَى السَّاحِلِ.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يَقَعُ السَّاحِلُ مِنْ مَنَاخٍ مُعْتَدِلٍ.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contains accurate non-human plural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أَنْهَارٌ طَوِيلُونَ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أَنْهَارٌ طَوِيلٌ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أَنْهَارٌ طَوِيلَةٌ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the Arabic for “natural resources”.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المَوَاسِمُ الطَّبِيعِيَّةُ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المَنَاظِرُ الصِّنَاعِيَّةُ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المَوَارِدُ الطَّبِيعِيَّةُ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says that the area has fertile plains?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المِنْطَقَةُ بِسُهُولٍ خَصْبَةٍ.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تَقَعُ المِنْطَقَةُ إِلَى سُهُولٍ خَصْبَةٍ.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تَسُودُ السُّهُولُ المِنْطَقَةَ خَصْبَةً.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correctly locates a lake?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يَقَعُ البُحَيْرَةُ قُرْبَ الجِبَالِ.</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تَقَعُ البُحَيْرَةُ قُرْبَ الجِبَالِ.</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تَقَعُ البُحَيْرَةَ مِنَ الجِبَالِ.</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sentence describes a desert climate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تَسُودُ المَنَاخَ الصَّحْرَاوِيَّ فِي الدَّاخِلِ.</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يَسُودُ المَنَاخُ الصَّحْرَاوِيُّ فِي الدَّاخِلِ.</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يَسُودُ الصَّحْرَاءُ المَنَاخَ.</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يسود</a:t>
            </a:r>
            <a:pPr algn="l" indent="0" marL="0">
              <a:buNone/>
            </a:pPr>
            <a:r>
              <a:rPr lang="en-US" sz="1050" i="1" dirty="0">
                <a:solidFill>
                  <a:srgbClr val="8A6D1E"/>
                </a:solidFill>
                <a:latin typeface="Calibri" pitchFamily="34" charset="0"/>
                <a:cs typeface="Amiri" pitchFamily="2" charset="-78"/>
              </a:rPr>
              <a:t> is followed by its masculine subject </a:t>
            </a:r>
            <a:pPr algn="l" indent="0" marL="0">
              <a:buNone/>
            </a:pPr>
            <a:r>
              <a:rPr lang="ar-SA" altLang="en-US" sz="1350" dirty="0">
                <a:solidFill>
                  <a:srgbClr val="8A6D1E"/>
                </a:solidFill>
                <a:latin typeface="Amiri" pitchFamily="2" charset="-78"/>
                <a:ea typeface="Amiri" pitchFamily="2" charset="-78"/>
                <a:cs typeface="Amiri" pitchFamily="2" charset="-78"/>
              </a:rPr>
              <a:t>المناخ</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sentence meaning “The coast is characterised by a mild climate.”</a:t>
            </a:r>
            <a:endParaRPr lang="en-US" sz="120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يَتَّسِمُ السَّاحِلُ بِمَنَاخٍ مُعْتَدِلٍ.</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يَتَمَيَّزُ المَنَاخُ إِلَى السَّاحِلِ.</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يَقَعُ السَّاحِلُ مِنْ مَنَاخٍ مُعْتَدِلٍ.</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يتسم بـ</a:t>
            </a:r>
            <a:pPr algn="l" indent="0" marL="0">
              <a:buNone/>
            </a:pPr>
            <a:r>
              <a:rPr lang="en-US" sz="1050" i="1" dirty="0">
                <a:solidFill>
                  <a:srgbClr val="8A6D1E"/>
                </a:solidFill>
                <a:latin typeface="Calibri" pitchFamily="34" charset="0"/>
                <a:cs typeface="Amiri" pitchFamily="2" charset="-78"/>
              </a:rPr>
              <a:t> expresses “is characterised by”.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contains accurate non-human plural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أَنْهَارٌ طَوِيلُونَ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أَنْهَارٌ طَوِيلٌ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أَنْهَارٌ طَوِيلَةٌ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plurals usually take feminine singular adjectives.</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the Arabic for “natural resources”.</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المَوَاسِمُ الطَّبِيعِيَّةُ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المَنَاظِرُ الصِّنَاعِيَّةُ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المَوَارِدُ الطَّبِيعِيَّةُ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الموارد الطبيعية</a:t>
            </a:r>
            <a:pPr algn="l" indent="0" marL="0">
              <a:buNone/>
            </a:pPr>
            <a:r>
              <a:rPr lang="en-US" sz="1050" i="1" dirty="0">
                <a:solidFill>
                  <a:srgbClr val="8A6D1E"/>
                </a:solidFill>
                <a:latin typeface="Calibri" pitchFamily="34" charset="0"/>
                <a:cs typeface="Amiri" pitchFamily="2" charset="-78"/>
              </a:rPr>
              <a:t> means natural resources.</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says that the area has fertile plains?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تَتَمَيَّزُ المِنْطَقَةُ بِسُهُولٍ خَصْبَةٍ.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تَقَعُ المِنْطَقَةُ إِلَى سُهُولٍ خَصْبَةٍ.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تَسُودُ السُّهُولُ المِنْطَقَةَ خَصْبَةً.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تتميز بـ</a:t>
            </a:r>
            <a:pPr algn="l" indent="0" marL="0">
              <a:buNone/>
            </a:pPr>
            <a:r>
              <a:rPr lang="en-US" sz="1050" i="1" dirty="0">
                <a:solidFill>
                  <a:srgbClr val="8A6D1E"/>
                </a:solidFill>
                <a:latin typeface="Calibri" pitchFamily="34" charset="0"/>
                <a:cs typeface="Amiri" pitchFamily="2" charset="-78"/>
              </a:rPr>
              <a:t> introduces a distinguishing feature.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correctly locates a lake?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يَقَعُ البُحَيْرَةُ قُرْبَ الجِبَالِ.</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تَقَعُ البُحَيْرَةُ قُرْبَ الجِبَالِ.</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تَقَعُ البُحَيْرَةَ مِنَ الجِبَالِ.</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البحيرة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تقع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D4-L01 · Natural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D4-L02 · Weather Patterns — Describing and Comparing Weather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المَطَرُ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rain</a:t>
            </a:r>
            <a:pPr indent="0" marL="0">
              <a:buNone/>
            </a:pPr>
            <a:r>
              <a:rPr lang="ar-SA" sz="1000" i="1" dirty="0">
                <a:solidFill>
                  <a:srgbClr val="5A6472"/>
                </a:solidFill>
                <a:latin typeface="Calibri" pitchFamily="34" charset="0"/>
                <a:ea typeface="Amiri" pitchFamily="2" charset="-78"/>
                <a:cs typeface="Amiri" pitchFamily="2" charset="-78"/>
              </a:rPr>
              <a:t>  pl. الأَمْطَارُ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الرِّيَاحُ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winds</a:t>
            </a:r>
            <a:pPr indent="0" marL="0">
              <a:buNone/>
            </a:pPr>
            <a:r>
              <a:rPr lang="ar-SA" sz="1000" i="1" dirty="0">
                <a:solidFill>
                  <a:srgbClr val="5A6472"/>
                </a:solidFill>
                <a:latin typeface="Calibri" pitchFamily="34" charset="0"/>
                <a:ea typeface="Amiri" pitchFamily="2" charset="-78"/>
                <a:cs typeface="Amiri" pitchFamily="2" charset="-78"/>
              </a:rPr>
              <a:t>  sing. الرِّيحُ</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السُّحُبُ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clouds</a:t>
            </a:r>
            <a:pPr indent="0" marL="0">
              <a:buNone/>
            </a:pPr>
            <a:r>
              <a:rPr lang="ar-SA" sz="1000" i="1" dirty="0">
                <a:solidFill>
                  <a:srgbClr val="5A6472"/>
                </a:solidFill>
                <a:latin typeface="Calibri" pitchFamily="34" charset="0"/>
                <a:ea typeface="Amiri" pitchFamily="2" charset="-78"/>
                <a:cs typeface="Amiri" pitchFamily="2" charset="-78"/>
              </a:rPr>
              <a:t>  sing. السَّحَابَةُ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العَاصِفَةُ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storm</a:t>
            </a:r>
            <a:pPr indent="0" marL="0">
              <a:buNone/>
            </a:pPr>
            <a:r>
              <a:rPr lang="ar-SA" sz="1000" i="1" dirty="0">
                <a:solidFill>
                  <a:srgbClr val="5A6472"/>
                </a:solidFill>
                <a:latin typeface="Calibri" pitchFamily="34" charset="0"/>
                <a:ea typeface="Amiri" pitchFamily="2" charset="-78"/>
                <a:cs typeface="Amiri" pitchFamily="2" charset="-78"/>
              </a:rPr>
              <a:t>  pl. العَوَاصِفُ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دَرَجَةُ الحَرَارَةِ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temperature</a:t>
            </a:r>
            <a:pPr indent="0" marL="0">
              <a:buNone/>
            </a:pPr>
            <a:r>
              <a:rPr lang="ar-SA" sz="1000" i="1" dirty="0">
                <a:solidFill>
                  <a:srgbClr val="5A6472"/>
                </a:solidFill>
                <a:latin typeface="Calibri" pitchFamily="34" charset="0"/>
                <a:ea typeface="Amiri" pitchFamily="2" charset="-78"/>
                <a:cs typeface="Amiri" pitchFamily="2" charset="-78"/>
              </a:rPr>
              <a:t>  pl. دَرَجَاتُ الحَرَارَةِ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the weather like today where you live? Use two of the words.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اليَوْمَ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landscape words (with plurals);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a country’s landscape and climate in 80–100 words with yasūdu and yattasimu bi-.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with a regional contrast and an environmental comment.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D4-L02 · Weather Patterns — Describing and Comparing Weather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أَنْمَاطُ الطَّقْسِ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adjective follows the noun’s gender (non-human plurals → feminine) — yasūdu + climate — yattasimu / yatamayyazu bi-.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D4-L01 · The Natural World — Environment and Climate Vocabulary</dc:title>
  <dc:subject>PptxGenJS Presentation</dc:subject>
  <dc:creator>Al Madina Online School · Arabic Department</dc:creator>
  <cp:lastModifiedBy>Al Madina Online School · Arabic Department</cp:lastModifiedBy>
  <cp:revision>1</cp:revision>
  <dcterms:created xsi:type="dcterms:W3CDTF">2026-10-11T06:40:49Z</dcterms:created>
  <dcterms:modified xsi:type="dcterms:W3CDTF">2026-10-11T06:40:49Z</dcterms:modified>
</cp:coreProperties>
</file>