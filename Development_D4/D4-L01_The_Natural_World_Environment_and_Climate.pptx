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D4 Environment, Weather and Technology › D4-L01. The website lesson “The Natural World — Environment and Climate Vocabulary”: vocabulary, grammar rules and quiz, patterns, common mistakes, sorter, listening, reading, speaking prompts and model, writing task and model, differentiation, final check and the lesson mission. Picture match: website visual game “The Natural World — Environment and Climate Vocabulary”.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UNIT (D4 · Environment, Weather and Technology). Core: 12 landscape words + “There is … / The climate is …” with agreeing adjectives (صَحْرَاءُ وَاسِعَةٌ · مَنَاخٌ جَافٌّ). Develop: the formal verbs يَسُودُ / يَتَّسِمُ بِـ / تَتَمَيَّزُ بِـ. Stretch: contrast two regions (أَمَّا … فَـ / بَيْنَمَا) and end with an environmental comment.
• Grammar link: تَتَمَيَّزُ بِـ is from F6-L05 (towns) and يَقَعُ فِي from F6; agreement is the D2 / D3 habit.
• Map idea: show a physical map of Morocco and Oman (the two website texts) and label north / south / coast / desert in Arabic.
• Careful: country names are mostly feminine (عُمَانُ، مِصْرُ) but some are masculine (المَغْرِبُ، العِرَاقُ، الأُرْدُنُّ) — check the verb!
• TEACHER-WRITTEN ITEMS: two website quiz items had options differing only in a final vowel (one distractor replaced in each); one vowel / gender slip in the website writing model is corrected (website: تَتَمَيَّزُ المَغْرِبُ — al-Maghrib is masculine: يَتَمَيَّزُ), and English is added to the website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D3-L12. Questions 3–4 retrieve F6-L05 and the agreement habit; question 5 links D3 (Amal, environmental engineer) to D4.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Formal Arabic describes a climate with a verb: the climate PREVAILS, the coast IS CHARACTERISED BY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صحرا، جزیرہ، ساحل، معتدل are shared (and دریا ≠ Arabic: Arabic نَهْرٌ = river). بِيئَةٌ has no Urdu cognate: link it to ماحول — but note Urdu ماحول comes from Arabic مُحِيطٌ (surroundings).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Natural features (website vocabulary (1 of 2)). Hear → Say → See → Use. Transliteration is printed for Core students (cover it for Develop/Stretch).
Natural features. Cards show the plural where useful. الصَّحْرَاءُ is FEMININE (no ة, but -āʾ): صَحْرَاءُ وَاسِعَةٌ.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Natural features (website vocabulary (2 of 2)). Hear → Say → See → Use. Transliteration is printed for Core students (cover it for Develop/Stretch).
Natural features. Cards show the plural where useful. الصَّحْرَاءُ is FEMININE (no ة, but -āʾ): صَحْرَاءُ وَاسِعَةٌ.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Climate and resources (website vocabulary (1 of 2)). Hear → Say → See → Use. Transliteration is printed for Core students (cover it for Develop/Stretch).
Climate and resources. The adjectives show m. / f.: مَنَاخٌ جَافٌّ but مِنْطَقَةٌ جَافَّةٌ. Non-human plurals take a feminine singular adjective: جِبَالٌ عَالِيَةٌ.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Climate and resources (website vocabulary (2 of 2)). Hear → Say → See → Use. Transliteration is printed for Core students (cover it for Develop/Stretch).
Climate and resources. The adjectives show m. / f.: مَنَاخٌ جَافٌّ but مِنْطَقَةٌ جَافَّةٌ. Non-human plurals take a feminine singular adjective: جِبَالٌ عَالِيَةٌ.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Formal description (website vocabulary). Hear → Say → See → Use. Transliteration is printed for Core students (cover it for Develop/Stretch).
FLEX: teach if time allows; otherwise these are on the website vocabulary tab for homework.
Formal description (FLEX for Core): six formal verbs / phrases. Each one controls a preposition: يَتَّسِمُ بِـ، يَتَمَيَّزُ بِـ، يَقَعُ فِي، غَنِيٌّ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“Adjective agreement” (a feminine noun normally takes a feminine adjective; a masculine noun a masculine adjective) and “تَتَمَيَّزُ بِـ with a feminine subject”. Website examples: صَحْرَاءُ وَاسِعَةٌ · مَنَاخٌ جَافٌّ · تَتَمَيَّزُ المِنْطَقَةُ بِسُهُولٍ خَصْبَةٍ.
The non-human plural column is the website quiz item 6 (جِبَالٌ عَالِيَةٌ) made explicit. Core: rows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“يَسُودُ for a prevailing climate” (the climate or weather feature is the subject after يَسُودُ) and “يَتَّسِمُ بِـ” (the preposition بِـ introduces the characteristic and makes the following noun genitive). غَنِيٌّ بِـ is from the vocabulary and quiz item 5.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 Adjective agreement: A feminine noun normally takes a feminine adjective; a masculine noun takes a masculine adjective.
• يَسُودُ for a prevailing climate: The climate or weather feature is the subject after يَسُودُ.
• يَتَّسِمُ بِـ: The preposition بِـ introduces the characteristic and makes the following noun genitive.
• تَتَمَيَّزُ بِـ with a feminine subject: Use the feminine verb when the singular subject is feminine.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built from the website listening and writing model (Morocco). Think aloud: “Is the country masculine or feminine? Is the noun a non-human plural? Which preposition does the verb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Natural World — Environment and Climate Vocabulary”)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for forest and desert but هٰذَا for sea? (feminine / masculine — الصَّحْرَاءُ is feminine without ة). Other website cards: هٰذَا جَبَلٌ · هٰذَا وَادٍ · يَجِبُ أَنْ نَحْمِيَ البِيئَةَ.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Natural World — Environment and Climate Vocabulary”)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for forest and desert but هٰذَا for sea? (feminine / masculine — الصَّحْرَاءُ is feminine without ة). Other website cards: هٰذَا جَبَلٌ · هٰذَا وَادٍ · يَجِبُ أَنْ نَحْمِيَ البِيئَةَ.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word from each group and make one formal sentence: يَتَّسِمُ السَّاحِلُ بِـ … / البَلَدُ غَنِيٌّ بِـ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word from each group and make one formal sentence: يَتَّسِمُ السَّاحِلُ بِـ … / البَلَدُ غَنِيٌّ بِـ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1–3. Develop / Stretch: all 6.
Listen 1: just listen. Listen 2: note answers. Then chat the letters.
Support: after the second listening, show the read-along slide (Arabic + English, line by line) for Core students.
SCRIPT (read aloud):
تَتَنَوَّعُ الطَّبِيعَةُ فِي المَغْرِبِ. فِي الشَّمَالِ تَمْتَدُّ جِبَالٌ عَالِيَةٌ، وَيَتَّسِمُ السَّاحِلُ بِمَنَاخٍ مُعْتَدِلٍ وَرَطْبٍ. أَمَّا فِي الجَنُوبِ فَيَسُودُ المَنَاخُ الصَّحْرَاوِيُّ الجَافُّ. وَتَقَعُ بَعْضُ الوَاحَاتِ قُرْبَ الأَوْدِيَةِ، حَيْثُ تَتَوَفَّرُ المِيَاهُ الجَوْفِيَّةُ.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and model. Choose a country: Morocco and Oman are in today’s texts; students with family in Pakistan, Bangladesh, Somalia etc. may describe that country instead (great for engagement).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100–120 Arabic words describing the natural features and climate of an Arabic-speaking country.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(one gender slip corrected: يَتَمَيَّزُ المَغْرِبُ). Evidence: جِبَالُ الرِّيفِ، السَّاحِلُ، سُهُولٌ، وَاحَاتٌ · يَسُودُ المَنَاخُ الصَّحْرَاوِيُّ · يَتَّسِمُ السَّاحِلُ بِمَنَاخٍ · أَمَّا فِي الدَّاخِلِ فَـ … · فِي رَأْيِي، يَجِبُ حِمَايَةُ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(D4-L02 · Weather Patterns — Describing and Comparing Weather) will spend class time USING this language, so students prepare it tonight — short, simple, easy to access (school guidance: “Simple, Short, Interesting, Relevant, Easy to access”). The five words come from the website D4-L02 vocabulary (weather phenomena and forecasts).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D4  ·  D4-L01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D4-L01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The Natural World — Environment and Climate Vocabulary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العَالَمُ الطَّبِيعِيُّ — مُفْرَدَاتُ البِيئَةِ وَالمَنَاخِ</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the landscape and climate of a country formally: natural features, agreeing adjectives, and the formal verbs </a:t>
            </a:r>
            <a:pPr algn="l" indent="0" marL="0">
              <a:buNone/>
            </a:pPr>
            <a:r>
              <a:rPr lang="ar-SA" altLang="en-US" sz="1800" dirty="0">
                <a:solidFill>
                  <a:srgbClr val="C6D2E6"/>
                </a:solidFill>
                <a:latin typeface="Amiri" pitchFamily="34" charset="0"/>
                <a:ea typeface="Amiri" pitchFamily="34" charset="-122"/>
                <a:cs typeface="Amiri" pitchFamily="34" charset="-120"/>
              </a:rPr>
              <a:t>يَسُودُ</a:t>
            </a:r>
            <a:pPr algn="l" indent="0" marL="0">
              <a:buNone/>
            </a:pPr>
            <a:r>
              <a:rPr lang="en-US" sz="1400" dirty="0">
                <a:solidFill>
                  <a:srgbClr val="C6D2E6"/>
                </a:solidFill>
                <a:latin typeface="Calibri" pitchFamily="34" charset="0"/>
                <a:ea typeface="Calibri" pitchFamily="34" charset="-122"/>
                <a:cs typeface="Calibri" pitchFamily="34" charset="-120"/>
              </a:rPr>
              <a:t> (prevails), </a:t>
            </a:r>
            <a:pPr algn="l" indent="0" marL="0">
              <a:buNone/>
            </a:pPr>
            <a:r>
              <a:rPr lang="ar-SA" altLang="en-US" sz="1800" dirty="0">
                <a:solidFill>
                  <a:srgbClr val="C6D2E6"/>
                </a:solidFill>
                <a:latin typeface="Amiri" pitchFamily="34" charset="0"/>
                <a:ea typeface="Amiri" pitchFamily="34" charset="-122"/>
                <a:cs typeface="Amiri" pitchFamily="34" charset="-120"/>
              </a:rPr>
              <a:t>يَتَّسِمُ بِـ</a:t>
            </a:r>
            <a:pPr algn="l" indent="0" marL="0">
              <a:buNone/>
            </a:pPr>
            <a:r>
              <a:rPr lang="en-US" sz="1400" dirty="0">
                <a:solidFill>
                  <a:srgbClr val="C6D2E6"/>
                </a:solidFill>
                <a:latin typeface="Calibri" pitchFamily="34" charset="0"/>
                <a:ea typeface="Calibri" pitchFamily="34" charset="-122"/>
                <a:cs typeface="Calibri" pitchFamily="34" charset="-120"/>
              </a:rPr>
              <a:t> (is characterised by) and </a:t>
            </a:r>
            <a:pPr algn="l" indent="0" marL="0">
              <a:buNone/>
            </a:pPr>
            <a:r>
              <a:rPr lang="ar-SA" altLang="en-US" sz="1800" dirty="0">
                <a:solidFill>
                  <a:srgbClr val="C6D2E6"/>
                </a:solidFill>
                <a:latin typeface="Amiri" pitchFamily="34" charset="0"/>
                <a:ea typeface="Amiri" pitchFamily="34" charset="-122"/>
                <a:cs typeface="Amiri" pitchFamily="34" charset="-120"/>
              </a:rPr>
              <a:t>تَتَمَيَّزُ بِـ</a:t>
            </a:r>
            <a:pPr algn="l" indent="0" marL="0">
              <a:buNone/>
            </a:pPr>
            <a:r>
              <a:rPr lang="en-US" sz="1400" dirty="0">
                <a:solidFill>
                  <a:srgbClr val="C6D2E6"/>
                </a:solidFill>
                <a:latin typeface="Calibri" pitchFamily="34" charset="0"/>
                <a:ea typeface="Calibri" pitchFamily="34" charset="-122"/>
                <a:cs typeface="Calibri" pitchFamily="34" charset="-120"/>
              </a:rPr>
              <a:t> (is distinguished by).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D4-L01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D4 › D4-L01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Landscape words, agreement and three formal verbs.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the words, fix and listen: the nature of Morocco.</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D4-L02.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المَنَاخُ</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weather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climate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environment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الغَابَةُ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forest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desert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island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تَتَمَيَّزُ المَدِينَةُ إِلَى حَدَائِقِهَا.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يَتَمَيَّزُ المَدِينَةُ بِحَدَائِقِهَا.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تَتَمَيَّزُ المَدِينَةُ بِحَدَائِقِهَا.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adjective agrees with </a:t>
            </a:r>
            <a:pPr algn="l" indent="0" marL="0">
              <a:buNone/>
            </a:pPr>
            <a:r>
              <a:rPr lang="ar-SA" altLang="en-US" sz="1650" b="1" dirty="0">
                <a:solidFill>
                  <a:srgbClr val="1B3B6F"/>
                </a:solidFill>
                <a:latin typeface="Amiri" pitchFamily="34" charset="0"/>
                <a:ea typeface="Amiri" pitchFamily="34" charset="-122"/>
                <a:cs typeface="Amiri" pitchFamily="34" charset="-120"/>
              </a:rPr>
              <a:t>مَدِينَةٌ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كَبِيرٌ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كِبَارٌ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كَبِيرَةٌ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أَطْمَحُ إِلَى أَنْ أُصْبِحَ مُهَنْدِسَةَ</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بِيئَةٍ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بِيئَةٌ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بِيئَةً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المَنَاخُ</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weather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climate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environment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الغَابَةُ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forest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desert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island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تَتَمَيَّزُ المَدِينَةُ إِلَى حَدَائِقِهَا.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يَتَمَيَّزُ المَدِينَةُ بِحَدَائِقِهَا.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تَتَمَيَّزُ المَدِينَةُ بِحَدَائِقِهَا.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F6-L05: tatamayyazu bi-.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adjective agrees with </a:t>
            </a:r>
            <a:pPr algn="l" indent="0" marL="0">
              <a:buNone/>
            </a:pPr>
            <a:r>
              <a:rPr lang="ar-SA" altLang="en-US" sz="1650" b="1" dirty="0">
                <a:solidFill>
                  <a:srgbClr val="1B3B6F"/>
                </a:solidFill>
                <a:latin typeface="Amiri" pitchFamily="34" charset="0"/>
                <a:ea typeface="Amiri" pitchFamily="34" charset="-122"/>
                <a:cs typeface="Amiri" pitchFamily="34" charset="-120"/>
              </a:rPr>
              <a:t>مَدِينَةٌ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كَبِيرٌ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كِبَارٌ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كَبِيرَةٌ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 / D3: feminine noun → -atun.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أَطْمَحُ إِلَى أَنْ أُصْبِحَ مُهَنْدِسَةَ</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بِيئَةٍ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بِيئَةٌ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بِيئَةً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 environmental engineer — today’s topic!</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Formal Arabic describes a climate with a verb: the climate PREVAILS, the coast IS CHARACTERISED BY …</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يَسُودُ</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المَنَاخُ الصَّحْرَاوِيُّ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يَتَّسِمُ</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السَّاحِلُ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بِمَنَاخٍ</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مُعْتَدِلٍ</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natural features and climate types in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Make adjectives agree with the noun (</a:t>
            </a:r>
            <a:pPr algn="l" indent="0" marL="0">
              <a:buNone/>
            </a:pPr>
            <a:r>
              <a:rPr lang="ar-SA" altLang="en-US" sz="1700" dirty="0">
                <a:solidFill>
                  <a:srgbClr val="1F2A37"/>
                </a:solidFill>
                <a:latin typeface="Amiri" pitchFamily="34" charset="0"/>
                <a:ea typeface="Amiri" pitchFamily="34" charset="-122"/>
                <a:cs typeface="Amiri" pitchFamily="34" charset="-120"/>
              </a:rPr>
              <a:t>صَحْرَاءُ وَاسِعَةٌ</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a climate formally with </a:t>
            </a:r>
            <a:pPr algn="l" indent="0" marL="0">
              <a:buNone/>
            </a:pPr>
            <a:r>
              <a:rPr lang="ar-SA" altLang="en-US" sz="1700" dirty="0">
                <a:solidFill>
                  <a:srgbClr val="1F2A37"/>
                </a:solidFill>
                <a:latin typeface="Amiri" pitchFamily="34" charset="0"/>
                <a:ea typeface="Amiri" pitchFamily="34" charset="-122"/>
                <a:cs typeface="Amiri" pitchFamily="34" charset="-120"/>
              </a:rPr>
              <a:t>يَسُودُ</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يَتَّسِمُ بِـ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Contrast two regions of a country in connected Arabic.</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twelve natural features.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describe a place with an agreeing adjective.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yasūdu and yattasimu bi- accurately.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what a country is rich in.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contrast two regions of a country.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add a justified environmental comment.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Natural features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Climate and resources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Formal description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بِيئَةٌ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‎ماحول‎ </a:t>
            </a:r>
            <a:pPr indent="0" marL="0">
              <a:buNone/>
            </a:pPr>
            <a:r>
              <a:rPr lang="en-US" sz="950" b="1" dirty="0">
                <a:solidFill>
                  <a:srgbClr val="2E8B57"/>
                </a:solidFill>
                <a:latin typeface="Calibri" pitchFamily="34" charset="0"/>
                <a:ea typeface="Calibri" pitchFamily="34" charset="-122"/>
                <a:cs typeface="Calibri" pitchFamily="34" charset="-120"/>
              </a:rPr>
              <a:t> māhaul · environment (meaning only)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صَحْرَاءُ</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‎صحرا‎ </a:t>
            </a:r>
            <a:pPr indent="0" marL="0">
              <a:buNone/>
            </a:pPr>
            <a:r>
              <a:rPr lang="en-US" sz="950" b="1" dirty="0">
                <a:solidFill>
                  <a:srgbClr val="2E8B57"/>
                </a:solidFill>
                <a:latin typeface="Calibri" pitchFamily="34" charset="0"/>
                <a:ea typeface="Calibri" pitchFamily="34" charset="-122"/>
                <a:cs typeface="Calibri" pitchFamily="34" charset="-120"/>
              </a:rPr>
              <a:t> sahrā · desert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جَزِيرَةٌ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‎جزیرہ‎ </a:t>
            </a:r>
            <a:pPr indent="0" marL="0">
              <a:buNone/>
            </a:pPr>
            <a:r>
              <a:rPr lang="en-US" sz="950" b="1" dirty="0">
                <a:solidFill>
                  <a:srgbClr val="2E8B57"/>
                </a:solidFill>
                <a:latin typeface="Calibri" pitchFamily="34" charset="0"/>
                <a:ea typeface="Calibri" pitchFamily="34" charset="-122"/>
                <a:cs typeface="Calibri" pitchFamily="34" charset="-120"/>
              </a:rPr>
              <a:t> jazīra · island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سَاحِلٌ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‎ساحل‎ </a:t>
            </a:r>
            <a:pPr indent="0" marL="0">
              <a:buNone/>
            </a:pPr>
            <a:r>
              <a:rPr lang="en-US" sz="950" b="1" dirty="0">
                <a:solidFill>
                  <a:srgbClr val="2E8B57"/>
                </a:solidFill>
                <a:latin typeface="Calibri" pitchFamily="34" charset="0"/>
                <a:ea typeface="Calibri" pitchFamily="34" charset="-122"/>
                <a:cs typeface="Calibri" pitchFamily="34" charset="-120"/>
              </a:rPr>
              <a:t> sāhil · coast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مُعْتَدِلٌ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‎معتدل‎ </a:t>
            </a:r>
            <a:pPr indent="0" marL="0">
              <a:buNone/>
            </a:pPr>
            <a:r>
              <a:rPr lang="en-US" sz="950" b="1" dirty="0">
                <a:solidFill>
                  <a:srgbClr val="2E8B57"/>
                </a:solidFill>
                <a:latin typeface="Calibri" pitchFamily="34" charset="0"/>
                <a:ea typeface="Calibri" pitchFamily="34" charset="-122"/>
                <a:cs typeface="Calibri" pitchFamily="34" charset="-120"/>
              </a:rPr>
              <a:t> muʿtadil · moderate → mild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Natural features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البِيئَةُ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environment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al-bī-ʾa-tu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المَنَاخُ</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climate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al-ma-nā-khu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الطَّقْسُ</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weather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aṭ-ṭaq-su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Shape 3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3" name="Text 4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الصَّحْرَاءُ</a:t>
            </a:r>
            <a:endParaRPr lang="ar-SA" sz="3000" dirty="0"/>
          </a:p>
        </p:txBody>
      </p:sp>
      <p:sp>
        <p:nvSpPr>
          <p:cNvPr id="44" name="Text 4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desert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aṣ-ṣaḥ-rā-ʾu</a:t>
            </a:r>
            <a:endParaRPr lang="en-US" sz="1350" dirty="0"/>
          </a:p>
        </p:txBody>
      </p:sp>
      <p:sp>
        <p:nvSpPr>
          <p:cNvPr id="45" name="Shape 42"/>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7" name="Text 44"/>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الصَّحَارِي / الصَّحَارَى</a:t>
            </a:r>
            <a:endParaRPr lang="ar-SA" sz="1500" dirty="0"/>
          </a:p>
        </p:txBody>
      </p:sp>
      <p:sp>
        <p:nvSpPr>
          <p:cNvPr id="48" name="Shape 4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4389120"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1" name="Shape 48"/>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3" name="Shape 5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الغَابَةُ</a:t>
            </a:r>
            <a:endParaRPr lang="ar-SA" sz="3000" dirty="0"/>
          </a:p>
        </p:txBody>
      </p:sp>
      <p:sp>
        <p:nvSpPr>
          <p:cNvPr id="56" name="Text 53"/>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al-ghā-ba-tu</a:t>
            </a:r>
            <a:endParaRPr lang="en-US" sz="1350" dirty="0"/>
          </a:p>
        </p:txBody>
      </p:sp>
      <p:sp>
        <p:nvSpPr>
          <p:cNvPr id="57" name="Shape 54"/>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الغَابَاتُ</a:t>
            </a:r>
            <a:endParaRPr lang="ar-SA" sz="1500" dirty="0"/>
          </a:p>
        </p:txBody>
      </p:sp>
      <p:sp>
        <p:nvSpPr>
          <p:cNvPr id="60" name="Shape 5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66928"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3" name="Shape 6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5" name="Text 6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الجَبَلُ / الجِبَالُ</a:t>
            </a:r>
            <a:endParaRPr lang="ar-SA" sz="3000" dirty="0"/>
          </a:p>
        </p:txBody>
      </p:sp>
      <p:sp>
        <p:nvSpPr>
          <p:cNvPr id="66" name="Text 6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mountain / mountains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al-ja-ba-lu / al-ji-bā-lu</a:t>
            </a:r>
            <a:endParaRPr lang="en-US" sz="13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Natural features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البَحْرُ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al-baḥ-ru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البِحَارُ</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النَّهْرُ / الأَنْهَارُ</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river / rivers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an-nah-ru / al-an-hā-ru</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البُحَيْرَةُ</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lake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al-bu-ḥay-ra-tu</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البُحَيْرَاتُ</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السَّاحِلُ</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as-sā-ḥi-lu</a:t>
            </a:r>
            <a:endParaRPr lang="en-US" sz="1350" dirty="0"/>
          </a:p>
        </p:txBody>
      </p:sp>
      <p:sp>
        <p:nvSpPr>
          <p:cNvPr id="53" name="Shape 5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5" name="Text 5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السَّوَاحِلُ</a:t>
            </a:r>
            <a:endParaRPr lang="ar-SA" sz="1500" dirty="0"/>
          </a:p>
        </p:txBody>
      </p:sp>
      <p:sp>
        <p:nvSpPr>
          <p:cNvPr id="56" name="Shape 5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4389120"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59" name="Shape 56"/>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61" name="Shape 5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3" name="Text 60"/>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الجَزِيرَةُ</a:t>
            </a:r>
            <a:endParaRPr lang="ar-SA" sz="3000" dirty="0"/>
          </a:p>
        </p:txBody>
      </p:sp>
      <p:sp>
        <p:nvSpPr>
          <p:cNvPr id="64" name="Text 61"/>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island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al-ja-zī-ra-tu</a:t>
            </a:r>
            <a:endParaRPr lang="en-US" sz="1350" dirty="0"/>
          </a:p>
        </p:txBody>
      </p:sp>
      <p:sp>
        <p:nvSpPr>
          <p:cNvPr id="65" name="Shape 62"/>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7" name="Text 64"/>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الجُزُرُ</a:t>
            </a:r>
            <a:endParaRPr lang="ar-SA" sz="1500" dirty="0"/>
          </a:p>
        </p:txBody>
      </p:sp>
      <p:sp>
        <p:nvSpPr>
          <p:cNvPr id="68" name="Shape 6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566928" y="4261104"/>
            <a:ext cx="310896" cy="310896"/>
          </a:xfrm>
          <a:prstGeom prst="ellipse">
            <a:avLst/>
          </a:prstGeom>
          <a:solidFill>
            <a:srgbClr val="F4F1EA"/>
          </a:solidFill>
          <a:ln w="12700">
            <a:solidFill>
              <a:srgbClr val="F4F1EA"/>
            </a:solidFill>
            <a:prstDash val="solid"/>
          </a:ln>
        </p:spPr>
      </p:sp>
      <p:sp>
        <p:nvSpPr>
          <p:cNvPr id="70" name="Text 6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71" name="Text 6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الوَادِي / الأَوْدِيَةُ</a:t>
            </a:r>
            <a:endParaRPr lang="ar-SA" sz="3000" dirty="0"/>
          </a:p>
        </p:txBody>
      </p:sp>
      <p:sp>
        <p:nvSpPr>
          <p:cNvPr id="72" name="Text 6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valley / valleys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al-wā-dī / al-aw-di-ya-tu</a:t>
            </a:r>
            <a:endParaRPr lang="en-US" sz="13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Climate and resources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السُّهُولُ</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as-su-hū-lu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التُّرْبَةُ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soil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at-tur-ba-tu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المِيَاهُ العَذْبَةُ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fresh water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al-mi-yā-hu al-ʿadh-ba-tu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المَوَارِدُ الطَّبِيعِيَّةُ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natural resources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al-ma-wā-ri-du aṭ-ṭa-bī-ʿiy-ya-tu</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النِّفْطُ</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oil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an-nif-ṭu</a:t>
            </a:r>
            <a:endParaRPr lang="en-US"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Climate and resources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الغَازُ الطَّبِيعِيُّ</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natural gas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al-ghā-zu aṭ-ṭa-bī-ʿiy-yu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جَافٌّ / جَافَّةٌ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jāf-fun / jāf-fa-tun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رَطْبٌ / رَطْبَةٌ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humid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raṭ-bun / raṭ-ba-tun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مُعْتَدِلٌ / مُعْتَدِلَةٌ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mild / temperate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muʿ-ta-di-lun / muʿ-ta-di-la-tun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صَحْرَاوِيٌّ / صَحْرَاوِيَّةٌ</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desert (adjective)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ṣaḥ-rā-wiy-yun / ṣaḥ-rā-wiy-ya-tun</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Formal description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يَسُودُ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prevails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ya-sū-du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يَتَّسِمُ بِـ</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characterised by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yat-ta-si-mu bi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يَتَمَيَّزُ بِـ</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distinguished by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ya-ta-may-ya-zu bi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يَقَعُ فِي</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located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ya-qa-ʿu fī</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يَمْتَدُّ عَلَى</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extends across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yam-tad-du ʿa-lā</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غَنِيٌّ بِـ</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rich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gha-niy-yun bi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AGREEMENT (WEBSITE RULES 1 AND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The adjective and the verb follow the noun</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المُطَابَقَةُ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Non-human plural</a:t>
            </a:r>
            <a:endParaRPr lang="en-US" sz="1100" dirty="0"/>
          </a:p>
        </p:txBody>
      </p:sp>
      <p:sp>
        <p:nvSpPr>
          <p:cNvPr id="17" name="Text 14"/>
          <p:cNvSpPr txBox="1"/>
          <p:nvPr/>
        </p:nvSpPr>
        <p:spPr>
          <a:xfrm>
            <a:off x="455371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Feminine noun</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Masculine noun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595360" y="2286000"/>
            <a:ext cx="30449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جِبَالٌ </a:t>
            </a:r>
            <a:pPr rtl="1" algn="ctr" indent="0" marL="0">
              <a:buNone/>
            </a:pPr>
            <a:r>
              <a:rPr lang="ar-SA" altLang="en-US" sz="2100" b="1" dirty="0">
                <a:solidFill>
                  <a:srgbClr val="D6336C"/>
                </a:solidFill>
                <a:latin typeface="Amiri" pitchFamily="34" charset="0"/>
                <a:ea typeface="Amiri" pitchFamily="34" charset="-122"/>
                <a:cs typeface="Amiri" pitchFamily="34" charset="-120"/>
              </a:rPr>
              <a:t>عَالِيَةٌ</a:t>
            </a:r>
            <a:endParaRPr lang="ar-SA" sz="2100" dirty="0"/>
          </a:p>
        </p:txBody>
      </p:sp>
      <p:sp>
        <p:nvSpPr>
          <p:cNvPr id="21" name="Text 18"/>
          <p:cNvSpPr txBox="1"/>
          <p:nvPr/>
        </p:nvSpPr>
        <p:spPr>
          <a:xfrm>
            <a:off x="8549640" y="2706624"/>
            <a:ext cx="3136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high mountains</a:t>
            </a:r>
            <a:endParaRPr lang="en-US" sz="950" dirty="0"/>
          </a:p>
        </p:txBody>
      </p:sp>
      <p:sp>
        <p:nvSpPr>
          <p:cNvPr id="22" name="Text 19"/>
          <p:cNvSpPr txBox="1"/>
          <p:nvPr/>
        </p:nvSpPr>
        <p:spPr>
          <a:xfrm>
            <a:off x="4572000" y="2286000"/>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صَحْرَاءُ </a:t>
            </a:r>
            <a:pPr rtl="1" algn="ctr" indent="0" marL="0">
              <a:buNone/>
            </a:pPr>
            <a:r>
              <a:rPr lang="ar-SA" altLang="en-US" sz="2100" b="1" dirty="0">
                <a:solidFill>
                  <a:srgbClr val="D6336C"/>
                </a:solidFill>
                <a:latin typeface="Amiri" pitchFamily="34" charset="0"/>
                <a:ea typeface="Amiri" pitchFamily="34" charset="-122"/>
                <a:cs typeface="Amiri" pitchFamily="34" charset="-120"/>
              </a:rPr>
              <a:t>وَاسِعَةٌ</a:t>
            </a:r>
            <a:endParaRPr lang="ar-SA" sz="2100" dirty="0"/>
          </a:p>
        </p:txBody>
      </p:sp>
      <p:sp>
        <p:nvSpPr>
          <p:cNvPr id="23" name="Text 20"/>
          <p:cNvSpPr txBox="1"/>
          <p:nvPr/>
        </p:nvSpPr>
        <p:spPr>
          <a:xfrm>
            <a:off x="4526280" y="2706624"/>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vast desert</a:t>
            </a:r>
            <a:endParaRPr lang="en-US" sz="950" dirty="0"/>
          </a:p>
        </p:txBody>
      </p:sp>
      <p:sp>
        <p:nvSpPr>
          <p:cNvPr id="24" name="Text 21"/>
          <p:cNvSpPr txBox="1"/>
          <p:nvPr/>
        </p:nvSpPr>
        <p:spPr>
          <a:xfrm>
            <a:off x="548640" y="2286000"/>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مَنَاخٌ </a:t>
            </a:r>
            <a:pPr rtl="1" algn="ctr" indent="0" marL="0">
              <a:buNone/>
            </a:pPr>
            <a:r>
              <a:rPr lang="ar-SA" altLang="en-US" sz="2100" b="1" dirty="0">
                <a:solidFill>
                  <a:srgbClr val="1D5FBF"/>
                </a:solidFill>
                <a:latin typeface="Amiri" pitchFamily="34" charset="0"/>
                <a:ea typeface="Amiri" pitchFamily="34" charset="-122"/>
                <a:cs typeface="Amiri" pitchFamily="34" charset="-120"/>
              </a:rPr>
              <a:t>جَافٌّ</a:t>
            </a:r>
            <a:endParaRPr lang="ar-SA" sz="2100" dirty="0"/>
          </a:p>
        </p:txBody>
      </p:sp>
      <p:sp>
        <p:nvSpPr>
          <p:cNvPr id="25" name="Text 22"/>
          <p:cNvSpPr txBox="1"/>
          <p:nvPr/>
        </p:nvSpPr>
        <p:spPr>
          <a:xfrm>
            <a:off x="502920" y="2706624"/>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dry climate</a:t>
            </a:r>
            <a:endParaRPr lang="en-US" sz="95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9" name="Text 26"/>
          <p:cNvSpPr txBox="1"/>
          <p:nvPr/>
        </p:nvSpPr>
        <p:spPr>
          <a:xfrm>
            <a:off x="8595360" y="3072384"/>
            <a:ext cx="30449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سُهُولٌ </a:t>
            </a:r>
            <a:pPr rtl="1" algn="ctr" indent="0" marL="0">
              <a:buNone/>
            </a:pPr>
            <a:r>
              <a:rPr lang="ar-SA" altLang="en-US" sz="2100" b="1" dirty="0">
                <a:solidFill>
                  <a:srgbClr val="D6336C"/>
                </a:solidFill>
                <a:latin typeface="Amiri" pitchFamily="34" charset="0"/>
                <a:ea typeface="Amiri" pitchFamily="34" charset="-122"/>
                <a:cs typeface="Amiri" pitchFamily="34" charset="-120"/>
              </a:rPr>
              <a:t>خَصْبَةٌ</a:t>
            </a:r>
            <a:endParaRPr lang="ar-SA" sz="2100" dirty="0"/>
          </a:p>
        </p:txBody>
      </p:sp>
      <p:sp>
        <p:nvSpPr>
          <p:cNvPr id="30" name="Text 27"/>
          <p:cNvSpPr txBox="1"/>
          <p:nvPr/>
        </p:nvSpPr>
        <p:spPr>
          <a:xfrm>
            <a:off x="8549640" y="3493008"/>
            <a:ext cx="3136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fertile plains</a:t>
            </a:r>
            <a:endParaRPr lang="en-US" sz="950" dirty="0"/>
          </a:p>
        </p:txBody>
      </p:sp>
      <p:sp>
        <p:nvSpPr>
          <p:cNvPr id="31" name="Text 28"/>
          <p:cNvSpPr txBox="1"/>
          <p:nvPr/>
        </p:nvSpPr>
        <p:spPr>
          <a:xfrm>
            <a:off x="4572000" y="3072384"/>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غَابَةٌ </a:t>
            </a:r>
            <a:pPr rtl="1" algn="ctr" indent="0" marL="0">
              <a:buNone/>
            </a:pPr>
            <a:r>
              <a:rPr lang="ar-SA" altLang="en-US" sz="2100" b="1" dirty="0">
                <a:solidFill>
                  <a:srgbClr val="D6336C"/>
                </a:solidFill>
                <a:latin typeface="Amiri" pitchFamily="34" charset="0"/>
                <a:ea typeface="Amiri" pitchFamily="34" charset="-122"/>
                <a:cs typeface="Amiri" pitchFamily="34" charset="-120"/>
              </a:rPr>
              <a:t>كَثِيفَةٌ</a:t>
            </a:r>
            <a:endParaRPr lang="ar-SA" sz="2100" dirty="0"/>
          </a:p>
        </p:txBody>
      </p:sp>
      <p:sp>
        <p:nvSpPr>
          <p:cNvPr id="32" name="Text 29"/>
          <p:cNvSpPr txBox="1"/>
          <p:nvPr/>
        </p:nvSpPr>
        <p:spPr>
          <a:xfrm>
            <a:off x="4526280" y="3493008"/>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dense forest</a:t>
            </a:r>
            <a:endParaRPr lang="en-US" sz="950" dirty="0"/>
          </a:p>
        </p:txBody>
      </p:sp>
      <p:sp>
        <p:nvSpPr>
          <p:cNvPr id="33" name="Text 30"/>
          <p:cNvSpPr txBox="1"/>
          <p:nvPr/>
        </p:nvSpPr>
        <p:spPr>
          <a:xfrm>
            <a:off x="548640" y="3072384"/>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سَاحِلٌ </a:t>
            </a:r>
            <a:pPr rtl="1" algn="ctr" indent="0" marL="0">
              <a:buNone/>
            </a:pPr>
            <a:r>
              <a:rPr lang="ar-SA" altLang="en-US" sz="2100" b="1" dirty="0">
                <a:solidFill>
                  <a:srgbClr val="1D5FBF"/>
                </a:solidFill>
                <a:latin typeface="Amiri" pitchFamily="34" charset="0"/>
                <a:ea typeface="Amiri" pitchFamily="34" charset="-122"/>
                <a:cs typeface="Amiri" pitchFamily="34" charset="-120"/>
              </a:rPr>
              <a:t>طَوِيلٌ</a:t>
            </a:r>
            <a:endParaRPr lang="ar-SA" sz="2100" dirty="0"/>
          </a:p>
        </p:txBody>
      </p:sp>
      <p:sp>
        <p:nvSpPr>
          <p:cNvPr id="34" name="Text 31"/>
          <p:cNvSpPr txBox="1"/>
          <p:nvPr/>
        </p:nvSpPr>
        <p:spPr>
          <a:xfrm>
            <a:off x="502920" y="3493008"/>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long coast</a:t>
            </a:r>
            <a:endParaRPr lang="en-US" sz="95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8595360" y="3858768"/>
            <a:ext cx="30449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تَتَمَيَّزُ الجُزُرُ بِشَوَاطِئِهَا.</a:t>
            </a:r>
            <a:endParaRPr lang="ar-SA" sz="2100" dirty="0"/>
          </a:p>
        </p:txBody>
      </p:sp>
      <p:sp>
        <p:nvSpPr>
          <p:cNvPr id="39" name="Text 36"/>
          <p:cNvSpPr txBox="1"/>
          <p:nvPr/>
        </p:nvSpPr>
        <p:spPr>
          <a:xfrm>
            <a:off x="8549640" y="4279392"/>
            <a:ext cx="3136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islands …</a:t>
            </a:r>
            <a:endParaRPr lang="en-US" sz="950" dirty="0"/>
          </a:p>
        </p:txBody>
      </p:sp>
      <p:sp>
        <p:nvSpPr>
          <p:cNvPr id="40" name="Text 37"/>
          <p:cNvSpPr txBox="1"/>
          <p:nvPr/>
        </p:nvSpPr>
        <p:spPr>
          <a:xfrm>
            <a:off x="4572000" y="3858768"/>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تَتَمَيَّزُ</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المِنْطَقَةُ بِسُهُولٍ.</a:t>
            </a:r>
            <a:endParaRPr lang="ar-SA" sz="2100" dirty="0"/>
          </a:p>
        </p:txBody>
      </p:sp>
      <p:sp>
        <p:nvSpPr>
          <p:cNvPr id="41" name="Text 38"/>
          <p:cNvSpPr txBox="1"/>
          <p:nvPr/>
        </p:nvSpPr>
        <p:spPr>
          <a:xfrm>
            <a:off x="4526280" y="4279392"/>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region is known for plains.</a:t>
            </a:r>
            <a:endParaRPr lang="en-US" sz="950" dirty="0"/>
          </a:p>
        </p:txBody>
      </p:sp>
      <p:sp>
        <p:nvSpPr>
          <p:cNvPr id="42" name="Text 39"/>
          <p:cNvSpPr txBox="1"/>
          <p:nvPr/>
        </p:nvSpPr>
        <p:spPr>
          <a:xfrm>
            <a:off x="548640" y="3858768"/>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يَتَمَيَّزُ</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البَلَدُ بِجِبَالِهِ.</a:t>
            </a:r>
            <a:endParaRPr lang="ar-SA" sz="2100" dirty="0"/>
          </a:p>
        </p:txBody>
      </p:sp>
      <p:sp>
        <p:nvSpPr>
          <p:cNvPr id="43" name="Text 40"/>
          <p:cNvSpPr txBox="1"/>
          <p:nvPr/>
        </p:nvSpPr>
        <p:spPr>
          <a:xfrm>
            <a:off x="502920" y="4279392"/>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country is known for its mountains.</a:t>
            </a:r>
            <a:endParaRPr lang="en-US" sz="95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Non-human plurals (mountains, plains, islands) take a FEMININE SINGULAR adjective and verb: jibālun ʿāliyatun.</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FORMAL CLIMATE VERBS (WEBSITE RULES 2–3)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Prevails · is characterised by · is rich in</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يَسُودُ · يَتَّسِمُ بِـ · غَنِيٌّ بِـ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PREVAILS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يَسُودُ + المَنَاخُ</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يَسُودُ المَنَاخُ الصَّحْرَاوِيُّ فِي دَاخِلِ البِلَادِ.</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 desert climate prevails in the interior.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climate is the subject.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85166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CHARACTERISED · DEVELOP</a:t>
            </a:r>
            <a:endParaRPr lang="en-US" sz="850" dirty="0"/>
          </a:p>
        </p:txBody>
      </p:sp>
      <p:sp>
        <p:nvSpPr>
          <p:cNvPr id="26" name="Text 23"/>
          <p:cNvSpPr txBox="1"/>
          <p:nvPr/>
        </p:nvSpPr>
        <p:spPr>
          <a:xfrm>
            <a:off x="6310884"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يَتَّسِمُ بِـ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يَتَّسِمُ السَّاحِلُ بِمَنَاخٍ مُعْتَدِلٍ.</a:t>
            </a:r>
            <a:endParaRPr lang="ar-SA" sz="27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coast has a mild climate.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bi- + noun in -in.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23444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RICH IN · CORE</a:t>
            </a:r>
            <a:endParaRPr lang="en-US" sz="850" dirty="0"/>
          </a:p>
        </p:txBody>
      </p:sp>
      <p:sp>
        <p:nvSpPr>
          <p:cNvPr id="34" name="Text 31"/>
          <p:cNvSpPr txBox="1"/>
          <p:nvPr/>
        </p:nvSpPr>
        <p:spPr>
          <a:xfrm>
            <a:off x="1874520"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غَنِيٌّ بِـ</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البَلَدُ غَنِيٌّ بِالمَوَارِدِ الطَّبِيعِيَّةِ.</a:t>
            </a:r>
            <a:endParaRPr lang="ar-SA" sz="23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country is rich in natural resources.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ghaniyyun bi-, not min.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yattasimu needs bi-.</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يَتَّسِمُ السَّاحِلُ بِمَنَاخٍ مُعْتَدِلٍ.</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يَتَّسِمُ السَّاحِلُ مَنَاخٍ مُعْتَدِلٍ.</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for the natural world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قَوَاعِدُ وَصْفِ العَالَمِ الطَّبِيعِيِّ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Adjective agreement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noun + matching adjective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صَحْرَاءُ وَاسِعَةٌ   ·   مَنَاخٌ جَافٌّ</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t>
            </a:r>
            <a:pPr algn="l" indent="0" marL="0">
              <a:buNone/>
            </a:pPr>
            <a:r>
              <a:rPr lang="ar-SA" altLang="en-US" sz="1650" b="1" dirty="0">
                <a:solidFill>
                  <a:srgbClr val="1B3B6F"/>
                </a:solidFill>
                <a:latin typeface="Amiri" pitchFamily="34" charset="0"/>
                <a:ea typeface="Amiri" pitchFamily="34" charset="-122"/>
                <a:cs typeface="Amiri" pitchFamily="34" charset="-120"/>
              </a:rPr>
              <a:t>يَسُودُ</a:t>
            </a:r>
            <a:pPr algn="l" indent="0" marL="0">
              <a:buNone/>
            </a:pPr>
            <a:r>
              <a:rPr lang="en-US" sz="1250" b="1" dirty="0">
                <a:solidFill>
                  <a:srgbClr val="1B3B6F"/>
                </a:solidFill>
                <a:latin typeface="Calibri" pitchFamily="34" charset="0"/>
                <a:ea typeface="Calibri" pitchFamily="34" charset="-122"/>
                <a:cs typeface="Calibri" pitchFamily="34" charset="-120"/>
              </a:rPr>
              <a:t> for a prevailing climate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يَسُودُ</a:t>
            </a:r>
            <a:pPr algn="l" indent="0" marL="0">
              <a:buNone/>
            </a:pPr>
            <a:r>
              <a:rPr lang="en-US" sz="1050" dirty="0">
                <a:solidFill>
                  <a:srgbClr val="5A6472"/>
                </a:solidFill>
                <a:latin typeface="Calibri" pitchFamily="34" charset="0"/>
                <a:ea typeface="Calibri" pitchFamily="34" charset="-122"/>
                <a:cs typeface="Calibri" pitchFamily="34" charset="-120"/>
              </a:rPr>
              <a:t> + subject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يَسُودُ المَنَاخُ الصَّحْرَاوِيُّ فِي دَاخِلِ البِلَادِ.</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t>
            </a:r>
            <a:pPr algn="l" indent="0" marL="0">
              <a:buNone/>
            </a:pPr>
            <a:r>
              <a:rPr lang="ar-SA" altLang="en-US" sz="1650" b="1" dirty="0">
                <a:solidFill>
                  <a:srgbClr val="1B3B6F"/>
                </a:solidFill>
                <a:latin typeface="Amiri" pitchFamily="34" charset="0"/>
                <a:ea typeface="Amiri" pitchFamily="34" charset="-122"/>
                <a:cs typeface="Amiri" pitchFamily="34" charset="-120"/>
              </a:rPr>
              <a:t>يَتَّسِمُ بِـ</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place + </a:t>
            </a:r>
            <a:pPr algn="l" indent="0" marL="0">
              <a:buNone/>
            </a:pPr>
            <a:r>
              <a:rPr lang="ar-SA" altLang="en-US" sz="1350" dirty="0">
                <a:solidFill>
                  <a:srgbClr val="5A6472"/>
                </a:solidFill>
                <a:latin typeface="Amiri" pitchFamily="34" charset="0"/>
                <a:ea typeface="Amiri" pitchFamily="34" charset="-122"/>
                <a:cs typeface="Amiri" pitchFamily="34" charset="-120"/>
              </a:rPr>
              <a:t>يَتَّسِمُ بِـ</a:t>
            </a:r>
            <a:pPr algn="l" indent="0" marL="0">
              <a:buNone/>
            </a:pPr>
            <a:r>
              <a:rPr lang="en-US" sz="1050" dirty="0">
                <a:solidFill>
                  <a:srgbClr val="5A6472"/>
                </a:solidFill>
                <a:latin typeface="Calibri" pitchFamily="34" charset="0"/>
                <a:ea typeface="Calibri" pitchFamily="34" charset="-122"/>
                <a:cs typeface="Calibri" pitchFamily="34" charset="-120"/>
              </a:rPr>
              <a:t> + noun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يَتَّسِمُ السَّاحِلُ بِمَنَاخٍ مُعْتَدِلٍ.</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a:t>
            </a:r>
            <a:pPr algn="l" indent="0" marL="0">
              <a:buNone/>
            </a:pPr>
            <a:r>
              <a:rPr lang="ar-SA" altLang="en-US" sz="1650" b="1" dirty="0">
                <a:solidFill>
                  <a:srgbClr val="1B3B6F"/>
                </a:solidFill>
                <a:latin typeface="Amiri" pitchFamily="34" charset="0"/>
                <a:ea typeface="Amiri" pitchFamily="34" charset="-122"/>
                <a:cs typeface="Amiri" pitchFamily="34" charset="-120"/>
              </a:rPr>
              <a:t>تَتَمَيَّزُ بِـ</a:t>
            </a:r>
            <a:pPr algn="l" indent="0" marL="0">
              <a:buNone/>
            </a:pPr>
            <a:r>
              <a:rPr lang="en-US" sz="1250" b="1" dirty="0">
                <a:solidFill>
                  <a:srgbClr val="1B3B6F"/>
                </a:solidFill>
                <a:latin typeface="Calibri" pitchFamily="34" charset="0"/>
                <a:ea typeface="Calibri" pitchFamily="34" charset="-122"/>
                <a:cs typeface="Calibri" pitchFamily="34" charset="-120"/>
              </a:rPr>
              <a:t> with a feminine subject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feminine subject + </a:t>
            </a:r>
            <a:pPr algn="l" indent="0" marL="0">
              <a:buNone/>
            </a:pPr>
            <a:r>
              <a:rPr lang="ar-SA" altLang="en-US" sz="1350" dirty="0">
                <a:solidFill>
                  <a:srgbClr val="5A6472"/>
                </a:solidFill>
                <a:latin typeface="Amiri" pitchFamily="34" charset="0"/>
                <a:ea typeface="Amiri" pitchFamily="34" charset="-122"/>
                <a:cs typeface="Amiri" pitchFamily="34" charset="-120"/>
              </a:rPr>
              <a:t>تَتَمَيَّزُ بِـ</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تَتَمَيَّزُ المِنْطَقَةُ بِسُهُولٍ خَصْبَةٍ.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noun–adjective agreement.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صَحْرَاءُ وَاسِعٌ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صَحَارِي وَاسِعُونَ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صَحْرَاءُ وَاسِعَةٌ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use of </a:t>
            </a:r>
            <a:pPr algn="l" indent="0" marL="0">
              <a:buNone/>
            </a:pPr>
            <a:r>
              <a:rPr lang="ar-SA" altLang="en-US" sz="1650" b="1" dirty="0">
                <a:solidFill>
                  <a:srgbClr val="1B3B6F"/>
                </a:solidFill>
                <a:latin typeface="Amiri" pitchFamily="34" charset="0"/>
                <a:ea typeface="Amiri" pitchFamily="34" charset="-122"/>
                <a:cs typeface="Amiri" pitchFamily="34" charset="-120"/>
              </a:rPr>
              <a:t>يَتَّسِمُ بِـ</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يَتَّسِمُ السَّاحِلُ بِمَنَاخٍ مُعْتَدِلٍ.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يَتَّسِمُ السَّاحِلُ مَنَاخًا مُعْتَدِلًا.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يَتَّسِمُ السَّاحِلُ إِلَى مَنَاخٍ مُعْتَدِلٍ.</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with correct subject–verb agreement.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يَتَمَيَّزُ المِنْطَقَةُ بِجِبَالٍ عَالِيَةٍ.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تَتَمَيَّزُ المِنْطَقَةُ بِجِبَالٍ عَالِيَةٍ.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تَتَمَيَّزُ المِنْطَقَةُ إِلَى جِبَالٍ عَالِيَةٍ.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“The country is rich in natural resources”?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البَلَدُ غَنِيٌّ بِالمَوَارِدِ الطَّبِيعِيَّةِ.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البَلَدُ يَسُودُ المَوَارِدَ.</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البَلَدُ غَنِيَّةٌ مِنَ المَوَارِدِ.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noun–adjective agreement.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صَحْرَاءُ وَاسِعٌ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صَحَارِي وَاسِعُونَ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صَحْرَاءُ وَاسِعَةٌ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صحراء</a:t>
            </a:r>
            <a:pPr algn="l" indent="0" marL="0">
              <a:buNone/>
            </a:pPr>
            <a:r>
              <a:rPr lang="en-US" sz="1050" i="1" dirty="0">
                <a:solidFill>
                  <a:srgbClr val="8A6D1E"/>
                </a:solidFill>
                <a:latin typeface="Calibri" pitchFamily="34" charset="0"/>
                <a:ea typeface="Calibri" pitchFamily="34" charset="-122"/>
                <a:cs typeface="Calibri" pitchFamily="34" charset="-120"/>
              </a:rPr>
              <a:t> is feminine, so the adjective is </a:t>
            </a:r>
            <a:pPr algn="l" indent="0" marL="0">
              <a:buNone/>
            </a:pPr>
            <a:r>
              <a:rPr lang="ar-SA" altLang="en-US" sz="1350" dirty="0">
                <a:solidFill>
                  <a:srgbClr val="8A6D1E"/>
                </a:solidFill>
                <a:latin typeface="Amiri" pitchFamily="34" charset="0"/>
                <a:ea typeface="Amiri" pitchFamily="34" charset="-122"/>
                <a:cs typeface="Amiri" pitchFamily="34" charset="-120"/>
              </a:rPr>
              <a:t>واسعة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use of </a:t>
            </a:r>
            <a:pPr algn="l" indent="0" marL="0">
              <a:buNone/>
            </a:pPr>
            <a:r>
              <a:rPr lang="ar-SA" altLang="en-US" sz="1650" b="1" dirty="0">
                <a:solidFill>
                  <a:srgbClr val="1B3B6F"/>
                </a:solidFill>
                <a:latin typeface="Amiri" pitchFamily="34" charset="0"/>
                <a:ea typeface="Amiri" pitchFamily="34" charset="-122"/>
                <a:cs typeface="Amiri" pitchFamily="34" charset="-120"/>
              </a:rPr>
              <a:t>يَتَّسِمُ بِـ</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يَتَّسِمُ السَّاحِلُ بِمَنَاخٍ مُعْتَدِلٍ.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يَتَّسِمُ السَّاحِلُ مَنَاخًا مُعْتَدِلًا.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يَتَّسِمُ السَّاحِلُ إِلَى مَنَاخٍ مُعْتَدِلٍ.</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يتسم</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before the characteristic.</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with correct subject–verb agreement.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يَتَمَيَّزُ المِنْطَقَةُ بِجِبَالٍ عَالِيَةٍ.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تَتَمَيَّزُ المِنْطَقَةُ بِجِبَالٍ عَالِيَةٍ.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تَتَمَيَّزُ المِنْطَقَةُ إِلَى جِبَالٍ عَالِيَةٍ.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المنطقة</a:t>
            </a:r>
            <a:pPr algn="l" indent="0" marL="0">
              <a:buNone/>
            </a:pPr>
            <a:r>
              <a:rPr lang="en-US" sz="1050" i="1" dirty="0">
                <a:solidFill>
                  <a:srgbClr val="8A6D1E"/>
                </a:solidFill>
                <a:latin typeface="Calibri" pitchFamily="34" charset="0"/>
                <a:ea typeface="Calibri" pitchFamily="34" charset="-122"/>
                <a:cs typeface="Calibri" pitchFamily="34" charset="-120"/>
              </a:rPr>
              <a:t> is a feminine singular subject, so use </a:t>
            </a:r>
            <a:pPr algn="l" indent="0" marL="0">
              <a:buNone/>
            </a:pPr>
            <a:r>
              <a:rPr lang="ar-SA" altLang="en-US" sz="1350" dirty="0">
                <a:solidFill>
                  <a:srgbClr val="8A6D1E"/>
                </a:solidFill>
                <a:latin typeface="Amiri" pitchFamily="34" charset="0"/>
                <a:ea typeface="Amiri" pitchFamily="34" charset="-122"/>
                <a:cs typeface="Amiri" pitchFamily="34" charset="-120"/>
              </a:rPr>
              <a:t>تتميز</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“The country is rich in natural resources”?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البَلَدُ غَنِيٌّ بِالمَوَارِدِ الطَّبِيعِيَّةِ.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البَلَدُ يَسُودُ المَوَارِدَ.</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البَلَدُ غَنِيَّةٌ مِنَ المَوَارِدِ.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غني بـ</a:t>
            </a:r>
            <a:pPr algn="l" indent="0" marL="0">
              <a:buNone/>
            </a:pPr>
            <a:r>
              <a:rPr lang="en-US" sz="1050" i="1" dirty="0">
                <a:solidFill>
                  <a:srgbClr val="8A6D1E"/>
                </a:solidFill>
                <a:latin typeface="Calibri" pitchFamily="34" charset="0"/>
                <a:ea typeface="Calibri" pitchFamily="34" charset="-122"/>
                <a:cs typeface="Calibri" pitchFamily="34" charset="-120"/>
              </a:rPr>
              <a:t> is the correct collocation.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Watch me describe a country’s landscape and climate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Location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يَقَعُ المَغْرِبُ فِي شَمَالِ إِفْرِيقِيَا.</a:t>
            </a:r>
            <a:endParaRPr lang="ar-SA" sz="1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al-Maghrib is masculine → yaqaʿu.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Features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يَتَمَيَّزُ</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بِجِبَالٍ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عَالِيَةٍ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وَسَوَاحِلَ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طَوِيلَةٍ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Non-human plurals → -a.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Region 1</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يَتَّسِمُ</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السَّاحِلُ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بِمَنَاخٍ</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مُعْتَدِلٍ وَرَطْبٍ.</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yattasimu + bi-.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Region 2</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أَمَّا فِي الجَنُوبِ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فَيَسُودُ</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المَنَاخُ الصَّحْرَاوِيُّ.</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Contrast: ammā … fa-.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FORMAL VERB</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AGREEMENT</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yattasimu bi-</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يَقَعُ المَغْرِبُ فِي شَمَالِ إِفْرِيقِيَا، وَ</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يَتَمَيَّزُ</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بِتَنَوُّعٍ طَبِيعِيٍّ كَبِيرٍ: جِبَالٌ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عَالِيَةٌ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وَسَوَاحِلُ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طَوِيلَةٌ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وَسُهُولٌ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خَصْبَةٌ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يَتَّسِمُ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السَّاحِلُ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بِمَنَاخٍ</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مُعْتَدِلٍ وَرَطْبٍ، أَمَّا فِي الجَنُوبِ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فَيَسُودُ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المَنَاخُ الصَّحْرَاوِيُّ الجَافُّ.</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Morocco lies in North Africa and is known for great natural variety: high mountains, long coasts and fertile plains. The coast has a mild, humid climate, whereas in the south a dry desert climate prevails.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صَحْرَاءُ وَاسِعَةٌ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 vast desert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feminine noun normally takes a feminine adjective; a masculine noun takes a masculine adjective.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يَسُودُ المَنَاخُ الصَّحْرَاوِيُّ فِي دَاخِلِ البِلَادِ.</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 desert climate prevails in the interior of the country.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climate or weather feature is the subject after يَسُودُ.</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يَتَّسِمُ السَّاحِلُ بِمَنَاخٍ مُعْتَدِلٍ.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coast is characterised by a mild climate.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preposition بِـ introduces the characteristic and makes the following noun genitive.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THE NATURAL WORLD — ENVIRONMENT AND CLIMATE VOCABULARY”</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is this?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العَالَمُ الطَّبِيعِيُّ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trees</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sun and sand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water and ship</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صَحْرَاءُ.</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بَحْرٌ.</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غَابَةٌ.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العَالَمُ الطَّبِيعِيُّ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trees</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غَابَةٌ.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forest.</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sun and sand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صَحْرَاءُ.</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desert.</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water and ship</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بَحْرٌ.</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sea.</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البِيئَةُ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المَنَاخُ</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الطَّقْسُ</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السُّهُولُ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التُّرْبَةُ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المِيَاهُ العَذْبَةُ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يَسُودُ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يَتَّسِمُ بِـ</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يَتَمَيَّزُ بِـ</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Natural features</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Climate and resources</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Formal description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Natural features</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البِيئَةُ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المَنَاخُ</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الطَّقْسُ</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Climate and resources</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السُّهُولُ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التُّرْبَةُ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المِيَاهُ العَذْبَةُ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Formal description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يَسُودُ</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يَتَّسِمُ بِـ</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يَتَمَيَّزُ بِـ</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plural phrase.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جِبَالٌ عَالِيُونَ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جِبَالٌ عَالٍ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جِبَالٌ عَالِيَةٌ</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تَقَعُ المَدِينَةُ ___ السَّاحِلِ.</a:t>
            </a:r>
            <a:endParaRPr lang="ar-SA" sz="135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4" name="Shape 41"/>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a formal climate description?</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الشَّمَالِ مَنَاخٌ وَبَسْ.</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يَتَّسِمُ شَمَالُ البِلَادِ بِمَنَاخٍ رَطْبٍ.</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شَمَالُ البِلَادِ جَوٌّ حُلْوٌ جِدًّا.</a:t>
            </a:r>
            <a:endParaRPr lang="ar-SA" sz="20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plural phrase.</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جِبَالٌ عَالِيُونَ</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جِبَالٌ عَالٍ</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جِبَالٌ عَالِيَةٌ</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non-human plural normally takes a feminine singular adjective.</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تَقَعُ المَدِينَةُ ___ السَّاحِلِ.</a:t>
            </a:r>
            <a:endParaRPr lang="ar-SA" sz="1350" dirty="0"/>
          </a:p>
        </p:txBody>
      </p:sp>
      <p:sp>
        <p:nvSpPr>
          <p:cNvPr id="37" name="Shape 34"/>
          <p:cNvSpPr/>
          <p:nvPr/>
        </p:nvSpPr>
        <p:spPr>
          <a:xfrm>
            <a:off x="4459224" y="2532888"/>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40" name="Shape 37"/>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299008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عَلَى</a:t>
            </a:r>
            <a:endParaRPr lang="ar-SA" sz="2050" dirty="0"/>
          </a:p>
        </p:txBody>
      </p:sp>
      <p:sp>
        <p:nvSpPr>
          <p:cNvPr id="44" name="Shape 41"/>
          <p:cNvSpPr/>
          <p:nvPr/>
        </p:nvSpPr>
        <p:spPr>
          <a:xfrm>
            <a:off x="4459224" y="344728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مِنْ</a:t>
            </a:r>
            <a:endParaRPr lang="ar-SA" sz="2050" dirty="0"/>
          </a:p>
        </p:txBody>
      </p:sp>
      <p:sp>
        <p:nvSpPr>
          <p:cNvPr id="47" name="Text 44"/>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تقع على الساحل</a:t>
            </a:r>
            <a:pPr algn="l" indent="0" marL="0">
              <a:buNone/>
            </a:pPr>
            <a:r>
              <a:rPr lang="en-US" sz="1050" i="1" dirty="0">
                <a:solidFill>
                  <a:srgbClr val="8A6D1E"/>
                </a:solidFill>
                <a:latin typeface="Calibri" pitchFamily="34" charset="0"/>
                <a:ea typeface="Calibri" pitchFamily="34" charset="-122"/>
                <a:cs typeface="Calibri" pitchFamily="34" charset="-120"/>
              </a:rPr>
              <a:t> means it is located on the coast.</a:t>
            </a:r>
            <a:endParaRPr lang="en-US" sz="1050" dirty="0"/>
          </a:p>
        </p:txBody>
      </p:sp>
      <p:sp>
        <p:nvSpPr>
          <p:cNvPr id="48" name="Shape 45"/>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a formal climate description?</a:t>
            </a:r>
            <a:endParaRPr lang="en-US" sz="1250" dirty="0"/>
          </a:p>
        </p:txBody>
      </p:sp>
      <p:sp>
        <p:nvSpPr>
          <p:cNvPr id="52" name="Shape 49"/>
          <p:cNvSpPr/>
          <p:nvPr/>
        </p:nvSpPr>
        <p:spPr>
          <a:xfrm>
            <a:off x="8278368" y="2532888"/>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الشَّمَالِ مَنَاخٌ وَبَسْ.</a:t>
            </a:r>
            <a:endParaRPr lang="ar-SA" sz="2050" dirty="0"/>
          </a:p>
        </p:txBody>
      </p:sp>
      <p:sp>
        <p:nvSpPr>
          <p:cNvPr id="55" name="Shape 52"/>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99008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يَتَّسِمُ شَمَالُ البِلَادِ بِمَنَاخٍ رَطْبٍ.</a:t>
            </a:r>
            <a:endParaRPr lang="ar-SA" sz="2050" dirty="0"/>
          </a:p>
        </p:txBody>
      </p:sp>
      <p:sp>
        <p:nvSpPr>
          <p:cNvPr id="59" name="Shape 56"/>
          <p:cNvSpPr/>
          <p:nvPr/>
        </p:nvSpPr>
        <p:spPr>
          <a:xfrm>
            <a:off x="8278368" y="344728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شَمَالُ البِلَادِ جَوٌّ حُلْوٌ جِدًّا.</a:t>
            </a:r>
            <a:endParaRPr lang="ar-SA" sz="2050" dirty="0"/>
          </a:p>
        </p:txBody>
      </p:sp>
      <p:sp>
        <p:nvSpPr>
          <p:cNvPr id="62" name="Text 59"/>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يتسم بـ</a:t>
            </a:r>
            <a:pPr algn="l" indent="0" marL="0">
              <a:buNone/>
            </a:pPr>
            <a:r>
              <a:rPr lang="en-US" sz="1050" i="1" dirty="0">
                <a:solidFill>
                  <a:srgbClr val="8A6D1E"/>
                </a:solidFill>
                <a:latin typeface="Calibri" pitchFamily="34" charset="0"/>
                <a:ea typeface="Calibri" pitchFamily="34" charset="-122"/>
                <a:cs typeface="Calibri" pitchFamily="34" charset="-120"/>
              </a:rPr>
              <a:t> gives a precise formal description.</a:t>
            </a:r>
            <a:endParaRPr lang="en-US" sz="10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الصَّحْرَاءُ وَاسِعٌ.</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ṣaḥrāʾ: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يَتَّسِمُ السَّاحِلُ مَنَاخٍ مُعْتَدِلٍ.</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preposition after yattasimu?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يَتَمَيَّزُ المِنْطَقَةُ بِسُهُولٍ.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al-minṭaqa is feminine: ya- or ta-?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الصَّحْرَاءُ وَاسِعٌ.</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الصَّحْرَاءُ وَاسِعَةٌ.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feminine noun </a:t>
            </a:r>
            <a:pPr algn="l" indent="0" marL="0">
              <a:buNone/>
            </a:pPr>
            <a:r>
              <a:rPr lang="ar-SA" altLang="en-US" sz="1500" b="1" dirty="0">
                <a:solidFill>
                  <a:srgbClr val="1B3B6F"/>
                </a:solidFill>
                <a:latin typeface="Amiri" pitchFamily="34" charset="0"/>
                <a:ea typeface="Amiri" pitchFamily="34" charset="-122"/>
                <a:cs typeface="Amiri" pitchFamily="34" charset="-120"/>
              </a:rPr>
              <a:t>صحراء</a:t>
            </a:r>
            <a:pPr algn="l" indent="0" marL="0">
              <a:buNone/>
            </a:pPr>
            <a:r>
              <a:rPr lang="en-US" sz="1150" b="1" dirty="0">
                <a:solidFill>
                  <a:srgbClr val="1B3B6F"/>
                </a:solidFill>
                <a:latin typeface="Calibri" pitchFamily="34" charset="0"/>
                <a:ea typeface="Calibri" pitchFamily="34" charset="-122"/>
                <a:cs typeface="Calibri" pitchFamily="34" charset="-120"/>
              </a:rPr>
              <a:t> needs a feminine adjective.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يَتَّسِمُ السَّاحِلُ مَنَاخٍ مُعْتَدِلٍ.</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يَتَّسِمُ السَّاحِلُ بِمَنَاخٍ مُعْتَدِلٍ.</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يتسم</a:t>
            </a:r>
            <a:pPr algn="l" indent="0" marL="0">
              <a:buNone/>
            </a:pPr>
            <a:r>
              <a:rPr lang="en-US" sz="1150" b="1" dirty="0">
                <a:solidFill>
                  <a:srgbClr val="1B3B6F"/>
                </a:solidFill>
                <a:latin typeface="Calibri" pitchFamily="34" charset="0"/>
                <a:ea typeface="Calibri" pitchFamily="34" charset="-122"/>
                <a:cs typeface="Calibri" pitchFamily="34" charset="-120"/>
              </a:rPr>
              <a:t> requires the preposition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يَتَمَيَّزُ المِنْطَقَةُ بِسُهُولٍ.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تَتَمَيَّزُ المِنْطَقَةُ بِسُهُولٍ.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singular feminine subject </a:t>
            </a:r>
            <a:pPr algn="l" indent="0" marL="0">
              <a:buNone/>
            </a:pPr>
            <a:r>
              <a:rPr lang="ar-SA" altLang="en-US" sz="1500" b="1" dirty="0">
                <a:solidFill>
                  <a:srgbClr val="1B3B6F"/>
                </a:solidFill>
                <a:latin typeface="Amiri" pitchFamily="34" charset="0"/>
                <a:ea typeface="Amiri" pitchFamily="34" charset="-122"/>
                <a:cs typeface="Amiri" pitchFamily="34" charset="-120"/>
              </a:rPr>
              <a:t>المنطقة</a:t>
            </a:r>
            <a:pPr algn="l" indent="0" marL="0">
              <a:buNone/>
            </a:pPr>
            <a:r>
              <a:rPr lang="en-US" sz="1150" b="1" dirty="0">
                <a:solidFill>
                  <a:srgbClr val="1B3B6F"/>
                </a:solidFill>
                <a:latin typeface="Calibri" pitchFamily="34" charset="0"/>
                <a:ea typeface="Calibri" pitchFamily="34" charset="-122"/>
                <a:cs typeface="Calibri" pitchFamily="34" charset="-120"/>
              </a:rPr>
              <a:t> takes </a:t>
            </a:r>
            <a:pPr algn="l" indent="0" marL="0">
              <a:buNone/>
            </a:pPr>
            <a:r>
              <a:rPr lang="ar-SA" altLang="en-US" sz="1500" b="1" dirty="0">
                <a:solidFill>
                  <a:srgbClr val="1B3B6F"/>
                </a:solidFill>
                <a:latin typeface="Amiri" pitchFamily="34" charset="0"/>
                <a:ea typeface="Amiri" pitchFamily="34" charset="-122"/>
                <a:cs typeface="Amiri" pitchFamily="34" charset="-120"/>
              </a:rPr>
              <a:t>تتميز</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Listening: natural features and climate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are the high mountains mentioned?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north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islands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far west</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characterises the coast?</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natural features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snowy desert climate</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mild, humid climate</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climate prevails in the south?</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cold mountain climate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tropical forest climate</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dry desert climate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are some oases located?</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Near valleys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Inside large cities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high islands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water source is mentioned?</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Rain tanks</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Groundwater</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Sea ice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formally describes the coast?</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يَتَّسِمُ السَّاحِلُ بِـ</a:t>
            </a:r>
            <a:endParaRPr lang="ar-SA" sz="20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يَسْتَهْلِكُ السَّاحِلُ</a:t>
            </a:r>
            <a:endParaRPr lang="ar-SA" sz="20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يُنْتِجُ السَّاحِلُ</a:t>
            </a:r>
            <a:endParaRPr lang="ar-SA" sz="20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الشَّمَالِ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السَّاحِلُ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الجَنُوبِ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تَتَنَوَّعُ الطَّبِيعَةُ فِي المَغْرِبِ.</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Nature in Morocco is varied.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الشَّمَالِ تَمْتَدُّ جِبَالٌ عَالِيَةٌ،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north, high mountains stretch out,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وَيَتَّسِمُ السَّاحِلُ بِمَنَاخٍ مُعْتَدِلٍ وَرَطْبٍ.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the coast has a mild, humid climate.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فِي الجَنُوبِ فَيَسُودُ المَنَاخُ الصَّحْرَاوِيُّ الجَافُّ.</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the south, a dry desert climate prevails.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وَتَقَعُ بَعْضُ الوَاحَاتِ قُرْبَ الأَوْدِيَةِ، حَيْثُ تَتَوَفَّرُ المِيَاهُ الجَوْفِيَّةُ.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 oases lie near the valleys, where groundwater is available.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are the high mountains mentioned?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north</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the islands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far west</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says </a:t>
            </a:r>
            <a:pPr algn="l" indent="0" marL="0">
              <a:buNone/>
            </a:pPr>
            <a:r>
              <a:rPr lang="ar-SA" altLang="en-US" sz="1350" dirty="0">
                <a:solidFill>
                  <a:srgbClr val="8A6D1E"/>
                </a:solidFill>
                <a:latin typeface="Amiri" pitchFamily="34" charset="0"/>
                <a:ea typeface="Amiri" pitchFamily="34" charset="-122"/>
                <a:cs typeface="Amiri" pitchFamily="34" charset="-120"/>
              </a:rPr>
              <a:t>فِي الشَّمَالِ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characterises the coast?</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natural features</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snowy desert climate</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mild, humid climate</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coast has a mild and humid climate.</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climate prevails in the south?</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cold mountain climate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tropical forest climate</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dry desert climate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a:t>
            </a:r>
            <a:pPr algn="l" indent="0" marL="0">
              <a:buNone/>
            </a:pPr>
            <a:r>
              <a:rPr lang="ar-SA" altLang="en-US" sz="1350" dirty="0">
                <a:solidFill>
                  <a:srgbClr val="8A6D1E"/>
                </a:solidFill>
                <a:latin typeface="Amiri" pitchFamily="34" charset="0"/>
                <a:ea typeface="Amiri" pitchFamily="34" charset="-122"/>
                <a:cs typeface="Amiri" pitchFamily="34" charset="-120"/>
              </a:rPr>
              <a:t>يَسُودُ المَنَاخُ الصَّحْرَاوِيُّ الجَافُّ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are some oases located?</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Near valleys</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Inside large cities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high islands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They are </a:t>
            </a:r>
            <a:pPr algn="l" indent="0" marL="0">
              <a:buNone/>
            </a:pPr>
            <a:r>
              <a:rPr lang="ar-SA" altLang="en-US" sz="1350" dirty="0">
                <a:solidFill>
                  <a:srgbClr val="8A6D1E"/>
                </a:solidFill>
                <a:latin typeface="Amiri" pitchFamily="34" charset="0"/>
                <a:ea typeface="Amiri" pitchFamily="34" charset="-122"/>
                <a:cs typeface="Amiri" pitchFamily="34" charset="-120"/>
              </a:rPr>
              <a:t>قُرْبَ الأَوْدِيَةِ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water source is mentioned?</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Rain tanks</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Groundwater</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Sea ice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المياه الجوفية</a:t>
            </a:r>
            <a:pPr algn="l" indent="0" marL="0">
              <a:buNone/>
            </a:pPr>
            <a:r>
              <a:rPr lang="en-US" sz="1050" i="1" dirty="0">
                <a:solidFill>
                  <a:srgbClr val="8A6D1E"/>
                </a:solidFill>
                <a:latin typeface="Calibri" pitchFamily="34" charset="0"/>
                <a:ea typeface="Calibri" pitchFamily="34" charset="-122"/>
                <a:cs typeface="Calibri" pitchFamily="34" charset="-120"/>
              </a:rPr>
              <a:t> means groundwater.</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formally describes the coast?</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يَتَّسِمُ السَّاحِلُ بِـ</a:t>
            </a:r>
            <a:endParaRPr lang="ar-SA" sz="170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يَسْتَهْلِكُ السَّاحِلُ</a:t>
            </a:r>
            <a:endParaRPr lang="ar-SA" sz="170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يُنْتِجُ السَّاحِلُ</a:t>
            </a:r>
            <a:endParaRPr lang="ar-SA" sz="170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يتسم بـ</a:t>
            </a:r>
            <a:pPr algn="l" indent="0" marL="0">
              <a:buNone/>
            </a:pPr>
            <a:r>
              <a:rPr lang="en-US" sz="1050" i="1" dirty="0">
                <a:solidFill>
                  <a:srgbClr val="8A6D1E"/>
                </a:solidFill>
                <a:latin typeface="Calibri" pitchFamily="34" charset="0"/>
                <a:ea typeface="Calibri" pitchFamily="34" charset="-122"/>
                <a:cs typeface="Calibri" pitchFamily="34" charset="-120"/>
              </a:rPr>
              <a:t> introduces a characteristic.</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الشَّمَالِ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السَّاحِلُ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الجَنُوبِ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Speaking: describe a natural environment</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مَنَاخَ بَلَدٍ عَرَبِيٍّ.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أَهَمُّ المَعَالِمِ الطَّبِيعِيَّةِ فِيهِ؟</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تَخْتَلِفُ المَنَاطِقُ دَاخِلَ البَلَدِ؟</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يَسُودُ فِي ___ مَنَاخٌ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يَتَمَيَّزُ / تَتَمَيَّزُ ___ بِـ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فِي الشَّمَالِ ___ ، أَمَّا فِي الجَنُوبِ فَـ ___ .</a:t>
            </a:r>
            <a:endParaRPr lang="ar-SA" sz="14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تَصِفُ الطَّبِيعَةَ فِي بَلَدٍ عَرَبِيٍّ؟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would you describe nature in an Arab country?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تَتَمَيَّزُ عُمَانُ بِسَوَاحِلَ طَوِيلَةٍ وَجِبَالٍ عَالِيَةٍ، وَيَسُودُ فِيهَا مَنَاخٌ حَارٌّ وَجَافٌّ فِي مُعْظَمِ السَّنَةِ.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Oman is known for long coasts and high mountains, and a hot, dry climate prevails for most of the year.</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Four natural features with agreeing adjectives + one climate sentence (yasūdu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country’s landscape and climate with yasūdu, yattasimu bi- and one contrast.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four features, two regions contrasted, and a justified environmental comment.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يَتَّسِمُ السَّاحِلُ بِـ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coast is characterised by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تَتَمَيَّزُ المِنْطَقَةُ بِـ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region is known for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فِي الجَنُوبِ فَـ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the south,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فِي رَأْيِي، يَجِبُ حِمَايَةُ ______ لِأَنَّ ______ .</a:t>
            </a:r>
            <a:endParaRPr lang="ar-SA" sz="17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opinion, we must protect … because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يَقَعُ / تَقَعُ ______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lies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فِيهَا جِبَالٌ ______ وَسَاحِلٌ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 are high mountains and a long coast.</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يَسُودُ مَنَاخٌ ______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 climate prevails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البَلَدُ غَنِيٌّ بِـ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country is rich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جِبَالٌ عَالِيَةٌ  ·  صَحْرَاءُ وَاسِعَةٌ  ·  سُهُولٌ خَصْبَةٌ  ·  سَاحِلٌ طَوِيلٌ  ·  مَنَاخٌ جَافٌّ  ·  مَنَاخٌ مُعْتَدِلٌ  ·  رَطْبٌ  ·  يَسُودُ  ·  يَتَّسِمُ بِـ  ·  يَتَمَيَّزُ بِـ  ·  يَقَعُ فِي  ·  غَنِيٌّ بِـ</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Arabic words describing the natural features and climate of an Arabic-speaking country.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Name at least four natural features.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يَسُودُ</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يَتَّسِمُ بِـ</a:t>
            </a:r>
            <a:pPr algn="l" indent="0" marL="0">
              <a:buNone/>
            </a:pPr>
            <a:r>
              <a:rPr lang="en-US" sz="1200" dirty="0">
                <a:solidFill>
                  <a:srgbClr val="1F2A37"/>
                </a:solidFill>
                <a:latin typeface="Calibri" pitchFamily="34" charset="0"/>
                <a:ea typeface="Calibri" pitchFamily="34" charset="-122"/>
                <a:cs typeface="Calibri" pitchFamily="34" charset="-120"/>
              </a:rPr>
              <a:t>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one contrast between two regions.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Finish with a justified environmental comment.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تَتَنَوَّعُ الطَّبِيعَةُ فِي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nature is varied in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تَتَوَفَّرُ المِيَاهُ الجَوْفِيَّةُ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groundwater is available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تُعَدُّ المِيَاهُ العَذْبَةُ مَوْرِدًا مَحْدُودًا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fresh water is considered a limited resource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تَحْتَاجُ البِلَادُ إِلَى إِدَارَتِهَا بِعِنَايَةٍ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country needs to manage it carefully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حِمَايَةُ هٰذِهِ البِيئَاتِ</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these environments must be protected</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يَتَمَيَّزُ المَغْرِبُ بِتَنَوُّعٍ طَبِيعِيٍّ كَبِيرٍ. فِي الشَّمَالِ تَمْتَدُّ جِبَالُ الرِّيفِ، وَيَتَّسِمُ السَّاحِلُ بِمَنَاخٍ مُعْتَدِلٍ وَرَطْبٍ. أَمَّا فِي الدَّاخِلِ فَتُوجَدُ سُهُولٌ خَصْبَةٌ تُسَاعِدُ عَلَى الزِّرَاعَةِ. وَفِي الجَنُوبِ يَسُودُ المَنَاخُ الصَّحْرَاوِيُّ الجَافُّ، وَتَقَعُ وَاحَاتٌ قُرْبَ بَعْضِ الأَوْدِيَةِ. كَمَا أَنَّ البِلَادَ غَنِيَّةٌ بِمَوَارِدَ طَبِيعِيَّةٍ مُتَنَوِّعَةٍ. فِي رَأْيِي، يَجِبُ حِمَايَةُ هٰذِهِ البِيئَاتِ لِأَنَّهَا مُهِمَّةٌ لِلنَّاسِ وَالحَيَوَانَاتِ وَالاقْتِصَادِ.</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Morocco is known for great natural variety. In the north the Rif mountains stretch out, and the coast has a mild, humid climate. In the interior there are fertile plains that help farming. In the south a dry desert climate prevails, and there are oases near some valleys. The country is also rich in varied natural resources. In my opinion, these environments must be protected because they are important for people, animals and the economy.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four natural features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yasūdu</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yattasimu bi-</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contrast and a comment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adjectives agree (incl. non-human plurals).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four natural features.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yasūdu and yattasimu bi-.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verb agrees with the country / region.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contrasted two regions and added a comment.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formal description.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يَتَّسِمُ السَّاحِلُ بِمَنَاخٍ مُعْتَدِلٍ.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يَتَّسِمُ السَّاحِلُ إِلَى مَنَاخٍ مُعْتَدِلٍ.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تَتَّسِمُ السَّاحِلَ بِمَنَاخٍ.</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Arabic phrase means “fertile plains”?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صَحَارَى جَافَّةٌ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سُهُولٌ خَصْبَةٌ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سَوَاحِلُ رَطْبَةٌ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correct agreement?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تَتَمَيَّزُ المِنْطَقَةُ بِجِبَالٍ عَالِيَةٍ.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يَتَمَيَّزُ المِنْطَقَةُ بِجِبَالٍ عَالِيُونَ.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تَتَمَيَّزُ المِنْطَقَةَ بِجَبَلٌ عَالٍ.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formal description.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يَتَّسِمُ السَّاحِلُ بِمَنَاخٍ مُعْتَدِلٍ.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يَتَّسِمُ السَّاحِلُ إِلَى مَنَاخٍ مُعْتَدِلٍ.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تَتَّسِمُ السَّاحِلَ بِمَنَاخٍ.</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يتسم</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and the masculine verb agrees with </a:t>
            </a:r>
            <a:pPr algn="l" indent="0" marL="0">
              <a:buNone/>
            </a:pPr>
            <a:r>
              <a:rPr lang="ar-SA" altLang="en-US" sz="1350" dirty="0">
                <a:solidFill>
                  <a:srgbClr val="8A6D1E"/>
                </a:solidFill>
                <a:latin typeface="Amiri" pitchFamily="34" charset="0"/>
                <a:ea typeface="Amiri" pitchFamily="34" charset="-122"/>
                <a:cs typeface="Amiri" pitchFamily="34" charset="-120"/>
              </a:rPr>
              <a:t>الساحل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Arabic phrase means “fertile plains”?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صَحَارَى جَافَّةٌ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سُهُولٌ خَصْبَةٌ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سَوَاحِلُ رَطْبَةٌ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سهول خصبة</a:t>
            </a:r>
            <a:pPr algn="l" indent="0" marL="0">
              <a:buNone/>
            </a:pPr>
            <a:r>
              <a:rPr lang="en-US" sz="1050" i="1" dirty="0">
                <a:solidFill>
                  <a:srgbClr val="8A6D1E"/>
                </a:solidFill>
                <a:latin typeface="Calibri" pitchFamily="34" charset="0"/>
                <a:ea typeface="Calibri" pitchFamily="34" charset="-122"/>
                <a:cs typeface="Calibri" pitchFamily="34" charset="-120"/>
              </a:rPr>
              <a:t> means fertile plains.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correct agreement?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تَتَمَيَّزُ المِنْطَقَةُ بِجِبَالٍ عَالِيَةٍ.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يَتَمَيَّزُ المِنْطَقَةُ بِجِبَالٍ عَالِيُونَ.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تَتَمَيَّزُ المِنْطَقَةَ بِجَبَلٌ عَالٍ.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تتميز</a:t>
            </a:r>
            <a:pPr algn="l" indent="0" marL="0">
              <a:buNone/>
            </a:pPr>
            <a:r>
              <a:rPr lang="en-US" sz="1050" i="1" dirty="0">
                <a:solidFill>
                  <a:srgbClr val="8A6D1E"/>
                </a:solidFill>
                <a:latin typeface="Calibri" pitchFamily="34" charset="0"/>
                <a:ea typeface="Calibri" pitchFamily="34" charset="-122"/>
                <a:cs typeface="Calibri" pitchFamily="34" charset="-120"/>
              </a:rPr>
              <a:t> and the non-human plural takes </a:t>
            </a:r>
            <a:pPr algn="l" indent="0" marL="0">
              <a:buNone/>
            </a:pPr>
            <a:r>
              <a:rPr lang="ar-SA" altLang="en-US" sz="1350" dirty="0">
                <a:solidFill>
                  <a:srgbClr val="8A6D1E"/>
                </a:solidFill>
                <a:latin typeface="Amiri" pitchFamily="34" charset="0"/>
                <a:ea typeface="Amiri" pitchFamily="34" charset="-122"/>
                <a:cs typeface="Amiri" pitchFamily="34" charset="-120"/>
              </a:rPr>
              <a:t>عالية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Reading: a country’s natural environment</a:t>
            </a:r>
            <a:endParaRPr lang="en-US" sz="23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تَقَعُ سَلْطَنَةُ عُمَانَ فِي جَنُوبِ شَرْقِ شِبْهِ الجَزِيرَةِ العَرَبِيَّةِ. تَتَمَيَّزُ بِسَوَاحِلَ طَوِيلَةٍ وَجِبَالٍ وَصَحَارَى وَاسِعَةٍ. يَسُودُ المَنَاخُ الحَارُّ وَالجَافُّ فِي مُعْظَمِ المَنَاطِقِ، بَيْنَمَا يَتَّسِمُ بَعْضُ السَّاحِلِ بِرُطُوبَةٍ مُرْتَفِعَةٍ. وَتُعَدُّ المِيَاهُ العَذْبَةُ مَوْرِدًا مَحْدُودًا، لِذٰلِكَ تَحْتَاجُ البِلَادُ إِلَى إِدَارَتِهَا بِعِنَايَةٍ.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تَقَعُ</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lies, is located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شِبْهِ الجَزِيرَةِ العَرَبِيَّةِ</a:t>
            </a:r>
            <a:endParaRPr lang="ar-SA" sz="155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Arabian Peninsula</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سَوَاحِلَ طَوِيلَةٍ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long coasts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صَحَارَى وَاسِعَةٍ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vast deserts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الحَارُّ وَالجَافُّ</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hot and dry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مُعْظَمِ المَنَاطِقِ</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most regions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بِرُطُوبَةٍ مُرْتَفِعَةٍ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with high humidity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تُعَدُّ</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considered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مَوْرِدًا مَحْدُودًا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limited resource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بِعِنَايَةٍ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carefully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Oman located?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North Africa</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south-east of the Arabian Peninsula</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Atlantic coast of Europe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three natural features are mentioned?</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Lakes, plains and volcanoes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Forests, glaciers and rivers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Coasts, mountains and deserts</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climate prevails in most areas?</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Hot and dry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Cold and wet</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Mild and snowy</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humid?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desert</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Part of the coast</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mountains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must water be managed carefully?</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Fresh water is limited</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Rain falls every day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sea is frozen</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introduces a contrast?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لِذٰلِكَ</a:t>
            </a:r>
            <a:endParaRPr lang="ar-SA" sz="20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قُرْبَ</a:t>
            </a:r>
            <a:endParaRPr lang="ar-SA" sz="20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Oman located?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North Africa</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In the south-east of the Arabian Peninsula</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On the Atlantic coast of Europe</a:t>
            </a:r>
            <a:endParaRPr lang="en-US" sz="11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sentence gives the location.</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three natural features are mentioned?</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Lakes, plains and volcanoes</a:t>
            </a:r>
            <a:endParaRPr lang="en-US" sz="120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Forests, glaciers and rivers</a:t>
            </a:r>
            <a:endParaRPr lang="en-US" sz="11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Coasts, mountains and deserts</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names </a:t>
            </a:r>
            <a:pPr algn="l" indent="0" marL="0">
              <a:buNone/>
            </a:pPr>
            <a:r>
              <a:rPr lang="ar-SA" altLang="en-US" sz="1350" dirty="0">
                <a:solidFill>
                  <a:srgbClr val="8A6D1E"/>
                </a:solidFill>
                <a:latin typeface="Amiri" pitchFamily="34" charset="0"/>
                <a:ea typeface="Amiri" pitchFamily="34" charset="-122"/>
                <a:cs typeface="Amiri" pitchFamily="34" charset="-120"/>
              </a:rPr>
              <a:t>سواحل، جبال، صحارى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climate prevails in most areas?</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Hot and dry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Cold and wet</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Mild and snowy</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states </a:t>
            </a:r>
            <a:pPr algn="l" indent="0" marL="0">
              <a:buNone/>
            </a:pPr>
            <a:r>
              <a:rPr lang="ar-SA" altLang="en-US" sz="1350" dirty="0">
                <a:solidFill>
                  <a:srgbClr val="8A6D1E"/>
                </a:solidFill>
                <a:latin typeface="Amiri" pitchFamily="34" charset="0"/>
                <a:ea typeface="Amiri" pitchFamily="34" charset="-122"/>
                <a:cs typeface="Amiri" pitchFamily="34" charset="-120"/>
              </a:rPr>
              <a:t>الحار والجاف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humid?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desert</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Part of the coast</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mountains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بعض الساحل</a:t>
            </a:r>
            <a:pPr algn="l" indent="0" marL="0">
              <a:buNone/>
            </a:pPr>
            <a:r>
              <a:rPr lang="en-US" sz="1050" i="1" dirty="0">
                <a:solidFill>
                  <a:srgbClr val="8A6D1E"/>
                </a:solidFill>
                <a:latin typeface="Calibri" pitchFamily="34" charset="0"/>
                <a:ea typeface="Calibri" pitchFamily="34" charset="-122"/>
                <a:cs typeface="Calibri" pitchFamily="34" charset="-120"/>
              </a:rPr>
              <a:t> has high humidity.</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must water be managed carefully?</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Fresh water is limited</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Rain falls every day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sea is frozen</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Fresh water is described as a limited resource.</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introduces a contrast?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لِذٰلِكَ</a:t>
            </a:r>
            <a:endParaRPr lang="ar-SA" sz="17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قُرْبَ</a:t>
            </a:r>
            <a:endParaRPr lang="ar-SA" sz="17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بَيْنَمَا</a:t>
            </a:r>
            <a:endParaRPr lang="ar-SA" sz="17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 contrasts most areas with part of the coast.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The Natural World — Environment and Climate Vocabulary — Arabic application mission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Arabic sentence describes a desert climate accurately?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تَسُودُ المَنَاخَ الصَّحْرَاوِيَّ فِي الدَّاخِلِ.</a:t>
            </a:r>
            <a:endParaRPr lang="ar-SA" sz="18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يَسُودُ المَنَاخُ الصَّحْرَاوِيُّ فِي الدَّاخِلِ.</a:t>
            </a:r>
            <a:endParaRPr lang="ar-SA" sz="18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يَسُودُ الصَّحْرَاءُ المَنَاخَ.</a:t>
            </a:r>
            <a:endParaRPr lang="ar-SA" sz="18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sentence meaning “The coast is characterised by a mild climate.”</a:t>
            </a:r>
            <a:endParaRPr lang="en-US" sz="1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يَتَّسِمُ السَّاحِلُ بِمَنَاخٍ مُعْتَدِلٍ.</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يَتَمَيَّزُ المَنَاخُ إِلَى السَّاحِلِ.</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يَقَعُ السَّاحِلُ مِنْ مَنَاخٍ مُعْتَدِلٍ.</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contains accurate non-human plural agreement?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أَنْهَارٌ طَوِيلُونَ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أَنْهَارٌ طَوِيلٌ</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أَنْهَارٌ طَوِيلَةٌ</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the Arabic for “natural resources”.</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المَوَاسِمُ الطَّبِيعِيَّةُ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المَنَاظِرُ الصِّنَاعِيَّةُ</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المَوَارِدُ الطَّبِيعِيَّةُ</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says that the area has fertile plains?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تَتَمَيَّزُ المِنْطَقَةُ بِسُهُولٍ خَصْبَةٍ.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تَقَعُ المِنْطَقَةُ إِلَى سُهُولٍ خَصْبَةٍ.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تَسُودُ السُّهُولُ المِنْطَقَةَ خَصْبَةً.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correctly locates a lake?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يَقَعُ البُحَيْرَةُ قُرْبَ الجِبَالِ.</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تَقَعُ البُحَيْرَةُ قُرْبَ الجِبَالِ.</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تَقَعُ البُحَيْرَةَ مِنَ الجِبَالِ.</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Arabic sentence describes a desert climate accurately?</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تَسُودُ المَنَاخَ الصَّحْرَاوِيَّ فِي الدَّاخِلِ.</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يَسُودُ المَنَاخُ الصَّحْرَاوِيُّ فِي الدَّاخِلِ.</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يَسُودُ الصَّحْرَاءُ المَنَاخَ.</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يسود</a:t>
            </a:r>
            <a:pPr algn="l" indent="0" marL="0">
              <a:buNone/>
            </a:pPr>
            <a:r>
              <a:rPr lang="en-US" sz="1050" i="1" dirty="0">
                <a:solidFill>
                  <a:srgbClr val="8A6D1E"/>
                </a:solidFill>
                <a:latin typeface="Calibri" pitchFamily="34" charset="0"/>
                <a:ea typeface="Calibri" pitchFamily="34" charset="-122"/>
                <a:cs typeface="Calibri" pitchFamily="34" charset="-120"/>
              </a:rPr>
              <a:t> is followed by its masculine subject </a:t>
            </a:r>
            <a:pPr algn="l" indent="0" marL="0">
              <a:buNone/>
            </a:pPr>
            <a:r>
              <a:rPr lang="ar-SA" altLang="en-US" sz="1350" dirty="0">
                <a:solidFill>
                  <a:srgbClr val="8A6D1E"/>
                </a:solidFill>
                <a:latin typeface="Amiri" pitchFamily="34" charset="0"/>
                <a:ea typeface="Amiri" pitchFamily="34" charset="-122"/>
                <a:cs typeface="Amiri" pitchFamily="34" charset="-120"/>
              </a:rPr>
              <a:t>المناخ</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sentence meaning “The coast is characterised by a mild climate.”</a:t>
            </a:r>
            <a:endParaRPr lang="en-US" sz="120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يَتَّسِمُ السَّاحِلُ بِمَنَاخٍ مُعْتَدِلٍ.</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يَتَمَيَّزُ المَنَاخُ إِلَى السَّاحِلِ.</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يَقَعُ السَّاحِلُ مِنْ مَنَاخٍ مُعْتَدِلٍ.</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يتسم بـ</a:t>
            </a:r>
            <a:pPr algn="l" indent="0" marL="0">
              <a:buNone/>
            </a:pPr>
            <a:r>
              <a:rPr lang="en-US" sz="1050" i="1" dirty="0">
                <a:solidFill>
                  <a:srgbClr val="8A6D1E"/>
                </a:solidFill>
                <a:latin typeface="Calibri" pitchFamily="34" charset="0"/>
                <a:ea typeface="Calibri" pitchFamily="34" charset="-122"/>
                <a:cs typeface="Calibri" pitchFamily="34" charset="-120"/>
              </a:rPr>
              <a:t> expresses “is characterised by”.</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contains accurate non-human plural agreement?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أَنْهَارٌ طَوِيلُونَ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أَنْهَارٌ طَوِيلٌ</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أَنْهَارٌ طَوِيلَةٌ</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 plurals usually take feminine singular adjectives.</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the Arabic for “natural resources”.</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المَوَاسِمُ الطَّبِيعِيَّةُ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المَنَاظِرُ الصِّنَاعِيَّةُ</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المَوَارِدُ الطَّبِيعِيَّةُ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الموارد الطبيعية</a:t>
            </a:r>
            <a:pPr algn="l" indent="0" marL="0">
              <a:buNone/>
            </a:pPr>
            <a:r>
              <a:rPr lang="en-US" sz="1050" i="1" dirty="0">
                <a:solidFill>
                  <a:srgbClr val="8A6D1E"/>
                </a:solidFill>
                <a:latin typeface="Calibri" pitchFamily="34" charset="0"/>
                <a:ea typeface="Calibri" pitchFamily="34" charset="-122"/>
                <a:cs typeface="Calibri" pitchFamily="34" charset="-120"/>
              </a:rPr>
              <a:t> means natural resources.</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says that the area has fertile plains?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تَتَمَيَّزُ المِنْطَقَةُ بِسُهُولٍ خَصْبَةٍ.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تَقَعُ المِنْطَقَةُ إِلَى سُهُولٍ خَصْبَةٍ.</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تَسُودُ السُّهُولُ المِنْطَقَةَ خَصْبَةً.</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تتميز بـ</a:t>
            </a:r>
            <a:pPr algn="l" indent="0" marL="0">
              <a:buNone/>
            </a:pPr>
            <a:r>
              <a:rPr lang="en-US" sz="1050" i="1" dirty="0">
                <a:solidFill>
                  <a:srgbClr val="8A6D1E"/>
                </a:solidFill>
                <a:latin typeface="Calibri" pitchFamily="34" charset="0"/>
                <a:ea typeface="Calibri" pitchFamily="34" charset="-122"/>
                <a:cs typeface="Calibri" pitchFamily="34" charset="-120"/>
              </a:rPr>
              <a:t> introduces a distinguishing feature.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correctly locates a lake?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يَقَعُ البُحَيْرَةُ قُرْبَ الجِبَالِ.</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تَقَعُ البُحَيْرَةُ قُرْبَ الجِبَالِ.</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تَقَعُ البُحَيْرَةَ مِنَ الجِبَالِ.</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البحيرة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تقع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D4-L02: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D4-L02 · Weather Patterns — Describing and Comparing Weather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المَطَرُ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rain</a:t>
            </a:r>
            <a:pPr indent="0" marL="0">
              <a:buNone/>
            </a:pPr>
            <a:r>
              <a:rPr lang="en-US" sz="1000" i="1" dirty="0">
                <a:solidFill>
                  <a:srgbClr val="5A6472"/>
                </a:solidFill>
                <a:latin typeface="Calibri" pitchFamily="34" charset="0"/>
                <a:ea typeface="Calibri" pitchFamily="34" charset="-122"/>
                <a:cs typeface="Calibri" pitchFamily="34" charset="-120"/>
              </a:rPr>
              <a:t>  pl. الأَمْطَارُ</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الرِّيَاحُ</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winds</a:t>
            </a:r>
            <a:pPr indent="0" marL="0">
              <a:buNone/>
            </a:pPr>
            <a:r>
              <a:rPr lang="en-US" sz="1000" i="1" dirty="0">
                <a:solidFill>
                  <a:srgbClr val="5A6472"/>
                </a:solidFill>
                <a:latin typeface="Calibri" pitchFamily="34" charset="0"/>
                <a:ea typeface="Calibri" pitchFamily="34" charset="-122"/>
                <a:cs typeface="Calibri" pitchFamily="34" charset="-120"/>
              </a:rPr>
              <a:t>  sing. الرِّيحُ</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السُّحُبُ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clouds</a:t>
            </a:r>
            <a:pPr indent="0" marL="0">
              <a:buNone/>
            </a:pPr>
            <a:r>
              <a:rPr lang="en-US" sz="1000" i="1" dirty="0">
                <a:solidFill>
                  <a:srgbClr val="5A6472"/>
                </a:solidFill>
                <a:latin typeface="Calibri" pitchFamily="34" charset="0"/>
                <a:ea typeface="Calibri" pitchFamily="34" charset="-122"/>
                <a:cs typeface="Calibri" pitchFamily="34" charset="-120"/>
              </a:rPr>
              <a:t>  sing. السَّحَابَةُ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العَاصِفَةُ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storm</a:t>
            </a:r>
            <a:pPr indent="0" marL="0">
              <a:buNone/>
            </a:pPr>
            <a:r>
              <a:rPr lang="en-US" sz="1000" i="1" dirty="0">
                <a:solidFill>
                  <a:srgbClr val="5A6472"/>
                </a:solidFill>
                <a:latin typeface="Calibri" pitchFamily="34" charset="0"/>
                <a:ea typeface="Calibri" pitchFamily="34" charset="-122"/>
                <a:cs typeface="Calibri" pitchFamily="34" charset="-120"/>
              </a:rPr>
              <a:t>  pl. العَوَاصِفُ</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دَرَجَةُ الحَرَارَةِ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temperature</a:t>
            </a:r>
            <a:pPr indent="0" marL="0">
              <a:buNone/>
            </a:pPr>
            <a:r>
              <a:rPr lang="en-US" sz="1000" i="1" dirty="0">
                <a:solidFill>
                  <a:srgbClr val="5A6472"/>
                </a:solidFill>
                <a:latin typeface="Calibri" pitchFamily="34" charset="0"/>
                <a:ea typeface="Calibri" pitchFamily="34" charset="-122"/>
                <a:cs typeface="Calibri" pitchFamily="34" charset="-120"/>
              </a:rPr>
              <a:t>  pl. دَرَجَاتُ الحَرَارَةِ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is the weather like today where you live? Use two of the words.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اليَوْمَ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12 landscape words (with plurals); write 5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Describe a country’s landscape and climate in 80–100 words with yasūdu and yattasimu bi-.</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with a regional contrast and an environmental comment.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D4-L01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D4-L02 · Weather Patterns — Describing and Comparing Weather</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أَنْمَاطُ الطَّقْسِ</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the adjective follows the noun’s gender (non-human plurals → feminine) — yasūdu + climate — yattasimu / yatamayyazu bi-.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D4-L01 · The Natural World — Environment and Climate Vocabulary</dc:title>
  <dc:subject>PptxGenJS Presentation</dc:subject>
  <dc:creator>Al Madina Online School · Arabic Department</dc:creator>
  <cp:lastModifiedBy>Al Madina Online School · Arabic Department</cp:lastModifiedBy>
  <cp:revision>1</cp:revision>
  <dcterms:created xsi:type="dcterms:W3CDTF">2026-10-03T10:11:11Z</dcterms:created>
  <dcterms:modified xsi:type="dcterms:W3CDTF">2026-10-03T10:11:11Z</dcterms:modified>
</cp:coreProperties>
</file>