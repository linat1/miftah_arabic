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D4-L01 (The Natural World — Environment and Climate Vocabulary) — new practice tasks built on the lesson’s own word bank and grammar (natural features with agreeing adjectives (ṣaḥrāʾu wāsiʿatun · jibālun ʿāliyatun); formal verbs: yasūdu (prevails) · yattasimu bi- (is characterised by) · tatamayyazu bi- (is distinguished by); fī al-shamāli / al-janūbi; mild · dry · humid).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D4-L01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(7 min). FADED SUPPORT: tasks 1–2 show the plan (question word → first words); students write their own plan for 3–4. Everyone is Speaker once. To a girl the Leader says: if the guide is a woman: no changes (the verbs describe Oman). tatamayyazu bi- + genitive; yasūdu + the climate as subject.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D4  ·  D4-L01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D4-L01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The Natural World — Environment and Climate Vocabulary</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العَالَمُ الطَّبِيعِيُّ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50" dirty="0">
                <a:solidFill>
                  <a:srgbClr val="C6D2E6"/>
                </a:solidFill>
                <a:latin typeface="Calibri" pitchFamily="34" charset="0"/>
                <a:cs typeface="Amiri" pitchFamily="2" charset="-78"/>
              </a:rPr>
              <a:t>Students run their own speaking and writing practice describing landscapes and climate: say the nature words, act a short dialogue, answer question cards, do a role-play card as a tour guide, give a one-minute talk about a country, then build, fix and write a formal fact-file paragraph about a country’s geography and climate.</a:t>
            </a:r>
            <a:endParaRPr lang="en-US" sz="11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D4-L01 · Development D4 · Environment, Weather and Technology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D4 › D4-L01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Landscape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البِيئَةُ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environment</a:t>
            </a:r>
            <a:endParaRPr lang="en-US" sz="1350" dirty="0"/>
          </a:p>
          <a:p>
            <a:pPr indent="0" marL="0">
              <a:buNone/>
            </a:pPr>
            <a:r>
              <a:rPr lang="en-US" sz="1100" i="1" dirty="0">
                <a:solidFill>
                  <a:srgbClr val="5A6472"/>
                </a:solidFill>
                <a:latin typeface="Calibri" pitchFamily="34" charset="0"/>
                <a:cs typeface="Amiri" pitchFamily="2" charset="-78"/>
              </a:rPr>
              <a:t>al-bī-ʾa-tu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المَنَاخُ</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climate</a:t>
            </a:r>
            <a:endParaRPr lang="en-US" sz="1350" dirty="0"/>
          </a:p>
          <a:p>
            <a:pPr indent="0" marL="0">
              <a:buNone/>
            </a:pPr>
            <a:r>
              <a:rPr lang="en-US" sz="1100" i="1" dirty="0">
                <a:solidFill>
                  <a:srgbClr val="5A6472"/>
                </a:solidFill>
                <a:latin typeface="Calibri" pitchFamily="34" charset="0"/>
                <a:cs typeface="Amiri" pitchFamily="2" charset="-78"/>
              </a:rPr>
              <a:t>al-ma-nā-khu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الطَّقْسُ</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weather</a:t>
            </a:r>
            <a:endParaRPr lang="en-US" sz="1350" dirty="0"/>
          </a:p>
          <a:p>
            <a:pPr indent="0" marL="0">
              <a:buNone/>
            </a:pPr>
            <a:r>
              <a:rPr lang="en-US" sz="1100" i="1" dirty="0">
                <a:solidFill>
                  <a:srgbClr val="5A6472"/>
                </a:solidFill>
                <a:latin typeface="Calibri" pitchFamily="34" charset="0"/>
                <a:cs typeface="Amiri" pitchFamily="2" charset="-78"/>
              </a:rPr>
              <a:t>aṭ-ṭaq-su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الصَّحْرَاءُ</a:t>
            </a:r>
            <a:endParaRPr lang="ar-SA" sz="3000" dirty="0"/>
          </a:p>
        </p:txBody>
      </p:sp>
      <p:sp>
        <p:nvSpPr>
          <p:cNvPr id="44" name="Text 4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desert</a:t>
            </a:r>
            <a:endParaRPr lang="en-US" sz="1350" dirty="0"/>
          </a:p>
          <a:p>
            <a:pPr indent="0" marL="0">
              <a:buNone/>
            </a:pPr>
            <a:r>
              <a:rPr lang="en-US" sz="1100" i="1" dirty="0">
                <a:solidFill>
                  <a:srgbClr val="5A6472"/>
                </a:solidFill>
                <a:latin typeface="Calibri" pitchFamily="34" charset="0"/>
                <a:cs typeface="Amiri" pitchFamily="2" charset="-78"/>
              </a:rPr>
              <a:t>aṣ-ṣaḥ-rā-ʾu</a:t>
            </a:r>
            <a:endParaRPr lang="en-US" sz="1350" dirty="0"/>
          </a:p>
        </p:txBody>
      </p:sp>
      <p:sp>
        <p:nvSpPr>
          <p:cNvPr id="45" name="Shape 4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الصَّحَارِي / الصَّحَارَى</a:t>
            </a:r>
            <a:endParaRPr lang="ar-SA" sz="150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الغَابَةُ</a:t>
            </a:r>
            <a:endParaRPr lang="ar-SA" sz="3000" dirty="0"/>
          </a:p>
        </p:txBody>
      </p:sp>
      <p:sp>
        <p:nvSpPr>
          <p:cNvPr id="56" name="Text 53"/>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forest</a:t>
            </a:r>
            <a:endParaRPr lang="en-US" sz="1350" dirty="0"/>
          </a:p>
          <a:p>
            <a:pPr indent="0" marL="0">
              <a:buNone/>
            </a:pPr>
            <a:r>
              <a:rPr lang="en-US" sz="1100" i="1" dirty="0">
                <a:solidFill>
                  <a:srgbClr val="5A6472"/>
                </a:solidFill>
                <a:latin typeface="Calibri" pitchFamily="34" charset="0"/>
                <a:cs typeface="Amiri" pitchFamily="2" charset="-78"/>
              </a:rPr>
              <a:t>al-ghā-ba-tu</a:t>
            </a:r>
            <a:endParaRPr lang="en-US" sz="1350" dirty="0"/>
          </a:p>
        </p:txBody>
      </p:sp>
      <p:sp>
        <p:nvSpPr>
          <p:cNvPr id="57" name="Shape 54"/>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الغَابَاتُ</a:t>
            </a:r>
            <a:endParaRPr lang="ar-SA" sz="1500" dirty="0"/>
          </a:p>
        </p:txBody>
      </p:sp>
      <p:sp>
        <p:nvSpPr>
          <p:cNvPr id="60" name="Shape 5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66928"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3" name="Shape 6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الجَبَلُ / الجِبَالُ</a:t>
            </a:r>
            <a:endParaRPr lang="ar-SA" sz="3000" dirty="0"/>
          </a:p>
        </p:txBody>
      </p:sp>
      <p:sp>
        <p:nvSpPr>
          <p:cNvPr id="66" name="Text 6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mountain / mountains</a:t>
            </a:r>
            <a:endParaRPr lang="en-US" sz="1350" dirty="0"/>
          </a:p>
          <a:p>
            <a:pPr indent="0" marL="0">
              <a:buNone/>
            </a:pPr>
            <a:r>
              <a:rPr lang="en-US" sz="1100" i="1" dirty="0">
                <a:solidFill>
                  <a:srgbClr val="5A6472"/>
                </a:solidFill>
                <a:latin typeface="Calibri" pitchFamily="34" charset="0"/>
                <a:cs typeface="Amiri" pitchFamily="2" charset="-78"/>
              </a:rPr>
              <a:t>al-ja-ba-lu / al-ji-bā-lu</a:t>
            </a:r>
            <a:endParaRPr lang="en-US" sz="13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Climate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البَحْرُ</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a:t>
            </a:r>
            <a:endParaRPr lang="en-US" sz="1350" dirty="0"/>
          </a:p>
          <a:p>
            <a:pPr indent="0" marL="0">
              <a:buNone/>
            </a:pPr>
            <a:r>
              <a:rPr lang="en-US" sz="1100" i="1" dirty="0">
                <a:solidFill>
                  <a:srgbClr val="5A6472"/>
                </a:solidFill>
                <a:latin typeface="Calibri" pitchFamily="34" charset="0"/>
                <a:cs typeface="Amiri" pitchFamily="2" charset="-78"/>
              </a:rPr>
              <a:t>al-baḥ-ru</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البِحَارُ</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النَّهْرُ / الأَنْهَارُ</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river / rivers</a:t>
            </a:r>
            <a:endParaRPr lang="en-US" sz="1350" dirty="0"/>
          </a:p>
          <a:p>
            <a:pPr indent="0" marL="0">
              <a:buNone/>
            </a:pPr>
            <a:r>
              <a:rPr lang="en-US" sz="1100" i="1" dirty="0">
                <a:solidFill>
                  <a:srgbClr val="5A6472"/>
                </a:solidFill>
                <a:latin typeface="Calibri" pitchFamily="34" charset="0"/>
                <a:cs typeface="Amiri" pitchFamily="2" charset="-78"/>
              </a:rPr>
              <a:t>an-nah-ru / al-an-hā-ru</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السَّاحِلُ</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coast</a:t>
            </a:r>
            <a:endParaRPr lang="en-US" sz="1350" dirty="0"/>
          </a:p>
          <a:p>
            <a:pPr indent="0" marL="0">
              <a:buNone/>
            </a:pPr>
            <a:r>
              <a:rPr lang="en-US" sz="1100" i="1" dirty="0">
                <a:solidFill>
                  <a:srgbClr val="5A6472"/>
                </a:solidFill>
                <a:latin typeface="Calibri" pitchFamily="34" charset="0"/>
                <a:cs typeface="Amiri" pitchFamily="2" charset="-78"/>
              </a:rPr>
              <a:t>as-sā-ḥi-lu</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السَّوَاحِلُ</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الجَزِيرَةُ</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island</a:t>
            </a:r>
            <a:endParaRPr lang="en-US" sz="1350" dirty="0"/>
          </a:p>
          <a:p>
            <a:pPr indent="0" marL="0">
              <a:buNone/>
            </a:pPr>
            <a:r>
              <a:rPr lang="en-US" sz="1100" i="1" dirty="0">
                <a:solidFill>
                  <a:srgbClr val="5A6472"/>
                </a:solidFill>
                <a:latin typeface="Calibri" pitchFamily="34" charset="0"/>
                <a:cs typeface="Amiri" pitchFamily="2" charset="-78"/>
              </a:rPr>
              <a:t>al-ja-zī-ra-tu</a:t>
            </a:r>
            <a:endParaRPr lang="en-US" sz="1350" dirty="0"/>
          </a:p>
        </p:txBody>
      </p:sp>
      <p:sp>
        <p:nvSpPr>
          <p:cNvPr id="55" name="Shape 52"/>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7" name="Text 54"/>
          <p:cNvSpPr txBox="1"/>
          <p:nvPr/>
        </p:nvSpPr>
        <p:spPr>
          <a:xfrm>
            <a:off x="8284464"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الجُزُرُ</a:t>
            </a:r>
            <a:endParaRPr lang="ar-SA" sz="1500" dirty="0"/>
          </a:p>
        </p:txBody>
      </p:sp>
      <p:sp>
        <p:nvSpPr>
          <p:cNvPr id="58" name="Shape 5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4389120"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1" name="Shape 58"/>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جَافٌّ / جَافَّةٌ</a:t>
            </a:r>
            <a:endParaRPr lang="ar-SA" sz="3000" dirty="0"/>
          </a:p>
        </p:txBody>
      </p:sp>
      <p:sp>
        <p:nvSpPr>
          <p:cNvPr id="64" name="Text 61"/>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dry</a:t>
            </a:r>
            <a:endParaRPr lang="en-US" sz="1350" dirty="0"/>
          </a:p>
          <a:p>
            <a:pPr indent="0" marL="0">
              <a:buNone/>
            </a:pPr>
            <a:r>
              <a:rPr lang="en-US" sz="1100" i="1" dirty="0">
                <a:solidFill>
                  <a:srgbClr val="5A6472"/>
                </a:solidFill>
                <a:latin typeface="Calibri" pitchFamily="34" charset="0"/>
                <a:cs typeface="Amiri" pitchFamily="2" charset="-78"/>
              </a:rPr>
              <a:t>jāf-fun / jāf-fa-tun</a:t>
            </a:r>
            <a:endParaRPr lang="en-US" sz="135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8" name="Shape 6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9" name="Text 6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0" name="Text 6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رَطْبٌ / رَطْبَةٌ</a:t>
            </a:r>
            <a:endParaRPr lang="ar-SA" sz="3000" dirty="0"/>
          </a:p>
        </p:txBody>
      </p:sp>
      <p:sp>
        <p:nvSpPr>
          <p:cNvPr id="71" name="Text 6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humid</a:t>
            </a:r>
            <a:endParaRPr lang="en-US" sz="1350" dirty="0"/>
          </a:p>
          <a:p>
            <a:pPr indent="0" marL="0">
              <a:buNone/>
            </a:pPr>
            <a:r>
              <a:rPr lang="en-US" sz="1100" i="1" dirty="0">
                <a:solidFill>
                  <a:srgbClr val="5A6472"/>
                </a:solidFill>
                <a:latin typeface="Calibri" pitchFamily="34" charset="0"/>
                <a:cs typeface="Amiri" pitchFamily="2" charset="-78"/>
              </a:rPr>
              <a:t>raṭ-bun / raṭ-ba-tun</a:t>
            </a:r>
            <a:endParaRPr lang="en-US" sz="13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the climate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المَنَاخُ؟</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nature like in Morocco?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كَيْفَ الطَّبِيعَةُ فِي المَغْرِبِ؟</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Morocco is distinguished by high mountains and a long coast.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يَتَمَيَّزُ المَغْرِبُ بِجِبَالٍ عَالِيَةٍ وَسَاحِلٍ طَوِيلٍ.</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is there desert?</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فِيهِ صَحْرَاءُ؟</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in the south there is a vast, dry desert.</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نَعَمْ، فِي جَنُوبِهِ صَحْرَاءُ وَاسِعَةٌ وَجَافَّةٌ.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climate?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وَالمَنَاخُ؟</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mild climate prevails on the coast, whereas the south is characterised by intense heat.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يَسُودُ مَنَاخٌ مُعْتَدِلٌ عَلَى السَّاحِلِ، بَيْنَمَا يَتَّسِمُ الجَنُوبُ بِالحَرَارَةِ الشَّدِيدَةِ.</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ANOTHER country you know (the UK, Egypt, Pakistan …).</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الشَّمَالِ / الجَنُوبِ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بَلَدِي … وَ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nature like in your country?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الطَّبِيعَةُ فِي بَلَدِكَ؟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رَطْبٌ / جَافٌّ</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الصَّيْفِ … بَيْنَمَا فِي الشِّتَاءِ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climate like in summer and winter?</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المَنَاخُ فِي الصَّيْفِ وَالشِّتَاءِ؟</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الهَوَاءَ نَقِيٌّ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لِأَنَّ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Mountains or the sea?</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تُفَضِّلُ الجِبَالَ أَمِ البَحْرَ؟</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كَنَدَا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يَتَمَيَّزُ بِالغَابَاتِ</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country is distinguished by forests?</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البَلَدُ الَّذِي يَتَمَيَّزُ بِالغَابَاتِ؟</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يَسُودُهَا مَنَاخٌ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الصَّحْرَاءُ وَاسِعَةٌ وَ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a desert.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صَحْرَاءَ.</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Role-play card — a tour guide in Oman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مُرْشِدٌ سِيَاحِيٌّ فِي عُمَانَ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تَتَمَيَّزُ ← تَتَمَيَّزُ عُمَانُ بِجِبَالٍ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natural features.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بِمَاذَا تَتَمَيَّزُ عُمَانُ؟</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المَنَاخُ ← يَسُودُ مَنَاخٌ … فِي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Climate now.</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وَكَيْفَ المَنَاخُ الآنَ؟</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Location + description.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أَجِدُ الصَّحْرَاءَ؟</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 reason.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أَفْضَلُ وَقْتٍ لِلزِّيَارَةِ؟</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tour guide · Leader = a visiting tourist.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One minute: a country’s landscape and climate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طَبِيعَةُ بَلَدٍ وَمَنَاخُهُ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Choose a country. Talk for one minute: its natural features (north / south / coast / inland) and its climate in two seasons.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features with agreeing adjectives.</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يَسُودُ</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يَتَمَيَّزُ / تَتَمَيَّزُ بِ</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contrast between two regions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 and a recommendation.</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Egypt is distinguished by a long river.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تَتَمَيَّزُ مِصْرُ</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يَتَمَيَّزُ مِصْرُ</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بِنَهْرٍ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بِنَهْرٌ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طَوِيلَةٍ.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 dry climate prevails in the south.</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يَسُودُ</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تَسُودُ</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مَنَاخٌ جَافٌّ</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مَنَاخًا جَافًّا</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الجَنُوبِ.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الجَنُوبُ.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mountains are high and the forests are green.</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الجِبَالُ عَالِيَةٌ،</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الجِبَالُ عَالِيُونَ،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وَالغَابَاتُ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وَالغَابَةُ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خَضْرَاءُ.</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أَخْضَرُ.</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Egypt is distinguished by a long river.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Most countries are feminine (</a:t>
            </a:r>
            <a:pPr algn="l" indent="0" marL="0">
              <a:buNone/>
            </a:pPr>
            <a:r>
              <a:rPr lang="ar-SA" altLang="en-US" sz="1250" dirty="0">
                <a:solidFill>
                  <a:srgbClr val="5A6472"/>
                </a:solidFill>
                <a:latin typeface="Amiri" pitchFamily="2" charset="-78"/>
                <a:ea typeface="Amiri" pitchFamily="2" charset="-78"/>
                <a:cs typeface="Amiri" pitchFamily="2" charset="-78"/>
              </a:rPr>
              <a:t>مِصْرُ</a:t>
            </a:r>
            <a:pPr algn="l" indent="0" marL="0">
              <a:buNone/>
            </a:pPr>
            <a:r>
              <a:rPr lang="en-US" sz="950" i="1" dirty="0">
                <a:solidFill>
                  <a:srgbClr val="5A6472"/>
                </a:solidFill>
                <a:latin typeface="Calibri" pitchFamily="34" charset="0"/>
                <a:cs typeface="Amiri" pitchFamily="2" charset="-78"/>
              </a:rPr>
              <a:t>) → </a:t>
            </a:r>
            <a:pPr algn="l" indent="0" marL="0">
              <a:buNone/>
            </a:pPr>
            <a:r>
              <a:rPr lang="ar-SA" altLang="en-US" sz="1250" dirty="0">
                <a:solidFill>
                  <a:srgbClr val="5A6472"/>
                </a:solidFill>
                <a:latin typeface="Amiri" pitchFamily="2" charset="-78"/>
                <a:ea typeface="Amiri" pitchFamily="2" charset="-78"/>
                <a:cs typeface="Amiri" pitchFamily="2" charset="-78"/>
              </a:rPr>
              <a:t>تَتَمَيَّزُ</a:t>
            </a:r>
            <a:pPr algn="l" indent="0" marL="0">
              <a:buNone/>
            </a:pPr>
            <a:r>
              <a:rPr lang="en-US" sz="950" i="1" dirty="0">
                <a:solidFill>
                  <a:srgbClr val="5A6472"/>
                </a:solidFill>
                <a:latin typeface="Calibri" pitchFamily="34" charset="0"/>
                <a:cs typeface="Amiri" pitchFamily="2" charset="-78"/>
              </a:rPr>
              <a:t>; but </a:t>
            </a:r>
            <a:pPr algn="l" indent="0" marL="0">
              <a:buNone/>
            </a:pPr>
            <a:r>
              <a:rPr lang="ar-SA" altLang="en-US" sz="1250" dirty="0">
                <a:solidFill>
                  <a:srgbClr val="5A6472"/>
                </a:solidFill>
                <a:latin typeface="Amiri" pitchFamily="2" charset="-78"/>
                <a:ea typeface="Amiri" pitchFamily="2" charset="-78"/>
                <a:cs typeface="Amiri" pitchFamily="2" charset="-78"/>
              </a:rPr>
              <a:t>المَغْرِبُ</a:t>
            </a:r>
            <a:pPr algn="l" indent="0" marL="0">
              <a:buNone/>
            </a:pPr>
            <a:r>
              <a:rPr lang="en-US" sz="950" i="1" dirty="0">
                <a:solidFill>
                  <a:srgbClr val="5A6472"/>
                </a:solidFill>
                <a:latin typeface="Calibri" pitchFamily="34" charset="0"/>
                <a:cs typeface="Amiri" pitchFamily="2" charset="-78"/>
              </a:rPr>
              <a:t>, </a:t>
            </a:r>
            <a:pPr algn="l" indent="0" marL="0">
              <a:buNone/>
            </a:pPr>
            <a:r>
              <a:rPr lang="ar-SA" altLang="en-US" sz="1250" dirty="0">
                <a:solidFill>
                  <a:srgbClr val="5A6472"/>
                </a:solidFill>
                <a:latin typeface="Amiri" pitchFamily="2" charset="-78"/>
                <a:ea typeface="Amiri" pitchFamily="2" charset="-78"/>
                <a:cs typeface="Amiri" pitchFamily="2" charset="-78"/>
              </a:rPr>
              <a:t>العِرَاقُ</a:t>
            </a:r>
            <a:pPr algn="l" indent="0" marL="0">
              <a:buNone/>
            </a:pPr>
            <a:r>
              <a:rPr lang="en-US" sz="950" i="1" dirty="0">
                <a:solidFill>
                  <a:srgbClr val="5A6472"/>
                </a:solidFill>
                <a:latin typeface="Calibri" pitchFamily="34" charset="0"/>
                <a:cs typeface="Amiri" pitchFamily="2" charset="-78"/>
              </a:rPr>
              <a:t>, </a:t>
            </a:r>
            <a:pPr algn="l" indent="0" marL="0">
              <a:buNone/>
            </a:pPr>
            <a:r>
              <a:rPr lang="ar-SA" altLang="en-US" sz="1250" dirty="0">
                <a:solidFill>
                  <a:srgbClr val="5A6472"/>
                </a:solidFill>
                <a:latin typeface="Amiri" pitchFamily="2" charset="-78"/>
                <a:ea typeface="Amiri" pitchFamily="2" charset="-78"/>
                <a:cs typeface="Amiri" pitchFamily="2" charset="-78"/>
              </a:rPr>
              <a:t>الأُرْدُنُّ</a:t>
            </a:r>
            <a:pPr algn="l" indent="0" marL="0">
              <a:buNone/>
            </a:pPr>
            <a:r>
              <a:rPr lang="en-US" sz="950" i="1" dirty="0">
                <a:solidFill>
                  <a:srgbClr val="5A6472"/>
                </a:solidFill>
                <a:latin typeface="Calibri" pitchFamily="34" charset="0"/>
                <a:cs typeface="Amiri" pitchFamily="2" charset="-78"/>
              </a:rPr>
              <a:t> are masculine. </a:t>
            </a:r>
            <a:pPr algn="l" indent="0" marL="0">
              <a:buNone/>
            </a:pPr>
            <a:r>
              <a:rPr lang="ar-SA" altLang="en-US" sz="1250" dirty="0">
                <a:solidFill>
                  <a:srgbClr val="5A6472"/>
                </a:solidFill>
                <a:latin typeface="Amiri" pitchFamily="2" charset="-78"/>
                <a:ea typeface="Amiri" pitchFamily="2" charset="-78"/>
                <a:cs typeface="Amiri" pitchFamily="2" charset="-78"/>
              </a:rPr>
              <a:t>بِ</a:t>
            </a:r>
            <a:pPr algn="l" indent="0" marL="0">
              <a:buNone/>
            </a:pPr>
            <a:r>
              <a:rPr lang="en-US" sz="950" i="1" dirty="0">
                <a:solidFill>
                  <a:srgbClr val="5A6472"/>
                </a:solidFill>
                <a:latin typeface="Calibri" pitchFamily="34" charset="0"/>
                <a:cs typeface="Amiri" pitchFamily="2" charset="-78"/>
              </a:rPr>
              <a:t> + genitive.</a:t>
            </a:r>
            <a:endParaRPr lang="en-US" sz="9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تَتَمَيَّزُ مِصْرُ بِنَهْرٍ طَوِيلٍ.</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 dry climate prevails in the south.</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مَنَاخٌ</a:t>
            </a:r>
            <a:pPr algn="l" indent="0" marL="0">
              <a:buNone/>
            </a:pPr>
            <a:r>
              <a:rPr lang="en-US" sz="1050" i="1" dirty="0">
                <a:solidFill>
                  <a:srgbClr val="5A6472"/>
                </a:solidFill>
                <a:latin typeface="Calibri" pitchFamily="34" charset="0"/>
                <a:cs typeface="Amiri" pitchFamily="2" charset="-78"/>
              </a:rPr>
              <a:t> (m.) is the subject → </a:t>
            </a:r>
            <a:pPr algn="l" indent="0" marL="0">
              <a:buNone/>
            </a:pPr>
            <a:r>
              <a:rPr lang="ar-SA" altLang="en-US" sz="1350" dirty="0">
                <a:solidFill>
                  <a:srgbClr val="5A6472"/>
                </a:solidFill>
                <a:latin typeface="Amiri" pitchFamily="2" charset="-78"/>
                <a:ea typeface="Amiri" pitchFamily="2" charset="-78"/>
                <a:cs typeface="Amiri" pitchFamily="2" charset="-78"/>
              </a:rPr>
              <a:t>يَسُودُ مَنَاخٌ</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يَسُودُ مَنَاخٌ جَافٌّ فِي الجَنُوبِ.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mountains are high and the forests are green.</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Non-human plurals → feminine singular adjectives.</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الجِبَالُ عَالِيَةٌ، وَالغَابَاتُ خَضْرَاءُ.</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الصَّحْرَاءُ وَاسِعٌ وَجَافٌّ.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صَحْرَاءُ</a:t>
            </a:r>
            <a:pPr algn="l" indent="0" marL="0">
              <a:buNone/>
            </a:pPr>
            <a:r>
              <a:rPr lang="en-US" sz="1300" i="1" dirty="0">
                <a:solidFill>
                  <a:srgbClr val="5A6472"/>
                </a:solidFill>
                <a:latin typeface="Calibri" pitchFamily="34" charset="0"/>
                <a:cs typeface="Amiri" pitchFamily="2" charset="-78"/>
              </a:rPr>
              <a:t> is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يَتَمَيَّزُ البَلَدُ الجِبَالَ.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الأَنْهَارُ طَوِيلُونَ.</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Rivers are not people.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الصَّحْرَاءُ وَاسِعٌ وَجَافٌّ.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الصَّحْرَاءُ وَاسِعَةٌ وَجَافَّةٌ.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صَحْرَاءُ</a:t>
            </a:r>
            <a:pPr algn="l" indent="0" marL="0">
              <a:buNone/>
            </a:pPr>
            <a:r>
              <a:rPr lang="en-US" sz="1150" b="1" dirty="0">
                <a:solidFill>
                  <a:srgbClr val="1B3B6F"/>
                </a:solidFill>
                <a:latin typeface="Calibri" pitchFamily="34" charset="0"/>
                <a:cs typeface="Amiri" pitchFamily="2" charset="-78"/>
              </a:rPr>
              <a:t> is feminine.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يَتَمَيَّزُ البَلَدُ الجِبَالَ.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يَتَمَيَّزُ البَلَدُ بِالجِبَالِ.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يَتَمَيَّزُ بِ</a:t>
            </a:r>
            <a:pPr algn="l" indent="0" marL="0">
              <a:buNone/>
            </a:pPr>
            <a:r>
              <a:rPr lang="en-US" sz="1150" b="1" dirty="0">
                <a:solidFill>
                  <a:srgbClr val="1B3B6F"/>
                </a:solidFill>
                <a:latin typeface="Calibri" pitchFamily="34" charset="0"/>
                <a:cs typeface="Amiri" pitchFamily="2" charset="-78"/>
              </a:rPr>
              <a:t> + genitive.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الأَنْهَارُ طَوِيلُونَ.</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الأَنْهَارُ طَوِيلَةٌ.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 singular.</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يَتَّسِمُ ______ بِ______ ،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characterised by …,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أَفْضَلُ وَقْتٍ لِلزِّيَارَةِ ______ ، لِأَنَّ ______ .</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best time to visit is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located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تَتَمَيَّزُ بِ______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distinguished by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فِي الشَّمَالِ ______ ، وَفِي الجَنُوبِ ______ .</a:t>
            </a:r>
            <a:endParaRPr lang="ar-SA" sz="17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north …, and in the south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يَسُودُ مَنَاخٌ ______ فِي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 climate prevails in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الصَّحْرَاءُ · الغَابَةُ  ·  الجِبَالُ · البَحْرُ  ·  الأَنْهَارُ · السَّاحِلُ  ·  الجَزِيرَةُ  ·  جَافٌّ · رَطْبٌ  ·  مُعْتَدِلٌ · حَارٌّ  ·  يَسُودُ  ·  يَتَّسِمُ بِ… · تَتَمَيَّزُ بِ…</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A fact file: a country’s geography and climate</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500" b="1" dirty="0">
                <a:solidFill>
                  <a:srgbClr val="8A6D1E"/>
                </a:solidFill>
                <a:latin typeface="Amiri" pitchFamily="2" charset="-78"/>
                <a:ea typeface="Amiri" pitchFamily="2" charset="-78"/>
                <a:cs typeface="Amiri" pitchFamily="2" charset="-78"/>
              </a:rPr>
              <a:t>بِطَاقَةُ مَعْلُومَاتٍ: جُغْرَافِيَا بَلَدٍ وَمَنَاخُهُ</a:t>
            </a:r>
            <a:endParaRPr lang="ar-SA" sz="25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formal fact-file paragraph (about 60–80 words) about a country for a geography display. Include: • four natural features with agreeing adjectives • where they are (</a:t>
            </a:r>
            <a:pPr algn="l" indent="0" marL="0">
              <a:buNone/>
            </a:pPr>
            <a:r>
              <a:rPr lang="ar-SA" altLang="en-US" sz="1450" b="1" dirty="0">
                <a:solidFill>
                  <a:srgbClr val="1F2A37"/>
                </a:solidFill>
                <a:latin typeface="Amiri" pitchFamily="2" charset="-78"/>
                <a:ea typeface="Amiri" pitchFamily="2" charset="-78"/>
                <a:cs typeface="Amiri" pitchFamily="2" charset="-78"/>
              </a:rPr>
              <a:t>فِي الشَّمَالِ / عَلَى السَّاحِلِ</a:t>
            </a:r>
            <a:pPr algn="l" indent="0" marL="0">
              <a:buNone/>
            </a:pPr>
            <a:r>
              <a:rPr lang="en-US" sz="1100" b="1" dirty="0">
                <a:solidFill>
                  <a:srgbClr val="1F2A37"/>
                </a:solidFill>
                <a:latin typeface="Calibri" pitchFamily="34" charset="0"/>
                <a:cs typeface="Amiri" pitchFamily="2" charset="-78"/>
              </a:rPr>
              <a:t> …) • the climate with </a:t>
            </a:r>
            <a:pPr algn="l" indent="0" marL="0">
              <a:buNone/>
            </a:pPr>
            <a:r>
              <a:rPr lang="ar-SA" altLang="en-US" sz="1450" b="1" dirty="0">
                <a:solidFill>
                  <a:srgbClr val="1F2A37"/>
                </a:solidFill>
                <a:latin typeface="Amiri" pitchFamily="2" charset="-78"/>
                <a:ea typeface="Amiri" pitchFamily="2" charset="-78"/>
                <a:cs typeface="Amiri" pitchFamily="2" charset="-78"/>
              </a:rPr>
              <a:t>يَسُودُ</a:t>
            </a:r>
            <a:pPr algn="l" indent="0" marL="0">
              <a:buNone/>
            </a:pPr>
            <a:r>
              <a:rPr lang="en-US" sz="1100" b="1" dirty="0">
                <a:solidFill>
                  <a:srgbClr val="1F2A37"/>
                </a:solidFill>
                <a:latin typeface="Calibri" pitchFamily="34" charset="0"/>
                <a:cs typeface="Amiri" pitchFamily="2" charset="-78"/>
              </a:rPr>
              <a:t> … • one </a:t>
            </a:r>
            <a:pPr algn="l" indent="0" marL="0">
              <a:buNone/>
            </a:pPr>
            <a:r>
              <a:rPr lang="ar-SA" altLang="en-US" sz="1450" b="1" dirty="0">
                <a:solidFill>
                  <a:srgbClr val="1F2A37"/>
                </a:solidFill>
                <a:latin typeface="Amiri" pitchFamily="2" charset="-78"/>
                <a:ea typeface="Amiri" pitchFamily="2" charset="-78"/>
                <a:cs typeface="Amiri" pitchFamily="2" charset="-78"/>
              </a:rPr>
              <a:t>يَتَّسِمُ / تَتَمَيَّزُ بِ</a:t>
            </a:r>
            <a:pPr algn="l" indent="0" marL="0">
              <a:buNone/>
            </a:pPr>
            <a:r>
              <a:rPr lang="en-US" sz="1100" b="1" dirty="0">
                <a:solidFill>
                  <a:srgbClr val="1F2A37"/>
                </a:solidFill>
                <a:latin typeface="Calibri" pitchFamily="34" charset="0"/>
                <a:cs typeface="Amiri" pitchFamily="2" charset="-78"/>
              </a:rPr>
              <a:t>… • a contrast between two regions • the best time to visit.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تَتَمَيَّزُ … بِ…</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distinguished by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يَسُودُ مَنَاخٌ …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 climate prevails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يَتَّسِمُ … بِ…</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characterised by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وَقْتٍ لِلزِّيَارَةِ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best time to visit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four features with agreeing adjectives (incl. non-human plurals)?</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يَسُودُ</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يَتَّسِمُ / يَتَمَيَّزُ بِ</a:t>
            </a:r>
            <a:pPr algn="l" indent="0" marL="0">
              <a:buNone/>
            </a:pPr>
            <a:r>
              <a:rPr lang="en-US" sz="1100" dirty="0">
                <a:solidFill>
                  <a:srgbClr val="5A6472"/>
                </a:solidFill>
                <a:latin typeface="Calibri" pitchFamily="34" charset="0"/>
                <a:cs typeface="Amiri" pitchFamily="2" charset="-78"/>
              </a:rPr>
              <a:t>… correctly?</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تَتَمَيَّزُ عُمَانُ بِجِبَالٍ عَالِيَةٍ وَشَوَاطِئَ جَمِيلَةٍ.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Oman is distinguished by high mountains and beautiful beaches.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بِمَاذَا تَتَمَيَّزُ عُمَانُ؟</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يَسُودُ مَنَاخٌ حَارٌّ وَرَطْبٌ عَلَى السَّاحِلِ فِي الصَّيْفِ.</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hot, humid climate prevails on the coast in summer.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وَكَيْفَ المَنَاخُ الآنَ؟</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الدَّاخِلِ؛ صَحْرَاءُ الرُّبْعِ الخَالِي وَاسِعَةٌ وَجَافَّةٌ جِدًّا.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Inland — the Empty Quarter is vast and very dry.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أَجِدُ الصَّحْرَاءَ؟</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وَقْتٍ هُوَ الشِّتَاءُ، لِأَنَّ الطَّقْسَ مُعْتَدِلٌ وَمُشْمِسٌ.</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best time is winter, because the weather is mild and sunny.</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أَفْضَلُ وَقْتٍ لِلزِّيَارَةِ؟</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تَقَعُ تُرْكِيَا بَيْنَ قَارَّتَيْ آسْيَا وَأُورُوبَّا، وَتَتَمَيَّزُ بِطَبِيعَةٍ مُتَنَوِّعَةٍ. فِي الشَّمَالِ غَابَاتٌ خَضْرَاءُ وَجِبَالٌ عَالِيَةٌ، وَفِي الجَنُوبِ سَاحِلٌ طَوِيلٌ وَشَوَاطِئُ جَمِيلَةٌ. كَمَا أَنَّ فِيهَا أَنْهَارًا كَثِيرَةً وَبُحَيْرَاتٍ وَاسِعَةً. يَسُودُ مَنَاخٌ مُعْتَدِلٌ عَلَى السَّاحِلِ، بَيْنَمَا يَتَّسِمُ الوَسَطُ بِشِتَاءٍ بَارِدٍ وَثُلُوجٍ كَثِيفَةٍ. أَمَّا الصَّيْفُ فَحَارٌّ وَجَافٌّ فِي أَغْلَبِ المَنَاطِقِ. أَفْضَلُ وَقْتٍ لِلزِّيَارَةِ هُوَ الرَّبِيعُ، لِأَنَّ الطَّقْسَ دَافِئٌ وَالطَّبِيعَةَ خَضْرَاءُ.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“Turkey lies between Asia and Europe, and is distinguished by varied nature. In the north there are green forests and high mountains, and in the south a long coast and beautiful beaches. It also has many rivers and wide lakes. A mild climate prevails on the coast, whereas the centre is characterised by a cold winter and heavy snow. As for summer, it is hot and dry in most regions. The best time to visit is spring, because the weather is warm and nature is green.”</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وَتَتَمَيَّزُ بِطَبِيعَةٍ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جِبَالٌ عَالِيَةٌ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يَسُودُ مَنَاخٌ مُعْتَدِلٌ</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يَتَّسِمُ الوَسَطُ</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D4-L01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D4 · Environment, Weather and Technology · D4-L01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D4-L01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D4-L02 · Weather Patterns — Describing and Comparing Weather</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أَنْمَاطُ الطَّقْسِ — وَصْفُ الطَّقْسِ وَالمُقَارَنَةُ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D4-L01 · Practice Room — The Natural World — Environment and Climate Vocabulary</dc:title>
  <dc:subject>PptxGenJS Presentation</dc:subject>
  <dc:creator>Al Madina Online School · Arabic Department</dc:creator>
  <cp:lastModifiedBy>Al Madina Online School · Arabic Department</cp:lastModifiedBy>
  <cp:revision>1</cp:revision>
  <dcterms:created xsi:type="dcterms:W3CDTF">2026-10-25T18:23:54Z</dcterms:created>
  <dcterms:modified xsi:type="dcterms:W3CDTF">2026-10-25T18:23:54Z</dcterms:modified>
</cp:coreProperties>
</file>