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D4-L06 (Green Technology — AI, Solar Energy and Smart Cities) — new practice tasks built on the lesson’s own word bank and grammar (how it works: tuḥawwilu X ilā Y · tuwallidu …; what it is used for: yustakhdamu / tustakhdamu li- + maṣdar; what it helps with: tusāʿidu ʿalā + maṣdar; evaluation: min ahammi al-fawāʾidi anna … · min abrazi al-taḥaddiyāti anna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mayor to a girl: فِكْرَتُكِ. tuḥawwilu X ilā Y · tustakhdamu li- + maṣdar · tusāʿidu ʿalā + maṣdar.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Green Technology — AI, Solar Energy and Smart Cities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التِّقْنِيَّةُ الخَضْرَاءُ</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green technology: say the technology words, act a short explainer dialogue, answer question cards, do a role-play card presenting a smart-city idea to the mayor, give a one-minute explainer, then build, fix and write an explainer-and-evaluation paragraph about one green technology.</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D4-L06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Green technology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التِّقْنِيَّةُ الخَضْرَاءُ</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 technology</a:t>
            </a:r>
            <a:endParaRPr lang="en-US" sz="1350" dirty="0"/>
          </a:p>
          <a:p>
            <a:pPr indent="0" marL="0">
              <a:buNone/>
            </a:pPr>
            <a:r>
              <a:rPr lang="en-US" sz="1100" i="1" dirty="0">
                <a:solidFill>
                  <a:srgbClr val="5A6472"/>
                </a:solidFill>
                <a:latin typeface="Calibri" pitchFamily="34" charset="0"/>
                <a:cs typeface="Amiri" pitchFamily="2" charset="-78"/>
              </a:rPr>
              <a:t>at-tiq-niy-ya-tu al-khaḍ-rā-ʾu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الأَلْوَاحُ الشَّمْسِيَّةُ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panels</a:t>
            </a:r>
            <a:endParaRPr lang="en-US" sz="1350" dirty="0"/>
          </a:p>
          <a:p>
            <a:pPr indent="0" marL="0">
              <a:buNone/>
            </a:pPr>
            <a:r>
              <a:rPr lang="en-US" sz="1100" i="1" dirty="0">
                <a:solidFill>
                  <a:srgbClr val="5A6472"/>
                </a:solidFill>
                <a:latin typeface="Calibri" pitchFamily="34" charset="0"/>
                <a:cs typeface="Amiri" pitchFamily="2" charset="-78"/>
              </a:rPr>
              <a:t>al-al-wā-ḥu ash-sham-siy-ya-tu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تُورْبِينَاتُ الرِّيَاحِ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 turbines</a:t>
            </a:r>
            <a:endParaRPr lang="en-US" sz="1350" dirty="0"/>
          </a:p>
          <a:p>
            <a:pPr indent="0" marL="0">
              <a:buNone/>
            </a:pPr>
            <a:r>
              <a:rPr lang="en-US" sz="1100" i="1" dirty="0">
                <a:solidFill>
                  <a:srgbClr val="5A6472"/>
                </a:solidFill>
                <a:latin typeface="Calibri" pitchFamily="34" charset="0"/>
                <a:cs typeface="Amiri" pitchFamily="2" charset="-78"/>
              </a:rPr>
              <a:t>tūr-bī-nā-tu ar-ri-yā-ḥi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مَبْنًى مُسْتَدَامٌ</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building</a:t>
            </a:r>
            <a:endParaRPr lang="en-US" sz="1350" dirty="0"/>
          </a:p>
          <a:p>
            <a:pPr indent="0" marL="0">
              <a:buNone/>
            </a:pPr>
            <a:r>
              <a:rPr lang="en-US" sz="1100" i="1" dirty="0">
                <a:solidFill>
                  <a:srgbClr val="5A6472"/>
                </a:solidFill>
                <a:latin typeface="Calibri" pitchFamily="34" charset="0"/>
                <a:cs typeface="Amiri" pitchFamily="2" charset="-78"/>
              </a:rPr>
              <a:t>mab-nan mus-ta-dā-mun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 ذَكِيَّةٌ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smart city</a:t>
            </a:r>
            <a:endParaRPr lang="en-US" sz="1350" dirty="0"/>
          </a:p>
          <a:p>
            <a:pPr indent="0" marL="0">
              <a:buNone/>
            </a:pPr>
            <a:r>
              <a:rPr lang="en-US" sz="1100" i="1" dirty="0">
                <a:solidFill>
                  <a:srgbClr val="5A6472"/>
                </a:solidFill>
                <a:latin typeface="Calibri" pitchFamily="34" charset="0"/>
                <a:cs typeface="Amiri" pitchFamily="2" charset="-78"/>
              </a:rPr>
              <a:t>ma-dī-na-tun dha-kiy-ya-tun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بَصْمَةٌ كَرْبُونِيَّةٌ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carbon footprint</a:t>
            </a:r>
            <a:endParaRPr lang="en-US" sz="1350" dirty="0"/>
          </a:p>
          <a:p>
            <a:pPr indent="0" marL="0">
              <a:buNone/>
            </a:pPr>
            <a:r>
              <a:rPr lang="en-US" sz="1100" i="1" dirty="0">
                <a:solidFill>
                  <a:srgbClr val="5A6472"/>
                </a:solidFill>
                <a:latin typeface="Calibri" pitchFamily="34" charset="0"/>
                <a:cs typeface="Amiri" pitchFamily="2" charset="-78"/>
              </a:rPr>
              <a:t>baṣ-ma-tun kar-bū-niy-ya-tun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it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converts</a:t>
            </a:r>
            <a:endParaRPr lang="en-US" sz="1350" dirty="0"/>
          </a:p>
          <a:p>
            <a:pPr indent="0" marL="0">
              <a:buNone/>
            </a:pPr>
            <a:r>
              <a:rPr lang="en-US" sz="1100" i="1" dirty="0">
                <a:solidFill>
                  <a:srgbClr val="5A6472"/>
                </a:solidFill>
                <a:latin typeface="Calibri" pitchFamily="34" charset="0"/>
                <a:cs typeface="Amiri" pitchFamily="2" charset="-78"/>
              </a:rPr>
              <a:t>tu-ḥaw-wi-lu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تُوَلِّدُ</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generates</a:t>
            </a:r>
            <a:endParaRPr lang="en-US" sz="1350" dirty="0"/>
          </a:p>
          <a:p>
            <a:pPr indent="0" marL="0">
              <a:buNone/>
            </a:pPr>
            <a:r>
              <a:rPr lang="en-US" sz="1100" i="1" dirty="0">
                <a:solidFill>
                  <a:srgbClr val="5A6472"/>
                </a:solidFill>
                <a:latin typeface="Calibri" pitchFamily="34" charset="0"/>
                <a:cs typeface="Amiri" pitchFamily="2" charset="-78"/>
              </a:rPr>
              <a:t>tu-wal-li-du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تُخَفِّضُ</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a:t>
            </a:r>
            <a:endParaRPr lang="en-US" sz="1350" dirty="0"/>
          </a:p>
          <a:p>
            <a:pPr indent="0" marL="0">
              <a:buNone/>
            </a:pPr>
            <a:r>
              <a:rPr lang="en-US" sz="1100" i="1" dirty="0">
                <a:solidFill>
                  <a:srgbClr val="5A6472"/>
                </a:solidFill>
                <a:latin typeface="Calibri" pitchFamily="34" charset="0"/>
                <a:cs typeface="Amiri" pitchFamily="2" charset="-78"/>
              </a:rPr>
              <a:t>tu-khaf-fi-ḍu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تُسَاعِدُ عَلَى</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helps to</a:t>
            </a:r>
            <a:endParaRPr lang="en-US" sz="1350" dirty="0"/>
          </a:p>
          <a:p>
            <a:pPr indent="0" marL="0">
              <a:buNone/>
            </a:pPr>
            <a:r>
              <a:rPr lang="en-US" sz="1100" i="1" dirty="0">
                <a:solidFill>
                  <a:srgbClr val="5A6472"/>
                </a:solidFill>
                <a:latin typeface="Calibri" pitchFamily="34" charset="0"/>
                <a:cs typeface="Amiri" pitchFamily="2" charset="-78"/>
              </a:rPr>
              <a:t>tu-sā-ʿi-du ʿa-lā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يُسْتَخْدَمُ</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used</a:t>
            </a:r>
            <a:endParaRPr lang="en-US" sz="1350" dirty="0"/>
          </a:p>
          <a:p>
            <a:pPr indent="0" marL="0">
              <a:buNone/>
            </a:pPr>
            <a:r>
              <a:rPr lang="en-US" sz="1100" i="1" dirty="0">
                <a:solidFill>
                  <a:srgbClr val="5A6472"/>
                </a:solidFill>
                <a:latin typeface="Calibri" pitchFamily="34" charset="0"/>
                <a:cs typeface="Amiri" pitchFamily="2" charset="-78"/>
              </a:rPr>
              <a:t>yus-takh-da-mu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فَعَّالٌ / فَعَّالَةٌ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effective</a:t>
            </a:r>
            <a:endParaRPr lang="en-US" sz="1350" dirty="0"/>
          </a:p>
          <a:p>
            <a:pPr indent="0" marL="0">
              <a:buNone/>
            </a:pPr>
            <a:r>
              <a:rPr lang="en-US" sz="1100" i="1" dirty="0">
                <a:solidFill>
                  <a:srgbClr val="5A6472"/>
                </a:solidFill>
                <a:latin typeface="Calibri" pitchFamily="34" charset="0"/>
                <a:cs typeface="Amiri" pitchFamily="2" charset="-78"/>
              </a:rPr>
              <a:t>faʿ-ʿā-lun / faʿ-ʿā-la-tun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 solar panels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تَعْمَلُ الأَلْوَاحُ الشَّمْسِيَّةُ؟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solar panels work?</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تَعْمَلُ الأَلْوَاحُ الشَّمْسِيَّةُ؟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panels convert sunlight into electricity.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تُحَوِّلُ الأَلْوَاحُ ضَوْءَ الشَّمْسِ إِلَى كَهْرَبَاءَ.</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are they used for?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وَلِمَاذَا تُسْتَخْدَمُ؟</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are used to power homes and schools, and help reduce the carbon footprint.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تُسْتَخْدَمُ لِتَشْغِيلِ البُيُوتِ وَالمَدَارِسِ، وَتُسَاعِدُ عَلَى تَقْلِيلِ البَصْمَةِ الكَرْبُونِيَّةِ.</a:t>
            </a:r>
            <a:endParaRPr lang="ar-SA" sz="185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they have drawbacks?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لَهَا عُيُوبٌ؟</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of the main challenges is that they are expensive and don’t work well in cloudy weather.</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مِنْ أَبْرَزِ التَّحَدِّيَاتِ أَنَّهَا غَالِيَةٌ، وَأَنَّهَا لَا تَعْمَلُ جَيِّدًا فِي الطَّقْسِ الغَائِمِ.</a:t>
            </a:r>
            <a:endParaRPr lang="ar-SA" sz="18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explain WIND TURBINES the same way (</a:t>
            </a:r>
            <a:pPr algn="l" indent="0" marL="0">
              <a:buNone/>
            </a:pPr>
            <a:r>
              <a:rPr lang="ar-SA" altLang="en-US" sz="1500" b="1" dirty="0">
                <a:solidFill>
                  <a:srgbClr val="1B3B6F"/>
                </a:solidFill>
                <a:latin typeface="Amiri" pitchFamily="2" charset="-78"/>
                <a:ea typeface="Amiri" pitchFamily="2" charset="-78"/>
                <a:cs typeface="Amiri" pitchFamily="2" charset="-78"/>
              </a:rPr>
              <a:t>تُحَوِّلُ … إِلَى</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وَتُوَلِّدُ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تُحَوِّلُ طَاقَةَ الرِّيَاحِ إِلَى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wind turbines work?</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تَعْمَلُ تُورْبِينَاتُ الرِّيَاحِ؟</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إِشَارَاتِ المُرُورِ</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يُسْتَخْدَمُ لِتَنْظِيمِ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AI used for in smart cities?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لِمَاذَا يُسْتَخْدَمُ الذَّكَاءُ الاصْطِنَاعِيُّ فِي المُدُنِ الذَّكِيَّةِ؟</a:t>
            </a:r>
            <a:endParaRPr lang="ar-SA" sz="145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يُسَاعِدُ عَلَى تَوْفِيرِ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a sustainable building help the environment?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كَيْفَ يُسَاعِدُ المَبْنَى المُسْتَدَامُ عَلَى حِمَايَةِ البِيئَةِ؟</a:t>
            </a:r>
            <a:endParaRPr lang="ar-SA" sz="155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أَهَمِّ الفَوَائِدِ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main benefit of green technology?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أَهَمُّ فَائِدَةٍ لِلتِّقْنِيَّةِ الخَضْرَاءِ؟</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أَبْرَزِ التَّحَدِّيَاتِ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لَا،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Would you like to live in a smart city?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أَنْ تَعِيشَ فِي مَدِينَةٍ ذَكِيَّةٍ؟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pitching a green idea to the mayor</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فِكْرَةٌ خَضْرَاءُ لِلْعُمْدَةِ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الفِكْرَةُ ← أَقْتَرِحُ …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the technology.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فِكْرَتُكَ؟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تَعْمَلُ ← تُحَوِّلُ … إِلَى … وَتُضِيءُ عِنْدَمَا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it works.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تَعْمَلُ؟</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Benefit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فَائِدَتُهَا لِلْمَدِينَةِ؟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Challenge + answer.</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 التَّحَدِّي؟</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young inventor · Leader = the city mayor.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One minute: explain a green technology</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أَشْرَحُ تِقْنِيَةً خَضْرَاءَ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technology (solar panels, wind turbines, a smart city, an electric bus). Explain it for one minute: how it works, what it is used for, one benefit, one challenge.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 it works with </a:t>
            </a:r>
            <a:pPr algn="l" indent="0" marL="0">
              <a:buNone/>
            </a:pPr>
            <a:r>
              <a:rPr lang="ar-SA" altLang="en-US" sz="1500" dirty="0">
                <a:solidFill>
                  <a:srgbClr val="1F2A37"/>
                </a:solidFill>
                <a:latin typeface="Amiri" pitchFamily="2" charset="-78"/>
                <a:ea typeface="Amiri" pitchFamily="2" charset="-78"/>
                <a:cs typeface="Amiri" pitchFamily="2" charset="-78"/>
              </a:rPr>
              <a:t>تُحَوِّلُ … إِلَى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يُسْتَخْدَمُ / تُسْتَخْدَمُ لِ</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تُسَاعِدُ عَلَى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أَهَمِّ الفَوَائِدِ 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مِنْ أَبْرَزِ التَّحَدِّيَاتِ أَنَّ</a:t>
            </a:r>
            <a:pPr algn="l" indent="0" marL="0">
              <a:buNone/>
            </a:pPr>
            <a:r>
              <a:rPr lang="en-US" sz="1150" dirty="0">
                <a:solidFill>
                  <a:srgbClr val="1F2A37"/>
                </a:solidFill>
                <a:latin typeface="Calibri" pitchFamily="34" charset="0"/>
                <a:cs typeface="Amiri" pitchFamily="2" charset="-78"/>
              </a:rPr>
              <a:t> … , then a verdict.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Turbines convert wind into electricity.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تُحَوِّلُ التُّورْبِينَاتُ</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يُحَوِّلُ التُّورْبِينَاتُ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الرِّيَاحَ</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الرِّيَاحُ</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كَهْرَبَاءَ.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كَهْرَبَاءُ.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AI is used to organise traffic.</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يُسْتَخْدَمُ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يَسْتَخْدِمُ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الذَّكَاءُ الاصْطِنَاعِيُّ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الذَّكَاءَ الاصْطِنَاعِيَّ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لِتَنْظِيمِ المُرُورِ.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لِتَنْظِيمُ المُرُورِ.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Green buildings help to save water.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تُسَاعِدُ المَبَانِي الخَضْرَاءُ</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يُسَاعِدُونَ المَبَانِي الخَضْرَاءُ</a:t>
            </a:r>
            <a:endParaRPr lang="ar-SA" sz="17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تَوْفِيرِ المِيَاهِ.</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تَوْفِيرُ المِيَاهِ.</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Turbines convert wind into electricity.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a:t>
            </a:r>
            <a:pPr algn="l" indent="0" marL="0">
              <a:buNone/>
            </a:pPr>
            <a:r>
              <a:rPr lang="ar-SA" altLang="en-US" sz="1350" dirty="0">
                <a:solidFill>
                  <a:srgbClr val="5A6472"/>
                </a:solidFill>
                <a:latin typeface="Amiri" pitchFamily="2" charset="-78"/>
                <a:ea typeface="Amiri" pitchFamily="2" charset="-78"/>
                <a:cs typeface="Amiri" pitchFamily="2" charset="-78"/>
              </a:rPr>
              <a:t>تُحَوِّلُ</a:t>
            </a:r>
            <a:pPr algn="l" indent="0" marL="0">
              <a:buNone/>
            </a:pPr>
            <a:r>
              <a:rPr lang="en-US" sz="1050" i="1" dirty="0">
                <a:solidFill>
                  <a:srgbClr val="5A6472"/>
                </a:solidFill>
                <a:latin typeface="Calibri" pitchFamily="34" charset="0"/>
                <a:cs typeface="Amiri" pitchFamily="2" charset="-78"/>
              </a:rPr>
              <a:t>; object in -a;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تُحَوِّلُ التُّورْبِينَاتُ الرِّيَاحَ إِلَى كَهْرَبَاءَ.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AI is used to organise traffic.</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t>
            </a:r>
            <a:pPr algn="l" indent="0" marL="0">
              <a:buNone/>
            </a:pPr>
            <a:r>
              <a:rPr lang="ar-SA" altLang="en-US" sz="1350" dirty="0">
                <a:solidFill>
                  <a:srgbClr val="5A6472"/>
                </a:solidFill>
                <a:latin typeface="Amiri" pitchFamily="2" charset="-78"/>
                <a:ea typeface="Amiri" pitchFamily="2" charset="-78"/>
                <a:cs typeface="Amiri" pitchFamily="2" charset="-78"/>
              </a:rPr>
              <a:t>يُسْتَخْدَمُ</a:t>
            </a:r>
            <a:pPr algn="l" indent="0" marL="0">
              <a:buNone/>
            </a:pPr>
            <a:r>
              <a:rPr lang="en-US" sz="1050" i="1" dirty="0">
                <a:solidFill>
                  <a:srgbClr val="5A6472"/>
                </a:solidFill>
                <a:latin typeface="Calibri" pitchFamily="34" charset="0"/>
                <a:cs typeface="Amiri" pitchFamily="2" charset="-78"/>
              </a:rPr>
              <a:t> + subject in -u; </a:t>
            </a:r>
            <a:pPr algn="l" indent="0" marL="0">
              <a:buNone/>
            </a:pPr>
            <a:r>
              <a:rPr lang="ar-SA" altLang="en-US" sz="1350" dirty="0">
                <a:solidFill>
                  <a:srgbClr val="5A6472"/>
                </a:solidFill>
                <a:latin typeface="Amiri" pitchFamily="2" charset="-78"/>
                <a:ea typeface="Amiri" pitchFamily="2" charset="-78"/>
                <a:cs typeface="Amiri" pitchFamily="2" charset="-78"/>
              </a:rPr>
              <a:t>لِ</a:t>
            </a:r>
            <a:pPr algn="l" indent="0" marL="0">
              <a:buNone/>
            </a:pPr>
            <a:r>
              <a:rPr lang="en-US" sz="1050" i="1" dirty="0">
                <a:solidFill>
                  <a:srgbClr val="5A6472"/>
                </a:solidFill>
                <a:latin typeface="Calibri" pitchFamily="34" charset="0"/>
                <a:cs typeface="Amiri" pitchFamily="2" charset="-78"/>
              </a:rPr>
              <a:t> + maṣdar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يُسْتَخْدَمُ الذَّكَاءُ الاصْطِنَاعِيُّ لِتَنْظِيمِ المُرُورِ.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Green buildings help to save water.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تُسَاعِدُ عَلَى</a:t>
            </a:r>
            <a:pPr algn="l" indent="0" marL="0">
              <a:buNone/>
            </a:pPr>
            <a:r>
              <a:rPr lang="en-US" sz="1050" i="1" dirty="0">
                <a:solidFill>
                  <a:srgbClr val="5A6472"/>
                </a:solidFill>
                <a:latin typeface="Calibri" pitchFamily="34" charset="0"/>
                <a:cs typeface="Amiri" pitchFamily="2" charset="-78"/>
              </a:rPr>
              <a:t> + maṣdar in the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تُسَاعِدُ المَبَانِي الخَضْرَاءُ عَلَى تَوْفِيرِ المِيَاهِ.</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تُحَوِّلُ الأَلْوَاحُ ضَوْءَ الشَّمْسِ كَهْرَبَاءَ.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Into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تُسَاعِدُ عَلَى نُقَلِّلُ التَّلَوُّثَ.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عَلَى</a:t>
            </a:r>
            <a:pPr algn="l" indent="0" marL="0">
              <a:buNone/>
            </a:pPr>
            <a:r>
              <a:rPr lang="en-US" sz="1300" i="1" dirty="0">
                <a:solidFill>
                  <a:srgbClr val="5A6472"/>
                </a:solidFill>
                <a:latin typeface="Calibri" pitchFamily="34" charset="0"/>
                <a:cs typeface="Amiri" pitchFamily="2" charset="-78"/>
              </a:rPr>
              <a:t> use a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أَهَمِّ الفَوَائِدِ أَنَّ الطَّاقَةُ نَظِيفَةٌ.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تُحَوِّلُ الأَلْوَاحُ ضَوْءَ الشَّمْسِ كَهْرَبَاءَ.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تُحَوِّلُ الأَلْوَاحُ ضَوْءَ الشَّمْسِ إِلَى كَهْرَبَاءَ.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تُحَوِّلُ</a:t>
            </a:r>
            <a:pPr algn="l" indent="0" marL="0">
              <a:buNone/>
            </a:pPr>
            <a:r>
              <a:rPr lang="en-US" sz="1150" b="1" dirty="0">
                <a:solidFill>
                  <a:srgbClr val="1B3B6F"/>
                </a:solidFill>
                <a:latin typeface="Calibri" pitchFamily="34" charset="0"/>
                <a:cs typeface="Amiri" pitchFamily="2" charset="-78"/>
              </a:rPr>
              <a:t> X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Y.</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تُسَاعِدُ عَلَى نُقَلِّلُ التَّلَوُّثَ.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تُسَاعِدُ عَلَى تَقْلِيلِ التَّلَوُّثِ.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 + maṣdar, not a conjugated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أَهَمِّ الفَوَائِدِ أَنَّ الطَّاقَةُ نَظِيفَةٌ.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أَهَمِّ الفَوَائِدِ أَنَّ الطَّاقَةَ نَظِيفَةٌ.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تُسَاعِدُ عَلَى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helps to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مِنْ أَبْرَزِ التَّحَدِّيَاتِ أَنَّ ______ ، وَلٰكِنَّ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main challenge is that …, but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تِقْنِيَةٌ خَضْرَاءُ مُهِمَّةٌ.</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an important green technology.</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تُحَوِّلُ ______ إِلَى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converts … into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تُسْتَخْدَمُ لِ______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used for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أَهَمِّ الفَوَائِدِ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key benefit is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الأَلْوَاحُ الشَّمْسِيَّةُ  ·  تُورْبِينَاتُ الرِّيَاحِ  ·  مَبْنًى مُسْتَدَامٌ  ·  مَدِينَةٌ ذَكِيَّةٌ  ·  بَصْمَةٌ كَرْبُونِيَّةٌ  ·  تُحَوِّلُ · تُوَلِّدُ  ·  تُسْتَخْدَمُ لِ…  ·  تُسَاعِدُ عَلَى</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Explain and evaluate a green technology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أَشْرَحُ وَأُقَيِّمُ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an explainer (about 60–80 words) about one green technology for a science magazine. Include: • how it works (</a:t>
            </a:r>
            <a:pPr algn="l" indent="0" marL="0">
              <a:buNone/>
            </a:pPr>
            <a:r>
              <a:rPr lang="ar-SA" altLang="en-US" sz="1500" b="1" dirty="0">
                <a:solidFill>
                  <a:srgbClr val="1F2A37"/>
                </a:solidFill>
                <a:latin typeface="Amiri" pitchFamily="2" charset="-78"/>
                <a:ea typeface="Amiri" pitchFamily="2" charset="-78"/>
                <a:cs typeface="Amiri" pitchFamily="2" charset="-78"/>
              </a:rPr>
              <a:t>تُحَوِّلُ … إِلَى … / تُوَلِّدُ</a:t>
            </a:r>
            <a:pPr algn="l" indent="0" marL="0">
              <a:buNone/>
            </a:pPr>
            <a:r>
              <a:rPr lang="en-US" sz="1150" b="1" dirty="0">
                <a:solidFill>
                  <a:srgbClr val="1F2A37"/>
                </a:solidFill>
                <a:latin typeface="Calibri" pitchFamily="34" charset="0"/>
                <a:cs typeface="Amiri" pitchFamily="2" charset="-78"/>
              </a:rPr>
              <a:t> …) • what it is used for (</a:t>
            </a:r>
            <a:pPr algn="l" indent="0" marL="0">
              <a:buNone/>
            </a:pPr>
            <a:r>
              <a:rPr lang="ar-SA" altLang="en-US" sz="1500" b="1" dirty="0">
                <a:solidFill>
                  <a:srgbClr val="1F2A37"/>
                </a:solidFill>
                <a:latin typeface="Amiri" pitchFamily="2" charset="-78"/>
                <a:ea typeface="Amiri" pitchFamily="2" charset="-78"/>
                <a:cs typeface="Amiri" pitchFamily="2" charset="-78"/>
              </a:rPr>
              <a:t>يُسْتَخْدَمُ لِ</a:t>
            </a:r>
            <a:pPr algn="l" indent="0" marL="0">
              <a:buNone/>
            </a:pPr>
            <a:r>
              <a:rPr lang="en-US" sz="1150" b="1" dirty="0">
                <a:solidFill>
                  <a:srgbClr val="1F2A37"/>
                </a:solidFill>
                <a:latin typeface="Calibri" pitchFamily="34" charset="0"/>
                <a:cs typeface="Amiri" pitchFamily="2" charset="-78"/>
              </a:rPr>
              <a:t>… + maṣdar) • what it helps with (</a:t>
            </a:r>
            <a:pPr algn="l" indent="0" marL="0">
              <a:buNone/>
            </a:pPr>
            <a:r>
              <a:rPr lang="ar-SA" altLang="en-US" sz="1500" b="1" dirty="0">
                <a:solidFill>
                  <a:srgbClr val="1F2A37"/>
                </a:solidFill>
                <a:latin typeface="Amiri" pitchFamily="2" charset="-78"/>
                <a:ea typeface="Amiri" pitchFamily="2" charset="-78"/>
                <a:cs typeface="Amiri" pitchFamily="2" charset="-78"/>
              </a:rPr>
              <a:t>تُسَاعِدُ عَلَى</a:t>
            </a:r>
            <a:pPr algn="l" indent="0" marL="0">
              <a:buNone/>
            </a:pPr>
            <a:r>
              <a:rPr lang="en-US" sz="1150" b="1" dirty="0">
                <a:solidFill>
                  <a:srgbClr val="1F2A37"/>
                </a:solidFill>
                <a:latin typeface="Calibri" pitchFamily="34" charset="0"/>
                <a:cs typeface="Amiri" pitchFamily="2" charset="-78"/>
              </a:rPr>
              <a:t> …) • two benefits and one challenge with </a:t>
            </a:r>
            <a:pPr algn="l" indent="0" marL="0">
              <a:buNone/>
            </a:pPr>
            <a:r>
              <a:rPr lang="ar-SA" altLang="en-US" sz="1500" b="1" dirty="0">
                <a:solidFill>
                  <a:srgbClr val="1F2A37"/>
                </a:solidFill>
                <a:latin typeface="Amiri" pitchFamily="2" charset="-78"/>
                <a:ea typeface="Amiri" pitchFamily="2" charset="-78"/>
                <a:cs typeface="Amiri" pitchFamily="2" charset="-78"/>
              </a:rPr>
              <a:t>أَنَّ</a:t>
            </a:r>
            <a:pPr algn="l" indent="0" marL="0">
              <a:buNone/>
            </a:pPr>
            <a:r>
              <a:rPr lang="en-US" sz="1150" b="1" dirty="0">
                <a:solidFill>
                  <a:srgbClr val="1F2A37"/>
                </a:solidFill>
                <a:latin typeface="Calibri" pitchFamily="34" charset="0"/>
                <a:cs typeface="Amiri" pitchFamily="2" charset="-78"/>
              </a:rPr>
              <a:t> • your verdict.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تُحَوِّلُ …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converts … into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تُسْتَخْدَمُ 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used for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تُسَاعِدُ عَلَى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helps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مِنْ أَهَمِّ الفَوَائِدِ أَنَّ … · مِنْ أَبْرَزِ التَّحَدِّيَاتِ أَنَّ …</a:t>
            </a:r>
            <a:endParaRPr lang="ar-SA" sz="145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key benefit is that … · a main challenge is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how it works with </a:t>
            </a:r>
            <a:pPr algn="l" indent="0" marL="0">
              <a:buNone/>
            </a:pPr>
            <a:r>
              <a:rPr lang="ar-SA" altLang="en-US" sz="1450" dirty="0">
                <a:solidFill>
                  <a:srgbClr val="5A6472"/>
                </a:solidFill>
                <a:latin typeface="Amiri" pitchFamily="2" charset="-78"/>
                <a:ea typeface="Amiri" pitchFamily="2" charset="-78"/>
                <a:cs typeface="Amiri" pitchFamily="2" charset="-78"/>
              </a:rPr>
              <a:t>تُحَوِّلُ … إِلَى</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تُسْتَخْدَمُ لِ… / تُسَاعِدُ عَلَى</a:t>
            </a:r>
            <a:pPr algn="l" indent="0" marL="0">
              <a:buNone/>
            </a:pPr>
            <a:r>
              <a:rPr lang="en-US" sz="1100" dirty="0">
                <a:solidFill>
                  <a:srgbClr val="5A6472"/>
                </a:solidFill>
                <a:latin typeface="Calibri" pitchFamily="34" charset="0"/>
                <a:cs typeface="Amiri" pitchFamily="2" charset="-78"/>
              </a:rPr>
              <a:t> + maṣdar and evaluate with </a:t>
            </a:r>
            <a:pPr algn="l" indent="0" marL="0">
              <a:buNone/>
            </a:pPr>
            <a:r>
              <a:rPr lang="ar-SA" altLang="en-US" sz="1450" dirty="0">
                <a:solidFill>
                  <a:srgbClr val="5A6472"/>
                </a:solidFill>
                <a:latin typeface="Amiri" pitchFamily="2" charset="-78"/>
                <a:ea typeface="Amiri" pitchFamily="2" charset="-78"/>
                <a:cs typeface="Amiri" pitchFamily="2" charset="-78"/>
              </a:rPr>
              <a:t>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أَقْتَرِحُ إِنَارَةً ذَكِيَّةً فِي الشَّوَارِعِ تَعْمَلُ بِالطَّاقَةِ الشَّمْسِيَّةِ.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propose smart street lighting powered by solar energy.</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فِكْرَتُكَ؟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تُحَوِّلُ ضَوْءَ النَّهَارِ إِلَى كَهْرَبَاءَ، وَتُضِيءُ فَقَطْ عِنْدَمَا يَمُرُّ شَخْصٌ.</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converts daylight into electricity and only lights up when someone passes.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تَعْمَلُ؟</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أَهَمِّ الفَوَائِدِ أَنَّهَا تُوَفِّرُ الطَّاقَةَ وَتُسَاعِدُ عَلَى تَقْلِيلِ الفَوَاتِيرِ.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of the main benefits is that it saves energy and helps reduce bills.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فَائِدَتُهَا لِلْمَدِينَةِ؟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أَبْرَزِ التَّحَدِّيَاتِ تَكْلِفَةُ التَّرْكِيبِ، وَلٰكِنَّهَا تُسْتَرْجَعُ خِلَالَ خَمْسِ سَنَوَاتٍ.</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main challenge is the installation cost, but it is recovered within five years.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 التَّحَدِّي؟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ea typeface="Amiri" pitchFamily="2" charset="-78"/>
                <a:cs typeface="Amiri" pitchFamily="2" charset="-78"/>
              </a:rPr>
              <a:t>تُورْبِينَاتُ الرِّيَاحِ تِقْنِيَةٌ خَضْرَاءُ مُهِمَّةٌ. تُحَوِّلُ هٰذِهِ التُّورْبِينَاتُ حَرَكَةَ الرِّيَاحِ إِلَى كَهْرَبَاءَ نَظِيفَةٍ، وَتُوجَدُ عَادَةً فِي البَحْرِ أَوْ عَلَى التِّلَالِ. تُسْتَخْدَمُ لِتَشْغِيلِ آلَافِ البُيُوتِ، وَتُسَاعِدُ عَلَى تَقْلِيلِ البَصْمَةِ الكَرْبُونِيَّةِ. مِنْ أَهَمِّ الفَوَائِدِ أَنَّ الرِّيَاحَ لَا تَنْضَبُ أَبَدًا، وَأَنَّ الطَّاقَةَ لَا تُلَوِّثُ الهَوَاءَ. وَمِنْ أَبْرَزِ التَّحَدِّيَاتِ أَنَّ التُّورْبِينَاتِ لَا تَعْمَلُ عِنْدَمَا يَهْدَأُ الجَوُّ، وَلٰكِنَّ البَطَّارِيَّاتِ الحَدِيثَةَ تَحُلُّ هٰذِهِ المُشْكِلَةَ. فِي رَأْيِي هِيَ جُزْءٌ أَسَاسِيٌّ مِنَ المُسْتَقْبَلِ.</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“Wind turbines are an important green technology. These turbines convert the movement of the wind into clean electricity, and are usually found at sea or on hills. They are used to power thousands of homes, and help to reduce the carbon footprint. A key benefit is that wind never runs out, and that the energy doesn’t pollute the air. A main challenge is that turbines don’t work when the air is still, but modern batteries solve this problem. In my opinion they are an essential part of the future.”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تُحَوِّلُ هٰذِهِ التُّورْبِينَاتُ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تُسْتَخْدَمُ لِتَشْغِيلِ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وَتُسَاعِدُ عَلَى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أَبْرَزِ التَّحَدِّيَاتِ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D4-L07 · Resources and Sustainability — When Resources Run Out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المَوَارِدُ وَالاسْتِدَامَةُ — عِنْدَمَا تَنْضَبُ المَوَارِدُ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D4-L06 · Practice Room — Green Technology — AI, Solar Energy and Smart Cities</dc:title>
  <dc:subject>PptxGenJS Presentation</dc:subject>
  <dc:creator>Al Madina Online School · Arabic Department</dc:creator>
  <cp:lastModifiedBy>Al Madina Online School · Arabic Department</cp:lastModifiedBy>
  <cp:revision>1</cp:revision>
  <dcterms:created xsi:type="dcterms:W3CDTF">2026-10-25T18:27:44Z</dcterms:created>
  <dcterms:modified xsi:type="dcterms:W3CDTF">2026-10-25T18:27:44Z</dcterms:modified>
</cp:coreProperties>
</file>