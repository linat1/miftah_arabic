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D4-L02 (Weather Patterns — Describing and Comparing Weather) — new practice tasks built on the lesson’s own word bank and grammar (the weather word as the subject of the verb (yasquṭu al-maṭaru · tahubbu al-riyāḥu · tushriqu al-shamsu); temperatures rise / fall (tartafiʿu / tankhafiḍu darajātu al-ḥarāra); comparing places (aḥarru min · abradu min · akthar maṭaran); forecasting: yutawaqqaʿu an + verb in -a).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FADED SUPPORT: tasks 1–2 show the plan (question word → first words); students write their own plan for 3–4. Everyone is Speaker once. To a girl the Leader says: teacher to a girl: no changes needed. yutawaqqaʿu an + verb in -a: an yasquṭa · an tankhafiḍa.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Weather Patterns — Describing and Comparing Weather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أَنْمَاطُ الطَّقْسِ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with the weather: say the weather phrases, act a short forecast dialogue, answer question cards, do a role-play card planning a trip around the forecast, give a one-minute TV forecast, then build, fix and write a weather report comparing two cities.</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D4-L02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Weather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a:t>
            </a:r>
            <a:endParaRPr lang="en-US" sz="1350" dirty="0"/>
          </a:p>
          <a:p>
            <a:pPr indent="0" marL="0">
              <a:buNone/>
            </a:pPr>
            <a:r>
              <a:rPr lang="en-US" sz="1100" i="1" dirty="0">
                <a:solidFill>
                  <a:srgbClr val="5A6472"/>
                </a:solidFill>
                <a:latin typeface="Calibri" pitchFamily="34" charset="0"/>
                <a:cs typeface="Amiri" pitchFamily="2" charset="-78"/>
              </a:rPr>
              <a:t>al-ma-ṭa-ru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الثُّلُوجُ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snow</a:t>
            </a:r>
            <a:endParaRPr lang="en-US" sz="1350" dirty="0"/>
          </a:p>
          <a:p>
            <a:pPr indent="0" marL="0">
              <a:buNone/>
            </a:pPr>
            <a:r>
              <a:rPr lang="en-US" sz="1100" i="1" dirty="0">
                <a:solidFill>
                  <a:srgbClr val="5A6472"/>
                </a:solidFill>
                <a:latin typeface="Calibri" pitchFamily="34" charset="0"/>
                <a:cs typeface="Amiri" pitchFamily="2" charset="-78"/>
              </a:rPr>
              <a:t>ath-thu-lū-ju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winds</a:t>
            </a:r>
            <a:endParaRPr lang="en-US" sz="1350" dirty="0"/>
          </a:p>
          <a:p>
            <a:pPr indent="0" marL="0">
              <a:buNone/>
            </a:pPr>
            <a:r>
              <a:rPr lang="en-US" sz="1100" i="1" dirty="0">
                <a:solidFill>
                  <a:srgbClr val="5A6472"/>
                </a:solidFill>
                <a:latin typeface="Calibri" pitchFamily="34" charset="0"/>
                <a:cs typeface="Amiri" pitchFamily="2" charset="-78"/>
              </a:rPr>
              <a:t>ar-ri-yā-ḥu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الشَّمْسُ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a:t>
            </a:r>
            <a:endParaRPr lang="en-US" sz="1350" dirty="0"/>
          </a:p>
          <a:p>
            <a:pPr indent="0" marL="0">
              <a:buNone/>
            </a:pPr>
            <a:r>
              <a:rPr lang="en-US" sz="1100" i="1" dirty="0">
                <a:solidFill>
                  <a:srgbClr val="5A6472"/>
                </a:solidFill>
                <a:latin typeface="Calibri" pitchFamily="34" charset="0"/>
                <a:cs typeface="Amiri" pitchFamily="2" charset="-78"/>
              </a:rPr>
              <a:t>ash-sham-su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السُّحُبُ / الغُيُومُ</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clouds</a:t>
            </a:r>
            <a:endParaRPr lang="en-US" sz="1350" dirty="0"/>
          </a:p>
          <a:p>
            <a:pPr indent="0" marL="0">
              <a:buNone/>
            </a:pPr>
            <a:r>
              <a:rPr lang="en-US" sz="1100" i="1" dirty="0">
                <a:solidFill>
                  <a:srgbClr val="5A6472"/>
                </a:solidFill>
                <a:latin typeface="Calibri" pitchFamily="34" charset="0"/>
                <a:cs typeface="Amiri" pitchFamily="2" charset="-78"/>
              </a:rPr>
              <a:t>as-su-ḥu-bu / al-ghu-yū-mu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العَاصِفَةُ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storm</a:t>
            </a:r>
            <a:endParaRPr lang="en-US" sz="1350" dirty="0"/>
          </a:p>
          <a:p>
            <a:pPr indent="0" marL="0">
              <a:buNone/>
            </a:pPr>
            <a:r>
              <a:rPr lang="en-US" sz="1100" i="1" dirty="0">
                <a:solidFill>
                  <a:srgbClr val="5A6472"/>
                </a:solidFill>
                <a:latin typeface="Calibri" pitchFamily="34" charset="0"/>
                <a:cs typeface="Amiri" pitchFamily="2" charset="-78"/>
              </a:rPr>
              <a:t>al-ʿā-ṣi-fa-tu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Weather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يَسْقُطُ المَطَرُ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 falls / it rains</a:t>
            </a:r>
            <a:endParaRPr lang="en-US" sz="1350" dirty="0"/>
          </a:p>
          <a:p>
            <a:pPr indent="0" marL="0">
              <a:buNone/>
            </a:pPr>
            <a:r>
              <a:rPr lang="en-US" sz="1100" i="1" dirty="0">
                <a:solidFill>
                  <a:srgbClr val="5A6472"/>
                </a:solidFill>
                <a:latin typeface="Calibri" pitchFamily="34" charset="0"/>
                <a:cs typeface="Amiri" pitchFamily="2" charset="-78"/>
              </a:rPr>
              <a:t>yas-qu-ṭu al-ma-ṭa-ru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تَسْقُطُ الثُّلُوجُ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snow falls / it snows</a:t>
            </a:r>
            <a:endParaRPr lang="en-US" sz="1350" dirty="0"/>
          </a:p>
          <a:p>
            <a:pPr indent="0" marL="0">
              <a:buNone/>
            </a:pPr>
            <a:r>
              <a:rPr lang="en-US" sz="1100" i="1" dirty="0">
                <a:solidFill>
                  <a:srgbClr val="5A6472"/>
                </a:solidFill>
                <a:latin typeface="Calibri" pitchFamily="34" charset="0"/>
                <a:cs typeface="Amiri" pitchFamily="2" charset="-78"/>
              </a:rPr>
              <a:t>tas-qu-ṭu ath-thu-lū-ju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تَهُبُّ الرِّيَاحُ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winds blow</a:t>
            </a:r>
            <a:endParaRPr lang="en-US" sz="1350" dirty="0"/>
          </a:p>
          <a:p>
            <a:pPr indent="0" marL="0">
              <a:buNone/>
            </a:pPr>
            <a:r>
              <a:rPr lang="en-US" sz="1100" i="1" dirty="0">
                <a:solidFill>
                  <a:srgbClr val="5A6472"/>
                </a:solidFill>
                <a:latin typeface="Calibri" pitchFamily="34" charset="0"/>
                <a:cs typeface="Amiri" pitchFamily="2" charset="-78"/>
              </a:rPr>
              <a:t>ta-hub-bu ar-ri-yā-ḥu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تُشْرِقُ الشَّمْسُ</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sun shines</a:t>
            </a:r>
            <a:endParaRPr lang="en-US" sz="1350" dirty="0"/>
          </a:p>
          <a:p>
            <a:pPr indent="0" marL="0">
              <a:buNone/>
            </a:pPr>
            <a:r>
              <a:rPr lang="en-US" sz="1100" i="1" dirty="0">
                <a:solidFill>
                  <a:srgbClr val="5A6472"/>
                </a:solidFill>
                <a:latin typeface="Calibri" pitchFamily="34" charset="0"/>
                <a:cs typeface="Amiri" pitchFamily="2" charset="-78"/>
              </a:rPr>
              <a:t>tush-ri-qu ash-sham-su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تَرْتَفِعُ دَرَجَةُ الحَرَارَةِ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temperature rises</a:t>
            </a:r>
            <a:endParaRPr lang="en-US" sz="1350" dirty="0"/>
          </a:p>
          <a:p>
            <a:pPr indent="0" marL="0">
              <a:buNone/>
            </a:pPr>
            <a:r>
              <a:rPr lang="en-US" sz="1100" i="1" dirty="0">
                <a:solidFill>
                  <a:srgbClr val="5A6472"/>
                </a:solidFill>
                <a:latin typeface="Calibri" pitchFamily="34" charset="0"/>
                <a:cs typeface="Amiri" pitchFamily="2" charset="-78"/>
              </a:rPr>
              <a:t>tar-ta-fi-ʿu da-ra-ja-tu al-ḥa-rā-ra-ti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تَنْخَفِضُ دَرَجَةُ الحَرَارَةِ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temperature falls</a:t>
            </a:r>
            <a:endParaRPr lang="en-US" sz="1350" dirty="0"/>
          </a:p>
          <a:p>
            <a:pPr indent="0" marL="0">
              <a:buNone/>
            </a:pPr>
            <a:r>
              <a:rPr lang="en-US" sz="1100" i="1" dirty="0">
                <a:solidFill>
                  <a:srgbClr val="5A6472"/>
                </a:solidFill>
                <a:latin typeface="Calibri" pitchFamily="34" charset="0"/>
                <a:cs typeface="Amiri" pitchFamily="2" charset="-78"/>
              </a:rPr>
              <a:t>tan-kha-fi-ḍu da-ra-ja-tu al-ḥa-rā-ra-ti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What’s the weather tomorrow?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الطَّقْسُ غَدًا؟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the weather tomorrow in London?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الطَّقْسُ غَدًا فِي لَنْدَنَ؟</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Rain is expected in the morning, and strong winds.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يُتَوَقَّعُ أَنْ يَسْقُطَ المَطَرُ فِي الصَّبَاحِ، وَأَنْ تَهُبَّ رِيَاحٌ قَوِيَّةٌ.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temperatures?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وَدَرَجَاتُ الحَرَارَةِ؟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will fall to eight degrees.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تَنْخَفِضُ إِلَى ثَمَانِي دَرَجَاتٍ.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in Dubai?</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وَفِي دُبَيٍّ؟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sun shines and it rises to thirty. Dubai is much hotter than London!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تُشْرِقُ الشَّمْسُ، وَتَرْتَفِعُ الحَرَارَةُ إِلَى ثَلَاثِينَ. دُبَيُّ أَحَرُّ مِنْ لَنْدَنَ بِكَثِيرٍ!</a:t>
            </a:r>
            <a:endParaRPr lang="ar-SA" sz="19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the REAL forecast for your town and another city.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وَدَرَجَةُ الحَرَارَةِ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اليَوْمَ … ← تُشْرِقُ الشَّمْسُ / يَسْقُطُ المَطَرُ</a:t>
            </a:r>
            <a:endParaRPr lang="ar-SA" sz="15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the weather today?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الطَّقْسُ اليَوْمَ؟</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 لِذٰلِكَ سَنَبْقَى فِي البَيْتِ / سَنَخْرُجُ</a:t>
            </a:r>
            <a:endParaRPr lang="ar-SA" sz="13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يُتَوَقَّعُ 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expected weather at the weekend?</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الطَّقْسُ المُتَوَقَّعُ فِي نِهَايَةِ الأُسْبُوعِ؟</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فِي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أَبْرَدُ مِنْ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is colder: your country or your family’s?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أَبْرَدُ: بَلَدُكَ أَمْ بَلَدُ عَائِلَتِكَ؟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عِنْدَمَا تَهُبُّ الرِّيَاحُ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when strong winds blow?</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عِنْدَمَا تَهُبُّ رِيَاحٌ قَوِيَّةٌ؟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تَسْقُطُ الثُّلُوجُ / تُشْرِقُ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season? Why?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فَصْلُكَ المُفَضَّلُ؟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planning a school trip around the forecast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وَالطَّقْسُ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التَّوَقُّعَاتُ ← يُتَوَقَّعُ أَنْ يَسْقُطَ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forecast.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تَوَقُّعَاتُ الطَّقْسِ يَوْمَ الخَمِيسِ؟</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المُقَارَنَةُ ← الجُمُعَةُ أَدْفَأُ / أَقَلُّ مَطَرًا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the days.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وَيَوْمَ الجُمُعَةِ؟</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Decide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إِذَنْ مَتَى نَذْهَبُ؟</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on clothes.</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يَلْبَسُ الطُّلَّابُ؟</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trip organiser (student) · Leader = the teacher.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One minute: the TV weather forecast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النَّشْرَةُ الجَوِّيَّةُ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tomorrow’s forecast for three cities for one minute, like a TV presenter, and compare them.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cities with one weather sentence each.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temperatures (</a:t>
            </a:r>
            <a:pPr algn="l" indent="0" marL="0">
              <a:buNone/>
            </a:pPr>
            <a:r>
              <a:rPr lang="ar-SA" altLang="en-US" sz="1500" dirty="0">
                <a:solidFill>
                  <a:srgbClr val="1F2A37"/>
                </a:solidFill>
                <a:latin typeface="Amiri" pitchFamily="2" charset="-78"/>
                <a:ea typeface="Amiri" pitchFamily="2" charset="-78"/>
                <a:cs typeface="Amiri" pitchFamily="2" charset="-78"/>
              </a:rPr>
              <a:t>تَرْتَفِعُ / تَنْخَفِضُ إِلَى</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يُتَوَقَّعُ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comparatives and advice (</a:t>
            </a:r>
            <a:pPr algn="l" indent="0" marL="0">
              <a:buNone/>
            </a:pPr>
            <a:r>
              <a:rPr lang="ar-SA" altLang="en-US" sz="1500" dirty="0">
                <a:solidFill>
                  <a:srgbClr val="1F2A37"/>
                </a:solidFill>
                <a:latin typeface="Amiri" pitchFamily="2" charset="-78"/>
                <a:ea typeface="Amiri" pitchFamily="2" charset="-78"/>
                <a:cs typeface="Amiri" pitchFamily="2" charset="-78"/>
              </a:rPr>
              <a:t>يُنْصَحُ بِحَمْلِ مِظَلَّةٍ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Strong winds blow in the north.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تَهُبُّ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يَهُبُّ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 قَوِيَّةٌ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رِيَاحًا قَوِيَّةً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الشَّمَالِ.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الشَّمَالُ.</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expected that temperatures will rise.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يُتَوَقَّعُ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يَتَوَقَّعُ</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تَرْتَفِعَ</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تَرْتَفِعُ</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دَرَجَاتُ الحَرَارَةِ.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دَرَجَاتِ الحَرَارَةِ.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Cairo is hotter than Amman.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القَاهِرَةُ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القَاهِرَةَ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أَحَرُّ</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عَمَّانَ.</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عَمَّانُ.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Strong winds blow in the north.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رِيَاحٌ</a:t>
            </a:r>
            <a:pPr algn="l" indent="0" marL="0">
              <a:buNone/>
            </a:pPr>
            <a:r>
              <a:rPr lang="en-US" sz="1050" i="1" dirty="0">
                <a:solidFill>
                  <a:srgbClr val="5A6472"/>
                </a:solidFill>
                <a:latin typeface="Calibri" pitchFamily="34" charset="0"/>
                <a:cs typeface="Amiri" pitchFamily="2" charset="-78"/>
              </a:rPr>
              <a:t> (f.) is the subject → </a:t>
            </a:r>
            <a:pPr algn="l" indent="0" marL="0">
              <a:buNone/>
            </a:pPr>
            <a:r>
              <a:rPr lang="ar-SA" altLang="en-US" sz="1350" dirty="0">
                <a:solidFill>
                  <a:srgbClr val="5A6472"/>
                </a:solidFill>
                <a:latin typeface="Amiri" pitchFamily="2" charset="-78"/>
                <a:ea typeface="Amiri" pitchFamily="2" charset="-78"/>
                <a:cs typeface="Amiri" pitchFamily="2" charset="-78"/>
              </a:rPr>
              <a:t>تَهُبُّ رِيَاحٌ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تَهُبُّ رِيَاحٌ قَوِيَّةٌ فِي الشَّمَالِ.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expected that temperatures will rise.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t>
            </a:r>
            <a:pPr algn="l" indent="0" marL="0">
              <a:buNone/>
            </a:pPr>
            <a:r>
              <a:rPr lang="ar-SA" altLang="en-US" sz="1350" dirty="0">
                <a:solidFill>
                  <a:srgbClr val="5A6472"/>
                </a:solidFill>
                <a:latin typeface="Amiri" pitchFamily="2" charset="-78"/>
                <a:ea typeface="Amiri" pitchFamily="2" charset="-78"/>
                <a:cs typeface="Amiri" pitchFamily="2" charset="-78"/>
              </a:rPr>
              <a:t>يُتَوَقَّعُ</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the subject in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يُتَوَقَّعُ أَنْ تَرْتَفِعَ دَرَجَاتُ الحَرَارَةِ.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Cairo is hotter than Amman.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no feminine ending.</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القَاهِرَةُ أَحَرُّ مِنْ عَمَّانَ.</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يَسْقُطُ الثُّلُوجُ فِي الجِبَالِ.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Plural of a thing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يُتَوَقَّعُ أَنْ يَسْقُطُ المَطَرُ.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لَنْدَنُ أَكْثَرُ بَارِدَةٌ مِنْ مَدْرِيدَ.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Use the one-word comparative.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يَسْقُطُ الثُّلُوجُ فِي الجِبَالِ.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تَسْقُطُ الثُّلُوجُ فِي الجِبَالِ.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subject → feminine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يُتَوَقَّعُ أَنْ يَسْقُطُ المَطَرُ.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يُتَوَقَّعُ أَنْ يَسْقُطَ المَطَرُ.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لَنْدَنُ أَكْثَرُ بَارِدَةٌ مِنْ مَدْرِيدَ.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لَنْدَنُ أَبْرَدُ مِنْ مَدْرِيدَ.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بَارِدٌ → أَبْرَدُ.</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يُتَوَقَّعُ أَنْ ______ بَعْدَ الظُّهْرِ.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expected that … in the afternoon.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نَنْصَحُكُمْ بِ______ ،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advise you to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فِي ______ ،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in …,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تَرْتَفِعُ / تَنْخَفِضُ دَرَجَاتُ الحَرَارَةِ إِلَى ______ .</a:t>
            </a:r>
            <a:endParaRPr lang="ar-SA" sz="16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Temperatures rise / fall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______ فَ______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أَحَرُّ / أَبْرَدُ مِنْ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hotter / colder than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يَسْقُطُ المَطَرُ  ·  تَسْقُطُ الثُّلُوجُ  ·  تَهُبُّ الرِّيَاحُ  ·  تُشْرِقُ الشَّمْسُ  ·  العَاصِفَةُ · السُّحُبُ  ·  تَرْتَفِعُ · تَنْخَفِضُ  ·  يُتَوَقَّعُ أَنْ  ·  أَحَرُّ · أَبْرَدُ · أَكْثَرُ مَطَرًا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weather report: two cities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الطَّقْسِ: مَدِينَتَانِ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weather report (about 60–80 words) for a school radio show comparing tomorrow’s weather in two cities. Include: • three weather phrases with the weather word as subject • temperatures rising or falling • one </a:t>
            </a:r>
            <a:pPr algn="l" indent="0" marL="0">
              <a:buNone/>
            </a:pPr>
            <a:r>
              <a:rPr lang="ar-SA" altLang="en-US" sz="1550" b="1" dirty="0">
                <a:solidFill>
                  <a:srgbClr val="1F2A37"/>
                </a:solidFill>
                <a:latin typeface="Amiri" pitchFamily="2" charset="-78"/>
                <a:ea typeface="Amiri" pitchFamily="2" charset="-78"/>
                <a:cs typeface="Amiri" pitchFamily="2" charset="-78"/>
              </a:rPr>
              <a:t>يُتَوَقَّعُ أَنْ</a:t>
            </a:r>
            <a:pPr algn="l" indent="0" marL="0">
              <a:buNone/>
            </a:pPr>
            <a:r>
              <a:rPr lang="en-US" sz="1200" b="1" dirty="0">
                <a:solidFill>
                  <a:srgbClr val="1F2A37"/>
                </a:solidFill>
                <a:latin typeface="Calibri" pitchFamily="34" charset="0"/>
                <a:cs typeface="Amiri" pitchFamily="2" charset="-78"/>
              </a:rPr>
              <a:t> … • two comparatives • advice for listeners.</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يَسْقُطُ المَطَرُ · تَهُبُّ الرِّيَاحُ</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rains · the winds blow</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تَرْتَفِعُ / تَنْخَفِضُ دَرَجَاتُ الحَرَارَةِ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temperatures rise / fall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يُتَوَقَّعُ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expected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أَحَرُّ / أَبْرَدُ مِنْ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hotter / colder than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the weather word the subject and agree the verb?</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يُتَوَقَّعُ أَنْ</a:t>
            </a:r>
            <a:pPr algn="l" indent="0" marL="0">
              <a:buNone/>
            </a:pPr>
            <a:r>
              <a:rPr lang="en-US" sz="1100" dirty="0">
                <a:solidFill>
                  <a:srgbClr val="5A6472"/>
                </a:solidFill>
                <a:latin typeface="Calibri" pitchFamily="34" charset="0"/>
                <a:cs typeface="Amiri" pitchFamily="2" charset="-78"/>
              </a:rPr>
              <a:t> + -a and two comparatives?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 يَسْقُطَ المَطَرُ، وَأَنْ تَنْخَفِضَ الحَرَارَةُ إِلَى عَشْرِ دَرَجَاتٍ.</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Rain is expected, and the temperature should drop to ten degrees.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تَوَقُّعَاتُ الطَّقْسِ يَوْمَ الخَمِيسِ؟</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الجُمُعَةُ أَدْفَأُ وَأَقَلُّ مَطَرًا، وَتُشْرِقُ الشَّمْسُ بَعْدَ الظُّهْرِ.</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Friday is warmer and less rainy, and the sun comes out in the afternoon.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وَيَوْمَ الجُمُعَةِ؟</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نَذْهَبُ يَوْمَ الجُمُعَةِ، لِأَنَّ الحَدِيقَةَ مَفْتُوحَةٌ وَالجَوَّ أَفْضَلُ.</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go on Friday, because the park is open and the weather is better.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إِذَنْ مَتَى نَذْهَبُ؟</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يَلْبَسُوا مَعَاطِفَ خَفِيفَةً، وَيُحْضِرُوا مِظَلَّاتٍ احْتِيَاطًا.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should wear light coats and bring umbrellas just in case.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يَلْبَسُ الطُّلَّابُ؟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مَسَاءَ الخَيْرِ! هٰذِهِ نَشْرَةُ الطَّقْسِ لِيَوْمِ غَدٍ. فِي مَانْشِسْتَرَ يَسْقُطُ المَطَرُ فِي الصَّبَاحِ، وَتَهُبُّ رِيَاحٌ قَوِيَّةٌ، وَتَنْخَفِضُ دَرَجَاتُ الحَرَارَةِ إِلَى سِتِّ دَرَجَاتٍ. يُتَوَقَّعُ أَنْ تَظْهَرَ الشَّمْسُ قَلِيلًا بَعْدَ الظُّهْرِ. أَمَّا فِي إِسْطَنْبُولَ فَتُشْرِقُ الشَّمْسُ طُولَ اليَوْمِ، وَتَرْتَفِعُ الحَرَارَةُ إِلَى ثَمَانِيَ عَشْرَةَ دَرَجَةً. إِذَنْ إِسْطَنْبُولُ أَدْفَأُ مِنْ مَانْشِسْتَرَ، وَأَقَلُّ مَطَرًا بِكَثِيرٍ. نَنْصَحُكُمْ فِي مَانْشِسْتَرَ بِحَمْلِ مِظَلَّةٍ وَمِعْطَفٍ ثَقِيلٍ!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“Good evening! Here is tomorrow’s forecast. In Manchester it will rain in the morning, strong winds will blow, and temperatures will drop to six degrees. The sun is expected to appear a little in the afternoon. As for Istanbul, the sun will shine all day, and it will rise to eighteen degrees. So Istanbul is warmer than Manchester and much less rainy. In Manchester we advise you to carry an umbrella and a heavy coat!”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يَسْقُطُ المَطَرُ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وَتَنْخَفِضُ دَرَجَاتُ الحَرَارَةِ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يُتَوَقَّعُ أَنْ تَظْهَرَ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أَدْفَأُ مِنْ مَانْشِسْتَرَ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D4-L03 · Environmental Problems — Causes and Effects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المُشْكِلَاتُ البِيئِيَّةُ — الأَسْبَابُ وَالنَّتَائِجُ</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D4-L02 · Practice Room — Weather Patterns — Describing and Comparing Weather</dc:title>
  <dc:subject>PptxGenJS Presentation</dc:subject>
  <dc:creator>Al Madina Online School · Arabic Department</dc:creator>
  <cp:lastModifiedBy>Al Madina Online School · Arabic Department</cp:lastModifiedBy>
  <cp:revision>1</cp:revision>
  <dcterms:created xsi:type="dcterms:W3CDTF">2026-10-25T18:25:27Z</dcterms:created>
  <dcterms:modified xsi:type="dcterms:W3CDTF">2026-10-25T18:25:27Z</dcterms:modified>
</cp:coreProperties>
</file>