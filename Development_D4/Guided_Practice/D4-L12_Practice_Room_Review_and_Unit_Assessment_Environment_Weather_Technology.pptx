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D4-L12 (Review and Unit Assessment: Environment, Weather and Technology) — new practice tasks built on the lesson’s own word bank and grammar (D4 review: yasūdu / yatamayyazu bi-; weather word as subject; yutawaqqaʿu an + -a; bi-sababi · yuʾaddī ilā · mimmā yusabbibu; passives; yanbaghī / yajibu ʿalā … an + -a (-ū for “they”); digital verbs + prepositions; tuḥawwilu … ilā …; idhā lam + jussive; impersonal reporting; qualified judgements).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FADED SUPPORT: tasks 1–2 show the plan (question word → first words); students write their own plan for 3–4. Everyone is Speaker once. To a girl the Leader says: no changes needed. This card mixes every D4 structure; the Coach ticks each one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Practice Room — Review and Unit Assessment: Environment, Weather and Technology</a:t>
            </a:r>
            <a:endParaRPr lang="en-US" sz="24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review of the whole D4 unit: recall twelve key D4 expressions, act a mixed dialogue, answer mixed exam-style cards, do a full role-play card, give a one-minute talk, then build, fix and write an exam-style article — and set one target for D5.</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D4-L12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D4</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D4 key language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يَسُودُ مَنَاخٌ مُعْتَدِلٌ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mild climate prevails</a:t>
            </a:r>
            <a:endParaRPr lang="en-US" sz="1350" dirty="0"/>
          </a:p>
          <a:p>
            <a:pPr indent="0" marL="0">
              <a:buNone/>
            </a:pPr>
            <a:r>
              <a:rPr lang="en-US" sz="1100" i="1" dirty="0">
                <a:solidFill>
                  <a:srgbClr val="5A6472"/>
                </a:solidFill>
                <a:latin typeface="Calibri" pitchFamily="34" charset="0"/>
                <a:cs typeface="Amiri" pitchFamily="2" charset="-78"/>
              </a:rPr>
              <a:t>ya-sū-du ma-nā-khun muʿ-ta-di-lun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تَهُبُّ الرِّيَاحُ</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winds blow</a:t>
            </a:r>
            <a:endParaRPr lang="en-US" sz="1350" dirty="0"/>
          </a:p>
          <a:p>
            <a:pPr indent="0" marL="0">
              <a:buNone/>
            </a:pPr>
            <a:r>
              <a:rPr lang="en-US" sz="1100" i="1" dirty="0">
                <a:solidFill>
                  <a:srgbClr val="5A6472"/>
                </a:solidFill>
                <a:latin typeface="Calibri" pitchFamily="34" charset="0"/>
                <a:cs typeface="Amiri" pitchFamily="2" charset="-78"/>
              </a:rPr>
              <a:t>ta-hub-bu ar-ri-yā-ḥu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يُتَوَقَّعُ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expected that</a:t>
            </a:r>
            <a:endParaRPr lang="en-US" sz="1350" dirty="0"/>
          </a:p>
          <a:p>
            <a:pPr indent="0" marL="0">
              <a:buNone/>
            </a:pPr>
            <a:r>
              <a:rPr lang="en-US" sz="1100" i="1" dirty="0">
                <a:solidFill>
                  <a:srgbClr val="5A6472"/>
                </a:solidFill>
                <a:latin typeface="Calibri" pitchFamily="34" charset="0"/>
                <a:cs typeface="Amiri" pitchFamily="2" charset="-78"/>
              </a:rPr>
              <a:t>yu-ta-waq-qa-ʿu 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بِسَبَبِ</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of</a:t>
            </a:r>
            <a:endParaRPr lang="en-US" sz="1350" dirty="0"/>
          </a:p>
          <a:p>
            <a:pPr indent="0" marL="0">
              <a:buNone/>
            </a:pPr>
            <a:r>
              <a:rPr lang="en-US" sz="1100" i="1" dirty="0">
                <a:solidFill>
                  <a:srgbClr val="5A6472"/>
                </a:solidFill>
                <a:latin typeface="Calibri" pitchFamily="34" charset="0"/>
                <a:cs typeface="Amiri" pitchFamily="2" charset="-78"/>
              </a:rPr>
              <a:t>bi-sa-ba-bi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يُؤَدِّي إِلَى</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تُقْطَعُ الأَشْجَارُ</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trees are cut down</a:t>
            </a:r>
            <a:endParaRPr lang="en-US" sz="1350" dirty="0"/>
          </a:p>
          <a:p>
            <a:pPr indent="0" marL="0">
              <a:buNone/>
            </a:pPr>
            <a:r>
              <a:rPr lang="en-US" sz="1100" i="1" dirty="0">
                <a:solidFill>
                  <a:srgbClr val="5A6472"/>
                </a:solidFill>
                <a:latin typeface="Calibri" pitchFamily="34" charset="0"/>
                <a:cs typeface="Amiri" pitchFamily="2" charset="-78"/>
              </a:rPr>
              <a:t>tuq-ṭa-ʿu al-ash-jā-ru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D4 key language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عَلَى الحُكُومَةِ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government must</a:t>
            </a:r>
            <a:endParaRPr lang="en-US" sz="1350" dirty="0"/>
          </a:p>
          <a:p>
            <a:pPr indent="0" marL="0">
              <a:buNone/>
            </a:pPr>
            <a:r>
              <a:rPr lang="en-US" sz="1100" i="1" dirty="0">
                <a:solidFill>
                  <a:srgbClr val="5A6472"/>
                </a:solidFill>
                <a:latin typeface="Calibri" pitchFamily="34" charset="0"/>
                <a:cs typeface="Amiri" pitchFamily="2" charset="-78"/>
              </a:rPr>
              <a:t>ya-ji-bu ʿa-lā al-ḥu-kū-ma-ti 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إِعَادَةُ التَّدْوِيرِ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recycling</a:t>
            </a:r>
            <a:endParaRPr lang="en-US" sz="1350" dirty="0"/>
          </a:p>
          <a:p>
            <a:pPr indent="0" marL="0">
              <a:buNone/>
            </a:pPr>
            <a:r>
              <a:rPr lang="en-US" sz="1100" i="1" dirty="0">
                <a:solidFill>
                  <a:srgbClr val="5A6472"/>
                </a:solidFill>
                <a:latin typeface="Calibri" pitchFamily="34" charset="0"/>
                <a:cs typeface="Amiri" pitchFamily="2" charset="-78"/>
              </a:rPr>
              <a:t>i-ʿā-da-tu at-tad-wī-ri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أَتَوَاصَلُ مَعَ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keep in touch with</a:t>
            </a:r>
            <a:endParaRPr lang="en-US" sz="1350" dirty="0"/>
          </a:p>
          <a:p>
            <a:pPr indent="0" marL="0">
              <a:buNone/>
            </a:pPr>
            <a:r>
              <a:rPr lang="en-US" sz="1100" i="1" dirty="0">
                <a:solidFill>
                  <a:srgbClr val="5A6472"/>
                </a:solidFill>
                <a:latin typeface="Calibri" pitchFamily="34" charset="0"/>
                <a:cs typeface="Amiri" pitchFamily="2" charset="-78"/>
              </a:rPr>
              <a:t>a-ta-wā-ṣa-lu ma-ʿa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تُحَوِّلُ … إِلَى …</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converts … into …</a:t>
            </a:r>
            <a:endParaRPr lang="en-US" sz="1350" dirty="0"/>
          </a:p>
          <a:p>
            <a:pPr indent="0" marL="0">
              <a:buNone/>
            </a:pPr>
            <a:r>
              <a:rPr lang="en-US" sz="1100" i="1" dirty="0">
                <a:solidFill>
                  <a:srgbClr val="5A6472"/>
                </a:solidFill>
                <a:latin typeface="Calibri" pitchFamily="34" charset="0"/>
                <a:cs typeface="Amiri" pitchFamily="2" charset="-78"/>
              </a:rPr>
              <a:t>tu-ḥaw-wi-lu … i-lā …</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لَمْ نُرَشِّدْ</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we don’t conserve</a:t>
            </a:r>
            <a:endParaRPr lang="en-US" sz="1350" dirty="0"/>
          </a:p>
          <a:p>
            <a:pPr indent="0" marL="0">
              <a:buNone/>
            </a:pPr>
            <a:r>
              <a:rPr lang="en-US" sz="1100" i="1" dirty="0">
                <a:solidFill>
                  <a:srgbClr val="5A6472"/>
                </a:solidFill>
                <a:latin typeface="Calibri" pitchFamily="34" charset="0"/>
                <a:cs typeface="Amiri" pitchFamily="2" charset="-78"/>
              </a:rPr>
              <a:t>i-dhā lam nu-rash-shid</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إِلَى حَدٍّ مَا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some extent</a:t>
            </a:r>
            <a:endParaRPr lang="en-US" sz="1350" dirty="0"/>
          </a:p>
          <a:p>
            <a:pPr indent="0" marL="0">
              <a:buNone/>
            </a:pPr>
            <a:r>
              <a:rPr lang="en-US" sz="1100" i="1" dirty="0">
                <a:solidFill>
                  <a:srgbClr val="5A6472"/>
                </a:solidFill>
                <a:latin typeface="Calibri" pitchFamily="34" charset="0"/>
                <a:cs typeface="Amiri" pitchFamily="2" charset="-78"/>
              </a:rPr>
              <a:t>i-lā ḥad-din mā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Everything from D4 in one conversation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 الوَحْدَةِ فِي حِوَارٍ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weather like in your city this week?</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الطَّقْسُ فِي مَدِينَتِكَ هٰذَا الأُسْبُوعَ؟</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Strong winds are blowing, and rain is expected tomorrow.</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تَهُبُّ رِيَاحٌ قَوِيَّةٌ، وَيُتَوَقَّعُ أَنْ يَسْقُطَ المَطَرُ غَدًا.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environmental problem there?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المُشْكِلَةُ البِيئِيَّةُ هُنَاكَ؟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Floods, because of tree cutting, which causes big losses.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الفَيَضَانَاتُ، بِسَبَبِ قَطْعِ الأَشْجَارِ، مِمَّا يُسَبِّبُ خَسَائِرَ كَبِيرَةً.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solution?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الحَلُّ؟</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council must plant trees, and technology helps to some extent.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يَجِبُ عَلَى البَلَدِيَّةِ أَنْ تَزْرَعَ الأَشْجَارَ، وَالتِّكْنُولُوجِيَا تُسَاعِدُ إِلَى حَدٍّ مَا.</a:t>
            </a:r>
            <a:endParaRPr lang="ar-SA" sz="19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Round 2: swap letters. Round 3: answer with YOUR city — then ask your partner the same three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Mixed exam cards — one from each part of D4</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بَيْنَمَا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يَتَمَيَّزُ / تَتَمَيَّزُ … بِ… وَيَسُودُ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nature and climate of a country you know.</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طَبِيعَةَ بَلَدٍ تَعْرِفُهُ وَمَنَاخَهُ.</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أَحَرُّ / أَبْرَدُ مِنْ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يُتَوَقَّعُ 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What’s the forecast for the weekend?</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تَوَقُّعَاتُ الطَّقْسِ لِنِهَايَةِ الأُسْبُوعِ؟</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 ، مِمَّا يُؤَدِّي إِلَى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Causes and effects of pollution?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أَسْبَابُ التَّلَوُّثِ وَنَتَائِجُهُ؟</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 مِنْ نَاحِيَةٍ … وَمِنْ نَاحِيَةٍ أُخْرَى …</a:t>
            </a:r>
            <a:endParaRPr lang="ar-SA" sz="13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أَتَوَاصَلُ مَعَ … / أَبْحَثُ عَنْ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use technology? Is it useful?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تَسْتَخْدِمُ التِّكْنُولُوجِيَا؟ هَلْ هِيَ مُفِيدَةٌ؟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يَجِبُ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لَمْ نَحْمِ البِيئَةَ، فَسَوْفَ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happen if we don’t protect the environment?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سَيَحْدُثُ إِذَا لَمْ نَحْمِ البِيئَةَ؟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the school environment day interview</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البِيئَةِ فِي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المُشْكِلَةُ ← … بِسَبَبِ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Problem + cause.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أَكْبَرُ مُشْكِلَةٍ فِي مَدْرَسَتِكُمْ؟</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النَّتِيجَةُ ← يُؤَدِّي إِلَى … مِمَّا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Effect chain.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النَّتِيجَةُ؟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solutions.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حُلُولُكُمْ؟</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one technology.</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تَسْتَخْدِمُونَ التِّكْنُولُوجِيَا؟</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eco-club leader · Leader = a local journalist.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D4 showcase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أَعْرِضُ مَا تَعَلَّمْتُ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the environment and technology. The Coach ticks: </a:t>
            </a:r>
            <a:pPr algn="l" indent="0" marL="0">
              <a:buNone/>
            </a:pPr>
            <a:r>
              <a:rPr lang="ar-SA" altLang="en-US" sz="1750" dirty="0">
                <a:solidFill>
                  <a:srgbClr val="1F2A37"/>
                </a:solidFill>
                <a:latin typeface="Amiri" pitchFamily="2" charset="-78"/>
                <a:ea typeface="Amiri" pitchFamily="2" charset="-78"/>
                <a:cs typeface="Amiri" pitchFamily="2" charset="-78"/>
              </a:rPr>
              <a:t>يَسُودُ</a:t>
            </a:r>
            <a:pPr algn="l" indent="0" marL="0">
              <a:buNone/>
            </a:pPr>
            <a:r>
              <a:rPr lang="en-US" sz="1350" dirty="0">
                <a:solidFill>
                  <a:srgbClr val="1F2A37"/>
                </a:solidFill>
                <a:latin typeface="Calibri" pitchFamily="34" charset="0"/>
                <a:cs typeface="Amiri" pitchFamily="2" charset="-78"/>
              </a:rPr>
              <a:t> · weather verb · </a:t>
            </a:r>
            <a:pPr algn="l" indent="0" marL="0">
              <a:buNone/>
            </a:pPr>
            <a:r>
              <a:rPr lang="ar-SA" altLang="en-US" sz="1750" dirty="0">
                <a:solidFill>
                  <a:srgbClr val="1F2A37"/>
                </a:solidFill>
                <a:latin typeface="Amiri" pitchFamily="2" charset="-78"/>
                <a:ea typeface="Amiri" pitchFamily="2" charset="-78"/>
                <a:cs typeface="Amiri" pitchFamily="2" charset="-78"/>
              </a:rPr>
              <a:t>يُتَوَقَّعُ أَنْ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بِسَبَبِ</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يُؤَدِّي إِلَى</a:t>
            </a:r>
            <a:pPr algn="l" indent="0" marL="0">
              <a:buNone/>
            </a:pPr>
            <a:r>
              <a:rPr lang="en-US" sz="1350" dirty="0">
                <a:solidFill>
                  <a:srgbClr val="1F2A37"/>
                </a:solidFill>
                <a:latin typeface="Calibri" pitchFamily="34" charset="0"/>
                <a:cs typeface="Amiri" pitchFamily="2" charset="-78"/>
              </a:rPr>
              <a:t> · passive · </a:t>
            </a:r>
            <a:pPr algn="l" indent="0" marL="0">
              <a:buNone/>
            </a:pPr>
            <a:r>
              <a:rPr lang="ar-SA" altLang="en-US" sz="1750" dirty="0">
                <a:solidFill>
                  <a:srgbClr val="1F2A37"/>
                </a:solidFill>
                <a:latin typeface="Amiri" pitchFamily="2" charset="-78"/>
                <a:ea typeface="Amiri" pitchFamily="2" charset="-78"/>
                <a:cs typeface="Amiri" pitchFamily="2" charset="-78"/>
              </a:rPr>
              <a:t>يَجِبُ عَلَى … أَنْ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تُحَوِّلُ … إِلَى</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إِذَا لَمْ</a:t>
            </a:r>
            <a:pPr algn="l" indent="0" marL="0">
              <a:buNone/>
            </a:pPr>
            <a:r>
              <a:rPr lang="en-US" sz="1350" dirty="0">
                <a:solidFill>
                  <a:srgbClr val="1F2A37"/>
                </a:solidFill>
                <a:latin typeface="Calibri" pitchFamily="34" charset="0"/>
                <a:cs typeface="Amiri" pitchFamily="2" charset="-78"/>
              </a:rPr>
              <a: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structures from the list.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Seven structures, with accurate </a:t>
            </a:r>
            <a:pPr algn="l" indent="0" marL="0">
              <a:buNone/>
            </a:pPr>
            <a:r>
              <a:rPr lang="ar-SA" altLang="en-US" sz="1500" dirty="0">
                <a:solidFill>
                  <a:srgbClr val="1F2A37"/>
                </a:solidFill>
                <a:latin typeface="Amiri" pitchFamily="2" charset="-78"/>
                <a:ea typeface="Amiri" pitchFamily="2" charset="-78"/>
                <a:cs typeface="Amiri" pitchFamily="2" charset="-78"/>
              </a:rPr>
              <a:t>أَنْ</a:t>
            </a:r>
            <a:pPr algn="l" indent="0" marL="0">
              <a:buNone/>
            </a:pPr>
            <a:r>
              <a:rPr lang="en-US" sz="1150" dirty="0">
                <a:solidFill>
                  <a:srgbClr val="1F2A37"/>
                </a:solidFill>
                <a:latin typeface="Calibri" pitchFamily="34" charset="0"/>
                <a:cs typeface="Amiri" pitchFamily="2" charset="-78"/>
              </a:rPr>
              <a:t> + -a.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nine, ending with a qualified judgement.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Snow is expected to fall in the mountains.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يُتَوَقَّعُ</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يَتَوَقَّعُ</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تَسْقُطَ الثُّلُوجُ</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يَسْقُطُ الثُّلُوجُ</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الجِبَالِ.</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الجِبَالُ.</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Water is polluted, which causes diseases.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تُلَوَّثُ المِيَاهُ،</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يُلَوِّثُ المِيَاهُ،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مِمَّا يُسَبِّبُ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 يُسَبِّبُ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الأَمْرَاضَ.</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الأَمْرَاضُ.</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Citizens must use public transport.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عَلَى المُوَاطِنِينَ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المُوَاطِنُونَ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يَسْتَخْدِمُوا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يَسْتَخْدِمُونَ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النَّقْلَ العَامَّ.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النَّقْلُ العَامُّ.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Snow is expected to fall in the mountains.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a:t>
            </a:r>
            <a:pPr algn="l" indent="0" marL="0">
              <a:buNone/>
            </a:pPr>
            <a:r>
              <a:rPr lang="ar-SA" altLang="en-US" sz="1350" dirty="0">
                <a:solidFill>
                  <a:srgbClr val="5A6472"/>
                </a:solidFill>
                <a:latin typeface="Amiri" pitchFamily="2" charset="-78"/>
                <a:ea typeface="Amiri" pitchFamily="2" charset="-78"/>
                <a:cs typeface="Amiri" pitchFamily="2" charset="-78"/>
              </a:rPr>
              <a:t>تَسْقُطَ</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يُتَوَقَّعُ أَنْ تَسْقُطَ الثُّلُوجُ فِي الجِبَالِ.</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Water is polluted, which causes diseases.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 </a:t>
            </a:r>
            <a:pPr algn="l" indent="0" marL="0">
              <a:buNone/>
            </a:pPr>
            <a:r>
              <a:rPr lang="ar-SA" altLang="en-US" sz="1350" dirty="0">
                <a:solidFill>
                  <a:srgbClr val="5A6472"/>
                </a:solidFill>
                <a:latin typeface="Amiri" pitchFamily="2" charset="-78"/>
                <a:ea typeface="Amiri" pitchFamily="2" charset="-78"/>
                <a:cs typeface="Amiri" pitchFamily="2" charset="-78"/>
              </a:rPr>
              <a:t>مِمَّا يُسَبِّبُ</a:t>
            </a:r>
            <a:pPr algn="l" indent="0" marL="0">
              <a:buNone/>
            </a:pPr>
            <a:r>
              <a:rPr lang="en-US" sz="1050" i="1" dirty="0">
                <a:solidFill>
                  <a:srgbClr val="5A6472"/>
                </a:solidFill>
                <a:latin typeface="Calibri" pitchFamily="34" charset="0"/>
                <a:cs typeface="Amiri" pitchFamily="2" charset="-78"/>
              </a:rPr>
              <a:t> + object.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تُلَوَّثُ المِيَاهُ، مِمَّا يُسَبِّبُ الأَمْرَاضَ.</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Citizens must use public transport.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عَلَى</a:t>
            </a:r>
            <a:pPr algn="l" indent="0" marL="0">
              <a:buNone/>
            </a:pPr>
            <a:r>
              <a:rPr lang="en-US" sz="1050" i="1" dirty="0">
                <a:solidFill>
                  <a:srgbClr val="5A6472"/>
                </a:solidFill>
                <a:latin typeface="Calibri" pitchFamily="34" charset="0"/>
                <a:cs typeface="Amiri" pitchFamily="2" charset="-78"/>
              </a:rPr>
              <a:t> + genitive; -ū 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عَلَى المُوَاطِنِينَ أَنْ يَسْتَخْدِمُوا النَّقْلَ العَامَّ.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يَسْقُطُ الثُّلُوجُ وَيُتَوَقَّعُ أَنْ يَرْتَفِعُ البَرْدُ.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يُؤَدِّي التَّلَوُّثُ المَرَضَ بِسَبَبِ المَصَانِعُ.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لَا نُرَشِّدُ المَاءَ، سَيَنْضَبُ.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يَسْقُطُ الثُّلُوجُ وَيُتَوَقَّعُ أَنْ يَرْتَفِعُ البَرْدُ.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تَسْقُطُ الثُّلُوجُ، وَيُتَوَقَّعُ أَنْ يَشْتَدَّ البَرْدُ.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 verb;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يُؤَدِّي التَّلَوُّثُ المَرَضَ بِسَبَبِ المَصَانِعُ.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يُؤَدِّي التَّلَوُّثُ إِلَى المَرَضِ بِسَبَبِ المَصَانِعِ.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يُؤَدِّي إِلَى</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بِسَبَبِ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لَا نُرَشِّدُ المَاءَ، سَيَنْضَبُ.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لَمْ نُرَشِّدِ المَاءَ، فَسَوْفَ يَنْضَبُ.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إِذَا لَمْ</a:t>
            </a:r>
            <a:pPr algn="l" indent="0" marL="0">
              <a:buNone/>
            </a:pPr>
            <a:r>
              <a:rPr lang="en-US" sz="1150" b="1" dirty="0">
                <a:solidFill>
                  <a:srgbClr val="1B3B6F"/>
                </a:solidFill>
                <a:latin typeface="Calibri" pitchFamily="34" charset="0"/>
                <a:cs typeface="Amiri" pitchFamily="2" charset="-78"/>
              </a:rPr>
              <a:t> + jussive; result with fa-.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مِمَّا يُؤَدِّي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which leads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يَجِبُ عَلَى الشَّبَابِ أَنْ ______ ، بِشَرْطِ أَنْ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Young people must …, on condition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______ يَسُودُ مَنَاخٌ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 a … climate prevails.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أَكْبَرُ مُشْكِلَةٍ هِيَ ______ بِسَبَبِ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biggest problem is … because of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الحُكُومَةِ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government must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التِّكْنُولُوجِيَا تُسَاعِدُ إِلَى حَدٍّ مَا، لِأَنَّ ______ .</a:t>
            </a:r>
            <a:endParaRPr lang="ar-SA" sz="16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Technology helps to some extent,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يَسُودُ · يَتَمَيَّزُ بِ…  ·  يُتَوَقَّعُ أَنْ  ·  بِسَبَبِ · يُؤَدِّي إِلَى  ·  مِمَّا يُسَبِّبُ  ·  تُقْطَعُ · يُلَوَّثُ  ·  يَجِبُ عَلَى … أَنْ  ·  تُحَوِّلُ … إِلَى …  ·  إِلَى حَدٍّ مَا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Exam-style article: our planet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 بِأُسْلُوبِ الامْتِحَانِ: كَوْكَبُنَا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article (about 60–85 words) for a youth magazine. Answer ALL four bullets: • the climate and weather where you live • one environmental problem, with causes and effects • two solutions (one for the government, one for young people) • can technology help? Give a qualified judgement.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يَسُودُ … · يُتَوَقَّعُ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 prevails · it is expected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 مِمَّا يُؤَدِّي إِلَى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 which leads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 أَنْ … · يَنْبَغِي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must … · we should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حَدٍّ مَا · بِشَرْطِ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some extent · on condition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with accurate verb agreement?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 cause-effect chain, -ū after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and a qualified judgement?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هَدْرُ الطَّعَامِ، بِسَبَبِ الوَجَبَاتِ الكَبِيرَةِ فِي المَقْصَفِ.</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Food waste, because of big portions in the canteen.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أَكْبَرُ مُشْكِلَةٍ فِي مَدْرَسَتِكُمْ؟</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ذٰلِكَ إِلَى نُفَايَاتٍ كَثِيرَةٍ، مِمَّا يُسَبِّبُ رَوَائِحَ وَتَلَوُّثًا.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 leads to lots of waste, which causes smells and pollution.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النَّتِيجَةُ؟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نُقَدِّمَ وَجَبَاتٍ أَصْغَرَ، وَيَجِبُ عَلَى الطُّلَّابِ أَنْ يُعِيدُوا تَدْوِيرَ البَقَايَا.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should serve smaller meals, and students must recycle the leftovers.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حُلُولُكُمْ؟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عِنْدَنَا آلَةٌ تُحَوِّلُ بَقَايَا الطَّعَامِ إِلَى سَمَادٍ لِلْحَدِيقَةِ.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 we have a machine that turns food leftovers into compost for the garden.</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تَسْتَخْدِمُونَ التِّكْنُولُوجِيَا؟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شَمَالِ إِنْجِلْتِرَا يَسُودُ مَنَاخٌ بَارِدٌ وَرَطْبٌ، وَيَسْقُطُ المَطَرُ كَثِيرًا، وَيُتَوَقَّعُ أَنْ تَزْدَادَ العَوَاصِفُ فِي المُسْتَقْبَلِ. أَكْبَرُ مُشْكِلَةٍ هُنَا هِيَ الفَيَضَانَاتُ، بِسَبَبِ الأَمْطَارِ الغَزِيرَةِ وَالبِنَاءِ قُرْبَ الأَنْهَارِ، مِمَّا يُؤَدِّي إِلَى تَدْمِيرِ البُيُوتِ. يَجِبُ عَلَى الحُكُومَةِ أَنْ تَبْنِيَ حَوَاجِزَ قَوِيَّةً، وَيَجِبُ عَلَى الشَّبَابِ أَنْ يَزْرَعُوا الأَشْجَارَ. التِّكْنُولُوجِيَا تُسَاعِدُ إِلَى حَدٍّ مَا؛ فَمَثَلًا، تُرْسِلُ التَّطْبِيقَاتُ تَحْذِيرَاتٍ مُبَكِّرَةً، بِشَرْطِ أَنْ يَهْتَمَّ النَّاسُ بِهَا.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north of England a cold, humid climate prevails, it rains a lot, and storms are expected to increase in future. The biggest problem here is flooding, because of heavy rain and building near rivers, which leads to houses being destroyed. The government must build strong barriers, and young people must plant trees. Technology helps to some extent; for example, apps send early warnings, on condition that people pay attention to them.”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يَسُودُ مَنَاخٌ بَارِدٌ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يُتَوَقَّعُ أَنْ تَزْدَادَ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يُؤَدِّي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إِلَى حَدٍّ مَا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D4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Before you leave: write ONE target for D5 in your book, e.g. “After </a:t>
            </a:r>
            <a:pPr algn="l" indent="0" marL="0">
              <a:buNone/>
            </a:pPr>
            <a:r>
              <a:rPr lang="ar-SA" altLang="en-US" sz="1700" b="1" dirty="0">
                <a:solidFill>
                  <a:srgbClr val="FFFFFF"/>
                </a:solidFill>
                <a:latin typeface="Amiri" pitchFamily="2" charset="-78"/>
                <a:ea typeface="Amiri" pitchFamily="2" charset="-78"/>
                <a:cs typeface="Amiri" pitchFamily="2" charset="-78"/>
              </a:rPr>
              <a:t>أَنْ</a:t>
            </a:r>
            <a:pPr algn="l" indent="0" marL="0">
              <a:buNone/>
            </a:pPr>
            <a:r>
              <a:rPr lang="en-US" sz="1300" b="1" dirty="0">
                <a:solidFill>
                  <a:srgbClr val="FFFFFF"/>
                </a:solidFill>
                <a:latin typeface="Calibri" pitchFamily="34" charset="0"/>
                <a:cs typeface="Amiri" pitchFamily="2" charset="-78"/>
              </a:rPr>
              <a:t>, they = -ū (</a:t>
            </a:r>
            <a:pPr algn="l" indent="0" marL="0">
              <a:buNone/>
            </a:pPr>
            <a:r>
              <a:rPr lang="ar-SA" altLang="en-US" sz="1700" b="1" dirty="0">
                <a:solidFill>
                  <a:srgbClr val="FFFFFF"/>
                </a:solidFill>
                <a:latin typeface="Amiri" pitchFamily="2" charset="-78"/>
                <a:ea typeface="Amiri" pitchFamily="2" charset="-78"/>
                <a:cs typeface="Amiri" pitchFamily="2" charset="-78"/>
              </a:rPr>
              <a:t>يَسْتَخْدِمُوا</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D4-L12 · Practice Room — Review and Unit Assessment: Environment, Weather and Technology</dc:title>
  <dc:subject>PptxGenJS Presentation</dc:subject>
  <dc:creator>Al Madina Online School · Arabic Department</dc:creator>
  <cp:lastModifiedBy>Al Madina Online School · Arabic Department</cp:lastModifiedBy>
  <cp:revision>1</cp:revision>
  <dcterms:created xsi:type="dcterms:W3CDTF">2026-10-25T18:33:13Z</dcterms:created>
  <dcterms:modified xsi:type="dcterms:W3CDTF">2026-10-25T18:33:13Z</dcterms:modified>
</cp:coreProperties>
</file>