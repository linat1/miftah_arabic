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D4-L03 (Environmental Problems — Causes and Effects) — new practice tasks built on the lesson’s own word bank and grammar (cause → effect chains: bi-sababi + genitive · yuʾaddī ilā + genitive · mimmā yusabbibu …; active (tulawwithu al-maṣāniʿu al-hawāʾa) vs passive (yulawwathu al-hawāʾu · tuqṭaʿu al-ashjāru); naming the problem with a maṣdar (talawwuth · izālat al-ghābāt · al-taṣaḥḥur)).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D4-L03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4 (7 min). FADED SUPPORT: tasks 1–2 show the plan (question word → first words); students write their own plan for 3–4. Everyone is Speaker once. To a girl the Leader says: presenter to a girl: حَيِّكِ · رَأْيِكِ. bi-sababi + genitive; yuʾaddī ilā + genitive; mimmā yusabbibu + object.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(40–50 words). Develop: 60–80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(55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D4  ·  D4-L03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D4-L03</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Environmental Problems — Causes and Effects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المُشْكِلَاتُ البِيئِيَّةُ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100" dirty="0">
                <a:solidFill>
                  <a:srgbClr val="C6D2E6"/>
                </a:solidFill>
                <a:latin typeface="Calibri" pitchFamily="34" charset="0"/>
                <a:cs typeface="Amiri" pitchFamily="2" charset="-78"/>
              </a:rPr>
              <a:t>Students run their own speaking and writing practice about environmental problems: say the problem words, act a short dialogue building a cause-effect chain, answer question cards, do a role-play card for a radio phone-in, give a one-minute cause-effect talk, then build, fix and write an explanation of one problem in their area.</a:t>
            </a:r>
            <a:endParaRPr lang="en-US" sz="11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D4-L03 · Development D4 · Environment, Weather and Technology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D4 › D4-L03</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D4-L03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D4-L03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D4-L03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D4-L03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D4-L03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D4-L03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D4-L03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D4-L03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D4-L03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Environmental problems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D4-L03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تَلَوُّثُ الهَوَاءِ</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air pollution</a:t>
            </a:r>
            <a:endParaRPr lang="en-US" sz="1350" dirty="0"/>
          </a:p>
          <a:p>
            <a:pPr indent="0" marL="0">
              <a:buNone/>
            </a:pPr>
            <a:r>
              <a:rPr lang="en-US" sz="1100" i="1" dirty="0">
                <a:solidFill>
                  <a:srgbClr val="5A6472"/>
                </a:solidFill>
                <a:latin typeface="Calibri" pitchFamily="34" charset="0"/>
                <a:cs typeface="Amiri" pitchFamily="2" charset="-78"/>
              </a:rPr>
              <a:t>ta-law-wu-thu al-ha-wā-ʾi</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تَلَوُّثُ المِيَاهِ</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water pollution</a:t>
            </a:r>
            <a:endParaRPr lang="en-US" sz="1350" dirty="0"/>
          </a:p>
          <a:p>
            <a:pPr indent="0" marL="0">
              <a:buNone/>
            </a:pPr>
            <a:r>
              <a:rPr lang="en-US" sz="1100" i="1" dirty="0">
                <a:solidFill>
                  <a:srgbClr val="5A6472"/>
                </a:solidFill>
                <a:latin typeface="Calibri" pitchFamily="34" charset="0"/>
                <a:cs typeface="Amiri" pitchFamily="2" charset="-78"/>
              </a:rPr>
              <a:t>ta-law-wu-thu al-mi-yā-hi</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النُّفَايَاتُ البِلَاسْتِيكِيَّةُ</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plastic waste</a:t>
            </a:r>
            <a:endParaRPr lang="en-US" sz="1350" dirty="0"/>
          </a:p>
          <a:p>
            <a:pPr indent="0" marL="0">
              <a:buNone/>
            </a:pPr>
            <a:r>
              <a:rPr lang="en-US" sz="1100" i="1" dirty="0">
                <a:solidFill>
                  <a:srgbClr val="5A6472"/>
                </a:solidFill>
                <a:latin typeface="Calibri" pitchFamily="34" charset="0"/>
                <a:cs typeface="Amiri" pitchFamily="2" charset="-78"/>
              </a:rPr>
              <a:t>an-nu-fā-yā-tu al-bi-lās-tī-kiy-ya-tu</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إِزَالَةُ الغَابَاتِ</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deforestation</a:t>
            </a:r>
            <a:endParaRPr lang="en-US" sz="1350" dirty="0"/>
          </a:p>
          <a:p>
            <a:pPr indent="0" marL="0">
              <a:buNone/>
            </a:pPr>
            <a:r>
              <a:rPr lang="en-US" sz="1100" i="1" dirty="0">
                <a:solidFill>
                  <a:srgbClr val="5A6472"/>
                </a:solidFill>
                <a:latin typeface="Calibri" pitchFamily="34" charset="0"/>
                <a:cs typeface="Amiri" pitchFamily="2" charset="-78"/>
              </a:rPr>
              <a:t>i-zā-la-tu al-ghā-bā-ti</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التَّصَحُّرُ</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desertification</a:t>
            </a:r>
            <a:endParaRPr lang="en-US" sz="1350" dirty="0"/>
          </a:p>
          <a:p>
            <a:pPr indent="0" marL="0">
              <a:buNone/>
            </a:pPr>
            <a:r>
              <a:rPr lang="en-US" sz="1100" i="1" dirty="0">
                <a:solidFill>
                  <a:srgbClr val="5A6472"/>
                </a:solidFill>
                <a:latin typeface="Calibri" pitchFamily="34" charset="0"/>
                <a:cs typeface="Amiri" pitchFamily="2" charset="-78"/>
              </a:rPr>
              <a:t>at-ta-ṣaḥ-ḥu-ru</a:t>
            </a:r>
            <a:endParaRPr lang="en-US" sz="1350" dirty="0"/>
          </a:p>
        </p:txBody>
      </p:sp>
      <p:sp>
        <p:nvSpPr>
          <p:cNvPr id="50" name="Shape 4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566928"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3" name="Shape 5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الاحْتِبَاسُ الحَرَارِيُّ</a:t>
            </a:r>
            <a:endParaRPr lang="ar-SA" sz="3000" dirty="0"/>
          </a:p>
        </p:txBody>
      </p:sp>
      <p:sp>
        <p:nvSpPr>
          <p:cNvPr id="56" name="Text 5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global warming</a:t>
            </a:r>
            <a:endParaRPr lang="en-US" sz="1350" dirty="0"/>
          </a:p>
          <a:p>
            <a:pPr indent="0" marL="0">
              <a:buNone/>
            </a:pPr>
            <a:r>
              <a:rPr lang="en-US" sz="1100" i="1" dirty="0">
                <a:solidFill>
                  <a:srgbClr val="5A6472"/>
                </a:solidFill>
                <a:latin typeface="Calibri" pitchFamily="34" charset="0"/>
                <a:cs typeface="Amiri" pitchFamily="2" charset="-78"/>
              </a:rPr>
              <a:t>alḥ-ti-bā-su al-ḥa-rā-riy-yu</a:t>
            </a:r>
            <a:endParaRPr lang="en-US" sz="13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D4-L03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Causes and effects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D4-L03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ذَوَبَانُ الجَلِيدِ</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melting ice</a:t>
            </a:r>
            <a:endParaRPr lang="en-US" sz="1350" dirty="0"/>
          </a:p>
          <a:p>
            <a:pPr indent="0" marL="0">
              <a:buNone/>
            </a:pPr>
            <a:r>
              <a:rPr lang="en-US" sz="1100" i="1" dirty="0">
                <a:solidFill>
                  <a:srgbClr val="5A6472"/>
                </a:solidFill>
                <a:latin typeface="Calibri" pitchFamily="34" charset="0"/>
                <a:cs typeface="Amiri" pitchFamily="2" charset="-78"/>
              </a:rPr>
              <a:t>dha-wa-bā-nu al-ja-lī-di</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ارْتِفَاعُ مُسْتَوَى البَحْرِ</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sea-level rise</a:t>
            </a:r>
            <a:endParaRPr lang="en-US" sz="1350" dirty="0"/>
          </a:p>
          <a:p>
            <a:pPr indent="0" marL="0">
              <a:buNone/>
            </a:pPr>
            <a:r>
              <a:rPr lang="en-US" sz="1100" i="1" dirty="0">
                <a:solidFill>
                  <a:srgbClr val="5A6472"/>
                </a:solidFill>
                <a:latin typeface="Calibri" pitchFamily="34" charset="0"/>
                <a:cs typeface="Amiri" pitchFamily="2" charset="-78"/>
              </a:rPr>
              <a:t>ar-ti-fā-ʿu mus-ta-wā al-baḥ-ri</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بِسَبَبِ</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because of</a:t>
            </a:r>
            <a:endParaRPr lang="en-US" sz="1350" dirty="0"/>
          </a:p>
          <a:p>
            <a:pPr indent="0" marL="0">
              <a:buNone/>
            </a:pPr>
            <a:r>
              <a:rPr lang="en-US" sz="1100" i="1" dirty="0">
                <a:solidFill>
                  <a:srgbClr val="5A6472"/>
                </a:solidFill>
                <a:latin typeface="Calibri" pitchFamily="34" charset="0"/>
                <a:cs typeface="Amiri" pitchFamily="2" charset="-78"/>
              </a:rPr>
              <a:t>bi-sa-ba-bi</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يُؤَدِّي إِلَى</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leads to</a:t>
            </a:r>
            <a:endParaRPr lang="en-US" sz="1350" dirty="0"/>
          </a:p>
          <a:p>
            <a:pPr indent="0" marL="0">
              <a:buNone/>
            </a:pPr>
            <a:r>
              <a:rPr lang="en-US" sz="1100" i="1" dirty="0">
                <a:solidFill>
                  <a:srgbClr val="5A6472"/>
                </a:solidFill>
                <a:latin typeface="Calibri" pitchFamily="34" charset="0"/>
                <a:cs typeface="Amiri" pitchFamily="2" charset="-78"/>
              </a:rPr>
              <a:t>yu-ʾad-dī i-lā</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مِمَّا يُسَبِّبُ</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which causes</a:t>
            </a:r>
            <a:endParaRPr lang="en-US" sz="1350" dirty="0"/>
          </a:p>
          <a:p>
            <a:pPr indent="0" marL="0">
              <a:buNone/>
            </a:pPr>
            <a:r>
              <a:rPr lang="en-US" sz="1100" i="1" dirty="0">
                <a:solidFill>
                  <a:srgbClr val="5A6472"/>
                </a:solidFill>
                <a:latin typeface="Calibri" pitchFamily="34" charset="0"/>
                <a:cs typeface="Amiri" pitchFamily="2" charset="-78"/>
              </a:rPr>
              <a:t>mim-mā yu-sab-bi-bu</a:t>
            </a:r>
            <a:endParaRPr lang="en-US" sz="1350" dirty="0"/>
          </a:p>
        </p:txBody>
      </p:sp>
      <p:sp>
        <p:nvSpPr>
          <p:cNvPr id="50" name="Shape 4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566928"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53" name="Shape 5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نَتِيجَةً لِذٰلِكَ</a:t>
            </a:r>
            <a:endParaRPr lang="ar-SA" sz="3000" dirty="0"/>
          </a:p>
        </p:txBody>
      </p:sp>
      <p:sp>
        <p:nvSpPr>
          <p:cNvPr id="56" name="Text 5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as a result</a:t>
            </a:r>
            <a:endParaRPr lang="en-US" sz="1350" dirty="0"/>
          </a:p>
          <a:p>
            <a:pPr indent="0" marL="0">
              <a:buNone/>
            </a:pPr>
            <a:r>
              <a:rPr lang="en-US" sz="1100" i="1" dirty="0">
                <a:solidFill>
                  <a:srgbClr val="5A6472"/>
                </a:solidFill>
                <a:latin typeface="Calibri" pitchFamily="34" charset="0"/>
                <a:cs typeface="Amiri" pitchFamily="2" charset="-78"/>
              </a:rPr>
              <a:t>na-tī-ja-tan li-dhā-li-ka</a:t>
            </a:r>
            <a:endParaRPr lang="en-US" sz="13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D4-L03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Why is the river dirty?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لِمَاذَا النَّهْرُ مُلَوَّثٌ؟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D4-L03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Why is the river a strange colour?</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لِمَاذَا لَوْنُ النَّهْرِ غَرِيبٌ؟</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Because of water pollution. The factory dumps waste into it.</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بِسَبَبِ تَلَوُّثِ المِيَاهِ. المَصْنَعُ يَرْمِي النُّفَايَاتِ فِيهِ.</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the result?</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وَمَا النَّتِيجَةُ؟</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Pollution leads to fish dying, which causes problems for fishermen.</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يُؤَدِّي التَّلَوُّثُ إِلَى مَوْتِ الأَسْمَاكِ، مِمَّا يُسَبِّبُ مُشْكِلَاتٍ لِلصَّيَّادِينَ.</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the nearby forest?</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وَالغَابَةُ القَرِيبَةُ؟</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Trees are cut down every year to build houses.</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تُقْطَعُ الأَشْجَارُ كُلَّ سَنَةٍ لِبِنَاءِ البُيُوتِ.</a:t>
            </a:r>
            <a:endParaRPr lang="ar-SA" sz="20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Round 2: swap letters. Round 3: build a chain about ANOTHER problem (plastic, air, desert) — cause → effect → effect.</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D4-L03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Answer in a full sentence — then add more</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D4-L03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بِسَبَبِ …</a:t>
            </a:r>
            <a:endParaRPr lang="ar-SA" sz="15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أَكْبَرُ مُشْكِلَةٍ هِيَ …</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the biggest environmental problem in your city?</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أَكْبَرُ مُشْكِلَةٍ بِيئِيَّةٍ فِي مَدِينَتِكَ؟</a:t>
            </a:r>
            <a:endParaRPr lang="ar-SA" sz="17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38360" y="300471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مِثْلَ السَّيَّارَاتِ …</a:t>
            </a:r>
            <a:endParaRPr lang="ar-SA" sz="15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بِسَبَبِ … وَ …</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causes air pollution?</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أَسْبَابُ تَلَوُّثِ الهَوَاءِ؟</a:t>
            </a:r>
            <a:endParaRPr lang="ar-SA" sz="17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مِمَّا يُسَبِّبُ …</a:t>
            </a:r>
            <a:endParaRPr lang="ar-SA" sz="15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تُؤَدِّي إِلَى …</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does deforestation lead to?</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إِلَامَ تُؤَدِّي إِزَالَةُ الغَابَاتِ؟</a:t>
            </a:r>
            <a:endParaRPr lang="ar-SA" sz="17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38360" y="4478731"/>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مِمَّا يُؤَدِّي إِلَى ارْتِفَاعِ …</a:t>
            </a:r>
            <a:endParaRPr lang="ar-SA" sz="15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بِسَبَبِ الاحْتِبَاسِ الحَرَارِيِّ …</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Why is the ice melting?</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لِمَاذَا يَذُوبُ الجَلِيدُ؟</a:t>
            </a:r>
            <a:endParaRPr lang="ar-SA" sz="17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فَتَمُوتُ …</a:t>
            </a:r>
            <a:endParaRPr lang="ar-SA" sz="15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تُرْمَى فِي …</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is plastic waste thrown?</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أَيْنَ تُرْمَى النُّفَايَاتُ البِلَاسْتِيكِيَّةُ؟</a:t>
            </a:r>
            <a:endParaRPr lang="ar-SA" sz="17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D4-L03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E6B52"/>
                </a:solidFill>
                <a:latin typeface="Calibri" pitchFamily="34" charset="0"/>
                <a:cs typeface="Amiri" pitchFamily="2" charset="-78"/>
              </a:rPr>
              <a:t>STEP 4 · ROLE-PLAY CARD · PLANS FOR TASKS 1–2 ARE GIVEN — PLAN 3–4 YOURSELF</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Role-play card — a radio phone-in about pollution</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بَرْنَامَجٌ إِذَاعِيٌّ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D4-L03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المُشْكِلَةُ ← المُشْكِلَةُ هِيَ …</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 the problem.</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المُشْكِلَةُ فِي حَيِّكَ؟</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السَّبَبُ ← بِسَبَبِ …</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Cause with </a:t>
            </a:r>
            <a:pPr algn="l" indent="0" marL="0">
              <a:buNone/>
            </a:pPr>
            <a:r>
              <a:rPr lang="ar-SA" altLang="en-US" sz="1450" dirty="0">
                <a:solidFill>
                  <a:srgbClr val="5A6472"/>
                </a:solidFill>
                <a:latin typeface="Amiri" pitchFamily="2" charset="-78"/>
                <a:ea typeface="Amiri" pitchFamily="2" charset="-78"/>
                <a:cs typeface="Amiri" pitchFamily="2" charset="-78"/>
              </a:rPr>
              <a:t>بِسَبَبِ</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وَمَا سَبَبُهُ؟</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93608" y="3840480"/>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Effect chain.</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وَمَا النَّتَائِجُ؟</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0" name="Text 37"/>
          <p:cNvSpPr txBox="1"/>
          <p:nvPr/>
        </p:nvSpPr>
        <p:spPr>
          <a:xfrm>
            <a:off x="8293608" y="4626864"/>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the surprise question.</a:t>
            </a:r>
            <a:endParaRPr lang="en-US" sz="1100" dirty="0"/>
          </a:p>
        </p:txBody>
      </p:sp>
      <p:sp>
        <p:nvSpPr>
          <p:cNvPr id="42" name="Text 39"/>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وَمَنِ المَسْؤُولُ فِي رَأْيِكَ؟</a:t>
            </a:r>
            <a:endParaRPr lang="ar-SA" sz="1700" dirty="0"/>
          </a:p>
        </p:txBody>
      </p:sp>
      <p:sp>
        <p:nvSpPr>
          <p:cNvPr id="43" name="Text 40"/>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Speaker = a caller (a local student) · Leader = the radio presenter. Write the plan for tasks 3–4 in your book first. Task ! is a surprise — the Leader reads it without warning. Then swap roles.</a:t>
            </a:r>
            <a:endParaRPr lang="en-US" sz="11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D4-L03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ONE MINUTE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One minute: a cause-and-effect chain</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سِلْسِلَةُ أَسْبَابٍ وَنَتَائِجَ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D4-L03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one minute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Choose one problem. Talk for one minute: what it is, two causes, and a chain of two or three effects.</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Problem + one cause (</a:t>
            </a:r>
            <a:pPr algn="l" indent="0" marL="0">
              <a:buNone/>
            </a:pPr>
            <a:r>
              <a:rPr lang="ar-SA" altLang="en-US" sz="1500" dirty="0">
                <a:solidFill>
                  <a:srgbClr val="1F2A37"/>
                </a:solidFill>
                <a:latin typeface="Amiri" pitchFamily="2" charset="-78"/>
                <a:ea typeface="Amiri" pitchFamily="2" charset="-78"/>
                <a:cs typeface="Amiri" pitchFamily="2" charset="-78"/>
              </a:rPr>
              <a:t>بِسَبَبِ</a:t>
            </a:r>
            <a:pPr algn="l" indent="0" marL="0">
              <a:buNone/>
            </a:pPr>
            <a:r>
              <a:rPr lang="en-US" sz="1150" dirty="0">
                <a:solidFill>
                  <a:srgbClr val="1F2A37"/>
                </a:solidFill>
                <a:latin typeface="Calibri" pitchFamily="34" charset="0"/>
                <a:cs typeface="Amiri" pitchFamily="2" charset="-78"/>
              </a:rPr>
              <a:t>) + one effect.</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t>
            </a:r>
            <a:pPr algn="l" indent="0" marL="0">
              <a:buNone/>
            </a:pPr>
            <a:r>
              <a:rPr lang="ar-SA" altLang="en-US" sz="1500" dirty="0">
                <a:solidFill>
                  <a:srgbClr val="1F2A37"/>
                </a:solidFill>
                <a:latin typeface="Amiri" pitchFamily="2" charset="-78"/>
                <a:ea typeface="Amiri" pitchFamily="2" charset="-78"/>
                <a:cs typeface="Amiri" pitchFamily="2" charset="-78"/>
              </a:rPr>
              <a:t>يُؤَدِّي إِلَى … مِمَّا يُسَبِّبُ</a:t>
            </a:r>
            <a:pPr algn="l" indent="0" marL="0">
              <a:buNone/>
            </a:pPr>
            <a:r>
              <a:rPr lang="en-US" sz="1150" dirty="0">
                <a:solidFill>
                  <a:srgbClr val="1F2A37"/>
                </a:solidFill>
                <a:latin typeface="Calibri" pitchFamily="34" charset="0"/>
                <a:cs typeface="Amiri" pitchFamily="2" charset="-78"/>
              </a:rPr>
              <a:t> … and one passive.</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 second cause, a local example and who is responsible.</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 لِذٰلِكَ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 so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الخِتَامِ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to finish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D4-L03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D4-L03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 air is polluted because of factories.</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يُلَوَّثُ الهَوَاءُ</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يُلَوِّثُ الهَوَاءَ</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بِسَبَبِ</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بِسَبَبُ</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المَصَانِعِ.</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المَصَانِعُ.</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Deforestation leads to desertification.</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تُؤَدِّي</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يُؤَدِّي</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إِزَالَةُ الغَابَاتِ</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إِزَالَةَ الغَابَاتِ</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إِلَى التَّصَحُّرِ.</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إِلَى التَّصَحُّرُ.</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 ice melts, which causes sea levels to rise.</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يَذُوبُ الجَلِيدُ،</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يَذُوبُ الجَلِيدَ،</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مِمَّا يُسَبِّبُ</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مِمَّا يُسَبِّبَ</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ارْتِفَاعَ مُسْتَوَى البَحْرِ.</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ارْتِفَاعُ مُسْتَوَى البَحْرِ.</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D4-L03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D4-L03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 air is polluted because of factories.</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Passive </a:t>
            </a:r>
            <a:pPr algn="l" indent="0" marL="0">
              <a:buNone/>
            </a:pPr>
            <a:r>
              <a:rPr lang="ar-SA" altLang="en-US" sz="1350" dirty="0">
                <a:solidFill>
                  <a:srgbClr val="5A6472"/>
                </a:solidFill>
                <a:latin typeface="Amiri" pitchFamily="2" charset="-78"/>
                <a:ea typeface="Amiri" pitchFamily="2" charset="-78"/>
                <a:cs typeface="Amiri" pitchFamily="2" charset="-78"/>
              </a:rPr>
              <a:t>يُلَوَّثُ</a:t>
            </a:r>
            <a:pPr algn="l" indent="0" marL="0">
              <a:buNone/>
            </a:pPr>
            <a:r>
              <a:rPr lang="en-US" sz="1050" i="1" dirty="0">
                <a:solidFill>
                  <a:srgbClr val="5A6472"/>
                </a:solidFill>
                <a:latin typeface="Calibri" pitchFamily="34" charset="0"/>
                <a:cs typeface="Amiri" pitchFamily="2" charset="-78"/>
              </a:rPr>
              <a:t> + subject; </a:t>
            </a:r>
            <a:pPr algn="l" indent="0" marL="0">
              <a:buNone/>
            </a:pPr>
            <a:r>
              <a:rPr lang="ar-SA" altLang="en-US" sz="1350" dirty="0">
                <a:solidFill>
                  <a:srgbClr val="5A6472"/>
                </a:solidFill>
                <a:latin typeface="Amiri" pitchFamily="2" charset="-78"/>
                <a:ea typeface="Amiri" pitchFamily="2" charset="-78"/>
                <a:cs typeface="Amiri" pitchFamily="2" charset="-78"/>
              </a:rPr>
              <a:t>بِسَبَبِ</a:t>
            </a:r>
            <a:pPr algn="l" indent="0" marL="0">
              <a:buNone/>
            </a:pPr>
            <a:r>
              <a:rPr lang="en-US" sz="1050" i="1" dirty="0">
                <a:solidFill>
                  <a:srgbClr val="5A6472"/>
                </a:solidFill>
                <a:latin typeface="Calibri" pitchFamily="34" charset="0"/>
                <a:cs typeface="Amiri" pitchFamily="2" charset="-78"/>
              </a:rPr>
              <a:t> + genitive.</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يُلَوَّثُ الهَوَاءُ بِسَبَبِ المَصَانِعِ.</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Deforestation leads to desertification.</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إِزَالَةٌ</a:t>
            </a:r>
            <a:pPr algn="l" indent="0" marL="0">
              <a:buNone/>
            </a:pPr>
            <a:r>
              <a:rPr lang="en-US" sz="1050" i="1" dirty="0">
                <a:solidFill>
                  <a:srgbClr val="5A6472"/>
                </a:solidFill>
                <a:latin typeface="Calibri" pitchFamily="34" charset="0"/>
                <a:cs typeface="Amiri" pitchFamily="2" charset="-78"/>
              </a:rPr>
              <a:t> (f.) → </a:t>
            </a:r>
            <a:pPr algn="l" indent="0" marL="0">
              <a:buNone/>
            </a:pPr>
            <a:r>
              <a:rPr lang="ar-SA" altLang="en-US" sz="1350" dirty="0">
                <a:solidFill>
                  <a:srgbClr val="5A6472"/>
                </a:solidFill>
                <a:latin typeface="Amiri" pitchFamily="2" charset="-78"/>
                <a:ea typeface="Amiri" pitchFamily="2" charset="-78"/>
                <a:cs typeface="Amiri" pitchFamily="2" charset="-78"/>
              </a:rPr>
              <a:t>تُؤَدِّي</a:t>
            </a:r>
            <a:pPr algn="l" indent="0" marL="0">
              <a:buNone/>
            </a:pPr>
            <a:r>
              <a:rPr lang="en-US" sz="1050" i="1" dirty="0">
                <a:solidFill>
                  <a:srgbClr val="5A6472"/>
                </a:solidFill>
                <a:latin typeface="Calibri" pitchFamily="34" charset="0"/>
                <a:cs typeface="Amiri" pitchFamily="2" charset="-78"/>
              </a:rPr>
              <a:t>; </a:t>
            </a:r>
            <a:pPr algn="l" indent="0" marL="0">
              <a:buNone/>
            </a:pPr>
            <a:r>
              <a:rPr lang="ar-SA" altLang="en-US" sz="1350" dirty="0">
                <a:solidFill>
                  <a:srgbClr val="5A6472"/>
                </a:solidFill>
                <a:latin typeface="Amiri" pitchFamily="2" charset="-78"/>
                <a:ea typeface="Amiri" pitchFamily="2" charset="-78"/>
                <a:cs typeface="Amiri" pitchFamily="2" charset="-78"/>
              </a:rPr>
              <a:t>إِلَى</a:t>
            </a:r>
            <a:pPr algn="l" indent="0" marL="0">
              <a:buNone/>
            </a:pPr>
            <a:r>
              <a:rPr lang="en-US" sz="1050" i="1" dirty="0">
                <a:solidFill>
                  <a:srgbClr val="5A6472"/>
                </a:solidFill>
                <a:latin typeface="Calibri" pitchFamily="34" charset="0"/>
                <a:cs typeface="Amiri" pitchFamily="2" charset="-78"/>
              </a:rPr>
              <a:t> + genitive.</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تُؤَدِّي إِزَالَةُ الغَابَاتِ إِلَى التَّصَحُّرِ.</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 ice melts, which causes sea levels to rise.</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مِمَّا يُسَبِّبُ</a:t>
            </a:r>
            <a:pPr algn="l" indent="0" marL="0">
              <a:buNone/>
            </a:pPr>
            <a:r>
              <a:rPr lang="en-US" sz="1050" i="1" dirty="0">
                <a:solidFill>
                  <a:srgbClr val="5A6472"/>
                </a:solidFill>
                <a:latin typeface="Calibri" pitchFamily="34" charset="0"/>
                <a:cs typeface="Amiri" pitchFamily="2" charset="-78"/>
              </a:rPr>
              <a:t> + object in -a.</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يَذُوبُ الجَلِيدُ، مِمَّا يُسَبِّبُ ارْتِفَاعَ مُسْتَوَى البَحْرِ.</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D4-L03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D4-L03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بِسَبَبِ السَّيَّارَاتُ الهَوَاءُ مُلَوَّثٌ.</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After </a:t>
            </a:r>
            <a:pPr algn="l" indent="0" marL="0">
              <a:buNone/>
            </a:pPr>
            <a:r>
              <a:rPr lang="ar-SA" altLang="en-US" sz="1700" dirty="0">
                <a:solidFill>
                  <a:srgbClr val="5A6472"/>
                </a:solidFill>
                <a:latin typeface="Amiri" pitchFamily="2" charset="-78"/>
                <a:ea typeface="Amiri" pitchFamily="2" charset="-78"/>
                <a:cs typeface="Amiri" pitchFamily="2" charset="-78"/>
              </a:rPr>
              <a:t>بِسَبَبِ</a:t>
            </a:r>
            <a:pPr algn="l" indent="0" marL="0">
              <a:buNone/>
            </a:pPr>
            <a:r>
              <a:rPr lang="en-US" sz="1300" i="1" dirty="0">
                <a:solidFill>
                  <a:srgbClr val="5A6472"/>
                </a:solidFill>
                <a:latin typeface="Calibri" pitchFamily="34" charset="0"/>
                <a:cs typeface="Amiri" pitchFamily="2" charset="-78"/>
              </a:rPr>
              <a:t> …</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يُؤَدِّي التَّلَوُّثُ المَرَضَ.</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Missing preposition.</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يُقْطَعُ الأَشْجَارُ كُلَّ يَوْمٍ.</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Plural of things …</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D4-L03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D4-L03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بِسَبَبِ السَّيَّارَاتُ الهَوَاءُ مُلَوَّثٌ.</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الهَوَاءُ مُلَوَّثٌ بِسَبَبِ السَّيَّارَاتِ.</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بِسَبَبِ</a:t>
            </a:r>
            <a:pPr algn="l" indent="0" marL="0">
              <a:buNone/>
            </a:pPr>
            <a:r>
              <a:rPr lang="en-US" sz="1150" b="1" dirty="0">
                <a:solidFill>
                  <a:srgbClr val="1B3B6F"/>
                </a:solidFill>
                <a:latin typeface="Calibri" pitchFamily="34" charset="0"/>
                <a:cs typeface="Amiri" pitchFamily="2" charset="-78"/>
              </a:rPr>
              <a:t> + genitive.</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يُؤَدِّي التَّلَوُّثُ المَرَضَ.</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يُؤَدِّي التَّلَوُّثُ إِلَى المَرَضِ.</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rtl="1" algn="r" indent="0" marL="0">
              <a:buNone/>
            </a:pPr>
            <a:r>
              <a:rPr lang="ar-SA" altLang="en-US" sz="1450" dirty="0">
                <a:solidFill>
                  <a:srgbClr val="1B3B6F"/>
                </a:solidFill>
                <a:latin typeface="Amiri" pitchFamily="2" charset="-78"/>
                <a:ea typeface="Amiri" pitchFamily="2" charset="-78"/>
                <a:cs typeface="Amiri" pitchFamily="2" charset="-78"/>
              </a:rPr>
              <a:t>يُؤَدِّي إِلَى …</a:t>
            </a:r>
            <a:endParaRPr lang="ar-SA" sz="14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يُقْطَعُ الأَشْجَارُ كُلَّ يَوْمٍ.</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تُقْطَعُ الأَشْجَارُ كُلَّ يَوْمٍ.</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Non-human plural → feminine passive verb.</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D4-L03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D4-L03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 مِمَّا يُسَبِّبُ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which causes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كُلَّ يَوْمٍ تُرْمَى / تُقْطَعُ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Every day … are thrown / cut down.</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أَكْبَرُ مُشْكِلَةٍ فِي مِنْطَقَتِي هِيَ ______ .</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biggest problem in my area is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تَحْدُثُ هٰذِهِ المُشْكِلَةُ بِسَبَبِ ______ وَ ______ .</a:t>
            </a:r>
            <a:endParaRPr lang="ar-SA" sz="17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This problem happens because of … and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يُؤَدِّي ذٰلِكَ إِلَى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That leads to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رَأْيِي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my opinion …</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تَلَوُّثُ الهَوَاءِ  ·  تَلَوُّثُ المِيَاهِ  ·  النُّفَايَاتُ البِلَاسْتِيكِيَّةُ  ·  إِزَالَةُ الغَابَاتِ  ·  الاحْتِبَاسُ الحَرَارِيُّ  ·  بِسَبَبِ  ·  يُؤَدِّي إِلَى  ·  مِمَّا يُسَبِّبُ</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D4-L03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60–80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problem in my area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مُشْكِلَةٌ فِي مِنْطَقَتِي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D4-L03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206197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206197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DIRECTED TASK</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Write an explanation (about 60–80 words) of one environmental problem in your area for the school eco-club. Include: • the problem (a maṣdar: </a:t>
            </a:r>
            <a:pPr algn="l" indent="0" marL="0">
              <a:buNone/>
            </a:pPr>
            <a:r>
              <a:rPr lang="ar-SA" altLang="en-US" sz="1450" b="1" dirty="0">
                <a:solidFill>
                  <a:srgbClr val="1F2A37"/>
                </a:solidFill>
                <a:latin typeface="Amiri" pitchFamily="2" charset="-78"/>
                <a:ea typeface="Amiri" pitchFamily="2" charset="-78"/>
                <a:cs typeface="Amiri" pitchFamily="2" charset="-78"/>
              </a:rPr>
              <a:t>تَلَوُّثُ … / إِزَالَةُ</a:t>
            </a:r>
            <a:pPr algn="l" indent="0" marL="0">
              <a:buNone/>
            </a:pPr>
            <a:r>
              <a:rPr lang="en-US" sz="1100" b="1" dirty="0">
                <a:solidFill>
                  <a:srgbClr val="1F2A37"/>
                </a:solidFill>
                <a:latin typeface="Calibri" pitchFamily="34" charset="0"/>
                <a:cs typeface="Amiri" pitchFamily="2" charset="-78"/>
              </a:rPr>
              <a:t> …) • two causes (</a:t>
            </a:r>
            <a:pPr algn="l" indent="0" marL="0">
              <a:buNone/>
            </a:pPr>
            <a:r>
              <a:rPr lang="ar-SA" altLang="en-US" sz="1450" b="1" dirty="0">
                <a:solidFill>
                  <a:srgbClr val="1F2A37"/>
                </a:solidFill>
                <a:latin typeface="Amiri" pitchFamily="2" charset="-78"/>
                <a:ea typeface="Amiri" pitchFamily="2" charset="-78"/>
                <a:cs typeface="Amiri" pitchFamily="2" charset="-78"/>
              </a:rPr>
              <a:t>بِسَبَبِ</a:t>
            </a:r>
            <a:pPr algn="l" indent="0" marL="0">
              <a:buNone/>
            </a:pPr>
            <a:r>
              <a:rPr lang="en-US" sz="1100" b="1" dirty="0">
                <a:solidFill>
                  <a:srgbClr val="1F2A37"/>
                </a:solidFill>
                <a:latin typeface="Calibri" pitchFamily="34" charset="0"/>
                <a:cs typeface="Amiri" pitchFamily="2" charset="-78"/>
              </a:rPr>
              <a:t> …) • one passive verb (</a:t>
            </a:r>
            <a:pPr algn="l" indent="0" marL="0">
              <a:buNone/>
            </a:pPr>
            <a:r>
              <a:rPr lang="ar-SA" altLang="en-US" sz="1450" b="1" dirty="0">
                <a:solidFill>
                  <a:srgbClr val="1F2A37"/>
                </a:solidFill>
                <a:latin typeface="Amiri" pitchFamily="2" charset="-78"/>
                <a:ea typeface="Amiri" pitchFamily="2" charset="-78"/>
                <a:cs typeface="Amiri" pitchFamily="2" charset="-78"/>
              </a:rPr>
              <a:t>يُلَوَّثُ / تُقْطَعُ / تُرْمَى</a:t>
            </a:r>
            <a:pPr algn="l" indent="0" marL="0">
              <a:buNone/>
            </a:pPr>
            <a:r>
              <a:rPr lang="en-US" sz="1100" b="1" dirty="0">
                <a:solidFill>
                  <a:srgbClr val="1F2A37"/>
                </a:solidFill>
                <a:latin typeface="Calibri" pitchFamily="34" charset="0"/>
                <a:cs typeface="Amiri" pitchFamily="2" charset="-78"/>
              </a:rPr>
              <a:t> …) • a chain: </a:t>
            </a:r>
            <a:pPr algn="l" indent="0" marL="0">
              <a:buNone/>
            </a:pPr>
            <a:r>
              <a:rPr lang="ar-SA" altLang="en-US" sz="1450" b="1" dirty="0">
                <a:solidFill>
                  <a:srgbClr val="1F2A37"/>
                </a:solidFill>
                <a:latin typeface="Amiri" pitchFamily="2" charset="-78"/>
                <a:ea typeface="Amiri" pitchFamily="2" charset="-78"/>
                <a:cs typeface="Amiri" pitchFamily="2" charset="-78"/>
              </a:rPr>
              <a:t>يُؤَدِّي إِلَى … مِمَّا يُسَبِّبُ</a:t>
            </a:r>
            <a:pPr algn="l" indent="0" marL="0">
              <a:buNone/>
            </a:pPr>
            <a:r>
              <a:rPr lang="en-US" sz="1100" b="1" dirty="0">
                <a:solidFill>
                  <a:srgbClr val="1F2A37"/>
                </a:solidFill>
                <a:latin typeface="Calibri" pitchFamily="34" charset="0"/>
                <a:cs typeface="Amiri" pitchFamily="2" charset="-78"/>
              </a:rPr>
              <a:t> … • who is responsible.</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the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right tense for each bullet.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Linking words: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ثُمَّ</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لٰكِنَّ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opinion with a reason.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أَكْبَرُ مُشْكِلَةٍ فِي مِنْطَقَتِي هِيَ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biggest problem in my area is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بِسَبَبِ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because of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يُؤَدِّي … إِلَى … مِمَّا يُسَبِّبُ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 leads to …, which causes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رَأْيِي المَسْؤُولُ هُوَ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my opinion the one responsible is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D4-L03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D4-L03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 a problem and give a cause with </a:t>
            </a:r>
            <a:pPr algn="l" indent="0" marL="0">
              <a:buNone/>
            </a:pPr>
            <a:r>
              <a:rPr lang="ar-SA" altLang="en-US" sz="1450" dirty="0">
                <a:solidFill>
                  <a:srgbClr val="5A6472"/>
                </a:solidFill>
                <a:latin typeface="Amiri" pitchFamily="2" charset="-78"/>
                <a:ea typeface="Amiri" pitchFamily="2" charset="-78"/>
                <a:cs typeface="Amiri" pitchFamily="2" charset="-78"/>
              </a:rPr>
              <a:t>بِسَبَبِ</a:t>
            </a:r>
            <a:pPr algn="l" indent="0" marL="0">
              <a:buNone/>
            </a:pPr>
            <a:r>
              <a:rPr lang="en-US" sz="1100" dirty="0">
                <a:solidFill>
                  <a:srgbClr val="5A6472"/>
                </a:solidFill>
                <a:latin typeface="Calibri" pitchFamily="34" charset="0"/>
                <a:cs typeface="Amiri" pitchFamily="2" charset="-78"/>
              </a:rPr>
              <a:t> + genitive?</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build a chain (</a:t>
            </a:r>
            <a:pPr algn="l" indent="0" marL="0">
              <a:buNone/>
            </a:pPr>
            <a:r>
              <a:rPr lang="ar-SA" altLang="en-US" sz="1450" dirty="0">
                <a:solidFill>
                  <a:srgbClr val="5A6472"/>
                </a:solidFill>
                <a:latin typeface="Amiri" pitchFamily="2" charset="-78"/>
                <a:ea typeface="Amiri" pitchFamily="2" charset="-78"/>
                <a:cs typeface="Amiri" pitchFamily="2" charset="-78"/>
              </a:rPr>
              <a:t>يُؤَدِّي إِلَى … مِمَّا يُسَبِّبُ</a:t>
            </a:r>
            <a:pPr algn="l" indent="0" marL="0">
              <a:buNone/>
            </a:pPr>
            <a:r>
              <a:rPr lang="en-US" sz="1100" dirty="0">
                <a:solidFill>
                  <a:srgbClr val="5A6472"/>
                </a:solidFill>
                <a:latin typeface="Calibri" pitchFamily="34" charset="0"/>
                <a:cs typeface="Amiri" pitchFamily="2" charset="-78"/>
              </a:rPr>
              <a:t> …) and use one passive?</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more than one tense and give an opinion with a reason?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D4-L03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D4-L03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المُشْكِلَةُ هِيَ تَلَوُّثُ الهَوَاءِ قُرْبَ المَدْرَسَةِ.</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problem is air pollution near the school.</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المُشْكِلَةُ فِي حَيِّكَ؟</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بِسَبَبِ الزِّحَامِ؛ تَقِفُ مِئَاتُ السَّيَّارَاتِ كُلَّ صَبَاحٍ.</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Because of traffic — hundreds of cars wait every morning.</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وَمَا سَبَبُهُ؟</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يُؤَدِّي ذٰلِكَ إِلَى أَمْرَاضِ الصَّدْرِ، مِمَّا يُسَبِّبُ غِيَابَ بَعْضِ الطُّلَّابِ.</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That leads to chest illnesses, which causes some students to be absent.</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وَمَا النَّتَائِجُ؟</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كُلُّنَا مَسْؤُولُونَ، وَلٰكِنَّ البَلَدِيَّةَ يَجِبُ أَنْ تَبْدَأَ.</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We are all responsible, but the council must start.</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وَمَنِ المَسْؤُولُ فِي رَأْيِكَ؟</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D4-L03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D4-L03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أَكْبَرُ مُشْكِلَةٍ فِي مِنْطَقَتِي هِيَ النُّفَايَاتُ البِلَاسْتِيكِيَّةُ عَلَى الشَّاطِئِ. تَحْدُثُ هٰذِهِ المُشْكِلَةُ بِسَبَبِ السُّيَّاحِ الَّذِينَ يَتْرُكُونَ زُجَاجَاتِهِمْ، وَبِسَبَبِ قِلَّةِ صَنَادِيقِ القُمَامَةِ. كُلَّ صَيْفٍ تُرْمَى آلَافُ الأَكْيَاسِ فِي البَحْرِ. يُؤَدِّي ذٰلِكَ إِلَى مَوْتِ السَّلَاحِفِ وَالأَسْمَاكِ، مِمَّا يُسَبِّبُ خَسَارَةً لِلصَّيَّادِينَ أَيْضًا. كَمَا أَنَّ الشَّاطِئَ أَصْبَحَ قَبِيحًا. فِي رَأْيِي كُلُّنَا مَسْؤُولُونَ، وَلٰكِنَّ البَلَدِيَّةَ يَجِبُ أَنْ تَضَعَ صَنَادِيقَ أَكْثَرَ.</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“The biggest problem in my area is plastic waste on the beach. This problem happens because of tourists who leave their bottles, and because of the lack of bins. Every summer, thousands of bags are thrown into the sea. That leads to the death of turtles and fish, which also causes losses for fishermen. The beach has also become ugly. In my opinion we are all responsible, but the council must put out more bins.”</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بِسَبَبِ السُّيَّاحِ</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تُرْمَى آلَافُ الأَكْيَاسِ</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يُؤَدِّي ذٰلِكَ إِلَى</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مِمَّا يُسَبِّبُ</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D4-L03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D4-L03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more than one tense and gave opinions with reasons.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D4-L03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800" b="1" dirty="0">
                <a:solidFill>
                  <a:srgbClr val="FFFFFF"/>
                </a:solidFill>
                <a:latin typeface="Cambria" pitchFamily="34" charset="0"/>
                <a:cs typeface="Amiri" pitchFamily="2" charset="-78"/>
              </a:rPr>
              <a:t>D4-L04 · Environmental Solutions — What Can Be Done?</a:t>
            </a:r>
            <a:endParaRPr lang="en-US" sz="18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الحُلُولُ البِيئِيَّةُ — مَاذَا يُمْكِنُ أَنْ نَفْعَلَ؟</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say it, then write it — full sentences,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D4-L03 · Practice Room — Environmental Problems — Causes and Effects</dc:title>
  <dc:subject>PptxGenJS Presentation</dc:subject>
  <dc:creator>Al Madina Online School · Arabic Department</dc:creator>
  <cp:lastModifiedBy>Al Madina Online School · Arabic Department</cp:lastModifiedBy>
  <cp:revision>1</cp:revision>
  <dcterms:created xsi:type="dcterms:W3CDTF">2026-10-25T18:25:28Z</dcterms:created>
  <dcterms:modified xsi:type="dcterms:W3CDTF">2026-10-25T18:25:28Z</dcterms:modified>
</cp:coreProperties>
</file>