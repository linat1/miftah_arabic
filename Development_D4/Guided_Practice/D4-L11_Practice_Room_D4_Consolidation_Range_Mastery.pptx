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PRACTICE ROOM AT A GLANCE — one combined lesson (speaking, then writing), 55–60 minutes: about 6 minutes in the main room, about 45 minutes in breakout rooms of two or three, about 6 minutes back together.
0–2 Welcome · 2–5 How the room works · ROOMS, Part A Speaking: Step 1 Word warm-up (5) · Step 2 Say the model dialogue (5) · Step 3 Question cards (7) · Step 4 Role-play card (7) · Step 5 Short talk (4) · Part B Writing: Step 6 Sentence builder (4) · Step 7 Spot and fix (3) · Step 8 Write your text (12) + buddy check (3) · back in the main room: Check yourself (4) · Self-check + close (2).
PURPOSE: students practise the lesson’s language ON THEIR OWN with a clear structure. The teacher visits each room (about 3 minutes per room), listens, reads one piece of writing per student and gives one live correction.
CONTENT: D4-L11 (D4 Consolidation — Range Mastery and Speaking Preparation) — new practice tasks built on the lesson’s own word bank and grammar (one chain for the whole unit: climate → problem → cause → solution → qualified judgement; accuracy under pressure (an + -a · lam + jussive · non-human plural → f. sg. · anna + -a); recovering in speaking: li-uṣaḥḥiḥ dhālika · aqṣidu anna … · bi-ʿibāratin ukhrā).
SET-UP: rooms of two or three (same-level rooms keep the routes simple). Share this deck or its PDF in the chat so every room can follow the steps. Each student writes in their own book or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 Part A is speaking, Part B is writing. The step number is always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ROOM WORKS (3 min, main room). Model the roles quickly with two volunteers using one question from Step 3. Stress: the Coach is kind and specific. Then open the breakout rooms.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(5 min in rooms). The two word slides that follow come from the D4-L11 lesson. Teacher: visit the first room straight away to model the 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the Leader picks the English, the Speaker gives the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(5 min). The dialogue models today’s language in a real exchange.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(7 min). The starter column is support, not the answer: students finish it with their OWN information. Coach listens for the key structure of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4 (7 min). FADED SUPPORT: tasks 1–2 show the plan (question word → first words); students write their own plan for 3–4. Everyone is Speaker once. To a girl the Leader says: examiner to a girl: بَلَدِكِ · تُقْلِقُكِ · رَأْيِكِ · تَسْتَطِيعِينَ (the topic sentences stay the same). The full chain in four answers; one recovery phrase is allowed — and rewarded.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(4 min). A short talk builds fluency and confidence.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support. Core: use the Core frames for every sentence. Develop: use the Develop frames only if stuck. Stretch: no frames — add a reason, a time phrase and one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(10 min writing). Core: frames for every bullet (40–50 words). Develop: 60–80 words, frames only if stuck. Stretch: no frames, add reasons and another time frame. Teacher visits rooms and reads ONE sentence per student.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(62 words). CHECK YOURSELF (2 min). Find each bullet point in the model.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8  ·  DEVELOPMENT D4  ·  D4-L11 · PRACTICE ROOM</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D4-L11</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Practice Room — D4 Consolidation — Range Mastery and Speaking Preparation</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غُرْفَةُ التَّدَرُّبِ — تَرْسِيخُ الوَحْدَةِ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100" dirty="0">
                <a:solidFill>
                  <a:srgbClr val="C6D2E6"/>
                </a:solidFill>
                <a:latin typeface="Calibri" pitchFamily="34" charset="0"/>
                <a:cs typeface="Amiri" pitchFamily="2" charset="-78"/>
              </a:rPr>
              <a:t>Students run their own consolidation of the whole D4 unit: say the range and recovery phrases, act a dialogue that recovers from a mistake, build the full chain aloud with cards, do a role-play card as examiner and candidate, give a one-minute developed answer under time pressure, then build, fix and write a developed exam answer.</a:t>
            </a:r>
            <a:endParaRPr lang="en-US" sz="11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D4-L11 · Development D4 · Environment, Weather and Technology</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Development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Development › D4 › D4-L11</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D4-L11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D4-L11 · practice room</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D4-L11 · Speaking + writing practice room</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ROOM PLAN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Speak first, then write — you run it yourselves</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D4-L11 · practice room</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2F6FB0"/>
          </a:solidFill>
          <a:ln w="12700">
            <a:solidFill>
              <a:srgbClr val="2F6FB0"/>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1–2: word warm-up · say the model dialogue.</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الكَلِمَاتُ وَالحِوَارُ</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3–5: question cards · role-play card · short talk.</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2F6FB0"/>
          </a:solidFill>
          <a:ln w="12700">
            <a:solidFill>
              <a:srgbClr val="2F6FB0"/>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6–7: sentence builder · spot and fix.</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ابْنِ وَصَحِّحْ</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15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8: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ROOM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Everybody speaks in every step and everybody writes their own text. Swap roles after each task. If you finish early, do the step again with the Stretch route.</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D4-L11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BEFORE THE ROOMS · HOW YOUR ROOM WORKS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Three roles — then write alone, check together</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نَعْمَلُ فِي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D4-L11 · practice room</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ROLES (SWAP AFTER EVERY TASK)</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LEADER — opens the next step, keeps the time and reads the questions.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SPEAKER — answers in Arabic, in a full sentence. Think for a few seconds, then speak.</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COACH — listens, checks with the slide, then says one thing that went well and one thing to improve. (In a pair, the Leader is also the Coach.)</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WRITING (Part B): everyone writes their OWN text; then swap with a buddy and check.</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USEFUL ROOM PHRASES</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دَوْرُكَ! / دَوْرُكِ!</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Your turn! (m. / f.)</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عَفْوًا، أَعِدْ مِنْ فَضْلِكَ.</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Sorry, repeat please.</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لَحْظَةً، أُفَكِّرُ …</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moment, I’m thinking …</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22</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D4-L11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A · STEP 1 · WORD WARM-UP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Say it — then use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قُلْهَا وَاسْتَعْمِلْهَا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D4-L11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Word ping-pong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Leader says a word in ENGLISH from the next two slides. The Speaker says it in ARABIC. The Coach checks the Arabic (and the ending) on the slide.</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Leader: say 4 English words; Speaker answers in Arabic.</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checks the word on the slide.</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roles — new words each time.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use each word in a short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Arabic word clearly.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word, then a short sentence: </a:t>
            </a:r>
            <a:pPr algn="l" indent="0" marL="0">
              <a:buNone/>
            </a:pPr>
            <a:r>
              <a:rPr lang="ar-SA" altLang="en-US" sz="1500" dirty="0">
                <a:solidFill>
                  <a:srgbClr val="1F2A37"/>
                </a:solidFill>
                <a:latin typeface="Amiri" pitchFamily="2" charset="-78"/>
                <a:ea typeface="Amiri" pitchFamily="2" charset="-78"/>
                <a:cs typeface="Amiri" pitchFamily="2" charset="-78"/>
              </a:rPr>
              <a:t>أَنَا … / عِنْدِي … / هٰذَا</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Give the feminine or plural form too, then a sentence with two words.</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أَعِدْ مِنْ فَضْلِكَ / أَعِيدِي</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repeat please (m. / f.)</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أَحْسَنْتَ! / أَحْسَنْتِ!</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well done! (m. / f.)</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بِبُطْءٍ مِنْ فَضْلِكَ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slowly, please</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22</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D4-L11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(1)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Range and accuracy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D4-L11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النِّطَاقُ اللُّغَوِيُّ</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linguistic range</a:t>
            </a:r>
            <a:endParaRPr lang="en-US" sz="1350" dirty="0"/>
          </a:p>
          <a:p>
            <a:pPr indent="0" marL="0">
              <a:buNone/>
            </a:pPr>
            <a:r>
              <a:rPr lang="en-US" sz="1100" i="1" dirty="0">
                <a:solidFill>
                  <a:srgbClr val="5A6472"/>
                </a:solidFill>
                <a:latin typeface="Calibri" pitchFamily="34" charset="0"/>
                <a:cs typeface="Amiri" pitchFamily="2" charset="-78"/>
              </a:rPr>
              <a:t>an-ni-ṭā-qu all-lu-gha-wiy-yu</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الدِّقَّةُ تَحْتَ الضَّغْطِ</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accuracy under pressure</a:t>
            </a:r>
            <a:endParaRPr lang="en-US" sz="1350" dirty="0"/>
          </a:p>
          <a:p>
            <a:pPr indent="0" marL="0">
              <a:buNone/>
            </a:pPr>
            <a:r>
              <a:rPr lang="en-US" sz="1100" i="1" dirty="0">
                <a:solidFill>
                  <a:srgbClr val="5A6472"/>
                </a:solidFill>
                <a:latin typeface="Calibri" pitchFamily="34" charset="0"/>
                <a:cs typeface="Amiri" pitchFamily="2" charset="-78"/>
              </a:rPr>
              <a:t>ad-diq-qa-tu taḥ-ta aḍ-ḍagh-ṭi</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نُقْطَةُ قُوَّةٍ</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strength</a:t>
            </a:r>
            <a:endParaRPr lang="en-US" sz="1350" dirty="0"/>
          </a:p>
          <a:p>
            <a:pPr indent="0" marL="0">
              <a:buNone/>
            </a:pPr>
            <a:r>
              <a:rPr lang="en-US" sz="1100" i="1" dirty="0">
                <a:solidFill>
                  <a:srgbClr val="5A6472"/>
                </a:solidFill>
                <a:latin typeface="Calibri" pitchFamily="34" charset="0"/>
                <a:cs typeface="Amiri" pitchFamily="2" charset="-78"/>
              </a:rPr>
              <a:t>nuq-ṭa-tu quw-wa-tin</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39" name="Shape 3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1" name="Text 3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مَجَالُ تَحْسِينٍ</a:t>
            </a:r>
            <a:endParaRPr lang="ar-SA" sz="3000" dirty="0"/>
          </a:p>
        </p:txBody>
      </p:sp>
      <p:sp>
        <p:nvSpPr>
          <p:cNvPr id="42" name="Text 3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area for improvement</a:t>
            </a:r>
            <a:endParaRPr lang="en-US" sz="1350" dirty="0"/>
          </a:p>
          <a:p>
            <a:pPr indent="0" marL="0">
              <a:buNone/>
            </a:pPr>
            <a:r>
              <a:rPr lang="en-US" sz="1100" i="1" dirty="0">
                <a:solidFill>
                  <a:srgbClr val="5A6472"/>
                </a:solidFill>
                <a:latin typeface="Calibri" pitchFamily="34" charset="0"/>
                <a:cs typeface="Amiri" pitchFamily="2" charset="-78"/>
              </a:rPr>
              <a:t>ma-jā-lu taḥ-sī-nin</a:t>
            </a:r>
            <a:endParaRPr lang="en-US" sz="1350" dirty="0"/>
          </a:p>
        </p:txBody>
      </p:sp>
      <p:sp>
        <p:nvSpPr>
          <p:cNvPr id="43" name="Shape 4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4389120" y="4261104"/>
            <a:ext cx="310896" cy="310896"/>
          </a:xfrm>
          <a:prstGeom prst="ellipse">
            <a:avLst/>
          </a:prstGeom>
          <a:solidFill>
            <a:srgbClr val="F4F1EA"/>
          </a:solidFill>
          <a:ln w="12700">
            <a:solidFill>
              <a:srgbClr val="F4F1EA"/>
            </a:solidFill>
            <a:prstDash val="solid"/>
          </a:ln>
        </p:spPr>
      </p:sp>
      <p:sp>
        <p:nvSpPr>
          <p:cNvPr id="45" name="Text 4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46" name="Shape 43"/>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8" name="Text 45"/>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إِجَابَةٌ مُطَوَّرَةٌ</a:t>
            </a:r>
            <a:endParaRPr lang="ar-SA" sz="3000" dirty="0"/>
          </a:p>
        </p:txBody>
      </p:sp>
      <p:sp>
        <p:nvSpPr>
          <p:cNvPr id="49" name="Text 46"/>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developed answer</a:t>
            </a:r>
            <a:endParaRPr lang="en-US" sz="1350" dirty="0"/>
          </a:p>
          <a:p>
            <a:pPr indent="0" marL="0">
              <a:buNone/>
            </a:pPr>
            <a:r>
              <a:rPr lang="en-US" sz="1100" i="1" dirty="0">
                <a:solidFill>
                  <a:srgbClr val="5A6472"/>
                </a:solidFill>
                <a:latin typeface="Calibri" pitchFamily="34" charset="0"/>
                <a:cs typeface="Amiri" pitchFamily="2" charset="-78"/>
              </a:rPr>
              <a:t>i-jā-ba-tun mu-ṭaw-wa-ra-tun</a:t>
            </a:r>
            <a:endParaRPr lang="en-US" sz="1350" dirty="0"/>
          </a:p>
        </p:txBody>
      </p:sp>
      <p:sp>
        <p:nvSpPr>
          <p:cNvPr id="50" name="Shape 4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1" name="Shape 48"/>
          <p:cNvSpPr/>
          <p:nvPr/>
        </p:nvSpPr>
        <p:spPr>
          <a:xfrm>
            <a:off x="566928" y="4261104"/>
            <a:ext cx="310896" cy="310896"/>
          </a:xfrm>
          <a:prstGeom prst="ellipse">
            <a:avLst/>
          </a:prstGeom>
          <a:solidFill>
            <a:srgbClr val="F4F1EA"/>
          </a:solidFill>
          <a:ln w="12700">
            <a:solidFill>
              <a:srgbClr val="F4F1EA"/>
            </a:solidFill>
            <a:prstDash val="solid"/>
          </a:ln>
        </p:spPr>
      </p:sp>
      <p:sp>
        <p:nvSpPr>
          <p:cNvPr id="52" name="Text 4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53" name="Shape 50"/>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5" name="Text 5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أَقْصِدُ أَنَّ</a:t>
            </a:r>
            <a:endParaRPr lang="ar-SA" sz="3000" dirty="0"/>
          </a:p>
        </p:txBody>
      </p:sp>
      <p:sp>
        <p:nvSpPr>
          <p:cNvPr id="56" name="Text 5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what I mean is</a:t>
            </a:r>
            <a:endParaRPr lang="en-US" sz="1350" dirty="0"/>
          </a:p>
          <a:p>
            <a:pPr indent="0" marL="0">
              <a:buNone/>
            </a:pPr>
            <a:r>
              <a:rPr lang="en-US" sz="1100" i="1" dirty="0">
                <a:solidFill>
                  <a:srgbClr val="5A6472"/>
                </a:solidFill>
                <a:latin typeface="Calibri" pitchFamily="34" charset="0"/>
                <a:cs typeface="Amiri" pitchFamily="2" charset="-78"/>
              </a:rPr>
              <a:t>aq-ṣi-du an-na</a:t>
            </a:r>
            <a:endParaRPr lang="en-US" sz="13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22</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D4-L11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(2)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Recovering in speaking</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D4-L11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بِعِبَارَةٍ أُخْرَى</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 other words</a:t>
            </a:r>
            <a:endParaRPr lang="en-US" sz="1350" dirty="0"/>
          </a:p>
          <a:p>
            <a:pPr indent="0" marL="0">
              <a:buNone/>
            </a:pPr>
            <a:r>
              <a:rPr lang="en-US" sz="1100" i="1" dirty="0">
                <a:solidFill>
                  <a:srgbClr val="5A6472"/>
                </a:solidFill>
                <a:latin typeface="Calibri" pitchFamily="34" charset="0"/>
                <a:cs typeface="Amiri" pitchFamily="2" charset="-78"/>
              </a:rPr>
              <a:t>bi-ʿi-bā-ra-tin ukh-rā</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لِأُصَحِّحْ ذٰلِكَ</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let me correct that</a:t>
            </a:r>
            <a:endParaRPr lang="en-US" sz="1350" dirty="0"/>
          </a:p>
          <a:p>
            <a:pPr indent="0" marL="0">
              <a:buNone/>
            </a:pPr>
            <a:r>
              <a:rPr lang="en-US" sz="1100" i="1" dirty="0">
                <a:solidFill>
                  <a:srgbClr val="5A6472"/>
                </a:solidFill>
                <a:latin typeface="Calibri" pitchFamily="34" charset="0"/>
                <a:cs typeface="Amiri" pitchFamily="2" charset="-78"/>
              </a:rPr>
              <a:t>li-ʾu-ṣaḥ-ḥiḥ dhā-li-ka</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سَأُعْطِي مِثَالًا</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will give an example</a:t>
            </a:r>
            <a:endParaRPr lang="en-US" sz="1350" dirty="0"/>
          </a:p>
          <a:p>
            <a:pPr indent="0" marL="0">
              <a:buNone/>
            </a:pPr>
            <a:r>
              <a:rPr lang="en-US" sz="1100" i="1" dirty="0">
                <a:solidFill>
                  <a:srgbClr val="5A6472"/>
                </a:solidFill>
                <a:latin typeface="Calibri" pitchFamily="34" charset="0"/>
                <a:cs typeface="Amiri" pitchFamily="2" charset="-78"/>
              </a:rPr>
              <a:t>sa-ʾuʿ-ṭī mi-thā-lan</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39" name="Shape 3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1" name="Text 3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الدَّلِيلُ عَلَى ذٰلِكَ</a:t>
            </a:r>
            <a:endParaRPr lang="ar-SA" sz="3000" dirty="0"/>
          </a:p>
        </p:txBody>
      </p:sp>
      <p:sp>
        <p:nvSpPr>
          <p:cNvPr id="42" name="Text 3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evidence for that</a:t>
            </a:r>
            <a:endParaRPr lang="en-US" sz="1350" dirty="0"/>
          </a:p>
          <a:p>
            <a:pPr indent="0" marL="0">
              <a:buNone/>
            </a:pPr>
            <a:r>
              <a:rPr lang="en-US" sz="1100" i="1" dirty="0">
                <a:solidFill>
                  <a:srgbClr val="5A6472"/>
                </a:solidFill>
                <a:latin typeface="Calibri" pitchFamily="34" charset="0"/>
                <a:cs typeface="Amiri" pitchFamily="2" charset="-78"/>
              </a:rPr>
              <a:t>ad-da-lī-lu ʿa-lā dhā-li-ka</a:t>
            </a:r>
            <a:endParaRPr lang="en-US" sz="1350" dirty="0"/>
          </a:p>
        </p:txBody>
      </p:sp>
      <p:sp>
        <p:nvSpPr>
          <p:cNvPr id="43" name="Shape 4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4389120" y="4261104"/>
            <a:ext cx="310896" cy="310896"/>
          </a:xfrm>
          <a:prstGeom prst="ellipse">
            <a:avLst/>
          </a:prstGeom>
          <a:solidFill>
            <a:srgbClr val="F4F1EA"/>
          </a:solidFill>
          <a:ln w="12700">
            <a:solidFill>
              <a:srgbClr val="F4F1EA"/>
            </a:solidFill>
            <a:prstDash val="solid"/>
          </a:ln>
        </p:spPr>
      </p:sp>
      <p:sp>
        <p:nvSpPr>
          <p:cNvPr id="45" name="Text 4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46" name="Shape 43"/>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8" name="Text 45"/>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مِنْ وَجْهَةِ نَظَرِي</a:t>
            </a:r>
            <a:endParaRPr lang="ar-SA" sz="3000" dirty="0"/>
          </a:p>
        </p:txBody>
      </p:sp>
      <p:sp>
        <p:nvSpPr>
          <p:cNvPr id="49" name="Text 46"/>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from my point of view</a:t>
            </a:r>
            <a:endParaRPr lang="en-US" sz="1350" dirty="0"/>
          </a:p>
          <a:p>
            <a:pPr indent="0" marL="0">
              <a:buNone/>
            </a:pPr>
            <a:r>
              <a:rPr lang="en-US" sz="1100" i="1" dirty="0">
                <a:solidFill>
                  <a:srgbClr val="5A6472"/>
                </a:solidFill>
                <a:latin typeface="Calibri" pitchFamily="34" charset="0"/>
                <a:cs typeface="Amiri" pitchFamily="2" charset="-78"/>
              </a:rPr>
              <a:t>min waj-ha-ti na-ẓa-rī</a:t>
            </a:r>
            <a:endParaRPr lang="en-US" sz="1350" dirty="0"/>
          </a:p>
        </p:txBody>
      </p:sp>
      <p:sp>
        <p:nvSpPr>
          <p:cNvPr id="50" name="Shape 4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1" name="Shape 48"/>
          <p:cNvSpPr/>
          <p:nvPr/>
        </p:nvSpPr>
        <p:spPr>
          <a:xfrm>
            <a:off x="566928" y="4261104"/>
            <a:ext cx="310896" cy="310896"/>
          </a:xfrm>
          <a:prstGeom prst="ellipse">
            <a:avLst/>
          </a:prstGeom>
          <a:solidFill>
            <a:srgbClr val="F4F1EA"/>
          </a:solidFill>
          <a:ln w="12700">
            <a:solidFill>
              <a:srgbClr val="F4F1EA"/>
            </a:solidFill>
            <a:prstDash val="solid"/>
          </a:ln>
        </p:spPr>
      </p:sp>
      <p:sp>
        <p:nvSpPr>
          <p:cNvPr id="52" name="Text 4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53" name="Shape 50"/>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5" name="Text 5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إِلَى حَدٍّ مَا</a:t>
            </a:r>
            <a:endParaRPr lang="ar-SA" sz="3000" dirty="0"/>
          </a:p>
        </p:txBody>
      </p:sp>
      <p:sp>
        <p:nvSpPr>
          <p:cNvPr id="56" name="Text 5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to some extent</a:t>
            </a:r>
            <a:endParaRPr lang="en-US" sz="1350" dirty="0"/>
          </a:p>
          <a:p>
            <a:pPr indent="0" marL="0">
              <a:buNone/>
            </a:pPr>
            <a:r>
              <a:rPr lang="en-US" sz="1100" i="1" dirty="0">
                <a:solidFill>
                  <a:srgbClr val="5A6472"/>
                </a:solidFill>
                <a:latin typeface="Calibri" pitchFamily="34" charset="0"/>
                <a:cs typeface="Amiri" pitchFamily="2" charset="-78"/>
              </a:rPr>
              <a:t>i-lā ḥad-din mā</a:t>
            </a:r>
            <a:endParaRPr lang="en-US" sz="13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22</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D4-L11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STEP 2 · SAY THE MODEL DIALOGUE · READ IT, THEN SAY IT WITHOUT LOOKING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Recovering from a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أُصَحِّحُ نَفْسِي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D4-L11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the biggest environmental problem in your country?</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مَا أَكْبَرُ مُشْكِلَةٍ بِيئِيَّةٍ فِي بَلَدِكَ؟</a:t>
            </a:r>
            <a:endParaRPr lang="ar-SA" sz="20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biggest problem is air pollution… let me correct that: in the big cities only.</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أَكْبَرُ مُشْكِلَةٍ هِيَ تَلَوُّثُ الهَوَاءِ… لِأُصَحِّحْ ذٰلِكَ: فِي المُدُنِ الكَبِيرَةِ فَقَطْ.</a:t>
            </a:r>
            <a:endParaRPr lang="ar-SA" sz="20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what causes it?</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وَمَا سَبَبُهُ؟</a:t>
            </a:r>
            <a:endParaRPr lang="ar-SA" sz="20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Cars. What I mean is that the number of cars has risen a lot.</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السَّيَّارَاتُ. أَقْصِدُ أَنَّ عَدَدَ السَّيَّارَاتِ ارْتَفَعَ كَثِيرًا.</a:t>
            </a:r>
            <a:endParaRPr lang="ar-SA" sz="20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the solution?</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وَمَا الحَلُّ؟</a:t>
            </a:r>
            <a:endParaRPr lang="ar-SA" sz="20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We must use public transport; in other words, leave the car at home — to some extent.</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1550" b="1" dirty="0">
                <a:solidFill>
                  <a:srgbClr val="1B3B6F"/>
                </a:solidFill>
                <a:latin typeface="Amiri" pitchFamily="2" charset="-78"/>
                <a:ea typeface="Amiri" pitchFamily="2" charset="-78"/>
                <a:cs typeface="Amiri" pitchFamily="2" charset="-78"/>
              </a:rPr>
              <a:t>يَجِبُ أَنْ نَسْتَخْدِمَ النَّقْلَ العَامَّ؛ بِعِبَارَةٍ أُخْرَى، أَنْ نَتْرُكَ السَّيَّارَةَ فِي البَيْتِ، إِلَى حَدٍّ مَا.</a:t>
            </a:r>
            <a:endParaRPr lang="ar-SA" sz="155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Round 1: read it in pairs. Round 2: swap letters. Round 3: answer about YOUR country — use each recovery phrase once.</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22</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D4-L11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3 · QUESTION CARDS · THE LEADER ASKS, THE SPEAKER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chain — one link per card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وَأَجْوِبَةٌ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D4-L11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2" name="Text 19"/>
          <p:cNvSpPr txBox="1"/>
          <p:nvPr/>
        </p:nvSpPr>
        <p:spPr>
          <a:xfrm>
            <a:off x="9738360" y="2267712"/>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وَيَتَمَيَّزُ … بِ…</a:t>
            </a:r>
            <a:endParaRPr lang="ar-SA" sz="1500" dirty="0"/>
          </a:p>
        </p:txBody>
      </p:sp>
      <p:sp>
        <p:nvSpPr>
          <p:cNvPr id="23" name="Text 20"/>
          <p:cNvSpPr txBox="1"/>
          <p:nvPr/>
        </p:nvSpPr>
        <p:spPr>
          <a:xfrm>
            <a:off x="6995160" y="2267712"/>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يَسُودُ مَنَاخٌ …</a:t>
            </a:r>
            <a:endParaRPr lang="ar-SA" sz="1600" dirty="0"/>
          </a:p>
        </p:txBody>
      </p:sp>
      <p:sp>
        <p:nvSpPr>
          <p:cNvPr id="24" name="Text 21"/>
          <p:cNvSpPr txBox="1"/>
          <p:nvPr/>
        </p:nvSpPr>
        <p:spPr>
          <a:xfrm>
            <a:off x="4636008" y="2267712"/>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 What is the climate like in your country?</a:t>
            </a:r>
            <a:endParaRPr lang="en-US" sz="1100" dirty="0"/>
          </a:p>
        </p:txBody>
      </p:sp>
      <p:sp>
        <p:nvSpPr>
          <p:cNvPr id="25" name="Text 22"/>
          <p:cNvSpPr txBox="1"/>
          <p:nvPr/>
        </p:nvSpPr>
        <p:spPr>
          <a:xfrm>
            <a:off x="1051560" y="2267712"/>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١) كَيْفَ المَنَاخُ فِي بَلَدِكَ؟</a:t>
            </a:r>
            <a:endParaRPr lang="ar-SA" sz="1700" dirty="0"/>
          </a:p>
        </p:txBody>
      </p:sp>
      <p:sp>
        <p:nvSpPr>
          <p:cNvPr id="26" name="Text 23"/>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30" name="Text 27"/>
          <p:cNvSpPr txBox="1"/>
          <p:nvPr/>
        </p:nvSpPr>
        <p:spPr>
          <a:xfrm>
            <a:off x="9738360" y="300471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فِي …</a:t>
            </a:r>
            <a:endParaRPr lang="ar-SA" sz="1500" dirty="0"/>
          </a:p>
        </p:txBody>
      </p:sp>
      <p:sp>
        <p:nvSpPr>
          <p:cNvPr id="31" name="Text 28"/>
          <p:cNvSpPr txBox="1"/>
          <p:nvPr/>
        </p:nvSpPr>
        <p:spPr>
          <a:xfrm>
            <a:off x="6995160" y="300471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أَكْبَرُ مُشْكِلَةٍ هِيَ …</a:t>
            </a:r>
            <a:endParaRPr lang="ar-SA" sz="1600" dirty="0"/>
          </a:p>
        </p:txBody>
      </p:sp>
      <p:sp>
        <p:nvSpPr>
          <p:cNvPr id="32" name="Text 29"/>
          <p:cNvSpPr txBox="1"/>
          <p:nvPr/>
        </p:nvSpPr>
        <p:spPr>
          <a:xfrm>
            <a:off x="4636008" y="300471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 The biggest environmental problem?</a:t>
            </a:r>
            <a:endParaRPr lang="en-US" sz="1100" dirty="0"/>
          </a:p>
        </p:txBody>
      </p:sp>
      <p:sp>
        <p:nvSpPr>
          <p:cNvPr id="33" name="Text 30"/>
          <p:cNvSpPr txBox="1"/>
          <p:nvPr/>
        </p:nvSpPr>
        <p:spPr>
          <a:xfrm>
            <a:off x="1051560" y="300471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٢) مَا المُشْكِلَةُ البِيئِيَّةُ الأَكْبَرُ؟</a:t>
            </a:r>
            <a:endParaRPr lang="ar-SA" sz="1700" dirty="0"/>
          </a:p>
        </p:txBody>
      </p:sp>
      <p:sp>
        <p:nvSpPr>
          <p:cNvPr id="34" name="Text 31"/>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8" name="Text 35"/>
          <p:cNvSpPr txBox="1"/>
          <p:nvPr/>
        </p:nvSpPr>
        <p:spPr>
          <a:xfrm>
            <a:off x="9756648" y="3741725"/>
            <a:ext cx="19019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39" name="Text 36"/>
          <p:cNvSpPr txBox="1"/>
          <p:nvPr/>
        </p:nvSpPr>
        <p:spPr>
          <a:xfrm>
            <a:off x="6995160" y="3741725"/>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بِسَبَبِ … ، مِمَّا يُؤَدِّي إِلَى …</a:t>
            </a:r>
            <a:endParaRPr lang="ar-SA" sz="1600" dirty="0"/>
          </a:p>
        </p:txBody>
      </p:sp>
      <p:sp>
        <p:nvSpPr>
          <p:cNvPr id="40" name="Text 37"/>
          <p:cNvSpPr txBox="1"/>
          <p:nvPr/>
        </p:nvSpPr>
        <p:spPr>
          <a:xfrm>
            <a:off x="4636008" y="3741725"/>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 Its cause and effect?</a:t>
            </a:r>
            <a:endParaRPr lang="en-US" sz="1100" dirty="0"/>
          </a:p>
        </p:txBody>
      </p:sp>
      <p:sp>
        <p:nvSpPr>
          <p:cNvPr id="41" name="Text 38"/>
          <p:cNvSpPr txBox="1"/>
          <p:nvPr/>
        </p:nvSpPr>
        <p:spPr>
          <a:xfrm>
            <a:off x="1051560" y="3741725"/>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٣) مَا سَبَبُهَا وَنَتِيجَتُهَا؟</a:t>
            </a:r>
            <a:endParaRPr lang="ar-SA" sz="1700" dirty="0"/>
          </a:p>
        </p:txBody>
      </p:sp>
      <p:sp>
        <p:nvSpPr>
          <p:cNvPr id="42" name="Text 39"/>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6" name="Text 43"/>
          <p:cNvSpPr txBox="1"/>
          <p:nvPr/>
        </p:nvSpPr>
        <p:spPr>
          <a:xfrm>
            <a:off x="9738360" y="4478731"/>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لِكَيْ …</a:t>
            </a:r>
            <a:endParaRPr lang="ar-SA" sz="1500" dirty="0"/>
          </a:p>
        </p:txBody>
      </p:sp>
      <p:sp>
        <p:nvSpPr>
          <p:cNvPr id="47" name="Text 44"/>
          <p:cNvSpPr txBox="1"/>
          <p:nvPr/>
        </p:nvSpPr>
        <p:spPr>
          <a:xfrm>
            <a:off x="6995160" y="4478731"/>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يَجِبُ عَلَى … أَنْ …</a:t>
            </a:r>
            <a:endParaRPr lang="ar-SA" sz="1600" dirty="0"/>
          </a:p>
        </p:txBody>
      </p:sp>
      <p:sp>
        <p:nvSpPr>
          <p:cNvPr id="48" name="Text 45"/>
          <p:cNvSpPr txBox="1"/>
          <p:nvPr/>
        </p:nvSpPr>
        <p:spPr>
          <a:xfrm>
            <a:off x="4636008" y="4478731"/>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 The solution?</a:t>
            </a:r>
            <a:endParaRPr lang="en-US" sz="1100" dirty="0"/>
          </a:p>
        </p:txBody>
      </p:sp>
      <p:sp>
        <p:nvSpPr>
          <p:cNvPr id="49" name="Text 46"/>
          <p:cNvSpPr txBox="1"/>
          <p:nvPr/>
        </p:nvSpPr>
        <p:spPr>
          <a:xfrm>
            <a:off x="1051560" y="4478731"/>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٤) مَا الحَلُّ؟</a:t>
            </a:r>
            <a:endParaRPr lang="ar-SA" sz="1700" dirty="0"/>
          </a:p>
        </p:txBody>
      </p:sp>
      <p:sp>
        <p:nvSpPr>
          <p:cNvPr id="50" name="Text 47"/>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52" name="Text 49"/>
          <p:cNvSpPr txBox="1"/>
          <p:nvPr/>
        </p:nvSpPr>
        <p:spPr>
          <a:xfrm>
            <a:off x="9738360" y="521573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وَإِذَا لَمْ … فَسَوْفَ …</a:t>
            </a:r>
            <a:endParaRPr lang="ar-SA" sz="1500" dirty="0"/>
          </a:p>
        </p:txBody>
      </p:sp>
      <p:sp>
        <p:nvSpPr>
          <p:cNvPr id="53" name="Text 50"/>
          <p:cNvSpPr txBox="1"/>
          <p:nvPr/>
        </p:nvSpPr>
        <p:spPr>
          <a:xfrm>
            <a:off x="6995160" y="521573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إِلَى حَدٍّ مَا، بِشَرْطِ أَنْ …</a:t>
            </a:r>
            <a:endParaRPr lang="ar-SA" sz="1600" dirty="0"/>
          </a:p>
        </p:txBody>
      </p:sp>
      <p:sp>
        <p:nvSpPr>
          <p:cNvPr id="54" name="Text 51"/>
          <p:cNvSpPr txBox="1"/>
          <p:nvPr/>
        </p:nvSpPr>
        <p:spPr>
          <a:xfrm>
            <a:off x="4636008" y="521573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 Will the solutions work?</a:t>
            </a:r>
            <a:endParaRPr lang="en-US" sz="1100" dirty="0"/>
          </a:p>
        </p:txBody>
      </p:sp>
      <p:sp>
        <p:nvSpPr>
          <p:cNvPr id="55" name="Text 52"/>
          <p:cNvSpPr txBox="1"/>
          <p:nvPr/>
        </p:nvSpPr>
        <p:spPr>
          <a:xfrm>
            <a:off x="1051560" y="521573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٥) هَلْ سَتَنْجَحُ الحُلُولُ؟</a:t>
            </a:r>
            <a:endParaRPr lang="ar-SA" sz="1700" dirty="0"/>
          </a:p>
        </p:txBody>
      </p:sp>
      <p:sp>
        <p:nvSpPr>
          <p:cNvPr id="56" name="Text 53"/>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7" name="Text 5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Each Speaker answers every question. Core: a full sentence from the starter. Develop: add the “more” part. Stretch: add a reason with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 second detail. Swap after each question.</a:t>
            </a:r>
            <a:endParaRPr lang="en-US" sz="110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22</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D4-L11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1E6B52"/>
                </a:solidFill>
                <a:latin typeface="Calibri" pitchFamily="34" charset="0"/>
                <a:cs typeface="Amiri" pitchFamily="2" charset="-78"/>
              </a:rPr>
              <a:t>STEP 4 · ROLE-PLAY CARD · PLANS FOR TASKS 1–2 ARE GIVEN — PLAN 3–4 YOURSELF</a:t>
            </a:r>
            <a:endParaRPr lang="en-US" sz="93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950" b="1" dirty="0">
                <a:solidFill>
                  <a:srgbClr val="1B3B6F"/>
                </a:solidFill>
                <a:latin typeface="Cambria" pitchFamily="34" charset="0"/>
                <a:cs typeface="Amiri" pitchFamily="2" charset="-78"/>
              </a:rPr>
              <a:t>Role-play card — the D4 speaking test (practice)</a:t>
            </a:r>
            <a:endParaRPr lang="en-US" sz="19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اخْتِبَارُ المُحَادَثَةِ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D4-L11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8275320" y="2267712"/>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الطَّقْسُ ← يَسُودُ … وَهُوَ أَ… مِنْ …</a:t>
            </a:r>
            <a:endParaRPr lang="ar-SA" sz="1600" dirty="0"/>
          </a:p>
        </p:txBody>
      </p:sp>
      <p:sp>
        <p:nvSpPr>
          <p:cNvPr id="22" name="Text 19"/>
          <p:cNvSpPr txBox="1"/>
          <p:nvPr/>
        </p:nvSpPr>
        <p:spPr>
          <a:xfrm>
            <a:off x="5001768" y="2267712"/>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Climate + comparison.</a:t>
            </a:r>
            <a:endParaRPr lang="en-US" sz="1100" dirty="0"/>
          </a:p>
        </p:txBody>
      </p:sp>
      <p:sp>
        <p:nvSpPr>
          <p:cNvPr id="23" name="Text 20"/>
          <p:cNvSpPr txBox="1"/>
          <p:nvPr/>
        </p:nvSpPr>
        <p:spPr>
          <a:xfrm>
            <a:off x="1051560" y="2267712"/>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صِفْ طَقْسَ بَلَدِكَ.</a:t>
            </a:r>
            <a:endParaRPr lang="ar-SA" sz="1700" dirty="0"/>
          </a:p>
        </p:txBody>
      </p:sp>
      <p:sp>
        <p:nvSpPr>
          <p:cNvPr id="24" name="Text 21"/>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8275320" y="3054096"/>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المُشْكِلَةُ ← … بِسَبَبِ …</a:t>
            </a:r>
            <a:endParaRPr lang="ar-SA" sz="1600" dirty="0"/>
          </a:p>
        </p:txBody>
      </p:sp>
      <p:sp>
        <p:nvSpPr>
          <p:cNvPr id="29" name="Text 26"/>
          <p:cNvSpPr txBox="1"/>
          <p:nvPr/>
        </p:nvSpPr>
        <p:spPr>
          <a:xfrm>
            <a:off x="5001768" y="3054096"/>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Problem + cause.</a:t>
            </a:r>
            <a:endParaRPr lang="en-US" sz="1100" dirty="0"/>
          </a:p>
        </p:txBody>
      </p:sp>
      <p:sp>
        <p:nvSpPr>
          <p:cNvPr id="30" name="Text 27"/>
          <p:cNvSpPr txBox="1"/>
          <p:nvPr/>
        </p:nvSpPr>
        <p:spPr>
          <a:xfrm>
            <a:off x="1051560" y="3054096"/>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المُشْكِلَةُ الَّتِي تُقْلِقُكَ؟</a:t>
            </a:r>
            <a:endParaRPr lang="ar-SA" sz="1700" dirty="0"/>
          </a:p>
        </p:txBody>
      </p:sp>
      <p:sp>
        <p:nvSpPr>
          <p:cNvPr id="31" name="Text 28"/>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8293608" y="3840480"/>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5001768" y="3840480"/>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Solution + purpose.</a:t>
            </a:r>
            <a:endParaRPr lang="en-US" sz="1100" dirty="0"/>
          </a:p>
        </p:txBody>
      </p:sp>
      <p:sp>
        <p:nvSpPr>
          <p:cNvPr id="37" name="Text 34"/>
          <p:cNvSpPr txBox="1"/>
          <p:nvPr/>
        </p:nvSpPr>
        <p:spPr>
          <a:xfrm>
            <a:off x="1051560" y="3840480"/>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وَمَا الحَلُّ فِي رَأْيِكَ؟</a:t>
            </a:r>
            <a:endParaRPr lang="ar-SA" sz="1700" dirty="0"/>
          </a:p>
        </p:txBody>
      </p:sp>
      <p:sp>
        <p:nvSpPr>
          <p:cNvPr id="38" name="Text 35"/>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0" name="Text 37"/>
          <p:cNvSpPr txBox="1"/>
          <p:nvPr/>
        </p:nvSpPr>
        <p:spPr>
          <a:xfrm>
            <a:off x="8293608" y="4626864"/>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1" name="Text 38"/>
          <p:cNvSpPr txBox="1"/>
          <p:nvPr/>
        </p:nvSpPr>
        <p:spPr>
          <a:xfrm>
            <a:off x="5001768" y="4626864"/>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Qualified judgement.</a:t>
            </a:r>
            <a:endParaRPr lang="en-US" sz="1100" dirty="0"/>
          </a:p>
        </p:txBody>
      </p:sp>
      <p:sp>
        <p:nvSpPr>
          <p:cNvPr id="42" name="Text 39"/>
          <p:cNvSpPr txBox="1"/>
          <p:nvPr/>
        </p:nvSpPr>
        <p:spPr>
          <a:xfrm>
            <a:off x="1051560" y="4626864"/>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تَسْتَطِيعُ التِّكْنُولُوجِيَا أَنْ تُسَاعِدَ؟</a:t>
            </a:r>
            <a:endParaRPr lang="ar-SA" sz="1700" dirty="0"/>
          </a:p>
        </p:txBody>
      </p:sp>
      <p:sp>
        <p:nvSpPr>
          <p:cNvPr id="43" name="Text 40"/>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 !</a:t>
            </a:r>
            <a:endParaRPr lang="en-US" sz="1100" dirty="0"/>
          </a:p>
        </p:txBody>
      </p:sp>
      <p:sp>
        <p:nvSpPr>
          <p:cNvPr id="44" name="Text 4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Speaker = the candidate · Leader = the examiner. Write the plan for tasks 3–4 in your book first. Task ! is a surprise — the Leader reads it without warning. Then swap roles.</a:t>
            </a:r>
            <a:endParaRPr lang="en-US" sz="110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22</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D4-L11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5 · SHORT TALK · ONE MINUTE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One minute under pressure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دَقِيقَةٌ تَحْتَ الضَّغْطِ</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D4-L11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5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Talk for one minute — no stopping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Leader gives a topic card (weather · plastic · technology · water). Speak for one minute with the full chain — no preparation. The Coach counts accuracy slips and recoveries.</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3–4 key words,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Leader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until everyone has spoken.</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Problem → cause → solution.</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The full chain with one passive and one </a:t>
            </a:r>
            <a:pPr algn="l" indent="0" marL="0">
              <a:buNone/>
            </a:pPr>
            <a:r>
              <a:rPr lang="ar-SA" altLang="en-US" sz="1500" dirty="0">
                <a:solidFill>
                  <a:srgbClr val="1F2A37"/>
                </a:solidFill>
                <a:latin typeface="Amiri" pitchFamily="2" charset="-78"/>
                <a:ea typeface="Amiri" pitchFamily="2" charset="-78"/>
                <a:cs typeface="Amiri" pitchFamily="2" charset="-78"/>
              </a:rPr>
              <a:t>إِذَا</a:t>
            </a:r>
            <a:pPr algn="l" indent="0" marL="0">
              <a:buNone/>
            </a:pPr>
            <a:r>
              <a:rPr lang="en-US" sz="1150" dirty="0">
                <a:solidFill>
                  <a:srgbClr val="1F2A37"/>
                </a:solidFill>
                <a:latin typeface="Calibri" pitchFamily="34" charset="0"/>
                <a:cs typeface="Amiri" pitchFamily="2" charset="-78"/>
              </a:rPr>
              <a:t> sentence.</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Full chain + qualified judgement + a smooth recovery (</a:t>
            </a:r>
            <a:pPr algn="l" indent="0" marL="0">
              <a:buNone/>
            </a:pPr>
            <a:r>
              <a:rPr lang="ar-SA" altLang="en-US" sz="1500" dirty="0">
                <a:solidFill>
                  <a:srgbClr val="1F2A37"/>
                </a:solidFill>
                <a:latin typeface="Amiri" pitchFamily="2" charset="-78"/>
                <a:ea typeface="Amiri" pitchFamily="2" charset="-78"/>
                <a:cs typeface="Amiri" pitchFamily="2" charset="-78"/>
              </a:rPr>
              <a:t>لِأُصَحِّحْ ذٰلِكَ</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أَوَّلًا … ثُمَّ …</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first … then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لِأَنَّ … · لِذٰلِكَ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because … · so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رَأْيِي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in my opinion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الخِتَامِ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to finish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22</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D4-L11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PART B · STEP 6 · SENTENCE BUILDER · CHOOSE A OR B IN EACH COLUMN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D4-L11 · practice room</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What I mean is that the rivers are polluted.</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أَقْصِدُ</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أَقْصِدَ</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أَنَّ الأَنْهَارَ</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أَنَّ الأَنْهَارُ</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مُلَوَّثَةٌ.</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مُلَوَّثُونَ.</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If we don’t act, the ice will melt.</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إِذَا لَمْ</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إِذَا لَا</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نَتَحَرَّكْ،</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نَتَحَرَّكُ،</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فَسَوْفَ يَذُوبُ الجَلِيدُ.</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سَوْفَ يَذُوبَ الجَلِيدُ.</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In other words, we must reduce consumption.</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بِعِبَارَةٍ أُخْرَى،</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بِعِبَارَةٌ أُخْرَى،</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يَجِبُ أَنْ</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يَجِبُ</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نُقَلِّلَ الاسْتِهْلَاكَ.</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نُقَلِّلُ الاسْتِهْلَاكَ.</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D4-L11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6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D4-L11 · practice room</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What I mean is that the rivers are polluted.</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أَنَّ</a:t>
            </a:r>
            <a:pPr algn="l" indent="0" marL="0">
              <a:buNone/>
            </a:pPr>
            <a:r>
              <a:rPr lang="en-US" sz="1050" i="1" dirty="0">
                <a:solidFill>
                  <a:srgbClr val="5A6472"/>
                </a:solidFill>
                <a:latin typeface="Calibri" pitchFamily="34" charset="0"/>
                <a:cs typeface="Amiri" pitchFamily="2" charset="-78"/>
              </a:rPr>
              <a:t> + -a; non-human plural → f. sg.</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أَقْصِدُ أَنَّ الأَنْهَارَ مُلَوَّثَةٌ.</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If we don’t act, the ice will melt.</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لَمْ</a:t>
            </a:r>
            <a:pPr algn="l" indent="0" marL="0">
              <a:buNone/>
            </a:pPr>
            <a:r>
              <a:rPr lang="en-US" sz="1050" i="1" dirty="0">
                <a:solidFill>
                  <a:srgbClr val="5A6472"/>
                </a:solidFill>
                <a:latin typeface="Calibri" pitchFamily="34" charset="0"/>
                <a:cs typeface="Amiri" pitchFamily="2" charset="-78"/>
              </a:rPr>
              <a:t> + jussive; fa-sawfa + present.</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إِذَا لَمْ نَتَحَرَّكْ، فَسَوْفَ يَذُوبُ الجَلِيدُ.</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In other words, we must reduce consumption.</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بِ</a:t>
            </a:r>
            <a:pPr algn="l" indent="0" marL="0">
              <a:buNone/>
            </a:pPr>
            <a:r>
              <a:rPr lang="en-US" sz="1050" i="1" dirty="0">
                <a:solidFill>
                  <a:srgbClr val="5A6472"/>
                </a:solidFill>
                <a:latin typeface="Calibri" pitchFamily="34" charset="0"/>
                <a:cs typeface="Amiri" pitchFamily="2" charset="-78"/>
              </a:rPr>
              <a:t> + genitive; </a:t>
            </a:r>
            <a:pPr algn="l" indent="0" marL="0">
              <a:buNone/>
            </a:pPr>
            <a:r>
              <a:rPr lang="ar-SA" altLang="en-US" sz="1350" dirty="0">
                <a:solidFill>
                  <a:srgbClr val="5A6472"/>
                </a:solidFill>
                <a:latin typeface="Amiri" pitchFamily="2" charset="-78"/>
                <a:ea typeface="Amiri" pitchFamily="2" charset="-78"/>
                <a:cs typeface="Amiri" pitchFamily="2" charset="-78"/>
              </a:rPr>
              <a:t>أَنْ</a:t>
            </a:r>
            <a:pPr algn="l" indent="0" marL="0">
              <a:buNone/>
            </a:pPr>
            <a:r>
              <a:rPr lang="en-US" sz="1050" i="1" dirty="0">
                <a:solidFill>
                  <a:srgbClr val="5A6472"/>
                </a:solidFill>
                <a:latin typeface="Calibri" pitchFamily="34" charset="0"/>
                <a:cs typeface="Amiri" pitchFamily="2" charset="-78"/>
              </a:rPr>
              <a:t> + -a.</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بِعِبَارَةٍ أُخْرَى، يَجِبُ أَنْ نُقَلِّلَ الاسْتِهْلَاكَ.</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22</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D4-L11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7 · SPOT AND FIX · MISTAKES STUDENTS OFTEN MAKE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D4-L11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الغَابَاتُ تُقْطَعُ وَهُمْ مُهِمُّونَ.</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Forests are not people.</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يَجِبُ عَلَى النَّاسِ أَنْ يَسْتَخْدِمُونَ الحَافِلَاتِ.</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After </a:t>
            </a:r>
            <a:pPr algn="l" indent="0" marL="0">
              <a:buNone/>
            </a:pPr>
            <a:r>
              <a:rPr lang="ar-SA" altLang="en-US" sz="1700" dirty="0">
                <a:solidFill>
                  <a:srgbClr val="5A6472"/>
                </a:solidFill>
                <a:latin typeface="Amiri" pitchFamily="2" charset="-78"/>
                <a:ea typeface="Amiri" pitchFamily="2" charset="-78"/>
                <a:cs typeface="Amiri" pitchFamily="2" charset="-78"/>
              </a:rPr>
              <a:t>أَنْ</a:t>
            </a:r>
            <a:pPr algn="l" indent="0" marL="0">
              <a:buNone/>
            </a:pPr>
            <a:r>
              <a:rPr lang="en-US" sz="1300" i="1" dirty="0">
                <a:solidFill>
                  <a:srgbClr val="5A6472"/>
                </a:solidFill>
                <a:latin typeface="Calibri" pitchFamily="34" charset="0"/>
                <a:cs typeface="Amiri" pitchFamily="2" charset="-78"/>
              </a:rPr>
              <a:t> …</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algn="l" indent="0" marL="0">
              <a:buNone/>
            </a:pPr>
            <a:r>
              <a:rPr lang="en-US" sz="3000" b="1" dirty="0">
                <a:solidFill>
                  <a:srgbClr val="B83227"/>
                </a:solidFill>
                <a:latin typeface="Calibri" pitchFamily="34" charset="0"/>
                <a:cs typeface="Amiri" pitchFamily="2" charset="-78"/>
              </a:rPr>
              <a:t>(silence after a mistake)</a:t>
            </a:r>
            <a:endParaRPr lang="en-US"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Recover!</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22</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D4-L11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D4-L11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الغَابَاتُ تُقْطَعُ وَهُمْ مُهِمُّونَ.</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الغَابَاتُ تُقْطَعُ، وَهِيَ مُهِمَّةٌ.</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Non-human plural → </a:t>
            </a:r>
            <a:pPr algn="l" indent="0" marL="0">
              <a:buNone/>
            </a:pPr>
            <a:r>
              <a:rPr lang="ar-SA" altLang="en-US" sz="1500" b="1" dirty="0">
                <a:solidFill>
                  <a:srgbClr val="1B3B6F"/>
                </a:solidFill>
                <a:latin typeface="Amiri" pitchFamily="2" charset="-78"/>
                <a:ea typeface="Amiri" pitchFamily="2" charset="-78"/>
                <a:cs typeface="Amiri" pitchFamily="2" charset="-78"/>
              </a:rPr>
              <a:t>هِيَ</a:t>
            </a:r>
            <a:pPr algn="l" indent="0" marL="0">
              <a:buNone/>
            </a:pPr>
            <a:r>
              <a:rPr lang="en-US" sz="1150" b="1" dirty="0">
                <a:solidFill>
                  <a:srgbClr val="1B3B6F"/>
                </a:solidFill>
                <a:latin typeface="Calibri" pitchFamily="34" charset="0"/>
                <a:cs typeface="Amiri" pitchFamily="2" charset="-78"/>
              </a:rPr>
              <a:t> + f. sg.</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B83227"/>
                </a:solidFill>
                <a:latin typeface="Amiri" pitchFamily="2" charset="-78"/>
                <a:ea typeface="Amiri" pitchFamily="2" charset="-78"/>
                <a:cs typeface="Amiri" pitchFamily="2" charset="-78"/>
              </a:rPr>
              <a:t>يَجِبُ عَلَى النَّاسِ أَنْ يَسْتَخْدِمُونَ الحَافِلَاتِ.</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يَجِبُ عَلَى النَّاسِ أَنْ يَسْتَخْدِمُوا الحَافِلَاتِ.</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-ūna → -ū after </a:t>
            </a:r>
            <a:pPr algn="l" indent="0" marL="0">
              <a:buNone/>
            </a:pPr>
            <a:r>
              <a:rPr lang="ar-SA" altLang="en-US" sz="1500" b="1" dirty="0">
                <a:solidFill>
                  <a:srgbClr val="1B3B6F"/>
                </a:solidFill>
                <a:latin typeface="Amiri" pitchFamily="2" charset="-78"/>
                <a:ea typeface="Amiri" pitchFamily="2" charset="-78"/>
                <a:cs typeface="Amiri" pitchFamily="2" charset="-78"/>
              </a:rPr>
              <a:t>أَنْ</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algn="l" indent="0" marL="0">
              <a:buNone/>
            </a:pPr>
            <a:r>
              <a:rPr lang="en-US" sz="1800" dirty="0">
                <a:solidFill>
                  <a:srgbClr val="B83227"/>
                </a:solidFill>
                <a:latin typeface="Calibri" pitchFamily="34" charset="0"/>
                <a:cs typeface="Amiri" pitchFamily="2" charset="-78"/>
              </a:rPr>
              <a:t>(silence after a mistake)</a:t>
            </a:r>
            <a:endParaRPr lang="en-US"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لِأُصَحِّحْ ذٰلِكَ: …</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Self-correction shows control — examiners reward it.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22</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D4-L11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D4-L11 · practice room</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بِعِبَارَةٍ أُخْرَى،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other words,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500" b="1" dirty="0">
                <a:solidFill>
                  <a:srgbClr val="1B3B6F"/>
                </a:solidFill>
                <a:latin typeface="Amiri" pitchFamily="2" charset="-78"/>
                <a:ea typeface="Amiri" pitchFamily="2" charset="-78"/>
                <a:cs typeface="Amiri" pitchFamily="2" charset="-78"/>
              </a:rPr>
              <a:t>سَتَنْجَحُ هٰذِهِ الحُلُولُ إِلَى حَدٍّ مَا، بِشَرْطِ أَنْ ______ .</a:t>
            </a:r>
            <a:endParaRPr lang="ar-SA" sz="15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These solutions will work to some extent, on condition that …</a:t>
            </a:r>
            <a:endParaRPr lang="en-US" sz="1050" dirty="0"/>
          </a:p>
        </p:txBody>
      </p:sp>
      <p:sp>
        <p:nvSpPr>
          <p:cNvPr id="22" name="Shape 19"/>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5" name="Text 22"/>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رَأْيِي أَكْبَرُ تَحَدٍّ هُوَ ______ .</a:t>
            </a:r>
            <a:endParaRPr lang="ar-SA" sz="1800" dirty="0"/>
          </a:p>
        </p:txBody>
      </p:sp>
      <p:sp>
        <p:nvSpPr>
          <p:cNvPr id="26" name="Text 23"/>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my opinion the biggest challenge is …</a:t>
            </a:r>
            <a:endParaRPr lang="en-US" sz="1050" dirty="0"/>
          </a:p>
        </p:txBody>
      </p:sp>
      <p:sp>
        <p:nvSpPr>
          <p:cNvPr id="27" name="Text 24"/>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650" b="1" dirty="0">
                <a:solidFill>
                  <a:srgbClr val="1B3B6F"/>
                </a:solidFill>
                <a:latin typeface="Amiri" pitchFamily="2" charset="-78"/>
                <a:ea typeface="Amiri" pitchFamily="2" charset="-78"/>
                <a:cs typeface="Amiri" pitchFamily="2" charset="-78"/>
              </a:rPr>
              <a:t>يَحْدُثُ بِسَبَبِ ______ ، مِمَّا يُؤَدِّي إِلَى ______ .</a:t>
            </a:r>
            <a:endParaRPr lang="ar-SA" sz="1650" dirty="0"/>
          </a:p>
        </p:txBody>
      </p:sp>
      <p:sp>
        <p:nvSpPr>
          <p:cNvPr id="28" name="Text 25"/>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It happens because of …, which leads to …</a:t>
            </a:r>
            <a:endParaRPr lang="en-US" sz="1050" dirty="0"/>
          </a:p>
        </p:txBody>
      </p:sp>
      <p:sp>
        <p:nvSpPr>
          <p:cNvPr id="29" name="Text 26"/>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يَجِبُ عَلَى ______ أَنْ ______ .</a:t>
            </a:r>
            <a:endParaRPr lang="ar-SA" sz="1800" dirty="0"/>
          </a:p>
        </p:txBody>
      </p:sp>
      <p:sp>
        <p:nvSpPr>
          <p:cNvPr id="30" name="Text 27"/>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must …</a:t>
            </a:r>
            <a:endParaRPr lang="en-US" sz="1050" dirty="0"/>
          </a:p>
        </p:txBody>
      </p:sp>
      <p:sp>
        <p:nvSpPr>
          <p:cNvPr id="31" name="Text 28"/>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إِذَا لَمْ ______ ، فَسَوْفَ ______ .</a:t>
            </a:r>
            <a:endParaRPr lang="ar-SA" sz="1800" dirty="0"/>
          </a:p>
        </p:txBody>
      </p:sp>
      <p:sp>
        <p:nvSpPr>
          <p:cNvPr id="32" name="Text 29"/>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If we don’t …, … will …</a:t>
            </a:r>
            <a:endParaRPr lang="en-US" sz="1050" dirty="0"/>
          </a:p>
        </p:txBody>
      </p:sp>
      <p:sp>
        <p:nvSpPr>
          <p:cNvPr id="33" name="Shape 30"/>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Text 31"/>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5" name="Text 32"/>
          <p:cNvSpPr txBox="1"/>
          <p:nvPr/>
        </p:nvSpPr>
        <p:spPr>
          <a:xfrm>
            <a:off x="640080" y="5760720"/>
            <a:ext cx="10908792" cy="512064"/>
          </a:xfrm>
          <a:prstGeom prst="rect">
            <a:avLst/>
          </a:prstGeom>
          <a:noFill/>
          <a:ln/>
        </p:spPr>
        <p:txBody>
          <a:bodyPr wrap="square" lIns="0" tIns="0" rIns="0" bIns="0" rtlCol="0" anchor="ctr"/>
          <a:lstStyle/>
          <a:p>
            <a:pPr algn="l" indent="0" marL="0">
              <a:buNone/>
            </a:pPr>
            <a:r>
              <a:rPr lang="ar-SA" altLang="en-US" sz="2000" b="1" dirty="0">
                <a:solidFill>
                  <a:srgbClr val="1B3B6F"/>
                </a:solidFill>
                <a:latin typeface="Amiri" pitchFamily="2" charset="-78"/>
                <a:ea typeface="Amiri" pitchFamily="2" charset="-78"/>
                <a:cs typeface="Amiri" pitchFamily="2" charset="-78"/>
              </a:rPr>
              <a:t>يَسُودُ</a:t>
            </a:r>
            <a:pPr algn="l" indent="0" marL="0">
              <a:buNone/>
            </a:pPr>
            <a:r>
              <a:rPr lang="en-US" sz="1550" b="1" dirty="0">
                <a:solidFill>
                  <a:srgbClr val="1B3B6F"/>
                </a:solidFill>
                <a:latin typeface="Calibri" pitchFamily="34" charset="0"/>
                <a:cs typeface="Amiri" pitchFamily="2" charset="-78"/>
              </a:rPr>
              <a:t> · </a:t>
            </a:r>
            <a:pPr algn="l" indent="0" marL="0">
              <a:buNone/>
            </a:pPr>
            <a:r>
              <a:rPr lang="ar-SA" altLang="en-US" sz="2000" b="1" dirty="0">
                <a:solidFill>
                  <a:srgbClr val="1B3B6F"/>
                </a:solidFill>
                <a:latin typeface="Amiri" pitchFamily="2" charset="-78"/>
                <a:ea typeface="Amiri" pitchFamily="2" charset="-78"/>
                <a:cs typeface="Amiri" pitchFamily="2" charset="-78"/>
              </a:rPr>
              <a:t>يَتَمَيَّزُ بِ</a:t>
            </a:r>
            <a:pPr algn="l" indent="0" marL="0">
              <a:buNone/>
            </a:pPr>
            <a:r>
              <a:rPr lang="en-US" sz="1550" b="1" dirty="0">
                <a:solidFill>
                  <a:srgbClr val="1B3B6F"/>
                </a:solidFill>
                <a:latin typeface="Calibri" pitchFamily="34" charset="0"/>
                <a:cs typeface="Amiri" pitchFamily="2" charset="-78"/>
              </a:rPr>
              <a:t>…  ·  </a:t>
            </a:r>
            <a:pPr algn="l" indent="0" marL="0">
              <a:buNone/>
            </a:pPr>
            <a:r>
              <a:rPr lang="ar-SA" altLang="en-US" sz="2000" b="1" dirty="0">
                <a:solidFill>
                  <a:srgbClr val="1B3B6F"/>
                </a:solidFill>
                <a:latin typeface="Amiri" pitchFamily="2" charset="-78"/>
                <a:ea typeface="Amiri" pitchFamily="2" charset="-78"/>
                <a:cs typeface="Amiri" pitchFamily="2" charset="-78"/>
              </a:rPr>
              <a:t>بِسَبَبِ</a:t>
            </a:r>
            <a:pPr algn="l" indent="0" marL="0">
              <a:buNone/>
            </a:pPr>
            <a:r>
              <a:rPr lang="en-US" sz="1550" b="1" dirty="0">
                <a:solidFill>
                  <a:srgbClr val="1B3B6F"/>
                </a:solidFill>
                <a:latin typeface="Calibri" pitchFamily="34" charset="0"/>
                <a:cs typeface="Amiri" pitchFamily="2" charset="-78"/>
              </a:rPr>
              <a:t> · </a:t>
            </a:r>
            <a:pPr algn="l" indent="0" marL="0">
              <a:buNone/>
            </a:pPr>
            <a:r>
              <a:rPr lang="ar-SA" altLang="en-US" sz="2000" b="1" dirty="0">
                <a:solidFill>
                  <a:srgbClr val="1B3B6F"/>
                </a:solidFill>
                <a:latin typeface="Amiri" pitchFamily="2" charset="-78"/>
                <a:ea typeface="Amiri" pitchFamily="2" charset="-78"/>
                <a:cs typeface="Amiri" pitchFamily="2" charset="-78"/>
              </a:rPr>
              <a:t>يُؤَدِّي إِلَى</a:t>
            </a:r>
            <a:pPr algn="l" indent="0" marL="0">
              <a:buNone/>
            </a:pPr>
            <a:r>
              <a:rPr lang="en-US" sz="1550" b="1" dirty="0">
                <a:solidFill>
                  <a:srgbClr val="1B3B6F"/>
                </a:solidFill>
                <a:latin typeface="Calibri" pitchFamily="34" charset="0"/>
                <a:cs typeface="Amiri" pitchFamily="2" charset="-78"/>
              </a:rPr>
              <a:t>  ·  </a:t>
            </a:r>
            <a:pPr algn="l" indent="0" marL="0">
              <a:buNone/>
            </a:pPr>
            <a:r>
              <a:rPr lang="ar-SA" altLang="en-US" sz="2000" b="1" dirty="0">
                <a:solidFill>
                  <a:srgbClr val="1B3B6F"/>
                </a:solidFill>
                <a:latin typeface="Amiri" pitchFamily="2" charset="-78"/>
                <a:ea typeface="Amiri" pitchFamily="2" charset="-78"/>
                <a:cs typeface="Amiri" pitchFamily="2" charset="-78"/>
              </a:rPr>
              <a:t>مِمَّا يُسَبِّبُ</a:t>
            </a:r>
            <a:pPr algn="l" indent="0" marL="0">
              <a:buNone/>
            </a:pPr>
            <a:r>
              <a:rPr lang="en-US" sz="1550" b="1" dirty="0">
                <a:solidFill>
                  <a:srgbClr val="1B3B6F"/>
                </a:solidFill>
                <a:latin typeface="Calibri" pitchFamily="34" charset="0"/>
                <a:cs typeface="Amiri" pitchFamily="2" charset="-78"/>
              </a:rPr>
              <a:t>  ·  </a:t>
            </a:r>
            <a:pPr algn="l" indent="0" marL="0">
              <a:buNone/>
            </a:pPr>
            <a:r>
              <a:rPr lang="ar-SA" altLang="en-US" sz="2000" b="1" dirty="0">
                <a:solidFill>
                  <a:srgbClr val="1B3B6F"/>
                </a:solidFill>
                <a:latin typeface="Amiri" pitchFamily="2" charset="-78"/>
                <a:ea typeface="Amiri" pitchFamily="2" charset="-78"/>
                <a:cs typeface="Amiri" pitchFamily="2" charset="-78"/>
              </a:rPr>
              <a:t>تُقْطَعُ</a:t>
            </a:r>
            <a:pPr algn="l" indent="0" marL="0">
              <a:buNone/>
            </a:pPr>
            <a:r>
              <a:rPr lang="en-US" sz="1550" b="1" dirty="0">
                <a:solidFill>
                  <a:srgbClr val="1B3B6F"/>
                </a:solidFill>
                <a:latin typeface="Calibri" pitchFamily="34" charset="0"/>
                <a:cs typeface="Amiri" pitchFamily="2" charset="-78"/>
              </a:rPr>
              <a:t> · </a:t>
            </a:r>
            <a:pPr algn="l" indent="0" marL="0">
              <a:buNone/>
            </a:pPr>
            <a:r>
              <a:rPr lang="ar-SA" altLang="en-US" sz="2000" b="1" dirty="0">
                <a:solidFill>
                  <a:srgbClr val="1B3B6F"/>
                </a:solidFill>
                <a:latin typeface="Amiri" pitchFamily="2" charset="-78"/>
                <a:ea typeface="Amiri" pitchFamily="2" charset="-78"/>
                <a:cs typeface="Amiri" pitchFamily="2" charset="-78"/>
              </a:rPr>
              <a:t>يُلَوَّثُ</a:t>
            </a:r>
            <a:pPr algn="l" indent="0" marL="0">
              <a:buNone/>
            </a:pPr>
            <a:r>
              <a:rPr lang="en-US" sz="1550" b="1" dirty="0">
                <a:solidFill>
                  <a:srgbClr val="1B3B6F"/>
                </a:solidFill>
                <a:latin typeface="Calibri" pitchFamily="34" charset="0"/>
                <a:cs typeface="Amiri" pitchFamily="2" charset="-78"/>
              </a:rPr>
              <a:t>  ·  </a:t>
            </a:r>
            <a:pPr algn="l" indent="0" marL="0">
              <a:buNone/>
            </a:pPr>
            <a:r>
              <a:rPr lang="ar-SA" altLang="en-US" sz="2000" b="1" dirty="0">
                <a:solidFill>
                  <a:srgbClr val="1B3B6F"/>
                </a:solidFill>
                <a:latin typeface="Amiri" pitchFamily="2" charset="-78"/>
                <a:ea typeface="Amiri" pitchFamily="2" charset="-78"/>
                <a:cs typeface="Amiri" pitchFamily="2" charset="-78"/>
              </a:rPr>
              <a:t>يَجِبُ عَلَى … أَنْ</a:t>
            </a:r>
            <a:pPr algn="l" indent="0" marL="0">
              <a:buNone/>
            </a:pPr>
            <a:r>
              <a:rPr lang="en-US" sz="1550" b="1" dirty="0">
                <a:solidFill>
                  <a:srgbClr val="1B3B6F"/>
                </a:solidFill>
                <a:latin typeface="Calibri" pitchFamily="34" charset="0"/>
                <a:cs typeface="Amiri" pitchFamily="2" charset="-78"/>
              </a:rPr>
              <a:t>  ·  </a:t>
            </a:r>
            <a:pPr algn="l" indent="0" marL="0">
              <a:buNone/>
            </a:pPr>
            <a:r>
              <a:rPr lang="ar-SA" altLang="en-US" sz="2000" b="1" dirty="0">
                <a:solidFill>
                  <a:srgbClr val="1B3B6F"/>
                </a:solidFill>
                <a:latin typeface="Amiri" pitchFamily="2" charset="-78"/>
                <a:ea typeface="Amiri" pitchFamily="2" charset="-78"/>
                <a:cs typeface="Amiri" pitchFamily="2" charset="-78"/>
              </a:rPr>
              <a:t>إِذَا لَمْ</a:t>
            </a:r>
            <a:pPr algn="l" indent="0" marL="0">
              <a:buNone/>
            </a:pPr>
            <a:r>
              <a:rPr lang="en-US" sz="1550" b="1" dirty="0">
                <a:solidFill>
                  <a:srgbClr val="1B3B6F"/>
                </a:solidFill>
                <a:latin typeface="Calibri" pitchFamily="34" charset="0"/>
                <a:cs typeface="Amiri" pitchFamily="2" charset="-78"/>
              </a:rPr>
              <a:t> + jussive  ·  </a:t>
            </a:r>
            <a:pPr algn="l" indent="0" marL="0">
              <a:buNone/>
            </a:pPr>
            <a:r>
              <a:rPr lang="ar-SA" altLang="en-US" sz="2000" b="1" dirty="0">
                <a:solidFill>
                  <a:srgbClr val="1B3B6F"/>
                </a:solidFill>
                <a:latin typeface="Amiri" pitchFamily="2" charset="-78"/>
                <a:ea typeface="Amiri" pitchFamily="2" charset="-78"/>
                <a:cs typeface="Amiri" pitchFamily="2" charset="-78"/>
              </a:rPr>
              <a:t>أَقْصِدُ أَنَّ</a:t>
            </a:r>
            <a:pPr algn="l" indent="0" marL="0">
              <a:buNone/>
            </a:pPr>
            <a:r>
              <a:rPr lang="en-US" sz="1550" b="1" dirty="0">
                <a:solidFill>
                  <a:srgbClr val="1B3B6F"/>
                </a:solidFill>
                <a:latin typeface="Calibri" pitchFamily="34" charset="0"/>
                <a:cs typeface="Amiri" pitchFamily="2" charset="-78"/>
              </a:rPr>
              <a:t>  ·  </a:t>
            </a:r>
            <a:pPr algn="l" indent="0" marL="0">
              <a:buNone/>
            </a:pPr>
            <a:r>
              <a:rPr lang="ar-SA" altLang="en-US" sz="2000" b="1" dirty="0">
                <a:solidFill>
                  <a:srgbClr val="1B3B6F"/>
                </a:solidFill>
                <a:latin typeface="Amiri" pitchFamily="2" charset="-78"/>
                <a:ea typeface="Amiri" pitchFamily="2" charset="-78"/>
                <a:cs typeface="Amiri" pitchFamily="2" charset="-78"/>
              </a:rPr>
              <a:t>بِعِبَارَةٍ أُخْرَى</a:t>
            </a:r>
            <a:endParaRPr lang="en-US" sz="15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22</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D4-L11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ABOUT 60–80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developed exam answer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إِجَابَةٌ مُطَوَّرَةٌ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D4-L11 · practice room</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2061972"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2061972"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DIRECTED TASK</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100" b="1" dirty="0">
                <a:solidFill>
                  <a:srgbClr val="1F2A37"/>
                </a:solidFill>
                <a:latin typeface="Calibri" pitchFamily="34" charset="0"/>
                <a:cs typeface="Amiri" pitchFamily="2" charset="-78"/>
              </a:rPr>
              <a:t>Exam question: «</a:t>
            </a:r>
            <a:pPr algn="l" indent="0" marL="0">
              <a:buNone/>
            </a:pPr>
            <a:r>
              <a:rPr lang="ar-SA" altLang="en-US" sz="1450" b="1" dirty="0">
                <a:solidFill>
                  <a:srgbClr val="1F2A37"/>
                </a:solidFill>
                <a:latin typeface="Amiri" pitchFamily="2" charset="-78"/>
                <a:ea typeface="Amiri" pitchFamily="2" charset="-78"/>
                <a:cs typeface="Amiri" pitchFamily="2" charset="-78"/>
              </a:rPr>
              <a:t>مَا أَكْبَرُ تَحَدٍّ بِيئِيٍّ فِي العَالَمِ، وَكَيْفَ نُوَاجِهُهُ؟</a:t>
            </a:r>
            <a:pPr algn="l" indent="0" marL="0">
              <a:buNone/>
            </a:pPr>
            <a:r>
              <a:rPr lang="en-US" sz="1100" b="1" dirty="0">
                <a:solidFill>
                  <a:srgbClr val="1F2A37"/>
                </a:solidFill>
                <a:latin typeface="Calibri" pitchFamily="34" charset="0"/>
                <a:cs typeface="Amiri" pitchFamily="2" charset="-78"/>
              </a:rPr>
              <a:t>» Write a developed answer (about 60–85 words) with the full chain: climate or context → problem → cause and effect → two solutions → a qualified judgement. Use at least one passive, one </a:t>
            </a:r>
            <a:pPr algn="l" indent="0" marL="0">
              <a:buNone/>
            </a:pPr>
            <a:r>
              <a:rPr lang="ar-SA" altLang="en-US" sz="1450" b="1" dirty="0">
                <a:solidFill>
                  <a:srgbClr val="1F2A37"/>
                </a:solidFill>
                <a:latin typeface="Amiri" pitchFamily="2" charset="-78"/>
                <a:ea typeface="Amiri" pitchFamily="2" charset="-78"/>
                <a:cs typeface="Amiri" pitchFamily="2" charset="-78"/>
              </a:rPr>
              <a:t>إِذَا لَمْ</a:t>
            </a:r>
            <a:pPr algn="l" indent="0" marL="0">
              <a:buNone/>
            </a:pPr>
            <a:r>
              <a:rPr lang="en-US" sz="1100" b="1" dirty="0">
                <a:solidFill>
                  <a:srgbClr val="1F2A37"/>
                </a:solidFill>
                <a:latin typeface="Calibri" pitchFamily="34" charset="0"/>
                <a:cs typeface="Amiri" pitchFamily="2" charset="-78"/>
              </a:rPr>
              <a:t> … , and one </a:t>
            </a:r>
            <a:pPr algn="l" indent="0" marL="0">
              <a:buNone/>
            </a:pPr>
            <a:r>
              <a:rPr lang="ar-SA" altLang="en-US" sz="1450" b="1" dirty="0">
                <a:solidFill>
                  <a:srgbClr val="1F2A37"/>
                </a:solidFill>
                <a:latin typeface="Amiri" pitchFamily="2" charset="-78"/>
                <a:ea typeface="Amiri" pitchFamily="2" charset="-78"/>
                <a:cs typeface="Amiri" pitchFamily="2" charset="-78"/>
              </a:rPr>
              <a:t>أَقْصِدُ أَنَّ / بِعِبَارَةٍ أُخْرَى</a:t>
            </a:r>
            <a:pPr algn="l" indent="0" marL="0">
              <a:buNone/>
            </a:pPr>
            <a:r>
              <a:rPr lang="en-US" sz="1100" b="1" dirty="0">
                <a:solidFill>
                  <a:srgbClr val="1F2A37"/>
                </a:solidFill>
                <a:latin typeface="Calibri" pitchFamily="34" charset="0"/>
                <a:cs typeface="Amiri" pitchFamily="2" charset="-78"/>
              </a:rPr>
              <a:t>.</a:t>
            </a:r>
            <a:endParaRPr lang="en-US" sz="11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the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The right tense for each bullet.</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Linking words: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ثُمَّ</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لٰكِنَّ</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opinion with a reason.</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أَكْبَرُ تَحَدٍّ هُوَ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biggest challenge is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بِسَبَبِ … مِمَّا يُؤَدِّي إِلَى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because of …, which leads to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يَجِبُ عَلَى … أَنْ … لِكَيْ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 must … so that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بِعِبَارَةٍ أُخْرَى … · إِلَى حَدٍّ مَا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in other words … · to some extent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22</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D4-L11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D4-L11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build the chain problem → cause → solution accurately?</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add a passive, </a:t>
            </a:r>
            <a:pPr algn="l" indent="0" marL="0">
              <a:buNone/>
            </a:pPr>
            <a:r>
              <a:rPr lang="ar-SA" altLang="en-US" sz="1450" dirty="0">
                <a:solidFill>
                  <a:srgbClr val="5A6472"/>
                </a:solidFill>
                <a:latin typeface="Amiri" pitchFamily="2" charset="-78"/>
                <a:ea typeface="Amiri" pitchFamily="2" charset="-78"/>
                <a:cs typeface="Amiri" pitchFamily="2" charset="-78"/>
              </a:rPr>
              <a:t>إِذَا لَمْ</a:t>
            </a:r>
            <a:pPr algn="l" indent="0" marL="0">
              <a:buNone/>
            </a:pPr>
            <a:r>
              <a:rPr lang="en-US" sz="1100" dirty="0">
                <a:solidFill>
                  <a:srgbClr val="5A6472"/>
                </a:solidFill>
                <a:latin typeface="Calibri" pitchFamily="34" charset="0"/>
                <a:cs typeface="Amiri" pitchFamily="2" charset="-78"/>
              </a:rPr>
              <a:t> + jussive and a qualified judgement?</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more than one tense and give an opinion with a reason?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22</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D4-L11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D4-L11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4800600" y="2286000"/>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يَسُودُ مَنَاخٌ مُعْتَدِلٌ وَرَطْبٌ، وَهُوَ أَبْرَدُ مِنْ مَنَاخِ بَلَدِ وَالِدَيَّ.</a:t>
            </a:r>
            <a:endParaRPr lang="ar-SA" sz="1800" dirty="0"/>
          </a:p>
        </p:txBody>
      </p:sp>
      <p:sp>
        <p:nvSpPr>
          <p:cNvPr id="21" name="Text 18"/>
          <p:cNvSpPr txBox="1"/>
          <p:nvPr/>
        </p:nvSpPr>
        <p:spPr>
          <a:xfrm>
            <a:off x="4754880" y="2706624"/>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A mild, humid climate prevails, and it is colder than my parents’ country.</a:t>
            </a:r>
            <a:endParaRPr lang="en-US" sz="950" dirty="0"/>
          </a:p>
        </p:txBody>
      </p:sp>
      <p:sp>
        <p:nvSpPr>
          <p:cNvPr id="22" name="Text 19"/>
          <p:cNvSpPr txBox="1"/>
          <p:nvPr/>
        </p:nvSpPr>
        <p:spPr>
          <a:xfrm>
            <a:off x="1051560" y="2267712"/>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صِفْ طَقْسَ بَلَدِكَ.</a:t>
            </a:r>
            <a:endParaRPr lang="ar-SA" sz="1600" dirty="0"/>
          </a:p>
        </p:txBody>
      </p:sp>
      <p:sp>
        <p:nvSpPr>
          <p:cNvPr id="23" name="Text 20"/>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5" name="Text 22"/>
          <p:cNvSpPr txBox="1"/>
          <p:nvPr/>
        </p:nvSpPr>
        <p:spPr>
          <a:xfrm>
            <a:off x="4800600" y="3072384"/>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تُقْلِقُنِي الفَيَضَانَاتُ، بِسَبَبِ الأَمْطَارِ الغَزِيرَةِ وَإِزَالَةِ الغَابَاتِ.</a:t>
            </a:r>
            <a:endParaRPr lang="ar-SA" sz="1800" dirty="0"/>
          </a:p>
        </p:txBody>
      </p:sp>
      <p:sp>
        <p:nvSpPr>
          <p:cNvPr id="26" name="Text 23"/>
          <p:cNvSpPr txBox="1"/>
          <p:nvPr/>
        </p:nvSpPr>
        <p:spPr>
          <a:xfrm>
            <a:off x="4754880" y="3493008"/>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Floods worry me, because of heavy rain and deforestation.</a:t>
            </a:r>
            <a:endParaRPr lang="en-US" sz="950" dirty="0"/>
          </a:p>
        </p:txBody>
      </p:sp>
      <p:sp>
        <p:nvSpPr>
          <p:cNvPr id="27" name="Text 24"/>
          <p:cNvSpPr txBox="1"/>
          <p:nvPr/>
        </p:nvSpPr>
        <p:spPr>
          <a:xfrm>
            <a:off x="1051560" y="3054096"/>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المُشْكِلَةُ الَّتِي تُقْلِقُكَ؟</a:t>
            </a:r>
            <a:endParaRPr lang="ar-SA" sz="1600" dirty="0"/>
          </a:p>
        </p:txBody>
      </p:sp>
      <p:sp>
        <p:nvSpPr>
          <p:cNvPr id="28" name="Text 25"/>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4800600" y="3858768"/>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يَجِبُ عَلَى الحُكُومَةِ أَنْ تَزْرَعَ الأَشْجَارَ لِكَيْ تَمْتَصَّ المِيَاهَ.</a:t>
            </a:r>
            <a:endParaRPr lang="ar-SA" sz="1800" dirty="0"/>
          </a:p>
        </p:txBody>
      </p:sp>
      <p:sp>
        <p:nvSpPr>
          <p:cNvPr id="31" name="Text 28"/>
          <p:cNvSpPr txBox="1"/>
          <p:nvPr/>
        </p:nvSpPr>
        <p:spPr>
          <a:xfrm>
            <a:off x="4754880" y="4279392"/>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 government must plant trees so that they absorb the water.</a:t>
            </a:r>
            <a:endParaRPr lang="en-US" sz="950" dirty="0"/>
          </a:p>
        </p:txBody>
      </p:sp>
      <p:sp>
        <p:nvSpPr>
          <p:cNvPr id="32" name="Text 29"/>
          <p:cNvSpPr txBox="1"/>
          <p:nvPr/>
        </p:nvSpPr>
        <p:spPr>
          <a:xfrm>
            <a:off x="1051560" y="3840480"/>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وَمَا الحَلُّ فِي رَأْيِكَ؟</a:t>
            </a:r>
            <a:endParaRPr lang="ar-SA" sz="1600" dirty="0"/>
          </a:p>
        </p:txBody>
      </p:sp>
      <p:sp>
        <p:nvSpPr>
          <p:cNvPr id="33" name="Text 30"/>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5" name="Text 32"/>
          <p:cNvSpPr txBox="1"/>
          <p:nvPr/>
        </p:nvSpPr>
        <p:spPr>
          <a:xfrm>
            <a:off x="4800600" y="4645152"/>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إِلَى حَدٍّ مَا؛ أَقْصِدُ أَنَّ أَنْظِمَةَ الإِنْذَارِ تُسَاعِدُ، بِشَرْطِ أَنْ يَسْتَمِعَ النَّاسُ إِلَيْهَا.</a:t>
            </a:r>
            <a:endParaRPr lang="ar-SA" sz="1800" dirty="0"/>
          </a:p>
        </p:txBody>
      </p:sp>
      <p:sp>
        <p:nvSpPr>
          <p:cNvPr id="36" name="Text 33"/>
          <p:cNvSpPr txBox="1"/>
          <p:nvPr/>
        </p:nvSpPr>
        <p:spPr>
          <a:xfrm>
            <a:off x="4754880" y="5065776"/>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To some extent — I mean warning systems help, on condition that people listen to them.</a:t>
            </a:r>
            <a:endParaRPr lang="en-US" sz="950" dirty="0"/>
          </a:p>
        </p:txBody>
      </p:sp>
      <p:sp>
        <p:nvSpPr>
          <p:cNvPr id="37" name="Text 34"/>
          <p:cNvSpPr txBox="1"/>
          <p:nvPr/>
        </p:nvSpPr>
        <p:spPr>
          <a:xfrm>
            <a:off x="1051560" y="4626864"/>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هَلْ تَسْتَطِيعُ التِّكْنُولُوجِيَا أَنْ تُسَاعِدَ؟</a:t>
            </a:r>
            <a:endParaRPr lang="ar-SA" sz="1600" dirty="0"/>
          </a:p>
        </p:txBody>
      </p:sp>
      <p:sp>
        <p:nvSpPr>
          <p:cNvPr id="38" name="Text 35"/>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Choose one phrase you did not use and say it aloud.</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22</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D4-L11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D4-L11 · practice room</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550" dirty="0">
                <a:solidFill>
                  <a:srgbClr val="1F2A37"/>
                </a:solidFill>
                <a:latin typeface="Amiri" pitchFamily="2" charset="-78"/>
                <a:ea typeface="Amiri" pitchFamily="2" charset="-78"/>
                <a:cs typeface="Amiri" pitchFamily="2" charset="-78"/>
              </a:rPr>
              <a:t>فِي رَأْيِي أَكْبَرُ تَحَدٍّ هُوَ الاحْتِبَاسُ الحَرَارِيُّ. يَحْدُثُ بِسَبَبِ حَرْقِ الوَقُودِ الأُحْفُورِيِّ، وَلِأَنَّ الغَابَاتِ تُقْطَعُ بِسُرْعَةٍ، مِمَّا يُؤَدِّي إِلَى ذَوَبَانِ الجَلِيدِ وَارْتِفَاعِ مُسْتَوَى البَحْرِ. يَجِبُ عَلَى الحُكُومَاتِ أَنْ تَنْتَقِلَ إِلَى الطَّاقَةِ المُتَجَدِّدَةِ، وَيَجِبُ عَلَى المُوَاطِنِينَ أَنْ يُقَلِّلُوا الاسْتِهْلَاكَ. بِعِبَارَةٍ أُخْرَى، كُلُّنَا مَسْؤُولُونَ. إِذَا لَمْ نَتَحَرَّكِ الآنَ، فَسَوْفَ تَغْرَقُ مُدُنٌ سَاحِلِيَّةٌ كَثِيرَةٌ. سَتَنْجَحُ هٰذِهِ الحُلُولُ إِلَى حَدٍّ مَا، بِشَرْطِ أَنْ تَتَعَاوَنَ الدُّوَلُ مَعًا.</a:t>
            </a:r>
            <a:endParaRPr lang="ar-SA" sz="25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“In my opinion the biggest challenge is global warming. It happens because fossil fuels are burned and forests are cut down quickly, which leads to melting ice and rising sea levels. Governments must move to renewable energy, and citizens must reduce consumption. In other words, we are all responsible. If we don’t act now, many coastal cities will flood. These solutions will work to some extent, on condition that countries cooperate.”</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الغَابَاتِ تُقْطَعُ</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مِمَّا يُؤَدِّي إِلَى</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بِعِبَارَةٍ أُخْرَى</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إِذَا لَمْ نَتَحَرَّكِ</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22</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D4-L11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D4-L11 · practice room</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the questions and the role-play tasks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today’s key structure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more than one tense and gave opinions with reasons.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22</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D4-L11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practised it yourselves!</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D4-L12 · Review and Unit Assessment: Environment, Weather and Technology</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المُرَاجَعَةُ وَتَقْيِيمُ الوَحْدَةِ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say it, then write it — full sentences, every time.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D4-L11 · Practice Room — D4 Consolidation — Range Mastery and Speaking Preparation</dc:title>
  <dc:subject>PptxGenJS Presentation</dc:subject>
  <dc:creator>Al Madina Online School · Arabic Department</dc:creator>
  <cp:lastModifiedBy>Al Madina Online School · Arabic Department</cp:lastModifiedBy>
  <cp:revision>1</cp:revision>
  <dcterms:created xsi:type="dcterms:W3CDTF">2026-10-25T18:33:13Z</dcterms:created>
  <dcterms:modified xsi:type="dcterms:W3CDTF">2026-10-25T18:33:13Z</dcterms:modified>
</cp:coreProperties>
</file>