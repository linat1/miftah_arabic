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D4-L11 (D4 Consolidation — Range Mastery and Speaking Preparation) — new practice tasks built on the lesson’s own word bank and grammar (one chain for the whole unit: climate → problem → cause → solution → qualified judgement; accuracy under pressure (an + -a · lam + jussive · non-human plural → f. sg. · anna + -a); recovering in speaking: li-uṣaḥḥiḥ dhālika · aqṣidu anna … · bi-ʿibāratin ukhrā).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D4-L11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FADED SUPPORT: tasks 1–2 show the plan (question word → first words); students write their own plan for 3–4. Everyone is Speaker once. To a girl the Leader says: examiner to a girl: بَلَدِكِ · تُقْلِقُكِ · رَأْيِكِ · تَسْتَطِيعِينَ (the topic sentences stay the same). The full chain in four answers; one recovery phrase is allowed — and rewarded.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(40–50 words). Develop: 60–80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(62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D4-L11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D4 Consolidation — Range Mastery and Speaking Preparation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تَرْسِيخُ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00" dirty="0">
                <a:solidFill>
                  <a:srgbClr val="C6D2E6"/>
                </a:solidFill>
                <a:latin typeface="Calibri" pitchFamily="34" charset="0"/>
                <a:cs typeface="Amiri" pitchFamily="2" charset="-78"/>
              </a:rPr>
              <a:t>Students run their own consolidation of the whole D4 unit: say the range and recovery phrases, act a dialogue that recovers from a mistake, build the full chain aloud with cards, do a role-play card as examiner and candidate, give a one-minute developed answer under time pressure, then build, fix and write a developed exam answer.</a:t>
            </a:r>
            <a:endParaRPr lang="en-US" sz="11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D4-L11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Range and accuracy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النِّطَاقُ اللُّغَوِيُّ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linguistic range</a:t>
            </a:r>
            <a:endParaRPr lang="en-US" sz="1350" dirty="0"/>
          </a:p>
          <a:p>
            <a:pPr indent="0" marL="0">
              <a:buNone/>
            </a:pPr>
            <a:r>
              <a:rPr lang="en-US" sz="1100" i="1" dirty="0">
                <a:solidFill>
                  <a:srgbClr val="5A6472"/>
                </a:solidFill>
                <a:latin typeface="Calibri" pitchFamily="34" charset="0"/>
                <a:cs typeface="Amiri" pitchFamily="2" charset="-78"/>
              </a:rPr>
              <a:t>an-ni-ṭā-qu all-lu-gha-wiy-yu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 تَحْتَ الضَّغْطِ</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 under pressure</a:t>
            </a:r>
            <a:endParaRPr lang="en-US" sz="1350" dirty="0"/>
          </a:p>
          <a:p>
            <a:pPr indent="0" marL="0">
              <a:buNone/>
            </a:pPr>
            <a:r>
              <a:rPr lang="en-US" sz="1100" i="1" dirty="0">
                <a:solidFill>
                  <a:srgbClr val="5A6472"/>
                </a:solidFill>
                <a:latin typeface="Calibri" pitchFamily="34" charset="0"/>
                <a:cs typeface="Amiri" pitchFamily="2" charset="-78"/>
              </a:rPr>
              <a:t>ad-diq-qa-tu taḥ-ta aḍ-ḍagh-ṭi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نُقْطَةُ قُوَّةٍ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strength</a:t>
            </a:r>
            <a:endParaRPr lang="en-US" sz="1350" dirty="0"/>
          </a:p>
          <a:p>
            <a:pPr indent="0" marL="0">
              <a:buNone/>
            </a:pPr>
            <a:r>
              <a:rPr lang="en-US" sz="1100" i="1" dirty="0">
                <a:solidFill>
                  <a:srgbClr val="5A6472"/>
                </a:solidFill>
                <a:latin typeface="Calibri" pitchFamily="34" charset="0"/>
                <a:cs typeface="Amiri" pitchFamily="2" charset="-78"/>
              </a:rPr>
              <a:t>nuq-ṭa-tu quw-wa-tin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مَجَالُ تَحْسِينٍ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area for improvement</a:t>
            </a:r>
            <a:endParaRPr lang="en-US" sz="1350" dirty="0"/>
          </a:p>
          <a:p>
            <a:pPr indent="0" marL="0">
              <a:buNone/>
            </a:pPr>
            <a:r>
              <a:rPr lang="en-US" sz="1100" i="1" dirty="0">
                <a:solidFill>
                  <a:srgbClr val="5A6472"/>
                </a:solidFill>
                <a:latin typeface="Calibri" pitchFamily="34" charset="0"/>
                <a:cs typeface="Amiri" pitchFamily="2" charset="-78"/>
              </a:rPr>
              <a:t>ma-jā-lu taḥ-sī-nin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إِجَابَةٌ مُطَوَّرَةٌ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developed answer</a:t>
            </a:r>
            <a:endParaRPr lang="en-US" sz="1350" dirty="0"/>
          </a:p>
          <a:p>
            <a:pPr indent="0" marL="0">
              <a:buNone/>
            </a:pPr>
            <a:r>
              <a:rPr lang="en-US" sz="1100" i="1" dirty="0">
                <a:solidFill>
                  <a:srgbClr val="5A6472"/>
                </a:solidFill>
                <a:latin typeface="Calibri" pitchFamily="34" charset="0"/>
                <a:cs typeface="Amiri" pitchFamily="2" charset="-78"/>
              </a:rPr>
              <a:t>i-jā-ba-tun mu-ṭaw-wa-ra-tun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أَقْصِدُ أَنَّ</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 mean is</a:t>
            </a:r>
            <a:endParaRPr lang="en-US" sz="1350" dirty="0"/>
          </a:p>
          <a:p>
            <a:pPr indent="0" marL="0">
              <a:buNone/>
            </a:pPr>
            <a:r>
              <a:rPr lang="en-US" sz="1100" i="1" dirty="0">
                <a:solidFill>
                  <a:srgbClr val="5A6472"/>
                </a:solidFill>
                <a:latin typeface="Calibri" pitchFamily="34" charset="0"/>
                <a:cs typeface="Amiri" pitchFamily="2" charset="-78"/>
              </a:rPr>
              <a:t>aq-ṣi-du an-na</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Recovering in speaking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بِعِبَارَةٍ أُخْرَى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other words</a:t>
            </a:r>
            <a:endParaRPr lang="en-US" sz="1350" dirty="0"/>
          </a:p>
          <a:p>
            <a:pPr indent="0" marL="0">
              <a:buNone/>
            </a:pPr>
            <a:r>
              <a:rPr lang="en-US" sz="1100" i="1" dirty="0">
                <a:solidFill>
                  <a:srgbClr val="5A6472"/>
                </a:solidFill>
                <a:latin typeface="Calibri" pitchFamily="34" charset="0"/>
                <a:cs typeface="Amiri" pitchFamily="2" charset="-78"/>
              </a:rPr>
              <a:t>bi-ʿi-bā-ra-tin ukh-rā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لِأُصَحِّحْ 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let me correct that</a:t>
            </a:r>
            <a:endParaRPr lang="en-US" sz="1350" dirty="0"/>
          </a:p>
          <a:p>
            <a:pPr indent="0" marL="0">
              <a:buNone/>
            </a:pPr>
            <a:r>
              <a:rPr lang="en-US" sz="1100" i="1" dirty="0">
                <a:solidFill>
                  <a:srgbClr val="5A6472"/>
                </a:solidFill>
                <a:latin typeface="Calibri" pitchFamily="34" charset="0"/>
                <a:cs typeface="Amiri" pitchFamily="2" charset="-78"/>
              </a:rPr>
              <a:t>li-ʾu-ṣaḥ-ḥiḥ 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سَأُعْطِي مِثَالًا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give an example</a:t>
            </a:r>
            <a:endParaRPr lang="en-US" sz="1350" dirty="0"/>
          </a:p>
          <a:p>
            <a:pPr indent="0" marL="0">
              <a:buNone/>
            </a:pPr>
            <a:r>
              <a:rPr lang="en-US" sz="1100" i="1" dirty="0">
                <a:solidFill>
                  <a:srgbClr val="5A6472"/>
                </a:solidFill>
                <a:latin typeface="Calibri" pitchFamily="34" charset="0"/>
                <a:cs typeface="Amiri" pitchFamily="2" charset="-78"/>
              </a:rPr>
              <a:t>sa-ʾuʿ-ṭī mi-thā-lan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الدَّلِيلُ عَلَى ذٰلِكَ</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evidence for that</a:t>
            </a:r>
            <a:endParaRPr lang="en-US" sz="1350" dirty="0"/>
          </a:p>
          <a:p>
            <a:pPr indent="0" marL="0">
              <a:buNone/>
            </a:pPr>
            <a:r>
              <a:rPr lang="en-US" sz="1100" i="1" dirty="0">
                <a:solidFill>
                  <a:srgbClr val="5A6472"/>
                </a:solidFill>
                <a:latin typeface="Calibri" pitchFamily="34" charset="0"/>
                <a:cs typeface="Amiri" pitchFamily="2" charset="-78"/>
              </a:rPr>
              <a:t>ad-da-lī-lu ʿa-lā dhā-li-ka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وَجْهَةِ نَظَرِي</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my point of view</a:t>
            </a:r>
            <a:endParaRPr lang="en-US" sz="1350" dirty="0"/>
          </a:p>
          <a:p>
            <a:pPr indent="0" marL="0">
              <a:buNone/>
            </a:pPr>
            <a:r>
              <a:rPr lang="en-US" sz="1100" i="1" dirty="0">
                <a:solidFill>
                  <a:srgbClr val="5A6472"/>
                </a:solidFill>
                <a:latin typeface="Calibri" pitchFamily="34" charset="0"/>
                <a:cs typeface="Amiri" pitchFamily="2" charset="-78"/>
              </a:rPr>
              <a:t>min waj-ha-ti na-ẓa-rī</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إِلَى حَدٍّ مَا</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some extent</a:t>
            </a:r>
            <a:endParaRPr lang="en-US" sz="1350" dirty="0"/>
          </a:p>
          <a:p>
            <a:pPr indent="0" marL="0">
              <a:buNone/>
            </a:pPr>
            <a:r>
              <a:rPr lang="en-US" sz="1100" i="1" dirty="0">
                <a:solidFill>
                  <a:srgbClr val="5A6472"/>
                </a:solidFill>
                <a:latin typeface="Calibri" pitchFamily="34" charset="0"/>
                <a:cs typeface="Amiri" pitchFamily="2" charset="-78"/>
              </a:rPr>
              <a:t>i-lā ḥad-din mā</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Recovering from a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أُصَحِّحُ نَفْسِي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biggest environmental problem in your country?</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 أَكْبَرُ مُشْكِلَةٍ بِيئِيَّةٍ فِي بَلَدِكَ؟</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biggest problem is air pollution… let me correct that: in the big cities only.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أَكْبَرُ مُشْكِلَةٍ هِيَ تَلَوُّثُ الهَوَاءِ… لِأُصَحِّحْ ذٰلِكَ: فِي المُدُنِ الكَبِيرَةِ فَقَطْ.</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causes it?</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وَمَا سَبَبُهُ؟</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Cars. What I mean is that the number of cars has risen a lot.</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السَّيَّارَاتُ. أَقْصِدُ أَنَّ عَدَدَ السَّيَّارَاتِ ارْتَفَعَ كَثِيرًا.</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the solution?</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وَمَا الحَلُّ؟</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must use public transport; in other words, leave the car at home — to some extent.</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يَجِبُ أَنْ نَسْتَخْدِمَ النَّقْلَ العَامَّ؛ بِعِبَارَةٍ أُخْرَى، أَنْ نَتْرُكَ السَّيَّارَةَ فِي البَيْتِ، إِلَى حَدٍّ مَا.</a:t>
            </a:r>
            <a:endParaRPr lang="ar-SA" sz="155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answer about YOUR country — use each recovery phrase once.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chain — one link per card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وَيَتَمَيَّزُ … بِ…</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يَسُودُ مَنَاخٌ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What is the climate like in your country?</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١) كَيْفَ المَنَاخُ فِي بَلَدِكَ؟</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فِي …</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أَكْبَرُ مُشْكِلَةٍ هِيَ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The biggest environmental problem?</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٢) مَا المُشْكِلَةُ البِيئِيَّةُ الأَكْبَرُ؟</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56648" y="3741725"/>
            <a:ext cx="1901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بِسَبَبِ … ، مِمَّا يُؤَدِّي إِلَى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Its cause and effect?</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٣) مَا سَبَبُهَا وَنَتِيجَتُهَا؟</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لِكَيْ …</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يَجِبُ عَلَى … أَنْ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The solution?</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٤) مَا الحَلُّ؟</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وَإِذَا لَمْ … فَسَوْفَ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إِلَى حَدٍّ مَا، بِشَرْطِ أَنْ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Will the solutions work?</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٥) هَلْ سَتَنْجَحُ الحُلُولُ؟</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4 · ROLE-PLAY CARD · PLANS FOR TASKS 1–2 ARE GIVEN — PLAN 3–4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Role-play card — the D4 speaking test (practice)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اخْتِبَارُ 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الطَّقْسُ ← يَسُودُ … وَهُوَ أَ… مِنْ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Climate + comparison.</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طَقْسَ بَلَدِكَ.</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المُشْكِلَةُ ← … بِسَبَبِ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Problem + cause.</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المُشْكِلَةُ الَّتِي تُقْلِقُكَ؟</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93608" y="3840480"/>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Solution + purpose.</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 الحَلُّ فِي رَأْيِكَ؟</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93608" y="4626864"/>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Qualified judgement.</a:t>
            </a:r>
            <a:endParaRPr lang="en-US" sz="1100" dirty="0"/>
          </a:p>
        </p:txBody>
      </p:sp>
      <p:sp>
        <p:nvSpPr>
          <p:cNvPr id="42" name="Text 39"/>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تَسْتَطِيعُ التِّكْنُولُوجِيَا أَنْ تُسَاعِدَ؟</a:t>
            </a:r>
            <a:endParaRPr lang="ar-SA" sz="1700" dirty="0"/>
          </a:p>
        </p:txBody>
      </p:sp>
      <p:sp>
        <p:nvSpPr>
          <p:cNvPr id="43" name="Text 40"/>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candidate · Leader = the examiner. Write the plan for tasks 3–4 in your book first. Task ! is a surprise — the Leader reads it without warning. Then swap roles.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minute under pressure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دَقِيقَةٌ تَحْتَ الضَّغْطِ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gives a topic card (weather · plastic · technology · water). Speak for one minute with the full chain — no preparation. The Coach counts accuracy slips and recoveries.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Problem → cause → solution.</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full chain with one passive and one </a:t>
            </a:r>
            <a:pPr algn="l" indent="0" marL="0">
              <a:buNone/>
            </a:pPr>
            <a:r>
              <a:rPr lang="ar-SA" altLang="en-US" sz="1500" dirty="0">
                <a:solidFill>
                  <a:srgbClr val="1F2A37"/>
                </a:solidFill>
                <a:latin typeface="Amiri" pitchFamily="2" charset="-78"/>
                <a:ea typeface="Amiri" pitchFamily="2" charset="-78"/>
                <a:cs typeface="Amiri" pitchFamily="2" charset="-78"/>
              </a:rPr>
              <a:t>إِذَا</a:t>
            </a:r>
            <a:pPr algn="l" indent="0" marL="0">
              <a:buNone/>
            </a:pPr>
            <a:r>
              <a:rPr lang="en-US" sz="1150" dirty="0">
                <a:solidFill>
                  <a:srgbClr val="1F2A37"/>
                </a:solidFill>
                <a:latin typeface="Calibri" pitchFamily="34" charset="0"/>
                <a:cs typeface="Amiri" pitchFamily="2" charset="-78"/>
              </a:rPr>
              <a:t> sentence.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Full chain + qualified judgement + a smooth recovery (</a:t>
            </a:r>
            <a:pPr algn="l" indent="0" marL="0">
              <a:buNone/>
            </a:pPr>
            <a:r>
              <a:rPr lang="ar-SA" altLang="en-US" sz="1500" dirty="0">
                <a:solidFill>
                  <a:srgbClr val="1F2A37"/>
                </a:solidFill>
                <a:latin typeface="Amiri" pitchFamily="2" charset="-78"/>
                <a:ea typeface="Amiri" pitchFamily="2" charset="-78"/>
                <a:cs typeface="Amiri" pitchFamily="2" charset="-78"/>
              </a:rPr>
              <a:t>لِأُصَحِّحْ ذٰلِكَ</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What I mean is that the rivers are polluted.</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أَقْصِدُ</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أَقْصِدَ</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الأَنْهَارَ</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الأَنْهَارُ</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مُلَوَّثَةٌ.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مُلَوَّثُونَ.</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If we don’t act, the ice will melt.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إِذَا لَمْ</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إِذَا لَا</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نَتَحَرَّكْ،</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نَتَحَرَّكُ،</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فَسَوْفَ يَذُوبُ الجَلِيدُ.</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سَوْفَ يَذُوبَ الجَلِيدُ.</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In other words, we must reduce consumption.</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بِعِبَارَةٍ أُخْرَى،</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بِعِبَارَةٌ أُخْرَى،</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أَنْ</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نُقَلِّلَ الاسْتِهْلَاكَ.</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نُقَلِّلُ الاسْتِهْلَاكَ.</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What I mean is that the rivers are polluted.</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-a; non-human plural → f. sg.</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أَقْصِدُ أَنَّ الأَنْهَارَ مُلَوَّثَةٌ.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If we don’t act, the ice will melt.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لَمْ</a:t>
            </a:r>
            <a:pPr algn="l" indent="0" marL="0">
              <a:buNone/>
            </a:pPr>
            <a:r>
              <a:rPr lang="en-US" sz="1050" i="1" dirty="0">
                <a:solidFill>
                  <a:srgbClr val="5A6472"/>
                </a:solidFill>
                <a:latin typeface="Calibri" pitchFamily="34" charset="0"/>
                <a:cs typeface="Amiri" pitchFamily="2" charset="-78"/>
              </a:rPr>
              <a:t> + jussive; fa-sawfa + present.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إِذَا لَمْ نَتَحَرَّكْ، فَسَوْفَ يَذُوبُ الجَلِيدُ.</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In other words, we must reduce consumption.</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بِ</a:t>
            </a:r>
            <a:pPr algn="l" indent="0" marL="0">
              <a:buNone/>
            </a:pPr>
            <a:r>
              <a:rPr lang="en-US" sz="1050" i="1" dirty="0">
                <a:solidFill>
                  <a:srgbClr val="5A6472"/>
                </a:solidFill>
                <a:latin typeface="Calibri" pitchFamily="34" charset="0"/>
                <a:cs typeface="Amiri" pitchFamily="2" charset="-78"/>
              </a:rPr>
              <a:t> + genitive; </a:t>
            </a:r>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-a.</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بِعِبَارَةٍ أُخْرَى، يَجِبُ أَنْ نُقَلِّلَ الاسْتِهْلَاكَ.</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الغَابَاتُ تُقْطَعُ وَهُمْ مُهِمُّونَ.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Forests are not people.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عَلَى النَّاسِ أَنْ يَسْتَخْدِمُونَ الحَافِلَاتِ.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أَكْبَرُ مُشْكِلَةٍ هِيَ الثُّلُوجُ… لَا… آسِفٌ…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Stuck after a mistake? Recover!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الغَابَاتُ تُقْطَعُ وَهُمْ مُهِمُّونَ.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الغَابَاتُ تُقْطَعُ، وَهِيَ مُهِمَّةٌ.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Non-human plural → </a:t>
            </a:r>
            <a:pPr algn="l" indent="0" marL="0">
              <a:buNone/>
            </a:pPr>
            <a:r>
              <a:rPr lang="ar-SA" altLang="en-US" sz="1500" b="1" dirty="0">
                <a:solidFill>
                  <a:srgbClr val="1B3B6F"/>
                </a:solidFill>
                <a:latin typeface="Amiri" pitchFamily="2" charset="-78"/>
                <a:ea typeface="Amiri" pitchFamily="2" charset="-78"/>
                <a:cs typeface="Amiri" pitchFamily="2" charset="-78"/>
              </a:rPr>
              <a:t>هِيَ</a:t>
            </a:r>
            <a:pPr algn="l" indent="0" marL="0">
              <a:buNone/>
            </a:pPr>
            <a:r>
              <a:rPr lang="en-US" sz="1150" b="1" dirty="0">
                <a:solidFill>
                  <a:srgbClr val="1B3B6F"/>
                </a:solidFill>
                <a:latin typeface="Calibri" pitchFamily="34" charset="0"/>
                <a:cs typeface="Amiri" pitchFamily="2" charset="-78"/>
              </a:rPr>
              <a:t> + f. sg.</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يَجِبُ عَلَى النَّاسِ أَنْ يَسْتَخْدِمُونَ الحَافِلَاتِ.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عَلَى النَّاسِ أَنْ يَسْتَخْدِمُوا الحَافِلَاتِ.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-ūna → -ū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أَكْبَرُ مُشْكِلَةٍ هِيَ الثُّلُوجُ… لَا… آسِفٌ…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أَكْبَرُ مُشْكِلَةٍ هِيَ الثُّلُوجُ… لِأُصَحِّحْ ذٰلِكَ: الفَيَضَانَاتُ.</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Self-correction shows control — examiners reward it.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بِعِبَارَةٍ أُخْرَى،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other words,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سَتَنْجَحُ هٰذِهِ الحُلُولُ إِلَى حَدٍّ مَا، بِشَرْطِ أَنْ ______ .</a:t>
            </a:r>
            <a:endParaRPr lang="ar-SA" sz="15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These solutions will work to some extent, on condition that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أَكْبَرُ تَحَدٍّ هُوَ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the biggest challenge is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يَحْدُثُ بِسَبَبِ ______ ، مِمَّا يُؤَدِّي إِلَى ______ .</a:t>
            </a:r>
            <a:endParaRPr lang="ar-SA" sz="165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happens because of …, which leads to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عَلَى ______ أَنْ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must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لَمْ ______ ، فَسَوْفَ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we don’t …, … will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يَسُودُ · يَتَمَيَّزُ بِ…  ·  بِسَبَبِ · يُؤَدِّي إِلَى  ·  مِمَّا يُسَبِّبُ  ·  تُقْطَعُ · يُلَوَّثُ  ·  يَجِبُ عَلَى … أَنْ  ·  إِذَا لَمْ نُرَشِّدْ  ·  أَقْصِدُ أَنَّ  ·  بِعِبَارَةٍ أُخْرَى</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developed exam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إِجَابَةٌ مُطَوَّرَةٌ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Exam question: «</a:t>
            </a:r>
            <a:pPr algn="l" indent="0" marL="0">
              <a:buNone/>
            </a:pPr>
            <a:r>
              <a:rPr lang="ar-SA" altLang="en-US" sz="1450" b="1" dirty="0">
                <a:solidFill>
                  <a:srgbClr val="1F2A37"/>
                </a:solidFill>
                <a:latin typeface="Amiri" pitchFamily="2" charset="-78"/>
                <a:ea typeface="Amiri" pitchFamily="2" charset="-78"/>
                <a:cs typeface="Amiri" pitchFamily="2" charset="-78"/>
              </a:rPr>
              <a:t>مَا أَكْبَرُ تَحَدٍّ بِيئِيٍّ فِي العَالَمِ، وَكَيْفَ نُوَاجِهُهُ؟</a:t>
            </a:r>
            <a:pPr algn="l" indent="0" marL="0">
              <a:buNone/>
            </a:pPr>
            <a:r>
              <a:rPr lang="en-US" sz="1100" b="1" dirty="0">
                <a:solidFill>
                  <a:srgbClr val="1F2A37"/>
                </a:solidFill>
                <a:latin typeface="Calibri" pitchFamily="34" charset="0"/>
                <a:cs typeface="Amiri" pitchFamily="2" charset="-78"/>
              </a:rPr>
              <a:t>» Write a developed answer (about 60–85 words) with the full chain: climate or context → problem → cause and effect → two solutions → a qualified judgement. Use at least one passive, one </a:t>
            </a:r>
            <a:pPr algn="l" indent="0" marL="0">
              <a:buNone/>
            </a:pPr>
            <a:r>
              <a:rPr lang="ar-SA" altLang="en-US" sz="1450" b="1" dirty="0">
                <a:solidFill>
                  <a:srgbClr val="1F2A37"/>
                </a:solidFill>
                <a:latin typeface="Amiri" pitchFamily="2" charset="-78"/>
                <a:ea typeface="Amiri" pitchFamily="2" charset="-78"/>
                <a:cs typeface="Amiri" pitchFamily="2" charset="-78"/>
              </a:rPr>
              <a:t>إِذَا لَمْ</a:t>
            </a:r>
            <a:pPr algn="l" indent="0" marL="0">
              <a:buNone/>
            </a:pPr>
            <a:r>
              <a:rPr lang="en-US" sz="1100" b="1" dirty="0">
                <a:solidFill>
                  <a:srgbClr val="1F2A37"/>
                </a:solidFill>
                <a:latin typeface="Calibri" pitchFamily="34" charset="0"/>
                <a:cs typeface="Amiri" pitchFamily="2" charset="-78"/>
              </a:rPr>
              <a:t> … , and one </a:t>
            </a:r>
            <a:pPr algn="l" indent="0" marL="0">
              <a:buNone/>
            </a:pPr>
            <a:r>
              <a:rPr lang="ar-SA" altLang="en-US" sz="1450" b="1" dirty="0">
                <a:solidFill>
                  <a:srgbClr val="1F2A37"/>
                </a:solidFill>
                <a:latin typeface="Amiri" pitchFamily="2" charset="-78"/>
                <a:ea typeface="Amiri" pitchFamily="2" charset="-78"/>
                <a:cs typeface="Amiri" pitchFamily="2" charset="-78"/>
              </a:rPr>
              <a:t>أَقْصِدُ أَنَّ / بِعِبَارَةٍ أُخْرَى</a:t>
            </a:r>
            <a:pPr algn="l" indent="0" marL="0">
              <a:buNone/>
            </a:pPr>
            <a:r>
              <a:rPr lang="en-US" sz="1100" b="1" dirty="0">
                <a:solidFill>
                  <a:srgbClr val="1F2A37"/>
                </a:solidFill>
                <a:latin typeface="Calibri" pitchFamily="34" charset="0"/>
                <a:cs typeface="Amiri" pitchFamily="2" charset="-78"/>
              </a:rPr>
              <a:t>.</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right tense for each bullet.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أَكْبَرُ تَحَدٍّ هُوَ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biggest challenge is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بِسَبَبِ … مِمَّا يُؤَدِّي إِلَى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of …, which leads to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عَلَى … أَنْ … لِكَيْ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must … so that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بِعِبَارَةٍ أُخْرَى … · إِلَى حَدٍّ مَا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other words … · to some extent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build the chain problem → cause → solution accurately?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passive, </a:t>
            </a:r>
            <a:pPr algn="l" indent="0" marL="0">
              <a:buNone/>
            </a:pPr>
            <a:r>
              <a:rPr lang="ar-SA" altLang="en-US" sz="1450" dirty="0">
                <a:solidFill>
                  <a:srgbClr val="5A6472"/>
                </a:solidFill>
                <a:latin typeface="Amiri" pitchFamily="2" charset="-78"/>
                <a:ea typeface="Amiri" pitchFamily="2" charset="-78"/>
                <a:cs typeface="Amiri" pitchFamily="2" charset="-78"/>
              </a:rPr>
              <a:t>إِذَا لَمْ</a:t>
            </a:r>
            <a:pPr algn="l" indent="0" marL="0">
              <a:buNone/>
            </a:pPr>
            <a:r>
              <a:rPr lang="en-US" sz="1100" dirty="0">
                <a:solidFill>
                  <a:srgbClr val="5A6472"/>
                </a:solidFill>
                <a:latin typeface="Calibri" pitchFamily="34" charset="0"/>
                <a:cs typeface="Amiri" pitchFamily="2" charset="-78"/>
              </a:rPr>
              <a:t> + jussive and a qualified judgement?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يَسُودُ مَنَاخٌ مُعْتَدِلٌ وَرَطْبٌ، وَهُوَ أَبْرَدُ مِنْ مَنَاخِ بَلَدِ وَالِدَيَّ.</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mild, humid climate prevails, and it is colder than my parents’ country.</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طَقْسَ بَلَدِكَ.</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تُقْلِقُنِي الفَيَضَانَاتُ، بِسَبَبِ الأَمْطَارِ الغَزِيرَةِ وَإِزَالَةِ الغَابَاتِ.</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Floods worry me, because of heavy rain and deforestation.</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المُشْكِلَةُ الَّتِي تُقْلِقُكَ؟</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عَلَى الحُكُومَةِ أَنْ تَزْرَعَ الأَشْجَارَ لِكَيْ تَمْتَصَّ المِيَاهَ.</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government must plant trees so that they absorb the water.</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 الحَلُّ فِي رَأْيِكَ؟</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حَدٍّ مَا؛ أَقْصِدُ أَنَّ أَنْظِمَةَ الإِنْذَارِ تُسَاعِدُ، بِشَرْطِ أَنْ يَسْتَمِعَ النَّاسُ إِلَيْهَا.</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To some extent — I mean warning systems help, on condition that people listen to them.</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تَسْتَطِيعُ التِّكْنُولُوجِيَا أَنْ تُسَاعِدَ؟</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فِي رَأْيِي أَكْبَرُ تَحَدٍّ هُوَ الاحْتِبَاسُ الحَرَارِيُّ. يَحْدُثُ بِسَبَبِ حَرْقِ الوَقُودِ الأُحْفُورِيِّ، وَلِأَنَّ الغَابَاتِ تُقْطَعُ بِسُرْعَةٍ، مِمَّا يُؤَدِّي إِلَى ذَوَبَانِ الجَلِيدِ وَارْتِفَاعِ مُسْتَوَى البَحْرِ. يَجِبُ عَلَى الحُكُومَاتِ أَنْ تَنْتَقِلَ إِلَى الطَّاقَةِ المُتَجَدِّدَةِ، وَيَجِبُ عَلَى المُوَاطِنِينَ أَنْ يُقَلِّلُوا الاسْتِهْلَاكَ. بِعِبَارَةٍ أُخْرَى، كُلُّنَا مَسْؤُولُونَ. إِذَا لَمْ نَتَحَرَّكِ الآنَ، فَسَوْفَ تَغْرَقُ مُدُنٌ سَاحِلِيَّةٌ كَثِيرَةٌ. سَتَنْجَحُ هٰذِهِ الحُلُولُ إِلَى حَدٍّ مَا، بِشَرْطِ أَنْ تَتَعَاوَنَ الدُّوَلُ مَعًا.</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opinion the biggest challenge is global warming. It happens because fossil fuels are burned and forests are cut down quickly, which leads to melting ice and rising sea levels. Governments must move to renewable energy, and citizens must reduce consumption. In other words, we are all responsible. If we don’t act now, many coastal cities will flood. These solutions will work to some extent, on condition that countries cooperate.”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الغَابَاتِ تُقْطَعُ</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يُؤَدِّي إِلَى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بِعِبَارَةٍ أُخْرَى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لَمْ نَتَحَرَّكِ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D4-L12 · Review and Unit Assessment: Environment, Weather and Technology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D4-L11 · Practice Room — D4 Consolidation — Range Mastery and Speaking Preparation</dc:title>
  <dc:subject>PptxGenJS Presentation</dc:subject>
  <dc:creator>Al Madina Online School · Arabic Department</dc:creator>
  <cp:lastModifiedBy>Al Madina Online School · Arabic Department</cp:lastModifiedBy>
  <cp:revision>1</cp:revision>
  <dcterms:created xsi:type="dcterms:W3CDTF">2026-10-25T18:34:32Z</dcterms:created>
  <dcterms:modified xsi:type="dcterms:W3CDTF">2026-10-25T18:34:32Z</dcterms:modified>
</cp:coreProperties>
</file>