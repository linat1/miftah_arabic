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D4-L07 (Resources and Sustainability — When Resources Run Out) — new practice tasks built on the lesson’s own word bank and grammar (predicting: idhā istamarra + noun, fa-sawfa + verb; negative condition: idhā lam + jussive (idhā lam nurashshidi al-miyāha …); resources run out (yanḍabu) or become scarce (yashiḥḥu); moving to sustainable sources (al-intiqāl ilā …)).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D4-L07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chair to a girl: يُقْلِقُكِ · اقْتِرَاحُكِ. idhā lam + jussive (nurashshid → nurashshidi before al-); fa-sawfa +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(60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D4-L07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Resources and Sustainability — When Resources Run Out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المَوَارِدُ وَالاسْتِدَامَةُ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Students run their own speaking and writing practice about resources: say the resource words, act a short “what if?” dialogue, answer prediction cards, do a role-play card at a youth climate summit, give a one-minute “if we don’t act …” talk, then build, fix and write a prediction-and-action paragraph.</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D4-L07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Resources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المَوَارِدُ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resources</a:t>
            </a:r>
            <a:endParaRPr lang="en-US" sz="1350" dirty="0"/>
          </a:p>
          <a:p>
            <a:pPr indent="0" marL="0">
              <a:buNone/>
            </a:pPr>
            <a:r>
              <a:rPr lang="en-US" sz="1100" i="1" dirty="0">
                <a:solidFill>
                  <a:srgbClr val="5A6472"/>
                </a:solidFill>
                <a:latin typeface="Calibri" pitchFamily="34" charset="0"/>
                <a:cs typeface="Amiri" pitchFamily="2" charset="-78"/>
              </a:rPr>
              <a:t>al-ma-wā-ri-du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الاسْتِدَامَةُ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sustainability</a:t>
            </a:r>
            <a:endParaRPr lang="en-US" sz="1350" dirty="0"/>
          </a:p>
          <a:p>
            <a:pPr indent="0" marL="0">
              <a:buNone/>
            </a:pPr>
            <a:r>
              <a:rPr lang="en-US" sz="1100" i="1" dirty="0">
                <a:solidFill>
                  <a:srgbClr val="5A6472"/>
                </a:solidFill>
                <a:latin typeface="Calibri" pitchFamily="34" charset="0"/>
                <a:cs typeface="Amiri" pitchFamily="2" charset="-78"/>
              </a:rPr>
              <a:t>als-ti-dā-ma-tu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شُحُّ المِيَاهِ</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scarcity</a:t>
            </a:r>
            <a:endParaRPr lang="en-US" sz="1350" dirty="0"/>
          </a:p>
          <a:p>
            <a:pPr indent="0" marL="0">
              <a:buNone/>
            </a:pPr>
            <a:r>
              <a:rPr lang="en-US" sz="1100" i="1" dirty="0">
                <a:solidFill>
                  <a:srgbClr val="5A6472"/>
                </a:solidFill>
                <a:latin typeface="Calibri" pitchFamily="34" charset="0"/>
                <a:cs typeface="Amiri" pitchFamily="2" charset="-78"/>
              </a:rPr>
              <a:t>shuḥ-ḥu al-mi-yā-hi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الوَقُودُ الأُحْفُورِيُّ</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fossil fuel</a:t>
            </a:r>
            <a:endParaRPr lang="en-US" sz="1350" dirty="0"/>
          </a:p>
          <a:p>
            <a:pPr indent="0" marL="0">
              <a:buNone/>
            </a:pPr>
            <a:r>
              <a:rPr lang="en-US" sz="1100" i="1" dirty="0">
                <a:solidFill>
                  <a:srgbClr val="5A6472"/>
                </a:solidFill>
                <a:latin typeface="Calibri" pitchFamily="34" charset="0"/>
                <a:cs typeface="Amiri" pitchFamily="2" charset="-78"/>
              </a:rPr>
              <a:t>al-wa-qū-du al-uḥ-fū-riy-yu</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المِيَاهُ الجَوْفِيَّةُ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groundwater</a:t>
            </a:r>
            <a:endParaRPr lang="en-US" sz="1350" dirty="0"/>
          </a:p>
          <a:p>
            <a:pPr indent="0" marL="0">
              <a:buNone/>
            </a:pPr>
            <a:r>
              <a:rPr lang="en-US" sz="1100" i="1" dirty="0">
                <a:solidFill>
                  <a:srgbClr val="5A6472"/>
                </a:solidFill>
                <a:latin typeface="Calibri" pitchFamily="34" charset="0"/>
                <a:cs typeface="Amiri" pitchFamily="2" charset="-78"/>
              </a:rPr>
              <a:t>al-mi-yā-hu al-jaw-fiy-ya-tu</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الاسْتِهْلَاكُ</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consumption</a:t>
            </a:r>
            <a:endParaRPr lang="en-US" sz="1350" dirty="0"/>
          </a:p>
          <a:p>
            <a:pPr indent="0" marL="0">
              <a:buNone/>
            </a:pPr>
            <a:r>
              <a:rPr lang="en-US" sz="1100" i="1" dirty="0">
                <a:solidFill>
                  <a:srgbClr val="5A6472"/>
                </a:solidFill>
                <a:latin typeface="Calibri" pitchFamily="34" charset="0"/>
                <a:cs typeface="Amiri" pitchFamily="2" charset="-78"/>
              </a:rPr>
              <a:t>als-tih-lā-ku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Predicting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يَنْضَبُ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runs out / is depleted</a:t>
            </a:r>
            <a:endParaRPr lang="en-US" sz="1350" dirty="0"/>
          </a:p>
          <a:p>
            <a:pPr indent="0" marL="0">
              <a:buNone/>
            </a:pPr>
            <a:r>
              <a:rPr lang="en-US" sz="1100" i="1" dirty="0">
                <a:solidFill>
                  <a:srgbClr val="5A6472"/>
                </a:solidFill>
                <a:latin typeface="Calibri" pitchFamily="34" charset="0"/>
                <a:cs typeface="Amiri" pitchFamily="2" charset="-78"/>
              </a:rPr>
              <a:t>yan-ḍa-bu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يَشِحُّ</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becomes scarce</a:t>
            </a:r>
            <a:endParaRPr lang="en-US" sz="1350" dirty="0"/>
          </a:p>
          <a:p>
            <a:pPr indent="0" marL="0">
              <a:buNone/>
            </a:pPr>
            <a:r>
              <a:rPr lang="en-US" sz="1100" i="1" dirty="0">
                <a:solidFill>
                  <a:srgbClr val="5A6472"/>
                </a:solidFill>
                <a:latin typeface="Calibri" pitchFamily="34" charset="0"/>
                <a:cs typeface="Amiri" pitchFamily="2" charset="-78"/>
              </a:rPr>
              <a:t>ya-shiḥ-ḥu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يُرَشِّدُ</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rationalises / conserves</a:t>
            </a:r>
            <a:endParaRPr lang="en-US" sz="1350" dirty="0"/>
          </a:p>
          <a:p>
            <a:pPr indent="0" marL="0">
              <a:buNone/>
            </a:pPr>
            <a:r>
              <a:rPr lang="en-US" sz="1100" i="1" dirty="0">
                <a:solidFill>
                  <a:srgbClr val="5A6472"/>
                </a:solidFill>
                <a:latin typeface="Calibri" pitchFamily="34" charset="0"/>
                <a:cs typeface="Amiri" pitchFamily="2" charset="-78"/>
              </a:rPr>
              <a:t>yu-rash-shi-du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 اسْتَمَرَّ</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 continues</a:t>
            </a:r>
            <a:endParaRPr lang="en-US" sz="1350" dirty="0"/>
          </a:p>
          <a:p>
            <a:pPr indent="0" marL="0">
              <a:buNone/>
            </a:pPr>
            <a:r>
              <a:rPr lang="en-US" sz="1100" i="1" dirty="0">
                <a:solidFill>
                  <a:srgbClr val="5A6472"/>
                </a:solidFill>
                <a:latin typeface="Calibri" pitchFamily="34" charset="0"/>
                <a:cs typeface="Amiri" pitchFamily="2" charset="-78"/>
              </a:rPr>
              <a:t>i-dhā as-ta-mar-ra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 لَمْ</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 does not</a:t>
            </a:r>
            <a:endParaRPr lang="en-US" sz="1350" dirty="0"/>
          </a:p>
          <a:p>
            <a:pPr indent="0" marL="0">
              <a:buNone/>
            </a:pPr>
            <a:r>
              <a:rPr lang="en-US" sz="1100" i="1" dirty="0">
                <a:solidFill>
                  <a:srgbClr val="5A6472"/>
                </a:solidFill>
                <a:latin typeface="Calibri" pitchFamily="34" charset="0"/>
                <a:cs typeface="Amiri" pitchFamily="2" charset="-78"/>
              </a:rPr>
              <a:t>i-dhā lam</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فَسَوْفَ</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 ... will</a:t>
            </a:r>
            <a:endParaRPr lang="en-US" sz="1350" dirty="0"/>
          </a:p>
          <a:p>
            <a:pPr indent="0" marL="0">
              <a:buNone/>
            </a:pPr>
            <a:r>
              <a:rPr lang="en-US" sz="1100" i="1" dirty="0">
                <a:solidFill>
                  <a:srgbClr val="5A6472"/>
                </a:solidFill>
                <a:latin typeface="Calibri" pitchFamily="34" charset="0"/>
                <a:cs typeface="Amiri" pitchFamily="2" charset="-78"/>
              </a:rPr>
              <a:t>fa-saw-fa</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if we don’t 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لَوْ لَمْ نَتَغَيَّرْ؟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Will oil run out one day?</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هَلْ سَيَنْضَبُ النِّفْطُ يَوْمًا مَا؟</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If consumption continues like this, it will run out within fifty years.</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نَعَمْ. إِذَا اسْتَمَرَّ الاسْتِهْلَاكُ بِهٰذَا الشَّكْلِ، فَسَوْفَ يَنْضَبُ خِلَالَ خَمْسِينَ سَنَةً.</a:t>
            </a:r>
            <a:endParaRPr lang="ar-SA" sz="195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water?</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وَالمَاءُ؟</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we don’t conserve water, it will become scarce in many countries.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لَمْ نُرَشِّدِ المِيَاهَ، فَسَوْفَ تَشِحُّ فِي بِلَادٍ كَثِيرَةٍ.</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 what is the solution?</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إِذَنْ مَا الحَلُّ؟</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must move to renewable energy and reduce consumption.</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يَجِبُ أَنْ نَنْتَقِلَ إِلَى الطَّاقَةِ المُتَجَدِّدَةِ، وَأَنْ نُقَلِّلَ مِنَ الاسْتِهْلَاكِ.</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make predictions about ANOTHER resource (forests, fish, groundwater).</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Answer in a full sentence — then add more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مِمَّا يُؤَدِّي إِلَى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إِذَا اسْتَمَرَّ التَّلَوُّثُ، فَسَوْفَ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will happen if pollution continues?</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سَيَحْدُثُ إِذَا اسْتَمَرَّ التَّلَوُّثُ؟</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56648" y="3004718"/>
            <a:ext cx="1901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إِذَا لَمْ نُرَشِّدِ الطَّاقَةَ، فَسَوْفَ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if we don’t save energy?</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سَيَحْدُثُ إِذَا لَمْ نُرَشِّدِ الطَّاقَةَ؟</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وَالاسْتِهْلَاكِ الكَبِيرِ</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بِسَبَبِ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is water scarce in some countries?</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يَشِحُّ المَاءُ فِي بَعْضِ البِلَادِ؟</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بَدَلًا مِنَ الوَقُودِ الأُحْفُورِيِّ</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يَجِبُ أَنْ نَسْتَخْدِمَ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we move to sustainable sources?</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نَنْتَقِلُ إِلَى مَصَادِرَ مُسْتَدَامَةٍ؟</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لِكَيْ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أُطْفِئُ … / أَسْتَخْدِمُ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to cut consumption?</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الَّذِي تَفْعَلُهُ أَنْتَ لِتُرَشِّدَ الاسْتِهْلَاكَ؟</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Role-play card — the youth climate summit</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قِمَّةُ الشَّبَابِ لِلْمَنَاخِ</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المَوْرِدُ ← يُقْلِقُنِي … لِأَنَّ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 resource + why.</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المَوْرِدُ الَّذِي يُقْلِقُكَ أَكْثَرَ؟</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التَّوَقُّعُ ← إِذَا لَمْ … فَسَوْفَ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Prediction.</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سَيَحْدُثُ إِذَا لَمْ نَفْعَلْ شَيْئًا؟</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Action.</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 اقْتِرَاحُكَ؟</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surprise question.</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وَمَاذَا يَسْتَطِيعُ الشَّبَابُ أَنْ يَفْعَلُوا؟</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a youth delegate · Leader = the summit chair.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minute: “If we don’t act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لَمْ نَتَحَرَّكْ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Choose a resource. Talk for one minute: why it is at risk, two predictions, and two actions.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predictions with </a:t>
            </a:r>
            <a:pPr algn="l" indent="0" marL="0">
              <a:buNone/>
            </a:pPr>
            <a:r>
              <a:rPr lang="ar-SA" altLang="en-US" sz="1500" dirty="0">
                <a:solidFill>
                  <a:srgbClr val="1F2A37"/>
                </a:solidFill>
                <a:latin typeface="Amiri" pitchFamily="2" charset="-78"/>
                <a:ea typeface="Amiri" pitchFamily="2" charset="-78"/>
                <a:cs typeface="Amiri" pitchFamily="2" charset="-78"/>
              </a:rPr>
              <a:t>إِذَا اسْتَمَرَّ … فَسَوْفَ</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إِذَا لَمْ</a:t>
            </a:r>
            <a:pPr algn="l" indent="0" marL="0">
              <a:buNone/>
            </a:pPr>
            <a:r>
              <a:rPr lang="en-US" sz="1150" dirty="0">
                <a:solidFill>
                  <a:srgbClr val="1F2A37"/>
                </a:solidFill>
                <a:latin typeface="Calibri" pitchFamily="34" charset="0"/>
                <a:cs typeface="Amiri" pitchFamily="2" charset="-78"/>
              </a:rPr>
              <a:t> + jussive and </a:t>
            </a:r>
            <a:pPr algn="l" indent="0" marL="0">
              <a:buNone/>
            </a:pPr>
            <a:r>
              <a:rPr lang="ar-SA" altLang="en-US" sz="1500" dirty="0">
                <a:solidFill>
                  <a:srgbClr val="1F2A37"/>
                </a:solidFill>
                <a:latin typeface="Amiri" pitchFamily="2" charset="-78"/>
                <a:ea typeface="Amiri" pitchFamily="2" charset="-78"/>
                <a:cs typeface="Amiri" pitchFamily="2" charset="-78"/>
              </a:rPr>
              <a:t>يَنْضَبُ / يَشِحُّ</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two actions (</a:t>
            </a:r>
            <a:pPr algn="l" indent="0" marL="0">
              <a:buNone/>
            </a:pPr>
            <a:r>
              <a:rPr lang="ar-SA" altLang="en-US" sz="1500" dirty="0">
                <a:solidFill>
                  <a:srgbClr val="1F2A37"/>
                </a:solidFill>
                <a:latin typeface="Amiri" pitchFamily="2" charset="-78"/>
                <a:ea typeface="Amiri" pitchFamily="2" charset="-78"/>
                <a:cs typeface="Amiri" pitchFamily="2" charset="-78"/>
              </a:rPr>
              <a:t>يَجِبُ أَنْ نَنْتَقِلَ إِلَى</a:t>
            </a:r>
            <a:pPr algn="l" indent="0" marL="0">
              <a:buNone/>
            </a:pPr>
            <a:r>
              <a:rPr lang="en-US" sz="1150" dirty="0">
                <a:solidFill>
                  <a:srgbClr val="1F2A37"/>
                </a:solidFill>
                <a:latin typeface="Calibri" pitchFamily="34" charset="0"/>
                <a:cs typeface="Amiri" pitchFamily="2" charset="-78"/>
              </a:rPr>
              <a:t> …) and a final judgement.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If consumption continues, oil will run out.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اسْتَمَرَّ الاسْتِهْلَاكُ،</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يَسْتَمِرُّ الاسْتِهْلَاكُ،</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فَسَوْفَ</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سَوْفَ لَا</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يَنْضَبُ النِّفْطُ.</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يَنْضَبَ النِّفْطُ.</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If we don’t conserve water, it will become scarce.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لَمْ</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لَا</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نُرَشِّدِ المِيَاهَ،</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نُرَشِّدُ المِيَاهَ،</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فَسَوْفَ تَشِحُّ.</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فَسَوْفَ يَشِحُّونَ.</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must move to renewable energy.</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أَنْ</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نَنْتَقِلَ</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نَنْتَقِلُ</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الطَّاقَةِ المُتَجَدِّدَةِ.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الطَّاقَةُ المُتَجَدِّدَةُ.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If consumption continues, oil will run out.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إِذَا</a:t>
            </a:r>
            <a:pPr algn="l" indent="0" marL="0">
              <a:buNone/>
            </a:pPr>
            <a:r>
              <a:rPr lang="en-US" sz="1050" i="1" dirty="0">
                <a:solidFill>
                  <a:srgbClr val="5A6472"/>
                </a:solidFill>
                <a:latin typeface="Calibri" pitchFamily="34" charset="0"/>
                <a:cs typeface="Amiri" pitchFamily="2" charset="-78"/>
              </a:rPr>
              <a:t> + past; fa-sawfa + present.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إِذَا اسْتَمَرَّ الاسْتِهْلَاكُ، فَسَوْفَ يَنْضَبُ النِّفْطُ.</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If we don’t conserve water, it will become scarce.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لَمْ</a:t>
            </a:r>
            <a:pPr algn="l" indent="0" marL="0">
              <a:buNone/>
            </a:pPr>
            <a:r>
              <a:rPr lang="en-US" sz="1050" i="1" dirty="0">
                <a:solidFill>
                  <a:srgbClr val="5A6472"/>
                </a:solidFill>
                <a:latin typeface="Calibri" pitchFamily="34" charset="0"/>
                <a:cs typeface="Amiri" pitchFamily="2" charset="-78"/>
              </a:rPr>
              <a:t> + jussive (vowel -i before al-); </a:t>
            </a:r>
            <a:pPr algn="l" indent="0" marL="0">
              <a:buNone/>
            </a:pPr>
            <a:r>
              <a:rPr lang="ar-SA" altLang="en-US" sz="1350" dirty="0">
                <a:solidFill>
                  <a:srgbClr val="5A6472"/>
                </a:solidFill>
                <a:latin typeface="Amiri" pitchFamily="2" charset="-78"/>
                <a:ea typeface="Amiri" pitchFamily="2" charset="-78"/>
                <a:cs typeface="Amiri" pitchFamily="2" charset="-78"/>
              </a:rPr>
              <a:t>مِيَاهٌ</a:t>
            </a:r>
            <a:pPr algn="l" indent="0" marL="0">
              <a:buNone/>
            </a:pPr>
            <a:r>
              <a:rPr lang="en-US" sz="1050" i="1" dirty="0">
                <a:solidFill>
                  <a:srgbClr val="5A6472"/>
                </a:solidFill>
                <a:latin typeface="Calibri" pitchFamily="34" charset="0"/>
                <a:cs typeface="Amiri" pitchFamily="2" charset="-78"/>
              </a:rPr>
              <a:t> → feminine verb.</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إِذَا لَمْ نُرَشِّدِ المِيَاهَ، فَسَوْفَ تَشِحُّ.</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must move to renewable energy.</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-a; </a:t>
            </a:r>
            <a:pPr algn="l" indent="0" marL="0">
              <a:buNone/>
            </a:pPr>
            <a:r>
              <a:rPr lang="ar-SA" altLang="en-US" sz="1350" dirty="0">
                <a:solidFill>
                  <a:srgbClr val="5A6472"/>
                </a:solidFill>
                <a:latin typeface="Amiri" pitchFamily="2" charset="-78"/>
                <a:ea typeface="Amiri" pitchFamily="2" charset="-78"/>
                <a:cs typeface="Amiri" pitchFamily="2" charset="-78"/>
              </a:rPr>
              <a:t>إِلَى</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يَجِبُ أَنْ نَنْتَقِلَ إِلَى الطَّاقَةِ المُتَجَدِّدَةِ.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لَا نُرَشِّدُ المَاءَ …</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Negative condition.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اسْتَمَرَّ التَّلَوُّثُ، سَيَنْضَبُ المَاءُ النَّظِيفُ.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Join the result.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يَنْضَبُ المِيَاهُ الجَوْفِيَّةُ.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مِيَاهٌ</a:t>
            </a:r>
            <a:pPr algn="l" indent="0" marL="0">
              <a:buNone/>
            </a:pPr>
            <a:r>
              <a:rPr lang="en-US" sz="1300" i="1" dirty="0">
                <a:solidFill>
                  <a:srgbClr val="5A6472"/>
                </a:solidFill>
                <a:latin typeface="Calibri" pitchFamily="34" charset="0"/>
                <a:cs typeface="Amiri" pitchFamily="2" charset="-78"/>
              </a:rPr>
              <a:t> is plural.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إِذَا لَا نُرَشِّدُ المَاءَ …</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لَمْ نُرَشِّدِ المَاءَ …</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إِذَا لَمْ</a:t>
            </a:r>
            <a:pPr algn="l" indent="0" marL="0">
              <a:buNone/>
            </a:pPr>
            <a:r>
              <a:rPr lang="en-US" sz="1150" b="1" dirty="0">
                <a:solidFill>
                  <a:srgbClr val="1B3B6F"/>
                </a:solidFill>
                <a:latin typeface="Calibri" pitchFamily="34" charset="0"/>
                <a:cs typeface="Amiri" pitchFamily="2" charset="-78"/>
              </a:rPr>
              <a:t> + jussive.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إِذَا اسْتَمَرَّ التَّلَوُّثُ، سَيَنْضَبُ المَاءُ النَّظِيفُ.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2" charset="-78"/>
                <a:ea typeface="Amiri" pitchFamily="2" charset="-78"/>
                <a:cs typeface="Amiri" pitchFamily="2" charset="-78"/>
              </a:rPr>
              <a:t>إِذَا اسْتَمَرَّ التَّلَوُّثُ، فَسَوْفَ يَنْضَبُ المَاءُ النَّظِيفُ.</a:t>
            </a:r>
            <a:endParaRPr lang="ar-SA" sz="215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Result with </a:t>
            </a:r>
            <a:pPr algn="l" indent="0" marL="0">
              <a:buNone/>
            </a:pPr>
            <a:r>
              <a:rPr lang="ar-SA" altLang="en-US" sz="1500" b="1" dirty="0">
                <a:solidFill>
                  <a:srgbClr val="1B3B6F"/>
                </a:solidFill>
                <a:latin typeface="Amiri" pitchFamily="2" charset="-78"/>
                <a:ea typeface="Amiri" pitchFamily="2" charset="-78"/>
                <a:cs typeface="Amiri" pitchFamily="2" charset="-78"/>
              </a:rPr>
              <a:t>سَوْفَ</a:t>
            </a:r>
            <a:pPr algn="l" indent="0" marL="0">
              <a:buNone/>
            </a:pPr>
            <a:r>
              <a:rPr lang="en-US" sz="1150" b="1" dirty="0">
                <a:solidFill>
                  <a:srgbClr val="1B3B6F"/>
                </a:solidFill>
                <a:latin typeface="Calibri" pitchFamily="34" charset="0"/>
                <a:cs typeface="Amiri" pitchFamily="2" charset="-78"/>
              </a:rPr>
              <a:t> takes fa-.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يَنْضَبُ المِيَاهُ الجَوْفِيَّةُ.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تَنْضَبُ المِيَاهُ الجَوْفِيَّةُ.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Non-human plural → feminine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إِذَا لَمْ ______ ، فَسَوْفَ يَشِحُّ / يَنْضَبُ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we don’t …, … will become scarce / run out.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يَجِبُ أَنْ نَنْتَقِلَ إِلَى ______ بَدَلًا مِنْ ______ .</a:t>
            </a:r>
            <a:endParaRPr lang="ar-SA" sz="16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move to … instead of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فِي خَطَرٍ بِسَبَبِ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at risk because of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اسْتَمَرَّ ______ ، فَسَوْفَ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 continues, … will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رِسَالَتِي: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message: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المَوَارِدُ  ·  الاسْتِدَامَةُ  ·  شُحُّ المِيَاهِ  ·  الوَقُودُ الأُحْفُورِيُّ  ·  المِيَاهُ الجَوْفِيَّةُ  ·  الاسْتِهْلَاكُ  ·  يَنْضَبُ · يَشِحُّ  ·  إِذَا لَمْ نُرَشِّدْ</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Predictions and actions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تَوَقُّعَاتٌ وَحُلُولٌ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 paragraph (about 60–80 words) for an environmental campaign about one resource. Include: • why it is at risk (</a:t>
            </a:r>
            <a:pPr algn="l" indent="0" marL="0">
              <a:buNone/>
            </a:pPr>
            <a:r>
              <a:rPr lang="ar-SA" altLang="en-US" sz="1650" b="1" dirty="0">
                <a:solidFill>
                  <a:srgbClr val="1F2A37"/>
                </a:solidFill>
                <a:latin typeface="Amiri" pitchFamily="2" charset="-78"/>
                <a:ea typeface="Amiri" pitchFamily="2" charset="-78"/>
                <a:cs typeface="Amiri" pitchFamily="2" charset="-78"/>
              </a:rPr>
              <a:t>بِسَبَبِ</a:t>
            </a:r>
            <a:pPr algn="l" indent="0" marL="0">
              <a:buNone/>
            </a:pPr>
            <a:r>
              <a:rPr lang="en-US" sz="1250" b="1" dirty="0">
                <a:solidFill>
                  <a:srgbClr val="1F2A37"/>
                </a:solidFill>
                <a:latin typeface="Calibri" pitchFamily="34" charset="0"/>
                <a:cs typeface="Amiri" pitchFamily="2" charset="-78"/>
              </a:rPr>
              <a:t> …) • two predictions (</a:t>
            </a:r>
            <a:pPr algn="l" indent="0" marL="0">
              <a:buNone/>
            </a:pPr>
            <a:r>
              <a:rPr lang="ar-SA" altLang="en-US" sz="1650" b="1" dirty="0">
                <a:solidFill>
                  <a:srgbClr val="1F2A37"/>
                </a:solidFill>
                <a:latin typeface="Amiri" pitchFamily="2" charset="-78"/>
                <a:ea typeface="Amiri" pitchFamily="2" charset="-78"/>
                <a:cs typeface="Amiri" pitchFamily="2" charset="-78"/>
              </a:rPr>
              <a:t>إِذَا اسْتَمَرَّ … فَسَوْفَ … / إِذَا لَمْ … فَسَوْفَ</a:t>
            </a:r>
            <a:pPr algn="l" indent="0" marL="0">
              <a:buNone/>
            </a:pPr>
            <a:r>
              <a:rPr lang="en-US" sz="1250" b="1" dirty="0">
                <a:solidFill>
                  <a:srgbClr val="1F2A37"/>
                </a:solidFill>
                <a:latin typeface="Calibri" pitchFamily="34" charset="0"/>
                <a:cs typeface="Amiri" pitchFamily="2" charset="-78"/>
              </a:rPr>
              <a:t> …) • </a:t>
            </a:r>
            <a:pPr algn="l" indent="0" marL="0">
              <a:buNone/>
            </a:pPr>
            <a:r>
              <a:rPr lang="ar-SA" altLang="en-US" sz="1650" b="1" dirty="0">
                <a:solidFill>
                  <a:srgbClr val="1F2A37"/>
                </a:solidFill>
                <a:latin typeface="Amiri" pitchFamily="2" charset="-78"/>
                <a:ea typeface="Amiri" pitchFamily="2" charset="-78"/>
                <a:cs typeface="Amiri" pitchFamily="2" charset="-78"/>
              </a:rPr>
              <a:t>يَنْضَبُ</a:t>
            </a:r>
            <a:pPr algn="l" indent="0" marL="0">
              <a:buNone/>
            </a:pPr>
            <a:r>
              <a:rPr lang="en-US" sz="1250" b="1" dirty="0">
                <a:solidFill>
                  <a:srgbClr val="1F2A37"/>
                </a:solidFill>
                <a:latin typeface="Calibri" pitchFamily="34" charset="0"/>
                <a:cs typeface="Amiri" pitchFamily="2" charset="-78"/>
              </a:rPr>
              <a:t> or </a:t>
            </a:r>
            <a:pPr algn="l" indent="0" marL="0">
              <a:buNone/>
            </a:pPr>
            <a:r>
              <a:rPr lang="ar-SA" altLang="en-US" sz="1650" b="1" dirty="0">
                <a:solidFill>
                  <a:srgbClr val="1F2A37"/>
                </a:solidFill>
                <a:latin typeface="Amiri" pitchFamily="2" charset="-78"/>
                <a:ea typeface="Amiri" pitchFamily="2" charset="-78"/>
                <a:cs typeface="Amiri" pitchFamily="2" charset="-78"/>
              </a:rPr>
              <a:t>يَشِحُّ</a:t>
            </a:r>
            <a:pPr algn="l" indent="0" marL="0">
              <a:buNone/>
            </a:pPr>
            <a:r>
              <a:rPr lang="en-US" sz="1250" b="1" dirty="0">
                <a:solidFill>
                  <a:srgbClr val="1F2A37"/>
                </a:solidFill>
                <a:latin typeface="Calibri" pitchFamily="34" charset="0"/>
                <a:cs typeface="Amiri" pitchFamily="2" charset="-78"/>
              </a:rPr>
              <a:t> • two actions with </a:t>
            </a:r>
            <a:pPr algn="l" indent="0" marL="0">
              <a:buNone/>
            </a:pPr>
            <a:r>
              <a:rPr lang="ar-SA" altLang="en-US" sz="1650" b="1" dirty="0">
                <a:solidFill>
                  <a:srgbClr val="1F2A37"/>
                </a:solidFill>
                <a:latin typeface="Amiri" pitchFamily="2" charset="-78"/>
                <a:ea typeface="Amiri" pitchFamily="2" charset="-78"/>
                <a:cs typeface="Amiri" pitchFamily="2" charset="-78"/>
              </a:rPr>
              <a:t>يَجِبُ أَنْ</a:t>
            </a:r>
            <a:pPr algn="l" indent="0" marL="0">
              <a:buNone/>
            </a:pPr>
            <a:r>
              <a:rPr lang="en-US" sz="1250" b="1" dirty="0">
                <a:solidFill>
                  <a:srgbClr val="1F2A37"/>
                </a:solidFill>
                <a:latin typeface="Calibri" pitchFamily="34" charset="0"/>
                <a:cs typeface="Amiri" pitchFamily="2" charset="-78"/>
              </a:rPr>
              <a:t> … • a final message.</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اسْتَمَرَّ … ، فَسَوْفَ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 continues, … will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لَمْ نُ… ، فَسَوْفَ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we don’t …, … will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يَنْضَبُ · يَشِحُّ</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runs out · becomes scarce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نَنْتَقِلَ إِلَى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must move to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make two predictions with </a:t>
            </a:r>
            <a:pPr algn="l" indent="0" marL="0">
              <a:buNone/>
            </a:pPr>
            <a:r>
              <a:rPr lang="ar-SA" altLang="en-US" sz="1450" dirty="0">
                <a:solidFill>
                  <a:srgbClr val="5A6472"/>
                </a:solidFill>
                <a:latin typeface="Amiri" pitchFamily="2" charset="-78"/>
                <a:ea typeface="Amiri" pitchFamily="2" charset="-78"/>
                <a:cs typeface="Amiri" pitchFamily="2" charset="-78"/>
              </a:rPr>
              <a:t>إِذَا … فَسَوْفَ</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إِذَا لَمْ</a:t>
            </a:r>
            <a:pPr algn="l" indent="0" marL="0">
              <a:buNone/>
            </a:pPr>
            <a:r>
              <a:rPr lang="en-US" sz="1100" dirty="0">
                <a:solidFill>
                  <a:srgbClr val="5A6472"/>
                </a:solidFill>
                <a:latin typeface="Calibri" pitchFamily="34" charset="0"/>
                <a:cs typeface="Amiri" pitchFamily="2" charset="-78"/>
              </a:rPr>
              <a:t> + jussive and </a:t>
            </a:r>
            <a:pPr algn="l" indent="0" marL="0">
              <a:buNone/>
            </a:pPr>
            <a:r>
              <a:rPr lang="ar-SA" altLang="en-US" sz="1450" dirty="0">
                <a:solidFill>
                  <a:srgbClr val="5A6472"/>
                </a:solidFill>
                <a:latin typeface="Amiri" pitchFamily="2" charset="-78"/>
                <a:ea typeface="Amiri" pitchFamily="2" charset="-78"/>
                <a:cs typeface="Amiri" pitchFamily="2" charset="-78"/>
              </a:rPr>
              <a:t>يَنْضَبُ / يَشِحُّ</a:t>
            </a:r>
            <a:pPr algn="l" indent="0" marL="0">
              <a:buNone/>
            </a:pPr>
            <a:r>
              <a:rPr lang="en-US" sz="1100" dirty="0">
                <a:solidFill>
                  <a:srgbClr val="5A6472"/>
                </a:solidFill>
                <a:latin typeface="Calibri" pitchFamily="34" charset="0"/>
                <a:cs typeface="Amiri" pitchFamily="2" charset="-78"/>
              </a:rPr>
              <a:t> correctly?</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تُقْلِقُنِي المِيَاهُ الجَوْفِيَّةُ، لِأَنَّهَا تَنْضَبُ بِسُرْعَةٍ فِي بَلَدِي.</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Groundwater worries me, because it is running out fast in my country.</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المَوْرِدُ الَّذِي يُقْلِقُكَ أَكْثَرَ؟</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لَمْ نُرَشِّدِ الاسْتِهْلَاكَ، فَسَوْفَ يَشِحُّ المَاءُ خِلَالَ عِشْرِينَ سَنَةً.</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If we don’t cut consumption, water will become scarce within twenty years.</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سَيَحْدُثُ إِذَا لَمْ نَفْعَلْ شَيْئًا؟</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نُعِيدَ اسْتِخْدَامَ المِيَاهِ فِي الزِّرَاعَةِ، وَأَنْ نَبْنِيَ مَحَطَّاتٍ لِتَحْلِيَةِ مِيَاهِ البَحْرِ.</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must reuse water in farming and build desalination plants.</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 اقْتِرَاحُكَ؟</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يَسْتَطِيعُونَ أَنْ يَنْشُرُوا الوَعْيَ عَلَى الإِنْتَرْنِت، وَأَنْ يُغَيِّرُوا عَادَاتِهِمْ.</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They can raise awareness online and change their habits.</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وَمَاذَا يَسْتَطِيعُ الشَّبَابُ أَنْ يَفْعَلُوا؟</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المِيَاهُ العَذْبَةُ فِي خَطَرٍ بِسَبَبِ الاسْتِهْلَاكِ الكَبِيرِ وَالاحْتِبَاسِ الحَرَارِيِّ. إِذَا اسْتَمَرَّ هٰذَا الاسْتِهْلَاكُ، فَسَوْفَ تَنْضَبُ المِيَاهُ الجَوْفِيَّةُ فِي بِلَادٍ كَثِيرَةٍ. وَإِذَا لَمْ نُرَشِّدِ المِيَاهَ فِي بُيُوتِنَا، فَسَوْفَ يَشِحُّ المَاءُ حَتَّى فِي المُدُنِ الكَبِيرَةِ، مِمَّا يُؤَدِّي إِلَى مُشْكِلَاتٍ صِحِّيَّةٍ. لِذٰلِكَ يَجِبُ أَنْ نُصْلِحَ الأَنَابِيبَ المَكْسُورَةَ، وَيَجِبُ أَنْ نَنْتَقِلَ إِلَى الرَّيِّ الذَّكِيِّ فِي الزِّرَاعَةِ بَدَلًا مِنَ الطُّرُقِ القَدِيمَةِ. رِسَالَتِي: كُلُّ قَطْرَةٍ مُهِمَّةٌ!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“Fresh water is at risk because of heavy consumption and global warming. If this consumption continues, groundwater will run out in many countries. And if we don’t conserve water at home, water will become scarce even in big cities, which leads to health problems. So we must repair broken pipes, and we must move to smart irrigation in farming instead of old methods. My message: every drop counts!”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اسْتَمَرَّ هٰذَا الاسْتِهْلَاكُ</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لَمْ نُرَشِّدِ</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يَشِحُّ المَاءُ</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أَنْ نَنْتَقِلَ إِلَى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D4-L08 · Reading — Environment and Technology Texts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القِرَاءَةُ — نُصُوصُ البِيئَةِ وَالتِّقْنِيَّةِ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D4-L07 · Practice Room — Resources and Sustainability — When Resources Run Out</dc:title>
  <dc:subject>PptxGenJS Presentation</dc:subject>
  <dc:creator>Al Madina Online School · Arabic Department</dc:creator>
  <cp:lastModifiedBy>Al Madina Online School · Arabic Department</cp:lastModifiedBy>
  <cp:revision>1</cp:revision>
  <dcterms:created xsi:type="dcterms:W3CDTF">2026-10-25T18:34:31Z</dcterms:created>
  <dcterms:modified xsi:type="dcterms:W3CDTF">2026-10-25T18:34:31Z</dcterms:modified>
</cp:coreProperties>
</file>