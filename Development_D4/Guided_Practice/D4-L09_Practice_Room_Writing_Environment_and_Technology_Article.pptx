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D4-L09 (Writing — Environment and Technology Article) — new practice tasks built on the lesson’s own word bank and grammar (article structure: introduction + thesis (aʿtaqidu anna …) · main argument + specific example · counterargument (yarā al-baʿḍu anna … , maʿa dhālika …) · conclusion that synthesises (fī al-khitām …); connectors only where they add meaning (ʿilāwatan ʿalā dhālika · maʿa dhālika · ʿalā al-raghmi min anna)).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editor to a girl writer: مَقَالَكِ · اسْتَخْدِمِي · تُضِيفِينَ. Thesis · example · counterargument · synthesis. Range only where it adds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 Environment and Technology Article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مَقَالٌ بِرَأْيٍ وَاضِحٍ</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writing workshop, with speaking first: say the article toolkit, act a debate dialogue, plan each paragraph aloud with cards, do a role-play card as a newspaper editor giving feedback, rehearse their argument for one minute, then build, fix and write a four-paragraph opinion article.</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D4-L09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Article structure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مُقَدِّمَةٌ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introduction</a:t>
            </a:r>
            <a:endParaRPr lang="en-US" sz="1350" dirty="0"/>
          </a:p>
          <a:p>
            <a:pPr indent="0" marL="0">
              <a:buNone/>
            </a:pPr>
            <a:r>
              <a:rPr lang="en-US" sz="1100" i="1" dirty="0">
                <a:solidFill>
                  <a:srgbClr val="5A6472"/>
                </a:solidFill>
                <a:latin typeface="Calibri" pitchFamily="34" charset="0"/>
                <a:cs typeface="Amiri" pitchFamily="2" charset="-78"/>
              </a:rPr>
              <a:t>mu-qad-di-ma-tun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رَئِيسِيَّةٌ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argument</a:t>
            </a:r>
            <a:endParaRPr lang="en-US" sz="1350" dirty="0"/>
          </a:p>
          <a:p>
            <a:pPr indent="0" marL="0">
              <a:buNone/>
            </a:pPr>
            <a:r>
              <a:rPr lang="en-US" sz="1100" i="1" dirty="0">
                <a:solidFill>
                  <a:srgbClr val="5A6472"/>
                </a:solidFill>
                <a:latin typeface="Calibri" pitchFamily="34" charset="0"/>
                <a:cs typeface="Amiri" pitchFamily="2" charset="-78"/>
              </a:rPr>
              <a:t>ḥuj-ja-tun ra-ʾī-siy-ya-tun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مِثَالٌ مُحَدَّدٌ</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specific example</a:t>
            </a:r>
            <a:endParaRPr lang="en-US" sz="1350" dirty="0"/>
          </a:p>
          <a:p>
            <a:pPr indent="0" marL="0">
              <a:buNone/>
            </a:pPr>
            <a:r>
              <a:rPr lang="en-US" sz="1100" i="1" dirty="0">
                <a:solidFill>
                  <a:srgbClr val="5A6472"/>
                </a:solidFill>
                <a:latin typeface="Calibri" pitchFamily="34" charset="0"/>
                <a:cs typeface="Amiri" pitchFamily="2" charset="-78"/>
              </a:rPr>
              <a:t>mi-thā-lun mu-ḥad-da-dun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مُضَادَّةٌ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counterargument</a:t>
            </a:r>
            <a:endParaRPr lang="en-US" sz="1350" dirty="0"/>
          </a:p>
          <a:p>
            <a:pPr indent="0" marL="0">
              <a:buNone/>
            </a:pPr>
            <a:r>
              <a:rPr lang="en-US" sz="1100" i="1" dirty="0">
                <a:solidFill>
                  <a:srgbClr val="5A6472"/>
                </a:solidFill>
                <a:latin typeface="Calibri" pitchFamily="34" charset="0"/>
                <a:cs typeface="Amiri" pitchFamily="2" charset="-78"/>
              </a:rPr>
              <a:t>ḥuj-ja-tun mu-ḍād-da-tun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خَاتِمَةٌ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conclusion</a:t>
            </a:r>
            <a:endParaRPr lang="en-US" sz="1350" dirty="0"/>
          </a:p>
          <a:p>
            <a:pPr indent="0" marL="0">
              <a:buNone/>
            </a:pPr>
            <a:r>
              <a:rPr lang="en-US" sz="1100" i="1" dirty="0">
                <a:solidFill>
                  <a:srgbClr val="5A6472"/>
                </a:solidFill>
                <a:latin typeface="Calibri" pitchFamily="34" charset="0"/>
                <a:cs typeface="Amiri" pitchFamily="2" charset="-78"/>
              </a:rPr>
              <a:t>khā-ti-ma-tun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ʿa-lā-wa-tan ʿa-lā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الخِتَامِ</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fī al-khi-tā-mi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Should cars be banned from city centres?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هَلْ نَمْنَعُ السَّيَّارَاتِ فِي وَسَطِ المَدِينَةِ؟</a:t>
            </a:r>
            <a:endParaRPr lang="ar-SA" sz="26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about banning cars in the city centre?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رَأْيُكِ فِي مَنْعِ السَّيَّارَاتِ فِي وَسَطِ المَدِينَةِ؟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it is the right decision, because it reduces pollution.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أَعْتَقِدُ أَنَّهُ قَرَارٌ صَحِيحٌ، لِأَنَّهُ يُقَلِّلُ التَّلَوُّثَ.</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evidence?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 دَلِيلٌ؟</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in Oslo pollution fell a lot after the ban.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فِي أُوسْلُو انْخَفَضَ التَّلَوُّثُ بَعْدَ المَنْعِ بِشَكْلٍ كَبِيرٍ.</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shop owners fear fewer customers.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وَلٰكِنَّ أَصْحَابَ المَحَلَّاتِ يَخَافُونَ مِنْ قِلَّةِ الزَّبَائِنِ.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That’s an important argument. Nevertheless, if public transport improves, customers will come by bus.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هٰذِهِ حُجَّةٌ مُهِمَّةٌ. مَعَ ذٰلِكَ، إِذَا تَحَسَّنَ النَّقْلُ العَامُّ، فَسَيَأْتِي الزَّبَائِنُ بِالحَافِلَةِ.</a:t>
            </a:r>
            <a:endParaRPr lang="ar-SA" sz="17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debate ANOTHER topic (phones in school, flights, fast fashion).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Plan aloud — one card per paragraph</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لِسَبَبَيْنِ: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أَعْتَقِدُ 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What is your position?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مَا مَوْقِفُكَ؟ (المُقَدِّمَةُ)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عِلَاوَةً عَلَى ذٰلِكَ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 ؛ فَعَلَى سَبِيلِ المِثَالِ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Your main argument and example?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 حُجَّتُكَ الرَّئِيسِيَّةُ وَمِثَالُكَ؟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ذٰلِكَ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يَرَى البَعْضُ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The counterargument?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الحُجَّةُ المُضَادَّةُ؟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يَجِبُ 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الخِتَامِ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How do you conclude?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كَيْفَ تَخْتِمُ؟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رَقْمٍ أَوْ مِثَالٍ</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الحُجَّةُ رَأْيٌ … وَالدَّلِيلُ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Difference between an argument and evidence?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الحُجَّةِ وَالدَّلِيلِ؟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the newspaper editor’s feedback</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مُلَاحَظَاتُ رَئِيسِ التَّحْرِيرِ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المُقَدِّمَةُ ← المَوْقِفُ وَاضِحٌ / غَيْرُ وَاضِحٍ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the thesis.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مُقَدِّمَتِي جَيِّدَةٌ؟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المِثَالُ ← تَحْتَاجُ إِلَى مِثَالٍ مُحَدَّدٍ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a specific example.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وَالفِقْرَةُ الثَّانِيَةُ؟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why.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يَجِبُ أَنْ أَكْتُبَ عَنِ الرَّأْيِ الآخَرِ؟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on connectors.</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اسْتَخْدَمْتُ «عِلَاوَةً عَلَى ذٰلِكَ» خَمْسَ مَرَّاتٍ!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editor · Leader = a young writer.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argue your 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أُدَافِعُ عَنْ رَأْيِي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a topic. Argue your position for one minute: thesis, one argument with a specific example, a counterargument, and a conclusion.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Thesis + one argument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specific example and a counterargument (</a:t>
            </a:r>
            <a:pPr algn="l" indent="0" marL="0">
              <a:buNone/>
            </a:pPr>
            <a:r>
              <a:rPr lang="ar-SA" altLang="en-US" sz="1500" dirty="0">
                <a:solidFill>
                  <a:srgbClr val="1F2A37"/>
                </a:solidFill>
                <a:latin typeface="Amiri" pitchFamily="2" charset="-78"/>
                <a:ea typeface="Amiri" pitchFamily="2" charset="-78"/>
                <a:cs typeface="Amiri" pitchFamily="2" charset="-78"/>
              </a:rPr>
              <a:t>يَرَى البَعْضُ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the counterargument (</a:t>
            </a:r>
            <a:pPr algn="l" indent="0" marL="0">
              <a:buNone/>
            </a:pPr>
            <a:r>
              <a:rPr lang="ar-SA" altLang="en-US" sz="1500" dirty="0">
                <a:solidFill>
                  <a:srgbClr val="1F2A37"/>
                </a:solidFill>
                <a:latin typeface="Amiri" pitchFamily="2" charset="-78"/>
                <a:ea typeface="Amiri" pitchFamily="2" charset="-78"/>
                <a:cs typeface="Amiri" pitchFamily="2" charset="-78"/>
              </a:rPr>
              <a:t>مَعَ ذٰلِكَ</a:t>
            </a:r>
            <a:pPr algn="l" indent="0" marL="0">
              <a:buNone/>
            </a:pPr>
            <a:r>
              <a:rPr lang="en-US" sz="1150" dirty="0">
                <a:solidFill>
                  <a:srgbClr val="1F2A37"/>
                </a:solidFill>
                <a:latin typeface="Calibri" pitchFamily="34" charset="0"/>
                <a:cs typeface="Amiri" pitchFamily="2" charset="-78"/>
              </a:rPr>
              <a:t> …) and conclude with a synthesis.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believe that solar energy is the solution.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أَعْتَقِدُ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أَعْتَقِدَ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الطَّاقَةَ الشَّمْسِيَّةَ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الطَّاقَةُ الشَّمْسِيَّةُ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الحَلُّ.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الحَلَّ.</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Some think that it is expensive; nevertheless, it saves money.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البَعْضُ أَنَّهَا غَالِيَةٌ؛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البَعْضَ أَنَّهَا غَالِيَةً؛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ذٰلِكَ،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فَهِيَ تُوَفِّرُ المَالَ.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فَهِيَ تُوَفِّرَ المَالَ.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conclusion, we must act now.</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الخِتَامِ،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البِدَايَةِ،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 الآنَ.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 الآنَ.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believe that solar energy is the solution.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أَعْتَقِدُ أَنَّ الطَّاقَةَ الشَّمْسِيَّةَ هِيَ الحَلُّ.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Some think that it is expensive; nevertheless, it saves money.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Nevertheless = </a:t>
            </a:r>
            <a:pPr algn="l" indent="0" marL="0">
              <a:buNone/>
            </a:pPr>
            <a:r>
              <a:rPr lang="ar-SA" altLang="en-US" sz="1350" dirty="0">
                <a:solidFill>
                  <a:srgbClr val="5A6472"/>
                </a:solidFill>
                <a:latin typeface="Amiri" pitchFamily="2" charset="-78"/>
                <a:ea typeface="Amiri" pitchFamily="2" charset="-78"/>
                <a:cs typeface="Amiri" pitchFamily="2" charset="-78"/>
              </a:rPr>
              <a:t>مَعَ ذٰلِكَ</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يَرَى البَعْضُ أَنَّهَا غَالِيَةٌ؛ مَعَ ذٰلِكَ، فَهِيَ تُوَفِّرُ المَالَ.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conclusion, we must act now.</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الخِتَامِ، يَجِبُ أَنْ نَتَحَرَّكَ الآنَ.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أَعْتَقِدُ أَنَّ التِّكْنُولُوجِيَا مُفِيدَةٌ.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thesis needs reasons.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عِلَاوَةً عَلَى ذٰلِكَ … عِلَاوَةً عَلَى ذٰلِكَ … عِلَاوَةً عَلَى ذٰلِكَ …</a:t>
            </a:r>
            <a:endParaRPr lang="ar-SA" sz="29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much!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الخِتَامِ، السَّيَّارَاتُ كَثِيرَةٌ.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conclusion doesn’t add new points.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أَعْتَقِدُ أَنَّ التِّكْنُولُوجِيَا مُفِيدَةٌ.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أَعْتَقِدُ أَنَّ التِّكْنُولُوجِيَا مُفِيدَةٌ لِلْبِيئَةِ لِسَبَبَيْنِ: الطَّاقَةُ وَالنَّقْلُ.</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Thesis + preview of reasons.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عِلَاوَةً عَلَى ذٰلِكَ … عِلَاوَةً عَلَى ذٰلِكَ … عِلَاوَةً عَلَى ذٰلِكَ …</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 ، كَمَا أَنَّ … ، وَأَخِيرًا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Vary connectors; use them only when they add meaning.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الخِتَامِ، السَّيَّارَاتُ كَثِيرَةٌ.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فِي الخِتَامِ، مَنْعُ السَّيَّارَاتِ مُفِيدٌ إِذَا تَحَسَّنَ النَّقْلُ العَامُّ.</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Synthesise both sides.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Nevertheless,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 أَعْتَقِدُ أَنَّ ______ ،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 believe that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¶٢ أَوَّلًا ______ ؛ عَلَى سَبِيلِ المِثَالِ، ______ .</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First …; for example,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¶٣ يَرَى البَعْضُ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Some think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¶٤ فِي الخِتَامِ،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In conclusion,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مُقَدِّمَةٌ · خَاتِمَةٌ  ·  حُجَّةٌ رَئِيسِيَّةٌ  ·  دَلِيلٌ · مِثَالٌ مُحَدَّدٌ  ·  حُجَّةٌ مُضَادَّةٌ  ·  أَعْتَقِدُ أَنَّ  ·  عِلَاوَةً عَلَى ذٰلِكَ  ·  مَعَ ذٰلِكَ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An opinion article in four paragraphs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رَأْيٍ فِي أَرْبَعِ فِقْرَاتٍ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article (about 70–90 words) for the school magazine: “Can technology save the environment?” ¶1 thesis. ¶2 main argument + a specific example. ¶3 counterargument + your answer (</a:t>
            </a:r>
            <a:pPr algn="l" indent="0" marL="0">
              <a:buNone/>
            </a:pPr>
            <a:r>
              <a:rPr lang="ar-SA" altLang="en-US" sz="1650" b="1" dirty="0">
                <a:solidFill>
                  <a:srgbClr val="1F2A37"/>
                </a:solidFill>
                <a:latin typeface="Amiri" pitchFamily="2" charset="-78"/>
                <a:ea typeface="Amiri" pitchFamily="2" charset="-78"/>
                <a:cs typeface="Amiri" pitchFamily="2" charset="-78"/>
              </a:rPr>
              <a:t>مَعَ ذٰلِكَ</a:t>
            </a:r>
            <a:pPr algn="l" indent="0" marL="0">
              <a:buNone/>
            </a:pPr>
            <a:r>
              <a:rPr lang="en-US" sz="1250" b="1" dirty="0">
                <a:solidFill>
                  <a:srgbClr val="1F2A37"/>
                </a:solidFill>
                <a:latin typeface="Calibri" pitchFamily="34" charset="0"/>
                <a:cs typeface="Amiri" pitchFamily="2" charset="-78"/>
              </a:rPr>
              <a:t> …). ¶4 a conclusion that brings both sides together.</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أَعْتَقِدُ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believe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عَلَى سَبِيلِ المِثَالِ … · عِلَاوَةً عَلَى ذٰلِكَ …</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 · in addition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البَعْضُ أَنَّ … ؛ مَعَ 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some think that …; nevertheless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الخِتَامِ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conclusion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four paragraphs with a clear thesis and conclusion?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specific example and answer a counterargument?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المَوْقِفُ وَاضِحٌ، وَلٰكِنْ أَضِفْ سَبَبَيْنِ فِي الجُمْلَةِ الأُولَى.</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position is clear, but add two reasons in the first sentence.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مُقَدِّمَتِي جَيِّدَةٌ؟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تَحْتَاجُ إِلَى مِثَالٍ مُحَدَّدٍ، مِثْلَ رَقْمٍ أَوِ اسْمِ مَدِينَةٍ.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needs a specific example, like a figure or a city name.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وَالفِقْرَةُ الثَّانِيَةُ؟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 الحُجَّةَ المُضَادَّةَ تَجْعَلُ مَقَالَكَ أَقْوَى وَأَكْثَرَ تَوَازُنًا.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a counterargument makes your article stronger and more balanced.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يَجِبُ أَنْ أَكْتُبَ عَنِ الرَّأْيِ الآخَرِ؟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كَثِيرٌ. اسْتَخْدِمِ الرَّوَابِطَ فَقَطْ عِنْدَمَا تُضِيفُ مَعْنًى.</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That’s too many. Use connectors only when they add meaning.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اسْتَخْدَمْتُ «عِلَاوَةً عَلَى ذٰلِكَ» خَمْسَ مَرَّاتٍ!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أَعْتَقِدُ أَنَّ التِّكْنُولُوجِيَا تَسْتَطِيعُ أَنْ تُنْقِذَ البِيئَةَ، بِشَرْطِ أَنْ نَسْتَخْدِمَهَا بِذَكَاءٍ.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أَوَّلًا، تُقَدِّمُ التِّكْنُولُوجِيَا طَاقَةً نَظِيفَةً؛ عَلَى سَبِيلِ المِثَالِ، تُنْتِجُ الدَّنْمَارْكُ نِصْفَ كَهْرَبَائِهَا مِنَ الرِّيَاحِ. عِلَاوَةً عَلَى ذٰلِكَ، تُقَلِّلُ السَّيَّارَاتُ الكَهْرَبَائِيَّةُ التَّلَوُّثَ فِي المُدُنِ.</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يَرَى البَعْضُ أَنَّ صِنَاعَةَ الأَجْهِزَةِ تُلَوِّثُ البِيئَةَ أَيْضًا. مَعَ ذٰلِكَ، فَإِنَّ إِعَادَةَ تَدْوِيرِ الأَجْهِزَةِ القَدِيمَةِ تُخَفِّفُ هٰذِهِ المُشْكِلَةَ، كَمَا أَنَّ الشَّرِكَاتِ تَصْنَعُ أَجْهِزَةً تَعِيشُ سَنَوَاتٍ أَطْوَلَ.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فِي الخِتَامِ، التِّكْنُولُوجِيَا لَيْسَتْ حَلًّا سِحْرِيًّا، وَلٰكِنَّهَا أَدَاةٌ قَوِيَّةٌ إِذَا غَيَّرْنَا عَادَاتِنَا مَعَهَا.</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believe technology can save the environment, on condition that we use it intelligently. First, technology offers clean energy; for example, Denmark produces half its electricity from wind. In addition, electric cars reduce pollution in cities. Some think that making devices also pollutes the environment. Nevertheless, recycling old devices reduces this problem, and companies are also making devices that last longer. In conclusion, technology is not a magic solution, but it is a powerful tool if we change our habits with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أَعْتَقِدُ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سَبِيلِ المِثَالِ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يَرَى البَعْضُ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الخِتَامِ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D4-L10 · Listening — Environment and Technology News</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أَخْبَارُ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D4-L09 · Practice Room — Writing — Environment and Technology Article</dc:title>
  <dc:subject>PptxGenJS Presentation</dc:subject>
  <dc:creator>Al Madina Online School · Arabic Department</dc:creator>
  <cp:lastModifiedBy>Al Madina Online School · Arabic Department</cp:lastModifiedBy>
  <cp:revision>1</cp:revision>
  <dcterms:created xsi:type="dcterms:W3CDTF">2026-10-25T18:34:32Z</dcterms:created>
  <dcterms:modified xsi:type="dcterms:W3CDTF">2026-10-25T18:34:32Z</dcterms:modified>
</cp:coreProperties>
</file>