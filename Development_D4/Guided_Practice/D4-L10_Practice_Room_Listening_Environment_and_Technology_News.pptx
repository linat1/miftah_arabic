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D4-L10 (Listening — Environment and Technology News) — new practice tasks built on the lesson’s own word bank and grammar (news reporting verbs: aʿlana anna · akkada anna · ḥadhdhara min · aḍāfa anna — WHO said it?; the FINAL detail after a change (badalan min · tamma taʾjīlu … ilā …); exact figures (irtafaʿa min … ilā … · bi-nisbati …); the speaker’s role (murāsil · khabīr · wazīr)).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presenter to a female correspondent: تَحَدَّثْتِ. Reporting verbs: aʿlana / akkada anna … · ḥadhdhara min … · aḍāfa anna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 Environment and Technology News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إِلَى الأَخْبَارِ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listening-and-speaking practice in pairs: one reads a short news item aloud, the other catches who said what, the final detail after a change, and the exact figures. Then they do a role-play card as a TV correspondent, read a one-minute bulletin with traps, and build, fix and write their own news item.</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D4-L10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News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نَشْرَةٌ إِخْبَارِيَّةٌ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news bulletin</a:t>
            </a:r>
            <a:endParaRPr lang="en-US" sz="1350" dirty="0"/>
          </a:p>
          <a:p>
            <a:pPr indent="0" marL="0">
              <a:buNone/>
            </a:pPr>
            <a:r>
              <a:rPr lang="en-US" sz="1100" i="1" dirty="0">
                <a:solidFill>
                  <a:srgbClr val="5A6472"/>
                </a:solidFill>
                <a:latin typeface="Calibri" pitchFamily="34" charset="0"/>
                <a:cs typeface="Amiri" pitchFamily="2" charset="-78"/>
              </a:rPr>
              <a:t>nash-ra-tun ikh-bā-riy-ya-tun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مُرَاسِلٌ / مُرَاسِلَةٌ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correspondent</a:t>
            </a:r>
            <a:endParaRPr lang="en-US" sz="1350" dirty="0"/>
          </a:p>
          <a:p>
            <a:pPr indent="0" marL="0">
              <a:buNone/>
            </a:pPr>
            <a:r>
              <a:rPr lang="en-US" sz="1100" i="1" dirty="0">
                <a:solidFill>
                  <a:srgbClr val="5A6472"/>
                </a:solidFill>
                <a:latin typeface="Calibri" pitchFamily="34" charset="0"/>
                <a:cs typeface="Amiri" pitchFamily="2" charset="-78"/>
              </a:rPr>
              <a:t>mu-rā-si-lun / mu-rā-si-la-tun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خَبِيرٌ / خَبِيرَةٌ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expert</a:t>
            </a:r>
            <a:endParaRPr lang="en-US" sz="1350" dirty="0"/>
          </a:p>
          <a:p>
            <a:pPr indent="0" marL="0">
              <a:buNone/>
            </a:pPr>
            <a:r>
              <a:rPr lang="en-US" sz="1100" i="1" dirty="0">
                <a:solidFill>
                  <a:srgbClr val="5A6472"/>
                </a:solidFill>
                <a:latin typeface="Calibri" pitchFamily="34" charset="0"/>
                <a:cs typeface="Amiri" pitchFamily="2" charset="-78"/>
              </a:rPr>
              <a:t>kha-bī-run / kha-bī-ra-tun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تَصْرِيحٌ</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statement</a:t>
            </a:r>
            <a:endParaRPr lang="en-US" sz="1350" dirty="0"/>
          </a:p>
          <a:p>
            <a:pPr indent="0" marL="0">
              <a:buNone/>
            </a:pPr>
            <a:r>
              <a:rPr lang="en-US" sz="1100" i="1" dirty="0">
                <a:solidFill>
                  <a:srgbClr val="5A6472"/>
                </a:solidFill>
                <a:latin typeface="Calibri" pitchFamily="34" charset="0"/>
                <a:cs typeface="Amiri" pitchFamily="2" charset="-78"/>
              </a:rPr>
              <a:t>taṣ-rī-ḥun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أَعْلَنَ 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announced that</a:t>
            </a:r>
            <a:endParaRPr lang="en-US" sz="1350" dirty="0"/>
          </a:p>
          <a:p>
            <a:pPr indent="0" marL="0">
              <a:buNone/>
            </a:pPr>
            <a:r>
              <a:rPr lang="en-US" sz="1100" i="1" dirty="0">
                <a:solidFill>
                  <a:srgbClr val="5A6472"/>
                </a:solidFill>
                <a:latin typeface="Calibri" pitchFamily="34" charset="0"/>
                <a:cs typeface="Amiri" pitchFamily="2" charset="-78"/>
              </a:rPr>
              <a:t>aʿ-la-na 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أَكَّدَ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confirmed that</a:t>
            </a:r>
            <a:endParaRPr lang="en-US" sz="1350" dirty="0"/>
          </a:p>
          <a:p>
            <a:pPr indent="0" marL="0">
              <a:buNone/>
            </a:pPr>
            <a:r>
              <a:rPr lang="en-US" sz="1100" i="1" dirty="0">
                <a:solidFill>
                  <a:srgbClr val="5A6472"/>
                </a:solidFill>
                <a:latin typeface="Calibri" pitchFamily="34" charset="0"/>
                <a:cs typeface="Amiri" pitchFamily="2" charset="-78"/>
              </a:rPr>
              <a:t>ak-ka-da an-na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and figures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حَذَّرَ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warned of / against</a:t>
            </a:r>
            <a:endParaRPr lang="en-US" sz="1350" dirty="0"/>
          </a:p>
          <a:p>
            <a:pPr indent="0" marL="0">
              <a:buNone/>
            </a:pPr>
            <a:r>
              <a:rPr lang="en-US" sz="1100" i="1" dirty="0">
                <a:solidFill>
                  <a:srgbClr val="5A6472"/>
                </a:solidFill>
                <a:latin typeface="Calibri" pitchFamily="34" charset="0"/>
                <a:cs typeface="Amiri" pitchFamily="2" charset="-78"/>
              </a:rPr>
              <a:t>ḥadh-dha-ra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أَضَافَ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added that</a:t>
            </a:r>
            <a:endParaRPr lang="en-US" sz="1350" dirty="0"/>
          </a:p>
          <a:p>
            <a:pPr indent="0" marL="0">
              <a:buNone/>
            </a:pPr>
            <a:r>
              <a:rPr lang="en-US" sz="1100" i="1" dirty="0">
                <a:solidFill>
                  <a:srgbClr val="5A6472"/>
                </a:solidFill>
                <a:latin typeface="Calibri" pitchFamily="34" charset="0"/>
                <a:cs typeface="Amiri" pitchFamily="2" charset="-78"/>
              </a:rPr>
              <a:t>a-ḍā-fa an-na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ارْتَفَعَ مِنْ ... إِلَى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rose from ... to</a:t>
            </a:r>
            <a:endParaRPr lang="en-US" sz="1350" dirty="0"/>
          </a:p>
          <a:p>
            <a:pPr indent="0" marL="0">
              <a:buNone/>
            </a:pPr>
            <a:r>
              <a:rPr lang="en-US" sz="1100" i="1" dirty="0">
                <a:solidFill>
                  <a:srgbClr val="5A6472"/>
                </a:solidFill>
                <a:latin typeface="Calibri" pitchFamily="34" charset="0"/>
                <a:cs typeface="Amiri" pitchFamily="2" charset="-78"/>
              </a:rPr>
              <a:t>ar-ta-fa-ʿa min ... i-lā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انْخَفَضَ بِنِسْبَةِ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fell by ... percent</a:t>
            </a:r>
            <a:endParaRPr lang="en-US" sz="1350" dirty="0"/>
          </a:p>
          <a:p>
            <a:pPr indent="0" marL="0">
              <a:buNone/>
            </a:pPr>
            <a:r>
              <a:rPr lang="en-US" sz="1100" i="1" dirty="0">
                <a:solidFill>
                  <a:srgbClr val="5A6472"/>
                </a:solidFill>
                <a:latin typeface="Calibri" pitchFamily="34" charset="0"/>
                <a:cs typeface="Amiri" pitchFamily="2" charset="-78"/>
              </a:rPr>
              <a:t>an-kha-fa-ḍa bi-nis-ba-ti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بَدَلًا مِنْ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instead of</a:t>
            </a:r>
            <a:endParaRPr lang="en-US" sz="1350" dirty="0"/>
          </a:p>
          <a:p>
            <a:pPr indent="0" marL="0">
              <a:buNone/>
            </a:pPr>
            <a:r>
              <a:rPr lang="en-US" sz="1100" i="1" dirty="0">
                <a:solidFill>
                  <a:srgbClr val="5A6472"/>
                </a:solidFill>
                <a:latin typeface="Calibri" pitchFamily="34" charset="0"/>
                <a:cs typeface="Amiri" pitchFamily="2" charset="-78"/>
              </a:rPr>
              <a:t>ba-da-lan min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كِلَاهُمَا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both</a:t>
            </a:r>
            <a:endParaRPr lang="en-US" sz="1350" dirty="0"/>
          </a:p>
          <a:p>
            <a:pPr indent="0" marL="0">
              <a:buNone/>
            </a:pPr>
            <a:r>
              <a:rPr lang="en-US" sz="1100" i="1" dirty="0">
                <a:solidFill>
                  <a:srgbClr val="5A6472"/>
                </a:solidFill>
                <a:latin typeface="Calibri" pitchFamily="34" charset="0"/>
                <a:cs typeface="Amiri" pitchFamily="2" charset="-78"/>
              </a:rPr>
              <a:t>ki-lā-hu-mā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Catch the news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الْتَقِطِ الخَبَرَ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Environment Ministry announced the conference will be held in March, instead of February.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أَعْلَنَتْ وِزَارَةُ البِيئَةِ أَنَّ المُؤْتَمَرَ سَيُعْقَدُ فِي مَارِسَ، بَدَلًا مِنْ فِبْرَايِرَ.</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month: March. “instead of” changes the information.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الشَّهْرُ النِّهَائِيُّ: مَارِسُ. «بَدَلًا مِنْ» تُغَيِّرُ المَعْلُومَةَ.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an expert warned of rising temperatures.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وَحَذَّرَ خَبِيرٌ مِنِ ارْتِفَاعِ الحَرَارَةِ.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warned? The expert, not the ministry.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حَذَّرَ؟ الخَبِيرُ، لَيْسَ الوِزَارَةَ.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added that temperatures rose from thirty to thirty-three degrees.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وَأَضَافَ أَنَّ الحَرَارَةَ ارْتَفَعَتْ مِنْ ثَلَاثِينَ إِلَى ثَلَاثٍ وَثَلَاثِينَ دَرَجَةً.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the rise is three degrees — and the final figure is thirty-three.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الارْتِفَاعُ ثَلَاثُ دَرَجَاتٍ — وَالرَّقْمُ الأَخِيرُ ثَلَاثٌ وَثَلَاثُونَ.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invents a news item with “instead of”; B catches the final detail and who said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Catch it — the Leader reads, the Speaker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الرَّبِيعُ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القَدِيمُ</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الصَّيْفِ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minister confirmed the project will start in summer, instead of spring.” — When?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أَكَّدَ الوَزِيرُ أَنَّ المَشْرُوعَ سَيَبْدَأُ فِي الصَّيْفِ، بَدَلًا مِنَ الرَّبِيعِ. — مَتَى يَبْدَأُ؟</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الخَبِيرَةُ … مِنْ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(female) expert warned of water shortage.” — Who? Of what?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حَذَّرَتْ خَبِيرَةٌ مِنْ نَقْصِ المِيَاهِ. — مَنْ حَذَّرَ؟ وَمِمَّ؟</a:t>
            </a:r>
            <a:endParaRPr lang="ar-SA" sz="165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أَلْفٌ</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البِدَايَةُ</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خَمْسَةُ آلَافٍ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“EVs rose from 1,000 to 5,000.” — How many now?</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ارْتَفَعَ عَدَدُ السَّيَّارَاتِ الكَهْرَبَائِيَّةِ مِنْ أَلْفٍ إِلَى خَمْسَةِ آلَافٍ. — كَمِ العَدَدُ الآنَ؟</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word: </a:t>
            </a:r>
            <a:pPr algn="l" indent="0" marL="0">
              <a:buNone/>
            </a:pPr>
            <a:r>
              <a:rPr lang="ar-SA" altLang="en-US" sz="1450" dirty="0">
                <a:solidFill>
                  <a:srgbClr val="5A6472"/>
                </a:solidFill>
                <a:latin typeface="Amiri" pitchFamily="2" charset="-78"/>
                <a:ea typeface="Amiri" pitchFamily="2" charset="-78"/>
                <a:cs typeface="Amiri" pitchFamily="2" charset="-78"/>
              </a:rPr>
              <a:t>بَلْ</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غَدًا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correspondent said the storm won’t arrive today, but tomorrow.” — When?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قَالَ المُرَاسِلُ إِنَّ العَاصِفَةَ لَنْ تَصِلَ اليَوْمَ، بَلْ غَدًا. — مَتَى تَصِلُ؟</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قَالَ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غَيْرُ رَاضٍ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“Pollution fell 20%; the expert added this is not enough.” — Expert’s view?</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انْخَفَضَ التَّلَوُّثُ بِنِسْبَةِ ٢٠٪، وَأَضَافَ الخَبِيرُ أَنَّ هٰذَا غَيْرُ كَافٍ. — مَا مَوْقِفُ الخَبِيرِ؟</a:t>
            </a:r>
            <a:endParaRPr lang="ar-SA" sz="13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Role-play card — the TV correspondent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مُرَاسِلٌ تِلِفِزْيُونِيٌّ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الخَبَرُ ← أَعْلَنَتِ البَلَدِيَّةُ 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main news.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آخِرُ الأَخْبَارِ مِنْ هُنَاكَ؟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التَّغْيِيرُ ← نَعَمْ، وَلٰكِنْ … بَدَلًا مِنَ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change.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أَلَمْ يَكُنِ الافْتِتَاحُ اليَوْمَ؟</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a statement.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تَحَدَّثْتَ مَعَ أَحَدٍ؟</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warning.</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هُنَاكَ أَيُّ تَحْذِيرٍ؟</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correspondent on location · Leader = the studio presenter.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One minute: read the news — with traps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نَشْرَةٌ فِيهَا فِخَاخٌ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550" b="1" dirty="0">
                <a:solidFill>
                  <a:srgbClr val="1B3B6F"/>
                </a:solidFill>
                <a:latin typeface="Calibri" pitchFamily="34" charset="0"/>
                <a:cs typeface="Amiri" pitchFamily="2" charset="-78"/>
              </a:rPr>
              <a:t>⏱  Speak for one minute — your partner catches the details</a:t>
            </a:r>
            <a:endParaRPr lang="en-US" sz="15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Read a one-minute news bulletin you invent: three items, two different speakers, one “instead of” change and one figure that rises or falls. Your partner notes: who · final detail · final figure.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items with </a:t>
            </a:r>
            <a:pPr algn="l" indent="0" marL="0">
              <a:buNone/>
            </a:pPr>
            <a:r>
              <a:rPr lang="ar-SA" altLang="en-US" sz="1500" dirty="0">
                <a:solidFill>
                  <a:srgbClr val="1F2A37"/>
                </a:solidFill>
                <a:latin typeface="Amiri" pitchFamily="2" charset="-78"/>
                <a:ea typeface="Amiri" pitchFamily="2" charset="-78"/>
                <a:cs typeface="Amiri" pitchFamily="2" charset="-78"/>
              </a:rPr>
              <a:t>أَعْلَنَ / أَكَّدَ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change with </a:t>
            </a:r>
            <a:pPr algn="l" indent="0" marL="0">
              <a:buNone/>
            </a:pPr>
            <a:r>
              <a:rPr lang="ar-SA" altLang="en-US" sz="1500" dirty="0">
                <a:solidFill>
                  <a:srgbClr val="1F2A37"/>
                </a:solidFill>
                <a:latin typeface="Amiri" pitchFamily="2" charset="-78"/>
                <a:ea typeface="Amiri" pitchFamily="2" charset="-78"/>
                <a:cs typeface="Amiri" pitchFamily="2" charset="-78"/>
              </a:rPr>
              <a:t>بَدَلًا مِنْ</a:t>
            </a:r>
            <a:pPr algn="l" indent="0" marL="0">
              <a:buNone/>
            </a:pPr>
            <a:r>
              <a:rPr lang="en-US" sz="1150" dirty="0">
                <a:solidFill>
                  <a:srgbClr val="1F2A37"/>
                </a:solidFill>
                <a:latin typeface="Calibri" pitchFamily="34" charset="0"/>
                <a:cs typeface="Amiri" pitchFamily="2" charset="-78"/>
              </a:rPr>
              <a:t> and a figure (</a:t>
            </a:r>
            <a:pPr algn="l" indent="0" marL="0">
              <a:buNone/>
            </a:pPr>
            <a:r>
              <a:rPr lang="ar-SA" altLang="en-US" sz="1500" dirty="0">
                <a:solidFill>
                  <a:srgbClr val="1F2A37"/>
                </a:solidFill>
                <a:latin typeface="Amiri" pitchFamily="2" charset="-78"/>
                <a:ea typeface="Amiri" pitchFamily="2" charset="-78"/>
                <a:cs typeface="Amiri" pitchFamily="2" charset="-78"/>
              </a:rPr>
              <a:t>مِنْ … إِلَى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حَذَّرَ مِنْ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أَضَافَ أَنَّ</a:t>
            </a:r>
            <a:pPr algn="l" indent="0" marL="0">
              <a:buNone/>
            </a:pPr>
            <a:r>
              <a:rPr lang="en-US" sz="1150" dirty="0">
                <a:solidFill>
                  <a:srgbClr val="1F2A37"/>
                </a:solidFill>
                <a:latin typeface="Calibri" pitchFamily="34" charset="0"/>
                <a:cs typeface="Amiri" pitchFamily="2" charset="-78"/>
              </a:rPr>
              <a:t> … and a second speaker.</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minister announced that the plan will start in May.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أَعْلَنَ الوَزِيرُ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أَعْلَنَتِ الوَزِيرُ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الخُطَّةَ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الخُطَّةُ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سَتَبْدَأُ فِي مَايُو.</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سَتَبْدَأَ فِي مَايُو.</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expert (f.) warned of pollution.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حَذَّرَتِ الخَبِيرَةُ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حَذَّرَ الخَبِيرَةُ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التَّلَوُّثِ.</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التَّلَوُّثُ.</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rate rose from 10% to 25%.</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ارْتَفَعَتِ النِّسْبَةُ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ارْتَفَعَ النِّسْبَةُ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عَشَرَةٍ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عَشَرَةٍ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إِلَى خَمْسَةٍ وَعِشْرِينَ بِالمِئَةِ.</a:t>
            </a:r>
            <a:endParaRPr lang="ar-SA" sz="17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مِنْ خَمْسَةٍ وَعِشْرِينَ بِالمِئَةِ.</a:t>
            </a:r>
            <a:endParaRPr lang="ar-SA" sz="17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minister announced that the plan will start in May.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Minister (m.) → </a:t>
            </a:r>
            <a:pPr algn="l" indent="0" marL="0">
              <a:buNone/>
            </a:pPr>
            <a:r>
              <a:rPr lang="ar-SA" altLang="en-US" sz="1350" dirty="0">
                <a:solidFill>
                  <a:srgbClr val="5A6472"/>
                </a:solidFill>
                <a:latin typeface="Amiri" pitchFamily="2" charset="-78"/>
                <a:ea typeface="Amiri" pitchFamily="2" charset="-78"/>
                <a:cs typeface="Amiri" pitchFamily="2" charset="-78"/>
              </a:rPr>
              <a:t>أَعْلَنَ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أَعْلَنَ الوَزِيرُ أَنَّ الخُطَّةَ سَتَبْدَأُ فِي مَايُو.</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expert (f.) warned of pollution.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حَذَّرَ مِنْ</a:t>
            </a:r>
            <a:pPr algn="l" indent="0" marL="0">
              <a:buNone/>
            </a:pPr>
            <a:r>
              <a:rPr lang="en-US" sz="1050" i="1" dirty="0">
                <a:solidFill>
                  <a:srgbClr val="5A6472"/>
                </a:solidFill>
                <a:latin typeface="Calibri" pitchFamily="34" charset="0"/>
                <a:cs typeface="Amiri" pitchFamily="2" charset="-78"/>
              </a:rPr>
              <a:t> + genitive; feminine subject → </a:t>
            </a:r>
            <a:pPr algn="l" indent="0" marL="0">
              <a:buNone/>
            </a:pPr>
            <a:r>
              <a:rPr lang="ar-SA" altLang="en-US" sz="1350" dirty="0">
                <a:solidFill>
                  <a:srgbClr val="5A6472"/>
                </a:solidFill>
                <a:latin typeface="Amiri" pitchFamily="2" charset="-78"/>
                <a:ea typeface="Amiri" pitchFamily="2" charset="-78"/>
                <a:cs typeface="Amiri" pitchFamily="2" charset="-78"/>
              </a:rPr>
              <a:t>حَذَّرَتْ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حَذَّرَتِ الخَبِيرَةُ مِنَ التَّلَوُّثِ.</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rate rose from 10% to 25%.</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نِسْبَةٌ</a:t>
            </a:r>
            <a:pPr algn="l" indent="0" marL="0">
              <a:buNone/>
            </a:pPr>
            <a:r>
              <a:rPr lang="en-US" sz="1050" i="1" dirty="0">
                <a:solidFill>
                  <a:srgbClr val="5A6472"/>
                </a:solidFill>
                <a:latin typeface="Calibri" pitchFamily="34" charset="0"/>
                <a:cs typeface="Amiri" pitchFamily="2" charset="-78"/>
              </a:rPr>
              <a:t> (f.); rose FROM … TO …</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ارْتَفَعَتِ النِّسْبَةُ مِنْ عَشَرَةٍ إِلَى خَمْسَةٍ وَعِشْرِينَ بِالمِئَةِ.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 فِي مَارِسَ بَدَلًا مِنْ فِبْرَايِرَ» ← فِبْرَايِرُ.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month is final?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ea typeface="Amiri" pitchFamily="2" charset="-78"/>
                <a:cs typeface="Amiri" pitchFamily="2" charset="-78"/>
              </a:rPr>
              <a:t>«أَعْلَنَتِ الوِزَارَةُ … وَحَذَّرَ الخَبِيرُ …» ← الوِزَارَةُ حَذَّرَتْ.</a:t>
            </a:r>
            <a:endParaRPr lang="ar-SA" sz="29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warned?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«ارْتَفَعَ مِنْ ٣٠ إِلَى ٣٣» ← الارْتِفَاعُ ٣٣.</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Rise or final figure?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 فِي مَارِسَ بَدَلًا مِنْ فِبْرَايِرَ» ← فِبْرَايِرُ.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بَدَلًا مِنْ</a:t>
            </a:r>
            <a:pPr algn="l" indent="0" marL="0">
              <a:buNone/>
            </a:pPr>
            <a:r>
              <a:rPr lang="en-US" sz="1150" b="1" dirty="0">
                <a:solidFill>
                  <a:srgbClr val="1B3B6F"/>
                </a:solidFill>
                <a:latin typeface="Calibri" pitchFamily="34" charset="0"/>
                <a:cs typeface="Amiri" pitchFamily="2" charset="-78"/>
              </a:rPr>
              <a:t> X = X is cancelled.</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«أَعْلَنَتِ الوِزَارَةُ … وَحَذَّرَ الخَبِيرُ …» ← الوِزَارَةُ حَذَّرَتْ.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الخَبِيرُ هُوَ الَّذِي حَذَّرَ.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Match each reporting verb to its speaker.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«ارْتَفَعَ مِنْ ٣٠ إِلَى ٣٣» ← الارْتِفَاعُ ٣٣.</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الارْتِفَاعُ ٣، وَالرَّقْمُ النِّهَائِيُّ ٣٣.</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Separate the change from the final figure.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وَأَضَافَ / وَأَضَافَتْ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he / she added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أَسْئِلَةٌ: ١) مَتَى …؟ ٢) مَنْ حَذَّرَ …؟ ٣) كَمِ العَدَدُ الآنَ؟</a:t>
            </a:r>
            <a:endParaRPr lang="ar-SA" sz="14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Questions: 1) When …? 2) Who warned …? 3) What is the number now?</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 / أَعْلَنَتْ ______ 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announced that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فِي ______ بَدَلًا مِنْ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 instead of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ارْتَفَعَ / انْخَفَضَ ______ مِنْ ______ إِلَى ______ .</a:t>
            </a:r>
            <a:endParaRPr lang="ar-SA" sz="15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rose / fell from …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حَذَّرَ ______ مِنْ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warned of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نَشْرَةٌ إِخْبَارِيَّةٌ  ·  مُرَاسِلٌ · خَبِيرٌ  ·  تَصْرِيحٌ  ·  أَعْلَنَ أَنَّ · أَكَّدَ أَنَّ  ·  حَذَّرَ مِنْ  ·  أَضَافَ أَنَّ  ·  بَدَلًا مِنْ  ·  ارْتَفَعَ مِنْ … إِلَى …</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 news item — with traps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خَبَرًا فِيهِ فِخَاخٌ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news item (about 60–80 words) about an environmental or technology event for a listening test. Include: • two speakers with reporting verbs (</a:t>
            </a:r>
            <a:pPr algn="l" indent="0" marL="0">
              <a:buNone/>
            </a:pPr>
            <a:r>
              <a:rPr lang="ar-SA" altLang="en-US" sz="1450" b="1" dirty="0">
                <a:solidFill>
                  <a:srgbClr val="1F2A37"/>
                </a:solidFill>
                <a:latin typeface="Amiri" pitchFamily="2" charset="-78"/>
                <a:ea typeface="Amiri" pitchFamily="2" charset="-78"/>
                <a:cs typeface="Amiri" pitchFamily="2" charset="-78"/>
              </a:rPr>
              <a:t>أَعْلَنَ</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أَكَّدَ</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حَذَّرَ مِنْ</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أَضَافَ</a:t>
            </a:r>
            <a:pPr algn="l" indent="0" marL="0">
              <a:buNone/>
            </a:pPr>
            <a:r>
              <a:rPr lang="en-US" sz="1100" b="1" dirty="0">
                <a:solidFill>
                  <a:srgbClr val="1F2A37"/>
                </a:solidFill>
                <a:latin typeface="Calibri" pitchFamily="34" charset="0"/>
                <a:cs typeface="Amiri" pitchFamily="2" charset="-78"/>
              </a:rPr>
              <a:t>) • one change with </a:t>
            </a:r>
            <a:pPr algn="l" indent="0" marL="0">
              <a:buNone/>
            </a:pPr>
            <a:r>
              <a:rPr lang="ar-SA" altLang="en-US" sz="1450" b="1" dirty="0">
                <a:solidFill>
                  <a:srgbClr val="1F2A37"/>
                </a:solidFill>
                <a:latin typeface="Amiri" pitchFamily="2" charset="-78"/>
                <a:ea typeface="Amiri" pitchFamily="2" charset="-78"/>
                <a:cs typeface="Amiri" pitchFamily="2" charset="-78"/>
              </a:rPr>
              <a:t>بَدَلًا مِنْ</a:t>
            </a:r>
            <a:pPr algn="l" indent="0" marL="0">
              <a:buNone/>
            </a:pPr>
            <a:r>
              <a:rPr lang="en-US" sz="1100" b="1" dirty="0">
                <a:solidFill>
                  <a:srgbClr val="1F2A37"/>
                </a:solidFill>
                <a:latin typeface="Calibri" pitchFamily="34" charset="0"/>
                <a:cs typeface="Amiri" pitchFamily="2" charset="-78"/>
              </a:rPr>
              <a:t> • one figure that rises or falls (</a:t>
            </a:r>
            <a:pPr algn="l" indent="0" marL="0">
              <a:buNone/>
            </a:pPr>
            <a:r>
              <a:rPr lang="ar-SA" altLang="en-US" sz="1450" b="1" dirty="0">
                <a:solidFill>
                  <a:srgbClr val="1F2A37"/>
                </a:solidFill>
                <a:latin typeface="Amiri" pitchFamily="2" charset="-78"/>
                <a:ea typeface="Amiri" pitchFamily="2" charset="-78"/>
                <a:cs typeface="Amiri" pitchFamily="2" charset="-78"/>
              </a:rPr>
              <a:t>مِنْ … إِلَى</a:t>
            </a:r>
            <a:pPr algn="l" indent="0" marL="0">
              <a:buNone/>
            </a:pPr>
            <a:r>
              <a:rPr lang="en-US" sz="1100" b="1" dirty="0">
                <a:solidFill>
                  <a:srgbClr val="1F2A37"/>
                </a:solidFill>
                <a:latin typeface="Calibri" pitchFamily="34" charset="0"/>
                <a:cs typeface="Amiri" pitchFamily="2" charset="-78"/>
              </a:rPr>
              <a:t> …). Then write three questions and read it to your partner.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 / أَعْلَنَتْ …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announced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بَدَلًا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instead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ارْتَفَعَ / انْخَفَضَ مِنْ … إِلَى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rose / fell from …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حَذَّرَ مِنْ … · أَضَافَ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warned of … · added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FINAL detail after </a:t>
            </a:r>
            <a:pPr algn="l" indent="0" marL="0">
              <a:buNone/>
            </a:pPr>
            <a:r>
              <a:rPr lang="ar-SA" altLang="en-US" sz="1450" dirty="0">
                <a:solidFill>
                  <a:srgbClr val="5A6472"/>
                </a:solidFill>
                <a:latin typeface="Amiri" pitchFamily="2" charset="-78"/>
                <a:ea typeface="Amiri" pitchFamily="2" charset="-78"/>
                <a:cs typeface="Amiri" pitchFamily="2" charset="-78"/>
              </a:rPr>
              <a:t>بَدَلًا مِنْ</a:t>
            </a:r>
            <a:pPr algn="l" indent="0" marL="0">
              <a:buNone/>
            </a:pPr>
            <a:r>
              <a:rPr lang="en-US" sz="1100" dirty="0">
                <a:solidFill>
                  <a:srgbClr val="5A6472"/>
                </a:solidFill>
                <a:latin typeface="Calibri" pitchFamily="34" charset="0"/>
                <a:cs typeface="Amiri" pitchFamily="2" charset="-78"/>
              </a:rPr>
              <a:t> and the final figure?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match each reporting verb to the right speaker?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 البَلَدِيَّةُ أَنَّ الحَدِيقَةَ الجَدِيدَةَ سَتُفْتَتَحُ غَدًا.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council announced the new park will open tomorrow.</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آخِرُ الأَخْبَارِ مِنْ هُنَاكَ؟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اليَوْمَ، وَلٰكِنْ تَمَّ تَأْجِيلُهُ إِلَى الغَدِ بِسَبَبِ المَطَرِ.</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was today, but it was postponed to tomorrow because of the rain.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أَلَمْ يَكُنِ الافْتِتَاحُ اليَوْمَ؟</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أَكَّدَ المُهَنْدِسُ أَنَّهُمْ زَرَعُوا أَلْفَ شَجَرَةٍ.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 engineer confirmed that they planted a thousand trees.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تَحَدَّثْتَ مَعَ أَحَدٍ؟</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حَذَّرَتِ الشُّرْطَةُ مِنَ الزِّحَامِ، وَنَصَحَتِ الزُّوَّارَ بِاسْتِخْدَامِ الحَافِلَاتِ.</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police warned of traffic and advised visitors to use buses.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هُنَاكَ أَيُّ تَحْذِيرٍ؟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أَعْلَنَتْ بَلَدِيَّةُ المَدِينَةِ أَنَّ الحَافِلَاتِ الكَهْرَبَائِيَّةَ سَتَبْدَأُ العَمَلَ فِي سِبْتَمْبَرَ، بَدَلًا مِنْ يُونْيُو. وَأَكَّدَ مُدِيرُ النَّقْلِ أَنَّ عَدَدَ الحَافِلَاتِ ارْتَفَعَ مِنْ عِشْرِينَ إِلَى خَمْسِينَ حَافِلَةً. مِنْ جِهَتِهَا، حَذَّرَتْ خَبِيرَةٌ بِيئِيَّةٌ مِنْ نَقْصِ مَحَطَّاتِ الشَّحْنِ، وَأَضَافَتْ أَنَّ المَدِينَةَ تَحْتَاجُ إِلَى مِئَةِ مَحَطَّةٍ عَلَى الأَقَلِّ.</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أَسْئِلَةٌ: ١) مَتَى تَبْدَأُ الحَافِلَاتُ؟ ٢) كَمْ حَافِلَةً هُنَاكَ الآنَ؟ ٣) مَنْ حَذَّرَ، وَمِمَّ؟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city council announced that electric buses will start operating in September, instead of June. The transport director confirmed that the number of buses rose from twenty to fifty. For her part, an environmental expert warned of a shortage of charging stations, and added that the city needs at least a hundred. Questions: 1) When do the buses start? 2) How many buses are there now? 3) Who warned, and of what?”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أَعْلَنَتْ بَلَدِيَّةُ المَدِينَةِ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 يُونْيُو</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ارْتَفَعَ مِنْ عِشْرِينَ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حَذَّرَتْ خَبِيرَةٌ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D4-L11 · D4 Consolidation — Range Mastery and Speaking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إِتْقَانُ النِّطَاقِ وَإِعْدَادُ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D4-L10 · Practice Room — Listening — Environment and Technology News</dc:title>
  <dc:subject>PptxGenJS Presentation</dc:subject>
  <dc:creator>Al Madina Online School · Arabic Department</dc:creator>
  <cp:lastModifiedBy>Al Madina Online School · Arabic Department</cp:lastModifiedBy>
  <cp:revision>1</cp:revision>
  <dcterms:created xsi:type="dcterms:W3CDTF">2026-10-25T18:31:31Z</dcterms:created>
  <dcterms:modified xsi:type="dcterms:W3CDTF">2026-10-25T18:31:31Z</dcterms:modified>
</cp:coreProperties>
</file>