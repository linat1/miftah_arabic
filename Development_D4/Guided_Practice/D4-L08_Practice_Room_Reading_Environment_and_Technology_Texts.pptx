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D4-L08 (Reading — Environment and Technology Texts) — new practice tasks built on the lesson’s own word bank and grammar (impersonal reporting: yushāru ilā anna … · yutawaqqaʿu an …; statistics: yablughu … · yumaththilu … · bi-nisbati … % · wafqan li-…; claim (iddiʿāʾ) vs evidence (dalīl); tracking pronouns; comparing the tone of two texts (mutafāʾil · mutashāʾim · muḥāyid)).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classmate to a girl: تَقْرِيرُكِ. Read numbers exactly; name the source (wafqan li-…); separate claim from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 Environment and Technology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أَقْرَأُ التَّقَارِيرَ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reading-and-speaking practice with reports: read a short report aloud, find the exact statistic, separate claim from evidence, track pronouns and compare tone. They do a role-play card presenting a report to the class, give a one-minute “what the data says” talk, then build, fix and write a short report with statistics.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D4-L08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Reports and data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مَصْدَرُ المَعْلُومَاتِ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information source</a:t>
            </a:r>
            <a:endParaRPr lang="en-US" sz="1350" dirty="0"/>
          </a:p>
          <a:p>
            <a:pPr indent="0" marL="0">
              <a:buNone/>
            </a:pPr>
            <a:r>
              <a:rPr lang="en-US" sz="1100" i="1" dirty="0">
                <a:solidFill>
                  <a:srgbClr val="5A6472"/>
                </a:solidFill>
                <a:latin typeface="Calibri" pitchFamily="34" charset="0"/>
                <a:cs typeface="Amiri" pitchFamily="2" charset="-78"/>
              </a:rPr>
              <a:t>maṣ-da-ru al-maʿ-lū-mā-ti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بَيَانَاتٌ</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data</a:t>
            </a:r>
            <a:endParaRPr lang="en-US" sz="1350" dirty="0"/>
          </a:p>
          <a:p>
            <a:pPr indent="0" marL="0">
              <a:buNone/>
            </a:pPr>
            <a:r>
              <a:rPr lang="en-US" sz="1100" i="1" dirty="0">
                <a:solidFill>
                  <a:srgbClr val="5A6472"/>
                </a:solidFill>
                <a:latin typeface="Calibri" pitchFamily="34" charset="0"/>
                <a:cs typeface="Amiri" pitchFamily="2" charset="-78"/>
              </a:rPr>
              <a:t>ba-yā-nā-tun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إِحْصَاءَاتٌ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statistics</a:t>
            </a:r>
            <a:endParaRPr lang="en-US" sz="1350" dirty="0"/>
          </a:p>
          <a:p>
            <a:pPr indent="0" marL="0">
              <a:buNone/>
            </a:pPr>
            <a:r>
              <a:rPr lang="en-US" sz="1100" i="1" dirty="0">
                <a:solidFill>
                  <a:srgbClr val="5A6472"/>
                </a:solidFill>
                <a:latin typeface="Calibri" pitchFamily="34" charset="0"/>
                <a:cs typeface="Amiri" pitchFamily="2" charset="-78"/>
              </a:rPr>
              <a:t>iḥ-ṣā-ʾā-tun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ادِّعَاءٌ</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claim</a:t>
            </a:r>
            <a:endParaRPr lang="en-US" sz="1350" dirty="0"/>
          </a:p>
          <a:p>
            <a:pPr indent="0" marL="0">
              <a:buNone/>
            </a:pPr>
            <a:r>
              <a:rPr lang="en-US" sz="1100" i="1" dirty="0">
                <a:solidFill>
                  <a:srgbClr val="5A6472"/>
                </a:solidFill>
                <a:latin typeface="Calibri" pitchFamily="34" charset="0"/>
                <a:cs typeface="Amiri" pitchFamily="2" charset="-78"/>
              </a:rPr>
              <a:t>ad-di-ʿā-ʾun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Reporting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يُشَارُ إِلَى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indicated that</a:t>
            </a:r>
            <a:endParaRPr lang="en-US" sz="1350" dirty="0"/>
          </a:p>
          <a:p>
            <a:pPr indent="0" marL="0">
              <a:buNone/>
            </a:pPr>
            <a:r>
              <a:rPr lang="en-US" sz="1100" i="1" dirty="0">
                <a:solidFill>
                  <a:srgbClr val="5A6472"/>
                </a:solidFill>
                <a:latin typeface="Calibri" pitchFamily="34" charset="0"/>
                <a:cs typeface="Amiri" pitchFamily="2" charset="-78"/>
              </a:rPr>
              <a:t>yu-shā-ru i-lā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يُتَوَقَّعُ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expected that</a:t>
            </a:r>
            <a:endParaRPr lang="en-US" sz="1350" dirty="0"/>
          </a:p>
          <a:p>
            <a:pPr indent="0" marL="0">
              <a:buNone/>
            </a:pPr>
            <a:r>
              <a:rPr lang="en-US" sz="1100" i="1" dirty="0">
                <a:solidFill>
                  <a:srgbClr val="5A6472"/>
                </a:solidFill>
                <a:latin typeface="Calibri" pitchFamily="34" charset="0"/>
                <a:cs typeface="Amiri" pitchFamily="2" charset="-78"/>
              </a:rPr>
              <a:t>yu-ta-waq-qa-ʿu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amounts to / reaches</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يُمَثِّلُ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a:t>
            </a:r>
            <a:endParaRPr lang="en-US" sz="1350" dirty="0"/>
          </a:p>
          <a:p>
            <a:pPr indent="0" marL="0">
              <a:buNone/>
            </a:pPr>
            <a:r>
              <a:rPr lang="en-US" sz="1100" i="1" dirty="0">
                <a:solidFill>
                  <a:srgbClr val="5A6472"/>
                </a:solidFill>
                <a:latin typeface="Calibri" pitchFamily="34" charset="0"/>
                <a:cs typeface="Amiri" pitchFamily="2" charset="-78"/>
              </a:rPr>
              <a:t>yu-math-thi-lu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وَفْقًا لِـ</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a:t>
            </a:r>
            <a:endParaRPr lang="en-US" sz="1350" dirty="0"/>
          </a:p>
          <a:p>
            <a:pPr indent="0" marL="0">
              <a:buNone/>
            </a:pPr>
            <a:r>
              <a:rPr lang="en-US" sz="1100" i="1" dirty="0">
                <a:solidFill>
                  <a:srgbClr val="5A6472"/>
                </a:solidFill>
                <a:latin typeface="Calibri" pitchFamily="34" charset="0"/>
                <a:cs typeface="Amiri" pitchFamily="2" charset="-78"/>
              </a:rPr>
              <a:t>waf-qan li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النَّبْرَةُ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tone</a:t>
            </a:r>
            <a:endParaRPr lang="en-US" sz="1350" dirty="0"/>
          </a:p>
          <a:p>
            <a:pPr indent="0" marL="0">
              <a:buNone/>
            </a:pPr>
            <a:r>
              <a:rPr lang="en-US" sz="1100" i="1" dirty="0">
                <a:solidFill>
                  <a:srgbClr val="5A6472"/>
                </a:solidFill>
                <a:latin typeface="Calibri" pitchFamily="34" charset="0"/>
                <a:cs typeface="Amiri" pitchFamily="2" charset="-78"/>
              </a:rPr>
              <a:t>an-nab-ra-tu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the report say?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يَقُولُ التَّقْرِيرُ؟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“According to a new report, the city’s recycling rate is 30%.”</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«وَفْقًا لِتَقْرِيرٍ جَدِيدٍ، تَبْلُغُ نِسْبَةُ إِعَادَةِ التَّدْوِيرِ فِي المَدِينَةِ ٣٠٪.»</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the exact figure is thirty per cent.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الرَّقْمُ الدَّقِيقُ: ثَلَاثُونَ بِالمِئَةِ.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indicated that plastic waste represents half of the rubbish.”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«يُشَارُ إِلَى أَنَّ النُّفَايَاتِ البِلَاسْتِيكِيَّةَ تُمَثِّلُ نِصْفَ القُمَامَةِ.»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“Represents half” = 50%. That is evidence, not opinion.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«تُمَثِّلُ نِصْفَ» = خَمْسُونَ بِالمِئَةِ. هٰذَا دَلِيلٌ، لَيْسَ رَأْيًا.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 claim that the problem is simple.”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«يَدَّعِي البَعْضُ أَنَّ المُشْكِلَةَ بَسِيطَةٌ.»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 is a claim without evidence — and the figures say the opposite.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ادِّعَاءٌ بِدُونِ دَلِيلٍ — وَالأَرْقَامُ تَقُولُ العَكْسَ.</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invents a statistic; B says “claim or evidence?” and repeats the exact figure.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Report detective — find the figure, prove it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الفِعْلُ: يَبْلُغُ</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يَبْلُغُ عَدَدُهَا أَلْفَيْ سَيَّارَةٍ</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number of electric cars reaches 2,000.” — How many?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«يَبْلُغُ عَدَدُ السَّيَّارَاتِ الكَهْرَبَائِيَّةِ ٢٠٠٠ سَيَّارَةٍ.» — كَمْ عَدَدُهَا؟</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وَهٰذَا خَبَرٌ جَيِّدٌ</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انْخَفَضَ التَّلَوُّثُ بِنِسْبَةِ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“Pollution fell by 15%.” — What happened?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«انْخَفَضَ التَّلَوُّثُ بِنِسْبَةِ ١٥٪.» — مَاذَا حَدَثَ؟</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لِلْمُسْتَقْبَلِ</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هٰذَا تَوَقُّعٌ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“Temperatures are expected to rise two degrees.” — Has it happened?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«يُتَوَقَّعُ أَنْ تَرْتَفِعَ الحَرَارَةُ دَرَجَتَيْنِ.» — هَلْ هٰذَا حَدَثَ؟</a:t>
            </a:r>
            <a:endParaRPr lang="ar-SA" sz="145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لَا يُوجَدُ رَقْمٌ</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ادِّعَاءٌ، لِأَنَّهُ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“Solar is the best solution.” — Claim or evidence?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«الطَّاقَةُ الشَّمْسِيَّةُ أَفْضَلُ حَلٍّ.» — ادِّعَاءٌ أَمْ دَلِيلٌ؟</a:t>
            </a:r>
            <a:endParaRPr lang="ar-SA" sz="155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الدَّلِيلُ كَلِمَةُ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النَّصُّ الأَوَّلُ … بَيْنَمَا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Text 1 is optimistic, text 2 pessimistic. — The difference?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النَّصُّ الأَوَّلُ مُتَفَائِلٌ وَالثَّانِي مُتَشَائِمٌ. — مَا الفَرْقُ؟</a:t>
            </a:r>
            <a:endParaRPr lang="ar-SA" sz="145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Role-play card — presenting a report to the class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أُقَدِّمُ تَقْرِيرًا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المَوْضُوعُ ← تَقْرِيرِي عَنْ … وَفْقًا لِبَيَانَاتِ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 source.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 مَاذَا تَقْرِيرُكَ؟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رَقْمٌ ← يَبْلُغُ … / يُمَثِّلُ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statistic.</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أَهَمُّ رَقْمٍ؟</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change with </a:t>
            </a:r>
            <a:pPr algn="l" indent="0" marL="0">
              <a:buNone/>
            </a:pPr>
            <a:r>
              <a:rPr lang="ar-SA" altLang="en-US" sz="1450" dirty="0">
                <a:solidFill>
                  <a:srgbClr val="5A6472"/>
                </a:solidFill>
                <a:latin typeface="Amiri" pitchFamily="2" charset="-78"/>
                <a:ea typeface="Amiri" pitchFamily="2" charset="-78"/>
                <a:cs typeface="Amiri" pitchFamily="2" charset="-78"/>
              </a:rPr>
              <a:t>بِنِسْبَةِ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تَحَسُّنٌ؟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Claim vs evidence.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بَعْضُ الطُّلَّابِ يَقُولُونَ إِنَّ الأَرْقَامَ غَيْرُ صَحِيحَةٍ.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presenter · Leader = a classmate asking questions.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what the data says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تَقُولُ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writes three invented statistics (e.g. 25% · 3,000 · −10%). Talk for one minute reporting them formally, then give your interpretation.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the three figures with </a:t>
            </a:r>
            <a:pPr algn="l" indent="0" marL="0">
              <a:buNone/>
            </a:pPr>
            <a:r>
              <a:rPr lang="ar-SA" altLang="en-US" sz="1500" dirty="0">
                <a:solidFill>
                  <a:srgbClr val="1F2A37"/>
                </a:solidFill>
                <a:latin typeface="Amiri" pitchFamily="2" charset="-78"/>
                <a:ea typeface="Amiri" pitchFamily="2" charset="-78"/>
                <a:cs typeface="Amiri" pitchFamily="2" charset="-78"/>
              </a:rPr>
              <a:t>يَبْلُغُ / بِنِسْبَةِ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وَفْقًا لِ</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يُشَارُ إِلَى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one claim vs evidence comment and a tone word (</a:t>
            </a:r>
            <a:pPr algn="l" indent="0" marL="0">
              <a:buNone/>
            </a:pPr>
            <a:r>
              <a:rPr lang="ar-SA" altLang="en-US" sz="1500" dirty="0">
                <a:solidFill>
                  <a:srgbClr val="1F2A37"/>
                </a:solidFill>
                <a:latin typeface="Amiri" pitchFamily="2" charset="-78"/>
                <a:ea typeface="Amiri" pitchFamily="2" charset="-78"/>
                <a:cs typeface="Amiri" pitchFamily="2" charset="-78"/>
              </a:rPr>
              <a:t>مُتَفَائِلٌ / مُتَشَائِمٌ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indicated that pollution is increasing.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يُشَارُ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يُشِيرُ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أَنَّ التَّلَوُّثَ</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التَّلَوُّثُ</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يَزْدَادُ.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يَزْدَادَ.</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According to the report, the rate reaches 40%.</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وَفْقًا لِلتَّقْرِيرِ،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وَفْقًا التَّقْرِيرِ،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تَبْلُغُ النِّسْبَةُ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يَبْلُغُ النِّسْبَةَ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أَرْبَعِينَ بِالمِئَةِ.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أَرْبَعُونَ بِالمِئَةِ.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Consumption fell by 10%.</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انْخَفَضَ</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انْخَفَضَتْ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الاسْتِهْلَاكُ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الاسْتِهْلَاكَ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بِنِسْبَةِ عَشَرَةٍ بِالمِئَةِ.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نِسْبَةَ عَشَرَةٍ بِالمِئَةِ.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indicated that pollution is increasing.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يُشَارُ إِلَى أَنَّ</a:t>
            </a:r>
            <a:pPr algn="l" indent="0" marL="0">
              <a:buNone/>
            </a:pPr>
            <a:r>
              <a:rPr lang="en-US" sz="1050" i="1" dirty="0">
                <a:solidFill>
                  <a:srgbClr val="5A6472"/>
                </a:solidFill>
                <a:latin typeface="Calibri" pitchFamily="34" charset="0"/>
                <a:cs typeface="Amiri" pitchFamily="2" charset="-78"/>
              </a:rPr>
              <a:t> + noun in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يُشَارُ إِلَى أَنَّ التَّلَوُّثَ يَزْدَادُ.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According to the report, the rate reaches 40%.</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وَفْقًا لِ</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نِسْبَةٌ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تَبْلُغُ</a:t>
            </a:r>
            <a:pPr algn="l" indent="0" marL="0">
              <a:buNone/>
            </a:pPr>
            <a:r>
              <a:rPr lang="en-US" sz="1050" i="1" dirty="0">
                <a:solidFill>
                  <a:srgbClr val="5A6472"/>
                </a:solidFill>
                <a:latin typeface="Calibri" pitchFamily="34" charset="0"/>
                <a:cs typeface="Amiri" pitchFamily="2" charset="-78"/>
              </a:rPr>
              <a:t> + object in -īna.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وَفْقًا لِلتَّقْرِيرِ، تَبْلُغُ النِّسْبَةُ أَرْبَعِينَ بِالمِئَةِ.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Consumption fell by 10%.</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اسْتِهْلَاكٌ</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انْخَفَضَ</a:t>
            </a:r>
            <a:pPr algn="l" indent="0" marL="0">
              <a:buNone/>
            </a:pPr>
            <a:r>
              <a:rPr lang="en-US" sz="1050" i="1" dirty="0">
                <a:solidFill>
                  <a:srgbClr val="5A6472"/>
                </a:solidFill>
                <a:latin typeface="Calibri" pitchFamily="34" charset="0"/>
                <a:cs typeface="Amiri" pitchFamily="2" charset="-78"/>
              </a:rPr>
              <a:t>; by = </a:t>
            </a:r>
            <a:pPr algn="l" indent="0" marL="0">
              <a:buNone/>
            </a:pPr>
            <a:r>
              <a:rPr lang="ar-SA" altLang="en-US" sz="1350" dirty="0">
                <a:solidFill>
                  <a:srgbClr val="5A6472"/>
                </a:solidFill>
                <a:latin typeface="Amiri" pitchFamily="2" charset="-78"/>
                <a:ea typeface="Amiri" pitchFamily="2" charset="-78"/>
                <a:cs typeface="Amiri" pitchFamily="2" charset="-78"/>
              </a:rPr>
              <a:t>بِنِسْبَةِ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انْخَفَضَ الاسْتِهْلَاكُ بِنِسْبَةِ عَشَرَةٍ بِالمِئَةِ.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«تُمَثِّلُ رُبْعَ» ← خَمْسُونَ بِالمِئَةِ.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quarter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«يُتَوَقَّعُ أَنْ يَرْتَفِعَ …» ← ارْتَفَعَ فِعْلًا.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Has it happened?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يُشَارُ أَنَّ الطَّاقَةَ غَالِيَةٌ.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«تُمَثِّلُ رُبْعَ» ← خَمْسُونَ بِالمِئَةِ.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«تُمَثِّلُ رُبْعَ» = خَمْسَةٌ وَعِشْرُونَ بِالمِئَةِ.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fractions exactly: </a:t>
            </a:r>
            <a:pPr algn="l" indent="0" marL="0">
              <a:buNone/>
            </a:pPr>
            <a:r>
              <a:rPr lang="ar-SA" altLang="en-US" sz="1500" b="1" dirty="0">
                <a:solidFill>
                  <a:srgbClr val="1B3B6F"/>
                </a:solidFill>
                <a:latin typeface="Amiri" pitchFamily="2" charset="-78"/>
                <a:ea typeface="Amiri" pitchFamily="2" charset="-78"/>
                <a:cs typeface="Amiri" pitchFamily="2" charset="-78"/>
              </a:rPr>
              <a:t>رُبْعٌ</a:t>
            </a:r>
            <a:pPr algn="l" indent="0" marL="0">
              <a:buNone/>
            </a:pPr>
            <a:r>
              <a:rPr lang="en-US" sz="1150" b="1" dirty="0">
                <a:solidFill>
                  <a:srgbClr val="1B3B6F"/>
                </a:solidFill>
                <a:latin typeface="Calibri" pitchFamily="34" charset="0"/>
                <a:cs typeface="Amiri" pitchFamily="2" charset="-78"/>
              </a:rPr>
              <a:t> = 25%.</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«يُتَوَقَّعُ أَنْ يَرْتَفِعَ …» ← ارْتَفَعَ فِعْلًا.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تَوَقُّعٌ لِلْمُسْتَقْبَلِ، لَمْ يَحْدُثْ بَعْدُ.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يُتَوَقَّعُ</a:t>
            </a:r>
            <a:pPr algn="l" indent="0" marL="0">
              <a:buNone/>
            </a:pPr>
            <a:r>
              <a:rPr lang="en-US" sz="1150" b="1" dirty="0">
                <a:solidFill>
                  <a:srgbClr val="1B3B6F"/>
                </a:solidFill>
                <a:latin typeface="Calibri" pitchFamily="34" charset="0"/>
                <a:cs typeface="Amiri" pitchFamily="2" charset="-78"/>
              </a:rPr>
              <a:t> = a prediction, not a fact.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يُشَارُ أَنَّ الطَّاقَةَ غَالِيَةٌ.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يُشَارُ إِلَى أَنَّ الطَّاقَةَ غَالِيَةٌ.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يُشَارُ إِلَى أَنَّ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يُشَارُ إِلَى أَنَّ ______ تُمَثِّلُ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indicated that … represents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يَدَّعِي البَعْضُ أَنَّ ______ ، وَلٰكِنَّ الأَرْقَامَ ______ .</a:t>
            </a:r>
            <a:endParaRPr lang="ar-SA" sz="15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 claim that …, but the figures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وَفْقًا لِبَيَانَاتِ ______ ،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 data,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عَدَدُ ______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number of … reaches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ارْتَفَعَ / انْخَفَضَ ______ بِنِسْبَةِ ______ بِالمِئَةِ.</a:t>
            </a:r>
            <a:endParaRPr lang="ar-SA" sz="16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rose / fell by … per cent.</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يُتَوَقَّعُ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expected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تَقْرِيرٌ · بَيَانَاتٌ  ·  إِحْصَاءَاتٌ  ·  دَلِيلٌ · ادِّعَاءٌ  ·  يُشَارُ إِلَى أَنَّ  ·  يُتَوَقَّعُ أَنْ  ·  يَبْلُغُ · يُمَثِّلُ  ·  وَفْقًا لِ…  ·  بِنِسْبَةِ … بِالمِئَةِ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report with statistics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قَصِيرٌ بِالأَرْقَامِ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report (about 60–80 words) for the school website on recycling, energy or transport at your school (you may invent realistic data). Include: • the source (</a:t>
            </a:r>
            <a:pPr algn="l" indent="0" marL="0">
              <a:buNone/>
            </a:pPr>
            <a:r>
              <a:rPr lang="ar-SA" altLang="en-US" sz="1450" b="1" dirty="0">
                <a:solidFill>
                  <a:srgbClr val="1F2A37"/>
                </a:solidFill>
                <a:latin typeface="Amiri" pitchFamily="2" charset="-78"/>
                <a:ea typeface="Amiri" pitchFamily="2" charset="-78"/>
                <a:cs typeface="Amiri" pitchFamily="2" charset="-78"/>
              </a:rPr>
              <a:t>وَفْقًا لِ</a:t>
            </a:r>
            <a:pPr algn="l" indent="0" marL="0">
              <a:buNone/>
            </a:pPr>
            <a:r>
              <a:rPr lang="en-US" sz="1100" b="1" dirty="0">
                <a:solidFill>
                  <a:srgbClr val="1F2A37"/>
                </a:solidFill>
                <a:latin typeface="Calibri" pitchFamily="34" charset="0"/>
                <a:cs typeface="Amiri" pitchFamily="2" charset="-78"/>
              </a:rPr>
              <a:t>…) • three statistics (</a:t>
            </a:r>
            <a:pPr algn="l" indent="0" marL="0">
              <a:buNone/>
            </a:pPr>
            <a:r>
              <a:rPr lang="ar-SA" altLang="en-US" sz="1450" b="1" dirty="0">
                <a:solidFill>
                  <a:srgbClr val="1F2A37"/>
                </a:solidFill>
                <a:latin typeface="Amiri" pitchFamily="2" charset="-78"/>
                <a:ea typeface="Amiri" pitchFamily="2" charset="-78"/>
                <a:cs typeface="Amiri" pitchFamily="2" charset="-78"/>
              </a:rPr>
              <a:t>يَبْلُغُ</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يُمَثِّلُ</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بِنِسْبَةِ</a:t>
            </a:r>
            <a:pPr algn="l" indent="0" marL="0">
              <a:buNone/>
            </a:pPr>
            <a:r>
              <a:rPr lang="en-US" sz="1100" b="1" dirty="0">
                <a:solidFill>
                  <a:srgbClr val="1F2A37"/>
                </a:solidFill>
                <a:latin typeface="Calibri" pitchFamily="34" charset="0"/>
                <a:cs typeface="Amiri" pitchFamily="2" charset="-78"/>
              </a:rPr>
              <a:t> …) • </a:t>
            </a:r>
            <a:pPr algn="l" indent="0" marL="0">
              <a:buNone/>
            </a:pPr>
            <a:r>
              <a:rPr lang="ar-SA" altLang="en-US" sz="1450" b="1" dirty="0">
                <a:solidFill>
                  <a:srgbClr val="1F2A37"/>
                </a:solidFill>
                <a:latin typeface="Amiri" pitchFamily="2" charset="-78"/>
                <a:ea typeface="Amiri" pitchFamily="2" charset="-78"/>
                <a:cs typeface="Amiri" pitchFamily="2" charset="-78"/>
              </a:rPr>
              <a:t>يُشَارُ إِلَى أَنَّ</a:t>
            </a:r>
            <a:pPr algn="l" indent="0" marL="0">
              <a:buNone/>
            </a:pPr>
            <a:r>
              <a:rPr lang="en-US" sz="1100" b="1" dirty="0">
                <a:solidFill>
                  <a:srgbClr val="1F2A37"/>
                </a:solidFill>
                <a:latin typeface="Calibri" pitchFamily="34" charset="0"/>
                <a:cs typeface="Amiri" pitchFamily="2" charset="-78"/>
              </a:rPr>
              <a:t> … • one prediction (</a:t>
            </a:r>
            <a:pPr algn="l" indent="0" marL="0">
              <a:buNone/>
            </a:pPr>
            <a:r>
              <a:rPr lang="ar-SA" altLang="en-US" sz="1450" b="1" dirty="0">
                <a:solidFill>
                  <a:srgbClr val="1F2A37"/>
                </a:solidFill>
                <a:latin typeface="Amiri" pitchFamily="2" charset="-78"/>
                <a:ea typeface="Amiri" pitchFamily="2" charset="-78"/>
                <a:cs typeface="Amiri" pitchFamily="2" charset="-78"/>
              </a:rPr>
              <a:t>يُتَوَقَّعُ أَنْ</a:t>
            </a:r>
            <a:pPr algn="l" indent="0" marL="0">
              <a:buNone/>
            </a:pPr>
            <a:r>
              <a:rPr lang="en-US" sz="1100" b="1" dirty="0">
                <a:solidFill>
                  <a:srgbClr val="1F2A37"/>
                </a:solidFill>
                <a:latin typeface="Calibri" pitchFamily="34" charset="0"/>
                <a:cs typeface="Amiri" pitchFamily="2" charset="-78"/>
              </a:rPr>
              <a:t> …) • a conclusion that separates claim from evidence.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وَفْقًا لِبَيَانَاتِ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according to … data</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يَبْلُغُ … · يُمَثِّلُ … · بِنِسْبَةِ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reaches … · represents … · by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يُشَارُ إِلَى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indicated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يُتَوَقَّعُ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expected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figures exactly (</a:t>
            </a:r>
            <a:pPr algn="l" indent="0" marL="0">
              <a:buNone/>
            </a:pPr>
            <a:r>
              <a:rPr lang="ar-SA" altLang="en-US" sz="1450" dirty="0">
                <a:solidFill>
                  <a:srgbClr val="5A6472"/>
                </a:solidFill>
                <a:latin typeface="Amiri" pitchFamily="2" charset="-78"/>
                <a:ea typeface="Amiri" pitchFamily="2" charset="-78"/>
                <a:cs typeface="Amiri" pitchFamily="2" charset="-78"/>
              </a:rPr>
              <a:t>يَبْلُغُ</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بِنِسْبَةِ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impersonal reporting and separate claim from evidence?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تَقْرِيرِي عَنِ الطَّاقَةِ فِي مَدْرَسَتِنَا، وَفْقًا لِبَيَانَاتِ الإِدَارَةِ.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report is about energy at our school, according to the management’s data.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 مَاذَا تَقْرِيرُكَ؟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تُمَثِّلُ الإِضَاءَةُ أَرْبَعِينَ بِالمِئَةِ مِنِ اسْتِهْلَاكِ الكَهْرَبَاءِ.</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Lighting represents forty per cent of electricity consumption.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أَهَمُّ رَقْمٍ؟</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انْخَفَضَ الاسْتِهْلَاكُ بِنِسْبَةِ عَشَرَةٍ بِالمِئَةِ هٰذَا العَامَ.</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consumption fell by ten per cent this year.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تَحَسُّنٌ؟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ادِّعَاءٌ، وَلٰكِنَّ الدَّلِيلَ هُوَ فَوَاتِيرُ الكَهْرَبَاءِ الرَّسْمِيَّةُ.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is a claim, but the evidence is the official electricity bills.</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بَعْضُ الطُّلَّابِ يَقُولُونَ إِنَّ الأَرْقَامَ غَيْرُ صَحِيحَةٍ.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وَفْقًا لِبَيَانَاتِ إِدَارَةِ المَدْرَسَةِ، يَبْلُغُ عَدَدُ الطُّلَّابِ الَّذِينَ يَأْتُونَ بِالسَّيَّارَةِ ثَلَاثَمِئَةِ طَالِبٍ. يُشَارُ إِلَى أَنَّ السَّيَّارَاتِ تُمَثِّلُ سِتِّينَ بِالمِئَةِ مِنْ تَلَوُّثِ الهَوَاءِ أَمَامَ المَدْرَسَةِ. وَلٰكِنْ بَعْدَ حَمْلَةِ «امْشِ إِلَى المَدْرَسَةِ»، انْخَفَضَ عَدَدُ السَّيَّارَاتِ بِنِسْبَةِ عِشْرِينَ بِالمِئَةِ. يُتَوَقَّعُ أَنْ يَسْتَمِرَّ هٰذَا الانْخِفَاضُ إِذَا وَفَّرَتِ البَلَدِيَّةُ حَافِلَاتٍ أَكْثَرَ. يَدَّعِي البَعْضُ أَنَّ الحَمْلَةَ لَمْ تُغَيِّرْ شَيْئًا، وَلٰكِنَّ الأَرْقَامَ دَلِيلٌ وَاضِحٌ عَلَى نَجَاحِهَا.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“According to the school management’s data, the number of students who come by car reaches three hundred. It is indicated that cars represent sixty per cent of air pollution in front of the school. But after the “Walk to School” campaign, the number of cars fell by twenty per cent. This fall is expected to continue if the council provides more buses. Some claim the campaign changed nothing, but the figures are clear evidence of its success.”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وَفْقًا لِبَيَانَاتِ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يُشَارُ إِلَى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بِنِسْبَةِ عِشْرِينَ بِالمِئَةِ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يَدَّعِي البَعْضُ</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D4-L09 · Writing — Environment and Technology Article</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مَقَالٌ عَنِ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D4-L08 · Practice Room — Reading — Environment and Technology Texts</dc:title>
  <dc:subject>PptxGenJS Presentation</dc:subject>
  <dc:creator>Al Madina Online School · Arabic Department</dc:creator>
  <cp:lastModifiedBy>Al Madina Online School · Arabic Department</cp:lastModifiedBy>
  <cp:revision>1</cp:revision>
  <dcterms:created xsi:type="dcterms:W3CDTF">2026-10-25T18:29:33Z</dcterms:created>
  <dcterms:modified xsi:type="dcterms:W3CDTF">2026-10-25T18:29:33Z</dcterms:modified>
</cp:coreProperties>
</file>