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D4-L05 (The Digital World — Technology and Social Media) — new practice tasks built on the lesson’s own word bank and grammar (digital verbs with their prepositions: yatafāʿalu maʿa · yuʿalliqu ʿalā · yabḥathu ʿan · yatawāṣalu maʿa; benefits and risks (min fawāʾidihā anna … · min makhāṭirihā anna …); a balanced view: min nāḥiyatin … wa-min nāḥiyatin ukhrā …; a qualified judgement (ilā ḥaddin mā · bi-sharṭi an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parent to a girl: أَنْتِ · تَفْعَلِينَ · عَيْنَيْكِ · اقْتِرَاحُكِ · تَعْرِفِينَ · تَحْمِينَ. Digital verb + preposition every time; a qualified judgement (ilā ḥaddin mā · bi-sharṭi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The Digital World — Technology and Social Media</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العَالَمُ الرَّقْمِيُّ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about technology: say the digital words, act a short dialogue, answer question cards, do a role-play card with a parent worried about screen time, give a one-minute balanced talk, then build, fix and write a balanced blog post about social media.</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D4-L05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Digital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الذَّكَاءُ الاصْطِنَاعِيُّ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artificial intelligence</a:t>
            </a:r>
            <a:endParaRPr lang="en-US" sz="1350" dirty="0"/>
          </a:p>
          <a:p>
            <a:pPr indent="0" marL="0">
              <a:buNone/>
            </a:pPr>
            <a:r>
              <a:rPr lang="en-US" sz="1100" i="1" dirty="0">
                <a:solidFill>
                  <a:srgbClr val="5A6472"/>
                </a:solidFill>
                <a:latin typeface="Calibri" pitchFamily="34" charset="0"/>
                <a:cs typeface="Amiri" pitchFamily="2" charset="-78"/>
              </a:rPr>
              <a:t>adh-dha-kā-ʾu alṣ-ṭi-nā-ʿiy-yu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كَلِمَةُ المُرُورِ / كَلِمَةُ السِّرِّ</a:t>
            </a:r>
            <a:endParaRPr lang="ar-SA" sz="29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password</a:t>
            </a:r>
            <a:endParaRPr lang="en-US" sz="1350" dirty="0"/>
          </a:p>
          <a:p>
            <a:pPr indent="0" marL="0">
              <a:buNone/>
            </a:pPr>
            <a:r>
              <a:rPr lang="en-US" sz="1100" i="1" dirty="0">
                <a:solidFill>
                  <a:srgbClr val="5A6472"/>
                </a:solidFill>
                <a:latin typeface="Calibri" pitchFamily="34" charset="0"/>
                <a:cs typeface="Amiri" pitchFamily="2" charset="-78"/>
              </a:rPr>
              <a:t>ka-li-ma-tu al-mu-rū-ri / ka-li-ma-tu as-sir-ri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التَّعَلُّمُ عَنْ بُعْدٍ</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distance learning</a:t>
            </a:r>
            <a:endParaRPr lang="en-US" sz="1350" dirty="0"/>
          </a:p>
          <a:p>
            <a:pPr indent="0" marL="0">
              <a:buNone/>
            </a:pPr>
            <a:r>
              <a:rPr lang="en-US" sz="1100" i="1" dirty="0">
                <a:solidFill>
                  <a:srgbClr val="5A6472"/>
                </a:solidFill>
                <a:latin typeface="Calibri" pitchFamily="34" charset="0"/>
                <a:cs typeface="Amiri" pitchFamily="2" charset="-78"/>
              </a:rPr>
              <a:t>at-ta-ʿal-lu-mu ʿan buʿ-din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مَوْقِعٌ إِلِكْتُرُونِيٌّ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website</a:t>
            </a:r>
            <a:endParaRPr lang="en-US" sz="1350" dirty="0"/>
          </a:p>
          <a:p>
            <a:pPr indent="0" marL="0">
              <a:buNone/>
            </a:pPr>
            <a:r>
              <a:rPr lang="en-US" sz="1100" i="1" dirty="0">
                <a:solidFill>
                  <a:srgbClr val="5A6472"/>
                </a:solidFill>
                <a:latin typeface="Calibri" pitchFamily="34" charset="0"/>
                <a:cs typeface="Amiri" pitchFamily="2" charset="-78"/>
              </a:rPr>
              <a:t>maw-qi-ʿun i-lik-tu-rū-niy-yun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تَطْبِيقٌ</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a:t>
            </a:r>
            <a:endParaRPr lang="en-US" sz="1350" dirty="0"/>
          </a:p>
          <a:p>
            <a:pPr indent="0" marL="0">
              <a:buNone/>
            </a:pPr>
            <a:r>
              <a:rPr lang="en-US" sz="1100" i="1" dirty="0">
                <a:solidFill>
                  <a:srgbClr val="5A6472"/>
                </a:solidFill>
                <a:latin typeface="Calibri" pitchFamily="34" charset="0"/>
                <a:cs typeface="Amiri" pitchFamily="2" charset="-78"/>
              </a:rPr>
              <a:t>taṭ-bī-qun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مِنَصَّةٌ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mi-naṣ-ṣa-tun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Digital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يَنْشُرُ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posts / publishes</a:t>
            </a:r>
            <a:endParaRPr lang="en-US" sz="1350" dirty="0"/>
          </a:p>
          <a:p>
            <a:pPr indent="0" marL="0">
              <a:buNone/>
            </a:pPr>
            <a:r>
              <a:rPr lang="en-US" sz="1100" i="1" dirty="0">
                <a:solidFill>
                  <a:srgbClr val="5A6472"/>
                </a:solidFill>
                <a:latin typeface="Calibri" pitchFamily="34" charset="0"/>
                <a:cs typeface="Amiri" pitchFamily="2" charset="-78"/>
              </a:rPr>
              <a:t>yan-shu-ru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تَنْشُرُ</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يَنْشُرُ</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أَنْشُرُ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يَتَفَاعَلُ مَعَ</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interacts with</a:t>
            </a:r>
            <a:endParaRPr lang="en-US" sz="1350" dirty="0"/>
          </a:p>
          <a:p>
            <a:pPr indent="0" marL="0">
              <a:buNone/>
            </a:pPr>
            <a:r>
              <a:rPr lang="en-US" sz="1100" i="1" dirty="0">
                <a:solidFill>
                  <a:srgbClr val="5A6472"/>
                </a:solidFill>
                <a:latin typeface="Calibri" pitchFamily="34" charset="0"/>
                <a:cs typeface="Amiri" pitchFamily="2" charset="-78"/>
              </a:rPr>
              <a:t>ya-ta-fā-ʿa-lu ma-ʿa</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تَتَفَاعَلُ</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يَتَفَاعَلُ</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أَتَفَاعَلُ</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يُعَلِّقُ عَلَى</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comments on</a:t>
            </a:r>
            <a:endParaRPr lang="en-US" sz="1350" dirty="0"/>
          </a:p>
          <a:p>
            <a:pPr indent="0" marL="0">
              <a:buNone/>
            </a:pPr>
            <a:r>
              <a:rPr lang="en-US" sz="1100" i="1" dirty="0">
                <a:solidFill>
                  <a:srgbClr val="5A6472"/>
                </a:solidFill>
                <a:latin typeface="Calibri" pitchFamily="34" charset="0"/>
                <a:cs typeface="Amiri" pitchFamily="2" charset="-78"/>
              </a:rPr>
              <a:t>yu-ʿal-li-qu ʿa-lā</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تُعَلِّقُ</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يُعَلِّقُ</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أُعَلِّقُ</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2" name="Shape 6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يَبْحَثُ عَنْ</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searches for</a:t>
            </a:r>
            <a:endParaRPr lang="en-US" sz="1350" dirty="0"/>
          </a:p>
          <a:p>
            <a:pPr indent="0" marL="0">
              <a:buNone/>
            </a:pPr>
            <a:r>
              <a:rPr lang="en-US" sz="1100" i="1" dirty="0">
                <a:solidFill>
                  <a:srgbClr val="5A6472"/>
                </a:solidFill>
                <a:latin typeface="Calibri" pitchFamily="34" charset="0"/>
                <a:cs typeface="Amiri" pitchFamily="2" charset="-78"/>
              </a:rPr>
              <a:t>yab-ḥa-thu ʿan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تَبْحَثُ</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يَبْحَثُ</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أَبْحَثُ</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الخُصُوصِيَّةُ</a:t>
            </a:r>
            <a:endParaRPr lang="ar-SA" sz="3000" dirty="0"/>
          </a:p>
        </p:txBody>
      </p:sp>
      <p:sp>
        <p:nvSpPr>
          <p:cNvPr id="93" name="Text 9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privacy</a:t>
            </a:r>
            <a:endParaRPr lang="en-US" sz="1350" dirty="0"/>
          </a:p>
          <a:p>
            <a:pPr indent="0" marL="0">
              <a:buNone/>
            </a:pPr>
            <a:r>
              <a:rPr lang="en-US" sz="1100" i="1" dirty="0">
                <a:solidFill>
                  <a:srgbClr val="5A6472"/>
                </a:solidFill>
                <a:latin typeface="Calibri" pitchFamily="34" charset="0"/>
                <a:cs typeface="Amiri" pitchFamily="2" charset="-78"/>
              </a:rPr>
              <a:t>al-khu-ṣū-ṣiy-ya-tu</a:t>
            </a:r>
            <a:endParaRPr lang="en-US" sz="1350" dirty="0"/>
          </a:p>
        </p:txBody>
      </p:sp>
      <p:sp>
        <p:nvSpPr>
          <p:cNvPr id="94" name="Shape 9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566928" y="4261104"/>
            <a:ext cx="310896" cy="310896"/>
          </a:xfrm>
          <a:prstGeom prst="ellipse">
            <a:avLst/>
          </a:prstGeom>
          <a:solidFill>
            <a:srgbClr val="F4F1EA"/>
          </a:solidFill>
          <a:ln w="12700">
            <a:solidFill>
              <a:srgbClr val="F4F1EA"/>
            </a:solidFill>
            <a:prstDash val="solid"/>
          </a:ln>
        </p:spPr>
      </p:sp>
      <p:sp>
        <p:nvSpPr>
          <p:cNvPr id="96" name="Text 9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7" name="Shape 9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8" name="Text 9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9" name="Text 9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التَّنَمُّرُ الإِلِكْتُرُونِيُّ</a:t>
            </a:r>
            <a:endParaRPr lang="ar-SA" sz="3000" dirty="0"/>
          </a:p>
        </p:txBody>
      </p:sp>
      <p:sp>
        <p:nvSpPr>
          <p:cNvPr id="100" name="Text 9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cyberbullying</a:t>
            </a:r>
            <a:endParaRPr lang="en-US" sz="1350" dirty="0"/>
          </a:p>
          <a:p>
            <a:pPr indent="0" marL="0">
              <a:buNone/>
            </a:pPr>
            <a:r>
              <a:rPr lang="en-US" sz="1100" i="1" dirty="0">
                <a:solidFill>
                  <a:srgbClr val="5A6472"/>
                </a:solidFill>
                <a:latin typeface="Calibri" pitchFamily="34" charset="0"/>
                <a:cs typeface="Amiri" pitchFamily="2" charset="-78"/>
              </a:rPr>
              <a:t>at-ta-nam-mu-ru al-i-lik-tu-rū-niy-yu</a:t>
            </a:r>
            <a:endParaRPr lang="en-US" sz="135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 you use your phone?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تَسْتَخْدِمُ هَاتِفَكَ؟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usually use the internet?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تَسْتَخْدِمُ الإِنْتَرْنِت عَادَةً؟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look for information for homework, and I keep in touch with friends.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أَبْحَثُ عَنْ مَعْلُومَاتٍ لِلْوَاجِبِ، وَأَتَوَاصَلُ مَعَ أَصْدِقَائِي.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post photos?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تَنْشُرُ صُوَرًا؟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Rarely. I prefer to comment on other people’s posts.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نَادِرًا. أُفَضِّلُ أَنْ أُعَلِّقَ عَلَى مَنْشُورَاتِ الآخَرِينَ.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social media useful, in your opinion?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وَسَائِلُ التَّوَاصُلِ مُفِيدَةٌ فِي رَأْيِكَ؟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one hand it brings people together; on the other, it wastes time. It is useful to some extent.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مِنْ نَاحِيَةٍ، تُقَرِّبُ النَّاسَ، وَمِنْ نَاحِيَةٍ أُخْرَى، تُضَيِّعُ الوَقْتَ. هِيَ مُفِيدَةٌ إِلَى حَدٍّ مَا.</a:t>
            </a:r>
            <a:endParaRPr lang="ar-SA" sz="17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YOUR real use — and give a balanced view.</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فِي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أَقْضِي حَوَالَيْ … سَاعَاتٍ</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hours a day on screens?</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تَقْضِي عَلَى الشَّاشَةِ يَوْمِيًّا؟</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لِأَنَّهُمْ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أَتَوَاصَلُ مَعَ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keep in touch with online?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تَتَوَاصَلُ عَلَى الإِنْتَرْنِت؟</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تَطْبِيقٍ … لِأَنَّهُ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best app? Why?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أَفْضَلُ تَطْبِيقٍ عِنْدَكَ؟ لِمَاذَا؟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يَجِبُ 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مَخَاطِرِهَا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risks of social media?</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مَخَاطِرُ وَسَائِلِ التَّوَاصُلِ؟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حَدٍّ مَا،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distance learning useful?</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التَّعَلُّمُ عَنْ بُعْدٍ مُفِيدٌ؟</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a parent is worried about screen time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 قَلِقَةٌ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أَفْعَلُ ← أَبْحَثُ عَنْ … وَأَتَوَاصَلُ مَعَ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your use.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أَنْتَ عَلَى الهَاتِفِ طُولَ الوَقْتِ! مَاذَا تَفْعَلُ؟</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إِلَى حَدٍّ مَا ← مَعَكِ حَقٌّ إِلَى حَدٍّ مَا، وَلٰكِنَّ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partly.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وَلٰكِنَّ الشَّاشَةَ تَضُرُّ عَيْنَيْكَ.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compromise.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اقْتِرَاحُكَ؟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about safety.</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تَعْرِفُ كَيْفَ تَحْمِي كَلِمَةَ المُرُورِ؟</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teenager · Leader = your mother or father.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One minute: technology — for and against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التِّقْنِيَّةُ: مَعَ وَضِدَّ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how you use technology, two benefits, two risks, and a qualified judgement.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digital verbs with the right preposition.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فَوَائِدِهَا أَنَّ … / مِنْ مَخَاطِرِهَا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إِلَى حَدٍّ مَا / بِشَرْطِ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comment on my friends’ posts.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أُعَلِّقُ</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أُعَلِّقَ</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مَنْشُورَاتِ أَصْدِقَائِي.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مَنْشُورَاتُ أَصْدِقَائِي.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One of its risks is that it wastes time.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مَخَاطِرِهَا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مَخَاطِرُهَا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تُضَيِّعُ الوَقْتَ.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تُضَيِّعَ الوَقْتَ.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useful, on condition that we use it wisely.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مُفِيدَةٌ،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مُفِيدٌ،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بِشَرْطِ 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بِشَرْطِ</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نَسْتَخْدِمَهَا بِحِكْمَةٍ.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نَسْتَخْدِمُهَا بِحِكْمَةٍ.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comment on my friends’ posts.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يُعَلِّقُ عَلَى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أُعَلِّقُ عَلَى مَنْشُورَاتِ أَصْدِقَائِي.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One of its risks is that it wastes time.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pronoun + verb in -u.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مَخَاطِرِهَا أَنَّهَا تُضَيِّعُ الوَقْتَ.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useful, on condition that we use it wisely.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بِشَرْطِ أَنْ</a:t>
            </a:r>
            <a:pPr algn="l" indent="0" marL="0">
              <a:buNone/>
            </a:pPr>
            <a:r>
              <a:rPr lang="en-US" sz="1050" i="1" dirty="0">
                <a:solidFill>
                  <a:srgbClr val="5A6472"/>
                </a:solidFill>
                <a:latin typeface="Calibri" pitchFamily="34" charset="0"/>
                <a:cs typeface="Amiri" pitchFamily="2" charset="-78"/>
              </a:rPr>
              <a:t> +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مُفِيدَةٌ، بِشَرْطِ أَنْ نَسْتَخْدِمَهَا بِحِكْمَةٍ.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أَتَفَاعَلُ المُتَابِعِينَ كُلَّ يَوْمٍ.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أَبْحَثُ مَعْلُومَاتٍ عَلَى الإِنْتَرْنِت.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for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فَوَائِدِهَا أَنَّ التَّوَاصُلُ سَهْلٌ.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أَتَفَاعَلُ المُتَابِعِينَ كُلَّ يَوْمٍ.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أَتَفَاعَلُ مَعَ المُتَابِعِينَ كُلَّ يَوْمٍ.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يَتَفَاعَلُ مَعَ …</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أَبْحَثُ مَعْلُومَاتٍ عَلَى الإِنْتَرْنِت.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أَبْحَثُ عَنْ مَعْلُومَاتٍ عَلَى الإِنْتَرْنِت.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يَبْحَثُ عَنْ …</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فَوَائِدِهَا أَنَّ التَّوَاصُلُ سَهْلٌ.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فَوَائِدِهَا أَنَّ التَّوَاصُلَ سَهْلٌ.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هِيَ صَدِيقٌ، بِشَرْطِ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think it is a friend, on condition that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أَسْتَخْدِمُ وَسَائِلَ التَّوَاصُلِ لِ______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social media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أَتَوَاصَلُ مَعَ ______ ، وَأُعَلِّقُ عَلَى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keep in touch with …, and comment on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فَوَائِدِهَا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benefit is that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مَخَاطِرِهَا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risk is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تَطْبِيقٌ · مِنَصَّةٌ  ·  كَلِمَةُ المُرُورِ  ·  التَّعَلُّمُ عَنْ بُعْدٍ  ·  يَنْشُرُ  ·  يَتَفَاعَلُ مَعَ  ·  يُعَلِّقُ عَلَى  ·  يَبْحَثُ عَنْ  ·  إِلَى حَدٍّ مَا · بِشَرْطِ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balanced blog post: social media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مُدَوَّنَةٌ مُتَوَازِنَةٌ: وَسَائِلُ التَّوَاصُلِ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blog post (about 60–80 words): “Social media — friend or enemy?” Include: • how you use it (three digital verbs + prepositions) • two benefits and two risks with </a:t>
            </a:r>
            <a:pPr algn="l" indent="0" marL="0">
              <a:buNone/>
            </a:pPr>
            <a:r>
              <a:rPr lang="ar-SA" altLang="en-US" sz="1550" b="1" dirty="0">
                <a:solidFill>
                  <a:srgbClr val="1F2A37"/>
                </a:solidFill>
                <a:latin typeface="Amiri" pitchFamily="2" charset="-78"/>
                <a:ea typeface="Amiri" pitchFamily="2" charset="-78"/>
                <a:cs typeface="Amiri" pitchFamily="2" charset="-78"/>
              </a:rPr>
              <a:t>أَنَّ</a:t>
            </a:r>
            <a:pPr algn="l" indent="0" marL="0">
              <a:buNone/>
            </a:pPr>
            <a:r>
              <a:rPr lang="en-US" sz="1200" b="1" dirty="0">
                <a:solidFill>
                  <a:srgbClr val="1F2A37"/>
                </a:solidFill>
                <a:latin typeface="Calibri" pitchFamily="34" charset="0"/>
                <a:cs typeface="Amiri" pitchFamily="2" charset="-78"/>
              </a:rPr>
              <a:t> • </a:t>
            </a:r>
            <a:pPr algn="l" indent="0" marL="0">
              <a:buNone/>
            </a:pPr>
            <a:r>
              <a:rPr lang="ar-SA" altLang="en-US" sz="1550" b="1"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200" b="1" dirty="0">
                <a:solidFill>
                  <a:srgbClr val="1F2A37"/>
                </a:solidFill>
                <a:latin typeface="Calibri" pitchFamily="34" charset="0"/>
                <a:cs typeface="Amiri" pitchFamily="2" charset="-78"/>
              </a:rPr>
              <a:t> … • a qualified judgement (</a:t>
            </a:r>
            <a:pPr algn="l" indent="0" marL="0">
              <a:buNone/>
            </a:pPr>
            <a:r>
              <a:rPr lang="ar-SA" altLang="en-US" sz="1550" b="1" dirty="0">
                <a:solidFill>
                  <a:srgbClr val="1F2A37"/>
                </a:solidFill>
                <a:latin typeface="Amiri" pitchFamily="2" charset="-78"/>
                <a:ea typeface="Amiri" pitchFamily="2" charset="-78"/>
                <a:cs typeface="Amiri" pitchFamily="2" charset="-78"/>
              </a:rPr>
              <a:t>إِلَى حَدٍّ مَا / بِشَرْطِ أَنْ</a:t>
            </a:r>
            <a:pPr algn="l" indent="0" marL="0">
              <a:buNone/>
            </a:pPr>
            <a:r>
              <a:rPr lang="en-US" sz="1200" b="1" dirty="0">
                <a:solidFill>
                  <a:srgbClr val="1F2A37"/>
                </a:solidFill>
                <a:latin typeface="Calibri" pitchFamily="34" charset="0"/>
                <a:cs typeface="Amiri" pitchFamily="2" charset="-78"/>
              </a:rPr>
              <a:t> …).</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أَتَوَاصَلُ مَعَ … · أُعَلِّقُ عَلَى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keep in touch with … · I comment on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فَوَائِدِهَا أَنَّ … · مِنْ مَخَاطِرِهَا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benefit is that … · a risk is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مُفِيدَةٌ بِشَرْطِ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useful on condition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three digital verbs with the right prepositions?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balanced view and a qualified judgement?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أَبْحَثُ عَنْ مَعْلُومَاتٍ لِلْمَشْرُوعِ، وَأَتَوَاصَلُ مَعَ فَرِيقِي.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looking up information for the project and talking to my team.</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أَنْتَ عَلَى الهَاتِفِ طُولَ الوَقْتِ! مَاذَا تَفْعَلُ؟</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مَعَكِ حَقٌّ إِلَى حَدٍّ مَا، وَلٰكِنَّ الهَاتِفَ يُسَاعِدُنِي فِي الدِّرَاسَةِ.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You’re right to some extent, but the phone helps me study.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 الشَّاشَةَ تَضُرُّ عَيْنَيْكَ.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أَقْتَرِحُ سَاعَتَيْنِ يَوْمِيًّا، بِشَرْطِ أَنْ أُكْمِلَ وَاجِبِي أَوَّلًا.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suggest two hours a day, on condition that I finish my homework first.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اقْتِرَاحُكَ؟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أَسْتَخْدِمُ كَلِمَةَ مُرُورٍ قَوِيَّةً، وَلَا أُشَارِكُهَا مَعَ أَحَدٍ.</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use a strong password and don’t share it with anyone.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تَعْرِفُ كَيْفَ تَحْمِي كَلِمَةَ المُرُورِ؟</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أَسْتَخْدِمُ وَسَائِلَ التَّوَاصُلِ كُلَّ يَوْمٍ. أَتَوَاصَلُ مَعَ أَقَارِبِي فِي بَاكِسْتَانَ، وَأُعَلِّقُ عَلَى صُوَرِهِمْ، وَأَبْحَثُ عَنْ فِيدْيُوهَاتٍ تَعْلِيمِيَّةٍ. مِنْ فَوَائِدِهَا أَنَّ العَائِلَةَ تَبْقَى قَرِيبَةً رَغْمَ المَسَافَةِ، وَأَنَّ التَّعَلُّمَ أَصْبَحَ أَسْهَلَ. وَمِنْ مَخَاطِرِهَا أَنَّهَا تُضَيِّعُ الوَقْتَ، وَأَنَّ بَعْضَ المَعْلُومَاتِ غَيْرُ صَحِيحَةٍ. مِنْ نَاحِيَةٍ، هِيَ نَافِذَةٌ عَلَى العَالَمِ، وَمِنْ نَاحِيَةٍ أُخْرَى، قَدْ تُسَبِّبُ الإِدْمَانَ. فِي رَأْيِي هِيَ صَدِيقٌ، بِشَرْطِ أَنْ نَسْتَخْدِمَهَا بِحِكْمَةٍ وَلِوَقْتٍ مَحْدُودٍ.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use social media every day. I keep in touch with my relatives in Pakistan, comment on their photos, and look for educational videos. One benefit is that the family stays close despite the distance, and learning has become easier. One risk is that it wastes time, and some information is false. On one hand it is a window on the world; on the other, it can cause addiction. In my opinion it is a friend, on condition that we use it wisely and for a limited time.”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أَتَوَاصَلُ مَعَ أَقَارِبِي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فَوَائِدِهَا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نَاحِيَةٍ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بِشَرْطِ أَنْ نَسْتَخْدِمَهَا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D4-L06 · Green Technology — AI, Solar Energy and Smart Cities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250" b="1" dirty="0">
                <a:solidFill>
                  <a:srgbClr val="D4AF37"/>
                </a:solidFill>
                <a:latin typeface="Amiri" pitchFamily="2" charset="-78"/>
                <a:ea typeface="Amiri" pitchFamily="2" charset="-78"/>
                <a:cs typeface="Amiri" pitchFamily="2" charset="-78"/>
              </a:rPr>
              <a:t>التِّقْنِيَّةُ الخَضْرَاءُ — الذَّكَاءُ الاصْطِنَاعِيُّ وَالطَّاقَةُ الشَّمْسِيَّةُ وَالمُدُنُ الذَّكِيَّةُ</a:t>
            </a:r>
            <a:endParaRPr lang="ar-SA" sz="225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D4-L05 · Practice Room — The Digital World — Technology and Social Media</dc:title>
  <dc:subject>PptxGenJS Presentation</dc:subject>
  <dc:creator>Al Madina Online School · Arabic Department</dc:creator>
  <cp:lastModifiedBy>Al Madina Online School · Arabic Department</cp:lastModifiedBy>
  <cp:revision>1</cp:revision>
  <dcterms:created xsi:type="dcterms:W3CDTF">2026-10-25T18:27:43Z</dcterms:created>
  <dcterms:modified xsi:type="dcterms:W3CDTF">2026-10-25T18:27:43Z</dcterms:modified>
</cp:coreProperties>
</file>