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D4-L04 (Environmental Solutions — What Can Be Done?) — new practice tasks built on the lesson’s own word bank and grammar (should / must: yanbaghī an nuqallila · yajibu ʿalā al-ḥukūmati an + verb in -a; purpose: li-kay + -a; “they / you all” in the subjunctive: -ūna → -ū (yajibu an yastakhdimū · ʿalaykum an tuʿīdū); solutions as maṣdars (iʿādat al-tadwīr · al-tashjīr · tarshīd al-miyāh)).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D4-L04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(7 min). FADED SUPPORT: tasks 1–2 show the plan (question word → first words); students write their own plan for 3–4. Everyone is Speaker once. To a girl the Leader says: no changes needed (the speaker talks about “we” and “they”). yanbaghī an nu-… · yajibu ʿalā X an … · they: -ūna → -ū after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D4-L04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Environmental Solutions — What Can Be Done?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الحُلُولُ البِيئِيَّةُ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run their own speaking and writing practice about solutions: say the solutions, act a short dialogue, answer question cards, do a role-play card at a school eco-council meeting, give a one-minute “three solutions” talk, then build, fix and write a persuasive speech for the eco-council.</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D4-L04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Solutions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إِعَادَةُ التَّدْوِيرِ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recycling</a:t>
            </a:r>
            <a:endParaRPr lang="en-US" sz="1350" dirty="0"/>
          </a:p>
          <a:p>
            <a:pPr indent="0" marL="0">
              <a:buNone/>
            </a:pPr>
            <a:r>
              <a:rPr lang="en-US" sz="1100" i="1" dirty="0">
                <a:solidFill>
                  <a:srgbClr val="5A6472"/>
                </a:solidFill>
                <a:latin typeface="Calibri" pitchFamily="34" charset="0"/>
                <a:cs typeface="Amiri" pitchFamily="2" charset="-78"/>
              </a:rPr>
              <a:t>i-ʿā-da-tu at-tad-wī-ri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المُتَجَدِّدَةُ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renewable energy</a:t>
            </a:r>
            <a:endParaRPr lang="en-US" sz="1350" dirty="0"/>
          </a:p>
          <a:p>
            <a:pPr indent="0" marL="0">
              <a:buNone/>
            </a:pPr>
            <a:r>
              <a:rPr lang="en-US" sz="1100" i="1" dirty="0">
                <a:solidFill>
                  <a:srgbClr val="5A6472"/>
                </a:solidFill>
                <a:latin typeface="Calibri" pitchFamily="34" charset="0"/>
                <a:cs typeface="Amiri" pitchFamily="2" charset="-78"/>
              </a:rPr>
              <a:t>aṭ-ṭā-qa-tu al-mu-ta-jad-di-da-tu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الشَّمْسِيَّةُ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energy</a:t>
            </a:r>
            <a:endParaRPr lang="en-US" sz="1350" dirty="0"/>
          </a:p>
          <a:p>
            <a:pPr indent="0" marL="0">
              <a:buNone/>
            </a:pPr>
            <a:r>
              <a:rPr lang="en-US" sz="1100" i="1" dirty="0">
                <a:solidFill>
                  <a:srgbClr val="5A6472"/>
                </a:solidFill>
                <a:latin typeface="Calibri" pitchFamily="34" charset="0"/>
                <a:cs typeface="Amiri" pitchFamily="2" charset="-78"/>
              </a:rPr>
              <a:t>aṭ-ṭā-qa-tu ash-sham-siy-ya-tu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التَّشْجِيرُ</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afforestation / tree planting</a:t>
            </a:r>
            <a:endParaRPr lang="en-US" sz="1350" dirty="0"/>
          </a:p>
          <a:p>
            <a:pPr indent="0" marL="0">
              <a:buNone/>
            </a:pPr>
            <a:r>
              <a:rPr lang="en-US" sz="1100" i="1" dirty="0">
                <a:solidFill>
                  <a:srgbClr val="5A6472"/>
                </a:solidFill>
                <a:latin typeface="Calibri" pitchFamily="34" charset="0"/>
                <a:cs typeface="Amiri" pitchFamily="2" charset="-78"/>
              </a:rPr>
              <a:t>at-tash-jī-ru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تَرْشِيدُ المِيَاهِ</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conservation</a:t>
            </a:r>
            <a:endParaRPr lang="en-US" sz="1350" dirty="0"/>
          </a:p>
          <a:p>
            <a:pPr indent="0" marL="0">
              <a:buNone/>
            </a:pPr>
            <a:r>
              <a:rPr lang="en-US" sz="1100" i="1" dirty="0">
                <a:solidFill>
                  <a:srgbClr val="5A6472"/>
                </a:solidFill>
                <a:latin typeface="Calibri" pitchFamily="34" charset="0"/>
                <a:cs typeface="Amiri" pitchFamily="2" charset="-78"/>
              </a:rPr>
              <a:t>tar-shī-du al-mi-yā-hi</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النَّقْلُ العَامُّ</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transport</a:t>
            </a:r>
            <a:endParaRPr lang="en-US" sz="1350" dirty="0"/>
          </a:p>
          <a:p>
            <a:pPr indent="0" marL="0">
              <a:buNone/>
            </a:pPr>
            <a:r>
              <a:rPr lang="en-US" sz="1100" i="1" dirty="0">
                <a:solidFill>
                  <a:srgbClr val="5A6472"/>
                </a:solidFill>
                <a:latin typeface="Calibri" pitchFamily="34" charset="0"/>
                <a:cs typeface="Amiri" pitchFamily="2" charset="-78"/>
              </a:rPr>
              <a:t>an-naq-lu al-ʿām-mu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نُقَلِّلُ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reduce</a:t>
            </a:r>
            <a:endParaRPr lang="en-US" sz="1350" dirty="0"/>
          </a:p>
          <a:p>
            <a:pPr indent="0" marL="0">
              <a:buNone/>
            </a:pPr>
            <a:r>
              <a:rPr lang="en-US" sz="1100" i="1" dirty="0">
                <a:solidFill>
                  <a:srgbClr val="5A6472"/>
                </a:solidFill>
                <a:latin typeface="Calibri" pitchFamily="34" charset="0"/>
                <a:cs typeface="Amiri" pitchFamily="2" charset="-78"/>
              </a:rPr>
              <a:t>nu-qal-li-lu min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يُقَلِّلُونَ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نُقَلِّلُ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نَزْرَعُ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plant</a:t>
            </a:r>
            <a:endParaRPr lang="en-US" sz="1350" dirty="0"/>
          </a:p>
          <a:p>
            <a:pPr indent="0" marL="0">
              <a:buNone/>
            </a:pPr>
            <a:r>
              <a:rPr lang="en-US" sz="1100" i="1" dirty="0">
                <a:solidFill>
                  <a:srgbClr val="5A6472"/>
                </a:solidFill>
                <a:latin typeface="Calibri" pitchFamily="34" charset="0"/>
                <a:cs typeface="Amiri" pitchFamily="2" charset="-78"/>
              </a:rPr>
              <a:t>naz-ra-ʿu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يَزْرَعُونَ</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أَزْرَعُ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نَزْرَعُ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نُعِيدُ التَّدْوِيرَ</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recycle</a:t>
            </a:r>
            <a:endParaRPr lang="en-US" sz="1350" dirty="0"/>
          </a:p>
          <a:p>
            <a:pPr indent="0" marL="0">
              <a:buNone/>
            </a:pPr>
            <a:r>
              <a:rPr lang="en-US" sz="1100" i="1" dirty="0">
                <a:solidFill>
                  <a:srgbClr val="5A6472"/>
                </a:solidFill>
                <a:latin typeface="Calibri" pitchFamily="34" charset="0"/>
                <a:cs typeface="Amiri" pitchFamily="2" charset="-78"/>
              </a:rPr>
              <a:t>nu-ʿī-du at-tad-wī-ra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يُعِيدُونَ</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أُعِيدُ</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نُعِيدُ</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يَنْبَغِي أَنْ</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عَلَى ... أَنْ</a:t>
            </a:r>
            <a:endParaRPr lang="ar-SA" sz="3000" dirty="0"/>
          </a:p>
        </p:txBody>
      </p:sp>
      <p:sp>
        <p:nvSpPr>
          <p:cNvPr id="82" name="Text 7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 must</a:t>
            </a:r>
            <a:endParaRPr lang="en-US" sz="1350" dirty="0"/>
          </a:p>
          <a:p>
            <a:pPr indent="0" marL="0">
              <a:buNone/>
            </a:pPr>
            <a:r>
              <a:rPr lang="en-US" sz="1100" i="1" dirty="0">
                <a:solidFill>
                  <a:srgbClr val="5A6472"/>
                </a:solidFill>
                <a:latin typeface="Calibri" pitchFamily="34" charset="0"/>
                <a:cs typeface="Amiri" pitchFamily="2" charset="-78"/>
              </a:rPr>
              <a:t>ya-ji-bu ʿa-lā ... an</a:t>
            </a:r>
            <a:endParaRPr lang="en-US" sz="135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should we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يَنْبَغِي أَنْ نَفْعَلَ؟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school throws away a lot of paper. What should we do?</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مَدْرَسَتُنَا تَرْمِي كَثِيرًا مِنَ الوَرَقِ. مَاذَا يَنْبَغِي أَنْ نَفْعَلَ؟</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recycle it, to reduce waste.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يَنْبَغِي أَنْ نُعِيدَ تَدْوِيرَهُ، لِكَيْ نُقَلِّلَ مِنَ النُّفَايَاتِ.</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about energy?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وَمَاذَا عَنِ الطَّاقَةِ؟</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must use solar energy.</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عَلَى المَدْرَسَةِ أَنْ تَسْتَخْدِمَ الطَّاقَةَ الشَّمْسِيَّةَ.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students?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وَالطُّلَّابُ؟</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must switch off the lights, and come by bus or on foot.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أَنْ يُطْفِئُوا الأَنْوَارَ، وَأَنْ يَأْتُوا بِالحَافِلَةِ أَوْ مَشْيًا.</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propose solutions for YOUR school — one for “we”, one for the school, one for “they”.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يَنْبَغِي أَنْ نَسْتَخْدِمَ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reduce plastic waste?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نُقَلِّلُ مِنَ النُّفَايَاتِ البِلَاسْتِيكِيَّةِ؟</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عَلَى الحُكُومَةِ أَنْ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the government do?</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عَلَى الحُكُومَةِ أَنْ تَفْعَلَ؟</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الأَشْجَارَ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التَّشْجِيرُ يُسَاعِدُ عَلَى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benefit of planting trees?</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فَائِدَةُ التَّشْجِيرِ؟</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أُغْلِقُ … / أَسْتَحِمُّ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save water at home?</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تُرَشِّدُ المَاءَ فِي بَيْتِكَ؟</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أَنْ يَسْتَخْدِمُوا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young people do?</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يَفْعَلَ الشَّبَابُ؟</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Role-play card — the school eco-council</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المَجْلِسُ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المُشْكِلَةُ ← نَسْتَهْلِكُ … كَثِيرًا</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problem.</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المُشْكِلَةُ الأُولَى فِي مَدْرَسَتِنَا؟</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الحَلُّ ← يَنْبَغِي أَنْ … لِكَيْ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Solution + purpose.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الحَلُّ؟</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must … (-ū).</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يَفْعَلُ الطُّلَّابُ؟</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objection.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وَلٰكِنَّ الأَلْوَاحَ غَالِيَةٌ!</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council member · Leader = the head of the eco-council.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three solutions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ثَلَاثَةُ حُلُولٍ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Choose one problem. Propose three solutions for one minute: one for “we”, one for the government, one for “they” — each with a purpose.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solutions with </a:t>
            </a:r>
            <a:pPr algn="l" indent="0" marL="0">
              <a:buNone/>
            </a:pPr>
            <a:r>
              <a:rPr lang="ar-SA" altLang="en-US" sz="1500" dirty="0">
                <a:solidFill>
                  <a:srgbClr val="1F2A37"/>
                </a:solidFill>
                <a:latin typeface="Amiri" pitchFamily="2" charset="-78"/>
                <a:ea typeface="Amiri" pitchFamily="2" charset="-78"/>
                <a:cs typeface="Amiri" pitchFamily="2" charset="-78"/>
              </a:rPr>
              <a:t>يَنْبَغِي 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يَجِبُ عَلَى … أَنْ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 -a.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the -ū form (</a:t>
            </a:r>
            <a:pPr algn="l" indent="0" marL="0">
              <a:buNone/>
            </a:pPr>
            <a:r>
              <a:rPr lang="ar-SA" altLang="en-US" sz="1500" dirty="0">
                <a:solidFill>
                  <a:srgbClr val="1F2A37"/>
                </a:solidFill>
                <a:latin typeface="Amiri" pitchFamily="2" charset="-78"/>
                <a:ea typeface="Amiri" pitchFamily="2" charset="-78"/>
                <a:cs typeface="Amiri" pitchFamily="2" charset="-78"/>
              </a:rPr>
              <a:t>يَجِبُ أَنْ يَسْتَخْدِمُوا</a:t>
            </a:r>
            <a:pPr algn="l" indent="0" marL="0">
              <a:buNone/>
            </a:pPr>
            <a:r>
              <a:rPr lang="en-US" sz="1150" dirty="0">
                <a:solidFill>
                  <a:srgbClr val="1F2A37"/>
                </a:solidFill>
                <a:latin typeface="Calibri" pitchFamily="34" charset="0"/>
                <a:cs typeface="Amiri" pitchFamily="2" charset="-78"/>
              </a:rPr>
              <a:t>) and answer an objection.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should use public transport.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يَنْبَغِي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يَنْبَغِيَ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نَسْتَخْدِمَ</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نَسْتَخْدِمُ</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النَّقْلَ العَامَّ.</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النَّقْلُ العَامُّ.</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government must plant trees to reduce pollution.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عَلَى الحُكُومَةِ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الحُكُومَةَ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تَزْرَعَ الأَشْجَارَ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يَزْرَعَ الأَشْجَارَ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 تُقَلِّلَ مِنَ التَّلَوُّثِ.</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 تُقَلِّلُ مِنَ التَّلَوُّثِ.</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Citizens must recycle.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عَلَى المُوَاطِنِينَ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عَلَى المُوَاطِنُونَ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يُعِيدُوا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يُعِيدُونَ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التَّدْوِيرَ.</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التَّدْوِيرُ.</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should use public transport.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object in -a.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يَنْبَغِي أَنْ نَسْتَخْدِمَ النَّقْلَ العَامَّ.</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government must plant trees to reduce pollution.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يَجِبُ عَلَى</a:t>
            </a:r>
            <a:pPr algn="l" indent="0" marL="0">
              <a:buNone/>
            </a:pPr>
            <a:r>
              <a:rPr lang="en-US" sz="1050" i="1" dirty="0">
                <a:solidFill>
                  <a:srgbClr val="5A6472"/>
                </a:solidFill>
                <a:latin typeface="Calibri" pitchFamily="34" charset="0"/>
                <a:cs typeface="Amiri" pitchFamily="2" charset="-78"/>
              </a:rPr>
              <a:t> X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government (f.) → </a:t>
            </a:r>
            <a:pPr algn="l" indent="0" marL="0">
              <a:buNone/>
            </a:pPr>
            <a:r>
              <a:rPr lang="ar-SA" altLang="en-US" sz="1350" dirty="0">
                <a:solidFill>
                  <a:srgbClr val="5A6472"/>
                </a:solidFill>
                <a:latin typeface="Amiri" pitchFamily="2" charset="-78"/>
                <a:ea typeface="Amiri" pitchFamily="2" charset="-78"/>
                <a:cs typeface="Amiri" pitchFamily="2" charset="-78"/>
              </a:rPr>
              <a:t>تَزْرَعَ</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-a.</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lnSpc>
                <a:spcPct val="120000"/>
              </a:lnSpc>
              <a:buNone/>
            </a:pPr>
            <a:r>
              <a:rPr lang="ar-SA" altLang="en-US" sz="2650" b="1" dirty="0">
                <a:solidFill>
                  <a:srgbClr val="1B3B6F"/>
                </a:solidFill>
                <a:latin typeface="Amiri" pitchFamily="2" charset="-78"/>
                <a:ea typeface="Amiri" pitchFamily="2" charset="-78"/>
                <a:cs typeface="Amiri" pitchFamily="2" charset="-78"/>
              </a:rPr>
              <a:t>يَجِبُ عَلَى الحُكُومَةِ أَنْ تَزْرَعَ الأَشْجَارَ لِكَيْ تُقَلِّلَ مِنَ التَّلَوُّثِ.</a:t>
            </a:r>
            <a:endParaRPr lang="ar-SA" sz="265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Citizens must recycle.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عَلَى</a:t>
            </a:r>
            <a:pPr algn="l" indent="0" marL="0">
              <a:buNone/>
            </a:pPr>
            <a:r>
              <a:rPr lang="en-US" sz="1050" i="1" dirty="0">
                <a:solidFill>
                  <a:srgbClr val="5A6472"/>
                </a:solidFill>
                <a:latin typeface="Calibri" pitchFamily="34" charset="0"/>
                <a:cs typeface="Amiri" pitchFamily="2" charset="-78"/>
              </a:rPr>
              <a:t> + genitive (-īna); after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-ūna → -ū.</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عَلَى المُوَاطِنِينَ أَنْ يُعِيدُوا التَّدْوِيرَ.</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يَسْتَخْدِمُونَ الدَّرَّاجَاتِ.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They +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يَنْبَغِي أَنْ نُقَلِّلُ مِنَ البِلَاسْتِيكِ.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الحُكُومَةُ أَنْ تَمْنَعَ الأَكْيَاسَ.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يَسْتَخْدِمُونَ الدَّرَّاجَاتِ.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يَسْتَخْدِمُوا الدَّرَّاجَاتِ.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-ūna → -ū.</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يَنْبَغِي أَنْ نُقَلِّلُ مِنَ البِلَاسْتِيكِ.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يَنْبَغِي أَنْ نُقَلِّلَ مِنَ البِلَاسْتِيكِ.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الحُكُومَةُ أَنْ تَمْنَعَ الأَكْيَاسَ.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عَلَى الحُكُومَةِ أَنْ تَمْنَعَ الأَكْيَاسَ.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يَجِبُ عَلَى</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ثَالِثًا، يَجِبُ عَلَى الطُّلَّابِ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Third, students must … (-ū)</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فَعَلْنَا ذٰلِكَ، فَسَوْفَ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do that, we will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أَيُّهَا الزُّمَلَاءُ، مُشْكِلَتُنَا هِيَ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Dear classmates, our problem is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يَنْبَغِي أَنْ ______ لِكَيْ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we should … in order to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ثَانِيًا، يَجِبُ عَلَى ______ 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Second, … must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هَيَّا نَبْدَأُ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Let’s start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algn="l" indent="0" marL="0">
              <a:buNone/>
            </a:pPr>
            <a:r>
              <a:rPr lang="ar-SA" altLang="en-US" sz="2000" b="1" dirty="0">
                <a:solidFill>
                  <a:srgbClr val="1B3B6F"/>
                </a:solidFill>
                <a:latin typeface="Amiri" pitchFamily="2" charset="-78"/>
                <a:ea typeface="Amiri" pitchFamily="2" charset="-78"/>
                <a:cs typeface="Amiri" pitchFamily="2" charset="-78"/>
              </a:rPr>
              <a:t>إِعَادَةُ التَّدْوِيرِ</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الطَّاقَةُ الشَّمْسِيَّةُ</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التَّشْجِيرُ</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تَرْشِيدُ المِيَاهِ</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النَّقْلُ العَامُّ</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نُقَلِّلُ مِنْ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نَزْرَعُ</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يَنْبَغِي أَنْ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يَجِبُ عَلَى</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لِكَيْ</a:t>
            </a:r>
            <a:pPr algn="l" indent="0" marL="0">
              <a:buNone/>
            </a:pPr>
            <a:r>
              <a:rPr lang="en-US" sz="1550" b="1" dirty="0">
                <a:solidFill>
                  <a:srgbClr val="1B3B6F"/>
                </a:solidFill>
                <a:latin typeface="Calibri" pitchFamily="34" charset="0"/>
                <a:cs typeface="Amiri" pitchFamily="2" charset="-78"/>
              </a:rPr>
              <a:t> + -a</a:t>
            </a:r>
            <a:endParaRPr lang="en-US" sz="15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speech for the eco-council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خِطَابٌ لِلْمَجْلِسِ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persuasive speech (about 60–80 words) for the school eco-council. Include: • the problem in one sentence • three solutions: one with </a:t>
            </a:r>
            <a:pPr algn="l" indent="0" marL="0">
              <a:buNone/>
            </a:pPr>
            <a:r>
              <a:rPr lang="ar-SA" altLang="en-US" sz="1500" b="1" dirty="0">
                <a:solidFill>
                  <a:srgbClr val="1F2A37"/>
                </a:solidFill>
                <a:latin typeface="Amiri" pitchFamily="2" charset="-78"/>
                <a:ea typeface="Amiri" pitchFamily="2" charset="-78"/>
                <a:cs typeface="Amiri" pitchFamily="2" charset="-78"/>
              </a:rPr>
              <a:t>يَنْبَغِي أَنْ نَ</a:t>
            </a:r>
            <a:pPr algn="l" indent="0" marL="0">
              <a:buNone/>
            </a:pPr>
            <a:r>
              <a:rPr lang="en-US" sz="1150" b="1" dirty="0">
                <a:solidFill>
                  <a:srgbClr val="1F2A37"/>
                </a:solidFill>
                <a:latin typeface="Calibri" pitchFamily="34" charset="0"/>
                <a:cs typeface="Amiri" pitchFamily="2" charset="-78"/>
              </a:rPr>
              <a:t>…, one with </a:t>
            </a:r>
            <a:pPr algn="l" indent="0" marL="0">
              <a:buNone/>
            </a:pPr>
            <a:r>
              <a:rPr lang="ar-SA" altLang="en-US" sz="1500" b="1" dirty="0">
                <a:solidFill>
                  <a:srgbClr val="1F2A37"/>
                </a:solidFill>
                <a:latin typeface="Amiri" pitchFamily="2" charset="-78"/>
                <a:ea typeface="Amiri" pitchFamily="2" charset="-78"/>
                <a:cs typeface="Amiri" pitchFamily="2" charset="-78"/>
              </a:rPr>
              <a:t>يَجِبُ عَلَى … أَنْ</a:t>
            </a:r>
            <a:pPr algn="l" indent="0" marL="0">
              <a:buNone/>
            </a:pPr>
            <a:r>
              <a:rPr lang="en-US" sz="1150" b="1" dirty="0">
                <a:solidFill>
                  <a:srgbClr val="1F2A37"/>
                </a:solidFill>
                <a:latin typeface="Calibri" pitchFamily="34" charset="0"/>
                <a:cs typeface="Amiri" pitchFamily="2" charset="-78"/>
              </a:rPr>
              <a:t> …, one for “they” with the -ū form • two purposes with </a:t>
            </a:r>
            <a:pPr algn="l" indent="0" marL="0">
              <a:buNone/>
            </a:pPr>
            <a:r>
              <a:rPr lang="ar-SA" altLang="en-US" sz="1500" b="1" dirty="0">
                <a:solidFill>
                  <a:srgbClr val="1F2A37"/>
                </a:solidFill>
                <a:latin typeface="Amiri" pitchFamily="2" charset="-78"/>
                <a:ea typeface="Amiri" pitchFamily="2" charset="-78"/>
                <a:cs typeface="Amiri" pitchFamily="2" charset="-78"/>
              </a:rPr>
              <a:t>لِكَيْ</a:t>
            </a:r>
            <a:pPr algn="l" indent="0" marL="0">
              <a:buNone/>
            </a:pPr>
            <a:r>
              <a:rPr lang="en-US" sz="1150" b="1" dirty="0">
                <a:solidFill>
                  <a:srgbClr val="1F2A37"/>
                </a:solidFill>
                <a:latin typeface="Calibri" pitchFamily="34" charset="0"/>
                <a:cs typeface="Amiri" pitchFamily="2" charset="-78"/>
              </a:rPr>
              <a:t> • a call to action at the end.</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أَيُّهَا الزُّمَلَاءُ،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classmates,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نُ… لِكَيْ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should … in order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must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هَيَّا نَبْدَأُ اليَوْمَ!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let’s start today!</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propose three solutions with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 + verb in -a?</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يَجِبُ عَلَى … 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 and the -ū form for “they”?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نَسْتَهْلِكُ الكَهْرَبَاءَ كَثِيرًا، خُصُوصًا فِي الشِّتَاءِ.</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consume a lot of electricity, especially in winter.</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المُشْكِلَةُ الأُولَى فِي مَدْرَسَتِنَا؟</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نُرَكِّبَ أَلْوَاحًا شَمْسِيَّةً لِكَيْ نُوَفِّرَ الطَّاقَةَ.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should install solar panels to save energy.</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الحَلُّ؟</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يُطْفِئُوا الحَوَاسِيبَ بَعْدَ الحِصَصِ، وَأَنْ يُغْلِقُوا النَّوَافِذَ.</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must switch off computers after lessons and close the windows.</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يَفْعَلُ الطُّلَّابُ؟</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وَلٰكِنَّهَا تُوَفِّرُ المَالَ بَعْدَ سَنَوَاتٍ قَلِيلَةٍ.</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True, but they save money after a few years.</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وَلٰكِنَّ الأَلْوَاحَ غَالِيَةٌ!</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أَيُّهَا الزُّمَلَاءُ، مُشْكِلَتُنَا هِيَ أَنَّ مَدْرَسَتَنَا تَرْمِي كَمِّيَّاتٍ كَبِيرَةً مِنَ البِلَاسْتِيكِ كُلَّ يَوْمٍ. أَوَّلًا، يَنْبَغِي أَنْ نُحْضِرَ زُجَاجَاتٍ قَابِلَةً لِلِاسْتِعْمَالِ لِكَيْ نُقَلِّلَ مِنَ النُّفَايَاتِ. ثَانِيًا، يَجِبُ عَلَى الإِدَارَةِ أَنْ تَضَعَ صَنَادِيقَ لِإِعَادَةِ التَّدْوِيرِ فِي كُلِّ مَمَرٍّ. ثَالِثًا، يَجِبُ عَلَى طُلَّابِ المَقْصَفِ أَنْ يَرْفُضُوا الأَكْيَاسَ البِلَاسْتِيكِيَّةَ، لِكَيْ يَكُونُوا قُدْوَةً لِلْآخَرِينَ. إِذَا فَعَلْنَا ذٰلِكَ، فَسَوْفَ تُصْبِحُ مَدْرَسَتُنَا أَنْظَفَ وَأَجْمَلَ. هَيَّا نَبْدَأُ اليَوْمَ!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classmates, our problem is that our school throws away large amounts of plastic every day. First, we should bring reusable bottles in order to reduce waste. Second, the management must put recycling bins in every corridor. Third, students at the canteen must refuse plastic bags, so that they are a model for others. If we do that, our school will become cleaner and more beautiful. Let’s start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يَنْبَغِي أَنْ نُحْضِرَ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عَلَى الإِدَارَةِ أَنْ تَضَعَ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 يَرْفُضُوا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يَكُونُوا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D4-L05 · The Digital World — Technology and Social Media</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العَالَمُ الرَّقْمِيُّ — التِّقْنِيَّةُ وَوَسَائِلُ 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D4-L04 · Practice Room — Environmental Solutions — What Can Be Done?</dc:title>
  <dc:subject>PptxGenJS Presentation</dc:subject>
  <dc:creator>Al Madina Online School · Arabic Department</dc:creator>
  <cp:lastModifiedBy>Al Madina Online School · Arabic Department</cp:lastModifiedBy>
  <cp:revision>1</cp:revision>
  <dcterms:created xsi:type="dcterms:W3CDTF">2026-10-25T18:27:42Z</dcterms:created>
  <dcterms:modified xsi:type="dcterms:W3CDTF">2026-10-25T18:27:42Z</dcterms:modified>
</cp:coreProperties>
</file>