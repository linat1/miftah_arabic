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D4-L04. The website lesson “Environmental Solutions — What Can Be Done?”: vocabulary, grammar rules and quiz, patterns, common mistakes, sorter, listening, reading, speaking prompts and model, writing task and model, differentiation, final check and the lesson mission. Picture match: website visual game “Environmental Solutions — What Can Be Done?”.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solution words + “we should …” with the verb in -a (يَنْبَغِي أَنْ نُقَلِّلَ / نَزْرَعَ / نُعِيدَ التَّدْوِيرَ). Develop: who must act (يَجِبُ عَلَى الحُكُومَةِ / المَدَارِسِ أَنْ …) and a purpose with لِكَيْ. Stretch: individual + government responsibility, a limitation, and the five verbs (أَنْ يُعِيدُوا).
• The -a after أَنْ is familiar (F4-L06, F5-L10, D3-L03 / L04). NEW: “they / you all” verbs drop -na: يُعِيدُونَ → أَنْ يُعِيدُوا.
• Positive lesson after D4-L03: the class makes a real “green pledge” for the school in the You Do.
• Islamic Studies link (teacher choice): stewardship of the earth (الأَرْضُ أَمَانَةٌ) and the Prophetic teaching against waste even at a flowing river.
• TEACHER-WRITTEN ITEMS: three website quiz items had options differing only in final vowels (distractors replaced with meaningful errors);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D4-L03. Questions 3–4 retrieve D4-L03; question 5 retrieves D3-L04 (li-kay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Problem → solution: we should …, the government must …, in order to … — verb in -a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حل، حکومت، ضروری، استعمال are shared. طاقت in Urdu means strength or power; in Arabic طَاقَةٌ is energy (الطَّاقَةُ الشَّمْسِيَّةُ = solar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Environmental solutions (website vocabulary (1 of 2)). Hear → Say → See → Use. Transliteration is printed for Core students (cover it for Develop/Stretch).
Solutions: noun phrases (verbal nouns): إِعَادَةُ التَّدْوِيرِ = the re-doing of recycling, تَرْشِيدُ المِيَاهِ = rationalising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Environmental solutions (website vocabulary (2 of 2)). Hear → Say → See → Use. Transliteration is printed for Core students (cover it for Develop/Stretch).
Solutions: noun phrases (verbal nouns): إِعَادَةُ التَّدْوِيرِ = the re-doing of recycling, تَرْشِيدُ المِيَاهِ = rationalising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Action verbs (website vocabulary (1 of 2)). Hear → Say → See → Use. Transliteration is printed for Core students (cover it for Develop/Stretch).
Action verbs in the “we” form (na- / nu-). Cards show we · I · they — the “they” form ends in -ūna (it loses -na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Action verbs (website vocabulary (2 of 2)). Hear → Say → See → Use. Transliteration is printed for Core students (cover it for Develop/Stretch).
Action verbs in the “we” form (na- / nu-). Cards show we · I · they — the “they” form ends in -ūna (it loses -na after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Advice, obligation and purpose (website vocabulary). Hear → Say → See → Use. Transliteration is printed for Core students (cover it for Develop/Stretch).
Advice, obligation and purpose: every one is followed by أَنْ / لِكَيْ +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“Advice with يَنْبَغِي أَنْ” (a sound-ending present verb changes its final ḍamma to fatḥa after أَنْ), “Obligation for a person or group” (name the responsible person or group after عَلَى) and “Purpose with لِكَيْ”. Website examples as shown.
Agreement reminder: يَجِبُ عَلَى الحُكُومَةِ أَنْ تَـ… (the government = she); عَلَى المَدَارِسِ أَنْ تُعِيدَ (non-human plural =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“The five verbs after أَنْ” (only the five verbs lose their final nūn: يُعِيدُونَ → أَنْ يُعِيدُوا; ordinary forms such as نُقَلِّلُ do not contain that nūn). Website common error: “Do not say that every subjunctive verb ‘loses nūn’. Only the five verbs lose their nūn. A form such as نُقَلِّلَ is marked by final fatḥa.”
The five verbs: يَفْعَلُونَ، تَفْعَلُونَ، يَفْعَلَانِ، تَفْعَلَانِ، تَفْعَلِينَ (Stretch: تَفْعَلِينَ → أَنْ تَفْعَلِي, as in F5 advice to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Advice with يَنْبَغِي أَنْ: A sound-ending present verb changes its final ḍamma to fatḥa after أَنْ: نُقَلِّلُ → نُقَلِّلَ. It does not “lose a nūn”.
• Obligation for a person or group: Name the responsible person or group after عَلَى.
• Purpose with لِكَيْ: لِكَيْ explains the intended purpose. A sound-ending verb takes fatḥa.
• The five verbs after أَنْ: Only the five verbs lose their final nūn: يُعِيدُونَ → أَنْ يُعِيدُوا. Ordinary forms such as نُقَلِّلُ do not contain that nūn.
Website common error: Do not say that every subjunctive verb “loses nūn”. Only the five verbs lose their nūn. A form such as نُقَلِّلَ is marked by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writing model (first part), built step by step: problem → we should → who must → why. Highlight every verb after أَنْ / لِكَيْ.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Environmental Solutions — What Can Be Done?”)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what happens to the verb after أَنْ? (-a). Other cards: يَجِبُ أَنْ نَزْرَعَ أَشْجَارًا أَكْثَرَ · يَجِبُ أَنْ نُقَلِّلَ اسْتِهْلَاكَ الطَّاقَةِ · يُمْكِنُ أَنْ نَسْتَخْدِمَ الطَّاقَةَ الشَّمْسِيَّةَ.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Environmental Solutions — What Can Be Done?”)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what happens to the verb after أَنْ? (-a). Other cards: يَجِبُ أَنْ نَزْرَعَ أَشْجَارًا أَكْثَرَ · يَجِبُ أَنْ نُقَلِّلَ اسْتِهْلَاكَ الطَّاقَةِ · يُمْكِنُ أَنْ نَسْتَخْدِمَ الطَّاقَةَ الشَّمْسِيَّةَ.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solution sentence with one item from each group: يَنْبَغِي أَنْ نُعِيدَ التَّدْوِيرَ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solution sentence with one item from each group: يَنْبَغِي أَنْ نُعِيدَ التَّدْوِيرَ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Class “green pledge”: each student says one يَنْبَغِي أَنْ … for the school; the teacher writes the best five on a slide for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يَنْبَغِي أَنْ نُقَلِّلَ · يَجِبُ عَلَى الطُّلَّابِ أَنْ يُعِيدُوا (five verbs) · يَجِبُ عَلَى الإِدَارَةِ أَنْ تُوَفِّرَ · لِكَيْ نُقَلِّلَ · مِنَ الضَّرُورِيِّ أَنْ نَنْشُرَ · فِي رَأْيِي … قَابِلَةٌ لِلتَّطْبِيقِ.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(D4-L05 · The Digital World — Technology and Social Media) will spend class time USING this language, so students prepare it tonight — short, simple, easy to access (school guidance: “Simple, Short, Interesting, Relevant, Easy to access”). The five words come from the website D4-L05 vocabulary (the digital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Solutions — What Can Be Done?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الحُلُولُ البِيئِيَّةُ — مَاذَا يُمْكِنُ أَنْ نَفْعَلَ؟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Propose and justify solutions: what we should do (</a:t>
            </a:r>
            <a:pPr algn="l" indent="0" marL="0">
              <a:buNone/>
            </a:pPr>
            <a:r>
              <a:rPr lang="ar-SA" altLang="en-US" sz="1800" dirty="0">
                <a:solidFill>
                  <a:srgbClr val="C6D2E6"/>
                </a:solidFill>
                <a:latin typeface="Amiri" pitchFamily="2" charset="-78"/>
                <a:ea typeface="Amiri" pitchFamily="2" charset="-78"/>
                <a:cs typeface="Amiri" pitchFamily="2" charset="-78"/>
              </a:rPr>
              <a:t>يَنْبَغِي أَنْ نُقَلِّلَ</a:t>
            </a:r>
            <a:pPr algn="l" indent="0" marL="0">
              <a:buNone/>
            </a:pPr>
            <a:r>
              <a:rPr lang="en-US" sz="1400" dirty="0">
                <a:solidFill>
                  <a:srgbClr val="C6D2E6"/>
                </a:solidFill>
                <a:latin typeface="Calibri" pitchFamily="34" charset="0"/>
                <a:cs typeface="Amiri" pitchFamily="2" charset="-78"/>
              </a:rPr>
              <a:t>), who must act (</a:t>
            </a:r>
            <a:pPr algn="l" indent="0" marL="0">
              <a:buNone/>
            </a:pPr>
            <a:r>
              <a:rPr lang="ar-SA" altLang="en-US" sz="1800" dirty="0">
                <a:solidFill>
                  <a:srgbClr val="C6D2E6"/>
                </a:solidFill>
                <a:latin typeface="Amiri" pitchFamily="2" charset="-78"/>
                <a:ea typeface="Amiri" pitchFamily="2" charset="-78"/>
                <a:cs typeface="Amiri" pitchFamily="2" charset="-78"/>
              </a:rPr>
              <a:t>يَجِبُ عَلَى الحُكُومَةِ أَنْ</a:t>
            </a:r>
            <a:pPr algn="l" indent="0" marL="0">
              <a:buNone/>
            </a:pPr>
            <a:r>
              <a:rPr lang="en-US" sz="1400" dirty="0">
                <a:solidFill>
                  <a:srgbClr val="C6D2E6"/>
                </a:solidFill>
                <a:latin typeface="Calibri" pitchFamily="34" charset="0"/>
                <a:cs typeface="Amiri" pitchFamily="2" charset="-78"/>
              </a:rPr>
              <a:t> …), why (</a:t>
            </a:r>
            <a:pPr algn="l" indent="0" marL="0">
              <a:buNone/>
            </a:pPr>
            <a:r>
              <a:rPr lang="ar-SA" altLang="en-US" sz="1800" dirty="0">
                <a:solidFill>
                  <a:srgbClr val="C6D2E6"/>
                </a:solidFill>
                <a:latin typeface="Amiri" pitchFamily="2" charset="-78"/>
                <a:ea typeface="Amiri" pitchFamily="2" charset="-78"/>
                <a:cs typeface="Amiri" pitchFamily="2" charset="-78"/>
              </a:rPr>
              <a:t>لِكَيْ</a:t>
            </a:r>
            <a:pPr algn="l" indent="0" marL="0">
              <a:buNone/>
            </a:pPr>
            <a:r>
              <a:rPr lang="en-US" sz="1400" dirty="0">
                <a:solidFill>
                  <a:srgbClr val="C6D2E6"/>
                </a:solidFill>
                <a:latin typeface="Calibri" pitchFamily="34" charset="0"/>
                <a:cs typeface="Amiri" pitchFamily="2" charset="-78"/>
              </a:rPr>
              <a:t> …) — with the verb in -a after </a:t>
            </a:r>
            <a:pPr algn="l" indent="0" marL="0">
              <a:buNone/>
            </a:pPr>
            <a:r>
              <a:rPr lang="ar-SA" altLang="en-US" sz="1800" dirty="0">
                <a:solidFill>
                  <a:srgbClr val="C6D2E6"/>
                </a:solidFill>
                <a:latin typeface="Amiri" pitchFamily="2" charset="-78"/>
                <a:ea typeface="Amiri" pitchFamily="2" charset="-78"/>
                <a:cs typeface="Amiri" pitchFamily="2" charset="-78"/>
              </a:rPr>
              <a:t>أَنْ / لِكَيْ</a:t>
            </a:r>
            <a:pPr algn="l" indent="0" marL="0">
              <a:buNone/>
            </a:pPr>
            <a:r>
              <a:rPr lang="en-US" sz="1400" dirty="0">
                <a:solidFill>
                  <a:srgbClr val="C6D2E6"/>
                </a:solidFill>
                <a:latin typeface="Calibri" pitchFamily="34" charset="0"/>
                <a:cs typeface="Amiri" pitchFamily="2" charset="-78"/>
              </a:rPr>
              <a:t>, and the -ūna → -ū change for “they / you all”.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D4-L04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Solutions, “we” verbs, should / must / in order to — and the -a ending.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practical solutions.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إِعَادَةُ التَّدْوِيرِ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energy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recycling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 planting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should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يُؤَدِّي التَّلَوُّثُ</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أَمْرَاضٍ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يَقْطَعُونَ الأَشْجَارَ.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قَطَعْنَا الأَشْجَارَ.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سَأَدْرُسُ بِجِدٍّ لِكَيْ</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إِعَادَةُ التَّدْوِيرِ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renewable energy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recycling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 planting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should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leads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of</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يُؤَدِّي التَّلَوُّثُ</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أَمْرَاضٍ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يَقْطَعُونَ الأَشْجَارَ.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قَطَعْنَا الأَشْجَارَ.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تُقْطَعُ الأَشْجَارُ.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D4-L03: tu-…-a-.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سَأَدْرُسُ بِجِدٍّ لِكَيْ</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li-kay +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Problem → solution: we should …, the government must …, in order to … — verb in -a every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يَنْبَغِي أَنْ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نُقَلِّلَ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يَجِبُ عَلَى الحُكُومَةِ أَنْ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تَسْتَثْمِرَ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لِكَيْ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نَحْمِيَ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البِيئَةَ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practical environmental solutions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advice with </a:t>
            </a:r>
            <a:pPr algn="l" indent="0" marL="0">
              <a:buNone/>
            </a:pPr>
            <a:r>
              <a:rPr lang="ar-SA" altLang="en-US" sz="1700" dirty="0">
                <a:solidFill>
                  <a:srgbClr val="1F2A37"/>
                </a:solidFill>
                <a:latin typeface="Amiri" pitchFamily="2" charset="-78"/>
                <a:ea typeface="Amiri" pitchFamily="2" charset="-78"/>
                <a:cs typeface="Amiri" pitchFamily="2" charset="-78"/>
              </a:rPr>
              <a:t>يَنْبَغِي أَنْ</a:t>
            </a:r>
            <a:pPr algn="l" indent="0" marL="0">
              <a:buNone/>
            </a:pPr>
            <a:r>
              <a:rPr lang="en-US" sz="1300" dirty="0">
                <a:solidFill>
                  <a:srgbClr val="1F2A37"/>
                </a:solidFill>
                <a:latin typeface="Calibri" pitchFamily="34" charset="0"/>
                <a:cs typeface="Amiri" pitchFamily="2" charset="-78"/>
              </a:rPr>
              <a:t> +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who must act with </a:t>
            </a:r>
            <a:pPr algn="l" indent="0" marL="0">
              <a:buNone/>
            </a:pPr>
            <a:r>
              <a:rPr lang="ar-SA" altLang="en-US" sz="1700" dirty="0">
                <a:solidFill>
                  <a:srgbClr val="1F2A37"/>
                </a:solidFill>
                <a:latin typeface="Amiri" pitchFamily="2" charset="-78"/>
                <a:ea typeface="Amiri" pitchFamily="2" charset="-78"/>
                <a:cs typeface="Amiri" pitchFamily="2" charset="-78"/>
              </a:rPr>
              <a:t>يَجِبُ عَلَى … أَنْ</a:t>
            </a:r>
            <a:pPr algn="l" indent="0" marL="0">
              <a:buNone/>
            </a:pPr>
            <a:r>
              <a:rPr lang="en-US" sz="1300" dirty="0">
                <a:solidFill>
                  <a:srgbClr val="1F2A37"/>
                </a:solidFill>
                <a:latin typeface="Calibri" pitchFamily="34" charset="0"/>
                <a:cs typeface="Amiri" pitchFamily="2" charset="-78"/>
              </a:rPr>
              <a:t> and why with </a:t>
            </a:r>
            <a:pPr algn="l" indent="0" marL="0">
              <a:buNone/>
            </a:pPr>
            <a:r>
              <a:rPr lang="ar-SA" altLang="en-US" sz="1700" dirty="0">
                <a:solidFill>
                  <a:srgbClr val="1F2A37"/>
                </a:solidFill>
                <a:latin typeface="Amiri" pitchFamily="2" charset="-78"/>
                <a:ea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Propose and evaluate solutions to one problem.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we should do.</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must act and why.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li-kay with the verb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share responsibility between people and government.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a limitation of a solution.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Environmental solutions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obligation and purpose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‎طاقت‎ </a:t>
            </a:r>
            <a:pPr indent="0" marL="0">
              <a:buNone/>
            </a:pPr>
            <a:r>
              <a:rPr lang="en-US" sz="950" b="1" dirty="0">
                <a:solidFill>
                  <a:srgbClr val="2E8B57"/>
                </a:solidFill>
                <a:latin typeface="Calibri" pitchFamily="34" charset="0"/>
                <a:cs typeface="Amiri" pitchFamily="2" charset="-78"/>
              </a:rPr>
              <a:t> tāqat · Urdu: strength · Arabic: energy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 </a:t>
            </a:r>
            <a:pPr indent="0" marL="0">
              <a:buNone/>
            </a:pPr>
            <a:r>
              <a:rPr lang="en-US" sz="950" b="1" dirty="0">
                <a:solidFill>
                  <a:srgbClr val="2E8B57"/>
                </a:solidFill>
                <a:latin typeface="Calibri" pitchFamily="34" charset="0"/>
                <a:cs typeface="Amiri" pitchFamily="2" charset="-78"/>
              </a:rPr>
              <a:t> hal · solution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حُكُومَةٌ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‎حکومت‎ </a:t>
            </a:r>
            <a:pPr indent="0" marL="0">
              <a:buNone/>
            </a:pPr>
            <a:r>
              <a:rPr lang="en-US" sz="950" b="1" dirty="0">
                <a:solidFill>
                  <a:srgbClr val="2E8B57"/>
                </a:solidFill>
                <a:latin typeface="Calibri" pitchFamily="34" charset="0"/>
                <a:cs typeface="Amiri" pitchFamily="2" charset="-78"/>
              </a:rPr>
              <a:t> hukūmat · government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ضَرُورِيٌّ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‎ضروری‎ </a:t>
            </a:r>
            <a:pPr indent="0" marL="0">
              <a:buNone/>
            </a:pPr>
            <a:r>
              <a:rPr lang="en-US" sz="950" b="1" dirty="0">
                <a:solidFill>
                  <a:srgbClr val="2E8B57"/>
                </a:solidFill>
                <a:latin typeface="Calibri" pitchFamily="34" charset="0"/>
                <a:cs typeface="Amiri" pitchFamily="2" charset="-78"/>
              </a:rPr>
              <a:t> zarūrī · necessary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اسْتِعْمَالٌ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‎استعمال‎ </a:t>
            </a:r>
            <a:pPr indent="0" marL="0">
              <a:buNone/>
            </a:pPr>
            <a:r>
              <a:rPr lang="en-US" sz="950" b="1" dirty="0">
                <a:solidFill>
                  <a:srgbClr val="2E8B57"/>
                </a:solidFill>
                <a:latin typeface="Calibri" pitchFamily="34" charset="0"/>
                <a:cs typeface="Amiri" pitchFamily="2" charset="-78"/>
              </a:rPr>
              <a:t> istiʿmāl · 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التَّدْوِيرِ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recycling</a:t>
            </a:r>
            <a:endParaRPr lang="en-US" sz="1350" dirty="0"/>
          </a:p>
          <a:p>
            <a:pPr indent="0" marL="0">
              <a:buNone/>
            </a:pPr>
            <a:r>
              <a:rPr lang="en-US" sz="1100" i="1" dirty="0">
                <a:solidFill>
                  <a:srgbClr val="5A6472"/>
                </a:solidFill>
                <a:latin typeface="Calibri" pitchFamily="34" charset="0"/>
                <a:cs typeface="Amiri" pitchFamily="2" charset="-78"/>
              </a:rPr>
              <a:t>i-ʿā-da-tu at-tad-wī-ri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المُتَجَدِّدَةُ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renewable energy</a:t>
            </a:r>
            <a:endParaRPr lang="en-US" sz="1350" dirty="0"/>
          </a:p>
          <a:p>
            <a:pPr indent="0" marL="0">
              <a:buNone/>
            </a:pPr>
            <a:r>
              <a:rPr lang="en-US" sz="1100" i="1" dirty="0">
                <a:solidFill>
                  <a:srgbClr val="5A6472"/>
                </a:solidFill>
                <a:latin typeface="Calibri" pitchFamily="34" charset="0"/>
                <a:cs typeface="Amiri" pitchFamily="2" charset="-78"/>
              </a:rPr>
              <a:t>aṭ-ṭā-qa-tu al-mu-ta-jad-di-da-tu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الشَّمْسِيَّةُ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aṭ-ṭā-qa-tu ash-sham-siy-ya-tu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طَاقَةُ الرِّيَاحِ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 energy</a:t>
            </a:r>
            <a:endParaRPr lang="en-US" sz="1350" dirty="0"/>
          </a:p>
          <a:p>
            <a:pPr indent="0" marL="0">
              <a:buNone/>
            </a:pPr>
            <a:r>
              <a:rPr lang="en-US" sz="1100" i="1" dirty="0">
                <a:solidFill>
                  <a:srgbClr val="5A6472"/>
                </a:solidFill>
                <a:latin typeface="Calibri" pitchFamily="34" charset="0"/>
                <a:cs typeface="Amiri" pitchFamily="2" charset="-78"/>
              </a:rPr>
              <a:t>ṭā-qa-tu ar-ri-yā-ḥi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التَّشْجِيرُ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afforestation / tree planting</a:t>
            </a:r>
            <a:endParaRPr lang="en-US" sz="1350" dirty="0"/>
          </a:p>
          <a:p>
            <a:pPr indent="0" marL="0">
              <a:buNone/>
            </a:pPr>
            <a:r>
              <a:rPr lang="en-US" sz="1100" i="1" dirty="0">
                <a:solidFill>
                  <a:srgbClr val="5A6472"/>
                </a:solidFill>
                <a:latin typeface="Calibri" pitchFamily="34" charset="0"/>
                <a:cs typeface="Amiri" pitchFamily="2" charset="-78"/>
              </a:rPr>
              <a:t>at-tash-jī-ru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تَرْشِيدُ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conservation</a:t>
            </a:r>
            <a:endParaRPr lang="en-US" sz="1350" dirty="0"/>
          </a:p>
          <a:p>
            <a:pPr indent="0" marL="0">
              <a:buNone/>
            </a:pPr>
            <a:r>
              <a:rPr lang="en-US" sz="1100" i="1" dirty="0">
                <a:solidFill>
                  <a:srgbClr val="5A6472"/>
                </a:solidFill>
                <a:latin typeface="Calibri" pitchFamily="34" charset="0"/>
                <a:cs typeface="Amiri" pitchFamily="2" charset="-78"/>
              </a:rPr>
              <a:t>tar-shī-du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تَقْلِيلُ الاسْتِهْلَاكِ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reducing consumption</a:t>
            </a:r>
            <a:endParaRPr lang="en-US" sz="1350" dirty="0"/>
          </a:p>
          <a:p>
            <a:pPr indent="0" marL="0">
              <a:buNone/>
            </a:pPr>
            <a:r>
              <a:rPr lang="en-US" sz="1100" i="1" dirty="0">
                <a:solidFill>
                  <a:srgbClr val="5A6472"/>
                </a:solidFill>
                <a:latin typeface="Calibri" pitchFamily="34" charset="0"/>
                <a:cs typeface="Amiri" pitchFamily="2" charset="-78"/>
              </a:rPr>
              <a:t>taq-lī-lu als-tih-lā-ki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النَّقْلُ العَامُّ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an-naq-lu al-ʿām-mu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التَّوْعِيَةُ البِيئِيَّةُ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environmental awareness</a:t>
            </a:r>
            <a:endParaRPr lang="en-US" sz="1350" dirty="0"/>
          </a:p>
          <a:p>
            <a:pPr indent="0" marL="0">
              <a:buNone/>
            </a:pPr>
            <a:r>
              <a:rPr lang="en-US" sz="1100" i="1" dirty="0">
                <a:solidFill>
                  <a:srgbClr val="5A6472"/>
                </a:solidFill>
                <a:latin typeface="Calibri" pitchFamily="34" charset="0"/>
                <a:cs typeface="Amiri" pitchFamily="2" charset="-78"/>
              </a:rPr>
              <a:t>at-taw-ʿi-ya-tu al-bī-ʾiy-ya-tu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التَّنْمِيَةُ المُسْتَدَامَةُ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development</a:t>
            </a:r>
            <a:endParaRPr lang="en-US" sz="1350" dirty="0"/>
          </a:p>
          <a:p>
            <a:pPr indent="0" marL="0">
              <a:buNone/>
            </a:pPr>
            <a:r>
              <a:rPr lang="en-US" sz="1100" i="1" dirty="0">
                <a:solidFill>
                  <a:srgbClr val="5A6472"/>
                </a:solidFill>
                <a:latin typeface="Calibri" pitchFamily="34" charset="0"/>
                <a:cs typeface="Amiri" pitchFamily="2" charset="-78"/>
              </a:rPr>
              <a:t>at-tan-mi-ya-tu al-mus-ta-dā-ma-tu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نُقَلِّلُ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reduce</a:t>
            </a:r>
            <a:endParaRPr lang="en-US" sz="1350" dirty="0"/>
          </a:p>
          <a:p>
            <a:pPr indent="0" marL="0">
              <a:buNone/>
            </a:pPr>
            <a:r>
              <a:rPr lang="en-US" sz="1100" i="1" dirty="0">
                <a:solidFill>
                  <a:srgbClr val="5A6472"/>
                </a:solidFill>
                <a:latin typeface="Calibri" pitchFamily="34" charset="0"/>
                <a:cs typeface="Amiri" pitchFamily="2" charset="-78"/>
              </a:rPr>
              <a:t>nu-qal-li-lu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يُقَلِّلُونَ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نُقَلِّلُ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نُوَفِّرُ</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conserve / save</a:t>
            </a:r>
            <a:endParaRPr lang="en-US" sz="1350" dirty="0"/>
          </a:p>
          <a:p>
            <a:pPr indent="0" marL="0">
              <a:buNone/>
            </a:pPr>
            <a:r>
              <a:rPr lang="en-US" sz="1100" i="1" dirty="0">
                <a:solidFill>
                  <a:srgbClr val="5A6472"/>
                </a:solidFill>
                <a:latin typeface="Calibri" pitchFamily="34" charset="0"/>
                <a:cs typeface="Amiri" pitchFamily="2" charset="-78"/>
              </a:rPr>
              <a:t>nu-waf-fi-ru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يُوَفِّرُونَ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أُوَفِّرُ</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نُوَفِّرُ</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2" name="Shape 4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نَزْرَعُ</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plant</a:t>
            </a:r>
            <a:endParaRPr lang="en-US" sz="1350" dirty="0"/>
          </a:p>
          <a:p>
            <a:pPr indent="0" marL="0">
              <a:buNone/>
            </a:pPr>
            <a:r>
              <a:rPr lang="en-US" sz="1100" i="1" dirty="0">
                <a:solidFill>
                  <a:srgbClr val="5A6472"/>
                </a:solidFill>
                <a:latin typeface="Calibri" pitchFamily="34" charset="0"/>
                <a:cs typeface="Amiri" pitchFamily="2" charset="-78"/>
              </a:rPr>
              <a:t>naz-ra-ʿu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يَزْرَعُونَ</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أَزْرَعُ</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نَزْرَعُ</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0" name="Shape 6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نُعِيدُ التَّدْوِيرَ</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recycle</a:t>
            </a:r>
            <a:endParaRPr lang="en-US" sz="1350" dirty="0"/>
          </a:p>
          <a:p>
            <a:pPr indent="0" marL="0">
              <a:buNone/>
            </a:pPr>
            <a:r>
              <a:rPr lang="en-US" sz="1100" i="1" dirty="0">
                <a:solidFill>
                  <a:srgbClr val="5A6472"/>
                </a:solidFill>
                <a:latin typeface="Calibri" pitchFamily="34" charset="0"/>
                <a:cs typeface="Amiri" pitchFamily="2" charset="-78"/>
              </a:rPr>
              <a:t>nu-ʿī-du at-tad-wī-ra</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8" name="Text 75"/>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يُعِيدُونَ</a:t>
            </a:r>
            <a:endParaRPr lang="ar-SA" sz="135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أُعِيدُ</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نُعِيدُ</a:t>
            </a:r>
            <a:endParaRPr lang="ar-SA" sz="15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نَسْتَخْدِمُ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use</a:t>
            </a:r>
            <a:endParaRPr lang="en-US" sz="1350" dirty="0"/>
          </a:p>
          <a:p>
            <a:pPr indent="0" marL="0">
              <a:buNone/>
            </a:pPr>
            <a:r>
              <a:rPr lang="en-US" sz="1100" i="1" dirty="0">
                <a:solidFill>
                  <a:srgbClr val="5A6472"/>
                </a:solidFill>
                <a:latin typeface="Calibri" pitchFamily="34" charset="0"/>
                <a:cs typeface="Amiri" pitchFamily="2" charset="-78"/>
              </a:rPr>
              <a:t>nas-takh-di-mu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يَسْتَخْدِمُونَ</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أَسْتَخْدِمُ</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نَسْتَخْدِمُ</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4" name="Shape 31"/>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نَسْتَثْمِرُ فِي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invest in</a:t>
            </a:r>
            <a:endParaRPr lang="en-US" sz="1350" dirty="0"/>
          </a:p>
          <a:p>
            <a:pPr indent="0" marL="0">
              <a:buNone/>
            </a:pPr>
            <a:r>
              <a:rPr lang="en-US" sz="1100" i="1" dirty="0">
                <a:solidFill>
                  <a:srgbClr val="5A6472"/>
                </a:solidFill>
                <a:latin typeface="Calibri" pitchFamily="34" charset="0"/>
                <a:cs typeface="Amiri" pitchFamily="2" charset="-78"/>
              </a:rPr>
              <a:t>nas-tath-mi-ru fī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يَسْتَثْمِرُونَ</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أَسْتَثْمِرُ</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نَسْتَثْمِرُ</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نَتَخَلَّصُ مِنْ</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get rid of</a:t>
            </a:r>
            <a:endParaRPr lang="en-US" sz="1350" dirty="0"/>
          </a:p>
          <a:p>
            <a:pPr indent="0" marL="0">
              <a:buNone/>
            </a:pPr>
            <a:r>
              <a:rPr lang="en-US" sz="1100" i="1" dirty="0">
                <a:solidFill>
                  <a:srgbClr val="5A6472"/>
                </a:solidFill>
                <a:latin typeface="Calibri" pitchFamily="34" charset="0"/>
                <a:cs typeface="Amiri" pitchFamily="2" charset="-78"/>
              </a:rPr>
              <a:t>na-ta-khal-la-ṣu min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نَتَبَنَّى</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adopt</a:t>
            </a:r>
            <a:endParaRPr lang="en-US" sz="1350" dirty="0"/>
          </a:p>
          <a:p>
            <a:pPr indent="0" marL="0">
              <a:buNone/>
            </a:pPr>
            <a:r>
              <a:rPr lang="en-US" sz="1100" i="1" dirty="0">
                <a:solidFill>
                  <a:srgbClr val="5A6472"/>
                </a:solidFill>
                <a:latin typeface="Calibri" pitchFamily="34" charset="0"/>
                <a:cs typeface="Amiri" pitchFamily="2" charset="-78"/>
              </a:rPr>
              <a:t>na-ta-ban-nā</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obligation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يَنْبَغِي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عَلَى ...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 must</a:t>
            </a:r>
            <a:endParaRPr lang="en-US" sz="1350" dirty="0"/>
          </a:p>
          <a:p>
            <a:pPr indent="0" marL="0">
              <a:buNone/>
            </a:pPr>
            <a:r>
              <a:rPr lang="en-US" sz="1100" i="1" dirty="0">
                <a:solidFill>
                  <a:srgbClr val="5A6472"/>
                </a:solidFill>
                <a:latin typeface="Calibri" pitchFamily="34" charset="0"/>
                <a:cs typeface="Amiri" pitchFamily="2" charset="-78"/>
              </a:rPr>
              <a:t>ya-ji-bu ʿa-lā ...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يُمْكِنُ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possible to</a:t>
            </a:r>
            <a:endParaRPr lang="en-US" sz="1350" dirty="0"/>
          </a:p>
          <a:p>
            <a:pPr indent="0" marL="0">
              <a:buNone/>
            </a:pPr>
            <a:r>
              <a:rPr lang="en-US" sz="1100" i="1" dirty="0">
                <a:solidFill>
                  <a:srgbClr val="5A6472"/>
                </a:solidFill>
                <a:latin typeface="Calibri" pitchFamily="34" charset="0"/>
                <a:cs typeface="Amiri" pitchFamily="2" charset="-78"/>
              </a:rPr>
              <a:t>yum-ki-nu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الضَّرُورِيِّ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to</a:t>
            </a:r>
            <a:endParaRPr lang="en-US" sz="1350" dirty="0"/>
          </a:p>
          <a:p>
            <a:pPr indent="0" marL="0">
              <a:buNone/>
            </a:pPr>
            <a:r>
              <a:rPr lang="en-US" sz="1100" i="1" dirty="0">
                <a:solidFill>
                  <a:srgbClr val="5A6472"/>
                </a:solidFill>
                <a:latin typeface="Calibri" pitchFamily="34" charset="0"/>
                <a:cs typeface="Amiri" pitchFamily="2" charset="-78"/>
              </a:rPr>
              <a:t>mi-na aḍ-ḍa-rū-riy-yi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المَدَى الطَّوِيلِ</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al-ma-dā aṭ-ṭa-wī-li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1 · SHOULD / MUST / IN ORDER TO (WEBSITE RULES 1–3)</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After an and li-kay: the verb ends in -a</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 · لِكَيْ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should: yanbaghī an + -a</a:t>
            </a:r>
            <a:endParaRPr lang="en-US" sz="1100" dirty="0"/>
          </a:p>
        </p:txBody>
      </p:sp>
      <p:sp>
        <p:nvSpPr>
          <p:cNvPr id="20" name="Text 17"/>
          <p:cNvSpPr txBox="1"/>
          <p:nvPr/>
        </p:nvSpPr>
        <p:spPr>
          <a:xfrm>
            <a:off x="548640" y="2286000"/>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2100" b="1" dirty="0">
                <a:solidFill>
                  <a:srgbClr val="1D5FBF"/>
                </a:solidFill>
                <a:latin typeface="Amiri" pitchFamily="2" charset="-78"/>
                <a:ea typeface="Amiri" pitchFamily="2" charset="-78"/>
                <a:cs typeface="Amiri" pitchFamily="2" charset="-78"/>
              </a:rPr>
              <a:t>نُقَلِّلَ</a:t>
            </a:r>
            <a:pPr rtl="1" algn="ctr" indent="0" marL="0">
              <a:buNone/>
            </a:pPr>
            <a:r>
              <a:rPr lang="ar-SA" altLang="en-US" sz="2100" b="1" dirty="0">
                <a:solidFill>
                  <a:srgbClr val="1B3B6F"/>
                </a:solidFill>
                <a:latin typeface="Amiri" pitchFamily="2" charset="-78"/>
                <a:ea typeface="Amiri" pitchFamily="2" charset="-78"/>
                <a:cs typeface="Amiri" pitchFamily="2" charset="-78"/>
              </a:rPr>
              <a:t> اسْتِخْدَامَ البِلَاسْتِيكِ.</a:t>
            </a:r>
            <a:endParaRPr lang="ar-SA" sz="2100" dirty="0"/>
          </a:p>
        </p:txBody>
      </p:sp>
      <p:sp>
        <p:nvSpPr>
          <p:cNvPr id="21" name="Text 18"/>
          <p:cNvSpPr txBox="1"/>
          <p:nvPr/>
        </p:nvSpPr>
        <p:spPr>
          <a:xfrm>
            <a:off x="502920" y="2706624"/>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should reduce plastic use.</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yajibu ʿalā + WHO + an</a:t>
            </a:r>
            <a:endParaRPr lang="en-US" sz="1100" dirty="0"/>
          </a:p>
        </p:txBody>
      </p:sp>
      <p:sp>
        <p:nvSpPr>
          <p:cNvPr id="26" name="Text 23"/>
          <p:cNvSpPr txBox="1"/>
          <p:nvPr/>
        </p:nvSpPr>
        <p:spPr>
          <a:xfrm>
            <a:off x="548640" y="3072384"/>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a:t>
            </a:r>
            <a:pPr rtl="1" algn="ctr" indent="0" marL="0">
              <a:buNone/>
            </a:pPr>
            <a:r>
              <a:rPr lang="ar-SA" altLang="en-US" sz="2100" b="1" dirty="0">
                <a:solidFill>
                  <a:srgbClr val="D6336C"/>
                </a:solidFill>
                <a:latin typeface="Amiri" pitchFamily="2" charset="-78"/>
                <a:ea typeface="Amiri" pitchFamily="2" charset="-78"/>
                <a:cs typeface="Amiri" pitchFamily="2" charset="-78"/>
              </a:rPr>
              <a:t>عَلَى الحُكُومَةِ</a:t>
            </a:r>
            <a:pPr rtl="1" algn="ctr" indent="0" marL="0">
              <a:buNone/>
            </a:pPr>
            <a:r>
              <a:rPr lang="ar-SA" altLang="en-US" sz="2100" b="1" dirty="0">
                <a:solidFill>
                  <a:srgbClr val="1B3B6F"/>
                </a:solidFill>
                <a:latin typeface="Amiri" pitchFamily="2" charset="-78"/>
                <a:ea typeface="Amiri" pitchFamily="2" charset="-78"/>
                <a:cs typeface="Amiri" pitchFamily="2" charset="-78"/>
              </a:rPr>
              <a:t> أَنْ </a:t>
            </a:r>
            <a:pPr rtl="1" algn="ctr" indent="0" marL="0">
              <a:buNone/>
            </a:pPr>
            <a:r>
              <a:rPr lang="ar-SA" altLang="en-US" sz="2100" b="1" dirty="0">
                <a:solidFill>
                  <a:srgbClr val="1D5FBF"/>
                </a:solidFill>
                <a:latin typeface="Amiri" pitchFamily="2" charset="-78"/>
                <a:ea typeface="Amiri" pitchFamily="2" charset="-78"/>
                <a:cs typeface="Amiri" pitchFamily="2" charset="-78"/>
              </a:rPr>
              <a:t>تَسْتَثْمِرَ</a:t>
            </a:r>
            <a:pPr rtl="1" algn="ctr" indent="0" marL="0">
              <a:buNone/>
            </a:pPr>
            <a:r>
              <a:rPr lang="ar-SA" altLang="en-US" sz="2100" b="1" dirty="0">
                <a:solidFill>
                  <a:srgbClr val="1B3B6F"/>
                </a:solidFill>
                <a:latin typeface="Amiri" pitchFamily="2" charset="-78"/>
                <a:ea typeface="Amiri" pitchFamily="2" charset="-78"/>
                <a:cs typeface="Amiri" pitchFamily="2" charset="-78"/>
              </a:rPr>
              <a:t> فِي الطَّاقَةِ المُتَجَدِّدَةِ.</a:t>
            </a:r>
            <a:endParaRPr lang="ar-SA" sz="2100" dirty="0"/>
          </a:p>
        </p:txBody>
      </p:sp>
      <p:sp>
        <p:nvSpPr>
          <p:cNvPr id="27" name="Text 24"/>
          <p:cNvSpPr txBox="1"/>
          <p:nvPr/>
        </p:nvSpPr>
        <p:spPr>
          <a:xfrm>
            <a:off x="502920" y="3493008"/>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government must invest in renewable energy.</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li-kay + -a</a:t>
            </a:r>
            <a:endParaRPr lang="en-US" sz="1100" dirty="0"/>
          </a:p>
        </p:txBody>
      </p:sp>
      <p:sp>
        <p:nvSpPr>
          <p:cNvPr id="32" name="Text 29"/>
          <p:cNvSpPr txBox="1"/>
          <p:nvPr/>
        </p:nvSpPr>
        <p:spPr>
          <a:xfrm>
            <a:off x="548640" y="3858768"/>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نَسْتَخْدِمُ النَّقْلَ العَامَّ </a:t>
            </a:r>
            <a:pPr rtl="1" algn="ctr" indent="0" marL="0">
              <a:buNone/>
            </a:pPr>
            <a:r>
              <a:rPr lang="ar-SA" altLang="en-US" sz="2100" b="1" dirty="0">
                <a:solidFill>
                  <a:srgbClr val="0E7C86"/>
                </a:solidFill>
                <a:latin typeface="Amiri" pitchFamily="2" charset="-78"/>
                <a:ea typeface="Amiri" pitchFamily="2" charset="-78"/>
                <a:cs typeface="Amiri" pitchFamily="2" charset="-78"/>
              </a:rPr>
              <a:t>لِكَيْ</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نُقَلِّلَ</a:t>
            </a:r>
            <a:pPr rtl="1" algn="ctr" indent="0" marL="0">
              <a:buNone/>
            </a:pPr>
            <a:r>
              <a:rPr lang="ar-SA" altLang="en-US" sz="2100" b="1" dirty="0">
                <a:solidFill>
                  <a:srgbClr val="1B3B6F"/>
                </a:solidFill>
                <a:latin typeface="Amiri" pitchFamily="2" charset="-78"/>
                <a:ea typeface="Amiri" pitchFamily="2" charset="-78"/>
                <a:cs typeface="Amiri" pitchFamily="2" charset="-78"/>
              </a:rPr>
              <a:t> الانْبِعَاثَاتِ.</a:t>
            </a:r>
            <a:endParaRPr lang="ar-SA" sz="2100" dirty="0"/>
          </a:p>
        </p:txBody>
      </p:sp>
      <p:sp>
        <p:nvSpPr>
          <p:cNvPr id="33" name="Text 30"/>
          <p:cNvSpPr txBox="1"/>
          <p:nvPr/>
        </p:nvSpPr>
        <p:spPr>
          <a:xfrm>
            <a:off x="502920" y="4279392"/>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use public transport to reduce emissions.</a:t>
            </a:r>
            <a:endParaRPr lang="en-US" sz="950" dirty="0"/>
          </a:p>
        </p:txBody>
      </p:sp>
      <p:sp>
        <p:nvSpPr>
          <p:cNvPr id="34" name="Shape 31"/>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7" name="Text 34"/>
          <p:cNvSpPr txBox="1"/>
          <p:nvPr/>
        </p:nvSpPr>
        <p:spPr>
          <a:xfrm>
            <a:off x="7516368" y="4626864"/>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possible: yumkinu an</a:t>
            </a:r>
            <a:endParaRPr lang="en-US" sz="1100" dirty="0"/>
          </a:p>
        </p:txBody>
      </p:sp>
      <p:sp>
        <p:nvSpPr>
          <p:cNvPr id="38" name="Text 35"/>
          <p:cNvSpPr txBox="1"/>
          <p:nvPr/>
        </p:nvSpPr>
        <p:spPr>
          <a:xfrm>
            <a:off x="548640" y="4645152"/>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يُمْكِنُ أَنْ </a:t>
            </a:r>
            <a:pPr rtl="1" algn="ctr" indent="0" marL="0">
              <a:buNone/>
            </a:pPr>
            <a:r>
              <a:rPr lang="ar-SA" altLang="en-US" sz="2100" b="1" dirty="0">
                <a:solidFill>
                  <a:srgbClr val="1D5FBF"/>
                </a:solidFill>
                <a:latin typeface="Amiri" pitchFamily="2" charset="-78"/>
                <a:ea typeface="Amiri" pitchFamily="2" charset="-78"/>
                <a:cs typeface="Amiri" pitchFamily="2" charset="-78"/>
              </a:rPr>
              <a:t>نَسْتَخْدِمَ</a:t>
            </a:r>
            <a:pPr rtl="1" algn="ctr" indent="0" marL="0">
              <a:buNone/>
            </a:pPr>
            <a:r>
              <a:rPr lang="ar-SA" altLang="en-US" sz="2100" b="1" dirty="0">
                <a:solidFill>
                  <a:srgbClr val="1B3B6F"/>
                </a:solidFill>
                <a:latin typeface="Amiri" pitchFamily="2" charset="-78"/>
                <a:ea typeface="Amiri" pitchFamily="2" charset="-78"/>
                <a:cs typeface="Amiri" pitchFamily="2" charset="-78"/>
              </a:rPr>
              <a:t> الطَّاقَةَ الشَّمْسِيَّةَ.</a:t>
            </a:r>
            <a:endParaRPr lang="ar-SA" sz="2100" dirty="0"/>
          </a:p>
        </p:txBody>
      </p:sp>
      <p:sp>
        <p:nvSpPr>
          <p:cNvPr id="39" name="Text 36"/>
          <p:cNvSpPr txBox="1"/>
          <p:nvPr/>
        </p:nvSpPr>
        <p:spPr>
          <a:xfrm>
            <a:off x="502920" y="5065776"/>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can use solar energy.</a:t>
            </a:r>
            <a:endParaRPr lang="en-US" sz="950" dirty="0"/>
          </a:p>
        </p:txBody>
      </p:sp>
      <p:sp>
        <p:nvSpPr>
          <p:cNvPr id="40" name="Text 3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nuqallilu → an nuqallila: only the final vowel changes (-u → -a).</a:t>
            </a:r>
            <a:endParaRPr lang="en-US" sz="11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THE FIVE VERBS (WEBSITE RULE 4)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They / you all: -ūna → -ū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الأَفْعَالُ الخَمْسَةُ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WE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نُعِيدُ → أَنْ نُعِيدَ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يَجِبُ أَنْ نُعِيدَ التَّدْوِيرَ.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recycle.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Only -u →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يُعِيدُونَ → أَنْ يُعِيدُوا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يَجِبُ عَلَى النَّاسِ أَنْ يُعِيدُوا التَّدْوِيرَ.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 must recycle.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 drops; alif is written.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YOU ALL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تُقَلِّلُونَ → أَنْ تُقَلِّلُوا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يَجِبُ عَلَيْكُمْ أَنْ تُقَلِّلُوا النُّفَايَاتِ.</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 (all) must reduce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Same rule for “you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five verbs lose -na after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أَنْ يُعِيدُوا التَّدْوِيرَ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أَنْ يُعِيدُونَ التَّدْوِيرَ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obligation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النُّصْحُ وَالوُجُوبُ وَالغَرَضُ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Advice with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يَنْبَغِي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يَجِبُ عَلَى</a:t>
            </a:r>
            <a:pPr algn="l" indent="0" marL="0">
              <a:buNone/>
            </a:pPr>
            <a:r>
              <a:rPr lang="en-US" sz="1050" dirty="0">
                <a:solidFill>
                  <a:srgbClr val="5A6472"/>
                </a:solidFill>
                <a:latin typeface="Calibri" pitchFamily="34" charset="0"/>
                <a:cs typeface="Amiri" pitchFamily="2" charset="-78"/>
              </a:rPr>
              <a:t> + noun +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Purpose with </a:t>
            </a:r>
            <a:pPr algn="l" indent="0" marL="0">
              <a:buNone/>
            </a:pPr>
            <a:r>
              <a:rPr lang="ar-SA" altLang="en-US" sz="1650" b="1" dirty="0">
                <a:solidFill>
                  <a:srgbClr val="1B3B6F"/>
                </a:solidFill>
                <a:latin typeface="Amiri" pitchFamily="2" charset="-78"/>
                <a:ea typeface="Amiri" pitchFamily="2" charset="-78"/>
                <a:cs typeface="Amiri" pitchFamily="2" charset="-78"/>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five verbs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قَلَّلْنَا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حَسَّنَّا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قَلَّلْنَا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 noun +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حَسَّنَّا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sound-ending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يمكن أن</a:t>
            </a:r>
            <a:pPr algn="l" indent="0" marL="0">
              <a:buNone/>
            </a:pPr>
            <a:r>
              <a:rPr lang="en-US" sz="1050" i="1" dirty="0">
                <a:solidFill>
                  <a:srgbClr val="8A6D1E"/>
                </a:solidFill>
                <a:latin typeface="Calibri" pitchFamily="34" charset="0"/>
                <a:cs typeface="Amiri" pitchFamily="2" charset="-78"/>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propose solutions to a school problem</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تُعَانِي مَدْرَسَتُنَا مِنْ زِيَادَةِ النُّفَايَاتِ.</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only.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 should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يَنْبَغِي أَنْ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نُقَلِّلَ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الأَكْيَاسَ البِلَاسْتِيكِيَّةَ.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must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يَجِبُ عَلَى الطُّلَّابِ أَنْ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يُعِيدُوا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التَّدْوِيرَ.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-ū (no -na).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نَسْتَخْدِمُ زُجَاجَاتٍ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لِكَيْ</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نُقَلِّلَ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النُّفَايَاتِ.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IN -a</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FIVE VERBS</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تُعَانِي مَدْرَسَتُنَا مِنْ زِيَادَةِ النُّفَايَاتِ البِلَاسْتِيكِيَّةِ. لِحَلِّ هٰذِهِ المُشْكِلَةِ، يَنْبَغِي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نُقَلِّلَ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اسْتِخْدَامَ الأَكْوَابِ وَالأَكْيَاسِ. وَيَجِبُ عَلَى الطُّلَّابِ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يُعِيدُوا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التَّدْوِيرَ، كَمَا يَجِبُ عَلَى الإِدَارَةِ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تُوَفِّرَ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حَاوِيَاتٍ مُنَاسِبَةً. وَيُمْكِنُ أَنْ نَسْتَخْدِمَ زُجَاجَاتٍ قَابِلَةً لِإِعَادَةِ الاسْتِخْدَامِ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لِكَيْ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نُقَلِّلَ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كَمِّيَّةَ البِلَاسْتِيكِ.</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Our school suffers from increasing plastic waste. To solve this problem, we should reduce the use of cups and bags. Students must recycle, and the administration must provide suitable bins. We can use reusable bottles in order to reduce the amount of plastic.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يَنْبَغِي أَنْ نُقَلِّلَ اسْتِخْدَامَ البِلَاسْتِيكِ.</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reduce the use of plastic.</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 sound-ending present verb changes its final ḍamma to fatḥa after أَنْ: نُقَلِّلُ → نُقَلِّلَ. It does not “lose a nūn”.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عَلَى الحُكُومَةِ أَنْ تَسْتَثْمِرَ فِي الطَّاقَةِ المُتَجَدِّدَةِ.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invest in renewable energy.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Name the responsible person or group after عَلَى.</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نَسْتَخْدِمُ النَّقْلَ العَامَّ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use public transport to reduce emissions.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لِكَيْ explains the intended purpose. A sound-ending verb takes fatḥa.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ENVIRONMENTAL SOLUTIONS — WHAT CAN BE DONE?”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What should we do?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الحَلُّ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bus · people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shower · tap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نَسْتَخْدِمَ النَّقْلَ العَامَّ.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نُوَفِّرَ المِيَاهَ.</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نُعِيدَ التَّدْوِيرَ.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الحَلُّ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نُعِيدَ التَّدْوِيرَ.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recycle.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bus · people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يَنْبَغِي أَنْ نَسْتَخْدِمَ النَّقْلَ العَامَّ.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use public transport.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shower · tap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يَنْبَغِي أَنْ نُوَفِّرَ المِيَاهَ.</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save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المُتَجَدِّدَةُ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الشَّمْسِيَّةُ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نُقَلِّلُ مِنْ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نُوَفِّرُ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المُتَجَدِّدَةُ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الشَّمْسِيَّةُ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نُقَلِّلُ مِنْ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نُوَفِّرُ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dirty="0">
                <a:solidFill>
                  <a:srgbClr val="1F2A37"/>
                </a:solidFill>
                <a:latin typeface="Amiri" pitchFamily="2" charset="-78"/>
                <a:ea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أَعَادُوا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b="1" dirty="0">
                <a:solidFill>
                  <a:srgbClr val="1F2A37"/>
                </a:solidFill>
                <a:latin typeface="Amiri" pitchFamily="2" charset="-78"/>
                <a:ea typeface="Amiri" pitchFamily="2" charset="-78"/>
                <a:cs typeface="Amiri" pitchFamily="2" charset="-78"/>
              </a:rPr>
              <a:t>أَنْ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أَعَادُوا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is omitted from </a:t>
            </a:r>
            <a:pPr algn="l" indent="0" marL="0">
              <a:buNone/>
            </a:pPr>
            <a:r>
              <a:rPr lang="ar-SA" altLang="en-US" sz="1350" dirty="0">
                <a:solidFill>
                  <a:srgbClr val="8A6D1E"/>
                </a:solidFill>
                <a:latin typeface="Amiri" pitchFamily="2" charset="-78"/>
                <a:ea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تقللون</a:t>
            </a:r>
            <a:pPr algn="l" indent="0" marL="0">
              <a:buNone/>
            </a:pPr>
            <a:r>
              <a:rPr lang="en-US" sz="1050" i="1" dirty="0">
                <a:solidFill>
                  <a:srgbClr val="8A6D1E"/>
                </a:solidFill>
                <a:latin typeface="Calibri" pitchFamily="34" charset="0"/>
                <a:cs typeface="Amiri" pitchFamily="2" charset="-78"/>
              </a:rPr>
              <a:t> is one of the five verbs;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it becomes </a:t>
            </a:r>
            <a:pPr algn="l" indent="0" marL="0">
              <a:buNone/>
            </a:pPr>
            <a:r>
              <a:rPr lang="ar-SA" altLang="en-US" sz="1350" dirty="0">
                <a:solidFill>
                  <a:srgbClr val="8A6D1E"/>
                </a:solidFill>
                <a:latin typeface="Amiri" pitchFamily="2" charset="-78"/>
                <a:ea typeface="Amiri" pitchFamily="2" charset="-78"/>
                <a:cs typeface="Amiri" pitchFamily="2" charset="-78"/>
              </a:rPr>
              <a:t>تقللوا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yuʿīdūna after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-u or -a?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نُقَلِّلُ</a:t>
            </a:r>
            <a:pPr algn="l" indent="0" marL="0">
              <a:buNone/>
            </a:pPr>
            <a:r>
              <a:rPr lang="en-US" sz="1150" b="1" dirty="0">
                <a:solidFill>
                  <a:srgbClr val="1B3B6F"/>
                </a:solidFill>
                <a:latin typeface="Calibri" pitchFamily="34" charset="0"/>
                <a:cs typeface="Amiri" pitchFamily="2" charset="-78"/>
              </a:rPr>
              <a:t> is a sound-ending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يعيدون</a:t>
            </a:r>
            <a:pPr algn="l" indent="0" marL="0">
              <a:buNone/>
            </a:pPr>
            <a:r>
              <a:rPr lang="en-US" sz="1150" b="1" dirty="0">
                <a:solidFill>
                  <a:srgbClr val="1B3B6F"/>
                </a:solidFill>
                <a:latin typeface="Calibri" pitchFamily="34" charset="0"/>
                <a:cs typeface="Amiri" pitchFamily="2" charset="-78"/>
              </a:rPr>
              <a:t> is one of the five verbs, so its nūn is omitted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نَسْتَخْدِمُ الطَّاقَةَ الشَّمْسِيَّةَ لِكَيْ نُقَلِّلَ الانْبِعَاثَاتِ.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البِلَاسْتِيكِ</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الوَرَقِ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الطَّاقَةِ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هُنَاكَ حُلُولٌ عَمَلِيَّةٌ لِحِمَايَةِ البِيئَةِ.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practical solutions to protect the environment.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نُقَلِّلَ اسْتِخْدَامَ البِلَاسْتِيكِ،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should reduce the use of plastic,</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وَيَجِبُ عَلَى المَدَارِسِ أَنْ تُعِيدَ تَدْوِيرَ الوَرَقِ.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schools must recycle paper.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يَجِبُ عَلَى الحُكُومَاتِ أَنْ تَسْتَثْمِرَ فِي الطَّاقَةِ الشَّمْسِيَّةِ وَطَاقَةِ الرِّيَاحِ.</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also invest in solar and wind energy.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وَيُمْكِنُ لِلأُسَرِ أَنْ تُرَشِّدَ المَاءَ لِكَيْ تَحْمِيَ المَوَارِدَ الطَّبِيعِيَّةَ.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families can save water in order to protect natural resources.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البِلَاسْتِيكِ</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الوَرَقِ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الطَّاقَةِ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يَنْبَغِي أَنْ نَفْعَلَ؟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يَجِبُ عَلَى الحُكُومَةِ أَنْ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حَلٍّ أَكْثَرُ فَعَالِيَّةً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يَنْبَغِي أَنْ نُقَلِّلَ / نَزْرَعَ / نُعِيدَ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عَلَى الحُكُومَةِ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فِي رَأْيِي، ___ أَكْثَرُ فَعَالِيَّةً لِأَنَّ ___ ، وَلٰكِنَّ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يَجِبُ عَلَى المَدْرَسَةِ أَنْ تَفْعَلَ؟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must the school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يَجِبُ عَلَى المَدْرَسَةِ أَنْ تَضَعَ حَاوِيَاتٍ لِإِعَادَةِ التَّدْوِيرِ، وَأَنْ تُنَظِّمَ حَمْلَةً لِكَيْ تُقَلِّلَ النُّفَايَاتِ.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school must put out recycling bins and organise a campaign in order to reduce waste.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problem + three solutions with yanbaghī an / yajibu an + verb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Solutions with who must act (ʿalā …) and why (li-kay).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individual + government responsibility, a limitation, and a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الطُّلَّابِ أَنْ يُعِيدُوا التَّدْوِيرَ.</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must recycle.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لِكَيْ نَحْمِيَ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order to protect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مِنْ عُيُوبِ هٰذَا الحَلِّ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one limitation is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تُعَانِي مَدْرَسَتُنَا / مَدِينَتُنَا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school / town suffers from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نُقَلِّلَ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reduce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نَزْرَعَ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plant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نَسْتَخْدِمَ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can 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إِعَادَةُ التَّدْوِيرِ  ·  الطَّاقَةُ الشَّمْسِيَّةُ  ·  التَّشْجِيرُ  ·  النَّقْلُ العَامُّ  ·  نُقَلِّلَ  ·  نَزْرَعَ  ·  نُعِيدَ  ·  نَسْتَخْدِمَ  ·  يَنْبَغِي أَنْ  ·  يَجِبُ عَلَى … أَنْ  ·  لِكَيْ  ·  مِنَ الضَّرُورِيِّ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ينبغي أن</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يجب على</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لِحَلِّ هٰذِهِ المُشْكِلَةِ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solve this problem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حَمْلَةُ تَوْعِيَةٍ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awareness campaign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قَابِلَةٌ لِإِعَادَةِ الاسْتِخْدَامِ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reusable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moreover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عَمَلِيَّةٌ وَقَابِلَةٌ لِلتَّطْبِيقِ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practical and feasible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suffers from increasing plastic waste. To solve this problem, we should reduce the use of single-use cups and bags. Students must recycle, and the administration must provide suitable bins. We can use reusable bottles in order to reduce the amount of plastic. Moreover, it is necessary to spread environmental awareness. In my opinion, these steps are practical and feasible.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yanbaghī an + -a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yajibu ʿalā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five-verb form (-ū)</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 li-kay my verbs end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three solutions.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who must act (ʿalā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They / you all: -ū without -na.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evaluated a limitation.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loses a final nūn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نُحَسِّنَ الهَوَاءَ.</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بِسَبَبِ الهَوَاءِ.</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نَتِيجَةً لِلهَوَاءِ.</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sound-ending verb takes fatḥa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loses a final nūn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نَزْرَعَ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يُعِيدُوا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نُقَلِّلَ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is one of the five verbs and becomes </a:t>
            </a:r>
            <a:pPr algn="l" indent="0" marL="0">
              <a:buNone/>
            </a:pPr>
            <a:r>
              <a:rPr lang="ar-SA" altLang="en-US" sz="1350" dirty="0">
                <a:solidFill>
                  <a:srgbClr val="8A6D1E"/>
                </a:solidFill>
                <a:latin typeface="Amiri" pitchFamily="2" charset="-78"/>
                <a:ea typeface="Amiri" pitchFamily="2" charset="-78"/>
                <a:cs typeface="Amiri" pitchFamily="2" charset="-78"/>
              </a:rPr>
              <a:t>يعيدوا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نَزْرَعُ الأَشْجَارَ لِكَيْ نُحَسِّنَ الهَوَاءَ.</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بِسَبَبِ الهَوَاءِ.</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نَتِيجَةً لِلهَوَاءِ.</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purpose.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الأَغْلِفَةَ البِلَاسْتِيكِيَّةَ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plastic 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نَضَعَ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put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حَاوِيَاتٍ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bins, containers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يَفْصِلُوا … عَنِ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separate … from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الإِدَارَةِ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administration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names </a:t>
            </a:r>
            <a:pPr algn="l" indent="0" marL="0">
              <a:buNone/>
            </a:pPr>
            <a:r>
              <a:rPr lang="ar-SA" altLang="en-US" sz="1350" dirty="0">
                <a:solidFill>
                  <a:srgbClr val="8A6D1E"/>
                </a:solidFill>
                <a:latin typeface="Amiri" pitchFamily="2" charset="-78"/>
                <a:ea typeface="Amiri" pitchFamily="2" charset="-78"/>
                <a:cs typeface="Amiri" pitchFamily="2" charset="-78"/>
              </a:rPr>
              <a:t>مشكلة النفايات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Environmental Solutions — What Can Be Done?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accurate general advice?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نُوَفِّرُ المَاءَ.</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نُوَفِّرَ المَاءَ.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نُوَفِّرَ المَاءَ.</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assigns responsibility to governments?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يَجِبُ عَلَى الحُكُومَاتِ أَنْ تَسْتَثْمِرَ فِي الطَّاقَةِ النَّظِيفَةِ.</a:t>
            </a:r>
            <a:endParaRPr lang="ar-SA" sz="13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يَجِبُ الحُكُومَاتِ عَلَى الطَّاقَةِ.</a:t>
            </a:r>
            <a:endParaRPr lang="ar-SA" sz="13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يَنْبَغِي الحُكُومَاتُ تَسْتَثْمِرُ فِي الطَّاقَةِ.</a:t>
            </a:r>
            <a:endParaRPr lang="ar-SA" sz="13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that matches using public transport.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نَزِيدَ الازدِحَامَ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نَسْتَهْلِكَ وَقُودًا أَكْثَرَ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نُقَلِّلَ الانْبِعَاثَاتِ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correctly follows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for “they recycle”?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يُعِيدُونَ التَّدْوِيرَ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 التَّدْوِيرَ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يُعِيدُوا التَّدْوِيرَ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correct?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final fatḥa marks the subjunctive after </a:t>
            </a:r>
            <a:pPr algn="l" indent="0" marL="0">
              <a:buNone/>
            </a:pPr>
            <a:r>
              <a:rPr lang="ar-SA" altLang="en-US" sz="1650" dirty="0">
                <a:solidFill>
                  <a:srgbClr val="1F2A37"/>
                </a:solidFill>
                <a:latin typeface="Amiri" pitchFamily="2" charset="-78"/>
                <a:ea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dual form.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lost the nūn of the five verbs.</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problem–solution response.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تَزْدَادُ النُّفَايَاتُ، لِذٰلِكَ يَجِبُ أَنْ نَرْمِيَهَا فِي البَحْرِ.</a:t>
            </a:r>
            <a:endParaRPr lang="ar-SA" sz="13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تَزْدَادُ النُّفَايَاتُ، لِذٰلِكَ يَجِبُ أَنْ نُعِيدَ التَّدْوِيرَ.</a:t>
            </a:r>
            <a:endParaRPr lang="ar-SA" sz="13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تَزْدَادُ النُّفَايَاتُ، لِذٰلِكَ يَنْبَغِي أَنْ نَزِيدَهَا.</a:t>
            </a:r>
            <a:endParaRPr lang="ar-SA" sz="13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accurate general advice?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نُوَفِّرُ المَاءَ.</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نُوَفِّرَ المَاءَ.</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نُوَفِّرَ المَاءَ.</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a:t>
            </a:r>
            <a:pPr algn="l" indent="0" marL="0">
              <a:buNone/>
            </a:pPr>
            <a:r>
              <a:rPr lang="ar-SA" altLang="en-US" sz="1350" dirty="0">
                <a:solidFill>
                  <a:srgbClr val="8A6D1E"/>
                </a:solidFill>
                <a:latin typeface="Amiri" pitchFamily="2" charset="-78"/>
                <a:ea typeface="Amiri" pitchFamily="2" charset="-78"/>
                <a:cs typeface="Amiri" pitchFamily="2" charset="-78"/>
              </a:rPr>
              <a:t>نوفّرَ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assigns responsibility to governments?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يَجِبُ عَلَى الحُكُومَاتِ أَنْ تَسْتَثْمِرَ فِي الطَّاقَةِ النَّظِيفَةِ.</a:t>
            </a:r>
            <a:endParaRPr lang="ar-SA" sz="13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يَجِبُ الحُكُومَاتِ عَلَى الطَّاقَةِ.</a:t>
            </a:r>
            <a:endParaRPr lang="ar-SA" sz="13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يَنْبَغِي الحُكُومَاتُ تَسْتَثْمِرُ فِي الطَّاقَةِ.</a:t>
            </a:r>
            <a:endParaRPr lang="ar-SA" sz="13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obligation pattern is </a:t>
            </a:r>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 responsible group +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that matches using public transport.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نَزِيدَ الازدِحَامَ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نَسْتَهْلِكَ وَقُودًا أَكْثَرَ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 نُقَلِّلَ الانْبِعَاثَاتِ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Public transport can reduce emissions.</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correctly follows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for “they recycle”?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يُعِيدُونَ التَّدْوِيرَ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يُعِيدُ التَّدْوِيرَ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يُعِيدُوا التَّدْوِيرَ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of </a:t>
            </a:r>
            <a:pPr algn="l" indent="0" marL="0">
              <a:buNone/>
            </a:pPr>
            <a:r>
              <a:rPr lang="ar-SA" altLang="en-US" sz="1350" dirty="0">
                <a:solidFill>
                  <a:srgbClr val="8A6D1E"/>
                </a:solidFill>
                <a:latin typeface="Amiri" pitchFamily="2" charset="-78"/>
                <a:ea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is omitted.</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correct?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Its final fatḥa marks the subjunctive after </a:t>
            </a:r>
            <a:pPr algn="l" indent="0" marL="0">
              <a:buNone/>
            </a:pPr>
            <a:r>
              <a:rPr lang="ar-SA" altLang="en-US" sz="1500" b="1" dirty="0">
                <a:solidFill>
                  <a:srgbClr val="1F2A37"/>
                </a:solidFill>
                <a:latin typeface="Amiri" pitchFamily="2" charset="-78"/>
                <a:ea typeface="Amiri" pitchFamily="2" charset="-78"/>
                <a:cs typeface="Amiri" pitchFamily="2" charset="-78"/>
              </a:rPr>
              <a:t>أَنْ</a:t>
            </a:r>
            <a:pPr algn="l" indent="0" marL="0">
              <a:buNone/>
            </a:pPr>
            <a:r>
              <a:rPr lang="en-US" sz="1150" b="1" dirty="0">
                <a:solidFill>
                  <a:srgbClr val="1F2A37"/>
                </a:solidFill>
                <a:latin typeface="Calibri" pitchFamily="34" charset="0"/>
                <a:cs typeface="Amiri" pitchFamily="2" charset="-78"/>
              </a:rPr>
              <a:t>.</a:t>
            </a:r>
            <a:endParaRPr lang="en-US" sz="11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dual form.</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lost the nūn of the five verbs.</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has no five-verb nūn to remove.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problem–solution response.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تَزْدَادُ النُّفَايَاتُ، لِذٰلِكَ يَجِبُ أَنْ نَرْمِيَهَا فِي البَحْرِ.</a:t>
            </a:r>
            <a:endParaRPr lang="ar-SA" sz="13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تَزْدَادُ النُّفَايَاتُ، لِذٰلِكَ يَجِبُ أَنْ نُعِيدَ التَّدْوِيرَ.</a:t>
            </a:r>
            <a:endParaRPr lang="ar-SA" sz="13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تَزْدَادُ النُّفَايَاتُ، لِذٰلِكَ يَنْبَغِي أَنْ نَزِيدَهَا.</a:t>
            </a:r>
            <a:endParaRPr lang="ar-SA" sz="13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Recycling is a relevant solution to increasing waste.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D4-L04 ·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D4-L05 · The Digital World — Technology and Social Media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تَطْبِيقٌ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app</a:t>
            </a:r>
            <a:pPr indent="0" marL="0">
              <a:buNone/>
            </a:pPr>
            <a:r>
              <a:rPr lang="ar-SA" sz="1000" i="1" dirty="0">
                <a:solidFill>
                  <a:srgbClr val="5A6472"/>
                </a:solidFill>
                <a:latin typeface="Calibri" pitchFamily="34" charset="0"/>
                <a:ea typeface="Amiri" pitchFamily="2" charset="-78"/>
                <a:cs typeface="Amiri" pitchFamily="2" charset="-78"/>
              </a:rPr>
              <a:t>  pl. تَطْبِيقَاتٌ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مِنَصَّةٌ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platform</a:t>
            </a:r>
            <a:pPr indent="0" marL="0">
              <a:buNone/>
            </a:pPr>
            <a:r>
              <a:rPr lang="ar-SA" sz="1000" i="1" dirty="0">
                <a:solidFill>
                  <a:srgbClr val="5A6472"/>
                </a:solidFill>
                <a:latin typeface="Calibri" pitchFamily="34" charset="0"/>
                <a:ea typeface="Amiri" pitchFamily="2" charset="-78"/>
                <a:cs typeface="Amiri" pitchFamily="2" charset="-78"/>
              </a:rPr>
              <a:t>  pl. مِنَصَّاتٌ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يَنْشُرُ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posts, publishes</a:t>
            </a:r>
            <a:pPr indent="0" marL="0">
              <a:buNone/>
            </a:pPr>
            <a:r>
              <a:rPr lang="ar-SA" sz="1000" i="1" dirty="0">
                <a:solidFill>
                  <a:srgbClr val="5A6472"/>
                </a:solidFill>
                <a:latin typeface="Calibri" pitchFamily="34" charset="0"/>
                <a:ea typeface="Amiri" pitchFamily="2" charset="-78"/>
                <a:cs typeface="Amiri" pitchFamily="2" charset="-78"/>
              </a:rPr>
              <a:t>  أَنْشُرُ I</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الخُصُوصِيَّةُ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privacy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الذَّكَاءُ الاصْطِنَاعِيُّ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artificial intelligence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app do you use most?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أَسْتَخْدِمُ تَطْبِيقَ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solution words; write 5 sentences with yanbaghī an +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Solutions to one problem in 100–120 words with yajibu ʿalā and li-kay.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solutions with responsibility and a limitation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D4-L05 · The Digital World — Technology and Social Media</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العَالَمُ الرَّقْمِيُّ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should / must / can / in order to + verb in -a — they &amp; you all: -ūna → -ū.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D4-L04 · Environmental Solutions — What Can Be Done?</dc:title>
  <dc:subject>PptxGenJS Presentation</dc:subject>
  <dc:creator>Al Madina Online School · Arabic Department</dc:creator>
  <cp:lastModifiedBy>Al Madina Online School · Arabic Department</cp:lastModifiedBy>
  <cp:revision>1</cp:revision>
  <dcterms:created xsi:type="dcterms:W3CDTF">2026-10-11T06:40:51Z</dcterms:created>
  <dcterms:modified xsi:type="dcterms:W3CDTF">2026-10-11T06:40:51Z</dcterms:modified>
</cp:coreProperties>
</file>