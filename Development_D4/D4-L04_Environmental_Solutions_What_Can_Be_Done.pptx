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D4-L04. The website lesson “Environmental Solutions — What Can Be Done?”: vocabulary, grammar rules and quiz, patterns, common mistakes, sorter, listening, reading, speaking prompts and model, writing task and model, differentiation, final check and the lesson mission. Picture match: website visual game “Environmental Solutions — What Can Be Done?”.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solution words + “we should …” with the verb in -a (يَنْبَغِي أَنْ نُقَلِّلَ / نَزْرَعَ / نُعِيدَ التَّدْوِيرَ). Develop: who must act (يَجِبُ عَلَى الحُكُومَةِ / المَدَارِسِ أَنْ …) and a purpose with لِكَيْ. Stretch: individual + government responsibility, a limitation, and the five verbs (أَنْ يُعِيدُوا).
• The -a after أَنْ is familiar (F4-L06, F5-L10, D3-L03 / L04). NEW: “they / you all” verbs drop -na: يُعِيدُونَ → أَنْ يُعِيدُوا.
• Positive lesson after D4-L03: the class makes a real “green pledge” for the school in the You Do.
• Islamic Studies link (teacher choice): stewardship of the earth (الأَرْضُ أَمَانَةٌ) and the Prophetic teaching against waste even at a flowing river.
• TEACHER-WRITTEN ITEMS: three website quiz items had options differing only in final vowels (distractors replaced with meaningful errors);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D4-L03. Questions 3–4 retrieve D4-L03; question 5 retrieves D3-L04 (li-kay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Problem → solution: we should …, the government must …, in order to … — verb in -a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حل، حکومت، ضروری، استعمال are shared. طاقت in Urdu means strength or power; in Arabic طَاقَةٌ is energy (الطَّاقَةُ الشَّمْسِيَّةُ = solar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solutions (website vocabulary (1 of 2)). Hear → Say → See → Use. Transliteration is printed for Core students (cover it for Develop/Stretch).
Solutions: noun phrases (verbal nouns): إِعَادَةُ التَّدْوِيرِ = the re-doing of recycling, تَرْشِيدُ المِيَاهِ = rationalising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solutions (website vocabulary (2 of 2)). Hear → Say → See → Use. Transliteration is printed for Core students (cover it for Develop/Stretch).
Solutions: noun phrases (verbal nouns): إِعَادَةُ التَّدْوِيرِ = the re-doing of recycling, تَرْشِيدُ المِيَاهِ = rationalising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Action verbs (website vocabulary (1 of 2)). Hear → Say → See → Use. Transliteration is printed for Core students (cover it for Develop/Stretch).
Action verbs in the “we” form (na- / nu-). Cards show we · I · they — the “they” form ends in -ūna (it loses -na after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Action verbs (website vocabulary (2 of 2)). Hear → Say → See → Use. Transliteration is printed for Core students (cover it for Develop/Stretch).
Action verbs in the “we” form (na- / nu-). Cards show we · I · they — the “they” form ends in -ūna (it loses -na after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obligation and purpose (website vocabulary). Hear → Say → See → Use. Transliteration is printed for Core students (cover it for Develop/Stretch).
Advice, obligation and purpose: every one is followed by أَنْ / لِكَيْ +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“Advice with يَنْبَغِي أَنْ” (a sound-ending present verb changes its final ḍamma to fatḥa after أَنْ), “Obligation for a person or group” (name the responsible person or group after عَلَى) and “Purpose with لِكَيْ”. Website examples as shown.
Agreement reminder: يَجِبُ عَلَى الحُكُومَةِ أَنْ تَـ… (the government = she); عَلَى المَدَارِسِ أَنْ تُعِيدَ (non-human plural =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“The five verbs after أَنْ” (only the five verbs lose their final nūn: يُعِيدُونَ → أَنْ يُعِيدُوا; ordinary forms such as نُقَلِّلُ do not contain that nūn). Website common error: “Do not say that every subjunctive verb ‘loses nūn’. Only the five verbs lose their nūn. A form such as نُقَلِّلَ is marked by final fatḥa.”
The five verbs: يَفْعَلُونَ، تَفْعَلُونَ، يَفْعَلَانِ، تَفْعَلَانِ، تَفْعَلِينَ (Stretch: تَفْعَلِينَ → أَنْ تَفْعَلِي, as in F5 advice to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Advice with يَنْبَغِي أَنْ: A sound-ending present verb changes its final ḍamma to fatḥa after أَنْ: نُقَلِّلُ → نُقَلِّلَ. It does not “lose a nūn”.
• Obligation for a person or group: Name the responsible person or group after عَلَى.
• Purpose with لِكَيْ: لِكَيْ explains the intended purpose. A sound-ending verb takes fatḥa.
• The five verbs after أَنْ: Only the five verbs lose their final nūn: يُعِيدُونَ → أَنْ يُعِيدُوا. Ordinary forms such as نُقَلِّلُ do not contain that nūn.
Website common error: Do not say that every subjunctive verb “loses nūn”. Only the five verbs lose their nūn. A form such as نُقَلِّلَ is marked by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(first part), built step by step: problem → we should → who must → why. Highlight every verb after أَنْ / لِكَيْ.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Environmental Solutions — What Can Be Done?”)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what happens to the verb after أَنْ? (-a). Other cards: يَجِبُ أَنْ نَزْرَعَ أَشْجَارًا أَكْثَرَ · يَجِبُ أَنْ نُقَلِّلَ اسْتِهْلَاكَ الطَّاقَةِ · يُمْكِنُ أَنْ نَسْتَخْدِمَ الطَّاقَةَ الشَّمْسِيَّةَ.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Environmental Solutions — What Can Be Done?”)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what happens to the verb after أَنْ? (-a). Other cards: يَجِبُ أَنْ نَزْرَعَ أَشْجَارًا أَكْثَرَ · يَجِبُ أَنْ نُقَلِّلَ اسْتِهْلَاكَ الطَّاقَةِ · يُمْكِنُ أَنْ نَسْتَخْدِمَ الطَّاقَةَ الشَّمْسِيَّةَ.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solution sentence with one item from each group: يَنْبَغِي أَنْ نُعِيدَ التَّدْوِيرَ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solution sentence with one item from each group: يَنْبَغِي أَنْ نُعِيدَ التَّدْوِيرَ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هُنَاكَ حُلُولٌ عَمَلِيَّةٌ لِحِمَايَةِ البِيئَةِ. يَنْبَغِي أَنْ نُقَلِّلَ اسْتِخْدَامَ البِلَاسْتِيكِ، وَيَجِبُ عَلَى المَدَارِسِ أَنْ تُعِيدَ تَدْوِيرَ الوَرَقِ. كَمَا يَجِبُ عَلَى الحُكُومَاتِ أَنْ تَسْتَثْمِرَ فِي الطَّاقَةِ الشَّمْسِيَّةِ وَطَاقَةِ الرِّيَاحِ. وَيُمْكِنُ لِلأُسَرِ أَنْ تُرَشِّدَ المَاءَ لِكَيْ تَحْمِيَ المَوَارِدَ الطَّبِيعِيَّةَ.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Class “green pledge”: each student says one يَنْبَغِي أَنْ … for the school; the teacher writes the best five on a slide for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proposing solutions to one environmental problem.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يَنْبَغِي أَنْ نُقَلِّلَ · يَجِبُ عَلَى الطُّلَّابِ أَنْ يُعِيدُوا (five verbs) · يَجِبُ عَلَى الإِدَارَةِ أَنْ تُوَفِّرَ · لِكَيْ نُقَلِّلَ · مِنَ الضَّرُورِيِّ أَنْ نَنْشُرَ · فِي رَأْيِي … قَابِلَةٌ لِلتَّطْبِيقِ.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(D4-L05 · The Digital World — Technology and Social Media) will spend class time USING this language, so students prepare it tonight — short, simple, easy to access (school guidance: “Simple, Short, Interesting, Relevant, Easy to access”). The five words come from the website D4-L05 vocabulary (the digital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Environmental Solutions — What Can Be Done?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الحُلُولُ البِيئِيَّةُ — مَاذَا يُمْكِنُ أَنْ نَفْعَلَ؟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Propose and justify solutions: what we should do (</a:t>
            </a:r>
            <a:pPr algn="l" indent="0" marL="0">
              <a:buNone/>
            </a:pPr>
            <a:r>
              <a:rPr lang="ar-SA" altLang="en-US" sz="1800" dirty="0">
                <a:solidFill>
                  <a:srgbClr val="C6D2E6"/>
                </a:solidFill>
                <a:latin typeface="Amiri" pitchFamily="2" charset="-78"/>
                <a:cs typeface="Amiri" pitchFamily="2" charset="-78"/>
              </a:rPr>
              <a:t>يَنْبَغِي أَنْ نُقَلِّلَ</a:t>
            </a:r>
            <a:pPr algn="l" indent="0" marL="0">
              <a:buNone/>
            </a:pPr>
            <a:r>
              <a:rPr lang="en-US" sz="1400" dirty="0">
                <a:solidFill>
                  <a:srgbClr val="C6D2E6"/>
                </a:solidFill>
                <a:latin typeface="Calibri" pitchFamily="34" charset="0"/>
                <a:cs typeface="Amiri" pitchFamily="2" charset="-78"/>
              </a:rPr>
              <a:t>), who must act (</a:t>
            </a:r>
            <a:pPr algn="l" indent="0" marL="0">
              <a:buNone/>
            </a:pPr>
            <a:r>
              <a:rPr lang="ar-SA" altLang="en-US" sz="1800" dirty="0">
                <a:solidFill>
                  <a:srgbClr val="C6D2E6"/>
                </a:solidFill>
                <a:latin typeface="Amiri" pitchFamily="2" charset="-78"/>
                <a:cs typeface="Amiri" pitchFamily="2" charset="-78"/>
              </a:rPr>
              <a:t>يَجِبُ عَلَى الحُكُومَةِ أَنْ</a:t>
            </a:r>
            <a:pPr algn="l" indent="0" marL="0">
              <a:buNone/>
            </a:pPr>
            <a:r>
              <a:rPr lang="en-US" sz="1400" dirty="0">
                <a:solidFill>
                  <a:srgbClr val="C6D2E6"/>
                </a:solidFill>
                <a:latin typeface="Calibri" pitchFamily="34" charset="0"/>
                <a:cs typeface="Amiri" pitchFamily="2" charset="-78"/>
              </a:rPr>
              <a:t> …), why (</a:t>
            </a:r>
            <a:pPr algn="l" indent="0" marL="0">
              <a:buNone/>
            </a:pPr>
            <a:r>
              <a:rPr lang="ar-SA" altLang="en-US" sz="1800" dirty="0">
                <a:solidFill>
                  <a:srgbClr val="C6D2E6"/>
                </a:solidFill>
                <a:latin typeface="Amiri" pitchFamily="2" charset="-78"/>
                <a:cs typeface="Amiri" pitchFamily="2" charset="-78"/>
              </a:rPr>
              <a:t>لِكَيْ</a:t>
            </a:r>
            <a:pPr algn="l" indent="0" marL="0">
              <a:buNone/>
            </a:pPr>
            <a:r>
              <a:rPr lang="en-US" sz="1400" dirty="0">
                <a:solidFill>
                  <a:srgbClr val="C6D2E6"/>
                </a:solidFill>
                <a:latin typeface="Calibri" pitchFamily="34" charset="0"/>
                <a:cs typeface="Amiri" pitchFamily="2" charset="-78"/>
              </a:rPr>
              <a:t> …) — with the verb in -a after </a:t>
            </a:r>
            <a:pPr algn="l" indent="0" marL="0">
              <a:buNone/>
            </a:pPr>
            <a:r>
              <a:rPr lang="ar-SA" altLang="en-US" sz="1800" dirty="0">
                <a:solidFill>
                  <a:srgbClr val="C6D2E6"/>
                </a:solidFill>
                <a:latin typeface="Amiri" pitchFamily="2" charset="-78"/>
                <a:cs typeface="Amiri" pitchFamily="2" charset="-78"/>
              </a:rPr>
              <a:t>أَنْ / لِكَيْ</a:t>
            </a:r>
            <a:pPr algn="l" indent="0" marL="0">
              <a:buNone/>
            </a:pPr>
            <a:r>
              <a:rPr lang="en-US" sz="1400" dirty="0">
                <a:solidFill>
                  <a:srgbClr val="C6D2E6"/>
                </a:solidFill>
                <a:latin typeface="Calibri" pitchFamily="34" charset="0"/>
                <a:cs typeface="Amiri" pitchFamily="2" charset="-78"/>
              </a:rPr>
              <a:t>, and the -ūna → -ū change for “they / you all”.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D4-L04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Solutions, “we” verbs, should / must / in order to — and the -a ending.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practical solutions.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إِعَادَةُ التَّدْوِيرِ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energy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recycling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 planting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should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leads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يُؤَدِّي التَّلَوُّثُ</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أَمْرَاضٍ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يَقْطَعُونَ الأَشْجَارَ.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قَطَعْنَا الأَشْجَارَ.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تُقْطَعُ الأَشْجَارُ.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سَأَدْرُسُ بِجِدٍّ لِكَيْ</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أَنْجَحَ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نَجَحْتُ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سَأَنْجَحُ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إِعَادَةُ التَّدْوِيرِ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renewable energy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recycling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tree planting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should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leads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of</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يُؤَدِّي التَّلَوُّثُ</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أَمْرَاضٍ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يَقْطَعُونَ الأَشْجَارَ.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قَطَعْنَا الأَشْجَارَ.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تُقْطَعُ الأَشْجَارُ.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D4-L03: tu-…-a-.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سَأَدْرُسُ بِجِدٍّ لِكَيْ</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أَنْجَحَ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نَجَحْتُ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سَأَنْجَحُ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 li-kay + verb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Problem → solution: we should …, the government must …, in order to … — verb in -a every time.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يَنْبَغِي أَنْ </a:t>
            </a:r>
            <a:pPr rtl="1" algn="ctr" indent="0" marL="0">
              <a:lnSpc>
                <a:spcPct val="120000"/>
              </a:lnSpc>
              <a:buNone/>
            </a:pPr>
            <a:r>
              <a:rPr lang="ar-SA" altLang="en-US" sz="1950" b="1" dirty="0">
                <a:solidFill>
                  <a:srgbClr val="1D5FBF"/>
                </a:solidFill>
                <a:latin typeface="Amiri" pitchFamily="2" charset="-78"/>
                <a:cs typeface="Amiri" pitchFamily="2" charset="-78"/>
              </a:rPr>
              <a:t>نُقَلِّلَ</a:t>
            </a:r>
            <a:pPr rtl="1" algn="ctr" indent="0" marL="0">
              <a:lnSpc>
                <a:spcPct val="120000"/>
              </a:lnSpc>
              <a:buNone/>
            </a:pPr>
            <a:r>
              <a:rPr lang="ar-SA" altLang="en-US" sz="1950" b="1" dirty="0">
                <a:solidFill>
                  <a:srgbClr val="1B3B6F"/>
                </a:solidFill>
                <a:latin typeface="Amiri" pitchFamily="2" charset="-78"/>
                <a:cs typeface="Amiri" pitchFamily="2" charset="-78"/>
              </a:rPr>
              <a:t> · يَجِبُ عَلَى الحُكُومَةِ أَنْ </a:t>
            </a:r>
            <a:pPr rtl="1" algn="ctr" indent="0" marL="0">
              <a:lnSpc>
                <a:spcPct val="120000"/>
              </a:lnSpc>
              <a:buNone/>
            </a:pPr>
            <a:r>
              <a:rPr lang="ar-SA" altLang="en-US" sz="1950" b="1" dirty="0">
                <a:solidFill>
                  <a:srgbClr val="D6336C"/>
                </a:solidFill>
                <a:latin typeface="Amiri" pitchFamily="2" charset="-78"/>
                <a:cs typeface="Amiri" pitchFamily="2" charset="-78"/>
              </a:rPr>
              <a:t>تَسْتَثْمِرَ</a:t>
            </a:r>
            <a:pPr rtl="1" algn="ctr" indent="0" marL="0">
              <a:lnSpc>
                <a:spcPct val="120000"/>
              </a:lnSpc>
              <a:buNone/>
            </a:pPr>
            <a:r>
              <a:rPr lang="ar-SA" altLang="en-US" sz="1950" b="1" dirty="0">
                <a:solidFill>
                  <a:srgbClr val="1B3B6F"/>
                </a:solidFill>
                <a:latin typeface="Amiri" pitchFamily="2" charset="-78"/>
                <a:cs typeface="Amiri" pitchFamily="2" charset="-78"/>
              </a:rPr>
              <a:t> · لِكَيْ </a:t>
            </a:r>
            <a:pPr rtl="1" algn="ctr" indent="0" marL="0">
              <a:lnSpc>
                <a:spcPct val="120000"/>
              </a:lnSpc>
              <a:buNone/>
            </a:pPr>
            <a:r>
              <a:rPr lang="ar-SA" altLang="en-US" sz="1950" b="1" dirty="0">
                <a:solidFill>
                  <a:srgbClr val="0E7C86"/>
                </a:solidFill>
                <a:latin typeface="Amiri" pitchFamily="2" charset="-78"/>
                <a:cs typeface="Amiri" pitchFamily="2" charset="-78"/>
              </a:rPr>
              <a:t>نَحْمِيَ</a:t>
            </a:r>
            <a:pPr rtl="1" algn="ctr" indent="0" marL="0">
              <a:lnSpc>
                <a:spcPct val="120000"/>
              </a:lnSpc>
              <a:buNone/>
            </a:pPr>
            <a:r>
              <a:rPr lang="ar-SA" altLang="en-US" sz="1950" b="1" dirty="0">
                <a:solidFill>
                  <a:srgbClr val="1B3B6F"/>
                </a:solidFill>
                <a:latin typeface="Amiri" pitchFamily="2" charset="-78"/>
                <a:cs typeface="Amiri" pitchFamily="2" charset="-78"/>
              </a:rPr>
              <a:t> البِيئَةَ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practical environmental solutions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advice with </a:t>
            </a:r>
            <a:pPr algn="l" indent="0" marL="0">
              <a:buNone/>
            </a:pPr>
            <a:r>
              <a:rPr lang="ar-SA" altLang="en-US" sz="1700" dirty="0">
                <a:solidFill>
                  <a:srgbClr val="1F2A37"/>
                </a:solidFill>
                <a:latin typeface="Amiri" pitchFamily="2" charset="-78"/>
                <a:cs typeface="Amiri" pitchFamily="2" charset="-78"/>
              </a:rPr>
              <a:t>يَنْبَغِي أَنْ</a:t>
            </a:r>
            <a:pPr algn="l" indent="0" marL="0">
              <a:buNone/>
            </a:pPr>
            <a:r>
              <a:rPr lang="en-US" sz="1300" dirty="0">
                <a:solidFill>
                  <a:srgbClr val="1F2A37"/>
                </a:solidFill>
                <a:latin typeface="Calibri" pitchFamily="34" charset="0"/>
                <a:cs typeface="Amiri" pitchFamily="2" charset="-78"/>
              </a:rPr>
              <a:t> +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who must act with </a:t>
            </a:r>
            <a:pPr algn="l" indent="0" marL="0">
              <a:buNone/>
            </a:pPr>
            <a:r>
              <a:rPr lang="ar-SA" altLang="en-US" sz="1700" dirty="0">
                <a:solidFill>
                  <a:srgbClr val="1F2A37"/>
                </a:solidFill>
                <a:latin typeface="Amiri" pitchFamily="2" charset="-78"/>
                <a:cs typeface="Amiri" pitchFamily="2" charset="-78"/>
              </a:rPr>
              <a:t>يَجِبُ عَلَى … أَنْ</a:t>
            </a:r>
            <a:pPr algn="l" indent="0" marL="0">
              <a:buNone/>
            </a:pPr>
            <a:r>
              <a:rPr lang="en-US" sz="1300" dirty="0">
                <a:solidFill>
                  <a:srgbClr val="1F2A37"/>
                </a:solidFill>
                <a:latin typeface="Calibri" pitchFamily="34" charset="0"/>
                <a:cs typeface="Amiri" pitchFamily="2" charset="-78"/>
              </a:rPr>
              <a:t> and why with </a:t>
            </a:r>
            <a:pPr algn="l" indent="0" marL="0">
              <a:buNone/>
            </a:pPr>
            <a:r>
              <a:rPr lang="ar-SA" altLang="en-US" sz="1700" dirty="0">
                <a:solidFill>
                  <a:srgbClr val="1F2A37"/>
                </a:solidFill>
                <a:latin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Propose and evaluate solutions to one problem.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solutions.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we should do.</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must act and why.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li-kay with the verb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share responsibility between people and government.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a limitation of a solution.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Environmental solutions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Action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Advice, obligation and purpose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‎طاقت‎ </a:t>
            </a:r>
            <a:pPr indent="0" marL="0">
              <a:buNone/>
            </a:pPr>
            <a:r>
              <a:rPr lang="en-US" sz="950" b="1" dirty="0">
                <a:solidFill>
                  <a:srgbClr val="2E8B57"/>
                </a:solidFill>
                <a:latin typeface="Calibri" pitchFamily="34" charset="0"/>
                <a:cs typeface="Amiri" pitchFamily="2" charset="-78"/>
              </a:rPr>
              <a:t> tāqat · Urdu: strength · Arabic: energy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‎حل‎ </a:t>
            </a:r>
            <a:pPr indent="0" marL="0">
              <a:buNone/>
            </a:pPr>
            <a:r>
              <a:rPr lang="en-US" sz="950" b="1" dirty="0">
                <a:solidFill>
                  <a:srgbClr val="2E8B57"/>
                </a:solidFill>
                <a:latin typeface="Calibri" pitchFamily="34" charset="0"/>
                <a:cs typeface="Amiri" pitchFamily="2" charset="-78"/>
              </a:rPr>
              <a:t> hal · solution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حُكُومَةٌ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‎حکومت‎ </a:t>
            </a:r>
            <a:pPr indent="0" marL="0">
              <a:buNone/>
            </a:pPr>
            <a:r>
              <a:rPr lang="en-US" sz="950" b="1" dirty="0">
                <a:solidFill>
                  <a:srgbClr val="2E8B57"/>
                </a:solidFill>
                <a:latin typeface="Calibri" pitchFamily="34" charset="0"/>
                <a:cs typeface="Amiri" pitchFamily="2" charset="-78"/>
              </a:rPr>
              <a:t> hukūmat · government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ضَرُورِيٌّ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‎ضروری‎ </a:t>
            </a:r>
            <a:pPr indent="0" marL="0">
              <a:buNone/>
            </a:pPr>
            <a:r>
              <a:rPr lang="en-US" sz="950" b="1" dirty="0">
                <a:solidFill>
                  <a:srgbClr val="2E8B57"/>
                </a:solidFill>
                <a:latin typeface="Calibri" pitchFamily="34" charset="0"/>
                <a:cs typeface="Amiri" pitchFamily="2" charset="-78"/>
              </a:rPr>
              <a:t> zarūrī · necessary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اسْتِعْمَالٌ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‎استعمال‎ </a:t>
            </a:r>
            <a:pPr indent="0" marL="0">
              <a:buNone/>
            </a:pPr>
            <a:r>
              <a:rPr lang="en-US" sz="950" b="1" dirty="0">
                <a:solidFill>
                  <a:srgbClr val="2E8B57"/>
                </a:solidFill>
                <a:latin typeface="Calibri" pitchFamily="34" charset="0"/>
                <a:cs typeface="Amiri" pitchFamily="2" charset="-78"/>
              </a:rPr>
              <a:t> istiʿmāl · 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solutions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إِعَادَةُ التَّدْوِيرِ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recycling</a:t>
            </a:r>
            <a:endParaRPr lang="en-US" sz="1350" dirty="0"/>
          </a:p>
          <a:p>
            <a:pPr indent="0" marL="0">
              <a:buNone/>
            </a:pPr>
            <a:r>
              <a:rPr lang="en-US" sz="1100" i="1" dirty="0">
                <a:solidFill>
                  <a:srgbClr val="5A6472"/>
                </a:solidFill>
                <a:latin typeface="Calibri" pitchFamily="34" charset="0"/>
                <a:cs typeface="Amiri" pitchFamily="2" charset="-78"/>
              </a:rPr>
              <a:t>i-ʿā-da-tu at-tad-wī-ri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الطَّاقَةُ المُتَجَدِّدَةُ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renewable energy</a:t>
            </a:r>
            <a:endParaRPr lang="en-US" sz="1350" dirty="0"/>
          </a:p>
          <a:p>
            <a:pPr indent="0" marL="0">
              <a:buNone/>
            </a:pPr>
            <a:r>
              <a:rPr lang="en-US" sz="1100" i="1" dirty="0">
                <a:solidFill>
                  <a:srgbClr val="5A6472"/>
                </a:solidFill>
                <a:latin typeface="Calibri" pitchFamily="34" charset="0"/>
                <a:cs typeface="Amiri" pitchFamily="2" charset="-78"/>
              </a:rPr>
              <a:t>aṭ-ṭā-qa-tu al-mu-ta-jad-di-da-tu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الطَّاقَةُ الشَّمْسِيَّةُ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energy</a:t>
            </a:r>
            <a:endParaRPr lang="en-US" sz="1350" dirty="0"/>
          </a:p>
          <a:p>
            <a:pPr indent="0" marL="0">
              <a:buNone/>
            </a:pPr>
            <a:r>
              <a:rPr lang="en-US" sz="1100" i="1" dirty="0">
                <a:solidFill>
                  <a:srgbClr val="5A6472"/>
                </a:solidFill>
                <a:latin typeface="Calibri" pitchFamily="34" charset="0"/>
                <a:cs typeface="Amiri" pitchFamily="2" charset="-78"/>
              </a:rPr>
              <a:t>aṭ-ṭā-qa-tu ash-sham-siy-ya-tu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طَاقَةُ الرِّيَاحِ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 energy</a:t>
            </a:r>
            <a:endParaRPr lang="en-US" sz="1350" dirty="0"/>
          </a:p>
          <a:p>
            <a:pPr indent="0" marL="0">
              <a:buNone/>
            </a:pPr>
            <a:r>
              <a:rPr lang="en-US" sz="1100" i="1" dirty="0">
                <a:solidFill>
                  <a:srgbClr val="5A6472"/>
                </a:solidFill>
                <a:latin typeface="Calibri" pitchFamily="34" charset="0"/>
                <a:cs typeface="Amiri" pitchFamily="2" charset="-78"/>
              </a:rPr>
              <a:t>ṭā-qa-tu ar-ri-yā-ḥi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التَّشْجِيرُ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afforestation / tree planting</a:t>
            </a:r>
            <a:endParaRPr lang="en-US" sz="1350" dirty="0"/>
          </a:p>
          <a:p>
            <a:pPr indent="0" marL="0">
              <a:buNone/>
            </a:pPr>
            <a:r>
              <a:rPr lang="en-US" sz="1100" i="1" dirty="0">
                <a:solidFill>
                  <a:srgbClr val="5A6472"/>
                </a:solidFill>
                <a:latin typeface="Calibri" pitchFamily="34" charset="0"/>
                <a:cs typeface="Amiri" pitchFamily="2" charset="-78"/>
              </a:rPr>
              <a:t>at-tash-jī-ru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solutions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تَرْشِيدُ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conservation</a:t>
            </a:r>
            <a:endParaRPr lang="en-US" sz="1350" dirty="0"/>
          </a:p>
          <a:p>
            <a:pPr indent="0" marL="0">
              <a:buNone/>
            </a:pPr>
            <a:r>
              <a:rPr lang="en-US" sz="1100" i="1" dirty="0">
                <a:solidFill>
                  <a:srgbClr val="5A6472"/>
                </a:solidFill>
                <a:latin typeface="Calibri" pitchFamily="34" charset="0"/>
                <a:cs typeface="Amiri" pitchFamily="2" charset="-78"/>
              </a:rPr>
              <a:t>tar-shī-du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تَقْلِيلُ الاسْتِهْلَاكِ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reducing consumption</a:t>
            </a:r>
            <a:endParaRPr lang="en-US" sz="1350" dirty="0"/>
          </a:p>
          <a:p>
            <a:pPr indent="0" marL="0">
              <a:buNone/>
            </a:pPr>
            <a:r>
              <a:rPr lang="en-US" sz="1100" i="1" dirty="0">
                <a:solidFill>
                  <a:srgbClr val="5A6472"/>
                </a:solidFill>
                <a:latin typeface="Calibri" pitchFamily="34" charset="0"/>
                <a:cs typeface="Amiri" pitchFamily="2" charset="-78"/>
              </a:rPr>
              <a:t>taq-lī-lu als-tih-lā-ki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النَّقْلُ العَامُّ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transport</a:t>
            </a:r>
            <a:endParaRPr lang="en-US" sz="1350" dirty="0"/>
          </a:p>
          <a:p>
            <a:pPr indent="0" marL="0">
              <a:buNone/>
            </a:pPr>
            <a:r>
              <a:rPr lang="en-US" sz="1100" i="1" dirty="0">
                <a:solidFill>
                  <a:srgbClr val="5A6472"/>
                </a:solidFill>
                <a:latin typeface="Calibri" pitchFamily="34" charset="0"/>
                <a:cs typeface="Amiri" pitchFamily="2" charset="-78"/>
              </a:rPr>
              <a:t>an-naq-lu al-ʿām-mu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التَّوْعِيَةُ البِيئِيَّةُ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environmental awareness</a:t>
            </a:r>
            <a:endParaRPr lang="en-US" sz="1350" dirty="0"/>
          </a:p>
          <a:p>
            <a:pPr indent="0" marL="0">
              <a:buNone/>
            </a:pPr>
            <a:r>
              <a:rPr lang="en-US" sz="1100" i="1" dirty="0">
                <a:solidFill>
                  <a:srgbClr val="5A6472"/>
                </a:solidFill>
                <a:latin typeface="Calibri" pitchFamily="34" charset="0"/>
                <a:cs typeface="Amiri" pitchFamily="2" charset="-78"/>
              </a:rPr>
              <a:t>at-taw-ʿi-ya-tu al-bī-ʾiy-ya-tu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التَّنْمِيَةُ المُسْتَدَامَةُ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development</a:t>
            </a:r>
            <a:endParaRPr lang="en-US" sz="1350" dirty="0"/>
          </a:p>
          <a:p>
            <a:pPr indent="0" marL="0">
              <a:buNone/>
            </a:pPr>
            <a:r>
              <a:rPr lang="en-US" sz="1100" i="1" dirty="0">
                <a:solidFill>
                  <a:srgbClr val="5A6472"/>
                </a:solidFill>
                <a:latin typeface="Calibri" pitchFamily="34" charset="0"/>
                <a:cs typeface="Amiri" pitchFamily="2" charset="-78"/>
              </a:rPr>
              <a:t>at-tan-mi-ya-tu al-mus-ta-dā-ma-tu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نُقَلِّلُ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reduce</a:t>
            </a:r>
            <a:endParaRPr lang="en-US" sz="1350" dirty="0"/>
          </a:p>
          <a:p>
            <a:pPr indent="0" marL="0">
              <a:buNone/>
            </a:pPr>
            <a:r>
              <a:rPr lang="en-US" sz="1100" i="1" dirty="0">
                <a:solidFill>
                  <a:srgbClr val="5A6472"/>
                </a:solidFill>
                <a:latin typeface="Calibri" pitchFamily="34" charset="0"/>
                <a:cs typeface="Amiri" pitchFamily="2" charset="-78"/>
              </a:rPr>
              <a:t>nu-qal-li-lu min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يُقَلِّلُونَ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أُقَلِّلُ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نُقَلِّلُ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نُوَفِّرُ</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conserve / save</a:t>
            </a:r>
            <a:endParaRPr lang="en-US" sz="1350" dirty="0"/>
          </a:p>
          <a:p>
            <a:pPr indent="0" marL="0">
              <a:buNone/>
            </a:pPr>
            <a:r>
              <a:rPr lang="en-US" sz="1100" i="1" dirty="0">
                <a:solidFill>
                  <a:srgbClr val="5A6472"/>
                </a:solidFill>
                <a:latin typeface="Calibri" pitchFamily="34" charset="0"/>
                <a:cs typeface="Amiri" pitchFamily="2" charset="-78"/>
              </a:rPr>
              <a:t>nu-waf-fi-ru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يُوَفِّرُونَ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أُوَفِّرُ</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نُوَفِّرُ</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2" name="Shape 4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نَزْرَعُ</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plant</a:t>
            </a:r>
            <a:endParaRPr lang="en-US" sz="1350" dirty="0"/>
          </a:p>
          <a:p>
            <a:pPr indent="0" marL="0">
              <a:buNone/>
            </a:pPr>
            <a:r>
              <a:rPr lang="en-US" sz="1100" i="1" dirty="0">
                <a:solidFill>
                  <a:srgbClr val="5A6472"/>
                </a:solidFill>
                <a:latin typeface="Calibri" pitchFamily="34" charset="0"/>
                <a:cs typeface="Amiri" pitchFamily="2" charset="-78"/>
              </a:rPr>
              <a:t>naz-ra-ʿu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يَزْرَعُونَ</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أَزْرَعُ</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نَزْرَعُ</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70" name="Shape 6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نُعِيدُ التَّدْوِيرَ</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recycle</a:t>
            </a:r>
            <a:endParaRPr lang="en-US" sz="1350" dirty="0"/>
          </a:p>
          <a:p>
            <a:pPr indent="0" marL="0">
              <a:buNone/>
            </a:pPr>
            <a:r>
              <a:rPr lang="en-US" sz="1100" i="1" dirty="0">
                <a:solidFill>
                  <a:srgbClr val="5A6472"/>
                </a:solidFill>
                <a:latin typeface="Calibri" pitchFamily="34" charset="0"/>
                <a:cs typeface="Amiri" pitchFamily="2" charset="-78"/>
              </a:rPr>
              <a:t>nu-ʿī-du at-tad-wī-ra</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8" name="Text 75"/>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يُعِيدُونَ</a:t>
            </a:r>
            <a:endParaRPr lang="ar-SA" sz="135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أُعِيدُ</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نُعِيدُ</a:t>
            </a:r>
            <a:endParaRPr lang="ar-SA" sz="15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نَسْتَخْدِمُ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use</a:t>
            </a:r>
            <a:endParaRPr lang="en-US" sz="1350" dirty="0"/>
          </a:p>
          <a:p>
            <a:pPr indent="0" marL="0">
              <a:buNone/>
            </a:pPr>
            <a:r>
              <a:rPr lang="en-US" sz="1100" i="1" dirty="0">
                <a:solidFill>
                  <a:srgbClr val="5A6472"/>
                </a:solidFill>
                <a:latin typeface="Calibri" pitchFamily="34" charset="0"/>
                <a:cs typeface="Amiri" pitchFamily="2" charset="-78"/>
              </a:rPr>
              <a:t>nas-takh-di-mu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يَسْتَخْدِمُونَ</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أَسْتَخْدِمُ</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نَسْتَخْدِمُ</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4" name="Shape 31"/>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نَسْتَثْمِرُ فِي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invest in</a:t>
            </a:r>
            <a:endParaRPr lang="en-US" sz="1350" dirty="0"/>
          </a:p>
          <a:p>
            <a:pPr indent="0" marL="0">
              <a:buNone/>
            </a:pPr>
            <a:r>
              <a:rPr lang="en-US" sz="1100" i="1" dirty="0">
                <a:solidFill>
                  <a:srgbClr val="5A6472"/>
                </a:solidFill>
                <a:latin typeface="Calibri" pitchFamily="34" charset="0"/>
                <a:cs typeface="Amiri" pitchFamily="2" charset="-78"/>
              </a:rPr>
              <a:t>nas-tath-mi-ru fī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يَسْتَثْمِرُونَ</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أَسْتَثْمِرُ</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نَسْتَثْمِرُ</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نَتَخَلَّصُ مِنْ</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get rid of</a:t>
            </a:r>
            <a:endParaRPr lang="en-US" sz="1350" dirty="0"/>
          </a:p>
          <a:p>
            <a:pPr indent="0" marL="0">
              <a:buNone/>
            </a:pPr>
            <a:r>
              <a:rPr lang="en-US" sz="1100" i="1" dirty="0">
                <a:solidFill>
                  <a:srgbClr val="5A6472"/>
                </a:solidFill>
                <a:latin typeface="Calibri" pitchFamily="34" charset="0"/>
                <a:cs typeface="Amiri" pitchFamily="2" charset="-78"/>
              </a:rPr>
              <a:t>na-ta-khal-la-ṣu min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نَتَبَنَّى</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adopt</a:t>
            </a:r>
            <a:endParaRPr lang="en-US" sz="1350" dirty="0"/>
          </a:p>
          <a:p>
            <a:pPr indent="0" marL="0">
              <a:buNone/>
            </a:pPr>
            <a:r>
              <a:rPr lang="en-US" sz="1100" i="1" dirty="0">
                <a:solidFill>
                  <a:srgbClr val="5A6472"/>
                </a:solidFill>
                <a:latin typeface="Calibri" pitchFamily="34" charset="0"/>
                <a:cs typeface="Amiri" pitchFamily="2" charset="-78"/>
              </a:rPr>
              <a:t>na-ta-ban-nā</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obligation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يَنْبَغِي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يَجِبُ عَلَى ...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 must</a:t>
            </a:r>
            <a:endParaRPr lang="en-US" sz="1350" dirty="0"/>
          </a:p>
          <a:p>
            <a:pPr indent="0" marL="0">
              <a:buNone/>
            </a:pPr>
            <a:r>
              <a:rPr lang="en-US" sz="1100" i="1" dirty="0">
                <a:solidFill>
                  <a:srgbClr val="5A6472"/>
                </a:solidFill>
                <a:latin typeface="Calibri" pitchFamily="34" charset="0"/>
                <a:cs typeface="Amiri" pitchFamily="2" charset="-78"/>
              </a:rPr>
              <a:t>ya-ji-bu ʿa-lā ...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يُمْكِنُ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possible to</a:t>
            </a:r>
            <a:endParaRPr lang="en-US" sz="1350" dirty="0"/>
          </a:p>
          <a:p>
            <a:pPr indent="0" marL="0">
              <a:buNone/>
            </a:pPr>
            <a:r>
              <a:rPr lang="en-US" sz="1100" i="1" dirty="0">
                <a:solidFill>
                  <a:srgbClr val="5A6472"/>
                </a:solidFill>
                <a:latin typeface="Calibri" pitchFamily="34" charset="0"/>
                <a:cs typeface="Amiri" pitchFamily="2" charset="-78"/>
              </a:rPr>
              <a:t>yum-ki-nu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الضَّرُورِيِّ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to</a:t>
            </a:r>
            <a:endParaRPr lang="en-US" sz="1350" dirty="0"/>
          </a:p>
          <a:p>
            <a:pPr indent="0" marL="0">
              <a:buNone/>
            </a:pPr>
            <a:r>
              <a:rPr lang="en-US" sz="1100" i="1" dirty="0">
                <a:solidFill>
                  <a:srgbClr val="5A6472"/>
                </a:solidFill>
                <a:latin typeface="Calibri" pitchFamily="34" charset="0"/>
                <a:cs typeface="Amiri" pitchFamily="2" charset="-78"/>
              </a:rPr>
              <a:t>mi-na aḍ-ḍa-rū-riy-yi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المَدَى الطَّوِيلِ</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al-ma-dā aṭ-ṭa-wī-li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1 · SHOULD / MUST / IN ORDER TO (WEBSITE RULES 1–3)</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After an and li-kay: the verb ends in -a</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 · لِكَيْ + 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should: yanbaghī an + -a</a:t>
            </a:r>
            <a:endParaRPr lang="en-US" sz="1100" dirty="0"/>
          </a:p>
        </p:txBody>
      </p:sp>
      <p:sp>
        <p:nvSpPr>
          <p:cNvPr id="20" name="Text 17"/>
          <p:cNvSpPr txBox="1"/>
          <p:nvPr/>
        </p:nvSpPr>
        <p:spPr>
          <a:xfrm>
            <a:off x="548640" y="2286000"/>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يَنْبَغِي أَنْ </a:t>
            </a:r>
            <a:pPr rtl="1" algn="ctr" indent="0" marL="0">
              <a:buNone/>
            </a:pPr>
            <a:r>
              <a:rPr lang="ar-SA" altLang="en-US" sz="2100" b="1" dirty="0">
                <a:solidFill>
                  <a:srgbClr val="1D5FBF"/>
                </a:solidFill>
                <a:latin typeface="Amiri" pitchFamily="2" charset="-78"/>
                <a:cs typeface="Amiri" pitchFamily="2" charset="-78"/>
              </a:rPr>
              <a:t>نُقَلِّلَ</a:t>
            </a:r>
            <a:pPr rtl="1" algn="ctr" indent="0" marL="0">
              <a:buNone/>
            </a:pPr>
            <a:r>
              <a:rPr lang="ar-SA" altLang="en-US" sz="2100" b="1" dirty="0">
                <a:solidFill>
                  <a:srgbClr val="1B3B6F"/>
                </a:solidFill>
                <a:latin typeface="Amiri" pitchFamily="2" charset="-78"/>
                <a:cs typeface="Amiri" pitchFamily="2" charset="-78"/>
              </a:rPr>
              <a:t> اسْتِخْدَامَ البِلَاسْتِيكِ.</a:t>
            </a:r>
            <a:endParaRPr lang="ar-SA" sz="2100" dirty="0"/>
          </a:p>
        </p:txBody>
      </p:sp>
      <p:sp>
        <p:nvSpPr>
          <p:cNvPr id="21" name="Text 18"/>
          <p:cNvSpPr txBox="1"/>
          <p:nvPr/>
        </p:nvSpPr>
        <p:spPr>
          <a:xfrm>
            <a:off x="502920" y="2706624"/>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should reduce plastic use.</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yajibu ʿalā + WHO + an</a:t>
            </a:r>
            <a:endParaRPr lang="en-US" sz="1100" dirty="0"/>
          </a:p>
        </p:txBody>
      </p:sp>
      <p:sp>
        <p:nvSpPr>
          <p:cNvPr id="26" name="Text 23"/>
          <p:cNvSpPr txBox="1"/>
          <p:nvPr/>
        </p:nvSpPr>
        <p:spPr>
          <a:xfrm>
            <a:off x="548640" y="3072384"/>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a:t>
            </a:r>
            <a:pPr rtl="1" algn="ctr" indent="0" marL="0">
              <a:buNone/>
            </a:pPr>
            <a:r>
              <a:rPr lang="ar-SA" altLang="en-US" sz="2100" b="1" dirty="0">
                <a:solidFill>
                  <a:srgbClr val="D6336C"/>
                </a:solidFill>
                <a:latin typeface="Amiri" pitchFamily="2" charset="-78"/>
                <a:cs typeface="Amiri" pitchFamily="2" charset="-78"/>
              </a:rPr>
              <a:t>عَلَى الحُكُومَةِ</a:t>
            </a:r>
            <a:pPr rtl="1" algn="ctr" indent="0" marL="0">
              <a:buNone/>
            </a:pPr>
            <a:r>
              <a:rPr lang="ar-SA" altLang="en-US" sz="2100" b="1" dirty="0">
                <a:solidFill>
                  <a:srgbClr val="1B3B6F"/>
                </a:solidFill>
                <a:latin typeface="Amiri" pitchFamily="2" charset="-78"/>
                <a:cs typeface="Amiri" pitchFamily="2" charset="-78"/>
              </a:rPr>
              <a:t> أَنْ </a:t>
            </a:r>
            <a:pPr rtl="1" algn="ctr" indent="0" marL="0">
              <a:buNone/>
            </a:pPr>
            <a:r>
              <a:rPr lang="ar-SA" altLang="en-US" sz="2100" b="1" dirty="0">
                <a:solidFill>
                  <a:srgbClr val="1D5FBF"/>
                </a:solidFill>
                <a:latin typeface="Amiri" pitchFamily="2" charset="-78"/>
                <a:cs typeface="Amiri" pitchFamily="2" charset="-78"/>
              </a:rPr>
              <a:t>تَسْتَثْمِرَ</a:t>
            </a:r>
            <a:pPr rtl="1" algn="ctr" indent="0" marL="0">
              <a:buNone/>
            </a:pPr>
            <a:r>
              <a:rPr lang="ar-SA" altLang="en-US" sz="2100" b="1" dirty="0">
                <a:solidFill>
                  <a:srgbClr val="1B3B6F"/>
                </a:solidFill>
                <a:latin typeface="Amiri" pitchFamily="2" charset="-78"/>
                <a:cs typeface="Amiri" pitchFamily="2" charset="-78"/>
              </a:rPr>
              <a:t> فِي الطَّاقَةِ المُتَجَدِّدَةِ.</a:t>
            </a:r>
            <a:endParaRPr lang="ar-SA" sz="2100" dirty="0"/>
          </a:p>
        </p:txBody>
      </p:sp>
      <p:sp>
        <p:nvSpPr>
          <p:cNvPr id="27" name="Text 24"/>
          <p:cNvSpPr txBox="1"/>
          <p:nvPr/>
        </p:nvSpPr>
        <p:spPr>
          <a:xfrm>
            <a:off x="502920" y="3493008"/>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government must invest in renewable energy.</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 li-kay + -a</a:t>
            </a:r>
            <a:endParaRPr lang="en-US" sz="1100" dirty="0"/>
          </a:p>
        </p:txBody>
      </p:sp>
      <p:sp>
        <p:nvSpPr>
          <p:cNvPr id="32" name="Text 29"/>
          <p:cNvSpPr txBox="1"/>
          <p:nvPr/>
        </p:nvSpPr>
        <p:spPr>
          <a:xfrm>
            <a:off x="548640" y="3858768"/>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نَسْتَخْدِمُ النَّقْلَ العَامَّ </a:t>
            </a:r>
            <a:pPr rtl="1" algn="ctr" indent="0" marL="0">
              <a:buNone/>
            </a:pPr>
            <a:r>
              <a:rPr lang="ar-SA" altLang="en-US" sz="2100" b="1" dirty="0">
                <a:solidFill>
                  <a:srgbClr val="0E7C86"/>
                </a:solidFill>
                <a:latin typeface="Amiri" pitchFamily="2" charset="-78"/>
                <a:cs typeface="Amiri" pitchFamily="2" charset="-78"/>
              </a:rPr>
              <a:t>لِكَيْ</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نُقَلِّلَ</a:t>
            </a:r>
            <a:pPr rtl="1" algn="ctr" indent="0" marL="0">
              <a:buNone/>
            </a:pPr>
            <a:r>
              <a:rPr lang="ar-SA" altLang="en-US" sz="2100" b="1" dirty="0">
                <a:solidFill>
                  <a:srgbClr val="1B3B6F"/>
                </a:solidFill>
                <a:latin typeface="Amiri" pitchFamily="2" charset="-78"/>
                <a:cs typeface="Amiri" pitchFamily="2" charset="-78"/>
              </a:rPr>
              <a:t> الانْبِعَاثَاتِ.</a:t>
            </a:r>
            <a:endParaRPr lang="ar-SA" sz="2100" dirty="0"/>
          </a:p>
        </p:txBody>
      </p:sp>
      <p:sp>
        <p:nvSpPr>
          <p:cNvPr id="33" name="Text 30"/>
          <p:cNvSpPr txBox="1"/>
          <p:nvPr/>
        </p:nvSpPr>
        <p:spPr>
          <a:xfrm>
            <a:off x="502920" y="4279392"/>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use public transport to reduce emissions.</a:t>
            </a:r>
            <a:endParaRPr lang="en-US" sz="950" dirty="0"/>
          </a:p>
        </p:txBody>
      </p:sp>
      <p:sp>
        <p:nvSpPr>
          <p:cNvPr id="34" name="Shape 31"/>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7" name="Text 34"/>
          <p:cNvSpPr txBox="1"/>
          <p:nvPr/>
        </p:nvSpPr>
        <p:spPr>
          <a:xfrm>
            <a:off x="7516368" y="4626864"/>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possible: yumkinu an</a:t>
            </a:r>
            <a:endParaRPr lang="en-US" sz="1100" dirty="0"/>
          </a:p>
        </p:txBody>
      </p:sp>
      <p:sp>
        <p:nvSpPr>
          <p:cNvPr id="38" name="Text 35"/>
          <p:cNvSpPr txBox="1"/>
          <p:nvPr/>
        </p:nvSpPr>
        <p:spPr>
          <a:xfrm>
            <a:off x="548640" y="4645152"/>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يُمْكِنُ أَنْ </a:t>
            </a:r>
            <a:pPr rtl="1" algn="ctr" indent="0" marL="0">
              <a:buNone/>
            </a:pPr>
            <a:r>
              <a:rPr lang="ar-SA" altLang="en-US" sz="2100" b="1" dirty="0">
                <a:solidFill>
                  <a:srgbClr val="1D5FBF"/>
                </a:solidFill>
                <a:latin typeface="Amiri" pitchFamily="2" charset="-78"/>
                <a:cs typeface="Amiri" pitchFamily="2" charset="-78"/>
              </a:rPr>
              <a:t>نَسْتَخْدِمَ</a:t>
            </a:r>
            <a:pPr rtl="1" algn="ctr" indent="0" marL="0">
              <a:buNone/>
            </a:pPr>
            <a:r>
              <a:rPr lang="ar-SA" altLang="en-US" sz="2100" b="1" dirty="0">
                <a:solidFill>
                  <a:srgbClr val="1B3B6F"/>
                </a:solidFill>
                <a:latin typeface="Amiri" pitchFamily="2" charset="-78"/>
                <a:cs typeface="Amiri" pitchFamily="2" charset="-78"/>
              </a:rPr>
              <a:t> الطَّاقَةَ الشَّمْسِيَّةَ.</a:t>
            </a:r>
            <a:endParaRPr lang="ar-SA" sz="2100" dirty="0"/>
          </a:p>
        </p:txBody>
      </p:sp>
      <p:sp>
        <p:nvSpPr>
          <p:cNvPr id="39" name="Text 36"/>
          <p:cNvSpPr txBox="1"/>
          <p:nvPr/>
        </p:nvSpPr>
        <p:spPr>
          <a:xfrm>
            <a:off x="502920" y="5065776"/>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can use solar energy.</a:t>
            </a:r>
            <a:endParaRPr lang="en-US" sz="950" dirty="0"/>
          </a:p>
        </p:txBody>
      </p:sp>
      <p:sp>
        <p:nvSpPr>
          <p:cNvPr id="40" name="Text 3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nuqallilu → an nuqallila: only the final vowel changes (-u → -a).</a:t>
            </a:r>
            <a:endParaRPr lang="en-US" sz="11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THE FIVE VERBS (WEBSITE RULE 4)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They / you all: -ūna → -ū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الأَفْعَالُ الخَمْسَةُ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WE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نُعِيدُ → أَنْ نُعِيدَ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يَجِبُ أَنْ نُعِيدَ التَّدْوِيرَ.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recycle.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Only -u →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يُعِيدُونَ → أَنْ يُعِيدُوا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يَجِبُ عَلَى النَّاسِ أَنْ يُعِيدُوا التَّدْوِيرَ.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People must recycle.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 drops; alif is written.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YOU ALL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تُقَلِّلُونَ → أَنْ تُقَلِّلُوا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يَجِبُ عَلَيْكُمْ أَنْ تُقَلِّلُوا النُّفَايَاتِ.</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 (all) must reduce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Same rule for “you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five verbs lose -na after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أَنْ يُعِيدُوا التَّدْوِيرَ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أَنْ يُعِيدُونَ التَّدْوِيرَ</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obligation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النُّصْحُ وَالوُجُوبُ وَالغَرَضُ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Advice with </a:t>
            </a:r>
            <a:pPr algn="l" indent="0" marL="0">
              <a:buNone/>
            </a:pPr>
            <a:r>
              <a:rPr lang="ar-SA" altLang="en-US" sz="1650" b="1" dirty="0">
                <a:solidFill>
                  <a:srgbClr val="1B3B6F"/>
                </a:solidFill>
                <a:latin typeface="Amiri" pitchFamily="2" charset="-78"/>
                <a:cs typeface="Amiri" pitchFamily="2" charset="-78"/>
              </a:rPr>
              <a:t>يَنْبَغِي أَنْ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يَنْبَغِي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يَنْبَغِي أَنْ نُقَلِّلَ اسْتِخْدَامَ البِلَاسْتِيكِ.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Obligation for a person or group</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يَجِبُ عَلَى</a:t>
            </a:r>
            <a:pPr algn="l" indent="0" marL="0">
              <a:buNone/>
            </a:pPr>
            <a:r>
              <a:rPr lang="en-US" sz="1050" dirty="0">
                <a:solidFill>
                  <a:srgbClr val="5A6472"/>
                </a:solidFill>
                <a:latin typeface="Calibri" pitchFamily="34" charset="0"/>
                <a:cs typeface="Amiri" pitchFamily="2" charset="-78"/>
              </a:rPr>
              <a:t> + noun + </a:t>
            </a:r>
            <a:pPr algn="l" indent="0" marL="0">
              <a:buNone/>
            </a:pPr>
            <a:r>
              <a:rPr lang="ar-SA" altLang="en-US" sz="1350" dirty="0">
                <a:solidFill>
                  <a:srgbClr val="5A6472"/>
                </a:solidFill>
                <a:latin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عَلَى الحُكُومَةِ أَنْ تَسْتَثْمِرَ فِي الطَّاقَةِ المُتَجَدِّدَةِ.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Purpose with </a:t>
            </a:r>
            <a:pPr algn="l" indent="0" marL="0">
              <a:buNone/>
            </a:pPr>
            <a:r>
              <a:rPr lang="ar-SA" altLang="en-US" sz="1650" b="1" dirty="0">
                <a:solidFill>
                  <a:srgbClr val="1B3B6F"/>
                </a:solidFill>
                <a:latin typeface="Amiri" pitchFamily="2" charset="-78"/>
                <a:cs typeface="Amiri" pitchFamily="2" charset="-78"/>
              </a:rPr>
              <a:t>لِكَيْ</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action + </a:t>
            </a:r>
            <a:pPr algn="l" indent="0" marL="0">
              <a:buNone/>
            </a:pPr>
            <a:r>
              <a:rPr lang="ar-SA" altLang="en-US" sz="1350" dirty="0">
                <a:solidFill>
                  <a:srgbClr val="5A6472"/>
                </a:solidFill>
                <a:latin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نَسْتَخْدِمُ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five verbs after </a:t>
            </a:r>
            <a:pPr algn="l" indent="0" marL="0">
              <a:buNone/>
            </a:pPr>
            <a:r>
              <a:rPr lang="ar-SA" altLang="en-US" sz="1650" b="1" dirty="0">
                <a:solidFill>
                  <a:srgbClr val="1B3B6F"/>
                </a:solidFill>
                <a:latin typeface="Amiri" pitchFamily="2" charset="-78"/>
                <a:cs typeface="Amiri" pitchFamily="2" charset="-78"/>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one of the five verbs → nūn is omitted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عَلَى النَّاسِ أَنْ يُعِيدُوا التَّدْوِيرَ.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قَلَّلْنَا اسْتِخْدَامَ البِلَاسْتِيكِ.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نُقَلِّلَ اسْتِخْدَامَ البِلَاسْتِيكِ.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نُقَلِّلَ اسْتِخْدَامَ البِلَاسْتِيكِ.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عَلَى الحُكُومَةِ أَنْ تَحْمِيَ الغَابَاتِ.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الحُكُومَةُ تَحْمِي الغَابَاتِ.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عَلَى الحُكُومَةِ تَحْمِيُ الغَابَاتِ.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نَزْرَعُ الأَشْجَارَ لِكَيْ حَسَّنَّا جَوْدَةَ الهَوَاءِ.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نَزْرَعُ الأَشْجَارَ لِكَيْ تَحْسِينُ الهَوَاءِ.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أَنْ نَسْتَخْدِمَ الطَّاقَةَ الشَّمْسِيَّةَ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يُمْكِنُ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يَتَّسِمُ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يَنْبَغِي أَنْ قَلَّلْنَا اسْتِخْدَامَ البِلَاسْتِيكِ.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يَنْبَغِي نُقَلِّلَ اسْتِخْدَامَ البِلَاسْتِيكِ.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يَنْبَغِي أَنْ نُقَلِّلَ اسْتِخْدَامَ البِلَاسْتِيكِ.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with final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عَلَى الحُكُومَةِ أَنْ تَحْمِيَ الغَابَاتِ.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الحُكُومَةُ تَحْمِي الغَابَاتِ.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عَلَى الحُكُومَةِ تَحْمِيُ الغَابَاتِ.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 noun +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نَزْرَعُ الأَشْجَارَ لِكَيْ حَسَّنَّا جَوْدَةَ الهَوَاءِ.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نَزْرَعُ الأَشْجَارَ لِكَيْ تَحْسِينُ الهَوَاءِ.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sound-ending verb is subjunctive: </a:t>
            </a:r>
            <a:pPr algn="l" indent="0" marL="0">
              <a:buNone/>
            </a:pPr>
            <a:r>
              <a:rPr lang="ar-SA" altLang="en-US" sz="1350" dirty="0">
                <a:solidFill>
                  <a:srgbClr val="8A6D1E"/>
                </a:solidFill>
                <a:latin typeface="Amiri" pitchFamily="2" charset="-78"/>
                <a:cs typeface="Amiri" pitchFamily="2" charset="-78"/>
              </a:rPr>
              <a:t>نحسنَ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أَنْ نَسْتَخْدِمَ الطَّاقَةَ الشَّمْسِيَّةَ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يُمْكِنُ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يَتَّسِمُ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يمكن أن</a:t>
            </a:r>
            <a:pPr algn="l" indent="0" marL="0">
              <a:buNone/>
            </a:pPr>
            <a:r>
              <a:rPr lang="en-US" sz="1050" i="1" dirty="0">
                <a:solidFill>
                  <a:srgbClr val="8A6D1E"/>
                </a:solidFill>
                <a:latin typeface="Calibri" pitchFamily="34" charset="0"/>
                <a:cs typeface="Amiri" pitchFamily="2" charset="-78"/>
              </a:rPr>
              <a:t> means it is possible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propose solutions to a school problem</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تُعَانِي مَدْرَسَتُنَا مِنْ زِيَادَةِ النُّفَايَاتِ.</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only.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 should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يَنْبَغِي أَنْ </a:t>
            </a:r>
            <a:pPr rtl="1" algn="ctr" indent="0" marL="0">
              <a:lnSpc>
                <a:spcPct val="120000"/>
              </a:lnSpc>
              <a:buNone/>
            </a:pPr>
            <a:r>
              <a:rPr lang="ar-SA" altLang="en-US" sz="1750" b="1" dirty="0">
                <a:solidFill>
                  <a:srgbClr val="1D5FBF"/>
                </a:solidFill>
                <a:latin typeface="Amiri" pitchFamily="2" charset="-78"/>
                <a:cs typeface="Amiri" pitchFamily="2" charset="-78"/>
              </a:rPr>
              <a:t>نُقَلِّلَ</a:t>
            </a:r>
            <a:pPr rtl="1" algn="ctr" indent="0" marL="0">
              <a:lnSpc>
                <a:spcPct val="120000"/>
              </a:lnSpc>
              <a:buNone/>
            </a:pPr>
            <a:r>
              <a:rPr lang="ar-SA" altLang="en-US" sz="1750" b="1" dirty="0">
                <a:solidFill>
                  <a:srgbClr val="1B3B6F"/>
                </a:solidFill>
                <a:latin typeface="Amiri" pitchFamily="2" charset="-78"/>
                <a:cs typeface="Amiri" pitchFamily="2" charset="-78"/>
              </a:rPr>
              <a:t> الأَكْيَاسَ البِلَاسْتِيكِيَّةَ.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must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يَجِبُ عَلَى الطُّلَّابِ أَنْ </a:t>
            </a:r>
            <a:pPr rtl="1" algn="ctr" indent="0" marL="0">
              <a:lnSpc>
                <a:spcPct val="120000"/>
              </a:lnSpc>
              <a:buNone/>
            </a:pPr>
            <a:r>
              <a:rPr lang="ar-SA" altLang="en-US" sz="1750" b="1" dirty="0">
                <a:solidFill>
                  <a:srgbClr val="D6336C"/>
                </a:solidFill>
                <a:latin typeface="Amiri" pitchFamily="2" charset="-78"/>
                <a:cs typeface="Amiri" pitchFamily="2" charset="-78"/>
              </a:rPr>
              <a:t>يُعِيدُوا</a:t>
            </a:r>
            <a:pPr rtl="1" algn="ctr" indent="0" marL="0">
              <a:lnSpc>
                <a:spcPct val="120000"/>
              </a:lnSpc>
              <a:buNone/>
            </a:pPr>
            <a:r>
              <a:rPr lang="ar-SA" altLang="en-US" sz="1750" b="1" dirty="0">
                <a:solidFill>
                  <a:srgbClr val="1B3B6F"/>
                </a:solidFill>
                <a:latin typeface="Amiri" pitchFamily="2" charset="-78"/>
                <a:cs typeface="Amiri" pitchFamily="2" charset="-78"/>
              </a:rPr>
              <a:t> التَّدْوِيرَ.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-ū (no -na).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نَسْتَخْدِمُ زُجَاجَاتٍ </a:t>
            </a:r>
            <a:pPr rtl="1" algn="ctr" indent="0" marL="0">
              <a:lnSpc>
                <a:spcPct val="120000"/>
              </a:lnSpc>
              <a:buNone/>
            </a:pPr>
            <a:r>
              <a:rPr lang="ar-SA" altLang="en-US" sz="1750" b="1" dirty="0">
                <a:solidFill>
                  <a:srgbClr val="0E7C86"/>
                </a:solidFill>
                <a:latin typeface="Amiri" pitchFamily="2" charset="-78"/>
                <a:cs typeface="Amiri" pitchFamily="2" charset="-78"/>
              </a:rPr>
              <a:t>لِكَيْ</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cs typeface="Amiri" pitchFamily="2" charset="-78"/>
              </a:rPr>
              <a:t>نُقَلِّلَ</a:t>
            </a:r>
            <a:pPr rtl="1" algn="ctr" indent="0" marL="0">
              <a:lnSpc>
                <a:spcPct val="120000"/>
              </a:lnSpc>
              <a:buNone/>
            </a:pPr>
            <a:r>
              <a:rPr lang="ar-SA" altLang="en-US" sz="1750" b="1" dirty="0">
                <a:solidFill>
                  <a:srgbClr val="1B3B6F"/>
                </a:solidFill>
                <a:latin typeface="Amiri" pitchFamily="2" charset="-78"/>
                <a:cs typeface="Amiri" pitchFamily="2" charset="-78"/>
              </a:rPr>
              <a:t> النُّفَايَاتِ.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IN -a</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FIVE VERBS</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تُعَانِي مَدْرَسَتُنَا مِنْ زِيَادَةِ النُّفَايَاتِ البِلَاسْتِيكِيَّةِ. لِحَلِّ هٰذِهِ المُشْكِلَةِ، يَنْبَغِي أَنْ </a:t>
            </a:r>
            <a:pPr rtl="1" algn="r" indent="0" marL="0">
              <a:lnSpc>
                <a:spcPct val="120000"/>
              </a:lnSpc>
              <a:buNone/>
            </a:pPr>
            <a:r>
              <a:rPr lang="ar-SA" altLang="en-US" sz="1400" b="1" dirty="0">
                <a:solidFill>
                  <a:srgbClr val="1D5FBF"/>
                </a:solidFill>
                <a:latin typeface="Amiri" pitchFamily="2" charset="-78"/>
                <a:cs typeface="Amiri" pitchFamily="2" charset="-78"/>
              </a:rPr>
              <a:t>نُقَلِّلَ</a:t>
            </a:r>
            <a:pPr rtl="1" algn="r" indent="0" marL="0">
              <a:lnSpc>
                <a:spcPct val="120000"/>
              </a:lnSpc>
              <a:buNone/>
            </a:pPr>
            <a:r>
              <a:rPr lang="ar-SA" altLang="en-US" sz="1400" b="1" dirty="0">
                <a:solidFill>
                  <a:srgbClr val="1B3B6F"/>
                </a:solidFill>
                <a:latin typeface="Amiri" pitchFamily="2" charset="-78"/>
                <a:cs typeface="Amiri" pitchFamily="2" charset="-78"/>
              </a:rPr>
              <a:t> اسْتِخْدَامَ الأَكْوَابِ وَالأَكْيَاسِ. وَيَجِبُ عَلَى الطُّلَّابِ أَنْ </a:t>
            </a:r>
            <a:pPr rtl="1" algn="r" indent="0" marL="0">
              <a:lnSpc>
                <a:spcPct val="120000"/>
              </a:lnSpc>
              <a:buNone/>
            </a:pPr>
            <a:r>
              <a:rPr lang="ar-SA" altLang="en-US" sz="1400" b="1" dirty="0">
                <a:solidFill>
                  <a:srgbClr val="D6336C"/>
                </a:solidFill>
                <a:latin typeface="Amiri" pitchFamily="2" charset="-78"/>
                <a:cs typeface="Amiri" pitchFamily="2" charset="-78"/>
              </a:rPr>
              <a:t>يُعِيدُوا</a:t>
            </a:r>
            <a:pPr rtl="1" algn="r" indent="0" marL="0">
              <a:lnSpc>
                <a:spcPct val="120000"/>
              </a:lnSpc>
              <a:buNone/>
            </a:pPr>
            <a:r>
              <a:rPr lang="ar-SA" altLang="en-US" sz="1400" b="1" dirty="0">
                <a:solidFill>
                  <a:srgbClr val="1B3B6F"/>
                </a:solidFill>
                <a:latin typeface="Amiri" pitchFamily="2" charset="-78"/>
                <a:cs typeface="Amiri" pitchFamily="2" charset="-78"/>
              </a:rPr>
              <a:t> التَّدْوِيرَ، كَمَا يَجِبُ عَلَى الإِدَارَةِ أَنْ </a:t>
            </a:r>
            <a:pPr rtl="1" algn="r" indent="0" marL="0">
              <a:lnSpc>
                <a:spcPct val="120000"/>
              </a:lnSpc>
              <a:buNone/>
            </a:pPr>
            <a:r>
              <a:rPr lang="ar-SA" altLang="en-US" sz="1400" b="1" dirty="0">
                <a:solidFill>
                  <a:srgbClr val="1D5FBF"/>
                </a:solidFill>
                <a:latin typeface="Amiri" pitchFamily="2" charset="-78"/>
                <a:cs typeface="Amiri" pitchFamily="2" charset="-78"/>
              </a:rPr>
              <a:t>تُوَفِّرَ</a:t>
            </a:r>
            <a:pPr rtl="1" algn="r" indent="0" marL="0">
              <a:lnSpc>
                <a:spcPct val="120000"/>
              </a:lnSpc>
              <a:buNone/>
            </a:pPr>
            <a:r>
              <a:rPr lang="ar-SA" altLang="en-US" sz="1400" b="1" dirty="0">
                <a:solidFill>
                  <a:srgbClr val="1B3B6F"/>
                </a:solidFill>
                <a:latin typeface="Amiri" pitchFamily="2" charset="-78"/>
                <a:cs typeface="Amiri" pitchFamily="2" charset="-78"/>
              </a:rPr>
              <a:t> حَاوِيَاتٍ مُنَاسِبَةً. وَيُمْكِنُ أَنْ نَسْتَخْدِمَ زُجَاجَاتٍ قَابِلَةً لِإِعَادَةِ الاسْتِخْدَامِ </a:t>
            </a:r>
            <a:pPr rtl="1" algn="r" indent="0" marL="0">
              <a:lnSpc>
                <a:spcPct val="120000"/>
              </a:lnSpc>
              <a:buNone/>
            </a:pPr>
            <a:r>
              <a:rPr lang="ar-SA" altLang="en-US" sz="1400" b="1" dirty="0">
                <a:solidFill>
                  <a:srgbClr val="0E7C86"/>
                </a:solidFill>
                <a:latin typeface="Amiri" pitchFamily="2" charset="-78"/>
                <a:cs typeface="Amiri" pitchFamily="2" charset="-78"/>
              </a:rPr>
              <a:t>لِكَيْ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نُقَلِّلَ</a:t>
            </a:r>
            <a:pPr rtl="1" algn="r" indent="0" marL="0">
              <a:lnSpc>
                <a:spcPct val="120000"/>
              </a:lnSpc>
              <a:buNone/>
            </a:pPr>
            <a:r>
              <a:rPr lang="ar-SA" altLang="en-US" sz="1400" b="1" dirty="0">
                <a:solidFill>
                  <a:srgbClr val="1B3B6F"/>
                </a:solidFill>
                <a:latin typeface="Amiri" pitchFamily="2" charset="-78"/>
                <a:cs typeface="Amiri" pitchFamily="2" charset="-78"/>
              </a:rPr>
              <a:t> كَمِّيَّةَ البِلَاسْتِيكِ.</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Our school suffers from increasing plastic waste. To solve this problem, we should reduce the use of cups and bags. Students must recycle, and the administration must provide suitable bins. We can use reusable bottles in order to reduce the amount of plastic.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يَنْبَغِي أَنْ نُقَلِّلَ اسْتِخْدَامَ البِلَاسْتِيكِ.</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reduce the use of plastic.</a:t>
            </a:r>
            <a:endParaRPr lang="en-US" sz="1250" dirty="0"/>
          </a:p>
          <a:p>
            <a:pPr indent="0" marL="0">
              <a:buNone/>
            </a:pPr>
            <a:r>
              <a:rPr lang="en-US" sz="1050" i="1" dirty="0">
                <a:solidFill>
                  <a:srgbClr val="8A6D1E"/>
                </a:solidFill>
                <a:latin typeface="Calibri" pitchFamily="34" charset="0"/>
                <a:cs typeface="Amiri" pitchFamily="2" charset="-78"/>
              </a:rPr>
              <a:t>A sound-ending present verb changes its final ḍamma to fatḥa after أَنْ: نُقَلِّلُ → نُقَلِّلَ. It does not “lose a nūn”.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يَجِبُ عَلَى الحُكُومَةِ أَنْ تَسْتَثْمِرَ فِي الطَّاقَةِ المُتَجَدِّدَةِ.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government must invest in renewable energy.</a:t>
            </a:r>
            <a:endParaRPr lang="en-US" sz="1250" dirty="0"/>
          </a:p>
          <a:p>
            <a:pPr indent="0" marL="0">
              <a:buNone/>
            </a:pPr>
            <a:r>
              <a:rPr lang="en-US" sz="1050" i="1" dirty="0">
                <a:solidFill>
                  <a:srgbClr val="8A6D1E"/>
                </a:solidFill>
                <a:latin typeface="Calibri" pitchFamily="34" charset="0"/>
                <a:cs typeface="Amiri" pitchFamily="2" charset="-78"/>
              </a:rPr>
              <a:t>Name the responsible person or group after عَلَى.</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نَسْتَخْدِمُ النَّقْلَ العَامَّ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use public transport to reduce emissions.</a:t>
            </a:r>
            <a:endParaRPr lang="en-US" sz="1250" dirty="0"/>
          </a:p>
          <a:p>
            <a:pPr indent="0" marL="0">
              <a:buNone/>
            </a:pPr>
            <a:r>
              <a:rPr lang="en-US" sz="1050" i="1" dirty="0">
                <a:solidFill>
                  <a:srgbClr val="8A6D1E"/>
                </a:solidFill>
                <a:latin typeface="Calibri" pitchFamily="34" charset="0"/>
                <a:cs typeface="Amiri" pitchFamily="2" charset="-78"/>
              </a:rPr>
              <a:t>لِكَيْ explains the intended purpose. A sound-ending verb takes fatḥa.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ENVIRONMENTAL SOLUTIONS — WHAT CAN BE DONE?”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What should we do?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الحَلُّ الأَخْضَرُ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recycling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bus · people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shower · tap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أَنْ نَسْتَخْدِمَ النَّقْلَ العَامَّ.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أَنْ نُوَفِّرَ المِيَاهَ.</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نُعِيدَ التَّدْوِيرَ.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الحَلُّ الأَخْضَرُ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recycling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نُعِيدَ التَّدْوِيرَ.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recycle.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bus · people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يَنْبَغِي أَنْ نَسْتَخْدِمَ النَّقْلَ العَامَّ.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use public transport.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shower · tap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يَنْبَغِي أَنْ نُوَفِّرَ المِيَاهَ.</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save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إِعَادَةُ التَّدْوِيرِ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الطَّاقَةُ المُتَجَدِّدَةُ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الطَّاقَةُ الشَّمْسِيَّةُ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نُقَلِّلُ مِنْ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نُوَفِّرُ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نَزْرَعُ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يَجِبُ عَلَى ... أَنْ</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يُمْكِنُ أَنْ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solutions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 verbs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Advice, obligation and purpose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solutions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إِعَادَةُ التَّدْوِيرِ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الطَّاقَةُ المُتَجَدِّدَةُ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الطَّاقَةُ الشَّمْسِيَّةُ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 verbs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نُقَلِّلُ مِنْ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نُوَفِّرُ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نَزْرَعُ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Advice, obligation and purpose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يَجِبُ عَلَى ... أَنْ</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يُمْكِنُ أَنْ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of </a:t>
            </a:r>
            <a:pPr algn="l" indent="0" marL="0">
              <a:buNone/>
            </a:pPr>
            <a:r>
              <a:rPr lang="ar-SA" altLang="en-US" sz="1650" b="1" dirty="0">
                <a:solidFill>
                  <a:srgbClr val="1B3B6F"/>
                </a:solidFill>
                <a:latin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past-tense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one of the five verbs and loses a final nūn.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sound-ending present verb marked with fatḥa after </a:t>
            </a:r>
            <a:pPr algn="l" indent="0" marL="0">
              <a:buNone/>
            </a:pPr>
            <a:r>
              <a:rPr lang="ar-SA" altLang="en-US" sz="1650" dirty="0">
                <a:solidFill>
                  <a:srgbClr val="1F2A37"/>
                </a:solidFill>
                <a:latin typeface="Amiri" pitchFamily="2" charset="-78"/>
                <a:cs typeface="Amiri" pitchFamily="2" charset="-78"/>
              </a:rPr>
              <a:t>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correct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يُعِيدُونَ التَّدْوِيرَ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يُعِيدُوا التَّدْوِيرَ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أَعَادُوا التَّدْوِيرَ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 plural addressee.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عَلَيْكُمْ أَنْ تُقَلِّلُونَ النُّفَايَاتِ.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عَلَيْكُمْ أَنْ تُقَلِّلُوا النُّفَايَاتِ.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عَلَيْكُمْ تُقَلِّلُوا النُّفَايَاتِ.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clearly states purpose rather than cause?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الجَفَافُ إِلَى نُقْصَانِ المَاءِ.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نُرَشِّدُ المَاءَ بِسَبَبِ الجَفَافِ.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نُرَشِّدُ المَاءَ لِكَيْ نَحْمِيَ المَوَارِدَ.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of </a:t>
            </a:r>
            <a:pPr algn="l" indent="0" marL="0">
              <a:buNone/>
            </a:pPr>
            <a:r>
              <a:rPr lang="ar-SA" altLang="en-US" sz="1650" b="1" dirty="0">
                <a:solidFill>
                  <a:srgbClr val="1B3B6F"/>
                </a:solidFill>
                <a:latin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past-tense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one of the five verbs and loses a final nūn.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 sound-ending present verb marked with fatḥa after </a:t>
            </a:r>
            <a:pPr algn="l" indent="0" marL="0">
              <a:buNone/>
            </a:pPr>
            <a:r>
              <a:rPr lang="ar-SA" altLang="en-US" sz="1650" b="1" dirty="0">
                <a:solidFill>
                  <a:srgbClr val="1F2A37"/>
                </a:solidFill>
                <a:latin typeface="Amiri" pitchFamily="2" charset="-78"/>
                <a:cs typeface="Amiri" pitchFamily="2" charset="-78"/>
              </a:rPr>
              <a:t>أَنْ</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is not one of the five verbs; it simply takes the visible subjunctive fatḥa.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correct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يُعِيدُونَ التَّدْوِيرَ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 يُعِيدُوا التَّدْوِيرَ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أَعَادُوا التَّدْوِيرَ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is omitted from </a:t>
            </a:r>
            <a:pPr algn="l" indent="0" marL="0">
              <a:buNone/>
            </a:pPr>
            <a:r>
              <a:rPr lang="ar-SA" altLang="en-US" sz="1350" dirty="0">
                <a:solidFill>
                  <a:srgbClr val="8A6D1E"/>
                </a:solidFill>
                <a:latin typeface="Amiri" pitchFamily="2" charset="-78"/>
                <a:cs typeface="Amiri" pitchFamily="2" charset="-78"/>
              </a:rPr>
              <a:t>يعيدون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 plural addressee.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عَلَيْكُمْ أَنْ تُقَلِّلُونَ النُّفَايَاتِ.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عَلَيْكُمْ أَنْ تُقَلِّلُوا النُّفَايَاتِ.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عَلَيْكُمْ تُقَلِّلُوا النُّفَايَاتِ.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تقللون</a:t>
            </a:r>
            <a:pPr algn="l" indent="0" marL="0">
              <a:buNone/>
            </a:pPr>
            <a:r>
              <a:rPr lang="en-US" sz="1050" i="1" dirty="0">
                <a:solidFill>
                  <a:srgbClr val="8A6D1E"/>
                </a:solidFill>
                <a:latin typeface="Calibri" pitchFamily="34" charset="0"/>
                <a:cs typeface="Amiri" pitchFamily="2" charset="-78"/>
              </a:rPr>
              <a:t> is one of the five verbs;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it becomes </a:t>
            </a:r>
            <a:pPr algn="l" indent="0" marL="0">
              <a:buNone/>
            </a:pPr>
            <a:r>
              <a:rPr lang="ar-SA" altLang="en-US" sz="1350" dirty="0">
                <a:solidFill>
                  <a:srgbClr val="8A6D1E"/>
                </a:solidFill>
                <a:latin typeface="Amiri" pitchFamily="2" charset="-78"/>
                <a:cs typeface="Amiri" pitchFamily="2" charset="-78"/>
              </a:rPr>
              <a:t>تقللوا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clearly states purpose rather than cause?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الجَفَافُ إِلَى نُقْصَانِ المَاءِ.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نُرَشِّدُ المَاءَ بِسَبَبِ الجَفَافِ.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نُرَشِّدُ المَاءَ لِكَيْ نَحْمِيَ المَوَارِدَ.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introduces the intended purpose.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يَنْبَغِي أَنْ نُقَلِّلُ النُّفَايَاتِ.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عَلَى النَّاسِ أَنْ يُعِيدُونَ التَّدْوِيرَ.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yuʿīdūna after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نَسْتَخْدِمُ الطَّاقَةَ الشَّمْسِيَّةَ لِكَيْ نُقَلِّلُ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-u or -a?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يَنْبَغِي أَنْ نُقَلِّلُ النُّفَايَاتِ.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يَنْبَغِي أَنْ نُقَلِّلَ النُّفَايَاتِ.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نُقَلِّلُ</a:t>
            </a:r>
            <a:pPr algn="l" indent="0" marL="0">
              <a:buNone/>
            </a:pPr>
            <a:r>
              <a:rPr lang="en-US" sz="1150" b="1" dirty="0">
                <a:solidFill>
                  <a:srgbClr val="1B3B6F"/>
                </a:solidFill>
                <a:latin typeface="Calibri" pitchFamily="34" charset="0"/>
                <a:cs typeface="Amiri" pitchFamily="2" charset="-78"/>
              </a:rPr>
              <a:t> is a sound-ending verb;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it takes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عَلَى النَّاسِ أَنْ يُعِيدُونَ التَّدْوِيرَ.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عَلَى النَّاسِ أَنْ يُعِيدُوا التَّدْوِيرَ.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يعيدون</a:t>
            </a:r>
            <a:pPr algn="l" indent="0" marL="0">
              <a:buNone/>
            </a:pPr>
            <a:r>
              <a:rPr lang="en-US" sz="1150" b="1" dirty="0">
                <a:solidFill>
                  <a:srgbClr val="1B3B6F"/>
                </a:solidFill>
                <a:latin typeface="Calibri" pitchFamily="34" charset="0"/>
                <a:cs typeface="Amiri" pitchFamily="2" charset="-78"/>
              </a:rPr>
              <a:t> is one of the five verbs, so its nūn is omitted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نَسْتَخْدِمُ الطَّاقَةَ الشَّمْسِيَّةَ لِكَيْ نُقَلِّلُ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نَسْتَخْدِمُ الطَّاقَةَ الشَّمْسِيَّةَ لِكَيْ نُقَلِّلَ الانْبِعَاثَاتِ.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is followed by the subjunctive.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practical environmental solutions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people reduce?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 planting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schools recycle?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Fuel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governments invest 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plastic packaging</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Fossil-fuel cars only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and wind energy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can conserve water?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factories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only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families conserve water?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pollute rivers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protect natural resources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waste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structure assigns obligation to a named group?</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عَلَى ... أَنْ</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يَتَّسِمُ بِـ</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إِلَى</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البِلَاسْتِيكِ</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الوَرَقِ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الطَّاقَةِ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هُنَاكَ حُلُولٌ عَمَلِيَّةٌ لِحِمَايَةِ البِيئَةِ.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practical solutions to protect the environment.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أَنْ نُقَلِّلَ اسْتِخْدَامَ البِلَاسْتِيكِ،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should reduce the use of plastic,</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وَيَجِبُ عَلَى المَدَارِسِ أَنْ تُعِيدَ تَدْوِيرَ الوَرَقِ.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schools must recycle paper.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كَمَا يَجِبُ عَلَى الحُكُومَاتِ أَنْ تَسْتَثْمِرَ فِي الطَّاقَةِ الشَّمْسِيَّةِ وَطَاقَةِ الرِّيَاحِ.</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also invest in solar and wind energy.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وَيُمْكِنُ لِلأُسَرِ أَنْ تُرَشِّدَ المَاءَ لِكَيْ تَحْمِيَ المَوَارِدَ الطَّبِيعِيَّةَ.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families can save water in order to protect natural resources.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people reduce?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Plastic 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Tree planting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transport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تقليل استخدام البلاستيك.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schools recycle?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Fuel</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Paper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تعيد تدوير الورق.</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governments invest 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plastic packaging</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Fossil-fuel cars only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and wind energy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الطاقة الشمسية وطاقة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can conserve water?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factories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only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يمكن للأسر.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families conserve water?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pollute rivers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protect natural resources</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waste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لكي تحمي الموارد الطبيعية.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structure assigns obligation to a named group?</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عَلَى ... أَنْ</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يَتَّسِمُ بِـ</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إِلَى</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identifies who is responsible.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البِلَاسْتِيكِ</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الوَرَقِ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الطَّاقَةِ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recommend and justify solutions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يَنْبَغِي أَنْ نَفْعَلَ؟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يَجِبُ عَلَى الحُكُومَةِ أَنْ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حَلٍّ أَكْثَرُ فَعَالِيَّةً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يَنْبَغِي أَنْ نُقَلِّلَ / نَزْرَعَ / نُعِيدَ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يَجِبُ عَلَى الحُكُومَةِ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cs typeface="Amiri" pitchFamily="2" charset="-78"/>
              </a:rPr>
              <a:t>فِي رَأْيِي، ___ أَكْثَرُ فَعَالِيَّةً لِأَنَّ ___ ، وَلٰكِنَّ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يَجِبُ عَلَى المَدْرَسَةِ أَنْ تَفْعَلَ؟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must the school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يَجِبُ عَلَى المَدْرَسَةِ أَنْ تَضَعَ حَاوِيَاتٍ لِإِعَادَةِ التَّدْوِيرِ، وَأَنْ تُنَظِّمَ حَمْلَةً لِكَيْ تُقَلِّلَ النُّفَايَاتِ.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school must put out recycling bins and organise a campaign in order to reduce waste.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problem + three solutions with yanbaghī an / yajibu an + verb in -a.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Solutions with who must act (ʿalā …) and why (li-kay).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individual + government responsibility, a limitation, and a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عَلَى الحُكُومَةِ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government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عَلَى الطُّلَّابِ أَنْ يُعِيدُوا التَّدْوِيرَ.</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must recycle.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لِكَيْ نَحْمِيَ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order to protect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مِنْ عُيُوبِ هٰذَا الحَلِّ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one limitation is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تُعَانِي مَدْرَسَتُنَا / مَدِينَتُنَا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school / town suffers from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يَنْبَغِي أَنْ نُقَلِّلَ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reduce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نَزْرَعَ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plant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يُمْكِنُ أَنْ نَسْتَخْدِمَ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can 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إِعَادَةُ التَّدْوِيرِ  ·  الطَّاقَةُ الشَّمْسِيَّةُ  ·  التَّشْجِيرُ  ·  النَّقْلُ العَامُّ  ·  نُقَلِّلَ  ·  نَزْرَعَ  ·  نُعِيدَ  ·  نَسْتَخْدِمَ  ·  يَنْبَغِي أَنْ  ·  يَجِبُ عَلَى … أَنْ  ·  لِكَيْ  ·  مِنَ الضَّرُورِيِّ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proposing solutions to one environmental problem.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the problem briefly.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ينبغي أن</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يجب على</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responsibility for individuals and government.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Evaluate one limitation and conclude.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لِحَلِّ هٰذِهِ المُشْكِلَةِ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solve this problem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حَمْلَةُ تَوْعِيَةٍ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awareness campaign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قَابِلَةٌ لِإِعَادَةِ الاسْتِخْدَامِ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reusable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عَلَاوَةً عَلَى ذٰلِكَ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moreover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عَمَلِيَّةٌ وَقَابِلَةٌ لِلتَّطْبِيقِ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practical and feasible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تُعَانِي مَدْرَسَتُنَا مِنْ زِيَادَةِ النُّفَايَاتِ البِلَاسْتِيكِيَّةِ. لِحَلِّ هٰذِهِ المُشْكِلَةِ، يَنْبَغِي أَنْ نُقَلِّلَ اسْتِخْدَامَ الأَكْوَابِ وَالأَكْيَاسِ الَّتِي تُسْتَعْمَلُ مَرَّةً وَاحِدَةً. وَيَجِبُ عَلَى الطُّلَّابِ أَنْ يُعِيدُوا التَّدْوِيرَ، كَمَا يَجِبُ عَلَى الإِدَارَةِ أَنْ تُوَفِّرَ حَاوِيَاتٍ مُنَاسِبَةً. وَيُمْكِنُ أَنْ نَسْتَخْدِمَ زُجَاجَاتٍ قَابِلَةً لِإِعَادَةِ الاسْتِخْدَامِ لِكَيْ نُقَلِّلَ كَمِّيَّةَ البِلَاسْتِيكِ. عَلَاوَةً عَلَى ذٰلِكَ، مِنَ الضَّرُورِيِّ أَنْ نَنْشُرَ الوَعْيَ البِيئِيَّ. فِي رَأْيِي، هٰذِهِ الخُطُوَاتُ عَمَلِيَّةٌ وَقَابِلَةٌ لِلتَّطْبِيقِ.</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school suffers from increasing plastic waste. To solve this problem, we should reduce the use of single-use cups and bags. Students must recycle, and the administration must provide suitable bins. We can use reusable bottles in order to reduce the amount of plastic. Moreover, it is necessary to spread environmental awareness. In my opinion, these steps are practical and feasible.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yanbaghī an + -a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yajibu ʿalā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five-verb form (-ū)</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 li-kay my verbs end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three solutions.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who must act (ʿalā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They / you all: -ū without -na.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evaluated a limitation.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form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نُقَلِّلَ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نُقَلِّلُ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نُقَلِّلْ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loses a final nūn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نَزْرَعَ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يُعِيدُوا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نُقَلِّلَ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expresses purpose?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نَزْرَعُ الأَشْجَارَ لِكَيْ نُحَسِّنَ الهَوَاءَ.</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نَزْرَعُ الأَشْجَارَ بِسَبَبِ الهَوَاءِ.</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نَزْرَعُ الأَشْجَارَ نَتِيجَةً لِلهَوَاءِ.</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form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نُقَلِّلَ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نُقَلِّلُ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نُقَلِّلْ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sound-ending verb takes fatḥa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loses a final nūn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نَزْرَعَ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يُعِيدُوا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نُقَلِّلَ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يعيدون</a:t>
            </a:r>
            <a:pPr algn="l" indent="0" marL="0">
              <a:buNone/>
            </a:pPr>
            <a:r>
              <a:rPr lang="en-US" sz="1050" i="1" dirty="0">
                <a:solidFill>
                  <a:srgbClr val="8A6D1E"/>
                </a:solidFill>
                <a:latin typeface="Calibri" pitchFamily="34" charset="0"/>
                <a:cs typeface="Amiri" pitchFamily="2" charset="-78"/>
              </a:rPr>
              <a:t> is one of the five verbs and becomes </a:t>
            </a:r>
            <a:pPr algn="l" indent="0" marL="0">
              <a:buNone/>
            </a:pPr>
            <a:r>
              <a:rPr lang="ar-SA" altLang="en-US" sz="1350" dirty="0">
                <a:solidFill>
                  <a:srgbClr val="8A6D1E"/>
                </a:solidFill>
                <a:latin typeface="Amiri" pitchFamily="2" charset="-78"/>
                <a:cs typeface="Amiri" pitchFamily="2" charset="-78"/>
              </a:rPr>
              <a:t>يعيدوا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expresses purpose?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نَزْرَعُ الأَشْجَارَ لِكَيْ نُحَسِّنَ الهَوَاءَ.</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نَزْرَعُ الأَشْجَارَ بِسَبَبِ الهَوَاءِ.</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نَزْرَعُ الأَشْجَارَ نَتِيجَةً لِلهَوَاءِ.</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introduces purpose.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school recycling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لِحَلِّ مُشْكِلَةِ النُّفَايَاتِ فِي المَدْرَسَةِ، يَنْبَغِي أَنْ نُقَلِّلَ الأَغْلِفَةَ البِلَاسْتِيكِيَّةَ، وَأَنْ نَضَعَ حَاوِيَاتٍ لِإِعَادَةِ التَّدْوِيرِ. وَيَجِبُ عَلَى الطُّلَّابِ أَنْ يَفْصِلُوا الوَرَقَ عَنِ البِلَاسْتِيكِ، كَمَا يَجِبُ عَلَى الإِدَارَةِ أَنْ تُنَظِّمَ حَمْلَةَ تَوْعِيَةٍ. وَيُمْكِنُ أَنْ نَسْتَخْدِمَ زُجَاجَاتٍ قَابِلَةً لِإِعَادَةِ الاسْتِخْدَامِ لِكَيْ نُقَلِّلَ كَمِّيَّةَ النُّفَايَاتِ.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لِحَلِّ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solve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الأَغْلِفَةَ البِلَاسْتِيكِيَّةَ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plastic packaging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نَضَعَ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put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حَاوِيَاتٍ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bins, containers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يَفْصِلُوا … عَنِ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separate … from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الإِدَارَةِ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administration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حَمْلَةَ تَوْعِيَةٍ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awareness campaign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زُجَاجَاتٍ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bottles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قَابِلَةً لِإِعَادَةِ الاسْتِخْدَامِ</a:t>
            </a:r>
            <a:endParaRPr lang="ar-SA" sz="135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reusable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كَمِّيَّةَ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amount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 plan designed to solve?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 exam results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waste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classrooms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reduced?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Awareness campaigns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recycling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packaging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Separate paper from plastic</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Throw everything together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more packaging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the administration organise?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match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awareness campaign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weather forecast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reusable item is suggested?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Bottles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Disposable cups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bags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reusable bottles?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water use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recycling impossible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the amount of waste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 plan designed to solve?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 exam results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 waste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classrooms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names </a:t>
            </a:r>
            <a:pPr algn="l" indent="0" marL="0">
              <a:buNone/>
            </a:pPr>
            <a:r>
              <a:rPr lang="ar-SA" altLang="en-US" sz="1350" dirty="0">
                <a:solidFill>
                  <a:srgbClr val="8A6D1E"/>
                </a:solidFill>
                <a:latin typeface="Amiri" pitchFamily="2" charset="-78"/>
                <a:cs typeface="Amiri" pitchFamily="2" charset="-78"/>
              </a:rPr>
              <a:t>مشكلة النفايات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reduced?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Awareness campaigns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Paper recycling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Plastic packaging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الأغلفة البلاستيكية.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Separate paper from plastic</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Throw everything together</a:t>
            </a:r>
            <a:endParaRPr lang="en-US" sz="12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more packaging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 يفصلوا الورق عن البلاستيك.</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the administration organise?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match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awareness campaign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weather forecast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حملة توعية.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reusable item is suggested?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Bottles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Disposable cups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 bags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زجاجات قابلة لإعادة الاستخدام.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reusable bottles?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water use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To make recycling impossible</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reduce the amount of waste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لكي نقلل كمية النفايات.</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Environmental Solutions — What Can Be Done?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accurate general advice?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نُوَفِّرُ المَاءَ.</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نُوَفِّرَ المَاءَ.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نُوَفِّرَ المَاءَ.</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assigns responsibility to governments?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يَجِبُ عَلَى الحُكُومَاتِ أَنْ تَسْتَثْمِرَ فِي الطَّاقَةِ النَّظِيفَةِ.</a:t>
            </a:r>
            <a:endParaRPr lang="ar-SA" sz="13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يَجِبُ الحُكُومَاتِ عَلَى الطَّاقَةِ.</a:t>
            </a:r>
            <a:endParaRPr lang="ar-SA" sz="13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يَنْبَغِي الحُكُومَاتُ تَسْتَثْمِرُ فِي الطَّاقَةِ.</a:t>
            </a:r>
            <a:endParaRPr lang="ar-SA" sz="13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purpose that matches using public transport.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نَزِيدَ الازدِحَامَ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نَسْتَهْلِكَ وَقُودًا أَكْثَرَ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نُقَلِّلَ الانْبِعَاثَاتِ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correctly follows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for “they recycle”?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يُعِيدُونَ التَّدْوِيرَ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يُعِيدُ التَّدْوِيرَ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يُعِيدُوا التَّدْوِيرَ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correct?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final fatḥa marks the subjunctive after </a:t>
            </a:r>
            <a:pPr algn="l" indent="0" marL="0">
              <a:buNone/>
            </a:pPr>
            <a:r>
              <a:rPr lang="ar-SA" altLang="en-US" sz="1650" dirty="0">
                <a:solidFill>
                  <a:srgbClr val="1F2A37"/>
                </a:solidFill>
                <a:latin typeface="Amiri" pitchFamily="2" charset="-78"/>
                <a:cs typeface="Amiri" pitchFamily="2" charset="-78"/>
              </a:rPr>
              <a:t>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dual form.</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lost the nūn of the five verbs.</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problem–solution response.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تَزْدَادُ النُّفَايَاتُ، لِذٰلِكَ يَجِبُ أَنْ نَرْمِيَهَا فِي البَحْرِ.</a:t>
            </a:r>
            <a:endParaRPr lang="ar-SA" sz="13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تَزْدَادُ النُّفَايَاتُ، لِذٰلِكَ يَجِبُ أَنْ نُعِيدَ التَّدْوِيرَ.</a:t>
            </a:r>
            <a:endParaRPr lang="ar-SA" sz="13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تَزْدَادُ النُّفَايَاتُ، لِذٰلِكَ يَنْبَغِي أَنْ نَزِيدَهَا.</a:t>
            </a:r>
            <a:endParaRPr lang="ar-SA" sz="13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accurate general advice?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يَنْبَغِي أَنْ نُوَفِّرُ المَاءَ.</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يَنْبَغِي أَنْ نُوَفِّرَ المَاءَ.</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يَنْبَغِي نُوَفِّرَ المَاءَ.</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use </a:t>
            </a:r>
            <a:pPr algn="l" indent="0" marL="0">
              <a:buNone/>
            </a:pPr>
            <a:r>
              <a:rPr lang="ar-SA" altLang="en-US" sz="1350" dirty="0">
                <a:solidFill>
                  <a:srgbClr val="8A6D1E"/>
                </a:solidFill>
                <a:latin typeface="Amiri" pitchFamily="2" charset="-78"/>
                <a:cs typeface="Amiri" pitchFamily="2" charset="-78"/>
              </a:rPr>
              <a:t>نوفّرَ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assigns responsibility to governments?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يَجِبُ عَلَى الحُكُومَاتِ أَنْ تَسْتَثْمِرَ فِي الطَّاقَةِ النَّظِيفَةِ.</a:t>
            </a:r>
            <a:endParaRPr lang="ar-SA" sz="13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يَجِبُ الحُكُومَاتِ عَلَى الطَّاقَةِ.</a:t>
            </a:r>
            <a:endParaRPr lang="ar-SA" sz="13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يَنْبَغِي الحُكُومَاتُ تَسْتَثْمِرُ فِي الطَّاقَةِ.</a:t>
            </a:r>
            <a:endParaRPr lang="ar-SA" sz="13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obligation pattern is </a:t>
            </a:r>
            <a:pPr algn="l" indent="0" marL="0">
              <a:buNone/>
            </a:pPr>
            <a:r>
              <a:rPr lang="ar-SA" altLang="en-US" sz="1350" dirty="0">
                <a:solidFill>
                  <a:srgbClr val="8A6D1E"/>
                </a:solidFill>
                <a:latin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 responsible group +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purpose that matches using public transport.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نَزِيدَ الازدِحَامَ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نَسْتَهْلِكَ وَقُودًا أَكْثَرَ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لِكَيْ نُقَلِّلَ الانْبِعَاثَاتِ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Public transport can reduce emissions.</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correctly follows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for “they recycle”?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يُعِيدُونَ التَّدْوِيرَ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يُعِيدُ التَّدْوِيرَ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يُعِيدُوا التَّدْوِيرَ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of </a:t>
            </a:r>
            <a:pPr algn="l" indent="0" marL="0">
              <a:buNone/>
            </a:pPr>
            <a:r>
              <a:rPr lang="ar-SA" altLang="en-US" sz="1350" dirty="0">
                <a:solidFill>
                  <a:srgbClr val="8A6D1E"/>
                </a:solidFill>
                <a:latin typeface="Amiri" pitchFamily="2" charset="-78"/>
                <a:cs typeface="Amiri" pitchFamily="2" charset="-78"/>
              </a:rPr>
              <a:t>يعيدون</a:t>
            </a:r>
            <a:pPr algn="l" indent="0" marL="0">
              <a:buNone/>
            </a:pPr>
            <a:r>
              <a:rPr lang="en-US" sz="1050" i="1" dirty="0">
                <a:solidFill>
                  <a:srgbClr val="8A6D1E"/>
                </a:solidFill>
                <a:latin typeface="Calibri" pitchFamily="34" charset="0"/>
                <a:cs typeface="Amiri" pitchFamily="2" charset="-78"/>
              </a:rPr>
              <a:t> is omitted.</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correct?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Its final fatḥa marks the subjunctive after </a:t>
            </a:r>
            <a:pPr algn="l" indent="0" marL="0">
              <a:buNone/>
            </a:pPr>
            <a:r>
              <a:rPr lang="ar-SA" altLang="en-US" sz="1500" b="1" dirty="0">
                <a:solidFill>
                  <a:srgbClr val="1F2A37"/>
                </a:solidFill>
                <a:latin typeface="Amiri" pitchFamily="2" charset="-78"/>
                <a:cs typeface="Amiri" pitchFamily="2" charset="-78"/>
              </a:rPr>
              <a:t>أَنْ</a:t>
            </a:r>
            <a:pPr algn="l" indent="0" marL="0">
              <a:buNone/>
            </a:pPr>
            <a:r>
              <a:rPr lang="en-US" sz="1150" b="1" dirty="0">
                <a:solidFill>
                  <a:srgbClr val="1F2A37"/>
                </a:solidFill>
                <a:latin typeface="Calibri" pitchFamily="34" charset="0"/>
                <a:cs typeface="Amiri" pitchFamily="2" charset="-78"/>
              </a:rPr>
              <a:t>.</a:t>
            </a:r>
            <a:endParaRPr lang="en-US" sz="11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dual form.</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lost the nūn of the five verbs.</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has no five-verb nūn to remove.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problem–solution response.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تَزْدَادُ النُّفَايَاتُ، لِذٰلِكَ يَجِبُ أَنْ نَرْمِيَهَا فِي البَحْرِ.</a:t>
            </a:r>
            <a:endParaRPr lang="ar-SA" sz="13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تَزْدَادُ النُّفَايَاتُ، لِذٰلِكَ يَجِبُ أَنْ نُعِيدَ التَّدْوِيرَ.</a:t>
            </a:r>
            <a:endParaRPr lang="ar-SA" sz="13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تَزْدَادُ النُّفَايَاتُ، لِذٰلِكَ يَنْبَغِي أَنْ نَزِيدَهَا.</a:t>
            </a:r>
            <a:endParaRPr lang="ar-SA" sz="13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Recycling is a relevant solution to increasing waste.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D4-L05 · The Digital World — Technology and Social Media</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تَطْبِيقٌ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app</a:t>
            </a:r>
            <a:pPr indent="0" marL="0">
              <a:buNone/>
            </a:pPr>
            <a:r>
              <a:rPr lang="en-US" sz="1000" i="1" dirty="0">
                <a:solidFill>
                  <a:srgbClr val="5A6472"/>
                </a:solidFill>
                <a:latin typeface="Calibri" pitchFamily="34" charset="0"/>
                <a:cs typeface="Amiri" pitchFamily="2" charset="-78"/>
              </a:rPr>
              <a:t>  pl. تَطْبِيقَاتٌ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مِنَصَّةٌ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platform</a:t>
            </a:r>
            <a:pPr indent="0" marL="0">
              <a:buNone/>
            </a:pPr>
            <a:r>
              <a:rPr lang="en-US" sz="1000" i="1" dirty="0">
                <a:solidFill>
                  <a:srgbClr val="5A6472"/>
                </a:solidFill>
                <a:latin typeface="Calibri" pitchFamily="34" charset="0"/>
                <a:cs typeface="Amiri" pitchFamily="2" charset="-78"/>
              </a:rPr>
              <a:t>  pl. مِنَصَّاتٌ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يَنْشُرُ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posts, publishes</a:t>
            </a:r>
            <a:pPr indent="0" marL="0">
              <a:buNone/>
            </a:pPr>
            <a:r>
              <a:rPr lang="en-US" sz="1000" i="1" dirty="0">
                <a:solidFill>
                  <a:srgbClr val="5A6472"/>
                </a:solidFill>
                <a:latin typeface="Calibri" pitchFamily="34" charset="0"/>
                <a:cs typeface="Amiri" pitchFamily="2" charset="-78"/>
              </a:rPr>
              <a:t>  أَنْشُرُ I</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الخُصُوصِيَّةُ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privacy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الذَّكَاءُ الاصْطِنَاعِيُّ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artificial intelligence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app do you use most?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أَسْتَخْدِمُ تَطْبِيقَ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8 solution words; write 5 sentences with yanbaghī an +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Solutions to one problem in 100–120 words with yajibu ʿalā and li-kay.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solutions with responsibility and a limitation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D4-L05 · The Digital World — Technology and Social Media</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العَالَمُ الرَّقْمِيُّ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should / must / can / in order to + verb in -a — they &amp; you all: -ūna → -ū.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D4-L04 · Environmental Solutions — What Can Be Done?</dc:title>
  <dc:subject>PptxGenJS Presentation</dc:subject>
  <dc:creator>Al Madina Online School · Arabic Department</dc:creator>
  <cp:lastModifiedBy>Al Madina Online School · Arabic Department</cp:lastModifiedBy>
  <cp:revision>1</cp:revision>
  <dcterms:created xsi:type="dcterms:W3CDTF">2026-10-11T06:40:51Z</dcterms:created>
  <dcterms:modified xsi:type="dcterms:W3CDTF">2026-10-11T06:40:51Z</dcterms:modified>
</cp:coreProperties>
</file>