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D4 Environment, Weather and Technology › D4-L04. The website lesson “Environmental Solutions — What Can Be Done?”: vocabulary, grammar rules and quiz, patterns, common mistakes, sorter, listening, reading, speaking prompts and model, writing task and model, differentiation, final check and the lesson mission. Picture match: website visual game “Environmental Solutions — What Can Be Done?”.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8 solution words + “we should …” with the verb in -a (يَنْبَغِي أَنْ نُقَلِّلَ / نَزْرَعَ / نُعِيدَ التَّدْوِيرَ). Develop: who must act (يَجِبُ عَلَى الحُكُومَةِ / المَدَارِسِ أَنْ …) and a purpose with لِكَيْ. Stretch: individual + government responsibility, a limitation, and the five verbs (أَنْ يُعِيدُوا).
• The -a after أَنْ is familiar (F4-L06, F5-L10, D3-L03 / L04). NEW: “they / you all” verbs drop -na: يُعِيدُونَ → أَنْ يُعِيدُوا.
• Positive lesson after D4-L03: the class makes a real “green pledge” for the school in the You Do.
• Islamic Studies link (teacher choice): stewardship of the earth (الأَرْضُ أَمَانَةٌ) and the Prophetic teaching against waste even at a flowing river.
• TEACHER-WRITTEN ITEMS: three website quiz items had options differing only in final vowels (distractors replaced with meaningful errors); English added to the website speaking model.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D4-L03. Questions 3–4 retrieve D4-L03; question 5 retrieves D3-L04 (li-kay + -a).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Problem → solution: we should …, the government must …, in order to … — verb in -a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حل، حکومت، ضروری، استعمال are shared. طاقت in Urdu means strength or power; in Arabic طَاقَةٌ is energy (الطَّاقَةُ الشَّمْسِيَّةُ = solar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Environmental solutions (website vocabulary (1 of 2)). Hear → Say → See → Use. Transliteration is printed for Core students (cover it for Develop/Stretch).
Solutions: noun phrases (verbal nouns): إِعَادَةُ التَّدْوِيرِ = the re-doing of recycling, تَرْشِيدُ المِيَاهِ = rationalising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Environmental solutions (website vocabulary (2 of 2)). Hear → Say → See → Use. Transliteration is printed for Core students (cover it for Develop/Stretch).
Solutions: noun phrases (verbal nouns): إِعَادَةُ التَّدْوِيرِ = the re-doing of recycling, تَرْشِيدُ المِيَاهِ = rationalising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Action verbs (website vocabulary (1 of 2)). Hear → Say → See → Use. Transliteration is printed for Core students (cover it for Develop/Stretch).
Action verbs in the “we” form (na- / nu-). Cards show we · I · they — the “they” form ends in -ūna (it loses -na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Action verbs (website vocabulary (2 of 2)). Hear → Say → See → Use. Transliteration is printed for Core students (cover it for Develop/Stretch).
Action verbs in the “we” form (na- / nu-). Cards show we · I · they — the “they” form ends in -ūna (it loses -na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Advice, obligation and purpose (website vocabulary). Hear → Say → See → Use. Transliteration is printed for Core students (cover it for Develop/Stretch).
Advice, obligation and purpose: every one is followed by أَنْ / لِكَيْ + a verb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“Advice with يَنْبَغِي أَنْ” (a sound-ending present verb changes its final ḍamma to fatḥa after أَنْ), “Obligation for a person or group” (name the responsible person or group after عَلَى) and “Purpose with لِكَيْ”. Website examples as shown.
Agreement reminder: يَجِبُ عَلَى الحُكُومَةِ أَنْ تَـ… (the government = she); عَلَى المَدَارِسِ أَنْ تُعِيدَ (non-human plural = she).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 “The five verbs after أَنْ” (only the five verbs lose their final nūn: يُعِيدُونَ → أَنْ يُعِيدُوا; ordinary forms such as نُقَلِّلُ do not contain that nūn). Website common error: “Do not say that every subjunctive verb ‘loses nūn’. Only the five verbs lose their nūn. A form such as نُقَلِّلَ is marked by final fatḥa.”
The five verbs: يَفْعَلُونَ، تَفْعَلُونَ، يَفْعَلَانِ، تَفْعَلَانِ، تَفْعَلِينَ (Stretch: تَفْعَلِينَ → أَنْ تَفْعَلِي, as in F5 advice to a girl).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“Study each structure in context, compare accurate and inaccurate forms, then apply it in meaningful Arabic.”
• Advice with يَنْبَغِي أَنْ: A sound-ending present verb changes its final ḍamma to fatḥa after أَنْ: نُقَلِّلُ → نُقَلِّلَ. It does not “lose a nūn”.
• Obligation for a person or group: Name the responsible person or group after عَلَى.
• Purpose with لِكَيْ: لِكَيْ explains the intended purpose. A sound-ending verb takes fatḥa.
• The five verbs after أَنْ: Only the five verbs lose their final nūn: يُعِيدُونَ → أَنْ يُعِيدُوا. Ordinary forms such as نُقَلِّلُ do not contain that nūn.
Website common error: Do not say that every subjunctive verb “loses nūn”. Only the five verbs lose their nūn. A form such as نُقَلِّلَ is marked by final fatḥa.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4,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the website writing model (first part), built step by step: problem → we should → who must → why. Highlight every verb after أَنْ / لِكَيْ.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Environmental Solutions — What Can Be Done?”)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what happens to the verb after أَنْ? (-a). Other cards: يَجِبُ أَنْ نَزْرَعَ أَشْجَارًا أَكْثَرَ · يَجِبُ أَنْ نُقَلِّلَ اسْتِهْلَاكَ الطَّاقَةِ · يُمْكِنُ أَنْ نَسْتَخْدِمَ الطَّاقَةَ الشَّمْسِيَّةَ.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Environmental Solutions — What Can Be Done?”)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what happens to the verb after أَنْ? (-a). Other cards: يَجِبُ أَنْ نَزْرَعَ أَشْجَارًا أَكْثَرَ · يَجِبُ أَنْ نُقَلِّلَ اسْتِهْلَاكَ الطَّاقَةِ · يُمْكِنُ أَنْ نَسْتَخْدِمَ الطَّاقَةَ الشَّمْسِيَّةَ.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build a solution sentence with one item from each group: يَنْبَغِي أَنْ نُعِيدَ التَّدْوِيرَ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build a solution sentence with one item from each group: يَنْبَغِي أَنْ نُعِيدَ التَّدْوِيرَ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2, 5,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1–3. Develop / Stretch: all 6.
Listen 1: just listen. Listen 2: note answers. Then chat the letters.
Support: after the second listening, show the read-along slide (Arabic + English, line by line) for Core students.
SCRIPT (read aloud):
هُنَاكَ حُلُولٌ عَمَلِيَّةٌ لِحِمَايَةِ البِيئَةِ. يَنْبَغِي أَنْ نُقَلِّلَ اسْتِخْدَامَ البِلَاسْتِيكِ، وَيَجِبُ عَلَى المَدَارِسِ أَنْ تُعِيدَ تَدْوِيرَ الوَرَقِ. كَمَا يَجِبُ عَلَى الحُكُومَاتِ أَنْ تَسْتَثْمِرَ فِي الطَّاقَةِ الشَّمْسِيَّةِ وَطَاقَةِ الرِّيَاحِ. وَيُمْكِنُ لِلأُسَرِ أَنْ تُرَشِّدَ المَاءَ لِكَيْ تَحْمِيَ المَوَارِدَ الطَّبِيعِيَّةَ.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prompts and model. Class “green pledge”: each student says one يَنْبَغِي أَنْ … for the school; the teacher writes the best five on a slide for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the vocabulary banks and sentence frames to produce four accurate connected sentences. · Develop — Use several target structures in a linked paragraph or sustained spoken answer. · Stretch — Evaluate, compare or qualify ideas using precise evidence and formal linking language.
Website writing task (Stretch): Write 120–140 Arabic words proposing solutions to one environmental problem.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يَنْبَغِي أَنْ نُقَلِّلَ · يَجِبُ عَلَى الطُّلَّابِ أَنْ يُعِيدُوا (five verbs) · يَجِبُ عَلَى الإِدَارَةِ أَنْ تُوَفِّرَ · لِكَيْ نُقَلِّلَ · مِنَ الضَّرُورِيِّ أَنْ نَنْشُرَ · فِي رَأْيِي … قَابِلَةٌ لِلتَّطْبِيقِ.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(D4-L05 · The Digital World — Technology and Social Media) will spend class time USING this language, so students prepare it tonight — short, simple, easy to access (school guidance: “Simple, Short, Interesting, Relevant, Easy to access”). The five words come from the website D4-L05 vocabulary (the digital world).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D4  ·  D4-L04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D4-L04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Environmental Solutions — What Can Be Done?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الحُلُولُ البِيئِيَّةُ — مَاذَا يُمْكِنُ أَنْ نَفْعَلَ؟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Propose and justify solutions: what we should do (</a:t>
            </a:r>
            <a:pPr algn="l" indent="0" marL="0">
              <a:buNone/>
            </a:pPr>
            <a:r>
              <a:rPr lang="ar-SA" altLang="en-US" sz="1800" dirty="0">
                <a:solidFill>
                  <a:srgbClr val="C6D2E6"/>
                </a:solidFill>
                <a:latin typeface="Amiri" pitchFamily="2" charset="-78"/>
                <a:ea typeface="Amiri" pitchFamily="2" charset="-78"/>
                <a:cs typeface="Amiri" pitchFamily="2" charset="-78"/>
              </a:rPr>
              <a:t>يَنْبَغِي أَنْ نُقَلِّلَ</a:t>
            </a:r>
            <a:pPr algn="l" indent="0" marL="0">
              <a:buNone/>
            </a:pPr>
            <a:r>
              <a:rPr lang="en-US" sz="1400" dirty="0">
                <a:solidFill>
                  <a:srgbClr val="C6D2E6"/>
                </a:solidFill>
                <a:latin typeface="Calibri" pitchFamily="34" charset="0"/>
                <a:cs typeface="Amiri" pitchFamily="2" charset="-78"/>
              </a:rPr>
              <a:t>), who must act (</a:t>
            </a:r>
            <a:pPr algn="l" indent="0" marL="0">
              <a:buNone/>
            </a:pPr>
            <a:r>
              <a:rPr lang="ar-SA" altLang="en-US" sz="1800" dirty="0">
                <a:solidFill>
                  <a:srgbClr val="C6D2E6"/>
                </a:solidFill>
                <a:latin typeface="Amiri" pitchFamily="2" charset="-78"/>
                <a:ea typeface="Amiri" pitchFamily="2" charset="-78"/>
                <a:cs typeface="Amiri" pitchFamily="2" charset="-78"/>
              </a:rPr>
              <a:t>يَجِبُ عَلَى الحُكُومَةِ أَنْ</a:t>
            </a:r>
            <a:pPr algn="l" indent="0" marL="0">
              <a:buNone/>
            </a:pPr>
            <a:r>
              <a:rPr lang="en-US" sz="1400" dirty="0">
                <a:solidFill>
                  <a:srgbClr val="C6D2E6"/>
                </a:solidFill>
                <a:latin typeface="Calibri" pitchFamily="34" charset="0"/>
                <a:cs typeface="Amiri" pitchFamily="2" charset="-78"/>
              </a:rPr>
              <a:t> …), why (</a:t>
            </a:r>
            <a:pPr algn="l" indent="0" marL="0">
              <a:buNone/>
            </a:pPr>
            <a:r>
              <a:rPr lang="ar-SA" altLang="en-US" sz="1800" dirty="0">
                <a:solidFill>
                  <a:srgbClr val="C6D2E6"/>
                </a:solidFill>
                <a:latin typeface="Amiri" pitchFamily="2" charset="-78"/>
                <a:ea typeface="Amiri" pitchFamily="2" charset="-78"/>
                <a:cs typeface="Amiri" pitchFamily="2" charset="-78"/>
              </a:rPr>
              <a:t>لِكَيْ</a:t>
            </a:r>
            <a:pPr algn="l" indent="0" marL="0">
              <a:buNone/>
            </a:pPr>
            <a:r>
              <a:rPr lang="en-US" sz="1400" dirty="0">
                <a:solidFill>
                  <a:srgbClr val="C6D2E6"/>
                </a:solidFill>
                <a:latin typeface="Calibri" pitchFamily="34" charset="0"/>
                <a:cs typeface="Amiri" pitchFamily="2" charset="-78"/>
              </a:rPr>
              <a:t> …) — with the verb in -a after </a:t>
            </a:r>
            <a:pPr algn="l" indent="0" marL="0">
              <a:buNone/>
            </a:pPr>
            <a:r>
              <a:rPr lang="ar-SA" altLang="en-US" sz="1800" dirty="0">
                <a:solidFill>
                  <a:srgbClr val="C6D2E6"/>
                </a:solidFill>
                <a:latin typeface="Amiri" pitchFamily="2" charset="-78"/>
                <a:ea typeface="Amiri" pitchFamily="2" charset="-78"/>
                <a:cs typeface="Amiri" pitchFamily="2" charset="-78"/>
              </a:rPr>
              <a:t>أَنْ / لِكَيْ</a:t>
            </a:r>
            <a:pPr algn="l" indent="0" marL="0">
              <a:buNone/>
            </a:pPr>
            <a:r>
              <a:rPr lang="en-US" sz="1400" dirty="0">
                <a:solidFill>
                  <a:srgbClr val="C6D2E6"/>
                </a:solidFill>
                <a:latin typeface="Calibri" pitchFamily="34" charset="0"/>
                <a:cs typeface="Amiri" pitchFamily="2" charset="-78"/>
              </a:rPr>
              <a:t>, and the -ūna → -ū change for “they / you all”.</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D4-L04 · Development D4 · Environment, Weather and Technology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D4 › D4-L04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Solutions, “we” verbs, should / must / in order to — and the -a ending.</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the words, fix and listen: practical solutions.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D4-L05.</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إِعَادَةُ التَّدْوِيرِ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renewable energy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recycling</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tree planting</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يَنْبَغِي أَنْ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should</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leads to</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of</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يُؤَدِّي التَّلَوُّثُ</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أَمْرَاضٍ</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passive?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يَقْطَعُونَ الأَشْجَارَ.</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قَطَعْنَا الأَشْجَارَ.</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تُقْطَعُ الأَشْجَارُ.</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سَأَدْرُسُ بِجِدٍّ لِكَيْ</a:t>
            </a:r>
            <a:pPr algn="l" indent="0" marL="0">
              <a:buNone/>
            </a:pPr>
            <a:r>
              <a:rPr lang="en-US" sz="1250" b="1" dirty="0">
                <a:solidFill>
                  <a:srgbClr val="1B3B6F"/>
                </a:solidFill>
                <a:latin typeface="Calibri" pitchFamily="34" charset="0"/>
                <a:cs typeface="Amiri" pitchFamily="2" charset="-78"/>
              </a:rPr>
              <a:t> ___ .</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أَنْجَحَ</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نَجَحْتُ</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سَأَنْجَحُ</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إِعَادَةُ التَّدْوِيرِ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renewable energy</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recycling</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tree planting</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(D4-L03).</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يَنْبَغِي أَنْ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should</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leads to</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because of</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(D4-L03).</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يُؤَدِّي التَّلَوُّثُ</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أَمْرَاضٍ</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D4-L03.</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passive?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يَقْطَعُونَ الأَشْجَارَ.</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قَطَعْنَا الأَشْجَارَ.</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تُقْطَعُ الأَشْجَارُ.</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D4-L03: tu-…-a-.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سَأَدْرُسُ بِجِدٍّ لِكَيْ</a:t>
            </a:r>
            <a:pPr algn="l" indent="0" marL="0">
              <a:buNone/>
            </a:pPr>
            <a:r>
              <a:rPr lang="en-US" sz="1250" b="1" dirty="0">
                <a:solidFill>
                  <a:srgbClr val="1B3B6F"/>
                </a:solidFill>
                <a:latin typeface="Calibri" pitchFamily="34" charset="0"/>
                <a:cs typeface="Amiri" pitchFamily="2" charset="-78"/>
              </a:rPr>
              <a:t> ___ .</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أَنْجَحَ</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نَجَحْتُ</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سَأَنْجَحُ</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D3-L04: li-kay + verb in -a.</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Problem → solution: we should …, the government must …, in order to … — verb in -a every time.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يَنْبَغِي أَنْ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نُقَلِّلَ</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يَجِبُ عَلَى الحُكُومَةِ أَنْ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تَسْتَثْمِرَ</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لِكَيْ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نَحْمِيَ</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البِيئَةَ</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practical environmental solutions in Arabic.</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Give advice with </a:t>
            </a:r>
            <a:pPr algn="l" indent="0" marL="0">
              <a:buNone/>
            </a:pPr>
            <a:r>
              <a:rPr lang="ar-SA" altLang="en-US" sz="1700" dirty="0">
                <a:solidFill>
                  <a:srgbClr val="1F2A37"/>
                </a:solidFill>
                <a:latin typeface="Amiri" pitchFamily="2" charset="-78"/>
                <a:ea typeface="Amiri" pitchFamily="2" charset="-78"/>
                <a:cs typeface="Amiri" pitchFamily="2" charset="-78"/>
              </a:rPr>
              <a:t>يَنْبَغِي أَنْ</a:t>
            </a:r>
            <a:pPr algn="l" indent="0" marL="0">
              <a:buNone/>
            </a:pPr>
            <a:r>
              <a:rPr lang="en-US" sz="1300" dirty="0">
                <a:solidFill>
                  <a:srgbClr val="1F2A37"/>
                </a:solidFill>
                <a:latin typeface="Calibri" pitchFamily="34" charset="0"/>
                <a:cs typeface="Amiri" pitchFamily="2" charset="-78"/>
              </a:rPr>
              <a:t> + verb in -a.</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Say who must act with </a:t>
            </a:r>
            <a:pPr algn="l" indent="0" marL="0">
              <a:buNone/>
            </a:pPr>
            <a:r>
              <a:rPr lang="ar-SA" altLang="en-US" sz="1700" dirty="0">
                <a:solidFill>
                  <a:srgbClr val="1F2A37"/>
                </a:solidFill>
                <a:latin typeface="Amiri" pitchFamily="2" charset="-78"/>
                <a:ea typeface="Amiri" pitchFamily="2" charset="-78"/>
                <a:cs typeface="Amiri" pitchFamily="2" charset="-78"/>
              </a:rPr>
              <a:t>يَجِبُ عَلَى … أَنْ</a:t>
            </a:r>
            <a:pPr algn="l" indent="0" marL="0">
              <a:buNone/>
            </a:pPr>
            <a:r>
              <a:rPr lang="en-US" sz="1300" dirty="0">
                <a:solidFill>
                  <a:srgbClr val="1F2A37"/>
                </a:solidFill>
                <a:latin typeface="Calibri" pitchFamily="34" charset="0"/>
                <a:cs typeface="Amiri" pitchFamily="2" charset="-78"/>
              </a:rPr>
              <a:t> and why with </a:t>
            </a:r>
            <a:pPr algn="l" indent="0" marL="0">
              <a:buNone/>
            </a:pPr>
            <a:r>
              <a:rPr lang="ar-SA" altLang="en-US" sz="1700" dirty="0">
                <a:solidFill>
                  <a:srgbClr val="1F2A37"/>
                </a:solidFill>
                <a:latin typeface="Amiri" pitchFamily="2" charset="-78"/>
                <a:ea typeface="Amiri" pitchFamily="2" charset="-78"/>
                <a:cs typeface="Amiri" pitchFamily="2" charset="-78"/>
              </a:rPr>
              <a:t>لِكَيْ</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Propose and evaluate solutions to one problem.</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eight solutions.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what we should do.</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who must act and why.</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li-kay with the verb in -a.</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share responsibility between people and government.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evaluate a limitation of a solution.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Environmental solutions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Action verbs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Advice, obligation and purpose · 6</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طَاقَةٌ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‎طاقت‎ </a:t>
            </a:r>
            <a:pPr indent="0" marL="0">
              <a:buNone/>
            </a:pPr>
            <a:r>
              <a:rPr lang="en-US" sz="950" b="1" dirty="0">
                <a:solidFill>
                  <a:srgbClr val="2E8B57"/>
                </a:solidFill>
                <a:latin typeface="Calibri" pitchFamily="34" charset="0"/>
                <a:cs typeface="Amiri" pitchFamily="2" charset="-78"/>
              </a:rPr>
              <a:t> tāqat · Urdu: strength · Arabic: energy</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حَلٌّ</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‎حل‎ </a:t>
            </a:r>
            <a:pPr indent="0" marL="0">
              <a:buNone/>
            </a:pPr>
            <a:r>
              <a:rPr lang="en-US" sz="950" b="1" dirty="0">
                <a:solidFill>
                  <a:srgbClr val="2E8B57"/>
                </a:solidFill>
                <a:latin typeface="Calibri" pitchFamily="34" charset="0"/>
                <a:cs typeface="Amiri" pitchFamily="2" charset="-78"/>
              </a:rPr>
              <a:t> hal · solution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حُكُومَةٌ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‎حکومت‎ </a:t>
            </a:r>
            <a:pPr indent="0" marL="0">
              <a:buNone/>
            </a:pPr>
            <a:r>
              <a:rPr lang="en-US" sz="950" b="1" dirty="0">
                <a:solidFill>
                  <a:srgbClr val="2E8B57"/>
                </a:solidFill>
                <a:latin typeface="Calibri" pitchFamily="34" charset="0"/>
                <a:cs typeface="Amiri" pitchFamily="2" charset="-78"/>
              </a:rPr>
              <a:t> hukūmat · government</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ضَرُورِيٌّ</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‎ضروری‎ </a:t>
            </a:r>
            <a:pPr indent="0" marL="0">
              <a:buNone/>
            </a:pPr>
            <a:r>
              <a:rPr lang="en-US" sz="950" b="1" dirty="0">
                <a:solidFill>
                  <a:srgbClr val="2E8B57"/>
                </a:solidFill>
                <a:latin typeface="Calibri" pitchFamily="34" charset="0"/>
                <a:cs typeface="Amiri" pitchFamily="2" charset="-78"/>
              </a:rPr>
              <a:t> zarūrī · necessary</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اسْتِعْمَالٌ</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‎استعمال‎ </a:t>
            </a:r>
            <a:pPr indent="0" marL="0">
              <a:buNone/>
            </a:pPr>
            <a:r>
              <a:rPr lang="en-US" sz="950" b="1" dirty="0">
                <a:solidFill>
                  <a:srgbClr val="2E8B57"/>
                </a:solidFill>
                <a:latin typeface="Calibri" pitchFamily="34" charset="0"/>
                <a:cs typeface="Amiri" pitchFamily="2" charset="-78"/>
              </a:rPr>
              <a:t> istiʿmāl · use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Environmental solutions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إِعَادَةُ التَّدْوِيرِ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recycling</a:t>
            </a:r>
            <a:endParaRPr lang="en-US" sz="1350" dirty="0"/>
          </a:p>
          <a:p>
            <a:pPr indent="0" marL="0">
              <a:buNone/>
            </a:pPr>
            <a:r>
              <a:rPr lang="en-US" sz="1100" i="1" dirty="0">
                <a:solidFill>
                  <a:srgbClr val="5A6472"/>
                </a:solidFill>
                <a:latin typeface="Calibri" pitchFamily="34" charset="0"/>
                <a:cs typeface="Amiri" pitchFamily="2" charset="-78"/>
              </a:rPr>
              <a:t>i-ʿā-da-tu at-tad-wī-ri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الطَّاقَةُ المُتَجَدِّدَةُ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renewable energy</a:t>
            </a:r>
            <a:endParaRPr lang="en-US" sz="1350" dirty="0"/>
          </a:p>
          <a:p>
            <a:pPr indent="0" marL="0">
              <a:buNone/>
            </a:pPr>
            <a:r>
              <a:rPr lang="en-US" sz="1100" i="1" dirty="0">
                <a:solidFill>
                  <a:srgbClr val="5A6472"/>
                </a:solidFill>
                <a:latin typeface="Calibri" pitchFamily="34" charset="0"/>
                <a:cs typeface="Amiri" pitchFamily="2" charset="-78"/>
              </a:rPr>
              <a:t>aṭ-ṭā-qa-tu al-mu-ta-jad-di-da-tu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الطَّاقَةُ الشَّمْسِيَّةُ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solar energy</a:t>
            </a:r>
            <a:endParaRPr lang="en-US" sz="1350" dirty="0"/>
          </a:p>
          <a:p>
            <a:pPr indent="0" marL="0">
              <a:buNone/>
            </a:pPr>
            <a:r>
              <a:rPr lang="en-US" sz="1100" i="1" dirty="0">
                <a:solidFill>
                  <a:srgbClr val="5A6472"/>
                </a:solidFill>
                <a:latin typeface="Calibri" pitchFamily="34" charset="0"/>
                <a:cs typeface="Amiri" pitchFamily="2" charset="-78"/>
              </a:rPr>
              <a:t>aṭ-ṭā-qa-tu ash-sham-siy-ya-tu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طَاقَةُ الرِّيَاحِ</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wind energy</a:t>
            </a:r>
            <a:endParaRPr lang="en-US" sz="1350" dirty="0"/>
          </a:p>
          <a:p>
            <a:pPr indent="0" marL="0">
              <a:buNone/>
            </a:pPr>
            <a:r>
              <a:rPr lang="en-US" sz="1100" i="1" dirty="0">
                <a:solidFill>
                  <a:srgbClr val="5A6472"/>
                </a:solidFill>
                <a:latin typeface="Calibri" pitchFamily="34" charset="0"/>
                <a:cs typeface="Amiri" pitchFamily="2" charset="-78"/>
              </a:rPr>
              <a:t>ṭā-qa-tu ar-ri-yā-ḥi</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4" name="Shape 4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التَّشْجِيرُ</a:t>
            </a:r>
            <a:endParaRPr lang="ar-SA" sz="3000" dirty="0"/>
          </a:p>
        </p:txBody>
      </p:sp>
      <p:sp>
        <p:nvSpPr>
          <p:cNvPr id="47" name="Text 4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afforestation / tree planting</a:t>
            </a:r>
            <a:endParaRPr lang="en-US" sz="1350" dirty="0"/>
          </a:p>
          <a:p>
            <a:pPr indent="0" marL="0">
              <a:buNone/>
            </a:pPr>
            <a:r>
              <a:rPr lang="en-US" sz="1100" i="1" dirty="0">
                <a:solidFill>
                  <a:srgbClr val="5A6472"/>
                </a:solidFill>
                <a:latin typeface="Calibri" pitchFamily="34" charset="0"/>
                <a:cs typeface="Amiri" pitchFamily="2" charset="-78"/>
              </a:rPr>
              <a:t>at-tash-jī-ru</a:t>
            </a:r>
            <a:endParaRPr lang="en-US" sz="13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Environmental solutions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تَرْشِيدُ المِيَاهِ</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water conservation</a:t>
            </a:r>
            <a:endParaRPr lang="en-US" sz="1350" dirty="0"/>
          </a:p>
          <a:p>
            <a:pPr indent="0" marL="0">
              <a:buNone/>
            </a:pPr>
            <a:r>
              <a:rPr lang="en-US" sz="1100" i="1" dirty="0">
                <a:solidFill>
                  <a:srgbClr val="5A6472"/>
                </a:solidFill>
                <a:latin typeface="Calibri" pitchFamily="34" charset="0"/>
                <a:cs typeface="Amiri" pitchFamily="2" charset="-78"/>
              </a:rPr>
              <a:t>tar-shī-du al-mi-yā-hi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تَقْلِيلُ الاسْتِهْلَاكِ</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reducing consumption</a:t>
            </a:r>
            <a:endParaRPr lang="en-US" sz="1350" dirty="0"/>
          </a:p>
          <a:p>
            <a:pPr indent="0" marL="0">
              <a:buNone/>
            </a:pPr>
            <a:r>
              <a:rPr lang="en-US" sz="1100" i="1" dirty="0">
                <a:solidFill>
                  <a:srgbClr val="5A6472"/>
                </a:solidFill>
                <a:latin typeface="Calibri" pitchFamily="34" charset="0"/>
                <a:cs typeface="Amiri" pitchFamily="2" charset="-78"/>
              </a:rPr>
              <a:t>taq-lī-lu als-tih-lā-ki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النَّقْلُ العَامُّ</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public transport</a:t>
            </a:r>
            <a:endParaRPr lang="en-US" sz="1350" dirty="0"/>
          </a:p>
          <a:p>
            <a:pPr indent="0" marL="0">
              <a:buNone/>
            </a:pPr>
            <a:r>
              <a:rPr lang="en-US" sz="1100" i="1" dirty="0">
                <a:solidFill>
                  <a:srgbClr val="5A6472"/>
                </a:solidFill>
                <a:latin typeface="Calibri" pitchFamily="34" charset="0"/>
                <a:cs typeface="Amiri" pitchFamily="2" charset="-78"/>
              </a:rPr>
              <a:t>an-naq-lu al-ʿām-mu</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التَّوْعِيَةُ البِيئِيَّةُ</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environmental awareness</a:t>
            </a:r>
            <a:endParaRPr lang="en-US" sz="1350" dirty="0"/>
          </a:p>
          <a:p>
            <a:pPr indent="0" marL="0">
              <a:buNone/>
            </a:pPr>
            <a:r>
              <a:rPr lang="en-US" sz="1100" i="1" dirty="0">
                <a:solidFill>
                  <a:srgbClr val="5A6472"/>
                </a:solidFill>
                <a:latin typeface="Calibri" pitchFamily="34" charset="0"/>
                <a:cs typeface="Amiri" pitchFamily="2" charset="-78"/>
              </a:rPr>
              <a:t>at-taw-ʿi-ya-tu al-bī-ʾiy-ya-tu</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2" name="Text 3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التَّنْمِيَةُ المُسْتَدَامَةُ</a:t>
            </a:r>
            <a:endParaRPr lang="ar-SA" sz="3000" dirty="0"/>
          </a:p>
        </p:txBody>
      </p:sp>
      <p:sp>
        <p:nvSpPr>
          <p:cNvPr id="43" name="Text 4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sustainable development</a:t>
            </a:r>
            <a:endParaRPr lang="en-US" sz="1350" dirty="0"/>
          </a:p>
          <a:p>
            <a:pPr indent="0" marL="0">
              <a:buNone/>
            </a:pPr>
            <a:r>
              <a:rPr lang="en-US" sz="1100" i="1" dirty="0">
                <a:solidFill>
                  <a:srgbClr val="5A6472"/>
                </a:solidFill>
                <a:latin typeface="Calibri" pitchFamily="34" charset="0"/>
                <a:cs typeface="Amiri" pitchFamily="2" charset="-78"/>
              </a:rPr>
              <a:t>at-tan-mi-ya-tu al-mus-ta-dā-ma-tu</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Action verbs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Shape 15"/>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we · I · they</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نُقَلِّلُ مِنْ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reduce</a:t>
            </a:r>
            <a:endParaRPr lang="en-US" sz="1350" dirty="0"/>
          </a:p>
          <a:p>
            <a:pPr indent="0" marL="0">
              <a:buNone/>
            </a:pPr>
            <a:r>
              <a:rPr lang="en-US" sz="1100" i="1" dirty="0">
                <a:solidFill>
                  <a:srgbClr val="5A6472"/>
                </a:solidFill>
                <a:latin typeface="Calibri" pitchFamily="34" charset="0"/>
                <a:cs typeface="Amiri" pitchFamily="2" charset="-78"/>
              </a:rPr>
              <a:t>nu-qal-li-lu min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يُقَلِّلُونَ</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أُقَلِّلُ</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نُقَلِّلُ</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6" name="Shape 33"/>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we · I · they</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نُوَفِّرُ</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conserve / save</a:t>
            </a:r>
            <a:endParaRPr lang="en-US" sz="1350" dirty="0"/>
          </a:p>
          <a:p>
            <a:pPr indent="0" marL="0">
              <a:buNone/>
            </a:pPr>
            <a:r>
              <a:rPr lang="en-US" sz="1100" i="1" dirty="0">
                <a:solidFill>
                  <a:srgbClr val="5A6472"/>
                </a:solidFill>
                <a:latin typeface="Calibri" pitchFamily="34" charset="0"/>
                <a:cs typeface="Amiri" pitchFamily="2" charset="-78"/>
              </a:rPr>
              <a:t>nu-waf-fi-ru</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42" name="Text 39"/>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يُوَفِّرُونَ</a:t>
            </a:r>
            <a:endParaRPr lang="ar-SA" sz="135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أُوَفِّرُ</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نُوَفِّرُ</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52" name="Shape 49"/>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we · I · they</a:t>
            </a:r>
            <a:endParaRPr lang="en-US" sz="800" dirty="0"/>
          </a:p>
        </p:txBody>
      </p:sp>
      <p:sp>
        <p:nvSpPr>
          <p:cNvPr id="54" name="Shape 5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نَزْرَعُ</a:t>
            </a:r>
            <a:endParaRPr lang="ar-SA" sz="3000" dirty="0"/>
          </a:p>
        </p:txBody>
      </p:sp>
      <p:sp>
        <p:nvSpPr>
          <p:cNvPr id="57" name="Text 5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plant</a:t>
            </a:r>
            <a:endParaRPr lang="en-US" sz="1350" dirty="0"/>
          </a:p>
          <a:p>
            <a:pPr indent="0" marL="0">
              <a:buNone/>
            </a:pPr>
            <a:r>
              <a:rPr lang="en-US" sz="1100" i="1" dirty="0">
                <a:solidFill>
                  <a:srgbClr val="5A6472"/>
                </a:solidFill>
                <a:latin typeface="Calibri" pitchFamily="34" charset="0"/>
                <a:cs typeface="Amiri" pitchFamily="2" charset="-78"/>
              </a:rPr>
              <a:t>naz-ra-ʿu</a:t>
            </a:r>
            <a:endParaRPr lang="en-US" sz="1350" dirty="0"/>
          </a:p>
        </p:txBody>
      </p:sp>
      <p:sp>
        <p:nvSpPr>
          <p:cNvPr id="58" name="Shape 55"/>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60" name="Text 57"/>
          <p:cNvSpPr txBox="1"/>
          <p:nvPr/>
        </p:nvSpPr>
        <p:spPr>
          <a:xfrm>
            <a:off x="294436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يَزْرَعُونَ</a:t>
            </a:r>
            <a:endParaRPr lang="ar-SA" sz="1350" dirty="0"/>
          </a:p>
        </p:txBody>
      </p:sp>
      <p:sp>
        <p:nvSpPr>
          <p:cNvPr id="61" name="Shape 58"/>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3" name="Text 60"/>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أَزْرَعُ</a:t>
            </a:r>
            <a:endParaRPr lang="ar-SA" sz="1500" dirty="0"/>
          </a:p>
        </p:txBody>
      </p:sp>
      <p:sp>
        <p:nvSpPr>
          <p:cNvPr id="64" name="Shape 61"/>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66" name="Text 63"/>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نَزْرَعُ</a:t>
            </a:r>
            <a:endParaRPr lang="ar-SA" sz="1500" dirty="0"/>
          </a:p>
        </p:txBody>
      </p:sp>
      <p:sp>
        <p:nvSpPr>
          <p:cNvPr id="67" name="Shape 6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8211312"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70" name="Shape 67"/>
          <p:cNvSpPr/>
          <p:nvPr/>
        </p:nvSpPr>
        <p:spPr>
          <a:xfrm>
            <a:off x="8604504" y="4279392"/>
            <a:ext cx="1082650" cy="256032"/>
          </a:xfrm>
          <a:prstGeom prst="roundRect">
            <a:avLst>
              <a:gd name="adj" fmla="val 50000"/>
            </a:avLst>
          </a:prstGeom>
          <a:solidFill>
            <a:srgbClr val="EFE7D2"/>
          </a:solidFill>
          <a:ln w="12700">
            <a:solidFill>
              <a:srgbClr val="EFE7D2"/>
            </a:solidFill>
            <a:prstDash val="solid"/>
          </a:ln>
        </p:spPr>
      </p:sp>
      <p:sp>
        <p:nvSpPr>
          <p:cNvPr id="71" name="Text 68"/>
          <p:cNvSpPr txBox="1"/>
          <p:nvPr/>
        </p:nvSpPr>
        <p:spPr>
          <a:xfrm>
            <a:off x="8604504"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we · I · they</a:t>
            </a:r>
            <a:endParaRPr lang="en-US" sz="800" dirty="0"/>
          </a:p>
        </p:txBody>
      </p:sp>
      <p:sp>
        <p:nvSpPr>
          <p:cNvPr id="72" name="Shape 6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4" name="Text 7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نُعِيدُ التَّدْوِيرَ</a:t>
            </a:r>
            <a:endParaRPr lang="ar-SA" sz="3000" dirty="0"/>
          </a:p>
        </p:txBody>
      </p:sp>
      <p:sp>
        <p:nvSpPr>
          <p:cNvPr id="75" name="Text 7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recycle</a:t>
            </a:r>
            <a:endParaRPr lang="en-US" sz="1350" dirty="0"/>
          </a:p>
          <a:p>
            <a:pPr indent="0" marL="0">
              <a:buNone/>
            </a:pPr>
            <a:r>
              <a:rPr lang="en-US" sz="1100" i="1" dirty="0">
                <a:solidFill>
                  <a:srgbClr val="5A6472"/>
                </a:solidFill>
                <a:latin typeface="Calibri" pitchFamily="34" charset="0"/>
                <a:cs typeface="Amiri" pitchFamily="2" charset="-78"/>
              </a:rPr>
              <a:t>nu-ʿī-du at-tad-wī-ra</a:t>
            </a:r>
            <a:endParaRPr lang="en-US" sz="1350" dirty="0"/>
          </a:p>
        </p:txBody>
      </p:sp>
      <p:sp>
        <p:nvSpPr>
          <p:cNvPr id="76" name="Shape 73"/>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78" name="Text 75"/>
          <p:cNvSpPr txBox="1"/>
          <p:nvPr/>
        </p:nvSpPr>
        <p:spPr>
          <a:xfrm>
            <a:off x="1058875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يُعِيدُونَ</a:t>
            </a:r>
            <a:endParaRPr lang="ar-SA" sz="1350" dirty="0"/>
          </a:p>
        </p:txBody>
      </p:sp>
      <p:sp>
        <p:nvSpPr>
          <p:cNvPr id="79" name="Shape 76"/>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0" name="Text 77"/>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81" name="Text 78"/>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أُعِيدُ</a:t>
            </a:r>
            <a:endParaRPr lang="ar-SA" sz="1500" dirty="0"/>
          </a:p>
        </p:txBody>
      </p:sp>
      <p:sp>
        <p:nvSpPr>
          <p:cNvPr id="82" name="Shape 79"/>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84" name="Text 81"/>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نُعِيدُ</a:t>
            </a:r>
            <a:endParaRPr lang="ar-SA" sz="15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Action verbs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18" name="Shape 15"/>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we · I · they</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نَسْتَخْدِمُ</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use</a:t>
            </a:r>
            <a:endParaRPr lang="en-US" sz="1350" dirty="0"/>
          </a:p>
          <a:p>
            <a:pPr indent="0" marL="0">
              <a:buNone/>
            </a:pPr>
            <a:r>
              <a:rPr lang="en-US" sz="1100" i="1" dirty="0">
                <a:solidFill>
                  <a:srgbClr val="5A6472"/>
                </a:solidFill>
                <a:latin typeface="Calibri" pitchFamily="34" charset="0"/>
                <a:cs typeface="Amiri" pitchFamily="2" charset="-78"/>
              </a:rPr>
              <a:t>nas-takh-di-mu</a:t>
            </a:r>
            <a:endParaRPr lang="en-US" sz="1350" dirty="0"/>
          </a:p>
        </p:txBody>
      </p:sp>
      <p:sp>
        <p:nvSpPr>
          <p:cNvPr id="22" name="Shape 19"/>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24" name="Text 21"/>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يَسْتَخْدِمُونَ</a:t>
            </a:r>
            <a:endParaRPr lang="ar-SA" sz="1350" dirty="0"/>
          </a:p>
        </p:txBody>
      </p:sp>
      <p:sp>
        <p:nvSpPr>
          <p:cNvPr id="25" name="Shape 22"/>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7" name="Text 24"/>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أَسْتَخْدِمُ</a:t>
            </a:r>
            <a:endParaRPr lang="ar-SA" sz="1500" dirty="0"/>
          </a:p>
        </p:txBody>
      </p:sp>
      <p:sp>
        <p:nvSpPr>
          <p:cNvPr id="28" name="Shape 25"/>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29" name="Text 26"/>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30" name="Text 27"/>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نَسْتَخْدِمُ</a:t>
            </a:r>
            <a:endParaRPr lang="ar-SA" sz="1500" dirty="0"/>
          </a:p>
        </p:txBody>
      </p:sp>
      <p:sp>
        <p:nvSpPr>
          <p:cNvPr id="31" name="Shape 2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89120"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4" name="Shape 31"/>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we · I · they</a:t>
            </a:r>
            <a:endParaRPr lang="en-US" sz="800" dirty="0"/>
          </a:p>
        </p:txBody>
      </p:sp>
      <p:sp>
        <p:nvSpPr>
          <p:cNvPr id="36" name="Text 33"/>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نَسْتَثْمِرُ فِي</a:t>
            </a:r>
            <a:endParaRPr lang="ar-SA" sz="3000" dirty="0"/>
          </a:p>
        </p:txBody>
      </p:sp>
      <p:sp>
        <p:nvSpPr>
          <p:cNvPr id="37" name="Text 34"/>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invest in</a:t>
            </a:r>
            <a:endParaRPr lang="en-US" sz="1350" dirty="0"/>
          </a:p>
          <a:p>
            <a:pPr indent="0" marL="0">
              <a:buNone/>
            </a:pPr>
            <a:r>
              <a:rPr lang="en-US" sz="1100" i="1" dirty="0">
                <a:solidFill>
                  <a:srgbClr val="5A6472"/>
                </a:solidFill>
                <a:latin typeface="Calibri" pitchFamily="34" charset="0"/>
                <a:cs typeface="Amiri" pitchFamily="2" charset="-78"/>
              </a:rPr>
              <a:t>nas-tath-mi-ru fī</a:t>
            </a:r>
            <a:endParaRPr lang="en-US" sz="1350" dirty="0"/>
          </a:p>
        </p:txBody>
      </p:sp>
      <p:sp>
        <p:nvSpPr>
          <p:cNvPr id="38" name="Shape 35"/>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40" name="Text 37"/>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يَسْتَثْمِرُونَ</a:t>
            </a:r>
            <a:endParaRPr lang="ar-SA" sz="1350" dirty="0"/>
          </a:p>
        </p:txBody>
      </p:sp>
      <p:sp>
        <p:nvSpPr>
          <p:cNvPr id="41" name="Shape 38"/>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3" name="Text 40"/>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أَسْتَثْمِرُ</a:t>
            </a:r>
            <a:endParaRPr lang="ar-SA" sz="1500" dirty="0"/>
          </a:p>
        </p:txBody>
      </p:sp>
      <p:sp>
        <p:nvSpPr>
          <p:cNvPr id="44" name="Shape 41"/>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46" name="Text 43"/>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نَسْتَثْمِرُ</a:t>
            </a:r>
            <a:endParaRPr lang="ar-SA" sz="1500" dirty="0"/>
          </a:p>
        </p:txBody>
      </p:sp>
      <p:sp>
        <p:nvSpPr>
          <p:cNvPr id="47" name="Shape 4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66928" y="1920240"/>
            <a:ext cx="310896" cy="310896"/>
          </a:xfrm>
          <a:prstGeom prst="ellipse">
            <a:avLst/>
          </a:prstGeom>
          <a:solidFill>
            <a:srgbClr val="F4F1EA"/>
          </a:solidFill>
          <a:ln w="12700">
            <a:solidFill>
              <a:srgbClr val="F4F1EA"/>
            </a:solidFill>
            <a:prstDash val="solid"/>
          </a:ln>
        </p:spPr>
      </p:sp>
      <p:sp>
        <p:nvSpPr>
          <p:cNvPr id="49" name="Text 4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50" name="Text 4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نَتَخَلَّصُ مِنْ</a:t>
            </a:r>
            <a:endParaRPr lang="ar-SA" sz="3000" dirty="0"/>
          </a:p>
        </p:txBody>
      </p:sp>
      <p:sp>
        <p:nvSpPr>
          <p:cNvPr id="51" name="Text 4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get rid of</a:t>
            </a:r>
            <a:endParaRPr lang="en-US" sz="1350" dirty="0"/>
          </a:p>
          <a:p>
            <a:pPr indent="0" marL="0">
              <a:buNone/>
            </a:pPr>
            <a:r>
              <a:rPr lang="en-US" sz="1100" i="1" dirty="0">
                <a:solidFill>
                  <a:srgbClr val="5A6472"/>
                </a:solidFill>
                <a:latin typeface="Calibri" pitchFamily="34" charset="0"/>
                <a:cs typeface="Amiri" pitchFamily="2" charset="-78"/>
              </a:rPr>
              <a:t>na-ta-khal-la-ṣu min</a:t>
            </a:r>
            <a:endParaRPr lang="en-US" sz="1350" dirty="0"/>
          </a:p>
        </p:txBody>
      </p:sp>
      <p:sp>
        <p:nvSpPr>
          <p:cNvPr id="52" name="Shape 4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8211312"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55" name="Text 5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نَتَبَنَّى</a:t>
            </a:r>
            <a:endParaRPr lang="ar-SA" sz="3000" dirty="0"/>
          </a:p>
        </p:txBody>
      </p:sp>
      <p:sp>
        <p:nvSpPr>
          <p:cNvPr id="56" name="Text 5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adopt</a:t>
            </a:r>
            <a:endParaRPr lang="en-US" sz="1350" dirty="0"/>
          </a:p>
          <a:p>
            <a:pPr indent="0" marL="0">
              <a:buNone/>
            </a:pPr>
            <a:r>
              <a:rPr lang="en-US" sz="1100" i="1" dirty="0">
                <a:solidFill>
                  <a:srgbClr val="5A6472"/>
                </a:solidFill>
                <a:latin typeface="Calibri" pitchFamily="34" charset="0"/>
                <a:cs typeface="Amiri" pitchFamily="2" charset="-78"/>
              </a:rPr>
              <a:t>na-ta-ban-nā</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Advice, obligation and purpose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يَنْبَغِي 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should</a:t>
            </a:r>
            <a:endParaRPr lang="en-US" sz="1350" dirty="0"/>
          </a:p>
          <a:p>
            <a:pPr indent="0" marL="0">
              <a:buNone/>
            </a:pPr>
            <a:r>
              <a:rPr lang="en-US" sz="1100" i="1" dirty="0">
                <a:solidFill>
                  <a:srgbClr val="5A6472"/>
                </a:solidFill>
                <a:latin typeface="Calibri" pitchFamily="34" charset="0"/>
                <a:cs typeface="Amiri" pitchFamily="2" charset="-78"/>
              </a:rPr>
              <a:t>yan-ba-ghī 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يَجِبُ عَلَى ... أَنْ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 must</a:t>
            </a:r>
            <a:endParaRPr lang="en-US" sz="1350" dirty="0"/>
          </a:p>
          <a:p>
            <a:pPr indent="0" marL="0">
              <a:buNone/>
            </a:pPr>
            <a:r>
              <a:rPr lang="en-US" sz="1100" i="1" dirty="0">
                <a:solidFill>
                  <a:srgbClr val="5A6472"/>
                </a:solidFill>
                <a:latin typeface="Calibri" pitchFamily="34" charset="0"/>
                <a:cs typeface="Amiri" pitchFamily="2" charset="-78"/>
              </a:rPr>
              <a:t>ya-ji-bu ʿa-lā ... an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يُمْكِنُ أَنْ</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possible to</a:t>
            </a:r>
            <a:endParaRPr lang="en-US" sz="1350" dirty="0"/>
          </a:p>
          <a:p>
            <a:pPr indent="0" marL="0">
              <a:buNone/>
            </a:pPr>
            <a:r>
              <a:rPr lang="en-US" sz="1100" i="1" dirty="0">
                <a:solidFill>
                  <a:srgbClr val="5A6472"/>
                </a:solidFill>
                <a:latin typeface="Calibri" pitchFamily="34" charset="0"/>
                <a:cs typeface="Amiri" pitchFamily="2" charset="-78"/>
              </a:rPr>
              <a:t>yum-ki-nu an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لِكَيْ</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order to</a:t>
            </a:r>
            <a:endParaRPr lang="en-US" sz="1350" dirty="0"/>
          </a:p>
          <a:p>
            <a:pPr indent="0" marL="0">
              <a:buNone/>
            </a:pPr>
            <a:r>
              <a:rPr lang="en-US" sz="1100" i="1" dirty="0">
                <a:solidFill>
                  <a:srgbClr val="5A6472"/>
                </a:solidFill>
                <a:latin typeface="Calibri" pitchFamily="34" charset="0"/>
                <a:cs typeface="Amiri" pitchFamily="2" charset="-78"/>
              </a:rPr>
              <a:t>li-kay</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الضَّرُورِيِّ أَنْ</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necessary to</a:t>
            </a:r>
            <a:endParaRPr lang="en-US" sz="1350" dirty="0"/>
          </a:p>
          <a:p>
            <a:pPr indent="0" marL="0">
              <a:buNone/>
            </a:pPr>
            <a:r>
              <a:rPr lang="en-US" sz="1100" i="1" dirty="0">
                <a:solidFill>
                  <a:srgbClr val="5A6472"/>
                </a:solidFill>
                <a:latin typeface="Calibri" pitchFamily="34" charset="0"/>
                <a:cs typeface="Amiri" pitchFamily="2" charset="-78"/>
              </a:rPr>
              <a:t>mi-na aḍ-ḍa-rū-riy-yi an</a:t>
            </a:r>
            <a:endParaRPr lang="en-US" sz="1350" dirty="0"/>
          </a:p>
        </p:txBody>
      </p:sp>
      <p:sp>
        <p:nvSpPr>
          <p:cNvPr id="46" name="Shape 4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66928"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9" name="Text 4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المَدَى الطَّوِيلِ</a:t>
            </a:r>
            <a:endParaRPr lang="ar-SA" sz="3000" dirty="0"/>
          </a:p>
        </p:txBody>
      </p:sp>
      <p:sp>
        <p:nvSpPr>
          <p:cNvPr id="50" name="Text 4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long term</a:t>
            </a:r>
            <a:endParaRPr lang="en-US" sz="1350" dirty="0"/>
          </a:p>
          <a:p>
            <a:pPr indent="0" marL="0">
              <a:buNone/>
            </a:pPr>
            <a:r>
              <a:rPr lang="en-US" sz="1100" i="1" dirty="0">
                <a:solidFill>
                  <a:srgbClr val="5A6472"/>
                </a:solidFill>
                <a:latin typeface="Calibri" pitchFamily="34" charset="0"/>
                <a:cs typeface="Amiri" pitchFamily="2" charset="-78"/>
              </a:rPr>
              <a:t>ʿa-lā al-ma-dā aṭ-ṭa-wī-li</a:t>
            </a:r>
            <a:endParaRPr lang="en-US" sz="13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B3B6F"/>
                </a:solidFill>
                <a:latin typeface="Calibri" pitchFamily="34" charset="0"/>
                <a:cs typeface="Amiri" pitchFamily="2" charset="-78"/>
              </a:rPr>
              <a:t>GRAMMAR FOCUS · PART 1 · SHOULD / MUST / IN ORDER TO (WEBSITE RULES 1–3)</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After an and li-kay: the verb ends in -a</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أَنْ · لِكَيْ + المُضَارِعُ المَنْصُوبُ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47979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Pattern</a:t>
            </a:r>
            <a:endParaRPr lang="en-US" sz="1100" dirty="0"/>
          </a:p>
        </p:txBody>
      </p:sp>
      <p:sp>
        <p:nvSpPr>
          <p:cNvPr id="17" name="Text 14"/>
          <p:cNvSpPr txBox="1"/>
          <p:nvPr/>
        </p:nvSpPr>
        <p:spPr>
          <a:xfrm>
            <a:off x="530352" y="1810512"/>
            <a:ext cx="6803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7516368" y="2267712"/>
            <a:ext cx="41422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should: yanbaghī an + -a</a:t>
            </a:r>
            <a:endParaRPr lang="en-US" sz="1100" dirty="0"/>
          </a:p>
        </p:txBody>
      </p:sp>
      <p:sp>
        <p:nvSpPr>
          <p:cNvPr id="20" name="Text 17"/>
          <p:cNvSpPr txBox="1"/>
          <p:nvPr/>
        </p:nvSpPr>
        <p:spPr>
          <a:xfrm>
            <a:off x="548640" y="2286000"/>
            <a:ext cx="67665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يَنْبَغِي أَنْ </a:t>
            </a:r>
            <a:pPr rtl="1" algn="ctr" indent="0" marL="0">
              <a:buNone/>
            </a:pPr>
            <a:r>
              <a:rPr lang="ar-SA" altLang="en-US" sz="2100" b="1" dirty="0">
                <a:solidFill>
                  <a:srgbClr val="1D5FBF"/>
                </a:solidFill>
                <a:latin typeface="Amiri" pitchFamily="2" charset="-78"/>
                <a:ea typeface="Amiri" pitchFamily="2" charset="-78"/>
                <a:cs typeface="Amiri" pitchFamily="2" charset="-78"/>
              </a:rPr>
              <a:t>نُقَلِّلَ</a:t>
            </a:r>
            <a:pPr rtl="1" algn="ctr" indent="0" marL="0">
              <a:buNone/>
            </a:pPr>
            <a:r>
              <a:rPr lang="ar-SA" altLang="en-US" sz="2100" b="1" dirty="0">
                <a:solidFill>
                  <a:srgbClr val="1B3B6F"/>
                </a:solidFill>
                <a:latin typeface="Amiri" pitchFamily="2" charset="-78"/>
                <a:ea typeface="Amiri" pitchFamily="2" charset="-78"/>
                <a:cs typeface="Amiri" pitchFamily="2" charset="-78"/>
              </a:rPr>
              <a:t> اسْتِخْدَامَ البِلَاسْتِيكِ.</a:t>
            </a:r>
            <a:endParaRPr lang="ar-SA" sz="2100" dirty="0"/>
          </a:p>
        </p:txBody>
      </p:sp>
      <p:sp>
        <p:nvSpPr>
          <p:cNvPr id="21" name="Text 18"/>
          <p:cNvSpPr txBox="1"/>
          <p:nvPr/>
        </p:nvSpPr>
        <p:spPr>
          <a:xfrm>
            <a:off x="502920" y="2706624"/>
            <a:ext cx="68580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should reduce plastic use.</a:t>
            </a:r>
            <a:endParaRPr lang="en-US" sz="950" dirty="0"/>
          </a:p>
        </p:txBody>
      </p:sp>
      <p:sp>
        <p:nvSpPr>
          <p:cNvPr id="22" name="Shape 19"/>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7516368" y="3054096"/>
            <a:ext cx="41422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must: yajibu ʿalā + WHO + an</a:t>
            </a:r>
            <a:endParaRPr lang="en-US" sz="1100" dirty="0"/>
          </a:p>
        </p:txBody>
      </p:sp>
      <p:sp>
        <p:nvSpPr>
          <p:cNvPr id="26" name="Text 23"/>
          <p:cNvSpPr txBox="1"/>
          <p:nvPr/>
        </p:nvSpPr>
        <p:spPr>
          <a:xfrm>
            <a:off x="548640" y="3072384"/>
            <a:ext cx="67665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يَجِبُ </a:t>
            </a:r>
            <a:pPr rtl="1" algn="ctr" indent="0" marL="0">
              <a:buNone/>
            </a:pPr>
            <a:r>
              <a:rPr lang="ar-SA" altLang="en-US" sz="2100" b="1" dirty="0">
                <a:solidFill>
                  <a:srgbClr val="D6336C"/>
                </a:solidFill>
                <a:latin typeface="Amiri" pitchFamily="2" charset="-78"/>
                <a:ea typeface="Amiri" pitchFamily="2" charset="-78"/>
                <a:cs typeface="Amiri" pitchFamily="2" charset="-78"/>
              </a:rPr>
              <a:t>عَلَى الحُكُومَةِ</a:t>
            </a:r>
            <a:pPr rtl="1" algn="ctr" indent="0" marL="0">
              <a:buNone/>
            </a:pPr>
            <a:r>
              <a:rPr lang="ar-SA" altLang="en-US" sz="2100" b="1" dirty="0">
                <a:solidFill>
                  <a:srgbClr val="1B3B6F"/>
                </a:solidFill>
                <a:latin typeface="Amiri" pitchFamily="2" charset="-78"/>
                <a:ea typeface="Amiri" pitchFamily="2" charset="-78"/>
                <a:cs typeface="Amiri" pitchFamily="2" charset="-78"/>
              </a:rPr>
              <a:t> أَنْ </a:t>
            </a:r>
            <a:pPr rtl="1" algn="ctr" indent="0" marL="0">
              <a:buNone/>
            </a:pPr>
            <a:r>
              <a:rPr lang="ar-SA" altLang="en-US" sz="2100" b="1" dirty="0">
                <a:solidFill>
                  <a:srgbClr val="1D5FBF"/>
                </a:solidFill>
                <a:latin typeface="Amiri" pitchFamily="2" charset="-78"/>
                <a:ea typeface="Amiri" pitchFamily="2" charset="-78"/>
                <a:cs typeface="Amiri" pitchFamily="2" charset="-78"/>
              </a:rPr>
              <a:t>تَسْتَثْمِرَ</a:t>
            </a:r>
            <a:pPr rtl="1" algn="ctr" indent="0" marL="0">
              <a:buNone/>
            </a:pPr>
            <a:r>
              <a:rPr lang="ar-SA" altLang="en-US" sz="2100" b="1" dirty="0">
                <a:solidFill>
                  <a:srgbClr val="1B3B6F"/>
                </a:solidFill>
                <a:latin typeface="Amiri" pitchFamily="2" charset="-78"/>
                <a:ea typeface="Amiri" pitchFamily="2" charset="-78"/>
                <a:cs typeface="Amiri" pitchFamily="2" charset="-78"/>
              </a:rPr>
              <a:t> فِي الطَّاقَةِ المُتَجَدِّدَةِ.</a:t>
            </a:r>
            <a:endParaRPr lang="ar-SA" sz="2100" dirty="0"/>
          </a:p>
        </p:txBody>
      </p:sp>
      <p:sp>
        <p:nvSpPr>
          <p:cNvPr id="27" name="Text 24"/>
          <p:cNvSpPr txBox="1"/>
          <p:nvPr/>
        </p:nvSpPr>
        <p:spPr>
          <a:xfrm>
            <a:off x="502920" y="3493008"/>
            <a:ext cx="68580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government must invest in renewable energy.</a:t>
            </a:r>
            <a:endParaRPr lang="en-US" sz="950" dirty="0"/>
          </a:p>
        </p:txBody>
      </p:sp>
      <p:sp>
        <p:nvSpPr>
          <p:cNvPr id="28" name="Shape 25"/>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0" name="Shape 27"/>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1" name="Text 28"/>
          <p:cNvSpPr txBox="1"/>
          <p:nvPr/>
        </p:nvSpPr>
        <p:spPr>
          <a:xfrm>
            <a:off x="7516368" y="3840480"/>
            <a:ext cx="41422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purpose: li-kay + -a</a:t>
            </a:r>
            <a:endParaRPr lang="en-US" sz="1100" dirty="0"/>
          </a:p>
        </p:txBody>
      </p:sp>
      <p:sp>
        <p:nvSpPr>
          <p:cNvPr id="32" name="Text 29"/>
          <p:cNvSpPr txBox="1"/>
          <p:nvPr/>
        </p:nvSpPr>
        <p:spPr>
          <a:xfrm>
            <a:off x="548640" y="3858768"/>
            <a:ext cx="67665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نَسْتَخْدِمُ النَّقْلَ العَامَّ </a:t>
            </a:r>
            <a:pPr rtl="1" algn="ctr" indent="0" marL="0">
              <a:buNone/>
            </a:pPr>
            <a:r>
              <a:rPr lang="ar-SA" altLang="en-US" sz="2100" b="1" dirty="0">
                <a:solidFill>
                  <a:srgbClr val="0E7C86"/>
                </a:solidFill>
                <a:latin typeface="Amiri" pitchFamily="2" charset="-78"/>
                <a:ea typeface="Amiri" pitchFamily="2" charset="-78"/>
                <a:cs typeface="Amiri" pitchFamily="2" charset="-78"/>
              </a:rPr>
              <a:t>لِكَيْ</a:t>
            </a:r>
            <a:pPr rtl="1" algn="ctr" indent="0" marL="0">
              <a:buNone/>
            </a:pPr>
            <a:r>
              <a:rPr lang="ar-SA" altLang="en-US" sz="2100" b="1" dirty="0">
                <a:solidFill>
                  <a:srgbClr val="1B3B6F"/>
                </a:solidFill>
                <a:latin typeface="Amiri" pitchFamily="2" charset="-78"/>
                <a:cs typeface="Amiri" pitchFamily="2" charset="-78"/>
              </a:rPr>
              <a:t> </a:t>
            </a:r>
            <a:pPr rtl="1" algn="ctr" indent="0" marL="0">
              <a:buNone/>
            </a:pPr>
            <a:r>
              <a:rPr lang="ar-SA" altLang="en-US" sz="2100" b="1" dirty="0">
                <a:solidFill>
                  <a:srgbClr val="1D5FBF"/>
                </a:solidFill>
                <a:latin typeface="Amiri" pitchFamily="2" charset="-78"/>
                <a:ea typeface="Amiri" pitchFamily="2" charset="-78"/>
                <a:cs typeface="Amiri" pitchFamily="2" charset="-78"/>
              </a:rPr>
              <a:t>نُقَلِّلَ</a:t>
            </a:r>
            <a:pPr rtl="1" algn="ctr" indent="0" marL="0">
              <a:buNone/>
            </a:pPr>
            <a:r>
              <a:rPr lang="ar-SA" altLang="en-US" sz="2100" b="1" dirty="0">
                <a:solidFill>
                  <a:srgbClr val="1B3B6F"/>
                </a:solidFill>
                <a:latin typeface="Amiri" pitchFamily="2" charset="-78"/>
                <a:ea typeface="Amiri" pitchFamily="2" charset="-78"/>
                <a:cs typeface="Amiri" pitchFamily="2" charset="-78"/>
              </a:rPr>
              <a:t> الانْبِعَاثَاتِ.</a:t>
            </a:r>
            <a:endParaRPr lang="ar-SA" sz="2100" dirty="0"/>
          </a:p>
        </p:txBody>
      </p:sp>
      <p:sp>
        <p:nvSpPr>
          <p:cNvPr id="33" name="Text 30"/>
          <p:cNvSpPr txBox="1"/>
          <p:nvPr/>
        </p:nvSpPr>
        <p:spPr>
          <a:xfrm>
            <a:off x="502920" y="4279392"/>
            <a:ext cx="68580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use public transport to reduce emissions.</a:t>
            </a:r>
            <a:endParaRPr lang="en-US" sz="950" dirty="0"/>
          </a:p>
        </p:txBody>
      </p:sp>
      <p:sp>
        <p:nvSpPr>
          <p:cNvPr id="34" name="Shape 31"/>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6" name="Shape 33"/>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7" name="Text 34"/>
          <p:cNvSpPr txBox="1"/>
          <p:nvPr/>
        </p:nvSpPr>
        <p:spPr>
          <a:xfrm>
            <a:off x="7516368" y="4626864"/>
            <a:ext cx="41422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possible: yumkinu an</a:t>
            </a:r>
            <a:endParaRPr lang="en-US" sz="1100" dirty="0"/>
          </a:p>
        </p:txBody>
      </p:sp>
      <p:sp>
        <p:nvSpPr>
          <p:cNvPr id="38" name="Text 35"/>
          <p:cNvSpPr txBox="1"/>
          <p:nvPr/>
        </p:nvSpPr>
        <p:spPr>
          <a:xfrm>
            <a:off x="548640" y="4645152"/>
            <a:ext cx="67665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يُمْكِنُ أَنْ </a:t>
            </a:r>
            <a:pPr rtl="1" algn="ctr" indent="0" marL="0">
              <a:buNone/>
            </a:pPr>
            <a:r>
              <a:rPr lang="ar-SA" altLang="en-US" sz="2100" b="1" dirty="0">
                <a:solidFill>
                  <a:srgbClr val="1D5FBF"/>
                </a:solidFill>
                <a:latin typeface="Amiri" pitchFamily="2" charset="-78"/>
                <a:ea typeface="Amiri" pitchFamily="2" charset="-78"/>
                <a:cs typeface="Amiri" pitchFamily="2" charset="-78"/>
              </a:rPr>
              <a:t>نَسْتَخْدِمَ</a:t>
            </a:r>
            <a:pPr rtl="1" algn="ctr" indent="0" marL="0">
              <a:buNone/>
            </a:pPr>
            <a:r>
              <a:rPr lang="ar-SA" altLang="en-US" sz="2100" b="1" dirty="0">
                <a:solidFill>
                  <a:srgbClr val="1B3B6F"/>
                </a:solidFill>
                <a:latin typeface="Amiri" pitchFamily="2" charset="-78"/>
                <a:ea typeface="Amiri" pitchFamily="2" charset="-78"/>
                <a:cs typeface="Amiri" pitchFamily="2" charset="-78"/>
              </a:rPr>
              <a:t> الطَّاقَةَ الشَّمْسِيَّةَ.</a:t>
            </a:r>
            <a:endParaRPr lang="ar-SA" sz="2100" dirty="0"/>
          </a:p>
        </p:txBody>
      </p:sp>
      <p:sp>
        <p:nvSpPr>
          <p:cNvPr id="39" name="Text 36"/>
          <p:cNvSpPr txBox="1"/>
          <p:nvPr/>
        </p:nvSpPr>
        <p:spPr>
          <a:xfrm>
            <a:off x="502920" y="5065776"/>
            <a:ext cx="68580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can use solar energy.</a:t>
            </a:r>
            <a:endParaRPr lang="en-US" sz="950" dirty="0"/>
          </a:p>
        </p:txBody>
      </p:sp>
      <p:sp>
        <p:nvSpPr>
          <p:cNvPr id="40" name="Text 3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nuqallilu → an nuqallila: only the final vowel changes (-u → -a).</a:t>
            </a:r>
            <a:endParaRPr lang="en-US" sz="11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18" b="1" spc="150" kern="0" dirty="0">
                <a:solidFill>
                  <a:srgbClr val="1B3B6F"/>
                </a:solidFill>
                <a:latin typeface="Calibri" pitchFamily="34" charset="0"/>
                <a:cs typeface="Amiri" pitchFamily="2" charset="-78"/>
              </a:rPr>
              <a:t>GRAMMAR FOCUS · PART 2 · THE FIVE VERBS (WEBSITE RULE 4) · DEVELOP / STRETCH</a:t>
            </a:r>
            <a:endParaRPr lang="en-US" sz="91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They / you all: -ūna → -ū</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الأَفْعَالُ الخَمْسَةُ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89154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8915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WE · CORE</a:t>
            </a:r>
            <a:endParaRPr lang="en-US" sz="850" dirty="0"/>
          </a:p>
        </p:txBody>
      </p:sp>
      <p:sp>
        <p:nvSpPr>
          <p:cNvPr id="18" name="Text 15"/>
          <p:cNvSpPr txBox="1"/>
          <p:nvPr/>
        </p:nvSpPr>
        <p:spPr>
          <a:xfrm>
            <a:off x="9169908" y="1874520"/>
            <a:ext cx="24246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نُعِيدُ → أَنْ نُعِيدَ</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يَجِبُ أَنْ نُعِيدَ التَّدْوِيرَ.</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We must recycle.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Only -u → -a.</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23444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THEY · DEVELOP</a:t>
            </a:r>
            <a:endParaRPr lang="en-US" sz="850" dirty="0"/>
          </a:p>
        </p:txBody>
      </p:sp>
      <p:sp>
        <p:nvSpPr>
          <p:cNvPr id="26" name="Text 23"/>
          <p:cNvSpPr txBox="1"/>
          <p:nvPr/>
        </p:nvSpPr>
        <p:spPr>
          <a:xfrm>
            <a:off x="5693664"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يُعِيدُونَ → أَنْ يُعِيدُوا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يَجِبُ عَلَى النَّاسِ أَنْ يُعِيدُوا التَّدْوِيرَ.</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People must recycle.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-na drops; alif is written.</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44018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YOU ALL · STRETCH</a:t>
            </a:r>
            <a:endParaRPr lang="en-US" sz="850" dirty="0"/>
          </a:p>
        </p:txBody>
      </p:sp>
      <p:sp>
        <p:nvSpPr>
          <p:cNvPr id="34" name="Text 31"/>
          <p:cNvSpPr txBox="1"/>
          <p:nvPr/>
        </p:nvSpPr>
        <p:spPr>
          <a:xfrm>
            <a:off x="2080260"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تُقَلِّلُونَ → أَنْ تُقَلِّلُوا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ea typeface="Amiri" pitchFamily="2" charset="-78"/>
                <a:cs typeface="Amiri" pitchFamily="2" charset="-78"/>
              </a:rPr>
              <a:t>يَجِبُ عَلَيْكُمْ أَنْ تُقَلِّلُوا النُّفَايَاتِ.</a:t>
            </a:r>
            <a:endParaRPr lang="ar-SA" sz="22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You (all) must reduce waste.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Same rule for “you all”.</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the five verbs lose -na after an.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ea typeface="Amiri" pitchFamily="2" charset="-78"/>
                <a:cs typeface="Amiri" pitchFamily="2" charset="-78"/>
              </a:rPr>
              <a:t>أَنْ يُعِيدُوا التَّدْوِيرَ</a:t>
            </a:r>
            <a:endParaRPr lang="ar-SA" sz="19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B83227"/>
                </a:solidFill>
                <a:latin typeface="Amiri" pitchFamily="2" charset="-78"/>
                <a:ea typeface="Amiri" pitchFamily="2" charset="-78"/>
                <a:cs typeface="Amiri" pitchFamily="2" charset="-78"/>
              </a:rPr>
              <a:t>أَنْ يُعِيدُونَ التَّدْوِيرَ</a:t>
            </a:r>
            <a:endParaRPr lang="ar-SA" sz="19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Advice, obligation and purpose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النُّصْحُ وَالوُجُوبُ وَالغَرَضُ</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Advice with </a:t>
            </a:r>
            <a:pPr algn="l" indent="0" marL="0">
              <a:buNone/>
            </a:pPr>
            <a:r>
              <a:rPr lang="ar-SA" altLang="en-US" sz="1650" b="1" dirty="0">
                <a:solidFill>
                  <a:srgbClr val="1B3B6F"/>
                </a:solidFill>
                <a:latin typeface="Amiri" pitchFamily="2" charset="-78"/>
                <a:ea typeface="Amiri" pitchFamily="2" charset="-78"/>
                <a:cs typeface="Amiri" pitchFamily="2" charset="-78"/>
              </a:rPr>
              <a:t>يَنْبَغِي أَنْ</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يَنْبَغِي أَنْ</a:t>
            </a:r>
            <a:pPr algn="l" indent="0" marL="0">
              <a:buNone/>
            </a:pPr>
            <a:r>
              <a:rPr lang="en-US" sz="1050" dirty="0">
                <a:solidFill>
                  <a:srgbClr val="5A6472"/>
                </a:solidFill>
                <a:latin typeface="Calibri" pitchFamily="34" charset="0"/>
                <a:cs typeface="Amiri" pitchFamily="2" charset="-78"/>
              </a:rPr>
              <a:t> + subjunctive present</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يَنْبَغِي أَنْ نُقَلِّلَ اسْتِخْدَامَ البِلَاسْتِيكِ.</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Obligation for a person or group</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يَجِبُ عَلَى</a:t>
            </a:r>
            <a:pPr algn="l" indent="0" marL="0">
              <a:buNone/>
            </a:pPr>
            <a:r>
              <a:rPr lang="en-US" sz="1050" dirty="0">
                <a:solidFill>
                  <a:srgbClr val="5A6472"/>
                </a:solidFill>
                <a:latin typeface="Calibri" pitchFamily="34" charset="0"/>
                <a:cs typeface="Amiri" pitchFamily="2" charset="-78"/>
              </a:rPr>
              <a:t> + noun + </a:t>
            </a:r>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dirty="0">
                <a:solidFill>
                  <a:srgbClr val="5A6472"/>
                </a:solidFill>
                <a:latin typeface="Calibri" pitchFamily="34" charset="0"/>
                <a:cs typeface="Amiri" pitchFamily="2" charset="-78"/>
              </a:rPr>
              <a:t> + subjunctive</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يَجِبُ عَلَى الحُكُومَةِ أَنْ تَسْتَثْمِرَ فِي الطَّاقَةِ المُتَجَدِّدَةِ.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Purpose with </a:t>
            </a:r>
            <a:pPr algn="l" indent="0" marL="0">
              <a:buNone/>
            </a:pPr>
            <a:r>
              <a:rPr lang="ar-SA" altLang="en-US" sz="1650" b="1" dirty="0">
                <a:solidFill>
                  <a:srgbClr val="1B3B6F"/>
                </a:solidFill>
                <a:latin typeface="Amiri" pitchFamily="2" charset="-78"/>
                <a:ea typeface="Amiri" pitchFamily="2" charset="-78"/>
                <a:cs typeface="Amiri" pitchFamily="2" charset="-78"/>
              </a:rPr>
              <a:t>لِكَيْ</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action + </a:t>
            </a:r>
            <a:pPr algn="l" indent="0" marL="0">
              <a:buNone/>
            </a:pPr>
            <a:r>
              <a:rPr lang="ar-SA" altLang="en-US" sz="1350" dirty="0">
                <a:solidFill>
                  <a:srgbClr val="5A6472"/>
                </a:solidFill>
                <a:latin typeface="Amiri" pitchFamily="2" charset="-78"/>
                <a:ea typeface="Amiri" pitchFamily="2" charset="-78"/>
                <a:cs typeface="Amiri" pitchFamily="2" charset="-78"/>
              </a:rPr>
              <a:t>لِكَيْ</a:t>
            </a:r>
            <a:pPr algn="l" indent="0" marL="0">
              <a:buNone/>
            </a:pPr>
            <a:r>
              <a:rPr lang="en-US" sz="1050" dirty="0">
                <a:solidFill>
                  <a:srgbClr val="5A6472"/>
                </a:solidFill>
                <a:latin typeface="Calibri" pitchFamily="34" charset="0"/>
                <a:cs typeface="Amiri" pitchFamily="2" charset="-78"/>
              </a:rPr>
              <a:t> + subjunctive</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نَسْتَخْدِمُ النَّقْلَ العَامَّ لِكَيْ نُقَلِّلَ الانْبِعَاثَاتِ.</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The five verbs after </a:t>
            </a:r>
            <a:pPr algn="l" indent="0" marL="0">
              <a:buNone/>
            </a:pPr>
            <a:r>
              <a:rPr lang="ar-SA" altLang="en-US" sz="1650" b="1" dirty="0">
                <a:solidFill>
                  <a:srgbClr val="1B3B6F"/>
                </a:solidFill>
                <a:latin typeface="Amiri" pitchFamily="2" charset="-78"/>
                <a:ea typeface="Amiri" pitchFamily="2" charset="-78"/>
                <a:cs typeface="Amiri" pitchFamily="2" charset="-78"/>
              </a:rPr>
              <a:t>أَنْ</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dirty="0">
                <a:solidFill>
                  <a:srgbClr val="5A6472"/>
                </a:solidFill>
                <a:latin typeface="Calibri" pitchFamily="34" charset="0"/>
                <a:cs typeface="Amiri" pitchFamily="2" charset="-78"/>
              </a:rPr>
              <a:t> + one of the five verbs → nūn is omitted</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يَجِبُ عَلَى النَّاسِ أَنْ يُعِيدُوا التَّدْوِيرَ.</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advice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يَنْبَغِي أَنْ قَلَّلْنَا اسْتِخْدَامَ البِلَاسْتِيكِ.</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يَنْبَغِي نُقَلِّلَ اسْتِخْدَامَ البِلَاسْتِيكِ.</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يَنْبَغِي أَنْ نُقَلِّلَ اسْتِخْدَامَ البِلَاسْتِيكِ.</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obligation.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عَلَى الحُكُومَةِ أَنْ تَحْمِيَ الغَابَاتِ.</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الحُكُومَةُ تَحْمِي الغَابَاتِ.</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عَلَى الحُكُومَةِ تَحْمِيُ الغَابَاتِ.</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purpose sentence.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نَزْرَعُ الأَشْجَارَ لِكَيْ حَسَّنَّا جَوْدَةَ الهَوَاءِ.</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نَزْرَعُ الأَشْجَارَ لِكَيْ نُحَسِّنَ جَوْدَةَ الهَوَاءِ.</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نَزْرَعُ الأَشْجَارَ لِكَيْ تَحْسِينُ الهَوَاءِ.</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أَنْ نَسْتَخْدِمَ الطَّاقَةَ الشَّمْسِيَّةَ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يُمْكِنُ</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يُؤَدِّي</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يَتَّسِمُ</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advice sentence.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يَنْبَغِي أَنْ قَلَّلْنَا اسْتِخْدَامَ البِلَاسْتِيكِ.</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يَنْبَغِي نُقَلِّلَ اسْتِخْدَامَ البِلَاسْتِيكِ.</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يَنْبَغِي أَنْ نُقَلِّلَ اسْتِخْدَامَ البِلَاسْتِيكِ.</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ea typeface="Amiri" pitchFamily="2" charset="-78"/>
                <a:cs typeface="Amiri" pitchFamily="2" charset="-78"/>
              </a:rPr>
              <a:t>نُقَلِّلُ</a:t>
            </a:r>
            <a:pPr algn="l" indent="0" marL="0">
              <a:buNone/>
            </a:pPr>
            <a:r>
              <a:rPr lang="en-US" sz="1050" i="1" dirty="0">
                <a:solidFill>
                  <a:srgbClr val="8A6D1E"/>
                </a:solidFill>
                <a:latin typeface="Calibri" pitchFamily="34" charset="0"/>
                <a:cs typeface="Amiri" pitchFamily="2" charset="-78"/>
              </a:rPr>
              <a:t> becomes </a:t>
            </a:r>
            <a:pPr algn="l" indent="0" marL="0">
              <a:buNone/>
            </a:pPr>
            <a:r>
              <a:rPr lang="ar-SA" altLang="en-US" sz="1350" dirty="0">
                <a:solidFill>
                  <a:srgbClr val="8A6D1E"/>
                </a:solidFill>
                <a:latin typeface="Amiri" pitchFamily="2" charset="-78"/>
                <a:ea typeface="Amiri" pitchFamily="2" charset="-78"/>
                <a:cs typeface="Amiri" pitchFamily="2" charset="-78"/>
              </a:rPr>
              <a:t>نُقَلِّلَ</a:t>
            </a:r>
            <a:pPr algn="l" indent="0" marL="0">
              <a:buNone/>
            </a:pPr>
            <a:r>
              <a:rPr lang="en-US" sz="1050" i="1" dirty="0">
                <a:solidFill>
                  <a:srgbClr val="8A6D1E"/>
                </a:solidFill>
                <a:latin typeface="Calibri" pitchFamily="34" charset="0"/>
                <a:cs typeface="Amiri" pitchFamily="2" charset="-78"/>
              </a:rPr>
              <a:t> with final fatḥa.</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obligation.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يَجِبُ عَلَى الحُكُومَةِ أَنْ تَحْمِيَ الغَابَاتِ.</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يَجِبُ الحُكُومَةُ تَحْمِي الغَابَاتِ.</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يَجِبُ عَلَى الحُكُومَةِ تَحْمِيُ الغَابَاتِ.</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pattern is </a:t>
            </a:r>
            <a:pPr algn="l" indent="0" marL="0">
              <a:buNone/>
            </a:pPr>
            <a:r>
              <a:rPr lang="ar-SA" altLang="en-US" sz="1350" dirty="0">
                <a:solidFill>
                  <a:srgbClr val="8A6D1E"/>
                </a:solidFill>
                <a:latin typeface="Amiri" pitchFamily="2" charset="-78"/>
                <a:ea typeface="Amiri" pitchFamily="2" charset="-78"/>
                <a:cs typeface="Amiri" pitchFamily="2" charset="-78"/>
              </a:rPr>
              <a:t>يجب على</a:t>
            </a:r>
            <a:pPr algn="l" indent="0" marL="0">
              <a:buNone/>
            </a:pPr>
            <a:r>
              <a:rPr lang="en-US" sz="1050" i="1" dirty="0">
                <a:solidFill>
                  <a:srgbClr val="8A6D1E"/>
                </a:solidFill>
                <a:latin typeface="Calibri" pitchFamily="34" charset="0"/>
                <a:cs typeface="Amiri" pitchFamily="2" charset="-78"/>
              </a:rPr>
              <a:t> + noun +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 subjunctive.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purpose sentence.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نَزْرَعُ الأَشْجَارَ لِكَيْ حَسَّنَّا جَوْدَةَ الهَوَاءِ.</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نَزْرَعُ الأَشْجَارَ لِكَيْ نُحَسِّنَ جَوْدَةَ الهَوَاءِ.</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نَزْرَعُ الأَشْجَارَ لِكَيْ تَحْسِينُ الهَوَاءِ.</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the sound-ending verb is subjunctive: </a:t>
            </a:r>
            <a:pPr algn="l" indent="0" marL="0">
              <a:buNone/>
            </a:pPr>
            <a:r>
              <a:rPr lang="ar-SA" altLang="en-US" sz="1350" dirty="0">
                <a:solidFill>
                  <a:srgbClr val="8A6D1E"/>
                </a:solidFill>
                <a:latin typeface="Amiri" pitchFamily="2" charset="-78"/>
                <a:ea typeface="Amiri" pitchFamily="2" charset="-78"/>
                <a:cs typeface="Amiri" pitchFamily="2" charset="-78"/>
              </a:rPr>
              <a:t>نحسنَ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أَنْ نَسْتَخْدِمَ الطَّاقَةَ الشَّمْسِيَّةَ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يُمْكِنُ</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يُؤَدِّي</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يَتَّسِمُ</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يمكن أن</a:t>
            </a:r>
            <a:pPr algn="l" indent="0" marL="0">
              <a:buNone/>
            </a:pPr>
            <a:r>
              <a:rPr lang="en-US" sz="1050" i="1" dirty="0">
                <a:solidFill>
                  <a:srgbClr val="8A6D1E"/>
                </a:solidFill>
                <a:latin typeface="Calibri" pitchFamily="34" charset="0"/>
                <a:cs typeface="Amiri" pitchFamily="2" charset="-78"/>
              </a:rPr>
              <a:t> means it is possible to.</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Watch me propose solutions to a school problem</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Problem</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تُعَانِي مَدْرَسَتُنَا مِنْ زِيَادَةِ النُّفَايَاتِ.</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sentence only.</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We should</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يَنْبَغِي أَنْ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نُقَلِّلَ</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الأَكْيَاسَ البِلَاسْتِيكِيَّةَ.</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 + -a.</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Who must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يَجِبُ عَلَى الطُّلَّابِ أَنْ </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يُعِيدُوا</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التَّدْوِيرَ.</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They: -ū (no -na).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Why</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نَسْتَخْدِمُ زُجَاجَاتٍ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لِكَيْ</a:t>
            </a:r>
            <a:pPr rtl="1" algn="ctr" indent="0" marL="0">
              <a:lnSpc>
                <a:spcPct val="120000"/>
              </a:lnSpc>
              <a:buNone/>
            </a:pPr>
            <a:r>
              <a:rPr lang="ar-SA" altLang="en-US" sz="1750" b="1" dirty="0">
                <a:solidFill>
                  <a:srgbClr val="1B3B6F"/>
                </a:solidFill>
                <a:latin typeface="Amiri" pitchFamily="2" charset="-78"/>
                <a:cs typeface="Amiri" pitchFamily="2" charset="-78"/>
              </a:rPr>
              <a:t>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نُقَلِّلَ</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النُّفَايَاتِ.</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Purpose.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VERB IN -a</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FIVE VERBS</a:t>
            </a:r>
            <a:endParaRPr lang="en-US" sz="800" dirty="0"/>
          </a:p>
        </p:txBody>
      </p:sp>
      <p:sp>
        <p:nvSpPr>
          <p:cNvPr id="49" name="Shape 45"/>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PURPOSE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تُعَانِي مَدْرَسَتُنَا مِنْ زِيَادَةِ النُّفَايَاتِ البِلَاسْتِيكِيَّةِ. لِحَلِّ هٰذِهِ المُشْكِلَةِ، يَنْبَغِي أَنْ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نُقَلِّلَ</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اسْتِخْدَامَ الأَكْوَابِ وَالأَكْيَاسِ. وَيَجِبُ عَلَى الطُّلَّابِ أَنْ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يُعِيدُوا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التَّدْوِيرَ، كَمَا يَجِبُ عَلَى الإِدَارَةِ أَنْ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تُوَفِّرَ</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حَاوِيَاتٍ مُنَاسِبَةً. وَيُمْكِنُ أَنْ نَسْتَخْدِمَ زُجَاجَاتٍ قَابِلَةً لِإِعَادَةِ الاسْتِخْدَامِ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لِكَيْ</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نُقَلِّلَ</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كَمِّيَّةَ البِلَاسْتِيكِ.</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Our school suffers from increasing plastic waste. To solve this problem, we should reduce the use of cups and bags. Students must recycle, and the administration must provide suitable bins. We can use reusable bottles in order to reduce the amount of plastic.</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يَنْبَغِي أَنْ نُقَلِّلَ اسْتِخْدَامَ البِلَاسْتِيكِ.</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should reduce the use of plastic.</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A sound-ending present verb changes its final ḍamma to fatḥa after أَنْ: نُقَلِّلُ → نُقَلِّلَ. It does not “lose a nūn”.</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يَجِبُ عَلَى الحُكُومَةِ أَنْ تَسْتَثْمِرَ فِي الطَّاقَةِ المُتَجَدِّدَةِ.</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government must invest in renewable energy.</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Name the responsible person or group after عَلَى.</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نَسْتَخْدِمُ النَّقْلَ العَامَّ لِكَيْ نُقَلِّلَ الانْبِعَاثَاتِ.</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use public transport to reduce emissions.</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لِكَيْ explains the intended purpose. A sound-ending verb takes fatḥa.</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ENVIRONMENTAL SOLUTIONS — WHAT CAN BE DONE?”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What should we do? Match the picture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الحَلُّ الأَخْضَرُ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recycling</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bus · people</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shower · tap</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يَنْبَغِي أَنْ نَسْتَخْدِمَ النَّقْلَ العَامَّ.</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يَنْبَغِي أَنْ نُوَفِّرَ المِيَاهَ.</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يَجِبُ أَنْ نُعِيدَ التَّدْوِيرَ.</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الحَلُّ الأَخْضَرُ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recycling</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يَجِبُ أَنْ نُعِيدَ التَّدْوِيرَ.</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We must recycle.</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bus · people</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يَنْبَغِي أَنْ نَسْتَخْدِمَ النَّقْلَ العَامَّ.</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We should use public transport.</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shower · tap</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يَنْبَغِي أَنْ نُوَفِّرَ المِيَاهَ.</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We should save water.</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إِعَادَةُ التَّدْوِيرِ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الطَّاقَةُ المُتَجَدِّدَةُ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الطَّاقَةُ الشَّمْسِيَّةُ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نُقَلِّلُ مِنْ</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نُوَفِّرُ</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نَزْرَعُ</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يَنْبَغِي أَنْ</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يَجِبُ عَلَى ... أَنْ</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يُمْكِنُ أَنْ</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Environmental solutions</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Action verbs</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Advice, obligation and purpose</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Environmental solutions</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إِعَادَةُ التَّدْوِيرِ</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الطَّاقَةُ المُتَجَدِّدَةُ</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الطَّاقَةُ الشَّمْسِيَّةُ</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Action verbs</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نُقَلِّلُ مِنْ</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نُوَفِّرُ</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نَزْرَعُ</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Advice, obligation and purpose</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يَنْبَغِي أَنْ</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يَجِبُ عَلَى ... أَنْ</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يُمْكِنُ أَنْ</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2, 5,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explanation of </a:t>
            </a:r>
            <a:pPr algn="l" indent="0" marL="0">
              <a:buNone/>
            </a:pPr>
            <a:r>
              <a:rPr lang="ar-SA" altLang="en-US" sz="1650" b="1" dirty="0">
                <a:solidFill>
                  <a:srgbClr val="1B3B6F"/>
                </a:solidFill>
                <a:latin typeface="Amiri" pitchFamily="2" charset="-78"/>
                <a:ea typeface="Amiri" pitchFamily="2" charset="-78"/>
                <a:cs typeface="Amiri" pitchFamily="2" charset="-78"/>
              </a:rPr>
              <a:t>نُقَلِّلَ</a:t>
            </a:r>
            <a:pPr algn="l" indent="0" marL="0">
              <a:buNone/>
            </a:pPr>
            <a:r>
              <a:rPr lang="en-US" sz="1250" b="1" dirty="0">
                <a:solidFill>
                  <a:srgbClr val="1B3B6F"/>
                </a:solidFill>
                <a:latin typeface="Calibri" pitchFamily="34" charset="0"/>
                <a:cs typeface="Amiri" pitchFamily="2" charset="-78"/>
              </a:rPr>
              <a:t> is accurate?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past-tense verb.</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one of the five verbs and loses a final nūn.</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sound-ending present verb marked with fatḥa after </a:t>
            </a:r>
            <a:pPr algn="l" indent="0" marL="0">
              <a:buNone/>
            </a:pPr>
            <a:r>
              <a:rPr lang="ar-SA" altLang="en-US" sz="1650" dirty="0">
                <a:solidFill>
                  <a:srgbClr val="1F2A37"/>
                </a:solidFill>
                <a:latin typeface="Amiri" pitchFamily="2" charset="-78"/>
                <a:ea typeface="Amiri" pitchFamily="2" charset="-78"/>
                <a:cs typeface="Amiri" pitchFamily="2" charset="-78"/>
              </a:rPr>
              <a:t>أَنْ</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five-verb form is correct after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 يُعِيدُونَ التَّدْوِيرَ</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 يُعِيدُوا التَّدْوِيرَ</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 أَعَادُوا التَّدْوِيرَ</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 plural addressee.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عَلَيْكُمْ أَنْ تُقَلِّلُونَ النُّفَايَاتِ.</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عَلَيْكُمْ أَنْ تُقَلِّلُوا النُّفَايَاتِ.</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عَلَيْكُمْ تُقَلِّلُوا النُّفَايَاتِ.</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clearly states purpose rather than cause?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يُؤَدِّي الجَفَافُ إِلَى نُقْصَانِ المَاءِ.</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نُرَشِّدُ المَاءَ بِسَبَبِ الجَفَافِ.</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نُرَشِّدُ المَاءَ لِكَيْ نَحْمِيَ المَوَارِدَ.</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explanation of </a:t>
            </a:r>
            <a:pPr algn="l" indent="0" marL="0">
              <a:buNone/>
            </a:pPr>
            <a:r>
              <a:rPr lang="ar-SA" altLang="en-US" sz="1650" b="1" dirty="0">
                <a:solidFill>
                  <a:srgbClr val="1B3B6F"/>
                </a:solidFill>
                <a:latin typeface="Amiri" pitchFamily="2" charset="-78"/>
                <a:ea typeface="Amiri" pitchFamily="2" charset="-78"/>
                <a:cs typeface="Amiri" pitchFamily="2" charset="-78"/>
              </a:rPr>
              <a:t>نُقَلِّلَ</a:t>
            </a:r>
            <a:pPr algn="l" indent="0" marL="0">
              <a:buNone/>
            </a:pPr>
            <a:r>
              <a:rPr lang="en-US" sz="1250" b="1" dirty="0">
                <a:solidFill>
                  <a:srgbClr val="1B3B6F"/>
                </a:solidFill>
                <a:latin typeface="Calibri" pitchFamily="34" charset="0"/>
                <a:cs typeface="Amiri" pitchFamily="2" charset="-78"/>
              </a:rPr>
              <a:t> is accurate?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past-tense verb.</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one of the five verbs and loses a final nūn.</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a sound-ending present verb marked with fatḥa after </a:t>
            </a:r>
            <a:pPr algn="l" indent="0" marL="0">
              <a:buNone/>
            </a:pPr>
            <a:r>
              <a:rPr lang="ar-SA" altLang="en-US" sz="1650" b="1" dirty="0">
                <a:solidFill>
                  <a:srgbClr val="1F2A37"/>
                </a:solidFill>
                <a:latin typeface="Amiri" pitchFamily="2" charset="-78"/>
                <a:ea typeface="Amiri" pitchFamily="2" charset="-78"/>
                <a:cs typeface="Amiri" pitchFamily="2" charset="-78"/>
              </a:rPr>
              <a:t>أَنْ</a:t>
            </a:r>
            <a:pPr algn="l" indent="0" marL="0">
              <a:buNone/>
            </a:pPr>
            <a:r>
              <a:rPr lang="en-US" sz="1250" b="1" dirty="0">
                <a:solidFill>
                  <a:srgbClr val="1F2A37"/>
                </a:solidFill>
                <a:latin typeface="Calibri" pitchFamily="34" charset="0"/>
                <a:cs typeface="Amiri" pitchFamily="2" charset="-78"/>
              </a:rPr>
              <a:t>.</a:t>
            </a:r>
            <a:endParaRPr lang="en-US" sz="125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نقلل</a:t>
            </a:r>
            <a:pPr algn="l" indent="0" marL="0">
              <a:buNone/>
            </a:pPr>
            <a:r>
              <a:rPr lang="en-US" sz="1050" i="1" dirty="0">
                <a:solidFill>
                  <a:srgbClr val="8A6D1E"/>
                </a:solidFill>
                <a:latin typeface="Calibri" pitchFamily="34" charset="0"/>
                <a:cs typeface="Amiri" pitchFamily="2" charset="-78"/>
              </a:rPr>
              <a:t> is not one of the five verbs; it simply takes the visible subjunctive fatḥa.</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five-verb form is correct after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 يُعِيدُونَ التَّدْوِيرَ</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أَنْ يُعِيدُوا التَّدْوِيرَ</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 أَعَادُوا التَّدْوِيرَ</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nūn is omitted from </a:t>
            </a:r>
            <a:pPr algn="l" indent="0" marL="0">
              <a:buNone/>
            </a:pPr>
            <a:r>
              <a:rPr lang="ar-SA" altLang="en-US" sz="1350" dirty="0">
                <a:solidFill>
                  <a:srgbClr val="8A6D1E"/>
                </a:solidFill>
                <a:latin typeface="Amiri" pitchFamily="2" charset="-78"/>
                <a:ea typeface="Amiri" pitchFamily="2" charset="-78"/>
                <a:cs typeface="Amiri" pitchFamily="2" charset="-78"/>
              </a:rPr>
              <a:t>يعيدون</a:t>
            </a:r>
            <a:pPr algn="l" indent="0" marL="0">
              <a:buNone/>
            </a:pPr>
            <a:r>
              <a:rPr lang="en-US" sz="1050" i="1" dirty="0">
                <a:solidFill>
                  <a:srgbClr val="8A6D1E"/>
                </a:solidFill>
                <a:latin typeface="Calibri" pitchFamily="34" charset="0"/>
                <a:cs typeface="Amiri" pitchFamily="2" charset="-78"/>
              </a:rPr>
              <a:t> 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 plural addressee.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يَجِبُ عَلَيْكُمْ أَنْ تُقَلِّلُونَ النُّفَايَاتِ.</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يَجِبُ عَلَيْكُمْ أَنْ تُقَلِّلُوا النُّفَايَاتِ.</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يَجِبُ عَلَيْكُمْ تُقَلِّلُوا النُّفَايَاتِ.</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تقللون</a:t>
            </a:r>
            <a:pPr algn="l" indent="0" marL="0">
              <a:buNone/>
            </a:pPr>
            <a:r>
              <a:rPr lang="en-US" sz="1050" i="1" dirty="0">
                <a:solidFill>
                  <a:srgbClr val="8A6D1E"/>
                </a:solidFill>
                <a:latin typeface="Calibri" pitchFamily="34" charset="0"/>
                <a:cs typeface="Amiri" pitchFamily="2" charset="-78"/>
              </a:rPr>
              <a:t> is one of the five verbs; 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it becomes </a:t>
            </a:r>
            <a:pPr algn="l" indent="0" marL="0">
              <a:buNone/>
            </a:pPr>
            <a:r>
              <a:rPr lang="ar-SA" altLang="en-US" sz="1350" dirty="0">
                <a:solidFill>
                  <a:srgbClr val="8A6D1E"/>
                </a:solidFill>
                <a:latin typeface="Amiri" pitchFamily="2" charset="-78"/>
                <a:ea typeface="Amiri" pitchFamily="2" charset="-78"/>
                <a:cs typeface="Amiri" pitchFamily="2" charset="-78"/>
              </a:rPr>
              <a:t>تقللوا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clearly states purpose rather than cause?</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يُؤَدِّي الجَفَافُ إِلَى نُقْصَانِ المَاءِ.</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نُرَشِّدُ المَاءَ بِسَبَبِ الجَفَافِ.</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نُرَشِّدُ المَاءَ لِكَيْ نَحْمِيَ المَوَارِدَ.</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introduces the intended purpose.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يَنْبَغِي أَنْ نُقَلِّلُ النُّفَايَاتِ.</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an: -u or -a?</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يَجِبُ عَلَى النَّاسِ أَنْ يُعِيدُونَ التَّدْوِيرَ.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yuʿīdūna after an?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نَسْتَخْدِمُ الطَّاقَةَ الشَّمْسِيَّةَ لِكَيْ نُقَلِّلُ الانْبِعَاثَاتِ.</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li-kay: -u or -a?</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45</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يَنْبَغِي أَنْ نُقَلِّلُ النُّفَايَاتِ.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يَنْبَغِي أَنْ نُقَلِّلَ النُّفَايَاتِ.</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نُقَلِّلُ</a:t>
            </a:r>
            <a:pPr algn="l" indent="0" marL="0">
              <a:buNone/>
            </a:pPr>
            <a:r>
              <a:rPr lang="en-US" sz="1150" b="1" dirty="0">
                <a:solidFill>
                  <a:srgbClr val="1B3B6F"/>
                </a:solidFill>
                <a:latin typeface="Calibri" pitchFamily="34" charset="0"/>
                <a:cs typeface="Amiri" pitchFamily="2" charset="-78"/>
              </a:rPr>
              <a:t> is a sound-ending verb; after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it takes fatḥa.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يَجِبُ عَلَى النَّاسِ أَنْ يُعِيدُونَ التَّدْوِيرَ.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يَجِبُ عَلَى النَّاسِ أَنْ يُعِيدُوا التَّدْوِيرَ.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يعيدون</a:t>
            </a:r>
            <a:pPr algn="l" indent="0" marL="0">
              <a:buNone/>
            </a:pPr>
            <a:r>
              <a:rPr lang="en-US" sz="1150" b="1" dirty="0">
                <a:solidFill>
                  <a:srgbClr val="1B3B6F"/>
                </a:solidFill>
                <a:latin typeface="Calibri" pitchFamily="34" charset="0"/>
                <a:cs typeface="Amiri" pitchFamily="2" charset="-78"/>
              </a:rPr>
              <a:t> is one of the five verbs, so its nūn is omitted after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نَسْتَخْدِمُ الطَّاقَةَ الشَّمْسِيَّةَ لِكَيْ نُقَلِّلُ الانْبِعَاثَاتِ.</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نَسْتَخْدِمُ الطَّاقَةَ الشَّمْسِيَّةَ لِكَيْ نُقَلِّلَ الانْبِعَاثَاتِ.</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لكي</a:t>
            </a:r>
            <a:pPr algn="l" indent="0" marL="0">
              <a:buNone/>
            </a:pPr>
            <a:r>
              <a:rPr lang="en-US" sz="1150" b="1" dirty="0">
                <a:solidFill>
                  <a:srgbClr val="1B3B6F"/>
                </a:solidFill>
                <a:latin typeface="Calibri" pitchFamily="34" charset="0"/>
                <a:cs typeface="Amiri" pitchFamily="2" charset="-78"/>
              </a:rPr>
              <a:t> is followed by the subjunctive.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45</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Listening: practical environmental solutions</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people reduce?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Plastic use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Tree planting</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Public transport</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schools recycle?</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Food</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Fuel</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Paper</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governments invest in?</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plastic packaging</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Fossil-fuel cars only</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Solar and wind energy</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can conserve water?</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Families</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factories</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Tourists only</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should families conserve water?</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pollute rivers</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protect natural resources</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increase waste</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structure assigns obligation to a named group?</a:t>
            </a:r>
            <a:endParaRPr lang="en-US" sz="120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عَلَى ... أَنْ</a:t>
            </a:r>
            <a:endParaRPr lang="ar-SA" sz="20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يَتَّسِمُ بِـ</a:t>
            </a:r>
            <a:endParaRPr lang="ar-SA" sz="20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يُؤَدِّي إِلَى</a:t>
            </a:r>
            <a:endParaRPr lang="ar-SA" sz="20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البِلَاسْتِيكِ</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الوَرَقِ</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الطَّاقَةِ</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45</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هُنَاكَ حُلُولٌ عَمَلِيَّةٌ لِحِمَايَةِ البِيئَةِ.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are practical solutions to protect the environment.</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يَنْبَغِي أَنْ نُقَلِّلَ اسْتِخْدَامَ البِلَاسْتِيكِ،</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 should reduce the use of plastic,</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وَيَجِبُ عَلَى المَدَارِسِ أَنْ تُعِيدَ تَدْوِيرَ الوَرَقِ.</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schools must recycle paper.</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كَمَا يَجِبُ عَلَى الحُكُومَاتِ أَنْ تَسْتَثْمِرَ فِي الطَّاقَةِ الشَّمْسِيَّةِ وَطَاقَةِ الرِّيَاحِ.</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Governments must also invest in solar and wind energy.</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وَيُمْكِنُ لِلأُسَرِ أَنْ تُرَشِّدَ المَاءَ لِكَيْ تَحْمِيَ المَوَارِدَ الطَّبِيعِيَّةَ.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families can save water in order to protect natural resources.</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45</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people reduce?</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Plastic use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Tree planting</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Public transport</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تقليل استخدام البلاستيك.</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schools recycle?</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Food</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Fuel</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Paper</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تعيد تدوير الورق.</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governments invest in?</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More plastic packaging</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Fossil-fuel cars only</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Solar and wind energy</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الطاقة الشمسية وطاقة الرياح.</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can conserve water?</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Families</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factories</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Tourists only</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يمكن للأسر.</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should families conserve water?</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pollute rivers</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To protect natural resources</a:t>
            </a:r>
            <a:endParaRPr lang="en-US" sz="11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increase waste</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لكي تحمي الموارد الطبيعية.</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structure assigns obligation to a named group?</a:t>
            </a:r>
            <a:endParaRPr lang="en-US" sz="120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يَجِبُ عَلَى ... أَنْ</a:t>
            </a:r>
            <a:endParaRPr lang="ar-SA" sz="170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يَتَّسِمُ بِـ</a:t>
            </a:r>
            <a:endParaRPr lang="ar-SA" sz="170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يُؤَدِّي إِلَى</a:t>
            </a:r>
            <a:endParaRPr lang="ar-SA" sz="170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يجب على</a:t>
            </a:r>
            <a:pPr algn="l" indent="0" marL="0">
              <a:buNone/>
            </a:pPr>
            <a:r>
              <a:rPr lang="en-US" sz="1050" i="1" dirty="0">
                <a:solidFill>
                  <a:srgbClr val="8A6D1E"/>
                </a:solidFill>
                <a:latin typeface="Calibri" pitchFamily="34" charset="0"/>
                <a:cs typeface="Amiri" pitchFamily="2" charset="-78"/>
              </a:rPr>
              <a:t> identifies who is responsible.</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البِلَاسْتِيكِ</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الوَرَقِ</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الطَّاقَةِ</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45</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Speaking: recommend and justify solutions</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يَنْبَغِي أَنْ نَفْعَلَ؟</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يَجِبُ عَلَى الحُكُومَةِ أَنْ تَفْعَلَ؟</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 حَلٍّ أَكْثَرُ فَعَالِيَّةً وَلِمَاذَا؟</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يَنْبَغِي أَنْ نُقَلِّلَ / نَزْرَعَ / نُعِيدَ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يَجِبُ عَلَى الحُكُومَةِ أَنْ ___ لِكَيْ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lnSpc>
                <a:spcPct val="120000"/>
              </a:lnSpc>
              <a:buNone/>
            </a:pPr>
            <a:r>
              <a:rPr lang="ar-SA" altLang="en-US" sz="1150" b="1" dirty="0">
                <a:solidFill>
                  <a:srgbClr val="1F2A37"/>
                </a:solidFill>
                <a:latin typeface="Amiri" pitchFamily="2" charset="-78"/>
                <a:ea typeface="Amiri" pitchFamily="2" charset="-78"/>
                <a:cs typeface="Amiri" pitchFamily="2" charset="-78"/>
              </a:rPr>
              <a:t>فِي رَأْيِي، ___ أَكْثَرُ فَعَالِيَّةً لِأَنَّ ___ ، وَلٰكِنَّ ___ .</a:t>
            </a:r>
            <a:endParaRPr lang="ar-SA" sz="11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مَاذَا يَجِبُ عَلَى المَدْرَسَةِ أَنْ تَفْعَلَ؟</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must the school do?</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يَجِبُ عَلَى المَدْرَسَةِ أَنْ تَضَعَ حَاوِيَاتٍ لِإِعَادَةِ التَّدْوِيرِ، وَأَنْ تُنَظِّمَ حَمْلَةً لِكَيْ تُقَلِّلَ النُّفَايَاتِ.</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The school must put out recycling bins and organise a campaign in order to reduce waste.</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45</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the vocabulary banks and sentence frames to produce four accurate connected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problem + three solutions with yanbaghī an / yajibu an + verb in -a.</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100–120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several target structures in a linked paragraph or sustained spoken answer.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Solutions with who must act (ʿalā …) and why (li-kay).</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120–140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Evaluate, compare or qualify ideas using precise evidence and formal linking language.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individual + government responsibility, a limitation, and a conclusion.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45</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عَلَى الحُكُومَةِ 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government must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عَلَى الطُّلَّابِ أَنْ يُعِيدُوا التَّدْوِيرَ.</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Students must recycle.</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لِكَيْ نَحْمِيَ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in order to protect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وَلٰكِنْ مِنْ عُيُوبِ هٰذَا الحَلِّ 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However, one limitation is that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تُعَانِي مَدْرَسَتُنَا / مَدِينَتُنَا مِنْ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Our school / town suffers from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يَنْبَغِي أَنْ نُقَلِّلَ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should reduce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نَزْرَعَ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must plant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يُمْكِنُ أَنْ نَسْتَخْدِمَ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can use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إِعَادَةُ التَّدْوِيرِ  ·  الطَّاقَةُ الشَّمْسِيَّةُ  ·  التَّشْجِيرُ  ·  النَّقْلُ العَامُّ  ·  نُقَلِّلَ  ·  نَزْرَعَ  ·  نُعِيدَ  ·  نَسْتَخْدِمَ  ·  يَنْبَغِي أَنْ  ·  يَجِبُ عَلَى … أَنْ  ·  لِكَيْ  ·  مِنَ الضَّرُورِيِّ أَنْ</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45</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120–140 Arabic words proposing solutions to one environmental problem.</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Describe the problem briefly.</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ea typeface="Amiri" pitchFamily="2" charset="-78"/>
                <a:cs typeface="Amiri" pitchFamily="2" charset="-78"/>
              </a:rPr>
              <a:t>ينبغي أن</a:t>
            </a:r>
            <a:pPr algn="l" indent="0" marL="0">
              <a:buNone/>
            </a:pPr>
            <a:r>
              <a:rPr lang="en-US" sz="1200" dirty="0">
                <a:solidFill>
                  <a:srgbClr val="1F2A37"/>
                </a:solidFill>
                <a:latin typeface="Calibri" pitchFamily="34" charset="0"/>
                <a:cs typeface="Amiri" pitchFamily="2" charset="-78"/>
              </a:rPr>
              <a:t>, </a:t>
            </a:r>
            <a:pPr algn="l" indent="0" marL="0">
              <a:buNone/>
            </a:pPr>
            <a:r>
              <a:rPr lang="ar-SA" altLang="en-US" sz="1550" dirty="0">
                <a:solidFill>
                  <a:srgbClr val="1F2A37"/>
                </a:solidFill>
                <a:latin typeface="Amiri" pitchFamily="2" charset="-78"/>
                <a:ea typeface="Amiri" pitchFamily="2" charset="-78"/>
                <a:cs typeface="Amiri" pitchFamily="2" charset="-78"/>
              </a:rPr>
              <a:t>يجب على</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أن</a:t>
            </a:r>
            <a:pPr algn="l" indent="0" marL="0">
              <a:buNone/>
            </a:pPr>
            <a:r>
              <a:rPr lang="en-US" sz="1200" dirty="0">
                <a:solidFill>
                  <a:srgbClr val="1F2A37"/>
                </a:solidFill>
                <a:latin typeface="Calibri" pitchFamily="34" charset="0"/>
                <a:cs typeface="Amiri" pitchFamily="2" charset="-78"/>
              </a:rPr>
              <a:t> and </a:t>
            </a:r>
            <a:pPr algn="l" indent="0" marL="0">
              <a:buNone/>
            </a:pPr>
            <a:r>
              <a:rPr lang="ar-SA" altLang="en-US" sz="1550" dirty="0">
                <a:solidFill>
                  <a:srgbClr val="1F2A37"/>
                </a:solidFill>
                <a:latin typeface="Amiri" pitchFamily="2" charset="-78"/>
                <a:ea typeface="Amiri" pitchFamily="2" charset="-78"/>
                <a:cs typeface="Amiri" pitchFamily="2" charset="-78"/>
              </a:rPr>
              <a:t>لكي</a:t>
            </a:r>
            <a:pPr algn="l" indent="0" marL="0">
              <a:buNone/>
            </a:pPr>
            <a:r>
              <a:rPr lang="en-US" sz="1200" dirty="0">
                <a:solidFill>
                  <a:srgbClr val="1F2A37"/>
                </a:solidFill>
                <a:latin typeface="Calibri" pitchFamily="34" charset="0"/>
                <a:cs typeface="Amiri" pitchFamily="2" charset="-78"/>
              </a:rPr>
              <a:t> accurately.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responsibility for individuals and government.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Evaluate one limitation and conclude.</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لِحَلِّ هٰذِهِ المُشْكِلَةِ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to solve this problem</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حَمْلَةُ تَوْعِيَةٍ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 awareness campaign</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قَابِلَةٌ لِإِعَادَةِ الاسْتِخْدَامِ</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reusable</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عَلَاوَةً عَلَى ذٰلِكَ</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moreover</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عَمَلِيَّةٌ وَقَابِلَةٌ لِلتَّطْبِيقِ</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practical and feasible</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45</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2" charset="-78"/>
                <a:ea typeface="Amiri" pitchFamily="2" charset="-78"/>
                <a:cs typeface="Amiri" pitchFamily="2" charset="-78"/>
              </a:rPr>
              <a:t>تُعَانِي مَدْرَسَتُنَا مِنْ زِيَادَةِ النُّفَايَاتِ البِلَاسْتِيكِيَّةِ. لِحَلِّ هٰذِهِ المُشْكِلَةِ، يَنْبَغِي أَنْ نُقَلِّلَ اسْتِخْدَامَ الأَكْوَابِ وَالأَكْيَاسِ الَّتِي تُسْتَعْمَلُ مَرَّةً وَاحِدَةً. وَيَجِبُ عَلَى الطُّلَّابِ أَنْ يُعِيدُوا التَّدْوِيرَ، كَمَا يَجِبُ عَلَى الإِدَارَةِ أَنْ تُوَفِّرَ حَاوِيَاتٍ مُنَاسِبَةً. وَيُمْكِنُ أَنْ نَسْتَخْدِمَ زُجَاجَاتٍ قَابِلَةً لِإِعَادَةِ الاسْتِخْدَامِ لِكَيْ نُقَلِّلَ كَمِّيَّةَ البِلَاسْتِيكِ. عَلَاوَةً عَلَى ذٰلِكَ، مِنَ الضَّرُورِيِّ أَنْ نَنْشُرَ الوَعْيَ البِيئِيَّ. فِي رَأْيِي، هٰذِهِ الخُطُوَاتُ عَمَلِيَّةٌ وَقَابِلَةٌ لِلتَّطْبِيقِ.</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Our school suffers from increasing plastic waste. To solve this problem, we should reduce the use of single-use cups and bags. Students must recycle, and the administration must provide suitable bins. We can use reusable bottles in order to reduce the amount of plastic. Moreover, it is necessary to spread environmental awareness. In my opinion, these steps are practical and feasible.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yanbaghī an + -a</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yajibu ʿalā … an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li-kay + -a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five-verb form (-ū)</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45</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an / li-kay my verbs end in -a.</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three solutions.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who must act (ʿalā …).</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They / you all: -ū without -na.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evaluated a limitation.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45</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subjunctive form after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نُقَلِّلَ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نُقَلِّلُ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نُقَلِّلْ</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loses a final nūn after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نَزْرَعَ</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يُعِيدُوا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نُقَلِّلَ</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expresses purpose?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نَزْرَعُ الأَشْجَارَ لِكَيْ نُحَسِّنَ الهَوَاءَ.</a:t>
            </a:r>
            <a:endParaRPr lang="ar-SA" sz="200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نَزْرَعُ الأَشْجَارَ بِسَبَبِ الهَوَاءِ.</a:t>
            </a:r>
            <a:endParaRPr lang="ar-SA" sz="200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نَزْرَعُ الأَشْجَارَ نَتِيجَةً لِلهَوَاءِ.</a:t>
            </a:r>
            <a:endParaRPr lang="ar-SA" sz="200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45</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subjunctive form after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نُقَلِّلَ</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نُقَلِّلُ</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نُقَلِّلْ</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sound-ending verb takes fatḥa 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loses a final nūn after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نَزْرَعَ</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يُعِيدُوا</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نُقَلِّلَ</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يعيدون</a:t>
            </a:r>
            <a:pPr algn="l" indent="0" marL="0">
              <a:buNone/>
            </a:pPr>
            <a:r>
              <a:rPr lang="en-US" sz="1050" i="1" dirty="0">
                <a:solidFill>
                  <a:srgbClr val="8A6D1E"/>
                </a:solidFill>
                <a:latin typeface="Calibri" pitchFamily="34" charset="0"/>
                <a:cs typeface="Amiri" pitchFamily="2" charset="-78"/>
              </a:rPr>
              <a:t> is one of the five verbs and becomes </a:t>
            </a:r>
            <a:pPr algn="l" indent="0" marL="0">
              <a:buNone/>
            </a:pPr>
            <a:r>
              <a:rPr lang="ar-SA" altLang="en-US" sz="1350" dirty="0">
                <a:solidFill>
                  <a:srgbClr val="8A6D1E"/>
                </a:solidFill>
                <a:latin typeface="Amiri" pitchFamily="2" charset="-78"/>
                <a:ea typeface="Amiri" pitchFamily="2" charset="-78"/>
                <a:cs typeface="Amiri" pitchFamily="2" charset="-78"/>
              </a:rPr>
              <a:t>يعيدوا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expresses purpose?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نَزْرَعُ الأَشْجَارَ لِكَيْ نُحَسِّنَ الهَوَاءَ.</a:t>
            </a:r>
            <a:endParaRPr lang="ar-SA" sz="200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00" dirty="0">
                <a:solidFill>
                  <a:srgbClr val="9AA1AB"/>
                </a:solidFill>
                <a:latin typeface="Amiri" pitchFamily="2" charset="-78"/>
                <a:ea typeface="Amiri" pitchFamily="2" charset="-78"/>
                <a:cs typeface="Amiri" pitchFamily="2" charset="-78"/>
              </a:rPr>
              <a:t>نَزْرَعُ الأَشْجَارَ بِسَبَبِ الهَوَاءِ.</a:t>
            </a:r>
            <a:endParaRPr lang="ar-SA" sz="200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9AA1AB"/>
                </a:solidFill>
                <a:latin typeface="Amiri" pitchFamily="2" charset="-78"/>
                <a:ea typeface="Amiri" pitchFamily="2" charset="-78"/>
                <a:cs typeface="Amiri" pitchFamily="2" charset="-78"/>
              </a:rPr>
              <a:t>نَزْرَعُ الأَشْجَارَ نَتِيجَةً لِلهَوَاءِ.</a:t>
            </a:r>
            <a:endParaRPr lang="ar-SA" sz="200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introduces purpose.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45</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 school recycling plan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لِحَلِّ مُشْكِلَةِ النُّفَايَاتِ فِي المَدْرَسَةِ، يَنْبَغِي أَنْ نُقَلِّلَ الأَغْلِفَةَ البِلَاسْتِيكِيَّةَ، وَأَنْ نَضَعَ حَاوِيَاتٍ لِإِعَادَةِ التَّدْوِيرِ. وَيَجِبُ عَلَى الطُّلَّابِ أَنْ يَفْصِلُوا الوَرَقَ عَنِ البِلَاسْتِيكِ، كَمَا يَجِبُ عَلَى الإِدَارَةِ أَنْ تُنَظِّمَ حَمْلَةَ تَوْعِيَةٍ. وَيُمْكِنُ أَنْ نَسْتَخْدِمَ زُجَاجَاتٍ قَابِلَةً لِإِعَادَةِ الاسْتِخْدَامِ لِكَيْ نُقَلِّلَ كَمِّيَّةَ النُّفَايَاتِ.</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لِحَلِّ</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 solve</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الأَغْلِفَةَ البِلَاسْتِيكِيَّةَ</a:t>
            </a:r>
            <a:endParaRPr lang="ar-SA" sz="155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plastic packaging</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نَضَعَ</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put</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حَاوِيَاتٍ</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bins, containers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يَفْصِلُوا … عَنِ</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separate … from</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الإِدَارَةِ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administration</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حَمْلَةَ تَوْعِيَةٍ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 awareness campaign</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زُجَاجَاتٍ</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bottles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قَابِلَةً لِإِعَادَةِ الاسْتِخْدَامِ</a:t>
            </a:r>
            <a:endParaRPr lang="ar-SA" sz="135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reusable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كَمِّيَّةَ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amount</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45</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problem is the plan designed to solve?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Low exam results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School waste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Cold classrooms</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be reduced?</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Awareness campaigns</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Paper recycling</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Plastic packaging</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students do?</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Separate paper from plastic</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Throw everything together</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Buy more packaging</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the administration organise?</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sports match</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awareness campaign</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weather forecast</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reusable item is suggested?</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Bottles</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Disposable cups</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Plastic bags</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purpose of reusable bottles?</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increase water use</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make recycling impossible</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reduce the amount of waste</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45</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problem is the plan designed to solve?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Low exam results</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School waste</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Cold classrooms</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opening names </a:t>
            </a:r>
            <a:pPr algn="l" indent="0" marL="0">
              <a:buNone/>
            </a:pPr>
            <a:r>
              <a:rPr lang="ar-SA" altLang="en-US" sz="1350" dirty="0">
                <a:solidFill>
                  <a:srgbClr val="8A6D1E"/>
                </a:solidFill>
                <a:latin typeface="Amiri" pitchFamily="2" charset="-78"/>
                <a:ea typeface="Amiri" pitchFamily="2" charset="-78"/>
                <a:cs typeface="Amiri" pitchFamily="2" charset="-78"/>
              </a:rPr>
              <a:t>مشكلة النفايات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be reduced?</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Awareness campaigns</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Paper recycling</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Plastic packaging</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الأغلفة البلاستيكية.</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students do?</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Separate paper from plastic</a:t>
            </a:r>
            <a:endParaRPr lang="en-US" sz="11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cs typeface="Amiri" pitchFamily="2" charset="-78"/>
              </a:rPr>
              <a:t>Throw everything together</a:t>
            </a:r>
            <a:endParaRPr lang="en-US" sz="120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Buy more packaging</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أن يفصلوا الورق عن البلاستيك.</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the administration organise?</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sports match</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awareness campaign</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weather forecast</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حملة توعية.</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reusable item is suggested?</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Bottles</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Disposable cups</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Plastic bags</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زجاجات قابلة لإعادة الاستخدام.</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purpose of reusable bottles?</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increase water use</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To make recycling impossible</a:t>
            </a:r>
            <a:endParaRPr lang="en-US" sz="11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To reduce the amount of waste</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لكي نقلل كمية النفايات.</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45</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Environmental Solutions — What Can Be Done? — Arabic application mission</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gives accurate general advice?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يَنْبَغِي أَنْ نُوَفِّرُ المَاءَ.</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يَنْبَغِي أَنْ نُوَفِّرَ المَاءَ.</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يَنْبَغِي نُوَفِّرَ المَاءَ.</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assigns responsibility to governments?</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يَجِبُ عَلَى الحُكُومَاتِ أَنْ تَسْتَثْمِرَ فِي الطَّاقَةِ النَّظِيفَةِ.</a:t>
            </a:r>
            <a:endParaRPr lang="ar-SA" sz="130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يَجِبُ الحُكُومَاتِ عَلَى الطَّاقَةِ.</a:t>
            </a:r>
            <a:endParaRPr lang="ar-SA" sz="130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يَنْبَغِي الحُكُومَاتُ تَسْتَثْمِرُ فِي الطَّاقَةِ.</a:t>
            </a:r>
            <a:endParaRPr lang="ar-SA" sz="130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purpose that matches using public transport.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لِكَيْ نَزِيدَ الازدِحَامَ</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لِكَيْ نَسْتَهْلِكَ وَقُودًا أَكْثَرَ</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لِكَيْ نُقَلِّلَ الانْبِعَاثَاتِ</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correctly follows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 for “they recycle”?</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يُعِيدُونَ التَّدْوِيرَ</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يُعِيدُ التَّدْوِيرَ</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يُعِيدُوا التَّدْوِيرَ</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about </a:t>
            </a:r>
            <a:pPr algn="l" indent="0" marL="0">
              <a:buNone/>
            </a:pPr>
            <a:r>
              <a:rPr lang="ar-SA" altLang="en-US" sz="1650" b="1" dirty="0">
                <a:solidFill>
                  <a:srgbClr val="1B3B6F"/>
                </a:solidFill>
                <a:latin typeface="Amiri" pitchFamily="2" charset="-78"/>
                <a:ea typeface="Amiri" pitchFamily="2" charset="-78"/>
                <a:cs typeface="Amiri" pitchFamily="2" charset="-78"/>
              </a:rPr>
              <a:t>نُقَلِّلَ</a:t>
            </a:r>
            <a:pPr algn="l" indent="0" marL="0">
              <a:buNone/>
            </a:pPr>
            <a:r>
              <a:rPr lang="en-US" sz="1250" b="1" dirty="0">
                <a:solidFill>
                  <a:srgbClr val="1B3B6F"/>
                </a:solidFill>
                <a:latin typeface="Calibri" pitchFamily="34" charset="0"/>
                <a:cs typeface="Amiri" pitchFamily="2" charset="-78"/>
              </a:rPr>
              <a:t> is correct?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Its final fatḥa marks the subjunctive after </a:t>
            </a:r>
            <a:pPr algn="l" indent="0" marL="0">
              <a:buNone/>
            </a:pPr>
            <a:r>
              <a:rPr lang="ar-SA" altLang="en-US" sz="1650" dirty="0">
                <a:solidFill>
                  <a:srgbClr val="1F2A37"/>
                </a:solidFill>
                <a:latin typeface="Amiri" pitchFamily="2" charset="-78"/>
                <a:ea typeface="Amiri" pitchFamily="2" charset="-78"/>
                <a:cs typeface="Amiri" pitchFamily="2" charset="-78"/>
              </a:rPr>
              <a:t>أَنْ</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dual form.</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lost the nūn of the five verbs.</a:t>
            </a:r>
            <a:endParaRPr lang="en-US" sz="12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coherent problem–solution response.</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تَزْدَادُ النُّفَايَاتُ، لِذٰلِكَ يَجِبُ أَنْ نَرْمِيَهَا فِي البَحْرِ.</a:t>
            </a:r>
            <a:endParaRPr lang="ar-SA" sz="130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تَزْدَادُ النُّفَايَاتُ، لِذٰلِكَ يَجِبُ أَنْ نُعِيدَ التَّدْوِيرَ.</a:t>
            </a:r>
            <a:endParaRPr lang="ar-SA" sz="130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تَزْدَادُ النُّفَايَاتُ، لِذٰلِكَ يَنْبَغِي أَنْ نَزِيدَهَا.</a:t>
            </a:r>
            <a:endParaRPr lang="ar-SA" sz="13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45</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gives accurate general advice?</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يَنْبَغِي أَنْ نُوَفِّرُ المَاءَ.</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يَنْبَغِي أَنْ نُوَفِّرَ المَاءَ.</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يَنْبَغِي نُوَفِّرَ المَاءَ.</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use </a:t>
            </a:r>
            <a:pPr algn="l" indent="0" marL="0">
              <a:buNone/>
            </a:pPr>
            <a:r>
              <a:rPr lang="ar-SA" altLang="en-US" sz="1350" dirty="0">
                <a:solidFill>
                  <a:srgbClr val="8A6D1E"/>
                </a:solidFill>
                <a:latin typeface="Amiri" pitchFamily="2" charset="-78"/>
                <a:ea typeface="Amiri" pitchFamily="2" charset="-78"/>
                <a:cs typeface="Amiri" pitchFamily="2" charset="-78"/>
              </a:rPr>
              <a:t>نوفّرَ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assigns responsibility to governments?</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ea typeface="Amiri" pitchFamily="2" charset="-78"/>
                <a:cs typeface="Amiri" pitchFamily="2" charset="-78"/>
              </a:rPr>
              <a:t>يَجِبُ عَلَى الحُكُومَاتِ أَنْ تَسْتَثْمِرَ فِي الطَّاقَةِ النَّظِيفَةِ.</a:t>
            </a:r>
            <a:endParaRPr lang="ar-SA" sz="13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300" dirty="0">
                <a:solidFill>
                  <a:srgbClr val="9AA1AB"/>
                </a:solidFill>
                <a:latin typeface="Amiri" pitchFamily="2" charset="-78"/>
                <a:ea typeface="Amiri" pitchFamily="2" charset="-78"/>
                <a:cs typeface="Amiri" pitchFamily="2" charset="-78"/>
              </a:rPr>
              <a:t>يَجِبُ الحُكُومَاتِ عَلَى الطَّاقَةِ.</a:t>
            </a:r>
            <a:endParaRPr lang="ar-SA" sz="13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300" dirty="0">
                <a:solidFill>
                  <a:srgbClr val="9AA1AB"/>
                </a:solidFill>
                <a:latin typeface="Amiri" pitchFamily="2" charset="-78"/>
                <a:ea typeface="Amiri" pitchFamily="2" charset="-78"/>
                <a:cs typeface="Amiri" pitchFamily="2" charset="-78"/>
              </a:rPr>
              <a:t>يَنْبَغِي الحُكُومَاتُ تَسْتَثْمِرُ فِي الطَّاقَةِ.</a:t>
            </a:r>
            <a:endParaRPr lang="ar-SA" sz="13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obligation pattern is </a:t>
            </a:r>
            <a:pPr algn="l" indent="0" marL="0">
              <a:buNone/>
            </a:pPr>
            <a:r>
              <a:rPr lang="ar-SA" altLang="en-US" sz="1350" dirty="0">
                <a:solidFill>
                  <a:srgbClr val="8A6D1E"/>
                </a:solidFill>
                <a:latin typeface="Amiri" pitchFamily="2" charset="-78"/>
                <a:ea typeface="Amiri" pitchFamily="2" charset="-78"/>
                <a:cs typeface="Amiri" pitchFamily="2" charset="-78"/>
              </a:rPr>
              <a:t>يجب على</a:t>
            </a:r>
            <a:pPr algn="l" indent="0" marL="0">
              <a:buNone/>
            </a:pPr>
            <a:r>
              <a:rPr lang="en-US" sz="1050" i="1" dirty="0">
                <a:solidFill>
                  <a:srgbClr val="8A6D1E"/>
                </a:solidFill>
                <a:latin typeface="Calibri" pitchFamily="34" charset="0"/>
                <a:cs typeface="Amiri" pitchFamily="2" charset="-78"/>
              </a:rPr>
              <a:t> + responsible group +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purpose that matches using public transport.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لِكَيْ نَزِيدَ الازدِحَامَ</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لِكَيْ نَسْتَهْلِكَ وَقُودًا أَكْثَرَ</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لِكَيْ نُقَلِّلَ الانْبِعَاثَاتِ</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Public transport can reduce emissions.</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correctly follows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 for “they recycle”?</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يُعِيدُونَ التَّدْوِيرَ</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يُعِيدُ التَّدْوِيرَ</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يُعِيدُوا التَّدْوِيرَ</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nūn of </a:t>
            </a:r>
            <a:pPr algn="l" indent="0" marL="0">
              <a:buNone/>
            </a:pPr>
            <a:r>
              <a:rPr lang="ar-SA" altLang="en-US" sz="1350" dirty="0">
                <a:solidFill>
                  <a:srgbClr val="8A6D1E"/>
                </a:solidFill>
                <a:latin typeface="Amiri" pitchFamily="2" charset="-78"/>
                <a:ea typeface="Amiri" pitchFamily="2" charset="-78"/>
                <a:cs typeface="Amiri" pitchFamily="2" charset="-78"/>
              </a:rPr>
              <a:t>يعيدون</a:t>
            </a:r>
            <a:pPr algn="l" indent="0" marL="0">
              <a:buNone/>
            </a:pPr>
            <a:r>
              <a:rPr lang="en-US" sz="1050" i="1" dirty="0">
                <a:solidFill>
                  <a:srgbClr val="8A6D1E"/>
                </a:solidFill>
                <a:latin typeface="Calibri" pitchFamily="34" charset="0"/>
                <a:cs typeface="Amiri" pitchFamily="2" charset="-78"/>
              </a:rPr>
              <a:t> is omitted.</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about </a:t>
            </a:r>
            <a:pPr algn="l" indent="0" marL="0">
              <a:buNone/>
            </a:pPr>
            <a:r>
              <a:rPr lang="ar-SA" altLang="en-US" sz="1650" b="1" dirty="0">
                <a:solidFill>
                  <a:srgbClr val="1B3B6F"/>
                </a:solidFill>
                <a:latin typeface="Amiri" pitchFamily="2" charset="-78"/>
                <a:ea typeface="Amiri" pitchFamily="2" charset="-78"/>
                <a:cs typeface="Amiri" pitchFamily="2" charset="-78"/>
              </a:rPr>
              <a:t>نُقَلِّلَ</a:t>
            </a:r>
            <a:pPr algn="l" indent="0" marL="0">
              <a:buNone/>
            </a:pPr>
            <a:r>
              <a:rPr lang="en-US" sz="1250" b="1" dirty="0">
                <a:solidFill>
                  <a:srgbClr val="1B3B6F"/>
                </a:solidFill>
                <a:latin typeface="Calibri" pitchFamily="34" charset="0"/>
                <a:cs typeface="Amiri" pitchFamily="2" charset="-78"/>
              </a:rPr>
              <a:t> is correct?</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Its final fatḥa marks the subjunctive after </a:t>
            </a:r>
            <a:pPr algn="l" indent="0" marL="0">
              <a:buNone/>
            </a:pPr>
            <a:r>
              <a:rPr lang="ar-SA" altLang="en-US" sz="1500" b="1" dirty="0">
                <a:solidFill>
                  <a:srgbClr val="1F2A37"/>
                </a:solidFill>
                <a:latin typeface="Amiri" pitchFamily="2" charset="-78"/>
                <a:ea typeface="Amiri" pitchFamily="2" charset="-78"/>
                <a:cs typeface="Amiri" pitchFamily="2" charset="-78"/>
              </a:rPr>
              <a:t>أَنْ</a:t>
            </a:r>
            <a:pPr algn="l" indent="0" marL="0">
              <a:buNone/>
            </a:pPr>
            <a:r>
              <a:rPr lang="en-US" sz="1150" b="1" dirty="0">
                <a:solidFill>
                  <a:srgbClr val="1F2A37"/>
                </a:solidFill>
                <a:latin typeface="Calibri" pitchFamily="34" charset="0"/>
                <a:cs typeface="Amiri" pitchFamily="2" charset="-78"/>
              </a:rPr>
              <a:t>.</a:t>
            </a:r>
            <a:endParaRPr lang="en-US" sz="115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dual form.</a:t>
            </a:r>
            <a:endParaRPr lang="en-US" sz="125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lost the nūn of the five verbs.</a:t>
            </a:r>
            <a:endParaRPr lang="en-US" sz="125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نقلل</a:t>
            </a:r>
            <a:pPr algn="l" indent="0" marL="0">
              <a:buNone/>
            </a:pPr>
            <a:r>
              <a:rPr lang="en-US" sz="1050" i="1" dirty="0">
                <a:solidFill>
                  <a:srgbClr val="8A6D1E"/>
                </a:solidFill>
                <a:latin typeface="Calibri" pitchFamily="34" charset="0"/>
                <a:cs typeface="Amiri" pitchFamily="2" charset="-78"/>
              </a:rPr>
              <a:t> has no five-verb nūn to remove.</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coherent problem–solution response.</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300" dirty="0">
                <a:solidFill>
                  <a:srgbClr val="9AA1AB"/>
                </a:solidFill>
                <a:latin typeface="Amiri" pitchFamily="2" charset="-78"/>
                <a:ea typeface="Amiri" pitchFamily="2" charset="-78"/>
                <a:cs typeface="Amiri" pitchFamily="2" charset="-78"/>
              </a:rPr>
              <a:t>تَزْدَادُ النُّفَايَاتُ، لِذٰلِكَ يَجِبُ أَنْ نَرْمِيَهَا فِي البَحْرِ.</a:t>
            </a:r>
            <a:endParaRPr lang="ar-SA" sz="13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ea typeface="Amiri" pitchFamily="2" charset="-78"/>
                <a:cs typeface="Amiri" pitchFamily="2" charset="-78"/>
              </a:rPr>
              <a:t>تَزْدَادُ النُّفَايَاتُ، لِذٰلِكَ يَجِبُ أَنْ نُعِيدَ التَّدْوِيرَ.</a:t>
            </a:r>
            <a:endParaRPr lang="ar-SA" sz="13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300" dirty="0">
                <a:solidFill>
                  <a:srgbClr val="9AA1AB"/>
                </a:solidFill>
                <a:latin typeface="Amiri" pitchFamily="2" charset="-78"/>
                <a:ea typeface="Amiri" pitchFamily="2" charset="-78"/>
                <a:cs typeface="Amiri" pitchFamily="2" charset="-78"/>
              </a:rPr>
              <a:t>تَزْدَادُ النُّفَايَاتُ، لِذٰلِكَ يَنْبَغِي أَنْ نَزِيدَهَا.</a:t>
            </a:r>
            <a:endParaRPr lang="ar-SA" sz="13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Recycling is a relevant solution to increasing waste.</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45</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D4-L04 · Solutions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D4-L05: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D4-L05 · The Digital World — Technology and Social Media</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تَطْبِيقٌ</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app</a:t>
            </a:r>
            <a:pPr indent="0" marL="0">
              <a:buNone/>
            </a:pPr>
            <a:r>
              <a:rPr lang="ar-SA" sz="1000" i="1" dirty="0">
                <a:solidFill>
                  <a:srgbClr val="5A6472"/>
                </a:solidFill>
                <a:latin typeface="Calibri" pitchFamily="34" charset="0"/>
                <a:ea typeface="Amiri" pitchFamily="2" charset="-78"/>
                <a:cs typeface="Amiri" pitchFamily="2" charset="-78"/>
              </a:rPr>
              <a:t>  pl. تَطْبِيقَاتٌ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مِنَصَّةٌ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platform</a:t>
            </a:r>
            <a:pPr indent="0" marL="0">
              <a:buNone/>
            </a:pPr>
            <a:r>
              <a:rPr lang="ar-SA" sz="1000" i="1" dirty="0">
                <a:solidFill>
                  <a:srgbClr val="5A6472"/>
                </a:solidFill>
                <a:latin typeface="Calibri" pitchFamily="34" charset="0"/>
                <a:ea typeface="Amiri" pitchFamily="2" charset="-78"/>
                <a:cs typeface="Amiri" pitchFamily="2" charset="-78"/>
              </a:rPr>
              <a:t>  pl. مِنَصَّاتٌ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يَنْشُرُ</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posts, publishes</a:t>
            </a:r>
            <a:pPr indent="0" marL="0">
              <a:buNone/>
            </a:pPr>
            <a:r>
              <a:rPr lang="ar-SA" sz="1000" i="1" dirty="0">
                <a:solidFill>
                  <a:srgbClr val="5A6472"/>
                </a:solidFill>
                <a:latin typeface="Calibri" pitchFamily="34" charset="0"/>
                <a:ea typeface="Amiri" pitchFamily="2" charset="-78"/>
                <a:cs typeface="Amiri" pitchFamily="2" charset="-78"/>
              </a:rPr>
              <a:t>  أَنْشُرُ I</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الخُصُوصِيَّةُ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privacy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الذَّكَاءُ الاصْطِنَاعِيُّ</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artificial intelligence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Which app do you use most? Write one sentence.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أَسْتَخْدِمُ تَطْبِيقَ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8 solution words; write 5 sentences with yanbaghī an + -a.</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Solutions to one problem in 100–120 words with yajibu ʿalā and li-kay.</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solutions with responsibility and a limitation (120–140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45</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D4-L04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50" b="1" dirty="0">
                <a:solidFill>
                  <a:srgbClr val="FFFFFF"/>
                </a:solidFill>
                <a:latin typeface="Cambria" pitchFamily="34" charset="0"/>
                <a:cs typeface="Amiri" pitchFamily="2" charset="-78"/>
              </a:rPr>
              <a:t>D4-L05 · The Digital World — Technology and Social Media</a:t>
            </a:r>
            <a:endParaRPr lang="en-US" sz="17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العَالَمُ الرَّقْمِيُّ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should / must / can / in order to + verb in -a — they &amp; you all: -ūna → -ū.</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D4-L04 · Environmental Solutions — What Can Be Done?</dc:title>
  <dc:subject>PptxGenJS Presentation</dc:subject>
  <dc:creator>Al Madina Online School · Arabic Department</dc:creator>
  <cp:lastModifiedBy>Al Madina Online School · Arabic Department</cp:lastModifiedBy>
  <cp:revision>1</cp:revision>
  <dcterms:created xsi:type="dcterms:W3CDTF">2026-10-11T06:40:51Z</dcterms:created>
  <dcterms:modified xsi:type="dcterms:W3CDTF">2026-10-11T06:40:51Z</dcterms:modified>
</cp:coreProperties>
</file>