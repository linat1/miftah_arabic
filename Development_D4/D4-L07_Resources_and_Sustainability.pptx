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D4 Environment, Weather and Technology › D4-L07. The website lesson “Resources and Sustainability — When Resources Run Out”: vocabulary, grammar rules and quiz, patterns, common mistakes, sorter, listening, reading, speaking prompts and model, writing task and model, differentiation, final check and the lesson mission. Picture match: website visual game “Resources and Sustainability — When Resources Run Out”.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8 resource words + “X is running out / becoming scarce” with the right verb and agreement (يَنْضَبُ النِّفْطُ · تَشِحُّ المِيَاهُ). Develop: a real condition (إِذَا اسْتَمَرَّ …، فَسَوْفَ …). Stretch: a negative condition (إِذَا لَمْ + jussive) and a transition (نَنْتَقِلُ مِنْ … إِلَى … / نَسْتَبْدِلُ … بِـ …) with a judgement on responsibility.
• Builds on D3-L05 (إِذَا + past) and D4-L04 (solutions). NEW: لَمْ + jussive (no final vowel: نُرَشِّدْ; before al- the sukūn becomes kasra: نُرَشِّدِ المَاءَ).
• المِيَاهُ (water, a plural) is treated as feminine → تَشِحُّ.
• Real-world hook: water scarcity in Jordan / Yemen and desalination in the Gulf; Islamic link (teacher choice): the prohibition of wasting water even for wuḍūʾ.
• TEACHER-WRITTEN ITEMS: the jussive before al- is vowelled with kasra (website: نُرَشِّدْ المَاءَ → نُرَشِّدِ المَاءَ), two quiz items with vowel-only options were given meaningful distractors, and English is added to the website speaking model.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D4-L06. Questions 3–5 retrieve D3-L05 (idhā + past), D4-L04 (an + -a) and D4-L06 (passive agreement).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Predict the future of a resource: if this continues → it will run out. If we don’t act → it will get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استعمال، ذخیرہ (a store / stock — Arabic مَخْزُونٌ, from the same idea as خزانہ), تدریجاً are shared. Urdu نسل = generation (Arabic uses أَجْيَالٌ in the text: الأَجْيَالُ القَادِمَةُ).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Resources and scarcity (website vocabulary (1 of 2)). Hear → Say → See → Use. Transliteration is printed for Core students (cover it for Develop/Stretch).
Resources and scarcity: الوَقُودُ الأُحْفُورِيُّ = fossil fuel; المِيَاهُ الجَوْفِيَّةُ = groundwater (جَوْفٌ = inside / hollow).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Resources and scarcity (website vocabulary (2 of 2)). Hear → Say → See → Use. Transliteration is printed for Core students (cover it for Develop/Stretch).
Resources and scarcity: الوَقُودُ الأُحْفُورِيُّ = fossil fuel; المِيَاهُ الجَوْفِيَّةُ = groundwater (جَوْفٌ = inside / hollow).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Resource verbs (website vocabulary (1 of 2)). Hear → Say → See → Use. Transliteration is printed for Core students (cover it for Develop/Stretch).
Resource verbs: يَنْضَبُ (a stock runs out) vs يَشِحُّ (becomes scarce). With المِيَاهُ / المَوَارِدُ (feminine plurals) → تَنْضَبُ / تَشِحُّ.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Resource verbs (website vocabulary (2 of 2)). Hear → Say → See → Use. Transliteration is printed for Core students (cover it for Develop/Stretch).
Resource verbs: يَنْضَبُ (a stock runs out) vs يَشِحُّ (becomes scarce). With المِيَاهُ / المَوَارِدُ (feminine plurals) → تَنْضَبُ / تَشِحُّ.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Condition and projection (website vocabulary (1 of 2)). Hear → Say → See → Use. Transliteration is printed for Core students (cover it for Develop/Stretch).
Condition and projection: إِذَا + PAST verb, then فَسَوْفَ / فَسَـ +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Condition and projection (website vocabulary (2 of 2)). Hear → Say → See → Use. Transliteration is printed for Core students (cover it for Develop/Stretch).
Condition and projection: إِذَا + PAST verb, then فَسَوْفَ / فَسَـ +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“Resource processes” (يَنْضَبُ describes a stock being depleted; يَشِحُّ describes something becoming scarce) and “Real future condition” (Arabic commonly uses a past-form verb after إذا for a real future condition). Website examples as shown.
Website mistake: يَشِحُّ المِيَاهُ ✗ → تَشِحُّ المِيَاهُ ✓ (المياه is treated as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“Negative condition” (after لَمْ the present verb is jussive; sound-ending verbs lose the final short vowel) and “Transition from one resource to another” (مِنْ … إِلَى for transition; بِـ for the replacement after يَسْتَبْدِلُ). Website examples as shown.
Vowelling note: before al- the jussive sukūn becomes kasra: نُرَشِّدْ + المِيَاهَ → نُرَشِّدِ المِيَاهَ (the website writes نُرَشِّدْ المِيَاهَ; the deck corrects this; the website listening has the kasra form: تُرَشِّدِ الأُسَرُ).
CAREFUL with يَسْتَبْدِلُ: the website (and much modern usage) puts bi- before the NEW thing (نَسْتَبْدِلُ الوَقُودَ بِطَاقَةٍ نَظِيفَةٍ). In Classical / Qurʾānic Arabic bi- marks the thing GIVEN UP (البقرة ٦١: أَتَسْتَبْدِلُونَ الَّذِي هُوَ أَدْنَى بِالَّذِي هُوَ خَيْرٌ). Teach the modern pattern, but accept either from students who know the Classical one; the safest phrasing is نَنْتَقِلُ مِنْ … إِلَى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“Study each structure in context, compare accurate and inaccurate forms, then apply it in meaningful Arabic.”
• Resource processes: يَنْضَبُ describes a stock being depleted; يَشِحُّ describes something becoming scarce.
• Real future condition: Arabic commonly uses a past-form verb after إذا for a real future condition.
• Negative condition: After لَمْ the present verb is jussive; sound-ending verbs lose the final short vowel.
• Transition from one resource to another: Use مِنْ ... إِلَى for transition; use بِـ for the replacement introduced after يستبدل.
Website common error: Do not select a sentence merely because its words are familiar. Check meaning, agreement, governing prepositions and verb endings.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5, 8.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the website listening script as a model. Point out فَلَنْ تَكْفِيَ (will not be enough): لَنْ + verb in -a = will not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build a prediction: إِذَا اسْتَمَرَّ + a resource problem, فَسَوْفَ + a verb from group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build a prediction: إِذَا اسْتَمَرَّ + a resource problem, فَسَوْفَ + a verb from group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4, 7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6.
Listen 1: just listen. Listen 2: note answers. Then chat the letters.
Support: after the second listening, show the read-along slide (Arabic + English, line by line) for Core students.
SCRIPT (read aloud):
تَعْتَمِدُ بَعْضُ الدُّوَلِ عَلَى المِيَاهِ الجَوْفِيَّةِ بِدَرَجَةٍ كَبِيرَةٍ. وَلٰكِنْ إِذَا اسْتَمَرَّ سَحْبُ المِيَاهِ بِمُعَدَّلٍ أَسْرَعَ مِنْ تَجَدُّدِهَا، فَسَوْفَ يَنْخَفِضُ المَخْزُونُ وَتَشِحُّ المِيَاهُ. لِذٰلِكَ تَسْتَثْمِرُ بَعْضُ المُدُنِ فِي تَحْلِيَةِ المِيَاهِ وَإِعَادَةِ اسْتِخْدَامِهَا. وَإِذَا لَمْ تُرَشِّدِ الأُسَرُ الاسْتِهْلَاكَ، فَلَنْ تَكْفِيَ الحُلُولُ التِّقْنِيَّةُ وَحْدَهَا.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prompts and model. “Consequence chain” game: student 1 says إِذَا اسْتَمَرَّ …، student 2 finishes with فَسَوْفَ …، student 3 gives a solution with يَجِبُ أَنْ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130–140 Arabic words explaining one resource challenge and evaluating a sustainable response.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(jussive vowelled نُرَشِّدِ المِيَاهَ). Evidence: إِذَا اسْتَمَرَّ … فَسَوْفَ · إِذَا لَمْ نُرَشِّدِ … فَسَتَشِحُّ · نَسْتَبْدِلَ … بِطَاقَةٍ · نَنْتَقِلَ إِلَى · يَعْتَمِدُ عَلَى التِّقْنِيَّةِ وَسُلُوكِ الأَفْرَادِ مَعًا.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(D4-L08 · Reading — Environment and Technology Texts) will spend class time USING this language, so students prepare it tonight — short, simple, easy to access (school guidance: “Simple, Short, Interesting, Relevant, Easy to access”). The five words come from the website D4-L08 vocabulary (reading environment and technology texts).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Resources and Sustainability — When Resources Run Out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المَوَارِدُ وَالاسْتِدَامَةُ — عِنْدَمَا تَنْضَبُ المَوَارِدُ</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Predict what happens to water, oil and energy: resources run out (</a:t>
            </a:r>
            <a:pPr algn="l" indent="0" marL="0">
              <a:buNone/>
            </a:pPr>
            <a:r>
              <a:rPr lang="ar-SA" altLang="en-US" sz="1800" dirty="0">
                <a:solidFill>
                  <a:srgbClr val="C6D2E6"/>
                </a:solidFill>
                <a:latin typeface="Amiri" pitchFamily="2" charset="-78"/>
                <a:ea typeface="Amiri" pitchFamily="2" charset="-78"/>
                <a:cs typeface="Amiri" pitchFamily="2" charset="-78"/>
              </a:rPr>
              <a:t>يَنْضَبُ</a:t>
            </a:r>
            <a:pPr algn="l" indent="0" marL="0">
              <a:buNone/>
            </a:pPr>
            <a:r>
              <a:rPr lang="en-US" sz="1400" dirty="0">
                <a:solidFill>
                  <a:srgbClr val="C6D2E6"/>
                </a:solidFill>
                <a:latin typeface="Calibri" pitchFamily="34" charset="0"/>
                <a:cs typeface="Amiri" pitchFamily="2" charset="-78"/>
              </a:rPr>
              <a:t>) or become scarce (</a:t>
            </a:r>
            <a:pPr algn="l" indent="0" marL="0">
              <a:buNone/>
            </a:pPr>
            <a:r>
              <a:rPr lang="ar-SA" altLang="en-US" sz="1800" dirty="0">
                <a:solidFill>
                  <a:srgbClr val="C6D2E6"/>
                </a:solidFill>
                <a:latin typeface="Amiri" pitchFamily="2" charset="-78"/>
                <a:ea typeface="Amiri" pitchFamily="2" charset="-78"/>
                <a:cs typeface="Amiri" pitchFamily="2" charset="-78"/>
              </a:rPr>
              <a:t>يَشِحُّ</a:t>
            </a:r>
            <a:pPr algn="l" indent="0" marL="0">
              <a:buNone/>
            </a:pPr>
            <a:r>
              <a:rPr lang="en-US" sz="1400" dirty="0">
                <a:solidFill>
                  <a:srgbClr val="C6D2E6"/>
                </a:solidFill>
                <a:latin typeface="Calibri" pitchFamily="34" charset="0"/>
                <a:cs typeface="Amiri" pitchFamily="2" charset="-78"/>
              </a:rPr>
              <a:t>); “if … continues, … will …” (</a:t>
            </a:r>
            <a:pPr algn="l" indent="0" marL="0">
              <a:buNone/>
            </a:pPr>
            <a:r>
              <a:rPr lang="ar-SA" altLang="en-US" sz="1800" dirty="0">
                <a:solidFill>
                  <a:srgbClr val="C6D2E6"/>
                </a:solidFill>
                <a:latin typeface="Amiri" pitchFamily="2" charset="-78"/>
                <a:ea typeface="Amiri" pitchFamily="2" charset="-78"/>
                <a:cs typeface="Amiri" pitchFamily="2" charset="-78"/>
              </a:rPr>
              <a:t>إِذَا اسْتَمَرَّ …، فَسَوْفَ</a:t>
            </a:r>
            <a:pPr algn="l" indent="0" marL="0">
              <a:buNone/>
            </a:pPr>
            <a:r>
              <a:rPr lang="en-US" sz="1400" dirty="0">
                <a:solidFill>
                  <a:srgbClr val="C6D2E6"/>
                </a:solidFill>
                <a:latin typeface="Calibri" pitchFamily="34" charset="0"/>
                <a:cs typeface="Amiri" pitchFamily="2" charset="-78"/>
              </a:rPr>
              <a:t> …); “if we don’t …” (</a:t>
            </a:r>
            <a:pPr algn="l" indent="0" marL="0">
              <a:buNone/>
            </a:pPr>
            <a:r>
              <a:rPr lang="ar-SA" altLang="en-US" sz="1800" dirty="0">
                <a:solidFill>
                  <a:srgbClr val="C6D2E6"/>
                </a:solidFill>
                <a:latin typeface="Amiri" pitchFamily="2" charset="-78"/>
                <a:ea typeface="Amiri" pitchFamily="2" charset="-78"/>
                <a:cs typeface="Amiri" pitchFamily="2" charset="-78"/>
              </a:rPr>
              <a:t>إِذَا لَمْ نُرَشِّدِ</a:t>
            </a:r>
            <a:pPr algn="l" indent="0" marL="0">
              <a:buNone/>
            </a:pPr>
            <a:r>
              <a:rPr lang="en-US" sz="1400" dirty="0">
                <a:solidFill>
                  <a:srgbClr val="C6D2E6"/>
                </a:solidFill>
                <a:latin typeface="Calibri" pitchFamily="34" charset="0"/>
                <a:cs typeface="Amiri" pitchFamily="2" charset="-78"/>
              </a:rPr>
              <a:t> …) — and how we move to sustainable sources.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D4-L07 · Development D4 · Environment, Weather and Technology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Resource words, run out / become scarce, if … will … and if we don’t …</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the words, fix and listen: groundwater under pressure.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D4-L08.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الاسْتِدَامَةُ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consumption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sustainability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scarcity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يَهْدِرُ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wastes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runs out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saves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 فَسَأَلْتَحِقُ بِالجَامِعَةِ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سَأَنْجَحُ</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نَاجِحٌ</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نَجَحْتُ</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نُوَفِّرْ</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وَفَّرْنَا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نُوَفِّرَ</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تُسْتَخْدَمُ الأَلْوَاحُ لِتَوْلِيدِ الكَهْرَبَاءِ.</a:t>
            </a:r>
            <a:endParaRPr lang="ar-SA" sz="18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يُسْتَخْدَمُ الأَلْوَاحُ لِتَوْلِيدِ الكَهْرَبَاءِ.</a:t>
            </a:r>
            <a:endParaRPr lang="ar-SA" sz="18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تُسْتَخْدَمُ الأَلْوَاحُ إِلَى الكَهْرَبَاءِ.</a:t>
            </a:r>
            <a:endParaRPr lang="ar-SA" sz="18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الاسْتِدَامَةُ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consumption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sustainability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scarcity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(D4-L06).</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يَهْدِرُ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wastes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runs out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saves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(D4-L06).</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 فَسَأَلْتَحِقُ بِالجَامِعَةِ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سَأَنْجَحُ</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نَاجِحٌ</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نَجَحْتُ</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D3-L05: idhā + past.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نُوَفِّرْ</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وَفَّرْنَا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نُوَفِّرَ</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D4-L04: an + -a.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تُسْتَخْدَمُ الأَلْوَاحُ لِتَوْلِيدِ الكَهْرَبَاءِ.</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يُسْتَخْدَمُ الأَلْوَاحُ لِتَوْلِيدِ الكَهْرَبَاءِ.</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تُسْتَخْدَمُ الأَلْوَاحُ إِلَى الكَهْرَبَاءِ.</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D4-L06: non-human plural → tu-.</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Predict the future of a resource: if this continues → it will run out. If we don’t act → it will get worse.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إِذَا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اسْتَمَرَّ</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الهَدْرُ،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فَسَوْفَ تَنْضَبُ</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المَوَارِدُ · إِذَا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لَمْ نُرَشِّدِ</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المَاءَ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natural resources and sustainability terms.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ea typeface="Amiri" pitchFamily="2" charset="-78"/>
                <a:cs typeface="Amiri" pitchFamily="2" charset="-78"/>
              </a:rPr>
              <a:t>يَنْضَبُ / يَشِحُّ</a:t>
            </a:r>
            <a:pPr algn="l" indent="0" marL="0">
              <a:buNone/>
            </a:pPr>
            <a:r>
              <a:rPr lang="en-US" sz="1300" dirty="0">
                <a:solidFill>
                  <a:srgbClr val="1F2A37"/>
                </a:solidFill>
                <a:latin typeface="Calibri" pitchFamily="34" charset="0"/>
                <a:cs typeface="Amiri" pitchFamily="2" charset="-78"/>
              </a:rPr>
              <a:t> with correct agreement.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Predict with real and negative conditions (</a:t>
            </a:r>
            <a:pPr algn="l" indent="0" marL="0">
              <a:buNone/>
            </a:pPr>
            <a:r>
              <a:rPr lang="ar-SA" altLang="en-US" sz="1700" dirty="0">
                <a:solidFill>
                  <a:srgbClr val="1F2A37"/>
                </a:solidFill>
                <a:latin typeface="Amiri" pitchFamily="2" charset="-78"/>
                <a:ea typeface="Amiri" pitchFamily="2" charset="-78"/>
                <a:cs typeface="Amiri" pitchFamily="2" charset="-78"/>
              </a:rPr>
              <a:t>إِذَا … فَسَوْفَ / إِذَا لَمْ</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a transition to sustainable sources and who is responsible.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eight resource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a resource is running out.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predict with idhā istamarra …, fa-sawfa …</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make yanḍabu / yashiḥḥu agree.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idhā lam + jussive.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explain a transition and who is responsible.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27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Resources and scarcity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Resource verbs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Condition and projection · 7</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مَوْرِدٌ / مَوَارِدُ</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‎وسائل‎ </a:t>
            </a:r>
            <a:pPr indent="0" marL="0">
              <a:buNone/>
            </a:pPr>
            <a:r>
              <a:rPr lang="en-US" sz="950" b="1" dirty="0">
                <a:solidFill>
                  <a:srgbClr val="2E8B57"/>
                </a:solidFill>
                <a:latin typeface="Calibri" pitchFamily="34" charset="0"/>
                <a:cs typeface="Amiri" pitchFamily="2" charset="-78"/>
              </a:rPr>
              <a:t> wasāʾil · resources (meaning only)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اسْتِعْمَالٌ / اسْتِهْلَاكٌ</a:t>
            </a:r>
            <a:endParaRPr lang="ar-SA" sz="16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‎استعمال‎ </a:t>
            </a:r>
            <a:pPr indent="0" marL="0">
              <a:buNone/>
            </a:pPr>
            <a:r>
              <a:rPr lang="en-US" sz="950" b="1" dirty="0">
                <a:solidFill>
                  <a:srgbClr val="2E8B57"/>
                </a:solidFill>
                <a:latin typeface="Calibri" pitchFamily="34" charset="0"/>
                <a:cs typeface="Amiri" pitchFamily="2" charset="-78"/>
              </a:rPr>
              <a:t> istiʿmāl · use / consumption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نَسْلٌ / أَجْيَالٌ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‎نسل‎ </a:t>
            </a:r>
            <a:pPr indent="0" marL="0">
              <a:buNone/>
            </a:pPr>
            <a:r>
              <a:rPr lang="en-US" sz="950" b="1" dirty="0">
                <a:solidFill>
                  <a:srgbClr val="2E8B57"/>
                </a:solidFill>
                <a:latin typeface="Calibri" pitchFamily="34" charset="0"/>
                <a:cs typeface="Amiri" pitchFamily="2" charset="-78"/>
              </a:rPr>
              <a:t> nasl · generation(s)</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ذَخِيرَةٌ / مَخْزُونٌ</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‎ذخیرہ‎ </a:t>
            </a:r>
            <a:pPr indent="0" marL="0">
              <a:buNone/>
            </a:pPr>
            <a:r>
              <a:rPr lang="en-US" sz="950" b="1" dirty="0">
                <a:solidFill>
                  <a:srgbClr val="2E8B57"/>
                </a:solidFill>
                <a:latin typeface="Calibri" pitchFamily="34" charset="0"/>
                <a:cs typeface="Amiri" pitchFamily="2" charset="-78"/>
              </a:rPr>
              <a:t> zakhīra · store, reserve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تَدْرِيجِيًّا</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‎تدریجاً‎ </a:t>
            </a:r>
            <a:pPr indent="0" marL="0">
              <a:buNone/>
            </a:pPr>
            <a:r>
              <a:rPr lang="en-US" sz="950" b="1" dirty="0">
                <a:solidFill>
                  <a:srgbClr val="2E8B57"/>
                </a:solidFill>
                <a:latin typeface="Calibri" pitchFamily="34" charset="0"/>
                <a:cs typeface="Amiri" pitchFamily="2" charset="-78"/>
              </a:rPr>
              <a:t> tadrījan · gradually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Resources and scarcity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المَوَارِدُ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resources</a:t>
            </a:r>
            <a:endParaRPr lang="en-US" sz="1350" dirty="0"/>
          </a:p>
          <a:p>
            <a:pPr indent="0" marL="0">
              <a:buNone/>
            </a:pPr>
            <a:r>
              <a:rPr lang="en-US" sz="1100" i="1" dirty="0">
                <a:solidFill>
                  <a:srgbClr val="5A6472"/>
                </a:solidFill>
                <a:latin typeface="Calibri" pitchFamily="34" charset="0"/>
                <a:cs typeface="Amiri" pitchFamily="2" charset="-78"/>
              </a:rPr>
              <a:t>al-ma-wā-ri-du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الاسْتِدَامَةُ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sustainability</a:t>
            </a:r>
            <a:endParaRPr lang="en-US" sz="1350" dirty="0"/>
          </a:p>
          <a:p>
            <a:pPr indent="0" marL="0">
              <a:buNone/>
            </a:pPr>
            <a:r>
              <a:rPr lang="en-US" sz="1100" i="1" dirty="0">
                <a:solidFill>
                  <a:srgbClr val="5A6472"/>
                </a:solidFill>
                <a:latin typeface="Calibri" pitchFamily="34" charset="0"/>
                <a:cs typeface="Amiri" pitchFamily="2" charset="-78"/>
              </a:rPr>
              <a:t>als-ti-dā-ma-tu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شُحُّ المِيَاهِ</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water scarcity</a:t>
            </a:r>
            <a:endParaRPr lang="en-US" sz="1350" dirty="0"/>
          </a:p>
          <a:p>
            <a:pPr indent="0" marL="0">
              <a:buNone/>
            </a:pPr>
            <a:r>
              <a:rPr lang="en-US" sz="1100" i="1" dirty="0">
                <a:solidFill>
                  <a:srgbClr val="5A6472"/>
                </a:solidFill>
                <a:latin typeface="Calibri" pitchFamily="34" charset="0"/>
                <a:cs typeface="Amiri" pitchFamily="2" charset="-78"/>
              </a:rPr>
              <a:t>shuḥ-ḥu al-mi-yā-hi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نُدْرَةُ المَوَارِدِ</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resource scarcity</a:t>
            </a:r>
            <a:endParaRPr lang="en-US" sz="1350" dirty="0"/>
          </a:p>
          <a:p>
            <a:pPr indent="0" marL="0">
              <a:buNone/>
            </a:pPr>
            <a:r>
              <a:rPr lang="en-US" sz="1100" i="1" dirty="0">
                <a:solidFill>
                  <a:srgbClr val="5A6472"/>
                </a:solidFill>
                <a:latin typeface="Calibri" pitchFamily="34" charset="0"/>
                <a:cs typeface="Amiri" pitchFamily="2" charset="-78"/>
              </a:rPr>
              <a:t>nud-ra-tu al-ma-wā-ri-di</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4" name="Shape 4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الوَقُودُ الأُحْفُورِيُّ</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fossil fuel</a:t>
            </a:r>
            <a:endParaRPr lang="en-US" sz="1350" dirty="0"/>
          </a:p>
          <a:p>
            <a:pPr indent="0" marL="0">
              <a:buNone/>
            </a:pPr>
            <a:r>
              <a:rPr lang="en-US" sz="1100" i="1" dirty="0">
                <a:solidFill>
                  <a:srgbClr val="5A6472"/>
                </a:solidFill>
                <a:latin typeface="Calibri" pitchFamily="34" charset="0"/>
                <a:cs typeface="Amiri" pitchFamily="2" charset="-78"/>
              </a:rPr>
              <a:t>al-wa-qū-du al-uḥ-fū-riy-yu</a:t>
            </a:r>
            <a:endParaRPr lang="en-US" sz="13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Resources and scarcity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المِيَاهُ الجَوْفِيَّةُ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groundwater</a:t>
            </a:r>
            <a:endParaRPr lang="en-US" sz="1350" dirty="0"/>
          </a:p>
          <a:p>
            <a:pPr indent="0" marL="0">
              <a:buNone/>
            </a:pPr>
            <a:r>
              <a:rPr lang="en-US" sz="1100" i="1" dirty="0">
                <a:solidFill>
                  <a:srgbClr val="5A6472"/>
                </a:solidFill>
                <a:latin typeface="Calibri" pitchFamily="34" charset="0"/>
                <a:cs typeface="Amiri" pitchFamily="2" charset="-78"/>
              </a:rPr>
              <a:t>al-mi-yā-hu al-jaw-fiy-ya-tu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مَخْزُونٌ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reserve / stock</a:t>
            </a:r>
            <a:endParaRPr lang="en-US" sz="1350" dirty="0"/>
          </a:p>
          <a:p>
            <a:pPr indent="0" marL="0">
              <a:buNone/>
            </a:pPr>
            <a:r>
              <a:rPr lang="en-US" sz="1100" i="1" dirty="0">
                <a:solidFill>
                  <a:srgbClr val="5A6472"/>
                </a:solidFill>
                <a:latin typeface="Calibri" pitchFamily="34" charset="0"/>
                <a:cs typeface="Amiri" pitchFamily="2" charset="-78"/>
              </a:rPr>
              <a:t>makh-zū-nun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الاسْتِهْلَاكُ</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consumption</a:t>
            </a:r>
            <a:endParaRPr lang="en-US" sz="1350" dirty="0"/>
          </a:p>
          <a:p>
            <a:pPr indent="0" marL="0">
              <a:buNone/>
            </a:pPr>
            <a:r>
              <a:rPr lang="en-US" sz="1100" i="1" dirty="0">
                <a:solidFill>
                  <a:srgbClr val="5A6472"/>
                </a:solidFill>
                <a:latin typeface="Calibri" pitchFamily="34" charset="0"/>
                <a:cs typeface="Amiri" pitchFamily="2" charset="-78"/>
              </a:rPr>
              <a:t>als-tih-lā-ku</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الهَدْرُ</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waste</a:t>
            </a:r>
            <a:endParaRPr lang="en-US" sz="1350" dirty="0"/>
          </a:p>
          <a:p>
            <a:pPr indent="0" marL="0">
              <a:buNone/>
            </a:pPr>
            <a:r>
              <a:rPr lang="en-US" sz="1100" i="1" dirty="0">
                <a:solidFill>
                  <a:srgbClr val="5A6472"/>
                </a:solidFill>
                <a:latin typeface="Calibri" pitchFamily="34" charset="0"/>
                <a:cs typeface="Amiri" pitchFamily="2" charset="-78"/>
              </a:rPr>
              <a:t>al-had-ru</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حِصَّةُ الفَرْدِ</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per-person share</a:t>
            </a:r>
            <a:endParaRPr lang="en-US" sz="1350" dirty="0"/>
          </a:p>
          <a:p>
            <a:pPr indent="0" marL="0">
              <a:buNone/>
            </a:pPr>
            <a:r>
              <a:rPr lang="en-US" sz="1100" i="1" dirty="0">
                <a:solidFill>
                  <a:srgbClr val="5A6472"/>
                </a:solidFill>
                <a:latin typeface="Calibri" pitchFamily="34" charset="0"/>
                <a:cs typeface="Amiri" pitchFamily="2" charset="-78"/>
              </a:rPr>
              <a:t>ḥiṣ-ṣa-tu al-far-di</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Resource verbs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يَنْضَبُ</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runs out / is depleted</a:t>
            </a:r>
            <a:endParaRPr lang="en-US" sz="1350" dirty="0"/>
          </a:p>
          <a:p>
            <a:pPr indent="0" marL="0">
              <a:buNone/>
            </a:pPr>
            <a:r>
              <a:rPr lang="en-US" sz="1100" i="1" dirty="0">
                <a:solidFill>
                  <a:srgbClr val="5A6472"/>
                </a:solidFill>
                <a:latin typeface="Calibri" pitchFamily="34" charset="0"/>
                <a:cs typeface="Amiri" pitchFamily="2" charset="-78"/>
              </a:rPr>
              <a:t>yan-ḍa-bu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يَشِحُّ</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becomes scarce</a:t>
            </a:r>
            <a:endParaRPr lang="en-US" sz="1350" dirty="0"/>
          </a:p>
          <a:p>
            <a:pPr indent="0" marL="0">
              <a:buNone/>
            </a:pPr>
            <a:r>
              <a:rPr lang="en-US" sz="1100" i="1" dirty="0">
                <a:solidFill>
                  <a:srgbClr val="5A6472"/>
                </a:solidFill>
                <a:latin typeface="Calibri" pitchFamily="34" charset="0"/>
                <a:cs typeface="Amiri" pitchFamily="2" charset="-78"/>
              </a:rPr>
              <a:t>ya-shiḥ-ḥu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يَسْتَهْلِكُ</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consumes</a:t>
            </a:r>
            <a:endParaRPr lang="en-US" sz="1350" dirty="0"/>
          </a:p>
          <a:p>
            <a:pPr indent="0" marL="0">
              <a:buNone/>
            </a:pPr>
            <a:r>
              <a:rPr lang="en-US" sz="1100" i="1" dirty="0">
                <a:solidFill>
                  <a:srgbClr val="5A6472"/>
                </a:solidFill>
                <a:latin typeface="Calibri" pitchFamily="34" charset="0"/>
                <a:cs typeface="Amiri" pitchFamily="2" charset="-78"/>
              </a:rPr>
              <a:t>yas-tah-li-ku</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يَهْدِرُ</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wastes</a:t>
            </a:r>
            <a:endParaRPr lang="en-US" sz="1350" dirty="0"/>
          </a:p>
          <a:p>
            <a:pPr indent="0" marL="0">
              <a:buNone/>
            </a:pPr>
            <a:r>
              <a:rPr lang="en-US" sz="1100" i="1" dirty="0">
                <a:solidFill>
                  <a:srgbClr val="5A6472"/>
                </a:solidFill>
                <a:latin typeface="Calibri" pitchFamily="34" charset="0"/>
                <a:cs typeface="Amiri" pitchFamily="2" charset="-78"/>
              </a:rPr>
              <a:t>yah-di-ru</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2" name="Shape 3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يُرَشِّدُ</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rationalises / conserves</a:t>
            </a:r>
            <a:endParaRPr lang="en-US" sz="1350" dirty="0"/>
          </a:p>
          <a:p>
            <a:pPr indent="0" marL="0">
              <a:buNone/>
            </a:pPr>
            <a:r>
              <a:rPr lang="en-US" sz="1100" i="1" dirty="0">
                <a:solidFill>
                  <a:srgbClr val="5A6472"/>
                </a:solidFill>
                <a:latin typeface="Calibri" pitchFamily="34" charset="0"/>
                <a:cs typeface="Amiri" pitchFamily="2" charset="-78"/>
              </a:rPr>
              <a:t>yu-rash-shi-du</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Resource verbs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يُعِيدُ الاسْتِخْدَامَ</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reuses</a:t>
            </a:r>
            <a:endParaRPr lang="en-US" sz="1350" dirty="0"/>
          </a:p>
          <a:p>
            <a:pPr indent="0" marL="0">
              <a:buNone/>
            </a:pPr>
            <a:r>
              <a:rPr lang="en-US" sz="1100" i="1" dirty="0">
                <a:solidFill>
                  <a:srgbClr val="5A6472"/>
                </a:solidFill>
                <a:latin typeface="Calibri" pitchFamily="34" charset="0"/>
                <a:cs typeface="Amiri" pitchFamily="2" charset="-78"/>
              </a:rPr>
              <a:t>yu-ʿī-du als-tikh-dā-ma</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يَسْتَبْدِلُ بِـ</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replaces with</a:t>
            </a:r>
            <a:endParaRPr lang="en-US" sz="1350" dirty="0"/>
          </a:p>
          <a:p>
            <a:pPr indent="0" marL="0">
              <a:buNone/>
            </a:pPr>
            <a:r>
              <a:rPr lang="en-US" sz="1100" i="1" dirty="0">
                <a:solidFill>
                  <a:srgbClr val="5A6472"/>
                </a:solidFill>
                <a:latin typeface="Calibri" pitchFamily="34" charset="0"/>
                <a:cs typeface="Amiri" pitchFamily="2" charset="-78"/>
              </a:rPr>
              <a:t>yas-tab-di-lu bi</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يَعْتَمِدُ عَلَى</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depends on</a:t>
            </a:r>
            <a:endParaRPr lang="en-US" sz="1350" dirty="0"/>
          </a:p>
          <a:p>
            <a:pPr indent="0" marL="0">
              <a:buNone/>
            </a:pPr>
            <a:r>
              <a:rPr lang="en-US" sz="1100" i="1" dirty="0">
                <a:solidFill>
                  <a:srgbClr val="5A6472"/>
                </a:solidFill>
                <a:latin typeface="Calibri" pitchFamily="34" charset="0"/>
                <a:cs typeface="Amiri" pitchFamily="2" charset="-78"/>
              </a:rPr>
              <a:t>yaʿ-ta-mi-du ʿa-lā</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يَنْتَقِلُ إِلَى</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transitions to</a:t>
            </a:r>
            <a:endParaRPr lang="en-US" sz="1350" dirty="0"/>
          </a:p>
          <a:p>
            <a:pPr indent="0" marL="0">
              <a:buNone/>
            </a:pPr>
            <a:r>
              <a:rPr lang="en-US" sz="1100" i="1" dirty="0">
                <a:solidFill>
                  <a:srgbClr val="5A6472"/>
                </a:solidFill>
                <a:latin typeface="Calibri" pitchFamily="34" charset="0"/>
                <a:cs typeface="Amiri" pitchFamily="2" charset="-78"/>
              </a:rPr>
              <a:t>yan-ta-qi-lu i-lā</a:t>
            </a:r>
            <a:endParaRPr lang="en-US" sz="1350" dirty="0"/>
          </a:p>
        </p:txBody>
      </p:sp>
      <p:sp>
        <p:nvSpPr>
          <p:cNvPr id="35" name="Shape 3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4389120"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8" name="Text 3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يُحَافِظُ عَلَى</a:t>
            </a:r>
            <a:endParaRPr lang="ar-SA" sz="3000" dirty="0"/>
          </a:p>
        </p:txBody>
      </p:sp>
      <p:sp>
        <p:nvSpPr>
          <p:cNvPr id="39" name="Text 3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preserves</a:t>
            </a:r>
            <a:endParaRPr lang="en-US" sz="1350" dirty="0"/>
          </a:p>
          <a:p>
            <a:pPr indent="0" marL="0">
              <a:buNone/>
            </a:pPr>
            <a:r>
              <a:rPr lang="en-US" sz="1100" i="1" dirty="0">
                <a:solidFill>
                  <a:srgbClr val="5A6472"/>
                </a:solidFill>
                <a:latin typeface="Calibri" pitchFamily="34" charset="0"/>
                <a:cs typeface="Amiri" pitchFamily="2" charset="-78"/>
              </a:rPr>
              <a:t>yu-ḥā-fi-ẓu ʿa-lā</a:t>
            </a:r>
            <a:endParaRPr lang="en-US" sz="13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Condition and projection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إِذَا اسْتَمَرَّ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 continues</a:t>
            </a:r>
            <a:endParaRPr lang="en-US" sz="1350" dirty="0"/>
          </a:p>
          <a:p>
            <a:pPr indent="0" marL="0">
              <a:buNone/>
            </a:pPr>
            <a:r>
              <a:rPr lang="en-US" sz="1100" i="1" dirty="0">
                <a:solidFill>
                  <a:srgbClr val="5A6472"/>
                </a:solidFill>
                <a:latin typeface="Calibri" pitchFamily="34" charset="0"/>
                <a:cs typeface="Amiri" pitchFamily="2" charset="-78"/>
              </a:rPr>
              <a:t>i-dhā as-ta-mar-ra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إِذَا لَمْ</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 does not</a:t>
            </a:r>
            <a:endParaRPr lang="en-US" sz="1350" dirty="0"/>
          </a:p>
          <a:p>
            <a:pPr indent="0" marL="0">
              <a:buNone/>
            </a:pPr>
            <a:r>
              <a:rPr lang="en-US" sz="1100" i="1" dirty="0">
                <a:solidFill>
                  <a:srgbClr val="5A6472"/>
                </a:solidFill>
                <a:latin typeface="Calibri" pitchFamily="34" charset="0"/>
                <a:cs typeface="Amiri" pitchFamily="2" charset="-78"/>
              </a:rPr>
              <a:t>i-dhā lam</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فَسَوْفَ</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then ... will</a:t>
            </a:r>
            <a:endParaRPr lang="en-US" sz="1350" dirty="0"/>
          </a:p>
          <a:p>
            <a:pPr indent="0" marL="0">
              <a:buNone/>
            </a:pPr>
            <a:r>
              <a:rPr lang="en-US" sz="1100" i="1" dirty="0">
                <a:solidFill>
                  <a:srgbClr val="5A6472"/>
                </a:solidFill>
                <a:latin typeface="Calibri" pitchFamily="34" charset="0"/>
                <a:cs typeface="Amiri" pitchFamily="2" charset="-78"/>
              </a:rPr>
              <a:t>fa-saw-fa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المُتَوَقَّعِ أَنْ</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expected that</a:t>
            </a:r>
            <a:endParaRPr lang="en-US" sz="1350" dirty="0"/>
          </a:p>
          <a:p>
            <a:pPr indent="0" marL="0">
              <a:buNone/>
            </a:pPr>
            <a:r>
              <a:rPr lang="en-US" sz="1100" i="1" dirty="0">
                <a:solidFill>
                  <a:srgbClr val="5A6472"/>
                </a:solidFill>
                <a:latin typeface="Calibri" pitchFamily="34" charset="0"/>
                <a:cs typeface="Amiri" pitchFamily="2" charset="-78"/>
              </a:rPr>
              <a:t>mi-na al-mu-ta-waq-qa-ʿi an</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Condition and projection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بِحُلُولِ عَامِ</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by the year</a:t>
            </a:r>
            <a:endParaRPr lang="en-US" sz="1350" dirty="0"/>
          </a:p>
          <a:p>
            <a:pPr indent="0" marL="0">
              <a:buNone/>
            </a:pPr>
            <a:r>
              <a:rPr lang="en-US" sz="1100" i="1" dirty="0">
                <a:solidFill>
                  <a:srgbClr val="5A6472"/>
                </a:solidFill>
                <a:latin typeface="Calibri" pitchFamily="34" charset="0"/>
                <a:cs typeface="Amiri" pitchFamily="2" charset="-78"/>
              </a:rPr>
              <a:t>bi-ḥu-lū-li ʿā-mi</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تَدْرِيجِيًّا</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gradually</a:t>
            </a:r>
            <a:endParaRPr lang="en-US" sz="1350" dirty="0"/>
          </a:p>
          <a:p>
            <a:pPr indent="0" marL="0">
              <a:buNone/>
            </a:pPr>
            <a:r>
              <a:rPr lang="en-US" sz="1100" i="1" dirty="0">
                <a:solidFill>
                  <a:srgbClr val="5A6472"/>
                </a:solidFill>
                <a:latin typeface="Calibri" pitchFamily="34" charset="0"/>
                <a:cs typeface="Amiri" pitchFamily="2" charset="-78"/>
              </a:rPr>
              <a:t>tad-rī-jiy-yan</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المَدَى الطَّوِيلِ</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long term</a:t>
            </a:r>
            <a:endParaRPr lang="en-US" sz="1350" dirty="0"/>
          </a:p>
          <a:p>
            <a:pPr indent="0" marL="0">
              <a:buNone/>
            </a:pPr>
            <a:r>
              <a:rPr lang="en-US" sz="1100" i="1" dirty="0">
                <a:solidFill>
                  <a:srgbClr val="5A6472"/>
                </a:solidFill>
                <a:latin typeface="Calibri" pitchFamily="34" charset="0"/>
                <a:cs typeface="Amiri" pitchFamily="2" charset="-78"/>
              </a:rPr>
              <a:t>ʿa-lā al-ma-dā aṭ-ṭa-wī-li</a:t>
            </a:r>
            <a:endParaRPr lang="en-US" sz="13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RUNS OUT · IF … WILL … (WEBSITE RULES 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Predict the future of a resource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يَنْضَبُ · يَشِحُّ · إِذَا … فَسَوْفَ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7" name="Text 14"/>
          <p:cNvSpPr txBox="1"/>
          <p:nvPr/>
        </p:nvSpPr>
        <p:spPr>
          <a:xfrm>
            <a:off x="530352" y="1810512"/>
            <a:ext cx="6803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7516368" y="2267712"/>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stock runs out · al-nifṭ (m.) → ya-</a:t>
            </a:r>
            <a:endParaRPr lang="en-US" sz="1100" dirty="0"/>
          </a:p>
        </p:txBody>
      </p:sp>
      <p:sp>
        <p:nvSpPr>
          <p:cNvPr id="20" name="Text 17"/>
          <p:cNvSpPr txBox="1"/>
          <p:nvPr/>
        </p:nvSpPr>
        <p:spPr>
          <a:xfrm>
            <a:off x="548640" y="2286000"/>
            <a:ext cx="676656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يَنْضَبُ</a:t>
            </a:r>
            <a:pPr rtl="1" algn="ctr" indent="0" marL="0">
              <a:buNone/>
            </a:pPr>
            <a:r>
              <a:rPr lang="ar-SA" altLang="en-US" sz="2100" b="1" dirty="0">
                <a:solidFill>
                  <a:srgbClr val="1B3B6F"/>
                </a:solidFill>
                <a:latin typeface="Amiri" pitchFamily="2" charset="-78"/>
                <a:ea typeface="Amiri" pitchFamily="2" charset="-78"/>
                <a:cs typeface="Amiri" pitchFamily="2" charset="-78"/>
              </a:rPr>
              <a:t> النِّفْطُ تَدْرِيجِيًّا.</a:t>
            </a:r>
            <a:endParaRPr lang="ar-SA" sz="2100" dirty="0"/>
          </a:p>
        </p:txBody>
      </p:sp>
      <p:sp>
        <p:nvSpPr>
          <p:cNvPr id="21" name="Text 18"/>
          <p:cNvSpPr txBox="1"/>
          <p:nvPr/>
        </p:nvSpPr>
        <p:spPr>
          <a:xfrm>
            <a:off x="502920" y="2706624"/>
            <a:ext cx="68580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Oil is gradually running out.</a:t>
            </a:r>
            <a:endParaRPr lang="en-US" sz="950" dirty="0"/>
          </a:p>
        </p:txBody>
      </p:sp>
      <p:sp>
        <p:nvSpPr>
          <p:cNvPr id="22" name="Shape 19"/>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7516368" y="3054096"/>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becomes scarce · al-miyāh → ta-</a:t>
            </a:r>
            <a:endParaRPr lang="en-US" sz="1100" dirty="0"/>
          </a:p>
        </p:txBody>
      </p:sp>
      <p:sp>
        <p:nvSpPr>
          <p:cNvPr id="26" name="Text 23"/>
          <p:cNvSpPr txBox="1"/>
          <p:nvPr/>
        </p:nvSpPr>
        <p:spPr>
          <a:xfrm>
            <a:off x="548640" y="3072384"/>
            <a:ext cx="676656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ea typeface="Amiri" pitchFamily="2" charset="-78"/>
                <a:cs typeface="Amiri" pitchFamily="2" charset="-78"/>
              </a:rPr>
              <a:t>تَشِحُّ</a:t>
            </a:r>
            <a:pPr rtl="1" algn="ctr" indent="0" marL="0">
              <a:buNone/>
            </a:pPr>
            <a:r>
              <a:rPr lang="ar-SA" altLang="en-US" sz="2100" b="1" dirty="0">
                <a:solidFill>
                  <a:srgbClr val="1B3B6F"/>
                </a:solidFill>
                <a:latin typeface="Amiri" pitchFamily="2" charset="-78"/>
                <a:ea typeface="Amiri" pitchFamily="2" charset="-78"/>
                <a:cs typeface="Amiri" pitchFamily="2" charset="-78"/>
              </a:rPr>
              <a:t> المِيَاهُ فِي فَتَرَاتِ الجَفَافِ.</a:t>
            </a:r>
            <a:endParaRPr lang="ar-SA" sz="2100" dirty="0"/>
          </a:p>
        </p:txBody>
      </p:sp>
      <p:sp>
        <p:nvSpPr>
          <p:cNvPr id="27" name="Text 24"/>
          <p:cNvSpPr txBox="1"/>
          <p:nvPr/>
        </p:nvSpPr>
        <p:spPr>
          <a:xfrm>
            <a:off x="502920" y="3493008"/>
            <a:ext cx="68580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Water becomes scarce in droughts.</a:t>
            </a:r>
            <a:endParaRPr lang="en-US" sz="950" dirty="0"/>
          </a:p>
        </p:txBody>
      </p:sp>
      <p:sp>
        <p:nvSpPr>
          <p:cNvPr id="28" name="Shape 25"/>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0" name="Shape 27"/>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1" name="Text 28"/>
          <p:cNvSpPr txBox="1"/>
          <p:nvPr/>
        </p:nvSpPr>
        <p:spPr>
          <a:xfrm>
            <a:off x="7516368" y="3840480"/>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idhā + PAST, fa-sawfa + present</a:t>
            </a:r>
            <a:endParaRPr lang="en-US" sz="1100" dirty="0"/>
          </a:p>
        </p:txBody>
      </p:sp>
      <p:sp>
        <p:nvSpPr>
          <p:cNvPr id="32" name="Text 29"/>
          <p:cNvSpPr txBox="1"/>
          <p:nvPr/>
        </p:nvSpPr>
        <p:spPr>
          <a:xfrm>
            <a:off x="548640" y="3858768"/>
            <a:ext cx="67665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إِذَا </a:t>
            </a:r>
            <a:pPr rtl="1" algn="ctr" indent="0" marL="0">
              <a:buNone/>
            </a:pPr>
            <a:r>
              <a:rPr lang="ar-SA" altLang="en-US" sz="2100" b="1" dirty="0">
                <a:solidFill>
                  <a:srgbClr val="0E7C86"/>
                </a:solidFill>
                <a:latin typeface="Amiri" pitchFamily="2" charset="-78"/>
                <a:ea typeface="Amiri" pitchFamily="2" charset="-78"/>
                <a:cs typeface="Amiri" pitchFamily="2" charset="-78"/>
              </a:rPr>
              <a:t>اسْتَمَرَّ</a:t>
            </a:r>
            <a:pPr rtl="1" algn="ctr" indent="0" marL="0">
              <a:buNone/>
            </a:pPr>
            <a:r>
              <a:rPr lang="ar-SA" altLang="en-US" sz="2100" b="1" dirty="0">
                <a:solidFill>
                  <a:srgbClr val="1B3B6F"/>
                </a:solidFill>
                <a:latin typeface="Amiri" pitchFamily="2" charset="-78"/>
                <a:ea typeface="Amiri" pitchFamily="2" charset="-78"/>
                <a:cs typeface="Amiri" pitchFamily="2" charset="-78"/>
              </a:rPr>
              <a:t> الاسْتِهْلَاكُ المُرْتَفِعُ، </a:t>
            </a:r>
            <a:pPr rtl="1" algn="ctr" indent="0" marL="0">
              <a:buNone/>
            </a:pPr>
            <a:r>
              <a:rPr lang="ar-SA" altLang="en-US" sz="2100" b="1" dirty="0">
                <a:solidFill>
                  <a:srgbClr val="1D5FBF"/>
                </a:solidFill>
                <a:latin typeface="Amiri" pitchFamily="2" charset="-78"/>
                <a:ea typeface="Amiri" pitchFamily="2" charset="-78"/>
                <a:cs typeface="Amiri" pitchFamily="2" charset="-78"/>
              </a:rPr>
              <a:t>فَسَوْفَ تَنْضَبُ</a:t>
            </a:r>
            <a:pPr rtl="1" algn="ctr" indent="0" marL="0">
              <a:buNone/>
            </a:pPr>
            <a:r>
              <a:rPr lang="ar-SA" altLang="en-US" sz="2100" b="1" dirty="0">
                <a:solidFill>
                  <a:srgbClr val="1B3B6F"/>
                </a:solidFill>
                <a:latin typeface="Amiri" pitchFamily="2" charset="-78"/>
                <a:ea typeface="Amiri" pitchFamily="2" charset="-78"/>
                <a:cs typeface="Amiri" pitchFamily="2" charset="-78"/>
              </a:rPr>
              <a:t> المَوَارِدُ بِسُرْعَةٍ.</a:t>
            </a:r>
            <a:endParaRPr lang="ar-SA" sz="2100" dirty="0"/>
          </a:p>
        </p:txBody>
      </p:sp>
      <p:sp>
        <p:nvSpPr>
          <p:cNvPr id="33" name="Text 30"/>
          <p:cNvSpPr txBox="1"/>
          <p:nvPr/>
        </p:nvSpPr>
        <p:spPr>
          <a:xfrm>
            <a:off x="502920" y="4279392"/>
            <a:ext cx="68580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If high consumption continues, resources will run out quickly.</a:t>
            </a:r>
            <a:endParaRPr lang="en-US" sz="950" dirty="0"/>
          </a:p>
        </p:txBody>
      </p:sp>
      <p:sp>
        <p:nvSpPr>
          <p:cNvPr id="34" name="Text 3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idhā istamarra = “if it continues” (literally “if it continued”) — a REAL future condition (D3-L05).</a:t>
            </a:r>
            <a:endParaRPr lang="en-US" sz="11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IF WE DON’T … · MOVING TO NEW SOURCES (WEBSITE RULES 3–4)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If we don’t … · from … to … · replace … with …</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750" b="1" dirty="0">
                <a:solidFill>
                  <a:srgbClr val="8A6D1E"/>
                </a:solidFill>
                <a:latin typeface="Amiri" pitchFamily="2" charset="-78"/>
                <a:ea typeface="Amiri" pitchFamily="2" charset="-78"/>
                <a:cs typeface="Amiri" pitchFamily="2" charset="-78"/>
              </a:rPr>
              <a:t>إِذَا لَمْ · مِنْ … إِلَى · يَسْتَبْدِلُ … بِـ</a:t>
            </a:r>
            <a:endParaRPr lang="ar-SA" sz="27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2181758" cy="274320"/>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8232648" y="1920240"/>
            <a:ext cx="2181758"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NEGATIVE CONDITION · STRETCH</a:t>
            </a:r>
            <a:endParaRPr lang="en-US" sz="850" dirty="0"/>
          </a:p>
        </p:txBody>
      </p:sp>
      <p:sp>
        <p:nvSpPr>
          <p:cNvPr id="18" name="Text 15"/>
          <p:cNvSpPr txBox="1"/>
          <p:nvPr/>
        </p:nvSpPr>
        <p:spPr>
          <a:xfrm>
            <a:off x="10460126" y="1874520"/>
            <a:ext cx="1134466"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إِذَا لَمْ + مَجْزُومٌ</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إِذَا لَمْ نُرَشِّدِ المِيَاهَ، فَسَتَزْدَادُ الأَزْمَةُ.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we do not conserve water, the crisis will grow.</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 final -u after lam.</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64592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TRANSITION · DEVELOP</a:t>
            </a:r>
            <a:endParaRPr lang="en-US" sz="850" dirty="0"/>
          </a:p>
        </p:txBody>
      </p:sp>
      <p:sp>
        <p:nvSpPr>
          <p:cNvPr id="26" name="Text 23"/>
          <p:cNvSpPr txBox="1"/>
          <p:nvPr/>
        </p:nvSpPr>
        <p:spPr>
          <a:xfrm>
            <a:off x="6105144"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نَنْتَقِلُ مِنْ … إِلَى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يَجِبُ أَنْ نَنْتَقِلَ مِنَ الوَقُودِ الأُحْفُورِيِّ إِلَى الطَّاقَةِ المُتَجَدِّدَةِ.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 must move from fossil fuel to renewable energy.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min … ilā …</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REPLACE · DEVELOP</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نَسْتَبْدِلُ … بِـ …</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نَسْتَبْدِلُ الأَكْيَاسَ البِلَاسْتِيكِيَّةَ بِأَكْيَاسٍ قُمَاشِيَّةٍ.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 replace plastic bags with cloth bags.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NEW thing after bi-.</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the replacement follows bi-, not min.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نَسْتَبْدِلُ الوَقُودَ الأُحْفُورِيَّ بِطَاقَةٍ نَظِيفَةٍ.</a:t>
            </a:r>
            <a:endParaRPr lang="ar-SA" sz="15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B83227"/>
                </a:solidFill>
                <a:latin typeface="Amiri" pitchFamily="2" charset="-78"/>
                <a:ea typeface="Amiri" pitchFamily="2" charset="-78"/>
                <a:cs typeface="Amiri" pitchFamily="2" charset="-78"/>
              </a:rPr>
              <a:t>نَسْتَبْدِلُ الوَقُودَ الأُحْفُورِيَّ مِنْ طَاقَةٍ نَظِيفَةٍ.</a:t>
            </a:r>
            <a:endParaRPr lang="ar-SA" sz="14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Conditions, depletion and sustainable transition</a:t>
            </a:r>
            <a:endParaRPr lang="en-US" sz="20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الشَّرْطُ وَالنُّضُوبُ وَالانْتِقَالُ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Resource processes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resource + </a:t>
            </a:r>
            <a:pPr algn="l" indent="0" marL="0">
              <a:buNone/>
            </a:pPr>
            <a:r>
              <a:rPr lang="ar-SA" altLang="en-US" sz="1350" dirty="0">
                <a:solidFill>
                  <a:srgbClr val="5A6472"/>
                </a:solidFill>
                <a:latin typeface="Amiri" pitchFamily="2" charset="-78"/>
                <a:ea typeface="Amiri" pitchFamily="2" charset="-78"/>
                <a:cs typeface="Amiri" pitchFamily="2" charset="-78"/>
              </a:rPr>
              <a:t>يَنْضَبُ / يَشِحُّ</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يَنْضَبُ النِّفْطُ تَدْرِيجِيًّا.   ·   تَشِحُّ المِيَاهُ فِي فَتَرَاتِ الجَفَافِ.</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Real future condition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إِذَا</a:t>
            </a:r>
            <a:pPr algn="l" indent="0" marL="0">
              <a:buNone/>
            </a:pPr>
            <a:r>
              <a:rPr lang="en-US" sz="1050" dirty="0">
                <a:solidFill>
                  <a:srgbClr val="5A6472"/>
                </a:solidFill>
                <a:latin typeface="Calibri" pitchFamily="34" charset="0"/>
                <a:cs typeface="Amiri" pitchFamily="2" charset="-78"/>
              </a:rPr>
              <a:t> + past-form condition, </a:t>
            </a:r>
            <a:pPr algn="l" indent="0" marL="0">
              <a:buNone/>
            </a:pPr>
            <a:r>
              <a:rPr lang="ar-SA" altLang="en-US" sz="1350" dirty="0">
                <a:solidFill>
                  <a:srgbClr val="5A6472"/>
                </a:solidFill>
                <a:latin typeface="Amiri" pitchFamily="2" charset="-78"/>
                <a:ea typeface="Amiri" pitchFamily="2" charset="-78"/>
                <a:cs typeface="Amiri" pitchFamily="2" charset="-78"/>
              </a:rPr>
              <a:t>فَـ</a:t>
            </a:r>
            <a:pPr algn="l" indent="0" marL="0">
              <a:buNone/>
            </a:pPr>
            <a:r>
              <a:rPr lang="en-US" sz="1050" dirty="0">
                <a:solidFill>
                  <a:srgbClr val="5A6472"/>
                </a:solidFill>
                <a:latin typeface="Calibri" pitchFamily="34" charset="0"/>
                <a:cs typeface="Amiri" pitchFamily="2" charset="-78"/>
              </a:rPr>
              <a:t> + future result</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اسْتَمَرَّ الاسْتِهْلَاكُ المُرْتَفِعُ، فَسَوْفَ تَنْضَبُ المَوَارِدُ بِسُرْعَةٍ.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Negative condition</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إِذَا لَمْ</a:t>
            </a:r>
            <a:pPr algn="l" indent="0" marL="0">
              <a:buNone/>
            </a:pPr>
            <a:r>
              <a:rPr lang="en-US" sz="1050" dirty="0">
                <a:solidFill>
                  <a:srgbClr val="5A6472"/>
                </a:solidFill>
                <a:latin typeface="Calibri" pitchFamily="34" charset="0"/>
                <a:cs typeface="Amiri" pitchFamily="2" charset="-78"/>
              </a:rPr>
              <a:t> + jussive present, </a:t>
            </a:r>
            <a:pPr algn="l" indent="0" marL="0">
              <a:buNone/>
            </a:pPr>
            <a:r>
              <a:rPr lang="ar-SA" altLang="en-US" sz="1350" dirty="0">
                <a:solidFill>
                  <a:srgbClr val="5A6472"/>
                </a:solidFill>
                <a:latin typeface="Amiri" pitchFamily="2" charset="-78"/>
                <a:ea typeface="Amiri" pitchFamily="2" charset="-78"/>
                <a:cs typeface="Amiri" pitchFamily="2" charset="-78"/>
              </a:rPr>
              <a:t>فَـ</a:t>
            </a:r>
            <a:pPr algn="l" indent="0" marL="0">
              <a:buNone/>
            </a:pPr>
            <a:r>
              <a:rPr lang="en-US" sz="1050" dirty="0">
                <a:solidFill>
                  <a:srgbClr val="5A6472"/>
                </a:solidFill>
                <a:latin typeface="Calibri" pitchFamily="34" charset="0"/>
                <a:cs typeface="Amiri" pitchFamily="2" charset="-78"/>
              </a:rPr>
              <a:t> + result</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لَمْ نُرَشِّدِ المِيَاهَ، فَسَتَزْدَادُ الأَزْمَةُ.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Transition from one resource to another</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يَنْتَقِلُ مِنْ ... إِلَى ... / يَسْتَبْدِلُ ... بِـ ...</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يَجِبُ أَنْ نَنْتَقِلَ مِنَ الوَقُودِ الأُحْفُورِيِّ إِلَى الطَّاقَةِ المُتَجَدِّدَةِ.   ·   نَسْتَبْدِلُ الأَكْيَاسَ البِلَاسْتِيكِيَّةَ بِأَكْيَاسٍ قُمَاشِيَّةٍ.</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verb that means a finite stock is depleted.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يَشْرَقُ</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يُعَلِّقُ</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يَنْضَبُ</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real condition.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اسْتَمَرَّ الهَدْرُ، فَسَوْفَ تَنْضَبُ المَوَارِدُ.</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يَسْتَمِرُّ الهَدْرُ، فَسَوْفَ نَضَبَتِ المَوَارِدُ.</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اسْتَمَرَّ الهَدْرُ، لِكَيْ تَنْضَبُ المَوَارِدُ.</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transition.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نَنْتَقِلُ بِالنِّفْطِ عَلَى الطَّاقَةِ.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نَنْتَقِلُ مِنَ النِّفْطِ إِلَى الطَّاقَةِ الشَّمْسِيَّةِ.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نَنْتَقِلُ عَلَى النِّفْطِ مِنَ الطَّاقَةِ.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action supports sustainability?</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تَرْشِيدُ الاسْتِهْلَاكِ وَإِعَادَةُ الاسْتِخْدَامِ</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تَلْوِيثُ المِيَاهِ الجَوْفِيَّةِ</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زِيَادَةُ الهَدْرِ وَحَرْقُ المَزِيدِ مِنَ الوَقُودِ</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verb that means a finite stock is depleted.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يَشْرَقُ</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يُعَلِّقُ</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يَنْضَبُ</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ينضب</a:t>
            </a:r>
            <a:pPr algn="l" indent="0" marL="0">
              <a:buNone/>
            </a:pPr>
            <a:r>
              <a:rPr lang="en-US" sz="1050" i="1" dirty="0">
                <a:solidFill>
                  <a:srgbClr val="8A6D1E"/>
                </a:solidFill>
                <a:latin typeface="Calibri" pitchFamily="34" charset="0"/>
                <a:cs typeface="Amiri" pitchFamily="2" charset="-78"/>
              </a:rPr>
              <a:t> is used for a resource running out.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real condition.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اسْتَمَرَّ الهَدْرُ، فَسَوْفَ تَنْضَبُ المَوَارِدُ.</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يَسْتَمِرُّ الهَدْرُ، فَسَوْفَ نَضَبَتِ المَوَارِدُ.</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اسْتَمَرَّ الهَدْرُ، لِكَيْ تَنْضَبُ المَوَارِدُ.</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 past-form condition, then future result.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transition.</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نَنْتَقِلُ بِالنِّفْطِ عَلَى الطَّاقَةِ.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نَنْتَقِلُ مِنَ النِّفْطِ إِلَى الطَّاقَةِ الشَّمْسِيَّةِ.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نَنْتَقِلُ عَلَى النِّفْطِ مِنَ الطَّاقَةِ.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pattern is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action supports sustainability?</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تَرْشِيدُ الاسْتِهْلَاكِ وَإِعَادَةُ الاسْتِخْدَامِ</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تَلْوِيثُ المِيَاهِ الجَوْفِيَّةِ</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زِيَادَةُ الهَدْرِ وَحَرْقُ المَزِيدِ مِنَ الوَقُودِ</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Conservation and reuse support sustainability.</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Watch me predict a resource crisis — and respond</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Problem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تَعْتَمِدُ بَعْضُ الدُّوَلِ عَلَى المِيَاهِ الجَوْفِيَّةِ.</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yaʿtamidu ʿalā.</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If … will</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إِذَا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اسْتَمَرَّ</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السَّحْبُ،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فَسَوْفَ تَشِحُّ</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المِيَاهُ.</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idhā + past; water → ta-.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If we don’t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إِذَا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لَمْ تُرَشِّدِ</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الأُسَرُ الاسْتِهْلَاكَ …</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lam + jussive (-i before al-).</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Transition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يَجِبُ أَنْ نَنْتَقِلَ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مِنَ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الوَقُودِ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إِلَى</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الطَّاقَةِ المُتَجَدِّدَةِ.</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min … ilā …</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CONDITION / TRANSITION</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RESULT</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lam + JUSSIVE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تَعْتَمِدُ بَعْضُ الدُّوَلِ عَلَى المِيَاهِ الجَوْفِيَّةِ بِدَرَجَةٍ كَبِيرَةٍ. وَلٰكِنْ إِذَا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اسْتَمَرَّ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سَحْبُ المِيَاهِ بِمُعَدَّلٍ أَسْرَعَ مِنْ تَجَدُّدِهَا،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فَسَوْفَ</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يَنْخَفِضُ المَخْزُونُ وَ</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تَشِحُّ</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المِيَاهُ. لِذٰلِكَ تَسْتَثْمِرُ بَعْضُ المُدُنِ فِي تَحْلِيَةِ المِيَاهِ. وَإِذَا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لَمْ تُرَشِّدِ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الأُسَرُ الاسْتِهْلَاكَ، فَلَنْ تَكْفِيَ الحُلُولُ التِّقْنِيَّةُ وَحْدَهَا.</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Some countries depend heavily on groundwater. But if water is extracted faster than it is renewed, the reserve will fall and water will become scarce. So some cities invest in desalination. And if families do not conserve consumption, technical solutions alone will not be enough.</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يَنْضَبُ النِّفْطُ تَدْرِيجِيًّا.</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Oil is gradually running out.</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يَنْضَبُ describes a stock being depleted; يَشِحُّ describes something becoming scarce.</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إِذَا اسْتَمَرَّ الاسْتِهْلَاكُ المُرْتَفِعُ، فَسَوْفَ تَنْضَبُ المَوَارِدُ بِسُرْعَةٍ.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high consumption continues, resources will run out quickly.</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Arabic commonly uses a past-form verb after إذا for a real future condition.</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إِذَا لَمْ نُرَشِّدِ المِيَاهَ، فَسَتَزْدَادُ الأَزْمَةُ.</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we do not conserve water, the crisis will grow.</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After لَمْ the present verb is jussive; sound-ending verbs lose the final short vowel.</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المَوَارِدُ</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الاسْتِدَامَةُ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شُحُّ المِيَاهِ</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يَنْضَبُ</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يَشِحُّ</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يَسْتَهْلِكُ</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اسْتَمَرَّ</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لَمْ</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فَسَوْفَ</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Resources and scarcity</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Resource verbs</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Condition and projection</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Resources and scarcity</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المَوَارِدُ</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الاسْتِدَامَةُ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شُحُّ المِيَاهِ</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Resource verbs</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يَنْضَبُ</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يَشِحُّ</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يَسْتَهْلِكُ</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Condition and projection</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اسْتَمَرَّ</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لَمْ</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فَسَوْفَ</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2, 4,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about water scarcity.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يَشِحُّ المِيَاهُ فِي فَتَرَاتِ الجَفَافِ.</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تَشِحُّ المِيَاهُ إِلَى فَتَرَاتِ الجَفَافِ.</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تَشِحُّ المِيَاهُ فِي فَتَرَاتِ الجَفَافِ.</a:t>
            </a:r>
            <a:endParaRPr lang="ar-SA" sz="2050" dirty="0"/>
          </a:p>
        </p:txBody>
      </p:sp>
      <p:sp>
        <p:nvSpPr>
          <p:cNvPr id="30" name="Shape 27"/>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form after </a:t>
            </a:r>
            <a:pPr algn="l" indent="0" marL="0">
              <a:buNone/>
            </a:pPr>
            <a:r>
              <a:rPr lang="ar-SA" altLang="en-US" sz="1650" b="1" dirty="0">
                <a:solidFill>
                  <a:srgbClr val="1B3B6F"/>
                </a:solidFill>
                <a:latin typeface="Amiri" pitchFamily="2" charset="-78"/>
                <a:ea typeface="Amiri" pitchFamily="2" charset="-78"/>
                <a:cs typeface="Amiri" pitchFamily="2" charset="-78"/>
              </a:rPr>
              <a:t>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لَمْ رَشَّدْنَا المَاءَ</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لَمْ نُرَشِّدِ المَاءَ</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لَنْ نُرَشِّدَ المَاءَ</a:t>
            </a:r>
            <a:endParaRPr lang="ar-SA" sz="2050" dirty="0"/>
          </a:p>
        </p:txBody>
      </p:sp>
      <p:sp>
        <p:nvSpPr>
          <p:cNvPr id="43" name="Shape 40"/>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a projection?</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مِنَ المُتَوَقَّعِ المِيَاهُ شَحِيحَةٌ أَنْ.</a:t>
            </a:r>
            <a:endParaRPr lang="ar-SA" sz="14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مِنَ المُتَوَقَّعِ أَنْ تَشِحَّ المِيَاهُ فِي بَعْضِ المَنَاطِقِ.</a:t>
            </a:r>
            <a:endParaRPr lang="ar-SA" sz="14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المُتَوَقَّعُ عَلَى المِيَاهِ مِنْ.</a:t>
            </a:r>
            <a:endParaRPr lang="ar-SA" sz="14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about water scarcity.</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يَشِحُّ المِيَاهُ فِي فَتَرَاتِ الجَفَافِ.</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تَشِحُّ المِيَاهُ إِلَى فَتَرَاتِ الجَفَافِ.</a:t>
            </a:r>
            <a:endParaRPr lang="ar-SA" sz="2050" dirty="0"/>
          </a:p>
        </p:txBody>
      </p:sp>
      <p:sp>
        <p:nvSpPr>
          <p:cNvPr id="27" name="Shape 24"/>
          <p:cNvSpPr/>
          <p:nvPr/>
        </p:nvSpPr>
        <p:spPr>
          <a:xfrm>
            <a:off x="548640" y="3410712"/>
            <a:ext cx="3453384"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تَشِحُّ المِيَاهُ فِي فَتَرَاتِ الجَفَافِ.</a:t>
            </a:r>
            <a:endParaRPr lang="ar-SA" sz="2050" dirty="0"/>
          </a:p>
        </p:txBody>
      </p:sp>
      <p:sp>
        <p:nvSpPr>
          <p:cNvPr id="31" name="Text 2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المياه</a:t>
            </a:r>
            <a:pPr algn="l" indent="0" marL="0">
              <a:buNone/>
            </a:pPr>
            <a:r>
              <a:rPr lang="en-US" sz="1050" i="1" dirty="0">
                <a:solidFill>
                  <a:srgbClr val="8A6D1E"/>
                </a:solidFill>
                <a:latin typeface="Calibri" pitchFamily="34" charset="0"/>
                <a:cs typeface="Amiri" pitchFamily="2" charset="-78"/>
              </a:rPr>
              <a:t> is treated as feminine, so </a:t>
            </a:r>
            <a:pPr algn="l" indent="0" marL="0">
              <a:buNone/>
            </a:pPr>
            <a:r>
              <a:rPr lang="ar-SA" altLang="en-US" sz="1350" dirty="0">
                <a:solidFill>
                  <a:srgbClr val="8A6D1E"/>
                </a:solidFill>
                <a:latin typeface="Amiri" pitchFamily="2" charset="-78"/>
                <a:ea typeface="Amiri" pitchFamily="2" charset="-78"/>
                <a:cs typeface="Amiri" pitchFamily="2" charset="-78"/>
              </a:rPr>
              <a:t>تشح</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form after </a:t>
            </a:r>
            <a:pPr algn="l" indent="0" marL="0">
              <a:buNone/>
            </a:pPr>
            <a:r>
              <a:rPr lang="ar-SA" altLang="en-US" sz="1650" b="1" dirty="0">
                <a:solidFill>
                  <a:srgbClr val="1B3B6F"/>
                </a:solidFill>
                <a:latin typeface="Amiri" pitchFamily="2" charset="-78"/>
                <a:ea typeface="Amiri" pitchFamily="2" charset="-78"/>
                <a:cs typeface="Amiri" pitchFamily="2" charset="-78"/>
              </a:rPr>
              <a:t>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4459224"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إِذَا لَمْ رَشَّدْنَا المَاءَ</a:t>
            </a:r>
            <a:endParaRPr lang="ar-SA" sz="2050" dirty="0"/>
          </a:p>
        </p:txBody>
      </p:sp>
      <p:sp>
        <p:nvSpPr>
          <p:cNvPr id="39" name="Shape 36"/>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إِذَا لَمْ نُرَشِّدِ المَاءَ</a:t>
            </a:r>
            <a:endParaRPr lang="ar-SA" sz="2050" dirty="0"/>
          </a:p>
        </p:txBody>
      </p:sp>
      <p:sp>
        <p:nvSpPr>
          <p:cNvPr id="43" name="Shape 40"/>
          <p:cNvSpPr/>
          <p:nvPr/>
        </p:nvSpPr>
        <p:spPr>
          <a:xfrm>
            <a:off x="4459224"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إِذَا لَنْ نُرَشِّدَ المَاءَ</a:t>
            </a:r>
            <a:endParaRPr lang="ar-SA" sz="2050" dirty="0"/>
          </a:p>
        </p:txBody>
      </p:sp>
      <p:sp>
        <p:nvSpPr>
          <p:cNvPr id="46" name="Text 4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لم</a:t>
            </a:r>
            <a:pPr algn="l" indent="0" marL="0">
              <a:buNone/>
            </a:pPr>
            <a:r>
              <a:rPr lang="en-US" sz="1050" i="1" dirty="0">
                <a:solidFill>
                  <a:srgbClr val="8A6D1E"/>
                </a:solidFill>
                <a:latin typeface="Calibri" pitchFamily="34" charset="0"/>
                <a:cs typeface="Amiri" pitchFamily="2" charset="-78"/>
              </a:rPr>
              <a:t> makes the sound-ending present jussive: </a:t>
            </a:r>
            <a:pPr algn="l" indent="0" marL="0">
              <a:buNone/>
            </a:pPr>
            <a:r>
              <a:rPr lang="ar-SA" altLang="en-US" sz="1350" dirty="0">
                <a:solidFill>
                  <a:srgbClr val="8A6D1E"/>
                </a:solidFill>
                <a:latin typeface="Amiri" pitchFamily="2" charset="-78"/>
                <a:ea typeface="Amiri" pitchFamily="2" charset="-78"/>
                <a:cs typeface="Amiri" pitchFamily="2" charset="-78"/>
              </a:rPr>
              <a:t>نرشّدْ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a projection?</a:t>
            </a:r>
            <a:endParaRPr lang="en-US" sz="1250" dirty="0"/>
          </a:p>
        </p:txBody>
      </p:sp>
      <p:sp>
        <p:nvSpPr>
          <p:cNvPr id="51" name="Shape 48"/>
          <p:cNvSpPr/>
          <p:nvPr/>
        </p:nvSpPr>
        <p:spPr>
          <a:xfrm>
            <a:off x="8278368" y="2532888"/>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مِنَ المُتَوَقَّعِ المِيَاهُ شَحِيحَةٌ أَنْ.</a:t>
            </a:r>
            <a:endParaRPr lang="ar-SA" sz="1450" dirty="0"/>
          </a:p>
        </p:txBody>
      </p:sp>
      <p:sp>
        <p:nvSpPr>
          <p:cNvPr id="54" name="Shape 51"/>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8278368" y="2990088"/>
            <a:ext cx="256032" cy="256032"/>
          </a:xfrm>
          <a:prstGeom prst="ellipse">
            <a:avLst/>
          </a:prstGeom>
          <a:solidFill>
            <a:srgbClr val="2E8B57"/>
          </a:solidFill>
          <a:ln w="12700">
            <a:solidFill>
              <a:srgbClr val="2E8B57"/>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مِنَ المُتَوَقَّعِ أَنْ تَشِحَّ المِيَاهُ فِي بَعْضِ المَنَاطِقِ.</a:t>
            </a:r>
            <a:endParaRPr lang="ar-SA" sz="14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المُتَوَقَّعُ عَلَى المِيَاهِ مِنْ.</a:t>
            </a:r>
            <a:endParaRPr lang="ar-SA" sz="1450" dirty="0"/>
          </a:p>
        </p:txBody>
      </p:sp>
      <p:sp>
        <p:nvSpPr>
          <p:cNvPr id="61" name="Text 58"/>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من المتوقع أن</a:t>
            </a:r>
            <a:pPr algn="l" indent="0" marL="0">
              <a:buNone/>
            </a:pPr>
            <a:r>
              <a:rPr lang="en-US" sz="1050" i="1" dirty="0">
                <a:solidFill>
                  <a:srgbClr val="8A6D1E"/>
                </a:solidFill>
                <a:latin typeface="Calibri" pitchFamily="34" charset="0"/>
                <a:cs typeface="Amiri" pitchFamily="2" charset="-78"/>
              </a:rPr>
              <a:t> + subjunctive.</a:t>
            </a:r>
            <a:endParaRPr lang="en-US" sz="10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يَشِحُّ المِيَاهُ فِي الصَّيْفِ.</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al-miyāh is feminine: ya- or ta-?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إِذَا لَمْ نُرَشِّدُ المَاءَ، سَتَزْدَادُ الأَزْمَةُ.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lam: -u or no vowel?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نَسْتَبْدِلُ الوَقُودَ الأُحْفُورِيَّ مِنْ طَاقَةٍ نَظِيفَةٍ.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replacement after yastabdilu: min or bi-?</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يَشِحُّ المِيَاهُ فِي الصَّيْفِ.</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تَشِحُّ المِيَاهُ فِي الصَّيْفِ.</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المياه</a:t>
            </a:r>
            <a:pPr algn="l" indent="0" marL="0">
              <a:buNone/>
            </a:pPr>
            <a:r>
              <a:rPr lang="en-US" sz="1150" b="1" dirty="0">
                <a:solidFill>
                  <a:srgbClr val="1B3B6F"/>
                </a:solidFill>
                <a:latin typeface="Calibri" pitchFamily="34" charset="0"/>
                <a:cs typeface="Amiri" pitchFamily="2" charset="-78"/>
              </a:rPr>
              <a:t> is treated as feminine.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إِذَا لَمْ نُرَشِّدُ المَاءَ، سَتَزْدَادُ الأَزْمَةُ.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إِذَا لَمْ نُرَشِّدِ المَاءَ، فَسَتَزْدَادُ الأَزْمَةُ.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ea typeface="Amiri" pitchFamily="2" charset="-78"/>
                <a:cs typeface="Amiri" pitchFamily="2" charset="-78"/>
              </a:rPr>
              <a:t>لم</a:t>
            </a:r>
            <a:pPr algn="l" indent="0" marL="0">
              <a:buNone/>
            </a:pPr>
            <a:r>
              <a:rPr lang="en-US" sz="1150" b="1" dirty="0">
                <a:solidFill>
                  <a:srgbClr val="1B3B6F"/>
                </a:solidFill>
                <a:latin typeface="Calibri" pitchFamily="34" charset="0"/>
                <a:cs typeface="Amiri" pitchFamily="2" charset="-78"/>
              </a:rPr>
              <a:t> use the jussive </a:t>
            </a:r>
            <a:pPr algn="l" indent="0" marL="0">
              <a:buNone/>
            </a:pPr>
            <a:r>
              <a:rPr lang="ar-SA" altLang="en-US" sz="1500" b="1" dirty="0">
                <a:solidFill>
                  <a:srgbClr val="1B3B6F"/>
                </a:solidFill>
                <a:latin typeface="Amiri" pitchFamily="2" charset="-78"/>
                <a:ea typeface="Amiri" pitchFamily="2" charset="-78"/>
                <a:cs typeface="Amiri" pitchFamily="2" charset="-78"/>
              </a:rPr>
              <a:t>نرشّدْ</a:t>
            </a:r>
            <a:pPr algn="l" indent="0" marL="0">
              <a:buNone/>
            </a:pPr>
            <a:r>
              <a:rPr lang="en-US" sz="1150" b="1" dirty="0">
                <a:solidFill>
                  <a:srgbClr val="1B3B6F"/>
                </a:solidFill>
                <a:latin typeface="Calibri" pitchFamily="34" charset="0"/>
                <a:cs typeface="Amiri" pitchFamily="2" charset="-78"/>
              </a:rPr>
              <a:t>; the result is clearly linked with </a:t>
            </a:r>
            <a:pPr algn="l" indent="0" marL="0">
              <a:buNone/>
            </a:pPr>
            <a:r>
              <a:rPr lang="ar-SA" altLang="en-US" sz="1500" b="1" dirty="0">
                <a:solidFill>
                  <a:srgbClr val="1B3B6F"/>
                </a:solidFill>
                <a:latin typeface="Amiri" pitchFamily="2" charset="-78"/>
                <a:ea typeface="Amiri" pitchFamily="2" charset="-78"/>
                <a:cs typeface="Amiri" pitchFamily="2" charset="-78"/>
              </a:rPr>
              <a:t>فـ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نَسْتَبْدِلُ الوَقُودَ الأُحْفُورِيَّ مِنْ طَاقَةٍ نَظِيفَةٍ.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نَسْتَبْدِلُ الوَقُودَ الأُحْفُورِيَّ بِطَاقَةٍ نَظِيفَةٍ.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replacement follows </a:t>
            </a:r>
            <a:pPr algn="l" indent="0" marL="0">
              <a:buNone/>
            </a:pPr>
            <a:r>
              <a:rPr lang="ar-SA" altLang="en-US" sz="1500" b="1" dirty="0">
                <a:solidFill>
                  <a:srgbClr val="1B3B6F"/>
                </a:solidFill>
                <a:latin typeface="Amiri" pitchFamily="2" charset="-78"/>
                <a:ea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Listening: groundwater under pressure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some countries depend heavily 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Groundwater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Snowfall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Social media</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if extraction is faster than renewal?</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Oil turns into water</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reserve grows immediately</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reserve falls and water becomes scarce</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solutions are mentioned?</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waste and more traffic</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Passwords and brands</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Desalination and water reuse</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must also conserve consumption?</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Families</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satellites</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tourists</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not be enough on its own?</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Rainfall</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Technological solutions</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Groundwater</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 uses </a:t>
            </a:r>
            <a:pPr algn="l" indent="0" marL="0">
              <a:buNone/>
            </a:pPr>
            <a:r>
              <a:rPr lang="ar-SA" altLang="en-US" sz="1650" b="1" dirty="0">
                <a:solidFill>
                  <a:srgbClr val="1B3B6F"/>
                </a:solidFill>
                <a:latin typeface="Amiri" pitchFamily="2" charset="-78"/>
                <a:ea typeface="Amiri" pitchFamily="2" charset="-78"/>
                <a:cs typeface="Amiri" pitchFamily="2" charset="-78"/>
              </a:rPr>
              <a:t>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إِذَا لَمْ تُرَشِّدِ الأُسَرُ الاسْتِهْلَاكَ</a:t>
            </a:r>
            <a:endParaRPr lang="ar-SA" sz="14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إِذَا اسْتَمَرَّ سَحْبُ المِيَاهِ</a:t>
            </a:r>
            <a:endParaRPr lang="ar-SA" sz="14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لِذٰلِكَ تَسْتَثْمِرُ المُدُنُ</a:t>
            </a:r>
            <a:endParaRPr lang="ar-SA" sz="14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المِيَاهِ الجَوْفِيَّةِ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تَحْلِيَةِ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الأُسَرُ</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تَعْتَمِدُ بَعْضُ الدُّوَلِ عَلَى المِيَاهِ الجَوْفِيَّةِ بِدَرَجَةٍ كَبِيرَةٍ.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 countries depend heavily on groundwater.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وَلٰكِنْ إِذَا اسْتَمَرَّ سَحْبُ المِيَاهِ بِمُعَدَّلٍ أَسْرَعَ مِنْ تَجَدُّدِهَا،</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if water is extracted faster than it is renewed,</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فَسَوْفَ يَنْخَفِضُ المَخْزُونُ وَتَشِحُّ المِيَاهُ.</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reserve will fall and water will become scarce.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لِذٰلِكَ تَسْتَثْمِرُ بَعْضُ المُدُنِ فِي تَحْلِيَةِ المِيَاهِ وَإِعَادَةِ اسْتِخْدَامِهَا.</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some cities invest in desalinating and reusing water.</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وَإِذَا لَمْ تُرَشِّدِ الأُسَرُ الاسْتِهْلَاكَ، فَلَنْ تَكْفِيَ الحُلُولُ التِّقْنِيَّةُ وَحْدَهَا.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if families do not conserve consumption, technical solutions alone will not be enough.</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some countries depend heavily on?</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Groundwater</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Snowfall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Social media</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المياه الجوفية.</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if extraction is faster than renewal?</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Oil turns into water</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The reserve grows immediately</a:t>
            </a:r>
            <a:endParaRPr lang="en-US" sz="11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reserve falls and water becomes scarce</a:t>
            </a:r>
            <a:endParaRPr lang="en-US" sz="11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ينخفض المخزون وتشح المياه.</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solutions are mentioned?</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More waste and more traffic</a:t>
            </a:r>
            <a:endParaRPr lang="en-US" sz="11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Passwords and brands</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Desalination and water reuse</a:t>
            </a:r>
            <a:endParaRPr lang="en-US" sz="11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تحلية المياه وإعادة استخدامها.</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must also conserve consumption?</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Families</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satellites</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tourists</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الأسر.</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not be enough on its own?</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Rainfall</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Technological solutions</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Groundwater</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الحلول التقنية وحدها.</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 uses </a:t>
            </a:r>
            <a:pPr algn="l" indent="0" marL="0">
              <a:buNone/>
            </a:pPr>
            <a:r>
              <a:rPr lang="ar-SA" altLang="en-US" sz="1650" b="1" dirty="0">
                <a:solidFill>
                  <a:srgbClr val="1B3B6F"/>
                </a:solidFill>
                <a:latin typeface="Amiri" pitchFamily="2" charset="-78"/>
                <a:ea typeface="Amiri" pitchFamily="2" charset="-78"/>
                <a:cs typeface="Amiri" pitchFamily="2" charset="-78"/>
              </a:rPr>
              <a:t>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إِذَا لَمْ تُرَشِّدِ الأُسَرُ الاسْتِهْلَاكَ</a:t>
            </a:r>
            <a:endParaRPr lang="ar-SA" sz="14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إِذَا اسْتَمَرَّ سَحْبُ المِيَاهِ</a:t>
            </a:r>
            <a:endParaRPr lang="ar-SA" sz="14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لِذٰلِكَ تَسْتَثْمِرُ المُدُنُ</a:t>
            </a:r>
            <a:endParaRPr lang="ar-SA" sz="14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negative condition begins </a:t>
            </a:r>
            <a:pPr algn="l" indent="0" marL="0">
              <a:buNone/>
            </a:pPr>
            <a:r>
              <a:rPr lang="ar-SA" altLang="en-US" sz="1350" dirty="0">
                <a:solidFill>
                  <a:srgbClr val="8A6D1E"/>
                </a:solidFill>
                <a:latin typeface="Amiri" pitchFamily="2" charset="-78"/>
                <a:ea typeface="Amiri" pitchFamily="2" charset="-78"/>
                <a:cs typeface="Amiri" pitchFamily="2" charset="-78"/>
              </a:rPr>
              <a:t>إذا لم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المِيَاهِ الجَوْفِيَّةِ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تَحْلِيَةِ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الأُسَرُ</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Speaking: predict and respond to resource scarcity</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المَوَارِدُ الَّتِي قَدْ تَنْضَبُ؟</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سَيَحْدُثُ إِذَا لَمْ نُرَشِّدِ الاسْتِهْلَاكَ؟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نَنْتَقِلُ إِلَى مُسْتَقْبَلٍ أَكْثَرَ اسْتِدَامَةً؟</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قَدْ يَنْضَبُ ___ ، وَتَشِحُّ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إِذَا لَمْ نُرَشِّدِ ___ ، فَسَوْفَ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2" charset="-78"/>
                <a:ea typeface="Amiri" pitchFamily="2" charset="-78"/>
                <a:cs typeface="Amiri" pitchFamily="2" charset="-78"/>
              </a:rPr>
              <a:t>يَجِبُ أَنْ نَنْتَقِلَ مِنْ ___ إِلَى ___ ، وَأَنْ نَسْتَبْدِلَ ___ بِـ ___ .</a:t>
            </a:r>
            <a:endParaRPr lang="ar-SA" sz="10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سَيَحْدُثُ إِذَا اسْتَمَرَّ الاسْتِهْلَاكُ المُرْتَفِعُ؟</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will happen if high consumption continues?</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ea typeface="Amiri" pitchFamily="2" charset="-78"/>
                <a:cs typeface="Amiri" pitchFamily="2" charset="-78"/>
              </a:rPr>
              <a:t>إِذَا اسْتَمَرَّ الاسْتِهْلَاكُ بِهٰذَا المُعَدَّلِ، فَسَوْفَ تَنْضَبُ بَعْضُ المَوَارِدِ وَتَشِحُّ المِيَاهُ. لِذٰلِكَ يَجِبُ أَنْ نُرَشِّدَ الاسْتِهْلَاكَ وَنَنْتَقِلَ إِلَى مَصَادِرَ مُتَجَدِّدَةٍ.</a:t>
            </a:r>
            <a:endParaRPr lang="ar-SA" sz="13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If consumption continues at this rate, some resources will run out and water will become scarce. So we must conserve consumption and move to renewable sources.</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resource: why it matters, that it is running out (yanḍabu / yashiḥḥu), one condition, one solution.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100–120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real condition (idhā istamarra …) and a transition (min … ilā …).</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130–140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one real + one negative condition, a transition, and a judgement on responsibility.</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لَمْ نُرَشِّدِ ______ ، فَسَـ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we do not conserve …,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نَنْتَقِلَ مِنْ ______ إِلَى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must move from … to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نَسْتَبْدِلُ ______ بِـ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replace … with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يَعْتَمِدُ النَّجَاحُ عَلَى ______ وَ ______ مَعًا.</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Success depends on … and … together.</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تَعْتَمِدُ دُوَلٌ كَثِيرَةٌ عَلَى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Many countries depend on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يَنْضَبُ / تَنْضَبُ ______ تَدْرِيجِيًّا.</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gradually running out.</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تَشِحُّ المِيَاهُ فِي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Water becomes scarce in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اسْتَمَرَّ الهَدْرُ، فَسَوْفَ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waste continues, … will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المَوَارِدُ  ·  شُحُّ المِيَاهِ  ·  الوَقُودُ الأُحْفُورِيُّ  ·  المِيَاهُ الجَوْفِيَّةُ  ·  يَنْضَبُ  ·  تَشِحُّ  ·  نُرَشِّدُ  ·  إِذَا اسْتَمَرَّ  ·  إِذَا لَمْ  ·  فَسَوْفَ  ·  نَنْتَقِلُ مِنْ … إِلَى  ·  نَسْتَبْدِلُ … بِـ</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130–140 Arabic words explaining one resource challenge and evaluating a sustainable response.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one real condition and one negative condition.</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ينضب</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يشح</a:t>
            </a:r>
            <a:pPr algn="l" indent="0" marL="0">
              <a:buNone/>
            </a:pPr>
            <a:r>
              <a:rPr lang="en-US" sz="1200" dirty="0">
                <a:solidFill>
                  <a:srgbClr val="1F2A37"/>
                </a:solidFill>
                <a:latin typeface="Calibri" pitchFamily="34" charset="0"/>
                <a:cs typeface="Amiri" pitchFamily="2" charset="-78"/>
              </a:rPr>
              <a:t>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Explain a transition from one resource to another.</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Reach a justified conclusion about responsibility.</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نُمُوِّ السُّكَّانِ وَالمُدُنِ</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population and cities grow</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دُونَ أَنْ نَحْرِمَ الأَجْيَالَ القَادِمَةَ مِنْهَا</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without depriving future generations of them</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يَتَطَلَّبُ ذٰلِكَ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requires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فَلَنْ تَكْفِيَ الحُلُولُ التِّقْنِيَّةُ وَحْدَهَا</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technical solutions alone will not be enough</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أَنْمَاطُ اسْتِهْلَاكٍ أَكْثَرُ اسْتِدَامَةً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more sustainable consumption patterns</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تُوَاجِهُ دُوَلٌ كَثِيرَةٌ تَحَدِّيَ شُحِّ المِيَاهِ وَنُدْرَةِ بَعْضِ المَوَارِدِ. إِذَا اسْتَمَرَّ الاسْتِهْلَاكُ المُرْتَفِعُ، فَسَوْفَ يَنْخَفِضُ المَخْزُونُ وَتَزْدَادُ التَّكْلِفَةُ. وَإِذَا لَمْ نُرَشِّدِ المِيَاهَ، فَسَتَشِحُّ فِي المَنَاطِقِ الجَافَّةِ. لِذٰلِكَ يَجِبُ أَنْ نُعِيدَ اسْتِخْدَامَ المِيَاهِ، وَأَنْ نَسْتَبْدِلَ بَعْضَ الوَقُودِ الأُحْفُورِيِّ بِطَاقَةٍ مُتَجَدِّدَةٍ. كَمَا يَنْبَغِي أَنْ نَنْتَقِلَ إِلَى أَنْمَاطِ اسْتِهْلَاكٍ أَكْثَرَ اسْتِدَامَةً. فِي رَأْيِي، نَجَاحُ هٰذِهِ الخُطَطِ يَعْتَمِدُ عَلَى التِّقْنِيَّةِ وَسُلُوكِ الأَفْرَادِ مَعًا.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Many countries face the challenge of water scarcity and limited resources. If high consumption continues, the reserve will fall and costs will rise. And if we do not conserve water, it will become scarce in dry areas. So we must reuse water and replace some fossil fuel with renewable energy. We should also move to more sustainable consumption patterns. In my opinion, the success of these plans depends on technology and individual behaviour together.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real condition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negative condition (lam)</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transition or replacement</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judgement on responsibility</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yanḍabu / yashiḥḥu agree with the resource.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the resource and why it matters.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idhā + past, then fa-sawfa + present.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min … ilā / yastabdilu … bi- are correct.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idhā lam + jussive; a judgement on responsibility.</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negative condition.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لَمْ نُرَشِّدِ المَاءَ</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لَمْ نُرَشِّدُ المَاءَ</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لَمْ نُرَشِّدَ المَاءَ</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“runs out”?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يَتَّسِمُ</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يَنْضَبُ</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يَتَابَعُ</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preposition introduces the replacement?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negative condition.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إِذَا لَمْ نُرَشِّدِ المَاءَ</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إِذَا لَمْ نُرَشِّدُ المَاءَ</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إِذَا لَمْ نُرَشِّدَ المَاءَ</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لم</a:t>
            </a:r>
            <a:pPr algn="l" indent="0" marL="0">
              <a:buNone/>
            </a:pPr>
            <a:r>
              <a:rPr lang="en-US" sz="1050" i="1" dirty="0">
                <a:solidFill>
                  <a:srgbClr val="8A6D1E"/>
                </a:solidFill>
                <a:latin typeface="Calibri" pitchFamily="34" charset="0"/>
                <a:cs typeface="Amiri" pitchFamily="2" charset="-78"/>
              </a:rPr>
              <a:t> + jussive </a:t>
            </a:r>
            <a:pPr algn="l" indent="0" marL="0">
              <a:buNone/>
            </a:pPr>
            <a:r>
              <a:rPr lang="ar-SA" altLang="en-US" sz="1350" dirty="0">
                <a:solidFill>
                  <a:srgbClr val="8A6D1E"/>
                </a:solidFill>
                <a:latin typeface="Amiri" pitchFamily="2" charset="-78"/>
                <a:ea typeface="Amiri" pitchFamily="2" charset="-78"/>
                <a:cs typeface="Amiri" pitchFamily="2" charset="-78"/>
              </a:rPr>
              <a:t>نرشّدْ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“runs out”?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يَتَّسِمُ</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يَنْضَبُ</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يَتَابَعُ</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ينضب.</a:t>
            </a:r>
            <a:endParaRPr lang="ar-SA" sz="13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preposition introduces the replacement?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بِـ</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نستبدل</a:t>
            </a:r>
            <a:pPr algn="l" indent="0" marL="0">
              <a:buNone/>
            </a:pPr>
            <a:r>
              <a:rPr lang="en-US" sz="1050" i="1" dirty="0">
                <a:solidFill>
                  <a:srgbClr val="8A6D1E"/>
                </a:solidFill>
                <a:latin typeface="Calibri" pitchFamily="34" charset="0"/>
                <a:cs typeface="Amiri" pitchFamily="2" charset="-78"/>
              </a:rPr>
              <a:t> X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Y.</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Reading: what sustainability requires</a:t>
            </a:r>
            <a:endParaRPr lang="en-US" sz="25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يَزْدَادُ الطَّلَبُ عَلَى الطَّاقَةِ وَالمِيَاهِ مَعَ نُمُوِّ السُّكَّانِ وَالمُدُنِ. إِذَا اسْتَمَرَّ الاعْتِمَادُ عَلَى الوَقُودِ الأُحْفُورِيِّ، فَسَتَرْتَفِعُ الانْبِعَاثَاتُ وَسَيَنْضَبُ بَعْضُ المَخْزُونِ. أَمَّا الاسْتِدَامَةُ فَتَعْنِي أَنْ نَسْتَخْدِمَ المَوَارِدَ دُونَ أَنْ نَحْرِمَ الأَجْيَالَ القَادِمَةَ مِنْهَا. وَيَتَطَلَّبُ ذٰلِكَ تَرْشِيدَ الاسْتِهْلَاكِ، وَإِعَادَةَ الاسْتِخْدَامِ، وَالانْتِقَالَ إِلَى مَصَادِرَ مُتَجَدِّدَةٍ.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يَزْدَادُ الطَّلَبُ</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demand increases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نُمُوِّ السُّكَّانِ</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population growth</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الاعْتِمَادُ عَلَى</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reliance on</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الانْبِعَاثَاتُ</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emissions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المَخْزُونِ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reserve</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تَعْنِي</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means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دُونَ أَنْ</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without</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نَحْرِمَ</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deprive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الأَجْيَالَ القَادِمَةَ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future generations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يَتَطَلَّبُ</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requires</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demand increasing?</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Falling literacy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Population and city growth</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Less technology</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happens if dependence on fossil fuels continues?</a:t>
            </a:r>
            <a:endParaRPr lang="en-US" sz="120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 becomes unlimited</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Emissions disappear immediately</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Emissions rise and some reserves are depleted</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text define sustainability?</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Using resources without depriving future generations</a:t>
            </a:r>
            <a:endParaRPr lang="en-US" sz="11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every resource as quickly as possible</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Avoiding all development</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Name one required action.</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Increasing waste</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Conserving consumption</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Burning more fuel</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transition is required?</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renewable sources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more single-use plastic</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greater fossil-fuel dependence</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refers to future generations?</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المَوَارِدُ الحَالِيَّةُ</a:t>
            </a:r>
            <a:endParaRPr lang="ar-SA" sz="20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المَخَازِنُ القَدِيمَةُ</a:t>
            </a:r>
            <a:endParaRPr lang="ar-SA" sz="20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الأَجْيَالُ القَادِمَةُ</a:t>
            </a:r>
            <a:endParaRPr lang="ar-SA" sz="20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demand increasing?</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Falling literacy</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Population and city growth</a:t>
            </a:r>
            <a:endParaRPr lang="en-US" sz="120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Less technology</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مع نمو السكان والمدن.</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happens if dependence on fossil fuels continues?</a:t>
            </a:r>
            <a:endParaRPr lang="en-US" sz="120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Water becomes unlimited</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Emissions disappear immediately</a:t>
            </a:r>
            <a:endParaRPr lang="en-US" sz="11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Emissions rise and some reserves are depleted</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result sentence names both effects.</a:t>
            </a:r>
            <a:endParaRPr lang="en-US" sz="10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text define sustainability?</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Using resources without depriving future generations</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Using every resource as quickly as possible</a:t>
            </a:r>
            <a:endParaRPr lang="en-US" sz="11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Avoiding all development</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third sentence gives the definition.</a:t>
            </a:r>
            <a:endParaRPr lang="en-US" sz="10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Name one required action.</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Increasing waste</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Conserving consumption</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Burning more fuel</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ترشيد الاستهلاك</a:t>
            </a:r>
            <a:pPr algn="l" indent="0" marL="0">
              <a:buNone/>
            </a:pPr>
            <a:r>
              <a:rPr lang="en-US" sz="1050" i="1" dirty="0">
                <a:solidFill>
                  <a:srgbClr val="8A6D1E"/>
                </a:solidFill>
                <a:latin typeface="Calibri" pitchFamily="34" charset="0"/>
                <a:cs typeface="Amiri" pitchFamily="2" charset="-78"/>
              </a:rPr>
              <a:t> is one action.</a:t>
            </a:r>
            <a:endParaRPr lang="en-US" sz="10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transition is required?</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renewable sources</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more single-use plastic</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To greater fossil-fuel dependence</a:t>
            </a:r>
            <a:endParaRPr lang="en-US" sz="11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الانتقال إلى مصادر متجددة.</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refers to future generations?</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المَوَارِدُ الحَالِيَّةُ</a:t>
            </a:r>
            <a:endParaRPr lang="ar-SA" sz="170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المَخَازِنُ القَدِيمَةُ</a:t>
            </a:r>
            <a:endParaRPr lang="ar-SA" sz="170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الأَجْيَالُ القَادِمَةُ</a:t>
            </a:r>
            <a:endParaRPr lang="ar-SA" sz="170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الأجيال القادمة.</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Resources and Sustainability — When Resources Run Out — Arabic application mission</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best describes oil reserves gradually running out?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يَتَفَاعَلُ</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يَنْضَبُ</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يُشْرِقُ</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accurately describes water scarcity?</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تَشِحُّ المِيَاهُ عِنْدَمَا يَطُولُ الجَفَافُ.</a:t>
            </a:r>
            <a:endParaRPr lang="ar-SA" sz="14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تَشِحُّ المِيَاهُ عِنْدَمَا تُعِيدُ المَدِينَةُ اسْتِخْدَامَهَا.</a:t>
            </a:r>
            <a:endParaRPr lang="ar-SA" sz="14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تَشِحُّ المِيَاهُ عِنْدَمَا يَزْدَادُ المَطَرُ كُلَّ يَوْمٍ.</a:t>
            </a:r>
            <a:endParaRPr lang="ar-SA" sz="14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form after </a:t>
            </a:r>
            <a:pPr algn="l" indent="0" marL="0">
              <a:buNone/>
            </a:pPr>
            <a:r>
              <a:rPr lang="ar-SA" altLang="en-US" sz="1650" b="1" dirty="0">
                <a:solidFill>
                  <a:srgbClr val="1B3B6F"/>
                </a:solidFill>
                <a:latin typeface="Amiri" pitchFamily="2" charset="-78"/>
                <a:ea typeface="Amiri" pitchFamily="2" charset="-78"/>
                <a:cs typeface="Amiri" pitchFamily="2" charset="-78"/>
              </a:rPr>
              <a:t>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 نُقَلِّلُ</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 نُقَلِّلَ</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 نُقَلِّلْ</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result logically follows high consumption?</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تَزْدَادُ المَوَارِدُ دُونَ حُدُودٍ.</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يَتَحَوَّلُ النِّفْطُ إِلَى مَطَرٍ.</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تَنْضَبُ المَوَارِدُ بِسُرْعَةٍ أَكْبَرَ.</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transition supports sustainability?</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مِنَ الوَقُودِ الأُحْفُورِيِّ إِلَى الطَّاقَةِ المُتَجَدِّدَةِ</a:t>
            </a:r>
            <a:endParaRPr lang="ar-SA" sz="150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مِنَ التَّرْشِيدِ إِلَى التَّلَوُّثِ</a:t>
            </a:r>
            <a:endParaRPr lang="ar-SA" sz="150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مِنَ الطَّاقَةِ المُتَجَدِّدَةِ إِلَى زِيَادَةِ الهَدْرِ</a:t>
            </a:r>
            <a:endParaRPr lang="ar-SA" sz="150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 meaningful long-term projection?</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1100" dirty="0">
                <a:solidFill>
                  <a:srgbClr val="1F2A37"/>
                </a:solidFill>
                <a:latin typeface="Amiri" pitchFamily="2" charset="-78"/>
                <a:ea typeface="Amiri" pitchFamily="2" charset="-78"/>
                <a:cs typeface="Amiri" pitchFamily="2" charset="-78"/>
              </a:rPr>
              <a:t>مِنَ المُتَوَقَّعِ أَنْ تَشْرَقَ كَلِمَةُ المُرُورِ.</a:t>
            </a:r>
            <a:endParaRPr lang="ar-SA" sz="110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1100" dirty="0">
                <a:solidFill>
                  <a:srgbClr val="1F2A37"/>
                </a:solidFill>
                <a:latin typeface="Amiri" pitchFamily="2" charset="-78"/>
                <a:ea typeface="Amiri" pitchFamily="2" charset="-78"/>
                <a:cs typeface="Amiri" pitchFamily="2" charset="-78"/>
              </a:rPr>
              <a:t>مِنَ المُتَوَقَّعِ أَنْ يَزْدَادَ الطَّلَبُ عَلَى المِيَاهِ بِحُلُولِ عَامِ ٢٠٤٠.</a:t>
            </a:r>
            <a:endParaRPr lang="ar-SA" sz="110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1100" dirty="0">
                <a:solidFill>
                  <a:srgbClr val="1F2A37"/>
                </a:solidFill>
                <a:latin typeface="Amiri" pitchFamily="2" charset="-78"/>
                <a:ea typeface="Amiri" pitchFamily="2" charset="-78"/>
                <a:cs typeface="Amiri" pitchFamily="2" charset="-78"/>
              </a:rPr>
              <a:t>مِنَ المُتَوَقَّعِ أَنْ تُعَلِّقَ الصَّحْرَاءُ عَلَى المَاءِ.</a:t>
            </a:r>
            <a:endParaRPr lang="ar-SA" sz="11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best describes oil reserves gradually running out?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يَتَفَاعَلُ</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يَنْضَبُ</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يُشْرِقُ</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ينضب</a:t>
            </a:r>
            <a:pPr algn="l" indent="0" marL="0">
              <a:buNone/>
            </a:pPr>
            <a:r>
              <a:rPr lang="en-US" sz="1050" i="1" dirty="0">
                <a:solidFill>
                  <a:srgbClr val="8A6D1E"/>
                </a:solidFill>
                <a:latin typeface="Calibri" pitchFamily="34" charset="0"/>
                <a:cs typeface="Amiri" pitchFamily="2" charset="-78"/>
              </a:rPr>
              <a:t> is used for depletion.</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accurately describes water scarcity?</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تَشِحُّ المِيَاهُ عِنْدَمَا يَطُولُ الجَفَافُ.</a:t>
            </a:r>
            <a:endParaRPr lang="ar-SA" sz="145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تَشِحُّ المِيَاهُ عِنْدَمَا تُعِيدُ المَدِينَةُ اسْتِخْدَامَهَا.</a:t>
            </a:r>
            <a:endParaRPr lang="ar-SA" sz="145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تَشِحُّ المِيَاهُ عِنْدَمَا يَزْدَادُ المَطَرُ كُلَّ يَوْمٍ.</a:t>
            </a:r>
            <a:endParaRPr lang="ar-SA" sz="145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Long drought can make water scarce.</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form after </a:t>
            </a:r>
            <a:pPr algn="l" indent="0" marL="0">
              <a:buNone/>
            </a:pPr>
            <a:r>
              <a:rPr lang="ar-SA" altLang="en-US" sz="1650" b="1" dirty="0">
                <a:solidFill>
                  <a:srgbClr val="1B3B6F"/>
                </a:solidFill>
                <a:latin typeface="Amiri" pitchFamily="2" charset="-78"/>
                <a:ea typeface="Amiri" pitchFamily="2" charset="-78"/>
                <a:cs typeface="Amiri" pitchFamily="2" charset="-78"/>
              </a:rPr>
              <a:t>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 نُقَلِّلُ</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 نُقَلِّلَ</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لَمْ نُقَلِّلْ</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jussive sound-ending verb takes sukūn.</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result logically follows high consumption?</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تَزْدَادُ المَوَارِدُ دُونَ حُدُودٍ.</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يَتَحَوَّلُ النِّفْطُ إِلَى مَطَرٍ.</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تَنْضَبُ المَوَارِدُ بِسُرْعَةٍ أَكْبَرَ.</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High consumption speeds depletion.</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transition supports sustainability?</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مِنَ الوَقُودِ الأُحْفُورِيِّ إِلَى الطَّاقَةِ المُتَجَدِّدَةِ</a:t>
            </a:r>
            <a:endParaRPr lang="ar-SA" sz="15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ea typeface="Amiri" pitchFamily="2" charset="-78"/>
                <a:cs typeface="Amiri" pitchFamily="2" charset="-78"/>
              </a:rPr>
              <a:t>مِنَ التَّرْشِيدِ إِلَى التَّلَوُّثِ</a:t>
            </a:r>
            <a:endParaRPr lang="ar-SA" sz="15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ea typeface="Amiri" pitchFamily="2" charset="-78"/>
                <a:cs typeface="Amiri" pitchFamily="2" charset="-78"/>
              </a:rPr>
              <a:t>مِنَ الطَّاقَةِ المُتَجَدِّدَةِ إِلَى زِيَادَةِ الهَدْرِ</a:t>
            </a:r>
            <a:endParaRPr lang="ar-SA" sz="15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Moving to renewable energy supports sustainability.</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 meaningful long-term projection?</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100" dirty="0">
                <a:solidFill>
                  <a:srgbClr val="9AA1AB"/>
                </a:solidFill>
                <a:latin typeface="Amiri" pitchFamily="2" charset="-78"/>
                <a:ea typeface="Amiri" pitchFamily="2" charset="-78"/>
                <a:cs typeface="Amiri" pitchFamily="2" charset="-78"/>
              </a:rPr>
              <a:t>مِنَ المُتَوَقَّعِ أَنْ تَشْرَقَ كَلِمَةُ المُرُورِ.</a:t>
            </a:r>
            <a:endParaRPr lang="ar-SA" sz="11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100" b="1" dirty="0">
                <a:solidFill>
                  <a:srgbClr val="1F2A37"/>
                </a:solidFill>
                <a:latin typeface="Amiri" pitchFamily="2" charset="-78"/>
                <a:ea typeface="Amiri" pitchFamily="2" charset="-78"/>
                <a:cs typeface="Amiri" pitchFamily="2" charset="-78"/>
              </a:rPr>
              <a:t>مِنَ المُتَوَقَّعِ أَنْ يَزْدَادَ الطَّلَبُ عَلَى المِيَاهِ بِحُلُولِ عَامِ ٢٠٤٠.</a:t>
            </a:r>
            <a:endParaRPr lang="ar-SA" sz="11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100" dirty="0">
                <a:solidFill>
                  <a:srgbClr val="9AA1AB"/>
                </a:solidFill>
                <a:latin typeface="Amiri" pitchFamily="2" charset="-78"/>
                <a:ea typeface="Amiri" pitchFamily="2" charset="-78"/>
                <a:cs typeface="Amiri" pitchFamily="2" charset="-78"/>
              </a:rPr>
              <a:t>مِنَ المُتَوَقَّعِ أَنْ تُعَلِّقَ الصَّحْرَاءُ عَلَى المَاءِ.</a:t>
            </a:r>
            <a:endParaRPr lang="ar-SA" sz="11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is a coherent projection about demand.</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Resources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D4-L08: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D4-L08 · Reading — Environment and Technology Texts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تَقْرِيرٌ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report</a:t>
            </a:r>
            <a:pPr indent="0" marL="0">
              <a:buNone/>
            </a:pPr>
            <a:r>
              <a:rPr lang="ar-SA" sz="1000" i="1" dirty="0">
                <a:solidFill>
                  <a:srgbClr val="5A6472"/>
                </a:solidFill>
                <a:latin typeface="Calibri" pitchFamily="34" charset="0"/>
                <a:ea typeface="Amiri" pitchFamily="2" charset="-78"/>
                <a:cs typeface="Amiri" pitchFamily="2" charset="-78"/>
              </a:rPr>
              <a:t>  pl. تَقَارِيرُ</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بَيَانَاتٌ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data</a:t>
            </a:r>
            <a:pPr indent="0" marL="0">
              <a:buNone/>
            </a:pPr>
            <a:r>
              <a:rPr lang="ar-SA" sz="1000" i="1" dirty="0">
                <a:solidFill>
                  <a:srgbClr val="5A6472"/>
                </a:solidFill>
                <a:latin typeface="Calibri" pitchFamily="34" charset="0"/>
                <a:ea typeface="Amiri" pitchFamily="2" charset="-78"/>
                <a:cs typeface="Amiri" pitchFamily="2" charset="-78"/>
              </a:rPr>
              <a:t>  sing. بَيَانٌ</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إِحْصَاءَاتٌ</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statistics</a:t>
            </a:r>
            <a:pPr indent="0" marL="0">
              <a:buNone/>
            </a:pPr>
            <a:r>
              <a:rPr lang="ar-SA" sz="1000" i="1" dirty="0">
                <a:solidFill>
                  <a:srgbClr val="5A6472"/>
                </a:solidFill>
                <a:latin typeface="Calibri" pitchFamily="34" charset="0"/>
                <a:ea typeface="Amiri" pitchFamily="2" charset="-78"/>
                <a:cs typeface="Amiri" pitchFamily="2" charset="-78"/>
              </a:rPr>
              <a:t>  sing. إِحْصَاءٌ</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يُشَارُ إِلَى أَنَّ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it is indicated that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النَّبْرَةُ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tone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Where do you find reliable information about the environment? Name one source.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أَجِدُ مَعْلُومَاتٍ مَوْثُوقَةً فِي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8 resource words; write 5 sentences with yanḍabu / tashiḥḥu and idhā istamarra.</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One resource challenge in 100–120 words with a condition and a transition.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resource challenge and sustainable response (130–140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D4-L08 · Reading — Environment and Technology Texts</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القِرَاءَةُ — نُصُوصُ البِيئَةِ وَالتِّقْنِيَّةِ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yanḍabu / tashiḥḥu agree — idhā + past, fa-sawfa — idhā lam + jussive — min … ilā, yastabdilu … bi-.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D4-L07 · Resources and Sustainability — When Resources Run Out</dc:title>
  <dc:subject>PptxGenJS Presentation</dc:subject>
  <dc:creator>Al Madina Online School · Arabic Department</dc:creator>
  <cp:lastModifiedBy>Al Madina Online School · Arabic Department</cp:lastModifiedBy>
  <cp:revision>1</cp:revision>
  <dcterms:created xsi:type="dcterms:W3CDTF">2026-10-11T06:40:53Z</dcterms:created>
  <dcterms:modified xsi:type="dcterms:W3CDTF">2026-10-11T06:40:53Z</dcterms:modified>
</cp:coreProperties>
</file>