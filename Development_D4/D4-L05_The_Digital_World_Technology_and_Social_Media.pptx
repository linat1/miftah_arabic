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D4 Environment, Weather and Technology › D4-L05. The website lesson “The Digital World — Technology and Social Media”: vocabulary, grammar rules and quiz, patterns, common mistakes, sorter, listening, reading, speaking prompts and model, writing task and model, differentiation, final check and the lesson mission. Picture match: website visual game “The Digital World — Technology and Social Media”.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10 digital words + “I use … to …” and four verbs with their preposition (أَتَفَاعَلُ مَعَ · أُعَلِّقُ عَلَى · أَبْحَثُ عَنْ · أَعْتَمِدُ عَلَى). Develop: one benefit and one risk with مِنْ نَاحِيَةٍ … وَمِنْ نَاحِيَةٍ أُخْرَى. Stretch: a concession (عَلَى الرَّغْمِ مِنْ أَنَّ …، فَـ …) and a qualified conclusion (شَرِيطَةَ أَنْ …).
• This is the “2028 vocabulary” lesson (website label): AI, passwords, brands, distance learning — words from the new GCSE / IGCSE lists.
• Safeguarding: cyberbullying (التَّنَمُّرُ الإِلِكْتُرُونِيُّ) appears — remind students of the school’s reporting route; examples stay general.
• Links: D3-L06 / L09 concession (عَلَى الرَّغْمِ مِنْ أَنَّ … فَإِنَّ), D4-L03 يُؤَدِّي إِلَى.
• TEACHER-WRITTEN ITEMS: two vowel slips corrected (website: يَتَابِعُ → يُتَابِعُ, مَنْصَّةً → مِنَصَّةً) and English added to the website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D4-L04. Question 3 retrieves D4-L04; question 4 D3-L09 (concession); question 5 D4-L01 (verb + fixed preposition).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Many digital verbs come with a fixed preposition — learn them as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معلومات، امان are shared; رقم (an amount of money) → رَقْمِيٌّ (digital: “of numbers”). CAREFUL: Urdu تعلق = a relationship / connection, but Arabic تَعْلِيقٌ / يُعَلِّقُ عَلَى = a comment / to comment on (a 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Digital tools and 2028 vocabulary (website vocabulary (1 of 2)). Hear → Say → See → Use. Transliteration is printed for Core students (cover it for Develop/Stretch).
Digital tools: many are modern compounds (adjective + noun). تَطْبِيقٌ → pl. تَطْبِيقَاتٌ; مِنَصَّةٌ → pl. مِنَصَّاتٌ.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Digital tools and 2028 vocabulary (website vocabulary (2 of 2)). Hear → Say → See → Use. Transliteration is printed for Core students (cover it for Develop/Stretch).
Digital tools: many are modern compounds (adjective + noun). تَطْبِيقٌ → pl. تَطْبِيقَاتٌ; مِنَصَّةٌ → pl. مِنَصَّاتٌ.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Online actions and their prepositions (website vocabulary (1 of 2)). Hear → Say → See → Use. Transliteration is printed for Core students (cover it for Develop/Stretch).
Online actions: the cards show I · he · she. Learn the preposition with the verb: مَعَ، عَلَى، عَنْ.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Online actions and their prepositions (website vocabulary (2 of 2)). Hear → Say → See → Use. Transliteration is printed for Core students (cover it for Develop/Stretch).
Online actions: the cards show I · he · she. Learn the preposition with the verb: مَعَ، عَلَى، عَنْ.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Digital benefits and risks (website vocabulary (1 of 2)). Hear → Say → See → Use. Transliteration is printed for Core students (cover it for Develop/Stretch).
Benefits and risks: the last two cards (on the one hand … on the other hand) are the balance frame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Digital benefits and risks (website vocabulary (2 of 2)). Hear → Say → See → Use. Transliteration is printed for Core students (cover it for Develop/Stretch).
Benefits and risks: the last two cards (on the one hand … on the other hand) are the balance frame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“Keep the verb with its required preposition” (Arabic digital verbs often govern a specific preposition; changing it makes the phrase inaccurate) and “Pronoun reference” (عَلَيْهِ for a masculine noun, عَلَيْهَا for a feminine noun). Website examples: يَتَفَاعَلُ الطُّلَّابُ مَعَ المُعَلِّمِ · يُعَلِّقُ المُسْتَخْدِمُ عَلَى المَنْشُورِ · المَوْقِعُ مُفِيدٌ، وَلٰكِنْ يَجِبُ التَّحَقُّقُ مِمَّا يُنْشَرُ عَلَيْهِ.
Website mistakes: يَتَفَاعَلُ … عَلَى ✗ → مَعَ ✓ · يُعَلِّقُ … مَعَ ✗ → عَلَى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“Balanced contrast” (present a benefit and a limitation before reaching a judgement) and “Concession with عَلَى الرَّغْمِ مِنْ أَنَّ” (use أَنَّ with a noun or attached pronoun; the sentence that follows states the unexpected contrast). Website examples as shown.
Qualified judgement (Stretch, from the writing model): التِّقْنِيَّةُ إِيجَابِيَّةٌ شَرِيطَةَ أَنْ نَسْتَخْدِمَهَا بِمَسْؤُولِيَّةٍ (… provided that we use it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“Study each structure in context, compare accurate and inaccurate forms, then apply it in meaningful Arabic.”
• Keep the verb with its required preposition: Arabic digital verbs often govern a specific preposition. Changing it makes the phrase inaccurate.
• Balanced contrast: Present a benefit and a limitation before reaching a judgement.
• Concession with عَلَى الرَّغْمِ مِنْ أَنَّ: Use أَنَّ with a noun or attached pronoun; the sentence that follows states the unexpected contrast.
• Pronoun reference: Refer back precisely: عَلَيْهِ for a masculine noun, عَلَيْهَا for a feminine noun.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built from the website listening (a student’s digital routine) + the website qualified judgement (شَرِيطَةَ أَنْ). Ask: why نَسْتَخْدِمَهَا and not نَسْتَخْدِمَهُ? (المِنَصَّةُ is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Digital World — Technology and Social Media”)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cards: أَسْتَخْدِمُ الحَاسُوبَ لِلدِّرَاسَةِ · الاِسْتِخْدَامُ المُفْرِطُ لِلْهَاتِفِ يُؤَثِّرُ فِي النَّوْمِ · وَسَائِلُ التَّوَاصُلِ تَرْبِطُ النَّاسَ. Stretch: say each card as a benefit or a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The Digital World — Technology and Social Media”)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cards: أَسْتَخْدِمُ الحَاسُوبَ لِلدِّرَاسَةِ · الاِسْتِخْدَامُ المُفْرِطُ لِلْهَاتِفِ يُؤَثِّرُ فِي النَّوْمِ · وَسَائِلُ التَّوَاصُلِ تَرْبِطُ النَّاسَ. Stretch: say each card as a benefit or a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balanced sentence: مِنْ نَاحِيَةٍ + a benefit, وَمِنْ نَاحِيَةٍ أُخْرَى + a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balanced sentence: مِنْ نَاحِيَةٍ + a benefit, وَمِنْ نَاحِيَةٍ أُخْرَى + a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1–3. Develop / Stretch: all 6.
Listen 1: just listen. Listen 2: note answers. Then chat the letters.
Support: after the second listening, show the read-along slide (Arabic + English, line by line) for Core students.
SCRIPT (read aloud):
أَسْتَخْدِمُ مِنَصَّةً لِلتَّعَلُّمِ عَنْ بُعْدٍ ثَلَاثَ مَرَّاتٍ فِي الأُسْبُوعِ. أَتَفَاعَلُ مَعَ المُعَلِّمِ، وَأُحَمِّلُ وَاجِبَاتِي، وَأُعَلِّقُ عَلَى أَفْكَارِ زُمَلَائِي. مِنْ نَاحِيَةٍ، تُسَاعِدُنِي المِنَصَّةُ عَلَى التَّعَلُّمِ فِي أَيِّ مَكَانٍ. وَمِنْ نَاحِيَةٍ أُخْرَى، أَحْتَاجُ إِلَى تَقْلِيلِ وَقْتِ الشَّاشَةِ. لِذٰلِكَ أَسْتَخْدِمُ كَلِمَةَ مُرُورٍ قَوِيَّةً وَأَتَوَقَّفُ عَنِ الاسْتِخْدَامِ قَبْلَ النَّوْمِ.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prompts and model. Students at an online school are experts on distance learning — invite real experiences (positive and negative). To a girl: كَيْفَ تَسْتَخْدِمِينَ التِّقْنِيَّةَ؟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120–140 Arabic words evaluating technology or social media.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التَّعَلُّمُ عَنْ بُعْدٍ، الذَّكَاءُ الاصْطِنَاعِيُّ، المِنَصَّاتِ، كَلِمَاتِ مُرُورٍ · مِنْ نَاحِيَةٍ … وَمِنْ نَاحِيَةٍ أُخْرَى · يُسَاعِدُ عَلَى، تُؤَدِّي إِلَى · عَلَى الرَّغْمِ مِنْ أَنَّ … فَيَجِبُ · شَرِيطَةَ أَنْ نَسْتَخْدِمَهَا.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(D4-L06 · Green Technology — AI, Solar Energy and Smart Cities) will spend class time USING this language, so students prepare it tonight — short, simple, easy to access (school guidance: “Simple, Short, Interesting, Relevant, Easy to access”). The five words come from the website D4-L06 vocabulary (green technology).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The Digital World — Technology and Social Media</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العَالَمُ الرَّقْمِيُّ — التِّقْنِيَّةُ وَوَسَائِلُ التَّوَاصُلِ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Talk about how you use technology and evaluate it: digital verbs with the right preposition (</a:t>
            </a:r>
            <a:pPr algn="l" indent="0" marL="0">
              <a:buNone/>
            </a:pPr>
            <a:r>
              <a:rPr lang="ar-SA" altLang="en-US" sz="1800" dirty="0">
                <a:solidFill>
                  <a:srgbClr val="C6D2E6"/>
                </a:solidFill>
                <a:latin typeface="Amiri" pitchFamily="2" charset="-78"/>
                <a:cs typeface="Amiri" pitchFamily="2" charset="-78"/>
              </a:rPr>
              <a:t>يَتَفَاعَلُ مَعَ</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يُعَلِّقُ عَلَى</a:t>
            </a:r>
            <a:pPr algn="l" indent="0" marL="0">
              <a:buNone/>
            </a:pPr>
            <a:r>
              <a:rPr lang="en-US" sz="1400" dirty="0">
                <a:solidFill>
                  <a:srgbClr val="C6D2E6"/>
                </a:solidFill>
                <a:latin typeface="Calibri" pitchFamily="34" charset="0"/>
                <a:cs typeface="Amiri" pitchFamily="2" charset="-78"/>
              </a:rPr>
              <a:t>), benefits and risks, a balanced view (</a:t>
            </a:r>
            <a:pPr algn="l" indent="0" marL="0">
              <a:buNone/>
            </a:pPr>
            <a:r>
              <a:rPr lang="ar-SA" altLang="en-US" sz="1800" dirty="0">
                <a:solidFill>
                  <a:srgbClr val="C6D2E6"/>
                </a:solidFill>
                <a:latin typeface="Amiri" pitchFamily="2" charset="-78"/>
                <a:cs typeface="Amiri" pitchFamily="2" charset="-78"/>
              </a:rPr>
              <a:t>مِنْ نَاحِيَةٍ … وَمِنْ نَاحِيَةٍ أُخْرَى</a:t>
            </a:r>
            <a:pPr algn="l" indent="0" marL="0">
              <a:buNone/>
            </a:pPr>
            <a:r>
              <a:rPr lang="en-US" sz="1400" dirty="0">
                <a:solidFill>
                  <a:srgbClr val="C6D2E6"/>
                </a:solidFill>
                <a:latin typeface="Calibri" pitchFamily="34" charset="0"/>
                <a:cs typeface="Amiri" pitchFamily="2" charset="-78"/>
              </a:rPr>
              <a:t>) and a qualified judgement.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D4-L05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Digital words, verbs + prepositions, and a balanced judgement.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the words, fix and listen: a student’s digital routine.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D4-L06.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تَطْبِيقٌ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platform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app</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website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الخُصُوصِيَّةُ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privacy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security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password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اسْتِخْدَامَ البِلَاسْتِيكِ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قَلَّلْنَا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سَنُقَلِّلُ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نُقَلِّلَ</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gives a concession?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 …</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يُؤَدِّي إِلَى …</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الرَّغْمِ مِنْ أَنَّ … فَإِنَّ …</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يَتَّسِمُ السَّاحِلُ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مَنَاخٍ مُعْتَدِلٍ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تَطْبِيقٌ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platform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app</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website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الخُصُوصِيَّةُ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privacy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security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password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اسْتِخْدَامَ البِلَاسْتِيكِ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قَلَّلْنَا</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سَنُقَلِّلُ</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نُقَلِّلَ</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D4-L04: an + -a.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gives a concession?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لِكَيْ …</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يُؤَدِّي إِلَى …</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 الرَّغْمِ مِنْ أَنَّ … فَإِنَّ …</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D3-L09.</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يَتَّسِمُ السَّاحِلُ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مَنَاخٍ مُعْتَدِلٍ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D4-L01: a verb with a fixed preposition.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Many digital verbs come with a fixed preposition — learn them as pairs.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يَتَفَاعَلُ </a:t>
            </a:r>
            <a:pPr rtl="1" algn="ctr" indent="0" marL="0">
              <a:lnSpc>
                <a:spcPct val="120000"/>
              </a:lnSpc>
              <a:buNone/>
            </a:pPr>
            <a:r>
              <a:rPr lang="ar-SA" altLang="en-US" sz="1950" b="1" dirty="0">
                <a:solidFill>
                  <a:srgbClr val="1D5FBF"/>
                </a:solidFill>
                <a:latin typeface="Amiri" pitchFamily="2" charset="-78"/>
                <a:cs typeface="Amiri" pitchFamily="2" charset="-78"/>
              </a:rPr>
              <a:t>مَعَ</a:t>
            </a:r>
            <a:pPr rtl="1" algn="ctr" indent="0" marL="0">
              <a:lnSpc>
                <a:spcPct val="120000"/>
              </a:lnSpc>
              <a:buNone/>
            </a:pPr>
            <a:r>
              <a:rPr lang="ar-SA" altLang="en-US" sz="1950" b="1" dirty="0">
                <a:solidFill>
                  <a:srgbClr val="1B3B6F"/>
                </a:solidFill>
                <a:latin typeface="Amiri" pitchFamily="2" charset="-78"/>
                <a:cs typeface="Amiri" pitchFamily="2" charset="-78"/>
              </a:rPr>
              <a:t> · يُعَلِّقُ </a:t>
            </a:r>
            <a:pPr rtl="1" algn="ctr" indent="0" marL="0">
              <a:lnSpc>
                <a:spcPct val="120000"/>
              </a:lnSpc>
              <a:buNone/>
            </a:pPr>
            <a:r>
              <a:rPr lang="ar-SA" altLang="en-US" sz="1950" b="1" dirty="0">
                <a:solidFill>
                  <a:srgbClr val="D6336C"/>
                </a:solidFill>
                <a:latin typeface="Amiri" pitchFamily="2" charset="-78"/>
                <a:cs typeface="Amiri" pitchFamily="2" charset="-78"/>
              </a:rPr>
              <a:t>عَلَى</a:t>
            </a:r>
            <a:pPr rtl="1" algn="ctr" indent="0" marL="0">
              <a:lnSpc>
                <a:spcPct val="120000"/>
              </a:lnSpc>
              <a:buNone/>
            </a:pPr>
            <a:r>
              <a:rPr lang="ar-SA" altLang="en-US" sz="1950" b="1" dirty="0">
                <a:solidFill>
                  <a:srgbClr val="1B3B6F"/>
                </a:solidFill>
                <a:latin typeface="Amiri" pitchFamily="2" charset="-78"/>
                <a:cs typeface="Amiri" pitchFamily="2" charset="-78"/>
              </a:rPr>
              <a:t> · يَبْحَثُ </a:t>
            </a:r>
            <a:pPr rtl="1" algn="ctr" indent="0" marL="0">
              <a:lnSpc>
                <a:spcPct val="120000"/>
              </a:lnSpc>
              <a:buNone/>
            </a:pPr>
            <a:r>
              <a:rPr lang="ar-SA" altLang="en-US" sz="1950" b="1" dirty="0">
                <a:solidFill>
                  <a:srgbClr val="0E7C86"/>
                </a:solidFill>
                <a:latin typeface="Amiri" pitchFamily="2" charset="-78"/>
                <a:cs typeface="Amiri" pitchFamily="2" charset="-78"/>
              </a:rPr>
              <a:t>عَنْ</a:t>
            </a:r>
            <a:pPr rtl="1" algn="ctr" indent="0" marL="0">
              <a:lnSpc>
                <a:spcPct val="120000"/>
              </a:lnSpc>
              <a:buNone/>
            </a:pPr>
            <a:r>
              <a:rPr lang="ar-SA" altLang="en-US" sz="1950" b="1" dirty="0">
                <a:solidFill>
                  <a:srgbClr val="1B3B6F"/>
                </a:solidFill>
                <a:latin typeface="Amiri" pitchFamily="2" charset="-78"/>
                <a:cs typeface="Amiri" pitchFamily="2" charset="-78"/>
              </a:rPr>
              <a:t> · يَعْتَمِدُ </a:t>
            </a:r>
            <a:pPr rtl="1" algn="ctr" indent="0" marL="0">
              <a:lnSpc>
                <a:spcPct val="120000"/>
              </a:lnSpc>
              <a:buNone/>
            </a:pPr>
            <a:r>
              <a:rPr lang="ar-SA" altLang="en-US" sz="1950" b="1" dirty="0">
                <a:solidFill>
                  <a:srgbClr val="D6336C"/>
                </a:solidFill>
                <a:latin typeface="Amiri" pitchFamily="2" charset="-78"/>
                <a:cs typeface="Amiri" pitchFamily="2" charset="-78"/>
              </a:rPr>
              <a:t>عَلَى</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digital tools, actions, benefits and risks.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digital verbs with their fixed prepositions.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Balance a benefit and a risk with </a:t>
            </a:r>
            <a:pPr algn="l" indent="0" marL="0">
              <a:buNone/>
            </a:pPr>
            <a:r>
              <a:rPr lang="ar-SA" altLang="en-US" sz="1700" dirty="0">
                <a:solidFill>
                  <a:srgbClr val="1F2A37"/>
                </a:solidFill>
                <a:latin typeface="Amiri" pitchFamily="2" charset="-78"/>
                <a:cs typeface="Amiri" pitchFamily="2" charset="-78"/>
              </a:rPr>
              <a:t>مِنْ نَاحِيَةٍ … وَمِنْ نَاحِيَةٍ أُخْرَى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a qualified judgement about technology.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how I use technology.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four digital verbs with their preposition.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benefit and a risk.</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balance them with min nāḥiya … ukhrā.</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make a concession.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a qualified judgement (sharīṭata an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Digital tools and 2028 vocabulary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Online actions and their prepositions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Digital benefits and risks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مَعْلُومَاتٌ</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‎معلومات‎ </a:t>
            </a:r>
            <a:pPr indent="0" marL="0">
              <a:buNone/>
            </a:pPr>
            <a:r>
              <a:rPr lang="en-US" sz="950" b="1" dirty="0">
                <a:solidFill>
                  <a:srgbClr val="2E8B57"/>
                </a:solidFill>
                <a:latin typeface="Calibri" pitchFamily="34" charset="0"/>
                <a:cs typeface="Amiri" pitchFamily="2" charset="-78"/>
              </a:rPr>
              <a:t> maʿlūmāt · information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رَقْمِيٌّ</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‎رقم‎ </a:t>
            </a:r>
            <a:pPr indent="0" marL="0">
              <a:buNone/>
            </a:pPr>
            <a:r>
              <a:rPr lang="en-US" sz="950" b="1" dirty="0">
                <a:solidFill>
                  <a:srgbClr val="2E8B57"/>
                </a:solidFill>
                <a:latin typeface="Calibri" pitchFamily="34" charset="0"/>
                <a:cs typeface="Amiri" pitchFamily="2" charset="-78"/>
              </a:rPr>
              <a:t> raqam · number / amount → digital</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إِدْمَانٌ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‎عادت / لت‎ </a:t>
            </a:r>
            <a:pPr indent="0" marL="0">
              <a:buNone/>
            </a:pPr>
            <a:r>
              <a:rPr lang="en-US" sz="950" b="1" dirty="0">
                <a:solidFill>
                  <a:srgbClr val="2E8B57"/>
                </a:solidFill>
                <a:latin typeface="Calibri" pitchFamily="34" charset="0"/>
                <a:cs typeface="Amiri" pitchFamily="2" charset="-78"/>
              </a:rPr>
              <a:t> lat · addiction (meaning only)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أَمَانٌ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‎امان‎ </a:t>
            </a:r>
            <a:pPr indent="0" marL="0">
              <a:buNone/>
            </a:pPr>
            <a:r>
              <a:rPr lang="en-US" sz="950" b="1" dirty="0">
                <a:solidFill>
                  <a:srgbClr val="2E8B57"/>
                </a:solidFill>
                <a:latin typeface="Calibri" pitchFamily="34" charset="0"/>
                <a:cs typeface="Amiri" pitchFamily="2" charset="-78"/>
              </a:rPr>
              <a:t> amān · safety, security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تَعْلِيقٌ / يُعَلِّقُ</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‎تعلق‎ </a:t>
            </a:r>
            <a:pPr indent="0" marL="0">
              <a:buNone/>
            </a:pPr>
            <a:r>
              <a:rPr lang="en-US" sz="950" b="1" dirty="0">
                <a:solidFill>
                  <a:srgbClr val="2E8B57"/>
                </a:solidFill>
                <a:latin typeface="Calibri" pitchFamily="34" charset="0"/>
                <a:cs typeface="Amiri" pitchFamily="2" charset="-78"/>
              </a:rPr>
              <a:t> taʿalluq · Urdu: connection · Arabic: comment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Digital tools and 2028 vocabulary (1 of 2)</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الذَّكَاءُ الاصْطِنَاعِيُّ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artificial intelligence</a:t>
            </a:r>
            <a:endParaRPr lang="en-US" sz="1350" dirty="0"/>
          </a:p>
          <a:p>
            <a:pPr indent="0" marL="0">
              <a:buNone/>
            </a:pPr>
            <a:r>
              <a:rPr lang="en-US" sz="1100" i="1" dirty="0">
                <a:solidFill>
                  <a:srgbClr val="5A6472"/>
                </a:solidFill>
                <a:latin typeface="Calibri" pitchFamily="34" charset="0"/>
                <a:cs typeface="Amiri" pitchFamily="2" charset="-78"/>
              </a:rPr>
              <a:t>adh-dha-kā-ʾu alṣ-ṭi-nā-ʿiy-yu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cs typeface="Amiri" pitchFamily="2" charset="-78"/>
              </a:rPr>
              <a:t>كَلِمَةُ المُرُورِ / كَلِمَةُ السِّرِّ</a:t>
            </a:r>
            <a:endParaRPr lang="ar-SA" sz="29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password</a:t>
            </a:r>
            <a:endParaRPr lang="en-US" sz="1350" dirty="0"/>
          </a:p>
          <a:p>
            <a:pPr indent="0" marL="0">
              <a:buNone/>
            </a:pPr>
            <a:r>
              <a:rPr lang="en-US" sz="1100" i="1" dirty="0">
                <a:solidFill>
                  <a:srgbClr val="5A6472"/>
                </a:solidFill>
                <a:latin typeface="Calibri" pitchFamily="34" charset="0"/>
                <a:cs typeface="Amiri" pitchFamily="2" charset="-78"/>
              </a:rPr>
              <a:t>ka-li-ma-tu al-mu-rū-ri / ka-li-ma-tu as-sir-ri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عَلَامَةٌ تِجَارِيَّةٌ / مَارْكَةٌ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brand</a:t>
            </a:r>
            <a:endParaRPr lang="en-US" sz="1350" dirty="0"/>
          </a:p>
          <a:p>
            <a:pPr indent="0" marL="0">
              <a:buNone/>
            </a:pPr>
            <a:r>
              <a:rPr lang="en-US" sz="1100" i="1" dirty="0">
                <a:solidFill>
                  <a:srgbClr val="5A6472"/>
                </a:solidFill>
                <a:latin typeface="Calibri" pitchFamily="34" charset="0"/>
                <a:cs typeface="Amiri" pitchFamily="2" charset="-78"/>
              </a:rPr>
              <a:t>ʿa-lā-ma-tun ti-jā-riy-ya-tun / mār-ka-tun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التَّعَلُّمُ عَنْ بُعْدٍ</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distance learning</a:t>
            </a:r>
            <a:endParaRPr lang="en-US" sz="1350" dirty="0"/>
          </a:p>
          <a:p>
            <a:pPr indent="0" marL="0">
              <a:buNone/>
            </a:pPr>
            <a:r>
              <a:rPr lang="en-US" sz="1100" i="1" dirty="0">
                <a:solidFill>
                  <a:srgbClr val="5A6472"/>
                </a:solidFill>
                <a:latin typeface="Calibri" pitchFamily="34" charset="0"/>
                <a:cs typeface="Amiri" pitchFamily="2" charset="-78"/>
              </a:rPr>
              <a:t>at-ta-ʿal-lu-mu ʿan buʿ-din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مَوْقِعٌ إِلِكْتُرُونِيٌّ</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website</a:t>
            </a:r>
            <a:endParaRPr lang="en-US" sz="1350" dirty="0"/>
          </a:p>
          <a:p>
            <a:pPr indent="0" marL="0">
              <a:buNone/>
            </a:pPr>
            <a:r>
              <a:rPr lang="en-US" sz="1100" i="1" dirty="0">
                <a:solidFill>
                  <a:srgbClr val="5A6472"/>
                </a:solidFill>
                <a:latin typeface="Calibri" pitchFamily="34" charset="0"/>
                <a:cs typeface="Amiri" pitchFamily="2" charset="-78"/>
              </a:rPr>
              <a:t>maw-qi-ʿun i-lik-tu-rū-niy-yun</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Digital tools and 2028 vocabulary (2 of 2)</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تَطْبِيقٌ</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a:t>
            </a:r>
            <a:endParaRPr lang="en-US" sz="1350" dirty="0"/>
          </a:p>
          <a:p>
            <a:pPr indent="0" marL="0">
              <a:buNone/>
            </a:pPr>
            <a:r>
              <a:rPr lang="en-US" sz="1100" i="1" dirty="0">
                <a:solidFill>
                  <a:srgbClr val="5A6472"/>
                </a:solidFill>
                <a:latin typeface="Calibri" pitchFamily="34" charset="0"/>
                <a:cs typeface="Amiri" pitchFamily="2" charset="-78"/>
              </a:rPr>
              <a:t>taṭ-bī-qun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مِنَصَّةٌ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platform</a:t>
            </a:r>
            <a:endParaRPr lang="en-US" sz="1350" dirty="0"/>
          </a:p>
          <a:p>
            <a:pPr indent="0" marL="0">
              <a:buNone/>
            </a:pPr>
            <a:r>
              <a:rPr lang="en-US" sz="1100" i="1" dirty="0">
                <a:solidFill>
                  <a:srgbClr val="5A6472"/>
                </a:solidFill>
                <a:latin typeface="Calibri" pitchFamily="34" charset="0"/>
                <a:cs typeface="Amiri" pitchFamily="2" charset="-78"/>
              </a:rPr>
              <a:t>mi-naṣ-ṣa-tun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شَبَكَةٌ اجْتِمَاعِيَّةٌ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social network</a:t>
            </a:r>
            <a:endParaRPr lang="en-US" sz="1350" dirty="0"/>
          </a:p>
          <a:p>
            <a:pPr indent="0" marL="0">
              <a:buNone/>
            </a:pPr>
            <a:r>
              <a:rPr lang="en-US" sz="1100" i="1" dirty="0">
                <a:solidFill>
                  <a:srgbClr val="5A6472"/>
                </a:solidFill>
                <a:latin typeface="Calibri" pitchFamily="34" charset="0"/>
                <a:cs typeface="Amiri" pitchFamily="2" charset="-78"/>
              </a:rPr>
              <a:t>sha-ba-ka-tun aj-ti-mā-ʿiy-ya-tun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بَثٌّ مُبَاشِرٌ</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live stream</a:t>
            </a:r>
            <a:endParaRPr lang="en-US" sz="1350" dirty="0"/>
          </a:p>
          <a:p>
            <a:pPr indent="0" marL="0">
              <a:buNone/>
            </a:pPr>
            <a:r>
              <a:rPr lang="en-US" sz="1100" i="1" dirty="0">
                <a:solidFill>
                  <a:srgbClr val="5A6472"/>
                </a:solidFill>
                <a:latin typeface="Calibri" pitchFamily="34" charset="0"/>
                <a:cs typeface="Amiri" pitchFamily="2" charset="-78"/>
              </a:rPr>
              <a:t>bath-thun mu-bā-shi-run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مُدَوَّنَةٌ</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blog</a:t>
            </a:r>
            <a:endParaRPr lang="en-US" sz="1350" dirty="0"/>
          </a:p>
          <a:p>
            <a:pPr indent="0" marL="0">
              <a:buNone/>
            </a:pPr>
            <a:r>
              <a:rPr lang="en-US" sz="1100" i="1" dirty="0">
                <a:solidFill>
                  <a:srgbClr val="5A6472"/>
                </a:solidFill>
                <a:latin typeface="Calibri" pitchFamily="34" charset="0"/>
                <a:cs typeface="Amiri" pitchFamily="2" charset="-78"/>
              </a:rPr>
              <a:t>mu-daw-wa-na-tun</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Online actions and their prepositions (1 of 2)</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يَنْشُرُ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posts / publishes</a:t>
            </a:r>
            <a:endParaRPr lang="en-US" sz="1350" dirty="0"/>
          </a:p>
          <a:p>
            <a:pPr indent="0" marL="0">
              <a:buNone/>
            </a:pPr>
            <a:r>
              <a:rPr lang="en-US" sz="1100" i="1" dirty="0">
                <a:solidFill>
                  <a:srgbClr val="5A6472"/>
                </a:solidFill>
                <a:latin typeface="Calibri" pitchFamily="34" charset="0"/>
                <a:cs typeface="Amiri" pitchFamily="2" charset="-78"/>
              </a:rPr>
              <a:t>yan-shu-ru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تَنْشُرُ</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يَنْشُرُ</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أَنْشُرُ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يُحَمِّلُ</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uploads</a:t>
            </a:r>
            <a:endParaRPr lang="en-US" sz="1350" dirty="0"/>
          </a:p>
          <a:p>
            <a:pPr indent="0" marL="0">
              <a:buNone/>
            </a:pPr>
            <a:r>
              <a:rPr lang="en-US" sz="1100" i="1" dirty="0">
                <a:solidFill>
                  <a:srgbClr val="5A6472"/>
                </a:solidFill>
                <a:latin typeface="Calibri" pitchFamily="34" charset="0"/>
                <a:cs typeface="Amiri" pitchFamily="2" charset="-78"/>
              </a:rPr>
              <a:t>yu-ḥam-mi-lu</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تُحَمِّلُ</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يُحَمِّلُ</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أُحَمِّلُ</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2" name="Shape 49"/>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يُنَزِّلُ</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downloads</a:t>
            </a:r>
            <a:endParaRPr lang="en-US" sz="1350" dirty="0"/>
          </a:p>
          <a:p>
            <a:pPr indent="0" marL="0">
              <a:buNone/>
            </a:pPr>
            <a:r>
              <a:rPr lang="en-US" sz="1100" i="1" dirty="0">
                <a:solidFill>
                  <a:srgbClr val="5A6472"/>
                </a:solidFill>
                <a:latin typeface="Calibri" pitchFamily="34" charset="0"/>
                <a:cs typeface="Amiri" pitchFamily="2" charset="-78"/>
              </a:rPr>
              <a:t>yu-naz-zi-lu</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تُنَزِّلُ</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يُنَزِّلُ</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أُنَزِّلُ</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68" name="Text 6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يُرْسِلُ</a:t>
            </a:r>
            <a:endParaRPr lang="ar-SA" sz="3000" dirty="0"/>
          </a:p>
        </p:txBody>
      </p:sp>
      <p:sp>
        <p:nvSpPr>
          <p:cNvPr id="69" name="Text 6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sends</a:t>
            </a:r>
            <a:endParaRPr lang="en-US" sz="1350" dirty="0"/>
          </a:p>
          <a:p>
            <a:pPr indent="0" marL="0">
              <a:buNone/>
            </a:pPr>
            <a:r>
              <a:rPr lang="en-US" sz="1100" i="1" dirty="0">
                <a:solidFill>
                  <a:srgbClr val="5A6472"/>
                </a:solidFill>
                <a:latin typeface="Calibri" pitchFamily="34" charset="0"/>
                <a:cs typeface="Amiri" pitchFamily="2" charset="-78"/>
              </a:rPr>
              <a:t>yur-si-lu</a:t>
            </a:r>
            <a:endParaRPr lang="en-US" sz="135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73" name="Text 7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يُتَابِعُ</a:t>
            </a:r>
            <a:endParaRPr lang="ar-SA" sz="3000" dirty="0"/>
          </a:p>
        </p:txBody>
      </p:sp>
      <p:sp>
        <p:nvSpPr>
          <p:cNvPr id="74" name="Text 7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follows</a:t>
            </a:r>
            <a:endParaRPr lang="en-US" sz="1350" dirty="0"/>
          </a:p>
          <a:p>
            <a:pPr indent="0" marL="0">
              <a:buNone/>
            </a:pPr>
            <a:r>
              <a:rPr lang="en-US" sz="1100" i="1" dirty="0">
                <a:solidFill>
                  <a:srgbClr val="5A6472"/>
                </a:solidFill>
                <a:latin typeface="Calibri" pitchFamily="34" charset="0"/>
                <a:cs typeface="Amiri" pitchFamily="2" charset="-78"/>
              </a:rPr>
              <a:t>yu-tā-bi-ʿu</a:t>
            </a:r>
            <a:endParaRPr lang="en-US"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Online actions and their prepositions (2 of 2)</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يُشَارِكُ</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shares / participates</a:t>
            </a:r>
            <a:endParaRPr lang="en-US" sz="1350" dirty="0"/>
          </a:p>
          <a:p>
            <a:pPr indent="0" marL="0">
              <a:buNone/>
            </a:pPr>
            <a:r>
              <a:rPr lang="en-US" sz="1100" i="1" dirty="0">
                <a:solidFill>
                  <a:srgbClr val="5A6472"/>
                </a:solidFill>
                <a:latin typeface="Calibri" pitchFamily="34" charset="0"/>
                <a:cs typeface="Amiri" pitchFamily="2" charset="-78"/>
              </a:rPr>
              <a:t>yu-shā-ri-ku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3" name="Shape 2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يَتَفَاعَلُ مَعَ</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interacts with</a:t>
            </a:r>
            <a:endParaRPr lang="en-US" sz="1350" dirty="0"/>
          </a:p>
          <a:p>
            <a:pPr indent="0" marL="0">
              <a:buNone/>
            </a:pPr>
            <a:r>
              <a:rPr lang="en-US" sz="1100" i="1" dirty="0">
                <a:solidFill>
                  <a:srgbClr val="5A6472"/>
                </a:solidFill>
                <a:latin typeface="Calibri" pitchFamily="34" charset="0"/>
                <a:cs typeface="Amiri" pitchFamily="2" charset="-78"/>
              </a:rPr>
              <a:t>ya-ta-fā-ʿa-lu ma-ʿa</a:t>
            </a:r>
            <a:endParaRPr lang="en-US" sz="1350" dirty="0"/>
          </a:p>
        </p:txBody>
      </p:sp>
      <p:sp>
        <p:nvSpPr>
          <p:cNvPr id="29" name="Shape 2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1" name="Text 28"/>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تَتَفَاعَلُ</a:t>
            </a:r>
            <a:endParaRPr lang="ar-SA" sz="1500" dirty="0"/>
          </a:p>
        </p:txBody>
      </p:sp>
      <p:sp>
        <p:nvSpPr>
          <p:cNvPr id="32" name="Shape 2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4" name="Text 31"/>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يَتَفَاعَلُ</a:t>
            </a:r>
            <a:endParaRPr lang="ar-SA" sz="1500" dirty="0"/>
          </a:p>
        </p:txBody>
      </p:sp>
      <p:sp>
        <p:nvSpPr>
          <p:cNvPr id="35" name="Shape 3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7" name="Text 34"/>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أَتَفَاعَلُ</a:t>
            </a:r>
            <a:endParaRPr lang="ar-SA" sz="150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1" name="Shape 38"/>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يُعَلِّقُ عَلَى</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comments on</a:t>
            </a:r>
            <a:endParaRPr lang="en-US" sz="1350" dirty="0"/>
          </a:p>
          <a:p>
            <a:pPr indent="0" marL="0">
              <a:buNone/>
            </a:pPr>
            <a:r>
              <a:rPr lang="en-US" sz="1100" i="1" dirty="0">
                <a:solidFill>
                  <a:srgbClr val="5A6472"/>
                </a:solidFill>
                <a:latin typeface="Calibri" pitchFamily="34" charset="0"/>
                <a:cs typeface="Amiri" pitchFamily="2" charset="-78"/>
              </a:rPr>
              <a:t>yu-ʿal-li-qu ʿa-lā</a:t>
            </a:r>
            <a:endParaRPr lang="en-US" sz="1350" dirty="0"/>
          </a:p>
        </p:txBody>
      </p:sp>
      <p:sp>
        <p:nvSpPr>
          <p:cNvPr id="47" name="Shape 44"/>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9" name="Text 46"/>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تُعَلِّقُ</a:t>
            </a:r>
            <a:endParaRPr lang="ar-SA" sz="1500" dirty="0"/>
          </a:p>
        </p:txBody>
      </p:sp>
      <p:sp>
        <p:nvSpPr>
          <p:cNvPr id="50" name="Shape 47"/>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2" name="Text 49"/>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يُعَلِّقُ</a:t>
            </a:r>
            <a:endParaRPr lang="ar-SA" sz="1500" dirty="0"/>
          </a:p>
        </p:txBody>
      </p:sp>
      <p:sp>
        <p:nvSpPr>
          <p:cNvPr id="53" name="Shape 50"/>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5" name="Text 52"/>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أُعَلِّقُ</a:t>
            </a:r>
            <a:endParaRPr lang="ar-SA" sz="150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59" name="Shape 5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يَبْحَثُ عَنْ</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searches for</a:t>
            </a:r>
            <a:endParaRPr lang="en-US" sz="1350" dirty="0"/>
          </a:p>
          <a:p>
            <a:pPr indent="0" marL="0">
              <a:buNone/>
            </a:pPr>
            <a:r>
              <a:rPr lang="en-US" sz="1100" i="1" dirty="0">
                <a:solidFill>
                  <a:srgbClr val="5A6472"/>
                </a:solidFill>
                <a:latin typeface="Calibri" pitchFamily="34" charset="0"/>
                <a:cs typeface="Amiri" pitchFamily="2" charset="-78"/>
              </a:rPr>
              <a:t>yab-ḥa-thu ʿan</a:t>
            </a:r>
            <a:endParaRPr lang="en-US" sz="1350" dirty="0"/>
          </a:p>
        </p:txBody>
      </p:sp>
      <p:sp>
        <p:nvSpPr>
          <p:cNvPr id="65" name="Shape 62"/>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7" name="Text 64"/>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تَبْحَثُ</a:t>
            </a:r>
            <a:endParaRPr lang="ar-SA" sz="1500" dirty="0"/>
          </a:p>
        </p:txBody>
      </p:sp>
      <p:sp>
        <p:nvSpPr>
          <p:cNvPr id="68" name="Shape 65"/>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70" name="Text 67"/>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يَبْحَثُ</a:t>
            </a:r>
            <a:endParaRPr lang="ar-SA" sz="1500" dirty="0"/>
          </a:p>
        </p:txBody>
      </p:sp>
      <p:sp>
        <p:nvSpPr>
          <p:cNvPr id="71" name="Shape 68"/>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3" name="Text 70"/>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أَبْحَثُ</a:t>
            </a:r>
            <a:endParaRPr lang="ar-SA" sz="1500" dirty="0"/>
          </a:p>
        </p:txBody>
      </p:sp>
      <p:sp>
        <p:nvSpPr>
          <p:cNvPr id="74" name="Shape 7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4389120"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77" name="Text 7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يَعْتَمِدُ عَلَى</a:t>
            </a:r>
            <a:endParaRPr lang="ar-SA" sz="3000" dirty="0"/>
          </a:p>
        </p:txBody>
      </p:sp>
      <p:sp>
        <p:nvSpPr>
          <p:cNvPr id="78" name="Text 7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relies on</a:t>
            </a:r>
            <a:endParaRPr lang="en-US" sz="1350" dirty="0"/>
          </a:p>
          <a:p>
            <a:pPr indent="0" marL="0">
              <a:buNone/>
            </a:pPr>
            <a:r>
              <a:rPr lang="en-US" sz="1100" i="1" dirty="0">
                <a:solidFill>
                  <a:srgbClr val="5A6472"/>
                </a:solidFill>
                <a:latin typeface="Calibri" pitchFamily="34" charset="0"/>
                <a:cs typeface="Amiri" pitchFamily="2" charset="-78"/>
              </a:rPr>
              <a:t>yaʿ-ta-mi-du ʿa-lā</a:t>
            </a:r>
            <a:endParaRPr lang="en-US" sz="13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Digital benefits and risks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الخُصُوصِيَّةُ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privacy</a:t>
            </a:r>
            <a:endParaRPr lang="en-US" sz="1350" dirty="0"/>
          </a:p>
          <a:p>
            <a:pPr indent="0" marL="0">
              <a:buNone/>
            </a:pPr>
            <a:r>
              <a:rPr lang="en-US" sz="1100" i="1" dirty="0">
                <a:solidFill>
                  <a:srgbClr val="5A6472"/>
                </a:solidFill>
                <a:latin typeface="Calibri" pitchFamily="34" charset="0"/>
                <a:cs typeface="Amiri" pitchFamily="2" charset="-78"/>
              </a:rPr>
              <a:t>al-khu-ṣū-ṣiy-ya-tu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الأَمَانُ الرَّقْمِيُّ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digital security</a:t>
            </a:r>
            <a:endParaRPr lang="en-US" sz="1350" dirty="0"/>
          </a:p>
          <a:p>
            <a:pPr indent="0" marL="0">
              <a:buNone/>
            </a:pPr>
            <a:r>
              <a:rPr lang="en-US" sz="1100" i="1" dirty="0">
                <a:solidFill>
                  <a:srgbClr val="5A6472"/>
                </a:solidFill>
                <a:latin typeface="Calibri" pitchFamily="34" charset="0"/>
                <a:cs typeface="Amiri" pitchFamily="2" charset="-78"/>
              </a:rPr>
              <a:t>al-a-mā-nu ar-raq-miy-yu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مَعْلُومَاتٌ مُضَلِّلَةٌ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misinformation</a:t>
            </a:r>
            <a:endParaRPr lang="en-US" sz="1350" dirty="0"/>
          </a:p>
          <a:p>
            <a:pPr indent="0" marL="0">
              <a:buNone/>
            </a:pPr>
            <a:r>
              <a:rPr lang="en-US" sz="1100" i="1" dirty="0">
                <a:solidFill>
                  <a:srgbClr val="5A6472"/>
                </a:solidFill>
                <a:latin typeface="Calibri" pitchFamily="34" charset="0"/>
                <a:cs typeface="Amiri" pitchFamily="2" charset="-78"/>
              </a:rPr>
              <a:t>maʿ-lū-mā-tun mu-ḍal-li-la-tun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التَّنَمُّرُ الإِلِكْتُرُونِيُّ</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cyberbullying</a:t>
            </a:r>
            <a:endParaRPr lang="en-US" sz="1350" dirty="0"/>
          </a:p>
          <a:p>
            <a:pPr indent="0" marL="0">
              <a:buNone/>
            </a:pPr>
            <a:r>
              <a:rPr lang="en-US" sz="1100" i="1" dirty="0">
                <a:solidFill>
                  <a:srgbClr val="5A6472"/>
                </a:solidFill>
                <a:latin typeface="Calibri" pitchFamily="34" charset="0"/>
                <a:cs typeface="Amiri" pitchFamily="2" charset="-78"/>
              </a:rPr>
              <a:t>at-ta-nam-mu-ru al-i-lik-tu-rū-niy-yu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Digital benefits and risks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إِدْمَانُ الشَّاشَاتِ</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screen addiction</a:t>
            </a:r>
            <a:endParaRPr lang="en-US" sz="1350" dirty="0"/>
          </a:p>
          <a:p>
            <a:pPr indent="0" marL="0">
              <a:buNone/>
            </a:pPr>
            <a:r>
              <a:rPr lang="en-US" sz="1100" i="1" dirty="0">
                <a:solidFill>
                  <a:srgbClr val="5A6472"/>
                </a:solidFill>
                <a:latin typeface="Calibri" pitchFamily="34" charset="0"/>
                <a:cs typeface="Amiri" pitchFamily="2" charset="-78"/>
              </a:rPr>
              <a:t>id-mā-nu ash-shā-shā-ti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الصِّحَّةُ الرَّقْمِيَّةُ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digital wellbeing</a:t>
            </a:r>
            <a:endParaRPr lang="en-US" sz="1350" dirty="0"/>
          </a:p>
          <a:p>
            <a:pPr indent="0" marL="0">
              <a:buNone/>
            </a:pPr>
            <a:r>
              <a:rPr lang="en-US" sz="1100" i="1" dirty="0">
                <a:solidFill>
                  <a:srgbClr val="5A6472"/>
                </a:solidFill>
                <a:latin typeface="Calibri" pitchFamily="34" charset="0"/>
                <a:cs typeface="Amiri" pitchFamily="2" charset="-78"/>
              </a:rPr>
              <a:t>aṣ-ṣiḥ-ḥa-tu ar-raq-miy-ya-tu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نَاحِيَةٍ</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one hand</a:t>
            </a:r>
            <a:endParaRPr lang="en-US" sz="1350" dirty="0"/>
          </a:p>
          <a:p>
            <a:pPr indent="0" marL="0">
              <a:buNone/>
            </a:pPr>
            <a:r>
              <a:rPr lang="en-US" sz="1100" i="1" dirty="0">
                <a:solidFill>
                  <a:srgbClr val="5A6472"/>
                </a:solidFill>
                <a:latin typeface="Calibri" pitchFamily="34" charset="0"/>
                <a:cs typeface="Amiri" pitchFamily="2" charset="-78"/>
              </a:rPr>
              <a:t>min nā-ḥi-ya-tin</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نَاحِيَةٍ أُخْرَى</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nā-ḥi-ya-tin ukh-rā</a:t>
            </a:r>
            <a:endParaRPr lang="en-US" sz="13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FOCUS · PART 1 · VERB + FIXED PREPOSITION (WEBSITE RULES 1 AND 4)</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Learn the verb with its preposition</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الفِعْلُ وَحَرْفُ الجَرِّ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82219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preposition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345168" y="2267712"/>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interacts with</a:t>
            </a:r>
            <a:endParaRPr lang="en-US" sz="1100" dirty="0"/>
          </a:p>
        </p:txBody>
      </p:sp>
      <p:sp>
        <p:nvSpPr>
          <p:cNvPr id="21" name="Text 18"/>
          <p:cNvSpPr txBox="1"/>
          <p:nvPr/>
        </p:nvSpPr>
        <p:spPr>
          <a:xfrm>
            <a:off x="3840480" y="2286000"/>
            <a:ext cx="5303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يَتَفَاعَلُ الطُّلَّابُ </a:t>
            </a:r>
            <a:pPr rtl="1" algn="ctr" indent="0" marL="0">
              <a:buNone/>
            </a:pPr>
            <a:r>
              <a:rPr lang="ar-SA" altLang="en-US" sz="2100" b="1" dirty="0">
                <a:solidFill>
                  <a:srgbClr val="1D5FBF"/>
                </a:solidFill>
                <a:latin typeface="Amiri" pitchFamily="2" charset="-78"/>
                <a:cs typeface="Amiri" pitchFamily="2" charset="-78"/>
              </a:rPr>
              <a:t>مَعَ</a:t>
            </a:r>
            <a:pPr rtl="1" algn="ctr" indent="0" marL="0">
              <a:buNone/>
            </a:pPr>
            <a:r>
              <a:rPr lang="ar-SA" altLang="en-US" sz="2100" b="1" dirty="0">
                <a:solidFill>
                  <a:srgbClr val="1B3B6F"/>
                </a:solidFill>
                <a:latin typeface="Amiri" pitchFamily="2" charset="-78"/>
                <a:cs typeface="Amiri" pitchFamily="2" charset="-78"/>
              </a:rPr>
              <a:t> المُعَلِّمِ.</a:t>
            </a:r>
            <a:endParaRPr lang="ar-SA" sz="2100" dirty="0"/>
          </a:p>
        </p:txBody>
      </p:sp>
      <p:sp>
        <p:nvSpPr>
          <p:cNvPr id="22" name="Text 19"/>
          <p:cNvSpPr txBox="1"/>
          <p:nvPr/>
        </p:nvSpPr>
        <p:spPr>
          <a:xfrm>
            <a:off x="3794760" y="2706624"/>
            <a:ext cx="5394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Students interact with the teacher.</a:t>
            </a:r>
            <a:endParaRPr lang="en-US" sz="950" dirty="0"/>
          </a:p>
        </p:txBody>
      </p:sp>
      <p:sp>
        <p:nvSpPr>
          <p:cNvPr id="23" name="Text 20"/>
          <p:cNvSpPr txBox="1"/>
          <p:nvPr/>
        </p:nvSpPr>
        <p:spPr>
          <a:xfrm>
            <a:off x="548640" y="2267712"/>
            <a:ext cx="31089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يَتَفَاعَلُ </a:t>
            </a:r>
            <a:pPr rtl="1" algn="ctr" indent="0" marL="0">
              <a:buNone/>
            </a:pPr>
            <a:r>
              <a:rPr lang="ar-SA" altLang="en-US" sz="2400" b="1" dirty="0">
                <a:solidFill>
                  <a:srgbClr val="1D5FBF"/>
                </a:solidFill>
                <a:latin typeface="Amiri" pitchFamily="2" charset="-78"/>
                <a:cs typeface="Amiri" pitchFamily="2" charset="-78"/>
              </a:rPr>
              <a:t>مَعَ</a:t>
            </a:r>
            <a:endParaRPr lang="ar-SA" sz="24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345168" y="3054096"/>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comments on</a:t>
            </a:r>
            <a:endParaRPr lang="en-US" sz="1100" dirty="0"/>
          </a:p>
        </p:txBody>
      </p:sp>
      <p:sp>
        <p:nvSpPr>
          <p:cNvPr id="28" name="Text 25"/>
          <p:cNvSpPr txBox="1"/>
          <p:nvPr/>
        </p:nvSpPr>
        <p:spPr>
          <a:xfrm>
            <a:off x="3840480" y="3072384"/>
            <a:ext cx="5303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يُعَلِّقُ المُسْتَخْدِمُ </a:t>
            </a:r>
            <a:pPr rtl="1" algn="ctr" indent="0" marL="0">
              <a:buNone/>
            </a:pPr>
            <a:r>
              <a:rPr lang="ar-SA" altLang="en-US" sz="2100" b="1" dirty="0">
                <a:solidFill>
                  <a:srgbClr val="D6336C"/>
                </a:solidFill>
                <a:latin typeface="Amiri" pitchFamily="2" charset="-78"/>
                <a:cs typeface="Amiri" pitchFamily="2" charset="-78"/>
              </a:rPr>
              <a:t>عَلَى</a:t>
            </a:r>
            <a:pPr rtl="1" algn="ctr" indent="0" marL="0">
              <a:buNone/>
            </a:pPr>
            <a:r>
              <a:rPr lang="ar-SA" altLang="en-US" sz="2100" b="1" dirty="0">
                <a:solidFill>
                  <a:srgbClr val="1B3B6F"/>
                </a:solidFill>
                <a:latin typeface="Amiri" pitchFamily="2" charset="-78"/>
                <a:cs typeface="Amiri" pitchFamily="2" charset="-78"/>
              </a:rPr>
              <a:t> المَنْشُورِ.</a:t>
            </a:r>
            <a:endParaRPr lang="ar-SA" sz="2100" dirty="0"/>
          </a:p>
        </p:txBody>
      </p:sp>
      <p:sp>
        <p:nvSpPr>
          <p:cNvPr id="29" name="Text 26"/>
          <p:cNvSpPr txBox="1"/>
          <p:nvPr/>
        </p:nvSpPr>
        <p:spPr>
          <a:xfrm>
            <a:off x="3794760" y="3493008"/>
            <a:ext cx="5394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user comments on the post.</a:t>
            </a:r>
            <a:endParaRPr lang="en-US" sz="950" dirty="0"/>
          </a:p>
        </p:txBody>
      </p:sp>
      <p:sp>
        <p:nvSpPr>
          <p:cNvPr id="30" name="Text 27"/>
          <p:cNvSpPr txBox="1"/>
          <p:nvPr/>
        </p:nvSpPr>
        <p:spPr>
          <a:xfrm>
            <a:off x="548640" y="3054096"/>
            <a:ext cx="31089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يُعَلِّقُ </a:t>
            </a:r>
            <a:pPr rtl="1" algn="ctr" indent="0" marL="0">
              <a:buNone/>
            </a:pPr>
            <a:r>
              <a:rPr lang="ar-SA" altLang="en-US" sz="2400" b="1" dirty="0">
                <a:solidFill>
                  <a:srgbClr val="D6336C"/>
                </a:solidFill>
                <a:latin typeface="Amiri" pitchFamily="2" charset="-78"/>
                <a:cs typeface="Amiri" pitchFamily="2" charset="-78"/>
              </a:rPr>
              <a:t>عَلَى</a:t>
            </a:r>
            <a:endParaRPr lang="ar-SA" sz="240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9345168" y="3840480"/>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searches for</a:t>
            </a:r>
            <a:endParaRPr lang="en-US" sz="1100" dirty="0"/>
          </a:p>
        </p:txBody>
      </p:sp>
      <p:sp>
        <p:nvSpPr>
          <p:cNvPr id="35" name="Text 32"/>
          <p:cNvSpPr txBox="1"/>
          <p:nvPr/>
        </p:nvSpPr>
        <p:spPr>
          <a:xfrm>
            <a:off x="3840480" y="3858768"/>
            <a:ext cx="5303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أَبْحَثُ </a:t>
            </a:r>
            <a:pPr rtl="1" algn="ctr" indent="0" marL="0">
              <a:buNone/>
            </a:pPr>
            <a:r>
              <a:rPr lang="ar-SA" altLang="en-US" sz="2100" b="1" dirty="0">
                <a:solidFill>
                  <a:srgbClr val="0E7C86"/>
                </a:solidFill>
                <a:latin typeface="Amiri" pitchFamily="2" charset="-78"/>
                <a:cs typeface="Amiri" pitchFamily="2" charset="-78"/>
              </a:rPr>
              <a:t>عَنْ</a:t>
            </a:r>
            <a:pPr rtl="1" algn="ctr" indent="0" marL="0">
              <a:buNone/>
            </a:pPr>
            <a:r>
              <a:rPr lang="ar-SA" altLang="en-US" sz="2100" b="1" dirty="0">
                <a:solidFill>
                  <a:srgbClr val="1B3B6F"/>
                </a:solidFill>
                <a:latin typeface="Amiri" pitchFamily="2" charset="-78"/>
                <a:cs typeface="Amiri" pitchFamily="2" charset="-78"/>
              </a:rPr>
              <a:t> مَعْلُومَاتٍ لِلْوَاجِبِ.</a:t>
            </a:r>
            <a:endParaRPr lang="ar-SA" sz="2100" dirty="0"/>
          </a:p>
        </p:txBody>
      </p:sp>
      <p:sp>
        <p:nvSpPr>
          <p:cNvPr id="36" name="Text 33"/>
          <p:cNvSpPr txBox="1"/>
          <p:nvPr/>
        </p:nvSpPr>
        <p:spPr>
          <a:xfrm>
            <a:off x="3794760" y="4279392"/>
            <a:ext cx="5394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search for information for homework.</a:t>
            </a:r>
            <a:endParaRPr lang="en-US" sz="950" dirty="0"/>
          </a:p>
        </p:txBody>
      </p:sp>
      <p:sp>
        <p:nvSpPr>
          <p:cNvPr id="37" name="Text 34"/>
          <p:cNvSpPr txBox="1"/>
          <p:nvPr/>
        </p:nvSpPr>
        <p:spPr>
          <a:xfrm>
            <a:off x="548640" y="3840480"/>
            <a:ext cx="31089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يَبْحَثُ </a:t>
            </a:r>
            <a:pPr rtl="1" algn="ctr" indent="0" marL="0">
              <a:buNone/>
            </a:pPr>
            <a:r>
              <a:rPr lang="ar-SA" altLang="en-US" sz="2400" b="1" dirty="0">
                <a:solidFill>
                  <a:srgbClr val="0E7C86"/>
                </a:solidFill>
                <a:latin typeface="Amiri" pitchFamily="2" charset="-78"/>
                <a:cs typeface="Amiri" pitchFamily="2" charset="-78"/>
              </a:rPr>
              <a:t>عَنْ</a:t>
            </a:r>
            <a:endParaRPr lang="ar-SA" sz="2400" dirty="0"/>
          </a:p>
        </p:txBody>
      </p:sp>
      <p:sp>
        <p:nvSpPr>
          <p:cNvPr id="38" name="Shape 35"/>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1" name="Text 38"/>
          <p:cNvSpPr txBox="1"/>
          <p:nvPr/>
        </p:nvSpPr>
        <p:spPr>
          <a:xfrm>
            <a:off x="9345168" y="4626864"/>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relies on (+ -hi / -hā)</a:t>
            </a:r>
            <a:endParaRPr lang="en-US" sz="1100" dirty="0"/>
          </a:p>
        </p:txBody>
      </p:sp>
      <p:sp>
        <p:nvSpPr>
          <p:cNvPr id="42" name="Text 39"/>
          <p:cNvSpPr txBox="1"/>
          <p:nvPr/>
        </p:nvSpPr>
        <p:spPr>
          <a:xfrm>
            <a:off x="3840480" y="4645152"/>
            <a:ext cx="5303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لَا يَجِبُ أَنْ نَعْتَمِدَ </a:t>
            </a:r>
            <a:pPr rtl="1" algn="ctr" indent="0" marL="0">
              <a:buNone/>
            </a:pPr>
            <a:r>
              <a:rPr lang="ar-SA" altLang="en-US" sz="2100" b="1" dirty="0">
                <a:solidFill>
                  <a:srgbClr val="D6336C"/>
                </a:solidFill>
                <a:latin typeface="Amiri" pitchFamily="2" charset="-78"/>
                <a:cs typeface="Amiri" pitchFamily="2" charset="-78"/>
              </a:rPr>
              <a:t>عَلَيْهِ</a:t>
            </a:r>
            <a:pPr rtl="1" algn="ctr" indent="0" marL="0">
              <a:buNone/>
            </a:pPr>
            <a:r>
              <a:rPr lang="ar-SA" altLang="en-US" sz="2100" b="1" dirty="0">
                <a:solidFill>
                  <a:srgbClr val="1B3B6F"/>
                </a:solidFill>
                <a:latin typeface="Amiri" pitchFamily="2" charset="-78"/>
                <a:cs typeface="Amiri" pitchFamily="2" charset="-78"/>
              </a:rPr>
              <a:t> كُلِّيًّا.</a:t>
            </a:r>
            <a:endParaRPr lang="ar-SA" sz="2100" dirty="0"/>
          </a:p>
        </p:txBody>
      </p:sp>
      <p:sp>
        <p:nvSpPr>
          <p:cNvPr id="43" name="Text 40"/>
          <p:cNvSpPr txBox="1"/>
          <p:nvPr/>
        </p:nvSpPr>
        <p:spPr>
          <a:xfrm>
            <a:off x="3794760" y="5065776"/>
            <a:ext cx="5394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must not rely on it completely.</a:t>
            </a:r>
            <a:endParaRPr lang="en-US" sz="950" dirty="0"/>
          </a:p>
        </p:txBody>
      </p:sp>
      <p:sp>
        <p:nvSpPr>
          <p:cNvPr id="44" name="Text 41"/>
          <p:cNvSpPr txBox="1"/>
          <p:nvPr/>
        </p:nvSpPr>
        <p:spPr>
          <a:xfrm>
            <a:off x="548640" y="4626864"/>
            <a:ext cx="31089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يَعْتَمِدُ </a:t>
            </a:r>
            <a:pPr rtl="1" algn="ctr" indent="0" marL="0">
              <a:buNone/>
            </a:pPr>
            <a:r>
              <a:rPr lang="ar-SA" altLang="en-US" sz="2400" b="1" dirty="0">
                <a:solidFill>
                  <a:srgbClr val="D6336C"/>
                </a:solidFill>
                <a:latin typeface="Amiri" pitchFamily="2" charset="-78"/>
                <a:cs typeface="Amiri" pitchFamily="2" charset="-78"/>
              </a:rPr>
              <a:t>عَلَى</a:t>
            </a:r>
            <a:endParaRPr lang="ar-SA" sz="24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Refer back with the right pronoun: ʿalayhi (m.: al-mawqiʿ) · fīhā / ʿalayhā (f.: al-minaṣṣa).</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BALANCE AND CONCESSION (WEBSITE RULES 2–3)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On one hand … on the other … — but …</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نَاحِيَةٍ · عَلَى الرَّغْمِ مِنْ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E7B4F"/>
          </a:solidFill>
          <a:ln w="12700">
            <a:solidFill>
              <a:srgbClr val="1E7B4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BENEFIT · DEVELOP</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 نَاحِيَةٍ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مِنْ نَاحِيَةٍ، يُسَهِّلُ التَّعَلُّمُ عَنْ بُعْدٍ الوُصُولَ إِلَى الدُّرُوسِ،</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 the one hand, distance learning makes lessons easy to access,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first side.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B83227"/>
          </a:solidFill>
          <a:ln w="12700">
            <a:solidFill>
              <a:srgbClr val="B83227"/>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RISK · DEVELOP</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وَمِنْ نَاحِيَةٍ أُخْرَى</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وَمِنْ نَاحِيَةٍ أُخْرَى، قَدْ يَزِيدُ وَقْتَ الشَّاشَةِ.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 the other hand, it may increase screen time.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other side.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6459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CONCESSION · STRETCH</a:t>
            </a:r>
            <a:endParaRPr lang="en-US" sz="850" dirty="0"/>
          </a:p>
        </p:txBody>
      </p:sp>
      <p:sp>
        <p:nvSpPr>
          <p:cNvPr id="34" name="Text 31"/>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عَلَى الرَّغْمِ مِنْ أَنَّ … فَـ</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cs typeface="Amiri" pitchFamily="2" charset="-78"/>
              </a:rPr>
              <a:t>عَلَى الرَّغْمِ مِنْ أَنَّ الذَّكَاءَ الاصْطِنَاعِيَّ مُفِيدٌ، فَلَا يَجِبُ أَنْ نَعْتَمِدَ عَلَيْهِ كُلِّيًّا.</a:t>
            </a:r>
            <a:endParaRPr lang="ar-SA" sz="20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Although AI is useful, we must not rely on it completely.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full connector.</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the complete connector is ʿalā al-raghmi MIN anna.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عَلَى الرَّغْمِ مِنْ أَنَّ …</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cs typeface="Amiri" pitchFamily="2" charset="-78"/>
              </a:rPr>
              <a:t>عَلَى الرَّغْمِ أَنَّ …</a:t>
            </a:r>
            <a:endParaRPr lang="ar-SA" sz="23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Grammar and collocations of the digital world</a:t>
            </a:r>
            <a:endParaRPr lang="en-US" sz="20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cs typeface="Amiri" pitchFamily="2" charset="-78"/>
              </a:rPr>
              <a:t>قَوَاعِدُ العَالَمِ الرَّقْمِيِّ وَمُتَلَازِمَاتُهُ</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Keep the verb with its required preposition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verb + fixed preposition</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يَتَفَاعَلُ الطُّلَّابُ مَعَ المُعَلِّمِ.   ·   يُعَلِّقُ المُسْتَخْدِمُ عَلَى المَنْشُورِ.</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Balanced contrast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مِنْ نَاحِيَةٍ ... وَمِنْ نَاحِيَةٍ أُخْرَى ...</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مِنْ نَاحِيَةٍ، يُسَهِّلُ التَّعَلُّمُ عَنْ بُعْدٍ الوُصُولَ إِلَى الدُّرُوسِ، وَمِنْ نَاحِيَةٍ أُخْرَى، قَدْ يَزِيدُ وَقْتَ الشَّاشَةِ.</a:t>
            </a:r>
            <a:endParaRPr lang="ar-SA" sz="18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Concession with </a:t>
            </a:r>
            <a:pPr algn="l" indent="0" marL="0">
              <a:buNone/>
            </a:pPr>
            <a:r>
              <a:rPr lang="ar-SA" altLang="en-US" sz="1650" b="1" dirty="0">
                <a:solidFill>
                  <a:srgbClr val="1B3B6F"/>
                </a:solidFill>
                <a:latin typeface="Amiri" pitchFamily="2" charset="-78"/>
                <a:cs typeface="Amiri" pitchFamily="2" charset="-78"/>
              </a:rPr>
              <a:t>عَلَى الرَّغْمِ مِنْ أَنَّ</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عَلَى الرَّغْمِ مِنْ أَنَّ</a:t>
            </a:r>
            <a:pPr algn="l" indent="0" marL="0">
              <a:buNone/>
            </a:pPr>
            <a:r>
              <a:rPr lang="en-US" sz="1050" dirty="0">
                <a:solidFill>
                  <a:srgbClr val="5A6472"/>
                </a:solidFill>
                <a:latin typeface="Calibri" pitchFamily="34" charset="0"/>
                <a:cs typeface="Amiri" pitchFamily="2" charset="-78"/>
              </a:rPr>
              <a:t> + nominal clause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عَلَى الرَّغْمِ مِنْ أَنَّ الذَّكَاءَ الاصْطِنَاعِيَّ مُفِيدٌ، فَلَا يَجِبُ أَنْ نَعْتَمِدَ عَلَيْهِ كُلِّيًّا.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Pronoun reference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preposition + attached pronoun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المَوْقِعُ مُفِيدٌ، وَلٰكِنْ يَجِبُ التَّحَقُّقُ مِمَّا يُنْشَرُ عَلَيْهِ.   ·   المِنَصَّةُ آمِنَةٌ إِذَا حَافَظْنَا عَلَى خُصُوصِيَّتِنَا فِيهَا.</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preposition.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يَتَفَاعَلُ الطُّلَّابُ عَلَى المُعَلِّمِ.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يَتَفَاعَلُ الطُّلَّابُ عَنْ المُعَلِّمِ.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يَتَفَاعَلُ الطُّلَّابُ مَعَ المُعَلِّمِ.</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يُعَلِّقُ عَلَى المَنْشُورِ.</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يُعَلِّقُ مِنَ المَنْشُورِ.</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يُعَلِّقُ مَعَ المَنْشُورِ.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concession.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الرَّغْمِ التِّقْنِيَّةُ مُفِيدَةٌ، لَهَا مَخَاطِرُ.</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الرَّغْمِ مِنْ أَنَّ التِّقْنِيَّةَ مُفِيدَةٌ، فَلَهَا مَخَاطِرُ.</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الرَّغْمِ مِنْ التِّقْنِيَّةَ أَنَّ مُفِيدَةٌ.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Refer back to </a:t>
            </a:r>
            <a:pPr algn="l" indent="0" marL="0">
              <a:buNone/>
            </a:pPr>
            <a:r>
              <a:rPr lang="ar-SA" altLang="en-US" sz="1650" b="1" dirty="0">
                <a:solidFill>
                  <a:srgbClr val="1B3B6F"/>
                </a:solidFill>
                <a:latin typeface="Amiri" pitchFamily="2" charset="-78"/>
                <a:cs typeface="Amiri" pitchFamily="2" charset="-78"/>
              </a:rPr>
              <a:t>المِنَصَّةُ</a:t>
            </a:r>
            <a:pPr algn="l" indent="0" marL="0">
              <a:buNone/>
            </a:pPr>
            <a:r>
              <a:rPr lang="en-US" sz="1250" b="1" dirty="0">
                <a:solidFill>
                  <a:srgbClr val="1B3B6F"/>
                </a:solidFill>
                <a:latin typeface="Calibri" pitchFamily="34" charset="0"/>
                <a:cs typeface="Amiri" pitchFamily="2" charset="-78"/>
              </a:rPr>
              <a:t> accurately.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نَحْفَظُ بَيَانَاتِنَا فِيهَا.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نَحْفَظُ بَيَانَاتِنَا عَلَيْهِمَا.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نَحْفَظُ بَيَانَاتِنَا فِيهِ.</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preposition.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يَتَفَاعَلُ الطُّلَّابُ عَلَى المُعَلِّمِ.</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يَتَفَاعَلُ الطُّلَّابُ عَنْ المُعَلِّمِ.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يَتَفَاعَلُ الطُّلَّابُ مَعَ المُعَلِّمِ.</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يتفاعل</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يُعَلِّقُ عَلَى المَنْشُورِ.</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يُعَلِّقُ مِنَ المَنْشُورِ.</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يُعَلِّقُ مَعَ المَنْشُورِ.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يعلق</a:t>
            </a:r>
            <a:pPr algn="l" indent="0" marL="0">
              <a:buNone/>
            </a:pPr>
            <a:r>
              <a:rPr lang="en-US" sz="1050" i="1" dirty="0">
                <a:solidFill>
                  <a:srgbClr val="8A6D1E"/>
                </a:solidFill>
                <a:latin typeface="Calibri" pitchFamily="34" charset="0"/>
                <a:cs typeface="Amiri" pitchFamily="2" charset="-78"/>
              </a:rPr>
              <a:t> governs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concession.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 الرَّغْمِ التِّقْنِيَّةُ مُفِيدَةٌ، لَهَا مَخَاطِرُ.</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 الرَّغْمِ مِنْ أَنَّ التِّقْنِيَّةَ مُفِيدَةٌ، فَلَهَا مَخَاطِرُ.</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 الرَّغْمِ مِنْ التِّقْنِيَّةَ أَنَّ مُفِيدَةٌ.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pattern is </a:t>
            </a:r>
            <a:pPr algn="l" indent="0" marL="0">
              <a:buNone/>
            </a:pPr>
            <a:r>
              <a:rPr lang="ar-SA" altLang="en-US" sz="1350" dirty="0">
                <a:solidFill>
                  <a:srgbClr val="8A6D1E"/>
                </a:solidFill>
                <a:latin typeface="Amiri" pitchFamily="2" charset="-78"/>
                <a:cs typeface="Amiri" pitchFamily="2" charset="-78"/>
              </a:rPr>
              <a:t>على الرغم من أن</a:t>
            </a:r>
            <a:pPr algn="l" indent="0" marL="0">
              <a:buNone/>
            </a:pPr>
            <a:r>
              <a:rPr lang="en-US" sz="1050" i="1" dirty="0">
                <a:solidFill>
                  <a:srgbClr val="8A6D1E"/>
                </a:solidFill>
                <a:latin typeface="Calibri" pitchFamily="34" charset="0"/>
                <a:cs typeface="Amiri" pitchFamily="2" charset="-78"/>
              </a:rPr>
              <a:t> + clause.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Refer back to </a:t>
            </a:r>
            <a:pPr algn="l" indent="0" marL="0">
              <a:buNone/>
            </a:pPr>
            <a:r>
              <a:rPr lang="ar-SA" altLang="en-US" sz="1650" b="1" dirty="0">
                <a:solidFill>
                  <a:srgbClr val="1B3B6F"/>
                </a:solidFill>
                <a:latin typeface="Amiri" pitchFamily="2" charset="-78"/>
                <a:cs typeface="Amiri" pitchFamily="2" charset="-78"/>
              </a:rPr>
              <a:t>المِنَصَّةُ</a:t>
            </a:r>
            <a:pPr algn="l" indent="0" marL="0">
              <a:buNone/>
            </a:pPr>
            <a:r>
              <a:rPr lang="en-US" sz="1250" b="1" dirty="0">
                <a:solidFill>
                  <a:srgbClr val="1B3B6F"/>
                </a:solidFill>
                <a:latin typeface="Calibri" pitchFamily="34" charset="0"/>
                <a:cs typeface="Amiri" pitchFamily="2" charset="-78"/>
              </a:rPr>
              <a:t> accurately.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نَحْفَظُ بَيَانَاتِنَا فِيهَا.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نَحْفَظُ بَيَانَاتِنَا عَلَيْهِمَا.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نَحْفَظُ بَيَانَاتِنَا فِيهِ.</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منصة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cs typeface="Amiri" pitchFamily="2" charset="-78"/>
              </a:rPr>
              <a:t>فيها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Watch me evaluate distance learning</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 I use it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أَسْتَخْدِمُ مِنَصَّةً وَ</a:t>
            </a:r>
            <a:pPr rtl="1" algn="ctr" indent="0" marL="0">
              <a:lnSpc>
                <a:spcPct val="120000"/>
              </a:lnSpc>
              <a:buNone/>
            </a:pPr>
            <a:r>
              <a:rPr lang="ar-SA" altLang="en-US" sz="1750" b="1" dirty="0">
                <a:solidFill>
                  <a:srgbClr val="1D5FBF"/>
                </a:solidFill>
                <a:latin typeface="Amiri" pitchFamily="2" charset="-78"/>
                <a:cs typeface="Amiri" pitchFamily="2" charset="-78"/>
              </a:rPr>
              <a:t>أَتَفَاعَلُ مَعَ</a:t>
            </a:r>
            <a:pPr rtl="1" algn="ctr" indent="0" marL="0">
              <a:lnSpc>
                <a:spcPct val="120000"/>
              </a:lnSpc>
              <a:buNone/>
            </a:pPr>
            <a:r>
              <a:rPr lang="ar-SA" altLang="en-US" sz="1750" b="1" dirty="0">
                <a:solidFill>
                  <a:srgbClr val="1B3B6F"/>
                </a:solidFill>
                <a:latin typeface="Amiri" pitchFamily="2" charset="-78"/>
                <a:cs typeface="Amiri" pitchFamily="2" charset="-78"/>
              </a:rPr>
              <a:t> المُعَلِّمِ.</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Verb + its preposition.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Benefit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مِنْ نَاحِيَةٍ</a:t>
            </a:r>
            <a:pPr rtl="1" algn="ctr" indent="0" marL="0">
              <a:lnSpc>
                <a:spcPct val="120000"/>
              </a:lnSpc>
              <a:buNone/>
            </a:pPr>
            <a:r>
              <a:rPr lang="ar-SA" altLang="en-US" sz="1750" b="1" dirty="0">
                <a:solidFill>
                  <a:srgbClr val="1B3B6F"/>
                </a:solidFill>
                <a:latin typeface="Amiri" pitchFamily="2" charset="-78"/>
                <a:cs typeface="Amiri" pitchFamily="2" charset="-78"/>
              </a:rPr>
              <a:t>، تُسَاعِدُنِي عَلَى التَّعَلُّمِ فِي أَيِّ مَكَانٍ.</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First side.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Risk</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وَمِنْ نَاحِيَةٍ أُخْرَى</a:t>
            </a:r>
            <a:pPr rtl="1" algn="ctr" indent="0" marL="0">
              <a:lnSpc>
                <a:spcPct val="120000"/>
              </a:lnSpc>
              <a:buNone/>
            </a:pPr>
            <a:r>
              <a:rPr lang="ar-SA" altLang="en-US" sz="1750" b="1" dirty="0">
                <a:solidFill>
                  <a:srgbClr val="1B3B6F"/>
                </a:solidFill>
                <a:latin typeface="Amiri" pitchFamily="2" charset="-78"/>
                <a:cs typeface="Amiri" pitchFamily="2" charset="-78"/>
              </a:rPr>
              <a:t>، قَدْ تَزِيدُ وَقْتَ الشَّاشَةِ.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Other side.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Judgement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أُؤَيِّدُهَا </a:t>
            </a:r>
            <a:pPr rtl="1" algn="ctr" indent="0" marL="0">
              <a:lnSpc>
                <a:spcPct val="120000"/>
              </a:lnSpc>
              <a:buNone/>
            </a:pPr>
            <a:r>
              <a:rPr lang="ar-SA" altLang="en-US" sz="1750" b="1" dirty="0">
                <a:solidFill>
                  <a:srgbClr val="D6336C"/>
                </a:solidFill>
                <a:latin typeface="Amiri" pitchFamily="2" charset="-78"/>
                <a:cs typeface="Amiri" pitchFamily="2" charset="-78"/>
              </a:rPr>
              <a:t>شَرِيطَةَ أَنْ</a:t>
            </a:r>
            <a:pPr rtl="1" algn="ctr" indent="0" marL="0">
              <a:lnSpc>
                <a:spcPct val="120000"/>
              </a:lnSpc>
              <a:buNone/>
            </a:pPr>
            <a:r>
              <a:rPr lang="ar-SA" altLang="en-US" sz="1750" b="1" dirty="0">
                <a:solidFill>
                  <a:srgbClr val="1B3B6F"/>
                </a:solidFill>
                <a:latin typeface="Amiri" pitchFamily="2" charset="-78"/>
                <a:cs typeface="Amiri" pitchFamily="2" charset="-78"/>
              </a:rPr>
              <a:t> نَسْتَخْدِمَهَا بِوَعْيٍ.</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Qualified.</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 + PREP.</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BALANCE</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CONDITION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أَسْتَخْدِمُ مِنَصَّةً لِلتَّعَلُّمِ عَنْ بُعْدٍ ثَلَاثَ مَرَّاتٍ فِي الأُسْبُوعِ. </a:t>
            </a:r>
            <a:pPr rtl="1" algn="r" indent="0" marL="0">
              <a:lnSpc>
                <a:spcPct val="120000"/>
              </a:lnSpc>
              <a:buNone/>
            </a:pPr>
            <a:r>
              <a:rPr lang="ar-SA" altLang="en-US" sz="1400" b="1" dirty="0">
                <a:solidFill>
                  <a:srgbClr val="1D5FBF"/>
                </a:solidFill>
                <a:latin typeface="Amiri" pitchFamily="2" charset="-78"/>
                <a:cs typeface="Amiri" pitchFamily="2" charset="-78"/>
              </a:rPr>
              <a:t>أَتَفَاعَلُ مَعَ</a:t>
            </a:r>
            <a:pPr rtl="1" algn="r" indent="0" marL="0">
              <a:lnSpc>
                <a:spcPct val="120000"/>
              </a:lnSpc>
              <a:buNone/>
            </a:pPr>
            <a:r>
              <a:rPr lang="ar-SA" altLang="en-US" sz="1400" b="1" dirty="0">
                <a:solidFill>
                  <a:srgbClr val="1B3B6F"/>
                </a:solidFill>
                <a:latin typeface="Amiri" pitchFamily="2" charset="-78"/>
                <a:cs typeface="Amiri" pitchFamily="2" charset="-78"/>
              </a:rPr>
              <a:t> المُعَلِّمِ، وَ</a:t>
            </a:r>
            <a:pPr rtl="1" algn="r" indent="0" marL="0">
              <a:lnSpc>
                <a:spcPct val="120000"/>
              </a:lnSpc>
              <a:buNone/>
            </a:pPr>
            <a:r>
              <a:rPr lang="ar-SA" altLang="en-US" sz="1400" b="1" dirty="0">
                <a:solidFill>
                  <a:srgbClr val="1D5FBF"/>
                </a:solidFill>
                <a:latin typeface="Amiri" pitchFamily="2" charset="-78"/>
                <a:cs typeface="Amiri" pitchFamily="2" charset="-78"/>
              </a:rPr>
              <a:t>أُعَلِّقُ عَلَى</a:t>
            </a:r>
            <a:pPr rtl="1" algn="r" indent="0" marL="0">
              <a:lnSpc>
                <a:spcPct val="120000"/>
              </a:lnSpc>
              <a:buNone/>
            </a:pPr>
            <a:r>
              <a:rPr lang="ar-SA" altLang="en-US" sz="1400" b="1" dirty="0">
                <a:solidFill>
                  <a:srgbClr val="1B3B6F"/>
                </a:solidFill>
                <a:latin typeface="Amiri" pitchFamily="2" charset="-78"/>
                <a:cs typeface="Amiri" pitchFamily="2" charset="-78"/>
              </a:rPr>
              <a:t> أَفْكَارِ زُمَلَائِي. </a:t>
            </a:r>
            <a:pPr rtl="1" algn="r" indent="0" marL="0">
              <a:lnSpc>
                <a:spcPct val="120000"/>
              </a:lnSpc>
              <a:buNone/>
            </a:pPr>
            <a:r>
              <a:rPr lang="ar-SA" altLang="en-US" sz="1400" b="1" dirty="0">
                <a:solidFill>
                  <a:srgbClr val="0E7C86"/>
                </a:solidFill>
                <a:latin typeface="Amiri" pitchFamily="2" charset="-78"/>
                <a:cs typeface="Amiri" pitchFamily="2" charset="-78"/>
              </a:rPr>
              <a:t>مِنْ نَاحِيَةٍ</a:t>
            </a:r>
            <a:pPr rtl="1" algn="r" indent="0" marL="0">
              <a:lnSpc>
                <a:spcPct val="120000"/>
              </a:lnSpc>
              <a:buNone/>
            </a:pPr>
            <a:r>
              <a:rPr lang="ar-SA" altLang="en-US" sz="1400" b="1" dirty="0">
                <a:solidFill>
                  <a:srgbClr val="1B3B6F"/>
                </a:solidFill>
                <a:latin typeface="Amiri" pitchFamily="2" charset="-78"/>
                <a:cs typeface="Amiri" pitchFamily="2" charset="-78"/>
              </a:rPr>
              <a:t>، تُسَاعِدُنِي المِنَصَّةُ عَلَى التَّعَلُّمِ فِي أَيِّ مَكَانٍ، </a:t>
            </a:r>
            <a:pPr rtl="1" algn="r" indent="0" marL="0">
              <a:lnSpc>
                <a:spcPct val="120000"/>
              </a:lnSpc>
              <a:buNone/>
            </a:pPr>
            <a:r>
              <a:rPr lang="ar-SA" altLang="en-US" sz="1400" b="1" dirty="0">
                <a:solidFill>
                  <a:srgbClr val="0E7C86"/>
                </a:solidFill>
                <a:latin typeface="Amiri" pitchFamily="2" charset="-78"/>
                <a:cs typeface="Amiri" pitchFamily="2" charset="-78"/>
              </a:rPr>
              <a:t>وَمِنْ نَاحِيَةٍ أُخْرَى</a:t>
            </a:r>
            <a:pPr rtl="1" algn="r" indent="0" marL="0">
              <a:lnSpc>
                <a:spcPct val="120000"/>
              </a:lnSpc>
              <a:buNone/>
            </a:pPr>
            <a:r>
              <a:rPr lang="ar-SA" altLang="en-US" sz="1400" b="1" dirty="0">
                <a:solidFill>
                  <a:srgbClr val="1B3B6F"/>
                </a:solidFill>
                <a:latin typeface="Amiri" pitchFamily="2" charset="-78"/>
                <a:cs typeface="Amiri" pitchFamily="2" charset="-78"/>
              </a:rPr>
              <a:t>، أَحْتَاجُ إِلَى تَقْلِيلِ وَقْتِ الشَّاشَةِ. فِي رَأْيِي، هِيَ مُفِيدَةٌ </a:t>
            </a:r>
            <a:pPr rtl="1" algn="r" indent="0" marL="0">
              <a:lnSpc>
                <a:spcPct val="120000"/>
              </a:lnSpc>
              <a:buNone/>
            </a:pPr>
            <a:r>
              <a:rPr lang="ar-SA" altLang="en-US" sz="1400" b="1" dirty="0">
                <a:solidFill>
                  <a:srgbClr val="D6336C"/>
                </a:solidFill>
                <a:latin typeface="Amiri" pitchFamily="2" charset="-78"/>
                <a:cs typeface="Amiri" pitchFamily="2" charset="-78"/>
              </a:rPr>
              <a:t>شَرِيطَةَ أَنْ</a:t>
            </a:r>
            <a:pPr rtl="1" algn="r" indent="0" marL="0">
              <a:lnSpc>
                <a:spcPct val="120000"/>
              </a:lnSpc>
              <a:buNone/>
            </a:pPr>
            <a:r>
              <a:rPr lang="ar-SA" altLang="en-US" sz="1400" b="1" dirty="0">
                <a:solidFill>
                  <a:srgbClr val="1B3B6F"/>
                </a:solidFill>
                <a:latin typeface="Amiri" pitchFamily="2" charset="-78"/>
                <a:cs typeface="Amiri" pitchFamily="2" charset="-78"/>
              </a:rPr>
              <a:t> نَسْتَخْدِمَهَا بِوَعْيٍ.</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use a distance-learning platform three times a week. I interact with the teacher and comment on my classmates’ ideas. On the one hand, the platform helps me learn anywhere; on the other hand, I need to reduce my screen time. In my opinion, it is useful provided that we use it consciously.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يَتَفَاعَلُ الطُّلَّابُ مَعَ المُعَلِّمِ.</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Students interact with the teacher.</a:t>
            </a:r>
            <a:endParaRPr lang="en-US" sz="1250" dirty="0"/>
          </a:p>
          <a:p>
            <a:pPr indent="0" marL="0">
              <a:buNone/>
            </a:pPr>
            <a:r>
              <a:rPr lang="en-US" sz="1050" i="1" dirty="0">
                <a:solidFill>
                  <a:srgbClr val="8A6D1E"/>
                </a:solidFill>
                <a:latin typeface="Calibri" pitchFamily="34" charset="0"/>
                <a:cs typeface="Amiri" pitchFamily="2" charset="-78"/>
              </a:rPr>
              <a:t>Arabic digital verbs often govern a specific preposition. Changing it makes the phrase inaccurate.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مِنْ نَاحِيَةٍ، يُسَهِّلُ التَّعَلُّمُ عَنْ بُعْدٍ الوُصُولَ إِلَى الدُّرُوسِ، وَمِنْ نَاحِيَةٍ أُخْرَى، قَدْ يَزِيدُ وَقْتَ الشَّاشَةِ.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On the one hand, distance learning makes lessons accessible; on the other hand, it may increase screen time.</a:t>
            </a:r>
            <a:endParaRPr lang="en-US" sz="1250" dirty="0"/>
          </a:p>
          <a:p>
            <a:pPr indent="0" marL="0">
              <a:buNone/>
            </a:pPr>
            <a:r>
              <a:rPr lang="en-US" sz="1050" i="1" dirty="0">
                <a:solidFill>
                  <a:srgbClr val="8A6D1E"/>
                </a:solidFill>
                <a:latin typeface="Calibri" pitchFamily="34" charset="0"/>
                <a:cs typeface="Amiri" pitchFamily="2" charset="-78"/>
              </a:rPr>
              <a:t>Present a benefit and a limitation before reaching a judgement.</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عَلَى الرَّغْمِ مِنْ أَنَّ الذَّكَاءَ الاصْطِنَاعِيَّ مُفِيدٌ، فَلَا يَجِبُ أَنْ نَعْتَمِدَ عَلَيْهِ كُلِّيًّا.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Although artificial intelligence is useful, we must not rely on it completely.</a:t>
            </a:r>
            <a:endParaRPr lang="en-US" sz="1250" dirty="0"/>
          </a:p>
          <a:p>
            <a:pPr indent="0" marL="0">
              <a:buNone/>
            </a:pPr>
            <a:r>
              <a:rPr lang="en-US" sz="1050" i="1" dirty="0">
                <a:solidFill>
                  <a:srgbClr val="8A6D1E"/>
                </a:solidFill>
                <a:latin typeface="Calibri" pitchFamily="34" charset="0"/>
                <a:cs typeface="Amiri" pitchFamily="2" charset="-78"/>
              </a:rPr>
              <a:t>Use أَنَّ with a noun or attached pronoun; the sentence that follows states the unexpected contrast.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THE DIGITAL WORLD — TECHNOLOGY AND SOCIAL MEDIA”</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How do we use technology? Match the picture</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العَالَمُ الرَّقْمِيُّ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phone · chatting</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lock · protection</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robot · idea</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يَجِبُ أَنْ نَحْمِيَ خُصُوصِيَّتَنَا عَلَى الإِنْتَرْنِتِ.</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الذَّكَاءُ الاصْطِنَاعِيُّ يُسَاعِدُ فِي حَلِّ بَعْضِ المُشْكِلَاتِ.</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أَسْتَخْدِمُ الهَاتِفَ لِلتَّوَاصُلِ.</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العَالَمُ الرَّقْمِيُّ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phone · chatting</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أَسْتَخْدِمُ الهَاتِفَ لِلتَّوَاصُلِ.</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use my phone to communicate.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lock · protection</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يَجِبُ أَنْ نَحْمِيَ خُصُوصِيَّتَنَا عَلَى الإِنْتَرْنِتِ.</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must protect our privacy online.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robot · idea</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الذَّكَاءُ الاصْطِنَاعِيُّ يُسَاعِدُ فِي حَلِّ بَعْضِ المُشْكِلَاتِ.</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AI helps to solve some problems.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الذَّكَاءُ الاصْطِنَاعِيُّ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كَلِمَةُ المُرُورِ / كَلِمَةُ السِّرِّ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عَلَامَةٌ تِجَارِيَّةٌ / مَارْكَةٌ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يَنْشُرُ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يُحَمِّلُ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يُنَزِّلُ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الخُصُوصِيَّةُ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الأَمَانُ الرَّقْمِيُّ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مَعْلُومَاتٌ مُضَلِّلَةٌ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Digital tools and 2028 vocabulary</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Online actions and their prepositions</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Digital benefits and risks</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Digital tools and 2028 vocabulary</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الذَّكَاءُ الاصْطِنَاعِيُّ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كَلِمَةُ المُرُورِ / كَلِمَةُ السِّرِّ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عَلَامَةٌ تِجَارِيَّةٌ / مَارْكَةٌ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Online actions and their prepositions</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يَنْشُرُ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يُحَمِّلُ</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يُنَزِّلُ</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Digital benefits and risks</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الخُصُوصِيَّةُ</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الأَمَانُ الرَّقْمِيُّ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مَعْلُومَاتٌ مُضَلِّلَةٌ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builds a balanced contrast?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بِسَبَبِ ... قُرْبَ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مُنْذُ ... حَتَّى</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نَاحِيَةٍ ... وَمِنْ نَاحِيَةٍ أُخْرَى</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“distance learning”?</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التَّعَلُّمُ فِي قُرْبٍ</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التَّعَلُّمُ عَنْ بُعْدٍ</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التَّعَلُّمُ عَلَى مَارْكَةٍ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coherent digital-safety sentence.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أَنْ نَنْشُرَ كَلِمَةَ المُرُورِ لِلْجَمِيعِ.</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أَنْ نَسْتَخْدِمَ كَلِمَةَ مُرُورٍ قَوِيَّةً لِحِمَايَةِ حِسَابَاتِنَا.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أَنْ نُحَمِّلَ الخُصُوصِيَّةَ.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qualified judgement?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التِّقْنِيَّةُ شَرِيطَةٌ عَلَى المَسْؤُولِيَّةِ.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التِّقْنِيَّةُ مُفِيدَةٌ لِأَنَّهَا مُفِيدَةٌ.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التِّقْنِيَّةُ مُفِيدَةٌ شَرِيطَةَ أَنْ نَسْتَخْدِمَهَا بِمَسْؤُولِيَّةٍ.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builds a balanced contrast?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بِسَبَبِ ... قُرْبَ</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مُنْذُ ... حَتَّى</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نَاحِيَةٍ ... وَمِنْ نَاحِيَةٍ أُخْرَى</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two phrases frame contrasting sides.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“distance learning”?</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التَّعَلُّمُ فِي قُرْبٍ</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التَّعَلُّمُ عَنْ بُعْدٍ</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التَّعَلُّمُ عَلَى مَارْكَةٍ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التعلم عن بعد</a:t>
            </a:r>
            <a:pPr algn="l" indent="0" marL="0">
              <a:buNone/>
            </a:pPr>
            <a:r>
              <a:rPr lang="en-US" sz="1050" i="1" dirty="0">
                <a:solidFill>
                  <a:srgbClr val="8A6D1E"/>
                </a:solidFill>
                <a:latin typeface="Calibri" pitchFamily="34" charset="0"/>
                <a:cs typeface="Amiri" pitchFamily="2" charset="-78"/>
              </a:rPr>
              <a:t> is the required phrase.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coherent digital-safety sentence.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أَنْ نَنْشُرَ كَلِمَةَ المُرُورِ لِلْجَمِيعِ.</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يَجِبُ أَنْ نَسْتَخْدِمَ كَلِمَةَ مُرُورٍ قَوِيَّةً لِحِمَايَةِ حِسَابَاتِنَا.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أَنْ نُحَمِّلَ الخُصُوصِيَّةَ.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strong password protects accounts.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qualified judgement?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التِّقْنِيَّةُ شَرِيطَةٌ عَلَى المَسْؤُولِيَّةِ.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التِّقْنِيَّةُ مُفِيدَةٌ لِأَنَّهَا مُفِيدَةٌ.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التِّقْنِيَّةُ مُفِيدَةٌ شَرِيطَةَ أَنْ نَسْتَخْدِمَهَا بِمَسْؤُولِيَّةٍ.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شريطة أن</a:t>
            </a:r>
            <a:pPr algn="l" indent="0" marL="0">
              <a:buNone/>
            </a:pPr>
            <a:r>
              <a:rPr lang="en-US" sz="1050" i="1" dirty="0">
                <a:solidFill>
                  <a:srgbClr val="8A6D1E"/>
                </a:solidFill>
                <a:latin typeface="Calibri" pitchFamily="34" charset="0"/>
                <a:cs typeface="Amiri" pitchFamily="2" charset="-78"/>
              </a:rPr>
              <a:t> introduces a condition for the judgement.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يَتَفَاعَلُ الطُّلَّابُ عَلَى المُعَلِّمِ.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yatafāʿalu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يُعَلِّقُ المُسْتَخْدِمُ مَعَ المَنْشُورِ.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yuʿalliqu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عَلَى الرَّغْمِ أَنَّ الذَّكَاءَ الاصْطِنَاعِيَّ مُفِيدٌ.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ʿalā al-raghmi … what is missing?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يَتَفَاعَلُ الطُّلَّابُ عَلَى المُعَلِّمِ.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يَتَفَاعَلُ الطُّلَّابُ مَعَ المُعَلِّمِ.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يتفاعل</a:t>
            </a:r>
            <a:pPr algn="l" indent="0" marL="0">
              <a:buNone/>
            </a:pPr>
            <a:r>
              <a:rPr lang="en-US" sz="1150" b="1" dirty="0">
                <a:solidFill>
                  <a:srgbClr val="1B3B6F"/>
                </a:solidFill>
                <a:latin typeface="Calibri" pitchFamily="34" charset="0"/>
                <a:cs typeface="Amiri" pitchFamily="2" charset="-78"/>
              </a:rPr>
              <a:t> governs </a:t>
            </a:r>
            <a:pPr algn="l" indent="0" marL="0">
              <a:buNone/>
            </a:pPr>
            <a:r>
              <a:rPr lang="ar-SA" altLang="en-US" sz="1500" b="1" dirty="0">
                <a:solidFill>
                  <a:srgbClr val="1B3B6F"/>
                </a:solidFill>
                <a:latin typeface="Amiri" pitchFamily="2" charset="-78"/>
                <a:cs typeface="Amiri" pitchFamily="2" charset="-78"/>
              </a:rPr>
              <a:t>مع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يُعَلِّقُ المُسْتَخْدِمُ مَعَ المَنْشُورِ.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يُعَلِّقُ المُسْتَخْدِمُ عَلَى المَنْشُورِ.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يعلّق</a:t>
            </a:r>
            <a:pPr algn="l" indent="0" marL="0">
              <a:buNone/>
            </a:pPr>
            <a:r>
              <a:rPr lang="en-US" sz="1150" b="1" dirty="0">
                <a:solidFill>
                  <a:srgbClr val="1B3B6F"/>
                </a:solidFill>
                <a:latin typeface="Calibri" pitchFamily="34" charset="0"/>
                <a:cs typeface="Amiri" pitchFamily="2" charset="-78"/>
              </a:rPr>
              <a:t> governs </a:t>
            </a:r>
            <a:pPr algn="l" indent="0" marL="0">
              <a:buNone/>
            </a:pPr>
            <a:r>
              <a:rPr lang="ar-SA" altLang="en-US" sz="1500" b="1" dirty="0">
                <a:solidFill>
                  <a:srgbClr val="1B3B6F"/>
                </a:solidFill>
                <a:latin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عَلَى الرَّغْمِ أَنَّ الذَّكَاءَ الاصْطِنَاعِيَّ مُفِيدٌ.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350" b="1" dirty="0">
                <a:solidFill>
                  <a:srgbClr val="1E6B52"/>
                </a:solidFill>
                <a:latin typeface="Amiri" pitchFamily="2" charset="-78"/>
                <a:cs typeface="Amiri" pitchFamily="2" charset="-78"/>
              </a:rPr>
              <a:t>عَلَى الرَّغْمِ مِنْ أَنَّ الذَّكَاءَ الاصْطِنَاعِيَّ مُفِيدٌ.</a:t>
            </a:r>
            <a:endParaRPr lang="ar-SA" sz="23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complete connector is </a:t>
            </a:r>
            <a:pPr algn="l" indent="0" marL="0">
              <a:buNone/>
            </a:pPr>
            <a:r>
              <a:rPr lang="ar-SA" altLang="en-US" sz="1500" b="1" dirty="0">
                <a:solidFill>
                  <a:srgbClr val="1B3B6F"/>
                </a:solidFill>
                <a:latin typeface="Amiri" pitchFamily="2" charset="-78"/>
                <a:cs typeface="Amiri" pitchFamily="2" charset="-78"/>
              </a:rPr>
              <a:t>على الرغم من 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Listening: a student’s digital routine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the platform used?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week</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hour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month</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the speaker interact with?</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doctor</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shop assistant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upload?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Passwords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Advertisements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Homework</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one advantage?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Learning from any place</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needing a teacher</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Sharing private data</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needs to be reduced?</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Password strength</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Screen time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Lesson time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two safety/wellbeing actions are taken?</a:t>
            </a:r>
            <a:endParaRPr lang="en-US" sz="12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a strong password and stopping before sleep</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Sharing the password and staying online all night</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Posting personal details and avoiding lessons</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ثَلَاثَ مَرَّاتٍ</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المُعَلِّمِ</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وَاجِبَاتِي</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أَسْتَخْدِمُ مِنَصَّةً لِلتَّعَلُّمِ عَنْ بُعْدٍ ثَلَاثَ مَرَّاتٍ فِي الأُسْبُوعِ.</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use a distance-learning platform three times a week.</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أَتَفَاعَلُ مَعَ المُعَلِّمِ، وَأُحَمِّلُ وَاجِبَاتِي، وَأُعَلِّقُ عَلَى أَفْكَارِ زُمَلَائِي.</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interact with the teacher, upload my homework and comment on my classmates’ ideas.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 نَاحِيَةٍ، تُسَاعِدُنِي المِنَصَّةُ عَلَى التَّعَلُّمِ فِي أَيِّ مَكَانٍ.</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one hand, the platform helps me learn anywhere.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وَمِنْ نَاحِيَةٍ أُخْرَى، أَحْتَاجُ إِلَى تَقْلِيلِ وَقْتِ الشَّاشَةِ.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other hand, I need to reduce screen time.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لِذٰلِكَ أَسْتَخْدِمُ كَلِمَةَ مُرُورٍ قَوِيَّةً وَأَتَوَقَّفُ عَنِ الاسْتِخْدَامِ قَبْلَ النَّوْمِ.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I use a strong password and stop using it before sleep.</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the platform used?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 times a week</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hour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month</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ثلاث مرات في الأسبوع.</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the speaker interact with?</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doctor</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shop assistant</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teacher</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أتفاعل مع المعلم.</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upload?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Passwords</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Advertisements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Homework</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أحمل واجباتي.</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one advantage?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Learning from any place</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 needing a teacher</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Sharing private data</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التعلم في أي مكان.</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needs to be reduced?</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Password strength</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Screen time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Lesson time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تقليل وقت الشاشة.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two safety/wellbeing actions are taken?</a:t>
            </a:r>
            <a:endParaRPr lang="en-US" sz="120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Using a strong password and stopping before sleep</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Sharing the password and staying online all night</a:t>
            </a:r>
            <a:endParaRPr lang="en-US" sz="11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Posting personal details and avoiding lessons</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names both actions.</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ثَلَاثَ مَرَّاتٍ</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المُعَلِّمِ</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وَاجِبَاتِي</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evaluate digital learning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تَسْتَخْدِمُ التِّقْنِيَّةَ؟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فَوَائِدُ التَّعَلُّمِ عَنْ بُعْدٍ؟</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مَخَاطِرُ وَسَائِلِ التَّوَاصُلِ؟</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D5FBF"/>
                </a:solidFill>
                <a:latin typeface="Amiri" pitchFamily="2" charset="-78"/>
                <a:cs typeface="Amiri" pitchFamily="2" charset="-78"/>
              </a:rPr>
              <a:t>أَسْتَخْدِمُ ___ لِـ ___ ، وَأَتَفَاعَلُ مَعَ ___ .</a:t>
            </a:r>
            <a:endParaRPr lang="ar-SA" sz="15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مِنْ نَاحِيَةٍ ___ ، وَمِنْ نَاحِيَةٍ أُخْرَى ___ .</a:t>
            </a:r>
            <a:endParaRPr lang="ar-SA" sz="15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250" b="1" dirty="0">
                <a:solidFill>
                  <a:srgbClr val="1F2A37"/>
                </a:solidFill>
                <a:latin typeface="Amiri" pitchFamily="2" charset="-78"/>
                <a:cs typeface="Amiri" pitchFamily="2" charset="-78"/>
              </a:rPr>
              <a:t>عَلَى الرَّغْمِ مِنْ أَنَّ ___ ، فَـ ___ شَرِيطَةَ أَنْ ___ .</a:t>
            </a:r>
            <a:endParaRPr lang="ar-SA" sz="12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رَأْيُكَ فِي التَّعَلُّمِ عَنْ بُعْدٍ؟</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you think of distance learning?</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مِنْ نَاحِيَةٍ، هُوَ مُرِنٌ وَيُسَهِّلُ الوُصُولَ إِلَى الدُّرُوسِ، وَمِنْ نَاحِيَةٍ أُخْرَى، قَدْ يُقَلِّلُ التَّفَاعُلَ المُبَاشِرَ. أُؤَيِّدُهُ شَرِيطَةَ أَنْ يَكُونَ آمِنًا وَتَفَاعُلِيًّا.</a:t>
            </a:r>
            <a:endParaRPr lang="ar-SA" sz="140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On one hand it is flexible and makes lessons accessible; on the other hand it may reduce direct interaction. I support it provided it is safe and interactive.</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How you use technology: three verbs with their prepositions + one benefit.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100–120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benefit and one risk balanced with min nāḥiya … ukhrā.</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evaluate technology or social media with a concession and a qualified conclusion.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نَاحِيَةٍ،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one hand,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وَمِنْ نَاحِيَةٍ أُخْرَى،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other hand,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عَلَى الرَّغْمِ مِنْ أَنَّ ______ مُفِيدٌ، فَـ ______ .</a:t>
            </a:r>
            <a:endParaRPr lang="ar-SA" sz="17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is useful,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شَرِيطَةَ أَنْ نَسْتَخْدِمَهُ بِمَسْؤُولِيَّةٍ.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provided that we use it responsibly.</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أَسْتَخْدِمُ ______ لِـ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use …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أَتَفَاعَلُ مَعَ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interact with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أَبْحَثُ عَنْ ______ عَلَى الإِنْتَرْنِتِ.</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search for … online.</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أَسْتَخْدِمُ كَلِمَةَ مُرُورٍ قَوِيَّةً.</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use a strong password.</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الذَّكَاءُ الاصْطِنَاعِيُّ  ·  التَّعَلُّمُ عَنْ بُعْدٍ  ·  مِنَصَّةٌ  ·  تَطْبِيقٌ  ·  يَتَفَاعَلُ مَعَ  ·  يُعَلِّقُ عَلَى  ·  يَبْحَثُ عَنْ  ·  يَعْتَمِدُ عَلَى  ·  الخُصُوصِيَّةُ  ·  إِدْمَانُ الشَّاشَاتِ  ·  مِنْ نَاحِيَةٍ … أُخْرَى  ·  شَرِيطَةَ أَنْ</a:t>
            </a:r>
            <a:endParaRPr lang="ar-SA" sz="14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120–140 Arabic words evaluating technology or social media.</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all four target 2028 digital terms where relevant.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Balance at least one benefit and one risk.</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accurate digital-verb prepositions.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Give a qualified conclusion.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أَصْبَحَ … جُزْءًا مِنْ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has become part of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يُسَاعِدُ عَلَى تَنْظِيمِ الأَفْكَارِ</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helps organise ideas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يَجِبُ التَّحَقُّقُ مِنَ المَصَادِرِ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sources must be checked</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قَدْ يَتَعَرَّضُ لِمَعْلُومَاتٍ مُضَلِّلَةٍ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may be exposed to misinformation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شَرِيطَةَ أَنْ نَسْتَخْدِمَهَا بِمَسْؤُولِيَّةٍ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provided that we use it responsibly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cs typeface="Amiri" pitchFamily="2" charset="-78"/>
              </a:rPr>
              <a:t>أَصْبَحَتِ التِّقْنِيَّةُ جُزْءًا أَسَاسِيًّا مِنْ حَيَاتِنَا. مِنْ نَاحِيَةٍ، يُسَهِّلُ التَّعَلُّمُ عَنْ بُعْدٍ الوُصُولَ إِلَى الدُّرُوسِ، وَيُسَاعِدُ الذَّكَاءُ الاصْطِنَاعِيُّ عَلَى تَنْظِيمِ الأَفْكَارِ. وَمِنْ نَاحِيَةٍ أُخْرَى، قَدْ تُؤَدِّي كَثْرَةُ الاسْتِخْدَامِ إِلَى إِدْمَانِ الشَّاشَاتِ، وَقَدْ يَتَعَرَّضُ المُسْتَخْدِمُ لِمَعْلُومَاتٍ مُضَلِّلَةٍ. عَلَى الرَّغْمِ مِنْ أَنَّ المِنَصَّاتِ مُفِيدَةٌ، فَيَجِبُ أَنْ نَحْمِيَ خُصُوصِيَّتَنَا وَنَسْتَخْدِمَ كَلِمَاتِ مُرُورٍ قَوِيَّةً. فِي رَأْيِي، التِّقْنِيَّةُ إِيجَابِيَّةٌ شَرِيطَةَ أَنْ نَسْتَخْدِمَهَا بِمَسْؤُولِيَّةٍ.</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Technology has become an essential part of our lives. On the one hand, distance learning makes lessons accessible, and AI helps organise ideas. On the other hand, heavy use may lead to screen addiction, and users may be exposed to misinformation. Although platforms are useful, we must protect our privacy and use strong passwords. In my opinion, technology is positive provided that we use it responsibly.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2028 digital terms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benefit and a risk</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verb with its preposition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qualified conclusion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digital verbs have the right preposition.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four digital words.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balanced a benefit and a risk.</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Pronouns match (-hu / -hā).</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made a concession and a qualified judgement.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collocation.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يَتَفَاعَلُ مَعَ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يَتَفَاعَلُ عَلَى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يَتَفَاعَلُ مِنْ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frames the other side of an argument?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نَاحِيَةٍ أُخْرَى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بِسَبَبِ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Refer back to </a:t>
            </a:r>
            <a:pPr algn="l" indent="0" marL="0">
              <a:buNone/>
            </a:pPr>
            <a:r>
              <a:rPr lang="ar-SA" altLang="en-US" sz="1650" b="1" dirty="0">
                <a:solidFill>
                  <a:srgbClr val="1B3B6F"/>
                </a:solidFill>
                <a:latin typeface="Amiri" pitchFamily="2" charset="-78"/>
                <a:cs typeface="Amiri" pitchFamily="2" charset="-78"/>
              </a:rPr>
              <a:t>التِّقْنِيَّةُ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نَسْتَخْدِمُهَا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نَسْتَخْدِمُهُ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نَسْتَخْدِمُهُمْ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collocation.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يَتَفَاعَلُ مَعَ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يَتَفَاعَلُ عَلَى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يَتَفَاعَلُ مِنْ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يتفاعل مع.</a:t>
            </a:r>
            <a:endParaRPr lang="ar-SA" sz="13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frames the other side of an argument?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قُرْبَ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مِنْ نَاحِيَةٍ أُخْرَى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بِسَبَبِ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ناحية أخرى.</a:t>
            </a:r>
            <a:endParaRPr lang="ar-SA" sz="13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Refer back to </a:t>
            </a:r>
            <a:pPr algn="l" indent="0" marL="0">
              <a:buNone/>
            </a:pPr>
            <a:r>
              <a:rPr lang="ar-SA" altLang="en-US" sz="1650" b="1" dirty="0">
                <a:solidFill>
                  <a:srgbClr val="1B3B6F"/>
                </a:solidFill>
                <a:latin typeface="Amiri" pitchFamily="2" charset="-78"/>
                <a:cs typeface="Amiri" pitchFamily="2" charset="-78"/>
              </a:rPr>
              <a:t>التِّقْنِيَّةُ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نَسْتَخْدِمُهَا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نَسْتَخْدِمُهُ</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نَسْتَخْدِمُهُمْ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Technology is feminine.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Reading: responsible use of artificial intelligence</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أَصْبَحَ الذَّكَاءُ الاصْطِنَاعِيُّ جُزْءًا مِنَ التَّعَلُّمِ الرَّقْمِيِّ. فَهُوَ يُسَاعِدُ بَعْضَ الطُّلَّابِ عَلَى فَهْمِ المَفَاهِيمِ وَتَنْظِيمِ أَفْكَارِهِمْ. وَمَعَ ذٰلِكَ، لَا تَكُونُ كُلُّ المَعْلُومَاتِ الَّتِي يُنْتِجُهَا دَقِيقَةً. لِذٰلِكَ يَجِبُ التَّحَقُّقُ مِنَ المَصَادِرِ، وَعَدَمُ إِدْخَالِ البَيَانَاتِ الشَّخْصِيَّةِ فِي مَوَاقِعَ غَيْرِ آمِنَةٍ. فِي رَأْيِي، هُوَ أَدَاةٌ مُفِيدَةٌ شَرِيطَةَ أَنْ يَسْتَخْدِمَهُ الطَّالِبُ بِوَعْيٍ.</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جُزْءًا مِنَ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part of</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المَفَاهِيمِ</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concepts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تَنْظِيمِ أَفْكَارِهِمْ</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organising their ideas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وَمَعَ ذٰلِكَ</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however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يُنْتِجُهَا</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produces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دَقِيقَةً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accurate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التَّحَقُّقُ مِنَ المَصَادِرِ</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checking the sources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إِدْخَالِ البَيَانَاتِ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entering data</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غَيْرِ آمِنَةٍ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unsafe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بِوَعْيٍ</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consciously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become part of digital learning?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Printed newspapers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Artificial intelligence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Public transport</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one benefit mentioned.</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removes the need to think</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guarantees every answer is correct</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can help students understand concepts</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limitation is stated?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all generated information is accurate</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cannot organise ideas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never uses data</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learners verify?</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Brands only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Sources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Weather forecasts only</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not be entered on unsafe sites?</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Personal data</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Public vocabulary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Lesson titles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cs typeface="Amiri" pitchFamily="2" charset="-78"/>
              </a:rPr>
              <a:t>Under what condition is AI useful according to the writer?</a:t>
            </a:r>
            <a:endParaRPr lang="en-US" sz="10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every response is copied</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privacy is ignored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used consciously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become part of digital learning?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Printed newspapers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Artificial intelligence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Public transport</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الذكاء الاصطناعي.</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one benefit mentioned.</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It removes the need to think</a:t>
            </a:r>
            <a:endParaRPr lang="en-US" sz="11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It guarantees every answer is correct</a:t>
            </a:r>
            <a:endParaRPr lang="en-US" sz="11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can help students understand concepts</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it helps some students understand concepts.</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limitation is stated?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Not all generated information is accurate</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cannot organise ideas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never uses data</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تكون كل المعلومات دقيقة.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learners verify?</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Brands only</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Sources</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Weather forecasts only</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التحقق من المصادر.</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not be entered on unsafe sites?</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Personal data</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Public vocabulary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Lesson titles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البيانات الشخصية.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cs typeface="Amiri" pitchFamily="2" charset="-78"/>
              </a:rPr>
              <a:t>Under what condition is AI useful according to the writer?</a:t>
            </a:r>
            <a:endParaRPr lang="en-US" sz="10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When every response is copied</a:t>
            </a:r>
            <a:endParaRPr lang="en-US" sz="11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When privacy is ignored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When used consciously</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شريطة أن يستخدمه الطالب بوعي.</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The Digital World — Technology and Social Media — Arabic application mission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accurately describes interaction?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يَتَفَاعَلُ الطُّلَّابُ عَلَى المُحْتَوَى.</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يَتَفَاعَلُ الطُّلَّابُ مَعَ المُحْتَوَى.</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يَتَفَاعَلُ الطُّلَّابُ إِلَى المُحْتَوَى.</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action best protects privacy?</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اسْتِخْدَامُ كَلِمَةِ مُرُورٍ قَوِيَّةٍ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مُشَارَكَةُ كَلِمَةِ السِّرِّ</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نَشْرُ العُنْوَانِ الشَّخْصِيِّ</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contains a genuine contrast.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تُسَهِّلُ التِّقْنِيَّةُ التَّعَلُّمَ وَتُسَهِّلُ التَّعَلُّمَ.</a:t>
            </a:r>
            <a:endParaRPr lang="ar-SA" sz="1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التِّقْنِيَّةُ مَنْصَّةٌ وَالمَنْصَّةُ تِقْنِيَّةٌ.</a:t>
            </a:r>
            <a:endParaRPr lang="ar-SA" sz="1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مِنْ نَاحِيَةٍ تُسَهِّلُ التِّقْنِيَّةُ التَّعَلُّمَ، وَمِنْ نَاحِيَةٍ أُخْرَى قَدْ تُشَتِّتُ الانْتِبَاهَ.</a:t>
            </a:r>
            <a:endParaRPr lang="ar-SA" sz="1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item is one of the 2028 vocabulary targets?</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مَلْعَبُ كُرَةِ القَدَمِ</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مَوْعِدُ الطَّبِيبِ</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عَلَامَةٌ تِجَارِيَّةٌ</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refers back correctly to </a:t>
            </a:r>
            <a:pPr algn="l" indent="0" marL="0">
              <a:buNone/>
            </a:pPr>
            <a:r>
              <a:rPr lang="ar-SA" altLang="en-US" sz="1650" b="1" dirty="0">
                <a:solidFill>
                  <a:srgbClr val="1B3B6F"/>
                </a:solidFill>
                <a:latin typeface="Amiri" pitchFamily="2" charset="-78"/>
                <a:cs typeface="Amiri" pitchFamily="2" charset="-78"/>
              </a:rPr>
              <a:t>المَوْقِعُ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التَّحَقُّقُ مِمَّا يُنْشَرُ عَلَيْهِ.</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التَّحَقُّقُ مِمَّا يُنْشَرُ عَلَيْهِنَّ.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يَجِبُ التَّحَقُّقُ مِمَّا يُنْشَرُ عَلَيْهَا.</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is appropriately qualified?</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أُؤَيِّدُهُ دَائِمًا لِأَنَّهُ دَائِمًا.</a:t>
            </a:r>
            <a:endParaRPr lang="ar-SA" sz="12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أُؤَيِّدُ التَّعَلُّمَ عَنْ بُعْدٍ شَرِيطَةَ أَنْ يَكُونَ آمِنًا وَتَفَاعُلِيًّا.</a:t>
            </a:r>
            <a:endParaRPr lang="ar-SA" sz="12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أُؤَيِّدُ الخُصُوصِيَّةَ عَلَى التَّعَلُّمِ.</a:t>
            </a:r>
            <a:endParaRPr lang="ar-SA"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accurately describes interaction?</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يَتَفَاعَلُ الطُّلَّابُ عَلَى المُحْتَوَى.</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يَتَفَاعَلُ الطُّلَّابُ مَعَ المُحْتَوَى.</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يَتَفَاعَلُ الطُّلَّابُ إِلَى المُحْتَوَى.</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يتفاعل مع</a:t>
            </a:r>
            <a:pPr algn="l" indent="0" marL="0">
              <a:buNone/>
            </a:pPr>
            <a:r>
              <a:rPr lang="en-US" sz="1050" i="1" dirty="0">
                <a:solidFill>
                  <a:srgbClr val="8A6D1E"/>
                </a:solidFill>
                <a:latin typeface="Calibri" pitchFamily="34" charset="0"/>
                <a:cs typeface="Amiri" pitchFamily="2" charset="-78"/>
              </a:rPr>
              <a:t> is the correct collocation.</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action best protects privacy?</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اسْتِخْدَامُ كَلِمَةِ مُرُورٍ قَوِيَّةٍ</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مُشَارَكَةُ كَلِمَةِ السِّرِّ</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نَشْرُ العُنْوَانِ الشَّخْصِيِّ</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strong password protects personal accounts.</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that contains a genuine contrast.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cs typeface="Amiri" pitchFamily="2" charset="-78"/>
              </a:rPr>
              <a:t>تُسَهِّلُ التِّقْنِيَّةُ التَّعَلُّمَ وَتُسَهِّلُ التَّعَلُّمَ.</a:t>
            </a:r>
            <a:endParaRPr lang="ar-SA" sz="105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cs typeface="Amiri" pitchFamily="2" charset="-78"/>
              </a:rPr>
              <a:t>التِّقْنِيَّةُ مَنْصَّةٌ وَالمَنْصَّةُ تِقْنِيَّةٌ.</a:t>
            </a:r>
            <a:endParaRPr lang="ar-SA" sz="105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cs typeface="Amiri" pitchFamily="2" charset="-78"/>
              </a:rPr>
              <a:t>مِنْ نَاحِيَةٍ تُسَهِّلُ التِّقْنِيَّةُ التَّعَلُّمَ، وَمِنْ نَاحِيَةٍ أُخْرَى قَدْ تُشَتِّتُ الانْتِبَاهَ.</a:t>
            </a:r>
            <a:endParaRPr lang="ar-SA" sz="105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 sentence balances a benefit and a drawback.</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item is one of the 2028 vocabulary targets?</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مَلْعَبُ كُرَةِ القَدَمِ</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مَوْعِدُ الطَّبِيبِ</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عَلَامَةٌ تِجَارِيَّةٌ</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علامة تجارية</a:t>
            </a:r>
            <a:pPr algn="l" indent="0" marL="0">
              <a:buNone/>
            </a:pPr>
            <a:r>
              <a:rPr lang="en-US" sz="1050" i="1" dirty="0">
                <a:solidFill>
                  <a:srgbClr val="8A6D1E"/>
                </a:solidFill>
                <a:latin typeface="Calibri" pitchFamily="34" charset="0"/>
                <a:cs typeface="Amiri" pitchFamily="2" charset="-78"/>
              </a:rPr>
              <a:t> is a target D4 digital term.</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refers back correctly to </a:t>
            </a:r>
            <a:pPr algn="l" indent="0" marL="0">
              <a:buNone/>
            </a:pPr>
            <a:r>
              <a:rPr lang="ar-SA" altLang="en-US" sz="1650" b="1" dirty="0">
                <a:solidFill>
                  <a:srgbClr val="1B3B6F"/>
                </a:solidFill>
                <a:latin typeface="Amiri" pitchFamily="2" charset="-78"/>
                <a:cs typeface="Amiri" pitchFamily="2" charset="-78"/>
              </a:rPr>
              <a:t>المَوْقِعُ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يَجِبُ التَّحَقُّقُ مِمَّا يُنْشَرُ عَلَيْهِ.</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التَّحَقُّقُ مِمَّا يُنْشَرُ عَلَيْهِنَّ.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يَجِبُ التَّحَقُّقُ مِمَّا يُنْشَرُ عَلَيْهَا.</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الموقع</a:t>
            </a:r>
            <a:pPr algn="l" indent="0" marL="0">
              <a:buNone/>
            </a:pPr>
            <a:r>
              <a:rPr lang="en-US" sz="1050" i="1" dirty="0">
                <a:solidFill>
                  <a:srgbClr val="8A6D1E"/>
                </a:solidFill>
                <a:latin typeface="Calibri" pitchFamily="34" charset="0"/>
                <a:cs typeface="Amiri" pitchFamily="2" charset="-78"/>
              </a:rPr>
              <a:t> is masculine singular, so use </a:t>
            </a:r>
            <a:pPr algn="l" indent="0" marL="0">
              <a:buNone/>
            </a:pPr>
            <a:r>
              <a:rPr lang="ar-SA" altLang="en-US" sz="1350" dirty="0">
                <a:solidFill>
                  <a:srgbClr val="8A6D1E"/>
                </a:solidFill>
                <a:latin typeface="Amiri" pitchFamily="2" charset="-78"/>
                <a:cs typeface="Amiri" pitchFamily="2" charset="-78"/>
              </a:rPr>
              <a:t>عليه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conclusion is appropriately qualified?</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cs typeface="Amiri" pitchFamily="2" charset="-78"/>
              </a:rPr>
              <a:t>أُؤَيِّدُهُ دَائِمًا لِأَنَّهُ دَائِمًا.</a:t>
            </a:r>
            <a:endParaRPr lang="ar-SA" sz="125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أُؤَيِّدُ التَّعَلُّمَ عَنْ بُعْدٍ شَرِيطَةَ أَنْ يَكُونَ آمِنًا وَتَفَاعُلِيًّا.</a:t>
            </a:r>
            <a:endParaRPr lang="ar-SA" sz="125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cs typeface="Amiri" pitchFamily="2" charset="-78"/>
              </a:rPr>
              <a:t>أُؤَيِّدُ الخُصُوصِيَّةَ عَلَى التَّعَلُّمِ.</a:t>
            </a:r>
            <a:endParaRPr lang="ar-SA" sz="125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gives a clear condition for support.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D4-L05 · Digital World</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D4-L06: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D4-L06 · Green Technology — AI, Solar Energy and Smart Cities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الأَلْوَاحُ الشَّمْسِيَّةُ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solar panels</a:t>
            </a:r>
            <a:pPr indent="0" marL="0">
              <a:buNone/>
            </a:pPr>
            <a:r>
              <a:rPr lang="en-US" sz="1000" i="1" dirty="0">
                <a:solidFill>
                  <a:srgbClr val="5A6472"/>
                </a:solidFill>
                <a:latin typeface="Calibri" pitchFamily="34" charset="0"/>
                <a:cs typeface="Amiri" pitchFamily="2" charset="-78"/>
              </a:rPr>
              <a:t>  sing. لَوْحٌ</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مَدِينَةٌ ذَكِيَّةٌ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smart city</a:t>
            </a:r>
            <a:pPr indent="0" marL="0">
              <a:buNone/>
            </a:pPr>
            <a:r>
              <a:rPr lang="en-US" sz="1000" i="1" dirty="0">
                <a:solidFill>
                  <a:srgbClr val="5A6472"/>
                </a:solidFill>
                <a:latin typeface="Calibri" pitchFamily="34" charset="0"/>
                <a:cs typeface="Amiri" pitchFamily="2" charset="-78"/>
              </a:rPr>
              <a:t>  pl. مُدُنٌ ذَكِيَّةٌ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تُوَلِّدُ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generates</a:t>
            </a:r>
            <a:pPr indent="0" marL="0">
              <a:buNone/>
            </a:pPr>
            <a:r>
              <a:rPr lang="en-US" sz="1000" i="1" dirty="0">
                <a:solidFill>
                  <a:srgbClr val="5A6472"/>
                </a:solidFill>
                <a:latin typeface="Calibri" pitchFamily="34" charset="0"/>
                <a:cs typeface="Amiri" pitchFamily="2" charset="-78"/>
              </a:rPr>
              <a:t>  يُوَلِّدُ he / it (m.)</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فَعَّالٌ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effective</a:t>
            </a:r>
            <a:pPr indent="0" marL="0">
              <a:buNone/>
            </a:pPr>
            <a:r>
              <a:rPr lang="en-US" sz="1000" i="1" dirty="0">
                <a:solidFill>
                  <a:srgbClr val="5A6472"/>
                </a:solidFill>
                <a:latin typeface="Calibri" pitchFamily="34" charset="0"/>
                <a:cs typeface="Amiri" pitchFamily="2" charset="-78"/>
              </a:rPr>
              <a:t>  f. فَعَّالَةٌ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مُكَلِّفٌ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expensive, costly</a:t>
            </a:r>
            <a:pPr indent="0" marL="0">
              <a:buNone/>
            </a:pPr>
            <a:r>
              <a:rPr lang="en-US" sz="1000" i="1" dirty="0">
                <a:solidFill>
                  <a:srgbClr val="5A6472"/>
                </a:solidFill>
                <a:latin typeface="Calibri" pitchFamily="34" charset="0"/>
                <a:cs typeface="Amiri" pitchFamily="2" charset="-78"/>
              </a:rPr>
              <a:t>  f. مُكَلِّفَةٌ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Have you seen solar panels near your home or school? Write one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رَأَيْتُ أَلْوَاحًا شَمْسِيَّةً عَلَى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digital words and 4 verb + preposition pairs; write 5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Benefit and risk of one technology in 100–120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evaluate technology or social media (120–140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D4-L06 · Green Technology — AI, Solar Energy and Smart Cities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التِّقْنِيَّةُ الخَضْرَاءُ</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digital verbs with their preposition — balance both sides — qualify your judgement.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D4-L05 · The Digital World — Technology and Social Media</dc:title>
  <dc:subject>PptxGenJS Presentation</dc:subject>
  <dc:creator>Al Madina Online School · Arabic Department</dc:creator>
  <cp:lastModifiedBy>Al Madina Online School · Arabic Department</cp:lastModifiedBy>
  <cp:revision>1</cp:revision>
  <dcterms:created xsi:type="dcterms:W3CDTF">2026-10-11T06:40:52Z</dcterms:created>
  <dcterms:modified xsi:type="dcterms:W3CDTF">2026-10-11T06:40:52Z</dcterms:modified>
</cp:coreProperties>
</file>