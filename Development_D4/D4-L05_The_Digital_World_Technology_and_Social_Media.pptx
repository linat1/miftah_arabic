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D4-L05. The website lesson “The Digital World — Technology and Social Media”: vocabulary, grammar rules and quiz, patterns, common mistakes, sorter, listening, reading, speaking prompts and model, writing task and model, differentiation, final check and the lesson mission. Picture match: website visual game “The Digital World — Technology and Social Media”.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digital words + “I use … to …” and four verbs with their preposition (أَتَفَاعَلُ مَعَ · أُعَلِّقُ عَلَى · أَبْحَثُ عَنْ · أَعْتَمِدُ عَلَى). Develop: one benefit and one risk with مِنْ نَاحِيَةٍ … وَمِنْ نَاحِيَةٍ أُخْرَى. Stretch: a concession (عَلَى الرَّغْمِ مِنْ أَنَّ …، فَـ …) and a qualified conclusion (شَرِيطَةَ أَنْ …).
• This is the “2028 vocabulary” lesson (website label): AI, passwords, brands, distance learning — words from the new GCSE / IGCSE lists.
• Safeguarding: cyberbullying (التَّنَمُّرُ الإِلِكْتُرُونِيُّ) appears — remind students of the school’s reporting route; examples stay general.
• Links: D3-L06 / L09 concession (عَلَى الرَّغْمِ مِنْ أَنَّ … فَإِنَّ), D4-L03 يُؤَدِّي إِلَى.
• TEACHER-WRITTEN ITEMS: two vowel slips corrected (website: يَتَابِعُ → يُتَابِعُ, مَنْصَّةً → مِنَصَّةً) and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D4-L04. Question 3 retrieves D4-L04; question 4 D3-L09 (concession); question 5 D4-L01 (verb + fixed preposition).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Many digital verbs come with a fixed preposition — learn them as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معلومات، امان are shared; رقم (an amount of money) → رَقْمِيٌّ (digital: “of numbers”). CAREFUL: Urdu تعلق = a relationship / connection, but Arabic تَعْلِيقٌ / يُعَلِّقُ عَلَى = a comment / to comment on (a 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Digital tools and 2028 vocabulary (website vocabulary (1 of 2)). Hear → Say → See → Use. Transliteration is printed for Core students (cover it for Develop/Stretch).
Digital tools: many are modern compounds (adjective + noun). تَطْبِيقٌ → pl. تَطْبِيقَاتٌ; مِنَصَّةٌ → pl. مِنَصَّاتٌ.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Digital tools and 2028 vocabulary (website vocabulary (2 of 2)). Hear → Say → See → Use. Transliteration is printed for Core students (cover it for Develop/Stretch).
Digital tools: many are modern compounds (adjective + noun). تَطْبِيقٌ → pl. تَطْبِيقَاتٌ; مِنَصَّةٌ → pl. مِنَصَّاتٌ.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Online actions and their prepositions (website vocabulary (1 of 2)). Hear → Say → See → Use. Transliteration is printed for Core students (cover it for Develop/Stretch).
Online actions: the cards show I · he · she. Learn the preposition with the verb: مَعَ، عَلَى،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Online actions and their prepositions (website vocabulary (2 of 2)). Hear → Say → See → Use. Transliteration is printed for Core students (cover it for Develop/Stretch).
Online actions: the cards show I · he · she. Learn the preposition with the verb: مَعَ، عَلَى،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Digital benefits and risks (website vocabulary (1 of 2)). Hear → Say → See → Use. Transliteration is printed for Core students (cover it for Develop/Stretch).
Benefits and risks: the last two cards (on the one hand … on the other hand) are the balance frame for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Digital benefits and risks (website vocabulary (2 of 2)). Hear → Say → See → Use. Transliteration is printed for Core students (cover it for Develop/Stretch).
Benefits and risks: the last two cards (on the one hand … on the other hand) are the balance frame for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“Keep the verb with its required preposition” (Arabic digital verbs often govern a specific preposition; changing it makes the phrase inaccurate) and “Pronoun reference” (عَلَيْهِ for a masculine noun, عَلَيْهَا for a feminine noun). Website examples: يَتَفَاعَلُ الطُّلَّابُ مَعَ المُعَلِّمِ · يُعَلِّقُ المُسْتَخْدِمُ عَلَى المَنْشُورِ · المَوْقِعُ مُفِيدٌ، وَلٰكِنْ يَجِبُ التَّحَقُّقُ مِمَّا يُنْشَرُ عَلَيْهِ.
Website mistakes: يَتَفَاعَلُ … عَلَى ✗ → مَعَ ✓ · يُعَلِّقُ … مَعَ ✗ →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“Balanced contrast” (present a benefit and a limitation before reaching a judgement) and “Concession with عَلَى الرَّغْمِ مِنْ أَنَّ” (use أَنَّ with a noun or attached pronoun; the sentence that follows states the unexpected contrast). Website examples as shown.
Qualified judgement (Stretch, from the writing model): التِّقْنِيَّةُ إِيجَابِيَّةٌ شَرِيطَةَ أَنْ نَسْتَخْدِمَهَا بِمَسْؤُولِيَّةٍ (… provided that we use it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Keep the verb with its required preposition: Arabic digital verbs often govern a specific preposition. Changing it makes the phrase inaccurate.
• Balanced contrast: Present a benefit and a limitation before reaching a judgement.
• Concession with عَلَى الرَّغْمِ مِنْ أَنَّ: Use أَنَّ with a noun or attached pronoun; the sentence that follows states the unexpected contrast.
• Pronoun reference: Refer back precisely: عَلَيْهِ for a masculine noun, عَلَيْهَا for a feminine noun.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built from the website listening (a student’s digital routine) + the website qualified judgement (شَرِيطَةَ أَنْ). Ask: why نَسْتَخْدِمَهَا and not نَسْتَخْدِمَهُ? (المِنَصَّةُ is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Digital World — Technology and Social Media”)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أَسْتَخْدِمُ الحَاسُوبَ لِلدِّرَاسَةِ · الاِسْتِخْدَامُ المُفْرِطُ لِلْهَاتِفِ يُؤَثِّرُ فِي النَّوْمِ · وَسَائِلُ التَّوَاصُلِ تَرْبِطُ النَّاسَ. Stretch: say each card as a benefit or a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Digital World — Technology and Social Media”)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أَسْتَخْدِمُ الحَاسُوبَ لِلدِّرَاسَةِ · الاِسْتِخْدَامُ المُفْرِطُ لِلْهَاتِفِ يُؤَثِّرُ فِي النَّوْمِ · وَسَائِلُ التَّوَاصُلِ تَرْبِطُ النَّاسَ. Stretch: say each card as a benefit or a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balanced sentence: مِنْ نَاحِيَةٍ + a benefit, وَمِنْ نَاحِيَةٍ أُخْرَى + a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balanced sentence: مِنْ نَاحِيَةٍ + a benefit, وَمِنْ نَاحِيَةٍ أُخْرَى + a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أَسْتَخْدِمُ مِنَصَّةً لِلتَّعَلُّمِ عَنْ بُعْدٍ ثَلَاثَ مَرَّاتٍ فِي الأُسْبُوعِ. أَتَفَاعَلُ مَعَ المُعَلِّمِ، وَأُحَمِّلُ وَاجِبَاتِي، وَأُعَلِّقُ عَلَى أَفْكَارِ زُمَلَائِي. مِنْ نَاحِيَةٍ، تُسَاعِدُنِي المِنَصَّةُ عَلَى التَّعَلُّمِ فِي أَيِّ مَكَانٍ. وَمِنْ نَاحِيَةٍ أُخْرَى، أَحْتَاجُ إِلَى تَقْلِيلِ وَقْتِ الشَّاشَةِ. لِذٰلِكَ أَسْتَخْدِمُ كَلِمَةَ مُرُورٍ قَوِيَّةً وَأَتَوَقَّفُ عَنِ الاسْتِخْدَامِ قَبْلَ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Students at an online school are experts on distance learning — invite real experiences (positive and negative). To a girl: كَيْفَ تَسْتَخْدِمِينَ التِّقْنِيَّةَ؟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evaluating technology or social media.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التَّعَلُّمُ عَنْ بُعْدٍ، الذَّكَاءُ الاصْطِنَاعِيُّ، المِنَصَّاتِ، كَلِمَاتِ مُرُورٍ · مِنْ نَاحِيَةٍ … وَمِنْ نَاحِيَةٍ أُخْرَى · يُسَاعِدُ عَلَى، تُؤَدِّي إِلَى · عَلَى الرَّغْمِ مِنْ أَنَّ … فَيَجِبُ · شَرِيطَةَ أَنْ نَسْتَخْدِمَهَا.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(D4-L06 · Green Technology — AI, Solar Energy and Smart Cities) will spend class time USING this language, so students prepare it tonight — short, simple, easy to access (school guidance: “Simple, Short, Interesting, Relevant, Easy to access”). The five words come from the website D4-L06 vocabulary (green technology).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The Digital World — Technology and Social Media</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العَالَمُ الرَّقْمِيُّ — التِّقْنِيَّةُ وَوَسَائِلُ 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Talk about how you use technology and evaluate it: digital verbs with the right preposition (</a:t>
            </a:r>
            <a:pPr algn="l" indent="0" marL="0">
              <a:buNone/>
            </a:pPr>
            <a:r>
              <a:rPr lang="ar-SA" altLang="en-US" sz="1800" dirty="0">
                <a:solidFill>
                  <a:srgbClr val="C6D2E6"/>
                </a:solidFill>
                <a:latin typeface="Amiri" pitchFamily="34" charset="0"/>
                <a:ea typeface="Amiri" pitchFamily="34" charset="-122"/>
                <a:cs typeface="Amiri" pitchFamily="34" charset="-120"/>
              </a:rPr>
              <a:t>يَتَفَاعَلُ مَعَ</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يُعَلِّقُ عَلَى</a:t>
            </a:r>
            <a:pPr algn="l" indent="0" marL="0">
              <a:buNone/>
            </a:pPr>
            <a:r>
              <a:rPr lang="en-US" sz="1400" dirty="0">
                <a:solidFill>
                  <a:srgbClr val="C6D2E6"/>
                </a:solidFill>
                <a:latin typeface="Calibri" pitchFamily="34" charset="0"/>
                <a:ea typeface="Calibri" pitchFamily="34" charset="-122"/>
                <a:cs typeface="Calibri" pitchFamily="34" charset="-120"/>
              </a:rPr>
              <a:t>), benefits and risks, a balanced view (</a:t>
            </a:r>
            <a:pPr algn="l" indent="0" marL="0">
              <a:buNone/>
            </a:pPr>
            <a:r>
              <a:rPr lang="ar-SA" altLang="en-US" sz="1800" dirty="0">
                <a:solidFill>
                  <a:srgbClr val="C6D2E6"/>
                </a:solidFill>
                <a:latin typeface="Amiri" pitchFamily="34" charset="0"/>
                <a:ea typeface="Amiri" pitchFamily="34" charset="-122"/>
                <a:cs typeface="Amiri" pitchFamily="34" charset="-120"/>
              </a:rPr>
              <a:t>مِنْ نَاحِيَةٍ … وَمِنْ نَاحِيَةٍ أُخْرَى</a:t>
            </a:r>
            <a:pPr algn="l" indent="0" marL="0">
              <a:buNone/>
            </a:pPr>
            <a:r>
              <a:rPr lang="en-US" sz="1400" dirty="0">
                <a:solidFill>
                  <a:srgbClr val="C6D2E6"/>
                </a:solidFill>
                <a:latin typeface="Calibri" pitchFamily="34" charset="0"/>
                <a:ea typeface="Calibri" pitchFamily="34" charset="-122"/>
                <a:cs typeface="Calibri" pitchFamily="34" charset="-120"/>
              </a:rPr>
              <a:t>) and a qualified judgement.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D4-L05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Digital words, verbs + prepositions, and a balanced judgement.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words, fix and listen: a student’s digital routine.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تَطْبِيقٌ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platform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app</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website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الخُصُوصِيَّةُ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privacy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security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password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اسْتِخْدَامَ البِلَاسْتِيكِ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قَلَّلْنَا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سَنُقَلِّلُ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نُقَلِّلَ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gives a concession?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 إِلَى …</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أَنَّ … فَإِنَّ …</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يَتَّسِمُ السَّاحِلُ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مَنَاخٍ مُعْتَدِلٍ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تَطْبِيقٌ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platform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app</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website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الخُصُوصِيَّةُ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privacy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security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password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اسْتِخْدَامَ البِلَاسْتِيكِ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قَلَّلْنَا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سَنُقَلِّلُ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نُقَلِّلَ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D4-L04: an + -a.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gives a concession?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 …</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يُؤَدِّي إِلَى …</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الرَّغْمِ مِنْ أَنَّ … فَإِنَّ …</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D3-L09.</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يَتَّسِمُ السَّاحِلُ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مَنَاخٍ مُعْتَدِلٍ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D4-L01: a verb with a fixed preposition.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Many digital verbs come with a fixed preposition — learn them as pairs.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يَتَفَاعَلُ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مَعَ</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يُعَلِّقُ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يَبْحَثُ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عَنْ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يَعْتَمِدُ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عَلَى</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digital tools, actions, benefits and risks.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digital verbs with their fixed prepositions.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Balance a benefit and a risk with </a:t>
            </a:r>
            <a:pPr algn="l" indent="0" marL="0">
              <a:buNone/>
            </a:pPr>
            <a:r>
              <a:rPr lang="ar-SA" altLang="en-US" sz="170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a qualified judgement about technology.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I use technology.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four digital verbs with their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benefit and a risk.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balance them with min nāḥiya … ukhrā.</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make a concession.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qualified judgement (sharīṭata an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Digital tools and 2028 vocabulary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Online actions and their prepositions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Digital benefits and risks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مَعْلُومَاتٌ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‎معلومات‎ </a:t>
            </a:r>
            <a:pPr indent="0" marL="0">
              <a:buNone/>
            </a:pPr>
            <a:r>
              <a:rPr lang="en-US" sz="950" b="1" dirty="0">
                <a:solidFill>
                  <a:srgbClr val="2E8B57"/>
                </a:solidFill>
                <a:latin typeface="Calibri" pitchFamily="34" charset="0"/>
                <a:ea typeface="Calibri" pitchFamily="34" charset="-122"/>
                <a:cs typeface="Calibri" pitchFamily="34" charset="-120"/>
              </a:rPr>
              <a:t> maʿlūmāt · information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رَقْمِيٌّ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‎رقم‎ </a:t>
            </a:r>
            <a:pPr indent="0" marL="0">
              <a:buNone/>
            </a:pPr>
            <a:r>
              <a:rPr lang="en-US" sz="950" b="1" dirty="0">
                <a:solidFill>
                  <a:srgbClr val="2E8B57"/>
                </a:solidFill>
                <a:latin typeface="Calibri" pitchFamily="34" charset="0"/>
                <a:ea typeface="Calibri" pitchFamily="34" charset="-122"/>
                <a:cs typeface="Calibri" pitchFamily="34" charset="-120"/>
              </a:rPr>
              <a:t> raqam · number / amount → digital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إِدْمَانٌ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 لت‎ </a:t>
            </a:r>
            <a:pPr indent="0" marL="0">
              <a:buNone/>
            </a:pPr>
            <a:r>
              <a:rPr lang="en-US" sz="950" b="1" dirty="0">
                <a:solidFill>
                  <a:srgbClr val="2E8B57"/>
                </a:solidFill>
                <a:latin typeface="Calibri" pitchFamily="34" charset="0"/>
                <a:ea typeface="Calibri" pitchFamily="34" charset="-122"/>
                <a:cs typeface="Calibri" pitchFamily="34" charset="-120"/>
              </a:rPr>
              <a:t> lat · addiction (meaning only)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أَمَانٌ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‎امان‎ </a:t>
            </a:r>
            <a:pPr indent="0" marL="0">
              <a:buNone/>
            </a:pPr>
            <a:r>
              <a:rPr lang="en-US" sz="950" b="1" dirty="0">
                <a:solidFill>
                  <a:srgbClr val="2E8B57"/>
                </a:solidFill>
                <a:latin typeface="Calibri" pitchFamily="34" charset="0"/>
                <a:ea typeface="Calibri" pitchFamily="34" charset="-122"/>
                <a:cs typeface="Calibri" pitchFamily="34" charset="-120"/>
              </a:rPr>
              <a:t> amān · safety, security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تَعْلِيقٌ / يُعَلِّقُ</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‎تعلق‎ </a:t>
            </a:r>
            <a:pPr indent="0" marL="0">
              <a:buNone/>
            </a:pPr>
            <a:r>
              <a:rPr lang="en-US" sz="950" b="1" dirty="0">
                <a:solidFill>
                  <a:srgbClr val="2E8B57"/>
                </a:solidFill>
                <a:latin typeface="Calibri" pitchFamily="34" charset="0"/>
                <a:ea typeface="Calibri" pitchFamily="34" charset="-122"/>
                <a:cs typeface="Calibri" pitchFamily="34" charset="-120"/>
              </a:rPr>
              <a:t> taʿalluq · Urdu: connection · Arabic: comment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Digital tools and 2028 vocabulary (1 of 2)</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الذَّكَاءُ الاصْطِنَاعِيُّ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artificial intelligence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adh-dha-kā-ʾu alṣ-ṭi-nā-ʿiy-yu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كَلِمَةُ المُرُورِ / كَلِمَةُ السِّرِّ</a:t>
            </a:r>
            <a:endParaRPr lang="ar-SA" sz="29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ka-li-ma-tu al-mu-rū-ri / ka-li-ma-tu as-sir-ri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عَلَامَةٌ تِجَارِيَّةٌ / مَارْكَةٌ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ʿa-lā-ma-tun ti-jā-riy-ya-tun / mār-ka-tun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التَّعَلُّمُ عَنْ بُعْدٍ</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distance learning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at-ta-ʿal-lu-mu ʿan buʿ-din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مَوْقِعٌ إِلِكْتُرُونِيٌّ</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website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maw-qi-ʿun i-lik-tu-rū-niy-yun</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Digital tools and 2028 vocabulary (2 of 2)</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تَطْبِيقٌ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taṭ-bī-qun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مِنَصَّةٌ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platform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mi-naṣ-ṣa-tun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شَبَكَةٌ اجْتِمَاعِيَّةٌ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network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sha-ba-ka-tun aj-ti-mā-ʿiy-ya-tun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بَثٌّ مُبَاشِرٌ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live stream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bath-thun mu-bā-shi-run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مُدَوَّنَةٌ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mu-daw-wa-na-tun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Online actions and their prepositions (1 of 2)</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يَنْشُرُ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posts / publishes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yan-shu-ru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تَنْشُرُ</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يَنْشُرُ</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أَنْشُرُ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يُحَمِّلُ</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uploads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yu-ḥam-mi-lu</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تُحَمِّلُ</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يُحَمِّلُ</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أُحَمِّلُ</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2" name="Shape 4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يُنَزِّلُ</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downloads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yu-naz-zi-lu</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تُنَزِّلُ</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يُنَزِّلُ</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أُنَزِّلُ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يُرْسِلُ</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yur-si-lu</a:t>
            </a:r>
            <a:endParaRPr lang="en-US"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يُتَابِعُ</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follows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yu-tā-bi-ʿu</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Online actions and their prepositions (2 of 2)</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يُشَارِكُ</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shares / participates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yu-shā-ri-ku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3" name="Shape 2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يَتَفَاعَلُ مَعَ</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interacts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ya-ta-fā-ʿa-lu ma-ʿa</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تَتَفَاعَلُ</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يَتَفَاعَلُ</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أَتَفَاعَلُ</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1" name="Shape 38"/>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يُعَلِّقُ عَلَى</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comments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yu-ʿal-li-qu ʿa-lā</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تُعَلِّقُ</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يُعَلِّقُ</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5" name="Text 5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أُعَلِّقُ</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يَبْحَثُ عَنْ</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searches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yab-ḥa-thu ʿan</a:t>
            </a:r>
            <a:endParaRPr lang="en-US" sz="1350" dirty="0"/>
          </a:p>
        </p:txBody>
      </p:sp>
      <p:sp>
        <p:nvSpPr>
          <p:cNvPr id="65" name="Shape 62"/>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7" name="Text 64"/>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تَبْحَثُ</a:t>
            </a:r>
            <a:endParaRPr lang="ar-SA" sz="1500" dirty="0"/>
          </a:p>
        </p:txBody>
      </p:sp>
      <p:sp>
        <p:nvSpPr>
          <p:cNvPr id="68" name="Shape 65"/>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70" name="Text 67"/>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يَبْحَثُ</a:t>
            </a:r>
            <a:endParaRPr lang="ar-SA" sz="1500" dirty="0"/>
          </a:p>
        </p:txBody>
      </p:sp>
      <p:sp>
        <p:nvSpPr>
          <p:cNvPr id="71" name="Shape 68"/>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3" name="Text 70"/>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أَبْحَثُ</a:t>
            </a:r>
            <a:endParaRPr lang="ar-SA" sz="1500" dirty="0"/>
          </a:p>
        </p:txBody>
      </p:sp>
      <p:sp>
        <p:nvSpPr>
          <p:cNvPr id="74" name="Shape 7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4389120"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77" name="Text 7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يَعْتَمِدُ عَلَى</a:t>
            </a:r>
            <a:endParaRPr lang="ar-SA" sz="3000" dirty="0"/>
          </a:p>
        </p:txBody>
      </p:sp>
      <p:sp>
        <p:nvSpPr>
          <p:cNvPr id="78" name="Text 7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relies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yaʿ-ta-mi-du ʿa-lā</a:t>
            </a:r>
            <a:endParaRPr lang="en-US" sz="13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Digital benefits and risks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الخُصُوصِيَّةُ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privacy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al-khu-ṣū-ṣiy-ya-tu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الأَمَانُ الرَّقْمِيُّ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security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al-a-mā-nu ar-raq-miy-yu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مَعْلُومَاتٌ مُضَلِّلَةٌ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misinformation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maʿ-lū-mā-tun mu-ḍal-li-la-tun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التَّنَمُّرُ الإِلِكْتُرُونِيُّ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cyberbullying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at-ta-nam-mu-ru al-i-lik-tu-rū-niy-yu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Digital benefits and risks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إِدْمَانُ الشَّاشَاتِ</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screen addiction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id-mā-nu ash-shā-shā-ti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الصِّحَّةُ الرَّقْمِيَّةُ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wellbeing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aṣ-ṣiḥ-ḥa-tu ar-raq-miy-ya-tu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نَاحِيَةٍ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نَاحِيَةٍ أُخْرَى</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ukh-rā</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FOCUS · PART 1 · VERB + FIXED PREPOSITION (WEBSITE RULES 1 AND 4)</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Learn the verb with its preposition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وَحَرْفُ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8221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preposition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34516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interacts with</a:t>
            </a:r>
            <a:endParaRPr lang="en-US" sz="1100" dirty="0"/>
          </a:p>
        </p:txBody>
      </p:sp>
      <p:sp>
        <p:nvSpPr>
          <p:cNvPr id="21" name="Text 18"/>
          <p:cNvSpPr txBox="1"/>
          <p:nvPr/>
        </p:nvSpPr>
        <p:spPr>
          <a:xfrm>
            <a:off x="3840480" y="2286000"/>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يَتَفَاعَلُ الطُّلَّابُ </a:t>
            </a:r>
            <a:pPr rtl="1" algn="ctr" indent="0" marL="0">
              <a:buNone/>
            </a:pPr>
            <a:r>
              <a:rPr lang="ar-SA" altLang="en-US" sz="2100" b="1" dirty="0">
                <a:solidFill>
                  <a:srgbClr val="1D5FBF"/>
                </a:solidFill>
                <a:latin typeface="Amiri" pitchFamily="34" charset="0"/>
                <a:ea typeface="Amiri" pitchFamily="34" charset="-122"/>
                <a:cs typeface="Amiri" pitchFamily="34" charset="-120"/>
              </a:rPr>
              <a:t>مَعَ</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المُعَلِّمِ.</a:t>
            </a:r>
            <a:endParaRPr lang="ar-SA" sz="2100" dirty="0"/>
          </a:p>
        </p:txBody>
      </p:sp>
      <p:sp>
        <p:nvSpPr>
          <p:cNvPr id="22" name="Text 19"/>
          <p:cNvSpPr txBox="1"/>
          <p:nvPr/>
        </p:nvSpPr>
        <p:spPr>
          <a:xfrm>
            <a:off x="3794760" y="2706624"/>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Students interact with the teacher.</a:t>
            </a:r>
            <a:endParaRPr lang="en-US" sz="950" dirty="0"/>
          </a:p>
        </p:txBody>
      </p:sp>
      <p:sp>
        <p:nvSpPr>
          <p:cNvPr id="23" name="Text 20"/>
          <p:cNvSpPr txBox="1"/>
          <p:nvPr/>
        </p:nvSpPr>
        <p:spPr>
          <a:xfrm>
            <a:off x="548640" y="2267712"/>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يَتَفَاعَلُ </a:t>
            </a:r>
            <a:pPr rtl="1" algn="ctr" indent="0" marL="0">
              <a:buNone/>
            </a:pPr>
            <a:r>
              <a:rPr lang="ar-SA" altLang="en-US" sz="2400" b="1" dirty="0">
                <a:solidFill>
                  <a:srgbClr val="1D5FBF"/>
                </a:solidFill>
                <a:latin typeface="Amiri" pitchFamily="34" charset="0"/>
                <a:ea typeface="Amiri" pitchFamily="34" charset="-122"/>
                <a:cs typeface="Amiri" pitchFamily="34" charset="-120"/>
              </a:rPr>
              <a:t>مَعَ</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34516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comments on</a:t>
            </a:r>
            <a:endParaRPr lang="en-US" sz="1100" dirty="0"/>
          </a:p>
        </p:txBody>
      </p:sp>
      <p:sp>
        <p:nvSpPr>
          <p:cNvPr id="28" name="Text 25"/>
          <p:cNvSpPr txBox="1"/>
          <p:nvPr/>
        </p:nvSpPr>
        <p:spPr>
          <a:xfrm>
            <a:off x="3840480" y="3072384"/>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يُعَلِّقُ المُسْتَخْدِمُ </a:t>
            </a:r>
            <a:pPr rtl="1" algn="ctr" indent="0" marL="0">
              <a:buNone/>
            </a:pPr>
            <a:r>
              <a:rPr lang="ar-SA" altLang="en-US" sz="2100" b="1" dirty="0">
                <a:solidFill>
                  <a:srgbClr val="D6336C"/>
                </a:solidFill>
                <a:latin typeface="Amiri" pitchFamily="34" charset="0"/>
                <a:ea typeface="Amiri" pitchFamily="34" charset="-122"/>
                <a:cs typeface="Amiri" pitchFamily="34" charset="-120"/>
              </a:rPr>
              <a:t>عَلَى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المَنْشُورِ.</a:t>
            </a:r>
            <a:endParaRPr lang="ar-SA" sz="2100" dirty="0"/>
          </a:p>
        </p:txBody>
      </p:sp>
      <p:sp>
        <p:nvSpPr>
          <p:cNvPr id="29" name="Text 26"/>
          <p:cNvSpPr txBox="1"/>
          <p:nvPr/>
        </p:nvSpPr>
        <p:spPr>
          <a:xfrm>
            <a:off x="3794760" y="3493008"/>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user comments on the post.</a:t>
            </a:r>
            <a:endParaRPr lang="en-US" sz="950" dirty="0"/>
          </a:p>
        </p:txBody>
      </p:sp>
      <p:sp>
        <p:nvSpPr>
          <p:cNvPr id="30" name="Text 27"/>
          <p:cNvSpPr txBox="1"/>
          <p:nvPr/>
        </p:nvSpPr>
        <p:spPr>
          <a:xfrm>
            <a:off x="548640" y="3054096"/>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يُعَلِّقُ </a:t>
            </a:r>
            <a:pPr rtl="1" algn="ctr" indent="0" marL="0">
              <a:buNone/>
            </a:pPr>
            <a:r>
              <a:rPr lang="ar-SA" altLang="en-US" sz="2400" b="1" dirty="0">
                <a:solidFill>
                  <a:srgbClr val="D6336C"/>
                </a:solidFill>
                <a:latin typeface="Amiri" pitchFamily="34" charset="0"/>
                <a:ea typeface="Amiri" pitchFamily="34" charset="-122"/>
                <a:cs typeface="Amiri" pitchFamily="34" charset="-120"/>
              </a:rPr>
              <a:t>عَلَى</a:t>
            </a:r>
            <a:endParaRPr lang="ar-SA" sz="24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34516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searches for</a:t>
            </a:r>
            <a:endParaRPr lang="en-US" sz="1100" dirty="0"/>
          </a:p>
        </p:txBody>
      </p:sp>
      <p:sp>
        <p:nvSpPr>
          <p:cNvPr id="35" name="Text 32"/>
          <p:cNvSpPr txBox="1"/>
          <p:nvPr/>
        </p:nvSpPr>
        <p:spPr>
          <a:xfrm>
            <a:off x="3840480" y="3858768"/>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أَبْحَثُ </a:t>
            </a:r>
            <a:pPr rtl="1" algn="ctr" indent="0" marL="0">
              <a:buNone/>
            </a:pPr>
            <a:r>
              <a:rPr lang="ar-SA" altLang="en-US" sz="2100" b="1" dirty="0">
                <a:solidFill>
                  <a:srgbClr val="0E7C86"/>
                </a:solidFill>
                <a:latin typeface="Amiri" pitchFamily="34" charset="0"/>
                <a:ea typeface="Amiri" pitchFamily="34" charset="-122"/>
                <a:cs typeface="Amiri" pitchFamily="34" charset="-120"/>
              </a:rPr>
              <a:t>عَنْ</a:t>
            </a:r>
            <a:pPr rtl="1" algn="ctr" indent="0" marL="0">
              <a:buNone/>
            </a:pPr>
            <a:r>
              <a:rPr lang="ar-SA" altLang="en-US" sz="2100" b="1" dirty="0">
                <a:solidFill>
                  <a:srgbClr val="1B3B6F"/>
                </a:solidFill>
                <a:latin typeface="Amiri" pitchFamily="34" charset="0"/>
                <a:ea typeface="Amiri" pitchFamily="34" charset="-122"/>
                <a:cs typeface="Amiri" pitchFamily="34" charset="-120"/>
              </a:rPr>
              <a:t> مَعْلُومَاتٍ لِلْوَاجِبِ.</a:t>
            </a:r>
            <a:endParaRPr lang="ar-SA" sz="2100" dirty="0"/>
          </a:p>
        </p:txBody>
      </p:sp>
      <p:sp>
        <p:nvSpPr>
          <p:cNvPr id="36" name="Text 33"/>
          <p:cNvSpPr txBox="1"/>
          <p:nvPr/>
        </p:nvSpPr>
        <p:spPr>
          <a:xfrm>
            <a:off x="3794760" y="4279392"/>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search for information for homework.</a:t>
            </a:r>
            <a:endParaRPr lang="en-US" sz="950" dirty="0"/>
          </a:p>
        </p:txBody>
      </p:sp>
      <p:sp>
        <p:nvSpPr>
          <p:cNvPr id="37" name="Text 34"/>
          <p:cNvSpPr txBox="1"/>
          <p:nvPr/>
        </p:nvSpPr>
        <p:spPr>
          <a:xfrm>
            <a:off x="548640" y="3840480"/>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يَبْحَثُ </a:t>
            </a:r>
            <a:pPr rtl="1" algn="ctr" indent="0" marL="0">
              <a:buNone/>
            </a:pPr>
            <a:r>
              <a:rPr lang="ar-SA" altLang="en-US" sz="2400" b="1" dirty="0">
                <a:solidFill>
                  <a:srgbClr val="0E7C86"/>
                </a:solidFill>
                <a:latin typeface="Amiri" pitchFamily="34" charset="0"/>
                <a:ea typeface="Amiri" pitchFamily="34" charset="-122"/>
                <a:cs typeface="Amiri" pitchFamily="34" charset="-120"/>
              </a:rPr>
              <a:t>عَنْ</a:t>
            </a:r>
            <a:endParaRPr lang="ar-SA" sz="24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934516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relies on (+ -hi / -hā)</a:t>
            </a:r>
            <a:endParaRPr lang="en-US" sz="1100" dirty="0"/>
          </a:p>
        </p:txBody>
      </p:sp>
      <p:sp>
        <p:nvSpPr>
          <p:cNvPr id="42" name="Text 39"/>
          <p:cNvSpPr txBox="1"/>
          <p:nvPr/>
        </p:nvSpPr>
        <p:spPr>
          <a:xfrm>
            <a:off x="3840480" y="4645152"/>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لَا يَجِبُ أَنْ نَعْتَمِدَ </a:t>
            </a:r>
            <a:pPr rtl="1" algn="ctr" indent="0" marL="0">
              <a:buNone/>
            </a:pPr>
            <a:r>
              <a:rPr lang="ar-SA" altLang="en-US" sz="2100" b="1" dirty="0">
                <a:solidFill>
                  <a:srgbClr val="D6336C"/>
                </a:solidFill>
                <a:latin typeface="Amiri" pitchFamily="34" charset="0"/>
                <a:ea typeface="Amiri" pitchFamily="34" charset="-122"/>
                <a:cs typeface="Amiri" pitchFamily="34" charset="-120"/>
              </a:rPr>
              <a:t>عَلَيْهِ</a:t>
            </a:r>
            <a:pPr rtl="1" algn="ctr" indent="0" marL="0">
              <a:buNone/>
            </a:pPr>
            <a:r>
              <a:rPr lang="ar-SA" altLang="en-US" sz="2100" b="1" dirty="0">
                <a:solidFill>
                  <a:srgbClr val="1B3B6F"/>
                </a:solidFill>
                <a:latin typeface="Amiri" pitchFamily="34" charset="0"/>
                <a:ea typeface="Amiri" pitchFamily="34" charset="-122"/>
                <a:cs typeface="Amiri" pitchFamily="34" charset="-120"/>
              </a:rPr>
              <a:t> كُلِّيًّا.</a:t>
            </a:r>
            <a:endParaRPr lang="ar-SA" sz="2100" dirty="0"/>
          </a:p>
        </p:txBody>
      </p:sp>
      <p:sp>
        <p:nvSpPr>
          <p:cNvPr id="43" name="Text 40"/>
          <p:cNvSpPr txBox="1"/>
          <p:nvPr/>
        </p:nvSpPr>
        <p:spPr>
          <a:xfrm>
            <a:off x="3794760" y="5065776"/>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must not rely on it completely.</a:t>
            </a:r>
            <a:endParaRPr lang="en-US" sz="950" dirty="0"/>
          </a:p>
        </p:txBody>
      </p:sp>
      <p:sp>
        <p:nvSpPr>
          <p:cNvPr id="44" name="Text 41"/>
          <p:cNvSpPr txBox="1"/>
          <p:nvPr/>
        </p:nvSpPr>
        <p:spPr>
          <a:xfrm>
            <a:off x="548640" y="4626864"/>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يَعْتَمِدُ </a:t>
            </a:r>
            <a:pPr rtl="1" algn="ctr" indent="0" marL="0">
              <a:buNone/>
            </a:pPr>
            <a:r>
              <a:rPr lang="ar-SA" altLang="en-US" sz="2400" b="1" dirty="0">
                <a:solidFill>
                  <a:srgbClr val="D6336C"/>
                </a:solidFill>
                <a:latin typeface="Amiri" pitchFamily="34" charset="0"/>
                <a:ea typeface="Amiri" pitchFamily="34" charset="-122"/>
                <a:cs typeface="Amiri" pitchFamily="34" charset="-120"/>
              </a:rPr>
              <a:t>عَلَى</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Refer back with the right pronoun: ʿalayhi (m.: al-mawqiʿ) · fīhā / ʿalayhā (f.: al-minaṣṣa).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BALANCE AND CONCESSION (WEBSITE RULES 2–3)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On one hand … on the other … — but …</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نَاحِيَةٍ · عَلَى الرَّغْمِ مِنْ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BENEFIT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نَاحِيَةٍ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نَاحِيَةٍ، يُسَهِّلُ التَّعَلُّمُ عَنْ بُعْدٍ الوُصُولَ إِلَى الدُّرُوسِ،</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the one hand, distance learning makes lessons easy to access,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first side.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RISK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وَمِنْ نَاحِيَةٍ أُخْرَى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وَمِنْ نَاحِيَةٍ أُخْرَى، قَدْ يَزِيدُ وَقْتَ الشَّاشَةِ.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the other hand, it may increase screen time.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other side.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CONCESSION · STRETCH</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عَلَى الرَّغْمِ مِنْ أَنَّ … فَـ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عَلَى الرَّغْمِ مِنْ أَنَّ الذَّكَاءَ الاصْطِنَاعِيَّ مُفِيدٌ، فَلَا يَجِبُ أَنْ نَعْتَمِدَ عَلَيْهِ كُلِّيًّا.</a:t>
            </a:r>
            <a:endParaRPr lang="ar-SA" sz="2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Although AI is useful, we must not rely on it completely.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full connector.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the complete connector is ʿalā al-raghmi MIN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عَلَى الرَّغْمِ مِنْ أَنَّ …</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عَلَى الرَّغْمِ أَنَّ …</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Grammar and collocations of the digital world</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قَوَاعِدُ العَالَمِ الرَّقْمِيِّ وَمُتَلَازِمَاتُهُ</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Keep the verb with its required preposition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verb + fixed preposition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يَتَفَاعَلُ الطُّلَّابُ مَعَ المُعَلِّمِ.   ·   يُعَلِّقُ المُسْتَخْدِمُ عَلَى المَنْشُورِ.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Balanced contrast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نَاحِيَةٍ ... وَمِنْ نَاحِيَةٍ أُخْرَى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مِنْ نَاحِيَةٍ، يُسَهِّلُ التَّعَلُّمُ عَنْ بُعْدٍ الوُصُولَ إِلَى الدُّرُوسِ، وَمِنْ نَاحِيَةٍ أُخْرَى، قَدْ يَزِيدُ وَقْتَ الشَّاشَةِ.</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Concession with </a:t>
            </a:r>
            <a:pPr algn="l" indent="0" marL="0">
              <a:buNone/>
            </a:pPr>
            <a:r>
              <a:rPr lang="ar-SA" altLang="en-US" sz="1650" b="1" dirty="0">
                <a:solidFill>
                  <a:srgbClr val="1B3B6F"/>
                </a:solidFill>
                <a:latin typeface="Amiri" pitchFamily="34" charset="0"/>
                <a:ea typeface="Amiri" pitchFamily="34" charset="-122"/>
                <a:cs typeface="Amiri" pitchFamily="34" charset="-120"/>
              </a:rPr>
              <a:t>عَلَى الرَّغْمِ مِنْ 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عَلَى الرَّغْمِ مِنْ أَنَّ</a:t>
            </a:r>
            <a:pPr algn="l" indent="0" marL="0">
              <a:buNone/>
            </a:pPr>
            <a:r>
              <a:rPr lang="en-US" sz="1050" dirty="0">
                <a:solidFill>
                  <a:srgbClr val="5A6472"/>
                </a:solidFill>
                <a:latin typeface="Calibri" pitchFamily="34" charset="0"/>
                <a:ea typeface="Calibri" pitchFamily="34" charset="-122"/>
                <a:cs typeface="Calibri" pitchFamily="34" charset="-120"/>
              </a:rPr>
              <a:t> + nominal clause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عَلَى الرَّغْمِ مِنْ أَنَّ الذَّكَاءَ الاصْطِنَاعِيَّ مُفِيدٌ، فَلَا يَجِبُ أَنْ نَعْتَمِدَ عَلَيْهِ كُلِّيًّا.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Pronoun reference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preposition + attached pronoun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المَوْقِعُ مُفِيدٌ، وَلٰكِنْ يَجِبُ التَّحَقُّقُ مِمَّا يُنْشَرُ عَلَيْهِ.   ·   المِنَصَّةُ آمِنَةٌ إِذَا حَافَظْنَا عَلَى خُصُوصِيَّتِنَا فِيهَا.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عَلَى المُعَلِّمِ.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عَنْ المُعَلِّمِ.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مَعَ المُعَلِّمِ.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 عَلَى المَنْشُورِ.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 مِنَ المَنْشُورِ.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 مَعَ المَنْشُورِ.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concession.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التِّقْنِيَّةُ مُفِيدَةٌ، لَهَا مَخَاطِرُ.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أَنَّ التِّقْنِيَّةَ مُفِيدَةٌ، فَلَهَا مَخَاطِرُ.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التِّقْنِيَّةَ أَنَّ مُفِيدَةٌ.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المِنَصَّةُ</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نَحْفَظُ بَيَانَاتِنَا فِيهَا.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نَحْفَظُ بَيَانَاتِنَا عَلَيْهِمَا.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نَحْفَظُ بَيَانَاتِنَا فِيهِ.</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preposition.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يَتَفَاعَلُ الطُّلَّابُ عَلَى المُعَلِّمِ.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يَتَفَاعَلُ الطُّلَّابُ عَنْ المُعَلِّمِ.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يَتَفَاعَلُ الطُّلَّابُ مَعَ المُعَلِّمِ.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يُعَلِّقُ عَلَى المَنْشُورِ.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يُعَلِّقُ مِنَ المَنْشُورِ.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يُعَلِّقُ مَعَ المَنْشُورِ.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يعلق</a:t>
            </a:r>
            <a:pPr algn="l" indent="0" marL="0">
              <a:buNone/>
            </a:pPr>
            <a:r>
              <a:rPr lang="en-US" sz="1050" i="1" dirty="0">
                <a:solidFill>
                  <a:srgbClr val="8A6D1E"/>
                </a:solidFill>
                <a:latin typeface="Calibri" pitchFamily="34" charset="0"/>
                <a:ea typeface="Calibri" pitchFamily="34" charset="-122"/>
                <a:cs typeface="Calibri" pitchFamily="34" charset="-120"/>
              </a:rPr>
              <a:t> governs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concession.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التِّقْنِيَّةُ مُفِيدَةٌ، لَهَا مَخَاطِرُ.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الرَّغْمِ مِنْ أَنَّ التِّقْنِيَّةَ مُفِيدَةٌ، فَلَهَا مَخَاطِرُ.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مِنْ التِّقْنِيَّةَ أَنَّ مُفِيدَةٌ.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pattern is </a:t>
            </a:r>
            <a:pPr algn="l" indent="0" marL="0">
              <a:buNone/>
            </a:pPr>
            <a:r>
              <a:rPr lang="ar-SA" altLang="en-US" sz="1350" dirty="0">
                <a:solidFill>
                  <a:srgbClr val="8A6D1E"/>
                </a:solidFill>
                <a:latin typeface="Amiri" pitchFamily="34" charset="0"/>
                <a:ea typeface="Amiri" pitchFamily="34" charset="-122"/>
                <a:cs typeface="Amiri" pitchFamily="34" charset="-120"/>
              </a:rPr>
              <a:t>على الرغم من أن</a:t>
            </a:r>
            <a:pPr algn="l" indent="0" marL="0">
              <a:buNone/>
            </a:pPr>
            <a:r>
              <a:rPr lang="en-US" sz="1050" i="1" dirty="0">
                <a:solidFill>
                  <a:srgbClr val="8A6D1E"/>
                </a:solidFill>
                <a:latin typeface="Calibri" pitchFamily="34" charset="0"/>
                <a:ea typeface="Calibri" pitchFamily="34" charset="-122"/>
                <a:cs typeface="Calibri" pitchFamily="34" charset="-120"/>
              </a:rPr>
              <a:t> + clause.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المِنَصَّةُ</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نَحْفَظُ بَيَانَاتِنَا فِيهَا.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نَحْفَظُ بَيَانَاتِنَا عَلَيْهِمَا.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نَحْفَظُ بَيَانَاتِنَا فِيهِ.</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منصة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فيها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evaluate distance learning</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I use it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أَسْتَخْدِمُ مِنَصَّةً وَ</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أَتَفَاعَلُ مَعَ</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المُعَلِّمِ.</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Verb + its preposition.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Benefit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مِنْ نَاحِيَةٍ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تُسَاعِدُنِي عَلَى التَّعَلُّمِ فِي أَيِّ مَكَانٍ.</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First side.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Risk</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وَمِنْ نَاحِيَةٍ أُخْرَى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قَدْ تَزِيدُ وَقْتَ الشَّاشَةِ.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Other side.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Judgement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أُؤَيِّدُهَا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شَرِيطَةَ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نَسْتَخْدِمَهَا بِوَعْيٍ.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Qualified.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 + PREP.</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BALANCE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أَسْتَخْدِمُ مِنَصَّةً لِلتَّعَلُّمِ عَنْ بُعْدٍ ثَلَاثَ مَرَّاتٍ فِي الأُسْبُوعِ.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أَتَفَاعَلُ مَعَ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المُعَلِّمِ،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أُعَلِّقُ 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أَفْكَارِ زُمَلَائِي.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مِنْ نَاحِيَةٍ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تُسَاعِدُنِي المِنَصَّةُ عَلَى التَّعَلُّمِ فِي أَيِّ مَكَانٍ،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وَمِنْ نَاحِيَةٍ أُخْرَى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أَحْتَاجُ إِلَى تَقْلِيلِ وَقْتِ الشَّاشَةِ. فِي رَأْيِي، هِيَ مُفِيدَةٌ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شَرِيطَةَ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نَسْتَخْدِمَهَا بِوَعْيٍ.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use a distance-learning platform three times a week. I interact with the teacher and comment on my classmates’ ideas. On the one hand, the platform helps me learn anywhere; on the other hand, I need to reduce my screen time. In my opinion, it is useful provided that we use it consciously.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يَتَفَاعَلُ الطُّلَّابُ مَعَ المُعَلِّمِ.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Students interact with the teacher.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Arabic digital verbs often govern a specific preposition. Changing it makes the phrase inaccurate.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مِنْ نَاحِيَةٍ، يُسَهِّلُ التَّعَلُّمُ عَنْ بُعْدٍ الوُصُولَ إِلَى الدُّرُوسِ، وَمِنْ نَاحِيَةٍ أُخْرَى، قَدْ يَزِيدُ وَقْتَ الشَّاشَةِ.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 the one hand, distance learning makes lessons accessible; on the other hand, it may increase screen time.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Present a benefit and a limitation before reaching a judgement.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عَلَى الرَّغْمِ مِنْ أَنَّ الذَّكَاءَ الاصْطِنَاعِيَّ مُفِيدٌ، فَلَا يَجِبُ أَنْ نَعْتَمِدَ عَلَيْهِ كُلِّيًّا.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Although artificial intelligence is useful, we must not rely on it completely.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أَنَّ with a noun or attached pronoun; the sentence that follows states the unexpected contrast.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THE DIGITAL WORLD — TECHNOLOGY AND SOCIAL MEDIA”</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How do we use technology? Match the picture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العَالَمُ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phone · chatting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lock · protection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robot · idea</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نَحْمِيَ خُصُوصِيَّتَنَا عَلَى الإِنْتَرْنِتِ.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الذَّكَاءُ الاصْطِنَاعِيُّ يُسَاعِدُ فِي حَلِّ بَعْضِ المُشْكِلَاتِ.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أَسْتَخْدِمُ الهَاتِفَ لِلتَّوَاصُلِ.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العَالَمُ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phone · chatting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أَسْتَخْدِمُ الهَاتِفَ لِلتَّوَاصُلِ.</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use my phone to communicate.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lock · protection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يَجِبُ أَنْ نَحْمِيَ خُصُوصِيَّتَنَا عَلَى الإِنْتَرْنِتِ.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protect our privacy online.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robot · idea</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الذَّكَاءُ الاصْطِنَاعِيُّ يُسَاعِدُ فِي حَلِّ بَعْضِ المُشْكِلَاتِ.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AI helps to solve some problems.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الذَّكَاءُ الاصْطِنَاعِيُّ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كَلِمَةُ المُرُورِ / كَلِمَةُ السِّرِّ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عَلَامَةٌ تِجَارِيَّةٌ / مَارْكَةٌ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يَنْشُرُ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يُحَمِّلُ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يُنَزِّلُ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الخُصُوصِيَّةُ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الأَمَانُ الرَّقْمِيُّ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مَعْلُومَاتٌ مُضَلِّلَةٌ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Digital tools and 2028 vocabulary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Online actions and their prepositions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Digital benefits and risks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Digital tools and 2028 vocabulary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الذَّكَاءُ الاصْطِنَاعِيُّ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كَلِمَةُ المُرُورِ / كَلِمَةُ السِّرِّ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عَلَامَةٌ تِجَارِيَّةٌ / مَارْكَةٌ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Online actions and their prepositions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يَنْشُرُ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يُحَمِّلُ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يُنَزِّلُ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Digital benefits and risks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الخُصُوصِيَّةُ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الأَمَانُ الرَّقْمِيُّ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مَعْلُومَاتٌ مُضَلِّلَةٌ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builds a balanced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 قُرْبَ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 حَتَّى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 وَمِنْ نَاحِيَةٍ أُخْرَى</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“distance learning”?</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التَّعَلُّمُ فِي قُرْبٍ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التَّعَلُّمُ عَنْ بُعْدٍ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التَّعَلُّمُ عَلَى مَارْكَةٍ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digital-safety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نَنْشُرَ كَلِمَةَ المُرُورِ لِلْجَمِيعِ.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نَسْتَخْدِمَ كَلِمَةَ مُرُورٍ قَوِيَّةً لِحِمَايَةِ حِسَابَاتِنَا.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نُحَمِّلَ الخُصُوصِيَّةَ.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qualified judgement?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شَرِيطَةٌ عَلَى المَسْؤُولِيَّةِ.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مُفِيدَةٌ لِأَنَّهَا مُفِيدَةٌ.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التِّقْنِيَّةُ مُفِيدَةٌ شَرِيطَةَ أَنْ نَسْتَخْدِمَهَا بِمَسْؤُولِيَّةٍ.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builds a balanced contrast?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 قُرْبَ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مُنْذُ ... حَتَّى</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نَاحِيَةٍ ... وَمِنْ نَاحِيَةٍ أُخْرَى</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two phrases frame contrasting sides.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“distance learning”?</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التَّعَلُّمُ فِي قُرْبٍ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التَّعَلُّمُ عَنْ بُعْدٍ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التَّعَلُّمُ عَلَى مَارْكَةٍ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التعلم عن بعد</a:t>
            </a:r>
            <a:pPr algn="l" indent="0" marL="0">
              <a:buNone/>
            </a:pPr>
            <a:r>
              <a:rPr lang="en-US" sz="1050" i="1" dirty="0">
                <a:solidFill>
                  <a:srgbClr val="8A6D1E"/>
                </a:solidFill>
                <a:latin typeface="Calibri" pitchFamily="34" charset="0"/>
                <a:ea typeface="Calibri" pitchFamily="34" charset="-122"/>
                <a:cs typeface="Calibri" pitchFamily="34" charset="-120"/>
              </a:rPr>
              <a:t> is the required phrase.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coherent digital-safety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نَنْشُرَ كَلِمَةَ المُرُورِ لِلْجَمِيعِ.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نَسْتَخْدِمَ كَلِمَةَ مُرُورٍ قَوِيَّةً لِحِمَايَةِ حِسَابَاتِنَا.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نُحَمِّلَ الخُصُوصِيَّةَ.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strong password protects accounts.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qualified judgement?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التِّقْنِيَّةُ شَرِيطَةٌ عَلَى المَسْؤُولِيَّةِ.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التِّقْنِيَّةُ مُفِيدَةٌ لِأَنَّهَا مُفِيدَةٌ.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التِّقْنِيَّةُ مُفِيدَةٌ شَرِيطَةَ أَنْ نَسْتَخْدِمَهَا بِمَسْؤُولِيَّةٍ.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شريطة أن</a:t>
            </a:r>
            <a:pPr algn="l" indent="0" marL="0">
              <a:buNone/>
            </a:pPr>
            <a:r>
              <a:rPr lang="en-US" sz="1050" i="1" dirty="0">
                <a:solidFill>
                  <a:srgbClr val="8A6D1E"/>
                </a:solidFill>
                <a:latin typeface="Calibri" pitchFamily="34" charset="0"/>
                <a:ea typeface="Calibri" pitchFamily="34" charset="-122"/>
                <a:cs typeface="Calibri" pitchFamily="34" charset="-120"/>
              </a:rPr>
              <a:t> introduces a condition for the judgement.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يَتَفَاعَلُ الطُّلَّابُ عَلَى المُعَلِّمِ.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yatafāʿalu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يُعَلِّقُ المُسْتَخْدِمُ مَعَ المَنْشُورِ.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yuʿalliqu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عَلَى الرَّغْمِ أَنَّ الذَّكَاءَ الاصْطِنَاعِيَّ مُفِيدٌ.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ʿalā al-raghmi … what is missing?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يَتَفَاعَلُ الطُّلَّابُ عَلَى المُعَلِّمِ.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يَتَفَاعَلُ الطُّلَّابُ مَعَ المُعَلِّمِ.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يتفاعل</a:t>
            </a:r>
            <a:pPr algn="l" indent="0" marL="0">
              <a:buNone/>
            </a:pPr>
            <a:r>
              <a:rPr lang="en-US" sz="1150" b="1" dirty="0">
                <a:solidFill>
                  <a:srgbClr val="1B3B6F"/>
                </a:solidFill>
                <a:latin typeface="Calibri" pitchFamily="34" charset="0"/>
                <a:ea typeface="Calibri" pitchFamily="34" charset="-122"/>
                <a:cs typeface="Calibri" pitchFamily="34" charset="-120"/>
              </a:rPr>
              <a:t> governs </a:t>
            </a:r>
            <a:pPr algn="l" indent="0" marL="0">
              <a:buNone/>
            </a:pPr>
            <a:r>
              <a:rPr lang="ar-SA" altLang="en-US" sz="1500" b="1" dirty="0">
                <a:solidFill>
                  <a:srgbClr val="1B3B6F"/>
                </a:solidFill>
                <a:latin typeface="Amiri" pitchFamily="34" charset="0"/>
                <a:ea typeface="Amiri" pitchFamily="34" charset="-122"/>
                <a:cs typeface="Amiri" pitchFamily="34" charset="-120"/>
              </a:rPr>
              <a:t>مع</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يُعَلِّقُ المُسْتَخْدِمُ مَعَ المَنْشُورِ.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يُعَلِّقُ المُسْتَخْدِمُ عَلَى المَنْشُورِ.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يعلّق</a:t>
            </a:r>
            <a:pPr algn="l" indent="0" marL="0">
              <a:buNone/>
            </a:pPr>
            <a:r>
              <a:rPr lang="en-US" sz="1150" b="1" dirty="0">
                <a:solidFill>
                  <a:srgbClr val="1B3B6F"/>
                </a:solidFill>
                <a:latin typeface="Calibri" pitchFamily="34" charset="0"/>
                <a:ea typeface="Calibri" pitchFamily="34" charset="-122"/>
                <a:cs typeface="Calibri" pitchFamily="34" charset="-120"/>
              </a:rPr>
              <a:t> governs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عَلَى الرَّغْمِ أَنَّ الذَّكَاءَ الاصْطِنَاعِيَّ مُفِيدٌ.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34" charset="0"/>
                <a:ea typeface="Amiri" pitchFamily="34" charset="-122"/>
                <a:cs typeface="Amiri" pitchFamily="34" charset="-120"/>
              </a:rPr>
              <a:t>عَلَى الرَّغْمِ مِنْ أَنَّ الذَّكَاءَ الاصْطِنَاعِيَّ مُفِيدٌ.</a:t>
            </a:r>
            <a:endParaRPr lang="ar-SA" sz="23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complete connector is </a:t>
            </a:r>
            <a:pPr algn="l" indent="0" marL="0">
              <a:buNone/>
            </a:pPr>
            <a:r>
              <a:rPr lang="ar-SA" altLang="en-US" sz="1500" b="1" dirty="0">
                <a:solidFill>
                  <a:srgbClr val="1B3B6F"/>
                </a:solidFill>
                <a:latin typeface="Amiri" pitchFamily="34" charset="0"/>
                <a:ea typeface="Amiri" pitchFamily="34" charset="-122"/>
                <a:cs typeface="Amiri" pitchFamily="34" charset="-120"/>
              </a:rPr>
              <a:t>على الرغم من 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Listening: a student’s digital routine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the platform used?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hour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the speaker interact with?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doctor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shop assistant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upload?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Advertisements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one advantage?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from any place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needing a teacher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Sharing private data</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needs to be reduced?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 strength</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Screen time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Lesson time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two safety/wellbeing actions are taken?</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a strong password and stopping before sleep</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Sharing the password and staying online all night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Posting personal details and avoiding lessons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ثَلَاثَ مَرَّاتٍ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المُعَلِّمِ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وَاجِبَاتِي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أَسْتَخْدِمُ مِنَصَّةً لِلتَّعَلُّمِ عَنْ بُعْدٍ ثَلَاثَ مَرَّاتٍ فِي الأُسْبُوعِ.</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use a distance-learning platform three times a week.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أَتَفَاعَلُ مَعَ المُعَلِّمِ، وَأُحَمِّلُ وَاجِبَاتِي، وَأُعَلِّقُ عَلَى أَفْكَارِ زُمَلَائِي.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interact with the teacher, upload my homework and comment on my classmates’ ideas.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نَاحِيَةٍ، تُسَاعِدُنِي المِنَصَّةُ عَلَى التَّعَلُّمِ فِي أَيِّ مَكَانٍ.</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one hand, the platform helps me learn anywhere.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وَمِنْ نَاحِيَةٍ أُخْرَى، أَحْتَاجُ إِلَى تَقْلِيلِ وَقْتِ الشَّاشَةِ.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other hand, I need to reduce screen time.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أَسْتَخْدِمُ كَلِمَةَ مُرُورٍ قَوِيَّةً وَأَتَوَقَّفُ عَنِ الاسْتِخْدَامِ قَبْلَ النَّوْمِ.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I use a strong password and stop using it before sleep.</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the platform used?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hour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month</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the speaker interact with?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doctor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shop assistant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أتفاعل مع المعلم.</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upload?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Passwords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Advertisements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Homework</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أحمل واجباتي.</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one advantage?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Learning from any place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needing a teacher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Sharing private data</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التعلم في أي مكان.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needs to be reduced?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Password strength</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Screen time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Lesson time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تقليل وقت الشاشة.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two safety/wellbeing actions are taken?</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Using a strong password and stopping before sleep</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Sharing the password and staying online all night</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Posting personal details and avoiding lessons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names both actions.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ثَلَاثَ مَرَّاتٍ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المُعَلِّمِ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وَاجِبَاتِي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evaluate digital learning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تَسْتَخْدِمُ التِّقْنِيَّةَ؟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فَوَائِدُ التَّعَلُّمِ عَنْ بُعْدٍ؟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مَخَاطِرُ وَسَائِلِ التَّوَاصُلِ؟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34" charset="0"/>
                <a:ea typeface="Amiri" pitchFamily="34" charset="-122"/>
                <a:cs typeface="Amiri" pitchFamily="34" charset="-120"/>
              </a:rPr>
              <a:t>أَسْتَخْدِمُ ___ لِـ ___ ، وَأَتَفَاعَلُ مَعَ ___ .</a:t>
            </a:r>
            <a:endParaRPr lang="ar-SA" sz="15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نَاحِيَةٍ ___ ، وَمِنْ نَاحِيَةٍ أُخْرَى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F2A37"/>
                </a:solidFill>
                <a:latin typeface="Amiri" pitchFamily="34" charset="0"/>
                <a:ea typeface="Amiri" pitchFamily="34" charset="-122"/>
                <a:cs typeface="Amiri" pitchFamily="34" charset="-120"/>
              </a:rPr>
              <a:t>عَلَى الرَّغْمِ مِنْ أَنَّ ___ ، فَـ ___ شَرِيطَةَ أَنْ ___ .</a:t>
            </a:r>
            <a:endParaRPr lang="ar-SA" sz="12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رَأْيُكَ فِي التَّعَلُّمِ عَنْ بُعْدٍ؟</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think of distance learning?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مِنْ نَاحِيَةٍ، هُوَ مُرِنٌ وَيُسَهِّلُ الوُصُولَ إِلَى الدُّرُوسِ، وَمِنْ نَاحِيَةٍ أُخْرَى، قَدْ يُقَلِّلُ التَّفَاعُلَ المُبَاشِرَ. أُؤَيِّدُهُ شَرِيطَةَ أَنْ يَكُونَ آمِنًا وَتَفَاعُلِيًّا.</a:t>
            </a:r>
            <a:endParaRPr lang="ar-SA" sz="140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On one hand it is flexible and makes lessons accessible; on the other hand it may reduce direct interaction. I support it provided it is safe and interactive.</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How you use technology: three verbs with their prepositions + one benefit.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benefit and one risk balanced with min nāḥiya … ukhrā.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evaluate technology or social media with a concession and a qualified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نَاحِيَةٍ،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one hand,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وَمِنْ نَاحِيَةٍ أُخْرَى،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other hand,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عَلَى الرَّغْمِ مِنْ أَنَّ ______ مُفِيدٌ، فَـ ______ .</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Although … is useful,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شَرِيطَةَ أَنْ نَسْتَخْدِمَهُ بِمَسْؤُولِيَّةٍ.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provided that we use it responsibly.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أَسْتَخْدِمُ ______ لِـ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 …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أَتَفَاعَلُ مَعَ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interact with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أَبْحَثُ عَنْ ______ عَلَى الإِنْتَرْنِتِ.</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search for … online.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أَسْتَخْدِمُ كَلِمَةَ مُرُورٍ قَوِيَّةً.</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 a strong password.</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الذَّكَاءُ الاصْطِنَاعِيُّ  ·  التَّعَلُّمُ عَنْ بُعْدٍ  ·  مِنَصَّةٌ  ·  تَطْبِيقٌ  ·  يَتَفَاعَلُ مَعَ  ·  يُعَلِّقُ عَلَى  ·  يَبْحَثُ عَنْ  ·  يَعْتَمِدُ عَلَى  ·  الخُصُوصِيَّةُ  ·  إِدْمَانُ الشَّاشَاتِ  ·  مِنْ نَاحِيَةٍ … أُخْرَى  ·  شَرِيطَةَ أَنْ</a:t>
            </a:r>
            <a:endParaRPr lang="ar-SA" sz="14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evaluating technology or social media.</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all four target 2028 digital terms where relevant.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Balance at least one benefit and one risk.</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accurate digital-verb prepositions.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qualified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أَصْبَحَ … جُزْءًا مِنْ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has become part of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يُسَاعِدُ عَلَى تَنْظِيمِ الأَفْكَارِ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helps organise ideas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التَّحَقُّقُ مِنَ المَصَادِرِ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sources must be checked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 يَتَعَرَّضُ لِمَعْلُومَاتٍ مُضَلِّلَةٍ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may be exposed to misinformation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شَرِيطَةَ أَنْ نَسْتَخْدِمَهَا بِمَسْؤُولِيَّةٍ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provided that we use it responsibly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أَصْبَحَتِ التِّقْنِيَّةُ جُزْءًا أَسَاسِيًّا مِنْ حَيَاتِنَا. مِنْ نَاحِيَةٍ، يُسَهِّلُ التَّعَلُّمُ عَنْ بُعْدٍ الوُصُولَ إِلَى الدُّرُوسِ، وَيُسَاعِدُ الذَّكَاءُ الاصْطِنَاعِيُّ عَلَى تَنْظِيمِ الأَفْكَارِ. وَمِنْ نَاحِيَةٍ أُخْرَى، قَدْ تُؤَدِّي كَثْرَةُ الاسْتِخْدَامِ إِلَى إِدْمَانِ الشَّاشَاتِ، وَقَدْ يَتَعَرَّضُ المُسْتَخْدِمُ لِمَعْلُومَاتٍ مُضَلِّلَةٍ. عَلَى الرَّغْمِ مِنْ أَنَّ المِنَصَّاتِ مُفِيدَةٌ، فَيَجِبُ أَنْ نَحْمِيَ خُصُوصِيَّتَنَا وَنَسْتَخْدِمَ كَلِمَاتِ مُرُورٍ قَوِيَّةً. فِي رَأْيِي، التِّقْنِيَّةُ إِيجَابِيَّةٌ شَرِيطَةَ أَنْ نَسْتَخْدِمَهَا بِمَسْؤُولِيَّةٍ.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Technology has become an essential part of our lives. On the one hand, distance learning makes lessons accessible, and AI helps organise ideas. On the other hand, heavy use may lead to screen addiction, and users may be exposed to misinformation. Although platforms are useful, we must protect our privacy and use strong passwords. In my opinion, technology is positive provided that we use it responsibly.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2028 digital terms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benefit and a risk</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verb with its preposition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qualified conclusion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digital verbs have the right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four digital words.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balanced a benefit and a risk.</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Pronouns match (-hu / -hā).</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made a concession and a qualified judgement.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collocation.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frames the other side of an argument?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أُخْرَى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التِّقْنِيَّةُ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نَسْتَخْدِمُهَا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نَسْتَخْدِمُهُ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نَسْتَخْدِمُهُمْ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collocation.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يَتَفَاعَلُ 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يَتَفَاعَلُ 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يَتَفَاعَلُ 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يتفاعل مع.</a:t>
            </a:r>
            <a:endParaRPr lang="ar-SA" sz="13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frames the other side of an argument?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 نَاحِيَةٍ أُخْرَى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ناحية أخرى.</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Refer back to </a:t>
            </a:r>
            <a:pPr algn="l" indent="0" marL="0">
              <a:buNone/>
            </a:pPr>
            <a:r>
              <a:rPr lang="ar-SA" altLang="en-US" sz="1650" b="1" dirty="0">
                <a:solidFill>
                  <a:srgbClr val="1B3B6F"/>
                </a:solidFill>
                <a:latin typeface="Amiri" pitchFamily="34" charset="0"/>
                <a:ea typeface="Amiri" pitchFamily="34" charset="-122"/>
                <a:cs typeface="Amiri" pitchFamily="34" charset="-120"/>
              </a:rPr>
              <a:t>التِّقْنِيَّةُ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نَسْتَخْدِمُهَا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نَسْتَخْدِمُهُ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نَسْتَخْدِمُهُمْ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Technology is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Reading: responsible use of artificial intelligence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أَصْبَحَ الذَّكَاءُ الاصْطِنَاعِيُّ جُزْءًا مِنَ التَّعَلُّمِ الرَّقْمِيِّ. فَهُوَ يُسَاعِدُ بَعْضَ الطُّلَّابِ عَلَى فَهْمِ المَفَاهِيمِ وَتَنْظِيمِ أَفْكَارِهِمْ. وَمَعَ ذٰلِكَ، لَا تَكُونُ كُلُّ المَعْلُومَاتِ الَّتِي يُنْتِجُهَا دَقِيقَةً. لِذٰلِكَ يَجِبُ التَّحَقُّقُ مِنَ المَصَادِرِ، وَعَدَمُ إِدْخَالِ البَيَانَاتِ الشَّخْصِيَّةِ فِي مَوَاقِعَ غَيْرِ آمِنَةٍ. فِي رَأْيِي، هُوَ أَدَاةٌ مُفِيدَةٌ شَرِيطَةَ أَنْ يَسْتَخْدِمَهُ الطَّالِبُ بِوَعْيٍ.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جُزْءًا مِنَ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part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المَفَاهِيمِ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concepts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تَنْظِيمِ أَفْكَارِهِمْ</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organising their ideas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وَمَعَ ذٰلِكَ</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however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يُنْتِجُهَا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produces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دَقِيقَةً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accurate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التَّحَقُّقُ مِنَ المَصَادِرِ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checking the sources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إِدْخَالِ البَيَانَاتِ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entering data</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غَيْرِ آمِنَةٍ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unsafe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بِوَعْيٍ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consciously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become part of digital learning?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Printed newspapers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Public transport</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benefit mentioned.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removes the need to think</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guarantees every answer is correct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can help students understand concepts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limitation is stated?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all generated information is accurate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cannot organise ideas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never uses data</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learners verify?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Brands only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Sources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Weather forecasts only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not be entered on unsafe sites?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Personal data</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Public vocabulary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Lesson titles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Under what condition is AI useful according to the writer?</a:t>
            </a:r>
            <a:endParaRPr lang="en-US" sz="10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every response is copied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privacy is ignored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used consciously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become part of digital learning?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Printed newspapers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Public transport</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الذكاء الاصطناعي.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benefit mentioned.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removes the need to think</a:t>
            </a:r>
            <a:endParaRPr lang="en-US" sz="11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guarantees every answer is correct</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can help students understand concepts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it helps some students understand concepts.</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limitation is stated?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Not all generated information is accurate</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cannot organise ideas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never uses data</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تكون كل المعلومات دقيقة.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learners verify?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Brands only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Sources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Weather forecasts only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التحقق من المصادر.</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not be entered on unsafe sites?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Personal data</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Public vocabulary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Lesson titles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البيانات الشخصية.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ea typeface="Calibri" pitchFamily="34" charset="-122"/>
                <a:cs typeface="Calibri" pitchFamily="34" charset="-120"/>
              </a:rPr>
              <a:t>Under what condition is AI useful according to the writer?</a:t>
            </a:r>
            <a:endParaRPr lang="en-US" sz="10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When every response is copied</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privacy is ignored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When used consciously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شريطة أن يستخدمه الطالب بوعي.</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The Digital World — Technology and Social Media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accurately describes interaction?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عَلَى المُحْتَوَى.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مَعَ المُحْتَوَى.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الطُّلَّابُ إِلَى المُحْتَوَى.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action best protects privacy?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اسْتِخْدَامُ كَلِمَةِ مُرُورٍ قَوِيَّةٍ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مُشَارَكَةُ كَلِمَةِ السِّرِّ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نَشْرُ العُنْوَانِ الشَّخْصِيِّ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contains a genuine contrast.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تُسَهِّلُ التِّقْنِيَّةُ التَّعَلُّمَ وَتُسَهِّلُ التَّعَلُّمَ.</a:t>
            </a:r>
            <a:endParaRPr lang="ar-SA" sz="1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التِّقْنِيَّةُ مَنْصَّةٌ وَالمَنْصَّةُ تِقْنِيَّةٌ.</a:t>
            </a:r>
            <a:endParaRPr lang="ar-SA" sz="1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مِنْ نَاحِيَةٍ تُسَهِّلُ التِّقْنِيَّةُ التَّعَلُّمَ، وَمِنْ نَاحِيَةٍ أُخْرَى قَدْ تُشَتِّتُ الانْتِبَاهَ.</a:t>
            </a:r>
            <a:endParaRPr lang="ar-SA" sz="1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item is one of the 2028 vocabulary targets?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مَلْعَبُ كُرَةِ القَدَمِ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مَوْعِدُ الطَّبِيبِ</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عَلَامَةٌ تِجَارِيَّةٌ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refers back correctly to </a:t>
            </a:r>
            <a:pPr algn="l" indent="0" marL="0">
              <a:buNone/>
            </a:pPr>
            <a:r>
              <a:rPr lang="ar-SA" altLang="en-US" sz="1650" b="1" dirty="0">
                <a:solidFill>
                  <a:srgbClr val="1B3B6F"/>
                </a:solidFill>
                <a:latin typeface="Amiri" pitchFamily="34" charset="0"/>
                <a:ea typeface="Amiri" pitchFamily="34" charset="-122"/>
                <a:cs typeface="Amiri" pitchFamily="34" charset="-120"/>
              </a:rPr>
              <a:t>المَوْقِعُ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التَّحَقُّقُ مِمَّا يُنْشَرُ عَلَيْهِ.</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التَّحَقُّقُ مِمَّا يُنْشَرُ عَلَيْهِنَّ.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التَّحَقُّقُ مِمَّا يُنْشَرُ عَلَيْهَا.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is appropriately qualified?</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أُؤَيِّدُهُ دَائِمًا لِأَنَّهُ دَائِمًا.</a:t>
            </a:r>
            <a:endParaRPr lang="ar-SA"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أُؤَيِّدُ التَّعَلُّمَ عَنْ بُعْدٍ شَرِيطَةَ أَنْ يَكُونَ آمِنًا وَتَفَاعُلِيًّا.</a:t>
            </a:r>
            <a:endParaRPr lang="ar-SA"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أُؤَيِّدُ الخُصُوصِيَّةَ عَلَى التَّعَلُّمِ.</a:t>
            </a:r>
            <a:endParaRPr lang="ar-SA"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accurately describes interaction?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يَتَفَاعَلُ الطُّلَّابُ عَلَى المُحْتَوَى.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يَتَفَاعَلُ الطُّلَّابُ مَعَ المُحْتَوَى.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يَتَفَاعَلُ الطُّلَّابُ إِلَى المُحْتَوَى.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يتفاعل مع</a:t>
            </a:r>
            <a:pPr algn="l" indent="0" marL="0">
              <a:buNone/>
            </a:pPr>
            <a:r>
              <a:rPr lang="en-US" sz="1050" i="1" dirty="0">
                <a:solidFill>
                  <a:srgbClr val="8A6D1E"/>
                </a:solidFill>
                <a:latin typeface="Calibri" pitchFamily="34" charset="0"/>
                <a:ea typeface="Calibri" pitchFamily="34" charset="-122"/>
                <a:cs typeface="Calibri" pitchFamily="34" charset="-120"/>
              </a:rPr>
              <a:t> is the correct collocation.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action best protects privacy?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اسْتِخْدَامُ كَلِمَةِ مُرُورٍ قَوِيَّةٍ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مُشَارَكَةُ كَلِمَةِ السِّرِّ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نَشْرُ العُنْوَانِ الشَّخْصِيِّ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strong password protects personal accounts.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contains a genuine contrast.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تُسَهِّلُ التِّقْنِيَّةُ التَّعَلُّمَ وَتُسَهِّلُ التَّعَلُّمَ.</a:t>
            </a:r>
            <a:endParaRPr lang="ar-SA" sz="10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التِّقْنِيَّةُ مَنْصَّةٌ وَالمَنْصَّةُ تِقْنِيَّةٌ.</a:t>
            </a:r>
            <a:endParaRPr lang="ar-SA" sz="10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مِنْ نَاحِيَةٍ تُسَهِّلُ التِّقْنِيَّةُ التَّعَلُّمَ، وَمِنْ نَاحِيَةٍ أُخْرَى قَدْ تُشَتِّتُ الانْتِبَاهَ.</a:t>
            </a:r>
            <a:endParaRPr lang="ar-SA" sz="10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sentence balances a benefit and a drawback.</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item is one of the 2028 vocabulary targets?</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مَلْعَبُ كُرَةِ القَدَمِ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مَوْعِدُ الطَّبِيبِ</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عَلَامَةٌ تِجَارِيَّةٌ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علامة تجارية</a:t>
            </a:r>
            <a:pPr algn="l" indent="0" marL="0">
              <a:buNone/>
            </a:pPr>
            <a:r>
              <a:rPr lang="en-US" sz="1050" i="1" dirty="0">
                <a:solidFill>
                  <a:srgbClr val="8A6D1E"/>
                </a:solidFill>
                <a:latin typeface="Calibri" pitchFamily="34" charset="0"/>
                <a:ea typeface="Calibri" pitchFamily="34" charset="-122"/>
                <a:cs typeface="Calibri" pitchFamily="34" charset="-120"/>
              </a:rPr>
              <a:t> is a target D4 digital term.</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refers back correctly to </a:t>
            </a:r>
            <a:pPr algn="l" indent="0" marL="0">
              <a:buNone/>
            </a:pPr>
            <a:r>
              <a:rPr lang="ar-SA" altLang="en-US" sz="1650" b="1" dirty="0">
                <a:solidFill>
                  <a:srgbClr val="1B3B6F"/>
                </a:solidFill>
                <a:latin typeface="Amiri" pitchFamily="34" charset="0"/>
                <a:ea typeface="Amiri" pitchFamily="34" charset="-122"/>
                <a:cs typeface="Amiri" pitchFamily="34" charset="-120"/>
              </a:rPr>
              <a:t>المَوْقِعُ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التَّحَقُّقُ مِمَّا يُنْشَرُ عَلَيْهِ.</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التَّحَقُّقُ مِمَّا يُنْشَرُ عَلَيْهِنَّ.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التَّحَقُّقُ مِمَّا يُنْشَرُ عَلَيْهَا.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الموقع</a:t>
            </a:r>
            <a:pPr algn="l" indent="0" marL="0">
              <a:buNone/>
            </a:pPr>
            <a:r>
              <a:rPr lang="en-US" sz="1050" i="1" dirty="0">
                <a:solidFill>
                  <a:srgbClr val="8A6D1E"/>
                </a:solidFill>
                <a:latin typeface="Calibri" pitchFamily="34" charset="0"/>
                <a:ea typeface="Calibri" pitchFamily="34" charset="-122"/>
                <a:cs typeface="Calibri" pitchFamily="34" charset="-120"/>
              </a:rPr>
              <a:t> is masculine singular, so use </a:t>
            </a:r>
            <a:pPr algn="l" indent="0" marL="0">
              <a:buNone/>
            </a:pPr>
            <a:r>
              <a:rPr lang="ar-SA" altLang="en-US" sz="1350" dirty="0">
                <a:solidFill>
                  <a:srgbClr val="8A6D1E"/>
                </a:solidFill>
                <a:latin typeface="Amiri" pitchFamily="34" charset="0"/>
                <a:ea typeface="Amiri" pitchFamily="34" charset="-122"/>
                <a:cs typeface="Amiri" pitchFamily="34" charset="-120"/>
              </a:rPr>
              <a:t>عليه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is appropriately qualified?</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أُؤَيِّدُهُ دَائِمًا لِأَنَّهُ دَائِمًا.</a:t>
            </a:r>
            <a:endParaRPr lang="ar-SA"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أُؤَيِّدُ التَّعَلُّمَ عَنْ بُعْدٍ شَرِيطَةَ أَنْ يَكُونَ آمِنًا وَتَفَاعُلِيًّا.</a:t>
            </a:r>
            <a:endParaRPr lang="ar-SA"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أُؤَيِّدُ الخُصُوصِيَّةَ عَلَى التَّعَلُّمِ.</a:t>
            </a:r>
            <a:endParaRPr lang="ar-SA"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gives a clear condition for support.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D4-L05 · Digital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D4-L06 · Green Technology — AI, Solar Energy and Smart Cities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الأَلْوَاحُ الشَّمْسِيَّةُ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solar panels</a:t>
            </a:r>
            <a:pPr indent="0" marL="0">
              <a:buNone/>
            </a:pPr>
            <a:r>
              <a:rPr lang="en-US" sz="1000" i="1" dirty="0">
                <a:solidFill>
                  <a:srgbClr val="5A6472"/>
                </a:solidFill>
                <a:latin typeface="Calibri" pitchFamily="34" charset="0"/>
                <a:ea typeface="Calibri" pitchFamily="34" charset="-122"/>
                <a:cs typeface="Calibri" pitchFamily="34" charset="-120"/>
              </a:rPr>
              <a:t>  sing. لَوْحٌ</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مَدِينَةٌ ذَكِيَّةٌ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smart city</a:t>
            </a:r>
            <a:pPr indent="0" marL="0">
              <a:buNone/>
            </a:pPr>
            <a:r>
              <a:rPr lang="en-US" sz="1000" i="1" dirty="0">
                <a:solidFill>
                  <a:srgbClr val="5A6472"/>
                </a:solidFill>
                <a:latin typeface="Calibri" pitchFamily="34" charset="0"/>
                <a:ea typeface="Calibri" pitchFamily="34" charset="-122"/>
                <a:cs typeface="Calibri" pitchFamily="34" charset="-120"/>
              </a:rPr>
              <a:t>  pl. مُدُنٌ ذَكِيَّةٌ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تُوَلِّدُ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generates</a:t>
            </a:r>
            <a:pPr indent="0" marL="0">
              <a:buNone/>
            </a:pPr>
            <a:r>
              <a:rPr lang="en-US" sz="1000" i="1" dirty="0">
                <a:solidFill>
                  <a:srgbClr val="5A6472"/>
                </a:solidFill>
                <a:latin typeface="Calibri" pitchFamily="34" charset="0"/>
                <a:ea typeface="Calibri" pitchFamily="34" charset="-122"/>
                <a:cs typeface="Calibri" pitchFamily="34" charset="-120"/>
              </a:rPr>
              <a:t>  يُوَلِّدُ he / it (m.)</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فَعَّالٌ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effective</a:t>
            </a:r>
            <a:pPr indent="0" marL="0">
              <a:buNone/>
            </a:pPr>
            <a:r>
              <a:rPr lang="en-US" sz="1000" i="1" dirty="0">
                <a:solidFill>
                  <a:srgbClr val="5A6472"/>
                </a:solidFill>
                <a:latin typeface="Calibri" pitchFamily="34" charset="0"/>
                <a:ea typeface="Calibri" pitchFamily="34" charset="-122"/>
                <a:cs typeface="Calibri" pitchFamily="34" charset="-120"/>
              </a:rPr>
              <a:t>  f. فَعَّالَةٌ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مُكَلِّفٌ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expensive, costly</a:t>
            </a:r>
            <a:pPr indent="0" marL="0">
              <a:buNone/>
            </a:pPr>
            <a:r>
              <a:rPr lang="en-US" sz="1000" i="1" dirty="0">
                <a:solidFill>
                  <a:srgbClr val="5A6472"/>
                </a:solidFill>
                <a:latin typeface="Calibri" pitchFamily="34" charset="0"/>
                <a:ea typeface="Calibri" pitchFamily="34" charset="-122"/>
                <a:cs typeface="Calibri" pitchFamily="34" charset="-120"/>
              </a:rPr>
              <a:t>  f. مُكَلِّفَةٌ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Have you seen solar panels near your home or school?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رَأَيْتُ أَلْوَاحًا شَمْسِيَّةً عَلَى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digital words and 4 verb + preposition pairs; write 5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Benefit and risk of one technology in 100–120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evaluate technology or social media (120–140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D4-L06 · Green Technology — AI, Solar Energy and Smart Cities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التِّقْنِيَّةُ الخَضْرَاءُ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digital verbs with their preposition — balance both sides — qualify your judgement.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D4-L05 · The Digital World — Technology and Social Media</dc:title>
  <dc:subject>PptxGenJS Presentation</dc:subject>
  <dc:creator>Al Madina Online School · Arabic Department</dc:creator>
  <cp:lastModifiedBy>Al Madina Online School · Arabic Department</cp:lastModifiedBy>
  <cp:revision>1</cp:revision>
  <dcterms:created xsi:type="dcterms:W3CDTF">2026-10-03T05:47:18Z</dcterms:created>
  <dcterms:modified xsi:type="dcterms:W3CDTF">2026-10-03T05:47:18Z</dcterms:modified>
</cp:coreProperties>
</file>