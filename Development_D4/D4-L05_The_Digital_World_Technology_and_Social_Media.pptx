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D4-L05. The website lesson “The Digital World — Technology and Social Media”: vocabulary, grammar rules and quiz, patterns, common mistakes, sorter, listening, reading, speaking prompts and model, writing task and model, differentiation, final check and the lesson mission. Picture match: website visual game “The Digital World — Technology and Social Media”.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digital words + “I use … to …” and four verbs with their preposition (أَتَفَاعَلُ مَعَ · أُعَلِّقُ عَلَى · أَبْحَثُ عَنْ · أَعْتَمِدُ عَلَى). Develop: one benefit and one risk with مِنْ نَاحِيَةٍ … وَمِنْ نَاحِيَةٍ أُخْرَى. Stretch: a concession (عَلَى الرَّغْمِ مِنْ أَنَّ …، فَـ …) and a qualified conclusion (شَرِيطَةَ أَنْ …).
• This is the “2028 vocabulary” lesson (website label): AI, passwords, brands, distance learning — words from the new GCSE / IGCSE lists.
• Safeguarding: cyberbullying (التَّنَمُّرُ الإِلِكْتُرُونِيُّ) appears — remind students of the school’s reporting route; examples stay general.
• Links: D3-L06 / L09 concession (عَلَى الرَّغْمِ مِنْ أَنَّ … فَإِنَّ), D4-L03 يُؤَدِّي إِلَى.
• TEACHER-WRITTEN ITEMS: two vowel slips corrected (website: يَتَابِعُ → يُتَابِعُ, مَنْصَّةً → مِنَصَّةً)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D4-L04. Question 3 retrieves D4-L04; question 4 D3-L09 (concession); question 5 D4-L01 (verb + fixed preposition).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digital verbs come with a fixed preposition — learn them as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امان are shared; رقم (an amount of money) → رَقْمِيٌّ (digital: “of numbers”). CAREFUL: Urdu تعلق = a relationship / connection, but Arabic تَعْلِيقٌ / يُعَلِّقُ عَلَى = a comment / to comment on (a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Digital tools and 2028 vocabulary (website vocabulary (1 of 2)). Hear → Say → See → Use. Transliteration is printed for Core students (cover it for Develop/Stretch).
Digital tools: many are modern compounds (adjective + noun). تَطْبِيقٌ → pl. تَطْبِيقَاتٌ; مِنَصَّةٌ → pl. مِنَصَّاتٌ.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Digital tools and 2028 vocabulary (website vocabulary (2 of 2)). Hear → Say → See → Use. Transliteration is printed for Core students (cover it for Develop/Stretch).
Digital tools: many are modern compounds (adjective + noun). تَطْبِيقٌ → pl. تَطْبِيقَاتٌ; مِنَصَّةٌ → pl. مِنَصَّاتٌ.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Online actions and their prepositions (website vocabulary (1 of 2)). Hear → Say → See → Use. Transliteration is printed for Core students (cover it for Develop/Stretch).
Online actions: the cards show I · he · she. Learn the preposition with the verb: مَعَ، عَلَى،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Online actions and their prepositions (website vocabulary (2 of 2)). Hear → Say → See → Use. Transliteration is printed for Core students (cover it for Develop/Stretch).
Online actions: the cards show I · he · she. Learn the preposition with the verb: مَعَ، عَلَى،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vocabulary (1 of 2)). Hear → Say → See → Use. Transliteration is printed for Core students (cover it for Develop/Stretch).
Benefits and risks: the last two cards (on the one hand … on the other hand) are the balance frame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vocabulary (2 of 2)). Hear → Say → See → Use. Transliteration is printed for Core students (cover it for Develop/Stretch).
Benefits and risks: the last two cards (on the one hand … on the other hand) are the balance frame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“Keep the verb with its required preposition” (Arabic digital verbs often govern a specific preposition; changing it makes the phrase inaccurate) and “Pronoun reference” (عَلَيْهِ for a masculine noun, عَلَيْهَا for a feminine noun). Website examples: يَتَفَاعَلُ الطُّلَّابُ مَعَ المُعَلِّمِ · يُعَلِّقُ المُسْتَخْدِمُ عَلَى المَنْشُورِ · المَوْقِعُ مُفِيدٌ، وَلٰكِنْ يَجِبُ التَّحَقُّقُ مِمَّا يُنْشَرُ عَلَيْهِ.
Website mistakes: يَتَفَاعَلُ … عَلَى ✗ → مَعَ ✓ · يُعَلِّقُ … مَعَ ✗ →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“Balanced contrast” (present a benefit and a limitation before reaching a judgement) and “Concession with عَلَى الرَّغْمِ مِنْ أَنَّ” (use أَنَّ with a noun or attached pronoun; the sentence that follows states the unexpected contrast). Website examples as shown.
Qualified judgement (Stretch, from the writing model): التِّقْنِيَّةُ إِيجَابِيَّةٌ شَرِيطَةَ أَنْ نَسْتَخْدِمَهَا بِمَسْؤُولِيَّةٍ (… provided that we use it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Keep the verb with its required preposition: Arabic digital verbs often govern a specific preposition. Changing it makes the phrase inaccurate.
• Balanced contrast: Present a benefit and a limitation before reaching a judgement.
• Concession with عَلَى الرَّغْمِ مِنْ أَنَّ: Use أَنَّ with a noun or attached pronoun; the sentence that follows states the unexpected contrast.
• Pronoun reference: Refer back precisely: عَلَيْهِ for a masculine noun, عَلَيْهَا for a feminine noun.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built from the website listening (a student’s digital routine) + the website qualified judgement (شَرِيطَةَ أَنْ). Ask: why نَسْتَخْدِمَهَا and not نَسْتَخْدِمَهُ? (المِنَصَّةُ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Digital World — Technology and Social Media”)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أَسْتَخْدِمُ الحَاسُوبَ لِلدِّرَاسَةِ · الاِسْتِخْدَامُ المُفْرِطُ لِلْهَاتِفِ يُؤَثِّرُ فِي النَّوْمِ · وَسَائِلُ التَّوَاصُلِ تَرْبِطُ النَّاسَ. Stretch: say each card as a benefit or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Digital World — Technology and Social Media”)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أَسْتَخْدِمُ الحَاسُوبَ لِلدِّرَاسَةِ · الاِسْتِخْدَامُ المُفْرِطُ لِلْهَاتِفِ يُؤَثِّرُ فِي النَّوْمِ · وَسَائِلُ التَّوَاصُلِ تَرْبِطُ النَّاسَ. Stretch: say each card as a benefit or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balanced sentence: مِنْ نَاحِيَةٍ + a benefit, وَمِنْ نَاحِيَةٍ أُخْرَى +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balanced sentence: مِنْ نَاحِيَةٍ + a benefit, وَمِنْ نَاحِيَةٍ أُخْرَى +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at an online school are experts on distance learning — invite real experiences (positive and negative). To a girl: كَيْفَ تَسْتَخْدِمِينَ التِّقْنِيَّةَ؟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التَّعَلُّمُ عَنْ بُعْدٍ، الذَّكَاءُ الاصْطِنَاعِيُّ، المِنَصَّاتِ، كَلِمَاتِ مُرُورٍ · مِنْ نَاحِيَةٍ … وَمِنْ نَاحِيَةٍ أُخْرَى · يُسَاعِدُ عَلَى، تُؤَدِّي إِلَى · عَلَى الرَّغْمِ مِنْ أَنَّ … فَيَجِبُ · شَرِيطَةَ أَنْ نَسْتَخْدِمَهَا.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(D4-L06 · Green Technology — AI, Solar Energy and Smart Cities) will spend class time USING this language, so students prepare it tonight — short, simple, easy to access (school guidance: “Simple, Short, Interesting, Relevant, Easy to access”). The five words come from the website D4-L06 vocabulary (green technology).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Digital World — Technology and Social Media</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العَالَمُ الرَّقْمِيُّ — التِّقْنِيَّةُ وَوَسَائِلُ 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how you use technology and evaluate it: digital verbs with the right preposition (</a:t>
            </a:r>
            <a:pPr algn="l" indent="0" marL="0">
              <a:buNone/>
            </a:pPr>
            <a:r>
              <a:rPr lang="ar-SA" altLang="en-US" sz="1800" dirty="0">
                <a:solidFill>
                  <a:srgbClr val="C6D2E6"/>
                </a:solidFill>
                <a:latin typeface="Amiri" pitchFamily="2" charset="-78"/>
                <a:ea typeface="Amiri" pitchFamily="2" charset="-78"/>
                <a:cs typeface="Amiri" pitchFamily="2" charset="-78"/>
              </a:rPr>
              <a:t>يَتَفَاعَلُ مَعَ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يُعَلِّقُ عَلَى</a:t>
            </a:r>
            <a:pPr algn="l" indent="0" marL="0">
              <a:buNone/>
            </a:pPr>
            <a:r>
              <a:rPr lang="en-US" sz="1400" dirty="0">
                <a:solidFill>
                  <a:srgbClr val="C6D2E6"/>
                </a:solidFill>
                <a:latin typeface="Calibri" pitchFamily="34" charset="0"/>
                <a:cs typeface="Amiri" pitchFamily="2" charset="-78"/>
              </a:rPr>
              <a:t>), benefits and risks, a balanced view (</a:t>
            </a:r>
            <a:pPr algn="l" indent="0" marL="0">
              <a:buNone/>
            </a:pPr>
            <a:r>
              <a:rPr lang="ar-SA" altLang="en-US" sz="1800" dirty="0">
                <a:solidFill>
                  <a:srgbClr val="C6D2E6"/>
                </a:solidFill>
                <a:latin typeface="Amiri" pitchFamily="2" charset="-78"/>
                <a:ea typeface="Amiri" pitchFamily="2" charset="-78"/>
                <a:cs typeface="Amiri" pitchFamily="2" charset="-78"/>
              </a:rPr>
              <a:t>مِنْ نَاحِيَةٍ … وَمِنْ نَاحِيَةٍ أُخْرَى</a:t>
            </a:r>
            <a:pPr algn="l" indent="0" marL="0">
              <a:buNone/>
            </a:pPr>
            <a:r>
              <a:rPr lang="en-US" sz="1400" dirty="0">
                <a:solidFill>
                  <a:srgbClr val="C6D2E6"/>
                </a:solidFill>
                <a:latin typeface="Calibri" pitchFamily="34" charset="0"/>
                <a:cs typeface="Amiri" pitchFamily="2" charset="-78"/>
              </a:rPr>
              <a:t>) and a qualified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D4-L05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Digital words, verbs + prepositions, and a balanced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a student’s digital routine.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تَطْبِيقٌ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platform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website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الخُصُوصِيَّةُ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privacy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security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password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اسْتِخْدَامَ البِلَاسْتِيكِ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سَنُقَلِّلُ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 …</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 … فَإِنَّ …</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تَطْبِيقٌ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platform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website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الخُصُوصِيَّةُ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privacy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security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password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اسْتِخْدَامَ البِلَاسْتِيكِ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قَلَّلْنَا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سَنُقَلِّلُ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نُقَلِّلَ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D4-L04: an + -a.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gives a concession?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 …</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 … فَإِنَّ …</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D4-L01: a verb with a fixed preposition.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Many digital verbs come with a fixed preposition — learn them as pairs.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يَتَفَاعَلُ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يُعَلِّقُ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يَبْحَثُ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عَنْ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يَعْتَمِدُ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عَلَى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digital tools, actions, benefits and risks.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digital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Balance a benefit and a risk with </a:t>
            </a:r>
            <a:pPr algn="l" indent="0" marL="0">
              <a:buNone/>
            </a:pPr>
            <a:r>
              <a:rPr lang="ar-SA" altLang="en-US" sz="170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qualified judgement about technology.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I use technology.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four digital verbs with their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benefit and a risk.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balance them with min nāḥiya … ukhrā.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qualified judgement (sharīṭata 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Digital tools and 2028 vocabulary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Online actions and their prepositions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Digital benefits and risks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رَقْمِيٌّ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‎رقم‎ </a:t>
            </a:r>
            <a:pPr indent="0" marL="0">
              <a:buNone/>
            </a:pPr>
            <a:r>
              <a:rPr lang="en-US" sz="950" b="1" dirty="0">
                <a:solidFill>
                  <a:srgbClr val="2E8B57"/>
                </a:solidFill>
                <a:latin typeface="Calibri" pitchFamily="34" charset="0"/>
                <a:cs typeface="Amiri" pitchFamily="2" charset="-78"/>
              </a:rPr>
              <a:t> raqam · number / amount → digital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إِدْمَانٌ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 لت‎ </a:t>
            </a:r>
            <a:pPr indent="0" marL="0">
              <a:buNone/>
            </a:pPr>
            <a:r>
              <a:rPr lang="en-US" sz="950" b="1" dirty="0">
                <a:solidFill>
                  <a:srgbClr val="2E8B57"/>
                </a:solidFill>
                <a:latin typeface="Calibri" pitchFamily="34" charset="0"/>
                <a:cs typeface="Amiri" pitchFamily="2" charset="-78"/>
              </a:rPr>
              <a:t> lat · addiction (meaning only)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أَمَانٌ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‎امان‎ </a:t>
            </a:r>
            <a:pPr indent="0" marL="0">
              <a:buNone/>
            </a:pPr>
            <a:r>
              <a:rPr lang="en-US" sz="950" b="1" dirty="0">
                <a:solidFill>
                  <a:srgbClr val="2E8B57"/>
                </a:solidFill>
                <a:latin typeface="Calibri" pitchFamily="34" charset="0"/>
                <a:cs typeface="Amiri" pitchFamily="2" charset="-78"/>
              </a:rPr>
              <a:t> amān · safety, security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تَعْلِيقٌ / يُعَلِّقُ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‎تعلق‎ </a:t>
            </a:r>
            <a:pPr indent="0" marL="0">
              <a:buNone/>
            </a:pPr>
            <a:r>
              <a:rPr lang="en-US" sz="950" b="1" dirty="0">
                <a:solidFill>
                  <a:srgbClr val="2E8B57"/>
                </a:solidFill>
                <a:latin typeface="Calibri" pitchFamily="34" charset="0"/>
                <a:cs typeface="Amiri" pitchFamily="2" charset="-78"/>
              </a:rPr>
              <a:t> taʿalluq · Urdu: connection · Arabic: comment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Digital tools and 2028 vocabulary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الذَّكَاءُ الاصْطِنَاعِيُّ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كَلِمَةُ المُرُورِ / كَلِمَةُ السِّرِّ</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password</a:t>
            </a:r>
            <a:endParaRPr lang="en-US" sz="1350" dirty="0"/>
          </a:p>
          <a:p>
            <a:pPr indent="0" marL="0">
              <a:buNone/>
            </a:pPr>
            <a:r>
              <a:rPr lang="en-US" sz="1100" i="1" dirty="0">
                <a:solidFill>
                  <a:srgbClr val="5A6472"/>
                </a:solidFill>
                <a:latin typeface="Calibri" pitchFamily="34" charset="0"/>
                <a:cs typeface="Amiri" pitchFamily="2" charset="-78"/>
              </a:rPr>
              <a:t>ka-li-ma-tu al-mu-rū-ri / ka-li-ma-tu as-sir-ri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عَلَامَةٌ تِجَارِيَّةٌ / مَارْكَةٌ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brand</a:t>
            </a:r>
            <a:endParaRPr lang="en-US" sz="1350" dirty="0"/>
          </a:p>
          <a:p>
            <a:pPr indent="0" marL="0">
              <a:buNone/>
            </a:pPr>
            <a:r>
              <a:rPr lang="en-US" sz="1100" i="1" dirty="0">
                <a:solidFill>
                  <a:srgbClr val="5A6472"/>
                </a:solidFill>
                <a:latin typeface="Calibri" pitchFamily="34" charset="0"/>
                <a:cs typeface="Amiri" pitchFamily="2" charset="-78"/>
              </a:rPr>
              <a:t>ʿa-lā-ma-tun ti-jā-riy-ya-tun / mār-ka-tun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عَنْ بُعْدٍ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at-ta-ʿal-lu-mu ʿan buʿ-din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إِلِكْتُرُونِيٌّ</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website</a:t>
            </a:r>
            <a:endParaRPr lang="en-US" sz="1350" dirty="0"/>
          </a:p>
          <a:p>
            <a:pPr indent="0" marL="0">
              <a:buNone/>
            </a:pPr>
            <a:r>
              <a:rPr lang="en-US" sz="1100" i="1" dirty="0">
                <a:solidFill>
                  <a:srgbClr val="5A6472"/>
                </a:solidFill>
                <a:latin typeface="Calibri" pitchFamily="34" charset="0"/>
                <a:cs typeface="Amiri" pitchFamily="2" charset="-78"/>
              </a:rPr>
              <a:t>maw-qi-ʿun i-lik-tu-rū-niy-yun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Digital tools and 2028 vocabulary (2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تَطْبِيقٌ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a:t>
            </a:r>
            <a:endParaRPr lang="en-US" sz="1350" dirty="0"/>
          </a:p>
          <a:p>
            <a:pPr indent="0" marL="0">
              <a:buNone/>
            </a:pPr>
            <a:r>
              <a:rPr lang="en-US" sz="1100" i="1" dirty="0">
                <a:solidFill>
                  <a:srgbClr val="5A6472"/>
                </a:solidFill>
                <a:latin typeface="Calibri" pitchFamily="34" charset="0"/>
                <a:cs typeface="Amiri" pitchFamily="2" charset="-78"/>
              </a:rPr>
              <a:t>taṭ-bī-qun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مِنَصَّةٌ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mi-naṣ-ṣa-tun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شَبَكَةٌ اجْتِمَاعِيَّةٌ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network</a:t>
            </a:r>
            <a:endParaRPr lang="en-US" sz="1350" dirty="0"/>
          </a:p>
          <a:p>
            <a:pPr indent="0" marL="0">
              <a:buNone/>
            </a:pPr>
            <a:r>
              <a:rPr lang="en-US" sz="1100" i="1" dirty="0">
                <a:solidFill>
                  <a:srgbClr val="5A6472"/>
                </a:solidFill>
                <a:latin typeface="Calibri" pitchFamily="34" charset="0"/>
                <a:cs typeface="Amiri" pitchFamily="2" charset="-78"/>
              </a:rPr>
              <a:t>sha-ba-ka-tun aj-ti-mā-ʿiy-ya-tun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بَثٌّ مُبَاشِرٌ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 stream</a:t>
            </a:r>
            <a:endParaRPr lang="en-US" sz="1350" dirty="0"/>
          </a:p>
          <a:p>
            <a:pPr indent="0" marL="0">
              <a:buNone/>
            </a:pPr>
            <a:r>
              <a:rPr lang="en-US" sz="1100" i="1" dirty="0">
                <a:solidFill>
                  <a:srgbClr val="5A6472"/>
                </a:solidFill>
                <a:latin typeface="Calibri" pitchFamily="34" charset="0"/>
                <a:cs typeface="Amiri" pitchFamily="2" charset="-78"/>
              </a:rPr>
              <a:t>bath-thun mu-bā-shi-run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Online actions and their prepositions (1 of 2)</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يَنْشُرُ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posts / publishes</a:t>
            </a:r>
            <a:endParaRPr lang="en-US" sz="1350" dirty="0"/>
          </a:p>
          <a:p>
            <a:pPr indent="0" marL="0">
              <a:buNone/>
            </a:pPr>
            <a:r>
              <a:rPr lang="en-US" sz="1100" i="1" dirty="0">
                <a:solidFill>
                  <a:srgbClr val="5A6472"/>
                </a:solidFill>
                <a:latin typeface="Calibri" pitchFamily="34" charset="0"/>
                <a:cs typeface="Amiri" pitchFamily="2" charset="-78"/>
              </a:rPr>
              <a:t>yan-shu-ru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تَنْشُرُ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يَنْشُرُ</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أَنْشُرُ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يُحَمِّلُ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uploads</a:t>
            </a:r>
            <a:endParaRPr lang="en-US" sz="1350" dirty="0"/>
          </a:p>
          <a:p>
            <a:pPr indent="0" marL="0">
              <a:buNone/>
            </a:pPr>
            <a:r>
              <a:rPr lang="en-US" sz="1100" i="1" dirty="0">
                <a:solidFill>
                  <a:srgbClr val="5A6472"/>
                </a:solidFill>
                <a:latin typeface="Calibri" pitchFamily="34" charset="0"/>
                <a:cs typeface="Amiri" pitchFamily="2" charset="-78"/>
              </a:rPr>
              <a:t>yu-ḥam-mi-lu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تُحَمِّلُ</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يُحَمِّلُ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2" name="Shape 4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يُنَزِّلُ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downloads</a:t>
            </a:r>
            <a:endParaRPr lang="en-US" sz="1350" dirty="0"/>
          </a:p>
          <a:p>
            <a:pPr indent="0" marL="0">
              <a:buNone/>
            </a:pPr>
            <a:r>
              <a:rPr lang="en-US" sz="1100" i="1" dirty="0">
                <a:solidFill>
                  <a:srgbClr val="5A6472"/>
                </a:solidFill>
                <a:latin typeface="Calibri" pitchFamily="34" charset="0"/>
                <a:cs typeface="Amiri" pitchFamily="2" charset="-78"/>
              </a:rPr>
              <a:t>yu-naz-zi-lu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تُنَزِّلُ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يُنَزِّلُ</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أُنَزِّلُ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يُرْسِلُ</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sends</a:t>
            </a:r>
            <a:endParaRPr lang="en-US" sz="1350" dirty="0"/>
          </a:p>
          <a:p>
            <a:pPr indent="0" marL="0">
              <a:buNone/>
            </a:pPr>
            <a:r>
              <a:rPr lang="en-US" sz="1100" i="1" dirty="0">
                <a:solidFill>
                  <a:srgbClr val="5A6472"/>
                </a:solidFill>
                <a:latin typeface="Calibri" pitchFamily="34" charset="0"/>
                <a:cs typeface="Amiri" pitchFamily="2" charset="-78"/>
              </a:rPr>
              <a:t>yur-si-lu</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يُتَابِعُ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follows</a:t>
            </a:r>
            <a:endParaRPr lang="en-US" sz="1350" dirty="0"/>
          </a:p>
          <a:p>
            <a:pPr indent="0" marL="0">
              <a:buNone/>
            </a:pPr>
            <a:r>
              <a:rPr lang="en-US" sz="1100" i="1" dirty="0">
                <a:solidFill>
                  <a:srgbClr val="5A6472"/>
                </a:solidFill>
                <a:latin typeface="Calibri" pitchFamily="34" charset="0"/>
                <a:cs typeface="Amiri" pitchFamily="2" charset="-78"/>
              </a:rPr>
              <a:t>yu-tā-bi-ʿu</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Online actions and their prepositions (2 of 2)</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يُشَارِكُ</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shares / participates</a:t>
            </a:r>
            <a:endParaRPr lang="en-US" sz="1350" dirty="0"/>
          </a:p>
          <a:p>
            <a:pPr indent="0" marL="0">
              <a:buNone/>
            </a:pPr>
            <a:r>
              <a:rPr lang="en-US" sz="1100" i="1" dirty="0">
                <a:solidFill>
                  <a:srgbClr val="5A6472"/>
                </a:solidFill>
                <a:latin typeface="Calibri" pitchFamily="34" charset="0"/>
                <a:cs typeface="Amiri" pitchFamily="2" charset="-78"/>
              </a:rPr>
              <a:t>yu-shā-ri-ku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يَتَفَاعَلُ مَعَ</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interacts with</a:t>
            </a:r>
            <a:endParaRPr lang="en-US" sz="1350" dirty="0"/>
          </a:p>
          <a:p>
            <a:pPr indent="0" marL="0">
              <a:buNone/>
            </a:pPr>
            <a:r>
              <a:rPr lang="en-US" sz="1100" i="1" dirty="0">
                <a:solidFill>
                  <a:srgbClr val="5A6472"/>
                </a:solidFill>
                <a:latin typeface="Calibri" pitchFamily="34" charset="0"/>
                <a:cs typeface="Amiri" pitchFamily="2" charset="-78"/>
              </a:rPr>
              <a:t>ya-ta-fā-ʿa-lu ma-ʿa</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تَتَفَاعَلُ</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يَتَفَاعَلُ</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أَتَفَاعَلُ</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يُعَلِّقُ عَلَى</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comments on</a:t>
            </a:r>
            <a:endParaRPr lang="en-US" sz="1350" dirty="0"/>
          </a:p>
          <a:p>
            <a:pPr indent="0" marL="0">
              <a:buNone/>
            </a:pPr>
            <a:r>
              <a:rPr lang="en-US" sz="1100" i="1" dirty="0">
                <a:solidFill>
                  <a:srgbClr val="5A6472"/>
                </a:solidFill>
                <a:latin typeface="Calibri" pitchFamily="34" charset="0"/>
                <a:cs typeface="Amiri" pitchFamily="2" charset="-78"/>
              </a:rPr>
              <a:t>yu-ʿal-li-qu ʿa-lā</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تُعَلِّقُ</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يُعَلِّقُ</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أُعَلِّقُ</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يَبْحَثُ عَنْ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searches for</a:t>
            </a:r>
            <a:endParaRPr lang="en-US" sz="1350" dirty="0"/>
          </a:p>
          <a:p>
            <a:pPr indent="0" marL="0">
              <a:buNone/>
            </a:pPr>
            <a:r>
              <a:rPr lang="en-US" sz="1100" i="1" dirty="0">
                <a:solidFill>
                  <a:srgbClr val="5A6472"/>
                </a:solidFill>
                <a:latin typeface="Calibri" pitchFamily="34" charset="0"/>
                <a:cs typeface="Amiri" pitchFamily="2" charset="-78"/>
              </a:rPr>
              <a:t>yab-ḥa-thu ʿan</a:t>
            </a:r>
            <a:endParaRPr lang="en-US" sz="1350" dirty="0"/>
          </a:p>
        </p:txBody>
      </p:sp>
      <p:sp>
        <p:nvSpPr>
          <p:cNvPr id="65" name="Shape 6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تَبْحَثُ</a:t>
            </a:r>
            <a:endParaRPr lang="ar-SA" sz="1500" dirty="0"/>
          </a:p>
        </p:txBody>
      </p:sp>
      <p:sp>
        <p:nvSpPr>
          <p:cNvPr id="68" name="Shape 6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0" name="Text 6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يَبْحَثُ</a:t>
            </a:r>
            <a:endParaRPr lang="ar-SA" sz="1500" dirty="0"/>
          </a:p>
        </p:txBody>
      </p:sp>
      <p:sp>
        <p:nvSpPr>
          <p:cNvPr id="71" name="Shape 6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3" name="Text 7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أَبْحَثُ</a:t>
            </a:r>
            <a:endParaRPr lang="ar-SA" sz="150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Digital benefits and risks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الخُصُوصِيَّةُ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privacy</a:t>
            </a:r>
            <a:endParaRPr lang="en-US" sz="1350" dirty="0"/>
          </a:p>
          <a:p>
            <a:pPr indent="0" marL="0">
              <a:buNone/>
            </a:pPr>
            <a:r>
              <a:rPr lang="en-US" sz="1100" i="1" dirty="0">
                <a:solidFill>
                  <a:srgbClr val="5A6472"/>
                </a:solidFill>
                <a:latin typeface="Calibri" pitchFamily="34" charset="0"/>
                <a:cs typeface="Amiri" pitchFamily="2" charset="-78"/>
              </a:rPr>
              <a:t>al-khu-ṣū-ṣiy-ya-tu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الأَمَانُ الرَّقْمِيُّ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security</a:t>
            </a:r>
            <a:endParaRPr lang="en-US" sz="1350" dirty="0"/>
          </a:p>
          <a:p>
            <a:pPr indent="0" marL="0">
              <a:buNone/>
            </a:pPr>
            <a:r>
              <a:rPr lang="en-US" sz="1100" i="1" dirty="0">
                <a:solidFill>
                  <a:srgbClr val="5A6472"/>
                </a:solidFill>
                <a:latin typeface="Calibri" pitchFamily="34" charset="0"/>
                <a:cs typeface="Amiri" pitchFamily="2" charset="-78"/>
              </a:rPr>
              <a:t>al-a-mā-nu ar-raq-miy-yu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مَعْلُومَاتٌ مُضَلِّلَةٌ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misinformation</a:t>
            </a:r>
            <a:endParaRPr lang="en-US" sz="1350" dirty="0"/>
          </a:p>
          <a:p>
            <a:pPr indent="0" marL="0">
              <a:buNone/>
            </a:pPr>
            <a:r>
              <a:rPr lang="en-US" sz="1100" i="1" dirty="0">
                <a:solidFill>
                  <a:srgbClr val="5A6472"/>
                </a:solidFill>
                <a:latin typeface="Calibri" pitchFamily="34" charset="0"/>
                <a:cs typeface="Amiri" pitchFamily="2" charset="-78"/>
              </a:rPr>
              <a:t>maʿ-lū-mā-tun mu-ḍal-li-la-tun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التَّنَمُّرُ الإِلِكْتُرُونِيُّ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cyberbullying</a:t>
            </a:r>
            <a:endParaRPr lang="en-US" sz="1350" dirty="0"/>
          </a:p>
          <a:p>
            <a:pPr indent="0" marL="0">
              <a:buNone/>
            </a:pPr>
            <a:r>
              <a:rPr lang="en-US" sz="1100" i="1" dirty="0">
                <a:solidFill>
                  <a:srgbClr val="5A6472"/>
                </a:solidFill>
                <a:latin typeface="Calibri" pitchFamily="34" charset="0"/>
                <a:cs typeface="Amiri" pitchFamily="2" charset="-78"/>
              </a:rPr>
              <a:t>at-ta-nam-mu-ru al-i-lik-tu-rū-niy-yu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Digital benefits and risks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إِدْمَانُ الشَّاشَاتِ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addiction</a:t>
            </a:r>
            <a:endParaRPr lang="en-US" sz="1350" dirty="0"/>
          </a:p>
          <a:p>
            <a:pPr indent="0" marL="0">
              <a:buNone/>
            </a:pPr>
            <a:r>
              <a:rPr lang="en-US" sz="1100" i="1" dirty="0">
                <a:solidFill>
                  <a:srgbClr val="5A6472"/>
                </a:solidFill>
                <a:latin typeface="Calibri" pitchFamily="34" charset="0"/>
                <a:cs typeface="Amiri" pitchFamily="2" charset="-78"/>
              </a:rPr>
              <a:t>id-mā-nu ash-shā-shā-ti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الصِّحَّةُ الرَّقْمِيَّةُ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wellbeing</a:t>
            </a:r>
            <a:endParaRPr lang="en-US" sz="1350" dirty="0"/>
          </a:p>
          <a:p>
            <a:pPr indent="0" marL="0">
              <a:buNone/>
            </a:pPr>
            <a:r>
              <a:rPr lang="en-US" sz="1100" i="1" dirty="0">
                <a:solidFill>
                  <a:srgbClr val="5A6472"/>
                </a:solidFill>
                <a:latin typeface="Calibri" pitchFamily="34" charset="0"/>
                <a:cs typeface="Amiri" pitchFamily="2" charset="-78"/>
              </a:rPr>
              <a:t>aṣ-ṣiḥ-ḥa-tu ar-raq-miy-ya-tu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1 · VERB + FIXED PREPOSITION (WEBSITE RULES 1 AND 4)</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Learn the verb with its preposition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interacts with</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يَتَفَاعَلُ الطُّلَّابُ </a:t>
            </a:r>
            <a:pPr rtl="1" algn="ctr" indent="0" marL="0">
              <a:buNone/>
            </a:pPr>
            <a:r>
              <a:rPr lang="ar-SA" altLang="en-US" sz="2100" b="1" dirty="0">
                <a:solidFill>
                  <a:srgbClr val="1D5FBF"/>
                </a:solidFill>
                <a:latin typeface="Amiri" pitchFamily="2" charset="-78"/>
                <a:ea typeface="Amiri" pitchFamily="2" charset="-78"/>
                <a:cs typeface="Amiri" pitchFamily="2" charset="-78"/>
              </a:rPr>
              <a:t>مَعَ</a:t>
            </a:r>
            <a:pPr rtl="1" algn="ctr" indent="0" marL="0">
              <a:buNone/>
            </a:pPr>
            <a:r>
              <a:rPr lang="ar-SA" altLang="en-US" sz="2100" b="1" dirty="0">
                <a:solidFill>
                  <a:srgbClr val="1B3B6F"/>
                </a:solidFill>
                <a:latin typeface="Amiri" pitchFamily="2" charset="-78"/>
                <a:ea typeface="Amiri" pitchFamily="2" charset="-78"/>
                <a:cs typeface="Amiri" pitchFamily="2" charset="-78"/>
              </a:rPr>
              <a:t> المُعَلِّمِ.</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Students interact with the teacher.</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يَتَفَاعَلُ </a:t>
            </a:r>
            <a:pPr rtl="1" algn="ctr" indent="0" marL="0">
              <a:buNone/>
            </a:pPr>
            <a:r>
              <a:rPr lang="ar-SA" altLang="en-US" sz="2400" b="1" dirty="0">
                <a:solidFill>
                  <a:srgbClr val="1D5FBF"/>
                </a:solidFill>
                <a:latin typeface="Amiri" pitchFamily="2" charset="-78"/>
                <a:ea typeface="Amiri" pitchFamily="2" charset="-78"/>
                <a:cs typeface="Amiri" pitchFamily="2" charset="-78"/>
              </a:rPr>
              <a:t>مَعَ</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comments on</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يُعَلِّقُ المُسْتَخْدِمُ </a:t>
            </a:r>
            <a:pPr rtl="1" algn="ctr" indent="0" marL="0">
              <a:buNone/>
            </a:pPr>
            <a:r>
              <a:rPr lang="ar-SA" altLang="en-US" sz="2100" b="1" dirty="0">
                <a:solidFill>
                  <a:srgbClr val="D6336C"/>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المَنْشُورِ.</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user comments on the post.</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يُعَلِّقُ </a:t>
            </a:r>
            <a:pPr rtl="1" algn="ctr" indent="0" marL="0">
              <a:buNone/>
            </a:pPr>
            <a:r>
              <a:rPr lang="ar-SA" altLang="en-US" sz="2400" b="1" dirty="0">
                <a:solidFill>
                  <a:srgbClr val="D6336C"/>
                </a:solidFill>
                <a:latin typeface="Amiri" pitchFamily="2" charset="-78"/>
                <a:ea typeface="Amiri" pitchFamily="2" charset="-78"/>
                <a:cs typeface="Amiri" pitchFamily="2" charset="-78"/>
              </a:rPr>
              <a:t>عَلَى</a:t>
            </a:r>
            <a:endParaRPr lang="ar-SA" sz="24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searches for</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أَبْحَثُ </a:t>
            </a:r>
            <a:pPr rtl="1" algn="ctr" indent="0" marL="0">
              <a:buNone/>
            </a:pPr>
            <a:r>
              <a:rPr lang="ar-SA" altLang="en-US" sz="2100" b="1" dirty="0">
                <a:solidFill>
                  <a:srgbClr val="0E7C86"/>
                </a:solidFill>
                <a:latin typeface="Amiri" pitchFamily="2" charset="-78"/>
                <a:ea typeface="Amiri" pitchFamily="2" charset="-78"/>
                <a:cs typeface="Amiri" pitchFamily="2" charset="-78"/>
              </a:rPr>
              <a:t>عَنْ</a:t>
            </a:r>
            <a:pPr rtl="1" algn="ctr" indent="0" marL="0">
              <a:buNone/>
            </a:pPr>
            <a:r>
              <a:rPr lang="ar-SA" altLang="en-US" sz="2100" b="1" dirty="0">
                <a:solidFill>
                  <a:srgbClr val="1B3B6F"/>
                </a:solidFill>
                <a:latin typeface="Amiri" pitchFamily="2" charset="-78"/>
                <a:ea typeface="Amiri" pitchFamily="2" charset="-78"/>
                <a:cs typeface="Amiri" pitchFamily="2" charset="-78"/>
              </a:rPr>
              <a:t> مَعْلُومَاتٍ لِلْوَاجِبِ.</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search for information for homework.</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يَبْحَثُ </a:t>
            </a:r>
            <a:pPr rtl="1" algn="ctr" indent="0" marL="0">
              <a:buNone/>
            </a:pPr>
            <a:r>
              <a:rPr lang="ar-SA" altLang="en-US" sz="2400" b="1" dirty="0">
                <a:solidFill>
                  <a:srgbClr val="0E7C86"/>
                </a:solidFill>
                <a:latin typeface="Amiri" pitchFamily="2" charset="-78"/>
                <a:ea typeface="Amiri" pitchFamily="2" charset="-78"/>
                <a:cs typeface="Amiri" pitchFamily="2" charset="-78"/>
              </a:rPr>
              <a:t>عَنْ</a:t>
            </a:r>
            <a:endParaRPr lang="ar-SA" sz="24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relies on (+ -hi / -hā)</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لَا يَجِبُ أَنْ نَعْتَمِدَ </a:t>
            </a:r>
            <a:pPr rtl="1" algn="ctr" indent="0" marL="0">
              <a:buNone/>
            </a:pPr>
            <a:r>
              <a:rPr lang="ar-SA" altLang="en-US" sz="2100" b="1" dirty="0">
                <a:solidFill>
                  <a:srgbClr val="D6336C"/>
                </a:solidFill>
                <a:latin typeface="Amiri" pitchFamily="2" charset="-78"/>
                <a:ea typeface="Amiri" pitchFamily="2" charset="-78"/>
                <a:cs typeface="Amiri" pitchFamily="2" charset="-78"/>
              </a:rPr>
              <a:t>عَلَيْهِ</a:t>
            </a:r>
            <a:pPr rtl="1" algn="ctr" indent="0" marL="0">
              <a:buNone/>
            </a:pPr>
            <a:r>
              <a:rPr lang="ar-SA" altLang="en-US" sz="2100" b="1" dirty="0">
                <a:solidFill>
                  <a:srgbClr val="1B3B6F"/>
                </a:solidFill>
                <a:latin typeface="Amiri" pitchFamily="2" charset="-78"/>
                <a:ea typeface="Amiri" pitchFamily="2" charset="-78"/>
                <a:cs typeface="Amiri" pitchFamily="2" charset="-78"/>
              </a:rPr>
              <a:t> كُلِّيًّا.</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not rely on it completely.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يَعْتَمِدُ </a:t>
            </a:r>
            <a:pPr rtl="1" algn="ctr" indent="0" marL="0">
              <a:buNone/>
            </a:pPr>
            <a:r>
              <a:rPr lang="ar-SA" altLang="en-US" sz="2400" b="1" dirty="0">
                <a:solidFill>
                  <a:srgbClr val="D6336C"/>
                </a:solidFill>
                <a:latin typeface="Amiri" pitchFamily="2" charset="-78"/>
                <a:ea typeface="Amiri" pitchFamily="2" charset="-78"/>
                <a:cs typeface="Amiri" pitchFamily="2" charset="-78"/>
              </a:rPr>
              <a:t>عَلَى</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Refer back with the right pronoun: ʿalayhi (m.: al-mawqiʿ) · fīhā / ʿalayhā (f.: al-minaṣṣa).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BALANCE AND CONCESSION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On one hand … on the other … — but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نَاحِيَةٍ · عَلَى الرَّغْمِ مِنْ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BENEFIT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نَاحِيَةٍ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يُسَهِّلُ التَّعَلُّمُ عَنْ بُعْدٍ الوُصُولَ إِلَى الدُّرُوسِ،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one hand, distance learning makes lessons easy to access,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first side.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RISK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وَمِنْ نَاحِيَةٍ أُخْرَى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وَمِنْ نَاحِيَةٍ أُخْرَى، قَدْ يَزِيدُ وَقْتَ الشَّاشَةِ.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the other hand, it may increase screen time.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other side.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الرَّغْمِ مِنْ أَنَّ … فَـ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عَلَى الرَّغْمِ مِنْ أَنَّ الذَّكَاءَ الاصْطِنَاعِيَّ مُفِيدٌ، فَلَا يَجِبُ أَنْ نَعْتَمِدَ عَلَيْهِ كُلِّيًّا.</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AI is useful, we must not rely on it completely.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full connector.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complete connector is ʿalā al-raghmi MIN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عَلَى الرَّغْمِ مِنْ أَنَّ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عَلَى الرَّغْمِ أَنَّ …</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Grammar and collocations of the digital world</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قَوَاعِدُ العَالَمِ الرَّقْمِيِّ وَمُتَلَازِمَاتُهُ</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 with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عَلَى الرَّغْمِ مِنْ أَنَّ</a:t>
            </a:r>
            <a:pPr algn="l" indent="0" marL="0">
              <a:buNone/>
            </a:pPr>
            <a:r>
              <a:rPr lang="en-US" sz="1050" dirty="0">
                <a:solidFill>
                  <a:srgbClr val="5A6472"/>
                </a:solidFill>
                <a:latin typeface="Calibri" pitchFamily="34" charset="0"/>
                <a:cs typeface="Amiri" pitchFamily="2" charset="-78"/>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التِّقْنِيَّةُ مُفِيدَةٌ، لَهَا مَخَاطِرُ.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 التِّقْنِيَّةَ مُفِيدَةٌ، فَلَهَا مَخَاطِرُ.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التِّقْنِيَّةَ أَنَّ مُفِيدَةٌ.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يعلق</a:t>
            </a:r>
            <a:pPr algn="l" indent="0" marL="0">
              <a:buNone/>
            </a:pPr>
            <a:r>
              <a:rPr lang="en-US" sz="1050" i="1" dirty="0">
                <a:solidFill>
                  <a:srgbClr val="8A6D1E"/>
                </a:solidFill>
                <a:latin typeface="Calibri" pitchFamily="34" charset="0"/>
                <a:cs typeface="Amiri" pitchFamily="2" charset="-78"/>
              </a:rPr>
              <a:t> governs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concession.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التِّقْنِيَّةُ مُفِيدَةٌ، لَهَا مَخَاطِرُ.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 التِّقْنِيَّةَ مُفِيدَةٌ، فَلَهَا مَخَاطِرُ.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 التِّقْنِيَّةَ أَنَّ مُفِيدَةٌ.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على الرغم من أن</a:t>
            </a:r>
            <a:pPr algn="l" indent="0" marL="0">
              <a:buNone/>
            </a:pPr>
            <a:r>
              <a:rPr lang="en-US" sz="1050" i="1" dirty="0">
                <a:solidFill>
                  <a:srgbClr val="8A6D1E"/>
                </a:solidFill>
                <a:latin typeface="Calibri" pitchFamily="34" charset="0"/>
                <a:cs typeface="Amiri" pitchFamily="2" charset="-78"/>
              </a:rPr>
              <a:t> + clause.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المِنَصَّةُ</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منصة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فيها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evaluate distance learning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I use it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أَسْتَخْدِمُ مِنَصَّةً وَ</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أَتَفَاعَلُ مَعَ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المُعَلِّمِ.</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its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تُسَاعِدُنِي عَلَى التَّعَلُّمِ فِي أَيِّ مَكَانٍ.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side.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Risk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قَدْ تَزِيدُ وَقْتَ الشَّاشَةِ.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Other side.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أُؤَيِّدُهَا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شَرِيطَةَ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نَسْتَخْدِمَهَا بِوَعْيٍ.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Qualified.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أَسْتَخْدِمُ مِنَصَّةً لِلتَّعَلُّمِ عَنْ بُعْدٍ ثَلَاثَ مَرَّاتٍ فِي الأُسْبُوعِ.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أَتَفَاعَلُ مَعَ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المُعَلِّمِ،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أُعَلِّقُ 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أَفْكَارِ زُمَلَائِي.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تُسَاعِدُنِي المِنَصَّةُ عَلَى التَّعَلُّمِ فِي أَيِّ مَكَانٍ،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وَمِنْ نَاحِيَةٍ أُخْرَى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أَحْتَاجُ إِلَى تَقْلِيلِ وَقْتِ الشَّاشَةِ. فِي رَأْيِي، هِيَ مُفِيدَةٌ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شَرِيطَةَ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نَسْتَخْدِمَهَا بِوَعْيٍ.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use a distance-learning platform three times a week. I interact with the teacher and comment on my classmates’ ideas. On the one hand, the platform helps me learn anywhere; on the other hand, I need to reduce my screen time. In my opinion, it is useful provided that we use it consciously.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يَتَفَاعَلُ الطُّلَّابُ مَعَ المُعَلِّمِ.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Students interact with the teacher.</a:t>
            </a:r>
            <a:endParaRPr lang="en-US" sz="1250" dirty="0"/>
          </a:p>
          <a:p>
            <a:pPr indent="0" marL="0">
              <a:buNone/>
            </a:pPr>
            <a:r>
              <a:rPr lang="en-US" sz="1050" i="1" dirty="0">
                <a:solidFill>
                  <a:srgbClr val="8A6D1E"/>
                </a:solidFill>
                <a:latin typeface="Calibri" pitchFamily="34" charset="0"/>
                <a:cs typeface="Amiri" pitchFamily="2" charset="-78"/>
              </a:rPr>
              <a:t>Arabic digital verbs often govern a specific preposition. Changing it makes the phrase inaccurate.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مِنْ نَاحِيَةٍ، يُسَهِّلُ التَّعَلُّمُ عَنْ بُعْدٍ الوُصُولَ إِلَى الدُّرُوسِ، وَمِنْ نَاحِيَةٍ أُخْرَى، قَدْ يَزِيدُ وَقْتَ الشَّاشَةِ.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 the one hand, distance learning makes lessons accessible; on the other hand, it may increase screen time.</a:t>
            </a:r>
            <a:endParaRPr lang="en-US" sz="1250" dirty="0"/>
          </a:p>
          <a:p>
            <a:pPr indent="0" marL="0">
              <a:buNone/>
            </a:pPr>
            <a:r>
              <a:rPr lang="en-US" sz="1050" i="1" dirty="0">
                <a:solidFill>
                  <a:srgbClr val="8A6D1E"/>
                </a:solidFill>
                <a:latin typeface="Calibri" pitchFamily="34" charset="0"/>
                <a:cs typeface="Amiri" pitchFamily="2" charset="-78"/>
              </a:rPr>
              <a:t>Present a benefit and a limitation before reaching a judgement.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عَلَى الرَّغْمِ مِنْ أَنَّ الذَّكَاءَ الاصْطِنَاعِيَّ مُفِيدٌ، فَلَا يَجِبُ أَنْ نَعْتَمِدَ عَلَيْهِ كُلِّيًّا.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artificial intelligence is useful, we must not rely on it completely.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أَنَّ with a noun or attached pronoun; the sentence that follows states the unexpected contrast.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DIGITAL WORLD — TECHNOLOGY AND SOCIAL MEDIA”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How do we use technology? Match the picture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chatting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lock · protection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robot · idea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نَحْمِيَ خُصُوصِيَّتَنَا عَلَى الإِنْتَرْنِتِ.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الذَّكَاءُ الاصْطِنَاعِيُّ يُسَاعِدُ فِي حَلِّ بَعْضِ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أَسْتَخْدِمُ الهَاتِفَ لِلتَّوَاصُلِ.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 chatting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أَسْتَخْدِمُ الهَاتِفَ لِلتَّوَاصُلِ.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my phone to communicate.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lock · protection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يَجِبُ أَنْ نَحْمِيَ خُصُوصِيَّتَنَا عَلَى الإِنْتَرْنِتِ.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protect our privacy online.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robot · idea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الذَّكَاءُ الاصْطِنَاعِيُّ يُسَاعِدُ فِي حَلِّ بَعْضِ المُشْكِلَاتِ.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AI helps to solve some problems.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المُرُورِ / كَلِمَةُ السِّرِّ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عَلَامَةٌ تِجَارِيَّةٌ / مَارْكَةٌ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يُنَزِّلُ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الخُصُوصِيَّةُ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 الرَّقْمِيُّ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مَعْلُومَاتٌ مُضَلِّلَةٌ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 and 2028 vocabulary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 and their prepositions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Digital benefits and risks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Digital tools and 2028 vocabulary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الذَّكَاءُ الاصْطِنَاعِيُّ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كَلِمَةُ المُرُورِ / كَلِمَةُ السِّرِّ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عَلَامَةٌ تِجَارِيَّةٌ / مَارْكَةٌ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Online actions and their prepositions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يَنْشُرُ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يُنَزِّلُ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Digital benefits and risks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الخُصُوصِيَّةُ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 الرَّقْمِيُّ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مَعْلُومَاتٌ مُضَلِّلَةٌ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فِي قُرْبٍ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عَنْ بُعْدٍ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التَّعَلُّمُ عَلَى مَارْكَةٍ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“distance learning”?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التَّعَلُّمُ فِي قُرْبٍ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التَّعَلُّمُ عَنْ بُعْدٍ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التَّعَلُّمُ عَلَى مَارْكَةٍ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التعلم عن بعد</a:t>
            </a:r>
            <a:pPr algn="l" indent="0" marL="0">
              <a:buNone/>
            </a:pPr>
            <a:r>
              <a:rPr lang="en-US" sz="1050" i="1" dirty="0">
                <a:solidFill>
                  <a:srgbClr val="8A6D1E"/>
                </a:solidFill>
                <a:latin typeface="Calibri" pitchFamily="34" charset="0"/>
                <a:cs typeface="Amiri" pitchFamily="2" charset="-78"/>
              </a:rPr>
              <a:t> is the required phrase.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شريطة أن</a:t>
            </a:r>
            <a:pPr algn="l" indent="0" marL="0">
              <a:buNone/>
            </a:pPr>
            <a:r>
              <a:rPr lang="en-US" sz="1050" i="1" dirty="0">
                <a:solidFill>
                  <a:srgbClr val="8A6D1E"/>
                </a:solidFill>
                <a:latin typeface="Calibri" pitchFamily="34" charset="0"/>
                <a:cs typeface="Amiri" pitchFamily="2" charset="-78"/>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yatafāʿalu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yuʿalliqu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ʿalā al-raghmi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يتفاعل</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يعلّق</a:t>
            </a:r>
            <a:pPr algn="l" indent="0" marL="0">
              <a:buNone/>
            </a:pPr>
            <a:r>
              <a:rPr lang="en-US" sz="1150" b="1" dirty="0">
                <a:solidFill>
                  <a:srgbClr val="1B3B6F"/>
                </a:solidFill>
                <a:latin typeface="Calibri" pitchFamily="34" charset="0"/>
                <a:cs typeface="Amiri" pitchFamily="2" charset="-78"/>
              </a:rPr>
              <a:t> governs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complete connector is </a:t>
            </a:r>
            <a:pPr algn="l" indent="0" marL="0">
              <a:buNone/>
            </a:pPr>
            <a:r>
              <a:rPr lang="ar-SA" altLang="en-US" sz="1500" b="1" dirty="0">
                <a:solidFill>
                  <a:srgbClr val="1B3B6F"/>
                </a:solidFill>
                <a:latin typeface="Amiri" pitchFamily="2" charset="-78"/>
                <a:ea typeface="Amiri" pitchFamily="2" charset="-78"/>
                <a:cs typeface="Amiri" pitchFamily="2" charset="-78"/>
              </a:rPr>
              <a:t>على الرغم من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المُعَلِّمِ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وَاجِبَاتِي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a distance-learning platform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I use a strong password and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المُعَلِّمِ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وَاجِبَاتِي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تَسْتَخْدِمُ التِّقْنِيَّةَ؟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فَوَائِدُ التَّعَلُّمِ عَنْ بُعْدٍ؟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مَخَاطِرُ وَسَائِلِ التَّوَاصُلِ؟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أَسْتَخْدِمُ ___ لِـ ___ ، وَأَتَفَاعَلُ مَعَ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عَلَى الرَّغْمِ مِنْ أَنَّ ___ ، فَـ ___ شَرِيطَةَ أَنْ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رَأْيُكَ فِي التَّعَلُّمِ عَنْ بُعْدٍ؟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think of distance learning?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On one hand it is flexible and makes lessons accessible; on the other hand it may reduce direct interaction. I support it provided it is safe and interactive.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How you use technology: three verbs with their prepositions + one benefit.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benefit and one risk balanced with min nāḥiya … ukhrā.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evaluate technology or social media with a concession and a qualified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عَلَى الرَّغْمِ مِنْ أَنَّ ______ مُفِيدٌ، فَـ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is useful,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شَرِيطَةَ أَنْ نَسْتَخْدِمَهُ بِمَسْؤُولِيَّةٍ.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provided that we use it responsibly.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أَسْتَخْدِمُ ______ لِـ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أَتَفَاعَلُ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interact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______ عَلَى الإِنْتَرْنِتِ.</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search for … online.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أَسْتَخْدِمُ كَلِمَةَ مُرُورٍ قَوِيَّةً.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a strong password.</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الذَّكَاءُ الاصْطِنَاعِيُّ  ·  التَّعَلُّمُ عَنْ بُعْدٍ  ·  مِنَصَّةٌ  ·  تَطْبِيقٌ  ·  يَتَفَاعَلُ مَعَ  ·  يُعَلِّقُ عَلَى  ·  يَبْحَثُ عَنْ  ·  يَعْتَمِدُ عَلَى  ·  الخُصُوصِيَّةُ  ·  إِدْمَانُ الشَّاشَاتِ  ·  مِنْ نَاحِيَةٍ … أُخْرَى  ·  شَرِيطَةَ أَنْ</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أَصْبَحَ … جُزْءًا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has become part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 عَلَى تَنْظِيمِ الأَفْكَارِ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helps organise ideas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التَّحَقُّقُ مِنَ المَصَادِرِ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sources must be checked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يَتَعَرَّضُ لِمَعْلُومَاتٍ مُضَلِّلَةٍ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be exposed to misinformation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شَرِيطَةَ أَنْ نَسْتَخْدِمَهَا بِمَسْؤُولِيَّةٍ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we use it responsibly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has become an essential part of our lives. On the one hand, distance learning makes lessons accessible, and AI helps organise ideas. On the other hand, heavy use may lead to screen addiction, and users may be exposed to misinformation.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2028 digital terms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benefit and a risk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with its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qualified conclusion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digital verbs have the right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digital words.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a benefit and a risk.</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Pronouns match (-hu / -hā).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made a concession and a qualified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Refer back to </a:t>
            </a:r>
            <a:pPr algn="l" indent="0" marL="0">
              <a:buNone/>
            </a:pPr>
            <a:r>
              <a:rPr lang="ar-SA" altLang="en-US" sz="1650" b="1" dirty="0">
                <a:solidFill>
                  <a:srgbClr val="1B3B6F"/>
                </a:solidFill>
                <a:latin typeface="Amiri" pitchFamily="2" charset="-78"/>
                <a:ea typeface="Amiri" pitchFamily="2" charset="-78"/>
                <a:cs typeface="Amiri" pitchFamily="2" charset="-78"/>
              </a:rPr>
              <a:t>التِّقْنِيَّةُ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جُزْءًا مِنَ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part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المَفَاهِيمِ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concepts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تَنْظِيمِ أَفْكَارِهِمْ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organising their ideas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وَمَعَ ذٰلِكَ</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يُنْتِجُهَا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produces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دَقِيقَةً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التَّحَقُّقُ مِنَ المَصَادِرِ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checking the sources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إِدْخَالِ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entering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غَيْرِ آمِنَةٍ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unsafe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بِوَعْيٍ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consciously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The Digital World — Technology and Social Media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interaction?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عَلَى المُحْتَوَى.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مَعَ المُحْتَوَى.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الطُّلَّابُ إِلَى المُحْتَوَى.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best protects privacy?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اسْتِخْدَامُ كَلِمَةِ مُرُورٍ قَوِيَّةٍ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مُشَارَكَةُ كَلِمَةِ السِّرِّ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نَشْرُ العُنْوَانِ الشَّخْصِيِّ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contains a genuine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تُسَهِّلُ التِّقْنِيَّةُ التَّعَلُّمَ وَتُسَهِّلُ التَّعَلُّمَ.</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التِّقْنِيَّةُ مَنْصَّةٌ وَالمَنْصَّةُ تِقْنِيَّةٌ.</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مِنْ نَاحِيَةٍ تُسَهِّلُ التِّقْنِيَّةُ التَّعَلُّمَ، وَمِنْ نَاحِيَةٍ أُخْرَى قَدْ تُشَتِّتُ الانْتِبَاهَ.</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item is one of the 2028 vocabulary targets?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مَلْعَبُ كُرَةِ القَدَمِ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مَوْعِدُ الطَّبِيبِ</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عَلَامَةٌ تِجَارِيَّةٌ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refers back correctly to </a:t>
            </a:r>
            <a:pPr algn="l" indent="0" marL="0">
              <a:buNone/>
            </a:pPr>
            <a:r>
              <a:rPr lang="ar-SA" altLang="en-US" sz="1650" b="1" dirty="0">
                <a:solidFill>
                  <a:srgbClr val="1B3B6F"/>
                </a:solidFill>
                <a:latin typeface="Amiri" pitchFamily="2" charset="-78"/>
                <a:ea typeface="Amiri" pitchFamily="2" charset="-78"/>
                <a:cs typeface="Amiri" pitchFamily="2" charset="-78"/>
              </a:rPr>
              <a:t>المَوْقِعُ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التَّحَقُّقُ مِمَّا يُنْشَرُ عَلَيْهِ.</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التَّحَقُّقُ مِمَّا يُنْشَرُ عَلَيْهِنَّ.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التَّحَقُّقُ مِمَّا يُنْشَرُ عَلَيْهَا.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appropriately qualified?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أُؤَيِّدُهُ دَائِمًا لِأَنَّهُ دَائِمًا.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أُؤَيِّدُ التَّعَلُّمَ عَنْ بُعْدٍ شَرِيطَةَ أَنْ يَكُونَ آمِنًا وَتَفَاعُلِيًّا.</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أُؤَيِّدُ الخُصُوصِيَّةَ عَلَى التَّعَلُّمِ.</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interaction?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عَلَى المُحْتَوَى.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يَتَفَاعَلُ الطُّلَّابُ مَعَ المُحْتَوَى.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الطُّلَّابُ إِلَى المُحْتَوَى.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 مع</a:t>
            </a:r>
            <a:pPr algn="l" indent="0" marL="0">
              <a:buNone/>
            </a:pPr>
            <a:r>
              <a:rPr lang="en-US" sz="1050" i="1" dirty="0">
                <a:solidFill>
                  <a:srgbClr val="8A6D1E"/>
                </a:solidFill>
                <a:latin typeface="Calibri" pitchFamily="34" charset="0"/>
                <a:cs typeface="Amiri" pitchFamily="2" charset="-78"/>
              </a:rPr>
              <a:t> is the correct collocation.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best protects privacy?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اسْتِخْدَامُ كَلِمَةِ مُرُورٍ قَوِيَّةٍ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مُشَارَكَةُ كَلِمَةِ السِّرِّ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نَشْرُ العُنْوَانِ الشَّخْصِيِّ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password protects personal accounts.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contains a genuine contrast.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تُسَهِّلُ التِّقْنِيَّةُ التَّعَلُّمَ وَتُسَهِّلُ التَّعَلُّمَ.</a:t>
            </a:r>
            <a:endParaRPr lang="ar-SA" sz="10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التِّقْنِيَّةُ مَنْصَّةٌ وَالمَنْصَّةُ تِقْنِيَّةٌ.</a:t>
            </a:r>
            <a:endParaRPr lang="ar-SA" sz="10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مِنْ نَاحِيَةٍ تُسَهِّلُ التِّقْنِيَّةُ التَّعَلُّمَ، وَمِنْ نَاحِيَةٍ أُخْرَى قَدْ تُشَتِّتُ الانْتِبَاهَ.</a:t>
            </a:r>
            <a:endParaRPr lang="ar-SA" sz="10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balances a benefit and a drawback.</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item is one of the 2028 vocabulary targets?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مَلْعَبُ كُرَةِ القَدَمِ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مَوْعِدُ الطَّبِيبِ</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عَلَامَةٌ تِجَارِيَّةٌ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علامة تجارية</a:t>
            </a:r>
            <a:pPr algn="l" indent="0" marL="0">
              <a:buNone/>
            </a:pPr>
            <a:r>
              <a:rPr lang="en-US" sz="1050" i="1" dirty="0">
                <a:solidFill>
                  <a:srgbClr val="8A6D1E"/>
                </a:solidFill>
                <a:latin typeface="Calibri" pitchFamily="34" charset="0"/>
                <a:cs typeface="Amiri" pitchFamily="2" charset="-78"/>
              </a:rPr>
              <a:t> is a target D4 digital term.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refers back correctly to </a:t>
            </a:r>
            <a:pPr algn="l" indent="0" marL="0">
              <a:buNone/>
            </a:pPr>
            <a:r>
              <a:rPr lang="ar-SA" altLang="en-US" sz="1650" b="1" dirty="0">
                <a:solidFill>
                  <a:srgbClr val="1B3B6F"/>
                </a:solidFill>
                <a:latin typeface="Amiri" pitchFamily="2" charset="-78"/>
                <a:ea typeface="Amiri" pitchFamily="2" charset="-78"/>
                <a:cs typeface="Amiri" pitchFamily="2" charset="-78"/>
              </a:rPr>
              <a:t>المَوْقِعُ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التَّحَقُّقُ مِمَّا يُنْشَرُ عَلَيْهِ.</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التَّحَقُّقُ مِمَّا يُنْشَرُ عَلَيْهِنَّ.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التَّحَقُّقُ مِمَّا يُنْشَرُ عَلَيْهَا.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الموقع</a:t>
            </a:r>
            <a:pPr algn="l" indent="0" marL="0">
              <a:buNone/>
            </a:pPr>
            <a:r>
              <a:rPr lang="en-US" sz="1050" i="1" dirty="0">
                <a:solidFill>
                  <a:srgbClr val="8A6D1E"/>
                </a:solidFill>
                <a:latin typeface="Calibri" pitchFamily="34" charset="0"/>
                <a:cs typeface="Amiri" pitchFamily="2" charset="-78"/>
              </a:rPr>
              <a:t> is masculine singular, so use </a:t>
            </a:r>
            <a:pPr algn="l" indent="0" marL="0">
              <a:buNone/>
            </a:pPr>
            <a:r>
              <a:rPr lang="ar-SA" altLang="en-US" sz="1350" dirty="0">
                <a:solidFill>
                  <a:srgbClr val="8A6D1E"/>
                </a:solidFill>
                <a:latin typeface="Amiri" pitchFamily="2" charset="-78"/>
                <a:ea typeface="Amiri" pitchFamily="2" charset="-78"/>
                <a:cs typeface="Amiri" pitchFamily="2" charset="-78"/>
              </a:rPr>
              <a:t>عليه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appropriately qualified?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أُؤَيِّدُهُ دَائِمًا لِأَنَّهُ دَائِمًا.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أُؤَيِّدُ التَّعَلُّمَ عَنْ بُعْدٍ شَرِيطَةَ أَنْ يَكُونَ آمِنًا وَتَفَاعُلِيًّا.</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أُؤَيِّدُ الخُصُوصِيَّةَ عَلَى التَّعَلُّمِ.</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gives a clear condition for support.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D4-L05 ·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D4-L06 · Green Technology — AI, Solar Energy and Smart Cities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الأَلْوَاحُ الشَّمْسِيَّةُ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solar panels</a:t>
            </a:r>
            <a:pPr indent="0" marL="0">
              <a:buNone/>
            </a:pPr>
            <a:r>
              <a:rPr lang="ar-SA" sz="1000" i="1" dirty="0">
                <a:solidFill>
                  <a:srgbClr val="5A6472"/>
                </a:solidFill>
                <a:latin typeface="Calibri" pitchFamily="34" charset="0"/>
                <a:ea typeface="Amiri" pitchFamily="2" charset="-78"/>
                <a:cs typeface="Amiri" pitchFamily="2" charset="-78"/>
              </a:rPr>
              <a:t>  sing. لَوْحٌ</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مَدِينَةٌ ذَكِيَّةٌ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smart city</a:t>
            </a:r>
            <a:pPr indent="0" marL="0">
              <a:buNone/>
            </a:pPr>
            <a:r>
              <a:rPr lang="ar-SA" sz="1000" i="1" dirty="0">
                <a:solidFill>
                  <a:srgbClr val="5A6472"/>
                </a:solidFill>
                <a:latin typeface="Calibri" pitchFamily="34" charset="0"/>
                <a:ea typeface="Amiri" pitchFamily="2" charset="-78"/>
                <a:cs typeface="Amiri" pitchFamily="2" charset="-78"/>
              </a:rPr>
              <a:t>  pl. مُدُنٌ ذَكِيَّةٌ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تُوَلِّدُ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generates</a:t>
            </a:r>
            <a:pPr indent="0" marL="0">
              <a:buNone/>
            </a:pPr>
            <a:r>
              <a:rPr lang="ar-SA" sz="1000" i="1" dirty="0">
                <a:solidFill>
                  <a:srgbClr val="5A6472"/>
                </a:solidFill>
                <a:latin typeface="Calibri" pitchFamily="34" charset="0"/>
                <a:ea typeface="Amiri" pitchFamily="2" charset="-78"/>
                <a:cs typeface="Amiri" pitchFamily="2" charset="-78"/>
              </a:rPr>
              <a:t>  يُوَلِّدُ he / it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effective</a:t>
            </a:r>
            <a:pPr indent="0" marL="0">
              <a:buNone/>
            </a:pPr>
            <a:r>
              <a:rPr lang="ar-SA" sz="1000" i="1" dirty="0">
                <a:solidFill>
                  <a:srgbClr val="5A6472"/>
                </a:solidFill>
                <a:latin typeface="Calibri" pitchFamily="34" charset="0"/>
                <a:ea typeface="Amiri" pitchFamily="2" charset="-78"/>
                <a:cs typeface="Amiri" pitchFamily="2" charset="-78"/>
              </a:rPr>
              <a:t>  f. فَعَّالَةٌ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مُكَلِّفٌ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expensive, costly</a:t>
            </a:r>
            <a:pPr indent="0" marL="0">
              <a:buNone/>
            </a:pPr>
            <a:r>
              <a:rPr lang="ar-SA" sz="1000" i="1" dirty="0">
                <a:solidFill>
                  <a:srgbClr val="5A6472"/>
                </a:solidFill>
                <a:latin typeface="Calibri" pitchFamily="34" charset="0"/>
                <a:ea typeface="Amiri" pitchFamily="2" charset="-78"/>
                <a:cs typeface="Amiri" pitchFamily="2" charset="-78"/>
              </a:rPr>
              <a:t>  f. مُكَلِّفَةٌ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Have you seen solar panels near your home or school?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رَأَيْتُ أَلْوَاحًا شَمْسِيَّةً عَلَى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digital words and 4 verb + preposition pairs; write 5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Benefit and risk of one technology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evaluate technology or social media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D4-L06 · Green Technology — AI, Solar Energy and Smart Cities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التِّقْنِيَّةُ الخَضْرَاءُ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digital verbs with their preposition — balance both sides — qualify your judgement.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D4-L05 · The Digital World — Technology and Social Media</dc:title>
  <dc:subject>PptxGenJS Presentation</dc:subject>
  <dc:creator>Al Madina Online School · Arabic Department</dc:creator>
  <cp:lastModifiedBy>Al Madina Online School · Arabic Department</cp:lastModifiedBy>
  <cp:revision>1</cp:revision>
  <dcterms:created xsi:type="dcterms:W3CDTF">2026-10-11T06:40:52Z</dcterms:created>
  <dcterms:modified xsi:type="dcterms:W3CDTF">2026-10-11T06:40:52Z</dcterms:modified>
</cp:coreProperties>
</file>