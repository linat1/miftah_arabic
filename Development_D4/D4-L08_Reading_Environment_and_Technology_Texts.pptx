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D4 Environment, Weather and Technology › D4-L08. The website lesson “Reading — Environment and Technology Texts”: vocabulary, grammar rules and quiz, patterns, common mistakes, sorter, listening, reading, speaking prompts and model, writing task and model, differentiation, final check and the lesson mission. Picture match: website visual game “Reading — Environment and Technology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READING-SKILLS lesson: the website’s two short texts (council data + a tech blogger) are the main You Do task.
• Core: the reporting words (وَفْقًا لِـ · يُشَارُ إِلَى أَنَّ) and reading questions 1–3 (source, number, how). Develop: all 6 questions + one claim vs one piece of evidence. Stretch: compare the two texts’ tone (مُحَايِدٌ / حَذِرٌ) in writing.
• Reading routine for every text: (1) Who says it? (source) (2) What is claimed? (3) What is the evidence (a number)? (4) What is the tone?
• Builds on D3-L08 (reading adverts, reference, inference) and D4-L03 / L06 (passive).
• TEACHER-WRITTEN ITEMS: one vowel slip in the reading text corrected (يَطْفِئُ → يُطْفِئُ), the unvowelled pronoun-rule example replaced with a vowelled one, one quiz item given meaningful distractors, and English added to the website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D4-L07. Question 3 retrieves D4-L07; questions 4–5 retrieve the D3-L08 reading skills (passive advert language, pronoun reference).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strong reader asks: who says it, what is the evidence, and how sure is the writer?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دعویٰ (claim) = Arabic ادِّعَاءٌ / دَعْوَى. CAREFUL: Urdu نسبت = connection / relation, Arabic نِسْبَةٌ = ratio, percentage (بِنِسْبَةِ ١٨٪ = by 18%). مُتَفَائِلٌ is related to فال (a good omen) — optimistic.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Text and evidence (website vocabulary (1 of 2)). Hear → Say → See → Use. Transliteration is printed for Core students (cover it for Develop/Stretch).
Text and evidence: a CLAIM (ادِّعَاءٌ) is what the writer says; EVIDENCE (دَلِيلٌ) is what proves it (often بَيَانَاتٌ / إِحْصَاءَاتٌ).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Text and evidence (website vocabulary (2 of 2)). Hear → Say → See → Use. Transliteration is printed for Core students (cover it for Develop/Stretch).
Text and evidence: a CLAIM (ادِّعَاءٌ) is what the writer says; EVIDENCE (دَلِيلٌ) is what proves it (often بَيَانَاتٌ / إِحْصَاءَاتٌ).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Reporting and passive signals (website vocabulary (1 of 2)). Hear → Say → See → Use. Transliteration is printed for Core students (cover it for Develop/Stretch).
Reporting signals: impersonal passives (it is indicated / believed / expected / mentioned that …) — the information matters, not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Reporting and passive signals (website vocabulary (2 of 2)). Hear → Say → See → Use. Transliteration is printed for Core students (cover it for Develop/Stretch).
Reporting signals: impersonal passives (it is indicated / believed / expected / mentioned that …) — the information matters, not the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relationships (website vocabulary (1 of 2)). Hear → Say → See → Use. Transliteration is printed for Core students (cover it for Develop/Stretch).
Reading relationships: the tone words (مُحَايِدٌ neutral · مُتَفَائِلٌ optimistic · مُتَشَائِمٌ pessimistic) are for Stretch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relationships (website vocabulary (2 of 2)). Hear → Say → See → Use. Transliteration is printed for Core students (cover it for Develop/Stretch).
Reading relationships: the tone words (مُحَايِدٌ neutral · مُتَفَائِلٌ optimistic · مُتَشَائِمٌ pessimistic) are for Stretch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“Recognise impersonal reporting” (these passives foreground the information rather than the person reporting it), “Prediction after يُتَوَقَّعُ” (a sound-ending present verb takes fatḥa after أَنْ) and “Statistical language” (identify exactly what the number measures; do not match numbers by sight alone). Rows from the website rules and listening.
Website mistake: وَفْقًا التَّقْرِيرُ ✗ → وَفْقًا لِلتَّقْرِيرِ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 “Pronoun reference” (gender and number help, but meaning confirms the reference) with the website example: تَحْتَاجُ المَدِينَةُ إِلَى شَبَكَةٍ ذَكِيَّةٍ لِأَنَّهَا تُقَلِّلُ الهَدْرَ — هَا refers to the grid, not the city, because the grid is what reduces waste.
Claim / evidence / tone come from the website vocabulary and the writing model (نَبْرَةُ النَّصِّ الأَوَّلِ مُحَايِدَةٌ …، أَمَّا النَّصُّ الثَّانِي فَنَبْرَتُهُ أَكْثَرُ حَذَرًا).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“Study each structure in context, compare accurate and inaccurate forms, then apply it in meaningful Arabic.”
• Recognise impersonal reporting: These passives foreground the information rather than the person reporting it.
• Prediction after يُتَوَقَّعُ: Because the structure uses أَنْ, a sound-ending present verb takes fatḥa.
• Statistical language: Identify exactly what the number measures; do not match numbers by sight alone.
• Pronoun reference: Gender and number help, but meaning confirms the reference.
Website common error: Do not select a sentence merely because its words are familiar. Check meaning, agreement, governing prepositions and 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5,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think-aloud on the website reading text 1 using the four-question routine (source → evidence → how → tone). Students then do text 2 themselves in the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pick one word from each group and say how it helps a reader (e.g. وَفْقًا لِـ tells me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pick one word from each group and say how it helps a reader (e.g. وَفْقًا لِـ tells me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4,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6 — say what each number measures.
Listen 1: just listen. Listen 2: note answers. Then chat the letters.
Support: after the second listening, show the read-along slide (Arabic + English, line by line) for Core students.
SCRIPT (read aloud):
وَفْقًا لِتَقْرِيرٍ جَدِيدٍ، ارْتَفَعَ مُتَوَسِّطُ دَرَجَةِ الحَرَارَةِ فِي المَنْطِقَةِ دَرَجَةً وَاحِدَةً خِلَالَ عِشْرِينَ عَامًا. وَيُشَارُ إِلَى أَنَّ فَتَرَاتِ الجَفَافِ أَصْبَحَتْ أَطْوَلَ، مِمَّا يُؤَثِّرُ فِي الزِّرَاعَةِ. وَيُتَوَقَّعُ أَنْ يَزْدَادَ الطَّلَبُ عَلَى المِيَاهِ بِنِسْبَةِ خَمْسَ عَشْرَةَ فِي المِئَةِ بِحُلُولِ عَامِ ٢٠٣٥. لٰكِنَّ التَّقْرِيرَ يَذْكُرُ أَيْضًا أَنَّ الاسْتِثْمَارَ فِي إِعَادَةِ اسْتِخْدَامِ المِيَاهِ قَدْ يُقَلِّلُ الضَّغْطَ.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READING (main task): the website reading workshop (two texts: council data and a tech blogger). Text 1: source, number, how. Text 2: claim, reservation, “he”.
Core: questions 1–3. Develop: all 6. Stretch: then the written comparison of the two texts (message, evidence, 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prompts and model. Students explain HOW they read. Core may answer with one Arabic key word +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comparing the message, evidence and tone of two short environment or technology texts.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وَفْقًا لِبَيَانَاتِ البَلَدِيَّةِ … بِنِسْبَةِ ١٨٪ · وَهٰذَا دَلِيلٌ مُحَدَّدٌ · يُحَذِّرُ صَاحِبُ المُدَوَّنَةِ مِنْ … · نَبْرَةُ النَّصِّ الأَوَّلِ مُحَايِدَةٌ … أَمَّا النَّصُّ الثَّانِي فَنَبْرَتُهُ أَكْثَرُ حَذَرًا · نَسْتَنْتِجُ أَنَّ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(D4-L09 · Writing — Environment and Technology Article) will spend class time USING this language, so students prepare it tonight — short, simple, easy to access (school guidance: “Simple, Short, Interesting, Relevant, Easy to access”). The five words come from the website D4-L09 vocabulary (academic organisation of an article).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Reading — Environment and Technology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القِرَاءَةُ — نُصُوصُ البِيئَةِ وَالتِّقْنِيَّةِ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reports and articles like an examiner: spot impersonal reporting (</a:t>
            </a:r>
            <a:pPr algn="l" indent="0" marL="0">
              <a:buNone/>
            </a:pPr>
            <a:r>
              <a:rPr lang="ar-SA" altLang="en-US" sz="1800" dirty="0">
                <a:solidFill>
                  <a:srgbClr val="C6D2E6"/>
                </a:solidFill>
                <a:latin typeface="Amiri" pitchFamily="2" charset="-78"/>
                <a:ea typeface="Amiri" pitchFamily="2" charset="-78"/>
                <a:cs typeface="Amiri" pitchFamily="2" charset="-78"/>
              </a:rPr>
              <a:t>يُشَارُ إِلَى أَنَّ</a:t>
            </a:r>
            <a:pPr algn="l" indent="0" marL="0">
              <a:buNone/>
            </a:pPr>
            <a:r>
              <a:rPr lang="en-US" sz="1400" dirty="0">
                <a:solidFill>
                  <a:srgbClr val="C6D2E6"/>
                </a:solidFill>
                <a:latin typeface="Calibri" pitchFamily="34" charset="0"/>
                <a:cs typeface="Amiri" pitchFamily="2" charset="-78"/>
              </a:rPr>
              <a:t> …), read statistics exactly (</a:t>
            </a:r>
            <a:pPr algn="l" indent="0" marL="0">
              <a:buNone/>
            </a:pPr>
            <a:r>
              <a:rPr lang="ar-SA" altLang="en-US" sz="1800" dirty="0">
                <a:solidFill>
                  <a:srgbClr val="C6D2E6"/>
                </a:solidFill>
                <a:latin typeface="Amiri" pitchFamily="2" charset="-78"/>
                <a:ea typeface="Amiri" pitchFamily="2" charset="-78"/>
                <a:cs typeface="Amiri" pitchFamily="2" charset="-78"/>
              </a:rPr>
              <a:t>يَبْلُغُ</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يُمَثِّلُ</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بِنِسْبَةِ</a:t>
            </a:r>
            <a:pPr algn="l" indent="0" marL="0">
              <a:buNone/>
            </a:pPr>
            <a:r>
              <a:rPr lang="en-US" sz="1400" dirty="0">
                <a:solidFill>
                  <a:srgbClr val="C6D2E6"/>
                </a:solidFill>
                <a:latin typeface="Calibri" pitchFamily="34" charset="0"/>
                <a:cs typeface="Amiri" pitchFamily="2" charset="-78"/>
              </a:rPr>
              <a:t> …), separate a claim from its evidence, track pronouns and compare the tone of two texts.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D4-L08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Reporting language, statistics, claim vs evidence, reference and tone.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words, fix reporting slips, then a data-heavy listening.</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D4-L09.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إِحْصَاءَاتٌ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data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statistics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report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النَّبْرَةُ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tone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source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claim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 اسْتَمَرَّ الهَدْرُ،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تَنْضَبُ المَوَارِدُ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لِكَيْ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فَسَوْفَ</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يُشْتَرَطُ</a:t>
            </a:r>
            <a:pPr algn="l" indent="0" marL="0">
              <a:buNone/>
            </a:pPr>
            <a:r>
              <a:rPr lang="en-US" sz="1250" b="1" dirty="0">
                <a:solidFill>
                  <a:srgbClr val="1B3B6F"/>
                </a:solidFill>
                <a:latin typeface="Calibri" pitchFamily="34" charset="0"/>
                <a:cs typeface="Amiri" pitchFamily="2" charset="-78"/>
              </a:rPr>
              <a:t> mean in an advert?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preferred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offered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required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أَرْسَلَتْ سَلْمَى سِيرَتَهَا</a:t>
            </a:r>
            <a:pPr algn="l" indent="0" marL="0">
              <a:buNone/>
            </a:pPr>
            <a:r>
              <a:rPr lang="en-US" sz="1250" b="1" dirty="0">
                <a:solidFill>
                  <a:srgbClr val="1B3B6F"/>
                </a:solidFill>
                <a:latin typeface="Calibri" pitchFamily="34" charset="0"/>
                <a:cs typeface="Amiri" pitchFamily="2" charset="-78"/>
              </a:rPr>
              <a:t>, -hā refers to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Salma</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company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CV</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إِحْصَاءَاتٌ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data</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statistics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report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النَّبْرَةُ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tone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source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claim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(D4-L07).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إِذَا اسْتَمَرَّ الهَدْرُ،</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تَنْضَبُ المَوَارِدُ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لِكَيْ</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بِسَبَبِ</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فَسَوْفَ</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D4-L07.</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يُشْتَرَطُ</a:t>
            </a:r>
            <a:pPr algn="l" indent="0" marL="0">
              <a:buNone/>
            </a:pPr>
            <a:r>
              <a:rPr lang="en-US" sz="1250" b="1" dirty="0">
                <a:solidFill>
                  <a:srgbClr val="1B3B6F"/>
                </a:solidFill>
                <a:latin typeface="Calibri" pitchFamily="34" charset="0"/>
                <a:cs typeface="Amiri" pitchFamily="2" charset="-78"/>
              </a:rPr>
              <a:t> mean in an advert?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 preferred</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 offered</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is required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D3-L08: a reading passive.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أَرْسَلَتْ سَلْمَى سِيرَتَهَا</a:t>
            </a:r>
            <a:pPr algn="l" indent="0" marL="0">
              <a:buNone/>
            </a:pPr>
            <a:r>
              <a:rPr lang="en-US" sz="1250" b="1" dirty="0">
                <a:solidFill>
                  <a:srgbClr val="1B3B6F"/>
                </a:solidFill>
                <a:latin typeface="Calibri" pitchFamily="34" charset="0"/>
                <a:cs typeface="Amiri" pitchFamily="2" charset="-78"/>
              </a:rPr>
              <a:t>, -hā refers to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Salma</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company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CV</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D3-L08: pronoun reference.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strong reader asks: who says it, what is the evidence, and how sure is the writer?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وَفْقًا لِبَيَانَاتِ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البَلَدِيَّةِ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يُشَارُ إِلَى أَنَّ</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 بِنِسْبَةِ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١٨٪</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impersonal reporting and attribution (</a:t>
            </a:r>
            <a:pPr algn="l" indent="0" marL="0">
              <a:buNone/>
            </a:pPr>
            <a:r>
              <a:rPr lang="ar-SA" altLang="en-US" sz="1700" dirty="0">
                <a:solidFill>
                  <a:srgbClr val="1F2A37"/>
                </a:solidFill>
                <a:latin typeface="Amiri" pitchFamily="2" charset="-78"/>
                <a:ea typeface="Amiri" pitchFamily="2" charset="-78"/>
                <a:cs typeface="Amiri" pitchFamily="2" charset="-78"/>
              </a:rPr>
              <a:t>يُشَارُ إِلَى أَنَّ</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وَفْقًا لِـ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statistics precisely (</a:t>
            </a:r>
            <a:pPr algn="l" indent="0" marL="0">
              <a:buNone/>
            </a:pPr>
            <a:r>
              <a:rPr lang="ar-SA" altLang="en-US" sz="1700" dirty="0">
                <a:solidFill>
                  <a:srgbClr val="1F2A37"/>
                </a:solidFill>
                <a:latin typeface="Amiri" pitchFamily="2" charset="-78"/>
                <a:ea typeface="Amiri" pitchFamily="2" charset="-78"/>
                <a:cs typeface="Amiri" pitchFamily="2" charset="-78"/>
              </a:rPr>
              <a:t>يَبْلُغُ</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يُمَثِّلُ</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بِنِسْبَةِ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Separate a claim from its evidence and track pronouns.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the message and tone of two texts.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the source and a number.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understand reporting phrases.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separate a claim from its evidence.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a pronoun refers to.</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the tone of two texts.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supported comparison.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27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Text and evidence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Reporting and passive signals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Reading relationships · 9</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إِحْصَاءٌ</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‎احصاء / شمار‎ </a:t>
            </a:r>
            <a:pPr indent="0" marL="0">
              <a:buNone/>
            </a:pPr>
            <a:r>
              <a:rPr lang="en-US" sz="950" b="1" dirty="0">
                <a:solidFill>
                  <a:srgbClr val="2E8B57"/>
                </a:solidFill>
                <a:latin typeface="Calibri" pitchFamily="34" charset="0"/>
                <a:cs typeface="Amiri" pitchFamily="2" charset="-78"/>
              </a:rPr>
              <a:t> shumār · statistics</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نِسْبَةٌ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‎نسبت‎ </a:t>
            </a:r>
            <a:pPr indent="0" marL="0">
              <a:buNone/>
            </a:pPr>
            <a:r>
              <a:rPr lang="en-US" sz="950" b="1" dirty="0">
                <a:solidFill>
                  <a:srgbClr val="2E8B57"/>
                </a:solidFill>
                <a:latin typeface="Calibri" pitchFamily="34" charset="0"/>
                <a:cs typeface="Amiri" pitchFamily="2" charset="-78"/>
              </a:rPr>
              <a:t> nisbat · Urdu: relation · Arabic: ratio, percentage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دَعْوَى / ادِّعَاءٌ</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‎دعویٰ‎ </a:t>
            </a:r>
            <a:pPr indent="0" marL="0">
              <a:buNone/>
            </a:pPr>
            <a:r>
              <a:rPr lang="en-US" sz="950" b="1" dirty="0">
                <a:solidFill>
                  <a:srgbClr val="2E8B57"/>
                </a:solidFill>
                <a:latin typeface="Calibri" pitchFamily="34" charset="0"/>
                <a:cs typeface="Amiri" pitchFamily="2" charset="-78"/>
              </a:rPr>
              <a:t> daʿwā · claim</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مَصْدَرٌ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‎مصدر / ماخذ‎ </a:t>
            </a:r>
            <a:pPr indent="0" marL="0">
              <a:buNone/>
            </a:pPr>
            <a:r>
              <a:rPr lang="en-US" sz="950" b="1" dirty="0">
                <a:solidFill>
                  <a:srgbClr val="2E8B57"/>
                </a:solidFill>
                <a:latin typeface="Calibri" pitchFamily="34" charset="0"/>
                <a:cs typeface="Amiri" pitchFamily="2" charset="-78"/>
              </a:rPr>
              <a:t> māʾkhaz · source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مُتَفَائِلٌ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‎فال / پرامید‎ </a:t>
            </a:r>
            <a:pPr indent="0" marL="0">
              <a:buNone/>
            </a:pPr>
            <a:r>
              <a:rPr lang="en-US" sz="950" b="1" dirty="0">
                <a:solidFill>
                  <a:srgbClr val="2E8B57"/>
                </a:solidFill>
                <a:latin typeface="Calibri" pitchFamily="34" charset="0"/>
                <a:cs typeface="Amiri" pitchFamily="2" charset="-78"/>
              </a:rPr>
              <a:t> pur-umīd · optimistic (meaning only)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and evidence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نَصٌّ بِيئِيٌّ</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environmental text</a:t>
            </a:r>
            <a:endParaRPr lang="en-US" sz="1350" dirty="0"/>
          </a:p>
          <a:p>
            <a:pPr indent="0" marL="0">
              <a:buNone/>
            </a:pPr>
            <a:r>
              <a:rPr lang="en-US" sz="1100" i="1" dirty="0">
                <a:solidFill>
                  <a:srgbClr val="5A6472"/>
                </a:solidFill>
                <a:latin typeface="Calibri" pitchFamily="34" charset="0"/>
                <a:cs typeface="Amiri" pitchFamily="2" charset="-78"/>
              </a:rPr>
              <a:t>naṣ-ṣun bī-ʾiy-yun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مَقَالَةٌ تِقْنِيَّةٌ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technology article</a:t>
            </a:r>
            <a:endParaRPr lang="en-US" sz="1350" dirty="0"/>
          </a:p>
          <a:p>
            <a:pPr indent="0" marL="0">
              <a:buNone/>
            </a:pPr>
            <a:r>
              <a:rPr lang="en-US" sz="1100" i="1" dirty="0">
                <a:solidFill>
                  <a:srgbClr val="5A6472"/>
                </a:solidFill>
                <a:latin typeface="Calibri" pitchFamily="34" charset="0"/>
                <a:cs typeface="Amiri" pitchFamily="2" charset="-78"/>
              </a:rPr>
              <a:t>ma-qā-la-tun tiq-niy-ya-tun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28" name="Shape 2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تَقْرِيرٌ</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a:t>
            </a:r>
            <a:endParaRPr lang="en-US" sz="1350" dirty="0"/>
          </a:p>
          <a:p>
            <a:pPr indent="0" marL="0">
              <a:buNone/>
            </a:pPr>
            <a:r>
              <a:rPr lang="en-US" sz="1100" i="1" dirty="0">
                <a:solidFill>
                  <a:srgbClr val="5A6472"/>
                </a:solidFill>
                <a:latin typeface="Calibri" pitchFamily="34" charset="0"/>
                <a:cs typeface="Amiri" pitchFamily="2" charset="-78"/>
              </a:rPr>
              <a:t>taq-rī-run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مَصْدَرُ المَعْلُومَاتِ</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information source</a:t>
            </a:r>
            <a:endParaRPr lang="en-US" sz="1350" dirty="0"/>
          </a:p>
          <a:p>
            <a:pPr indent="0" marL="0">
              <a:buNone/>
            </a:pPr>
            <a:r>
              <a:rPr lang="en-US" sz="1100" i="1" dirty="0">
                <a:solidFill>
                  <a:srgbClr val="5A6472"/>
                </a:solidFill>
                <a:latin typeface="Calibri" pitchFamily="34" charset="0"/>
                <a:cs typeface="Amiri" pitchFamily="2" charset="-78"/>
              </a:rPr>
              <a:t>maṣ-da-ru al-maʿ-lū-mā-ti</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2" name="Shape 3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بَيَانَاتٌ</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data</a:t>
            </a:r>
            <a:endParaRPr lang="en-US" sz="1350" dirty="0"/>
          </a:p>
          <a:p>
            <a:pPr indent="0" marL="0">
              <a:buNone/>
            </a:pPr>
            <a:r>
              <a:rPr lang="en-US" sz="1100" i="1" dirty="0">
                <a:solidFill>
                  <a:srgbClr val="5A6472"/>
                </a:solidFill>
                <a:latin typeface="Calibri" pitchFamily="34" charset="0"/>
                <a:cs typeface="Amiri" pitchFamily="2" charset="-78"/>
              </a:rPr>
              <a:t>ba-yā-nā-tun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and evidence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إِحْصَاءَاتٌ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statistics</a:t>
            </a:r>
            <a:endParaRPr lang="en-US" sz="1350" dirty="0"/>
          </a:p>
          <a:p>
            <a:pPr indent="0" marL="0">
              <a:buNone/>
            </a:pPr>
            <a:r>
              <a:rPr lang="en-US" sz="1100" i="1" dirty="0">
                <a:solidFill>
                  <a:srgbClr val="5A6472"/>
                </a:solidFill>
                <a:latin typeface="Calibri" pitchFamily="34" charset="0"/>
                <a:cs typeface="Amiri" pitchFamily="2" charset="-78"/>
              </a:rPr>
              <a:t>iḥ-ṣā-ʾā-tun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a:t>
            </a:r>
            <a:endParaRPr lang="en-US" sz="1350" dirty="0"/>
          </a:p>
          <a:p>
            <a:pPr indent="0" marL="0">
              <a:buNone/>
            </a:pPr>
            <a:r>
              <a:rPr lang="en-US" sz="1100" i="1" dirty="0">
                <a:solidFill>
                  <a:srgbClr val="5A6472"/>
                </a:solidFill>
                <a:latin typeface="Calibri" pitchFamily="34" charset="0"/>
                <a:cs typeface="Amiri" pitchFamily="2" charset="-78"/>
              </a:rPr>
              <a:t>da-lī-lun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ادِّعَاءٌ</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claim</a:t>
            </a:r>
            <a:endParaRPr lang="en-US" sz="1350" dirty="0"/>
          </a:p>
          <a:p>
            <a:pPr indent="0" marL="0">
              <a:buNone/>
            </a:pPr>
            <a:r>
              <a:rPr lang="en-US" sz="1100" i="1" dirty="0">
                <a:solidFill>
                  <a:srgbClr val="5A6472"/>
                </a:solidFill>
                <a:latin typeface="Calibri" pitchFamily="34" charset="0"/>
                <a:cs typeface="Amiri" pitchFamily="2" charset="-78"/>
              </a:rPr>
              <a:t>ad-di-ʿā-ʾun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حُجَّةٌ</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argument</a:t>
            </a:r>
            <a:endParaRPr lang="en-US" sz="1350" dirty="0"/>
          </a:p>
          <a:p>
            <a:pPr indent="0" marL="0">
              <a:buNone/>
            </a:pPr>
            <a:r>
              <a:rPr lang="en-US" sz="1100" i="1" dirty="0">
                <a:solidFill>
                  <a:srgbClr val="5A6472"/>
                </a:solidFill>
                <a:latin typeface="Calibri" pitchFamily="34" charset="0"/>
                <a:cs typeface="Amiri" pitchFamily="2" charset="-78"/>
              </a:rPr>
              <a:t>ḥuj-ja-tun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وِجْهَةُ نَظَرٍ</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viewpoint</a:t>
            </a:r>
            <a:endParaRPr lang="en-US" sz="1350" dirty="0"/>
          </a:p>
          <a:p>
            <a:pPr indent="0" marL="0">
              <a:buNone/>
            </a:pPr>
            <a:r>
              <a:rPr lang="en-US" sz="1100" i="1" dirty="0">
                <a:solidFill>
                  <a:srgbClr val="5A6472"/>
                </a:solidFill>
                <a:latin typeface="Calibri" pitchFamily="34" charset="0"/>
                <a:cs typeface="Amiri" pitchFamily="2" charset="-78"/>
              </a:rPr>
              <a:t>wij-ha-tu na-ẓa-rin</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Reporting and passive signals (1 of 2)</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يُشَارُ إِلَى 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indicated that</a:t>
            </a:r>
            <a:endParaRPr lang="en-US" sz="1350" dirty="0"/>
          </a:p>
          <a:p>
            <a:pPr indent="0" marL="0">
              <a:buNone/>
            </a:pPr>
            <a:r>
              <a:rPr lang="en-US" sz="1100" i="1" dirty="0">
                <a:solidFill>
                  <a:srgbClr val="5A6472"/>
                </a:solidFill>
                <a:latin typeface="Calibri" pitchFamily="34" charset="0"/>
                <a:cs typeface="Amiri" pitchFamily="2" charset="-78"/>
              </a:rPr>
              <a:t>yu-shā-ru i-lā 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يُعْتَقَدُ أَنَّ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believed that</a:t>
            </a:r>
            <a:endParaRPr lang="en-US" sz="1350" dirty="0"/>
          </a:p>
          <a:p>
            <a:pPr indent="0" marL="0">
              <a:buNone/>
            </a:pPr>
            <a:r>
              <a:rPr lang="en-US" sz="1100" i="1" dirty="0">
                <a:solidFill>
                  <a:srgbClr val="5A6472"/>
                </a:solidFill>
                <a:latin typeface="Calibri" pitchFamily="34" charset="0"/>
                <a:cs typeface="Amiri" pitchFamily="2" charset="-78"/>
              </a:rPr>
              <a:t>yuʿ-ta-qa-du an-na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يُتَوَقَّعُ أَنْ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expected that</a:t>
            </a:r>
            <a:endParaRPr lang="en-US" sz="1350" dirty="0"/>
          </a:p>
          <a:p>
            <a:pPr indent="0" marL="0">
              <a:buNone/>
            </a:pPr>
            <a:r>
              <a:rPr lang="en-US" sz="1100" i="1" dirty="0">
                <a:solidFill>
                  <a:srgbClr val="5A6472"/>
                </a:solidFill>
                <a:latin typeface="Calibri" pitchFamily="34" charset="0"/>
                <a:cs typeface="Amiri" pitchFamily="2" charset="-78"/>
              </a:rPr>
              <a:t>yu-ta-waq-qa-ʿu an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يُذْكَرُ أَنَّ</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mentioned that</a:t>
            </a:r>
            <a:endParaRPr lang="en-US" sz="1350" dirty="0"/>
          </a:p>
          <a:p>
            <a:pPr indent="0" marL="0">
              <a:buNone/>
            </a:pPr>
            <a:r>
              <a:rPr lang="en-US" sz="1100" i="1" dirty="0">
                <a:solidFill>
                  <a:srgbClr val="5A6472"/>
                </a:solidFill>
                <a:latin typeface="Calibri" pitchFamily="34" charset="0"/>
                <a:cs typeface="Amiri" pitchFamily="2" charset="-78"/>
              </a:rPr>
              <a:t>yudh-ka-ru an-na</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Reporting and passive signals (2 of 2)</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يَبْلُغُ</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amounts to / reaches</a:t>
            </a:r>
            <a:endParaRPr lang="en-US" sz="1350" dirty="0"/>
          </a:p>
          <a:p>
            <a:pPr indent="0" marL="0">
              <a:buNone/>
            </a:pPr>
            <a:r>
              <a:rPr lang="en-US" sz="1100" i="1" dirty="0">
                <a:solidFill>
                  <a:srgbClr val="5A6472"/>
                </a:solidFill>
                <a:latin typeface="Calibri" pitchFamily="34" charset="0"/>
                <a:cs typeface="Amiri" pitchFamily="2" charset="-78"/>
              </a:rPr>
              <a:t>yab-lu-ghu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يُمَثِّلُ</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represents</a:t>
            </a:r>
            <a:endParaRPr lang="en-US" sz="1350" dirty="0"/>
          </a:p>
          <a:p>
            <a:pPr indent="0" marL="0">
              <a:buNone/>
            </a:pPr>
            <a:r>
              <a:rPr lang="en-US" sz="1100" i="1" dirty="0">
                <a:solidFill>
                  <a:srgbClr val="5A6472"/>
                </a:solidFill>
                <a:latin typeface="Calibri" pitchFamily="34" charset="0"/>
                <a:cs typeface="Amiri" pitchFamily="2" charset="-78"/>
              </a:rPr>
              <a:t>yu-math-thi-lu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بِنَاءً عَلَى</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based on</a:t>
            </a:r>
            <a:endParaRPr lang="en-US" sz="1350" dirty="0"/>
          </a:p>
          <a:p>
            <a:pPr indent="0" marL="0">
              <a:buNone/>
            </a:pPr>
            <a:r>
              <a:rPr lang="en-US" sz="1100" i="1" dirty="0">
                <a:solidFill>
                  <a:srgbClr val="5A6472"/>
                </a:solidFill>
                <a:latin typeface="Calibri" pitchFamily="34" charset="0"/>
                <a:cs typeface="Amiri" pitchFamily="2" charset="-78"/>
              </a:rPr>
              <a:t>bi-nā-ʾan ʿa-lā</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وَفْقًا لِـ</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according to</a:t>
            </a:r>
            <a:endParaRPr lang="en-US" sz="1350" dirty="0"/>
          </a:p>
          <a:p>
            <a:pPr indent="0" marL="0">
              <a:buNone/>
            </a:pPr>
            <a:r>
              <a:rPr lang="en-US" sz="1100" i="1" dirty="0">
                <a:solidFill>
                  <a:srgbClr val="5A6472"/>
                </a:solidFill>
                <a:latin typeface="Calibri" pitchFamily="34" charset="0"/>
                <a:cs typeface="Amiri" pitchFamily="2" charset="-78"/>
              </a:rPr>
              <a:t>waf-qan li</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relationships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يَعُودُ الضَّمِيرُ عَلَى</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pronoun refers to</a:t>
            </a:r>
            <a:endParaRPr lang="en-US" sz="1350" dirty="0"/>
          </a:p>
          <a:p>
            <a:pPr indent="0" marL="0">
              <a:buNone/>
            </a:pPr>
            <a:r>
              <a:rPr lang="en-US" sz="1100" i="1" dirty="0">
                <a:solidFill>
                  <a:srgbClr val="5A6472"/>
                </a:solidFill>
                <a:latin typeface="Calibri" pitchFamily="34" charset="0"/>
                <a:cs typeface="Amiri" pitchFamily="2" charset="-78"/>
              </a:rPr>
              <a:t>ya-ʿū-du aḍ-ḍa-mī-ru ʿa-lā</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السَّبَبُ</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cause</a:t>
            </a:r>
            <a:endParaRPr lang="en-US" sz="1350" dirty="0"/>
          </a:p>
          <a:p>
            <a:pPr indent="0" marL="0">
              <a:buNone/>
            </a:pPr>
            <a:r>
              <a:rPr lang="en-US" sz="1100" i="1" dirty="0">
                <a:solidFill>
                  <a:srgbClr val="5A6472"/>
                </a:solidFill>
                <a:latin typeface="Calibri" pitchFamily="34" charset="0"/>
                <a:cs typeface="Amiri" pitchFamily="2" charset="-78"/>
              </a:rPr>
              <a:t>as-sa-ba-bu</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النَّتِيجَةُ</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result</a:t>
            </a:r>
            <a:endParaRPr lang="en-US" sz="1350" dirty="0"/>
          </a:p>
          <a:p>
            <a:pPr indent="0" marL="0">
              <a:buNone/>
            </a:pPr>
            <a:r>
              <a:rPr lang="en-US" sz="1100" i="1" dirty="0">
                <a:solidFill>
                  <a:srgbClr val="5A6472"/>
                </a:solidFill>
                <a:latin typeface="Calibri" pitchFamily="34" charset="0"/>
                <a:cs typeface="Amiri" pitchFamily="2" charset="-78"/>
              </a:rPr>
              <a:t>an-na-tī-ja-tu</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المُقَارَنَةُ</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comparison</a:t>
            </a:r>
            <a:endParaRPr lang="en-US" sz="1350" dirty="0"/>
          </a:p>
          <a:p>
            <a:pPr indent="0" marL="0">
              <a:buNone/>
            </a:pPr>
            <a:r>
              <a:rPr lang="en-US" sz="1100" i="1" dirty="0">
                <a:solidFill>
                  <a:srgbClr val="5A6472"/>
                </a:solidFill>
                <a:latin typeface="Calibri" pitchFamily="34" charset="0"/>
                <a:cs typeface="Amiri" pitchFamily="2" charset="-78"/>
              </a:rPr>
              <a:t>al-mu-qā-ra-na-tu</a:t>
            </a:r>
            <a:endParaRPr lang="en-US" sz="1350" dirty="0"/>
          </a:p>
        </p:txBody>
      </p:sp>
      <p:sp>
        <p:nvSpPr>
          <p:cNvPr id="35" name="Shape 3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4389120"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8" name="Text 3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التَّنَاقُضُ</a:t>
            </a:r>
            <a:endParaRPr lang="ar-SA" sz="3000" dirty="0"/>
          </a:p>
        </p:txBody>
      </p:sp>
      <p:sp>
        <p:nvSpPr>
          <p:cNvPr id="39" name="Text 3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contradiction</a:t>
            </a:r>
            <a:endParaRPr lang="en-US" sz="1350" dirty="0"/>
          </a:p>
          <a:p>
            <a:pPr indent="0" marL="0">
              <a:buNone/>
            </a:pPr>
            <a:r>
              <a:rPr lang="en-US" sz="1100" i="1" dirty="0">
                <a:solidFill>
                  <a:srgbClr val="5A6472"/>
                </a:solidFill>
                <a:latin typeface="Calibri" pitchFamily="34" charset="0"/>
                <a:cs typeface="Amiri" pitchFamily="2" charset="-78"/>
              </a:rPr>
              <a:t>at-ta-nā-qu-ḍu</a:t>
            </a:r>
            <a:endParaRPr lang="en-US" sz="13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relationships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النَّبْرَةُ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tone</a:t>
            </a:r>
            <a:endParaRPr lang="en-US" sz="1350" dirty="0"/>
          </a:p>
          <a:p>
            <a:pPr indent="0" marL="0">
              <a:buNone/>
            </a:pPr>
            <a:r>
              <a:rPr lang="en-US" sz="1100" i="1" dirty="0">
                <a:solidFill>
                  <a:srgbClr val="5A6472"/>
                </a:solidFill>
                <a:latin typeface="Calibri" pitchFamily="34" charset="0"/>
                <a:cs typeface="Amiri" pitchFamily="2" charset="-78"/>
              </a:rPr>
              <a:t>an-nab-ra-tu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مُحَايِدٌ</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neutral</a:t>
            </a:r>
            <a:endParaRPr lang="en-US" sz="1350" dirty="0"/>
          </a:p>
          <a:p>
            <a:pPr indent="0" marL="0">
              <a:buNone/>
            </a:pPr>
            <a:r>
              <a:rPr lang="en-US" sz="1100" i="1" dirty="0">
                <a:solidFill>
                  <a:srgbClr val="5A6472"/>
                </a:solidFill>
                <a:latin typeface="Calibri" pitchFamily="34" charset="0"/>
                <a:cs typeface="Amiri" pitchFamily="2" charset="-78"/>
              </a:rPr>
              <a:t>mu-ḥā-yi-dun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مُتَفَائِلٌ</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optimistic</a:t>
            </a:r>
            <a:endParaRPr lang="en-US" sz="1350" dirty="0"/>
          </a:p>
          <a:p>
            <a:pPr indent="0" marL="0">
              <a:buNone/>
            </a:pPr>
            <a:r>
              <a:rPr lang="en-US" sz="1100" i="1" dirty="0">
                <a:solidFill>
                  <a:srgbClr val="5A6472"/>
                </a:solidFill>
                <a:latin typeface="Calibri" pitchFamily="34" charset="0"/>
                <a:cs typeface="Amiri" pitchFamily="2" charset="-78"/>
              </a:rPr>
              <a:t>mu-ta-fā-ʾi-lun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مُتَشَائِمٌ</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pessimistic</a:t>
            </a:r>
            <a:endParaRPr lang="en-US" sz="1350" dirty="0"/>
          </a:p>
          <a:p>
            <a:pPr indent="0" marL="0">
              <a:buNone/>
            </a:pPr>
            <a:r>
              <a:rPr lang="en-US" sz="1100" i="1" dirty="0">
                <a:solidFill>
                  <a:srgbClr val="5A6472"/>
                </a:solidFill>
                <a:latin typeface="Calibri" pitchFamily="34" charset="0"/>
                <a:cs typeface="Amiri" pitchFamily="2" charset="-78"/>
              </a:rPr>
              <a:t>mu-ta-shā-ʾi-mun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REPORTING AND STATISTICS (WEBSITE RULES 1–3)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says it? What is the number?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النَّقْلُ وَالأَرْقَامُ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479792" y="1810512"/>
            <a:ext cx="41788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Reading signal</a:t>
            </a:r>
            <a:endParaRPr lang="en-US" sz="1100" dirty="0"/>
          </a:p>
        </p:txBody>
      </p:sp>
      <p:sp>
        <p:nvSpPr>
          <p:cNvPr id="17" name="Text 14"/>
          <p:cNvSpPr txBox="1"/>
          <p:nvPr/>
        </p:nvSpPr>
        <p:spPr>
          <a:xfrm>
            <a:off x="53035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7516368" y="2267712"/>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source: wafqan li-</a:t>
            </a:r>
            <a:endParaRPr lang="en-US" sz="1100" dirty="0"/>
          </a:p>
        </p:txBody>
      </p:sp>
      <p:sp>
        <p:nvSpPr>
          <p:cNvPr id="20" name="Text 17"/>
          <p:cNvSpPr txBox="1"/>
          <p:nvPr/>
        </p:nvSpPr>
        <p:spPr>
          <a:xfrm>
            <a:off x="548640" y="2286000"/>
            <a:ext cx="676656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وَفْقًا لِتَقْرِيرٍ</a:t>
            </a:r>
            <a:pPr rtl="1" algn="ctr" indent="0" marL="0">
              <a:buNone/>
            </a:pPr>
            <a:r>
              <a:rPr lang="ar-SA" altLang="en-US" sz="1950" b="1" dirty="0">
                <a:solidFill>
                  <a:srgbClr val="1B3B6F"/>
                </a:solidFill>
                <a:latin typeface="Amiri" pitchFamily="2" charset="-78"/>
                <a:ea typeface="Amiri" pitchFamily="2" charset="-78"/>
                <a:cs typeface="Amiri" pitchFamily="2" charset="-78"/>
              </a:rPr>
              <a:t> جَدِيدٍ، ارْتَفَعَ مُتَوَسِّطُ دَرَجَةِ الحَرَارَةِ.</a:t>
            </a:r>
            <a:endParaRPr lang="ar-SA" sz="1950" dirty="0"/>
          </a:p>
        </p:txBody>
      </p:sp>
      <p:sp>
        <p:nvSpPr>
          <p:cNvPr id="21" name="Text 18"/>
          <p:cNvSpPr txBox="1"/>
          <p:nvPr/>
        </p:nvSpPr>
        <p:spPr>
          <a:xfrm>
            <a:off x="502920" y="2676997"/>
            <a:ext cx="68580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According to a new report, the average temperature rose.</a:t>
            </a:r>
            <a:endParaRPr lang="en-US" sz="950" dirty="0"/>
          </a:p>
        </p:txBody>
      </p:sp>
      <p:sp>
        <p:nvSpPr>
          <p:cNvPr id="22" name="Shape 19"/>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7516368" y="300471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impersonal report + anna</a:t>
            </a:r>
            <a:endParaRPr lang="en-US" sz="1100" dirty="0"/>
          </a:p>
        </p:txBody>
      </p:sp>
      <p:sp>
        <p:nvSpPr>
          <p:cNvPr id="26" name="Text 23"/>
          <p:cNvSpPr txBox="1"/>
          <p:nvPr/>
        </p:nvSpPr>
        <p:spPr>
          <a:xfrm>
            <a:off x="548640" y="3023006"/>
            <a:ext cx="676656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ea typeface="Amiri" pitchFamily="2" charset="-78"/>
                <a:cs typeface="Amiri" pitchFamily="2" charset="-78"/>
              </a:rPr>
              <a:t>يُشَارُ إِلَى أَنَّ</a:t>
            </a:r>
            <a:pPr rtl="1" algn="ctr" indent="0" marL="0">
              <a:buNone/>
            </a:pPr>
            <a:r>
              <a:rPr lang="ar-SA" altLang="en-US" sz="1950" b="1" dirty="0">
                <a:solidFill>
                  <a:srgbClr val="1B3B6F"/>
                </a:solidFill>
                <a:latin typeface="Amiri" pitchFamily="2" charset="-78"/>
                <a:ea typeface="Amiri" pitchFamily="2" charset="-78"/>
                <a:cs typeface="Amiri" pitchFamily="2" charset="-78"/>
              </a:rPr>
              <a:t> فَتَرَاتِ الجَفَافِ أَصْبَحَتْ أَطْوَلَ.</a:t>
            </a:r>
            <a:endParaRPr lang="ar-SA" sz="1950" dirty="0"/>
          </a:p>
        </p:txBody>
      </p:sp>
      <p:sp>
        <p:nvSpPr>
          <p:cNvPr id="27" name="Text 24"/>
          <p:cNvSpPr txBox="1"/>
          <p:nvPr/>
        </p:nvSpPr>
        <p:spPr>
          <a:xfrm>
            <a:off x="502920" y="3414004"/>
            <a:ext cx="68580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is indicated that droughts have become longer.</a:t>
            </a:r>
            <a:endParaRPr lang="en-US" sz="950" dirty="0"/>
          </a:p>
        </p:txBody>
      </p:sp>
      <p:sp>
        <p:nvSpPr>
          <p:cNvPr id="28" name="Shape 25"/>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7516368" y="3741725"/>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prediction: an + verb in -a</a:t>
            </a:r>
            <a:endParaRPr lang="en-US" sz="1100" dirty="0"/>
          </a:p>
        </p:txBody>
      </p:sp>
      <p:sp>
        <p:nvSpPr>
          <p:cNvPr id="32" name="Text 29"/>
          <p:cNvSpPr txBox="1"/>
          <p:nvPr/>
        </p:nvSpPr>
        <p:spPr>
          <a:xfrm>
            <a:off x="548640" y="3760013"/>
            <a:ext cx="676656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ea typeface="Amiri" pitchFamily="2" charset="-78"/>
                <a:cs typeface="Amiri" pitchFamily="2" charset="-78"/>
              </a:rPr>
              <a:t>يُتَوَقَّعُ أَنْ</a:t>
            </a:r>
            <a:pPr rtl="1" algn="ctr" indent="0" marL="0">
              <a:buNone/>
            </a:pPr>
            <a:r>
              <a:rPr lang="ar-SA" altLang="en-US" sz="1950" b="1" dirty="0">
                <a:solidFill>
                  <a:srgbClr val="1B3B6F"/>
                </a:solidFill>
                <a:latin typeface="Amiri" pitchFamily="2" charset="-78"/>
                <a:ea typeface="Amiri" pitchFamily="2" charset="-78"/>
                <a:cs typeface="Amiri" pitchFamily="2" charset="-78"/>
              </a:rPr>
              <a:t> يَزْدَادَ الطَّلَبُ عَلَى المِيَاهِ.</a:t>
            </a:r>
            <a:endParaRPr lang="ar-SA" sz="1950" dirty="0"/>
          </a:p>
        </p:txBody>
      </p:sp>
      <p:sp>
        <p:nvSpPr>
          <p:cNvPr id="33" name="Text 30"/>
          <p:cNvSpPr txBox="1"/>
          <p:nvPr/>
        </p:nvSpPr>
        <p:spPr>
          <a:xfrm>
            <a:off x="502920" y="4151010"/>
            <a:ext cx="68580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Demand for water is expected to rise.</a:t>
            </a:r>
            <a:endParaRPr lang="en-US" sz="95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7516368" y="4478731"/>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number: yablughu</a:t>
            </a:r>
            <a:endParaRPr lang="en-US" sz="1100" dirty="0"/>
          </a:p>
        </p:txBody>
      </p:sp>
      <p:sp>
        <p:nvSpPr>
          <p:cNvPr id="36" name="Text 33"/>
          <p:cNvSpPr txBox="1"/>
          <p:nvPr/>
        </p:nvSpPr>
        <p:spPr>
          <a:xfrm>
            <a:off x="548640" y="4497019"/>
            <a:ext cx="676656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يَبْلُغُ</a:t>
            </a:r>
            <a:pPr rtl="1" algn="ctr" indent="0" marL="0">
              <a:buNone/>
            </a:pPr>
            <a:r>
              <a:rPr lang="ar-SA" altLang="en-US" sz="1950" b="1" dirty="0">
                <a:solidFill>
                  <a:srgbClr val="1B3B6F"/>
                </a:solidFill>
                <a:latin typeface="Amiri" pitchFamily="2" charset="-78"/>
                <a:ea typeface="Amiri" pitchFamily="2" charset="-78"/>
                <a:cs typeface="Amiri" pitchFamily="2" charset="-78"/>
              </a:rPr>
              <a:t> الحَدُّ الأَقْصَى ٤٠ دَرَجَةً.</a:t>
            </a:r>
            <a:endParaRPr lang="ar-SA" sz="1950" dirty="0"/>
          </a:p>
        </p:txBody>
      </p:sp>
      <p:sp>
        <p:nvSpPr>
          <p:cNvPr id="37" name="Text 34"/>
          <p:cNvSpPr txBox="1"/>
          <p:nvPr/>
        </p:nvSpPr>
        <p:spPr>
          <a:xfrm>
            <a:off x="502920" y="4888017"/>
            <a:ext cx="68580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maximum reaches 40 degrees.</a:t>
            </a:r>
            <a:endParaRPr lang="en-US" sz="9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7516368" y="5215738"/>
            <a:ext cx="41422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share: yumaththilu</a:t>
            </a:r>
            <a:endParaRPr lang="en-US" sz="1100" dirty="0"/>
          </a:p>
        </p:txBody>
      </p:sp>
      <p:sp>
        <p:nvSpPr>
          <p:cNvPr id="40" name="Text 37"/>
          <p:cNvSpPr txBox="1"/>
          <p:nvPr/>
        </p:nvSpPr>
        <p:spPr>
          <a:xfrm>
            <a:off x="548640" y="5234026"/>
            <a:ext cx="676656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تُمَثِّلُ</a:t>
            </a:r>
            <a:pPr rtl="1" algn="ctr" indent="0" marL="0">
              <a:buNone/>
            </a:pPr>
            <a:r>
              <a:rPr lang="ar-SA" altLang="en-US" sz="1950" b="1" dirty="0">
                <a:solidFill>
                  <a:srgbClr val="1B3B6F"/>
                </a:solidFill>
                <a:latin typeface="Amiri" pitchFamily="2" charset="-78"/>
                <a:ea typeface="Amiri" pitchFamily="2" charset="-78"/>
                <a:cs typeface="Amiri" pitchFamily="2" charset="-78"/>
              </a:rPr>
              <a:t> الطَّاقَةُ الشَّمْسِيَّةُ ٣٠٪ مِنَ الإِنْتَاجِ.</a:t>
            </a:r>
            <a:endParaRPr lang="ar-SA" sz="1950" dirty="0"/>
          </a:p>
        </p:txBody>
      </p:sp>
      <p:sp>
        <p:nvSpPr>
          <p:cNvPr id="41" name="Text 38"/>
          <p:cNvSpPr txBox="1"/>
          <p:nvPr/>
        </p:nvSpPr>
        <p:spPr>
          <a:xfrm>
            <a:off x="502920" y="5625023"/>
            <a:ext cx="68580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Solar energy represents 30% of production.</a:t>
            </a:r>
            <a:endParaRPr lang="en-US" sz="950" dirty="0"/>
          </a:p>
        </p:txBody>
      </p:sp>
      <p:sp>
        <p:nvSpPr>
          <p:cNvPr id="42" name="Text 3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Numbers: always check WHAT the number measures (degrees? years? per cent?) before you choose.</a:t>
            </a:r>
            <a:endParaRPr lang="en-US" sz="11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CLAIM, REFERENCE, TONE (WEBSITE RULE 4 + READING WORKSHOP)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Claim or evidence? Who is “he”? What tone?</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الادِّعَاءُ · الضَّمِيرُ · النَّبْرَةُ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21259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21259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CLAIM vs EVIDENCE · DEVELOP</a:t>
            </a:r>
            <a:endParaRPr lang="en-US" sz="850" dirty="0"/>
          </a:p>
        </p:txBody>
      </p:sp>
      <p:sp>
        <p:nvSpPr>
          <p:cNvPr id="18" name="Text 15"/>
          <p:cNvSpPr txBox="1"/>
          <p:nvPr/>
        </p:nvSpPr>
        <p:spPr>
          <a:xfrm>
            <a:off x="10404348" y="1874520"/>
            <a:ext cx="11902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ادِّعَاءٌ · دَلِيلٌ</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انْخَفَضَ الاسْتِهْلَاكُ بِنِسْبَةِ ١٨٪.</a:t>
            </a:r>
            <a:endParaRPr lang="ar-SA" sz="25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Consumption fell by 18%.</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number = evidence.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REFERENCE · DEVELOP</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هَا = الشَّبَكَةُ</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لِأَنَّهَا تُقَلِّلُ الهَدْرَ</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because IT reduces waste → the grid (not the city)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Meaning decides.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23444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TONE · STRETCH</a:t>
            </a:r>
            <a:endParaRPr lang="en-US" sz="850" dirty="0"/>
          </a:p>
        </p:txBody>
      </p:sp>
      <p:sp>
        <p:nvSpPr>
          <p:cNvPr id="34" name="Text 31"/>
          <p:cNvSpPr txBox="1"/>
          <p:nvPr/>
        </p:nvSpPr>
        <p:spPr>
          <a:xfrm>
            <a:off x="1874520"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مُحَايِدٌ · حَذِرٌ</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نَبْرَةُ النَّصِّ الأَوَّلِ مُحَايِدَةٌ لِأَنَّهُ يَعْرِضُ أَرْقَامًا.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first text’s tone is neutral because it presents figures.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Tone + reason.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after an the verb ends in -a.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يُتَوَقَّعُ أَنْ يَزْدَادَ الطَّلَبُ.</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يُتَوَقَّعُ أَنْ يَزْدَادُ الطَّلَبُ.</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Grammar for reading evidence and reporting</a:t>
            </a:r>
            <a:endParaRPr lang="en-US" sz="21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قَوَاعِدُ قِرَاءَةِ الأَدِلَّةِ وَالنَّقْلِ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Recognise impersonal reporting</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يُشَارُ / يُعْتَقَدُ / يُذْكَرُ + أَنَّ</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يُشَارُ إِلَى أَنَّ دَرَجَاتِ الحَرَارَةِ تَرْتَفِعُ.   ·   يُعْتَقَدُ أَنَّ الطَّاقَةَ الشَّمْسِيَّةَ سَتَتَوَسَّعُ.</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Prediction after </a:t>
            </a:r>
            <a:pPr algn="l" indent="0" marL="0">
              <a:buNone/>
            </a:pPr>
            <a:r>
              <a:rPr lang="ar-SA" altLang="en-US" sz="1650" b="1" dirty="0">
                <a:solidFill>
                  <a:srgbClr val="1B3B6F"/>
                </a:solidFill>
                <a:latin typeface="Amiri" pitchFamily="2" charset="-78"/>
                <a:ea typeface="Amiri" pitchFamily="2" charset="-78"/>
                <a:cs typeface="Amiri" pitchFamily="2" charset="-78"/>
              </a:rPr>
              <a:t>يُتَوَقَّعُ</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يُتَوَقَّعُ أَنْ</a:t>
            </a:r>
            <a:pPr algn="l" indent="0" marL="0">
              <a:buNone/>
            </a:pPr>
            <a:r>
              <a:rPr lang="en-US" sz="1050" dirty="0">
                <a:solidFill>
                  <a:srgbClr val="5A6472"/>
                </a:solidFill>
                <a:latin typeface="Calibri" pitchFamily="34" charset="0"/>
                <a:cs typeface="Amiri" pitchFamily="2" charset="-78"/>
              </a:rPr>
              <a:t> + subjunctive present</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يُتَوَقَّعُ أَنْ يَزْدَادَ الطَّلَبُ عَلَى المِيَاهِ.</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Statistical language</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يَبْلُغُ</a:t>
            </a:r>
            <a:pPr algn="l" indent="0" marL="0">
              <a:buNone/>
            </a:pPr>
            <a:r>
              <a:rPr lang="en-US" sz="1050" dirty="0">
                <a:solidFill>
                  <a:srgbClr val="5A6472"/>
                </a:solidFill>
                <a:latin typeface="Calibri" pitchFamily="34" charset="0"/>
                <a:cs typeface="Amiri" pitchFamily="2" charset="-78"/>
              </a:rPr>
              <a:t> + number / </a:t>
            </a:r>
            <a:pPr algn="l" indent="0" marL="0">
              <a:buNone/>
            </a:pPr>
            <a:r>
              <a:rPr lang="ar-SA" altLang="en-US" sz="1350" dirty="0">
                <a:solidFill>
                  <a:srgbClr val="5A6472"/>
                </a:solidFill>
                <a:latin typeface="Amiri" pitchFamily="2" charset="-78"/>
                <a:ea typeface="Amiri" pitchFamily="2" charset="-78"/>
                <a:cs typeface="Amiri" pitchFamily="2" charset="-78"/>
              </a:rPr>
              <a:t>يُمَثِّلُ</a:t>
            </a:r>
            <a:pPr algn="l" indent="0" marL="0">
              <a:buNone/>
            </a:pPr>
            <a:r>
              <a:rPr lang="en-US" sz="1050" dirty="0">
                <a:solidFill>
                  <a:srgbClr val="5A6472"/>
                </a:solidFill>
                <a:latin typeface="Calibri" pitchFamily="34" charset="0"/>
                <a:cs typeface="Amiri" pitchFamily="2" charset="-78"/>
              </a:rPr>
              <a:t> + percentage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يَبْلُغُ الحَدُّ الأَقْصَى أَرْبَعِينَ دَرَجَةً.   ·   تُمَثِّلُ الطَّاقَةُ الشَّمْسِيَّةُ ثَلَاثِينَ فِي المِئَةِ مِنَ الإِنْتَاجِ.</a:t>
            </a:r>
            <a:endParaRPr lang="ar-SA" sz="18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Pronoun reference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pronoun + nearest logical antecedent</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تَحْتَاجُ المَدِينَةُ إِلَى شَبَكَةٍ ذَكِيَّةٍ لِأَنَّهَا تُقَلِّلُ الهَدْرَ.   ·   يَعُودُ الضَّمِيرُ «هَا» عَلَى الشَّبَكَةِ، لَا عَلَى المَدِينَةِ.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is impersonal reporting?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يُشَارِكُ مَعَ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يَشِيرُ الطَّالِبُ بِإِصْبَعِهِ</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 إِلَى أَنَّ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reports a maximum temperature?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يَبْلُغُ الحَدُّ الأَقْصَى ٤٠ دَرَجَةً.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يُمَثِّلُ الحَدُّ الأَقْصَى المَطَرَ.</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 الحَدُّ الأَقْصَى إِلَى ٤٠.</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تَحْتَاجُ المَدِينَةُ إِلَى شَبَكَةٍ ذَكِيَّةٍ لِأَنَّهَا تُقَلِّلُ الهَدْرَ</a:t>
            </a:r>
            <a:pPr algn="l" indent="0" marL="0">
              <a:buNone/>
            </a:pPr>
            <a:r>
              <a:rPr lang="en-US" sz="1250" b="1" dirty="0">
                <a:solidFill>
                  <a:srgbClr val="1B3B6F"/>
                </a:solidFill>
                <a:latin typeface="Calibri" pitchFamily="34" charset="0"/>
                <a:cs typeface="Amiri" pitchFamily="2" charset="-78"/>
              </a:rPr>
              <a:t>”, what does </a:t>
            </a:r>
            <a:pPr algn="l" indent="0" marL="0">
              <a:buNone/>
            </a:pPr>
            <a:r>
              <a:rPr lang="ar-SA" altLang="en-US" sz="1650" b="1" dirty="0">
                <a:solidFill>
                  <a:srgbClr val="1B3B6F"/>
                </a:solidFill>
                <a:latin typeface="Amiri" pitchFamily="2" charset="-78"/>
                <a:ea typeface="Amiri" pitchFamily="2" charset="-78"/>
                <a:cs typeface="Amiri" pitchFamily="2" charset="-78"/>
              </a:rPr>
              <a:t>ها</a:t>
            </a:r>
            <a:pPr algn="l" indent="0" marL="0">
              <a:buNone/>
            </a:pPr>
            <a:r>
              <a:rPr lang="en-US" sz="1250" b="1" dirty="0">
                <a:solidFill>
                  <a:srgbClr val="1B3B6F"/>
                </a:solidFill>
                <a:latin typeface="Calibri" pitchFamily="34" charset="0"/>
                <a:cs typeface="Amiri" pitchFamily="2" charset="-78"/>
              </a:rPr>
              <a:t> most logically refer to?</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الهَدْر</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الشَّبَكَة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“according to the report”?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وَفْقًا لِلتَّقْرِيرِ</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بِسَبَبِ التَّقْرِيرِ</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قُرْبَ التَّقْرِيرِ</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structure is impersonal reporting?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يُشَارِكُ مَعَ</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يَشِيرُ الطَّالِبُ بِإِصْبَعِهِ</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يُشَارُ إِلَى أَنَّ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يشار إلى أن</a:t>
            </a:r>
            <a:pPr algn="l" indent="0" marL="0">
              <a:buNone/>
            </a:pPr>
            <a:r>
              <a:rPr lang="en-US" sz="1050" i="1" dirty="0">
                <a:solidFill>
                  <a:srgbClr val="8A6D1E"/>
                </a:solidFill>
                <a:latin typeface="Calibri" pitchFamily="34" charset="0"/>
                <a:cs typeface="Amiri" pitchFamily="2" charset="-78"/>
              </a:rPr>
              <a:t> is an impersonal reporting frame.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reports a maximum temperature?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يَبْلُغُ الحَدُّ الأَقْصَى ٤٠ دَرَجَةً.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يُمَثِّلُ الحَدُّ الأَقْصَى المَطَرَ.</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يُشَارُ الحَدُّ الأَقْصَى إِلَى ٤٠.</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يبلغ</a:t>
            </a:r>
            <a:pPr algn="l" indent="0" marL="0">
              <a:buNone/>
            </a:pPr>
            <a:r>
              <a:rPr lang="en-US" sz="1050" i="1" dirty="0">
                <a:solidFill>
                  <a:srgbClr val="8A6D1E"/>
                </a:solidFill>
                <a:latin typeface="Calibri" pitchFamily="34" charset="0"/>
                <a:cs typeface="Amiri" pitchFamily="2" charset="-78"/>
              </a:rPr>
              <a:t> introduces the reached value.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t>
            </a:r>
            <a:pPr algn="l" indent="0" marL="0">
              <a:buNone/>
            </a:pPr>
            <a:r>
              <a:rPr lang="ar-SA" altLang="en-US" sz="1650" b="1" dirty="0">
                <a:solidFill>
                  <a:srgbClr val="1B3B6F"/>
                </a:solidFill>
                <a:latin typeface="Amiri" pitchFamily="2" charset="-78"/>
                <a:ea typeface="Amiri" pitchFamily="2" charset="-78"/>
                <a:cs typeface="Amiri" pitchFamily="2" charset="-78"/>
              </a:rPr>
              <a:t>تَحْتَاجُ المَدِينَةُ إِلَى شَبَكَةٍ ذَكِيَّةٍ لِأَنَّهَا تُقَلِّلُ الهَدْرَ</a:t>
            </a:r>
            <a:pPr algn="l" indent="0" marL="0">
              <a:buNone/>
            </a:pPr>
            <a:r>
              <a:rPr lang="en-US" sz="1250" b="1" dirty="0">
                <a:solidFill>
                  <a:srgbClr val="1B3B6F"/>
                </a:solidFill>
                <a:latin typeface="Calibri" pitchFamily="34" charset="0"/>
                <a:cs typeface="Amiri" pitchFamily="2" charset="-78"/>
              </a:rPr>
              <a:t>”, what does </a:t>
            </a:r>
            <a:pPr algn="l" indent="0" marL="0">
              <a:buNone/>
            </a:pPr>
            <a:r>
              <a:rPr lang="ar-SA" altLang="en-US" sz="1650" b="1" dirty="0">
                <a:solidFill>
                  <a:srgbClr val="1B3B6F"/>
                </a:solidFill>
                <a:latin typeface="Amiri" pitchFamily="2" charset="-78"/>
                <a:ea typeface="Amiri" pitchFamily="2" charset="-78"/>
                <a:cs typeface="Amiri" pitchFamily="2" charset="-78"/>
              </a:rPr>
              <a:t>ها</a:t>
            </a:r>
            <a:pPr algn="l" indent="0" marL="0">
              <a:buNone/>
            </a:pPr>
            <a:r>
              <a:rPr lang="en-US" sz="1250" b="1" dirty="0">
                <a:solidFill>
                  <a:srgbClr val="1B3B6F"/>
                </a:solidFill>
                <a:latin typeface="Calibri" pitchFamily="34" charset="0"/>
                <a:cs typeface="Amiri" pitchFamily="2" charset="-78"/>
              </a:rPr>
              <a:t> most logically refer to?</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الهَدْر</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الشَّبَكَة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smart grid is what reduces waste.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“according to the report”?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وَفْقًا لِلتَّقْرِيرِ</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بِسَبَبِ التَّقْرِيرِ</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قُرْبَ التَّقْرِيرِ</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وفقًا لـ</a:t>
            </a:r>
            <a:pPr algn="l" indent="0" marL="0">
              <a:buNone/>
            </a:pPr>
            <a:r>
              <a:rPr lang="en-US" sz="1050" i="1" dirty="0">
                <a:solidFill>
                  <a:srgbClr val="8A6D1E"/>
                </a:solidFill>
                <a:latin typeface="Calibri" pitchFamily="34" charset="0"/>
                <a:cs typeface="Amiri" pitchFamily="2" charset="-78"/>
              </a:rPr>
              <a:t> means according to.</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Watch me read a report like an examiner</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Source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وَفْقًا لِبَيَانَاتِ</a:t>
            </a:r>
            <a:pPr rtl="1" algn="ctr" indent="0" marL="0">
              <a:buNone/>
            </a:pPr>
            <a:r>
              <a:rPr lang="ar-SA" altLang="en-US" sz="2400" b="1" dirty="0">
                <a:solidFill>
                  <a:srgbClr val="1B3B6F"/>
                </a:solidFill>
                <a:latin typeface="Amiri" pitchFamily="2" charset="-78"/>
                <a:ea typeface="Amiri" pitchFamily="2" charset="-78"/>
                <a:cs typeface="Amiri" pitchFamily="2" charset="-78"/>
              </a:rPr>
              <a:t> البَلَدِيَّةِ</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Who says it? The council.</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Evidence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انْخَفَضَ الاسْتِهْلَاكُ </a:t>
            </a:r>
            <a:pPr rtl="1" algn="ctr" indent="0" marL="0">
              <a:lnSpc>
                <a:spcPct val="120000"/>
              </a:lnSpc>
              <a:buNone/>
            </a:pPr>
            <a:r>
              <a:rPr lang="ar-SA" altLang="en-US" sz="1900" b="1" dirty="0">
                <a:solidFill>
                  <a:srgbClr val="D6336C"/>
                </a:solidFill>
                <a:latin typeface="Amiri" pitchFamily="2" charset="-78"/>
                <a:ea typeface="Amiri" pitchFamily="2" charset="-78"/>
                <a:cs typeface="Amiri" pitchFamily="2" charset="-78"/>
              </a:rPr>
              <a:t>بِنِسْبَةِ ١٨٪</a:t>
            </a:r>
            <a:endParaRPr lang="ar-SA" sz="19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number = evidence.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يُشَارُ إِلَى أَنَّ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النِّظَامَ يُطْفِئُ الإِضَاءَةَ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Impersonal report.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Tone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النَّبْرَةُ مُحَايِدَةٌ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Figures, no opinion.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SOURCE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EVIDENCE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REPORT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النَّصُّ الأَوَّلُ تَقْرِيرٌ.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وَفْقًا لِبَيَانَاتِ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البَلَدِيَّةِ، انْخَفَضَ اسْتِهْلَاكُ الكَهْرَبَاءِ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بِنِسْبَةِ ١٨٪</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وَهٰذَا دَلِيلٌ مُحَدَّدٌ. وَ</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يُشَارُ إِلَى أَنَّ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النِّظَامَ يُطْفِئُ الإِضَاءَةَ فِي الغُرَفِ الفَارِغَةِ. نَبْرَةُ النَّصِّ مُحَايِدَةٌ لِأَنَّهُ يَعْرِضُ أَرْقَامًا.</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first text is a report. According to council data, electricity use fell by 18%, and this is precise evidence. It is indicated that the system turns off lights in empty rooms. The tone is neutral because it presents figures.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يُشَارُ إِلَى أَنَّ دَرَجَاتِ الحَرَارَةِ تَرْتَفِعُ.</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It is indicated that temperatures are rising.</a:t>
            </a:r>
            <a:endParaRPr lang="en-US" sz="1250" dirty="0"/>
          </a:p>
          <a:p>
            <a:pPr indent="0" marL="0">
              <a:buNone/>
            </a:pPr>
            <a:r>
              <a:rPr lang="en-US" sz="1050" i="1" dirty="0">
                <a:solidFill>
                  <a:srgbClr val="8A6D1E"/>
                </a:solidFill>
                <a:latin typeface="Calibri" pitchFamily="34" charset="0"/>
                <a:cs typeface="Amiri" pitchFamily="2" charset="-78"/>
              </a:rPr>
              <a:t>These passives foreground the information rather than the person reporting it.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يُتَوَقَّعُ أَنْ يَزْدَادَ الطَّلَبُ عَلَى المِيَاهِ.</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Demand for water is expected to increase.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Because the structure uses أَنْ, a sound-ending present verb takes fatḥa.</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يَبْلُغُ الحَدُّ الأَقْصَى أَرْبَعِينَ دَرَجَةً.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maximum reaches forty degrees.</a:t>
            </a:r>
            <a:endParaRPr lang="en-US" sz="1250" dirty="0"/>
          </a:p>
          <a:p>
            <a:pPr indent="0" marL="0">
              <a:buNone/>
            </a:pPr>
            <a:r>
              <a:rPr lang="en-US" sz="1050" i="1" dirty="0">
                <a:solidFill>
                  <a:srgbClr val="8A6D1E"/>
                </a:solidFill>
                <a:latin typeface="Calibri" pitchFamily="34" charset="0"/>
                <a:cs typeface="Amiri" pitchFamily="2" charset="-78"/>
              </a:rPr>
              <a:t>Identify exactly what the number measures; do not match numbers by sight alone.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نَصٌّ بِيئِيٌّ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مَقَالَةٌ تِقْنِيَّةٌ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تَقْرِيرٌ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يُشَارُ إِلَى أَنَّ</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يُعْتَقَدُ أَنَّ</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يُتَوَقَّعُ أَنْ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يَعُودُ الضَّمِيرُ عَلَى</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السَّبَبُ</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النَّتِيجَةُ</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Text and evidence</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Reporting and passive signals</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Reading relationships</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Text and evidence</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نَصٌّ بِيئِيٌّ</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مَقَالَةٌ تِقْنِيَّةٌ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تَقْرِيرٌ</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Reporting and passive signals</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يُشَارُ إِلَى أَنَّ</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يُعْتَقَدُ أَنَّ</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يُتَوَقَّعُ أَنْ</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Reading relationships</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يَعُودُ الضَّمِيرُ عَلَى</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السَّبَبُ</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النَّتِيجَةُ</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4,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prediction.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يُتَوَقَّعُ الطَّلَبُ أَنْ زَادَ.</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يُتَوَقَّعُ أَنِ ازْدَادَ الطَّلَبُ أَمْسِ.</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يُتَوَقَّعُ أَنْ يَزْدَادَ الطَّلَبُ.</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correctly expresses a proportion?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تَبْلُغُ الطَّاقَةُ الشَّمْسِيَّةُ مِنَ الإِنْتَاجِ.</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تُمَثِّلُ الطَّاقَةُ الشَّمْسِيَّةُ ٣٠٪ مِنَ الإِنْتَاجِ.</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يُتَوَقَّعُ الطَّاقَةُ ٣٠٪.</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signals a consequence?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الرَّغْمِ مِنْ أَنَّ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نَتِيجَةً لِذٰلِكَ</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نَاحِيَةٍ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best supports the claim “solar energy is expanding”?</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يُفَضِّلُ الكَاتِبُ اللَّوْنَ الأَزْرَقَ.</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الطَّاقَةُ الشَّمْسِيَّةُ جَمِيلَةٌ.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تُمَثِّلُ الآنَ ٣٠٪ مِنَ الإِنْتَاجِ بَعْدَ أَنْ كَانَتْ ١٠٪.</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prediction.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يُتَوَقَّعُ الطَّلَبُ أَنْ زَادَ.</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يُتَوَقَّعُ أَنِ ازْدَادَ الطَّلَبُ أَمْسِ.</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يُتَوَقَّعُ أَنْ يَزْدَادَ الطَّلَبُ.</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يزداد</a:t>
            </a:r>
            <a:pPr algn="l" indent="0" marL="0">
              <a:buNone/>
            </a:pPr>
            <a:r>
              <a:rPr lang="en-US" sz="1050" i="1" dirty="0">
                <a:solidFill>
                  <a:srgbClr val="8A6D1E"/>
                </a:solidFill>
                <a:latin typeface="Calibri" pitchFamily="34" charset="0"/>
                <a:cs typeface="Amiri" pitchFamily="2" charset="-78"/>
              </a:rPr>
              <a:t> becomes </a:t>
            </a:r>
            <a:pPr algn="l" indent="0" marL="0">
              <a:buNone/>
            </a:pPr>
            <a:r>
              <a:rPr lang="ar-SA" altLang="en-US" sz="1350" dirty="0">
                <a:solidFill>
                  <a:srgbClr val="8A6D1E"/>
                </a:solidFill>
                <a:latin typeface="Amiri" pitchFamily="2" charset="-78"/>
                <a:ea typeface="Amiri" pitchFamily="2" charset="-78"/>
                <a:cs typeface="Amiri" pitchFamily="2" charset="-78"/>
              </a:rPr>
              <a:t>يزدادَ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correctly expresses a proportion?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تَبْلُغُ الطَّاقَةُ الشَّمْسِيَّةُ مِنَ الإِنْتَاجِ.</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تُمَثِّلُ الطَّاقَةُ الشَّمْسِيَّةُ ٣٠٪ مِنَ الإِنْتَاجِ.</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يُتَوَقَّعُ الطَّاقَةُ ٣٠٪.</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تمثل</a:t>
            </a:r>
            <a:pPr algn="l" indent="0" marL="0">
              <a:buNone/>
            </a:pPr>
            <a:r>
              <a:rPr lang="en-US" sz="1050" i="1" dirty="0">
                <a:solidFill>
                  <a:srgbClr val="8A6D1E"/>
                </a:solidFill>
                <a:latin typeface="Calibri" pitchFamily="34" charset="0"/>
                <a:cs typeface="Amiri" pitchFamily="2" charset="-78"/>
              </a:rPr>
              <a:t> can introduce a share or percentage.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signals a consequence?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الرَّغْمِ مِنْ أَنَّ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نَتِيجَةً لِذٰلِكَ</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نَاحِيَةٍ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نتيجة لذلك</a:t>
            </a:r>
            <a:pPr algn="l" indent="0" marL="0">
              <a:buNone/>
            </a:pPr>
            <a:r>
              <a:rPr lang="en-US" sz="1050" i="1" dirty="0">
                <a:solidFill>
                  <a:srgbClr val="8A6D1E"/>
                </a:solidFill>
                <a:latin typeface="Calibri" pitchFamily="34" charset="0"/>
                <a:cs typeface="Amiri" pitchFamily="2" charset="-78"/>
              </a:rPr>
              <a:t> signals a result.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evidence best supports the claim “solar energy is expanding”?</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يُفَضِّلُ الكَاتِبُ اللَّوْنَ الأَزْرَقَ.</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الطَّاقَةُ الشَّمْسِيَّةُ جَمِيلَةٌ.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تُمَثِّلُ الآنَ ٣٠٪ مِنَ الإِنْتَاجِ بَعْدَ أَنْ كَانَتْ ١٠٪.</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percentage change directly supports expansion.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يُتَوَقَّعُ أَنْ يَزْدَادُ الطَّلَبُ.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an: -u or -a?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تُمَثِّلُ ٣٠٪ الطَّاقَةُ الشَّمْسِيَّةُ مِنَ الإِنْتَاجِ.</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Where does the subject go?</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وَفْقًا التَّقْرِيرُ، تَرْتَفِعُ الحَرَارَةُ.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wafqan + 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يُتَوَقَّعُ أَنْ يَزْدَادُ الطَّلَبُ.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يُتَوَقَّعُ أَنْ يَزْدَادَ الطَّلَبُ.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sound-ending verb is subjunctive.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تُمَثِّلُ ٣٠٪ الطَّاقَةُ الشَّمْسِيَّةُ مِنَ الإِنْتَاجِ.</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تُمَثِّلُ الطَّاقَةُ الشَّمْسِيَّةُ ٣٠٪ مِنَ الإِنْتَاجِ.</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the subject before the percentage for a clear formal sentence.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وَفْقًا التَّقْرِيرُ، تَرْتَفِعُ الحَرَارَةُ.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وَفْقًا لِلتَّقْرِيرِ، تَرْتَفِعُ دَرَجَاتُ الحَرَارَةِ.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وفقًا</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لـ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Listening for data and reporting language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to average temperature?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rose by one degree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fell by ten degrees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did not change</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Over what period?</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week</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months</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Twenty years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become longer?</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holidays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Live streams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Drought periods</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sector is affected?</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Agriculture</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Fashion</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Sport</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how much is water demand expected to rise?</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15%</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may reduce pressure?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Investment in water reuse</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Greater waste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monitoring</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Three numbers: 1 degree · 20 years · 15%.</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وَفْقًا لِتَقْرِيرٍ جَدِيدٍ، ارْتَفَعَ مُتَوَسِّطُ دَرَجَةِ الحَرَارَةِ فِي المَنْطِقَةِ دَرَجَةً وَاحِدَةً خِلَالَ عِشْرِينَ عَامًا.</a:t>
            </a:r>
            <a:endParaRPr lang="ar-SA" sz="16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According to a new report, the region’s average temperature rose by one degree over twenty years.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وَيُشَارُ إِلَى أَنَّ فَتَرَاتِ الجَفَافِ أَصْبَحَتْ أَطْوَلَ، مِمَّا يُؤَثِّرُ فِي الزِّرَاعَةِ.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indicated that droughts have become longer, which affects agriculture.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وَيُتَوَقَّعُ أَنْ يَزْدَادَ الطَّلَبُ عَلَى المِيَاهِ بِنِسْبَةِ خَمْسَ عَشْرَةَ فِي المِئَةِ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Demand for water is expected to rise by fifteen per cent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بِحُلُولِ عَامِ ٢٠٣٥.</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the year 2035.</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لٰكِنَّ التَّقْرِيرَ يَذْكُرُ أَيْضًا أَنَّ الاسْتِثْمَارَ فِي إِعَادَةِ اسْتِخْدَامِ المِيَاهِ قَدْ يُقَلِّلُ الضَّغْطَ.</a:t>
            </a:r>
            <a:endParaRPr lang="ar-SA" sz="18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But the report also mentions that investing in water reuse may reduce the pressure.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to average temperature?</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rose by one degree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fell by ten degrees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did not change</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ارتفع ... درجة واحدة.</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Over what period?</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week</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months</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Twenty years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خلال عشرين عامًا.</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become longer?</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 holidays</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Live streams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Drought periods</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فترات الجفاف.</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sector is affected?</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Agriculture</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Fashion</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Sport</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يؤثر في الزراعة.</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how much is water demand expected to rise?</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15%</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50%</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خمسة عشر في المئة.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may reduce pressure?</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Investment in water reuse</a:t>
            </a:r>
            <a:endParaRPr lang="en-US" sz="120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Greater waste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Less monitoring</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إعادة استخدام المياه.</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Three numbers: 1 degree · 20 years · 15%.</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READ THE WHOLE TEXT ONCE, THEN HUNT FOR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Reading workshop: evidence across two texts</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النَّصُّ الأَوَّلُ: وَفْقًا لِبَيَانَاتِ البَلَدِيَّةِ، انْخَفَضَ اسْتِهْلَاكُ الكَهْرَبَاءِ فِي المَبَانِي العَامَّةِ بِنِسْبَةِ ١٨٪ بَعْدَ تَرْكِيبِ أَنْظِمَةٍ ذَكِيَّةٍ. وَيُشَارُ إِلَى أَنَّ النِّظَامَ يُطْفِئُ الإِضَاءَةَ فِي الغُرَفِ الفَارِغَةِ.</a:t>
            </a:r>
            <a:endParaRPr lang="ar-SA" sz="2300" dirty="0"/>
          </a:p>
          <a:p>
            <a:pPr rtl="1" algn="r" indent="0" marL="0">
              <a:lnSpc>
                <a:spcPct val="120000"/>
              </a:lnSpc>
              <a:buNone/>
            </a:pP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النَّصُّ الثَّانِي: يَرَى صَاحِبُ مُدَوَّنَةٍ تِقْنِيَّةٍ أَنَّ هٰذِهِ الأَنْظِمَةَ مُفِيدَةٌ، لٰكِنَّهُ يُحَذِّرُ مِنْ جَمْعِ بَيَانَاتِ المُسْتَخْدِمِينَ دُونَ مُوَافَقَتِهِمْ. وَيُؤَكِّدُ أَنَّ النَّجَاحَ يَعْتَمِدُ عَلَى الكَفَاءَةِ وَحِمَايَةِ الخُصُوصِيَّةِ مَعًا.</a:t>
            </a:r>
            <a:endParaRPr lang="ar-SA" sz="23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بَيَانَاتِ البَلَدِيَّةِ</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council data</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انْخَفَضَ</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fell</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بِنِسْبَةِ</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by (a percentage)</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تَرْكِيبِ</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installing</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يُطْفِئُ</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turns off</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الغُرَفِ الفَارِغَةِ</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empty rooms</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صَاحِبُ مُدَوَّنَةٍ</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blogger</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يُحَذِّرُ مِنْ</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warns against</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دُونَ مُوَافَقَتِهِمْ</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without their consent</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الكَفَاءَةِ</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efficiency</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source of the first text’s data?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sports club</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Municipal data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private diary</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how much did electricity use fall?</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80%</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18%</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system reduce use?</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turns off lights in empty rooms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opens every window</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increases heating all day</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blogger’s main reservation?</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colour of the buildings</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Collection of user data without consent</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lack of football fields</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ـه</a:t>
            </a:r>
            <a:pPr algn="l" indent="0" marL="0">
              <a:buNone/>
            </a:pPr>
            <a:r>
              <a:rPr lang="en-US" sz="1250" b="1" dirty="0">
                <a:solidFill>
                  <a:srgbClr val="1B3B6F"/>
                </a:solidFill>
                <a:latin typeface="Calibri" pitchFamily="34" charset="0"/>
                <a:cs typeface="Amiri" pitchFamily="2" charset="-78"/>
              </a:rPr>
              <a:t>” in “</a:t>
            </a:r>
            <a:pPr algn="l" indent="0" marL="0">
              <a:buNone/>
            </a:pPr>
            <a:r>
              <a:rPr lang="ar-SA" altLang="en-US" sz="1650" b="1" dirty="0">
                <a:solidFill>
                  <a:srgbClr val="1B3B6F"/>
                </a:solidFill>
                <a:latin typeface="Amiri" pitchFamily="2" charset="-78"/>
                <a:ea typeface="Amiri" pitchFamily="2" charset="-78"/>
                <a:cs typeface="Amiri" pitchFamily="2" charset="-78"/>
              </a:rPr>
              <a:t>لكنه</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صاحب المدونة</a:t>
            </a:r>
            <a:endParaRPr lang="ar-SA" sz="20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البلدية</a:t>
            </a:r>
            <a:endParaRPr lang="ar-SA" sz="20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النظام</a:t>
            </a:r>
            <a:endParaRPr lang="ar-SA" sz="20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two conditions does the blogger link to success?</a:t>
            </a:r>
            <a:endParaRPr lang="en-US" sz="12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Higher consumption and more data collection</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Less evidence and fewer controls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Efficiency and privacy protection</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Text 91"/>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5" name="Text 92"/>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FEEDBACK · READING ANSWERS WITH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source of the first text’s data?</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sports club</a:t>
            </a:r>
            <a:endParaRPr lang="en-US" sz="1250" dirty="0"/>
          </a:p>
        </p:txBody>
      </p:sp>
      <p:sp>
        <p:nvSpPr>
          <p:cNvPr id="22" name="Shape 19"/>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Municipal data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private diary</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بيانات البلدية.</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By how much did electricity use fall?</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80%</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18%</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بنسبة 18٪.</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system reduce use?</a:t>
            </a:r>
            <a:endParaRPr lang="en-US" sz="1250" dirty="0"/>
          </a:p>
        </p:txBody>
      </p:sp>
      <p:sp>
        <p:nvSpPr>
          <p:cNvPr id="49" name="Shape 46"/>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6368796"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turns off lights in empty rooms</a:t>
            </a:r>
            <a:endParaRPr lang="en-US" sz="1150" dirty="0"/>
          </a:p>
        </p:txBody>
      </p:sp>
      <p:sp>
        <p:nvSpPr>
          <p:cNvPr id="53" name="Shape 50"/>
          <p:cNvSpPr/>
          <p:nvPr/>
        </p:nvSpPr>
        <p:spPr>
          <a:xfrm>
            <a:off x="6368796"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opens every window</a:t>
            </a:r>
            <a:endParaRPr lang="en-US" sz="1250" dirty="0"/>
          </a:p>
        </p:txBody>
      </p:sp>
      <p:sp>
        <p:nvSpPr>
          <p:cNvPr id="56" name="Shape 53"/>
          <p:cNvSpPr/>
          <p:nvPr/>
        </p:nvSpPr>
        <p:spPr>
          <a:xfrm>
            <a:off x="6368796"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increases heating all day</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يطفيء الإضاءة في الغرف الفارغة.</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blogger’s main reservation?</a:t>
            </a:r>
            <a:endParaRPr lang="en-US" sz="1250" dirty="0"/>
          </a:p>
        </p:txBody>
      </p:sp>
      <p:sp>
        <p:nvSpPr>
          <p:cNvPr id="64" name="Shape 61"/>
          <p:cNvSpPr/>
          <p:nvPr/>
        </p:nvSpPr>
        <p:spPr>
          <a:xfrm>
            <a:off x="9233154" y="2490216"/>
            <a:ext cx="256032" cy="256032"/>
          </a:xfrm>
          <a:prstGeom prst="ellipse">
            <a:avLst/>
          </a:prstGeom>
          <a:solidFill>
            <a:srgbClr val="C9CED6"/>
          </a:solidFill>
          <a:ln w="12700">
            <a:solidFill>
              <a:srgbClr val="C9CED6"/>
            </a:solidFill>
            <a:prstDash val="solid"/>
          </a:ln>
        </p:spPr>
      </p:sp>
      <p:sp>
        <p:nvSpPr>
          <p:cNvPr id="65" name="Text 62"/>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colour of the buildings</a:t>
            </a:r>
            <a:endParaRPr lang="en-US" sz="1250" dirty="0"/>
          </a:p>
        </p:txBody>
      </p:sp>
      <p:sp>
        <p:nvSpPr>
          <p:cNvPr id="67" name="Shape 64"/>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9233154" y="286207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Collection of user data without consent</a:t>
            </a:r>
            <a:endParaRPr lang="en-US" sz="11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lack of football fields</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جمع بيانات المستخدمين دون موافقتهم.</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ـه</a:t>
            </a:r>
            <a:pPr algn="l" indent="0" marL="0">
              <a:buNone/>
            </a:pPr>
            <a:r>
              <a:rPr lang="en-US" sz="1250" b="1" dirty="0">
                <a:solidFill>
                  <a:srgbClr val="1B3B6F"/>
                </a:solidFill>
                <a:latin typeface="Calibri" pitchFamily="34" charset="0"/>
                <a:cs typeface="Amiri" pitchFamily="2" charset="-78"/>
              </a:rPr>
              <a:t>” in “</a:t>
            </a:r>
            <a:pPr algn="l" indent="0" marL="0">
              <a:buNone/>
            </a:pPr>
            <a:r>
              <a:rPr lang="ar-SA" altLang="en-US" sz="1650" b="1" dirty="0">
                <a:solidFill>
                  <a:srgbClr val="1B3B6F"/>
                </a:solidFill>
                <a:latin typeface="Amiri" pitchFamily="2" charset="-78"/>
                <a:ea typeface="Amiri" pitchFamily="2" charset="-78"/>
                <a:cs typeface="Amiri" pitchFamily="2" charset="-78"/>
              </a:rPr>
              <a:t>لكنه</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79" name="Shape 76"/>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640080"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969264" y="4773168"/>
            <a:ext cx="2023110"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صاحب المدونة</a:t>
            </a:r>
            <a:endParaRPr lang="ar-SA" sz="1700" dirty="0"/>
          </a:p>
        </p:txBody>
      </p:sp>
      <p:sp>
        <p:nvSpPr>
          <p:cNvPr id="83" name="Shape 80"/>
          <p:cNvSpPr/>
          <p:nvPr/>
        </p:nvSpPr>
        <p:spPr>
          <a:xfrm>
            <a:off x="640080"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البلدية</a:t>
            </a:r>
            <a:endParaRPr lang="ar-SA" sz="170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النظام</a:t>
            </a:r>
            <a:endParaRPr lang="ar-SA" sz="170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writer/blog owner is the antecedent.</a:t>
            </a:r>
            <a:endParaRPr lang="en-US" sz="10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What two conditions does the blogger link to success?</a:t>
            </a:r>
            <a:endParaRPr lang="en-US" sz="1200" dirty="0"/>
          </a:p>
        </p:txBody>
      </p:sp>
      <p:sp>
        <p:nvSpPr>
          <p:cNvPr id="94" name="Shape 91"/>
          <p:cNvSpPr/>
          <p:nvPr/>
        </p:nvSpPr>
        <p:spPr>
          <a:xfrm>
            <a:off x="350443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6" name="Text 93"/>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Higher consumption and more data collection</a:t>
            </a:r>
            <a:endParaRPr lang="en-US" sz="1150" dirty="0"/>
          </a:p>
        </p:txBody>
      </p:sp>
      <p:sp>
        <p:nvSpPr>
          <p:cNvPr id="97" name="Shape 94"/>
          <p:cNvSpPr/>
          <p:nvPr/>
        </p:nvSpPr>
        <p:spPr>
          <a:xfrm>
            <a:off x="3504438" y="5202936"/>
            <a:ext cx="256032" cy="256032"/>
          </a:xfrm>
          <a:prstGeom prst="ellipse">
            <a:avLst/>
          </a:prstGeom>
          <a:solidFill>
            <a:srgbClr val="C9CED6"/>
          </a:solidFill>
          <a:ln w="12700">
            <a:solidFill>
              <a:srgbClr val="C9CED6"/>
            </a:solidFill>
            <a:prstDash val="solid"/>
          </a:ln>
        </p:spPr>
      </p:sp>
      <p:sp>
        <p:nvSpPr>
          <p:cNvPr id="98" name="Text 95"/>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9" name="Text 96"/>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Less evidence and fewer controls</a:t>
            </a:r>
            <a:endParaRPr lang="en-US" sz="1150" dirty="0"/>
          </a:p>
        </p:txBody>
      </p:sp>
      <p:sp>
        <p:nvSpPr>
          <p:cNvPr id="100" name="Shape 97"/>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1" name="Shape 98"/>
          <p:cNvSpPr/>
          <p:nvPr/>
        </p:nvSpPr>
        <p:spPr>
          <a:xfrm>
            <a:off x="3504438" y="5574792"/>
            <a:ext cx="256032" cy="256032"/>
          </a:xfrm>
          <a:prstGeom prst="ellipse">
            <a:avLst/>
          </a:prstGeom>
          <a:solidFill>
            <a:srgbClr val="2E8B57"/>
          </a:solidFill>
          <a:ln w="12700">
            <a:solidFill>
              <a:srgbClr val="2E8B57"/>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Efficiency and privacy protection</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الكفاءة وحماية الخصوصية معًا.</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Text 10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7" name="Text 10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08"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Speaking: explain how evidence works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الفَرْقُ بَيْنَ الادِّعَاءِ وَالدَّلِيلِ؟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نَتَتَبَّعُ الضَّمَائِرَ فِي النَّصِّ؟</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نُقَارِنُ نَبْرَةَ نَصَّيْنِ؟</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الادِّعَاءُ هُوَ ___ ، وَالدَّلِيلُ هُوَ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ea typeface="Amiri" pitchFamily="2" charset="-78"/>
                <a:cs typeface="Amiri" pitchFamily="2" charset="-78"/>
              </a:rPr>
              <a:t>يَعُودُ الضَّمِيرُ فِي « ___ » عَلَى ___ لِأَنَّ ___ .</a:t>
            </a:r>
            <a:endParaRPr lang="ar-SA" sz="13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نَبْرَةُ النَّصِّ الأَوَّلِ ___ ، أَمَّا النَّصُّ الثَّانِي فَنَبْرَتُهُ ___ .</a:t>
            </a:r>
            <a:endParaRPr lang="ar-SA" sz="10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نَعْرِفُ أَنَّ ادِّعَاءً فِي نَصٍّ مَوْثُوقٌ؟</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do we know a claim in a text is reliable?</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نَبْحَثُ عَنْ مَصْدَرٍ وَاضِحٍ وَبَيَانَاتٍ مُحَدَّدَةٍ، وَنُمَيِّزُ بَيْنَ رَأْيِ الكَاتِبِ وَالدَّلِيلِ الَّذِي يُقَدِّمُهُ.</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We look for a clear source and specific data, and we distinguish between the writer’s opinion and the evidence he gives.</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Text 1: the source, the number, what it measures, and the tone.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100–120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Both texts: each main claim and one piece of evidence from each.</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compare the message, evidence and tone of the two texts.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يَرَى صَاحِبُ المُدَوَّنَةِ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blogger thinks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لٰكِنَّهُ يُحَذِّرُ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he warns against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دَلِيلٌ مُحَدَّدٌ عَلَى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specific evidence of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نَسْتَنْتِجُ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conclude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وَفْقًا لِبَيَانَاتِ البَلَدِيَّةِ،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According to council data,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انْخَفَضَ الاسْتِهْلَاكُ بِنِسْبَةِ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Consumption fell by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يُشَارُ إِلَى أَنَّ النِّظَامَ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indicated that the system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النَّبْرَةُ مُحَايِدَةٌ لِأَنَّ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tone is neutral because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وَفْقًا لِـ  ·  يُشَارُ إِلَى أَنَّ  ·  يُتَوَقَّعُ أَنْ  ·  بِنِسْبَةِ  ·  يَبْلُغُ  ·  يُمَثِّلُ  ·  ادِّعَاءٌ  ·  دَلِيلٌ  ·  يَعُودُ الضَّمِيرُ عَلَى  ·  مُحَايِدٌ  ·  حَذِرٌ  ·  نَسْتَنْتِجُ أَنَّ</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120–140 Arabic words comparing the message, evidence and tone of two short environment or technology texts.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Identify each text’s main claim.</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Quote or paraphrase one precise datum from each.</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Track one pronoun or passive structure.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Reach a supported comparison.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يَعْرِضُ النَّصَّانِ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two texts present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دَلِيلٌ مُحَدَّدٌ عَلَى فَعَالِيَّةِ النِّظَامِ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specific evidence of the system’s effectiveness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يُحَذِّرُ مِنْ جَمْعِ البَيَانَاتِ دُونَ مُوَافَقَةٍ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warns against collecting data without consent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نَبْرَتُهُ أَكْثَرُ حَذَرًا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its tone is more cautious</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يَعْتَمِدُ عَلَى … مَعًا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depends on … together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يَعْرِضُ النَّصَّانِ فَوَائِدَ الأَنْظِمَةِ الذَّكِيَّةِ وَمَخَاطِرَهَا. فَوَفْقًا لِبَيَانَاتِ البَلَدِيَّةِ، انْخَفَضَ اسْتِهْلَاكُ الكَهْرَبَاءِ بِنِسْبَةِ ١٨٪، وَهٰذَا دَلِيلٌ مُحَدَّدٌ عَلَى فَعَالِيَّةِ النِّظَامِ. وَمَعَ ذٰلِكَ، يُحَذِّرُ صَاحِبُ المُدَوَّنَةِ مِنْ جَمْعِ البَيَانَاتِ دُونَ مُوَافَقَةٍ. نَبْرَةُ النَّصِّ الأَوَّلِ مُحَايِدَةٌ لِأَنَّهُ يَعْرِضُ أَرْقَامًا، أَمَّا النَّصُّ الثَّانِي فَنَبْرَتُهُ أَكْثَرُ حَذَرًا. نَسْتَنْتِجُ أَنَّ التِّقْنِيَّةَ قَدْ تُقَلِّلُ الهَدْرَ، لٰكِنَّ نَجَاحَهَا يَعْتَمِدُ عَلَى حِمَايَةِ الخُصُوصِيَّةِ.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two texts present the benefits and risks of smart systems. According to council data, electricity use fell by 18%, which is specific evidence of the system’s effectiveness. However, the blogger warns against collecting data without consent. The first text’s tone is neutral because it presents figures, whereas the second text’s tone is more cautious. We conclude that the technology may reduce waste, but its success depends on protecting privacy.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each text’s main claim</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precise datum</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pronoun or passive tracked</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tone comparison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the source of the information.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said exactly what each number measures.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separated the claim from the evidence.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linked “he” / “-hā” to the right noun.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the tone with a reason.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prediction.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يُتَوَقَّعُ أَنْ يَزْدَادَ الطَّلَبُ.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يُتَوَقَّعُ أَنْ يَزْدَادُ الطَّلَبُ.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يَتَوَقَّعُ أَنْ الطَّلَبَ زَادَ.</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attributes information?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 التَّقْرِيرِ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وَفْقًا لِلتَّقْرِيرِ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أَجْلِ التَّقْرِيرِ</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reports a percentage share?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يُمَثِّلُ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يَشِحُّ</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يُعَلِّقُ</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prediction.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يُتَوَقَّعُ أَنْ يَزْدَادَ الطَّلَبُ.</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يُتَوَقَّعُ أَنْ يَزْدَادُ الطَّلَبُ.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يَتَوَقَّعُ أَنْ الطَّلَبَ زَادَ.</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Subjunctive </a:t>
            </a:r>
            <a:pPr algn="l" indent="0" marL="0">
              <a:buNone/>
            </a:pPr>
            <a:r>
              <a:rPr lang="ar-SA" altLang="en-US" sz="1350" dirty="0">
                <a:solidFill>
                  <a:srgbClr val="8A6D1E"/>
                </a:solidFill>
                <a:latin typeface="Amiri" pitchFamily="2" charset="-78"/>
                <a:ea typeface="Amiri" pitchFamily="2" charset="-78"/>
                <a:cs typeface="Amiri" pitchFamily="2" charset="-78"/>
              </a:rPr>
              <a:t>يزدادَ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attributes information?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تَحْتَ التَّقْرِيرِ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وَفْقًا لِلتَّقْرِيرِ</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مِنْ أَجْلِ التَّقْرِيرِ</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According to the report.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reports a percentage share?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يُمَثِّلُ</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يَشِحُّ</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يُعَلِّقُ</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يمثل</a:t>
            </a:r>
            <a:pPr algn="l" indent="0" marL="0">
              <a:buNone/>
            </a:pPr>
            <a:r>
              <a:rPr lang="en-US" sz="1050" i="1" dirty="0">
                <a:solidFill>
                  <a:srgbClr val="8A6D1E"/>
                </a:solidFill>
                <a:latin typeface="Calibri" pitchFamily="34" charset="0"/>
                <a:cs typeface="Amiri" pitchFamily="2" charset="-78"/>
              </a:rPr>
              <a:t> can report a proportion.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Reading — Environment and Technology Texts — Arabic application mission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formal report rather than a personal action?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أُشِيرُ بِإِصْبَعِي إِلَى الخَرِيطَةِ.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 إِلَى أَنَّ المِيَاهَ تَشِحُّ.</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يُشَارِكُ الطَّالِبُ فِي الدَّرْسِ.</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contains an accurate prediction form?</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يُتَوَقَّعُ أَنْ تَنْخَفِضَ الانْبِعَاثَاتُ.</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يُتَوَقَّعُ تَنْخَفِضَ الانْبِعَاثَاتُ أَنَّ.</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يُتَوَقَّعُ أَنْ تَنْخَفِضُ الانْبِعَاثَاتُ.</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datum supports “the city is getting hotter”?</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يَبْلُغُ عَدَدُ المَدَارِسِ عَشْرًا.</a:t>
            </a:r>
            <a:endParaRPr lang="ar-SA" sz="160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تُمَثِّلُ الحَدَائِقُ ٥٪ مِنَ المَدِينَةِ.</a:t>
            </a:r>
            <a:endParaRPr lang="ar-SA" sz="160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600" dirty="0">
                <a:solidFill>
                  <a:srgbClr val="1F2A37"/>
                </a:solidFill>
                <a:latin typeface="Amiri" pitchFamily="2" charset="-78"/>
                <a:ea typeface="Amiri" pitchFamily="2" charset="-78"/>
                <a:cs typeface="Amiri" pitchFamily="2" charset="-78"/>
              </a:rPr>
              <a:t>ارْتَفَعَ الحَدُّ الأَقْصَى مِنْ ٣٥ إِلَى ٤٠ دَرَجَةً.</a:t>
            </a:r>
            <a:endParaRPr lang="ar-SA" sz="160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What does the pronoun refer to in “</a:t>
            </a:r>
            <a:pPr algn="l" indent="0" marL="0">
              <a:buNone/>
            </a:pPr>
            <a:r>
              <a:rPr lang="ar-SA" altLang="en-US" sz="1250" b="1" dirty="0">
                <a:solidFill>
                  <a:srgbClr val="1B3B6F"/>
                </a:solidFill>
                <a:latin typeface="Amiri" pitchFamily="2" charset="-78"/>
                <a:ea typeface="Amiri" pitchFamily="2" charset="-78"/>
                <a:cs typeface="Amiri" pitchFamily="2" charset="-78"/>
              </a:rPr>
              <a:t>زَادَتِ المَدِينَةُ المَسَاحَاتِ الخَضْرَاءَ لِأَنَّهَا تُخَفِّضُ الحَرَارَةَ</a:t>
            </a:r>
            <a:pPr algn="l" indent="0" marL="0">
              <a:buNone/>
            </a:pPr>
            <a:r>
              <a:rPr lang="en-US" sz="950" b="1" dirty="0">
                <a:solidFill>
                  <a:srgbClr val="1B3B6F"/>
                </a:solidFill>
                <a:latin typeface="Calibri" pitchFamily="34" charset="0"/>
                <a:cs typeface="Amiri" pitchFamily="2" charset="-78"/>
              </a:rPr>
              <a:t>”?</a:t>
            </a:r>
            <a:endParaRPr lang="en-US" sz="9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الحَرَارَةُ</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المَسَاحَاتُ الخَضْرَاءُ</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attributes information to a source?</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وَفْقًا لِلتَّقْرِيرِ</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 السَّاحِلِ</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نَاحِيَةٍ أُخْرَى</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distinguishes claim from evidence?</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الادِّعَاءُ وَالدَّلِيلُ هُمَا الكَلِمَةُ نَفْسُهَا.</a:t>
            </a:r>
            <a:endParaRPr lang="ar-SA" sz="12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الادِّعَاءُ: الجَفَافُ يَزْدَادُ؛ الدَّلِيلُ: انْخَفَضَ المَطَرُ ٢٠٪.</a:t>
            </a:r>
            <a:endParaRPr lang="ar-SA" sz="12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250" dirty="0">
                <a:solidFill>
                  <a:srgbClr val="1F2A37"/>
                </a:solidFill>
                <a:latin typeface="Amiri" pitchFamily="2" charset="-78"/>
                <a:ea typeface="Amiri" pitchFamily="2" charset="-78"/>
                <a:cs typeface="Amiri" pitchFamily="2" charset="-78"/>
              </a:rPr>
              <a:t>الدَّلِيلُ: أَنَا أُحِبُّ المَطَرَ.</a:t>
            </a:r>
            <a:endParaRPr lang="ar-SA"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formal report rather than a personal action?</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أُشِيرُ بِإِصْبَعِي إِلَى الخَرِيطَةِ.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يُشَارُ إِلَى أَنَّ المِيَاهَ تَشِحُّ.</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يُشَارِكُ الطَّالِبُ فِي الدَّرْسِ.</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is impersonal reporting.</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contains an accurate prediction form?</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يُتَوَقَّعُ أَنْ تَنْخَفِضَ الانْبِعَاثَاتُ.</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يُتَوَقَّعُ تَنْخَفِضَ الانْبِعَاثَاتُ أَنَّ.</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يُتَوَقَّعُ أَنْ تَنْخَفِضُ الانْبِعَاثَاتُ.</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تنخفضَ</a:t>
            </a:r>
            <a:pPr algn="l" indent="0" marL="0">
              <a:buNone/>
            </a:pPr>
            <a:r>
              <a:rPr lang="en-US" sz="1050" i="1" dirty="0">
                <a:solidFill>
                  <a:srgbClr val="8A6D1E"/>
                </a:solidFill>
                <a:latin typeface="Calibri" pitchFamily="34" charset="0"/>
                <a:cs typeface="Amiri" pitchFamily="2" charset="-78"/>
              </a:rPr>
              <a:t> follows </a:t>
            </a:r>
            <a:pPr algn="l" indent="0" marL="0">
              <a:buNone/>
            </a:pPr>
            <a:r>
              <a:rPr lang="ar-SA" altLang="en-US" sz="1350" dirty="0">
                <a:solidFill>
                  <a:srgbClr val="8A6D1E"/>
                </a:solidFill>
                <a:latin typeface="Amiri" pitchFamily="2" charset="-78"/>
                <a:ea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datum supports “the city is getting hotter”?</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يَبْلُغُ عَدَدُ المَدَارِسِ عَشْرًا.</a:t>
            </a:r>
            <a:endParaRPr lang="ar-SA" sz="16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600" dirty="0">
                <a:solidFill>
                  <a:srgbClr val="9AA1AB"/>
                </a:solidFill>
                <a:latin typeface="Amiri" pitchFamily="2" charset="-78"/>
                <a:ea typeface="Amiri" pitchFamily="2" charset="-78"/>
                <a:cs typeface="Amiri" pitchFamily="2" charset="-78"/>
              </a:rPr>
              <a:t>تُمَثِّلُ الحَدَائِقُ ٥٪ مِنَ المَدِينَةِ.</a:t>
            </a:r>
            <a:endParaRPr lang="ar-SA" sz="16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ارْتَفَعَ الحَدُّ الأَقْصَى مِنْ ٣٥ إِلَى ٤٠ دَرَجَةً.</a:t>
            </a:r>
            <a:endParaRPr lang="ar-SA" sz="16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temperature change directly supports the claim.</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What does the pronoun refer to in “</a:t>
            </a:r>
            <a:pPr algn="l" indent="0" marL="0">
              <a:buNone/>
            </a:pPr>
            <a:r>
              <a:rPr lang="ar-SA" altLang="en-US" sz="1250" b="1" dirty="0">
                <a:solidFill>
                  <a:srgbClr val="1B3B6F"/>
                </a:solidFill>
                <a:latin typeface="Amiri" pitchFamily="2" charset="-78"/>
                <a:ea typeface="Amiri" pitchFamily="2" charset="-78"/>
                <a:cs typeface="Amiri" pitchFamily="2" charset="-78"/>
              </a:rPr>
              <a:t>زَادَتِ المَدِينَةُ المَسَاحَاتِ الخَضْرَاءَ لِأَنَّهَا تُخَفِّضُ الحَرَارَةَ</a:t>
            </a:r>
            <a:pPr algn="l" indent="0" marL="0">
              <a:buNone/>
            </a:pPr>
            <a:r>
              <a:rPr lang="en-US" sz="950" b="1" dirty="0">
                <a:solidFill>
                  <a:srgbClr val="1B3B6F"/>
                </a:solidFill>
                <a:latin typeface="Calibri" pitchFamily="34" charset="0"/>
                <a:cs typeface="Amiri" pitchFamily="2" charset="-78"/>
              </a:rPr>
              <a:t>”?</a:t>
            </a:r>
            <a:endParaRPr lang="en-US" sz="9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الحَرَارَةُ</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المَسَاحَاتُ الخَضْرَاءُ</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Green spaces reduce heat.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attributes information to a source?</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وَفْقًا لِلتَّقْرِيرِ</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 السَّاحِلِ</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نَاحِيَةٍ أُخْرَى</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وفقًا للتقرير</a:t>
            </a:r>
            <a:pPr algn="l" indent="0" marL="0">
              <a:buNone/>
            </a:pPr>
            <a:r>
              <a:rPr lang="en-US" sz="1050" i="1" dirty="0">
                <a:solidFill>
                  <a:srgbClr val="8A6D1E"/>
                </a:solidFill>
                <a:latin typeface="Calibri" pitchFamily="34" charset="0"/>
                <a:cs typeface="Amiri" pitchFamily="2" charset="-78"/>
              </a:rPr>
              <a:t> attributes the information.</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distinguishes claim from evidence?</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الادِّعَاءُ وَالدَّلِيلُ هُمَا الكَلِمَةُ نَفْسُهَا.</a:t>
            </a:r>
            <a:endParaRPr lang="ar-SA" sz="125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250" b="1" dirty="0">
                <a:solidFill>
                  <a:srgbClr val="1F2A37"/>
                </a:solidFill>
                <a:latin typeface="Amiri" pitchFamily="2" charset="-78"/>
                <a:ea typeface="Amiri" pitchFamily="2" charset="-78"/>
                <a:cs typeface="Amiri" pitchFamily="2" charset="-78"/>
              </a:rPr>
              <a:t>الادِّعَاءُ: الجَفَافُ يَزْدَادُ؛ الدَّلِيلُ: انْخَفَضَ المَطَرُ ٢٠٪.</a:t>
            </a:r>
            <a:endParaRPr lang="ar-SA" sz="125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250" dirty="0">
                <a:solidFill>
                  <a:srgbClr val="9AA1AB"/>
                </a:solidFill>
                <a:latin typeface="Amiri" pitchFamily="2" charset="-78"/>
                <a:ea typeface="Amiri" pitchFamily="2" charset="-78"/>
                <a:cs typeface="Amiri" pitchFamily="2" charset="-78"/>
              </a:rPr>
              <a:t>الدَّلِيلُ: أَنَا أُحِبُّ المَطَرَ.</a:t>
            </a:r>
            <a:endParaRPr lang="ar-SA" sz="125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measured change is evidence for the claim.</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D4-L09: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D4-L09 · Writing — Environment and Technology Article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مُقَدِّمَةٌ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introduction</a:t>
            </a:r>
            <a:pPr indent="0" marL="0">
              <a:buNone/>
            </a:pPr>
            <a:r>
              <a:rPr lang="ar-SA" sz="1000" i="1" dirty="0">
                <a:solidFill>
                  <a:srgbClr val="5A6472"/>
                </a:solidFill>
                <a:latin typeface="Calibri" pitchFamily="34" charset="0"/>
                <a:ea typeface="Amiri" pitchFamily="2" charset="-78"/>
                <a:cs typeface="Amiri" pitchFamily="2" charset="-78"/>
              </a:rPr>
              <a:t>  pl. مُقَدِّمَاتٌ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حُجَّةٌ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argument</a:t>
            </a:r>
            <a:pPr indent="0" marL="0">
              <a:buNone/>
            </a:pPr>
            <a:r>
              <a:rPr lang="ar-SA" sz="1000" i="1" dirty="0">
                <a:solidFill>
                  <a:srgbClr val="5A6472"/>
                </a:solidFill>
                <a:latin typeface="Calibri" pitchFamily="34" charset="0"/>
                <a:ea typeface="Amiri" pitchFamily="2" charset="-78"/>
                <a:cs typeface="Amiri" pitchFamily="2" charset="-78"/>
              </a:rPr>
              <a:t>  pl. حُجَجٌ</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حُجَّةٌ مُضَادَّةٌ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counterargument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خَاتِمَةٌ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conclusion</a:t>
            </a:r>
            <a:pPr indent="0" marL="0">
              <a:buNone/>
            </a:pPr>
            <a:r>
              <a:rPr lang="ar-SA" sz="1000" i="1" dirty="0">
                <a:solidFill>
                  <a:srgbClr val="5A6472"/>
                </a:solidFill>
                <a:latin typeface="Calibri" pitchFamily="34" charset="0"/>
                <a:ea typeface="Amiri" pitchFamily="2" charset="-78"/>
                <a:cs typeface="Amiri" pitchFamily="2" charset="-78"/>
              </a:rPr>
              <a:t>  pl. خَوَاتِمُ</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عَلَاوَةً عَلَى ذٰلِكَ</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addition, moreover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Choose a topic for an article: plastic, AI in school, or smart cities. Note one argument for and one against.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المَوْضُوعُ: … · حُجَّةٌ: … · حُجَّةٌ مُضَادَّةٌ: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reporting / evidence words; redo reading questions 1–3.</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Both texts’ claims and evidence in 100–120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compare the two texts’ message, evidence and tone (120–140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D4-L09 · Writing — Environment and Technology Article</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مَقَالٌ عَنِ البِيئَةِ وَالتِّقْنِيَّةِ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source → claim → evidence (exact numbers) → tone — and link every pronoun by meaning.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D4-L08 · Reading — Environment and Technology Texts</dc:title>
  <dc:subject>PptxGenJS Presentation</dc:subject>
  <dc:creator>Al Madina Online School · Arabic Department</dc:creator>
  <cp:lastModifiedBy>Al Madina Online School · Arabic Department</cp:lastModifiedBy>
  <cp:revision>1</cp:revision>
  <dcterms:created xsi:type="dcterms:W3CDTF">2026-10-11T06:40:54Z</dcterms:created>
  <dcterms:modified xsi:type="dcterms:W3CDTF">2026-10-11T06:40:54Z</dcterms:modified>
</cp:coreProperties>
</file>