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D4 Environment, Weather and Technology › D4-L08. The website lesson “Reading — Environment and Technology Texts”: vocabulary, grammar rules and quiz, patterns, common mistakes, sorter, listening, reading, speaking prompts and model, writing task and model, differentiation, final check and the lesson mission. Picture match: website visual game “Reading — Environment and Technology Texts”.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is a READING-SKILLS lesson: the website’s two short texts (council data + a tech blogger) are the main You Do task.
• Core: the reporting words (وَفْقًا لِـ · يُشَارُ إِلَى أَنَّ) and reading questions 1–3 (source, number, how). Develop: all 6 questions + one claim vs one piece of evidence. Stretch: compare the two texts’ tone (مُحَايِدٌ / حَذِرٌ) in writing.
• Reading routine for every text: (1) Who says it? (source) (2) What is claimed? (3) What is the evidence (a number)? (4) What is the tone?
• Builds on D3-L08 (reading adverts, reference, inference) and D4-L03 / L06 (passive).
• TEACHER-WRITTEN ITEMS: one vowel slip in the reading text corrected (يَطْفِئُ → يُطْفِئُ), the unvowelled pronoun-rule example replaced with a vowelled one, one quiz item given meaningful distractors, and English added to the website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at the end of D4-L07. Question 3 retrieves D4-L07; questions 4–5 retrieve the D3-L08 reading skills (passive advert language, pronoun reference).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reader asks: who says it, what is the evidence, and how sure is the writer?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دعویٰ (claim) = Arabic ادِّعَاءٌ / دَعْوَى. CAREFUL: Urdu نسبت = connection / relation, Arabic نِسْبَةٌ = ratio, percentage (بِنِسْبَةِ ١٨٪ = by 18%). مُتَفَائِلٌ is related to فال (a good omen) — optimistic.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evidence (website vocabulary (1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Text and evidence (website vocabulary (2 of 2)). Hear → Say → See → Use. Transliteration is printed for Core students (cover it for Develop/Stretch).
Text and evidence: a CLAIM (ادِّعَاءٌ) is what the writer says; EVIDENCE (دَلِيلٌ) is what proves it (often بَيَانَاتٌ / إِحْصَاءَاتٌ).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(1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Reporting and passive signals (website vocabulary (2 of 2)). Hear → Say → See → Use. Transliteration is printed for Core students (cover it for Develop/Stretch).
Reporting signals: impersonal passives (it is indicated / believed / expected / mentioned that …) — the information matters, not the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relationships (website vocabulary (1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Reading relationships (website vocabulary (2 of 2)). Hear → Say → See → Use. Transliteration is printed for Core students (cover it for Develop/Stretch).
Reading relationships: the tone words (مُحَايِدٌ neutral · مُتَفَائِلٌ optimistic · مُتَشَائِمٌ pessimistic) are for Stretch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“Recognise impersonal reporting” (these passives foreground the information rather than the person reporting it), “Prediction after يُتَوَقَّعُ” (a sound-ending present verb takes fatḥa after أَنْ) and “Statistical language” (identify exactly what the number measures; do not match numbers by sight alone). Rows from the website rules and listening.
Website mistake: وَفْقًا التَّقْرِيرُ ✗ → وَفْقًا لِلتَّقْرِيرِ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“Pronoun reference” (gender and number help, but meaning confirms the reference) with the website example: تَحْتَاجُ المَدِينَةُ إِلَى شَبَكَةٍ ذَكِيَّةٍ لِأَنَّهَا تُقَلِّلُ الهَدْرَ — هَا refers to the grid, not the city, because the grid is what reduces waste.
Claim / evidence / tone come from the website vocabulary and the writing model (نَبْرَةُ النَّصِّ الأَوَّلِ مُحَايِدَةٌ …، أَمَّا النَّصُّ الثَّانِي فَنَبْرَتُهُ أَكْثَرُ حَذَرًا).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“Study each structure in context, compare accurate and inaccurate forms, then apply it in meaningful Arabic.”
• Recognise impersonal reporting: These passives foreground the information rather than the person reporting it.
• Prediction after يُتَوَقَّعُ: Because the structure uses أَنْ, a sound-ending present verb takes fatḥa.
• Statistical language: Identify exactly what the number measures; do not match numbers by sight alone.
• Pronoun reference: Gender and number help, but meaning confirms the reference.
Website common error: Do not select a sentence merely because its words are familiar. Check meaning, agreement, governing prepositions and verb endings.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think-aloud on the website reading text 1 using the four-question routine (source → evidence → how → tone). Students then do text 2 themselves in the You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pick one word from each group and say how it helps a reader (e.g. وَفْقًا لِـ tells me the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6 — say what each number measures.
Listen 1: just listen. Listen 2: note answers. Then chat the letters.
Support: after the second listening, show the read-along slide (Arabic + English, line by line) for Core students.
SCRIPT (read aloud):
وَفْقًا لِتَقْرِيرٍ جَدِيدٍ، ارْتَفَعَ مُتَوَسِّطُ دَرَجَةِ الحَرَارَةِ فِي المَنْطِقَةِ دَرَجَةً وَاحِدَةً خِلَالَ عِشْرِينَ عَامًا. وَيُشَارُ إِلَى أَنَّ فَتَرَاتِ الجَفَافِ أَصْبَحَتْ أَطْوَلَ، مِمَّا يُؤَثِّرُ فِي الزِّرَاعَةِ. وَيُتَوَقَّعُ أَنْ يَزْدَادَ الطَّلَبُ عَلَى المِيَاهِ بِنِسْبَةِ خَمْسَ عَشْرَةَ فِي المِئَةِ بِحُلُولِ عَامِ ٢٠٣٥. لٰكِنَّ التَّقْرِيرَ يَذْكُرُ أَيْضًا أَنَّ الاسْتِثْمَارَ فِي إِعَادَةِ اسْتِخْدَامِ المِيَاهِ قَدْ يُقَلِّلُ الضَّغْطَ.</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READING (main task): the website reading workshop (two texts: council data and a tech blogger). Text 1: source, number, how. Text 2: claim, reservation, “he”.
Core: questions 1–3. Develop: all 6. Stretch: then the written comparison of the two texts (message, evidence, 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prompts and model. Students explain HOW they read. Core may answer with one Arabic key word +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vocabulary banks and sentence frames to produce four accurate connected sentences. · Develop — Use several target structures in a linked paragraph or sustained spoken answer. · Stretch — Evaluate, compare or qualify ideas using precise evidence and formal linking language.
Website writing task (Stretch): Write 120–140 Arabic words comparing the message, evidence and tone of two short environment or technology texts.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وَفْقًا لِبَيَانَاتِ البَلَدِيَّةِ … بِنِسْبَةِ ١٨٪ · وَهٰذَا دَلِيلٌ مُحَدَّدٌ · يُحَذِّرُ صَاحِبُ المُدَوَّنَةِ مِنْ … · نَبْرَةُ النَّصِّ الأَوَّلِ مُحَايِدَةٌ … أَمَّا النَّصُّ الثَّانِي فَنَبْرَتُهُ أَكْثَرُ حَذَرًا · نَسْتَنْتِجُ أَنَّ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(D4-L09 · Writing — Environment and Technology Article) will spend class time USING this language, so students prepare it tonight — short, simple, easy to access (school guidance: “Simple, Short, Interesting, Relevant, Easy to access”). The five words come from the website D4-L09 vocabulary (academic organisation of an article).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D4  ·  D4-L08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D4-L08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Reading — Environment and Technology Texts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القِرَاءَةُ — نُصُوصُ البِيئَةِ وَالتِّقْنِيَّةِ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Read reports and articles like an examiner: spot impersonal reporting (</a:t>
            </a:r>
            <a:pPr algn="l" indent="0" marL="0">
              <a:buNone/>
            </a:pPr>
            <a:r>
              <a:rPr lang="ar-SA" altLang="en-US" sz="1800" dirty="0">
                <a:solidFill>
                  <a:srgbClr val="C6D2E6"/>
                </a:solidFill>
                <a:latin typeface="Amiri" pitchFamily="34" charset="0"/>
                <a:ea typeface="Amiri" pitchFamily="34" charset="-122"/>
                <a:cs typeface="Amiri" pitchFamily="34" charset="-120"/>
              </a:rPr>
              <a:t>يُشَارُ إِلَى أَنَّ</a:t>
            </a:r>
            <a:pPr algn="l" indent="0" marL="0">
              <a:buNone/>
            </a:pPr>
            <a:r>
              <a:rPr lang="en-US" sz="1400" dirty="0">
                <a:solidFill>
                  <a:srgbClr val="C6D2E6"/>
                </a:solidFill>
                <a:latin typeface="Calibri" pitchFamily="34" charset="0"/>
                <a:ea typeface="Calibri" pitchFamily="34" charset="-122"/>
                <a:cs typeface="Calibri" pitchFamily="34" charset="-120"/>
              </a:rPr>
              <a:t> …), read statistics exactly (</a:t>
            </a:r>
            <a:pPr algn="l" indent="0" marL="0">
              <a:buNone/>
            </a:pPr>
            <a:r>
              <a:rPr lang="ar-SA" altLang="en-US" sz="1800" dirty="0">
                <a:solidFill>
                  <a:srgbClr val="C6D2E6"/>
                </a:solidFill>
                <a:latin typeface="Amiri" pitchFamily="34" charset="0"/>
                <a:ea typeface="Amiri" pitchFamily="34" charset="-122"/>
                <a:cs typeface="Amiri" pitchFamily="34" charset="-120"/>
              </a:rPr>
              <a:t>يَبْلُغُ</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يُمَثِّلُ</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بِنِسْبَةِ</a:t>
            </a:r>
            <a:pPr algn="l" indent="0" marL="0">
              <a:buNone/>
            </a:pPr>
            <a:r>
              <a:rPr lang="en-US" sz="1400" dirty="0">
                <a:solidFill>
                  <a:srgbClr val="C6D2E6"/>
                </a:solidFill>
                <a:latin typeface="Calibri" pitchFamily="34" charset="0"/>
                <a:ea typeface="Calibri" pitchFamily="34" charset="-122"/>
                <a:cs typeface="Calibri" pitchFamily="34" charset="-120"/>
              </a:rPr>
              <a:t> …), separate a claim from its evidence, track pronouns and compare the tone of two texts.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D4-L08 · Development D4 · Environment, Weather and Technology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D4 › D4-L08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Reporting language, statistics, claim vs evidence, reference and tone.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words, fix reporting slips, then a data-heavy listening.</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D4-L09.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إِحْصَاءَاتٌ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data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statistics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report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source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claim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اسْتَمَرَّ الهَدْرُ،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تَنْضَبُ المَوَارِدُ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فَسَوْفَ</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preferred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offered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أَرْسَلَتْ سَلْمَى سِيرَتَهَا</a:t>
            </a:r>
            <a:pPr algn="l" indent="0" marL="0">
              <a:buNone/>
            </a:pPr>
            <a:r>
              <a:rPr lang="en-US" sz="1250" b="1" dirty="0">
                <a:solidFill>
                  <a:srgbClr val="1B3B6F"/>
                </a:solidFill>
                <a:latin typeface="Calibri" pitchFamily="34" charset="0"/>
                <a:ea typeface="Calibri" pitchFamily="34" charset="-122"/>
                <a:cs typeface="Calibri" pitchFamily="34" charset="-120"/>
              </a:rPr>
              <a:t>, -hā refers to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company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CV</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إِحْصَاءَاتٌ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data</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statistics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report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النَّبْرَةُ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tone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source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claim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(D4-L07).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إِذَا اسْتَمَرَّ الهَدْرُ،</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تَنْضَبُ المَوَارِدُ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فَسَوْفَ</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D4-L07.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يُشْتَرَطُ</a:t>
            </a:r>
            <a:pPr algn="l" indent="0" marL="0">
              <a:buNone/>
            </a:pPr>
            <a:r>
              <a:rPr lang="en-US" sz="1250" b="1" dirty="0">
                <a:solidFill>
                  <a:srgbClr val="1B3B6F"/>
                </a:solidFill>
                <a:latin typeface="Calibri" pitchFamily="34" charset="0"/>
                <a:ea typeface="Calibri" pitchFamily="34" charset="-122"/>
                <a:cs typeface="Calibri" pitchFamily="34" charset="-120"/>
              </a:rPr>
              <a:t> mean in an advert?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preferred</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is offered</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is required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D3-L08: a reading passive.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أَرْسَلَتْ سَلْمَى سِيرَتَهَا</a:t>
            </a:r>
            <a:pPr algn="l" indent="0" marL="0">
              <a:buNone/>
            </a:pPr>
            <a:r>
              <a:rPr lang="en-US" sz="1250" b="1" dirty="0">
                <a:solidFill>
                  <a:srgbClr val="1B3B6F"/>
                </a:solidFill>
                <a:latin typeface="Calibri" pitchFamily="34" charset="0"/>
                <a:ea typeface="Calibri" pitchFamily="34" charset="-122"/>
                <a:cs typeface="Calibri" pitchFamily="34" charset="-120"/>
              </a:rPr>
              <a:t>, -hā refers to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company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CV</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D3-L08: pronoun reference.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 strong reader asks: who says it, what is the evidence, and how sure is the writer?</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وَفْقًا لِبَيَانَاتِ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البَلَدِيَّةِ ·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 بِنِسْبَةِ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١٨٪</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Recognise impersonal reporting and attribution (</a:t>
            </a:r>
            <a:pPr algn="l" indent="0" marL="0">
              <a:buNone/>
            </a:pPr>
            <a:r>
              <a:rPr lang="ar-SA" altLang="en-US" sz="1700" dirty="0">
                <a:solidFill>
                  <a:srgbClr val="1F2A37"/>
                </a:solidFill>
                <a:latin typeface="Amiri" pitchFamily="34" charset="0"/>
                <a:ea typeface="Amiri" pitchFamily="34" charset="-122"/>
                <a:cs typeface="Amiri" pitchFamily="34" charset="-120"/>
              </a:rPr>
              <a:t>يُشَارُ إِلَى أَنَّ</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وَفْقًا لِـ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statistics precisely (</a:t>
            </a:r>
            <a:pPr algn="l" indent="0" marL="0">
              <a:buNone/>
            </a:pPr>
            <a:r>
              <a:rPr lang="ar-SA" altLang="en-US" sz="1700" dirty="0">
                <a:solidFill>
                  <a:srgbClr val="1F2A37"/>
                </a:solidFill>
                <a:latin typeface="Amiri" pitchFamily="34" charset="0"/>
                <a:ea typeface="Amiri" pitchFamily="34" charset="-122"/>
                <a:cs typeface="Amiri" pitchFamily="34" charset="-120"/>
              </a:rPr>
              <a:t>يَبْلُغُ</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يُمَثِّلُ</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بِنِسْبَةِ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Separate a claim from its evidence and track pronouns.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the message and tone of two texts.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find the source and a number.</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understand reporting phrases.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separate a claim from its evidence.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the tone of two texts.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supported comparison.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27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Text and evidence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Reporting and passive signals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Reading relationships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إِحْصَاءٌ</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‎احصاء / شمار‎ </a:t>
            </a:r>
            <a:pPr indent="0" marL="0">
              <a:buNone/>
            </a:pPr>
            <a:r>
              <a:rPr lang="en-US" sz="950" b="1" dirty="0">
                <a:solidFill>
                  <a:srgbClr val="2E8B57"/>
                </a:solidFill>
                <a:latin typeface="Calibri" pitchFamily="34" charset="0"/>
                <a:ea typeface="Calibri" pitchFamily="34" charset="-122"/>
                <a:cs typeface="Calibri" pitchFamily="34" charset="-120"/>
              </a:rPr>
              <a:t> shumār · statistics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نِسْبَةٌ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‎نسبت‎ </a:t>
            </a:r>
            <a:pPr indent="0" marL="0">
              <a:buNone/>
            </a:pPr>
            <a:r>
              <a:rPr lang="en-US" sz="950" b="1" dirty="0">
                <a:solidFill>
                  <a:srgbClr val="2E8B57"/>
                </a:solidFill>
                <a:latin typeface="Calibri" pitchFamily="34" charset="0"/>
                <a:ea typeface="Calibri" pitchFamily="34" charset="-122"/>
                <a:cs typeface="Calibri" pitchFamily="34" charset="-120"/>
              </a:rPr>
              <a:t> nisbat · Urdu: relation · Arabic: ratio, percentage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دَعْوَى / ادِّعَاءٌ</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‎دعویٰ‎ </a:t>
            </a:r>
            <a:pPr indent="0" marL="0">
              <a:buNone/>
            </a:pPr>
            <a:r>
              <a:rPr lang="en-US" sz="950" b="1" dirty="0">
                <a:solidFill>
                  <a:srgbClr val="2E8B57"/>
                </a:solidFill>
                <a:latin typeface="Calibri" pitchFamily="34" charset="0"/>
                <a:ea typeface="Calibri" pitchFamily="34" charset="-122"/>
                <a:cs typeface="Calibri" pitchFamily="34" charset="-120"/>
              </a:rPr>
              <a:t> daʿwā · claim</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مَصْدَرٌ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‎مصدر / ماخذ‎ </a:t>
            </a:r>
            <a:pPr indent="0" marL="0">
              <a:buNone/>
            </a:pPr>
            <a:r>
              <a:rPr lang="en-US" sz="950" b="1" dirty="0">
                <a:solidFill>
                  <a:srgbClr val="2E8B57"/>
                </a:solidFill>
                <a:latin typeface="Calibri" pitchFamily="34" charset="0"/>
                <a:ea typeface="Calibri" pitchFamily="34" charset="-122"/>
                <a:cs typeface="Calibri" pitchFamily="34" charset="-120"/>
              </a:rPr>
              <a:t> māʾkhaz · source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مُتَفَائِلٌ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‎فال / پرامید‎ </a:t>
            </a:r>
            <a:pPr indent="0" marL="0">
              <a:buNone/>
            </a:pPr>
            <a:r>
              <a:rPr lang="en-US" sz="950" b="1" dirty="0">
                <a:solidFill>
                  <a:srgbClr val="2E8B57"/>
                </a:solidFill>
                <a:latin typeface="Calibri" pitchFamily="34" charset="0"/>
                <a:ea typeface="Calibri" pitchFamily="34" charset="-122"/>
                <a:cs typeface="Calibri" pitchFamily="34" charset="-120"/>
              </a:rPr>
              <a:t> pur-umīd · optimistic (meaning only)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and evidence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نَصٌّ بِيئِيٌّ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environmental text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naṣ-ṣun bī-ʾiy-yun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مَقَالَةٌ تِقْنِيَّةٌ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technology article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ma-qā-la-tun tiq-niy-ya-tun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28" name="Shape 25"/>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5" name="Shape 3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مَصْدَرُ المَعْلُومَاتِ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information source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maṣ-da-ru al-maʿ-lū-mā-ti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2" name="Shape 3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بَيَانَاتٌ</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data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ba-yā-nā-tun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and evidence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إِحْصَاءَاتٌ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statistics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iḥ-ṣā-ʾā-tun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دَلِيلٌ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evidence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da-lī-lun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ادِّعَاءٌ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claim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ad-di-ʿā-ʾun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argument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ḥuj-ja-tun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وِجْهَةُ نَظَرٍ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viewpoint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wij-ha-tu na-ẓa-rin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Reporting and passive signals (1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يُشَارُ إِلَى 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indicated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yu-shā-ru i-lā 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يُعْتَقَدُ أَنَّ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believed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yuʿ-ta-qa-du an-na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يُتَوَقَّعُ أَنْ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expected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yu-ta-waq-qa-ʿu 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يُذْكَرُ أَنَّ</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is mentioned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yudh-ka-ru an-na</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Reporting and passive signals (2 of 2)</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يَبْلُغُ</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amounts to / reaches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yab-lu-ghu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يُمَثِّلُ</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represents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yu-math-thi-lu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بِنَاءً عَلَى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based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bi-nā-ʾan ʿa-lā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وَفْقًا لِـ</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according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waf-qan 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relationships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يَعُودُ الضَّمِيرُ عَلَى</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pronoun refers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ya-ʿū-du aḍ-ḍa-mī-ru ʿa-lā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السَّبَبُ</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cause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as-sa-ba-bu</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النَّتِيجَةُ</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result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an-na-tī-ja-tu</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المُقَارَنَةُ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comparison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al-mu-qā-ra-na-tu</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التَّنَاقُضُ</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contradiction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at-ta-nā-qu-ḍu</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relationships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النَّبْرَةُ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an-nab-ra-tu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مُحَايِدٌ</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neutral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mu-ḥā-yi-dun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مُتَفَائِلٌ</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optimistic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mu-ta-fā-ʾi-lun</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مُتَشَائِمٌ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pessimistic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mu-ta-shā-ʾi-mun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REPORTING AND STATISTICS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says it? What is the number?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النَّقْلُ وَالأَرْقَامُ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Reading signal</a:t>
            </a:r>
            <a:endParaRPr lang="en-US" sz="1100" dirty="0"/>
          </a:p>
        </p:txBody>
      </p:sp>
      <p:sp>
        <p:nvSpPr>
          <p:cNvPr id="17" name="Text 14"/>
          <p:cNvSpPr txBox="1"/>
          <p:nvPr/>
        </p:nvSpPr>
        <p:spPr>
          <a:xfrm>
            <a:off x="53035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source: wafqan li-</a:t>
            </a:r>
            <a:endParaRPr lang="en-US" sz="1100" dirty="0"/>
          </a:p>
        </p:txBody>
      </p:sp>
      <p:sp>
        <p:nvSpPr>
          <p:cNvPr id="20" name="Text 17"/>
          <p:cNvSpPr txBox="1"/>
          <p:nvPr/>
        </p:nvSpPr>
        <p:spPr>
          <a:xfrm>
            <a:off x="548640" y="2286000"/>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34" charset="0"/>
                <a:ea typeface="Amiri" pitchFamily="34" charset="-122"/>
                <a:cs typeface="Amiri" pitchFamily="34" charset="-120"/>
              </a:rPr>
              <a:t>وَفْقًا لِتَقْرِيرٍ</a:t>
            </a:r>
            <a:pPr rtl="1" algn="ctr" indent="0" marL="0">
              <a:buNone/>
            </a:pPr>
            <a:r>
              <a:rPr lang="ar-SA" altLang="en-US" sz="1950" b="1" dirty="0">
                <a:solidFill>
                  <a:srgbClr val="1B3B6F"/>
                </a:solidFill>
                <a:latin typeface="Amiri" pitchFamily="34" charset="0"/>
                <a:ea typeface="Amiri" pitchFamily="34" charset="-122"/>
                <a:cs typeface="Amiri" pitchFamily="34" charset="-120"/>
              </a:rPr>
              <a:t> جَدِيدٍ، ارْتَفَعَ مُتَوَسِّطُ دَرَجَةِ الحَرَارَةِ.</a:t>
            </a:r>
            <a:endParaRPr lang="ar-SA" sz="1950" dirty="0"/>
          </a:p>
        </p:txBody>
      </p:sp>
      <p:sp>
        <p:nvSpPr>
          <p:cNvPr id="21" name="Text 18"/>
          <p:cNvSpPr txBox="1"/>
          <p:nvPr/>
        </p:nvSpPr>
        <p:spPr>
          <a:xfrm>
            <a:off x="502920" y="267699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According to a new report, the average temperature rose.</a:t>
            </a:r>
            <a:endParaRPr lang="en-US" sz="950" dirty="0"/>
          </a:p>
        </p:txBody>
      </p:sp>
      <p:sp>
        <p:nvSpPr>
          <p:cNvPr id="22" name="Shape 19"/>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impersonal report + anna</a:t>
            </a:r>
            <a:endParaRPr lang="en-US" sz="1100" dirty="0"/>
          </a:p>
        </p:txBody>
      </p:sp>
      <p:sp>
        <p:nvSpPr>
          <p:cNvPr id="26" name="Text 23"/>
          <p:cNvSpPr txBox="1"/>
          <p:nvPr/>
        </p:nvSpPr>
        <p:spPr>
          <a:xfrm>
            <a:off x="548640" y="302300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يُشَارُ إِلَى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فَتَرَاتِ الجَفَافِ أَصْبَحَتْ أَطْوَلَ.</a:t>
            </a:r>
            <a:endParaRPr lang="ar-SA" sz="1950" dirty="0"/>
          </a:p>
        </p:txBody>
      </p:sp>
      <p:sp>
        <p:nvSpPr>
          <p:cNvPr id="27" name="Text 24"/>
          <p:cNvSpPr txBox="1"/>
          <p:nvPr/>
        </p:nvSpPr>
        <p:spPr>
          <a:xfrm>
            <a:off x="502920" y="3414004"/>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It is indicated that droughts have become longer.</a:t>
            </a:r>
            <a:endParaRPr lang="en-US" sz="950" dirty="0"/>
          </a:p>
        </p:txBody>
      </p:sp>
      <p:sp>
        <p:nvSpPr>
          <p:cNvPr id="28" name="Shape 25"/>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1" name="Text 28"/>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prediction: an + verb in -a</a:t>
            </a:r>
            <a:endParaRPr lang="en-US" sz="1100" dirty="0"/>
          </a:p>
        </p:txBody>
      </p:sp>
      <p:sp>
        <p:nvSpPr>
          <p:cNvPr id="32" name="Text 29"/>
          <p:cNvSpPr txBox="1"/>
          <p:nvPr/>
        </p:nvSpPr>
        <p:spPr>
          <a:xfrm>
            <a:off x="548640" y="3760013"/>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يُتَوَقَّعُ أَنْ</a:t>
            </a:r>
            <a:pPr rtl="1" algn="ctr" indent="0" marL="0">
              <a:buNone/>
            </a:pPr>
            <a:r>
              <a:rPr lang="ar-SA" altLang="en-US" sz="1950" b="1" dirty="0">
                <a:solidFill>
                  <a:srgbClr val="1B3B6F"/>
                </a:solidFill>
                <a:latin typeface="Amiri" pitchFamily="34" charset="0"/>
                <a:ea typeface="Amiri" pitchFamily="34" charset="-122"/>
                <a:cs typeface="Amiri" pitchFamily="34" charset="-120"/>
              </a:rPr>
              <a:t> يَزْدَادَ الطَّلَبُ عَلَى المِيَاهِ.</a:t>
            </a:r>
            <a:endParaRPr lang="ar-SA" sz="1950" dirty="0"/>
          </a:p>
        </p:txBody>
      </p:sp>
      <p:sp>
        <p:nvSpPr>
          <p:cNvPr id="33" name="Text 30"/>
          <p:cNvSpPr txBox="1"/>
          <p:nvPr/>
        </p:nvSpPr>
        <p:spPr>
          <a:xfrm>
            <a:off x="502920" y="4151010"/>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Demand for water is expected to rise.</a:t>
            </a:r>
            <a:endParaRPr lang="en-US" sz="95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number: yablughu</a:t>
            </a:r>
            <a:endParaRPr lang="en-US" sz="1100" dirty="0"/>
          </a:p>
        </p:txBody>
      </p:sp>
      <p:sp>
        <p:nvSpPr>
          <p:cNvPr id="36" name="Text 33"/>
          <p:cNvSpPr txBox="1"/>
          <p:nvPr/>
        </p:nvSpPr>
        <p:spPr>
          <a:xfrm>
            <a:off x="548640" y="4497019"/>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يَبْلُغُ</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الحَدُّ الأَقْصَى ٤٠ دَرَجَةً.</a:t>
            </a:r>
            <a:endParaRPr lang="ar-SA" sz="1950" dirty="0"/>
          </a:p>
        </p:txBody>
      </p:sp>
      <p:sp>
        <p:nvSpPr>
          <p:cNvPr id="37" name="Text 34"/>
          <p:cNvSpPr txBox="1"/>
          <p:nvPr/>
        </p:nvSpPr>
        <p:spPr>
          <a:xfrm>
            <a:off x="502920" y="4888017"/>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maximum reaches 40 degrees.</a:t>
            </a:r>
            <a:endParaRPr lang="en-US" sz="9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share: yumaththilu</a:t>
            </a:r>
            <a:endParaRPr lang="en-US" sz="1100" dirty="0"/>
          </a:p>
        </p:txBody>
      </p:sp>
      <p:sp>
        <p:nvSpPr>
          <p:cNvPr id="40" name="Text 37"/>
          <p:cNvSpPr txBox="1"/>
          <p:nvPr/>
        </p:nvSpPr>
        <p:spPr>
          <a:xfrm>
            <a:off x="548640" y="5234026"/>
            <a:ext cx="6766560" cy="422928"/>
          </a:xfrm>
          <a:prstGeom prst="rect">
            <a:avLst/>
          </a:prstGeom>
          <a:noFill/>
          <a:ln/>
        </p:spPr>
        <p:txBody>
          <a:bodyPr wrap="square" lIns="0" tIns="0" rIns="0" bIns="0" rtlCol="0" anchor="ctr"/>
          <a:lstStyle/>
          <a:p>
            <a:pPr rtl="1" algn="ctr" indent="0" marL="0">
              <a:buNone/>
            </a:pPr>
            <a:r>
              <a:rPr lang="ar-SA" altLang="en-US" sz="1950" b="1" dirty="0">
                <a:solidFill>
                  <a:srgbClr val="D6336C"/>
                </a:solidFill>
                <a:latin typeface="Amiri" pitchFamily="34" charset="0"/>
                <a:ea typeface="Amiri" pitchFamily="34" charset="-122"/>
                <a:cs typeface="Amiri" pitchFamily="34" charset="-120"/>
              </a:rPr>
              <a:t>تُمَثِّلُ</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الطَّاقَةُ الشَّمْسِيَّةُ ٣٠٪ مِنَ الإِنْتَاجِ.</a:t>
            </a:r>
            <a:endParaRPr lang="ar-SA" sz="1950" dirty="0"/>
          </a:p>
        </p:txBody>
      </p:sp>
      <p:sp>
        <p:nvSpPr>
          <p:cNvPr id="41" name="Text 38"/>
          <p:cNvSpPr txBox="1"/>
          <p:nvPr/>
        </p:nvSpPr>
        <p:spPr>
          <a:xfrm>
            <a:off x="502920" y="5625023"/>
            <a:ext cx="68580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Solar energy represents 30% of production.</a:t>
            </a:r>
            <a:endParaRPr lang="en-US" sz="950" dirty="0"/>
          </a:p>
        </p:txBody>
      </p:sp>
      <p:sp>
        <p:nvSpPr>
          <p:cNvPr id="42" name="Text 3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Numbers: always check WHAT the number measures (degrees? years? per cent?) before you choose.</a:t>
            </a:r>
            <a:endParaRPr lang="en-US" sz="11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CLAIM, REFERENCE, TONE (WEBSITE RULE 4 + READING WORKSHOP)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Claim or evidence? Who is “he”? What tone?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الادِّعَاءُ · الضَّمِيرُ · النَّبْرَةُ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21259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CLAIM vs EVIDENCE · DEVELOP</a:t>
            </a:r>
            <a:endParaRPr lang="en-US" sz="850" dirty="0"/>
          </a:p>
        </p:txBody>
      </p:sp>
      <p:sp>
        <p:nvSpPr>
          <p:cNvPr id="18" name="Text 15"/>
          <p:cNvSpPr txBox="1"/>
          <p:nvPr/>
        </p:nvSpPr>
        <p:spPr>
          <a:xfrm>
            <a:off x="10404348" y="1874520"/>
            <a:ext cx="11902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ادِّعَاءٌ · دَلِيلٌ</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انْخَفَضَ الاسْتِهْلَاكُ بِنِسْبَةِ ١٨٪.</a:t>
            </a:r>
            <a:endParaRPr lang="ar-SA" sz="25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Consumption fell by 18%.</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number = evidence.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57734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REFERENCE · DEVELOP</a:t>
            </a:r>
            <a:endParaRPr lang="en-US" sz="850" dirty="0"/>
          </a:p>
        </p:txBody>
      </p:sp>
      <p:sp>
        <p:nvSpPr>
          <p:cNvPr id="26" name="Text 23"/>
          <p:cNvSpPr txBox="1"/>
          <p:nvPr/>
        </p:nvSpPr>
        <p:spPr>
          <a:xfrm>
            <a:off x="6036564"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هَا = الشَّبَكَةُ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لِأَنَّهَا تُقَلِّلُ الهَدْرَ</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because IT reduces waste → the grid (not the city)</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Meaning decides.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2344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TONE · STRETCH</a:t>
            </a:r>
            <a:endParaRPr lang="en-US" sz="850" dirty="0"/>
          </a:p>
        </p:txBody>
      </p:sp>
      <p:sp>
        <p:nvSpPr>
          <p:cNvPr id="34" name="Text 31"/>
          <p:cNvSpPr txBox="1"/>
          <p:nvPr/>
        </p:nvSpPr>
        <p:spPr>
          <a:xfrm>
            <a:off x="1874520"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مُحَايِدٌ · حَذِرٌ</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نَبْرَةُ النَّصِّ الأَوَّلِ مُحَايِدَةٌ لِأَنَّهُ يَعْرِضُ أَرْقَامًا.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first text’s tone is neutral because it presents figures.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Tone + reason.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after an the verb ends in -a.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يُتَوَقَّعُ أَنْ يَزْدَادَ الطَّلَبُ.</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يُتَوَقَّعُ أَنْ يَزْدَادُ الطَّلَبُ.</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Grammar for reading evidence and reporting</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قَوَاعِدُ قِرَاءَةِ الأَدِلَّةِ وَالنَّقْلِ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Recognise impersonal reporting</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يُشَارُ / يُعْتَقَدُ / يُذْكَرُ + أَنَّ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يُشَارُ إِلَى أَنَّ دَرَجَاتِ الحَرَارَةِ تَرْتَفِعُ.   ·   يُعْتَقَدُ أَنَّ الطَّاقَةَ الشَّمْسِيَّةَ سَتَتَوَسَّعُ.</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Prediction after </a:t>
            </a:r>
            <a:pPr algn="l" indent="0" marL="0">
              <a:buNone/>
            </a:pPr>
            <a:r>
              <a:rPr lang="ar-SA" altLang="en-US" sz="1650" b="1" dirty="0">
                <a:solidFill>
                  <a:srgbClr val="1B3B6F"/>
                </a:solidFill>
                <a:latin typeface="Amiri" pitchFamily="34" charset="0"/>
                <a:ea typeface="Amiri" pitchFamily="34" charset="-122"/>
                <a:cs typeface="Amiri" pitchFamily="34" charset="-120"/>
              </a:rPr>
              <a:t>يُتَوَقَّعُ</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يُتَوَقَّعُ أَنْ</a:t>
            </a:r>
            <a:pPr algn="l" indent="0" marL="0">
              <a:buNone/>
            </a:pPr>
            <a:r>
              <a:rPr lang="en-US" sz="1050" dirty="0">
                <a:solidFill>
                  <a:srgbClr val="5A6472"/>
                </a:solidFill>
                <a:latin typeface="Calibri" pitchFamily="34" charset="0"/>
                <a:ea typeface="Calibri" pitchFamily="34" charset="-122"/>
                <a:cs typeface="Calibri" pitchFamily="34" charset="-120"/>
              </a:rPr>
              <a:t> + subjunctive present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يُتَوَقَّعُ أَنْ يَزْدَادَ الطَّلَبُ عَلَى المِيَاهِ.</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Statistical language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يَبْلُغُ</a:t>
            </a:r>
            <a:pPr algn="l" indent="0" marL="0">
              <a:buNone/>
            </a:pPr>
            <a:r>
              <a:rPr lang="en-US" sz="1050" dirty="0">
                <a:solidFill>
                  <a:srgbClr val="5A6472"/>
                </a:solidFill>
                <a:latin typeface="Calibri" pitchFamily="34" charset="0"/>
                <a:ea typeface="Calibri" pitchFamily="34" charset="-122"/>
                <a:cs typeface="Calibri" pitchFamily="34" charset="-120"/>
              </a:rPr>
              <a:t> + number / </a:t>
            </a:r>
            <a:pPr algn="l" indent="0" marL="0">
              <a:buNone/>
            </a:pPr>
            <a:r>
              <a:rPr lang="ar-SA" altLang="en-US" sz="1350" dirty="0">
                <a:solidFill>
                  <a:srgbClr val="5A6472"/>
                </a:solidFill>
                <a:latin typeface="Amiri" pitchFamily="34" charset="0"/>
                <a:ea typeface="Amiri" pitchFamily="34" charset="-122"/>
                <a:cs typeface="Amiri" pitchFamily="34" charset="-120"/>
              </a:rPr>
              <a:t>يُمَثِّلُ</a:t>
            </a:r>
            <a:pPr algn="l" indent="0" marL="0">
              <a:buNone/>
            </a:pPr>
            <a:r>
              <a:rPr lang="en-US" sz="1050" dirty="0">
                <a:solidFill>
                  <a:srgbClr val="5A6472"/>
                </a:solidFill>
                <a:latin typeface="Calibri" pitchFamily="34" charset="0"/>
                <a:ea typeface="Calibri" pitchFamily="34" charset="-122"/>
                <a:cs typeface="Calibri" pitchFamily="34" charset="-120"/>
              </a:rPr>
              <a:t> + percentage</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يَبْلُغُ الحَدُّ الأَقْصَى أَرْبَعِينَ دَرَجَةً.   ·   تُمَثِّلُ الطَّاقَةُ الشَّمْسِيَّةُ ثَلَاثِينَ فِي المِئَةِ مِنَ الإِنْتَاجِ.</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Pronoun reference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pronoun + nearest logical antecedent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تَحْتَاجُ المَدِينَةُ إِلَى شَبَكَةٍ ذَكِيَّةٍ لِأَنَّهَا تُقَلِّلُ الهَدْرَ.   ·   يَعُودُ الضَّمِيرُ «هَا» عَلَى الشَّبَكَةِ، لَا عَلَى المَدِينَةِ.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impersonal reporting?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يَشِيرُ الطَّالِبُ بِإِصْبَعِهِ</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a maximum temperature?</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يَبْلُغُ الحَدُّ الأَقْصَى ٤٠ دَرَجَةً.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يُمَثِّلُ الحَدُّ الأَقْصَى المَطَرَ.</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الحَدُّ الأَقْصَى إِلَى ٤٠.</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المَدِينَةُ إِلَى شَبَكَةٍ ذَكِيَّةٍ لِأَنَّهَا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ها</a:t>
            </a:r>
            <a:pPr algn="l" indent="0" marL="0">
              <a:buNone/>
            </a:pPr>
            <a:r>
              <a:rPr lang="en-US" sz="1250" b="1" dirty="0">
                <a:solidFill>
                  <a:srgbClr val="1B3B6F"/>
                </a:solidFill>
                <a:latin typeface="Calibri" pitchFamily="34" charset="0"/>
                <a:ea typeface="Calibri" pitchFamily="34" charset="-122"/>
                <a:cs typeface="Calibri" pitchFamily="34" charset="-120"/>
              </a:rPr>
              <a:t> most logically refer to?</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الهَدْر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الشَّبَكَة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report”?</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بِسَبَبِ التَّقْرِيرِ</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قُرْبَ التَّقْرِيرِ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structure is impersonal reporting?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مَعَ</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يَشِيرُ الطَّالِبُ بِإِصْبَعِهِ</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يشار إلى أن</a:t>
            </a:r>
            <a:pPr algn="l" indent="0" marL="0">
              <a:buNone/>
            </a:pPr>
            <a:r>
              <a:rPr lang="en-US" sz="1050" i="1" dirty="0">
                <a:solidFill>
                  <a:srgbClr val="8A6D1E"/>
                </a:solidFill>
                <a:latin typeface="Calibri" pitchFamily="34" charset="0"/>
                <a:ea typeface="Calibri" pitchFamily="34" charset="-122"/>
                <a:cs typeface="Calibri" pitchFamily="34" charset="-120"/>
              </a:rPr>
              <a:t> is an impersonal reporting frame.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reports a maximum temperature?</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يَبْلُغُ الحَدُّ الأَقْصَى ٤٠ دَرَجَةً.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يُمَثِّلُ الحَدُّ الأَقْصَى المَطَرَ.</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 الحَدُّ الأَقْصَى إِلَى ٤٠.</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يبلغ</a:t>
            </a:r>
            <a:pPr algn="l" indent="0" marL="0">
              <a:buNone/>
            </a:pPr>
            <a:r>
              <a:rPr lang="en-US" sz="1050" i="1" dirty="0">
                <a:solidFill>
                  <a:srgbClr val="8A6D1E"/>
                </a:solidFill>
                <a:latin typeface="Calibri" pitchFamily="34" charset="0"/>
                <a:ea typeface="Calibri" pitchFamily="34" charset="-122"/>
                <a:cs typeface="Calibri" pitchFamily="34" charset="-120"/>
              </a:rPr>
              <a:t> introduces the reached value.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In “</a:t>
            </a:r>
            <a:pPr algn="l" indent="0" marL="0">
              <a:buNone/>
            </a:pPr>
            <a:r>
              <a:rPr lang="ar-SA" altLang="en-US" sz="1650" b="1" dirty="0">
                <a:solidFill>
                  <a:srgbClr val="1B3B6F"/>
                </a:solidFill>
                <a:latin typeface="Amiri" pitchFamily="34" charset="0"/>
                <a:ea typeface="Amiri" pitchFamily="34" charset="-122"/>
                <a:cs typeface="Amiri" pitchFamily="34" charset="-120"/>
              </a:rPr>
              <a:t>تَحْتَاجُ المَدِينَةُ إِلَى شَبَكَةٍ ذَكِيَّةٍ لِأَنَّهَا تُقَلِّلُ الهَدْرَ</a:t>
            </a:r>
            <a:pPr algn="l" indent="0" marL="0">
              <a:buNone/>
            </a:pPr>
            <a:r>
              <a:rPr lang="en-US" sz="1250" b="1" dirty="0">
                <a:solidFill>
                  <a:srgbClr val="1B3B6F"/>
                </a:solidFill>
                <a:latin typeface="Calibri" pitchFamily="34" charset="0"/>
                <a:ea typeface="Calibri" pitchFamily="34" charset="-122"/>
                <a:cs typeface="Calibri" pitchFamily="34" charset="-120"/>
              </a:rPr>
              <a:t>”, 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ها</a:t>
            </a:r>
            <a:pPr algn="l" indent="0" marL="0">
              <a:buNone/>
            </a:pPr>
            <a:r>
              <a:rPr lang="en-US" sz="1250" b="1" dirty="0">
                <a:solidFill>
                  <a:srgbClr val="1B3B6F"/>
                </a:solidFill>
                <a:latin typeface="Calibri" pitchFamily="34" charset="0"/>
                <a:ea typeface="Calibri" pitchFamily="34" charset="-122"/>
                <a:cs typeface="Calibri" pitchFamily="34" charset="-120"/>
              </a:rPr>
              <a:t> most logically refer to?</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الهَدْر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الشَّبَكَة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smart grid is what reduces waste.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“according to the report”?</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وَفْقًا لِلتَّقْرِيرِ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بِسَبَبِ التَّقْرِيرِ</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قُرْبَ التَّقْرِيرِ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وفقًا لـ</a:t>
            </a:r>
            <a:pPr algn="l" indent="0" marL="0">
              <a:buNone/>
            </a:pPr>
            <a:r>
              <a:rPr lang="en-US" sz="1050" i="1" dirty="0">
                <a:solidFill>
                  <a:srgbClr val="8A6D1E"/>
                </a:solidFill>
                <a:latin typeface="Calibri" pitchFamily="34" charset="0"/>
                <a:ea typeface="Calibri" pitchFamily="34" charset="-122"/>
                <a:cs typeface="Calibri" pitchFamily="34" charset="-120"/>
              </a:rPr>
              <a:t> means according to.</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Watch me read a report like an examiner</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Source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وَفْقًا لِبَيَانَاتِ</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البَلَدِيَّةِ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Who says it? The council.</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Evidence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34" charset="0"/>
                <a:ea typeface="Amiri" pitchFamily="34" charset="-122"/>
                <a:cs typeface="Amiri" pitchFamily="34" charset="-120"/>
              </a:rPr>
              <a:t>انْخَفَضَ الاسْتِهْلَاكُ </a:t>
            </a:r>
            <a:pPr rtl="1" algn="ctr" indent="0" marL="0">
              <a:lnSpc>
                <a:spcPct val="120000"/>
              </a:lnSpc>
              <a:buNone/>
            </a:pPr>
            <a:r>
              <a:rPr lang="ar-SA" altLang="en-US" sz="1900" b="1" dirty="0">
                <a:solidFill>
                  <a:srgbClr val="D6336C"/>
                </a:solidFill>
                <a:latin typeface="Amiri" pitchFamily="34" charset="0"/>
                <a:ea typeface="Amiri" pitchFamily="34" charset="-122"/>
                <a:cs typeface="Amiri" pitchFamily="34" charset="-120"/>
              </a:rPr>
              <a:t>بِنِسْبَةِ ١٨٪</a:t>
            </a:r>
            <a:endParaRPr lang="ar-SA" sz="19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number = evidence.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How</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يُشَارُ إِلَى أَنَّ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النِّظَامَ يُطْفِئُ الإِضَاءَةَ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Impersonal report.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Tone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النَّبْرَةُ مُحَايِدَةٌ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Figures, no opinion.</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SOURCE</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EVIDENCE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النَّصُّ الأَوَّلُ تَقْرِيرٌ.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وَفْقًا لِبَيَانَاتِ</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البَلَدِيَّةِ، انْخَفَضَ اسْتِهْلَاكُ الكَهْرَبَاءِ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بِنِسْبَةِ ١٨٪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وَهٰذَا دَلِيلٌ مُحَدَّدٌ. وَ</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يُشَارُ إِلَى أَنَّ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النِّظَامَ يُطْفِئُ الإِضَاءَةَ فِي الغُرَفِ الفَارِغَةِ. نَبْرَةُ النَّصِّ مُحَايِدَةٌ لِأَنَّهُ يَعْرِضُ أَرْقَامًا.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first text is a report. According to council data, electricity use fell by 18%, and this is precise evidence. It is indicated that the system turns off lights in empty rooms. The tone is neutral because it presents figures.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يُشَارُ إِلَى أَنَّ دَرَجَاتِ الحَرَارَةِ تَرْتَفِعُ.</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It is indicated that temperatures are rising.</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These passives foreground the information rather than the person reporting it.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يُتَوَقَّعُ أَنْ يَزْدَادَ الطَّلَبُ عَلَى المِيَاهِ.</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Demand for water is expected to increase.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Because the structure uses أَنْ, a sound-ending present verb takes fatḥa.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يَبْلُغُ الحَدُّ الأَقْصَى أَرْبَعِينَ دَرَجَةً.</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maximum reaches forty degrees.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Identify exactly what the number measures; do not match numbers by sight alone.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نَصٌّ بِيئِيٌّ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مَقَالَةٌ تِقْنِيَّةٌ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تَقْرِيرٌ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يُعْتَقَدُ أَنَّ</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يُتَوَقَّعُ أَنْ</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الضَّمِيرُ عَلَى</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النَّتِيجَةُ</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Text and evidence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Reporting and passive signals</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relationships</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Text and evidence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نَصٌّ بِيئِيٌّ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مَقَالَةٌ تِقْنِيَّةٌ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تَقْرِيرٌ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Reporting and passive signals</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يُشَارُ إِلَى أَنَّ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يُعْتَقَدُ أَنَّ</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يُتَوَقَّعُ أَنْ</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Reading relationships</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يَعُودُ الضَّمِيرُ عَلَى</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السَّبَبُ</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النَّتِيجَةُ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الطَّلَبُ أَنْ زَادَ.</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ازْدَادَ الطَّلَبُ أَمْسِ.</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expresses a proportion?</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تَبْلُغُ الطَّاقَةُ الشَّمْسِيَّةُ مِنَ الإِنْتَاجِ.</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الطَّاقَةُ الشَّمْسِيَّةُ ٣٠٪ مِنَ الإِنْتَاجِ.</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الطَّاقَةُ ٣٠٪.</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consequence?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الرَّغْمِ مِنْ أَنَّ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نَتِيجَةً لِذٰلِكَ</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best supports the claim “solar energy is expanding”?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يُفَضِّلُ الكَاتِبُ اللَّوْنَ الأَزْرَقَ.</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الطَّاقَةُ الشَّمْسِيَّةُ جَمِيلَةٌ.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تُمَثِّلُ الآنَ ٣٠٪ مِنَ الإِنْتَاجِ بَعْدَ أَنْ كَانَتْ ١٠٪.</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الطَّلَبُ أَنْ زَادَ.</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أَنِ ازْدَادَ الطَّلَبُ أَمْسِ.</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يُتَوَقَّعُ أَنْ يَزْدَادَ الطَّلَبُ.</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يزداد</a:t>
            </a:r>
            <a:pPr algn="l" indent="0" marL="0">
              <a:buNone/>
            </a:pPr>
            <a:r>
              <a:rPr lang="en-US" sz="1050" i="1" dirty="0">
                <a:solidFill>
                  <a:srgbClr val="8A6D1E"/>
                </a:solidFill>
                <a:latin typeface="Calibri" pitchFamily="34" charset="0"/>
                <a:ea typeface="Calibri" pitchFamily="34" charset="-122"/>
                <a:cs typeface="Calibri" pitchFamily="34" charset="-120"/>
              </a:rPr>
              <a:t> becomes </a:t>
            </a:r>
            <a:pPr algn="l" indent="0" marL="0">
              <a:buNone/>
            </a:pPr>
            <a:r>
              <a:rPr lang="ar-SA" altLang="en-US" sz="1350" dirty="0">
                <a:solidFill>
                  <a:srgbClr val="8A6D1E"/>
                </a:solidFill>
                <a:latin typeface="Amiri" pitchFamily="34" charset="0"/>
                <a:ea typeface="Amiri" pitchFamily="34" charset="-122"/>
                <a:cs typeface="Amiri" pitchFamily="34" charset="-120"/>
              </a:rPr>
              <a:t>يزدادَ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correctly expresses a proportion?</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تَبْلُغُ الطَّاقَةُ الشَّمْسِيَّةُ مِنَ الإِنْتَاجِ.</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تُمَثِّلُ الطَّاقَةُ الشَّمْسِيَّةُ ٣٠٪ مِنَ الإِنْتَاجِ.</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الطَّاقَةُ ٣٠٪.</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تمثل</a:t>
            </a:r>
            <a:pPr algn="l" indent="0" marL="0">
              <a:buNone/>
            </a:pPr>
            <a:r>
              <a:rPr lang="en-US" sz="1050" i="1" dirty="0">
                <a:solidFill>
                  <a:srgbClr val="8A6D1E"/>
                </a:solidFill>
                <a:latin typeface="Calibri" pitchFamily="34" charset="0"/>
                <a:ea typeface="Calibri" pitchFamily="34" charset="-122"/>
                <a:cs typeface="Calibri" pitchFamily="34" charset="-120"/>
              </a:rPr>
              <a:t> can introduce a share or percentage.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signals a consequence?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الرَّغْمِ مِنْ أَنَّ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نَتِيجَةً لِذٰلِكَ</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نتيجة لذلك</a:t>
            </a:r>
            <a:pPr algn="l" indent="0" marL="0">
              <a:buNone/>
            </a:pPr>
            <a:r>
              <a:rPr lang="en-US" sz="1050" i="1" dirty="0">
                <a:solidFill>
                  <a:srgbClr val="8A6D1E"/>
                </a:solidFill>
                <a:latin typeface="Calibri" pitchFamily="34" charset="0"/>
                <a:ea typeface="Calibri" pitchFamily="34" charset="-122"/>
                <a:cs typeface="Calibri" pitchFamily="34" charset="-120"/>
              </a:rPr>
              <a:t> signals a result.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evidence best supports the claim “solar energy is expanding”?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يُفَضِّلُ الكَاتِبُ اللَّوْنَ الأَزْرَقَ.</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الطَّاقَةُ الشَّمْسِيَّةُ جَمِيلَةٌ.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تُمَثِّلُ الآنَ ٣٠٪ مِنَ الإِنْتَاجِ بَعْدَ أَنْ كَانَتْ ١٠٪.</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percentage change directly supports expansion.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يُتَوَقَّعُ أَنْ يَزْدَادُ الطَّلَبُ.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an: -u or -a?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تُمَثِّلُ ٣٠٪ الطَّاقَةُ الشَّمْسِيَّةُ مِنَ الإِنْتَاجِ.</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Where does the subject go?</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وَفْقًا التَّقْرِيرُ، تَرْتَفِعُ الحَرَارَةُ.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wafqan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يُتَوَقَّعُ أَنْ يَزْدَادُ الطَّلَبُ.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يُتَوَقَّعُ أَنْ يَزْدَادَ الطَّلَبُ.</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أن</a:t>
            </a:r>
            <a:pPr algn="l" indent="0" marL="0">
              <a:buNone/>
            </a:pPr>
            <a:r>
              <a:rPr lang="en-US" sz="1150" b="1" dirty="0">
                <a:solidFill>
                  <a:srgbClr val="1B3B6F"/>
                </a:solidFill>
                <a:latin typeface="Calibri" pitchFamily="34" charset="0"/>
                <a:ea typeface="Calibri" pitchFamily="34" charset="-122"/>
                <a:cs typeface="Calibri" pitchFamily="34" charset="-120"/>
              </a:rPr>
              <a:t> the sound-ending verb is subjunctive.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تُمَثِّلُ ٣٠٪ الطَّاقَةُ الشَّمْسِيَّةُ مِنَ الإِنْتَاجِ.</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تُمَثِّلُ الطَّاقَةُ الشَّمْسِيَّةُ ٣٠٪ مِنَ الإِنْتَاجِ.</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Keep the subject before the percentage for a clear formal sentence.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وَفْقًا التَّقْرِيرُ، تَرْتَفِعُ الحَرَارَةُ.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وَفْقًا لِلتَّقْرِيرِ، تَرْتَفِعُ دَرَجَاتُ الحَرَارَةِ.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وفقًا</a:t>
            </a:r>
            <a:pPr algn="l" indent="0" marL="0">
              <a:buNone/>
            </a:pPr>
            <a:r>
              <a:rPr lang="en-US" sz="1150" b="1" dirty="0">
                <a:solidFill>
                  <a:srgbClr val="1B3B6F"/>
                </a:solidFill>
                <a:latin typeface="Calibri" pitchFamily="34" charset="0"/>
                <a:ea typeface="Calibri" pitchFamily="34" charset="-122"/>
                <a:cs typeface="Calibri" pitchFamily="34" charset="-120"/>
              </a:rPr>
              <a:t> requires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Listening for data and reporting language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average temperature?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rose by one degree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fell by ten degrees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did not change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 what period?</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week</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 months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Twenty years</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longer?</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holidays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Live streams</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Drought periods</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sector is affected?</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Agriculture</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Fashion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is water demand expected to rise?</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15%</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50%</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reduce pressure?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Investment in water reuse</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Greater waste</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monitoring</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95" name="Text 92"/>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6" name="Text 93"/>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numbers: 1 degree · 20 years · 15%.</a:t>
            </a:r>
            <a:endParaRPr lang="en-US" sz="12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وَفْقًا لِتَقْرِيرٍ جَدِيدٍ، ارْتَفَعَ مُتَوَسِّطُ دَرَجَةِ الحَرَارَةِ فِي المَنْطِقَةِ دَرَجَةً وَاحِدَةً خِلَالَ عِشْرِينَ عَامًا.</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According to a new report, the region’s average temperature rose by one degree over twenty years.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وَيُشَارُ إِلَى أَنَّ فَتَرَاتِ الجَفَافِ أَصْبَحَتْ أَطْوَلَ، مِمَّا يُؤَثِّرُ فِي الزِّرَاعَةِ.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indicated that droughts have become longer, which affects agriculture.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وَيُتَوَقَّعُ أَنْ يَزْدَادَ الطَّلَبُ عَلَى المِيَاهِ بِنِسْبَةِ خَمْسَ عَشْرَةَ فِي المِئَةِ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Demand for water is expected to rise by fifteen per cent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بِحُلُولِ عَامِ ٢٠٣٥.</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year 2035.</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لٰكِنَّ التَّقْرِيرَ يَذْكُرُ أَيْضًا أَنَّ الاسْتِثْمَارَ فِي إِعَادَةِ اسْتِخْدَامِ المِيَاهِ قَدْ يُقَلِّلُ الضَّغْطَ.</a:t>
            </a:r>
            <a:endParaRPr lang="ar-SA" sz="18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the report also mentions that investing in water reuse may reduce the pressure.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to average temperature?</a:t>
            </a:r>
            <a:endParaRPr lang="en-US" sz="1250" dirty="0"/>
          </a:p>
        </p:txBody>
      </p:sp>
      <p:sp>
        <p:nvSpPr>
          <p:cNvPr id="19" name="Shape 16"/>
          <p:cNvSpPr/>
          <p:nvPr/>
        </p:nvSpPr>
        <p:spPr>
          <a:xfrm>
            <a:off x="548640" y="2453640"/>
            <a:ext cx="2498598"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rose by one degree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fell by ten degrees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did not change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ارتفع ... درجة واحدة.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Over what period?</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week</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 months</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Twenty years</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خلال عشرين عامًا.</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has become longer?</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holidays</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Live streams</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Drought periods</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فترات الجفاف.</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sector is affected?</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Agriculture</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Fashion</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يؤثر في الزراعة.</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is water demand expected to rise?</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15%</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50%</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خمسة عشر في المئة.</a:t>
            </a:r>
            <a:endParaRPr lang="ar-SA" sz="13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may reduce pressure?</a:t>
            </a:r>
            <a:endParaRPr lang="en-US" sz="125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00" b="1" dirty="0">
                <a:solidFill>
                  <a:srgbClr val="1F2A37"/>
                </a:solidFill>
                <a:latin typeface="Calibri" pitchFamily="34" charset="0"/>
                <a:ea typeface="Calibri" pitchFamily="34" charset="-122"/>
                <a:cs typeface="Calibri" pitchFamily="34" charset="-120"/>
              </a:rPr>
              <a:t>Investment in water reuse</a:t>
            </a:r>
            <a:endParaRPr lang="en-US" sz="120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Greater waste</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Less monitoring</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إعادة استخدام المياه.</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107" name="Text 104"/>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108" name="Text 105"/>
          <p:cNvSpPr txBox="1"/>
          <p:nvPr/>
        </p:nvSpPr>
        <p:spPr>
          <a:xfrm>
            <a:off x="6387084" y="4791456"/>
            <a:ext cx="2315718"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numbers: 1 degree · 20 years · 15%.</a:t>
            </a:r>
            <a:endParaRPr lang="en-US" sz="1250" dirty="0"/>
          </a:p>
        </p:txBody>
      </p:sp>
      <p:sp>
        <p:nvSpPr>
          <p:cNvPr id="109"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YOU DO · READING · READ THE WHOLE TEXT ONCE, THEN HUNT FOR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ea typeface="Cambria" pitchFamily="34" charset="-122"/>
                <a:cs typeface="Cambria" pitchFamily="34" charset="-120"/>
              </a:rPr>
              <a:t>Reading workshop: evidence across two texts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النَّصُّ الأَوَّلُ: وَفْقًا لِبَيَانَاتِ البَلَدِيَّةِ، انْخَفَضَ اسْتِهْلَاكُ الكَهْرَبَاءِ فِي المَبَانِي العَامَّةِ بِنِسْبَةِ ١٨٪ بَعْدَ تَرْكِيبِ أَنْظِمَةٍ ذَكِيَّةٍ. وَيُشَارُ إِلَى أَنَّ النِّظَامَ يُطْفِئُ الإِضَاءَةَ فِي الغُرَفِ الفَارِغَةِ.</a:t>
            </a:r>
            <a:endParaRPr lang="ar-SA" sz="2300" dirty="0"/>
          </a:p>
          <a:p>
            <a:pPr rtl="1" algn="r" indent="0" marL="0">
              <a:lnSpc>
                <a:spcPct val="120000"/>
              </a:lnSpc>
              <a:buNone/>
            </a:pPr>
            <a:endParaRPr lang="ar-SA" sz="2300" dirty="0"/>
          </a:p>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النَّصُّ الثَّانِي: يَرَى صَاحِبُ مُدَوَّنَةٍ تِقْنِيَّةٍ أَنَّ هٰذِهِ الأَنْظِمَةَ مُفِيدَةٌ، لٰكِنَّهُ يُحَذِّرُ مِنْ جَمْعِ بَيَانَاتِ المُسْتَخْدِمِينَ دُونَ مُوَافَقَتِهِمْ. وَيُؤَكِّدُ أَنَّ النَّجَاحَ يَعْتَمِدُ عَلَى الكَفَاءَةِ وَحِمَايَةِ الخُصُوصِيَّةِ مَعًا.</a:t>
            </a:r>
            <a:endParaRPr lang="ar-SA" sz="23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بَيَانَاتِ البَلَدِيَّةِ</a:t>
            </a:r>
            <a:endParaRPr lang="ar-SA" sz="1600" dirty="0"/>
          </a:p>
        </p:txBody>
      </p:sp>
      <p:sp>
        <p:nvSpPr>
          <p:cNvPr id="20" name="Text 17"/>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council data</a:t>
            </a:r>
            <a:endParaRPr lang="en-US" sz="1050" dirty="0"/>
          </a:p>
        </p:txBody>
      </p:sp>
      <p:sp>
        <p:nvSpPr>
          <p:cNvPr id="21" name="Text 18"/>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انْخَفَضَ</a:t>
            </a:r>
            <a:endParaRPr lang="ar-SA" sz="1600" dirty="0"/>
          </a:p>
        </p:txBody>
      </p:sp>
      <p:sp>
        <p:nvSpPr>
          <p:cNvPr id="22" name="Text 19"/>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fell</a:t>
            </a:r>
            <a:endParaRPr lang="en-US" sz="1050" dirty="0"/>
          </a:p>
        </p:txBody>
      </p:sp>
      <p:sp>
        <p:nvSpPr>
          <p:cNvPr id="23" name="Text 20"/>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بِنِسْبَةِ</a:t>
            </a:r>
            <a:endParaRPr lang="ar-SA" sz="1600" dirty="0"/>
          </a:p>
        </p:txBody>
      </p:sp>
      <p:sp>
        <p:nvSpPr>
          <p:cNvPr id="24" name="Text 21"/>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by (a percentage)</a:t>
            </a:r>
            <a:endParaRPr lang="en-US" sz="1050" dirty="0"/>
          </a:p>
        </p:txBody>
      </p:sp>
      <p:sp>
        <p:nvSpPr>
          <p:cNvPr id="25" name="Text 22"/>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تَرْكِيبِ</a:t>
            </a:r>
            <a:endParaRPr lang="ar-SA" sz="1600" dirty="0"/>
          </a:p>
        </p:txBody>
      </p:sp>
      <p:sp>
        <p:nvSpPr>
          <p:cNvPr id="26" name="Text 23"/>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installing</a:t>
            </a:r>
            <a:endParaRPr lang="en-US" sz="1050" dirty="0"/>
          </a:p>
        </p:txBody>
      </p:sp>
      <p:sp>
        <p:nvSpPr>
          <p:cNvPr id="27" name="Text 24"/>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يُطْفِئُ</a:t>
            </a:r>
            <a:endParaRPr lang="ar-SA" sz="1600" dirty="0"/>
          </a:p>
        </p:txBody>
      </p:sp>
      <p:sp>
        <p:nvSpPr>
          <p:cNvPr id="28" name="Text 25"/>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turns off</a:t>
            </a:r>
            <a:endParaRPr lang="en-US" sz="1050" dirty="0"/>
          </a:p>
        </p:txBody>
      </p:sp>
      <p:sp>
        <p:nvSpPr>
          <p:cNvPr id="29" name="Text 26"/>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الغُرَفِ الفَارِغَةِ</a:t>
            </a:r>
            <a:endParaRPr lang="ar-SA" sz="1600" dirty="0"/>
          </a:p>
        </p:txBody>
      </p:sp>
      <p:sp>
        <p:nvSpPr>
          <p:cNvPr id="30" name="Text 27"/>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empty rooms</a:t>
            </a:r>
            <a:endParaRPr lang="en-US" sz="1050" dirty="0"/>
          </a:p>
        </p:txBody>
      </p:sp>
      <p:sp>
        <p:nvSpPr>
          <p:cNvPr id="31" name="Text 28"/>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صَاحِبُ مُدَوَّنَةٍ</a:t>
            </a:r>
            <a:endParaRPr lang="ar-SA" sz="1600" dirty="0"/>
          </a:p>
        </p:txBody>
      </p:sp>
      <p:sp>
        <p:nvSpPr>
          <p:cNvPr id="32" name="Text 29"/>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blogger</a:t>
            </a:r>
            <a:endParaRPr lang="en-US" sz="1050" dirty="0"/>
          </a:p>
        </p:txBody>
      </p:sp>
      <p:sp>
        <p:nvSpPr>
          <p:cNvPr id="33" name="Text 30"/>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يُحَذِّرُ مِنْ</a:t>
            </a:r>
            <a:endParaRPr lang="ar-SA" sz="1600" dirty="0"/>
          </a:p>
        </p:txBody>
      </p:sp>
      <p:sp>
        <p:nvSpPr>
          <p:cNvPr id="34" name="Text 31"/>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warns against</a:t>
            </a:r>
            <a:endParaRPr lang="en-US" sz="1050" dirty="0"/>
          </a:p>
        </p:txBody>
      </p:sp>
      <p:sp>
        <p:nvSpPr>
          <p:cNvPr id="35" name="Text 32"/>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دُونَ مُوَافَقَتِهِمْ</a:t>
            </a:r>
            <a:endParaRPr lang="ar-SA" sz="1600" dirty="0"/>
          </a:p>
        </p:txBody>
      </p:sp>
      <p:sp>
        <p:nvSpPr>
          <p:cNvPr id="36" name="Text 33"/>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without their consent</a:t>
            </a:r>
            <a:endParaRPr lang="en-US" sz="1050" dirty="0"/>
          </a:p>
        </p:txBody>
      </p:sp>
      <p:sp>
        <p:nvSpPr>
          <p:cNvPr id="37" name="Text 34"/>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الكَفَاءَةِ</a:t>
            </a:r>
            <a:endParaRPr lang="ar-SA" sz="1600" dirty="0"/>
          </a:p>
        </p:txBody>
      </p:sp>
      <p:sp>
        <p:nvSpPr>
          <p:cNvPr id="38" name="Text 35"/>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efficiency</a:t>
            </a:r>
            <a:endParaRPr lang="en-US" sz="10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first text’s data?</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club</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Municipal data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private diary</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did electricity use fall?</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80%</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18%</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system reduce use?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turns off lights in empty rooms</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opens every window</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increases heating all day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blogger’s main reservation?</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colour of the buildings</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Collection of user data without consent</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lack of football fields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لكنه</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صاحب المدونة</a:t>
            </a:r>
            <a:endParaRPr lang="ar-SA" sz="20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البلدية</a:t>
            </a:r>
            <a:endParaRPr lang="ar-SA" sz="20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النظام</a:t>
            </a:r>
            <a:endParaRPr lang="ar-SA" sz="20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conditions does the blogger link to success?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Higher consumption and more data collection</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Less evidence and fewer controls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Efficiency and privacy protection</a:t>
            </a:r>
            <a:endParaRPr lang="en-US" sz="1250" dirty="0"/>
          </a:p>
        </p:txBody>
      </p:sp>
      <p:sp>
        <p:nvSpPr>
          <p:cNvPr id="93" name="Shape 90"/>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FEEDBACK · READING ANSWERS WITH EVIDENCE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source of the first text’s data?</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club</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Municipal data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private diary</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بيانات البلدية.</a:t>
            </a:r>
            <a:endParaRPr lang="ar-SA" sz="13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By how much did electricity use fall?</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80%</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18%</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بنسبة 18٪.</a:t>
            </a:r>
            <a:endParaRPr lang="ar-SA" sz="13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system reduce use?</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turns off lights in empty rooms</a:t>
            </a:r>
            <a:endParaRPr lang="en-US" sz="11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opens every window</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increases heating all day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يطفيء الإضاءة في الغرف الفارغة.</a:t>
            </a:r>
            <a:endParaRPr lang="ar-SA" sz="13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blogger’s main reservation?</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colour of the buildings</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Collection of user data without consent</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lack of football fields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جمع بيانات المستخدمين دون موافقتهم.</a:t>
            </a:r>
            <a:endParaRPr lang="ar-SA" sz="13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ـه</a:t>
            </a:r>
            <a:pPr algn="l" indent="0" marL="0">
              <a:buNone/>
            </a:pPr>
            <a:r>
              <a:rPr lang="en-US" sz="1250" b="1" dirty="0">
                <a:solidFill>
                  <a:srgbClr val="1B3B6F"/>
                </a:solidFill>
                <a:latin typeface="Calibri" pitchFamily="34" charset="0"/>
                <a:ea typeface="Calibri" pitchFamily="34" charset="-122"/>
                <a:cs typeface="Calibri" pitchFamily="34" charset="-120"/>
              </a:rPr>
              <a:t>” in “</a:t>
            </a:r>
            <a:pPr algn="l" indent="0" marL="0">
              <a:buNone/>
            </a:pPr>
            <a:r>
              <a:rPr lang="ar-SA" altLang="en-US" sz="1650" b="1" dirty="0">
                <a:solidFill>
                  <a:srgbClr val="1B3B6F"/>
                </a:solidFill>
                <a:latin typeface="Amiri" pitchFamily="34" charset="0"/>
                <a:ea typeface="Amiri" pitchFamily="34" charset="-122"/>
                <a:cs typeface="Amiri" pitchFamily="34" charset="-120"/>
              </a:rPr>
              <a:t>لكنه</a:t>
            </a:r>
            <a:pPr algn="l" indent="0" marL="0">
              <a:buNone/>
            </a:pPr>
            <a:r>
              <a:rPr lang="en-US" sz="1250" b="1" dirty="0">
                <a:solidFill>
                  <a:srgbClr val="1B3B6F"/>
                </a:solidFill>
                <a:latin typeface="Calibri" pitchFamily="34" charset="0"/>
                <a:ea typeface="Calibri" pitchFamily="34" charset="-122"/>
                <a:cs typeface="Calibri" pitchFamily="34" charset="-120"/>
              </a:rPr>
              <a:t>” refer to?</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صاحب المدونة</a:t>
            </a:r>
            <a:endParaRPr lang="ar-SA" sz="170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البلدية</a:t>
            </a:r>
            <a:endParaRPr lang="ar-SA" sz="170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النظام</a:t>
            </a:r>
            <a:endParaRPr lang="ar-SA" sz="170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writer/blog owner is the antecedent.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two conditions does the blogger link to success?</a:t>
            </a:r>
            <a:endParaRPr lang="en-US" sz="120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Higher consumption and more data collection</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Less evidence and fewer controls</a:t>
            </a:r>
            <a:endParaRPr lang="en-US" sz="11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Efficiency and privacy protection</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الكفاءة وحماية الخصوصية معًا.</a:t>
            </a:r>
            <a:endParaRPr lang="ar-SA" sz="1350" dirty="0"/>
          </a:p>
        </p:txBody>
      </p:sp>
      <p:sp>
        <p:nvSpPr>
          <p:cNvPr id="105" name="Shape 10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Speaking: explain how evidence works</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الفَرْقُ بَيْنَ الادِّعَاءِ وَالدَّلِيلِ؟</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نَتَتَبَّعُ الضَّمَائِرَ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نُقَارِنُ نَبْرَةَ نَصَّيْنِ؟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الادِّعَاءُ هُوَ ___ ، وَالدَّلِيلُ هُوَ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F2A37"/>
                </a:solidFill>
                <a:latin typeface="Amiri" pitchFamily="34" charset="0"/>
                <a:ea typeface="Amiri" pitchFamily="34" charset="-122"/>
                <a:cs typeface="Amiri" pitchFamily="34" charset="-120"/>
              </a:rPr>
              <a:t>يَعُودُ الضَّمِيرُ فِي « ___ » عَلَى ___ لِأَنَّ ___ .</a:t>
            </a:r>
            <a:endParaRPr lang="ar-SA" sz="13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نَبْرَةُ النَّصِّ الأَوَّلِ ___ ، أَمَّا النَّصُّ الثَّانِي فَنَبْرَتُهُ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نَعْرِفُ أَنَّ ادِّعَاءً فِي نَصٍّ مَوْثُوقٌ؟</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do we know a claim in a text is reliable?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نَبْحَثُ عَنْ مَصْدَرٍ وَاضِحٍ وَبَيَانَاتٍ مُحَدَّدَةٍ، وَنُمَيِّزُ بَيْنَ رَأْيِ الكَاتِبِ وَالدَّلِيلِ الَّذِي يُقَدِّمُهُ.</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We look for a clear source and specific data, and we distinguish between the writer’s opinion and the evidence he gives.</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vocabulary banks and sentence frames to produce four accurate connected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Text 1: the source, the number, what it measures, and the tone.</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100–120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several target structures in a linked paragraph or sustained spoken answer.</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Both texts: each main claim and one piece of evidence from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120–140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Evaluate, compare or qualify ideas using precise evidence and formal linking language.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compare the message, evidence and tone of the two texts.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يَرَى صَاحِبُ المُدَوَّنَةِ أَنَّ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blogger thinks that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لٰكِنَّهُ يُحَذِّرُ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but he warns against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دَلِيلٌ مُحَدَّدٌ عَلَى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specific evidence of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نَسْتَنْتِجُ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conclude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وَفْقًا لِبَيَانَاتِ البَلَدِيَّةِ،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According to council data,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انْخَفَضَ الاسْتِهْلَاكُ بِنِسْبَةِ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Consumption fell by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يُشَارُ إِلَى أَنَّ النِّظَامَ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indicated that the system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النَّبْرَةُ مُحَايِدَةٌ لِأَنَّ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tone is neutral because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وَفْقًا لِـ  ·  يُشَارُ إِلَى أَنَّ  ·  يُتَوَقَّعُ أَنْ  ·  بِنِسْبَةِ  ·  يَبْلُغُ  ·  يُمَثِّلُ  ·  ادِّعَاءٌ  ·  دَلِيلٌ  ·  يَعُودُ الضَّمِيرُ عَلَى  ·  مُحَايِدٌ  ·  حَذِرٌ  ·  نَسْتَنْتِجُ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120–140 Arabic words comparing the message, evidence and tone of two short environment or technology texts.</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Identify each text’s main claim.</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Quote or paraphrase one precise datum from each.</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Track one pronoun or passive structure.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Reach a supported comparison.</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يَعْرِضُ النَّصَّانِ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two texts present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دَلِيلٌ مُحَدَّدٌ عَلَى فَعَالِيَّةِ النِّظَامِ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specific evidence of the system’s effectiveness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يُحَذِّرُ مِنْ جَمْعِ البَيَانَاتِ دُونَ مُوَافَقَةٍ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warns against collecting data without consent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نَبْرَتُهُ أَكْثَرُ حَذَرًا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its tone is more cautious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عَلَى … مَعًا</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depends on … together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يَعْرِضُ النَّصَّانِ فَوَائِدَ الأَنْظِمَةِ الذَّكِيَّةِ وَمَخَاطِرَهَا. فَوَفْقًا لِبَيَانَاتِ البَلَدِيَّةِ، انْخَفَضَ اسْتِهْلَاكُ الكَهْرَبَاءِ بِنِسْبَةِ ١٨٪، وَهٰذَا دَلِيلٌ مُحَدَّدٌ عَلَى فَعَالِيَّةِ النِّظَامِ. وَمَعَ ذٰلِكَ، يُحَذِّرُ صَاحِبُ المُدَوَّنَةِ مِنْ جَمْعِ البَيَانَاتِ دُونَ مُوَافَقَةٍ. نَبْرَةُ النَّصِّ الأَوَّلِ مُحَايِدَةٌ لِأَنَّهُ يَعْرِضُ أَرْقَامًا، أَمَّا النَّصُّ الثَّانِي فَنَبْرَتُهُ أَكْثَرُ حَذَرًا. نَسْتَنْتِجُ أَنَّ التِّقْنِيَّةَ قَدْ تُقَلِّلُ الهَدْرَ، لٰكِنَّ نَجَاحَهَا يَعْتَمِدُ عَلَى حِمَايَةِ الخُصُوصِيَّةِ.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two texts present the benefits and risks of smart systems. According to council data, electricity use fell by 18%, which is specific evidence of the system’s effectiveness. However, the blogger warns against collecting data without consent. The first text’s tone is neutral because it presents figures, whereas the second text’s tone is more cautious. We conclude that the technology may reduce waste, but its success depends on protecting privacy.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each text’s main claim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precise datum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pronoun or passive tracked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tone comparison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the source of the information.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exactly what each number measures.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separated the claim from the evidence.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linked “he” / “-hā” to the right noun.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the tone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الطَّلَبَ زَادَ.</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التَّقْرِيرِ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أَجْلِ التَّقْرِيرِ</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reports a percentage share?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يُمَثِّلُ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يَشِحُّ</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يُعَلِّقُ</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prediction.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يُتَوَقَّعُ أَنْ يَزْدَادَ الطَّلَبُ.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يُتَوَقَّعُ أَنْ يَزْدَادُ الطَّلَبُ.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يَتَوَقَّعُ أَنْ الطَّلَبَ زَادَ.</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Subjunctive </a:t>
            </a:r>
            <a:pPr algn="l" indent="0" marL="0">
              <a:buNone/>
            </a:pPr>
            <a:r>
              <a:rPr lang="ar-SA" altLang="en-US" sz="1350" dirty="0">
                <a:solidFill>
                  <a:srgbClr val="8A6D1E"/>
                </a:solidFill>
                <a:latin typeface="Amiri" pitchFamily="34" charset="0"/>
                <a:ea typeface="Amiri" pitchFamily="34" charset="-122"/>
                <a:cs typeface="Amiri" pitchFamily="34" charset="-120"/>
              </a:rPr>
              <a:t>يزدادَ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 التَّقْرِيرِ</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مِنْ أَجْلِ التَّقْرِيرِ</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According to the report.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reports a percentage share?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يُمَثِّلُ</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يَشِحُّ</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يُعَلِّقُ</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يمثل</a:t>
            </a:r>
            <a:pPr algn="l" indent="0" marL="0">
              <a:buNone/>
            </a:pPr>
            <a:r>
              <a:rPr lang="en-US" sz="1050" i="1" dirty="0">
                <a:solidFill>
                  <a:srgbClr val="8A6D1E"/>
                </a:solidFill>
                <a:latin typeface="Calibri" pitchFamily="34" charset="0"/>
                <a:ea typeface="Calibri" pitchFamily="34" charset="-122"/>
                <a:cs typeface="Calibri" pitchFamily="34" charset="-120"/>
              </a:rPr>
              <a:t> can report a proportion.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Reading — Environment and Technology Texts — Arabic application mission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formal report rather than a personal action?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أُشِيرُ بِإِصْبَعِي إِلَى الخَرِيطَةِ.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 إِلَى أَنَّ المِيَاهَ تَشِحُّ.</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يُشَارِكُ الطَّالِبُ فِي الدَّرْسِ.</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an accurate prediction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تَنْخَفِضَ الانْبِعَاثَاتُ.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تَنْخَفِضَ الانْبِعَاثَاتُ 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يُتَوَقَّعُ أَنْ تَنْخَفِضُ الانْبِعَاثَاتُ.</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supports “the city is getting hotter”?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يَبْلُغُ عَدَدُ المَدَارِسِ عَشْرًا.</a:t>
            </a:r>
            <a:endParaRPr lang="ar-SA" sz="160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تُمَثِّلُ الحَدَائِقُ ٥٪ مِنَ المَدِينَةِ.</a:t>
            </a:r>
            <a:endParaRPr lang="ar-SA" sz="160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ارْتَفَعَ الحَدُّ الأَقْصَى مِنْ ٣٥ إِلَى ٤٠ دَرَجَةً.</a:t>
            </a:r>
            <a:endParaRPr lang="ar-SA" sz="160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the pronoun refer to in “</a:t>
            </a:r>
            <a:pPr algn="l" indent="0" marL="0">
              <a:buNone/>
            </a:pPr>
            <a:r>
              <a:rPr lang="ar-SA" altLang="en-US" sz="1250" b="1" dirty="0">
                <a:solidFill>
                  <a:srgbClr val="1B3B6F"/>
                </a:solidFill>
                <a:latin typeface="Amiri" pitchFamily="34" charset="0"/>
                <a:ea typeface="Amiri" pitchFamily="34" charset="-122"/>
                <a:cs typeface="Amiri" pitchFamily="34" charset="-120"/>
              </a:rPr>
              <a:t>زَادَتِ المَدِينَةُ المَسَاحَاتِ الخَضْرَاءَ لِأَنَّهَا تُخَفِّضُ الحَرَارَةَ</a:t>
            </a:r>
            <a:pPr algn="l" indent="0" marL="0">
              <a:buNone/>
            </a:pPr>
            <a:r>
              <a:rPr lang="en-US" sz="950" b="1" dirty="0">
                <a:solidFill>
                  <a:srgbClr val="1B3B6F"/>
                </a:solidFill>
                <a:latin typeface="Calibri" pitchFamily="34" charset="0"/>
                <a:ea typeface="Calibri" pitchFamily="34" charset="-122"/>
                <a:cs typeface="Calibri" pitchFamily="34" charset="-120"/>
              </a:rPr>
              <a:t>”?</a:t>
            </a:r>
            <a:endParaRPr lang="en-US" sz="9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المَدِينَةُ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الحَرَارَةُ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المَسَاحَاتُ الخَضْرَاءُ</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 to a source?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وَفْقًا لِلتَّقْرِيرِ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 السَّاحِلِ</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نَاحِيَةٍ أُخْرَى</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distinguishes claim from evidence?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الادِّعَاءُ وَالدَّلِيلُ هُمَا الكَلِمَةُ نَفْسُهَا.</a:t>
            </a:r>
            <a:endParaRPr lang="ar-SA"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الادِّعَاءُ: الجَفَافُ يَزْدَادُ؛ الدَّلِيلُ: انْخَفَضَ المَطَرُ ٢٠٪.</a:t>
            </a:r>
            <a:endParaRPr lang="ar-SA"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الدَّلِيلُ: أَنَا أُحِبُّ المَطَرَ.</a:t>
            </a:r>
            <a:endParaRPr lang="ar-SA"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 formal report rather than a personal action?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أُشِيرُ بِإِصْبَعِي إِلَى الخَرِيطَةِ.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يُشَارُ إِلَى أَنَّ المِيَاهَ تَشِحُّ.</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يُشَارِكُ الطَّالِبُ فِي الدَّرْسِ.</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is impersonal reporting.</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contains an accurate prediction form?</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يُتَوَقَّعُ أَنْ تَنْخَفِضَ الانْبِعَاثَاتُ.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تَنْخَفِضَ الانْبِعَاثَاتُ 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يُتَوَقَّعُ أَنْ تَنْخَفِضُ الانْبِعَاثَاتُ.</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تنخفضَ</a:t>
            </a:r>
            <a:pPr algn="l" indent="0" marL="0">
              <a:buNone/>
            </a:pPr>
            <a:r>
              <a:rPr lang="en-US" sz="1050" i="1" dirty="0">
                <a:solidFill>
                  <a:srgbClr val="8A6D1E"/>
                </a:solidFill>
                <a:latin typeface="Calibri" pitchFamily="34" charset="0"/>
                <a:ea typeface="Calibri" pitchFamily="34" charset="-122"/>
                <a:cs typeface="Calibri" pitchFamily="34" charset="-120"/>
              </a:rPr>
              <a:t> follows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datum supports “the city is getting hotter”?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يَبْلُغُ عَدَدُ المَدَارِسِ عَشْرًا.</a:t>
            </a:r>
            <a:endParaRPr lang="ar-SA" sz="16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تُمَثِّلُ الحَدَائِقُ ٥٪ مِنَ المَدِينَةِ.</a:t>
            </a:r>
            <a:endParaRPr lang="ar-SA" sz="16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ارْتَفَعَ الحَدُّ الأَقْصَى مِنْ ٣٥ إِلَى ٤٠ دَرَجَةً.</a:t>
            </a:r>
            <a:endParaRPr lang="ar-SA" sz="16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temperature change directly supports the claim.</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950" b="1" dirty="0">
                <a:solidFill>
                  <a:srgbClr val="1B3B6F"/>
                </a:solidFill>
                <a:latin typeface="Calibri" pitchFamily="34" charset="0"/>
                <a:ea typeface="Calibri" pitchFamily="34" charset="-122"/>
                <a:cs typeface="Calibri" pitchFamily="34" charset="-120"/>
              </a:rPr>
              <a:t>What does the pronoun refer to in “</a:t>
            </a:r>
            <a:pPr algn="l" indent="0" marL="0">
              <a:buNone/>
            </a:pPr>
            <a:r>
              <a:rPr lang="ar-SA" altLang="en-US" sz="1250" b="1" dirty="0">
                <a:solidFill>
                  <a:srgbClr val="1B3B6F"/>
                </a:solidFill>
                <a:latin typeface="Amiri" pitchFamily="34" charset="0"/>
                <a:ea typeface="Amiri" pitchFamily="34" charset="-122"/>
                <a:cs typeface="Amiri" pitchFamily="34" charset="-120"/>
              </a:rPr>
              <a:t>زَادَتِ المَدِينَةُ المَسَاحَاتِ الخَضْرَاءَ لِأَنَّهَا تُخَفِّضُ الحَرَارَةَ</a:t>
            </a:r>
            <a:pPr algn="l" indent="0" marL="0">
              <a:buNone/>
            </a:pPr>
            <a:r>
              <a:rPr lang="en-US" sz="950" b="1" dirty="0">
                <a:solidFill>
                  <a:srgbClr val="1B3B6F"/>
                </a:solidFill>
                <a:latin typeface="Calibri" pitchFamily="34" charset="0"/>
                <a:ea typeface="Calibri" pitchFamily="34" charset="-122"/>
                <a:cs typeface="Calibri" pitchFamily="34" charset="-120"/>
              </a:rPr>
              <a:t>”?</a:t>
            </a:r>
            <a:endParaRPr lang="en-US" sz="9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المَدِينَةُ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الحَرَارَةُ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المَسَاحَاتُ الخَضْرَاءُ</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Green spaces reduce heat.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attributes information to a source?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وَفْقًا لِلتَّقْرِيرِ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 السَّاحِلِ</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نَاحِيَةٍ أُخْرَى</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وفقًا للتقرير</a:t>
            </a:r>
            <a:pPr algn="l" indent="0" marL="0">
              <a:buNone/>
            </a:pPr>
            <a:r>
              <a:rPr lang="en-US" sz="1050" i="1" dirty="0">
                <a:solidFill>
                  <a:srgbClr val="8A6D1E"/>
                </a:solidFill>
                <a:latin typeface="Calibri" pitchFamily="34" charset="0"/>
                <a:ea typeface="Calibri" pitchFamily="34" charset="-122"/>
                <a:cs typeface="Calibri" pitchFamily="34" charset="-120"/>
              </a:rPr>
              <a:t> attributes the information.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distinguishes claim from evidence?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الادِّعَاءُ وَالدَّلِيلُ هُمَا الكَلِمَةُ نَفْسُهَا.</a:t>
            </a:r>
            <a:endParaRPr lang="ar-SA"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الادِّعَاءُ: الجَفَافُ يَزْدَادُ؛ الدَّلِيلُ: انْخَفَضَ المَطَرُ ٢٠٪.</a:t>
            </a:r>
            <a:endParaRPr lang="ar-SA" sz="12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الدَّلِيلُ: أَنَا أُحِبُّ المَطَرَ.</a:t>
            </a:r>
            <a:endParaRPr lang="ar-SA"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measured change is evidence for the claim.</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D4-L08 · Reading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D4-L09: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D4 · Environment, Weather and Technology · D4-L08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D4-L09 · Writing — Environment and Technology Article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مُقَدِّمَةٌ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introduction</a:t>
            </a:r>
            <a:pPr indent="0" marL="0">
              <a:buNone/>
            </a:pPr>
            <a:r>
              <a:rPr lang="en-US" sz="1000" i="1" dirty="0">
                <a:solidFill>
                  <a:srgbClr val="5A6472"/>
                </a:solidFill>
                <a:latin typeface="Calibri" pitchFamily="34" charset="0"/>
                <a:ea typeface="Calibri" pitchFamily="34" charset="-122"/>
                <a:cs typeface="Calibri" pitchFamily="34" charset="-120"/>
              </a:rPr>
              <a:t>  pl. مُقَدِّمَاتٌ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argument</a:t>
            </a:r>
            <a:pPr indent="0" marL="0">
              <a:buNone/>
            </a:pPr>
            <a:r>
              <a:rPr lang="en-US" sz="1000" i="1" dirty="0">
                <a:solidFill>
                  <a:srgbClr val="5A6472"/>
                </a:solidFill>
                <a:latin typeface="Calibri" pitchFamily="34" charset="0"/>
                <a:ea typeface="Calibri" pitchFamily="34" charset="-122"/>
                <a:cs typeface="Calibri" pitchFamily="34" charset="-120"/>
              </a:rPr>
              <a:t>  pl. حُجَجٌ</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حُجَّةٌ مُضَادَّةٌ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counterargument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خَاتِمَةٌ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conclusion</a:t>
            </a:r>
            <a:pPr indent="0" marL="0">
              <a:buNone/>
            </a:pPr>
            <a:r>
              <a:rPr lang="en-US" sz="1000" i="1" dirty="0">
                <a:solidFill>
                  <a:srgbClr val="5A6472"/>
                </a:solidFill>
                <a:latin typeface="Calibri" pitchFamily="34" charset="0"/>
                <a:ea typeface="Calibri" pitchFamily="34" charset="-122"/>
                <a:cs typeface="Calibri" pitchFamily="34" charset="-120"/>
              </a:rPr>
              <a:t>  pl. خَوَاتِمُ</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عَلَاوَةً عَلَى ذٰلِكَ</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in addition, moreover</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Choose a topic for an article: plastic, AI in school, or smart cities. Note one argument for and one against.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المَوْضُوعُ: … · حُجَّةٌ: … · حُجَّةٌ مُضَادَّةٌ: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reporting / evidence words; redo reading questions 1–3.</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Both texts’ claims and evidence in 100–120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compare the two texts’ message, evidence and tone (120–140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D4-L08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ea typeface="Cambria" pitchFamily="34" charset="-122"/>
                <a:cs typeface="Cambria" pitchFamily="34" charset="-120"/>
              </a:rPr>
              <a:t>D4-L09 · Writing — Environment and Technology Article</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الكِتَابَةُ — مَقَالٌ عَنِ البِيئَةِ وَالتِّقْنِيَّةِ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source → claim → evidence (exact numbers) → tone — and link every pronoun by meaning.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D4-L08 · Reading — Environment and Technology Texts</dc:title>
  <dc:subject>PptxGenJS Presentation</dc:subject>
  <dc:creator>Al Madina Online School · Arabic Department</dc:creator>
  <cp:lastModifiedBy>Al Madina Online School · Arabic Department</cp:lastModifiedBy>
  <cp:revision>1</cp:revision>
  <dcterms:created xsi:type="dcterms:W3CDTF">2026-10-03T10:11:12Z</dcterms:created>
  <dcterms:modified xsi:type="dcterms:W3CDTF">2026-10-03T10:11:12Z</dcterms:modified>
</cp:coreProperties>
</file>