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D4-L08. The website lesson “Reading — Environment and Technology Texts”: vocabulary, grammar rules and quiz, patterns, common mistakes, sorter, listening, reading, speaking prompts and model, writing task and model, differentiation, final check and the lesson mission. Picture match: website visual game “Reading — Environment and Technology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two short texts (council data + a tech blogger) are the main You Do task.
• Core: the reporting words (وَفْقًا لِـ · يُشَارُ إِلَى أَنَّ) and reading questions 1–3 (source, number, how). Develop: all 6 questions + one claim vs one piece of evidence. Stretch: compare the two texts’ tone (مُحَايِدٌ / حَذِرٌ) in writing.
• Reading routine for every text: (1) Who says it? (source) (2) What is claimed? (3) What is the evidence (a number)? (4) What is the tone?
• Builds on D3-L08 (reading adverts, reference, inference) and D4-L03 / L06 (passive).
• TEACHER-WRITTEN ITEMS: one vowel slip in the reading text corrected (يَطْفِئُ → يُطْفِئُ), the unvowelled pronoun-rule example replaced with a vowelled one, one quiz item given meaningful distractors,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D4-L07. Question 3 retrieves D4-L07; questions 4–5 retrieve the D3-L08 reading skills (passive advert language,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reader asks: who says it, what is the evidence, and how sure is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(claim) = Arabic ادِّعَاءٌ / دَعْوَى. CAREFUL: Urdu نسبت = connection / relation, Arabic نِسْبَةٌ = ratio, percentage (بِنِسْبَةِ ١٨٪ = by 18%). مُتَفَائِلٌ is related to فال (a good omen) —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and evidence (website vocabulary (1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and evidence (website vocabulary (2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(1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(2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relationships (website vocabulary (1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relationships (website vocabulary (2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“Recognise impersonal reporting” (these passives foreground the information rather than the person reporting it), “Prediction after يُتَوَقَّعُ” (a sound-ending present verb takes fatḥa after أَنْ) and “Statistical language” (identify exactly what the number measures; do not match numbers by sight alone). Rows from the website rules and listening.
Website mistake: وَفْقًا التَّقْرِيرُ ✗ → وَفْقًا لِلتَّقْرِيرِ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“Pronoun reference” (gender and number help, but meaning confirms the reference) with the website example: تَحْتَاجُ المَدِينَةُ إِلَى شَبَكَةٍ ذَكِيَّةٍ لِأَنَّهَا تُقَلِّلُ الهَدْرَ — هَا refers to the grid, not the city, because the grid is what reduces waste.
Claim / evidence / tone come from the website vocabulary and the writing model (نَبْرَةُ النَّصِّ الأَوَّلِ مُحَايِدَةٌ …، أَمَّا النَّصُّ الثَّانِي فَنَبْرَتُهُ أَكْثَرُ حَذَرًا).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Recognise impersonal reporting: These passives foreground the information rather than the person reporting it.
• Prediction after يُتَوَقَّعُ: Because the structure uses أَنْ, a sound-ending present verb takes fatḥa.
• Statistical language: Identify exactly what the number measures; do not match numbers by sight alone.
• Pronoun reference: Gender and number help, but meaning confirms the reference.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think-aloud on the website reading text 1 using the four-question routine (source → evidence → how → tone). Students then do text 2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 say what each number measures.
Listen 1: just listen. Listen 2: note answers. Then chat the letters.
Support: after the second listening, show the read-along slide (Arabic + English, line by line) for Core students.
SCRIPT (read aloud):
وَفْقًا لِتَقْرِيرٍ جَدِيدٍ، ارْتَفَعَ مُتَوَسِّطُ دَرَجَةِ الحَرَارَةِ فِي المَنْطِقَةِ دَرَجَةً وَاحِدَةً خِلَالَ عِشْرِينَ عَامًا. وَيُشَارُ إِلَى أَنَّ فَتَرَاتِ الجَفَافِ أَصْبَحَتْ أَطْوَلَ، مِمَّا يُؤَثِّرُ فِي الزِّرَاعَةِ. وَيُتَوَقَّعُ أَنْ يَزْدَادَ الطَّلَبُ عَلَى المِيَاهِ بِنِسْبَةِ خَمْسَ عَشْرَةَ فِي المِئَةِ بِحُلُولِ عَامِ ٢٠٣٥. لٰكِنَّ التَّقْرِيرَ يَذْكُرُ أَيْضًا أَنَّ الاسْتِثْمَارَ فِي إِعَادَةِ اسْتِخْدَامِ المِيَاهِ قَدْ يُقَلِّلُ الضَّغْطَ.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reading workshop (two texts: council data and a tech blogger). Text 1: source, number, how. Text 2: claim, reservation, “he”.
Core: questions 1–3. Develop: all 6. Stretch: then the written comparison of the two texts (message, evidence,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read.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comparing the message, evidence and tone of two short environment or technology texts.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وَفْقًا لِبَيَانَاتِ البَلَدِيَّةِ … بِنِسْبَةِ ١٨٪ · وَهٰذَا دَلِيلٌ مُحَدَّدٌ · يُحَذِّرُ صَاحِبُ المُدَوَّنَةِ مِنْ … · نَبْرَةُ النَّصِّ الأَوَّلِ مُحَايِدَةٌ … أَمَّا النَّصُّ الثَّانِي فَنَبْرَتُهُ أَكْثَرُ حَذَرًا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(D4-L09 · Writing — Environment and Technology Article) will spend class time USING this language, so students prepare it tonight — short, simple, easy to access (school guidance: “Simple, Short, Interesting, Relevant, Easy to access”). The five words come from the website D4-L09 vocabulary (academic organisation of an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Environment and Technology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reports and articles like an examiner: spot impersonal reporting (</a:t>
            </a:r>
            <a:pPr algn="l" indent="0" marL="0">
              <a:buNone/>
            </a:pPr>
            <a:r>
              <a:rPr lang="ar-SA" altLang="en-US" sz="1800" dirty="0">
                <a:solidFill>
                  <a:srgbClr val="C6D2E6"/>
                </a:solidFill>
                <a:latin typeface="Amiri" pitchFamily="2" charset="-78"/>
                <a:ea typeface="Amiri" pitchFamily="2" charset="-78"/>
                <a:cs typeface="Amiri" pitchFamily="2" charset="-78"/>
              </a:rPr>
              <a:t>يُشَارُ إِلَى أَنَّ</a:t>
            </a:r>
            <a:pPr algn="l" indent="0" marL="0">
              <a:buNone/>
            </a:pPr>
            <a:r>
              <a:rPr lang="en-US" sz="1400" dirty="0">
                <a:solidFill>
                  <a:srgbClr val="C6D2E6"/>
                </a:solidFill>
                <a:latin typeface="Calibri" pitchFamily="34" charset="0"/>
                <a:cs typeface="Amiri" pitchFamily="2" charset="-78"/>
              </a:rPr>
              <a:t> …), read statistics exactly (</a:t>
            </a:r>
            <a:pPr algn="l" indent="0" marL="0">
              <a:buNone/>
            </a:pPr>
            <a:r>
              <a:rPr lang="ar-SA" altLang="en-US" sz="1800" dirty="0">
                <a:solidFill>
                  <a:srgbClr val="C6D2E6"/>
                </a:solidFill>
                <a:latin typeface="Amiri" pitchFamily="2" charset="-78"/>
                <a:ea typeface="Amiri" pitchFamily="2" charset="-78"/>
                <a:cs typeface="Amiri" pitchFamily="2" charset="-78"/>
              </a:rPr>
              <a:t>يَبْلُغُ</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يُمَثِّلُ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بِنِسْبَةِ</a:t>
            </a:r>
            <a:pPr algn="l" indent="0" marL="0">
              <a:buNone/>
            </a:pPr>
            <a:r>
              <a:rPr lang="en-US" sz="1400" dirty="0">
                <a:solidFill>
                  <a:srgbClr val="C6D2E6"/>
                </a:solidFill>
                <a:latin typeface="Calibri" pitchFamily="34" charset="0"/>
                <a:cs typeface="Amiri" pitchFamily="2" charset="-78"/>
              </a:rPr>
              <a:t> …), separate a claim from its evidence, track pronouns and compare the tone of two 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D4-L08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language, statistics, claim vs evidence, reference and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words, fix reporting slips, then a data-heavy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إِحْصَاءَاتٌ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statistics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source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claim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اسْتَمَرَّ الهَدْرُ،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تَنْضَبُ المَوَارِدُ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فَسَوْفَ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preferred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offered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CV</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إِحْصَاءَاتٌ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statistics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source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claim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اسْتَمَرَّ الهَدْرُ،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تَنْضَبُ المَوَارِدُ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فَسَوْفَ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preferred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offered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a reading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company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CV</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pronoun 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reader asks: who says it, what is the evidence, and how sure is the writer?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وَفْقًا لِبَيَانَاتِ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البَلَدِيَّةِ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بِنِسْبَةِ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١٨٪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impersonal reporting and attribution (</a:t>
            </a:r>
            <a:pPr algn="l" indent="0" marL="0">
              <a:buNone/>
            </a:pPr>
            <a:r>
              <a:rPr lang="ar-SA" altLang="en-US" sz="1700" dirty="0">
                <a:solidFill>
                  <a:srgbClr val="1F2A37"/>
                </a:solidFill>
                <a:latin typeface="Amiri" pitchFamily="2" charset="-78"/>
                <a:ea typeface="Amiri" pitchFamily="2" charset="-78"/>
                <a:cs typeface="Amiri" pitchFamily="2" charset="-78"/>
              </a:rPr>
              <a:t>يُشَارُ إِلَى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وَفْقًا 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statistics precisely (</a:t>
            </a:r>
            <a:pPr algn="l" indent="0" marL="0">
              <a:buNone/>
            </a:pPr>
            <a:r>
              <a:rPr lang="ar-SA" altLang="en-US" sz="1700" dirty="0">
                <a:solidFill>
                  <a:srgbClr val="1F2A37"/>
                </a:solidFill>
                <a:latin typeface="Amiri" pitchFamily="2" charset="-78"/>
                <a:ea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بِنِسْبَةِ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a claim from its evidence and track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the message and tone of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source and a number.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reporting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separate a claim from its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tone of two texts.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supported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and evidence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Reporting and passive signals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relationships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إِحْصَاءٌ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‎احصاء / شمار‎ </a:t>
            </a:r>
            <a:pPr indent="0" marL="0">
              <a:buNone/>
            </a:pPr>
            <a:r>
              <a:rPr lang="en-US" sz="950" b="1" dirty="0">
                <a:solidFill>
                  <a:srgbClr val="2E8B57"/>
                </a:solidFill>
                <a:latin typeface="Calibri" pitchFamily="34" charset="0"/>
                <a:cs typeface="Amiri" pitchFamily="2" charset="-78"/>
              </a:rPr>
              <a:t> shumār · statistics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Urdu: relation · Arabic: ratio, percentage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دَعْوَى / ادِّعَاءٌ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‎دعویٰ‎ </a:t>
            </a:r>
            <a:pPr indent="0" marL="0">
              <a:buNone/>
            </a:pPr>
            <a:r>
              <a:rPr lang="en-US" sz="950" b="1" dirty="0">
                <a:solidFill>
                  <a:srgbClr val="2E8B57"/>
                </a:solidFill>
                <a:latin typeface="Calibri" pitchFamily="34" charset="0"/>
                <a:cs typeface="Amiri" pitchFamily="2" charset="-78"/>
              </a:rPr>
              <a:t> daʿwā · claim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‎مصدر / ماخذ‎ </a:t>
            </a:r>
            <a:pPr indent="0" marL="0">
              <a:buNone/>
            </a:pPr>
            <a:r>
              <a:rPr lang="en-US" sz="950" b="1" dirty="0">
                <a:solidFill>
                  <a:srgbClr val="2E8B57"/>
                </a:solidFill>
                <a:latin typeface="Calibri" pitchFamily="34" charset="0"/>
                <a:cs typeface="Amiri" pitchFamily="2" charset="-78"/>
              </a:rPr>
              <a:t> māʾkhaz · source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مُتَفَائِلٌ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‎فال / پرامید‎ </a:t>
            </a:r>
            <a:pPr indent="0" marL="0">
              <a:buNone/>
            </a:pPr>
            <a:r>
              <a:rPr lang="en-US" sz="950" b="1" dirty="0">
                <a:solidFill>
                  <a:srgbClr val="2E8B57"/>
                </a:solidFill>
                <a:latin typeface="Calibri" pitchFamily="34" charset="0"/>
                <a:cs typeface="Amiri" pitchFamily="2" charset="-78"/>
              </a:rPr>
              <a:t> pur-umīd · optimistic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بِيئِيٌّ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text</a:t>
            </a:r>
            <a:endParaRPr lang="en-US" sz="1350" dirty="0"/>
          </a:p>
          <a:p>
            <a:pPr indent="0" marL="0">
              <a:buNone/>
            </a:pPr>
            <a:r>
              <a:rPr lang="en-US" sz="1100" i="1" dirty="0">
                <a:solidFill>
                  <a:srgbClr val="5A6472"/>
                </a:solidFill>
                <a:latin typeface="Calibri" pitchFamily="34" charset="0"/>
                <a:cs typeface="Amiri" pitchFamily="2" charset="-78"/>
              </a:rPr>
              <a:t>naṣ-ṣun bī-ʾiy-yun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مَقَالَةٌ تِقْنِيَّةٌ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technology article</a:t>
            </a:r>
            <a:endParaRPr lang="en-US" sz="1350" dirty="0"/>
          </a:p>
          <a:p>
            <a:pPr indent="0" marL="0">
              <a:buNone/>
            </a:pPr>
            <a:r>
              <a:rPr lang="en-US" sz="1100" i="1" dirty="0">
                <a:solidFill>
                  <a:srgbClr val="5A6472"/>
                </a:solidFill>
                <a:latin typeface="Calibri" pitchFamily="34" charset="0"/>
                <a:cs typeface="Amiri" pitchFamily="2" charset="-78"/>
              </a:rPr>
              <a:t>ma-qā-la-tun tiq-niy-ya-tun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المَعْلُومَاتِ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information source</a:t>
            </a:r>
            <a:endParaRPr lang="en-US" sz="1350" dirty="0"/>
          </a:p>
          <a:p>
            <a:pPr indent="0" marL="0">
              <a:buNone/>
            </a:pPr>
            <a:r>
              <a:rPr lang="en-US" sz="1100" i="1" dirty="0">
                <a:solidFill>
                  <a:srgbClr val="5A6472"/>
                </a:solidFill>
                <a:latin typeface="Calibri" pitchFamily="34" charset="0"/>
                <a:cs typeface="Amiri" pitchFamily="2" charset="-78"/>
              </a:rPr>
              <a:t>maṣ-da-ru al-maʿ-lū-mā-ti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بَيَانَاتٌ</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data</a:t>
            </a:r>
            <a:endParaRPr lang="en-US" sz="1350" dirty="0"/>
          </a:p>
          <a:p>
            <a:pPr indent="0" marL="0">
              <a:buNone/>
            </a:pPr>
            <a:r>
              <a:rPr lang="en-US" sz="1100" i="1" dirty="0">
                <a:solidFill>
                  <a:srgbClr val="5A6472"/>
                </a:solidFill>
                <a:latin typeface="Calibri" pitchFamily="34" charset="0"/>
                <a:cs typeface="Amiri" pitchFamily="2" charset="-78"/>
              </a:rPr>
              <a:t>ba-yā-nā-tun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evidence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إِحْصَاءَاتٌ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statistics</a:t>
            </a:r>
            <a:endParaRPr lang="en-US" sz="1350" dirty="0"/>
          </a:p>
          <a:p>
            <a:pPr indent="0" marL="0">
              <a:buNone/>
            </a:pPr>
            <a:r>
              <a:rPr lang="en-US" sz="1100" i="1" dirty="0">
                <a:solidFill>
                  <a:srgbClr val="5A6472"/>
                </a:solidFill>
                <a:latin typeface="Calibri" pitchFamily="34" charset="0"/>
                <a:cs typeface="Amiri" pitchFamily="2" charset="-78"/>
              </a:rPr>
              <a:t>iḥ-ṣā-ʾā-tun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ادِّعَاءٌ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claim</a:t>
            </a:r>
            <a:endParaRPr lang="en-US" sz="1350" dirty="0"/>
          </a:p>
          <a:p>
            <a:pPr indent="0" marL="0">
              <a:buNone/>
            </a:pPr>
            <a:r>
              <a:rPr lang="en-US" sz="1100" i="1" dirty="0">
                <a:solidFill>
                  <a:srgbClr val="5A6472"/>
                </a:solidFill>
                <a:latin typeface="Calibri" pitchFamily="34" charset="0"/>
                <a:cs typeface="Amiri" pitchFamily="2" charset="-78"/>
              </a:rPr>
              <a:t>ad-di-ʿā-ʾun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a:t>
            </a:r>
            <a:endParaRPr lang="en-US" sz="1350" dirty="0"/>
          </a:p>
          <a:p>
            <a:pPr indent="0" marL="0">
              <a:buNone/>
            </a:pPr>
            <a:r>
              <a:rPr lang="en-US" sz="1100" i="1" dirty="0">
                <a:solidFill>
                  <a:srgbClr val="5A6472"/>
                </a:solidFill>
                <a:latin typeface="Calibri" pitchFamily="34" charset="0"/>
                <a:cs typeface="Amiri" pitchFamily="2" charset="-78"/>
              </a:rPr>
              <a:t>ḥuj-ja-tun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وِجْهَةُ نَظَرٍ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viewpoint</a:t>
            </a:r>
            <a:endParaRPr lang="en-US" sz="1350" dirty="0"/>
          </a:p>
          <a:p>
            <a:pPr indent="0" marL="0">
              <a:buNone/>
            </a:pPr>
            <a:r>
              <a:rPr lang="en-US" sz="1100" i="1" dirty="0">
                <a:solidFill>
                  <a:srgbClr val="5A6472"/>
                </a:solidFill>
                <a:latin typeface="Calibri" pitchFamily="34" charset="0"/>
                <a:cs typeface="Amiri" pitchFamily="2" charset="-78"/>
              </a:rPr>
              <a:t>wij-ha-tu na-ẓa-rin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Reporting and passive signals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يُشَارُ إِلَى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indicated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يُعْتَقَدُ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believed that</a:t>
            </a:r>
            <a:endParaRPr lang="en-US" sz="1350" dirty="0"/>
          </a:p>
          <a:p>
            <a:pPr indent="0" marL="0">
              <a:buNone/>
            </a:pPr>
            <a:r>
              <a:rPr lang="en-US" sz="1100" i="1" dirty="0">
                <a:solidFill>
                  <a:srgbClr val="5A6472"/>
                </a:solidFill>
                <a:latin typeface="Calibri" pitchFamily="34" charset="0"/>
                <a:cs typeface="Amiri" pitchFamily="2" charset="-78"/>
              </a:rPr>
              <a:t>yuʿ-ta-qa-du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yu-ta-waq-qa-ʿu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يُذْكَرُ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mentioned that</a:t>
            </a:r>
            <a:endParaRPr lang="en-US" sz="1350" dirty="0"/>
          </a:p>
          <a:p>
            <a:pPr indent="0" marL="0">
              <a:buNone/>
            </a:pPr>
            <a:r>
              <a:rPr lang="en-US" sz="1100" i="1" dirty="0">
                <a:solidFill>
                  <a:srgbClr val="5A6472"/>
                </a:solidFill>
                <a:latin typeface="Calibri" pitchFamily="34" charset="0"/>
                <a:cs typeface="Amiri" pitchFamily="2" charset="-78"/>
              </a:rPr>
              <a:t>yudh-ka-ru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Reporting and passive signals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بِنَاءً عَلَى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a:t>
            </a:r>
            <a:endParaRPr lang="en-US" sz="1350" dirty="0"/>
          </a:p>
          <a:p>
            <a:pPr indent="0" marL="0">
              <a:buNone/>
            </a:pPr>
            <a:r>
              <a:rPr lang="en-US" sz="1100" i="1" dirty="0">
                <a:solidFill>
                  <a:srgbClr val="5A6472"/>
                </a:solidFill>
                <a:latin typeface="Calibri" pitchFamily="34" charset="0"/>
                <a:cs typeface="Amiri" pitchFamily="2" charset="-78"/>
              </a:rPr>
              <a:t>bi-nā-ʾan ʿa-lā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وَفْقًا لِـ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a:t>
            </a:r>
            <a:endParaRPr lang="en-US" sz="1350" dirty="0"/>
          </a:p>
          <a:p>
            <a:pPr indent="0" marL="0">
              <a:buNone/>
            </a:pPr>
            <a:r>
              <a:rPr lang="en-US" sz="1100" i="1" dirty="0">
                <a:solidFill>
                  <a:srgbClr val="5A6472"/>
                </a:solidFill>
                <a:latin typeface="Calibri" pitchFamily="34" charset="0"/>
                <a:cs typeface="Amiri" pitchFamily="2" charset="-78"/>
              </a:rPr>
              <a:t>waf-qan 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relationships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يَعُودُ الضَّمِيرُ عَلَى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pronoun refers to</a:t>
            </a:r>
            <a:endParaRPr lang="en-US" sz="1350" dirty="0"/>
          </a:p>
          <a:p>
            <a:pPr indent="0" marL="0">
              <a:buNone/>
            </a:pPr>
            <a:r>
              <a:rPr lang="en-US" sz="1100" i="1" dirty="0">
                <a:solidFill>
                  <a:srgbClr val="5A6472"/>
                </a:solidFill>
                <a:latin typeface="Calibri" pitchFamily="34" charset="0"/>
                <a:cs typeface="Amiri" pitchFamily="2" charset="-78"/>
              </a:rPr>
              <a:t>ya-ʿū-du aḍ-ḍa-mī-ru ʿa-lā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السَّبَبُ</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a:t>
            </a:r>
            <a:endParaRPr lang="en-US" sz="1350" dirty="0"/>
          </a:p>
          <a:p>
            <a:pPr indent="0" marL="0">
              <a:buNone/>
            </a:pPr>
            <a:r>
              <a:rPr lang="en-US" sz="1100" i="1" dirty="0">
                <a:solidFill>
                  <a:srgbClr val="5A6472"/>
                </a:solidFill>
                <a:latin typeface="Calibri" pitchFamily="34" charset="0"/>
                <a:cs typeface="Amiri" pitchFamily="2" charset="-78"/>
              </a:rPr>
              <a:t>as-sa-ba-bu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النَّتِيجَةُ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a:t>
            </a:r>
            <a:endParaRPr lang="en-US" sz="1350" dirty="0"/>
          </a:p>
          <a:p>
            <a:pPr indent="0" marL="0">
              <a:buNone/>
            </a:pPr>
            <a:r>
              <a:rPr lang="en-US" sz="1100" i="1" dirty="0">
                <a:solidFill>
                  <a:srgbClr val="5A6472"/>
                </a:solidFill>
                <a:latin typeface="Calibri" pitchFamily="34" charset="0"/>
                <a:cs typeface="Amiri" pitchFamily="2" charset="-78"/>
              </a:rPr>
              <a:t>an-na-tī-ja-tu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a:t>
            </a:r>
            <a:endParaRPr lang="en-US" sz="1350" dirty="0"/>
          </a:p>
          <a:p>
            <a:pPr indent="0" marL="0">
              <a:buNone/>
            </a:pPr>
            <a:r>
              <a:rPr lang="en-US" sz="1100" i="1" dirty="0">
                <a:solidFill>
                  <a:srgbClr val="5A6472"/>
                </a:solidFill>
                <a:latin typeface="Calibri" pitchFamily="34" charset="0"/>
                <a:cs typeface="Amiri" pitchFamily="2" charset="-78"/>
              </a:rPr>
              <a:t>al-mu-qā-ra-na-tu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التَّنَاقُضُ</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contradiction</a:t>
            </a:r>
            <a:endParaRPr lang="en-US" sz="1350" dirty="0"/>
          </a:p>
          <a:p>
            <a:pPr indent="0" marL="0">
              <a:buNone/>
            </a:pPr>
            <a:r>
              <a:rPr lang="en-US" sz="1100" i="1" dirty="0">
                <a:solidFill>
                  <a:srgbClr val="5A6472"/>
                </a:solidFill>
                <a:latin typeface="Calibri" pitchFamily="34" charset="0"/>
                <a:cs typeface="Amiri" pitchFamily="2" charset="-78"/>
              </a:rPr>
              <a:t>at-ta-nā-qu-ḍu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relationships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tone</a:t>
            </a:r>
            <a:endParaRPr lang="en-US" sz="1350" dirty="0"/>
          </a:p>
          <a:p>
            <a:pPr indent="0" marL="0">
              <a:buNone/>
            </a:pPr>
            <a:r>
              <a:rPr lang="en-US" sz="1100" i="1" dirty="0">
                <a:solidFill>
                  <a:srgbClr val="5A6472"/>
                </a:solidFill>
                <a:latin typeface="Calibri" pitchFamily="34" charset="0"/>
                <a:cs typeface="Amiri" pitchFamily="2" charset="-78"/>
              </a:rPr>
              <a:t>an-nab-ra-tu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مُحَايِدٌ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neutral</a:t>
            </a:r>
            <a:endParaRPr lang="en-US" sz="1350" dirty="0"/>
          </a:p>
          <a:p>
            <a:pPr indent="0" marL="0">
              <a:buNone/>
            </a:pPr>
            <a:r>
              <a:rPr lang="en-US" sz="1100" i="1" dirty="0">
                <a:solidFill>
                  <a:srgbClr val="5A6472"/>
                </a:solidFill>
                <a:latin typeface="Calibri" pitchFamily="34" charset="0"/>
                <a:cs typeface="Amiri" pitchFamily="2" charset="-78"/>
              </a:rPr>
              <a:t>mu-ḥā-yi-dun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مُتَفَائِلٌ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optimistic</a:t>
            </a:r>
            <a:endParaRPr lang="en-US" sz="1350" dirty="0"/>
          </a:p>
          <a:p>
            <a:pPr indent="0" marL="0">
              <a:buNone/>
            </a:pPr>
            <a:r>
              <a:rPr lang="en-US" sz="1100" i="1" dirty="0">
                <a:solidFill>
                  <a:srgbClr val="5A6472"/>
                </a:solidFill>
                <a:latin typeface="Calibri" pitchFamily="34" charset="0"/>
                <a:cs typeface="Amiri" pitchFamily="2" charset="-78"/>
              </a:rPr>
              <a:t>mu-ta-fā-ʾi-lun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مُتَشَائِمٌ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pessimistic</a:t>
            </a:r>
            <a:endParaRPr lang="en-US" sz="1350" dirty="0"/>
          </a:p>
          <a:p>
            <a:pPr indent="0" marL="0">
              <a:buNone/>
            </a:pPr>
            <a:r>
              <a:rPr lang="en-US" sz="1100" i="1" dirty="0">
                <a:solidFill>
                  <a:srgbClr val="5A6472"/>
                </a:solidFill>
                <a:latin typeface="Calibri" pitchFamily="34" charset="0"/>
                <a:cs typeface="Amiri" pitchFamily="2" charset="-78"/>
              </a:rPr>
              <a:t>mu-ta-shā-ʾi-mun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REPORTING AND STATISTICS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says it? What is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النَّقْلُ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Reading signal</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source: wafqan li-</a:t>
            </a:r>
            <a:endParaRPr lang="en-US" sz="1100" dirty="0"/>
          </a:p>
        </p:txBody>
      </p:sp>
      <p:sp>
        <p:nvSpPr>
          <p:cNvPr id="20" name="Text 17"/>
          <p:cNvSpPr txBox="1"/>
          <p:nvPr/>
        </p:nvSpPr>
        <p:spPr>
          <a:xfrm>
            <a:off x="548640" y="2286000"/>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وَفْقًا لِتَقْرِيرٍ</a:t>
            </a:r>
            <a:pPr rtl="1" algn="ctr" indent="0" marL="0">
              <a:buNone/>
            </a:pPr>
            <a:r>
              <a:rPr lang="ar-SA" altLang="en-US" sz="1950" b="1" dirty="0">
                <a:solidFill>
                  <a:srgbClr val="1B3B6F"/>
                </a:solidFill>
                <a:latin typeface="Amiri" pitchFamily="2" charset="-78"/>
                <a:ea typeface="Amiri" pitchFamily="2" charset="-78"/>
                <a:cs typeface="Amiri" pitchFamily="2" charset="-78"/>
              </a:rPr>
              <a:t> جَدِيدٍ، ارْتَفَعَ مُتَوَسِّطُ دَرَجَةِ الحَرَارَةِ.</a:t>
            </a:r>
            <a:endParaRPr lang="ar-SA" sz="1950" dirty="0"/>
          </a:p>
        </p:txBody>
      </p:sp>
      <p:sp>
        <p:nvSpPr>
          <p:cNvPr id="21" name="Text 18"/>
          <p:cNvSpPr txBox="1"/>
          <p:nvPr/>
        </p:nvSpPr>
        <p:spPr>
          <a:xfrm>
            <a:off x="502920" y="267699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According to a new report, the average temperature rose.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 report + anna</a:t>
            </a:r>
            <a:endParaRPr lang="en-US" sz="1100" dirty="0"/>
          </a:p>
        </p:txBody>
      </p:sp>
      <p:sp>
        <p:nvSpPr>
          <p:cNvPr id="26" name="Text 23"/>
          <p:cNvSpPr txBox="1"/>
          <p:nvPr/>
        </p:nvSpPr>
        <p:spPr>
          <a:xfrm>
            <a:off x="548640" y="302300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يُشَارُ إِلَى أَنَّ</a:t>
            </a:r>
            <a:pPr rtl="1" algn="ctr" indent="0" marL="0">
              <a:buNone/>
            </a:pPr>
            <a:r>
              <a:rPr lang="ar-SA" altLang="en-US" sz="1950" b="1" dirty="0">
                <a:solidFill>
                  <a:srgbClr val="1B3B6F"/>
                </a:solidFill>
                <a:latin typeface="Amiri" pitchFamily="2" charset="-78"/>
                <a:ea typeface="Amiri" pitchFamily="2" charset="-78"/>
                <a:cs typeface="Amiri" pitchFamily="2" charset="-78"/>
              </a:rPr>
              <a:t> فَتَرَاتِ الجَفَافِ أَصْبَحَتْ أَطْوَلَ.</a:t>
            </a:r>
            <a:endParaRPr lang="ar-SA" sz="1950" dirty="0"/>
          </a:p>
        </p:txBody>
      </p:sp>
      <p:sp>
        <p:nvSpPr>
          <p:cNvPr id="27" name="Text 24"/>
          <p:cNvSpPr txBox="1"/>
          <p:nvPr/>
        </p:nvSpPr>
        <p:spPr>
          <a:xfrm>
            <a:off x="502920" y="3414004"/>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indicated that droughts have become longer.</a:t>
            </a:r>
            <a:endParaRPr lang="en-US" sz="950" dirty="0"/>
          </a:p>
        </p:txBody>
      </p:sp>
      <p:sp>
        <p:nvSpPr>
          <p:cNvPr id="28" name="Shape 2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prediction: an + verb in -a</a:t>
            </a:r>
            <a:endParaRPr lang="en-US" sz="1100" dirty="0"/>
          </a:p>
        </p:txBody>
      </p:sp>
      <p:sp>
        <p:nvSpPr>
          <p:cNvPr id="32" name="Text 29"/>
          <p:cNvSpPr txBox="1"/>
          <p:nvPr/>
        </p:nvSpPr>
        <p:spPr>
          <a:xfrm>
            <a:off x="548640" y="3760013"/>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يُتَوَقَّعُ أَنْ</a:t>
            </a:r>
            <a:pPr rtl="1" algn="ctr" indent="0" marL="0">
              <a:buNone/>
            </a:pPr>
            <a:r>
              <a:rPr lang="ar-SA" altLang="en-US" sz="1950" b="1" dirty="0">
                <a:solidFill>
                  <a:srgbClr val="1B3B6F"/>
                </a:solidFill>
                <a:latin typeface="Amiri" pitchFamily="2" charset="-78"/>
                <a:ea typeface="Amiri" pitchFamily="2" charset="-78"/>
                <a:cs typeface="Amiri" pitchFamily="2" charset="-78"/>
              </a:rPr>
              <a:t> يَزْدَادَ الطَّلَبُ عَلَى المِيَاهِ.</a:t>
            </a:r>
            <a:endParaRPr lang="ar-SA" sz="1950" dirty="0"/>
          </a:p>
        </p:txBody>
      </p:sp>
      <p:sp>
        <p:nvSpPr>
          <p:cNvPr id="33" name="Text 30"/>
          <p:cNvSpPr txBox="1"/>
          <p:nvPr/>
        </p:nvSpPr>
        <p:spPr>
          <a:xfrm>
            <a:off x="502920" y="4151010"/>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Demand for water is expected to rise.</a:t>
            </a:r>
            <a:endParaRPr lang="en-US" sz="95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 yablughu</a:t>
            </a:r>
            <a:endParaRPr lang="en-US" sz="1100" dirty="0"/>
          </a:p>
        </p:txBody>
      </p:sp>
      <p:sp>
        <p:nvSpPr>
          <p:cNvPr id="36" name="Text 33"/>
          <p:cNvSpPr txBox="1"/>
          <p:nvPr/>
        </p:nvSpPr>
        <p:spPr>
          <a:xfrm>
            <a:off x="548640" y="4497019"/>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يَبْلُغُ</a:t>
            </a:r>
            <a:pPr rtl="1" algn="ctr" indent="0" marL="0">
              <a:buNone/>
            </a:pPr>
            <a:r>
              <a:rPr lang="ar-SA" altLang="en-US" sz="1950" b="1" dirty="0">
                <a:solidFill>
                  <a:srgbClr val="1B3B6F"/>
                </a:solidFill>
                <a:latin typeface="Amiri" pitchFamily="2" charset="-78"/>
                <a:ea typeface="Amiri" pitchFamily="2" charset="-78"/>
                <a:cs typeface="Amiri" pitchFamily="2" charset="-78"/>
              </a:rPr>
              <a:t> الحَدُّ الأَقْصَى ٤٠ دَرَجَةً.</a:t>
            </a:r>
            <a:endParaRPr lang="ar-SA" sz="1950" dirty="0"/>
          </a:p>
        </p:txBody>
      </p:sp>
      <p:sp>
        <p:nvSpPr>
          <p:cNvPr id="37" name="Text 34"/>
          <p:cNvSpPr txBox="1"/>
          <p:nvPr/>
        </p:nvSpPr>
        <p:spPr>
          <a:xfrm>
            <a:off x="502920" y="488801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maximum reaches 40 degrees.</a:t>
            </a:r>
            <a:endParaRPr lang="en-US" sz="9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share: yumaththilu</a:t>
            </a:r>
            <a:endParaRPr lang="en-US" sz="1100" dirty="0"/>
          </a:p>
        </p:txBody>
      </p:sp>
      <p:sp>
        <p:nvSpPr>
          <p:cNvPr id="40" name="Text 37"/>
          <p:cNvSpPr txBox="1"/>
          <p:nvPr/>
        </p:nvSpPr>
        <p:spPr>
          <a:xfrm>
            <a:off x="548640" y="523402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تُمَثِّلُ</a:t>
            </a:r>
            <a:pPr rtl="1" algn="ctr" indent="0" marL="0">
              <a:buNone/>
            </a:pPr>
            <a:r>
              <a:rPr lang="ar-SA" altLang="en-US" sz="1950" b="1" dirty="0">
                <a:solidFill>
                  <a:srgbClr val="1B3B6F"/>
                </a:solidFill>
                <a:latin typeface="Amiri" pitchFamily="2" charset="-78"/>
                <a:ea typeface="Amiri" pitchFamily="2" charset="-78"/>
                <a:cs typeface="Amiri" pitchFamily="2" charset="-78"/>
              </a:rPr>
              <a:t> الطَّاقَةُ الشَّمْسِيَّةُ ٣٠٪ مِنَ الإِنْتَاجِ.</a:t>
            </a:r>
            <a:endParaRPr lang="ar-SA" sz="1950" dirty="0"/>
          </a:p>
        </p:txBody>
      </p:sp>
      <p:sp>
        <p:nvSpPr>
          <p:cNvPr id="41" name="Text 38"/>
          <p:cNvSpPr txBox="1"/>
          <p:nvPr/>
        </p:nvSpPr>
        <p:spPr>
          <a:xfrm>
            <a:off x="502920" y="5625023"/>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Solar energy represents 30% of production.</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always check WHAT the number measures (degrees? years? per cent?) before you choose.</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CLAIM, REFERENCE, TONE (WEBSITE RULE 4 + READING WORKSHOP)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Claim or evidence? Who is “he”? What tone?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الادِّعَاءُ · الضَّمِيرُ · النَّبْرَةُ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259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CLAIM vs EVIDENCE · DEVELOP</a:t>
            </a:r>
            <a:endParaRPr lang="en-US" sz="850" dirty="0"/>
          </a:p>
        </p:txBody>
      </p:sp>
      <p:sp>
        <p:nvSpPr>
          <p:cNvPr id="18" name="Text 15"/>
          <p:cNvSpPr txBox="1"/>
          <p:nvPr/>
        </p:nvSpPr>
        <p:spPr>
          <a:xfrm>
            <a:off x="10404348"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ادِّعَاءٌ · دَلِيلٌ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انْخَفَضَ الاسْتِهْلَاكُ بِنِسْبَةِ ١٨٪.</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Consumption fell by 18%.</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number = evidence.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هَا = الشَّبَكَةُ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لِأَنَّهَا تُقَلِّلُ الهَدْرَ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IT reduces waste → the grid (not the 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Meaning decides.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TONE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مُحَايِدٌ · حَذِرٌ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نَبْرَةُ النَّصِّ الأَوَّلِ مُحَايِدَةٌ لِأَنَّهُ يَعْرِضُ أَرْقَامًا.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first text’s tone is neutral because it presents figures.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Tone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after an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يُتَوَقَّعُ أَنْ يَزْدَادَ الطَّلَبُ.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يُتَوَقَّعُ أَنْ يَزْدَادُ الطَّلَبُ.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Grammar for reading evidence and reporting</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قِرَاءَةِ الأَدِلَّةِ وَالنَّقْلِ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Recognise impersonal reporting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يُشَارُ / يُعْتَقَدُ / يُذْكَرُ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يُشَارُ إِلَى أَنَّ دَرَجَاتِ الحَرَارَةِ تَرْتَفِعُ.   ·   يُعْتَقَدُ أَنَّ الطَّاقَةَ الشَّمْسِيَّةَ سَتَتَوَسَّعُ.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Prediction after </a:t>
            </a:r>
            <a:pPr algn="l" indent="0" marL="0">
              <a:buNone/>
            </a:pPr>
            <a:r>
              <a:rPr lang="ar-SA" altLang="en-US" sz="1650" b="1" dirty="0">
                <a:solidFill>
                  <a:srgbClr val="1B3B6F"/>
                </a:solidFill>
                <a:latin typeface="Amiri" pitchFamily="2" charset="-78"/>
                <a:ea typeface="Amiri" pitchFamily="2" charset="-78"/>
                <a:cs typeface="Amiri" pitchFamily="2" charset="-78"/>
              </a:rPr>
              <a:t>يُتَوَقَّعُ</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يُتَوَقَّعُ أَنْ يَزْدَادَ الطَّلَبُ عَلَى المِيَاهِ.</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Statistical language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يَبْلُغُ</a:t>
            </a:r>
            <a:pPr algn="l" indent="0" marL="0">
              <a:buNone/>
            </a:pPr>
            <a:r>
              <a:rPr lang="en-US" sz="1050" dirty="0">
                <a:solidFill>
                  <a:srgbClr val="5A6472"/>
                </a:solidFill>
                <a:latin typeface="Calibri" pitchFamily="34" charset="0"/>
                <a:cs typeface="Amiri" pitchFamily="2" charset="-78"/>
              </a:rPr>
              <a:t> + number / </a:t>
            </a:r>
            <a:pPr algn="l" indent="0" marL="0">
              <a:buNone/>
            </a:pPr>
            <a:r>
              <a:rPr lang="ar-SA" altLang="en-US" sz="1350" dirty="0">
                <a:solidFill>
                  <a:srgbClr val="5A6472"/>
                </a:solidFill>
                <a:latin typeface="Amiri" pitchFamily="2" charset="-78"/>
                <a:ea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percentage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يَبْلُغُ الحَدُّ الأَقْصَى أَرْبَعِينَ دَرَجَةً.   ·   تُمَثِّلُ الطَّاقَةُ الشَّمْسِيَّةُ ثَلَاثِينَ فِي المِئَةِ مِنَ الإِنْتَاجِ.</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pronoun + nearest logical antecedent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تَحْتَاجُ المَدِينَةُ إِلَى شَبَكَةٍ ذَكِيَّةٍ لِأَنَّهَا تُقَلِّلُ الهَدْرَ.   ·   يَعُودُ الضَّمِيرُ «هَا» عَلَى الشَّبَكَةِ، لَا عَلَى المَدِينَةِ.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impersonal reporting?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الطَّالِبُ بِإِصْبَعِهِ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a maximum temperature?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الحَدُّ الأَقْصَى ٤٠ دَرَجَةً.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 الحَدُّ الأَقْصَى المَطَرَ.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الحَدُّ الأَقْصَى إِلَى ٤٠.</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المَدِينَةُ إِلَى شَبَكَةٍ ذَكِيَّةٍ لِأَنَّهَا تُقَلِّلُ الهَدْرَ</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ea typeface="Amiri" pitchFamily="2" charset="-78"/>
                <a:cs typeface="Amiri" pitchFamily="2" charset="-78"/>
              </a:rPr>
              <a:t>ها</a:t>
            </a:r>
            <a:pPr algn="l" indent="0" marL="0">
              <a:buNone/>
            </a:pPr>
            <a:r>
              <a:rPr lang="en-US" sz="1250" b="1" dirty="0">
                <a:solidFill>
                  <a:srgbClr val="1B3B6F"/>
                </a:solidFill>
                <a:latin typeface="Calibri" pitchFamily="34" charset="0"/>
                <a:cs typeface="Amiri" pitchFamily="2" charset="-78"/>
              </a:rPr>
              <a:t> most logically refer to?</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الشَّبَكَة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report”?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لِلتَّقْرِيرِ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التَّقْرِيرِ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 التَّقْرِيرِ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impersonal reporting?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الطَّالِبُ بِإِصْبَعِهِ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an impersonal reporting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a maximum temperature?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يَبْلُغُ الحَدُّ الأَقْصَى ٤٠ دَرَجَةً.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يُمَثِّلُ الحَدُّ الأَقْصَى المَطَرَ.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 الحَدُّ الأَقْصَى إِلَى ٤٠.</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introduces the reached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تَحْتَاجُ المَدِينَةُ إِلَى شَبَكَةٍ ذَكِيَّةٍ لِأَنَّهَا تُقَلِّلُ الهَدْرَ</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ea typeface="Amiri" pitchFamily="2" charset="-78"/>
                <a:cs typeface="Amiri" pitchFamily="2" charset="-78"/>
              </a:rPr>
              <a:t>ها</a:t>
            </a:r>
            <a:pPr algn="l" indent="0" marL="0">
              <a:buNone/>
            </a:pPr>
            <a:r>
              <a:rPr lang="en-US" sz="1250" b="1" dirty="0">
                <a:solidFill>
                  <a:srgbClr val="1B3B6F"/>
                </a:solidFill>
                <a:latin typeface="Calibri" pitchFamily="34" charset="0"/>
                <a:cs typeface="Amiri" pitchFamily="2" charset="-78"/>
              </a:rPr>
              <a:t> most logically refer to?</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الشَّبَكَة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smart grid is what reduces waste.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report”?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وَفْقًا لِلتَّقْرِيرِ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التَّقْرِيرِ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قُرْبَ التَّقْرِيرِ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وفقًا لـ</a:t>
            </a:r>
            <a:pPr algn="l" indent="0" marL="0">
              <a:buNone/>
            </a:pPr>
            <a:r>
              <a:rPr lang="en-US" sz="1050" i="1" dirty="0">
                <a:solidFill>
                  <a:srgbClr val="8A6D1E"/>
                </a:solidFill>
                <a:latin typeface="Calibri" pitchFamily="34" charset="0"/>
                <a:cs typeface="Amiri" pitchFamily="2" charset="-78"/>
              </a:rPr>
              <a:t> means according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read a report like an examiner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وَفْقًا لِبَيَانَاتِ</a:t>
            </a:r>
            <a:pPr rtl="1" algn="ctr" indent="0" marL="0">
              <a:buNone/>
            </a:pPr>
            <a:r>
              <a:rPr lang="ar-SA" altLang="en-US" sz="2400" b="1" dirty="0">
                <a:solidFill>
                  <a:srgbClr val="1B3B6F"/>
                </a:solidFill>
                <a:latin typeface="Amiri" pitchFamily="2" charset="-78"/>
                <a:ea typeface="Amiri" pitchFamily="2" charset="-78"/>
                <a:cs typeface="Amiri" pitchFamily="2" charset="-78"/>
              </a:rPr>
              <a:t> البَلَدِيَّةِ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says it? The council.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انْخَفَضَ الاسْتِهْلَاكُ </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بِنِسْبَةِ ١٨٪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number = evidence.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يُشَارُ إِلَى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النِّظَامَ يُطْفِئُ الإِضَاءَةَ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Impersonal report.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النَّبْرَةُ مُحَايِدَةٌ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Figures, no opinion.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SOURCE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النَّصُّ الأَوَّلُ تَقْرِيرٌ.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وَفْقًا لِبَيَانَاتِ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البَلَدِيَّةِ، انْخَفَضَ اسْتِهْلَاكُ الكَهْرَبَاءِ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بِنِسْبَةِ ١٨٪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وَهٰذَا دَلِيلٌ مُحَدَّدٌ.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النِّظَامَ يُطْفِئُ الإِضَاءَةَ فِي الغُرَفِ الفَارِغَةِ. نَبْرَةُ النَّصِّ مُحَايِدَةٌ لِأَنَّهُ يَعْرِضُ أَرْقَامًا.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first text is a report. According to council data, electricity use fell by 18%, and this is precise evidence. It is indicated that the system turns off lights in empty rooms. The tone is neutral because it presents figures.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يُشَارُ إِلَى أَنَّ دَرَجَاتِ الحَرَارَةِ تَرْتَفِعُ.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indicated that temperatures are rising.</a:t>
            </a:r>
            <a:endParaRPr lang="en-US" sz="1250" dirty="0"/>
          </a:p>
          <a:p>
            <a:pPr indent="0" marL="0">
              <a:buNone/>
            </a:pPr>
            <a:r>
              <a:rPr lang="en-US" sz="1050" i="1" dirty="0">
                <a:solidFill>
                  <a:srgbClr val="8A6D1E"/>
                </a:solidFill>
                <a:latin typeface="Calibri" pitchFamily="34" charset="0"/>
                <a:cs typeface="Amiri" pitchFamily="2" charset="-78"/>
              </a:rPr>
              <a:t>These passives foreground the information rather than the person reporting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يُتَوَقَّعُ أَنْ يَزْدَادَ الطَّلَبُ عَلَى المِيَاهِ.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Demand for water is expected to increase.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Because the structure uses أَنْ, a sound-ending present verb takes fatḥa.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يَبْلُغُ الحَدُّ الأَقْصَى أَرْبَعِينَ دَرَجَةً.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maximum reaches forty degrees.</a:t>
            </a:r>
            <a:endParaRPr lang="en-US" sz="1250" dirty="0"/>
          </a:p>
          <a:p>
            <a:pPr indent="0" marL="0">
              <a:buNone/>
            </a:pPr>
            <a:r>
              <a:rPr lang="en-US" sz="1050" i="1" dirty="0">
                <a:solidFill>
                  <a:srgbClr val="8A6D1E"/>
                </a:solidFill>
                <a:latin typeface="Calibri" pitchFamily="34" charset="0"/>
                <a:cs typeface="Amiri" pitchFamily="2" charset="-78"/>
              </a:rPr>
              <a:t>Identify exactly what the number measures; do not match numbers by sight alone.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 بِيئِيٌّ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مَقَالَةٌ تِقْنِيَّةٌ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يُعْتَقَدُ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يَعُودُ الضَّمِيرُ عَلَى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النَّتِيجَةُ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Text and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passive signals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relationships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Text and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نَصٌّ بِيئِيٌّ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مَقَالَةٌ تِقْنِيَّةٌ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passive signals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يُشَارُ إِلَى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يُعْتَقَدُ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يُتَوَقَّعُ أَنْ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relationships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يَعُودُ الضَّمِيرُ عَلَى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النَّتِيجَةُ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الطَّلَبُ أَنْ زَادَ.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ازْدَادَ الطَّلَبُ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يَزْدَادَ الطَّلَبُ.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expresses a proportion?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تَبْلُغُ الطَّاقَةُ الشَّمْسِيَّةُ مِنَ الإِنْتَاجِ.</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الطَّاقَةُ الشَّمْسِيَّةُ ٣٠٪ مِنَ الإِنْتَاجِ.</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الطَّاقَةُ ٣٠٪.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consequence?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best supports the claim “solar energy is expanding”?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يُفَضِّلُ الكَاتِبُ اللَّوْنَ الأَزْرَقَ.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الطَّاقَةُ الشَّمْسِيَّةُ جَمِيلَةٌ.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الآنَ ٣٠٪ مِنَ الإِنْتَاجِ بَعْدَ أَنْ كَانَتْ ١٠٪.</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يُتَوَقَّعُ الطَّلَبُ أَنْ زَادَ.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يُتَوَقَّعُ أَنِ ازْدَادَ الطَّلَبُ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يُتَوَقَّعُ أَنْ يَزْدَادَ الطَّلَبُ.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expresses a proportion?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تَبْلُغُ الطَّاقَةُ الشَّمْسِيَّةُ مِنَ الإِنْتَاجِ.</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تُمَثِّلُ الطَّاقَةُ الشَّمْسِيَّةُ ٣٠٪ مِنَ الإِنْتَاجِ.</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يُتَوَقَّعُ الطَّاقَةُ ٣٠٪.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تمثل</a:t>
            </a:r>
            <a:pPr algn="l" indent="0" marL="0">
              <a:buNone/>
            </a:pPr>
            <a:r>
              <a:rPr lang="en-US" sz="1050" i="1" dirty="0">
                <a:solidFill>
                  <a:srgbClr val="8A6D1E"/>
                </a:solidFill>
                <a:latin typeface="Calibri" pitchFamily="34" charset="0"/>
                <a:cs typeface="Amiri" pitchFamily="2" charset="-78"/>
              </a:rPr>
              <a:t> can introduce a share or percentage.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consequence?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نتيجة لذلك</a:t>
            </a:r>
            <a:pPr algn="l" indent="0" marL="0">
              <a:buNone/>
            </a:pPr>
            <a:r>
              <a:rPr lang="en-US" sz="1050" i="1" dirty="0">
                <a:solidFill>
                  <a:srgbClr val="8A6D1E"/>
                </a:solidFill>
                <a:latin typeface="Calibri" pitchFamily="34" charset="0"/>
                <a:cs typeface="Amiri" pitchFamily="2" charset="-78"/>
              </a:rPr>
              <a:t> signals a result.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best supports the claim “solar energy is expanding”?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يُفَضِّلُ الكَاتِبُ اللَّوْنَ الأَزْرَقَ.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الطَّاقَةُ الشَّمْسِيَّةُ جَمِيلَةٌ.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تُمَثِّلُ الآنَ ٣٠٪ مِنَ الإِنْتَاجِ بَعْدَ أَنْ كَانَتْ ١٠٪.</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percentage change directly supports expansion.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يُتَوَقَّعُ أَنْ يَزْدَادُ الطَّلَبُ.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تُمَثِّلُ ٣٠٪ الطَّاقَةُ الشَّمْسِيَّةُ مِنَ الإِنْتَاجِ.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the subject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وَفْقًا التَّقْرِيرُ، تَرْتَفِعُ الحَرَارَةُ.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wafqan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يُتَوَقَّعُ أَنْ يَزْدَادُ الطَّلَبُ.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يُتَوَقَّعُ أَنْ يَزْدَادَ الطَّلَبُ.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sound-ending verb is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تُمَثِّلُ ٣٠٪ الطَّاقَةُ الشَّمْسِيَّةُ مِنَ الإِنْتَاجِ.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تُمَثِّلُ الطَّاقَةُ الشَّمْسِيَّةُ ٣٠٪ مِنَ الإِنْتَاجِ.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subject before the percentage for a clear formal sentence.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وَفْقًا التَّقْرِيرُ، تَرْتَفِعُ الحَرَارَةُ.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وَفْقًا لِلتَّقْرِيرِ، تَرْتَفِعُ دَرَجَاتُ الحَرَارَةِ.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وفقًا</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for data and reporting language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average temperature?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one degree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ten degrees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did not change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months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 years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holidays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 streams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Drought periods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sector is affected?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Agriculture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water demand expected to rise?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reduce pressure?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in water reuse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waste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monitoring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Three numbers: 1 degree · 20 years · 15%.</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وَفْقًا لِتَقْرِيرٍ جَدِيدٍ، ارْتَفَعَ مُتَوَسِّطُ دَرَجَةِ الحَرَارَةِ فِي المَنْطِقَةِ دَرَجَةً وَاحِدَةً خِلَالَ عِشْرِينَ عَامًا.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a new report, the region’s average temperature rose by one degree over twenty years.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وَيُشَارُ إِلَى أَنَّ فَتَرَاتِ الجَفَافِ أَصْبَحَتْ أَطْوَلَ، مِمَّا يُؤَثِّرُ فِي الزِّرَاعَةِ.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indicated that droughts have become longer, which affects agriculture.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وَيُتَوَقَّعُ أَنْ يَزْدَادَ الطَّلَبُ عَلَى المِيَاهِ بِنِسْبَةِ خَمْسَ عَشْرَةَ فِي المِئَةِ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Demand for water is expected to rise by fifteen per cent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بِحُلُولِ عَامِ ٢٠٣٥.</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year 2035.</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لٰكِنَّ التَّقْرِيرَ يَذْكُرُ أَيْضًا أَنَّ الاسْتِثْمَارَ فِي إِعَادَةِ اسْتِخْدَامِ المِيَاهِ قَدْ يُقَلِّلُ الضَّغْطَ.</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report also mentions that investing in water reuse may reduce the pressure.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average temperature?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one degree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ten degrees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did not change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ارتفع ... درجة واحدة.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months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 years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خلال عشرين عامًا.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holidays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 streams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Drought periods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فترات الجفاف.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sector is affected?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Agriculture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يؤثر في الزراعة.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water demand expected to rise?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خمسة عشر في المئة.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reduce pressure?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Investment in water reuse</a:t>
            </a:r>
            <a:endParaRPr lang="en-US" sz="12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Greater waste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monitoring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إعادة استخدام المياه.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Three numbers: 1 degree · 20 years · 15%.</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Reading workshop: evidence across two texts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النَّصُّ الأَوَّلُ: وَفْقًا لِبَيَانَاتِ البَلَدِيَّةِ، انْخَفَضَ اسْتِهْلَاكُ الكَهْرَبَاءِ فِي المَبَانِي العَامَّةِ بِنِسْبَةِ ١٨٪ بَعْدَ تَرْكِيبِ أَنْظِمَةٍ ذَكِيَّةٍ. وَيُشَارُ إِلَى أَنَّ النِّظَامَ يُطْفِئُ الإِضَاءَةَ فِي الغُرَفِ الفَارِغَةِ.</a:t>
            </a:r>
            <a:endParaRPr lang="ar-SA" sz="2300" dirty="0"/>
          </a:p>
          <a:p>
            <a:pPr rtl="1" algn="r" indent="0" marL="0">
              <a:lnSpc>
                <a:spcPct val="120000"/>
              </a:lnSpc>
              <a:buNone/>
            </a:pPr>
            <a:endParaRPr lang="ar-SA" sz="2300" dirty="0"/>
          </a:p>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النَّصُّ الثَّانِي: يَرَى صَاحِبُ مُدَوَّنَةٍ تِقْنِيَّةٍ أَنَّ هٰذِهِ الأَنْظِمَةَ مُفِيدَةٌ، لٰكِنَّهُ يُحَذِّرُ مِنْ جَمْعِ بَيَانَاتِ المُسْتَخْدِمِينَ دُونَ مُوَافَقَتِهِمْ. وَيُؤَكِّدُ أَنَّ النَّجَاحَ يَعْتَمِدُ عَلَى الكَفَاءَةِ وَحِمَايَةِ الخُصُوصِيَّةِ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بَيَانَاتِ البَلَدِيَّةِ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council data</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انْخَفَضَ</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fell</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(a percentage)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تَرْكِيبِ</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installing</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يُطْفِئُ</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turns off</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الغُرَفِ الفَارِغَةِ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empty rooms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صَاحِبُ مُدَوَّنَةٍ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blogger</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يُحَذِّرُ مِنْ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warns against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مُوَافَقَتِهِمْ</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their consent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الكَفَاءَةِ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efficiency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first text’s data?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Municipal data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diary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electricity use fall?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system reduce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turns off lights in empty rooms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every window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increases heating 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blogger’s main reservation?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colour of the buildings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Collection of user data without consent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lack of football fields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لكنه</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صاحب المدونة</a:t>
            </a:r>
            <a:endParaRPr lang="ar-SA" sz="20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البلدية</a:t>
            </a:r>
            <a:endParaRPr lang="ar-SA" sz="20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النظام</a:t>
            </a:r>
            <a:endParaRPr lang="ar-SA" sz="20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conditions does the blogger link to success?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Higher consumption and more data collection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evidence and fewer controls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Efficiency and privacy protection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first text’s data?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club</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Municipal data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diary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بيانات البلدية.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electricity use fall?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بنسبة 18٪.</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system reduce use?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turns off lights in empty rooms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opens every window</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increases heating 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يطفيء الإضاءة في الغرف الفارغة.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blogger’s main reservation?</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colour of the buildings</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Collection of user data without consent</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lack of football fields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جمع بيانات المستخدمين دون موافقتهم.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ea typeface="Amiri" pitchFamily="2" charset="-78"/>
                <a:cs typeface="Amiri" pitchFamily="2" charset="-78"/>
              </a:rPr>
              <a:t>لكنه</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صاحب المدونة</a:t>
            </a:r>
            <a:endParaRPr lang="ar-SA" sz="17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البلدية</a:t>
            </a:r>
            <a:endParaRPr lang="ar-SA" sz="170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النظام</a:t>
            </a:r>
            <a:endParaRPr lang="ar-SA" sz="170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writer/blog owner is the antecedent.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conditions does the blogger link to success?</a:t>
            </a:r>
            <a:endParaRPr lang="en-US" sz="120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Higher consumption and more data collection</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Less evidence and fewer controls</a:t>
            </a:r>
            <a:endParaRPr lang="en-US" sz="11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Efficiency and privacy protection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الكفاءة وحماية الخصوصية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how evidence works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الادِّعَاءِ وَالدَّلِيلِ؟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نَتَتَبَّعُ الضَّمَائِرَ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نُقَارِنُ نَبْرَةَ نَصَّيْنِ؟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الادِّعَاءُ هُوَ ___ ، وَالدَّلِيلُ 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يَعُودُ الضَّمِيرُ فِي « ___ » عَلَى ___ لِأَنَّ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نَبْرَةُ النَّصِّ الأَوَّلِ ___ ، أَمَّا النَّصُّ الثَّانِي فَنَبْرَتُهُ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نَعْرِفُ أَنَّ ادِّعَاءً فِي نَصٍّ مَوْثُوقٌ؟</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we know a claim in a text is reliable?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نَبْحَثُ عَنْ مَصْدَرٍ وَاضِحٍ وَبَيَانَاتٍ مُحَدَّدَةٍ، وَنُمَيِّزُ بَيْنَ رَأْيِ الكَاتِبِ وَالدَّلِيلِ الَّذِي يُقَدِّمُهُ.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 look for a clear source and specific data, and we distinguish between the writer’s opinion and the evidence he gives.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Text 1: the source, the number, what it measures, and the tone.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Both texts: each main claim and one piece of evidence from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the message, evidence and tone of the two texts.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صَاحِبُ المُدَوَّنَةِ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blogger thinks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 يُحَذِّرُ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he warns against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دَلِيلٌ مُحَدَّدٌ عَلَى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specific evidence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وَفْقًا لِبَيَانَاتِ البَلَدِيَّةِ،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council data,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انْخَفَضَ الاسْتِهْلَاكُ بِنِسْبَةِ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Consumption fell by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النِّظَامَ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the system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النَّبْرَةُ مُحَايِدَةٌ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tone is neutral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وَفْقًا لِـ  ·  يُشَارُ إِلَى أَنَّ  ·  يُتَوَقَّعُ أَنْ  ·  بِنِسْبَةِ  ·  يَبْلُغُ  ·  يُمَثِّلُ  ·  ادِّعَاءٌ  ·  دَلِيلٌ  ·  يَعُودُ الضَّمِيرُ عَلَى  ·  مُحَايِدٌ  ·  حَذِرٌ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comparing the message, evidence and tone of two short environment or technology texts.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each text’s main claim.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Quote or paraphrase one precise datum from each.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Track one pronoun or passive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Reach a supported comparison.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يَعْرِضُ النَّصَّانِ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two texts present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دَلِيلٌ مُحَدَّدٌ عَلَى فَعَالِيَّةِ النِّظَامِ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specific evidence of the system’s effectiveness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يُحَذِّرُ مِنْ جَمْعِ البَيَانَاتِ دُونَ مُوَافَقَةٍ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warns against collecting data without consent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نَبْرَتُهُ أَكْثَرُ حَذَرًا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tone is more cautious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عَلَى …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depends on …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يَعْرِضُ النَّصَّانِ فَوَائِدَ الأَنْظِمَةِ الذَّكِيَّةِ وَمَخَاطِرَهَا. فَوَفْقًا لِبَيَانَاتِ البَلَدِيَّةِ، انْخَفَضَ اسْتِهْلَاكُ الكَهْرَبَاءِ بِنِسْبَةِ ١٨٪، وَهٰذَا دَلِيلٌ مُحَدَّدٌ عَلَى فَعَالِيَّةِ النِّظَامِ. وَمَعَ ذٰلِكَ، يُحَذِّرُ صَاحِبُ المُدَوَّنَةِ مِنْ جَمْعِ البَيَانَاتِ دُونَ مُوَافَقَةٍ. نَبْرَةُ النَّصِّ الأَوَّلِ مُحَايِدَةٌ لِأَنَّهُ يَعْرِضُ أَرْقَامًا، أَمَّا النَّصُّ الثَّانِي فَنَبْرَتُهُ أَكْثَرُ حَذَرًا. نَسْتَنْتِجُ أَنَّ التِّقْنِيَّةَ قَدْ تُقَلِّلُ الهَدْرَ، لٰكِنَّ نَجَاحَهَا يَعْتَمِدُ عَلَى حِمَايَةِ الخُصُوصِيَّةِ.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two texts present the benefits and risks of smart systems. According to council data, electricity use fell by 18%, which is specific evidence of the system’s effectiveness. However, the blogger warns against collecting data without consent. The first text’s tone is neutral because it presents figures, whereas the second text’s tone is more cautious. We conclude that the technology may reduce waste, but its success depends on protecting privacy.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each text’s main claim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precise datum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pronoun or passive tracked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tone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source of the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exactly what each number measures.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separated the claim from the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“he” / “-hā” to the right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the tone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يَزْدَادَ الطَّلَبُ.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يَزْدَادُ الطَّلَبُ.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الطَّلَبَ زَادَ.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التَّقْرِيرِ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لِلتَّقْرِيرِ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أَجْلِ التَّقْرِيرِ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reports a percentage share?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يُتَوَقَّعُ أَنْ يَزْدَادَ الطَّلَبُ.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يُتَوَقَّعُ أَنْ يَزْدَادُ الطَّلَبُ.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يَتَوَقَّعُ أَنْ الطَّلَبَ زَادَ.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t>
            </a:r>
            <a:pPr algn="l" indent="0" marL="0">
              <a:buNone/>
            </a:pPr>
            <a:r>
              <a:rPr lang="ar-SA" altLang="en-US" sz="1350" dirty="0">
                <a:solidFill>
                  <a:srgbClr val="8A6D1E"/>
                </a:solidFill>
                <a:latin typeface="Amiri" pitchFamily="2" charset="-78"/>
                <a:ea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تَحْتَ التَّقْرِيرِ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وَفْقًا لِلتَّقْرِيرِ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أَجْلِ التَّقْرِيرِ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According to the report.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reports a percentage share?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يُمَثِّلُ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يُعَلِّقُ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can report a proportion.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 Environment and Technology Texts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formal report rather than a personal 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أُشِيرُ بِإِصْبَعِي إِلَى الخَرِيطَةِ.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المِيَاهَ تَشِحُّ.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الطَّالِبُ فِي الدَّرْسِ.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an accurate prediction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تَنْخَفِضَ الانْبِعَاثَاتُ.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تَنْخَفِضَ الانْبِعَاثَاتُ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يُتَوَقَّعُ أَنْ تَنْخَفِضُ الانْبِعَاثَاتُ.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supports “the city is getting hotter”?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يَبْلُغُ عَدَدُ المَدَارِسِ عَشْرًا.</a:t>
            </a:r>
            <a:endParaRPr lang="ar-SA" sz="16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تُمَثِّلُ الحَدَائِقُ ٥٪ مِنَ المَدِينَةِ.</a:t>
            </a:r>
            <a:endParaRPr lang="ar-SA" sz="16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ارْتَفَعَ الحَدُّ الأَقْصَى مِنْ ٣٥ إِلَى ٤٠ دَرَجَةً.</a:t>
            </a:r>
            <a:endParaRPr lang="ar-SA" sz="16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the pronoun refer to in “</a:t>
            </a:r>
            <a:pPr algn="l" indent="0" marL="0">
              <a:buNone/>
            </a:pPr>
            <a:r>
              <a:rPr lang="ar-SA" altLang="en-US" sz="1250" b="1" dirty="0">
                <a:solidFill>
                  <a:srgbClr val="1B3B6F"/>
                </a:solidFill>
                <a:latin typeface="Amiri" pitchFamily="2" charset="-78"/>
                <a:ea typeface="Amiri" pitchFamily="2" charset="-78"/>
                <a:cs typeface="Amiri" pitchFamily="2" charset="-78"/>
              </a:rPr>
              <a:t>زَادَتِ المَدِينَةُ المَسَاحَاتِ الخَضْرَاءَ لِأَنَّهَا تُخَفِّضُ الحَرَارَةَ</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الحَرَارَةُ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المَسَاحَاتُ الخَضْرَاءُ</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لِلتَّقْرِيرِ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السَّاحِلِ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distinguishes claim from evidence?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الادِّعَاءُ وَالدَّلِيلُ هُمَا الكَلِمَةُ نَفْسُهَا.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الادِّعَاءُ: الجَفَافُ يَزْدَادُ؛ الدَّلِيلُ: انْخَفَضَ المَطَرُ ٢٠٪.</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الدَّلِيلُ: أَنَا أُحِبُّ المَطَرَ.</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formal report rather than a personal 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أُشِيرُ بِإِصْبَعِي إِلَى الخَرِيطَةِ.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 المِيَاهَ تَشِحُّ.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الطَّالِبُ فِي الدَّرْسِ.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impersonal reporting.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an accurate prediction form?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يُتَوَقَّعُ أَنْ تَنْخَفِضَ الانْبِعَاثَاتُ.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يُتَوَقَّعُ تَنْخَفِضَ الانْبِعَاثَاتُ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يُتَوَقَّعُ أَنْ تَنْخَفِضُ الانْبِعَاثَاتُ.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follows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supports “the city is getting hotter”?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يَبْلُغُ عَدَدُ المَدَارِسِ عَشْرًا.</a:t>
            </a:r>
            <a:endParaRPr lang="ar-SA" sz="16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تُمَثِّلُ الحَدَائِقُ ٥٪ مِنَ المَدِينَةِ.</a:t>
            </a:r>
            <a:endParaRPr lang="ar-SA" sz="16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ارْتَفَعَ الحَدُّ الأَقْصَى مِنْ ٣٥ إِلَى ٤٠ دَرَجَةً.</a:t>
            </a:r>
            <a:endParaRPr lang="ar-SA" sz="16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temperature change directly supports the claim.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the pronoun refer to in “</a:t>
            </a:r>
            <a:pPr algn="l" indent="0" marL="0">
              <a:buNone/>
            </a:pPr>
            <a:r>
              <a:rPr lang="ar-SA" altLang="en-US" sz="1250" b="1" dirty="0">
                <a:solidFill>
                  <a:srgbClr val="1B3B6F"/>
                </a:solidFill>
                <a:latin typeface="Amiri" pitchFamily="2" charset="-78"/>
                <a:ea typeface="Amiri" pitchFamily="2" charset="-78"/>
                <a:cs typeface="Amiri" pitchFamily="2" charset="-78"/>
              </a:rPr>
              <a:t>زَادَتِ المَدِينَةُ المَسَاحَاتِ الخَضْرَاءَ لِأَنَّهَا تُخَفِّضُ الحَرَارَةَ</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الحَرَارَةُ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المَسَاحَاتُ الخَضْرَاءُ</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Green spaces reduce heat.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وَفْقًا لِلتَّقْرِيرِ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السَّاحِلِ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وفقًا للتقرير</a:t>
            </a:r>
            <a:pPr algn="l" indent="0" marL="0">
              <a:buNone/>
            </a:pPr>
            <a:r>
              <a:rPr lang="en-US" sz="1050" i="1" dirty="0">
                <a:solidFill>
                  <a:srgbClr val="8A6D1E"/>
                </a:solidFill>
                <a:latin typeface="Calibri" pitchFamily="34" charset="0"/>
                <a:cs typeface="Amiri" pitchFamily="2" charset="-78"/>
              </a:rPr>
              <a:t> attributes the information.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distinguishes claim from evidence?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الادِّعَاءُ وَالدَّلِيلُ هُمَا الكَلِمَةُ نَفْسُهَا.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الادِّعَاءُ: الجَفَافُ يَزْدَادُ؛ الدَّلِيلُ: انْخَفَضَ المَطَرُ ٢٠٪.</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الدَّلِيلُ: أَنَا أُحِبُّ المَطَرَ.</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measured change is evidence for the claim.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D4-L09 · Writing — Environment and Technology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مُقَدِّمَةٌ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ar-SA" sz="1000" i="1" dirty="0">
                <a:solidFill>
                  <a:srgbClr val="5A6472"/>
                </a:solidFill>
                <a:latin typeface="Calibri" pitchFamily="34" charset="0"/>
                <a:ea typeface="Amiri" pitchFamily="2" charset="-78"/>
                <a:cs typeface="Amiri" pitchFamily="2" charset="-78"/>
              </a:rPr>
              <a:t>  pl. مُقَدِّمَاتٌ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argument</a:t>
            </a:r>
            <a:pPr indent="0" marL="0">
              <a:buNone/>
            </a:pPr>
            <a:r>
              <a:rPr lang="ar-SA" sz="1000" i="1" dirty="0">
                <a:solidFill>
                  <a:srgbClr val="5A6472"/>
                </a:solidFill>
                <a:latin typeface="Calibri" pitchFamily="34" charset="0"/>
                <a:ea typeface="Amiri" pitchFamily="2" charset="-78"/>
                <a:cs typeface="Amiri" pitchFamily="2" charset="-78"/>
              </a:rPr>
              <a:t>  pl. 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counterargument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ar-SA" sz="1000" i="1" dirty="0">
                <a:solidFill>
                  <a:srgbClr val="5A6472"/>
                </a:solidFill>
                <a:latin typeface="Calibri" pitchFamily="34" charset="0"/>
                <a:ea typeface="Amiri" pitchFamily="2" charset="-78"/>
                <a:cs typeface="Amiri" pitchFamily="2" charset="-78"/>
              </a:rPr>
              <a:t>  pl. خَوَاتِمُ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عَلَاوَةً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addition, moreover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a topic for an article: plastic, AI in school, or smart cities. Note one argument for and one against.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المَوْضُوعُ: … · حُجَّةٌ: … · حُجَّةٌ مُضَادَّةٌ: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reporting / evidence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Both texts’ claims and evidence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the two texts’ message, evidence and tone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D4-L09 · Writing — Environment and Technology Article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مَقَالٌ عَنِ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source → claim → evidence (exact numbers) → tone — and link every pronoun by meaning.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D4-L08 · Reading — Environment and Technology Texts</dc:title>
  <dc:subject>PptxGenJS Presentation</dc:subject>
  <dc:creator>Al Madina Online School · Arabic Department</dc:creator>
  <cp:lastModifiedBy>Al Madina Online School · Arabic Department</cp:lastModifiedBy>
  <cp:revision>1</cp:revision>
  <dcterms:created xsi:type="dcterms:W3CDTF">2026-10-11T06:40:54Z</dcterms:created>
  <dcterms:modified xsi:type="dcterms:W3CDTF">2026-10-11T06:40:54Z</dcterms:modified>
</cp:coreProperties>
</file>