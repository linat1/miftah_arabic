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D4-L10. The website lesson “Listening — Environment and Technology News”: vocabulary, grammar rules and quiz, patterns, common mistakes, sorter, listening, reading, speaking prompts and model, writing task and model, differentiation, final check and the lesson mission. Picture match: website visual game “Listening — Environment and Technology News”.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LISTENING-SKILLS lesson: the website bulletin has two voices (the presenter, then a correspondent). Do them as two cycles: predict → listen twice → read the script → answers.
• Core: label each question (month? number? per cent? problem?) and answer the first-detail questions. Develop: all questions + the FINAL detail after a change (بَدَلًا مِنْ). Stretch: the website writing task — a 120–140-word summary with an evaluation.
• Read each text yourself at natural news speed. Do NOT show the script until after the second listening.
• Same strategy family as D3-L10 (change of plan, “not … but …”); NEW today: news reporting verbs and change figures (from … to … / by …%).
• TEACHER-WRITTEN ITEMS: one quiz distractor replaced (it differed only in vowels), one missing sukūn added in the writing model, and English added to the model sentences and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D4-L09. Question 4 retrieves D4-L09 (connectors); question 5 retrieves D4-L08 (statistics).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In the news, the LAST detail usually wins: listen past the first answer you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خبر، اعلان، تفصیل are shared. CAREFUL: Urdu اخبار = a newspaper, Arabic أَخْبَارٌ = news (plural of خَبَرٌ). Urdu مقابلہ = a competition / contest; Arabic مُقَابَلَةٌ = an interview or a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News and listening signals (website vocabulary (1 of 2)). Hear → Say → See → Use. Transliteration is printed for Core students (cover it for Develop/Stretch).
News and listening signals: who is speaking (مُرَاسِلٌ · خَبِيرٌ · مُتَحَدِّثٌ) and what kind of text it is (نَشْرَةٌ · مُقَابَلَةٌ · تَصْرِيحٌ).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News and listening signals (website vocabulary (2 of 2)). Hear → Say → See → Use. Transliteration is printed for Core students (cover it for Develop/Stretch).
News and listening signals: who is speaking (مُرَاسِلٌ · خَبِيرٌ · مُتَحَدِّثٌ) and what kind of text it is (نَشْرَةٌ · مُقَابَلَةٌ · تَصْرِيحٌ).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Reporting and change language (website vocabulary (1 of 2)). Hear → Say → See → Use. Transliteration is printed for Core students (cover it for Develop/Stretch).
Reporting and change: these verbs tell you WHO says WHAT. The change phrases tell you the start, the end and the size of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Reporting and change language (website vocabulary (2 of 2)). Hear → Say → See → Use. Transliteration is printed for Core students (cover it for Develop/Stretch).
Reporting and change: these verbs tell you WHO says WHAT. The change phrases tell you the start, the end and the size of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strategy (website vocabulary (1 of 2)). Hear → Say → See → Use. Transliteration is printed for Core students (cover it for Develop/Stretch).
Listening strategy: gist first (المَعْنَى العَامُّ), then specific information (المَعْلُومَةُ المُحَدَّدَةُ) on the second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strategy (website vocabulary (2 of 2)). Hear → Say → See → Use. Transliteration is printed for Core students (cover it for Develop/Stretch).
Listening strategy: gist first (المَعْنَى العَامُّ), then specific information (المَعْلُومَةُ المُحَدَّدَةُ) on the second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“Reporting a speaker’s statement” (the noun after أَنَّ is accusative; listen for the reporting verb and the information that follows). Examples from the website rules, listening and reading transcript. A female subject: أَعْلَنَتْ · أَكَّدَتْ · أَشَارَتْ.
Website mistakes: أَعْلَنَ الوَزِيرُ أَنْ المَشْرُوعُ ✗ · حَذَّرَ الخَبِيرُ عَلَى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“Track changed details” (a later detail may replace an earlier plan; the final stated information is usually the answer), “Numbers with direction of change” (distinguish the starting value, final value and size of change: 20% → 35% is a rise OF 15 points) and “Speaker comparison” (match each idea to the person who explicitly states it; do not infer agreement from topic alone). Full website example 4 ends: وَكِلَاهُمَا يُؤَيِّدُ تَرْشِيدَ الاسْتِهْلَاكِ — both support reducing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“Study each structure in context, compare accurate and inaccurate forms, then apply it in meaningful Arabic.”
• Reporting a speaker’s statement: The noun after أَنَّ is accusative; listen for the reporting verb and the information that follows.
• Track changed details: A later detail may replace an earlier plan; the final stated information is usually the answer.
• Numbers with direction of change: Distinguish the starting value, final value and size of change.
• Speaker comparison: Match each idea to the person who explicitly states it; do not infer agreement from topic alone.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model the note-taking routine BEFORE the listening: predict the type of answer, listen for the reporting verb, catch the trap word (بَدَلًا مِنْ), write figures as start → end. Then the copy box shows what a full set of notes looks like (students copy the layout, not the content, before they listen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which column helps you most in a listening exam,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which column helps you most in a listening exam,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3. Develop/Stretch: all four — question 2 is the distractor month.
Listen 1: just listen. Listen 2: note answers. Then chat the letters.
Support: after the second listening, show the read-along slide (Arabic + English, line by line) for Core students.
SCRIPT (read aloud):
مُقَدِّمُ النَّشْرَةِ: أَعْلَنَتِ البَلَدِيَّةُ اليَوْمَ أَنَّ مَشْرُوعَ الحَافِلَاتِ الكَهْرَبَائِيَّةِ سَيَبْدَأُ فِي سِبْتَمْبَرَ، بَدَلًا مِنْ يُونْيُو كَمَا كَانَ مُقَرَّرًا. وَأَكَّدَتْ أَنَّ عَدَدَ الحَافِلَاتِ سَيَبْلُغُ خَمْسِينَ حَافِلَةً.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3. Develop/Stretch: all four — say what each figure measures.
Listen 1: just listen. Listen 2: note answers. Then chat the letters.
Support: after the second listening, show the read-along slide (Arabic + English, line by line) for Core students.
SCRIPT (read aloud):
المُرَاسِلَةُ: وَفْقًا لِلتَّقْرِيرِ، انْخَفَضَ اسْتِهْلَاكُ الوَقُودِ فِي المَدِينَةِ بِنِسْبَةِ ٨٪، بَيْنَمَا ارْتَفَعَ اسْتِخْدَامُ النَّقْلِ العَامِّ مِنْ ٢٥٪ إِلَى ٣٢٪. لٰكِنَّ خَبِيرًا حَذَّرَ مِنْ أَنَّ شَبَكَةَ الشَّحْنِ مَا زَالَتْ غَيْرَ كَافِيَةٍ.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Students explain HOW they listened today, using the two cycles as evidence. Core may answer with one Arabic key word +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summarising a news report and evaluating its main development.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يُعْلِنُ التَّقْرِيرُ أَنَّ … · سِبْتَمْبَرَ بَدَلًا مِنْ يُونْيُو · انْخَفَضَ … بِنِسْبَةِ ٨٪ · ارْتَفَعَ … مِنْ ٢٥٪ إِلَى ٣٢٪ · حَذَّرَ مِنْ أَنَّ · نَسْتَنْتِجُ أَنَّ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(D4-L11 · D4 Consolidation — Range Mastery and Speaking Preparation) will spend class time USING this language, so students prepare it tonight — short, simple, easy to access (school guidance: “Simple, Short, Interesting, Relevant, Easy to access”). The five words come from the website D4-L11 vocabulary (self-evaluation and self-correction in speaking).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Environment and Technology News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أَخْبَارُ البِيئَةِ وَالتِّقْنِيَّةِ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to a news bulletin like an examiner: who said it (</a:t>
            </a:r>
            <a:pPr algn="l" indent="0" marL="0">
              <a:buNone/>
            </a:pPr>
            <a:r>
              <a:rPr lang="ar-SA" altLang="en-US" sz="1800" dirty="0">
                <a:solidFill>
                  <a:srgbClr val="C6D2E6"/>
                </a:solidFill>
                <a:latin typeface="Amiri" pitchFamily="2" charset="-78"/>
                <a:ea typeface="Amiri" pitchFamily="2" charset="-78"/>
                <a:cs typeface="Amiri" pitchFamily="2" charset="-78"/>
              </a:rPr>
              <a:t>أَعْلَنَ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أَكَّدَ</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حَذَّرَ مِنْ</a:t>
            </a:r>
            <a:pPr algn="l" indent="0" marL="0">
              <a:buNone/>
            </a:pPr>
            <a:r>
              <a:rPr lang="en-US" sz="1400" dirty="0">
                <a:solidFill>
                  <a:srgbClr val="C6D2E6"/>
                </a:solidFill>
                <a:latin typeface="Calibri" pitchFamily="34" charset="0"/>
                <a:cs typeface="Amiri" pitchFamily="2" charset="-78"/>
              </a:rPr>
              <a:t>), the FINAL detail after a change (</a:t>
            </a:r>
            <a:pPr algn="l" indent="0" marL="0">
              <a:buNone/>
            </a:pPr>
            <a:r>
              <a:rPr lang="ar-SA" altLang="en-US" sz="1800" dirty="0">
                <a:solidFill>
                  <a:srgbClr val="C6D2E6"/>
                </a:solidFill>
                <a:latin typeface="Amiri" pitchFamily="2" charset="-78"/>
                <a:ea typeface="Amiri" pitchFamily="2" charset="-78"/>
                <a:cs typeface="Amiri" pitchFamily="2" charset="-78"/>
              </a:rPr>
              <a:t>بَدَلًا مِنْ</a:t>
            </a:r>
            <a:pPr algn="l" indent="0" marL="0">
              <a:buNone/>
            </a:pPr>
            <a:r>
              <a:rPr lang="en-US" sz="1400" dirty="0">
                <a:solidFill>
                  <a:srgbClr val="C6D2E6"/>
                </a:solidFill>
                <a:latin typeface="Calibri" pitchFamily="34" charset="0"/>
                <a:cs typeface="Amiri" pitchFamily="2" charset="-78"/>
              </a:rPr>
              <a:t>), and exact figures (</a:t>
            </a:r>
            <a:pPr algn="l" indent="0" marL="0">
              <a:buNone/>
            </a:pPr>
            <a:r>
              <a:rPr lang="ar-SA" altLang="en-US" sz="1800" dirty="0">
                <a:solidFill>
                  <a:srgbClr val="C6D2E6"/>
                </a:solidFill>
                <a:latin typeface="Amiri" pitchFamily="2" charset="-78"/>
                <a:ea typeface="Amiri" pitchFamily="2" charset="-78"/>
                <a:cs typeface="Amiri" pitchFamily="2" charset="-78"/>
              </a:rPr>
              <a:t>مِنْ … إِلَى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بِنِسْبَةِ</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D4-L10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Reporting verbs, corrected details, figures and speakers.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news words, fix reporting slips, then two listening cycles.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نَشْرَةٌ إِخْبَارِيَّةٌ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headline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news bulletin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interview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حَذَّرَ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warned against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announced that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added that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كِلَاهُمَا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 of them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of them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signals a counterpoint?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عَلَاوَةً عَلَى ذٰلِكَ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البِدَايَةِ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ذٰلِكَ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انْخَفَضَ الاسْتِهْلَاكُ بِنِسْبَةِ ١٨٪</a:t>
            </a:r>
            <a:pPr algn="l" indent="0" marL="0">
              <a:buNone/>
            </a:pPr>
            <a:r>
              <a:rPr lang="en-US" sz="1250" b="1" dirty="0">
                <a:solidFill>
                  <a:srgbClr val="1B3B6F"/>
                </a:solidFill>
                <a:latin typeface="Calibri" pitchFamily="34" charset="0"/>
                <a:cs typeface="Amiri" pitchFamily="2" charset="-78"/>
              </a:rPr>
              <a:t>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consumption fell by 18%</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consumption rose to 18%</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consumption is 18%</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نَشْرَةٌ إِخْبَارِيَّةٌ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headline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news bulletin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interview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حَذَّرَ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warned against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announced that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added that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كِلَاهُمَا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 of them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first one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 of them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signals a counterpoint?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عَلَاوَةً عَلَى ذٰلِكَ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البِدَايَةِ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ذٰلِكَ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D4-L09.</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انْخَفَضَ الاسْتِهْلَاكُ بِنِسْبَةِ ١٨٪</a:t>
            </a:r>
            <a:pPr algn="l" indent="0" marL="0">
              <a:buNone/>
            </a:pPr>
            <a:r>
              <a:rPr lang="en-US" sz="1250" b="1" dirty="0">
                <a:solidFill>
                  <a:srgbClr val="1B3B6F"/>
                </a:solidFill>
                <a:latin typeface="Calibri" pitchFamily="34" charset="0"/>
                <a:cs typeface="Amiri" pitchFamily="2" charset="-78"/>
              </a:rPr>
              <a:t>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consumption fell by 18%</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consumption rose to 18%</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consumption is 18%</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D4-L08: statistics.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In the news, the LAST detail usually wins: listen past the first answer you hear.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سَيَبْدَأُ فِي </a:t>
            </a:r>
            <a:pPr rtl="1" algn="ctr" indent="0" marL="0">
              <a:lnSpc>
                <a:spcPct val="120000"/>
              </a:lnSpc>
              <a:buNone/>
            </a:pPr>
            <a:r>
              <a:rPr lang="ar-SA" altLang="en-US" sz="2150" b="1" dirty="0">
                <a:solidFill>
                  <a:srgbClr val="D6336C"/>
                </a:solidFill>
                <a:latin typeface="Amiri" pitchFamily="2" charset="-78"/>
                <a:ea typeface="Amiri" pitchFamily="2" charset="-78"/>
                <a:cs typeface="Amiri" pitchFamily="2" charset="-78"/>
              </a:rPr>
              <a:t>سِبْتَمْبَرَ</a:t>
            </a:r>
            <a:pPr rtl="1" algn="ct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 </a:t>
            </a:r>
            <a:pPr rtl="1" algn="ctr" indent="0" marL="0">
              <a:lnSpc>
                <a:spcPct val="120000"/>
              </a:lnSpc>
              <a:buNone/>
            </a:pPr>
            <a:r>
              <a:rPr lang="ar-SA" altLang="en-US" sz="2150" b="1" dirty="0">
                <a:solidFill>
                  <a:srgbClr val="1D5FBF"/>
                </a:solidFill>
                <a:latin typeface="Amiri" pitchFamily="2" charset="-78"/>
                <a:ea typeface="Amiri" pitchFamily="2" charset="-78"/>
                <a:cs typeface="Amiri" pitchFamily="2" charset="-78"/>
              </a:rPr>
              <a:t>بَدَلًا مِنْ</a:t>
            </a:r>
            <a:pPr rtl="1" algn="ct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 يُونْيُو</a:t>
            </a:r>
            <a:endParaRPr lang="ar-SA" sz="21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news reporting verbs (</a:t>
            </a:r>
            <a:pPr algn="l" indent="0" marL="0">
              <a:buNone/>
            </a:pPr>
            <a:r>
              <a:rPr lang="ar-SA" altLang="en-US" sz="1700" dirty="0">
                <a:solidFill>
                  <a:srgbClr val="1F2A37"/>
                </a:solidFill>
                <a:latin typeface="Amiri" pitchFamily="2" charset="-78"/>
                <a:ea typeface="Amiri" pitchFamily="2" charset="-78"/>
                <a:cs typeface="Amiri" pitchFamily="2" charset="-78"/>
              </a:rPr>
              <a:t>أَعْلَنَ أَنَّ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أَكَّدَ أَنَّ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حَذَّرَ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Catch the final detail after a change (</a:t>
            </a:r>
            <a:pPr algn="l" indent="0" marL="0">
              <a:buNone/>
            </a:pPr>
            <a:r>
              <a:rPr lang="ar-SA" altLang="en-US" sz="1700" dirty="0">
                <a:solidFill>
                  <a:srgbClr val="1F2A37"/>
                </a:solidFill>
                <a:latin typeface="Amiri" pitchFamily="2" charset="-78"/>
                <a:ea typeface="Amiri" pitchFamily="2" charset="-78"/>
                <a:cs typeface="Amiri" pitchFamily="2" charset="-78"/>
              </a:rPr>
              <a:t>بَدَلًا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Record figures exactly: start, end and size of change.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each idea to the speaker who says it.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catch a month, a number and a per cent.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recognise </a:t>
            </a:r>
            <a:pPr algn="l" indent="0" marL="0">
              <a:buNone/>
            </a:pPr>
            <a:r>
              <a:rPr lang="ar-SA" altLang="en-US" sz="1700" b="1" dirty="0">
                <a:solidFill>
                  <a:srgbClr val="2E8B57"/>
                </a:solidFill>
                <a:latin typeface="Amiri" pitchFamily="2" charset="-78"/>
                <a:ea typeface="Amiri" pitchFamily="2" charset="-78"/>
                <a:cs typeface="Amiri" pitchFamily="2" charset="-78"/>
              </a:rPr>
              <a:t>أَعْلَنَ</a:t>
            </a:r>
            <a:pPr algn="l" indent="0" marL="0">
              <a:buNone/>
            </a:pPr>
            <a:r>
              <a:rPr lang="en-US" sz="1300" b="1" dirty="0">
                <a:solidFill>
                  <a:srgbClr val="2E8B57"/>
                </a:solidFill>
                <a:latin typeface="Calibri" pitchFamily="34" charset="0"/>
                <a:cs typeface="Amiri" pitchFamily="2" charset="-78"/>
              </a:rPr>
              <a:t> and </a:t>
            </a:r>
            <a:pPr algn="l" indent="0" marL="0">
              <a:buNone/>
            </a:pPr>
            <a:r>
              <a:rPr lang="ar-SA" altLang="en-US" sz="1700" b="1" dirty="0">
                <a:solidFill>
                  <a:srgbClr val="2E8B57"/>
                </a:solidFill>
                <a:latin typeface="Amiri" pitchFamily="2" charset="-78"/>
                <a:ea typeface="Amiri" pitchFamily="2" charset="-78"/>
                <a:cs typeface="Amiri" pitchFamily="2" charset="-78"/>
              </a:rPr>
              <a:t>حَذَّرَ مِنْ</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catch the FINAL detail after a change.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record start and end values.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match ideas to speakers.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summarise and evaluate a news report.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News and listening signals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Reporting and change language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Listening strategy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خَبَرٌ / أَخْبَارٌ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‎خبر / اخبار‎ </a:t>
            </a:r>
            <a:pPr indent="0" marL="0">
              <a:buNone/>
            </a:pPr>
            <a:r>
              <a:rPr lang="ar-SA" sz="950" b="1" dirty="0">
                <a:solidFill>
                  <a:srgbClr val="2E8B57"/>
                </a:solidFill>
                <a:latin typeface="Calibri" pitchFamily="34" charset="0"/>
                <a:ea typeface="Amiri" pitchFamily="2" charset="-78"/>
                <a:cs typeface="Amiri" pitchFamily="2" charset="-78"/>
              </a:rPr>
              <a:t> khabar / akhbār · news (Urdu اخبار = newspaper)</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إِعْلَانٌ</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‎اعلان‎ </a:t>
            </a:r>
            <a:pPr indent="0" marL="0">
              <a:buNone/>
            </a:pPr>
            <a:r>
              <a:rPr lang="en-US" sz="950" b="1" dirty="0">
                <a:solidFill>
                  <a:srgbClr val="2E8B57"/>
                </a:solidFill>
                <a:latin typeface="Calibri" pitchFamily="34" charset="0"/>
                <a:cs typeface="Amiri" pitchFamily="2" charset="-78"/>
              </a:rPr>
              <a:t> eʿlān · announcement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تَصْرِيحٌ</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‎تصریح‎ </a:t>
            </a:r>
            <a:pPr indent="0" marL="0">
              <a:buNone/>
            </a:pPr>
            <a:r>
              <a:rPr lang="en-US" sz="950" b="1" dirty="0">
                <a:solidFill>
                  <a:srgbClr val="2E8B57"/>
                </a:solidFill>
                <a:latin typeface="Calibri" pitchFamily="34" charset="0"/>
                <a:cs typeface="Amiri" pitchFamily="2" charset="-78"/>
              </a:rPr>
              <a:t> taṣrīḥ · statement, clarification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تَفْصِيلٌ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tafṣīl · detail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مُقَابَلَةٌ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muqābla · Urdu: competition · Arabic: interview</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News and listening signals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نَشْرَةٌ إِخْبَارِيَّةٌ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news bulletin</a:t>
            </a:r>
            <a:endParaRPr lang="en-US" sz="1350" dirty="0"/>
          </a:p>
          <a:p>
            <a:pPr indent="0" marL="0">
              <a:buNone/>
            </a:pPr>
            <a:r>
              <a:rPr lang="en-US" sz="1100" i="1" dirty="0">
                <a:solidFill>
                  <a:srgbClr val="5A6472"/>
                </a:solidFill>
                <a:latin typeface="Calibri" pitchFamily="34" charset="0"/>
                <a:cs typeface="Amiri" pitchFamily="2" charset="-78"/>
              </a:rPr>
              <a:t>nash-ra-tun ikh-bā-riy-ya-tun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مُرَاسِلٌ / مُرَاسِلَةٌ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correspondent</a:t>
            </a:r>
            <a:endParaRPr lang="en-US" sz="1350" dirty="0"/>
          </a:p>
          <a:p>
            <a:pPr indent="0" marL="0">
              <a:buNone/>
            </a:pPr>
            <a:r>
              <a:rPr lang="en-US" sz="1100" i="1" dirty="0">
                <a:solidFill>
                  <a:srgbClr val="5A6472"/>
                </a:solidFill>
                <a:latin typeface="Calibri" pitchFamily="34" charset="0"/>
                <a:cs typeface="Amiri" pitchFamily="2" charset="-78"/>
              </a:rPr>
              <a:t>mu-rā-si-lun / mu-rā-si-la-tun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خَبِيرٌ / خَبِيرَةٌ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expert</a:t>
            </a:r>
            <a:endParaRPr lang="en-US" sz="1350" dirty="0"/>
          </a:p>
          <a:p>
            <a:pPr indent="0" marL="0">
              <a:buNone/>
            </a:pPr>
            <a:r>
              <a:rPr lang="en-US" sz="1100" i="1" dirty="0">
                <a:solidFill>
                  <a:srgbClr val="5A6472"/>
                </a:solidFill>
                <a:latin typeface="Calibri" pitchFamily="34" charset="0"/>
                <a:cs typeface="Amiri" pitchFamily="2" charset="-78"/>
              </a:rPr>
              <a:t>kha-bī-run / kha-bī-ra-tun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تَصْرِيحٌ</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statement</a:t>
            </a:r>
            <a:endParaRPr lang="en-US" sz="1350" dirty="0"/>
          </a:p>
          <a:p>
            <a:pPr indent="0" marL="0">
              <a:buNone/>
            </a:pPr>
            <a:r>
              <a:rPr lang="en-US" sz="1100" i="1" dirty="0">
                <a:solidFill>
                  <a:srgbClr val="5A6472"/>
                </a:solidFill>
                <a:latin typeface="Calibri" pitchFamily="34" charset="0"/>
                <a:cs typeface="Amiri" pitchFamily="2" charset="-78"/>
              </a:rPr>
              <a:t>taṣ-rī-ḥun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News and listening signals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عُنْوَانٌ رَئِيسِيٌّ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headline</a:t>
            </a:r>
            <a:endParaRPr lang="en-US" sz="1350" dirty="0"/>
          </a:p>
          <a:p>
            <a:pPr indent="0" marL="0">
              <a:buNone/>
            </a:pPr>
            <a:r>
              <a:rPr lang="en-US" sz="1100" i="1" dirty="0">
                <a:solidFill>
                  <a:srgbClr val="5A6472"/>
                </a:solidFill>
                <a:latin typeface="Calibri" pitchFamily="34" charset="0"/>
                <a:cs typeface="Amiri" pitchFamily="2" charset="-78"/>
              </a:rPr>
              <a:t>ʿun-wā-nun ra-ʾī-siy-yun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تَفْصِيلٌ</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detail</a:t>
            </a:r>
            <a:endParaRPr lang="en-US" sz="1350" dirty="0"/>
          </a:p>
          <a:p>
            <a:pPr indent="0" marL="0">
              <a:buNone/>
            </a:pPr>
            <a:r>
              <a:rPr lang="en-US" sz="1100" i="1" dirty="0">
                <a:solidFill>
                  <a:srgbClr val="5A6472"/>
                </a:solidFill>
                <a:latin typeface="Calibri" pitchFamily="34" charset="0"/>
                <a:cs typeface="Amiri" pitchFamily="2" charset="-78"/>
              </a:rPr>
              <a:t>taf-ṣī-lun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تَغَيُّرٌ</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change</a:t>
            </a:r>
            <a:endParaRPr lang="en-US" sz="1350" dirty="0"/>
          </a:p>
          <a:p>
            <a:pPr indent="0" marL="0">
              <a:buNone/>
            </a:pPr>
            <a:r>
              <a:rPr lang="en-US" sz="1100" i="1" dirty="0">
                <a:solidFill>
                  <a:srgbClr val="5A6472"/>
                </a:solidFill>
                <a:latin typeface="Calibri" pitchFamily="34" charset="0"/>
                <a:cs typeface="Amiri" pitchFamily="2" charset="-78"/>
              </a:rPr>
              <a:t>ta-ghay-yu-run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مَوْقِفٌ</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position / stance</a:t>
            </a:r>
            <a:endParaRPr lang="en-US" sz="1350" dirty="0"/>
          </a:p>
          <a:p>
            <a:pPr indent="0" marL="0">
              <a:buNone/>
            </a:pPr>
            <a:r>
              <a:rPr lang="en-US" sz="1100" i="1" dirty="0">
                <a:solidFill>
                  <a:srgbClr val="5A6472"/>
                </a:solidFill>
                <a:latin typeface="Calibri" pitchFamily="34" charset="0"/>
                <a:cs typeface="Amiri" pitchFamily="2" charset="-78"/>
              </a:rPr>
              <a:t>maw-qi-fun</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مُتَحَدِّثٌ</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speaker</a:t>
            </a:r>
            <a:endParaRPr lang="en-US" sz="1350" dirty="0"/>
          </a:p>
          <a:p>
            <a:pPr indent="0" marL="0">
              <a:buNone/>
            </a:pPr>
            <a:r>
              <a:rPr lang="en-US" sz="1100" i="1" dirty="0">
                <a:solidFill>
                  <a:srgbClr val="5A6472"/>
                </a:solidFill>
                <a:latin typeface="Calibri" pitchFamily="34" charset="0"/>
                <a:cs typeface="Amiri" pitchFamily="2" charset="-78"/>
              </a:rPr>
              <a:t>mu-ta-ḥad-di-thun</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Reporting and change language (1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أَعْلَنَ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announced that</a:t>
            </a:r>
            <a:endParaRPr lang="en-US" sz="1350" dirty="0"/>
          </a:p>
          <a:p>
            <a:pPr indent="0" marL="0">
              <a:buNone/>
            </a:pPr>
            <a:r>
              <a:rPr lang="en-US" sz="1100" i="1" dirty="0">
                <a:solidFill>
                  <a:srgbClr val="5A6472"/>
                </a:solidFill>
                <a:latin typeface="Calibri" pitchFamily="34" charset="0"/>
                <a:cs typeface="Amiri" pitchFamily="2" charset="-78"/>
              </a:rPr>
              <a:t>aʿ-la-na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أَكَّدَ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confirmed that</a:t>
            </a:r>
            <a:endParaRPr lang="en-US" sz="1350" dirty="0"/>
          </a:p>
          <a:p>
            <a:pPr indent="0" marL="0">
              <a:buNone/>
            </a:pPr>
            <a:r>
              <a:rPr lang="en-US" sz="1100" i="1" dirty="0">
                <a:solidFill>
                  <a:srgbClr val="5A6472"/>
                </a:solidFill>
                <a:latin typeface="Calibri" pitchFamily="34" charset="0"/>
                <a:cs typeface="Amiri" pitchFamily="2" charset="-78"/>
              </a:rPr>
              <a:t>ak-ka-da an-na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حَذَّرَ مِنْ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warned of / against</a:t>
            </a:r>
            <a:endParaRPr lang="en-US" sz="1350" dirty="0"/>
          </a:p>
          <a:p>
            <a:pPr indent="0" marL="0">
              <a:buNone/>
            </a:pPr>
            <a:r>
              <a:rPr lang="en-US" sz="1100" i="1" dirty="0">
                <a:solidFill>
                  <a:srgbClr val="5A6472"/>
                </a:solidFill>
                <a:latin typeface="Calibri" pitchFamily="34" charset="0"/>
                <a:cs typeface="Amiri" pitchFamily="2" charset="-78"/>
              </a:rPr>
              <a:t>ḥadh-dha-ra min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أَشَارَ إِلَى أَنَّ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pointed out that</a:t>
            </a:r>
            <a:endParaRPr lang="en-US" sz="1350" dirty="0"/>
          </a:p>
          <a:p>
            <a:pPr indent="0" marL="0">
              <a:buNone/>
            </a:pPr>
            <a:r>
              <a:rPr lang="en-US" sz="1100" i="1" dirty="0">
                <a:solidFill>
                  <a:srgbClr val="5A6472"/>
                </a:solidFill>
                <a:latin typeface="Calibri" pitchFamily="34" charset="0"/>
                <a:cs typeface="Amiri" pitchFamily="2" charset="-78"/>
              </a:rPr>
              <a:t>a-shā-ra i-lā an-na</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أَضَافَ أَنَّ</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added that</a:t>
            </a:r>
            <a:endParaRPr lang="en-US" sz="1350" dirty="0"/>
          </a:p>
          <a:p>
            <a:pPr indent="0" marL="0">
              <a:buNone/>
            </a:pPr>
            <a:r>
              <a:rPr lang="en-US" sz="1100" i="1" dirty="0">
                <a:solidFill>
                  <a:srgbClr val="5A6472"/>
                </a:solidFill>
                <a:latin typeface="Calibri" pitchFamily="34" charset="0"/>
                <a:cs typeface="Amiri" pitchFamily="2" charset="-78"/>
              </a:rPr>
              <a:t>a-ḍā-fa an-na</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Reporting and change language (2 of 2)</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ارْتَفَعَ مِنْ ... إِلَى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rose from ... to</a:t>
            </a:r>
            <a:endParaRPr lang="en-US" sz="1350" dirty="0"/>
          </a:p>
          <a:p>
            <a:pPr indent="0" marL="0">
              <a:buNone/>
            </a:pPr>
            <a:r>
              <a:rPr lang="en-US" sz="1100" i="1" dirty="0">
                <a:solidFill>
                  <a:srgbClr val="5A6472"/>
                </a:solidFill>
                <a:latin typeface="Calibri" pitchFamily="34" charset="0"/>
                <a:cs typeface="Amiri" pitchFamily="2" charset="-78"/>
              </a:rPr>
              <a:t>ar-ta-fa-ʿa min ... i-lā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انْخَفَضَ بِنِسْبَةِ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fell by ... percent</a:t>
            </a:r>
            <a:endParaRPr lang="en-US" sz="1350" dirty="0"/>
          </a:p>
          <a:p>
            <a:pPr indent="0" marL="0">
              <a:buNone/>
            </a:pPr>
            <a:r>
              <a:rPr lang="en-US" sz="1100" i="1" dirty="0">
                <a:solidFill>
                  <a:srgbClr val="5A6472"/>
                </a:solidFill>
                <a:latin typeface="Calibri" pitchFamily="34" charset="0"/>
                <a:cs typeface="Amiri" pitchFamily="2" charset="-78"/>
              </a:rPr>
              <a:t>an-kha-fa-ḍa bi-nis-ba-ti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بَقِيَ مُسْتَقِرًّا</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remained stable</a:t>
            </a:r>
            <a:endParaRPr lang="en-US" sz="1350" dirty="0"/>
          </a:p>
          <a:p>
            <a:pPr indent="0" marL="0">
              <a:buNone/>
            </a:pPr>
            <a:r>
              <a:rPr lang="en-US" sz="1100" i="1" dirty="0">
                <a:solidFill>
                  <a:srgbClr val="5A6472"/>
                </a:solidFill>
                <a:latin typeface="Calibri" pitchFamily="34" charset="0"/>
                <a:cs typeface="Amiri" pitchFamily="2" charset="-78"/>
              </a:rPr>
              <a:t>ba-qi-ya mus-ta-qir-ran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بَدَلًا مِنْ</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instead of</a:t>
            </a:r>
            <a:endParaRPr lang="en-US" sz="1350" dirty="0"/>
          </a:p>
          <a:p>
            <a:pPr indent="0" marL="0">
              <a:buNone/>
            </a:pPr>
            <a:r>
              <a:rPr lang="en-US" sz="1100" i="1" dirty="0">
                <a:solidFill>
                  <a:srgbClr val="5A6472"/>
                </a:solidFill>
                <a:latin typeface="Calibri" pitchFamily="34" charset="0"/>
                <a:cs typeface="Amiri" pitchFamily="2" charset="-78"/>
              </a:rPr>
              <a:t>ba-da-lan min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مُقَارَنَةً بِـ</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compared with</a:t>
            </a:r>
            <a:endParaRPr lang="en-US" sz="1350" dirty="0"/>
          </a:p>
          <a:p>
            <a:pPr indent="0" marL="0">
              <a:buNone/>
            </a:pPr>
            <a:r>
              <a:rPr lang="en-US" sz="1100" i="1" dirty="0">
                <a:solidFill>
                  <a:srgbClr val="5A6472"/>
                </a:solidFill>
                <a:latin typeface="Calibri" pitchFamily="34" charset="0"/>
                <a:cs typeface="Amiri" pitchFamily="2" charset="-78"/>
              </a:rPr>
              <a:t>mu-qā-ra-na-tan bi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المَعْنَى العَامُّ</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gist</a:t>
            </a:r>
            <a:endParaRPr lang="en-US" sz="1350" dirty="0"/>
          </a:p>
          <a:p>
            <a:pPr indent="0" marL="0">
              <a:buNone/>
            </a:pPr>
            <a:r>
              <a:rPr lang="en-US" sz="1100" i="1" dirty="0">
                <a:solidFill>
                  <a:srgbClr val="5A6472"/>
                </a:solidFill>
                <a:latin typeface="Calibri" pitchFamily="34" charset="0"/>
                <a:cs typeface="Amiri" pitchFamily="2" charset="-78"/>
              </a:rPr>
              <a:t>al-maʿ-nā al-ʿām-mu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المَعْلُومَةُ المُحَدَّدَةُ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specific information</a:t>
            </a:r>
            <a:endParaRPr lang="en-US" sz="1350" dirty="0"/>
          </a:p>
          <a:p>
            <a:pPr indent="0" marL="0">
              <a:buNone/>
            </a:pPr>
            <a:r>
              <a:rPr lang="en-US" sz="1100" i="1" dirty="0">
                <a:solidFill>
                  <a:srgbClr val="5A6472"/>
                </a:solidFill>
                <a:latin typeface="Calibri" pitchFamily="34" charset="0"/>
                <a:cs typeface="Amiri" pitchFamily="2" charset="-78"/>
              </a:rPr>
              <a:t>al-maʿ-lū-ma-tu al-mu-ḥad-da-da-tu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 مِفْتَاحِيَّةٌ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key word</a:t>
            </a:r>
            <a:endParaRPr lang="en-US" sz="1350" dirty="0"/>
          </a:p>
          <a:p>
            <a:pPr indent="0" marL="0">
              <a:buNone/>
            </a:pPr>
            <a:r>
              <a:rPr lang="en-US" sz="1100" i="1" dirty="0">
                <a:solidFill>
                  <a:srgbClr val="5A6472"/>
                </a:solidFill>
                <a:latin typeface="Calibri" pitchFamily="34" charset="0"/>
                <a:cs typeface="Amiri" pitchFamily="2" charset="-78"/>
              </a:rPr>
              <a:t>ka-li-ma-tun mif-tā-ḥiy-ya-tun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تَصْحِيحُ المَعْلُومَةِ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correction of information</a:t>
            </a:r>
            <a:endParaRPr lang="en-US" sz="1350" dirty="0"/>
          </a:p>
          <a:p>
            <a:pPr indent="0" marL="0">
              <a:buNone/>
            </a:pPr>
            <a:r>
              <a:rPr lang="en-US" sz="1100" i="1" dirty="0">
                <a:solidFill>
                  <a:srgbClr val="5A6472"/>
                </a:solidFill>
                <a:latin typeface="Calibri" pitchFamily="34" charset="0"/>
                <a:cs typeface="Amiri" pitchFamily="2" charset="-78"/>
              </a:rPr>
              <a:t>taṣ-ḥī-ḥu al-maʿ-lū-ma-ti</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المُتَحَدِّثُ الأَوَّلُ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speaker</a:t>
            </a:r>
            <a:endParaRPr lang="en-US" sz="1350" dirty="0"/>
          </a:p>
          <a:p>
            <a:pPr indent="0" marL="0">
              <a:buNone/>
            </a:pPr>
            <a:r>
              <a:rPr lang="en-US" sz="1100" i="1" dirty="0">
                <a:solidFill>
                  <a:srgbClr val="5A6472"/>
                </a:solidFill>
                <a:latin typeface="Calibri" pitchFamily="34" charset="0"/>
                <a:cs typeface="Amiri" pitchFamily="2" charset="-78"/>
              </a:rPr>
              <a:t>al-mu-ta-ḥad-di-thu al-aw-wa-lu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المُتَحَدِّثُ الثَّانِي</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second speaker</a:t>
            </a:r>
            <a:endParaRPr lang="en-US" sz="1350" dirty="0"/>
          </a:p>
          <a:p>
            <a:pPr indent="0" marL="0">
              <a:buNone/>
            </a:pPr>
            <a:r>
              <a:rPr lang="en-US" sz="1100" i="1" dirty="0">
                <a:solidFill>
                  <a:srgbClr val="5A6472"/>
                </a:solidFill>
                <a:latin typeface="Calibri" pitchFamily="34" charset="0"/>
                <a:cs typeface="Amiri" pitchFamily="2" charset="-78"/>
              </a:rPr>
              <a:t>al-mu-ta-ḥad-di-thu ath-thā-nī</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كِلَاهُمَا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both</a:t>
            </a:r>
            <a:endParaRPr lang="en-US" sz="1350" dirty="0"/>
          </a:p>
          <a:p>
            <a:pPr indent="0" marL="0">
              <a:buNone/>
            </a:pPr>
            <a:r>
              <a:rPr lang="en-US" sz="1100" i="1" dirty="0">
                <a:solidFill>
                  <a:srgbClr val="5A6472"/>
                </a:solidFill>
                <a:latin typeface="Calibri" pitchFamily="34" charset="0"/>
                <a:cs typeface="Amiri" pitchFamily="2" charset="-78"/>
              </a:rPr>
              <a:t>ki-lā-hu-mā</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REPORTING VERBS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said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قَالَ مَاذَا؟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290779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Reporting verb</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announced that</a:t>
            </a:r>
            <a:endParaRPr lang="en-US" sz="1100" dirty="0"/>
          </a:p>
        </p:txBody>
      </p:sp>
      <p:sp>
        <p:nvSpPr>
          <p:cNvPr id="21" name="Text 18"/>
          <p:cNvSpPr txBox="1"/>
          <p:nvPr/>
        </p:nvSpPr>
        <p:spPr>
          <a:xfrm>
            <a:off x="2926080" y="2286000"/>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أَعْلَنَ الوَزِيرُ أَنَّ المَشْرُوعَ سَيَبْدَأُ فِي سِبْتَمْبَرَ.</a:t>
            </a:r>
            <a:endParaRPr lang="ar-SA" sz="1950" dirty="0"/>
          </a:p>
        </p:txBody>
      </p:sp>
      <p:sp>
        <p:nvSpPr>
          <p:cNvPr id="22" name="Text 19"/>
          <p:cNvSpPr txBox="1"/>
          <p:nvPr/>
        </p:nvSpPr>
        <p:spPr>
          <a:xfrm>
            <a:off x="2880360" y="2676997"/>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minister announced that the project will start in September.</a:t>
            </a:r>
            <a:endParaRPr lang="en-US" sz="950" dirty="0"/>
          </a:p>
        </p:txBody>
      </p:sp>
      <p:sp>
        <p:nvSpPr>
          <p:cNvPr id="23" name="Text 20"/>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أَعْلَنَ أَنَّ</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confirmed that</a:t>
            </a:r>
            <a:endParaRPr lang="en-US" sz="1100" dirty="0"/>
          </a:p>
        </p:txBody>
      </p:sp>
      <p:sp>
        <p:nvSpPr>
          <p:cNvPr id="28" name="Text 25"/>
          <p:cNvSpPr txBox="1"/>
          <p:nvPr/>
        </p:nvSpPr>
        <p:spPr>
          <a:xfrm>
            <a:off x="2926080" y="3023006"/>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أَكَّدَتِ البَلَدِيَّةُ أَنَّ العَدَدَ سَيَبْلُغُ خَمْسِينَ.</a:t>
            </a:r>
            <a:endParaRPr lang="ar-SA" sz="1950" dirty="0"/>
          </a:p>
        </p:txBody>
      </p:sp>
      <p:sp>
        <p:nvSpPr>
          <p:cNvPr id="29" name="Text 26"/>
          <p:cNvSpPr txBox="1"/>
          <p:nvPr/>
        </p:nvSpPr>
        <p:spPr>
          <a:xfrm>
            <a:off x="2880360" y="3414004"/>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council confirmed that the number will reach fifty.</a:t>
            </a:r>
            <a:endParaRPr lang="en-US" sz="950" dirty="0"/>
          </a:p>
        </p:txBody>
      </p:sp>
      <p:sp>
        <p:nvSpPr>
          <p:cNvPr id="30" name="Text 27"/>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أَكَّدَ أَنَّ</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warned of</a:t>
            </a:r>
            <a:endParaRPr lang="en-US" sz="1100" dirty="0"/>
          </a:p>
        </p:txBody>
      </p:sp>
      <p:sp>
        <p:nvSpPr>
          <p:cNvPr id="35" name="Text 32"/>
          <p:cNvSpPr txBox="1"/>
          <p:nvPr/>
        </p:nvSpPr>
        <p:spPr>
          <a:xfrm>
            <a:off x="2926080" y="3760013"/>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حَذَّرَ الخَبِيرُ مِنْ زِيَادَةِ شُحِّ المِيَاهِ.</a:t>
            </a:r>
            <a:endParaRPr lang="ar-SA" sz="1950" dirty="0"/>
          </a:p>
        </p:txBody>
      </p:sp>
      <p:sp>
        <p:nvSpPr>
          <p:cNvPr id="36" name="Text 33"/>
          <p:cNvSpPr txBox="1"/>
          <p:nvPr/>
        </p:nvSpPr>
        <p:spPr>
          <a:xfrm>
            <a:off x="2880360" y="4151010"/>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expert warned of increasing water scarcity.</a:t>
            </a:r>
            <a:endParaRPr lang="en-US" sz="950" dirty="0"/>
          </a:p>
        </p:txBody>
      </p:sp>
      <p:sp>
        <p:nvSpPr>
          <p:cNvPr id="37" name="Text 34"/>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حَذَّرَ مِنْ</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pointed out that</a:t>
            </a:r>
            <a:endParaRPr lang="en-US" sz="1100" dirty="0"/>
          </a:p>
        </p:txBody>
      </p:sp>
      <p:sp>
        <p:nvSpPr>
          <p:cNvPr id="42" name="Text 39"/>
          <p:cNvSpPr txBox="1"/>
          <p:nvPr/>
        </p:nvSpPr>
        <p:spPr>
          <a:xfrm>
            <a:off x="2926080" y="4497019"/>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أَشَارَتِ المُرَاسِلَةُ إِلَى أَنَّ الإِنْتَاجَ ارْتَفَعَ.</a:t>
            </a:r>
            <a:endParaRPr lang="ar-SA" sz="1950" dirty="0"/>
          </a:p>
        </p:txBody>
      </p:sp>
      <p:sp>
        <p:nvSpPr>
          <p:cNvPr id="43" name="Text 40"/>
          <p:cNvSpPr txBox="1"/>
          <p:nvPr/>
        </p:nvSpPr>
        <p:spPr>
          <a:xfrm>
            <a:off x="2880360" y="4888017"/>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correspondent pointed out that production rose.</a:t>
            </a:r>
            <a:endParaRPr lang="en-US" sz="950" dirty="0"/>
          </a:p>
        </p:txBody>
      </p:sp>
      <p:sp>
        <p:nvSpPr>
          <p:cNvPr id="44" name="Text 41"/>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أَشَارَ إِلَى أَنَّ</a:t>
            </a:r>
            <a:endParaRPr lang="ar-SA" sz="22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added that</a:t>
            </a:r>
            <a:endParaRPr lang="en-US" sz="1100" dirty="0"/>
          </a:p>
        </p:txBody>
      </p:sp>
      <p:sp>
        <p:nvSpPr>
          <p:cNvPr id="47" name="Text 44"/>
          <p:cNvSpPr txBox="1"/>
          <p:nvPr/>
        </p:nvSpPr>
        <p:spPr>
          <a:xfrm>
            <a:off x="2926080" y="5234026"/>
            <a:ext cx="62179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أَضَافَ خَبِيرٌ أَنَّ هٰذَا التَّقَدُّمَ مُهِمٌّ.</a:t>
            </a:r>
            <a:endParaRPr lang="ar-SA" sz="1950" dirty="0"/>
          </a:p>
        </p:txBody>
      </p:sp>
      <p:sp>
        <p:nvSpPr>
          <p:cNvPr id="48" name="Text 45"/>
          <p:cNvSpPr txBox="1"/>
          <p:nvPr/>
        </p:nvSpPr>
        <p:spPr>
          <a:xfrm>
            <a:off x="2880360" y="5625023"/>
            <a:ext cx="63093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 expert added that this progress is important.</a:t>
            </a:r>
            <a:endParaRPr lang="en-US" sz="950" dirty="0"/>
          </a:p>
        </p:txBody>
      </p:sp>
      <p:sp>
        <p:nvSpPr>
          <p:cNvPr id="49" name="Text 46"/>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أَضَافَ أَنَّ</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noun ends in -a (</a:t>
            </a:r>
            <a:pPr algn="l" indent="0" marL="0">
              <a:buNone/>
            </a:pPr>
            <a:r>
              <a:rPr lang="ar-SA" altLang="en-US" sz="1500" b="1" dirty="0">
                <a:solidFill>
                  <a:srgbClr val="1B3B6F"/>
                </a:solidFill>
                <a:latin typeface="Amiri" pitchFamily="2" charset="-78"/>
                <a:ea typeface="Amiri" pitchFamily="2" charset="-78"/>
                <a:cs typeface="Amiri" pitchFamily="2" charset="-78"/>
              </a:rPr>
              <a:t>المَشْرُوعَ</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حَذَّرَ</a:t>
            </a:r>
            <a:pPr algn="l" indent="0" marL="0">
              <a:buNone/>
            </a:pPr>
            <a:r>
              <a:rPr lang="en-US" sz="1150" b="1" dirty="0">
                <a:solidFill>
                  <a:srgbClr val="1B3B6F"/>
                </a:solidFill>
                <a:latin typeface="Calibri" pitchFamily="34" charset="0"/>
                <a:cs typeface="Amiri" pitchFamily="2" charset="-78"/>
              </a:rPr>
              <a:t> always takes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CORRECTIONS, FIGURES, SPEAKERS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The final detail, the exact figure, the right speaker</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 الأَرْقَامُ · المُتَحَدِّثُ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20574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2057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CORRECTED DETAIL · DEVELOP</a:t>
            </a:r>
            <a:endParaRPr lang="en-US" sz="850" dirty="0"/>
          </a:p>
        </p:txBody>
      </p:sp>
      <p:sp>
        <p:nvSpPr>
          <p:cNvPr id="18" name="Text 15"/>
          <p:cNvSpPr txBox="1"/>
          <p:nvPr/>
        </p:nvSpPr>
        <p:spPr>
          <a:xfrm>
            <a:off x="10335768" y="1874520"/>
            <a:ext cx="12588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بَدَلًا مِنْ · وَلٰكِنَّ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سَيَبْدَأُ فِي سِبْتَمْبَرَ، بَدَلًا مِنْ يُونْيُو.</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will start in September, instead of June.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Final = September.</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FIGURES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 … إِلَى · بِنِسْبَةِ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ارْتَفَعَ الإِنْتَاجُ مِنْ ٢٠٪ إِلَى ٣٥٪.</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Production rose from 20% to 35%.</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Start · end · change.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SPEAKERS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بَيْنَمَا · كِلَاهُمَا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تُؤَيِّدُ سَلْمَى الطَّاقَةَ الشَّمْسِيَّةَ، بَيْنَمَا يَرَى عُمَرُ أَنَّ التَّكْلِفَةَ مُرْتَفِعَةٌ.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Salma supports solar energy, whereas Omar thinks the cost is high.</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Who says it?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use min … ilā for start and end values.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مِنْ ٢٠٪ إِلَى ٣٥٪</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بِنِسْبَةِ ٢٠٪ إِلَى ٣٥٪</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Reporting, correction and numerical change in listening</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النَّقْلُ وَالتَّصْحِيحُ وَتَغَيُّرُ الأَرْقَامِ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Reporting a speaker’s statement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reporting verb +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dirty="0">
                <a:solidFill>
                  <a:srgbClr val="5A6472"/>
                </a:solidFill>
                <a:latin typeface="Calibri" pitchFamily="34" charset="0"/>
                <a:cs typeface="Amiri" pitchFamily="2" charset="-78"/>
              </a:rPr>
              <a:t> + clause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ea typeface="Amiri" pitchFamily="2" charset="-78"/>
                <a:cs typeface="Amiri" pitchFamily="2" charset="-78"/>
              </a:rPr>
              <a:t>أَعْلَنَ الوَزِيرُ أَنَّ المَشْرُوعَ سَيَبْدَأُ فِي سِبْتَمْبَرَ.   ·   حَذَّرَ الخَبِيرُ مِنْ زِيَادَةِ شُحِّ المِيَاهِ.</a:t>
            </a:r>
            <a:endParaRPr lang="ar-SA" sz="19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Track changed details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first detail + </a:t>
            </a:r>
            <a:pPr algn="l" indent="0" marL="0">
              <a:buNone/>
            </a:pPr>
            <a:r>
              <a:rPr lang="ar-SA" altLang="en-US" sz="1350" dirty="0">
                <a:solidFill>
                  <a:srgbClr val="5A6472"/>
                </a:solidFill>
                <a:latin typeface="Amiri" pitchFamily="2" charset="-78"/>
                <a:ea typeface="Amiri" pitchFamily="2" charset="-78"/>
                <a:cs typeface="Amiri" pitchFamily="2" charset="-78"/>
              </a:rPr>
              <a:t>ثُمَّ</a:t>
            </a:r>
            <a:pPr algn="l" indent="0" marL="0">
              <a:buNone/>
            </a:pPr>
            <a:r>
              <a:rPr lang="en-US" sz="1050" dirty="0">
                <a:solidFill>
                  <a:srgbClr val="5A6472"/>
                </a:solidFill>
                <a:latin typeface="Calibri" pitchFamily="34" charset="0"/>
                <a:cs typeface="Amiri" pitchFamily="2" charset="-78"/>
              </a:rPr>
              <a:t> correction or change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 مِنَ المُقَرَّرِ أَنْ يَبْدَأَ المَشْرُوعُ فِي يُونْيُو، وَلٰكِنَّهُ سَيَبْدَأُ فِي سِبْتَمْبَرَ.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Numbers with direction of change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ارْتَفَعَ مِنْ</a:t>
            </a:r>
            <a:pPr algn="l" indent="0" marL="0">
              <a:buNone/>
            </a:pPr>
            <a:r>
              <a:rPr lang="en-US" sz="1050" dirty="0">
                <a:solidFill>
                  <a:srgbClr val="5A6472"/>
                </a:solidFill>
                <a:latin typeface="Calibri" pitchFamily="34" charset="0"/>
                <a:cs typeface="Amiri" pitchFamily="2" charset="-78"/>
              </a:rPr>
              <a:t> X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dirty="0">
                <a:solidFill>
                  <a:srgbClr val="5A6472"/>
                </a:solidFill>
                <a:latin typeface="Calibri" pitchFamily="34" charset="0"/>
                <a:cs typeface="Amiri" pitchFamily="2" charset="-78"/>
              </a:rPr>
              <a:t> Y / </a:t>
            </a:r>
            <a:pPr algn="l" indent="0" marL="0">
              <a:buNone/>
            </a:pPr>
            <a:r>
              <a:rPr lang="ar-SA" altLang="en-US" sz="1350" dirty="0">
                <a:solidFill>
                  <a:srgbClr val="5A6472"/>
                </a:solidFill>
                <a:latin typeface="Amiri" pitchFamily="2" charset="-78"/>
                <a:ea typeface="Amiri" pitchFamily="2" charset="-78"/>
                <a:cs typeface="Amiri" pitchFamily="2" charset="-78"/>
              </a:rPr>
              <a:t>انْخَفَضَ بِنِسْبَةِ</a:t>
            </a:r>
            <a:pPr algn="l" indent="0" marL="0">
              <a:buNone/>
            </a:pPr>
            <a:r>
              <a:rPr lang="en-US" sz="1050" dirty="0">
                <a:solidFill>
                  <a:srgbClr val="5A6472"/>
                </a:solidFill>
                <a:latin typeface="Calibri" pitchFamily="34" charset="0"/>
                <a:cs typeface="Amiri" pitchFamily="2" charset="-78"/>
              </a:rPr>
              <a:t> X</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ارْتَفَعَ الإِنْتَاجُ مِنْ ٢٠٪ إِلَى ٣٥٪.   ·   انْخَفَضَ الاسْتِهْلَاكُ بِنِسْبَةِ ١٢٪.</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Speaker comparison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speaker A / speaker B / both</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تُؤَيِّدُ سَلْمَى الطَّاقَةَ الشَّمْسِيَّةَ، بَيْنَمَا يَرَى عُمَرُ أَنَّ التَّكْلِفَةَ مُرْتَفِعَةٌ. وَكِلَاهُمَا يُؤَيِّدُ تَرْشِيدَ الاسْتِهْلَاكِ.</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reported statement.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 الوَزِيرُ إِلَى المَشْرُوعِ سَيَبْدَأُ.</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 الوَزِيرُ عَلَى المَشْرُوعِ سَيَبْدَأُ.</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 الوَزِيرُ أَنَّ المَشْرُوعَ سَيَبْدَأُ قَرِيبًا.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collocation with </a:t>
            </a:r>
            <a:pPr algn="l" indent="0" marL="0">
              <a:buNone/>
            </a:pPr>
            <a:r>
              <a:rPr lang="ar-SA" altLang="en-US" sz="1650" b="1" dirty="0">
                <a:solidFill>
                  <a:srgbClr val="1B3B6F"/>
                </a:solidFill>
                <a:latin typeface="Amiri" pitchFamily="2" charset="-78"/>
                <a:ea typeface="Amiri" pitchFamily="2" charset="-78"/>
                <a:cs typeface="Amiri" pitchFamily="2" charset="-78"/>
              </a:rPr>
              <a:t>حَذَّرَ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حَذَّرَ الخَبِيرُ مِنْ شُحِّ المِيَاهِ.</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حَذَّرَ الخَبِيرُ إِلَى شُحِّ المِيَاهِ.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حَذَّرَ الخَبِيرُ عَلَى شُحِّ المِيَاهِ.</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final date in the sentence “</a:t>
            </a:r>
            <a:pPr algn="l" indent="0" marL="0">
              <a:buNone/>
            </a:pPr>
            <a:r>
              <a:rPr lang="ar-SA" altLang="en-US" sz="1650" b="1" dirty="0">
                <a:solidFill>
                  <a:srgbClr val="1B3B6F"/>
                </a:solidFill>
                <a:latin typeface="Amiri" pitchFamily="2" charset="-78"/>
                <a:ea typeface="Amiri" pitchFamily="2" charset="-78"/>
                <a:cs typeface="Amiri" pitchFamily="2" charset="-78"/>
              </a:rPr>
              <a:t>كان في يونيو، ولكنه سيبدأ في سبتمبر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June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September</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date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If production rose from 20% to 35%, what is the final value?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reported statement.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 الوَزِيرُ إِلَى المَشْرُوعِ سَيَبْدَأُ.</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 الوَزِيرُ عَلَى المَشْرُوعِ سَيَبْدَأُ.</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أَعْلَنَ الوَزِيرُ أَنَّ المَشْرُوعَ سَيَبْدَأُ قَرِيبًا.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statement is introduced by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collocation with </a:t>
            </a:r>
            <a:pPr algn="l" indent="0" marL="0">
              <a:buNone/>
            </a:pPr>
            <a:r>
              <a:rPr lang="ar-SA" altLang="en-US" sz="1650" b="1" dirty="0">
                <a:solidFill>
                  <a:srgbClr val="1B3B6F"/>
                </a:solidFill>
                <a:latin typeface="Amiri" pitchFamily="2" charset="-78"/>
                <a:ea typeface="Amiri" pitchFamily="2" charset="-78"/>
                <a:cs typeface="Amiri" pitchFamily="2" charset="-78"/>
              </a:rPr>
              <a:t>حَذَّرَ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حَذَّرَ الخَبِيرُ مِنْ شُحِّ المِيَاهِ.</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حَذَّرَ الخَبِيرُ إِلَى شُحِّ المِيَاهِ.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حَذَّرَ الخَبِيرُ عَلَى شُحِّ المِيَاهِ.</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حذّر من.</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final date in the sentence “</a:t>
            </a:r>
            <a:pPr algn="l" indent="0" marL="0">
              <a:buNone/>
            </a:pPr>
            <a:r>
              <a:rPr lang="ar-SA" altLang="en-US" sz="1650" b="1" dirty="0">
                <a:solidFill>
                  <a:srgbClr val="1B3B6F"/>
                </a:solidFill>
                <a:latin typeface="Amiri" pitchFamily="2" charset="-78"/>
                <a:ea typeface="Amiri" pitchFamily="2" charset="-78"/>
                <a:cs typeface="Amiri" pitchFamily="2" charset="-78"/>
              </a:rPr>
              <a:t>كان في يونيو، ولكنه سيبدأ في سبتمبر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June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September</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date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later contrast corrects the original plan.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If production rose from 20% to 35%, what is the final value?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35% is the final value; 15 points is the increase.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Watch me take notes from a news bulletin</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Predict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مَتَى؟ · كَمْ؟ · مَنْ؟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Month, number, speaker.</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Reporting verb</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0E7C86"/>
                </a:solidFill>
                <a:latin typeface="Amiri" pitchFamily="2" charset="-78"/>
                <a:ea typeface="Amiri" pitchFamily="2" charset="-78"/>
                <a:cs typeface="Amiri" pitchFamily="2" charset="-78"/>
              </a:rPr>
              <a:t>أَعْلَنَتِ</a:t>
            </a:r>
            <a:pPr rtl="1" algn="ctr" indent="0" marL="0">
              <a:buNone/>
            </a:pPr>
            <a:r>
              <a:rPr lang="ar-SA" altLang="en-US" sz="2700" b="1" dirty="0">
                <a:solidFill>
                  <a:srgbClr val="1B3B6F"/>
                </a:solidFill>
                <a:latin typeface="Amiri" pitchFamily="2" charset="-78"/>
                <a:ea typeface="Amiri" pitchFamily="2" charset="-78"/>
                <a:cs typeface="Amiri" pitchFamily="2" charset="-78"/>
              </a:rPr>
              <a:t> البَلَدِيَّةُ أَنَّ …</a:t>
            </a:r>
            <a:endParaRPr lang="ar-SA" sz="27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says it? The council.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Trap</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سِبْتَمْبَرَ، </a:t>
            </a:r>
            <a:pPr rtl="1" algn="ctr" indent="0" marL="0">
              <a:buNone/>
            </a:pPr>
            <a:r>
              <a:rPr lang="ar-SA" altLang="en-US" sz="2300" b="1" dirty="0">
                <a:solidFill>
                  <a:srgbClr val="1D5FBF"/>
                </a:solidFill>
                <a:latin typeface="Amiri" pitchFamily="2" charset="-78"/>
                <a:ea typeface="Amiri" pitchFamily="2" charset="-78"/>
                <a:cs typeface="Amiri" pitchFamily="2" charset="-78"/>
              </a:rPr>
              <a:t>بَدَلًا مِنْ</a:t>
            </a:r>
            <a:pPr rtl="1" algn="ctr" indent="0" marL="0">
              <a:buNone/>
            </a:pPr>
            <a:r>
              <a:rPr lang="ar-SA" altLang="en-US" sz="2300" b="1" dirty="0">
                <a:solidFill>
                  <a:srgbClr val="1B3B6F"/>
                </a:solidFill>
                <a:latin typeface="Amiri" pitchFamily="2" charset="-78"/>
                <a:ea typeface="Amiri" pitchFamily="2" charset="-78"/>
                <a:cs typeface="Amiri" pitchFamily="2" charset="-78"/>
              </a:rPr>
              <a:t> يُونْيُو</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June is the distractor.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Figure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مِنْ ٢٥٪ إِلَى ٣٢٪</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25 · end 32.</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REPORTING VERB</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CORRECTION</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FIGURE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مُلَاحَظَاتِي: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أَعْلَنَتِ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البَلَدِيَّةُ: الحَافِلَاتُ الكَهْرَبَائِيَّةُ فِي سِبْتَمْبَرَ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بَدَلًا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يُونْيُو) · خَمْسُونَ حَافِلَةً · الوَقُودُ: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بِنِسْبَةِ 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أَقَلَّ · النَّقْلُ العَامُّ: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مِنْ ٢٥٪ إِلَى ٣٢٪</a:t>
            </a:r>
            <a:pPr rtl="1" algn="r" indent="0" marL="0">
              <a:lnSpc>
                <a:spcPct val="120000"/>
              </a:lnSpc>
              <a:buNone/>
            </a:pPr>
            <a:r>
              <a:rPr lang="ar-SA" altLang="en-US" sz="1400" b="1" dirty="0">
                <a:solidFill>
                  <a:srgbClr val="1B3B6F"/>
                </a:solidFill>
                <a:latin typeface="Amiri" pitchFamily="2" charset="-78"/>
                <a:cs typeface="Amiri" pitchFamily="2" charset="-78"/>
              </a:rPr>
              <a:t> ·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حَذَّرَ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خَبِيرٌ: شَبَكَةُ الشَّحْنِ غَيْرُ كَافِيَةٍ.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My notes: the council announced: electric buses in September (instead of June) · fifty buses · fuel: 8% less · public transport: from 25% to 32% · an expert warned: the charging network is insufficient.</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أَعْلَنَ الوَزِيرُ أَنَّ المَشْرُوعَ سَيَبْدَأُ فِي سِبْتَمْبَرَ.</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minister announced that the project will start in September.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The noun after أَنَّ is accusative; listen for the reporting verb and the information that follows.</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كَانَ مِنَ المُقَرَّرِ أَنْ يَبْدَأَ المَشْرُوعُ فِي يُونْيُو، وَلٰكِنَّهُ سَيَبْدَأُ فِي سِبْتَمْبَرَ.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project was scheduled to start in June, but it will start in September.</a:t>
            </a:r>
            <a:endParaRPr lang="en-US" sz="1250" dirty="0"/>
          </a:p>
          <a:p>
            <a:pPr indent="0" marL="0">
              <a:buNone/>
            </a:pPr>
            <a:r>
              <a:rPr lang="en-US" sz="1050" i="1" dirty="0">
                <a:solidFill>
                  <a:srgbClr val="8A6D1E"/>
                </a:solidFill>
                <a:latin typeface="Calibri" pitchFamily="34" charset="0"/>
                <a:cs typeface="Amiri" pitchFamily="2" charset="-78"/>
              </a:rPr>
              <a:t>A later detail may replace an earlier plan; the final stated information is usually the answer.</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ارْتَفَعَ الإِنْتَاجُ مِنْ ٢٠٪ إِلَى ٣٥٪.</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Production rose from 20% to 35%.</a:t>
            </a:r>
            <a:endParaRPr lang="en-US" sz="1250" dirty="0"/>
          </a:p>
          <a:p>
            <a:pPr indent="0" marL="0">
              <a:buNone/>
            </a:pPr>
            <a:r>
              <a:rPr lang="en-US" sz="1050" i="1" dirty="0">
                <a:solidFill>
                  <a:srgbClr val="8A6D1E"/>
                </a:solidFill>
                <a:latin typeface="Calibri" pitchFamily="34" charset="0"/>
                <a:cs typeface="Amiri" pitchFamily="2" charset="-78"/>
              </a:rPr>
              <a:t>Distinguish the starting value, final value and size of change.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نَشْرَةٌ إِخْبَارِيَّةٌ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مُرَاسِلٌ / مُرَاسِلَةٌ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خَبِيرٌ / خَبِيرَةٌ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 أَنَّ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 أَنَّ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حَذَّرَ مِنْ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المَعْنَى العَامُّ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المَعْلُومَةُ المُحَدَّدَةُ</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كَلِمَةٌ مِفْتَاحِيَّةٌ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News and listening signals</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Reporting and change language</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Listening strategy</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News and listening signals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نَشْرَةٌ إِخْبَارِيَّةٌ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مُرَاسِلٌ / مُرَاسِلَةٌ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خَبِيرٌ / خَبِيرَةٌ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Reporting and change language</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 أَنَّ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 أَنَّ</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حَذَّرَ مِنْ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Listening strategy</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المَعْنَى العَامُّ</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المَعْلُومَةُ المُحَدَّدَةُ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كَلِمَةٌ مِفْتَاحِيَّةٌ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change expression.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انْخَفَضَ بِنِسْبَةُ الاسْتِهْلَاكِ ١٢٪.</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انْخَفَضَ الاسْتِهْلَاكُ مِنْ نِسْبَةِ ١٢٪ إِلَى.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انْخَفَضَ الاسْتِهْلَاكُ بِنِسْبَةِ ١٢٪.</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“both speakers”?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المُتَحَدِّثُ الأَوَّلُ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كِلَاهُمَا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بَدَلًا مِنْ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cue signals a comparison with an earlier figure?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حَذَّرَ مِنْ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مُقَارَنَةً بِـ</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 أَنَّ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listening habit is strongest?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contrast words such as </a:t>
            </a:r>
            <a:pPr algn="l" indent="0" marL="0">
              <a:buNone/>
            </a:pPr>
            <a:r>
              <a:rPr lang="ar-SA" altLang="en-US" sz="1650" dirty="0">
                <a:solidFill>
                  <a:srgbClr val="1F2A37"/>
                </a:solidFill>
                <a:latin typeface="Amiri" pitchFamily="2" charset="-78"/>
                <a:ea typeface="Amiri" pitchFamily="2" charset="-78"/>
                <a:cs typeface="Amiri" pitchFamily="2" charset="-78"/>
              </a:rPr>
              <a:t>لكن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 the first number automatically.</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Record the corrected final detail, not only the first detail heard.</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change expression.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انْخَفَضَ بِنِسْبَةُ الاسْتِهْلَاكِ ١٢٪.</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انْخَفَضَ الاسْتِهْلَاكُ مِنْ نِسْبَةِ ١٢٪ إِلَى.</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انْخَفَضَ الاسْتِهْلَاكُ بِنِسْبَةِ ١٢٪.</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انخفض بنسبة</a:t>
            </a:r>
            <a:pPr algn="l" indent="0" marL="0">
              <a:buNone/>
            </a:pPr>
            <a:r>
              <a:rPr lang="en-US" sz="1050" i="1" dirty="0">
                <a:solidFill>
                  <a:srgbClr val="8A6D1E"/>
                </a:solidFill>
                <a:latin typeface="Calibri" pitchFamily="34" charset="0"/>
                <a:cs typeface="Amiri" pitchFamily="2" charset="-78"/>
              </a:rPr>
              <a:t> + amount of reduction.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“both speakers”?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المُتَحَدِّثُ الأَوَّلُ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كِلَاهُمَا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بَدَلًا مِنْ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كلاهما</a:t>
            </a:r>
            <a:pPr algn="l" indent="0" marL="0">
              <a:buNone/>
            </a:pPr>
            <a:r>
              <a:rPr lang="en-US" sz="1050" i="1" dirty="0">
                <a:solidFill>
                  <a:srgbClr val="8A6D1E"/>
                </a:solidFill>
                <a:latin typeface="Calibri" pitchFamily="34" charset="0"/>
                <a:cs typeface="Amiri" pitchFamily="2" charset="-78"/>
              </a:rPr>
              <a:t> means both of them.</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cue signals a comparison with an earlier figure?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حَذَّرَ مِنْ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مُقَارَنَةً بِـ</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 أَنَّ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مقارنة بـ</a:t>
            </a:r>
            <a:pPr algn="l" indent="0" marL="0">
              <a:buNone/>
            </a:pPr>
            <a:r>
              <a:rPr lang="en-US" sz="1050" i="1" dirty="0">
                <a:solidFill>
                  <a:srgbClr val="8A6D1E"/>
                </a:solidFill>
                <a:latin typeface="Calibri" pitchFamily="34" charset="0"/>
                <a:cs typeface="Amiri" pitchFamily="2" charset="-78"/>
              </a:rPr>
              <a:t> means compared with.</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listening habit is strongest?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contrast words such as </a:t>
            </a:r>
            <a:pPr algn="l" indent="0" marL="0">
              <a:buNone/>
            </a:pPr>
            <a:r>
              <a:rPr lang="ar-SA" altLang="en-US" sz="1650" dirty="0">
                <a:solidFill>
                  <a:srgbClr val="9AA1AB"/>
                </a:solidFill>
                <a:latin typeface="Amiri" pitchFamily="2" charset="-78"/>
                <a:ea typeface="Amiri" pitchFamily="2" charset="-78"/>
                <a:cs typeface="Amiri" pitchFamily="2" charset="-78"/>
              </a:rPr>
              <a:t>لكن</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Choose the first number automatically.</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Record the corrected final detail, not only the first detail heard.</a:t>
            </a:r>
            <a:endParaRPr lang="en-US" sz="12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Contrast and correction words often change the answer.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أَعْلَنَ الوَزِيرُ أَنْ المَشْرُوعُ سَيَبْدَأُ.</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anna or an after a reporting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حَذَّرَ الخَبِيرُ عَلَى شُحِّ المِيَاهِ.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 after ḥadhdhara?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ارْتَفَعَ الإِنْتَاجُ بِنِسْبَةِ ٢٠٪ إِلَى ٣٥٪.</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Start and end value: which words?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أَعْلَنَ الوَزِيرُ أَنْ المَشْرُوعُ سَيَبْدَأُ.</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أَعْلَنَ الوَزِيرُ أَنَّ المَشْرُوعَ سَيَبْدَأُ.</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Reporting a statement uses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not the subjunctive particle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حَذَّرَ الخَبِيرُ عَلَى شُحِّ المِيَاهِ.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حَذَّرَ الخَبِيرُ مِنْ شُحِّ المِيَاهِ.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حذّر</a:t>
            </a:r>
            <a:pPr algn="l" indent="0" marL="0">
              <a:buNone/>
            </a:pPr>
            <a:r>
              <a:rPr lang="en-US" sz="1150" b="1" dirty="0">
                <a:solidFill>
                  <a:srgbClr val="1B3B6F"/>
                </a:solidFill>
                <a:latin typeface="Calibri" pitchFamily="34" charset="0"/>
                <a:cs typeface="Amiri" pitchFamily="2" charset="-78"/>
              </a:rPr>
              <a:t> governs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ارْتَفَعَ الإِنْتَاجُ بِنِسْبَةِ ٢٠٪ إِلَى ٣٥٪.</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ارْتَفَعَ الإِنْتَاجُ مِنْ ٢٠٪ إِلَى ٣٥٪.</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 for starting and final values.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Voice 1: the presenter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the electric-bus project begin?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September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December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original planned month?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January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September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buses will there be?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32</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made the announcement?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council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bus company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expert</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month? month? number?</a:t>
            </a:r>
            <a:endParaRPr lang="en-US" sz="1250" dirty="0"/>
          </a:p>
          <a:p>
            <a:pPr algn="l" indent="0" marL="0">
              <a:buNone/>
            </a:pPr>
            <a:r>
              <a:rPr lang="en-US" sz="1250" dirty="0">
                <a:solidFill>
                  <a:srgbClr val="1E6B52"/>
                </a:solidFill>
                <a:latin typeface="Calibri" pitchFamily="34" charset="0"/>
                <a:cs typeface="Amiri" pitchFamily="2" charset="-78"/>
              </a:rPr>
              <a:t>Two months are heard: which is FINAL?</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أَعْلَنَتِ البَلَدِيَّةُ اليَوْمَ أَنَّ مَشْرُوعَ الحَافِلَاتِ الكَهْرَبَائِيَّةِ سَيَبْدَأُ فِي سِبْتَمْبَرَ،</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council announced today that the electric-bus project will start in September,</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بَدَلًا مِنْ يُونْيُو كَمَا كَانَ مُقَرَّرًا.</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instead of June as was planned.</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وَأَكَّدَتْ أَنَّ عَدَدَ الحَافِلَاتِ سَيَبْلُغُ خَمْسِينَ حَافِلَةً.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confirmed that the number of buses will reach fifty.</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the electric-bus project begin?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September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December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project was moved from June to September.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original planned month?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January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September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June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بدلًا من يونيو.</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buses will there be?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32</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50</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خمسين حافلة.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made the announcement?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council</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bus company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expert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أَعْلَنَتِ البَلَدِيَّةُ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first: month? month? number?</a:t>
            </a:r>
            <a:endParaRPr lang="en-US" sz="1250" dirty="0"/>
          </a:p>
          <a:p>
            <a:pPr algn="l" indent="0" marL="0">
              <a:buNone/>
            </a:pPr>
            <a:r>
              <a:rPr lang="en-US" sz="1250" dirty="0">
                <a:solidFill>
                  <a:srgbClr val="1E6B52"/>
                </a:solidFill>
                <a:latin typeface="Calibri" pitchFamily="34" charset="0"/>
                <a:cs typeface="Amiri" pitchFamily="2" charset="-78"/>
              </a:rPr>
              <a:t>Two months are heard: which is FINAL?</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Voice 2: the correspondent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how much did fuel consumption fall?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32%</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Public-transport use rose from what to what?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32% to 50%</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 to 25%</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 to 32%</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did the expert identify?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too many charging stations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buses use fossil fuel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charging network is still insufficient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source of the figures?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report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minister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blog</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Three figures: 8% · 25% · 32%.</a:t>
            </a:r>
            <a:endParaRPr lang="en-US" sz="1250" dirty="0"/>
          </a:p>
          <a:p>
            <a:pPr algn="l" indent="0" marL="0">
              <a:buNone/>
            </a:pPr>
            <a:r>
              <a:rPr lang="en-US" sz="1250" dirty="0">
                <a:solidFill>
                  <a:srgbClr val="1E6B52"/>
                </a:solidFill>
                <a:latin typeface="Calibri" pitchFamily="34" charset="0"/>
                <a:cs typeface="Amiri" pitchFamily="2" charset="-78"/>
              </a:rPr>
              <a:t>Which one is the size of a fall?</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وَفْقًا لِلتَّقْرِيرِ، انْخَفَضَ اسْتِهْلَاكُ الوَقُودِ فِي المَدِينَةِ بِنِسْبَةِ ٨٪،</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According to the report, fuel consumption in the city fell by 8%,</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بَيْنَمَا ارْتَفَعَ اسْتِخْدَامُ النَّقْلِ العَامِّ مِنْ ٢٥٪ إِلَى ٣٢٪.</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while public-transport use rose from 25% to 32%.</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لٰكِنَّ خَبِيرًا حَذَّرَ مِنْ أَنَّ شَبَكَةَ الشَّحْنِ مَا زَالَتْ غَيْرَ كَافِيَةٍ.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an expert warned that the charging network is still insufficient.</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how much did fuel consumption fall?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8%</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32%</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بنسبة 8٪.</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Public-transport use rose from what to what?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32% to 50%</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 to 25%</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25% to 32%</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25٪ إلى 32٪.</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did the expert identify?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are too many charging stations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buses use fossil fuel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charging network is still insufficient</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شبكة الشحن ما زالت غير كافية.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source of the figures?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report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minister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blog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وَفْقًا لِلتَّقْرِيرِ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Three figures: 8% · 25% · 32%.</a:t>
            </a:r>
            <a:endParaRPr lang="en-US" sz="1250" dirty="0"/>
          </a:p>
          <a:p>
            <a:pPr algn="l" indent="0" marL="0">
              <a:buNone/>
            </a:pPr>
            <a:r>
              <a:rPr lang="en-US" sz="1250" dirty="0">
                <a:solidFill>
                  <a:srgbClr val="1E6B52"/>
                </a:solidFill>
                <a:latin typeface="Calibri" pitchFamily="34" charset="0"/>
                <a:cs typeface="Amiri" pitchFamily="2" charset="-78"/>
              </a:rPr>
              <a:t>Which one is the size of a fall?</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explain a listening strategy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تَسْتَمِعُ لِلْمَعْنَى العَامِّ؟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تُسَجِّلُ الأَرْقَامَ وَالتَّغْيِيرَاتِ؟</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عِنْدَمَا يُصَحِّحُ المُتَحَدِّثُ مَعْلُومَةً؟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المَرَّةِ الأُولَى، أَسْتَمِعُ لِـ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أَكْتُبُ الرَّقْمَ الأَوَّلَ وَ ___ ، ثُمَّ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عِنْدَمَا أَسْمَعُ « بَدَلًا مِنْ » ،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أَهَمُّ اسْتِرَاتِيجِيَّةٍ لِفَهْمِ نَشْرَةٍ إِخْبَارِيَّةٍ؟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What is the most important strategy for understanding a news bulletin?</a:t>
            </a:r>
            <a:endParaRPr lang="en-US" sz="90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أُحَدِّدُ المَعْنَى العَامَّ فِي المَرَّةِ الأُولَى، ثُمَّ أُسَجِّلُ الأَرْقَامَ وَالتَّغْيِيرَاتِ وَالكَلِمَاتِ الَّتِي تُصَحِّحُ مَعْلُومَةً سَابِقَةً فِي المَرَّةِ الثَّانِيَةِ.</a:t>
            </a:r>
            <a:endParaRPr lang="ar-SA" sz="14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identify the gist the first time, then the second time I record the figures, the changes and the words that correct an earlier piece of information.</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bulletin in notes turned into sentences: when, how many, two figures, the problem.</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summary with two reporting verbs and the corrected month.</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summarise the report and evaluate its main development.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بَدَلًا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instead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ارْتَفَعَ اسْتِخْدَامُ النَّقْلِ العَامِّ مِنْ ______ إِلَى ______ .</a:t>
            </a:r>
            <a:endParaRPr lang="ar-SA" sz="13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Public transport use rose from …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تَقَدُّمٌ إِيجَابِيٌّ، لٰكِنَّ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positive progress, but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نَسْتَنْتِجُ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conclude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أَعْلَنَتِ البَلَدِيَّةُ أَنَّ المَشْرُوعَ سَيَبْدَأُ فِي ______ .</a:t>
            </a:r>
            <a:endParaRPr lang="ar-SA" sz="15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council announced that the project will start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سَيَبْلُغُ عَدَدُ الحَافِلَاتِ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number of buses will reach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انْخَفَضَ اسْتِهْلَاكُ الوَقُودِ بِنِسْبَةِ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Fuel consumption fell by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حَذَّرَ خَبِيرٌ مِنْ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 expert warned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أَعْلَنَ أَنَّ  ·  أَكَّدَ أَنَّ  ·  حَذَّرَ مِنْ  ·  أَشَارَ إِلَى أَنَّ  ·  أَضَافَ أَنَّ  ·  بَدَلًا مِنْ  ·  ارْتَفَعَ مِنْ … إِلَى  ·  انْخَفَضَ بِنِسْبَةِ  ·  وَفْقًا لِـ  ·  بَيْنَمَا  ·  كِلَاهُمَا  ·  نَسْتَنْتِجُ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120–140 Arabic words summarising a news report and evaluating its main development.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Identify the final corrected details.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Report figures with accurate change language.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Attribute at least two statements to speakers or sources.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Conclude with a supported evaluation.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يُعْلِنُ التَّقْرِيرُ أَنَّ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report announces that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تَقَدُّمٌ إِيجَابِيٌّ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positive progress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المَشْرُوعُ وَاعِدٌ</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project is promising</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يَحْتَاجُ إِلَى بِنْيَةٍ تَحْتِيَّةٍ أَقْوَى</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needs stronger infrastructure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مُقَارَنَةً بِالعَامِ المَاضِي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compared with last year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يُعْلِنُ التَّقْرِيرُ أَنَّ مَشْرُوعَ الحَافِلَاتِ الكَهْرَبَائِيَّةِ سَيَبْدَأُ فِي سِبْتَمْبَرَ بَدَلًا مِنْ يُونْيُو. وَسَيَبْلُغُ عَدَدُ الحَافِلَاتِ خَمْسِينَ. وَفْقًا لِلْبَيَانَاتِ، انْخَفَضَ اسْتِهْلَاكُ الوَقُودِ بِنِسْبَةِ ٨٪، وَارْتَفَعَ اسْتِخْدَامُ النَّقْلِ العَامِّ مِنْ ٢٥٪ إِلَى ٣٢٪. هٰذَا تَقَدُّمٌ إِيجَابِيٌّ، لٰكِنَّ الخَبِيرَ حَذَّرَ مِنْ أَنَّ شَبَكَةَ الشَّحْنِ غَيْرُ كَافِيَةٍ. نَسْتَنْتِجُ أَنَّ المَشْرُوعَ وَاعِدٌ، وَلٰكِنَّهُ يَحْتَاجُ إِلَى بِنْيَةٍ تَحْتِيَّةٍ أَقْوَى.</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report announces that the electric-bus project will start in September instead of June, and the number of buses will reach fifty. According to the data, fuel consumption fell by 8% and public-transport use rose from 25% to 32%. This is positive progress, but the expert warned that the charging network is insufficient. We conclude that the project is promising, but it needs stronger infrastructure.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corrected month</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figures with change language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reporting verbs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supported evaluation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FINAL month, not the first one.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figures are exact.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after my reporting verbs.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t>
            </a:r>
            <a:pPr algn="l" indent="0" marL="0">
              <a:buNone/>
            </a:pPr>
            <a:r>
              <a:rPr lang="ar-SA" altLang="en-US" sz="1700" dirty="0">
                <a:solidFill>
                  <a:srgbClr val="1F2A37"/>
                </a:solidFill>
                <a:latin typeface="Amiri" pitchFamily="2" charset="-78"/>
                <a:ea typeface="Amiri" pitchFamily="2" charset="-78"/>
                <a:cs typeface="Amiri" pitchFamily="2" charset="-78"/>
              </a:rPr>
              <a:t>حَذَّرَ مِنْ</a:t>
            </a:r>
            <a:pPr algn="l" indent="0" marL="0">
              <a:buNone/>
            </a:pPr>
            <a:r>
              <a:rPr lang="en-US" sz="1300" dirty="0">
                <a:solidFill>
                  <a:srgbClr val="1F2A37"/>
                </a:solidFill>
                <a:latin typeface="Calibri" pitchFamily="34" charset="0"/>
                <a:cs typeface="Amiri" pitchFamily="2" charset="-78"/>
              </a:rPr>
              <a:t> (not </a:t>
            </a:r>
            <a:pPr algn="l" indent="0" marL="0">
              <a:buNone/>
            </a:pPr>
            <a:r>
              <a:rPr lang="ar-SA" altLang="en-US" sz="1700" dirty="0">
                <a:solidFill>
                  <a:srgbClr val="1F2A37"/>
                </a:solidFill>
                <a:latin typeface="Amiri" pitchFamily="2" charset="-78"/>
                <a:ea typeface="Amiri" pitchFamily="2" charset="-78"/>
                <a:cs typeface="Amiri" pitchFamily="2" charset="-78"/>
              </a:rPr>
              <a:t>عَلَى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ended with a supported evaluation.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reported statement.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أَكَّدَتِ الخَبِيرَةُ أَنَّ الاسْتِهْلَاكَ انْخَفَضَ.</a:t>
            </a:r>
            <a:endParaRPr lang="ar-SA" sz="18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أَكَّدَتِ الخَبِيرَةُ أَنْ الاسْتِهْلَاكُ انْخَفَضَ.</a:t>
            </a:r>
            <a:endParaRPr lang="ar-SA" sz="18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أَكَّدَتِ الخَبِيرَةُ عَلَى الاسْتِهْلَاكِ.</a:t>
            </a:r>
            <a:endParaRPr lang="ar-SA" sz="18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value is final in “</a:t>
            </a:r>
            <a:pPr algn="l" indent="0" marL="0">
              <a:buNone/>
            </a:pPr>
            <a:r>
              <a:rPr lang="ar-SA" altLang="en-US" sz="1650" b="1" dirty="0">
                <a:solidFill>
                  <a:srgbClr val="1B3B6F"/>
                </a:solidFill>
                <a:latin typeface="Amiri" pitchFamily="2" charset="-78"/>
                <a:ea typeface="Amiri" pitchFamily="2" charset="-78"/>
                <a:cs typeface="Amiri" pitchFamily="2" charset="-78"/>
              </a:rPr>
              <a:t>من ٢٥٪ إلى ٣٢٪</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32%</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collocation is correct?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حَذَّرَ مِنْ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حَذَّرَ عَلَى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حَذَّرَ إِلَى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reported statement.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أَكَّدَتِ الخَبِيرَةُ أَنَّ الاسْتِهْلَاكَ انْخَفَضَ.</a:t>
            </a:r>
            <a:endParaRPr lang="ar-SA" sz="18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أَكَّدَتِ الخَبِيرَةُ أَنْ الاسْتِهْلَاكُ انْخَفَضَ.</a:t>
            </a:r>
            <a:endParaRPr lang="ar-SA" sz="18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أَكَّدَتِ الخَبِيرَةُ عَلَى الاسْتِهْلَاكِ.</a:t>
            </a:r>
            <a:endParaRPr lang="ar-SA" sz="18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for reported content.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value is final in “</a:t>
            </a:r>
            <a:pPr algn="l" indent="0" marL="0">
              <a:buNone/>
            </a:pPr>
            <a:r>
              <a:rPr lang="ar-SA" altLang="en-US" sz="1650" b="1" dirty="0">
                <a:solidFill>
                  <a:srgbClr val="1B3B6F"/>
                </a:solidFill>
                <a:latin typeface="Amiri" pitchFamily="2" charset="-78"/>
                <a:ea typeface="Amiri" pitchFamily="2" charset="-78"/>
                <a:cs typeface="Amiri" pitchFamily="2" charset="-78"/>
              </a:rPr>
              <a:t>من ٢٥٪ إلى ٣٢٪</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32%</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25%</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32% is the final level.</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collocation is correct?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حَذَّرَ مِنْ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حَذَّرَ عَلَى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حَذَّرَ إِلَى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حذر من.</a:t>
            </a:r>
            <a:endParaRPr lang="ar-SA" sz="13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Reading transcript analysis: who said what?</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نَشْرَةٍ بِيئِيَّةٍ، أَشَارَتِ المُرَاسِلَةُ إِلَى أَنَّ إِنْتَاجَ الطَّاقَةِ الشَّمْسِيَّةِ ارْتَفَعَ مِنْ ١٨٪ إِلَى ٢٧٪ خِلَالَ ثَلَاثِ سَنَوَاتٍ. ثُمَّ أَضَافَ خَبِيرٌ أَنَّ هٰذَا التَّقَدُّمَ مُهِمٌّ، لٰكِنَّهُ لَا يَكْفِي لِتَحْقِيقِ الأَهْدَافِ. وَحَذَّرَ مِنْ أَنَّ الطَّلَبَ عَلَى الكَهْرَبَاءِ يَزْدَادُ أَسْرَعَ مِنْ تَوَسُّعِ الشَّبَكَةِ. أَمَّا مُمَثِّلَةُ البَلَدِيَّةِ فَأَكَّدَتْ أَنَّ مَشْرُوعًا جَدِيدًا سَيُفْتَتَحُ فِي العَامِ القَادِمِ.</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نَشْرَةٍ بِيئِيَّةٍ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environment bulletin</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إِنْتَاجَ الطَّاقَةِ الشَّمْسِيَّةِ</a:t>
            </a:r>
            <a:endParaRPr lang="ar-SA" sz="14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solar-energy production</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خِلَالَ ثَلَاثِ سَنَوَاتٍ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over three years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التَّقَدُّمَ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progress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يَكْفِي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enough</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لِتَحْقِيقِ الأَهْدَافِ</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achieve the targets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أَسْرَعَ مِنْ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faster than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تَوَسُّعِ الشَّبَكَةِ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grid’s expansion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مُمَثِّلَةُ البَلَدِيَّةِ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council’s representative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سَيُفْتَتَحُ</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be opened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rose from 18% to 27%?</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use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Solar-energy production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 fares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Over what period?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Thirteen years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months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years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expert’s judgement?</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progress matters but is insufficient</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target has already been exceeded</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Solar energy has no value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growing faster than the grid?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Rainfall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Electricity demand</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enrolment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confirmed a new project?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municipal representative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student</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weather presenter</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the project open?</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evening</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year</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rose from 18% to 27%?</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 use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Solar-energy production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Bus fares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إنتاج الطاقة الشمسية.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Over what period?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Thirteen years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months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years</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خلال ثلاث سنوات.</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expert’s judgement?</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progress matters but is insufficient</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target has already been exceeded</a:t>
            </a:r>
            <a:endParaRPr lang="en-US" sz="11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Solar energy has no value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مهم لكنه لا يكفي.</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growing faster than the grid?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Rainfall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Electricity demand</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enrolment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الطلب على الكهرباء.</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confirmed a new project?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 municipal representative</a:t>
            </a:r>
            <a:endParaRPr lang="en-US" sz="120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student</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weather presenter</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ممثلة البلدية.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will the project open?</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year</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evening</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Next year</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العام القادم.</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Listening — Environment and Technology News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The report first says June, then corrects it to September. Which month is the answer?</a:t>
            </a:r>
            <a:endParaRPr lang="en-US" sz="110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June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September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months are the final date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reporting verb fits “warned of water scarcity”?</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حَذَّرَ مِنْ شُحِّ المِيَاهِ</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أَضَافَ إِلَى شُحِّ المِيَاهِ</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 عَلَى شُحِّ المِيَاهِ</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Production rose from 20% to 35%. What increased by 15 percentage points?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consumption fell</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project date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Production share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Salma supports solar power; Omar worries about cost; both support conservation. Who supports conservation?</a:t>
            </a:r>
            <a:endParaRPr lang="en-US" sz="9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 only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only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the later statement may revise the earlier one?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قُرْبَ</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وَفْقًا لِـ</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note is precise enough for a listening answer?</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were some months</a:t>
            </a:r>
            <a:endParaRPr lang="en-US" sz="12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 date: September; original plan: June</a:t>
            </a:r>
            <a:endParaRPr lang="en-US" sz="12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mentioned a project</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The report first says June, then corrects it to September. Which month is the answer?</a:t>
            </a:r>
            <a:endParaRPr lang="en-US" sz="110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June</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September</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months are the final date</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corrected later detail is September.</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reporting verb fits “warned of water scarcity”?</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حَذَّرَ مِنْ شُحِّ المِيَاهِ</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أَضَافَ إِلَى شُحِّ المِيَاهِ</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 عَلَى شُحِّ المِيَاهِ</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حذر من</a:t>
            </a:r>
            <a:pPr algn="l" indent="0" marL="0">
              <a:buNone/>
            </a:pPr>
            <a:r>
              <a:rPr lang="en-US" sz="1050" i="1" dirty="0">
                <a:solidFill>
                  <a:srgbClr val="8A6D1E"/>
                </a:solidFill>
                <a:latin typeface="Calibri" pitchFamily="34" charset="0"/>
                <a:cs typeface="Amiri" pitchFamily="2" charset="-78"/>
              </a:rPr>
              <a:t> is the correct collocation.</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Production rose from 20% to 35%. What increased by 15 percentage points?</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 consumption fell</a:t>
            </a:r>
            <a:endParaRPr lang="en-US" sz="12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project date</a:t>
            </a:r>
            <a:endParaRPr lang="en-US" sz="12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Production share</a:t>
            </a:r>
            <a:endParaRPr lang="en-US" sz="12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35 minus 20 is a 15-point increase.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Salma supports solar power; Omar worries about cost; both support conservation. Who supports conservation?</a:t>
            </a:r>
            <a:endParaRPr lang="en-US" sz="9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Salma only</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Omar only</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sentence explicitly says </a:t>
            </a:r>
            <a:pPr algn="l" indent="0" marL="0">
              <a:buNone/>
            </a:pPr>
            <a:r>
              <a:rPr lang="ar-SA" altLang="en-US" sz="1350" dirty="0">
                <a:solidFill>
                  <a:srgbClr val="8A6D1E"/>
                </a:solidFill>
                <a:latin typeface="Amiri" pitchFamily="2" charset="-78"/>
                <a:ea typeface="Amiri" pitchFamily="2" charset="-78"/>
                <a:cs typeface="Amiri" pitchFamily="2" charset="-78"/>
              </a:rPr>
              <a:t>كلاهما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the later statement may revise the earlier one?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قُرْبَ</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وَفْقًا لِـ</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لكن</a:t>
            </a:r>
            <a:pPr algn="l" indent="0" marL="0">
              <a:buNone/>
            </a:pPr>
            <a:r>
              <a:rPr lang="en-US" sz="1050" i="1" dirty="0">
                <a:solidFill>
                  <a:srgbClr val="8A6D1E"/>
                </a:solidFill>
                <a:latin typeface="Calibri" pitchFamily="34" charset="0"/>
                <a:cs typeface="Amiri" pitchFamily="2" charset="-78"/>
              </a:rPr>
              <a:t> signals contrast or correction.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note is precise enough for a listening answer?</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were some months</a:t>
            </a:r>
            <a:endParaRPr lang="en-US" sz="12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Final date: September; original plan: June</a:t>
            </a:r>
            <a:endParaRPr lang="en-US" sz="11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mentioned a project</a:t>
            </a:r>
            <a:endParaRPr lang="en-US" sz="12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distinguishes the changed detail.</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D4-L11 · D4 Consolidation — Range Mastery and Speaking Preparation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نُقْطَةُ قُوَّةٍ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r>
              <a:rPr lang="ar-SA" sz="1000" i="1" dirty="0">
                <a:solidFill>
                  <a:srgbClr val="5A6472"/>
                </a:solidFill>
                <a:latin typeface="Calibri" pitchFamily="34" charset="0"/>
                <a:ea typeface="Amiri" pitchFamily="2" charset="-78"/>
                <a:cs typeface="Amiri" pitchFamily="2" charset="-78"/>
              </a:rPr>
              <a:t>  pl. نِقَاطُ قُوَّةٍ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مَجَالُ تَحْسِينٍ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area for improvement</a:t>
            </a:r>
            <a:pPr indent="0" marL="0">
              <a:buNone/>
            </a:pPr>
            <a:r>
              <a:rPr lang="ar-SA" sz="1000" i="1" dirty="0">
                <a:solidFill>
                  <a:srgbClr val="5A6472"/>
                </a:solidFill>
                <a:latin typeface="Calibri" pitchFamily="34" charset="0"/>
                <a:ea typeface="Amiri" pitchFamily="2" charset="-78"/>
                <a:cs typeface="Amiri" pitchFamily="2" charset="-78"/>
              </a:rPr>
              <a:t>  pl. مَجَالَاتُ تَحْسِينٍ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أَقْصِدُ أَنَّ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I mean is</a:t>
            </a:r>
            <a:pPr indent="0" marL="0">
              <a:buNone/>
            </a:pPr>
            <a:r>
              <a:rPr lang="ar-SA" sz="1000" i="1" dirty="0">
                <a:solidFill>
                  <a:srgbClr val="5A6472"/>
                </a:solidFill>
                <a:latin typeface="Amiri" pitchFamily="2" charset="-78"/>
                <a:ea typeface="Amiri" pitchFamily="2" charset="-78"/>
                <a:cs typeface="Amiri" pitchFamily="2" charset="-78"/>
              </a:rPr>
              <a:t>  يَقْصِدُ</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بِعِبَارَةٍ أُخْرَى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other words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لِأُصَحِّحْ ذٰلِكَ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let me correct that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back at D4: what is one strength and one area for improvement in your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نُقْطَةُ قُوَّتِي: … · مَجَالُ تَحْسِينٍ: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12 news words; redo the listening questions from the script.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100–120-word summary of the bulletin with two reporting verbs.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120–140-word summary and evaluation.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D4-L11 · D4 Consolidation — Range Mastery and Speaking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إِتْقَانُ النِّطَاقِ وَإِعْدَادُ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predict → gist → details. Who said it? What is the FINAL detail? Start, end and size of every change.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D4-L10 · Listening — Environment and Technology News</dc:title>
  <dc:subject>PptxGenJS Presentation</dc:subject>
  <dc:creator>Al Madina Online School · Arabic Department</dc:creator>
  <cp:lastModifiedBy>Al Madina Online School · Arabic Department</cp:lastModifiedBy>
  <cp:revision>1</cp:revision>
  <dcterms:created xsi:type="dcterms:W3CDTF">2026-10-11T06:40:55Z</dcterms:created>
  <dcterms:modified xsi:type="dcterms:W3CDTF">2026-10-11T06:40:55Z</dcterms:modified>
</cp:coreProperties>
</file>