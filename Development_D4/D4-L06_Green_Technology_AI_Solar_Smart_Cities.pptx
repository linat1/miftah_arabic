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D4-L06. The website lesson “Green Technology — AI, Solar Energy and Smart Cities”: vocabulary, grammar rules and quiz, patterns, common mistakes, sorter, listening, reading, speaking prompts and model, writing task and model, differentiation, final check and the lesson mission. Picture match: website visual game “Green Technology — AI, Solar Energy and Smart Cities”.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green-tech words + one “how it works” sentence with a ta- verb (تُحَوِّلُ / تُوَلِّدُ) and one benefit. Develop: the passive of use (يُسْتَخْدَمُ / تُسْتَخْدَمُ … لِـ) and تُسَاعِدُ عَلَى + verbal noun. Stretch: a balanced evaluation (benefit + challenge) and a long-term judgement.
• Builds on D4-L03 (passive yu-…-a-), D4-L04 (solutions), D4-L05 (balance) and D3-L02 (مِنْ مَزَايَا … أَنَّ — now مِنْ أَهَمِّ الفَوَائِدِ أَنَّ).
• Real example: Masdar City (Abu Dhabi) is in the reading — a short video or photo hooks students.
• Agreement focus: most subjects today are feminine or non-human plurals → ta- verbs; الذَّكَاءُ الاصْطِنَاعِيُّ is masculine → ya-.
• TEACHER-WRITTEN ITEMS: one vowel slip in the website writing model corrected (تُمْكِنُ → تُمَكِّنُ, “enables”) and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D4-L05. Questions 3–5 retrieve D4-L03 (passive), D4-L05 (verb + preposition) and the D3 advantage frame.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Say what the technology DOES, what it is USED for, and whether it is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نظام، فائدہ are shared. Fun fact: کہربا in Urdu is amber (rubbed amber makes static) — Arabic كَهْرَبَاءُ took the same word for electricity; everyday Urdu says بجلی. مُسْتَدَامٌ shares the root of دائم (lasting).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Green technology (website vocabulary (1 of 2)). Hear → Say → See → Use. Transliteration is printed for Core students (cover it for Develop/Stretch).
Green technology: compound nouns. Most are feminine or non-human plurals — the verb will start with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Green technology (website vocabulary (2 of 2)). Hear → Say → See → Use. Transliteration is printed for Core students (cover it for Develop/Stretch).
Green technology: compound nouns. Most are feminine or non-human plurals — the verb will start with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Processes and outcomes (website vocabulary (1 of 2)). Hear → Say → See → Use. Transliteration is printed for Core students (cover it for Develop/Stretch).
Processes: the cards are in the ta- form because the subjects (panels, the city, the grid) are feminine. يُسْتَخْدَمُ / تُسْتَخْدَمُ = is used (passive: yu-…-a-).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Processes and outcomes (website vocabulary (2 of 2)). Hear → Say → See → Use. Transliteration is printed for Core students (cover it for Develop/Stretch).
Processes: the cards are in the ta- form because the subjects (panels, the city, the grid) are feminine. يُسْتَخْدَمُ / تُسْتَخْدَمُ = is used (passive: yu-…-a-).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Hear → Say → See → Use. Transliteration is printed for Core students (cover it for Develop/Stretch).
Evaluation: مِنْ أَهَمِّ الفَوَائِدِ أَنَّ … (one of the main benefits is that …) / مِنْ أَبْرَزِ التَّحَدِّيَاتِ أَنَّ … (one of the biggest challenges is that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“Active technology processes” (many technology nouns are feminine plurals or singular feminine nouns, so the verb commonly begins with تـ) and “Passive use descriptions” (choose يُسْتَخْدَمُ / تُسْتَخْدَمُ according to the gender of the subject). Website examples as shown.
Website mistakes: يُحَوِّلُ الأَلْوَاحُ ✗ → تُحَوِّلُ ✓ · تُسْتَخْدَمُ الذَّكَاءُ ✗ → يُسْتَخْدَمُ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“Helping to achieve an outcome” (after تُسَاعِدُ عَلَى use a verbal noun or a noun phrase) and “Measured evaluation” (use أَنَّ to turn a full clause into the stated benefit or challenge). Website examples as shown.
After أَنَّ the subject takes -a: أَنَّ الطَّاقَةَ، أَنَّ التَّكْلِفَةَ (D3-L02 / D4-L05).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 Active technology processes: Many technology nouns in this lesson are feminine plurals or singular feminine nouns, so the verb commonly begins with تـ.
• Passive use descriptions: Choose the passive verb according to the grammatical gender of the subject.
• Helping to achieve an outcome: After تساعد على, use a verbal noun or a noun phrase.
• Measured evaluation: Use أَنَّ to turn a full clause into the stated benefit or challenge.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script as a model, colour-coded: active (ta-), passive, evaluation. Ask: why يُسْتَخْدَمُ (ya-) but تُوَلِّدُ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Green Technology — AI, Solar Energy and Smart Cities”)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المَدِينَةُ الذَّكِيَّةُ تَسْتَخْدِمُ التِّقْنِيَّةَ لِتَوْفِيرِ الطَّاقَةِ · يُمْكِنُ لِلذَّكَاءِ الاصْطِنَاعِيِّ أَنْ يُسَاعِدَ فِي حِمَايَةِ البِيئَةِ · تُشَجِّعُ المَدِينَةُ الخَضْرَاءُ رُكُوبَ الدَّرَّاجَاتِ.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Green Technology — AI, Solar Energy and Smart Cities”)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المَدِينَةُ الذَّكِيَّةُ تَسْتَخْدِمُ التِّقْنِيَّةَ لِتَوْفِيرِ الطَّاقَةِ · يُمْكِنُ لِلذَّكَاءِ الاصْطِنَاعِيِّ أَنْ يُسَاعِدَ فِي حِمَايَةِ البِيئَةِ · تُشَجِّعُ المَدِينَةُ الخَضْرَاءُ رُكُوبَ الدَّرَّاجَاتِ.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three-part sentence: a technology + a process verb + an evaluation word (تُوَلِّدُ تُورْبِينَاتُ الرِّيَاحِ طَاقَةً نَظِيفَةً، وَهِيَ فَعَّالَةٌ).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three-part sentence: a technology + a process verb + an evaluation word (تُوَلِّدُ تُورْبِينَاتُ الرِّيَاحِ طَاقَةً نَظِيفَةً، وَهِيَ فَعَّالَةٌ).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تَسْتَخْدِمُ مَدِينَةٌ ذَكِيَّةٌ شَبَكَةً كَهْرَبَائِيَّةً تَرْصُدُ الاسْتِهْلَاكَ كُلَّ سَاعَةٍ. وَيُسْتَخْدَمُ الذَّكَاءُ الاصْطِنَاعِيُّ لِلتَّنَبُّؤِ بِالطَّلَبِ عَلَى الطَّاقَةِ، بَيْنَمَا تُوَلِّدُ الأَلْوَاحُ الشَّمْسِيَّةُ وَتُورْبِينَاتُ الرِّيَاحِ جُزْءًا كَبِيرًا مِنَ الكَهْرَبَاءِ. مِنْ أَهَمِّ الفَوَائِدِ أَنَّ النِّظَامَ يُقَلِّلُ الهَدْرَ، لٰكِنَّ التَّكْلِفَةَ الأُولَى لِبِنَاءِ الشَّبَكَةِ مُرْتَفِعَةٌ.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Mini-debate: half the class argues the benefits (مِنْ أَهَمِّ الفَوَائِدِ …), half the challenges (مِنْ أَبْرَزِ التَّحَدِّيَاتِ …); the teacher gives the final long-term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evaluating one green technology or smart-city project.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(one vowel slip corrected: تُمَكِّنُ). Evidence: تُحَوِّلُ، تُوَلِّدُ (active) · يُسْتَخْدَمُ الذَّكَاءُ الاصْطِنَاعِيُّ لِرَصْدِ … (passive) · مِنْ أَهَمِّ الفَوَائِدِ أَنَّ … · أَمَّا أَبْرَزُ التَّحَدِّيَاتِ فَهُوَ … · وَمَعَ ذٰلِكَ، أَرَى أَنَّ … عَلَى المَدَى البَعِيدِ.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(D4-L07 · Resources and Sustainability — When Resources Run Out) will spend class time USING this language, so students prepare it tonight — short, simple, easy to access (school guidance: “Simple, Short, Interesting, Relevant, Easy to access”). The five words come from the website D4-L07 vocabulary (resources and sustainability).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Green Technology — AI, Solar Energy and Smart Cities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450" b="1" dirty="0">
                <a:solidFill>
                  <a:srgbClr val="D4AF37"/>
                </a:solidFill>
                <a:latin typeface="Amiri" pitchFamily="2" charset="-78"/>
                <a:cs typeface="Amiri" pitchFamily="2" charset="-78"/>
              </a:rPr>
              <a:t>التِّقْنِيَّةُ الخَضْرَاءُ — الذَّكَاءُ الاصْطِنَاعِيُّ وَالطَّاقَةُ الشَّمْسِيَّةُ وَالمُدُنُ الذَّكِيَّةُ</a:t>
            </a:r>
            <a:endParaRPr lang="ar-SA" sz="24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how a green technology works (</a:t>
            </a:r>
            <a:pPr algn="l" indent="0" marL="0">
              <a:buNone/>
            </a:pPr>
            <a:r>
              <a:rPr lang="ar-SA" altLang="en-US" sz="1800" dirty="0">
                <a:solidFill>
                  <a:srgbClr val="C6D2E6"/>
                </a:solidFill>
                <a:latin typeface="Amiri" pitchFamily="2" charset="-78"/>
                <a:cs typeface="Amiri" pitchFamily="2" charset="-78"/>
              </a:rPr>
              <a:t>تُحَوِّلُ الأَلْوَاحُ الشَّمْسِيَّةُ ضَوْءَ الشَّمْسِ إِلَى كَهْرَبَاءَ</a:t>
            </a:r>
            <a:pPr algn="l" indent="0" marL="0">
              <a:buNone/>
            </a:pPr>
            <a:r>
              <a:rPr lang="en-US" sz="1400" dirty="0">
                <a:solidFill>
                  <a:srgbClr val="C6D2E6"/>
                </a:solidFill>
                <a:latin typeface="Calibri" pitchFamily="34" charset="0"/>
                <a:cs typeface="Amiri" pitchFamily="2" charset="-78"/>
              </a:rPr>
              <a:t>), what it is used for (</a:t>
            </a:r>
            <a:pPr algn="l" indent="0" marL="0">
              <a:buNone/>
            </a:pPr>
            <a:r>
              <a:rPr lang="ar-SA" altLang="en-US" sz="1800" dirty="0">
                <a:solidFill>
                  <a:srgbClr val="C6D2E6"/>
                </a:solidFill>
                <a:latin typeface="Amiri" pitchFamily="2" charset="-78"/>
                <a:cs typeface="Amiri" pitchFamily="2" charset="-78"/>
              </a:rPr>
              <a:t>يُسْتَخْدَمُ … لِـ</a:t>
            </a:r>
            <a:pPr algn="l" indent="0" marL="0">
              <a:buNone/>
            </a:pPr>
            <a:r>
              <a:rPr lang="en-US" sz="1400" dirty="0">
                <a:solidFill>
                  <a:srgbClr val="C6D2E6"/>
                </a:solidFill>
                <a:latin typeface="Calibri" pitchFamily="34" charset="0"/>
                <a:cs typeface="Amiri" pitchFamily="2" charset="-78"/>
              </a:rPr>
              <a:t>), what it helps with (</a:t>
            </a:r>
            <a:pPr algn="l" indent="0" marL="0">
              <a:buNone/>
            </a:pPr>
            <a:r>
              <a:rPr lang="ar-SA" altLang="en-US" sz="1800" dirty="0">
                <a:solidFill>
                  <a:srgbClr val="C6D2E6"/>
                </a:solidFill>
                <a:latin typeface="Amiri" pitchFamily="2" charset="-78"/>
                <a:cs typeface="Amiri" pitchFamily="2" charset="-78"/>
              </a:rPr>
              <a:t>تُسَاعِدُ عَلَى</a:t>
            </a:r>
            <a:pPr algn="l" indent="0" marL="0">
              <a:buNone/>
            </a:pPr>
            <a:r>
              <a:rPr lang="en-US" sz="1400" dirty="0">
                <a:solidFill>
                  <a:srgbClr val="C6D2E6"/>
                </a:solidFill>
                <a:latin typeface="Calibri" pitchFamily="34" charset="0"/>
                <a:cs typeface="Amiri" pitchFamily="2" charset="-78"/>
              </a:rPr>
              <a:t> …) and evaluate it (</a:t>
            </a:r>
            <a:pPr algn="l" indent="0" marL="0">
              <a:buNone/>
            </a:pPr>
            <a:r>
              <a:rPr lang="ar-SA" altLang="en-US" sz="1800" dirty="0">
                <a:solidFill>
                  <a:srgbClr val="C6D2E6"/>
                </a:solidFill>
                <a:latin typeface="Amiri" pitchFamily="2" charset="-78"/>
                <a:cs typeface="Amiri" pitchFamily="2" charset="-78"/>
              </a:rPr>
              <a:t>مِنْ أَهَمِّ الفَوَائِدِ أَنَّ … / مِنْ أَبْرَزِ التَّحَدِّيَاتِ أَنَّ</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D4-L06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Green-tech words, how it works, what it is used for, and evaluation.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a smart energy system.</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الأَلْوَاحُ الشَّمْسِيَّةُ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wind turbines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panels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smart city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مُكَلِّفٌ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costly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effective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feasible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تُلَوِّثُ المَصَانِعُ الهَوَاءَ.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لَوَّثَتِ المَصَانِعُ الهَوَاءَ.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يُلَوَّثُ الهَوَاءُ.</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يَتَفَاعَلُ الطُّلَّابُ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 …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الأَلْوَاحُ الشَّمْسِيَّةُ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wind turbines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panels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smart city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مُكَلِّفٌ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expensive, costly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effective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feasible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تُلَوِّثُ المَصَانِعُ الهَوَاءَ.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لَوَّثَتِ المَصَانِعُ الهَوَاءَ.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يُلَوَّثُ الهَوَاءُ.</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D4-L03: yu-…-a-.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يَتَفَاعَلُ الطُّلَّابُ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مَزَايَا …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 / F6-L05.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Say what the technology DOES, what it is USED for, and whether it is WORTH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cs typeface="Amiri" pitchFamily="2" charset="-78"/>
              </a:rPr>
              <a:t>تُحَوِّلُ</a:t>
            </a:r>
            <a:pPr rtl="1" algn="ctr" indent="0" marL="0">
              <a:lnSpc>
                <a:spcPct val="120000"/>
              </a:lnSpc>
              <a:buNone/>
            </a:pPr>
            <a:r>
              <a:rPr lang="ar-SA" altLang="en-US" sz="1800" b="1" dirty="0">
                <a:solidFill>
                  <a:srgbClr val="1B3B6F"/>
                </a:solidFill>
                <a:latin typeface="Amiri" pitchFamily="2" charset="-78"/>
                <a:cs typeface="Amiri" pitchFamily="2" charset="-78"/>
              </a:rPr>
              <a:t> الأَلْوَاحُ … · </a:t>
            </a:r>
            <a:pPr rtl="1" algn="ctr" indent="0" marL="0">
              <a:lnSpc>
                <a:spcPct val="120000"/>
              </a:lnSpc>
              <a:buNone/>
            </a:pPr>
            <a:r>
              <a:rPr lang="ar-SA" altLang="en-US" sz="1800" b="1" dirty="0">
                <a:solidFill>
                  <a:srgbClr val="1D5FBF"/>
                </a:solidFill>
                <a:latin typeface="Amiri" pitchFamily="2" charset="-78"/>
                <a:cs typeface="Amiri" pitchFamily="2" charset="-78"/>
              </a:rPr>
              <a:t>يُسْتَخْدَمُ</a:t>
            </a:r>
            <a:pPr rtl="1" algn="ctr" indent="0" marL="0">
              <a:lnSpc>
                <a:spcPct val="120000"/>
              </a:lnSpc>
              <a:buNone/>
            </a:pPr>
            <a:r>
              <a:rPr lang="ar-SA" altLang="en-US" sz="1800" b="1" dirty="0">
                <a:solidFill>
                  <a:srgbClr val="1B3B6F"/>
                </a:solidFill>
                <a:latin typeface="Amiri" pitchFamily="2" charset="-78"/>
                <a:cs typeface="Amiri" pitchFamily="2" charset="-78"/>
              </a:rPr>
              <a:t> الذَّكَاءُ الاصْطِنَاعِيُّ لِـ … · </a:t>
            </a:r>
            <a:pPr rtl="1" algn="ctr" indent="0" marL="0">
              <a:lnSpc>
                <a:spcPct val="120000"/>
              </a:lnSpc>
              <a:buNone/>
            </a:pPr>
            <a:r>
              <a:rPr lang="ar-SA" altLang="en-US" sz="1800" b="1" dirty="0">
                <a:solidFill>
                  <a:srgbClr val="0E7C86"/>
                </a:solidFill>
                <a:latin typeface="Amiri" pitchFamily="2" charset="-78"/>
                <a:cs typeface="Amiri" pitchFamily="2" charset="-78"/>
              </a:rPr>
              <a:t>مِنْ أَهَمِّ الفَوَائِدِ أَنَّ</a:t>
            </a:r>
            <a:pPr rtl="1" algn="ctr" indent="0" marL="0">
              <a:lnSpc>
                <a:spcPct val="120000"/>
              </a:lnSpc>
              <a:buNone/>
            </a:pPr>
            <a:r>
              <a:rPr lang="ar-SA" altLang="en-US" sz="1800" b="1" dirty="0">
                <a:solidFill>
                  <a:srgbClr val="1B3B6F"/>
                </a:solidFill>
                <a:latin typeface="Amiri" pitchFamily="2" charset="-78"/>
                <a:cs typeface="Amiri" pitchFamily="2" charset="-78"/>
              </a:rPr>
              <a:t> …</a:t>
            </a:r>
            <a:endParaRPr lang="ar-SA" sz="18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green technologies and smart-city features.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how a technology works with agreeing verbs.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its use with </a:t>
            </a:r>
            <a:pPr algn="l" indent="0" marL="0">
              <a:buNone/>
            </a:pPr>
            <a:r>
              <a:rPr lang="ar-SA" altLang="en-US" sz="1700" dirty="0">
                <a:solidFill>
                  <a:srgbClr val="1F2A37"/>
                </a:solidFill>
                <a:latin typeface="Amiri" pitchFamily="2" charset="-78"/>
                <a:cs typeface="Amiri" pitchFamily="2" charset="-78"/>
              </a:rPr>
              <a:t>يُسْتَخْدَمُ / تُسْتَخْدَمُ … لِـ</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تُسَاعِدُ عَلَى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Evaluate benefits and challenges with a long-term judgement.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green technologies.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one technology does.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it is used for (passive).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it helps with.</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weigh a benefit against a challenge.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long-term judgement.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Green technology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Processes and outcomes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كَهْرَبَاءُ</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‎کہربا / بجلی‎ </a:t>
            </a:r>
            <a:pPr indent="0" marL="0">
              <a:buNone/>
            </a:pPr>
            <a:r>
              <a:rPr lang="en-US" sz="950" b="1" dirty="0">
                <a:solidFill>
                  <a:srgbClr val="2E8B57"/>
                </a:solidFill>
                <a:latin typeface="Calibri" pitchFamily="34" charset="0"/>
                <a:cs typeface="Amiri" pitchFamily="2" charset="-78"/>
              </a:rPr>
              <a:t> kahrubā · electricity (Urdu: amber!)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نِظَامٌ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‎نظام‎ </a:t>
            </a:r>
            <a:pPr indent="0" marL="0">
              <a:buNone/>
            </a:pPr>
            <a:r>
              <a:rPr lang="en-US" sz="950" b="1" dirty="0">
                <a:solidFill>
                  <a:srgbClr val="2E8B57"/>
                </a:solidFill>
                <a:latin typeface="Calibri" pitchFamily="34" charset="0"/>
                <a:cs typeface="Amiri" pitchFamily="2" charset="-78"/>
              </a:rPr>
              <a:t> nizām · system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فَائِدَةٌ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‎فائدہ‎ </a:t>
            </a:r>
            <a:pPr indent="0" marL="0">
              <a:buNone/>
            </a:pPr>
            <a:r>
              <a:rPr lang="en-US" sz="950" b="1" dirty="0">
                <a:solidFill>
                  <a:srgbClr val="2E8B57"/>
                </a:solidFill>
                <a:latin typeface="Calibri" pitchFamily="34" charset="0"/>
                <a:cs typeface="Amiri" pitchFamily="2" charset="-78"/>
              </a:rPr>
              <a:t> fāʾida · benefit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تَحَدٍّ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‎چیلنج‎ </a:t>
            </a:r>
            <a:pPr indent="0" marL="0">
              <a:buNone/>
            </a:pPr>
            <a:r>
              <a:rPr lang="en-US" sz="950" b="1" dirty="0">
                <a:solidFill>
                  <a:srgbClr val="2E8B57"/>
                </a:solidFill>
                <a:latin typeface="Calibri" pitchFamily="34" charset="0"/>
                <a:cs typeface="Amiri" pitchFamily="2" charset="-78"/>
              </a:rPr>
              <a:t> chailenj · challenge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مُسْتَدَامٌ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‎مستقل / دائم‎ </a:t>
            </a:r>
            <a:pPr indent="0" marL="0">
              <a:buNone/>
            </a:pPr>
            <a:r>
              <a:rPr lang="en-US" sz="950" b="1" dirty="0">
                <a:solidFill>
                  <a:srgbClr val="2E8B57"/>
                </a:solidFill>
                <a:latin typeface="Calibri" pitchFamily="34" charset="0"/>
                <a:cs typeface="Amiri" pitchFamily="2" charset="-78"/>
              </a:rPr>
              <a:t> dāʾim · lasting → sustainable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Green technology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التِّقْنِيَّةُ الخَضْرَاءُ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technology</a:t>
            </a:r>
            <a:endParaRPr lang="en-US" sz="1350" dirty="0"/>
          </a:p>
          <a:p>
            <a:pPr indent="0" marL="0">
              <a:buNone/>
            </a:pPr>
            <a:r>
              <a:rPr lang="en-US" sz="1100" i="1" dirty="0">
                <a:solidFill>
                  <a:srgbClr val="5A6472"/>
                </a:solidFill>
                <a:latin typeface="Calibri" pitchFamily="34" charset="0"/>
                <a:cs typeface="Amiri" pitchFamily="2" charset="-78"/>
              </a:rPr>
              <a:t>at-tiq-niy-ya-tu al-khaḍ-rā-ʾu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الأَلْوَاحُ الشَّمْسِيَّةُ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panels</a:t>
            </a:r>
            <a:endParaRPr lang="en-US" sz="1350" dirty="0"/>
          </a:p>
          <a:p>
            <a:pPr indent="0" marL="0">
              <a:buNone/>
            </a:pPr>
            <a:r>
              <a:rPr lang="en-US" sz="1100" i="1" dirty="0">
                <a:solidFill>
                  <a:srgbClr val="5A6472"/>
                </a:solidFill>
                <a:latin typeface="Calibri" pitchFamily="34" charset="0"/>
                <a:cs typeface="Amiri" pitchFamily="2" charset="-78"/>
              </a:rPr>
              <a:t>al-al-wā-ḥu ash-sham-siy-ya-tu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تُورْبِينَاتُ 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turbines</a:t>
            </a:r>
            <a:endParaRPr lang="en-US" sz="1350" dirty="0"/>
          </a:p>
          <a:p>
            <a:pPr indent="0" marL="0">
              <a:buNone/>
            </a:pPr>
            <a:r>
              <a:rPr lang="en-US" sz="1100" i="1" dirty="0">
                <a:solidFill>
                  <a:srgbClr val="5A6472"/>
                </a:solidFill>
                <a:latin typeface="Calibri" pitchFamily="34" charset="0"/>
                <a:cs typeface="Amiri" pitchFamily="2" charset="-78"/>
              </a:rPr>
              <a:t>tūr-bī-nā-tu ar-ri-yā-ḥi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شَبَكَةٌ كَهْرَبَائِيَّةٌ ذَكِيَّةٌ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smart electricity grid</a:t>
            </a:r>
            <a:endParaRPr lang="en-US" sz="1350" dirty="0"/>
          </a:p>
          <a:p>
            <a:pPr indent="0" marL="0">
              <a:buNone/>
            </a:pPr>
            <a:r>
              <a:rPr lang="en-US" sz="1100" i="1" dirty="0">
                <a:solidFill>
                  <a:srgbClr val="5A6472"/>
                </a:solidFill>
                <a:latin typeface="Calibri" pitchFamily="34" charset="0"/>
                <a:cs typeface="Amiri" pitchFamily="2" charset="-78"/>
              </a:rPr>
              <a:t>sha-ba-ka-tun kah-ra-bā-ʾiy-ya-tun dha-kiy-ya-tun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مَبْنًى مُسْتَدَامٌ</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building</a:t>
            </a:r>
            <a:endParaRPr lang="en-US" sz="1350" dirty="0"/>
          </a:p>
          <a:p>
            <a:pPr indent="0" marL="0">
              <a:buNone/>
            </a:pPr>
            <a:r>
              <a:rPr lang="en-US" sz="1100" i="1" dirty="0">
                <a:solidFill>
                  <a:srgbClr val="5A6472"/>
                </a:solidFill>
                <a:latin typeface="Calibri" pitchFamily="34" charset="0"/>
                <a:cs typeface="Amiri" pitchFamily="2" charset="-78"/>
              </a:rPr>
              <a:t>mab-nan mus-ta-dā-mun</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Green technology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مَدِينَةٌ ذَكِيَّةٌ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smart city</a:t>
            </a:r>
            <a:endParaRPr lang="en-US" sz="1350" dirty="0"/>
          </a:p>
          <a:p>
            <a:pPr indent="0" marL="0">
              <a:buNone/>
            </a:pPr>
            <a:r>
              <a:rPr lang="en-US" sz="1100" i="1" dirty="0">
                <a:solidFill>
                  <a:srgbClr val="5A6472"/>
                </a:solidFill>
                <a:latin typeface="Calibri" pitchFamily="34" charset="0"/>
                <a:cs typeface="Amiri" pitchFamily="2" charset="-78"/>
              </a:rPr>
              <a:t>ma-dī-na-tun dha-kiy-ya-tun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نِظَامُ إِدَارَةِ الطَّاقَةِ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energy-management system</a:t>
            </a:r>
            <a:endParaRPr lang="en-US" sz="1350" dirty="0"/>
          </a:p>
          <a:p>
            <a:pPr indent="0" marL="0">
              <a:buNone/>
            </a:pPr>
            <a:r>
              <a:rPr lang="en-US" sz="1100" i="1" dirty="0">
                <a:solidFill>
                  <a:srgbClr val="5A6472"/>
                </a:solidFill>
                <a:latin typeface="Calibri" pitchFamily="34" charset="0"/>
                <a:cs typeface="Amiri" pitchFamily="2" charset="-78"/>
              </a:rPr>
              <a:t>ni-ẓā-mu i-dā-ra-ti aṭ-ṭā-qa-ti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نَقْلٌ عَامٌّ مُسْتَدَامٌ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public transport</a:t>
            </a:r>
            <a:endParaRPr lang="en-US" sz="1350" dirty="0"/>
          </a:p>
          <a:p>
            <a:pPr indent="0" marL="0">
              <a:buNone/>
            </a:pPr>
            <a:r>
              <a:rPr lang="en-US" sz="1100" i="1" dirty="0">
                <a:solidFill>
                  <a:srgbClr val="5A6472"/>
                </a:solidFill>
                <a:latin typeface="Calibri" pitchFamily="34" charset="0"/>
                <a:cs typeface="Amiri" pitchFamily="2" charset="-78"/>
              </a:rPr>
              <a:t>naq-lun ʿām-mun mus-ta-dā-mun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مَسَاحَاتٌ خَضْرَاءُ</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spaces</a:t>
            </a:r>
            <a:endParaRPr lang="en-US" sz="1350" dirty="0"/>
          </a:p>
          <a:p>
            <a:pPr indent="0" marL="0">
              <a:buNone/>
            </a:pPr>
            <a:r>
              <a:rPr lang="en-US" sz="1100" i="1" dirty="0">
                <a:solidFill>
                  <a:srgbClr val="5A6472"/>
                </a:solidFill>
                <a:latin typeface="Calibri" pitchFamily="34" charset="0"/>
                <a:cs typeface="Amiri" pitchFamily="2" charset="-78"/>
              </a:rPr>
              <a:t>ma-sā-ḥā-tun khaḍ-rā-ʾu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بَصْمَةٌ كَرْبُونِيَّةٌ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carbon footprint</a:t>
            </a:r>
            <a:endParaRPr lang="en-US" sz="1350" dirty="0"/>
          </a:p>
          <a:p>
            <a:pPr indent="0" marL="0">
              <a:buNone/>
            </a:pPr>
            <a:r>
              <a:rPr lang="en-US" sz="1100" i="1" dirty="0">
                <a:solidFill>
                  <a:srgbClr val="5A6472"/>
                </a:solidFill>
                <a:latin typeface="Calibri" pitchFamily="34" charset="0"/>
                <a:cs typeface="Amiri" pitchFamily="2" charset="-78"/>
              </a:rPr>
              <a:t>baṣ-ma-tun kar-bū-niy-ya-tun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Processes and outcomes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converts</a:t>
            </a:r>
            <a:endParaRPr lang="en-US" sz="1350" dirty="0"/>
          </a:p>
          <a:p>
            <a:pPr indent="0" marL="0">
              <a:buNone/>
            </a:pPr>
            <a:r>
              <a:rPr lang="en-US" sz="1100" i="1" dirty="0">
                <a:solidFill>
                  <a:srgbClr val="5A6472"/>
                </a:solidFill>
                <a:latin typeface="Calibri" pitchFamily="34" charset="0"/>
                <a:cs typeface="Amiri" pitchFamily="2" charset="-78"/>
              </a:rPr>
              <a:t>tu-ḥaw-wi-lu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تُوَلِّدُ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generates</a:t>
            </a:r>
            <a:endParaRPr lang="en-US" sz="1350" dirty="0"/>
          </a:p>
          <a:p>
            <a:pPr indent="0" marL="0">
              <a:buNone/>
            </a:pPr>
            <a:r>
              <a:rPr lang="en-US" sz="1100" i="1" dirty="0">
                <a:solidFill>
                  <a:srgbClr val="5A6472"/>
                </a:solidFill>
                <a:latin typeface="Calibri" pitchFamily="34" charset="0"/>
                <a:cs typeface="Amiri" pitchFamily="2" charset="-78"/>
              </a:rPr>
              <a:t>tu-wal-li-du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تُخَفِّضُ</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tu-khaf-fi-ḍu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تَرْصُدُ</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monitors</a:t>
            </a:r>
            <a:endParaRPr lang="en-US" sz="1350" dirty="0"/>
          </a:p>
          <a:p>
            <a:pPr indent="0" marL="0">
              <a:buNone/>
            </a:pPr>
            <a:r>
              <a:rPr lang="en-US" sz="1100" i="1" dirty="0">
                <a:solidFill>
                  <a:srgbClr val="5A6472"/>
                </a:solidFill>
                <a:latin typeface="Calibri" pitchFamily="34" charset="0"/>
                <a:cs typeface="Amiri" pitchFamily="2" charset="-78"/>
              </a:rPr>
              <a:t>tar-ṣu-du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تَتَنَبَّأُ بِـ</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predicts</a:t>
            </a:r>
            <a:endParaRPr lang="en-US" sz="1350" dirty="0"/>
          </a:p>
          <a:p>
            <a:pPr indent="0" marL="0">
              <a:buNone/>
            </a:pPr>
            <a:r>
              <a:rPr lang="en-US" sz="1100" i="1" dirty="0">
                <a:solidFill>
                  <a:srgbClr val="5A6472"/>
                </a:solidFill>
                <a:latin typeface="Calibri" pitchFamily="34" charset="0"/>
                <a:cs typeface="Amiri" pitchFamily="2" charset="-78"/>
              </a:rPr>
              <a:t>ta-ta-nab-ba-ʾu bi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Processes and outcomes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تَكْشِفُ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detects</a:t>
            </a:r>
            <a:endParaRPr lang="en-US" sz="1350" dirty="0"/>
          </a:p>
          <a:p>
            <a:pPr indent="0" marL="0">
              <a:buNone/>
            </a:pPr>
            <a:r>
              <a:rPr lang="en-US" sz="1100" i="1" dirty="0">
                <a:solidFill>
                  <a:srgbClr val="5A6472"/>
                </a:solidFill>
                <a:latin typeface="Calibri" pitchFamily="34" charset="0"/>
                <a:cs typeface="Amiri" pitchFamily="2" charset="-78"/>
              </a:rPr>
              <a:t>tak-shi-fu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تُحَسِّنُ</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improves</a:t>
            </a:r>
            <a:endParaRPr lang="en-US" sz="1350" dirty="0"/>
          </a:p>
          <a:p>
            <a:pPr indent="0" marL="0">
              <a:buNone/>
            </a:pPr>
            <a:r>
              <a:rPr lang="en-US" sz="1100" i="1" dirty="0">
                <a:solidFill>
                  <a:srgbClr val="5A6472"/>
                </a:solidFill>
                <a:latin typeface="Calibri" pitchFamily="34" charset="0"/>
                <a:cs typeface="Amiri" pitchFamily="2" charset="-78"/>
              </a:rPr>
              <a:t>tu-ḥas-si-nu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تُسَاعِدُ عَلَى</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helps to</a:t>
            </a:r>
            <a:endParaRPr lang="en-US" sz="1350" dirty="0"/>
          </a:p>
          <a:p>
            <a:pPr indent="0" marL="0">
              <a:buNone/>
            </a:pPr>
            <a:r>
              <a:rPr lang="en-US" sz="1100" i="1" dirty="0">
                <a:solidFill>
                  <a:srgbClr val="5A6472"/>
                </a:solidFill>
                <a:latin typeface="Calibri" pitchFamily="34" charset="0"/>
                <a:cs typeface="Amiri" pitchFamily="2" charset="-78"/>
              </a:rPr>
              <a:t>tu-sā-ʿi-du ʿa-lā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يُسْتَخْدَمُ</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used</a:t>
            </a:r>
            <a:endParaRPr lang="en-US" sz="1350" dirty="0"/>
          </a:p>
          <a:p>
            <a:pPr indent="0" marL="0">
              <a:buNone/>
            </a:pPr>
            <a:r>
              <a:rPr lang="en-US" sz="1100" i="1" dirty="0">
                <a:solidFill>
                  <a:srgbClr val="5A6472"/>
                </a:solidFill>
                <a:latin typeface="Calibri" pitchFamily="34" charset="0"/>
                <a:cs typeface="Amiri" pitchFamily="2" charset="-78"/>
              </a:rPr>
              <a:t>yus-takh-da-mu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تُسْتَخْدَمُ</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used (f.)</a:t>
            </a:r>
            <a:endParaRPr lang="en-US" sz="1350" dirty="0"/>
          </a:p>
          <a:p>
            <a:pPr indent="0" marL="0">
              <a:buNone/>
            </a:pPr>
            <a:r>
              <a:rPr lang="en-US" sz="1100" i="1" dirty="0">
                <a:solidFill>
                  <a:srgbClr val="5A6472"/>
                </a:solidFill>
                <a:latin typeface="Calibri" pitchFamily="34" charset="0"/>
                <a:cs typeface="Amiri" pitchFamily="2" charset="-78"/>
              </a:rPr>
              <a:t>tus-takh-da-mu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فَعَّالٌ / فَعَّالَةٌ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effective</a:t>
            </a:r>
            <a:endParaRPr lang="en-US" sz="1350" dirty="0"/>
          </a:p>
          <a:p>
            <a:pPr indent="0" marL="0">
              <a:buNone/>
            </a:pPr>
            <a:r>
              <a:rPr lang="en-US" sz="1100" i="1" dirty="0">
                <a:solidFill>
                  <a:srgbClr val="5A6472"/>
                </a:solidFill>
                <a:latin typeface="Calibri" pitchFamily="34" charset="0"/>
                <a:cs typeface="Amiri" pitchFamily="2" charset="-78"/>
              </a:rPr>
              <a:t>faʿ-ʿā-lun / faʿ-ʿā-la-tun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مُكَلِّفٌ / مُكَلِّفَةٌ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mu-kal-li-fun / mu-kal-li-fa-tun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قَابِلٌ لِلتَّطْبِيقِ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feasible</a:t>
            </a:r>
            <a:endParaRPr lang="en-US" sz="1350" dirty="0"/>
          </a:p>
          <a:p>
            <a:pPr indent="0" marL="0">
              <a:buNone/>
            </a:pPr>
            <a:r>
              <a:rPr lang="en-US" sz="1100" i="1" dirty="0">
                <a:solidFill>
                  <a:srgbClr val="5A6472"/>
                </a:solidFill>
                <a:latin typeface="Calibri" pitchFamily="34" charset="0"/>
                <a:cs typeface="Amiri" pitchFamily="2" charset="-78"/>
              </a:rPr>
              <a:t>qā-bi-lun lilt-taṭ-bī-qi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المَدَى البَعِيدِ</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long term</a:t>
            </a:r>
            <a:endParaRPr lang="en-US" sz="1350" dirty="0"/>
          </a:p>
          <a:p>
            <a:pPr indent="0" marL="0">
              <a:buNone/>
            </a:pPr>
            <a:r>
              <a:rPr lang="en-US" sz="1100" i="1" dirty="0">
                <a:solidFill>
                  <a:srgbClr val="5A6472"/>
                </a:solidFill>
                <a:latin typeface="Calibri" pitchFamily="34" charset="0"/>
                <a:cs typeface="Amiri" pitchFamily="2" charset="-78"/>
              </a:rPr>
              <a:t>ʿa-lā al-ma-dā al-ba-ʿī-di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أَهَمِّ الفَوَائِدِ</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of the main benefits</a:t>
            </a:r>
            <a:endParaRPr lang="en-US" sz="1350" dirty="0"/>
          </a:p>
          <a:p>
            <a:pPr indent="0" marL="0">
              <a:buNone/>
            </a:pPr>
            <a:r>
              <a:rPr lang="en-US" sz="1100" i="1" dirty="0">
                <a:solidFill>
                  <a:srgbClr val="5A6472"/>
                </a:solidFill>
                <a:latin typeface="Calibri" pitchFamily="34" charset="0"/>
                <a:cs typeface="Amiri" pitchFamily="2" charset="-78"/>
              </a:rPr>
              <a:t>min a-ham-mi al-fa-wā-ʾi-di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أَبْرَزِ التَّحَدِّيَاتِ</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of the main challenges</a:t>
            </a:r>
            <a:endParaRPr lang="en-US" sz="1350" dirty="0"/>
          </a:p>
          <a:p>
            <a:pPr indent="0" marL="0">
              <a:buNone/>
            </a:pPr>
            <a:r>
              <a:rPr lang="en-US" sz="1100" i="1" dirty="0">
                <a:solidFill>
                  <a:srgbClr val="5A6472"/>
                </a:solidFill>
                <a:latin typeface="Calibri" pitchFamily="34" charset="0"/>
                <a:cs typeface="Amiri" pitchFamily="2" charset="-78"/>
              </a:rPr>
              <a:t>min ab-ra-zi at-ta-ḥad-di-yā-ti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1 · WHAT IT DOES · WHAT IT IS USED FOR (WEBSITE RULES 1–2)</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Does (active) · is used for (passive)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تُحَوِّلُ · يُسْتَخْدَمُ 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53035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333488" y="2267712"/>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active · non-human plural → ta-</a:t>
            </a:r>
            <a:endParaRPr lang="en-US" sz="1100" dirty="0"/>
          </a:p>
        </p:txBody>
      </p:sp>
      <p:sp>
        <p:nvSpPr>
          <p:cNvPr id="20" name="Text 17"/>
          <p:cNvSpPr txBox="1"/>
          <p:nvPr/>
        </p:nvSpPr>
        <p:spPr>
          <a:xfrm>
            <a:off x="548640" y="2286000"/>
            <a:ext cx="65836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تُحَوِّلُ</a:t>
            </a:r>
            <a:pPr rtl="1" algn="ctr" indent="0" marL="0">
              <a:buNone/>
            </a:pPr>
            <a:r>
              <a:rPr lang="ar-SA" altLang="en-US" sz="2100" b="1" dirty="0">
                <a:solidFill>
                  <a:srgbClr val="1B3B6F"/>
                </a:solidFill>
                <a:latin typeface="Amiri" pitchFamily="2" charset="-78"/>
                <a:cs typeface="Amiri" pitchFamily="2" charset="-78"/>
              </a:rPr>
              <a:t> الأَلْوَاحُ الشَّمْسِيَّةُ ضَوْءَ الشَّمْسِ إِلَى كَهْرَبَاءَ.</a:t>
            </a:r>
            <a:endParaRPr lang="ar-SA" sz="2100" dirty="0"/>
          </a:p>
        </p:txBody>
      </p:sp>
      <p:sp>
        <p:nvSpPr>
          <p:cNvPr id="21" name="Text 18"/>
          <p:cNvSpPr txBox="1"/>
          <p:nvPr/>
        </p:nvSpPr>
        <p:spPr>
          <a:xfrm>
            <a:off x="502920" y="2706624"/>
            <a:ext cx="6675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Solar panels convert sunlight into electricity.</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7333488" y="3054096"/>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active · feminine → ta-</a:t>
            </a:r>
            <a:endParaRPr lang="en-US" sz="1100" dirty="0"/>
          </a:p>
        </p:txBody>
      </p:sp>
      <p:sp>
        <p:nvSpPr>
          <p:cNvPr id="26" name="Text 23"/>
          <p:cNvSpPr txBox="1"/>
          <p:nvPr/>
        </p:nvSpPr>
        <p:spPr>
          <a:xfrm>
            <a:off x="548640" y="3072384"/>
            <a:ext cx="65836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تُخَفِّضُ</a:t>
            </a:r>
            <a:pPr rtl="1" algn="ctr" indent="0" marL="0">
              <a:buNone/>
            </a:pPr>
            <a:r>
              <a:rPr lang="ar-SA" altLang="en-US" sz="2100" b="1" dirty="0">
                <a:solidFill>
                  <a:srgbClr val="1B3B6F"/>
                </a:solidFill>
                <a:latin typeface="Amiri" pitchFamily="2" charset="-78"/>
                <a:cs typeface="Amiri" pitchFamily="2" charset="-78"/>
              </a:rPr>
              <a:t> المَدِينَةُ الذَّكِيَّةُ الانْبِعَاثَاتِ.</a:t>
            </a:r>
            <a:endParaRPr lang="ar-SA" sz="2100" dirty="0"/>
          </a:p>
        </p:txBody>
      </p:sp>
      <p:sp>
        <p:nvSpPr>
          <p:cNvPr id="27" name="Text 24"/>
          <p:cNvSpPr txBox="1"/>
          <p:nvPr/>
        </p:nvSpPr>
        <p:spPr>
          <a:xfrm>
            <a:off x="502920" y="3493008"/>
            <a:ext cx="6675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smart city reduces emissions.</a:t>
            </a:r>
            <a:endParaRPr lang="en-US" sz="95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7333488" y="3840480"/>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 al-dhakāʾ (m.) → yu-</a:t>
            </a:r>
            <a:endParaRPr lang="en-US" sz="1100" dirty="0"/>
          </a:p>
        </p:txBody>
      </p:sp>
      <p:sp>
        <p:nvSpPr>
          <p:cNvPr id="32" name="Text 29"/>
          <p:cNvSpPr txBox="1"/>
          <p:nvPr/>
        </p:nvSpPr>
        <p:spPr>
          <a:xfrm>
            <a:off x="548640" y="3858768"/>
            <a:ext cx="658368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يُسْتَخْدَمُ</a:t>
            </a:r>
            <a:pPr rtl="1" algn="ctr" indent="0" marL="0">
              <a:buNone/>
            </a:pPr>
            <a:r>
              <a:rPr lang="ar-SA" altLang="en-US" sz="2100" b="1" dirty="0">
                <a:solidFill>
                  <a:srgbClr val="1B3B6F"/>
                </a:solidFill>
                <a:latin typeface="Amiri" pitchFamily="2" charset="-78"/>
                <a:cs typeface="Amiri" pitchFamily="2" charset="-78"/>
              </a:rPr>
              <a:t> الذَّكَاءُ الاصْطِنَاعِيُّ </a:t>
            </a:r>
            <a:pPr rtl="1" algn="ctr" indent="0" marL="0">
              <a:buNone/>
            </a:pPr>
            <a:r>
              <a:rPr lang="ar-SA" altLang="en-US" sz="2100" b="1" dirty="0">
                <a:solidFill>
                  <a:srgbClr val="0E7C86"/>
                </a:solidFill>
                <a:latin typeface="Amiri" pitchFamily="2" charset="-78"/>
                <a:cs typeface="Amiri" pitchFamily="2" charset="-78"/>
              </a:rPr>
              <a:t>لِرَصْدِ</a:t>
            </a:r>
            <a:pPr rtl="1" algn="ctr" indent="0" marL="0">
              <a:buNone/>
            </a:pPr>
            <a:r>
              <a:rPr lang="ar-SA" altLang="en-US" sz="2100" b="1" dirty="0">
                <a:solidFill>
                  <a:srgbClr val="1B3B6F"/>
                </a:solidFill>
                <a:latin typeface="Amiri" pitchFamily="2" charset="-78"/>
                <a:cs typeface="Amiri" pitchFamily="2" charset="-78"/>
              </a:rPr>
              <a:t> التَّلَوُّثِ.</a:t>
            </a:r>
            <a:endParaRPr lang="ar-SA" sz="2100" dirty="0"/>
          </a:p>
        </p:txBody>
      </p:sp>
      <p:sp>
        <p:nvSpPr>
          <p:cNvPr id="33" name="Text 30"/>
          <p:cNvSpPr txBox="1"/>
          <p:nvPr/>
        </p:nvSpPr>
        <p:spPr>
          <a:xfrm>
            <a:off x="502920" y="4279392"/>
            <a:ext cx="6675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AI is used to monitor pollution.</a:t>
            </a:r>
            <a:endParaRPr lang="en-US" sz="95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7333488" y="4626864"/>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 non-human plural → tu-</a:t>
            </a:r>
            <a:endParaRPr lang="en-US" sz="1100" dirty="0"/>
          </a:p>
        </p:txBody>
      </p:sp>
      <p:sp>
        <p:nvSpPr>
          <p:cNvPr id="36" name="Text 33"/>
          <p:cNvSpPr txBox="1"/>
          <p:nvPr/>
        </p:nvSpPr>
        <p:spPr>
          <a:xfrm>
            <a:off x="548640" y="4645152"/>
            <a:ext cx="65836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تُسْتَخْدَمُ</a:t>
            </a:r>
            <a:pPr rtl="1" algn="ctr" indent="0" marL="0">
              <a:buNone/>
            </a:pPr>
            <a:r>
              <a:rPr lang="ar-SA" altLang="en-US" sz="2100" b="1" dirty="0">
                <a:solidFill>
                  <a:srgbClr val="1B3B6F"/>
                </a:solidFill>
                <a:latin typeface="Amiri" pitchFamily="2" charset="-78"/>
                <a:cs typeface="Amiri" pitchFamily="2" charset="-78"/>
              </a:rPr>
              <a:t> الأَقْمَارُ الصِّنَاعِيَّةُ </a:t>
            </a:r>
            <a:pPr rtl="1" algn="ctr" indent="0" marL="0">
              <a:buNone/>
            </a:pPr>
            <a:r>
              <a:rPr lang="ar-SA" altLang="en-US" sz="2100" b="1" dirty="0">
                <a:solidFill>
                  <a:srgbClr val="0E7C86"/>
                </a:solidFill>
                <a:latin typeface="Amiri" pitchFamily="2" charset="-78"/>
                <a:cs typeface="Amiri" pitchFamily="2" charset="-78"/>
              </a:rPr>
              <a:t>لِمُرَاقَبَةِ</a:t>
            </a:r>
            <a:pPr rtl="1" algn="ctr" indent="0" marL="0">
              <a:buNone/>
            </a:pPr>
            <a:r>
              <a:rPr lang="ar-SA" altLang="en-US" sz="2100" b="1" dirty="0">
                <a:solidFill>
                  <a:srgbClr val="1B3B6F"/>
                </a:solidFill>
                <a:latin typeface="Amiri" pitchFamily="2" charset="-78"/>
                <a:cs typeface="Amiri" pitchFamily="2" charset="-78"/>
              </a:rPr>
              <a:t> الجَفَافِ.</a:t>
            </a:r>
            <a:endParaRPr lang="ar-SA" sz="2100" dirty="0"/>
          </a:p>
        </p:txBody>
      </p:sp>
      <p:sp>
        <p:nvSpPr>
          <p:cNvPr id="37" name="Text 34"/>
          <p:cNvSpPr txBox="1"/>
          <p:nvPr/>
        </p:nvSpPr>
        <p:spPr>
          <a:xfrm>
            <a:off x="502920" y="5065776"/>
            <a:ext cx="6675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Satellites are used to monitor drought.</a:t>
            </a:r>
            <a:endParaRPr lang="en-US" sz="9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Purpose after the passive: li- + a verbal noun (li-raṣdi = for monitoring).</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HELPS TO · BENEFITS · CHALLENGES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Helps to … · the main benefit … · the biggest challenge …</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تُسَاعِدُ عَلَى · مِنْ أَهَمِّ · مِنْ أَبْرَزِ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HELPS TO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تُسَاعِدُ عَلَى + مَصْدَرٍ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تُسَاعِدُ الشَّبَكَاتُ الذَّكِيَّةُ عَلَى تَقْلِيلِ هَدْرِ الطَّاقَةِ.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Smart grids help to reduce energy waste.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ʿalā + a verbal noun.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BENEFIT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أَهَمِّ الفَوَائِدِ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أَهَمِّ الفَوَائِدِ أَنَّ الطَّاقَةَ الشَّمْسِيَّةَ تُخَفِّضُ الانْبِعَاثَاتِ.</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of the main benefits is that solar energy cuts emissions.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full clause.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CHALLENGE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أَبْرَزِ التَّحَدِّيَاتِ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أَبْرَزِ التَّحَدِّيَاتِ أَنَّ التَّكْلِفَةَ الأُولَى مُرْتَفِعَةٌ.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of the biggest challenges is that the initial cost is high.</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Balance the benefit.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tusāʿidu takes ʿalā.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تُسَاعِدُ الشَّبَكَةُ عَلَى تَقْلِيلِ الهَدْرِ.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تُسَاعِدُ الشَّبَكَةُ إِلَى تَقْلِيلِ الهَدْرِ.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Active, passive and evaluative language for green technology</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التِّقْنِيَّةِ الخَضْرَاءِ</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Active technology processes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feminine technology subject + feminine present verb</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تُحَوِّلُ الأَلْوَاحُ الشَّمْسِيَّةُ ضَوْءَ الشَّمْسِ إِلَى كَهْرَبَاءَ.   ·   تُخَفِّضُ المَدِينَةُ الذَّكِيَّةُ الانْبِعَاثَاتِ.</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Passive use descriptions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يُسْتَخْدَمُ / تُسْتَخْدَمُ</a:t>
            </a:r>
            <a:pPr algn="l" indent="0" marL="0">
              <a:buNone/>
            </a:pPr>
            <a:r>
              <a:rPr lang="en-US" sz="1050" dirty="0">
                <a:solidFill>
                  <a:srgbClr val="5A6472"/>
                </a:solidFill>
                <a:latin typeface="Calibri" pitchFamily="34" charset="0"/>
                <a:cs typeface="Amiri" pitchFamily="2" charset="-78"/>
              </a:rPr>
              <a:t> + subject + </a:t>
            </a:r>
            <a:pPr algn="l" indent="0" marL="0">
              <a:buNone/>
            </a:pPr>
            <a:r>
              <a:rPr lang="ar-SA" altLang="en-US" sz="1350" dirty="0">
                <a:solidFill>
                  <a:srgbClr val="5A6472"/>
                </a:solidFill>
                <a:latin typeface="Amiri" pitchFamily="2" charset="-78"/>
                <a:cs typeface="Amiri" pitchFamily="2" charset="-78"/>
              </a:rPr>
              <a:t>لِـ</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يُسْتَخْدَمُ الذَّكَاءُ الاصْطِنَاعِيُّ لِرَصْدِ التَّلَوُّثِ.   ·   تُسْتَخْدَمُ الأَقْمَارُ الصِّنَاعِيَّةُ لِمُرَاقَبَةِ الجَفَافِ.</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Helping to achieve an outcome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تُسَاعِدُ</a:t>
            </a:r>
            <a:pPr algn="l" indent="0" marL="0">
              <a:buNone/>
            </a:pPr>
            <a:r>
              <a:rPr lang="en-US" sz="1050" dirty="0">
                <a:solidFill>
                  <a:srgbClr val="5A6472"/>
                </a:solidFill>
                <a:latin typeface="Calibri" pitchFamily="34" charset="0"/>
                <a:cs typeface="Amiri" pitchFamily="2" charset="-78"/>
              </a:rPr>
              <a:t> + noun + </a:t>
            </a:r>
            <a:pPr algn="l" indent="0" marL="0">
              <a:buNone/>
            </a:pPr>
            <a:r>
              <a:rPr lang="ar-SA" altLang="en-US" sz="1350" dirty="0">
                <a:solidFill>
                  <a:srgbClr val="5A6472"/>
                </a:solidFill>
                <a:latin typeface="Amiri" pitchFamily="2" charset="-78"/>
                <a:cs typeface="Amiri" pitchFamily="2" charset="-78"/>
              </a:rPr>
              <a:t>عَلَى</a:t>
            </a:r>
            <a:pPr algn="l" indent="0" marL="0">
              <a:buNone/>
            </a:pPr>
            <a:r>
              <a:rPr lang="en-US" sz="1050" dirty="0">
                <a:solidFill>
                  <a:srgbClr val="5A6472"/>
                </a:solidFill>
                <a:latin typeface="Calibri" pitchFamily="34" charset="0"/>
                <a:cs typeface="Amiri" pitchFamily="2" charset="-78"/>
              </a:rPr>
              <a:t> + verbal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تُسَاعِدُ الشَّبَكَاتُ الذَّكِيَّةُ عَلَى تَقْلِيلِ هَدْرِ الطَّاقَةِ.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Measured evaluation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أَهَمِّ الفَوَائِدِ أَنَّ ... / مِنْ أَبْرَزِ التَّحَدِّيَاتِ أَنَّ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مِنْ أَهَمِّ الفَوَائِدِ أَنَّ الطَّاقَةَ الشَّمْسِيَّةَ تُخَفِّضُ الانْبِعَاثَاتِ.   ·   مِنْ أَبْرَزِ التَّحَدِّيَاتِ أَنَّ التَّكْلِفَةَ الأُولَى مُرْتَفِعَةٌ.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active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يُحَوِّلُ الأَلْوَاحُ الشَّمْسِيَّةُ ضَوْءَ الشَّمْسِ.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تَحَوَّلُ الأَلْوَاحَ الشَّمْسِيَّةَ إِلَى كَهْرَبَاءَ.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تُحَوِّلُ الأَلْوَاحُ الشَّمْسِيَّةُ ضَوْءَ الشَّمْسِ إِلَى كَهْرَبَاءَ.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 with </a:t>
            </a:r>
            <a:pPr algn="l" indent="0" marL="0">
              <a:buNone/>
            </a:pPr>
            <a:r>
              <a:rPr lang="ar-SA" altLang="en-US" sz="1650" b="1" dirty="0">
                <a:solidFill>
                  <a:srgbClr val="1B3B6F"/>
                </a:solidFill>
                <a:latin typeface="Amiri" pitchFamily="2" charset="-78"/>
                <a:cs typeface="Amiri" pitchFamily="2" charset="-78"/>
              </a:rPr>
              <a:t>الأَقْمَارُ الصِّنَاعِيَّةُ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 الأَقْمَارُ الصِّنَاعِيَّةُ لِمُرَاقَبَةِ الجَفَافِ.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 الأَقْمَارُ الصِّنَاعِيَّةُ لِمُرَاقَبَةِ الجَفَافِ.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 الأَقْمَارَ الصِّنَاعِيَّةَ الجَفَافَ.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collocation:</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تُسَاعِدُ التِّقْنِيَّةُ ___ تَقْلِيلِ الاسْتِهْلَاكِ.</a:t>
            </a:r>
            <a:endParaRPr lang="ar-SA" sz="14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benefit formally?</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أَهَمِّ الفَوَائِدِ أَنَّ الشَّبَكَةَ الذَّكِيَّةَ تُقَلِّلُ الهَدْرَ.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أَهَمُّ الفَوَائِدِ عَلَى الشَّبَكَةِ الذَّكِيَّةِ.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أَهَمِّ الفَوَائِدِ الشَّبَكَةُ تُقَلِّلُ الهَدْرَ أَنَّ.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active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يُحَوِّلُ الأَلْوَاحُ الشَّمْسِيَّةُ ضَوْءَ الشَّمْسِ.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تَحَوَّلُ الأَلْوَاحَ الشَّمْسِيَّةَ إِلَى كَهْرَبَاءَ.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تُحَوِّلُ الأَلْوَاحُ الشَّمْسِيَّةُ ضَوْءَ الشَّمْسِ إِلَى كَهْرَبَاءَ.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non-human plural </a:t>
            </a:r>
            <a:pPr algn="l" indent="0" marL="0">
              <a:buNone/>
            </a:pPr>
            <a:r>
              <a:rPr lang="ar-SA" altLang="en-US" sz="1350" dirty="0">
                <a:solidFill>
                  <a:srgbClr val="8A6D1E"/>
                </a:solidFill>
                <a:latin typeface="Amiri" pitchFamily="2" charset="-78"/>
                <a:cs typeface="Amiri" pitchFamily="2" charset="-78"/>
              </a:rPr>
              <a:t>الألواح</a:t>
            </a:r>
            <a:pPr algn="l" indent="0" marL="0">
              <a:buNone/>
            </a:pPr>
            <a:r>
              <a:rPr lang="en-US" sz="1050" i="1" dirty="0">
                <a:solidFill>
                  <a:srgbClr val="8A6D1E"/>
                </a:solidFill>
                <a:latin typeface="Calibri" pitchFamily="34" charset="0"/>
                <a:cs typeface="Amiri" pitchFamily="2" charset="-78"/>
              </a:rPr>
              <a:t> takes feminine singular agreement: </a:t>
            </a:r>
            <a:pPr algn="l" indent="0" marL="0">
              <a:buNone/>
            </a:pPr>
            <a:r>
              <a:rPr lang="ar-SA" altLang="en-US" sz="1350" dirty="0">
                <a:solidFill>
                  <a:srgbClr val="8A6D1E"/>
                </a:solidFill>
                <a:latin typeface="Amiri" pitchFamily="2" charset="-78"/>
                <a:cs typeface="Amiri" pitchFamily="2" charset="-78"/>
              </a:rPr>
              <a:t>تحول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 with </a:t>
            </a:r>
            <a:pPr algn="l" indent="0" marL="0">
              <a:buNone/>
            </a:pPr>
            <a:r>
              <a:rPr lang="ar-SA" altLang="en-US" sz="1650" b="1" dirty="0">
                <a:solidFill>
                  <a:srgbClr val="1B3B6F"/>
                </a:solidFill>
                <a:latin typeface="Amiri" pitchFamily="2" charset="-78"/>
                <a:cs typeface="Amiri" pitchFamily="2" charset="-78"/>
              </a:rPr>
              <a:t>الأَقْمَارُ الصِّنَاعِيَّةُ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تُسْتَخْدَمُ الأَقْمَارُ الصِّنَاعِيَّةُ لِمُرَاقَبَةِ الجَفَافِ.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يُسْتَخْدَمُ الأَقْمَارُ الصِّنَاعِيَّةُ لِمُرَاقَبَةِ الجَفَافِ.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تَسْتَخْدِمُ الأَقْمَارَ الصِّنَاعِيَّةَ الجَفَافَ.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feminine singular agreement.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collocation:</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تُسَاعِدُ التِّقْنِيَّةُ ___ تَقْلِيلِ الاسْتِهْلَاكِ.</a:t>
            </a:r>
            <a:endParaRPr lang="ar-SA" sz="14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تساعد على</a:t>
            </a:r>
            <a:pPr algn="l" indent="0" marL="0">
              <a:buNone/>
            </a:pPr>
            <a:r>
              <a:rPr lang="en-US" sz="1050" i="1" dirty="0">
                <a:solidFill>
                  <a:srgbClr val="8A6D1E"/>
                </a:solidFill>
                <a:latin typeface="Calibri" pitchFamily="34" charset="0"/>
                <a:cs typeface="Amiri" pitchFamily="2" charset="-78"/>
              </a:rPr>
              <a:t> + verbal noun.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benefit formally?</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أَهَمِّ الفَوَائِدِ أَنَّ الشَّبَكَةَ الذَّكِيَّةَ تُقَلِّلُ الهَدْرَ.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أَهَمُّ الفَوَائِدِ عَلَى الشَّبَكَةِ الذَّكِيَّةِ.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أَهَمِّ الفَوَائِدِ الشَّبَكَةُ تُقَلِّلُ الهَدْرَ أَنَّ.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formal frame is </a:t>
            </a:r>
            <a:pPr algn="l" indent="0" marL="0">
              <a:buNone/>
            </a:pPr>
            <a:r>
              <a:rPr lang="ar-SA" altLang="en-US" sz="1350" dirty="0">
                <a:solidFill>
                  <a:srgbClr val="8A6D1E"/>
                </a:solidFill>
                <a:latin typeface="Amiri" pitchFamily="2" charset="-78"/>
                <a:cs typeface="Amiri" pitchFamily="2" charset="-78"/>
              </a:rPr>
              <a:t>من أهم الفوائد أنَّ</a:t>
            </a:r>
            <a:pPr algn="l" indent="0" marL="0">
              <a:buNone/>
            </a:pPr>
            <a:r>
              <a:rPr lang="en-US" sz="1050" i="1" dirty="0">
                <a:solidFill>
                  <a:srgbClr val="8A6D1E"/>
                </a:solidFill>
                <a:latin typeface="Calibri" pitchFamily="34" charset="0"/>
                <a:cs typeface="Amiri" pitchFamily="2" charset="-78"/>
              </a:rPr>
              <a:t> + clause.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Watch me evaluate a smart energy system</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it works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تُوَلِّدُ</a:t>
            </a:r>
            <a:pPr rtl="1" algn="ctr" indent="0" marL="0">
              <a:lnSpc>
                <a:spcPct val="120000"/>
              </a:lnSpc>
              <a:buNone/>
            </a:pPr>
            <a:r>
              <a:rPr lang="ar-SA" altLang="en-US" sz="1750" b="1" dirty="0">
                <a:solidFill>
                  <a:srgbClr val="1B3B6F"/>
                </a:solidFill>
                <a:latin typeface="Amiri" pitchFamily="2" charset="-78"/>
                <a:cs typeface="Amiri" pitchFamily="2" charset="-78"/>
              </a:rPr>
              <a:t> الأَلْوَاحُ الشَّمْسِيَّةُ الكَهْرَبَاءَ.</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Non-human plural → 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Used for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يُسْتَخْدَمُ</a:t>
            </a:r>
            <a:pPr rtl="1" algn="ctr" indent="0" marL="0">
              <a:lnSpc>
                <a:spcPct val="120000"/>
              </a:lnSpc>
              <a:buNone/>
            </a:pPr>
            <a:r>
              <a:rPr lang="ar-SA" altLang="en-US" sz="1750" b="1" dirty="0">
                <a:solidFill>
                  <a:srgbClr val="1B3B6F"/>
                </a:solidFill>
                <a:latin typeface="Amiri" pitchFamily="2" charset="-78"/>
                <a:cs typeface="Amiri" pitchFamily="2" charset="-78"/>
              </a:rPr>
              <a:t> الذَّكَاءُ الاصْطِنَاعِيُّ لِلتَّنَبُّؤِ بِالطَّلَبِ.</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Passive · masculine.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Benefit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مِنْ أَهَمِّ الفَوَائِدِ أَنَّ</a:t>
            </a:r>
            <a:pPr rtl="1" algn="ctr" indent="0" marL="0">
              <a:lnSpc>
                <a:spcPct val="120000"/>
              </a:lnSpc>
              <a:buNone/>
            </a:pPr>
            <a:r>
              <a:rPr lang="ar-SA" altLang="en-US" sz="1750" b="1" dirty="0">
                <a:solidFill>
                  <a:srgbClr val="1B3B6F"/>
                </a:solidFill>
                <a:latin typeface="Amiri" pitchFamily="2" charset="-78"/>
                <a:cs typeface="Amiri" pitchFamily="2" charset="-78"/>
              </a:rPr>
              <a:t> النِّظَامَ يُقَلِّلُ الهَدْرَ.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anna + clause.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Challenge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لٰكِنَّ التَّكْلِفَةَ الأُولَى مُرْتَفِعَةٌ.</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other side.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ACTIVE (ta-)</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PASSIVE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EVALUATION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تَسْتَخْدِمُ مَدِينَةٌ ذَكِيَّةٌ شَبَكَةً كَهْرَبَائِيَّةً تَرْصُدُ الاسْتِهْلَاكَ كُلَّ سَاعَةٍ. وَ</a:t>
            </a:r>
            <a:pPr rtl="1" algn="r" indent="0" marL="0">
              <a:lnSpc>
                <a:spcPct val="120000"/>
              </a:lnSpc>
              <a:buNone/>
            </a:pPr>
            <a:r>
              <a:rPr lang="ar-SA" altLang="en-US" sz="1400" b="1" dirty="0">
                <a:solidFill>
                  <a:srgbClr val="1D5FBF"/>
                </a:solidFill>
                <a:latin typeface="Amiri" pitchFamily="2" charset="-78"/>
                <a:cs typeface="Amiri" pitchFamily="2" charset="-78"/>
              </a:rPr>
              <a:t>يُسْتَخْدَمُ</a:t>
            </a:r>
            <a:pPr rtl="1" algn="r" indent="0" marL="0">
              <a:lnSpc>
                <a:spcPct val="120000"/>
              </a:lnSpc>
              <a:buNone/>
            </a:pPr>
            <a:r>
              <a:rPr lang="ar-SA" altLang="en-US" sz="1400" b="1" dirty="0">
                <a:solidFill>
                  <a:srgbClr val="1B3B6F"/>
                </a:solidFill>
                <a:latin typeface="Amiri" pitchFamily="2" charset="-78"/>
                <a:cs typeface="Amiri" pitchFamily="2" charset="-78"/>
              </a:rPr>
              <a:t> الذَّكَاءُ الاصْطِنَاعِيُّ لِلتَّنَبُّؤِ بِالطَّلَبِ عَلَى الطَّاقَةِ، بَيْنَمَا </a:t>
            </a:r>
            <a:pPr rtl="1" algn="r" indent="0" marL="0">
              <a:lnSpc>
                <a:spcPct val="120000"/>
              </a:lnSpc>
              <a:buNone/>
            </a:pPr>
            <a:r>
              <a:rPr lang="ar-SA" altLang="en-US" sz="1400" b="1" dirty="0">
                <a:solidFill>
                  <a:srgbClr val="D6336C"/>
                </a:solidFill>
                <a:latin typeface="Amiri" pitchFamily="2" charset="-78"/>
                <a:cs typeface="Amiri" pitchFamily="2" charset="-78"/>
              </a:rPr>
              <a:t>تُوَلِّدُ</a:t>
            </a:r>
            <a:pPr rtl="1" algn="r" indent="0" marL="0">
              <a:lnSpc>
                <a:spcPct val="120000"/>
              </a:lnSpc>
              <a:buNone/>
            </a:pPr>
            <a:r>
              <a:rPr lang="ar-SA" altLang="en-US" sz="1400" b="1" dirty="0">
                <a:solidFill>
                  <a:srgbClr val="1B3B6F"/>
                </a:solidFill>
                <a:latin typeface="Amiri" pitchFamily="2" charset="-78"/>
                <a:cs typeface="Amiri" pitchFamily="2" charset="-78"/>
              </a:rPr>
              <a:t> الأَلْوَاحُ الشَّمْسِيَّةُ وَتُورْبِينَاتُ الرِّيَاحِ جُزْءًا كَبِيرًا مِنَ الكَهْرَبَاءِ. </a:t>
            </a:r>
            <a:pPr rtl="1" algn="r" indent="0" marL="0">
              <a:lnSpc>
                <a:spcPct val="120000"/>
              </a:lnSpc>
              <a:buNone/>
            </a:pPr>
            <a:r>
              <a:rPr lang="ar-SA" altLang="en-US" sz="1400" b="1" dirty="0">
                <a:solidFill>
                  <a:srgbClr val="0E7C86"/>
                </a:solidFill>
                <a:latin typeface="Amiri" pitchFamily="2" charset="-78"/>
                <a:cs typeface="Amiri" pitchFamily="2" charset="-78"/>
              </a:rPr>
              <a:t>مِنْ أَهَمِّ الفَوَائِدِ أَنَّ</a:t>
            </a:r>
            <a:pPr rtl="1" algn="r" indent="0" marL="0">
              <a:lnSpc>
                <a:spcPct val="120000"/>
              </a:lnSpc>
              <a:buNone/>
            </a:pPr>
            <a:r>
              <a:rPr lang="ar-SA" altLang="en-US" sz="1400" b="1" dirty="0">
                <a:solidFill>
                  <a:srgbClr val="1B3B6F"/>
                </a:solidFill>
                <a:latin typeface="Amiri" pitchFamily="2" charset="-78"/>
                <a:cs typeface="Amiri" pitchFamily="2" charset="-78"/>
              </a:rPr>
              <a:t> النِّظَامَ يُقَلِّلُ الهَدْرَ، لٰكِنَّ التَّكْلِفَةَ الأُولَى لِبِنَاءِ الشَّبَكَةِ مُرْتَفِعَةٌ.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smart city uses an electricity grid that monitors consumption every hour. AI is used to predict energy demand, while solar panels and wind turbines generate a large part of the electricity. One of the main benefits is that the system reduces waste, but the initial cost of building the grid is high.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تُحَوِّلُ الأَلْوَاحُ الشَّمْسِيَّةُ ضَوْءَ الشَّمْسِ إِلَى كَهْرَبَاءَ.</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Solar panels convert sunlight into electricity.</a:t>
            </a:r>
            <a:endParaRPr lang="en-US" sz="1250" dirty="0"/>
          </a:p>
          <a:p>
            <a:pPr indent="0" marL="0">
              <a:buNone/>
            </a:pPr>
            <a:r>
              <a:rPr lang="en-US" sz="1050" i="1" dirty="0">
                <a:solidFill>
                  <a:srgbClr val="8A6D1E"/>
                </a:solidFill>
                <a:latin typeface="Calibri" pitchFamily="34" charset="0"/>
                <a:cs typeface="Amiri" pitchFamily="2" charset="-78"/>
              </a:rPr>
              <a:t>Many technology nouns in this lesson are feminine plurals or singular feminine nouns, so the verb commonly begins with تـ.</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يُسْتَخْدَمُ الذَّكَاءُ الاصْطِنَاعِيُّ لِرَصْدِ التَّلَوُّثِ.</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Artificial intelligence is used to monitor pollution.</a:t>
            </a:r>
            <a:endParaRPr lang="en-US" sz="1250" dirty="0"/>
          </a:p>
          <a:p>
            <a:pPr indent="0" marL="0">
              <a:buNone/>
            </a:pPr>
            <a:r>
              <a:rPr lang="en-US" sz="1050" i="1" dirty="0">
                <a:solidFill>
                  <a:srgbClr val="8A6D1E"/>
                </a:solidFill>
                <a:latin typeface="Calibri" pitchFamily="34" charset="0"/>
                <a:cs typeface="Amiri" pitchFamily="2" charset="-78"/>
              </a:rPr>
              <a:t>Choose the passive verb according to the grammatical gender of the subject.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تُسَاعِدُ الشَّبَكَاتُ الذَّكِيَّةُ عَلَى تَقْلِيلِ هَدْرِ الطَّاقَةِ.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Smart grids help to reduce energy waste.</a:t>
            </a:r>
            <a:endParaRPr lang="en-US" sz="1250" dirty="0"/>
          </a:p>
          <a:p>
            <a:pPr indent="0" marL="0">
              <a:buNone/>
            </a:pPr>
            <a:r>
              <a:rPr lang="en-US" sz="1050" i="1" dirty="0">
                <a:solidFill>
                  <a:srgbClr val="8A6D1E"/>
                </a:solidFill>
                <a:latin typeface="Calibri" pitchFamily="34" charset="0"/>
                <a:cs typeface="Amiri" pitchFamily="2" charset="-78"/>
              </a:rPr>
              <a:t>After تساعد على, use a verbal noun or a noun phrase.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GREEN TECHNOLOGY — AI, SOLAR ENERGY AND SMART CITIES”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Green technology: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المَدِينَةُ الخَضْرَاءُ الذَّكِيَّةُ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solar panels · home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 · electricity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wind · turbine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طَاقَةُ الرِّيَاحِ مُتَجَدِّدَةٌ.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تَسْتَخْدِمُ البُيُوتُ الطَّاقَةَ الشَّمْسِيَّةَ.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السَّيَّارَةُ كَهْرَبَائِيَّةٌ.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المَدِينَةُ الخَضْرَاءُ الذَّكِيَّةُ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solar panels · home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تَسْتَخْدِمُ البُيُوتُ الطَّاقَةَ الشَّمْسِيَّةَ.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Homes use solar energy.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 · electricity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السَّيَّارَةُ كَهْرَبَائِيَّةٌ.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car is electric.</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wind · turbine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طَاقَةُ الرِّيَاحِ مُتَجَدِّدَةٌ.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Wind energy is renewable.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التِّقْنِيَّةُ الخَضْرَاءُ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الأَلْوَاحُ الشَّمْسِيَّةُ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تُورْبِينَاتُ الرِّيَاحِ</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تُوَلِّدُ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تُخَفِّضُ</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فَعَّالٌ / فَعَّالَةٌ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مُكَلِّفٌ / مُكَلِّفَةٌ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قَابِلٌ لِلتَّطْبِيقِ</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Green technology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Processes and outcomes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Green technology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التِّقْنِيَّةُ الخَضْرَاءُ</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الأَلْوَاحُ الشَّمْسِيَّةُ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تُورْبِينَاتُ الرِّيَاحِ</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Processes and outcomes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تُوَلِّدُ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تُخَفِّضُ</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فَعَّالٌ / فَعَّالَةٌ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مُكَلِّفٌ / مُكَلِّفَةٌ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قَابِلٌ لِلتَّطْبِيقِ</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 with </a:t>
            </a:r>
            <a:pPr algn="l" indent="0" marL="0">
              <a:buNone/>
            </a:pPr>
            <a:r>
              <a:rPr lang="ar-SA" altLang="en-US" sz="1650" b="1" dirty="0">
                <a:solidFill>
                  <a:srgbClr val="1B3B6F"/>
                </a:solidFill>
                <a:latin typeface="Amiri" pitchFamily="2" charset="-78"/>
                <a:cs typeface="Amiri" pitchFamily="2" charset="-78"/>
              </a:rPr>
              <a:t>الذَّكَاءُ الاصْطِنَاعِيُّ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 الذَّكَاءَ الاصْطِنَاعِيَّ لِرَصْدِ التَّلَوُّثِ.</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 الذَّكَاءُ الاصْطِنَاعِيُّ لِرَصْدِ التَّلَوُّثِ.</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 الذَّكَاءُ الاصْطِنَاعِيُّ لِرَصْدِ التَّلَوُّثِ.</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genuine challenge?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أَبْرَزِ التَّحَدِّيَاتِ أَنَّ الشَّمْسَ تُوَلِّدُ الطَّاقَةَ.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أَبْرَزِ التَّحَدِّيَاتِ أَنَّ بِنَاءَ الشَّبَكَةِ مُكَلِّفٌ.</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أَبْرَزِ التَّحَدِّيَاتِ أَنَّ الانْبِعَاثَاتِ تَنْخَفِضُ.</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تَتَنَبَّأُ الأَنْظِمَةُ عَلَى الطَّلَبِ.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تَتَنَبَّأُ الأَنْظِمَةُ بِالطَّلَبِ عَلَى الطَّاقَةِ.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تَتَنَبَّأُ الأَنْظِمَةُ مِنَ الطَّلَبِ.</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evaluates long-term value?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عَلَى المَدَى البَعِيدِ، تُوَفِّرُ التِّقْنِيَّةُ لِأَنَّهَا تُوَفِّرُ.</a:t>
            </a:r>
            <a:endParaRPr lang="ar-SA" sz="18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عَلَى المَدَى البَعِيدِ، التِّقْنِيَّةُ بَعِيدَةٌ.</a:t>
            </a:r>
            <a:endParaRPr lang="ar-SA" sz="18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عَلَى المَدَى البَعِيدِ، قَدْ تُوَفِّرُ هٰذِهِ التِّقْنِيَّةُ المَالَ وَالطَّاقَةَ.</a:t>
            </a:r>
            <a:endParaRPr lang="ar-SA" sz="18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 with </a:t>
            </a:r>
            <a:pPr algn="l" indent="0" marL="0">
              <a:buNone/>
            </a:pPr>
            <a:r>
              <a:rPr lang="ar-SA" altLang="en-US" sz="1650" b="1" dirty="0">
                <a:solidFill>
                  <a:srgbClr val="1B3B6F"/>
                </a:solidFill>
                <a:latin typeface="Amiri" pitchFamily="2" charset="-78"/>
                <a:cs typeface="Amiri" pitchFamily="2" charset="-78"/>
              </a:rPr>
              <a:t>الذَّكَاءُ الاصْطِنَاعِيُّ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يَسْتَخْدِمُ الذَّكَاءَ الاصْطِنَاعِيَّ لِرَصْدِ التَّلَوُّثِ.</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تُسْتَخْدَمُ الذَّكَاءُ الاصْطِنَاعِيُّ لِرَصْدِ التَّلَوُّثِ.</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يُسْتَخْدَمُ الذَّكَاءُ الاصْطِنَاعِيُّ لِرَصْدِ التَّلَوُّثِ.</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الذكاء</a:t>
            </a:r>
            <a:pPr algn="l" indent="0" marL="0">
              <a:buNone/>
            </a:pPr>
            <a:r>
              <a:rPr lang="en-US" sz="1050" i="1" dirty="0">
                <a:solidFill>
                  <a:srgbClr val="8A6D1E"/>
                </a:solidFill>
                <a:latin typeface="Calibri" pitchFamily="34" charset="0"/>
                <a:cs typeface="Amiri" pitchFamily="2" charset="-78"/>
              </a:rPr>
              <a:t> is masculine; the passive is </a:t>
            </a:r>
            <a:pPr algn="l" indent="0" marL="0">
              <a:buNone/>
            </a:pPr>
            <a:r>
              <a:rPr lang="ar-SA" altLang="en-US" sz="1350" dirty="0">
                <a:solidFill>
                  <a:srgbClr val="8A6D1E"/>
                </a:solidFill>
                <a:latin typeface="Amiri" pitchFamily="2" charset="-78"/>
                <a:cs typeface="Amiri" pitchFamily="2" charset="-78"/>
              </a:rPr>
              <a:t>يُستخدم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genuine challenge?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أَبْرَزِ التَّحَدِّيَاتِ أَنَّ الشَّمْسَ تُوَلِّدُ الطَّاقَةَ.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أَبْرَزِ التَّحَدِّيَاتِ أَنَّ بِنَاءَ الشَّبَكَةِ مُكَلِّفٌ.</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أَبْرَزِ التَّحَدِّيَاتِ أَنَّ الانْبِعَاثَاتِ تَنْخَفِضُ.</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High initial cost is a plausible challenge.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تَتَنَبَّأُ الأَنْظِمَةُ عَلَى الطَّلَبِ.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تَتَنَبَّأُ الأَنْظِمَةُ بِالطَّلَبِ عَلَى الطَّاقَةِ.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تَتَنَبَّأُ الأَنْظِمَةُ مِنَ الطَّلَبِ.</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تتنبأ</a:t>
            </a:r>
            <a:pPr algn="l" indent="0" marL="0">
              <a:buNone/>
            </a:pPr>
            <a:r>
              <a:rPr lang="en-US" sz="1050" i="1" dirty="0">
                <a:solidFill>
                  <a:srgbClr val="8A6D1E"/>
                </a:solidFill>
                <a:latin typeface="Calibri" pitchFamily="34" charset="0"/>
                <a:cs typeface="Amiri" pitchFamily="2" charset="-78"/>
              </a:rPr>
              <a:t> governs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evaluates long-term value?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المَدَى البَعِيدِ، تُوَفِّرُ التِّقْنِيَّةُ لِأَنَّهَا تُوَفِّرُ.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المَدَى البَعِيدِ، التِّقْنِيَّةُ بَعِيدَةٌ.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المَدَى البَعِيدِ، قَدْ تُوَفِّرُ هٰذِهِ التِّقْنِيَّةُ المَالَ وَالطَّاقَةَ.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makes a clear long-term evaluation.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يُحَوِّلُ الأَلْوَاحُ الشَّمْسِيَّةُ الضَّوْءَ.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al-alwāḥ is a non-human plural: ya- or 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تُسْتَخْدَمُ الذَّكَاءُ الاصْطِنَاعِيُّ لِرَصْدِ التَّلَوُّثِ.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al-dhakāʾ is masculine: yustakhdamu or tustakhdamu?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تُسَاعِدُ الشَّبَكَةُ إِلَى تَقْلِيلِ الهَدْرِ.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tusāʿidu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يُحَوِّلُ الأَلْوَاحُ الشَّمْسِيَّةُ الضَّوْءَ.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تُحَوِّلُ الأَلْوَاحُ الشَّمْسِيَّةُ الضَّوْءَ.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non-human plural </a:t>
            </a:r>
            <a:pPr algn="l" indent="0" marL="0">
              <a:buNone/>
            </a:pPr>
            <a:r>
              <a:rPr lang="ar-SA" altLang="en-US" sz="1500" b="1" dirty="0">
                <a:solidFill>
                  <a:srgbClr val="1B3B6F"/>
                </a:solidFill>
                <a:latin typeface="Amiri" pitchFamily="2" charset="-78"/>
                <a:cs typeface="Amiri" pitchFamily="2" charset="-78"/>
              </a:rPr>
              <a:t>الألواح</a:t>
            </a:r>
            <a:pPr algn="l" indent="0" marL="0">
              <a:buNone/>
            </a:pPr>
            <a:r>
              <a:rPr lang="en-US" sz="1150" b="1" dirty="0">
                <a:solidFill>
                  <a:srgbClr val="1B3B6F"/>
                </a:solidFill>
                <a:latin typeface="Calibri" pitchFamily="34" charset="0"/>
                <a:cs typeface="Amiri" pitchFamily="2" charset="-78"/>
              </a:rPr>
              <a:t> takes feminine singular agreement.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تُسْتَخْدَمُ الذَّكَاءُ الاصْطِنَاعِيُّ لِرَصْدِ التَّلَوُّثِ.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يُسْتَخْدَمُ الذَّكَاءُ الاصْطِنَاعِيُّ لِرَصْدِ التَّلَوُّثِ.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الذكاء</a:t>
            </a:r>
            <a:pPr algn="l" indent="0" marL="0">
              <a:buNone/>
            </a:pPr>
            <a:r>
              <a:rPr lang="en-US" sz="1150" b="1" dirty="0">
                <a:solidFill>
                  <a:srgbClr val="1B3B6F"/>
                </a:solidFill>
                <a:latin typeface="Calibri" pitchFamily="34" charset="0"/>
                <a:cs typeface="Amiri" pitchFamily="2" charset="-78"/>
              </a:rPr>
              <a:t> is masculine.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تُسَاعِدُ الشَّبَكَةُ إِلَى تَقْلِيلِ الهَدْرِ.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تُسَاعِدُ الشَّبَكَةُ عَلَى تَقْلِيلِ الهَدْرِ.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تساعد</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how a smart energy system works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consumption monitored?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hour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year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five years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predicts energy demand?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Rainwater only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waste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Artificial intelligence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generate electricity?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and plastic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Coal and rubbish</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panels and wind turbines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benefit mentioned?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waste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emissions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Removing all public transport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challenge?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much rain</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initial cost</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electricity production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is passive?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يُسْتَخْدَمُ الذَّكَاءُ الاصْطِنَاعِيُّ</a:t>
            </a:r>
            <a:endParaRPr lang="ar-SA" sz="170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تَسْتَخْدِمُ المَدِينَةُ شَبَكَةً</a:t>
            </a:r>
            <a:endParaRPr lang="ar-SA" sz="170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تُوَلِّدُ الأَلْوَاحُ الكَهْرَبَاءَ</a:t>
            </a:r>
            <a:endParaRPr lang="ar-SA" sz="170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كُلَّ سَاعَةٍ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الذَّكَاءُ الاصْطِنَاعِيُّ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الأَلْوَاحُ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تَسْتَخْدِمُ مَدِينَةٌ ذَكِيَّةٌ شَبَكَةً كَهْرَبَائِيَّةً تَرْصُدُ الاسْتِهْلَاكَ كُلَّ سَاعَةٍ.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smart city uses an electricity grid that monitors consumption every hour.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وَيُسْتَخْدَمُ الذَّكَاءُ الاصْطِنَاعِيُّ لِلتَّنَبُّؤِ بِالطَّلَبِ عَلَى الطَّاقَةِ،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AI is used to predict demand for energy,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بَيْنَمَا تُوَلِّدُ الأَلْوَاحُ الشَّمْسِيَّةُ وَتُورْبِينَاتُ الرِّيَاحِ جُزْءًا كَبِيرًا مِنَ الكَهْرَبَاءِ.</a:t>
            </a:r>
            <a:endParaRPr lang="ar-SA" sz="19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while solar panels and wind turbines generate a large part of the electricity.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أَهَمِّ الفَوَائِدِ أَنَّ النِّظَامَ يُقَلِّلُ الهَدْرَ،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of the main benefits is that the system reduces waste,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لٰكِنَّ التَّكْلِفَةَ الأُولَى لِبِنَاءِ الشَّبَكَةِ مُرْتَفِعَةٌ.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the initial cost of building the grid is high.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consumption monitored?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hour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year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five years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كل ساعة.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predicts energy demand?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Rainwater only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 waste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Artificial intelligence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الذكاء الاصطناعي.</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generate electricity?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Oil and plastic</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Coal and rubbish</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Solar panels and wind turbines</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الألواح الشمسية وتوربينات الرياح.</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benefit mentioned?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Reducing waste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emissions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Removing all public transport</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يقلل الهدر.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challenge?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much rain</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 initial cost</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electricity production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التكلفة الأولى مرتفعة.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is passive?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يُسْتَخْدَمُ الذَّكَاءُ الاصْطِنَاعِيُّ</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تَسْتَخْدِمُ المَدِينَةُ شَبَكَةً</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تُوَلِّدُ الأَلْوَاحُ الكَهْرَبَاءَ</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يُستخدم</a:t>
            </a:r>
            <a:pPr algn="l" indent="0" marL="0">
              <a:buNone/>
            </a:pPr>
            <a:r>
              <a:rPr lang="en-US" sz="1050" i="1" dirty="0">
                <a:solidFill>
                  <a:srgbClr val="8A6D1E"/>
                </a:solidFill>
                <a:latin typeface="Calibri" pitchFamily="34" charset="0"/>
                <a:cs typeface="Amiri" pitchFamily="2" charset="-78"/>
              </a:rPr>
              <a:t> is passive.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كُلَّ سَاعَةٍ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الذَّكَاءُ الاصْطِنَاعِيُّ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الأَلْوَاحُ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evaluate smart cities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تَعْمَلُ تِقْنِيَّةٌ خَضْرَاءُ؟</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فَوَائِدِهَا؟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التَّحَدِّيَاتُ الَّتِي تُوَاجِهُ تَطْبِيقَهَا؟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تُحَوِّلُ / تُوَلِّدُ ___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 أَهَمِّ الفَوَائِدِ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cs typeface="Amiri" pitchFamily="2" charset="-78"/>
              </a:rPr>
              <a:t>مِنْ أَبْرَزِ التَّحَدِّيَاتِ أَنَّ ___ ، وَلٰكِنْ عَلَى المَدَى البَعِيدِ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المُدُنُ الذَّكِيَّةُ حَلٌّ وَاقِعِيٌّ؟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Are smart cities a realistic solution?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مِنْ أَهَمِّ فَوَائِدِهَا أَنَّهَا تُقَلِّلُ هَدْرَ الطَّاقَةِ وَالانْبِعَاثَاتِ، لٰكِنَّ بِنَاءَ البِنْيَةِ التَّحْتِيَّةِ مُكَلِّفٌ. أَرَى أَنَّهَا حَلٌّ وَاقِعِيٌّ عَلَى المَدَى البَعِيدِ.</a:t>
            </a:r>
            <a:endParaRPr lang="ar-SA" sz="140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One of their main benefits is that they reduce energy waste and emissions, but building the infrastructure is expensive. I think they are a realistic solution in the long term.</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technology: what it is, how it works (ta- verb), one benefit.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How it works, what it is used for (passive), one benefit and one challenge.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evaluate one green technology or smart-city project with a long-term judgement.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يُسْتَخْدَمُ / تُسْتَخْدَمُ ______ لِـ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تُسَاعِدُ ______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helps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أَبْرَزِ التَّحَدِّيَاتِ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the biggest challenges is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المَدَى البَعِيدِ،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long term,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تُحَوِّلُ الأَلْوَاحُ الشَّمْسِيَّةُ ______ إِلَى ______ .</a:t>
            </a:r>
            <a:endParaRPr lang="ar-SA" sz="16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Solar panels convert … into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تُوَلِّدُ تُورْبِينَاتُ الرِّيَاحِ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Wind turbines generate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فَعَّالَةٌ لِأَنَّ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effective because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أَهَمِّ الفَوَائِدِ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the main benefits is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الأَلْوَاحُ الشَّمْسِيَّةُ  ·  تُورْبِينَاتُ الرِّيَاحِ  ·  مَدِينَةٌ ذَكِيَّةٌ  ·  تُحَوِّلُ  ·  تُوَلِّدُ  ·  تُخَفِّضُ  ·  تَرْصُدُ  ·  يُسْتَخْدَمُ  ·  تُسَاعِدُ عَلَى  ·  فَعَّالٌ  ·  مُكَلِّفٌ  ·  مِنْ أَهَمِّ الفَوَائِدِ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130–140 Arabic words evaluating one green technology or smart-city project.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Explain how the technology works.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active and one passive structure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Balance benefits and challenges.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justified long-term judgement.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تُعَدُّ … مِثَالًا عَلَى</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considered an example of</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المَبَانِي مُصَمَّمَةٌ لِتَقْلِيلِ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buildings are designed to reduce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يَحْتَاجُ تَعْمِيمُ هٰذِهِ الحُلُولِ إِلَى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spreading these solutions needs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اسْتِثْمَارٌ كَبِيرٌ وَتَخْطِيطٌ طَوِيلُ المَدَى</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major investment and long-term planning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أَرَى أَنَّ الاسْتِثْمَارَ فِيهَا مُهِمٌّ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investing in it is important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تُمَكِّنُ التِّقْنِيَّةُ الخَضْرَاءُ المُدُنَ مِنْ تَقْلِيلِ اسْتِهْلَاكِ الطَّاقَةِ وَالانْبِعَاثَاتِ. فَالأَلْوَاحُ الشَّمْسِيَّةُ تُحَوِّلُ ضَوْءَ الشَّمْسِ إِلَى كَهْرَبَاءَ، وَتُوَلِّدُ تُورْبِينَاتُ الرِّيَاحِ طَاقَةً نَظِيفَةً. كَمَا يُسْتَخْدَمُ الذَّكَاءُ الاصْطِنَاعِيُّ لِرَصْدِ الاسْتِهْلَاكِ وَالتَّنَبُّؤِ بِالطَّلَبِ. مِنْ أَهَمِّ الفَوَائِدِ أَنَّ هٰذِهِ الأَنْظِمَةَ تُقَلِّلُ الهَدْرَ. أَمَّا أَبْرَزُ التَّحَدِّيَاتِ فَهُوَ ارْتِفَاعُ التَّكْلِفَةِ الأُولَى. وَمَعَ ذٰلِكَ، أَرَى أَنَّ الاسْتِثْمَارَ فِيهَا مُهِمٌّ لِأَنَّهَا تُوَفِّرُ المَالَ وَالطَّاقَةَ عَلَى المَدَى البَعِيدِ.</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Green technology enables cities to reduce energy consumption and emissions. Solar panels convert sunlight into electricity, and wind turbines generate clean energy. AI is also used to monitor consumption and predict demand. One of the main benefits is that these systems reduce waste. The biggest challenge, however, is the high initial cost. Nevertheless, I think investing in them is important because they save money and energy in the long term.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how it works (active ta-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(yustakhdamu)</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benefit and a challenge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long-term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process verbs agree (ta- for feminine / non-human plural).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how one technology works.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passive: yustakhdamu / tustakhdamu … li-.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tusāʿidu ʿalā + a verbal noun.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Benefit + challenge + long-term judgement.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 الذَّكَاءُ الاصْطِنَاعِيُّ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 الذَّكَاءُ الاصْطِنَاعِيُّ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 الذَّكَاءُ الاصْطِنَاعِيُّ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تُسَاعِدُ الشَّبَكَةُ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الهَدْرِ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benefit frame?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أَهَمِّ الفَوَائِدِ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أَهَمِّ الفَوَائِدِ 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أَهَمُّ الفَوَائِدِ مِنْ أَنَّ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passive.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يُسْتَخْدَمُ الذَّكَاءُ الاصْطِنَاعِيُّ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تُسْتَخْدَمُ الذَّكَاءُ الاصْطِنَاعِيُّ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يَسْتَخْدِمُ الذَّكَاءُ الاصْطِنَاعِيُّ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passive: </a:t>
            </a:r>
            <a:pPr algn="l" indent="0" marL="0">
              <a:buNone/>
            </a:pPr>
            <a:r>
              <a:rPr lang="ar-SA" altLang="en-US" sz="1350" dirty="0">
                <a:solidFill>
                  <a:srgbClr val="8A6D1E"/>
                </a:solidFill>
                <a:latin typeface="Amiri" pitchFamily="2" charset="-78"/>
                <a:cs typeface="Amiri" pitchFamily="2" charset="-78"/>
              </a:rPr>
              <a:t>يُستخدم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تُسَاعِدُ الشَّبَكَةُ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الهَدْرِ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تساعد على.</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benefit frame?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 أَهَمِّ الفَوَائِدِ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أَهَمِّ الفَوَائِدِ 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أَهَمُّ الفَوَائِدِ مِنْ أَنَّ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أهم الفوائد أنَّ.</a:t>
            </a:r>
            <a:endParaRPr lang="ar-SA" sz="13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a sustainable-city initiative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تُعَدُّ مَدِينَةُ مَصْدَرٍ فِي الإِمَارَاتِ مِثَالًا عَلَى التَّخْطِيطِ المُسْتَدَامِ. فَالمَبَانِي مُصَمَّمَةٌ لِتَقْلِيلِ اسْتِهْلَاكِ الطَّاقَةِ، وَتُسْتَخْدَمُ الأَلْوَاحُ الشَّمْسِيَّةُ لِتَوْلِيدِ الكَهْرَبَاءِ. كَمَا تُسَاعِدُ وَسَائِلُ النَّقْلِ النَّظِيفَةُ عَلَى خَفْضِ الانْبِعَاثَاتِ. وَمَعَ ذٰلِكَ، يَحْتَاجُ تَعْمِيمُ هٰذِهِ الحُلُولِ إِلَى اسْتِثْمَارٍ كَبِيرٍ وَتَخْطِيطٍ طَوِيلِ المَدَى.</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تُعَدُّ</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considered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مِثَالًا عَلَى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example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التَّخْطِيطِ المُسْتَدَامِ</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sustainable planning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مُصَمَّمَةٌ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designed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لِتَوْلِيدِ</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generate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وَسَائِلُ النَّقْلِ النَّظِيفَةُ</a:t>
            </a:r>
            <a:endParaRPr lang="ar-SA" sz="155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clean transport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خَفْضِ الانْبِعَاثَاتِ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reducing emissions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تَعْمِيمُ</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spreading, generalising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اسْتِثْمَارٍ كَبِيرٍ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major investment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طَوِيلِ المَدَى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long-term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Masdar City?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Morocco</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UAE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Britain</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Why are the buildings designed in a particular way?</a:t>
            </a:r>
            <a:endParaRPr lang="en-US" sz="11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block all sunlight</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oil use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energy consumption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used to generate electricity?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panels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bags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helps reduce emissions?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traffic</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Clean transport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Fossil-fuel-only systems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needed to spread these solutions?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Major investment and long-term planning</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technology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planning</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appears in the text?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تُسَاعِدُ</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يَحْتَاجُ</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Masdar City?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Morocco</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UAE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Britain</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الإمارات.</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Why are the buildings designed in a particular way?</a:t>
            </a:r>
            <a:endParaRPr lang="en-US" sz="11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block all sunlight</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oil use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reduce energy consumption</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لتقليل استهلاك الطاقة.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used to generate electricity?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panels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Plastic bags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الألواح الشمسية.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helps reduce emissions?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traffic</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Clean transport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Fossil-fuel-only systems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وسائل النقل النظيفة.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needed to spread these solutions?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Major investment and long-term planning</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technology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planning</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استثمار كبير وتخطيط طويل المدى.</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appears in the text?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يَحْتَاجُ</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تُسْتَخْدَمُ</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تستخدم</a:t>
            </a:r>
            <a:pPr algn="l" indent="0" marL="0">
              <a:buNone/>
            </a:pPr>
            <a:r>
              <a:rPr lang="en-US" sz="1050" i="1" dirty="0">
                <a:solidFill>
                  <a:srgbClr val="8A6D1E"/>
                </a:solidFill>
                <a:latin typeface="Calibri" pitchFamily="34" charset="0"/>
                <a:cs typeface="Amiri" pitchFamily="2" charset="-78"/>
              </a:rPr>
              <a:t> is passive here: are used.</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Green Technology — AI, Solar Energy and Smart Cities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explains solar panels?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تُحَوِّلُ الأَلْوَاحُ الشَّمْسِيَّةُ الكَهْرَبَاءَ إِلَى شَمْسٍ.</a:t>
            </a:r>
            <a:endParaRPr lang="ar-SA" sz="14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تُحَوِّلُ الأَلْوَاحُ الشَّمْسِيَّةُ ضَوْءَ الشَّمْسِ إِلَى كَهْرَبَاءَ.</a:t>
            </a:r>
            <a:endParaRPr lang="ar-SA" sz="14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تُحَوِّلُ الأَلْوَاحُ الشَّمْسِيَّةُ المَاءَ إِلَى رِيَاحٍ.</a:t>
            </a:r>
            <a:endParaRPr lang="ar-SA" sz="14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agrees with </a:t>
            </a:r>
            <a:pPr algn="l" indent="0" marL="0">
              <a:buNone/>
            </a:pPr>
            <a:r>
              <a:rPr lang="ar-SA" altLang="en-US" sz="1650" b="1" dirty="0">
                <a:solidFill>
                  <a:srgbClr val="1B3B6F"/>
                </a:solidFill>
                <a:latin typeface="Amiri" pitchFamily="2" charset="-78"/>
                <a:cs typeface="Amiri" pitchFamily="2" charset="-78"/>
              </a:rPr>
              <a:t>الذَّكَاءُ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يَسْتَخْدِمُونَ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تُسْتَخْدَمُ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technology can monitor drought from space?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الأَكْيَاسُ البِلَاسْتِيكِيَّةُ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كَلِمَاتُ المُرُورِ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الأَقْمَارُ الصِّنَاعِيَّةُ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the correct collocation?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تُسَاعِدُ الشَّبَكَةُ مِنْ تَقْلِيلِ الهَدْرِ.</a:t>
            </a:r>
            <a:endParaRPr lang="ar-SA" sz="20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تُسَاعِدُ الشَّبَكَةُ إِلَى تَقْلِيلِ الهَدْرِ.</a:t>
            </a:r>
            <a:endParaRPr lang="ar-SA" sz="20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تُسَاعِدُ الشَّبَكَةُ عَلَى تَقْلِيلِ الهَدْرِ.</a:t>
            </a:r>
            <a:endParaRPr lang="ar-SA" sz="20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realistic challenge of green infrastructure?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التَّكْلِفَةُ الأُولَى مُرْتَفِعَةٌ.</a:t>
            </a:r>
            <a:endParaRPr lang="ar-SA" sz="18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المَسَاحَاتُ الخَضْرَاءُ تَمْنَعُ كُلَّ تِقْنِيَّةٍ.</a:t>
            </a:r>
            <a:endParaRPr lang="ar-SA" sz="18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الطَّاقَةُ الشَّمْسِيَّةُ تَزِيدُ حَرْقَ الفَحْمِ.</a:t>
            </a:r>
            <a:endParaRPr lang="ar-SA" sz="18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balanced?</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هِيَ مُفِيدَةٌ لِأَنَّهَا مُفِيدَةٌ فَقَطْ.</a:t>
            </a:r>
            <a:endParaRPr lang="ar-SA" sz="1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هِيَ مُكَلِّفَةٌ فِي البِدَايَةِ، وَلٰكِنَّهَا تُوَفِّرُ الطَّاقَةَ عَلَى المَدَى البَعِيدِ.</a:t>
            </a:r>
            <a:endParaRPr lang="ar-SA" sz="1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هِيَ شَمْسِيَّةٌ لِأَنَّ الشَّمْسَ شَمْسٌ.</a:t>
            </a:r>
            <a:endParaRPr lang="ar-SA" sz="1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explains solar panels?</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تُحَوِّلُ الأَلْوَاحُ الشَّمْسِيَّةُ الكَهْرَبَاءَ إِلَى شَمْسٍ.</a:t>
            </a:r>
            <a:endParaRPr lang="ar-SA" sz="14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تُحَوِّلُ الأَلْوَاحُ الشَّمْسِيَّةُ ضَوْءَ الشَّمْسِ إِلَى كَهْرَبَاءَ.</a:t>
            </a:r>
            <a:endParaRPr lang="ar-SA" sz="14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تُحَوِّلُ الأَلْوَاحُ الشَّمْسِيَّةُ المَاءَ إِلَى رِيَاحٍ.</a:t>
            </a:r>
            <a:endParaRPr lang="ar-SA" sz="14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Solar panels convert sunlight to electricity.</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agrees with </a:t>
            </a:r>
            <a:pPr algn="l" indent="0" marL="0">
              <a:buNone/>
            </a:pPr>
            <a:r>
              <a:rPr lang="ar-SA" altLang="en-US" sz="1650" b="1" dirty="0">
                <a:solidFill>
                  <a:srgbClr val="1B3B6F"/>
                </a:solidFill>
                <a:latin typeface="Amiri" pitchFamily="2" charset="-78"/>
                <a:cs typeface="Amiri" pitchFamily="2" charset="-78"/>
              </a:rPr>
              <a:t>الذَّكَاءُ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يُسْتَخْدَمُ</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يَسْتَخْدِمُونَ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تُسْتَخْدَمُ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الذكاء</a:t>
            </a:r>
            <a:pPr algn="l" indent="0" marL="0">
              <a:buNone/>
            </a:pPr>
            <a:r>
              <a:rPr lang="en-US" sz="1050" i="1" dirty="0">
                <a:solidFill>
                  <a:srgbClr val="8A6D1E"/>
                </a:solidFill>
                <a:latin typeface="Calibri" pitchFamily="34" charset="0"/>
                <a:cs typeface="Amiri" pitchFamily="2" charset="-78"/>
              </a:rPr>
              <a:t> is masculine singular.</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technology can monitor drought from space?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الأَكْيَاسُ البِلَاسْتِيكِيَّةُ</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كَلِمَاتُ المُرُورِ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الأَقْمَارُ الصِّنَاعِيَّةُ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Satellites can monitor environmental change.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the correct collocation?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 الشَّبَكَةُ مِنْ تَقْلِيلِ الهَدْرِ.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 الشَّبَكَةُ إِلَى تَقْلِيلِ الهَدْرِ.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تُسَاعِدُ الشَّبَكَةُ عَلَى تَقْلِيلِ الهَدْرِ.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تساعد على.</a:t>
            </a:r>
            <a:endParaRPr lang="ar-SA" sz="13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realistic challenge of green infrastructure?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التَّكْلِفَةُ الأُولَى مُرْتَفِعَةٌ.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المَسَاحَاتُ الخَضْرَاءُ تَمْنَعُ كُلَّ تِقْنِيَّةٍ.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الطَّاقَةُ الشَّمْسِيَّةُ تَزِيدُ حَرْقَ الفَحْمِ.</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Initial cost is a genuine implementation challenge.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is balanced?</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هِيَ مُفِيدَةٌ لِأَنَّهَا مُفِيدَةٌ فَقَطْ.</a:t>
            </a:r>
            <a:endParaRPr lang="ar-SA" sz="10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هِيَ مُكَلِّفَةٌ فِي البِدَايَةِ، وَلٰكِنَّهَا تُوَفِّرُ الطَّاقَةَ عَلَى المَدَى البَعِيدِ.</a:t>
            </a:r>
            <a:endParaRPr lang="ar-SA" sz="10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هِيَ شَمْسِيَّةٌ لِأَنَّ الشَّمْسَ شَمْسٌ.</a:t>
            </a:r>
            <a:endParaRPr lang="ar-SA" sz="10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weighs cost against long-term benefit.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Green Tech</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D4-L07 · Resources and Sustainability — When Resources Run Out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المَوَارِدُ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resources</a:t>
            </a:r>
            <a:pPr indent="0" marL="0">
              <a:buNone/>
            </a:pPr>
            <a:r>
              <a:rPr lang="en-US" sz="1000" i="1" dirty="0">
                <a:solidFill>
                  <a:srgbClr val="5A6472"/>
                </a:solidFill>
                <a:latin typeface="Calibri" pitchFamily="34" charset="0"/>
                <a:cs typeface="Amiri" pitchFamily="2" charset="-78"/>
              </a:rPr>
              <a:t>  sing. مَوْرِدٌ</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الاسْتِدَامَةُ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sustainability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شُحُّ المِيَاهِ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water scarcity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يَنْضَبُ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runs out</a:t>
            </a:r>
            <a:pPr indent="0" marL="0">
              <a:buNone/>
            </a:pPr>
            <a:r>
              <a:rPr lang="en-US" sz="1000" i="1" dirty="0">
                <a:solidFill>
                  <a:srgbClr val="5A6472"/>
                </a:solidFill>
                <a:latin typeface="Calibri" pitchFamily="34" charset="0"/>
                <a:cs typeface="Amiri" pitchFamily="2" charset="-78"/>
              </a:rPr>
              <a:t>  تَنْضَبُ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يَهْدِرُ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wastes</a:t>
            </a:r>
            <a:pPr indent="0" marL="0">
              <a:buNone/>
            </a:pPr>
            <a:r>
              <a:rPr lang="en-US" sz="1000" i="1" dirty="0">
                <a:solidFill>
                  <a:srgbClr val="5A6472"/>
                </a:solidFill>
                <a:latin typeface="Calibri" pitchFamily="34" charset="0"/>
                <a:cs typeface="Amiri" pitchFamily="2" charset="-78"/>
              </a:rPr>
              <a:t>  أَهْدِرُ I</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resource do we waste most at home?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نَهْدِرُ … فِي البَيْتِ.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green-tech words; write 5 sentences about one technology.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Evaluate one technology in 100–120 words with a passive and tusāʿidu ʿalā.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evaluate a green technology or smart-city project (130–140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D4-L07 · Resources and Sustainability — When Resources Run Out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المَوَارِدُ وَالاسْتِدَامَةُ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ta- for feminine / non-human plural subjects — yustakhdamu … li- — tusāʿidu ʿalā — benefit, challenge, long-term view.</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D4-L06 · Green Technology — AI, Solar Energy and Smart Cities</dc:title>
  <dc:subject>PptxGenJS Presentation</dc:subject>
  <dc:creator>Al Madina Online School · Arabic Department</dc:creator>
  <cp:lastModifiedBy>Al Madina Online School · Arabic Department</cp:lastModifiedBy>
  <cp:revision>1</cp:revision>
  <dcterms:created xsi:type="dcterms:W3CDTF">2026-10-11T06:40:53Z</dcterms:created>
  <dcterms:modified xsi:type="dcterms:W3CDTF">2026-10-11T06:40:53Z</dcterms:modified>
</cp:coreProperties>
</file>