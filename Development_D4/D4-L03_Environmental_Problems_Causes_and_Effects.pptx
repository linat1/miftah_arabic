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D4-L03. The website lesson “Environmental Problems — Causes and Effects”: vocabulary, grammar rules and quiz, patterns, common mistakes, sorter, listening, reading, speaking prompts and model, writing task and model, differentiation, final check and the lesson mission. Picture match: website visual game “Environmental Problems — Causes and Effects”.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problem nouns + cause → effect with بِسَبَبِ and يُؤَدِّي إِلَى (“X leads to Y”). Develop: active vs passive (تُلَوِّثُ المَصَانِعُ الهَوَاءَ → يُلَوَّثُ الهَوَاءُ) and مِمَّا يُسَبِّبُ. Stretch: two developed chains, one active and one passive sentence, and a justified judgement.
• NEW: the present passive — same letters, different vowels: yu-…-a-…-u (يُلَوَّثُ، تُقْطَعُ، تُرْمَى). Students already met يُشْتَرَطُ / يُطْلَبُ in D3-L08.
• Reuse: نَتِيجَةً لِذٰلِكَ / لِذٰلِكَ (D3), non-human plurals → ta- (D4-L01 / L02): تُقْطَعُ الأَشْجَارُ.
• Sensitivity: climate anxiety is real for some students — end with “we can act” and preview D4-L04 (solutions).
• TEACHER-WRITTEN ITEMS: one vocabulary slip corrected (website: يَهْدِّدُ → يُهَدِّدُ), and English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D4-L02. Question 3 retrieves D4-L02; question 4 retrieves the D3-L08 passive (يُشْتَرَطُ) — today’s new grammar; question 5 retrieves a D3 connector.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Active names who does it; passive focuses on what is harmed.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سبب، نتیجہ، ہوا، خطرہ، حیوانات are all shared — students can build the whole cause → effect idea with familiar words. تَلَوُّثٌ (pollution) is آلودگی in Urdu (no cognate).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Environmental problems (website vocabulary (1 of 2)). Hear → Say → See → Use. Transliteration is printed for Core students (cover it for Develop/Stretch).
Environmental problems: each one is a NOUN phrase (often a verbal noun + genitive: تَلَوُّثُ الهَوَاءِ = the pollution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Environmental problems (website vocabulary (2 of 2)). Hear → Say → See → Use. Transliteration is printed for Core students (cover it for Develop/Stretch).
Environmental problems: each one is a NOUN phrase (often a verbal noun + genitive: تَلَوُّثُ الهَوَاءِ = the pollution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Active and passive processes (website vocabulary (1 of 2)). Hear → Say → See → Use. Transliteration is printed for Core students (cover it for Develop/Stretch).
Active and passive processes. Compare تُلَوِّثُ (pollutes, -wwi-) with يُلَوَّثُ (is polluted, -wwa-). يَنْبَعِثُ and يَتَرَاكَمُ are NOT passives — they are process verbs (emanates, accumulates).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Active and passive processes (website vocabulary (2 of 2)). Hear → Say → See → Use. Transliteration is printed for Core students (cover it for Develop/Stretch).
Active and passive processes. Compare تُلَوِّثُ (pollutes, -wwi-) with يُلَوَّثُ (is polluted, -wwa-). يَنْبَعِثُ and يَتَرَاكَمُ are NOT passives — they are process verbs (emanates, accumulates).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Cause and effect (website vocabulary). Hear → Say → See → Use. Transliteration is printed for Core students (cover it for Develop/Stretch).
Cause and effect: بِسَبَبِ / نَتِيجَةً لِـ + a NOUN; يُؤَدِّي إِلَى + a noun; مِمَّا يُسَبِّبُ after a whole clause.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“Active and passive” (the active sentence names the agent; the passive focuses on the affected thing; the passive subject is nominative). Website examples: تُلَوِّثُ المَصَانِعُ الهَوَاءَ · يُلَوَّثُ الهَوَاءُ بِدُخَانِ المَصَانِعِ. Rows 2–3 from the vocabulary; row 4 = the website common error (do not label يَنْبَعِثُ as a passive).
Website mistakes: يُلَوِّثُ الهَوَاءُ ✗ → يُلَوَّثُ الهَوَاءُ ✓ · يُقْطَعُ الأَشْجَارُ ✗ → تُقْطَعُ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“Cause phrases” (بِسَبَبِ / نَتِيجَةً لِـ + genitive noun: followed by a noun phrase, not a complete finite clause), “Result with يُؤَدِّي إِلَى” and “Linking a whole clause to a consequence” (مِمَّا refers back to the whole previous idea). Website examples as shown.
Compare D3: لِأَنَّ + a clause (because + sentence) vs بِسَبَبِ + a noun (because of +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Active and passive: The active sentence names the agent. The passive focuses on the affected thing; the passive subject is nominative.
• Cause phrases: These expressions are followed by a noun phrase, not a complete finite clause.
• Result with يُؤَدِّي إِلَى: Keep the preposition إِلَى after يُؤَدِّي.
• Linking a whole clause to a consequence: مِمَّا refers back to the whole previous idea.
Website common error: Do not label every English “is/are + verb” translation as an Arabic passive. Distinguish true passive forms such as يُلَوَّثُ from intransitive process verbs such as يَنْبَعِثُ.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4,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built from the website reading text (a cause–effect chain). Draw the chain as arrows on the board: burning fuel → polluted air → global warming → melting ice → sea-level rise. Students copy and label each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Environmental Problems — Causes and Effects”)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كَثْرَةُ السَّيَّارَاتِ تَزِيدُ تَلَوُّثَ الهَوَاءِ · قَطْعُ الأَشْجَارِ يُهَدِّدُ الحَيَوَانَاتِ · نَقْصُ المِيَاهِ يُؤَثِّرُ فِي الزِّرَاعَةِ. Stretch: rewrite one card with بِسَبَبِ.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Environmental Problems — Causes and Effects”)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كَثْرَةُ السَّيَّارَاتِ تَزِيدُ تَلَوُّثَ الهَوَاءِ · قَطْعُ الأَشْجَارِ يُهَدِّدُ الحَيَوَانَاتِ · نَقْصُ المِيَاهِ يُؤَثِّرُ فِي الزِّرَاعَةِ. Stretch: rewrite one card with بِسَبَبِ.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chain using one word from each group: problem + process +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chain using one word from each group: problem + process +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3,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6 — then draw the chain you heard.
Listen 1: just listen. Listen 2: note answers. Then chat the letters.
Support: after the second listening, show the read-along slide (Arabic + English, line by line) for Core students.
SCRIPT (read aloud):
يُعَدُّ تَلَوُّثُ الهَوَاءِ مِنْ أَخْطَرِ المُشْكِلَاتِ فِي المَدِينَةِ. تُلَوِّثُ السَّيَّارَاتُ وَالمَصَانِعُ الهَوَاءَ، وَيَنْبَعِثُ مِنْهَا دُخَانٌ كَثِيفٌ. نَتِيجَةً لِذٰلِكَ، تَزْدَادُ أَمْرَاضُ التَّنَفُّسِ. كَمَا تُرْمَى نُفَايَاتٌ بِلَاسْتِيكِيَّةٌ فِي النَّهْرِ، مِمَّا يُؤَدِّي إِلَى تَلَوُّثِ المِيَاهِ وَنُفُوقِ بَعْضِ الأَسْمَاكِ.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Chain game: student 1 says a cause, student 2 adds يُؤَدِّي ذٰلِكَ إِلَى …, student 3 adds مِمَّا يُسَبِّبُ … To a girl: فِي رَأْيِكِ.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explaining two environmental problems, their causes and consequences.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يُلَوَّثُ الهَوَاءُ، تُرْمَى النُّفَايَاتُ، تُقْطَعُ الأَشْجَارُ (passives) · فَبِسَبَبِ … · مِمَّا يَضُرُّ · فَيُؤَدِّي ذٰلِكَ إِلَى · عَلَى المَدَى الطَّوِيلِ · لِذٰلِكَ، لَا بُدَّ مِنْ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(D4-L04 · Environmental Solutions — What Can Be Done?) will spend class time USING this language, so students prepare it tonight — short, simple, easy to access (school guidance: “Simple, Short, Interesting, Relevant, Easy to access”). The five words come from the website D4-L04 vocabulary (environmental solutions).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D4  ·  D4-L03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D4-L03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Environmental Problems — Causes and Effects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المُشْكِلَاتُ البِيئِيَّةُ — الأَسْبَابُ وَالنَّتَائِجُ</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Explain environmental problems as cause → effect chains: name the problem, say who causes it (active) or what is affected (passive: </a:t>
            </a:r>
            <a:pPr algn="l" indent="0" marL="0">
              <a:buNone/>
            </a:pPr>
            <a:r>
              <a:rPr lang="ar-SA" altLang="en-US" sz="1800" dirty="0">
                <a:solidFill>
                  <a:srgbClr val="C6D2E6"/>
                </a:solidFill>
                <a:latin typeface="Amiri" pitchFamily="34" charset="0"/>
                <a:ea typeface="Amiri" pitchFamily="34" charset="-122"/>
                <a:cs typeface="Amiri" pitchFamily="34" charset="-120"/>
              </a:rPr>
              <a:t>يُلَوَّثُ الهَوَاءُ</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تُقْطَعُ الأَشْجَارُ</a:t>
            </a:r>
            <a:pPr algn="l" indent="0" marL="0">
              <a:buNone/>
            </a:pPr>
            <a:r>
              <a:rPr lang="en-US" sz="1400" dirty="0">
                <a:solidFill>
                  <a:srgbClr val="C6D2E6"/>
                </a:solidFill>
                <a:latin typeface="Calibri" pitchFamily="34" charset="0"/>
                <a:ea typeface="Calibri" pitchFamily="34" charset="-122"/>
                <a:cs typeface="Calibri" pitchFamily="34" charset="-120"/>
              </a:rPr>
              <a:t>), and link with </a:t>
            </a:r>
            <a:pPr algn="l" indent="0" marL="0">
              <a:buNone/>
            </a:pPr>
            <a:r>
              <a:rPr lang="ar-SA" altLang="en-US" sz="1800" dirty="0">
                <a:solidFill>
                  <a:srgbClr val="C6D2E6"/>
                </a:solidFill>
                <a:latin typeface="Amiri" pitchFamily="34" charset="0"/>
                <a:ea typeface="Amiri" pitchFamily="34" charset="-122"/>
                <a:cs typeface="Amiri" pitchFamily="34" charset="-120"/>
              </a:rPr>
              <a:t>بِسَبَبِ</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يُؤَدِّي إِلَى</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مِمَّا يُسَبِّبُ</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D4-L03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D4 › D4-L03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Problems, active vs passive, and cause → effect connectors.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words, fix and listen: pollution in the city.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D4-L04.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النُّفَايَاتُ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factories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waste, rubbish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pollution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يُؤَدِّي إِلَى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leads to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of</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expected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الثُّلُوجُ فِي الجِبَالِ.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إِلَى الجِبَالِ.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الجِبَالِ.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يُشْتَرَطُ</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requires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required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required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“as a result”?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لِذٰلِكَ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سَبِيلِ المِثَالِ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جِهَةٍ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النُّفَايَاتُ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factories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waste, rubbish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pollution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يُؤَدِّي إِلَى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leads to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 of</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 expected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يَسْقُطُ الثُّلُوجُ فِي الجِبَالِ.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تَسْقُطُ الثُّلُوجُ إِلَى الجِبَالِ.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تَسْقُطُ الثُّلُوجُ فِي الجِبَالِ.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D4-L02: non-human plural → ta-.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يُشْتَرَطُ</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requires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required</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is required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D3-L08: a passive verb (yu-…-a-).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“as a result”?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نَتِيجَةً لِذٰلِكَ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سَبِيلِ المِثَالِ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جِهَةٍ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 connectors.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Active names who does it; passive focuses on what is harmed.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تُلَوِّثُ</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المَصَانِعُ الهَوَاءَ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يُلَوَّثُ</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الهَوَاءُ</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main environmental problems in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active and passive sentences to describe what happens.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Link causes and effects with </a:t>
            </a:r>
            <a:pPr algn="l" indent="0" marL="0">
              <a:buNone/>
            </a:pPr>
            <a:r>
              <a:rPr lang="ar-SA" altLang="en-US" sz="1700" dirty="0">
                <a:solidFill>
                  <a:srgbClr val="1F2A37"/>
                </a:solidFill>
                <a:latin typeface="Amiri" pitchFamily="34" charset="0"/>
                <a:ea typeface="Amiri" pitchFamily="34" charset="-122"/>
                <a:cs typeface="Amiri" pitchFamily="34" charset="-120"/>
              </a:rPr>
              <a:t>بِسَبَبِ / يُؤَدِّي إِلَى / مِمَّا يُسَبِّبُ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two problems as connected chains with a judgement.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environmental problems.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link a cause to an effect.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turn an active sentence into a passive one.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link a whole idea with mimmā yusabbibu.</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build two developed cause–effect chains.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finish with a justified judgement.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Environmental problems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Active and passive processes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Cause and effect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سَبَبٌ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‎سبب‎ </a:t>
            </a:r>
            <a:pPr indent="0" marL="0">
              <a:buNone/>
            </a:pPr>
            <a:r>
              <a:rPr lang="en-US" sz="950" b="1" dirty="0">
                <a:solidFill>
                  <a:srgbClr val="2E8B57"/>
                </a:solidFill>
                <a:latin typeface="Calibri" pitchFamily="34" charset="0"/>
                <a:ea typeface="Calibri" pitchFamily="34" charset="-122"/>
                <a:cs typeface="Calibri" pitchFamily="34" charset="-120"/>
              </a:rPr>
              <a:t> sabab · cause, reason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نَتِيجَةٌ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‎نتیجہ‎ </a:t>
            </a:r>
            <a:pPr indent="0" marL="0">
              <a:buNone/>
            </a:pPr>
            <a:r>
              <a:rPr lang="en-US" sz="950" b="1" dirty="0">
                <a:solidFill>
                  <a:srgbClr val="2E8B57"/>
                </a:solidFill>
                <a:latin typeface="Calibri" pitchFamily="34" charset="0"/>
                <a:ea typeface="Calibri" pitchFamily="34" charset="-122"/>
                <a:cs typeface="Calibri" pitchFamily="34" charset="-120"/>
              </a:rPr>
              <a:t> natīja · result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هَوَاءٌ</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‎ہوا‎ </a:t>
            </a:r>
            <a:pPr indent="0" marL="0">
              <a:buNone/>
            </a:pPr>
            <a:r>
              <a:rPr lang="en-US" sz="950" b="1" dirty="0">
                <a:solidFill>
                  <a:srgbClr val="2E8B57"/>
                </a:solidFill>
                <a:latin typeface="Calibri" pitchFamily="34" charset="0"/>
                <a:ea typeface="Calibri" pitchFamily="34" charset="-122"/>
                <a:cs typeface="Calibri" pitchFamily="34" charset="-120"/>
              </a:rPr>
              <a:t> hawā · air (Urdu also: wind)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‎خطرہ‎ </a:t>
            </a:r>
            <a:pPr indent="0" marL="0">
              <a:buNone/>
            </a:pPr>
            <a:r>
              <a:rPr lang="en-US" sz="950" b="1" dirty="0">
                <a:solidFill>
                  <a:srgbClr val="2E8B57"/>
                </a:solidFill>
                <a:latin typeface="Calibri" pitchFamily="34" charset="0"/>
                <a:ea typeface="Calibri" pitchFamily="34" charset="-122"/>
                <a:cs typeface="Calibri" pitchFamily="34" charset="-120"/>
              </a:rPr>
              <a:t> khatra · danger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حَيَوَانَاتٌ</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‎حیوانات‎ </a:t>
            </a:r>
            <a:pPr indent="0" marL="0">
              <a:buNone/>
            </a:pPr>
            <a:r>
              <a:rPr lang="en-US" sz="950" b="1" dirty="0">
                <a:solidFill>
                  <a:srgbClr val="2E8B57"/>
                </a:solidFill>
                <a:latin typeface="Calibri" pitchFamily="34" charset="0"/>
                <a:ea typeface="Calibri" pitchFamily="34" charset="-122"/>
                <a:cs typeface="Calibri" pitchFamily="34" charset="-120"/>
              </a:rPr>
              <a:t> haiwānāt · animals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Environmental problems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تَلَوُّثُ الهَوَاءِ</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air pollution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ta-law-wu-thu al-ha-wā-ʾi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تَلَوُّثُ المِيَاهِ</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 pollution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ta-law-wu-thu al-mi-yā-hi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النُّفَايَاتُ البِلَاسْتِيكِيَّةُ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plastic waste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an-nu-fā-yā-tu al-bi-lās-tī-kiy-ya-tu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إِزَالَةُ الغَابَاتِ</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deforestation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i-zā-la-tu al-ghā-bā-ti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التَّصَحُّرُ</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desertification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at-ta-ṣaḥ-ḥu-ru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Environmental problems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الاحْتِبَاسُ الحَرَارِيُّ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global warming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alḥ-ti-bā-su al-ḥa-rā-riy-yu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ذَوَبَانُ الجَلِيدِ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melting 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dha-wa-bā-nu al-ja-lī-di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ارْتِفَاعُ مُسْتَوَى البَحْرِ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sea-level rise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ar-ti-fā-ʿu mus-ta-wā al-baḥ-ri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فَقْدُ المَوَائِلِ</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habitat loss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faq-du al-ma-wā-ʾi-li</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انْقِرَاضُ الأَنْوَاعِ</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species extinction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an-qi-rā-ḍu al-an-wā-ʿi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Active and passive processes (1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تُلَوِّثُ المَصَانِعُ الهَوَاءَ</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factories pollute the 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tu-law-wi-thu al-ma-ṣā-ni-ʿu al-ha-wā-ʾa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يُلَوَّثُ الهَوَاءُ</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air is polluted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yu-law-wa-thu al-ha-wā-ʾu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تُقْطَعُ الأَشْجَارُ</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trees are cut down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tuq-ṭa-ʿu al-ash-jā-ru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تُرْمَى النُّفَايَاتُ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waste is thrown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tur-mā an-nu-fā-yā-tu</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Active and passive processes (2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يَنْبَعِثُ الدُّخَانُ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smoke is emitted / emanates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yan-ba-ʿi-thu ad-du-khā-nu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يَتَرَاكَمُ البِلَاسْتِيكُ</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plastic accumulates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ya-ta-rā-ka-mu al-bi-lās-tī-ku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يُهَدِّدُ</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threatens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yu-had-di-du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يَضُرُّ بِـ</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harms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ya-ḍur-ru bi</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Cause and effect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بِسَبَبِ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bi-sa-ba-bi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يُؤَدِّي إِلَى</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yu-ʾad-dī i-lā</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مِمَّا يُسَبِّبُ</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which causes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mim-mā yu-sab-bi-bu</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المَدَى الطَّوِيلِ</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long term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al-ma-dā aṭ-ṭa-wī-li</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ACTIVE AND PASSIVE (WEBSITE RULE 1 + MISTAKES)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does it? What is affected?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المَبْنِيُّ لِلْمَعْلُومِ وَالمَبْنِيُّ لِلْمَجْهُولِ</a:t>
            </a:r>
            <a:endParaRPr lang="ar-SA" sz="27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Vowels</a:t>
            </a:r>
            <a:endParaRPr lang="en-US" sz="1100" dirty="0"/>
          </a:p>
        </p:txBody>
      </p:sp>
      <p:sp>
        <p:nvSpPr>
          <p:cNvPr id="17" name="Text 14"/>
          <p:cNvSpPr txBox="1"/>
          <p:nvPr/>
        </p:nvSpPr>
        <p:spPr>
          <a:xfrm>
            <a:off x="5102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Passive (focus on what is harmed)</a:t>
            </a:r>
            <a:endParaRPr lang="en-US" sz="1100" dirty="0"/>
          </a:p>
        </p:txBody>
      </p:sp>
      <p:sp>
        <p:nvSpPr>
          <p:cNvPr id="18" name="Text 15"/>
          <p:cNvSpPr txBox="1"/>
          <p:nvPr/>
        </p:nvSpPr>
        <p:spPr>
          <a:xfrm>
            <a:off x="530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Active (names the agent)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710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tu-lawwi- → yu-lawwa-</a:t>
            </a:r>
            <a:endParaRPr lang="en-US" sz="1100" dirty="0"/>
          </a:p>
        </p:txBody>
      </p:sp>
      <p:sp>
        <p:nvSpPr>
          <p:cNvPr id="21" name="Text 18"/>
          <p:cNvSpPr txBox="1"/>
          <p:nvPr/>
        </p:nvSpPr>
        <p:spPr>
          <a:xfrm>
            <a:off x="5120640" y="2286000"/>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يُلَوَّثُ</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الهَوَاءُ.</a:t>
            </a:r>
            <a:endParaRPr lang="ar-SA" sz="2100" dirty="0"/>
          </a:p>
        </p:txBody>
      </p:sp>
      <p:sp>
        <p:nvSpPr>
          <p:cNvPr id="22" name="Text 19"/>
          <p:cNvSpPr txBox="1"/>
          <p:nvPr/>
        </p:nvSpPr>
        <p:spPr>
          <a:xfrm>
            <a:off x="5074920" y="2706624"/>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air is polluted.</a:t>
            </a:r>
            <a:endParaRPr lang="en-US" sz="950" dirty="0"/>
          </a:p>
        </p:txBody>
      </p:sp>
      <p:sp>
        <p:nvSpPr>
          <p:cNvPr id="23" name="Text 20"/>
          <p:cNvSpPr txBox="1"/>
          <p:nvPr/>
        </p:nvSpPr>
        <p:spPr>
          <a:xfrm>
            <a:off x="548640" y="2286000"/>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تُلَوِّثُ</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المَصَانِعُ الهَوَاءَ.</a:t>
            </a:r>
            <a:endParaRPr lang="ar-SA" sz="2100" dirty="0"/>
          </a:p>
        </p:txBody>
      </p:sp>
      <p:sp>
        <p:nvSpPr>
          <p:cNvPr id="24" name="Text 21"/>
          <p:cNvSpPr txBox="1"/>
          <p:nvPr/>
        </p:nvSpPr>
        <p:spPr>
          <a:xfrm>
            <a:off x="502920" y="2706624"/>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Factories pollute the air.</a:t>
            </a:r>
            <a:endParaRPr lang="en-US" sz="95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710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ya-qṭa- → tu-qṭa-</a:t>
            </a:r>
            <a:endParaRPr lang="en-US" sz="1100" dirty="0"/>
          </a:p>
        </p:txBody>
      </p:sp>
      <p:sp>
        <p:nvSpPr>
          <p:cNvPr id="29" name="Text 26"/>
          <p:cNvSpPr txBox="1"/>
          <p:nvPr/>
        </p:nvSpPr>
        <p:spPr>
          <a:xfrm>
            <a:off x="5120640" y="3072384"/>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تُقْطَعُ</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الأَشْجَارُ.</a:t>
            </a:r>
            <a:endParaRPr lang="ar-SA" sz="2100" dirty="0"/>
          </a:p>
        </p:txBody>
      </p:sp>
      <p:sp>
        <p:nvSpPr>
          <p:cNvPr id="30" name="Text 27"/>
          <p:cNvSpPr txBox="1"/>
          <p:nvPr/>
        </p:nvSpPr>
        <p:spPr>
          <a:xfrm>
            <a:off x="5074920" y="3493008"/>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trees are cut down.</a:t>
            </a:r>
            <a:endParaRPr lang="en-US" sz="950" dirty="0"/>
          </a:p>
        </p:txBody>
      </p:sp>
      <p:sp>
        <p:nvSpPr>
          <p:cNvPr id="31" name="Text 28"/>
          <p:cNvSpPr txBox="1"/>
          <p:nvPr/>
        </p:nvSpPr>
        <p:spPr>
          <a:xfrm>
            <a:off x="548640" y="3072384"/>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يَقْطَعُ</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النَّاسُ الأَشْجَارَ.</a:t>
            </a:r>
            <a:endParaRPr lang="ar-SA" sz="2100" dirty="0"/>
          </a:p>
        </p:txBody>
      </p:sp>
      <p:sp>
        <p:nvSpPr>
          <p:cNvPr id="32" name="Text 29"/>
          <p:cNvSpPr txBox="1"/>
          <p:nvPr/>
        </p:nvSpPr>
        <p:spPr>
          <a:xfrm>
            <a:off x="502920" y="3493008"/>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People cut down the trees.</a:t>
            </a:r>
            <a:endParaRPr lang="en-US" sz="95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9710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yarmī → turmā</a:t>
            </a:r>
            <a:endParaRPr lang="en-US" sz="1100" dirty="0"/>
          </a:p>
        </p:txBody>
      </p:sp>
      <p:sp>
        <p:nvSpPr>
          <p:cNvPr id="37" name="Text 34"/>
          <p:cNvSpPr txBox="1"/>
          <p:nvPr/>
        </p:nvSpPr>
        <p:spPr>
          <a:xfrm>
            <a:off x="5120640" y="3858768"/>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تُرْمَى</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النُّفَايَاتُ فِي النَّهْرِ.</a:t>
            </a:r>
            <a:endParaRPr lang="ar-SA" sz="2100" dirty="0"/>
          </a:p>
        </p:txBody>
      </p:sp>
      <p:sp>
        <p:nvSpPr>
          <p:cNvPr id="38" name="Text 35"/>
          <p:cNvSpPr txBox="1"/>
          <p:nvPr/>
        </p:nvSpPr>
        <p:spPr>
          <a:xfrm>
            <a:off x="5074920" y="4279392"/>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Rubbish is thrown in the river.</a:t>
            </a:r>
            <a:endParaRPr lang="en-US" sz="950" dirty="0"/>
          </a:p>
        </p:txBody>
      </p:sp>
      <p:sp>
        <p:nvSpPr>
          <p:cNvPr id="39" name="Text 36"/>
          <p:cNvSpPr txBox="1"/>
          <p:nvPr/>
        </p:nvSpPr>
        <p:spPr>
          <a:xfrm>
            <a:off x="548640" y="3858768"/>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يَرْمِي</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النَّاسُ النُّفَايَاتِ.</a:t>
            </a:r>
            <a:endParaRPr lang="ar-SA" sz="2100" dirty="0"/>
          </a:p>
        </p:txBody>
      </p:sp>
      <p:sp>
        <p:nvSpPr>
          <p:cNvPr id="40" name="Text 37"/>
          <p:cNvSpPr txBox="1"/>
          <p:nvPr/>
        </p:nvSpPr>
        <p:spPr>
          <a:xfrm>
            <a:off x="502920" y="4279392"/>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People throw rubbish.</a:t>
            </a:r>
            <a:endParaRPr lang="en-US" sz="9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710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yanbaʿithu</a:t>
            </a:r>
            <a:endParaRPr lang="en-US" sz="1100" dirty="0"/>
          </a:p>
        </p:txBody>
      </p:sp>
      <p:sp>
        <p:nvSpPr>
          <p:cNvPr id="43" name="Text 40"/>
          <p:cNvSpPr txBox="1"/>
          <p:nvPr/>
        </p:nvSpPr>
        <p:spPr>
          <a:xfrm>
            <a:off x="5120640" y="4645152"/>
            <a:ext cx="4389120" cy="453542"/>
          </a:xfrm>
          <a:prstGeom prst="rect">
            <a:avLst/>
          </a:prstGeom>
          <a:noFill/>
          <a:ln/>
        </p:spPr>
        <p:txBody>
          <a:bodyPr wrap="square" lIns="0" tIns="0" rIns="0" bIns="0" rtlCol="0" anchor="ctr"/>
          <a:lstStyle/>
          <a:p>
            <a:pPr algn="ctr" indent="0" marL="0">
              <a:buNone/>
            </a:pPr>
            <a:r>
              <a:rPr lang="en-US" sz="2200" b="1" dirty="0">
                <a:solidFill>
                  <a:srgbClr val="1B3B6F"/>
                </a:solidFill>
                <a:latin typeface="Calibri" pitchFamily="34" charset="0"/>
                <a:ea typeface="Calibri" pitchFamily="34" charset="-122"/>
                <a:cs typeface="Calibri" pitchFamily="34" charset="-120"/>
              </a:rPr>
              <a:t>— (not a passive)</a:t>
            </a:r>
            <a:endParaRPr lang="en-US" sz="2200" dirty="0"/>
          </a:p>
        </p:txBody>
      </p:sp>
      <p:sp>
        <p:nvSpPr>
          <p:cNvPr id="44" name="Text 41"/>
          <p:cNvSpPr txBox="1"/>
          <p:nvPr/>
        </p:nvSpPr>
        <p:spPr>
          <a:xfrm>
            <a:off x="5074920" y="5065776"/>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process verb</a:t>
            </a:r>
            <a:endParaRPr lang="en-US" sz="950" dirty="0"/>
          </a:p>
        </p:txBody>
      </p:sp>
      <p:sp>
        <p:nvSpPr>
          <p:cNvPr id="45" name="Text 42"/>
          <p:cNvSpPr txBox="1"/>
          <p:nvPr/>
        </p:nvSpPr>
        <p:spPr>
          <a:xfrm>
            <a:off x="548640" y="4645152"/>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يَنْبَعِثُ الدُّخَانُ.</a:t>
            </a:r>
            <a:endParaRPr lang="ar-SA" sz="2100" dirty="0"/>
          </a:p>
        </p:txBody>
      </p:sp>
      <p:sp>
        <p:nvSpPr>
          <p:cNvPr id="46" name="Text 43"/>
          <p:cNvSpPr txBox="1"/>
          <p:nvPr/>
        </p:nvSpPr>
        <p:spPr>
          <a:xfrm>
            <a:off x="502920" y="5065776"/>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Smoke is emitted.</a:t>
            </a:r>
            <a:endParaRPr lang="en-US" sz="95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 the passive the affected thing becomes the subject (-u): al-hawāʾu, al-ashjāru. Non-human plurals → ta-: tuqṭaʿu.</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CAUSE AND EFFECT (WEBSITE RULES 2–4)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Because of … leads to … which causes …</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بِسَبَبِ · يُؤَدِّي إِلَى · مِمَّا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CAUSE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بِسَبَبِ + اسْمٌ</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يَتَلَوَّثُ البَحْرُ بِسَبَبِ النُّفَايَاتِ البِلَاسْتِيكِيَّةِ.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sea is polluted because of plastic waste.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noun, not a clause.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RESULT · CORE</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يُؤَدِّي إِلَى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يُؤَدِّي قَطْعُ الأَشْجَارِ إِلَى فَقْدِ المَوَائِلِ.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Cutting down trees leads to habitat loss.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Always ilā.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CHAIN · DEVELOP</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مِمَّا يُسَبِّبُ</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تَرْتَفِعُ دَرَجَةُ الحَرَارَةِ، مِمَّا يُسَبِّبُ ذَوَبَانَ الجَلِيدِ.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temperature rises, which causes the ice to melt.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mimmā = the whole idea.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yuʾaddī takes ilā.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يُؤَدِّي التَّلَوُّثُ إِلَى أَمْرَاضٍ.</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يُؤَدِّي التَّلَوُّثُ فِي أَمْرَاضٍ.</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Grammar of environmental causes and effects</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قَوَاعِدُ الأَسْبَابِ وَالنَّتَائِجِ</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Active and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تُلَوِّثُ المَصَانِعُ الهَوَاءَ · يُلَوَّثُ الهَوَاءُ</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تُلَوِّثُ المَصَانِعُ الهَوَاءَ.   ·   يُلَوَّثُ الهَوَاءُ بِدُخَانِ المَصَانِعِ.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Cause phrases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بِسَبَبِ / نَتِيجَةً لِـ</a:t>
            </a:r>
            <a:pPr algn="l" indent="0" marL="0">
              <a:buNone/>
            </a:pPr>
            <a:r>
              <a:rPr lang="en-US" sz="1050" dirty="0">
                <a:solidFill>
                  <a:srgbClr val="5A6472"/>
                </a:solidFill>
                <a:latin typeface="Calibri" pitchFamily="34" charset="0"/>
                <a:ea typeface="Calibri" pitchFamily="34" charset="-122"/>
                <a:cs typeface="Calibri" pitchFamily="34" charset="-120"/>
              </a:rPr>
              <a:t> + genitive noun</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يَتَلَوَّثُ البَحْرُ بِسَبَبِ النُّفَايَاتِ البِلَاسْتِيكِيَّةِ.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Result with </a:t>
            </a:r>
            <a:pPr algn="l" indent="0" marL="0">
              <a:buNone/>
            </a:pPr>
            <a:r>
              <a:rPr lang="ar-SA" altLang="en-US" sz="1650" b="1" dirty="0">
                <a:solidFill>
                  <a:srgbClr val="1B3B6F"/>
                </a:solidFill>
                <a:latin typeface="Amiri" pitchFamily="34" charset="0"/>
                <a:ea typeface="Amiri" pitchFamily="34" charset="-122"/>
                <a:cs typeface="Amiri" pitchFamily="34" charset="-120"/>
              </a:rPr>
              <a:t>يُؤَدِّي إِلَى</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cause + </a:t>
            </a:r>
            <a:pPr algn="l" indent="0" marL="0">
              <a:buNone/>
            </a:pPr>
            <a:r>
              <a:rPr lang="ar-SA" altLang="en-US" sz="1350" dirty="0">
                <a:solidFill>
                  <a:srgbClr val="5A6472"/>
                </a:solidFill>
                <a:latin typeface="Amiri" pitchFamily="34" charset="0"/>
                <a:ea typeface="Amiri" pitchFamily="34" charset="-122"/>
                <a:cs typeface="Amiri" pitchFamily="34" charset="-120"/>
              </a:rPr>
              <a:t>يُؤَدِّي إِلَى</a:t>
            </a:r>
            <a:pPr algn="l" indent="0" marL="0">
              <a:buNone/>
            </a:pPr>
            <a:r>
              <a:rPr lang="en-US" sz="1050" dirty="0">
                <a:solidFill>
                  <a:srgbClr val="5A6472"/>
                </a:solidFill>
                <a:latin typeface="Calibri" pitchFamily="34" charset="0"/>
                <a:ea typeface="Calibri" pitchFamily="34" charset="-122"/>
                <a:cs typeface="Calibri" pitchFamily="34" charset="-120"/>
              </a:rPr>
              <a:t> + verbal noun /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يُؤَدِّي قَطْعُ الأَشْجَارِ إِلَى فَقْدِ المَوَائِلِ.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Linking a whole clause to a consequence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clause</a:t>
            </a:r>
            <a:pPr algn="l" indent="0" marL="0">
              <a:buNone/>
            </a:pPr>
            <a:r>
              <a:rPr lang="ar-SA" altLang="en-US" sz="1350" dirty="0">
                <a:solidFill>
                  <a:srgbClr val="5A6472"/>
                </a:solidFill>
                <a:latin typeface="Amiri" pitchFamily="34" charset="0"/>
                <a:ea typeface="Amiri" pitchFamily="34" charset="-122"/>
                <a:cs typeface="Amiri" pitchFamily="34" charset="-120"/>
              </a:rPr>
              <a:t>، مِمَّا يُسَبِّبُ / مِمَّا يُؤَدِّي إِلَى</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تَرْتَفِعُ دَرَجَةُ الحَرَارَةِ، مِمَّا يُسَبِّبُ ذَوَبَانَ الجَلِيدِ.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active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بِالدُّخَانِ.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تُقْطَعُ الأَشْجَارُ.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تُلَوِّثُ المَصَانِعُ الهَوَاءَ.</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يَتَلَوَّثُ البَحْرُ ___ النُّفَايَاتِ.</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إِلَى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مِمَّا</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result structure.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التَّصَحُّرُ مِنْ فَقْدِ الأَرَاضِي.</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التَّصَحُّرُ إِلَى فَقْدِ الأَرَاضِي الزِّرَاعِيَّةِ.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التَّصَحُّرُ فِي فَقْدِ الأَرَاضِي.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links a complete cause to its consequence?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الحَرَارَةُ، مِمَّا يُسَبِّبُ ذَوَبَانَ الجَلِيدِ.</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الحَرَارَةُ بِسَبَبِ يُسَبِّبُ الجَلِيدَ.</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الحَرَارَةُ إِلَى مِمَّا الجَلِيدِ.</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active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يُلَوَّثُ الهَوَاءُ بِالدُّخَانِ.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تُقْطَعُ الأَشْجَارُ.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تُلَوِّثُ المَصَانِعُ الهَوَاءَ.</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active sentence names factories as the agent.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يَتَلَوَّثُ البَحْرُ ___ النُّفَايَاتِ.</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بِسَبَبِ</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إِلَى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مِمَّا</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بسبب</a:t>
            </a:r>
            <a:pPr algn="l" indent="0" marL="0">
              <a:buNone/>
            </a:pPr>
            <a:r>
              <a:rPr lang="en-US" sz="1050" i="1" dirty="0">
                <a:solidFill>
                  <a:srgbClr val="8A6D1E"/>
                </a:solidFill>
                <a:latin typeface="Calibri" pitchFamily="34" charset="0"/>
                <a:ea typeface="Calibri" pitchFamily="34" charset="-122"/>
                <a:cs typeface="Calibri" pitchFamily="34" charset="-120"/>
              </a:rPr>
              <a:t> is followed by the cause noun.</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result structure.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التَّصَحُّرُ مِنْ فَقْدِ الأَرَاضِي.</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يُؤَدِّي التَّصَحُّرُ إِلَى فَقْدِ الأَرَاضِي الزِّرَاعِيَّةِ.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التَّصَحُّرُ فِي فَقْدِ الأَرَاضِي.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يؤدي</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links a complete cause to its consequence?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تَرْتَفِعُ الحَرَارَةُ، مِمَّا يُسَبِّبُ ذَوَبَانَ الجَلِيدِ.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تَرْتَفِعُ الحَرَارَةُ بِسَبَبِ يُسَبِّبُ الجَلِيدَ.</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تَرْتَفِعُ الحَرَارَةُ إِلَى مِمَّا الجَلِيدِ.</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مما يسبب</a:t>
            </a:r>
            <a:pPr algn="l" indent="0" marL="0">
              <a:buNone/>
            </a:pPr>
            <a:r>
              <a:rPr lang="en-US" sz="1050" i="1" dirty="0">
                <a:solidFill>
                  <a:srgbClr val="8A6D1E"/>
                </a:solidFill>
                <a:latin typeface="Calibri" pitchFamily="34" charset="0"/>
                <a:ea typeface="Calibri" pitchFamily="34" charset="-122"/>
                <a:cs typeface="Calibri" pitchFamily="34" charset="-120"/>
              </a:rPr>
              <a:t> refers to the whole preceding clause.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build a cause–effect chain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Cause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بِسَبَبِ</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حَرْقِ الوَقُودِ الأُحْفُورِيِّ</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bi-sababi + noun.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Passive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يُلَوَّثُ</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الهَوَاءُ</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Focus on the air.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Effect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وَ</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يُؤَدِّي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ذٰلِكَ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إِلَى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الاحْتِبَاسِ الحَرَارِيِّ</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yuʾaddī ilā.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Chain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0E7C86"/>
                </a:solidFill>
                <a:latin typeface="Amiri" pitchFamily="34" charset="0"/>
                <a:ea typeface="Amiri" pitchFamily="34" charset="-122"/>
                <a:cs typeface="Amiri" pitchFamily="34" charset="-120"/>
              </a:rPr>
              <a:t>مِمَّا يُسَبِّبُ</a:t>
            </a:r>
            <a:pPr rtl="1" algn="ctr" indent="0" marL="0">
              <a:buNone/>
            </a:pPr>
            <a:r>
              <a:rPr lang="ar-SA" altLang="en-US" sz="2300" b="1" dirty="0">
                <a:solidFill>
                  <a:srgbClr val="1B3B6F"/>
                </a:solidFill>
                <a:latin typeface="Amiri" pitchFamily="34" charset="0"/>
                <a:ea typeface="Amiri" pitchFamily="34" charset="-122"/>
                <a:cs typeface="Amiri" pitchFamily="34" charset="-120"/>
              </a:rPr>
              <a:t> ذَوَبَانَ الجَلِيدِ</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Whole idea → consequence.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CAUSE / CHAIN</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PASSIVE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RESULT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بِسَبَبِ</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حَرْقِ الوَقُودِ الأُحْفُورِيِّ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يُلَوَّثُ</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الهَوَاءُ، وَتَرْتَفِعُ نِسْبَةُ ثَانِي أُكْسِيدِ الكَرْبُونِ.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يُؤَدِّي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ذٰلِكَ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الاحْتِبَاسِ الحَرَارِيِّ،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مِمَّا يُسَبِّبُ</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ذَوَبَانَ الجَلِيدِ وَارْتِفَاعَ مُسْتَوَى البَحْرِ. وَفِي مَنَاطِقَ أُخْرَى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تُقْطَعُ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الأَشْجَارُ، فَتَفْقِدُ الحَيَوَانَاتُ مَوَائِلَهَا.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Because of burning fossil fuels, the air is polluted and the level of carbon dioxide rises. This leads to global warming, which causes ice to melt and sea levels to rise. In other areas trees are cut down, so animals lose their habitats.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تُلَوِّثُ المَصَانِعُ الهَوَاءَ.</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Factories pollute the air.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active sentence names the agent. The passive focuses on the affected thing; the passive subject is nominative.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يَتَلَوَّثُ البَحْرُ بِسَبَبِ النُّفَايَاتِ البِلَاسْتِيكِيَّةِ.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sea is polluted because of plastic waste.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These expressions are followed by a noun phrase, not a complete finite clause.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يُؤَدِّي قَطْعُ الأَشْجَارِ إِلَى فَقْدِ المَوَائِلِ.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Cutting down trees leads to habitat loss.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Keep the preposition إِلَى after يُؤَدِّي.</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ENVIRONMENTAL PROBLEMS — CAUSES AND EFFECTS”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What causes what? Match the picture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factory smoke · mask</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rubbish · water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heat · melting ice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النُّفَايَاتُ تُلَوِّثُ المِيَاهَ.</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الاِحْتِبَاسُ الحَرَارِيُّ يُؤَدِّي إِلَى ذَوَبَانِ الجَلِيدِ.</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تَلَوُّثُ الهَوَاءِ يُسَبِّبُ مَشَاكِلَ صِحِّيَّةً.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factory smoke · mask</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تَلَوُّثُ الهَوَاءِ يُسَبِّبُ مَشَاكِلَ صِحِّيَّةً.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Air pollution causes health problems.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rubbish · water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النُّفَايَاتُ تُلَوِّثُ المِيَاهَ.</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Waste pollutes the water.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heat · melting ice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الاِحْتِبَاسُ الحَرَارِيُّ يُؤَدِّي إِلَى ذَوَبَانِ الجَلِيدِ.</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Global warming leads to melting ice.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الهَوَاءِ</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المِيَاهِ</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النُّفَايَاتُ البِلَاسْتِيكِيَّةُ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المَصَانِعُ الهَوَاءَ</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يُلَوَّثُ الهَوَاءُ</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تُقْطَعُ الأَشْجَارُ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بِسَبَبِ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نَتِيجَةً لِـ</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 إِلَى</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Environmental problems</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Active and passive processes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Cause and effect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Environmental problems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الهَوَاءِ</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المِيَاهِ</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النُّفَايَاتُ البِلَاسْتِيكِيَّةُ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Active and passive processes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المَصَانِعُ الهَوَاءَ</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يُلَوَّثُ الهَوَاءُ</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تُقْطَعُ الأَشْجَارُ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Cause and effect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بِسَبَبِ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نَتِيجَةً لِـ</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 إِلَى</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3,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تُلَوَّثُ الهَوَاءُ بِالدُّخَانِ.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بِدُخَانِ المَصَانِعِ.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بِدُخَانِ المَصَانِعِ.</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trees.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يُقْطَعُ الأَشْجَارُ فِي بَعْضِ المَنَاطِقِ.</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تُقْطَعُ الأَشْجَارُ فِي بَعْضِ المَنَاطِقِ.</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تَقْطَعُ الأَشْجَارَ فِي بَعْضِ المَنَاطِقِ.</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a:t>
            </a:r>
            <a:pPr algn="l" indent="0" marL="0">
              <a:buNone/>
            </a:pPr>
            <a:r>
              <a:rPr lang="ar-SA" altLang="en-US" sz="1650" b="1" dirty="0">
                <a:solidFill>
                  <a:srgbClr val="1B3B6F"/>
                </a:solidFill>
                <a:latin typeface="Amiri" pitchFamily="34" charset="0"/>
                <a:ea typeface="Amiri" pitchFamily="34" charset="-122"/>
                <a:cs typeface="Amiri" pitchFamily="34" charset="-120"/>
              </a:rPr>
              <a:t>يَنْبَعِثُ</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regular passive of </a:t>
            </a:r>
            <a:pPr algn="l" indent="0" marL="0">
              <a:buNone/>
            </a:pPr>
            <a:r>
              <a:rPr lang="ar-SA" altLang="en-US" sz="1650" dirty="0">
                <a:solidFill>
                  <a:srgbClr val="1F2A37"/>
                </a:solidFill>
                <a:latin typeface="Amiri" pitchFamily="34" charset="0"/>
                <a:ea typeface="Amiri" pitchFamily="34" charset="-122"/>
                <a:cs typeface="Amiri" pitchFamily="34" charset="-120"/>
              </a:rPr>
              <a:t>يُلَوِّثُ</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an intransitive process verb meaning “emanates/is emitted”.</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must always take a direct object.</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cause phrase.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لِحَرَقَ الوَقُودَ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إِلَى حَرْقُ الوَقُودِ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لِحَرْقِ الوَقُودِ الأُحْفُورِيِّ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تُلَوَّثُ الهَوَاءُ بِالدُّخَانِ.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يُلَوِّثُ الهَوَاءَ بِدُخَانِ المَصَانِعِ.</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يُلَوَّثُ الهَوَاءُ بِدُخَانِ المَصَانِعِ.</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الهواء</a:t>
            </a:r>
            <a:pPr algn="l" indent="0" marL="0">
              <a:buNone/>
            </a:pPr>
            <a:r>
              <a:rPr lang="en-US" sz="1050" i="1" dirty="0">
                <a:solidFill>
                  <a:srgbClr val="8A6D1E"/>
                </a:solidFill>
                <a:latin typeface="Calibri" pitchFamily="34" charset="0"/>
                <a:ea typeface="Calibri" pitchFamily="34" charset="-122"/>
                <a:cs typeface="Calibri" pitchFamily="34" charset="-120"/>
              </a:rPr>
              <a:t> is masculine; the passive is </a:t>
            </a:r>
            <a:pPr algn="l" indent="0" marL="0">
              <a:buNone/>
            </a:pPr>
            <a:r>
              <a:rPr lang="ar-SA" altLang="en-US" sz="1350" dirty="0">
                <a:solidFill>
                  <a:srgbClr val="8A6D1E"/>
                </a:solidFill>
                <a:latin typeface="Amiri" pitchFamily="34" charset="0"/>
                <a:ea typeface="Amiri" pitchFamily="34" charset="-122"/>
                <a:cs typeface="Amiri" pitchFamily="34" charset="-120"/>
              </a:rPr>
              <a:t>يُلَوَّثُ</a:t>
            </a:r>
            <a:pPr algn="l" indent="0" marL="0">
              <a:buNone/>
            </a:pPr>
            <a:r>
              <a:rPr lang="en-US" sz="1050" i="1" dirty="0">
                <a:solidFill>
                  <a:srgbClr val="8A6D1E"/>
                </a:solidFill>
                <a:latin typeface="Calibri" pitchFamily="34" charset="0"/>
                <a:ea typeface="Calibri" pitchFamily="34" charset="-122"/>
                <a:cs typeface="Calibri" pitchFamily="34" charset="-120"/>
              </a:rPr>
              <a:t> and the passive subject is nominative.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trees.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يُقْطَعُ الأَشْجَارُ فِي بَعْضِ المَنَاطِقِ.</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تُقْطَعُ الأَشْجَارُ فِي بَعْضِ المَنَاطِقِ.</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تَقْطَعُ الأَشْجَارَ فِي بَعْضِ المَنَاطِقِ.</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الأشجار</a:t>
            </a:r>
            <a:pPr algn="l" indent="0" marL="0">
              <a:buNone/>
            </a:pPr>
            <a:r>
              <a:rPr lang="en-US" sz="1050" i="1" dirty="0">
                <a:solidFill>
                  <a:srgbClr val="8A6D1E"/>
                </a:solidFill>
                <a:latin typeface="Calibri" pitchFamily="34" charset="0"/>
                <a:ea typeface="Calibri" pitchFamily="34" charset="-122"/>
                <a:cs typeface="Calibri" pitchFamily="34" charset="-120"/>
              </a:rPr>
              <a:t> is a non-human plural treated as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تُقْطَعُ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a:t>
            </a:r>
            <a:pPr algn="l" indent="0" marL="0">
              <a:buNone/>
            </a:pPr>
            <a:r>
              <a:rPr lang="ar-SA" altLang="en-US" sz="1650" b="1" dirty="0">
                <a:solidFill>
                  <a:srgbClr val="1B3B6F"/>
                </a:solidFill>
                <a:latin typeface="Amiri" pitchFamily="34" charset="0"/>
                <a:ea typeface="Amiri" pitchFamily="34" charset="-122"/>
                <a:cs typeface="Amiri" pitchFamily="34" charset="-120"/>
              </a:rPr>
              <a:t>يَنْبَعِثُ</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regular passive of </a:t>
            </a:r>
            <a:pPr algn="l" indent="0" marL="0">
              <a:buNone/>
            </a:pPr>
            <a:r>
              <a:rPr lang="ar-SA" altLang="en-US" sz="1650" dirty="0">
                <a:solidFill>
                  <a:srgbClr val="9AA1AB"/>
                </a:solidFill>
                <a:latin typeface="Amiri" pitchFamily="34" charset="0"/>
                <a:ea typeface="Amiri" pitchFamily="34" charset="-122"/>
                <a:cs typeface="Amiri" pitchFamily="34" charset="-120"/>
              </a:rPr>
              <a:t>يُلَوِّثُ</a:t>
            </a:r>
            <a:pPr algn="l" indent="0" marL="0">
              <a:buNone/>
            </a:pPr>
            <a:r>
              <a:rPr lang="en-US" sz="1250" dirty="0">
                <a:solidFill>
                  <a:srgbClr val="9AA1AB"/>
                </a:solidFill>
                <a:latin typeface="Calibri" pitchFamily="34" charset="0"/>
                <a:ea typeface="Calibri" pitchFamily="34" charset="-122"/>
                <a:cs typeface="Calibri" pitchFamily="34" charset="-120"/>
              </a:rPr>
              <a:t>.</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It is an intransitive process verb meaning “emanates/is emitted”.</a:t>
            </a:r>
            <a:endParaRPr lang="en-US" sz="12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must always take a direct object.</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ينبعث</a:t>
            </a:r>
            <a:pPr algn="l" indent="0" marL="0">
              <a:buNone/>
            </a:pPr>
            <a:r>
              <a:rPr lang="en-US" sz="1050" i="1" dirty="0">
                <a:solidFill>
                  <a:srgbClr val="8A6D1E"/>
                </a:solidFill>
                <a:latin typeface="Calibri" pitchFamily="34" charset="0"/>
                <a:ea typeface="Calibri" pitchFamily="34" charset="-122"/>
                <a:cs typeface="Calibri" pitchFamily="34" charset="-120"/>
              </a:rPr>
              <a:t> is not a passive form of </a:t>
            </a:r>
            <a:pPr algn="l" indent="0" marL="0">
              <a:buNone/>
            </a:pPr>
            <a:r>
              <a:rPr lang="ar-SA" altLang="en-US" sz="1350" dirty="0">
                <a:solidFill>
                  <a:srgbClr val="8A6D1E"/>
                </a:solidFill>
                <a:latin typeface="Amiri" pitchFamily="34" charset="0"/>
                <a:ea typeface="Amiri" pitchFamily="34" charset="-122"/>
                <a:cs typeface="Amiri" pitchFamily="34" charset="-120"/>
              </a:rPr>
              <a:t>لوّث</a:t>
            </a:r>
            <a:pPr algn="l" indent="0" marL="0">
              <a:buNone/>
            </a:pPr>
            <a:r>
              <a:rPr lang="en-US" sz="1050" i="1" dirty="0">
                <a:solidFill>
                  <a:srgbClr val="8A6D1E"/>
                </a:solidFill>
                <a:latin typeface="Calibri" pitchFamily="34" charset="0"/>
                <a:ea typeface="Calibri" pitchFamily="34" charset="-122"/>
                <a:cs typeface="Calibri" pitchFamily="34" charset="-120"/>
              </a:rPr>
              <a:t>; it describes smoke or gas emanating.</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cause phrase.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نَتِيجَةُ لِحَرَقَ الوَقُودَ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نَتِيجَةً إِلَى حَرْقُ الوَقُودِ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نَتِيجَةً لِحَرْقِ الوَقُودِ الأُحْفُورِيِّ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نتيجةً لـ</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genitive noun phrase.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يُلَوِّثُ الهَوَاءُ بِالدُّخَانِ.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polluted”: -wwi- or -wwa-?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يُؤَدِّي التَّلَوُّثُ فِي أَمْرَاضٍ.</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preposition after yuʾaddī?</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يُقْطَعُ الأَشْجَارُ.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al-ashjār is a non-human plural: ya- or ta-?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يُلَوِّثُ الهَوَاءُ بِالدُّخَانِ.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يُلَوَّثُ الهَوَاءُ بِالدُّخَانِ.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passive present of </a:t>
            </a:r>
            <a:pPr algn="l" indent="0" marL="0">
              <a:buNone/>
            </a:pPr>
            <a:r>
              <a:rPr lang="ar-SA" altLang="en-US" sz="1500" b="1" dirty="0">
                <a:solidFill>
                  <a:srgbClr val="1B3B6F"/>
                </a:solidFill>
                <a:latin typeface="Amiri" pitchFamily="34" charset="0"/>
                <a:ea typeface="Amiri" pitchFamily="34" charset="-122"/>
                <a:cs typeface="Amiri" pitchFamily="34" charset="-120"/>
              </a:rPr>
              <a:t>لوّث</a:t>
            </a:r>
            <a:pPr algn="l" indent="0" marL="0">
              <a:buNone/>
            </a:pPr>
            <a:r>
              <a:rPr lang="en-US" sz="1150" b="1" dirty="0">
                <a:solidFill>
                  <a:srgbClr val="1B3B6F"/>
                </a:solidFill>
                <a:latin typeface="Calibri" pitchFamily="34" charset="0"/>
                <a:ea typeface="Calibri" pitchFamily="34" charset="-122"/>
                <a:cs typeface="Calibri" pitchFamily="34" charset="-120"/>
              </a:rPr>
              <a:t> is </a:t>
            </a:r>
            <a:pPr algn="l" indent="0" marL="0">
              <a:buNone/>
            </a:pPr>
            <a:r>
              <a:rPr lang="ar-SA" altLang="en-US" sz="1500" b="1" dirty="0">
                <a:solidFill>
                  <a:srgbClr val="1B3B6F"/>
                </a:solidFill>
                <a:latin typeface="Amiri" pitchFamily="34" charset="0"/>
                <a:ea typeface="Amiri" pitchFamily="34" charset="-122"/>
                <a:cs typeface="Amiri" pitchFamily="34" charset="-120"/>
              </a:rPr>
              <a:t>يُلَوَّثُ</a:t>
            </a:r>
            <a:pPr algn="l" indent="0" marL="0">
              <a:buNone/>
            </a:pPr>
            <a:r>
              <a:rPr lang="en-US" sz="1150" b="1" dirty="0">
                <a:solidFill>
                  <a:srgbClr val="1B3B6F"/>
                </a:solidFill>
                <a:latin typeface="Calibri" pitchFamily="34" charset="0"/>
                <a:ea typeface="Calibri" pitchFamily="34" charset="-122"/>
                <a:cs typeface="Calibri" pitchFamily="34" charset="-120"/>
              </a:rPr>
              <a:t>; the air is the passive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يُؤَدِّي التَّلَوُّثُ فِي أَمْرَاضٍ.</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يُؤَدِّي التَّلَوُّثُ إِلَى أَمْرَاضٍ.</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يؤدي</a:t>
            </a:r>
            <a:pPr algn="l" indent="0" marL="0">
              <a:buNone/>
            </a:pPr>
            <a:r>
              <a:rPr lang="en-US" sz="1150" b="1" dirty="0">
                <a:solidFill>
                  <a:srgbClr val="1B3B6F"/>
                </a:solidFill>
                <a:latin typeface="Calibri" pitchFamily="34" charset="0"/>
                <a:ea typeface="Calibri" pitchFamily="34" charset="-122"/>
                <a:cs typeface="Calibri" pitchFamily="34" charset="-120"/>
              </a:rPr>
              <a:t> takes the preposition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يُقْطَعُ الأَشْجَارُ.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تُقْطَعُ الأَشْجَارُ.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الأشجار</a:t>
            </a:r>
            <a:pPr algn="l" indent="0" marL="0">
              <a:buNone/>
            </a:pPr>
            <a:r>
              <a:rPr lang="en-US" sz="1150" b="1" dirty="0">
                <a:solidFill>
                  <a:srgbClr val="1B3B6F"/>
                </a:solidFill>
                <a:latin typeface="Calibri" pitchFamily="34" charset="0"/>
                <a:ea typeface="Calibri" pitchFamily="34" charset="-122"/>
                <a:cs typeface="Calibri" pitchFamily="34" charset="-120"/>
              </a:rPr>
              <a:t> is a non-human plural treated as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Listening: pollution and its consequences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What is described as one of the city’s most serious problems?</a:t>
            </a:r>
            <a:endParaRPr lang="en-US" sz="10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Air pollution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Lack of schools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 weather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sources pollute the air?</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Rain and wind</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Farms and hospitals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Cars and factories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emanates from them?</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Fresh water</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Snow</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Thick smoke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health effect increases?</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Respiratory illnesses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Broken bones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Food allergies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plastic waste thrown?</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recycling centre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river</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mountains</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What are the two water-related consequences?</a:t>
            </a:r>
            <a:endParaRPr lang="en-US" sz="11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pollution and the death of some fish</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drinking water and cleaner beaches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Lower sea levels and more forests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تَلَوُّثُ الهَوَاءِ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السَّيَّارَاتُ</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أَمْرَاضُ</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يُعَدُّ تَلَوُّثُ الهَوَاءِ مِنْ أَخْطَرِ المُشْكِلَاتِ فِي المَدِينَةِ.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Air pollution is considered one of the most serious problems in the city.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تُلَوِّثُ السَّيَّارَاتُ وَالمَصَانِعُ الهَوَاءَ، وَيَنْبَعِثُ مِنْهَا دُخَانٌ كَثِيفٌ.</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Cars and factories pollute the air, and thick smoke comes from them.</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نَتِيجَةً لِذٰلِكَ، تَزْدَادُ أَمْرَاضُ التَّنَفُّسِ.</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a result, breathing illnesses increase.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كَمَا تُرْمَى نُفَايَاتٌ بِلَاسْتِيكِيَّةٌ فِي النَّهْرِ،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 waste is also thrown into the river,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مِمَّا يُؤَدِّي إِلَى تَلَوُّثِ المِيَاهِ وَنُفُوقِ بَعْضِ الأَسْمَاكِ.</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which leads to water pollution and the death of some fish.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What is described as one of the city’s most serious problems?</a:t>
            </a:r>
            <a:endParaRPr lang="en-US" sz="10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Air pollution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Lack of schools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Cold weather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تلوث الهواء</a:t>
            </a:r>
            <a:pPr algn="l" indent="0" marL="0">
              <a:buNone/>
            </a:pPr>
            <a:r>
              <a:rPr lang="en-US" sz="1050" i="1" dirty="0">
                <a:solidFill>
                  <a:srgbClr val="8A6D1E"/>
                </a:solidFill>
                <a:latin typeface="Calibri" pitchFamily="34" charset="0"/>
                <a:ea typeface="Calibri" pitchFamily="34" charset="-122"/>
                <a:cs typeface="Calibri" pitchFamily="34" charset="-120"/>
              </a:rPr>
              <a:t> is named.</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sources pollute the air?</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Rain and wind</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Farms and hospitals</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Cars and factories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السيارات والمصانع.</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emanates from them?</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Fresh water</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Snow</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Thick smoke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دخان كثيف.</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health effect increases?</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Respiratory illnesses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Broken bones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Food allergies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أمراض التنفس.</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plastic waste thrown?</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recycling centre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river</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mountains</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النهر.</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What are the two water-related consequences?</a:t>
            </a:r>
            <a:endParaRPr lang="en-US" sz="11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Water pollution and the death of some fish</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More drinking water and cleaner beaches</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Lower sea levels and more forests</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clause names both consequences.</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تَلَوُّثُ الهَوَاءِ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السَّيَّارَاتُ</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أَمْرَاضُ</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Speaking: explain a problem and its consequences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أَخْطَرُ مُشْكِلَةٍ بِيئِيَّةٍ؟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سَبَبُهَا؟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نَتَائِجُهَا عَلَى المَدَى الطَّوِيلِ؟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رَأْيِي، أَخْطَرُ مُشْكِلَةٍ هِيَ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بِسَبَبِ ___ ، يُلَوَّثُ / تُقْطَعُ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يُؤَدِّي ذٰلِكَ إِلَى ___ ، مِمَّا يُسَبِّبُ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أَخْطَرُ مُشْكِلَةٍ بِيئِيَّةٍ فِي رَأْيِكَ؟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What is the most serious environmental problem, in your opinion?</a:t>
            </a:r>
            <a:endParaRPr lang="en-US" sz="90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رَأْيِي، تَلَوُّثُ الهَوَاءِ خَطِيرٌ لِأَنَّ السَّيَّارَاتِ وَالمَصَانِعَ تُطْلِقُ دُخَانًا يُؤَدِّي إِلَى أَمْرَاضٍ تَنَفُّسِيَّةٍ.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In my opinion, air pollution is serious because cars and factories release smoke that leads to breathing illnesses.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problem: what it is, one cause (bi-sababi), one effect (yuʾaddī ilā).</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problems, each with cause and effect; one active and one passive sentence.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two developed chains, three different connectors and a justified judgement.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تُلَوِّثُ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pollute(s)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مِمَّا يُسَبِّبُ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which causes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نَتِيجَةً لِـ ______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a result of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المَدَى الطَّوِيلِ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long term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أَخْطَرِ المُشْكِلَاتِ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of the most serious problems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يُلَوَّثُ الهَوَاءُ بِسَبَبِ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air is polluted because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يُؤَدِّي ذٰلِكَ إِلَى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leads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تُقْطَعُ الأَشْجَارُ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Trees are cut down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تَلَوُّثُ الهَوَاءِ  ·  تَلَوُّثُ المِيَاهِ  ·  النُّفَايَاتُ البِلَاسْتِيكِيَّةُ  ·  إِزَالَةُ الغَابَاتِ  ·  الاحْتِبَاسُ الحَرَارِيُّ  ·  تُلَوِّثُ  ·  يُلَوَّثُ  ·  تُقْطَعُ  ·  تُرْمَى  ·  بِسَبَبِ  ·  يُؤَدِّي إِلَى  ·  مِمَّا يُسَبِّبُ</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120–140 Arabic words explaining two environmental problems, their causes and consequences.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one accurate active sentence and one passive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three different cause–effect connectors.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Develop two chains with precise consequences.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Finish with a justified judgement.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يُعَدُّ … مِنْ أَخْطَرِ المُشْكِلَاتِ</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is considered one of the most serious problems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ثَانِي أُكْسِيدِ الكَرْبُونِ</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carbon dioxide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تَفْقِدُ الحَيَوَانَاتُ مَوَائِلَهَا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animals lose their habitats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سَتَكُونُ نَتَائِجُهَا طَوِيلَةَ الأَمَدِ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its results will be long-term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بُدَّ مِنْ فَهْمِ الأَسْبَابِ</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must understand the causes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تُوَاجِهُ مُدُنٌ كَثِيرَةٌ مُشْكِلَاتٍ بِيئِيَّةً مُتَرَابِطَةً. فَبِسَبَبِ كَثْرَةِ السَّيَّارَاتِ وَحَرْقِ الوَقُودِ الأُحْفُورِيِّ، يُلَوَّثُ الهَوَاءُ وَتَزْدَادُ أَمْرَاضُ التَّنَفُّسِ. كَمَا تُرْمَى النُّفَايَاتُ البِلَاسْتِيكِيَّةُ فِي البِحَارِ، مِمَّا يَضُرُّ بِالأَسْمَاكِ وَالطُّيُورِ. وَتُقْطَعُ الأَشْجَارُ فِي بَعْضِ المَنَاطِقِ، فَيُؤَدِّي ذٰلِكَ إِلَى فَقْدِ المَوَائِلِ وَالتَّصَحُّرِ. عَلَى المَدَى الطَّوِيلِ، سَتُؤَثِّرُ هٰذِهِ المَشَاكِلُ فِي صِحَّةِ النَّاسِ وَالاقْتِصَادِ. لِذٰلِكَ، لَا بُدَّ مِنْ فَهْمِ الأَسْبَابِ قَبْلَ اخْتِيَارِ الحُلُولِ.</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Many cities face connected environmental problems. Because of the large number of cars and the burning of fossil fuels, the air is polluted and breathing illnesses increase. Plastic waste is also thrown into the seas, which harms fish and birds. Trees are cut down in some regions, which leads to habitat loss and desertification. In the long term, these problems will affect people’s health and the economy. So we must understand the causes before choosing the solutions.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active sentence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passive sentence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connectors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judgement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bi-sababi + a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yuʾaddī + ilā.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one active and one passive sentence.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Non-human plurals take ta-.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Two chains, three connectors, a judgement.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accurate passive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تُقْطَعُ الأَشْجَارُ بِصُورَةٍ غَيْرِ قَانُونِيَّةٍ.</a:t>
            </a:r>
            <a:endParaRPr lang="ar-SA" sz="18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يُقْطَعُ الأَشْجَارُ بِصُورَةٍ غَيْرِ قَانُونِيَّةٍ.</a:t>
            </a:r>
            <a:endParaRPr lang="ar-SA" sz="18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تَقْطَعُ الأَشْجَارَ بِصُورَةٍ غَيْرِ قَانُونِيَّةٍ.</a:t>
            </a:r>
            <a:endParaRPr lang="ar-SA" sz="18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must be followed by </a:t>
            </a:r>
            <a:pPr algn="l" indent="0" marL="0">
              <a:buNone/>
            </a:pPr>
            <a:r>
              <a:rPr lang="ar-SA" altLang="en-US" sz="1650" b="1" dirty="0">
                <a:solidFill>
                  <a:srgbClr val="1B3B6F"/>
                </a:solidFill>
                <a:latin typeface="Amiri" pitchFamily="34" charset="0"/>
                <a:ea typeface="Amiri" pitchFamily="34" charset="-122"/>
                <a:cs typeface="Amiri" pitchFamily="34" charset="-120"/>
              </a:rPr>
              <a:t>إِلَى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coherent cause–effect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يَتَرَاكَمُ البِلَاسْتِيكُ فِي البَحْرِ، مِمَّا يَضُرُّ بِالحَيَوَانَاتِ.</a:t>
            </a:r>
            <a:endParaRPr lang="ar-SA"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يَتَرَاكَمُ البِلَاسْتِيكُ فِي البَحْرِ، مِمَّا يَزْرَعُ الغَابَاتِ.</a:t>
            </a:r>
            <a:endParaRPr lang="ar-SA"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يَتَرَاكَمُ البِلَاسْتِيكُ فِي البَحْرِ، مِمَّا يُبَرِّدُ الصَّحْرَاءَ.</a:t>
            </a:r>
            <a:endParaRPr lang="ar-SA"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accurate passive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34" charset="0"/>
                <a:ea typeface="Amiri" pitchFamily="34" charset="-122"/>
                <a:cs typeface="Amiri" pitchFamily="34" charset="-120"/>
              </a:rPr>
              <a:t>تُقْطَعُ الأَشْجَارُ بِصُورَةٍ غَيْرِ قَانُونِيَّةٍ.</a:t>
            </a:r>
            <a:endParaRPr lang="ar-SA" sz="18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يُقْطَعُ الأَشْجَارُ بِصُورَةٍ غَيْرِ قَانُونِيَّةٍ.</a:t>
            </a:r>
            <a:endParaRPr lang="ar-SA" sz="18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تَقْطَعُ الأَشْجَارَ بِصُورَةٍ غَيْرِ قَانُونِيَّةٍ.</a:t>
            </a:r>
            <a:endParaRPr lang="ar-SA" sz="18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الأشجار</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 in agreement.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must be followed by </a:t>
            </a:r>
            <a:pPr algn="l" indent="0" marL="0">
              <a:buNone/>
            </a:pPr>
            <a:r>
              <a:rPr lang="ar-SA" altLang="en-US" sz="1650" b="1" dirty="0">
                <a:solidFill>
                  <a:srgbClr val="1B3B6F"/>
                </a:solidFill>
                <a:latin typeface="Amiri" pitchFamily="34" charset="0"/>
                <a:ea typeface="Amiri" pitchFamily="34" charset="-122"/>
                <a:cs typeface="Amiri" pitchFamily="34" charset="-120"/>
              </a:rPr>
              <a:t>إِلَى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نَتِيجَةً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يُؤَدِّي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بِسَبَبِ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fixed pattern is </a:t>
            </a:r>
            <a:pPr algn="l" indent="0" marL="0">
              <a:buNone/>
            </a:pPr>
            <a:r>
              <a:rPr lang="ar-SA" altLang="en-US" sz="1350" dirty="0">
                <a:solidFill>
                  <a:srgbClr val="8A6D1E"/>
                </a:solidFill>
                <a:latin typeface="Amiri" pitchFamily="34" charset="0"/>
                <a:ea typeface="Amiri" pitchFamily="34" charset="-122"/>
                <a:cs typeface="Amiri" pitchFamily="34" charset="-120"/>
              </a:rPr>
              <a:t>يؤدي 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coherent cause–effect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يَتَرَاكَمُ البِلَاسْتِيكُ فِي البَحْرِ، مِمَّا يَضُرُّ بِالحَيَوَانَاتِ.</a:t>
            </a:r>
            <a:endParaRPr lang="ar-SA"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يَتَرَاكَمُ البِلَاسْتِيكُ فِي البَحْرِ، مِمَّا يَزْرَعُ الغَابَاتِ.</a:t>
            </a:r>
            <a:endParaRPr lang="ar-SA"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يَتَرَاكَمُ البِلَاسْتِيكُ فِي البَحْرِ، مِمَّا يُبَرِّدُ الصَّحْرَاءَ.</a:t>
            </a:r>
            <a:endParaRPr lang="ar-SA"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Plastic accumulation harms animals.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cause–effect chain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بِسَبَبِ حَرْقِ الوَقُودِ الأُحْفُورِيِّ، تَرْتَفِعُ نِسْبَةُ ثَانِي أُكْسِيدِ الكَرْبُونِ فِي الهَوَاءِ. يُؤَدِّي ذٰلِكَ إِلَى الاحْتِبَاسِ الحَرَارِيِّ، مِمَّا يُسَبِّبُ ذَوَبَانَ الجَلِيدِ وَارْتِفَاعَ مُسْتَوَى البَحْرِ. وَفِي مَنَاطِقَ أُخْرَى تُقْطَعُ الأَشْجَارُ، فَتَفْقِدُ الحَيَوَانَاتُ مَوَائِلَهَا. وَإِذَا اسْتَمَرَّتْ هٰذِهِ المَشَاكِلُ، فَسَتَكُونُ نَتَائِجُهَا طَوِيلَةَ الأَمَدِ.</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حَرْقِ الوَقُودِ الأُحْفُورِيِّ</a:t>
            </a:r>
            <a:endParaRPr lang="ar-SA" sz="155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burning fossil fuel</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نِسْبَةُ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level / proportion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ثَانِي أُكْسِيدِ الكَرْبُونِ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carbon dioxide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الاحْتِبَاسِ الحَرَارِيِّ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global warming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ذَوَبَانَ الجَلِيدِ</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melting ice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ارْتِفَاعَ مُسْتَوَى البَحْرِ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sea-level rise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تُقْطَعُ</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are cut down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مَوَائِلَهَا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their habitats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إِذَا اسْتَمَرَّتْ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if … continue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طَوِيلَةَ الأَمَدِ</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long-term</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causes carbon dioxide levels to rise?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Planting trees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Burning fossil fuels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Recycling paper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higher carbon dioxide lead to?</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habitats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Lower temperatures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Global warming</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effects of global warming are named?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Melting ice and rising sea level</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forests and fresh water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 wind and more soil</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when trees are cut down?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Sea levels fall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Animals lose their habitats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Air becomes colder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هٰذِهِ المَشَاكِلُ</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environmental problems already described</a:t>
            </a:r>
            <a:endParaRPr lang="en-US" sz="120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transport plan</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trees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future consequences described?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Temporary and harmless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Unrelated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Long-term</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causes carbon dioxide levels to rise?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Planting trees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Burning fossil fuels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Recycling paper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begins </a:t>
            </a:r>
            <a:pPr algn="l" indent="0" marL="0">
              <a:buNone/>
            </a:pPr>
            <a:r>
              <a:rPr lang="ar-SA" altLang="en-US" sz="1350" dirty="0">
                <a:solidFill>
                  <a:srgbClr val="8A6D1E"/>
                </a:solidFill>
                <a:latin typeface="Amiri" pitchFamily="34" charset="0"/>
                <a:ea typeface="Amiri" pitchFamily="34" charset="-122"/>
                <a:cs typeface="Amiri" pitchFamily="34" charset="-120"/>
              </a:rPr>
              <a:t>بسبب حرق الوقود الأحفوري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higher carbon dioxide lead to?</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habitats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Lower temperatures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Global warming</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يؤدي ذلك إلى الاحتباس الحراري.</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effects of global warming are named?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Melting ice and rising sea level</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More forests and fresh water</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 wind and more soil</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are in the correct sentence.</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when trees are cut down?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Sea levels fall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Animals lose their habitats</a:t>
            </a:r>
            <a:endParaRPr lang="en-US" sz="12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Air becomes colder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فتفقد الحيوانات موائلها.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هٰذِهِ المَشَاكِلُ</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environmental problems already described</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transport plan</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trees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refers back to the chain of problems.</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future consequences described?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Temporary and harmless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Unrelated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Long-term</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طويلة الأمد.</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Environmental Problems — Causes and Effects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“Factories pollute the air”?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بِالمَصَانِعِ.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تُلَوِّثُ المَصَانِعُ الهَوَاءَ.</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تَتَلَوَّثُ المَصَانِعُ مِنَ الهَوَاءِ.</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focuses on the polluted air rather than the agent?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بِالدُّخَانِ.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يَنْبَعِثُ الهَوَاءُ مِنَ الدُّخَانِ.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تُلَوِّثُ المَصَانِعُ الهَوَاءَ.</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best completion:</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بِسَبَبِ قَطْعِ الأَشْجَارِ، ...</a:t>
            </a:r>
            <a:endParaRPr lang="ar-SA" sz="14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جَوْدَةُ الهَوَاءِ فَوْرًا.</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تَزْدَادُ المِيَاهُ العَذْبَةُ دَائِمًا.</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تَفْقِدُ الحَيَوَانَاتُ مَوَائِلَهَا.</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a:t>
            </a:r>
            <a:pPr algn="l" indent="0" marL="0">
              <a:buNone/>
            </a:pPr>
            <a:r>
              <a:rPr lang="ar-SA" altLang="en-US" sz="1650" b="1" dirty="0">
                <a:solidFill>
                  <a:srgbClr val="1B3B6F"/>
                </a:solidFill>
                <a:latin typeface="Amiri" pitchFamily="34" charset="0"/>
                <a:ea typeface="Amiri" pitchFamily="34" charset="-122"/>
                <a:cs typeface="Amiri" pitchFamily="34" charset="-120"/>
              </a:rPr>
              <a:t>يُؤَدِّي إِلَى</a:t>
            </a:r>
            <a:pPr algn="l" indent="0" marL="0">
              <a:buNone/>
            </a:pPr>
            <a:r>
              <a:rPr lang="en-US" sz="1250" b="1" dirty="0">
                <a:solidFill>
                  <a:srgbClr val="1B3B6F"/>
                </a:solidFill>
                <a:latin typeface="Calibri" pitchFamily="34" charset="0"/>
                <a:ea typeface="Calibri" pitchFamily="34" charset="-122"/>
                <a:cs typeface="Calibri" pitchFamily="34" charset="-120"/>
              </a:rPr>
              <a:t> accurately?</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يُؤَدِّي الاحْتِبَاسُ الحَرَارِيُّ بِذَوَبَانِ الجَلِيدِ.</a:t>
            </a:r>
            <a:endParaRPr lang="ar-SA" sz="150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يُؤَدِّي الاحْتِبَاسُ الحَرَارِيُّ مِنْ ذَوَبَانِ الجَلِيدِ.</a:t>
            </a:r>
            <a:endParaRPr lang="ar-SA" sz="150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يُؤَدِّي الاحْتِبَاسُ الحَرَارِيُّ إِلَى ذَوَبَانِ الجَلِيدِ.</a:t>
            </a:r>
            <a:endParaRPr lang="ar-SA" sz="150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correctly expresses “as a result of plastic waste”?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نَتِيجَةً لِلنُّفَايَاتِ البِلَاسْتِيكِيَّةِ</a:t>
            </a:r>
            <a:endParaRPr lang="ar-SA" sz="19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نَتِيجَةُ بِالنُّفَايَاتَ البِلَاسْتِيكِيَّةَ</a:t>
            </a:r>
            <a:endParaRPr lang="ar-SA" sz="19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نَتِيجَةً إِلَى النُّفَايَاتُ البِلَاسْتِيكِيَّةُ</a:t>
            </a:r>
            <a:endParaRPr lang="ar-SA" sz="19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logically and grammatically coherent consequence?</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تَرْتَفِعُ دَرَجَةُ الحَرَارَةِ، مِمَّا يُسَبِّبُ زِيَادَةَ الجَلِيدِ.</a:t>
            </a:r>
            <a:endParaRPr lang="ar-SA" sz="13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تَرْتَفِعُ دَرَجَةُ الحَرَارَةِ، مِمَّا يُسَبِّبُ ذَوَبَانَ الجَلِيدِ.</a:t>
            </a:r>
            <a:endParaRPr lang="ar-SA" sz="13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تَرْتَفِعُ دَرَجَةُ الحَرَارَةِ، مِمَّا يُسَبِّبُ بُرُودَةَ الصَّحْرَاءِ.</a:t>
            </a:r>
            <a:endParaRPr lang="ar-SA" sz="13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“Factories pollute the air”?</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يُلَوَّثُ الهَوَاءُ بِالمَصَانِعِ.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تُلَوِّثُ المَصَانِعُ الهَوَاءَ.</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تَتَلَوَّثُ المَصَانِعُ مِنَ الهَوَاءِ.</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active verb agrees with </a:t>
            </a:r>
            <a:pPr algn="l" indent="0" marL="0">
              <a:buNone/>
            </a:pPr>
            <a:r>
              <a:rPr lang="ar-SA" altLang="en-US" sz="1350" dirty="0">
                <a:solidFill>
                  <a:srgbClr val="8A6D1E"/>
                </a:solidFill>
                <a:latin typeface="Amiri" pitchFamily="34" charset="0"/>
                <a:ea typeface="Amiri" pitchFamily="34" charset="-122"/>
                <a:cs typeface="Amiri" pitchFamily="34" charset="-120"/>
              </a:rPr>
              <a:t>المصانع</a:t>
            </a:r>
            <a:pPr algn="l" indent="0" marL="0">
              <a:buNone/>
            </a:pPr>
            <a:r>
              <a:rPr lang="en-US" sz="1050" i="1" dirty="0">
                <a:solidFill>
                  <a:srgbClr val="8A6D1E"/>
                </a:solidFill>
                <a:latin typeface="Calibri" pitchFamily="34" charset="0"/>
                <a:ea typeface="Calibri" pitchFamily="34" charset="-122"/>
                <a:cs typeface="Calibri" pitchFamily="34" charset="-120"/>
              </a:rPr>
              <a:t> and takes </a:t>
            </a:r>
            <a:pPr algn="l" indent="0" marL="0">
              <a:buNone/>
            </a:pPr>
            <a:r>
              <a:rPr lang="ar-SA" altLang="en-US" sz="1350" dirty="0">
                <a:solidFill>
                  <a:srgbClr val="8A6D1E"/>
                </a:solidFill>
                <a:latin typeface="Amiri" pitchFamily="34" charset="0"/>
                <a:ea typeface="Amiri" pitchFamily="34" charset="-122"/>
                <a:cs typeface="Amiri" pitchFamily="34" charset="-120"/>
              </a:rPr>
              <a:t>الهواء</a:t>
            </a:r>
            <a:pPr algn="l" indent="0" marL="0">
              <a:buNone/>
            </a:pPr>
            <a:r>
              <a:rPr lang="en-US" sz="1050" i="1" dirty="0">
                <a:solidFill>
                  <a:srgbClr val="8A6D1E"/>
                </a:solidFill>
                <a:latin typeface="Calibri" pitchFamily="34" charset="0"/>
                <a:ea typeface="Calibri" pitchFamily="34" charset="-122"/>
                <a:cs typeface="Calibri" pitchFamily="34" charset="-120"/>
              </a:rPr>
              <a:t> as its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focuses on the polluted air rather than the agent?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يُلَوَّثُ الهَوَاءُ بِالدُّخَانِ.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يَنْبَعِثُ الهَوَاءُ مِنَ الدُّخَانِ.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تُلَوِّثُ المَصَانِعُ الهَوَاءَ.</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puts </a:t>
            </a:r>
            <a:pPr algn="l" indent="0" marL="0">
              <a:buNone/>
            </a:pPr>
            <a:r>
              <a:rPr lang="ar-SA" altLang="en-US" sz="1350" dirty="0">
                <a:solidFill>
                  <a:srgbClr val="8A6D1E"/>
                </a:solidFill>
                <a:latin typeface="Amiri" pitchFamily="34" charset="0"/>
                <a:ea typeface="Amiri" pitchFamily="34" charset="-122"/>
                <a:cs typeface="Amiri" pitchFamily="34" charset="-120"/>
              </a:rPr>
              <a:t>الهواء</a:t>
            </a:r>
            <a:pPr algn="l" indent="0" marL="0">
              <a:buNone/>
            </a:pPr>
            <a:r>
              <a:rPr lang="en-US" sz="1050" i="1" dirty="0">
                <a:solidFill>
                  <a:srgbClr val="8A6D1E"/>
                </a:solidFill>
                <a:latin typeface="Calibri" pitchFamily="34" charset="0"/>
                <a:ea typeface="Calibri" pitchFamily="34" charset="-122"/>
                <a:cs typeface="Calibri" pitchFamily="34" charset="-120"/>
              </a:rPr>
              <a:t> in focus.</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best completion:</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بِسَبَبِ قَطْعِ الأَشْجَارِ، ...</a:t>
            </a:r>
            <a:endParaRPr lang="ar-SA" sz="14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تَرْتَفِعُ جَوْدَةُ الهَوَاءِ فَوْرًا.</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تَزْدَادُ المِيَاهُ العَذْبَةُ دَائِمًا.</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تَفْقِدُ الحَيَوَانَاتُ مَوَائِلَهَا.</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Deforestation causes habitat loss.</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a:t>
            </a:r>
            <a:pPr algn="l" indent="0" marL="0">
              <a:buNone/>
            </a:pPr>
            <a:r>
              <a:rPr lang="ar-SA" altLang="en-US" sz="1650" b="1" dirty="0">
                <a:solidFill>
                  <a:srgbClr val="1B3B6F"/>
                </a:solidFill>
                <a:latin typeface="Amiri" pitchFamily="34" charset="0"/>
                <a:ea typeface="Amiri" pitchFamily="34" charset="-122"/>
                <a:cs typeface="Amiri" pitchFamily="34" charset="-120"/>
              </a:rPr>
              <a:t>يُؤَدِّي إِلَى</a:t>
            </a:r>
            <a:pPr algn="l" indent="0" marL="0">
              <a:buNone/>
            </a:pPr>
            <a:r>
              <a:rPr lang="en-US" sz="1250" b="1" dirty="0">
                <a:solidFill>
                  <a:srgbClr val="1B3B6F"/>
                </a:solidFill>
                <a:latin typeface="Calibri" pitchFamily="34" charset="0"/>
                <a:ea typeface="Calibri" pitchFamily="34" charset="-122"/>
                <a:cs typeface="Calibri" pitchFamily="34" charset="-120"/>
              </a:rPr>
              <a:t> accurately?</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يُؤَدِّي الاحْتِبَاسُ الحَرَارِيُّ بِذَوَبَانِ الجَلِيدِ.</a:t>
            </a:r>
            <a:endParaRPr lang="ar-SA" sz="15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يُؤَدِّي الاحْتِبَاسُ الحَرَارِيُّ مِنْ ذَوَبَانِ الجَلِيدِ.</a:t>
            </a:r>
            <a:endParaRPr lang="ar-SA" sz="15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يُؤَدِّي الاحْتِبَاسُ الحَرَارِيُّ إِلَى ذَوَبَانِ الجَلِيدِ.</a:t>
            </a:r>
            <a:endParaRPr lang="ar-SA" sz="15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result follows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correctly expresses “as a result of plastic waste”?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نَتِيجَةً لِلنُّفَايَاتِ البِلَاسْتِيكِيَّةِ</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نَتِيجَةُ بِالنُّفَايَاتَ البِلَاسْتِيكِيَّةَ</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نَتِيجَةً إِلَى النُّفَايَاتُ البِلَاسْتِيكِيَّةُ</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نتيجةً لـ</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genitive noun phrase.</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logically and grammatically coherent consequence?</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تَرْتَفِعُ دَرَجَةُ الحَرَارَةِ، مِمَّا يُسَبِّبُ زِيَادَةَ الجَلِيدِ.</a:t>
            </a:r>
            <a:endParaRPr lang="ar-SA" sz="13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تَرْتَفِعُ دَرَجَةُ الحَرَارَةِ، مِمَّا يُسَبِّبُ ذَوَبَانَ الجَلِيدِ.</a:t>
            </a:r>
            <a:endParaRPr lang="ar-SA" sz="13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تَرْتَفِعُ دَرَجَةُ الحَرَارَةِ، مِمَّا يُسَبِّبُ بُرُودَةَ الصَّحْرَاءِ.</a:t>
            </a:r>
            <a:endParaRPr lang="ar-SA" sz="13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Rising temperature causes ice to melt.</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D4-L03 ·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D4-L04: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D4-L04 · Environmental Solutions — What Can Be Done?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إِعَادَةُ التَّدْوِيرِ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recycling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الطَّاقَةُ المُتَجَدِّدَةُ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renewable energy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الطَّاقَةُ الشَّمْسِيَّةُ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solar energy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يَنْبَغِي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should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نُقَلِّلُ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 reduce</a:t>
            </a:r>
            <a:pPr indent="0" marL="0">
              <a:buNone/>
            </a:pPr>
            <a:r>
              <a:rPr lang="en-US" sz="1000" i="1" dirty="0">
                <a:solidFill>
                  <a:srgbClr val="5A6472"/>
                </a:solidFill>
                <a:latin typeface="Calibri" pitchFamily="34" charset="0"/>
                <a:ea typeface="Calibri" pitchFamily="34" charset="-122"/>
                <a:cs typeface="Calibri" pitchFamily="34" charset="-120"/>
              </a:rPr>
              <a:t>  أُقَلِّلُ I</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(or your family) already do to help the environment?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بَيْتِنَا نُ… · أَنَا أُ…</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8 problem nouns; write 5 sentences with bi-sababi and yuʾaddī ilā.</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Two problems in 100–120 words with one active and one passive sentence.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two developed chains and a judgement (120–140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D4-L03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D4-L04 · Environmental Solutions — What Can Be Done?</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الحُلُولُ البِيئِيَّةُ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active names the agent, passive (yu-…-a-) the victim — bi-sababi + noun — yuʾaddī ilā — mimmā yusabbibu.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D4-L03 · Environmental Problems — Causes and Effects</dc:title>
  <dc:subject>PptxGenJS Presentation</dc:subject>
  <dc:creator>Al Madina Online School · Arabic Department</dc:creator>
  <cp:lastModifiedBy>Al Madina Online School · Arabic Department</cp:lastModifiedBy>
  <cp:revision>1</cp:revision>
  <dcterms:created xsi:type="dcterms:W3CDTF">2026-10-03T05:43:59Z</dcterms:created>
  <dcterms:modified xsi:type="dcterms:W3CDTF">2026-10-03T05:43:59Z</dcterms:modified>
</cp:coreProperties>
</file>