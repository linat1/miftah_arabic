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D4-L03. The website lesson “Environmental Problems — Causes and Effects”: vocabulary, grammar rules and quiz, patterns, common mistakes, sorter, listening, reading, speaking prompts and model, writing task and model, differentiation, final check and the lesson mission. Picture match: website visual game “Environmental Problems — Causes and Effects”.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problem nouns + cause → effect with بِسَبَبِ and يُؤَدِّي إِلَى (“X leads to Y”). Develop: active vs passive (تُلَوِّثُ المَصَانِعُ الهَوَاءَ → يُلَوَّثُ الهَوَاءُ) and مِمَّا يُسَبِّبُ. Stretch: two developed chains, one active and one passive sentence, and a justified judgement.
• NEW: the present passive — same letters, different vowels: yu-…-a-…-u (يُلَوَّثُ، تُقْطَعُ، تُرْمَى). Students already met يُشْتَرَطُ / يُطْلَبُ in D3-L08.
• Reuse: نَتِيجَةً لِذٰلِكَ / لِذٰلِكَ (D3), non-human plurals → ta- (D4-L01 / L02): تُقْطَعُ الأَشْجَارُ.
• Sensitivity: climate anxiety is real for some students — end with “we can act” and preview D4-L04 (solutions).
• TEACHER-WRITTEN ITEMS: one vocabulary slip corrected (website: يَهْدِّدُ → يُهَدِّدُ),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at the end of D4-L02. Question 3 retrieves D4-L02; question 4 retrieves the D3-L08 passive (يُشْتَرَطُ) — today’s new grammar; question 5 retrieves a D3 connector.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Active names who does it; passive focuses on what is harmed.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نتیجہ، ہوا، خطرہ، حیوانات are all shared — students can build the whole cause → effect idea with familiar words. تَلَوُّثٌ (pollution) is آلودگی in Urdu (no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problems (website vocabulary (1 of 2)). Hear → Say → See → Use. Transliteration is printed for Core students (cover it for Develop/Stretch).
Environmental problems: each one is a NOUN phrase (often a verbal noun + genitive: تَلَوُّثُ الهَوَاءِ = the pollution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problems (website vocabulary (2 of 2)). Hear → Say → See → Use. Transliteration is printed for Core students (cover it for Develop/Stretch).
Environmental problems: each one is a NOUN phrase (often a verbal noun + genitive: تَلَوُّثُ الهَوَاءِ = the pollution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Active and passive processes (website vocabulary (1 of 2)). Hear → Say → See → Use. Transliteration is printed for Core students (cover it for Develop/Stretch).
Active and passive processes. Compare تُلَوِّثُ (pollutes, -wwi-) with يُلَوَّثُ (is polluted, -wwa-). يَنْبَعِثُ and يَتَرَاكَمُ are NOT passives — they are process verbs (emanates,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Active and passive processes (website vocabulary (2 of 2)). Hear → Say → See → Use. Transliteration is printed for Core students (cover it for Develop/Stretch).
Active and passive processes. Compare تُلَوِّثُ (pollutes, -wwi-) with يُلَوَّثُ (is polluted, -wwa-). يَنْبَعِثُ and يَتَرَاكَمُ are NOT passives — they are process verbs (emanates,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Cause and effect (website vocabulary). Hear → Say → See → Use. Transliteration is printed for Core students (cover it for Develop/Stretch).
Cause and effect: بِسَبَبِ / نَتِيجَةً لِـ + a NOUN; يُؤَدِّي إِلَى + a noun; مِمَّا يُسَبِّبُ after a whole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“Active and passive” (the active sentence names the agent; the passive focuses on the affected thing; the passive subject is nominative). Website examples: تُلَوِّثُ المَصَانِعُ الهَوَاءَ · يُلَوَّثُ الهَوَاءُ بِدُخَانِ المَصَانِعِ. Rows 2–3 from the vocabulary; row 4 = the website common error (do not label يَنْبَعِثُ as a passive).
Website mistakes: يُلَوِّثُ الهَوَاءُ ✗ → يُلَوَّثُ الهَوَاءُ ✓ · يُقْطَعُ الأَشْجَارُ ✗ → تُقْطَعُ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“Cause phrases” (بِسَبَبِ / نَتِيجَةً لِـ + genitive noun: followed by a noun phrase, not a complete finite clause), “Result with يُؤَدِّي إِلَى” and “Linking a whole clause to a consequence” (مِمَّا refers back to the whole previous idea). Website examples as shown.
Compare D3: لِأَنَّ + a clause (because + sentence) vs بِسَبَبِ + a noun (because of +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Active and passive: The active sentence names the agent. The passive focuses on the affected thing; the passive subject is nominative.
• Cause phrases: These expressions are followed by a noun phrase, not a complete finite clause.
• Result with يُؤَدِّي إِلَى: Keep the preposition إِلَى after يُؤَدِّي.
• Linking a whole clause to a consequence: مِمَّا refers back to the whole previous idea.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4,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reading text (a cause–effect chain). Draw the chain as arrows on the board: burning fuel → polluted air → global warming → melting ice → sea-level rise. Students copy and label each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Environmental Problems — Causes and Effects”)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كَثْرَةُ السَّيَّارَاتِ تَزِيدُ تَلَوُّثَ الهَوَاءِ · قَطْعُ الأَشْجَارِ يُهَدِّدُ الحَيَوَانَاتِ · نَقْصُ المِيَاهِ يُؤَثِّرُ فِي الزِّرَاعَةِ. Stretch: rewrite one card with بِسَبَبِ.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Environmental Problems — Causes and Effects”)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كَثْرَةُ السَّيَّارَاتِ تَزِيدُ تَلَوُّثَ الهَوَاءِ · قَطْعُ الأَشْجَارِ يُهَدِّدُ الحَيَوَانَاتِ · نَقْصُ المِيَاهِ يُؤَثِّرُ فِي الزِّرَاعَةِ. Stretch: rewrite one card with بِسَبَبِ.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chain using one word from each group: problem + process +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chain using one word from each group: problem + process +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3,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 then draw the chain you heard.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Chain game: student 1 says a cause, student 2 adds يُؤَدِّي ذٰلِكَ إِلَى …, student 3 adds مِمَّا يُسَبِّبُ … To a girl: فِي 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يُلَوَّثُ الهَوَاءُ، تُرْمَى النُّفَايَاتُ، تُقْطَعُ الأَشْجَارُ (passives) · فَبِسَبَبِ … · مِمَّا يَضُرُّ · فَيُؤَدِّي ذٰلِكَ إِلَى · عَلَى المَدَى الطَّوِيلِ · لِذٰلِكَ، لَا بُدَّ مِنْ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(D4-L04 · Environmental Solutions — What Can Be Done?) will spend class time USING this language, so students prepare it tonight — short, simple, easy to access (school guidance: “Simple, Short, Interesting, Relevant, Easy to access”). The five words come from the website D4-L04 vocabulary (environmental solutions).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Problems — Causes and Effects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المُشْكِلَاتُ البِيئِيَّةُ — الأَسْبَابُ وَالنَّتَائِجُ</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environmental problems as cause → effect chains: name the problem, say who causes it (active) or what is affected (passive: </a:t>
            </a:r>
            <a:pPr algn="l" indent="0" marL="0">
              <a:buNone/>
            </a:pPr>
            <a:r>
              <a:rPr lang="ar-SA" altLang="en-US" sz="1800" dirty="0">
                <a:solidFill>
                  <a:srgbClr val="C6D2E6"/>
                </a:solidFill>
                <a:latin typeface="Amiri" pitchFamily="2" charset="-78"/>
                <a:ea typeface="Amiri" pitchFamily="2" charset="-78"/>
                <a:cs typeface="Amiri" pitchFamily="2" charset="-78"/>
              </a:rPr>
              <a:t>يُلَوَّثُ الهَوَاءُ</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تُقْطَعُ الأَشْجَارُ</a:t>
            </a:r>
            <a:pPr algn="l" indent="0" marL="0">
              <a:buNone/>
            </a:pPr>
            <a:r>
              <a:rPr lang="en-US" sz="1400" dirty="0">
                <a:solidFill>
                  <a:srgbClr val="C6D2E6"/>
                </a:solidFill>
                <a:latin typeface="Calibri" pitchFamily="34" charset="0"/>
                <a:cs typeface="Amiri" pitchFamily="2" charset="-78"/>
              </a:rPr>
              <a:t>), and link with </a:t>
            </a:r>
            <a:pPr algn="l" indent="0" marL="0">
              <a:buNone/>
            </a:pPr>
            <a:r>
              <a:rPr lang="ar-SA" altLang="en-US" sz="1800" dirty="0">
                <a:solidFill>
                  <a:srgbClr val="C6D2E6"/>
                </a:solidFill>
                <a:latin typeface="Amiri" pitchFamily="2" charset="-78"/>
                <a:ea typeface="Amiri" pitchFamily="2" charset="-78"/>
                <a:cs typeface="Amiri" pitchFamily="2" charset="-78"/>
              </a:rPr>
              <a:t>بِسَبَبِ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يُؤَدِّي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مِمَّا يُسَبِّبُ</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D4-L03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Problems, active vs passive, and cause → effect connectors.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pollution in the city.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factories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waste, rubbish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pollution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expected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الجِبَالِ.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إِلَى الجِبَالِ.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“as a result”?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سَبِيلِ المِثَالِ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جِهَةٍ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factories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waste, rubbish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pollution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leads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of</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expected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الثُّلُوجُ فِي الجِبَالِ.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الثُّلُوجُ إِلَى الجِبَالِ.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تَسْقُطُ الثُّلُوجُ فِي الجِبَالِ.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D4-L02: non-human plural → ta-.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requires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required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a passive verb (yu-…-a-).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“as a result”?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نَتِيجَةً 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سَبِيلِ المِثَالِ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جِهَةٍ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 connectors.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Active names who does it; passive focuses on what is harmed.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تُلَوِّثُ</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المَصَانِعُ الهَوَاءَ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يُلَوَّثُ</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الهَوَاءُ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main environmental problems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active and passive sentences to describe what happens.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causes and effects with </a:t>
            </a:r>
            <a:pPr algn="l" indent="0" marL="0">
              <a:buNone/>
            </a:pPr>
            <a:r>
              <a:rPr lang="ar-SA" altLang="en-US" sz="1700" dirty="0">
                <a:solidFill>
                  <a:srgbClr val="1F2A37"/>
                </a:solidFill>
                <a:latin typeface="Amiri" pitchFamily="2" charset="-78"/>
                <a:ea typeface="Amiri" pitchFamily="2" charset="-78"/>
                <a:cs typeface="Amiri" pitchFamily="2" charset="-78"/>
              </a:rPr>
              <a:t>بِسَبَبِ / يُؤَدِّي إِلَى / مِمَّا يُسَبِّبُ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two problems as connected chains with a judgement.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environmental problems.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link a cause to an effect.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turn an active sentence into a passive one.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a whole idea with mimmā yusabbibu.</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build two developed cause–effect chains.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finish with a justified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Environmental problems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Active and passive processes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Cause and effect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سَبَبٌ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cause, reason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‎ہوا‎ </a:t>
            </a:r>
            <a:pPr indent="0" marL="0">
              <a:buNone/>
            </a:pPr>
            <a:r>
              <a:rPr lang="en-US" sz="950" b="1" dirty="0">
                <a:solidFill>
                  <a:srgbClr val="2E8B57"/>
                </a:solidFill>
                <a:latin typeface="Calibri" pitchFamily="34" charset="0"/>
                <a:cs typeface="Amiri" pitchFamily="2" charset="-78"/>
              </a:rPr>
              <a:t> hawā · air (Urdu also: wind)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‎خطرہ‎ </a:t>
            </a:r>
            <a:pPr indent="0" marL="0">
              <a:buNone/>
            </a:pPr>
            <a:r>
              <a:rPr lang="en-US" sz="950" b="1" dirty="0">
                <a:solidFill>
                  <a:srgbClr val="2E8B57"/>
                </a:solidFill>
                <a:latin typeface="Calibri" pitchFamily="34" charset="0"/>
                <a:cs typeface="Amiri" pitchFamily="2" charset="-78"/>
              </a:rPr>
              <a:t> khatra · danger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حَيَوَانَاتٌ</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‎حیوانات‎ </a:t>
            </a:r>
            <a:pPr indent="0" marL="0">
              <a:buNone/>
            </a:pPr>
            <a:r>
              <a:rPr lang="en-US" sz="950" b="1" dirty="0">
                <a:solidFill>
                  <a:srgbClr val="2E8B57"/>
                </a:solidFill>
                <a:latin typeface="Calibri" pitchFamily="34" charset="0"/>
                <a:cs typeface="Amiri" pitchFamily="2" charset="-78"/>
              </a:rPr>
              <a:t> haiwānāt · animals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تَلَوُّثُ الهَوَاءِ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pollution</a:t>
            </a:r>
            <a:endParaRPr lang="en-US" sz="1350" dirty="0"/>
          </a:p>
          <a:p>
            <a:pPr indent="0" marL="0">
              <a:buNone/>
            </a:pPr>
            <a:r>
              <a:rPr lang="en-US" sz="1100" i="1" dirty="0">
                <a:solidFill>
                  <a:srgbClr val="5A6472"/>
                </a:solidFill>
                <a:latin typeface="Calibri" pitchFamily="34" charset="0"/>
                <a:cs typeface="Amiri" pitchFamily="2" charset="-78"/>
              </a:rPr>
              <a:t>ta-law-wu-thu al-ha-wā-ʾi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تَلَوُّثُ المِيَاهِ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pollution</a:t>
            </a:r>
            <a:endParaRPr lang="en-US" sz="1350" dirty="0"/>
          </a:p>
          <a:p>
            <a:pPr indent="0" marL="0">
              <a:buNone/>
            </a:pPr>
            <a:r>
              <a:rPr lang="en-US" sz="1100" i="1" dirty="0">
                <a:solidFill>
                  <a:srgbClr val="5A6472"/>
                </a:solidFill>
                <a:latin typeface="Calibri" pitchFamily="34" charset="0"/>
                <a:cs typeface="Amiri" pitchFamily="2" charset="-78"/>
              </a:rPr>
              <a:t>ta-law-wu-thu al-mi-yā-hi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النُّفَايَاتُ البِلَاسْتِيكِيَّةُ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waste</a:t>
            </a:r>
            <a:endParaRPr lang="en-US" sz="1350" dirty="0"/>
          </a:p>
          <a:p>
            <a:pPr indent="0" marL="0">
              <a:buNone/>
            </a:pPr>
            <a:r>
              <a:rPr lang="en-US" sz="1100" i="1" dirty="0">
                <a:solidFill>
                  <a:srgbClr val="5A6472"/>
                </a:solidFill>
                <a:latin typeface="Calibri" pitchFamily="34" charset="0"/>
                <a:cs typeface="Amiri" pitchFamily="2" charset="-78"/>
              </a:rPr>
              <a:t>an-nu-fā-yā-tu al-bi-lās-tī-kiy-ya-tu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إِزَالَةُ الغَابَاتِ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deforestation</a:t>
            </a:r>
            <a:endParaRPr lang="en-US" sz="1350" dirty="0"/>
          </a:p>
          <a:p>
            <a:pPr indent="0" marL="0">
              <a:buNone/>
            </a:pPr>
            <a:r>
              <a:rPr lang="en-US" sz="1100" i="1" dirty="0">
                <a:solidFill>
                  <a:srgbClr val="5A6472"/>
                </a:solidFill>
                <a:latin typeface="Calibri" pitchFamily="34" charset="0"/>
                <a:cs typeface="Amiri" pitchFamily="2" charset="-78"/>
              </a:rPr>
              <a:t>i-zā-la-tu al-ghā-bā-ti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التَّصَحُّرُ</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desertification</a:t>
            </a:r>
            <a:endParaRPr lang="en-US" sz="1350" dirty="0"/>
          </a:p>
          <a:p>
            <a:pPr indent="0" marL="0">
              <a:buNone/>
            </a:pPr>
            <a:r>
              <a:rPr lang="en-US" sz="1100" i="1" dirty="0">
                <a:solidFill>
                  <a:srgbClr val="5A6472"/>
                </a:solidFill>
                <a:latin typeface="Calibri" pitchFamily="34" charset="0"/>
                <a:cs typeface="Amiri" pitchFamily="2" charset="-78"/>
              </a:rPr>
              <a:t>at-ta-ṣaḥ-ḥu-ru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الاحْتِبَاسُ الحَرَارِيُّ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warming</a:t>
            </a:r>
            <a:endParaRPr lang="en-US" sz="1350" dirty="0"/>
          </a:p>
          <a:p>
            <a:pPr indent="0" marL="0">
              <a:buNone/>
            </a:pPr>
            <a:r>
              <a:rPr lang="en-US" sz="1100" i="1" dirty="0">
                <a:solidFill>
                  <a:srgbClr val="5A6472"/>
                </a:solidFill>
                <a:latin typeface="Calibri" pitchFamily="34" charset="0"/>
                <a:cs typeface="Amiri" pitchFamily="2" charset="-78"/>
              </a:rPr>
              <a:t>alḥ-ti-bā-su al-ḥa-rā-riy-yu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ذَوَبَانُ الجَلِيدِ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melting ice</a:t>
            </a:r>
            <a:endParaRPr lang="en-US" sz="1350" dirty="0"/>
          </a:p>
          <a:p>
            <a:pPr indent="0" marL="0">
              <a:buNone/>
            </a:pPr>
            <a:r>
              <a:rPr lang="en-US" sz="1100" i="1" dirty="0">
                <a:solidFill>
                  <a:srgbClr val="5A6472"/>
                </a:solidFill>
                <a:latin typeface="Calibri" pitchFamily="34" charset="0"/>
                <a:cs typeface="Amiri" pitchFamily="2" charset="-78"/>
              </a:rPr>
              <a:t>dha-wa-bā-nu al-ja-lī-di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ارْتِفَاعُ مُسْتَوَى البَحْرِ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sea-level rise</a:t>
            </a:r>
            <a:endParaRPr lang="en-US" sz="1350" dirty="0"/>
          </a:p>
          <a:p>
            <a:pPr indent="0" marL="0">
              <a:buNone/>
            </a:pPr>
            <a:r>
              <a:rPr lang="en-US" sz="1100" i="1" dirty="0">
                <a:solidFill>
                  <a:srgbClr val="5A6472"/>
                </a:solidFill>
                <a:latin typeface="Calibri" pitchFamily="34" charset="0"/>
                <a:cs typeface="Amiri" pitchFamily="2" charset="-78"/>
              </a:rPr>
              <a:t>ar-ti-fā-ʿu mus-ta-wā al-baḥ-ri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فَقْدُ المَوَائِلِ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habitat loss</a:t>
            </a:r>
            <a:endParaRPr lang="en-US" sz="1350" dirty="0"/>
          </a:p>
          <a:p>
            <a:pPr indent="0" marL="0">
              <a:buNone/>
            </a:pPr>
            <a:r>
              <a:rPr lang="en-US" sz="1100" i="1" dirty="0">
                <a:solidFill>
                  <a:srgbClr val="5A6472"/>
                </a:solidFill>
                <a:latin typeface="Calibri" pitchFamily="34" charset="0"/>
                <a:cs typeface="Amiri" pitchFamily="2" charset="-78"/>
              </a:rPr>
              <a:t>faq-du al-ma-wā-ʾi-li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انْقِرَاضُ الأَنْوَاعِ</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species extinction</a:t>
            </a:r>
            <a:endParaRPr lang="en-US" sz="1350" dirty="0"/>
          </a:p>
          <a:p>
            <a:pPr indent="0" marL="0">
              <a:buNone/>
            </a:pPr>
            <a:r>
              <a:rPr lang="en-US" sz="1100" i="1" dirty="0">
                <a:solidFill>
                  <a:srgbClr val="5A6472"/>
                </a:solidFill>
                <a:latin typeface="Calibri" pitchFamily="34" charset="0"/>
                <a:cs typeface="Amiri" pitchFamily="2" charset="-78"/>
              </a:rPr>
              <a:t>an-qi-rā-ḍu al-an-wā-ʿi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Active and passive processes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تُلَوِّثُ المَصَانِعُ الهَوَاءَ</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factories pollute the air</a:t>
            </a:r>
            <a:endParaRPr lang="en-US" sz="1350" dirty="0"/>
          </a:p>
          <a:p>
            <a:pPr indent="0" marL="0">
              <a:buNone/>
            </a:pPr>
            <a:r>
              <a:rPr lang="en-US" sz="1100" i="1" dirty="0">
                <a:solidFill>
                  <a:srgbClr val="5A6472"/>
                </a:solidFill>
                <a:latin typeface="Calibri" pitchFamily="34" charset="0"/>
                <a:cs typeface="Amiri" pitchFamily="2" charset="-78"/>
              </a:rPr>
              <a:t>tu-law-wi-thu al-ma-ṣā-ni-ʿu al-ha-wā-ʾa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يُلَوَّثُ الهَوَاءُ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 is polluted</a:t>
            </a:r>
            <a:endParaRPr lang="en-US" sz="1350" dirty="0"/>
          </a:p>
          <a:p>
            <a:pPr indent="0" marL="0">
              <a:buNone/>
            </a:pPr>
            <a:r>
              <a:rPr lang="en-US" sz="1100" i="1" dirty="0">
                <a:solidFill>
                  <a:srgbClr val="5A6472"/>
                </a:solidFill>
                <a:latin typeface="Calibri" pitchFamily="34" charset="0"/>
                <a:cs typeface="Amiri" pitchFamily="2" charset="-78"/>
              </a:rPr>
              <a:t>yu-law-wa-thu al-ha-wā-ʾu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تُقْطَعُ الأَشْجَارُ</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trees are cut down</a:t>
            </a:r>
            <a:endParaRPr lang="en-US" sz="1350" dirty="0"/>
          </a:p>
          <a:p>
            <a:pPr indent="0" marL="0">
              <a:buNone/>
            </a:pPr>
            <a:r>
              <a:rPr lang="en-US" sz="1100" i="1" dirty="0">
                <a:solidFill>
                  <a:srgbClr val="5A6472"/>
                </a:solidFill>
                <a:latin typeface="Calibri" pitchFamily="34" charset="0"/>
                <a:cs typeface="Amiri" pitchFamily="2" charset="-78"/>
              </a:rPr>
              <a:t>tuq-ṭa-ʿu al-ash-jā-ru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تُرْمَى النُّفَايَاتُ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waste is thrown</a:t>
            </a:r>
            <a:endParaRPr lang="en-US" sz="1350" dirty="0"/>
          </a:p>
          <a:p>
            <a:pPr indent="0" marL="0">
              <a:buNone/>
            </a:pPr>
            <a:r>
              <a:rPr lang="en-US" sz="1100" i="1" dirty="0">
                <a:solidFill>
                  <a:srgbClr val="5A6472"/>
                </a:solidFill>
                <a:latin typeface="Calibri" pitchFamily="34" charset="0"/>
                <a:cs typeface="Amiri" pitchFamily="2" charset="-78"/>
              </a:rPr>
              <a:t>tur-mā an-nu-fā-yā-tu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Active and passive processes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يَنْبَعِثُ الدُّخَانُ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smoke is emitted / emanates</a:t>
            </a:r>
            <a:endParaRPr lang="en-US" sz="1350" dirty="0"/>
          </a:p>
          <a:p>
            <a:pPr indent="0" marL="0">
              <a:buNone/>
            </a:pPr>
            <a:r>
              <a:rPr lang="en-US" sz="1100" i="1" dirty="0">
                <a:solidFill>
                  <a:srgbClr val="5A6472"/>
                </a:solidFill>
                <a:latin typeface="Calibri" pitchFamily="34" charset="0"/>
                <a:cs typeface="Amiri" pitchFamily="2" charset="-78"/>
              </a:rPr>
              <a:t>yan-ba-ʿi-thu ad-du-khā-nu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يَتَرَاكَمُ البِلَاسْتِيكُ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accumulates</a:t>
            </a:r>
            <a:endParaRPr lang="en-US" sz="1350" dirty="0"/>
          </a:p>
          <a:p>
            <a:pPr indent="0" marL="0">
              <a:buNone/>
            </a:pPr>
            <a:r>
              <a:rPr lang="en-US" sz="1100" i="1" dirty="0">
                <a:solidFill>
                  <a:srgbClr val="5A6472"/>
                </a:solidFill>
                <a:latin typeface="Calibri" pitchFamily="34" charset="0"/>
                <a:cs typeface="Amiri" pitchFamily="2" charset="-78"/>
              </a:rPr>
              <a:t>ya-ta-rā-ka-mu al-bi-lās-tī-ku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يُهَدِّدُ</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a:t>
            </a:r>
            <a:endParaRPr lang="en-US" sz="1350" dirty="0"/>
          </a:p>
          <a:p>
            <a:pPr indent="0" marL="0">
              <a:buNone/>
            </a:pPr>
            <a:r>
              <a:rPr lang="en-US" sz="1100" i="1" dirty="0">
                <a:solidFill>
                  <a:srgbClr val="5A6472"/>
                </a:solidFill>
                <a:latin typeface="Calibri" pitchFamily="34" charset="0"/>
                <a:cs typeface="Amiri" pitchFamily="2" charset="-78"/>
              </a:rPr>
              <a:t>yu-had-di-du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يَضُرُّ بِـ</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harms</a:t>
            </a:r>
            <a:endParaRPr lang="en-US" sz="1350" dirty="0"/>
          </a:p>
          <a:p>
            <a:pPr indent="0" marL="0">
              <a:buNone/>
            </a:pPr>
            <a:r>
              <a:rPr lang="en-US" sz="1100" i="1" dirty="0">
                <a:solidFill>
                  <a:srgbClr val="5A6472"/>
                </a:solidFill>
                <a:latin typeface="Calibri" pitchFamily="34" charset="0"/>
                <a:cs typeface="Amiri" pitchFamily="2" charset="-78"/>
              </a:rPr>
              <a:t>ya-ḍur-ru bi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of</a:t>
            </a:r>
            <a:endParaRPr lang="en-US" sz="1350" dirty="0"/>
          </a:p>
          <a:p>
            <a:pPr indent="0" marL="0">
              <a:buNone/>
            </a:pPr>
            <a:r>
              <a:rPr lang="en-US" sz="1100" i="1" dirty="0">
                <a:solidFill>
                  <a:srgbClr val="5A6472"/>
                </a:solidFill>
                <a:latin typeface="Calibri" pitchFamily="34" charset="0"/>
                <a:cs typeface="Amiri" pitchFamily="2" charset="-78"/>
              </a:rPr>
              <a:t>bi-sa-ba-bi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 of</a:t>
            </a:r>
            <a:endParaRPr lang="en-US" sz="1350" dirty="0"/>
          </a:p>
          <a:p>
            <a:pPr indent="0" marL="0">
              <a:buNone/>
            </a:pPr>
            <a:r>
              <a:rPr lang="en-US" sz="1100" i="1" dirty="0">
                <a:solidFill>
                  <a:srgbClr val="5A6472"/>
                </a:solidFill>
                <a:latin typeface="Calibri" pitchFamily="34" charset="0"/>
                <a:cs typeface="Amiri" pitchFamily="2" charset="-78"/>
              </a:rPr>
              <a:t>na-tī-ja-tan 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مِمَّا يُسَبِّبُ</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causes</a:t>
            </a:r>
            <a:endParaRPr lang="en-US" sz="1350" dirty="0"/>
          </a:p>
          <a:p>
            <a:pPr indent="0" marL="0">
              <a:buNone/>
            </a:pPr>
            <a:r>
              <a:rPr lang="en-US" sz="1100" i="1" dirty="0">
                <a:solidFill>
                  <a:srgbClr val="5A6472"/>
                </a:solidFill>
                <a:latin typeface="Calibri" pitchFamily="34" charset="0"/>
                <a:cs typeface="Amiri" pitchFamily="2" charset="-78"/>
              </a:rPr>
              <a:t>mim-mā yu-sab-bi-bu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المَدَى الطَّوِيلِ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aṭ-ṭa-wī-li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ACTIVE AND PASSIVE (WEBSITE RULE 1 +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What is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المَبْنِيُّ لِلْمَعْلُومِ وَالمَبْنِيُّ لِلْمَجْهُولِ</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Vowels</a:t>
            </a:r>
            <a:endParaRPr lang="en-US" sz="1100" dirty="0"/>
          </a:p>
        </p:txBody>
      </p:sp>
      <p:sp>
        <p:nvSpPr>
          <p:cNvPr id="17" name="Text 14"/>
          <p:cNvSpPr txBox="1"/>
          <p:nvPr/>
        </p:nvSpPr>
        <p:spPr>
          <a:xfrm>
            <a:off x="5102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(focus on what is harmed)</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(names the agent)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tu-lawwi- → yu-lawwa-</a:t>
            </a:r>
            <a:endParaRPr lang="en-US" sz="1100" dirty="0"/>
          </a:p>
        </p:txBody>
      </p:sp>
      <p:sp>
        <p:nvSpPr>
          <p:cNvPr id="21" name="Text 18"/>
          <p:cNvSpPr txBox="1"/>
          <p:nvPr/>
        </p:nvSpPr>
        <p:spPr>
          <a:xfrm>
            <a:off x="5120640" y="2286000"/>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يُلَوَّثُ</a:t>
            </a:r>
            <a:pPr rtl="1" algn="ctr" indent="0" marL="0">
              <a:buNone/>
            </a:pPr>
            <a:r>
              <a:rPr lang="ar-SA" altLang="en-US" sz="2100" b="1" dirty="0">
                <a:solidFill>
                  <a:srgbClr val="1B3B6F"/>
                </a:solidFill>
                <a:latin typeface="Amiri" pitchFamily="2" charset="-78"/>
                <a:ea typeface="Amiri" pitchFamily="2" charset="-78"/>
                <a:cs typeface="Amiri" pitchFamily="2" charset="-78"/>
              </a:rPr>
              <a:t> الهَوَاءُ.</a:t>
            </a:r>
            <a:endParaRPr lang="ar-SA" sz="2100" dirty="0"/>
          </a:p>
        </p:txBody>
      </p:sp>
      <p:sp>
        <p:nvSpPr>
          <p:cNvPr id="22" name="Text 19"/>
          <p:cNvSpPr txBox="1"/>
          <p:nvPr/>
        </p:nvSpPr>
        <p:spPr>
          <a:xfrm>
            <a:off x="5074920" y="2706624"/>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air is polluted.</a:t>
            </a:r>
            <a:endParaRPr lang="en-US" sz="950" dirty="0"/>
          </a:p>
        </p:txBody>
      </p:sp>
      <p:sp>
        <p:nvSpPr>
          <p:cNvPr id="23" name="Text 20"/>
          <p:cNvSpPr txBox="1"/>
          <p:nvPr/>
        </p:nvSpPr>
        <p:spPr>
          <a:xfrm>
            <a:off x="548640" y="2286000"/>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تُلَوِّثُ</a:t>
            </a:r>
            <a:pPr rtl="1" algn="ctr" indent="0" marL="0">
              <a:buNone/>
            </a:pPr>
            <a:r>
              <a:rPr lang="ar-SA" altLang="en-US" sz="2100" b="1" dirty="0">
                <a:solidFill>
                  <a:srgbClr val="1B3B6F"/>
                </a:solidFill>
                <a:latin typeface="Amiri" pitchFamily="2" charset="-78"/>
                <a:ea typeface="Amiri" pitchFamily="2" charset="-78"/>
                <a:cs typeface="Amiri" pitchFamily="2" charset="-78"/>
              </a:rPr>
              <a:t> المَصَانِعُ الهَوَاءَ.</a:t>
            </a:r>
            <a:endParaRPr lang="ar-SA" sz="2100" dirty="0"/>
          </a:p>
        </p:txBody>
      </p:sp>
      <p:sp>
        <p:nvSpPr>
          <p:cNvPr id="24" name="Text 21"/>
          <p:cNvSpPr txBox="1"/>
          <p:nvPr/>
        </p:nvSpPr>
        <p:spPr>
          <a:xfrm>
            <a:off x="502920" y="2706624"/>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Factories pollute the air.</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ya-qṭa- → tu-qṭa-</a:t>
            </a:r>
            <a:endParaRPr lang="en-US" sz="1100" dirty="0"/>
          </a:p>
        </p:txBody>
      </p:sp>
      <p:sp>
        <p:nvSpPr>
          <p:cNvPr id="29" name="Text 26"/>
          <p:cNvSpPr txBox="1"/>
          <p:nvPr/>
        </p:nvSpPr>
        <p:spPr>
          <a:xfrm>
            <a:off x="5120640" y="3072384"/>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تُقْطَعُ</a:t>
            </a:r>
            <a:pPr rtl="1" algn="ctr" indent="0" marL="0">
              <a:buNone/>
            </a:pPr>
            <a:r>
              <a:rPr lang="ar-SA" altLang="en-US" sz="2100" b="1" dirty="0">
                <a:solidFill>
                  <a:srgbClr val="1B3B6F"/>
                </a:solidFill>
                <a:latin typeface="Amiri" pitchFamily="2" charset="-78"/>
                <a:ea typeface="Amiri" pitchFamily="2" charset="-78"/>
                <a:cs typeface="Amiri" pitchFamily="2" charset="-78"/>
              </a:rPr>
              <a:t> الأَشْجَارُ.</a:t>
            </a:r>
            <a:endParaRPr lang="ar-SA" sz="2100" dirty="0"/>
          </a:p>
        </p:txBody>
      </p:sp>
      <p:sp>
        <p:nvSpPr>
          <p:cNvPr id="30" name="Text 27"/>
          <p:cNvSpPr txBox="1"/>
          <p:nvPr/>
        </p:nvSpPr>
        <p:spPr>
          <a:xfrm>
            <a:off x="5074920" y="3493008"/>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trees are cut down.</a:t>
            </a:r>
            <a:endParaRPr lang="en-US" sz="950" dirty="0"/>
          </a:p>
        </p:txBody>
      </p:sp>
      <p:sp>
        <p:nvSpPr>
          <p:cNvPr id="31" name="Text 28"/>
          <p:cNvSpPr txBox="1"/>
          <p:nvPr/>
        </p:nvSpPr>
        <p:spPr>
          <a:xfrm>
            <a:off x="548640" y="3072384"/>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يَقْطَعُ</a:t>
            </a:r>
            <a:pPr rtl="1" algn="ctr" indent="0" marL="0">
              <a:buNone/>
            </a:pPr>
            <a:r>
              <a:rPr lang="ar-SA" altLang="en-US" sz="2100" b="1" dirty="0">
                <a:solidFill>
                  <a:srgbClr val="1B3B6F"/>
                </a:solidFill>
                <a:latin typeface="Amiri" pitchFamily="2" charset="-78"/>
                <a:ea typeface="Amiri" pitchFamily="2" charset="-78"/>
                <a:cs typeface="Amiri" pitchFamily="2" charset="-78"/>
              </a:rPr>
              <a:t> النَّاسُ الأَشْجَارَ.</a:t>
            </a:r>
            <a:endParaRPr lang="ar-SA" sz="2100" dirty="0"/>
          </a:p>
        </p:txBody>
      </p:sp>
      <p:sp>
        <p:nvSpPr>
          <p:cNvPr id="32" name="Text 29"/>
          <p:cNvSpPr txBox="1"/>
          <p:nvPr/>
        </p:nvSpPr>
        <p:spPr>
          <a:xfrm>
            <a:off x="502920" y="3493008"/>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cut down the trees.</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yarmī → turmā</a:t>
            </a:r>
            <a:endParaRPr lang="en-US" sz="1100" dirty="0"/>
          </a:p>
        </p:txBody>
      </p:sp>
      <p:sp>
        <p:nvSpPr>
          <p:cNvPr id="37" name="Text 34"/>
          <p:cNvSpPr txBox="1"/>
          <p:nvPr/>
        </p:nvSpPr>
        <p:spPr>
          <a:xfrm>
            <a:off x="5120640" y="3858768"/>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تُرْمَى</a:t>
            </a:r>
            <a:pPr rtl="1" algn="ctr" indent="0" marL="0">
              <a:buNone/>
            </a:pPr>
            <a:r>
              <a:rPr lang="ar-SA" altLang="en-US" sz="2100" b="1" dirty="0">
                <a:solidFill>
                  <a:srgbClr val="1B3B6F"/>
                </a:solidFill>
                <a:latin typeface="Amiri" pitchFamily="2" charset="-78"/>
                <a:ea typeface="Amiri" pitchFamily="2" charset="-78"/>
                <a:cs typeface="Amiri" pitchFamily="2" charset="-78"/>
              </a:rPr>
              <a:t> النُّفَايَاتُ فِي النَّهْرِ.</a:t>
            </a:r>
            <a:endParaRPr lang="ar-SA" sz="2100" dirty="0"/>
          </a:p>
        </p:txBody>
      </p:sp>
      <p:sp>
        <p:nvSpPr>
          <p:cNvPr id="38" name="Text 35"/>
          <p:cNvSpPr txBox="1"/>
          <p:nvPr/>
        </p:nvSpPr>
        <p:spPr>
          <a:xfrm>
            <a:off x="5074920" y="4279392"/>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Rubbish is thrown in the river.</a:t>
            </a:r>
            <a:endParaRPr lang="en-US" sz="950" dirty="0"/>
          </a:p>
        </p:txBody>
      </p:sp>
      <p:sp>
        <p:nvSpPr>
          <p:cNvPr id="39" name="Text 36"/>
          <p:cNvSpPr txBox="1"/>
          <p:nvPr/>
        </p:nvSpPr>
        <p:spPr>
          <a:xfrm>
            <a:off x="548640" y="3858768"/>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يَرْمِي</a:t>
            </a:r>
            <a:pPr rtl="1" algn="ctr" indent="0" marL="0">
              <a:buNone/>
            </a:pPr>
            <a:r>
              <a:rPr lang="ar-SA" altLang="en-US" sz="2100" b="1" dirty="0">
                <a:solidFill>
                  <a:srgbClr val="1B3B6F"/>
                </a:solidFill>
                <a:latin typeface="Amiri" pitchFamily="2" charset="-78"/>
                <a:ea typeface="Amiri" pitchFamily="2" charset="-78"/>
                <a:cs typeface="Amiri" pitchFamily="2" charset="-78"/>
              </a:rPr>
              <a:t> النَّاسُ النُّفَايَاتِ.</a:t>
            </a:r>
            <a:endParaRPr lang="ar-SA" sz="2100" dirty="0"/>
          </a:p>
        </p:txBody>
      </p:sp>
      <p:sp>
        <p:nvSpPr>
          <p:cNvPr id="40" name="Text 37"/>
          <p:cNvSpPr txBox="1"/>
          <p:nvPr/>
        </p:nvSpPr>
        <p:spPr>
          <a:xfrm>
            <a:off x="502920" y="4279392"/>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throw rubbish.</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yanbaʿithu</a:t>
            </a:r>
            <a:endParaRPr lang="en-US" sz="1100" dirty="0"/>
          </a:p>
        </p:txBody>
      </p:sp>
      <p:sp>
        <p:nvSpPr>
          <p:cNvPr id="43" name="Text 40"/>
          <p:cNvSpPr txBox="1"/>
          <p:nvPr/>
        </p:nvSpPr>
        <p:spPr>
          <a:xfrm>
            <a:off x="5120640" y="4645152"/>
            <a:ext cx="4389120" cy="453542"/>
          </a:xfrm>
          <a:prstGeom prst="rect">
            <a:avLst/>
          </a:prstGeom>
          <a:noFill/>
          <a:ln/>
        </p:spPr>
        <p:txBody>
          <a:bodyPr wrap="square" lIns="0" tIns="0" rIns="0" bIns="0" rtlCol="0" anchor="ctr"/>
          <a:lstStyle/>
          <a:p>
            <a:pPr algn="ctr" indent="0" marL="0">
              <a:buNone/>
            </a:pPr>
            <a:r>
              <a:rPr lang="en-US" sz="2200" b="1" dirty="0">
                <a:solidFill>
                  <a:srgbClr val="1B3B6F"/>
                </a:solidFill>
                <a:latin typeface="Calibri" pitchFamily="34" charset="0"/>
                <a:cs typeface="Amiri" pitchFamily="2" charset="-78"/>
              </a:rPr>
              <a:t>— (not a passive)</a:t>
            </a:r>
            <a:endParaRPr lang="en-US" sz="2200" dirty="0"/>
          </a:p>
        </p:txBody>
      </p:sp>
      <p:sp>
        <p:nvSpPr>
          <p:cNvPr id="44" name="Text 41"/>
          <p:cNvSpPr txBox="1"/>
          <p:nvPr/>
        </p:nvSpPr>
        <p:spPr>
          <a:xfrm>
            <a:off x="5074920" y="5065776"/>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process verb</a:t>
            </a:r>
            <a:endParaRPr lang="en-US" sz="950" dirty="0"/>
          </a:p>
        </p:txBody>
      </p:sp>
      <p:sp>
        <p:nvSpPr>
          <p:cNvPr id="45" name="Text 42"/>
          <p:cNvSpPr txBox="1"/>
          <p:nvPr/>
        </p:nvSpPr>
        <p:spPr>
          <a:xfrm>
            <a:off x="548640" y="4645152"/>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يَنْبَعِثُ الدُّخَانُ.</a:t>
            </a:r>
            <a:endParaRPr lang="ar-SA" sz="2100" dirty="0"/>
          </a:p>
        </p:txBody>
      </p:sp>
      <p:sp>
        <p:nvSpPr>
          <p:cNvPr id="46" name="Text 43"/>
          <p:cNvSpPr txBox="1"/>
          <p:nvPr/>
        </p:nvSpPr>
        <p:spPr>
          <a:xfrm>
            <a:off x="502920" y="5065776"/>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Smoke is emitted.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passive the affected thing becomes the subject (-u): al-hawāʾu, al-ashjāru. Non-human plurals → ta-: tuqṭaʿu.</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CAUSE AND EFFECT (WEBSITE RULES 2–4)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Because of … leads to … which causes …</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بِسَبَبِ · يُؤَدِّي إِلَى · مِمَّا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CAUSE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بِسَبَبِ + اسْمٌ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يَتَلَوَّثُ البَحْرُ بِسَبَبِ النُّفَايَاتِ البِلَاسْتِيكِيَّةِ.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sea is polluted because of plastic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noun, not a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RESULT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يُؤَدِّي قَطْعُ الأَشْجَارِ إِلَى فَقْدِ المَوَائِلِ.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Cutting down trees leads to habitat loss.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ilā.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CHAIN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تَرْتَفِعُ دَرَجَةُ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mimmā = the whole idea.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yuʾaddī takes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يُؤَدِّي التَّلَوُّثُ إِلَى أَمْرَاضٍ.</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يُؤَدِّي التَّلَوُّثُ فِي أَمْرَاضٍ.</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Grammar of environmental causes and effects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الأَسْبَابِ وَالنَّتَائِجِ</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تُلَوِّثُ المَصَانِعُ الهَوَاءَ · يُلَوَّثُ الهَوَاءُ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بِسَبَبِ / نَتِيجَةً لِـ</a:t>
            </a:r>
            <a:pPr algn="l" indent="0" marL="0">
              <a:buNone/>
            </a:pPr>
            <a:r>
              <a:rPr lang="en-US" sz="1050" dirty="0">
                <a:solidFill>
                  <a:srgbClr val="5A6472"/>
                </a:solidFill>
                <a:latin typeface="Calibri" pitchFamily="34" charset="0"/>
                <a:cs typeface="Amiri" pitchFamily="2" charset="-78"/>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Result with </a:t>
            </a:r>
            <a:pPr algn="l" indent="0" marL="0">
              <a:buNone/>
            </a:pPr>
            <a:r>
              <a:rPr lang="ar-SA" altLang="en-US" sz="1650" b="1" dirty="0">
                <a:solidFill>
                  <a:srgbClr val="1B3B6F"/>
                </a:solidFill>
                <a:latin typeface="Amiri" pitchFamily="2" charset="-78"/>
                <a:ea typeface="Amiri" pitchFamily="2" charset="-78"/>
                <a:cs typeface="Amiri" pitchFamily="2" charset="-78"/>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cause + </a:t>
            </a:r>
            <a:pPr algn="l" indent="0" marL="0">
              <a:buNone/>
            </a:pPr>
            <a:r>
              <a:rPr lang="ar-SA" altLang="en-US" sz="1350" dirty="0">
                <a:solidFill>
                  <a:srgbClr val="5A6472"/>
                </a:solidFill>
                <a:latin typeface="Amiri" pitchFamily="2" charset="-78"/>
                <a:ea typeface="Amiri" pitchFamily="2" charset="-78"/>
                <a:cs typeface="Amiri" pitchFamily="2" charset="-78"/>
              </a:rPr>
              <a:t>يُؤَدِّي إِلَى</a:t>
            </a:r>
            <a:pPr algn="l" indent="0" marL="0">
              <a:buNone/>
            </a:pPr>
            <a:r>
              <a:rPr lang="en-US" sz="1050" dirty="0">
                <a:solidFill>
                  <a:srgbClr val="5A6472"/>
                </a:solidFill>
                <a:latin typeface="Calibri" pitchFamily="34" charset="0"/>
                <a:cs typeface="Amiri" pitchFamily="2" charset="-78"/>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a:t>
            </a:r>
            <a:pPr algn="l" indent="0" marL="0">
              <a:buNone/>
            </a:pPr>
            <a:r>
              <a:rPr lang="ar-SA" altLang="en-US" sz="1350" dirty="0">
                <a:solidFill>
                  <a:srgbClr val="5A6472"/>
                </a:solidFill>
                <a:latin typeface="Amiri" pitchFamily="2" charset="-78"/>
                <a:ea typeface="Amiri" pitchFamily="2" charset="-78"/>
                <a:cs typeface="Amiri" pitchFamily="2" charset="-78"/>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بِالدُّخَانِ.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المَصَانِعُ الهَوَاءَ.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يَتَلَوَّثُ البَحْرُ ___ النُّفَايَاتِ.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إِلَى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التَّصَحُّرُ مِنْ فَقْدِ الأَرَاضِي.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التَّصَحُّرُ إِلَى فَقْدِ الأَرَاضِي الزِّرَاعِيَّةِ.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التَّصَحُّرُ فِي فَقْدِ الأَرَاضِي.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 مِمَّا يُسَبِّبُ ذَوَبَانَ الجَلِيدِ.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 بِسَبَبِ يُسَبِّبُ الجَلِيدَ.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 إِلَى مِمَّا الجَلِيدِ.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بِالدُّخَانِ.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تُقْطَعُ الأَشْجَارُ.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تُلَوِّثُ المَصَانِعُ الهَوَاءَ.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active sentence names factories as the agent.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يَتَلَوَّثُ البَحْرُ ___ النُّفَايَاتِ.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بِسَبَبِ</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إِلَى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is followed by the cause noun.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التَّصَحُّرُ مِنْ فَقْدِ الأَرَاضِي.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التَّصَحُّرُ إِلَى فَقْدِ الأَرَاضِي الزِّرَاعِيَّةِ.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التَّصَحُّرُ فِي فَقْدِ الأَرَاضِي.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تَرْتَفِعُ الحَرَارَةُ، مِمَّا يُسَبِّبُ ذَوَبَانَ الجَلِيدِ.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الحَرَارَةُ بِسَبَبِ يُسَبِّبُ الجَلِيدَ.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الحَرَارَةُ إِلَى مِمَّا الجَلِيدِ.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مما يسبب</a:t>
            </a:r>
            <a:pPr algn="l" indent="0" marL="0">
              <a:buNone/>
            </a:pPr>
            <a:r>
              <a:rPr lang="en-US" sz="1050" i="1" dirty="0">
                <a:solidFill>
                  <a:srgbClr val="8A6D1E"/>
                </a:solidFill>
                <a:latin typeface="Calibri" pitchFamily="34" charset="0"/>
                <a:cs typeface="Amiri" pitchFamily="2" charset="-78"/>
              </a:rPr>
              <a:t> refers to the whole preceding clause.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Cause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بِسَبَبِ</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حَرْقِ الوَقُودِ الأُحْفُورِيِّ</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bi-sababi + noun.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يُلَوَّثُ</a:t>
            </a:r>
            <a:pPr rtl="1" algn="ctr" indent="0" marL="0">
              <a:buNone/>
            </a:pPr>
            <a:r>
              <a:rPr lang="ar-SA" altLang="en-US" sz="2800" b="1" dirty="0">
                <a:solidFill>
                  <a:srgbClr val="1B3B6F"/>
                </a:solidFill>
                <a:latin typeface="Amiri" pitchFamily="2" charset="-78"/>
                <a:ea typeface="Amiri" pitchFamily="2" charset="-78"/>
                <a:cs typeface="Amiri" pitchFamily="2" charset="-78"/>
              </a:rPr>
              <a:t> الهَوَاءُ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Focus on the air.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يُؤَدِّي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ذٰلِكَ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الاحْتِبَاسِ الحَرَارِيِّ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yuʾaddī 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Chain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2" charset="-78"/>
                <a:ea typeface="Amiri" pitchFamily="2" charset="-78"/>
                <a:cs typeface="Amiri" pitchFamily="2" charset="-78"/>
              </a:rPr>
              <a:t>مِمَّا يُسَبِّبُ</a:t>
            </a:r>
            <a:pPr rtl="1" algn="ctr" indent="0" marL="0">
              <a:buNone/>
            </a:pPr>
            <a:r>
              <a:rPr lang="ar-SA" altLang="en-US" sz="2300" b="1" dirty="0">
                <a:solidFill>
                  <a:srgbClr val="1B3B6F"/>
                </a:solidFill>
                <a:latin typeface="Amiri" pitchFamily="2" charset="-78"/>
                <a:ea typeface="Amiri" pitchFamily="2" charset="-78"/>
                <a:cs typeface="Amiri" pitchFamily="2" charset="-78"/>
              </a:rPr>
              <a:t> ذَوَبَانَ الجَلِيدِ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Whole idea → consequence.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CAUSE / CHAIN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بِسَبَبِ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حَرْقِ الوَقُودِ الأُحْفُورِيِّ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يُلَوَّثُ</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الهَوَاءُ، وَتَرْتَفِعُ نِسْبَةُ ثَانِي أُكْسِيدِ الكَرْبُونِ.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يُؤَدِّي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ذٰلِكَ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الاحْتِبَاسِ الحَرَارِيِّ،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مِمَّا يُسَبِّبُ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ذَوَبَانَ الجَلِيدِ وَارْتِفَاعَ مُسْتَوَى البَحْرِ. وَفِي مَنَاطِقَ أُخْرَى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تُقْطَعُ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الأَشْجَارُ، فَتَفْقِدُ الحَيَوَانَاتُ مَوَائِلَهَا.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Because of burning fossil fuels, the air is polluted and the level of carbon dioxide rises. This leads to global warming, which causes ice to melt and sea levels to rise. In other areas trees are cut down, so animals lose their habitats.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تُلَوِّثُ المَصَانِعُ الهَوَاءَ.</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Factories pollute the air.</a:t>
            </a:r>
            <a:endParaRPr lang="en-US" sz="1250" dirty="0"/>
          </a:p>
          <a:p>
            <a:pPr indent="0" marL="0">
              <a:buNone/>
            </a:pPr>
            <a:r>
              <a:rPr lang="en-US" sz="1050" i="1" dirty="0">
                <a:solidFill>
                  <a:srgbClr val="8A6D1E"/>
                </a:solidFill>
                <a:latin typeface="Calibri" pitchFamily="34" charset="0"/>
                <a:cs typeface="Amiri" pitchFamily="2" charset="-78"/>
              </a:rPr>
              <a:t>The active sentence names the agent. The passive focuses on the affected thing; the passive subject is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يَتَلَوَّثُ البَحْرُ بِسَبَبِ النُّفَايَاتِ البِلَاسْتِيكِيَّةِ.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sea is polluted because of plastic waste.</a:t>
            </a:r>
            <a:endParaRPr lang="en-US" sz="1250" dirty="0"/>
          </a:p>
          <a:p>
            <a:pPr indent="0" marL="0">
              <a:buNone/>
            </a:pPr>
            <a:r>
              <a:rPr lang="en-US" sz="1050" i="1" dirty="0">
                <a:solidFill>
                  <a:srgbClr val="8A6D1E"/>
                </a:solidFill>
                <a:latin typeface="Calibri" pitchFamily="34" charset="0"/>
                <a:cs typeface="Amiri" pitchFamily="2" charset="-78"/>
              </a:rPr>
              <a:t>These expressions are followed by a noun phrase, not a complete finite clause.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يُؤَدِّي قَطْعُ الأَشْجَارِ إِلَى فَقْدِ المَوَائِلِ.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Cutting down trees leads to habitat loss.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Keep the preposition إِلَى after يُؤَدِّي.</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ENVIRONMENTAL PROBLEMS — CAUSES AND EFFECTS”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What causes what?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smoke · mask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rubbish · water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heat · melting ice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النُّفَايَاتُ تُلَوِّثُ المِيَاهَ.</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الاِحْتِبَاسُ الحَرَارِيُّ يُؤَدِّي إِلَى ذَوَبَانِ الجَلِيدِ.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تَلَوُّثُ الهَوَاءِ يُسَبِّبُ مَشَاكِلَ صِحِّيَّةً.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smoke · mask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تَلَوُّثُ الهَوَاءِ يُسَبِّبُ مَشَاكِلَ صِحِّيَّةً.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Air pollution causes health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rubbish · water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النُّفَايَاتُ تُلَوِّثُ المِيَاهَ.</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Waste pollutes the water.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heat · melting ice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الاِحْتِبَاسُ الحَرَارِيُّ يُؤَدِّي إِلَى ذَوَبَانِ الجَلِيدِ.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Global warming leads to melting ice.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الهَوَاءِ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المِيَاهِ</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النُّفَايَاتُ البِلَاسْتِيكِيَّةُ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المَصَانِعُ الهَوَاءَ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يُلَوَّثُ الهَوَاءُ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تُقْطَعُ الأَشْجَارُ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إِلَى</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الهَوَاءِ</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المِيَاهِ</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النُّفَايَاتُ البِلَاسْتِيكِيَّةُ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المَصَانِعُ الهَوَاءَ</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يُلَوَّثُ الهَوَاءُ</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تُقْطَعُ الأَشْجَارُ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إِلَى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3,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يُقْطَعُ الأَشْجَارُ فِي بَعْضِ المَنَاطِقِ.</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 فِي بَعْضِ المَنَاطِقِ.</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 فِي بَعْضِ المَنَاطِقِ.</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ea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regular passive of </a:t>
            </a:r>
            <a:pPr algn="l" indent="0" marL="0">
              <a:buNone/>
            </a:pPr>
            <a:r>
              <a:rPr lang="ar-SA" altLang="en-US" sz="1650" dirty="0">
                <a:solidFill>
                  <a:srgbClr val="1F2A37"/>
                </a:solidFill>
                <a:latin typeface="Amiri" pitchFamily="2" charset="-78"/>
                <a:ea typeface="Amiri" pitchFamily="2" charset="-78"/>
                <a:cs typeface="Amiri" pitchFamily="2" charset="-78"/>
              </a:rPr>
              <a:t>يُلَوِّثُ</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is masculine; the passive is </a:t>
            </a:r>
            <a:pPr algn="l" indent="0" marL="0">
              <a:buNone/>
            </a:pPr>
            <a:r>
              <a:rPr lang="ar-SA" altLang="en-US" sz="1350" dirty="0">
                <a:solidFill>
                  <a:srgbClr val="8A6D1E"/>
                </a:solidFill>
                <a:latin typeface="Amiri" pitchFamily="2" charset="-78"/>
                <a:ea typeface="Amiri" pitchFamily="2" charset="-78"/>
                <a:cs typeface="Amiri" pitchFamily="2" charset="-78"/>
              </a:rPr>
              <a:t>يُلَوَّثُ</a:t>
            </a:r>
            <a:pPr algn="l" indent="0" marL="0">
              <a:buNone/>
            </a:pPr>
            <a:r>
              <a:rPr lang="en-US" sz="1050" i="1" dirty="0">
                <a:solidFill>
                  <a:srgbClr val="8A6D1E"/>
                </a:solidFill>
                <a:latin typeface="Calibri" pitchFamily="34" charset="0"/>
                <a:cs typeface="Amiri" pitchFamily="2" charset="-78"/>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يُقْطَعُ الأَشْجَارُ فِي بَعْضِ المَنَاطِقِ.</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تُقْطَعُ الأَشْجَارُ فِي بَعْضِ المَنَاطِقِ.</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تَقْطَعُ الأَشْجَارَ فِي بَعْضِ المَنَاطِقِ.</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a non-human plural treated as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تُقْطَعُ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ea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regular passive of </a:t>
            </a:r>
            <a:pPr algn="l" indent="0" marL="0">
              <a:buNone/>
            </a:pPr>
            <a:r>
              <a:rPr lang="ar-SA" altLang="en-US" sz="1650" dirty="0">
                <a:solidFill>
                  <a:srgbClr val="9AA1AB"/>
                </a:solidFill>
                <a:latin typeface="Amiri" pitchFamily="2" charset="-78"/>
                <a:ea typeface="Amiri" pitchFamily="2" charset="-78"/>
                <a:cs typeface="Amiri" pitchFamily="2" charset="-78"/>
              </a:rPr>
              <a:t>يُلَوِّثُ</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ينبعث</a:t>
            </a:r>
            <a:pPr algn="l" indent="0" marL="0">
              <a:buNone/>
            </a:pPr>
            <a:r>
              <a:rPr lang="en-US" sz="1050" i="1" dirty="0">
                <a:solidFill>
                  <a:srgbClr val="8A6D1E"/>
                </a:solidFill>
                <a:latin typeface="Calibri" pitchFamily="34" charset="0"/>
                <a:cs typeface="Amiri" pitchFamily="2" charset="-78"/>
              </a:rPr>
              <a:t> is not a passive form of </a:t>
            </a:r>
            <a:pPr algn="l" indent="0" marL="0">
              <a:buNone/>
            </a:pPr>
            <a:r>
              <a:rPr lang="ar-SA" altLang="en-US" sz="1350" dirty="0">
                <a:solidFill>
                  <a:srgbClr val="8A6D1E"/>
                </a:solidFill>
                <a:latin typeface="Amiri" pitchFamily="2" charset="-78"/>
                <a:ea typeface="Amiri" pitchFamily="2" charset="-78"/>
                <a:cs typeface="Amiri" pitchFamily="2" charset="-78"/>
              </a:rPr>
              <a:t>لوّث</a:t>
            </a:r>
            <a:pPr algn="l" indent="0" marL="0">
              <a:buNone/>
            </a:pPr>
            <a:r>
              <a:rPr lang="en-US" sz="1050" i="1" dirty="0">
                <a:solidFill>
                  <a:srgbClr val="8A6D1E"/>
                </a:solidFill>
                <a:latin typeface="Calibri" pitchFamily="34" charset="0"/>
                <a:cs typeface="Amiri" pitchFamily="2" charset="-78"/>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نتيجةً لـ</a:t>
            </a:r>
            <a:pPr algn="l" indent="0" marL="0">
              <a:buNone/>
            </a:pPr>
            <a:r>
              <a:rPr lang="en-US" sz="1050" i="1" dirty="0">
                <a:solidFill>
                  <a:srgbClr val="8A6D1E"/>
                </a:solidFill>
                <a:latin typeface="Calibri" pitchFamily="34" charset="0"/>
                <a:cs typeface="Amiri" pitchFamily="2" charset="-78"/>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polluted”: -wwi- or -wwa-?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yuʾaddī?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al-ashjār is a non-human plural: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present of </a:t>
            </a:r>
            <a:pPr algn="l" indent="0" marL="0">
              <a:buNone/>
            </a:pPr>
            <a:r>
              <a:rPr lang="ar-SA" altLang="en-US" sz="1500" b="1" dirty="0">
                <a:solidFill>
                  <a:srgbClr val="1B3B6F"/>
                </a:solidFill>
                <a:latin typeface="Amiri" pitchFamily="2" charset="-78"/>
                <a:ea typeface="Amiri" pitchFamily="2" charset="-78"/>
                <a:cs typeface="Amiri" pitchFamily="2" charset="-78"/>
              </a:rPr>
              <a:t>لوّث</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يُلَوَّثُ</a:t>
            </a:r>
            <a:pPr algn="l" indent="0" marL="0">
              <a:buNone/>
            </a:pPr>
            <a:r>
              <a:rPr lang="en-US" sz="1150" b="1" dirty="0">
                <a:solidFill>
                  <a:srgbClr val="1B3B6F"/>
                </a:solidFill>
                <a:latin typeface="Calibri" pitchFamily="34" charset="0"/>
                <a:cs typeface="Amiri" pitchFamily="2" charset="-78"/>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يؤدي</a:t>
            </a:r>
            <a:pPr algn="l" indent="0" marL="0">
              <a:buNone/>
            </a:pPr>
            <a:r>
              <a:rPr lang="en-US" sz="1150" b="1" dirty="0">
                <a:solidFill>
                  <a:srgbClr val="1B3B6F"/>
                </a:solidFill>
                <a:latin typeface="Calibri" pitchFamily="34" charset="0"/>
                <a:cs typeface="Amiri" pitchFamily="2" charset="-78"/>
              </a:rPr>
              <a:t> takes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الأشجار</a:t>
            </a:r>
            <a:pPr algn="l" indent="0" marL="0">
              <a:buNone/>
            </a:pPr>
            <a:r>
              <a:rPr lang="en-US" sz="1150" b="1" dirty="0">
                <a:solidFill>
                  <a:srgbClr val="1B3B6F"/>
                </a:solidFill>
                <a:latin typeface="Calibri" pitchFamily="34" charset="0"/>
                <a:cs typeface="Amiri" pitchFamily="2" charset="-78"/>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تَلَوُّثُ الهَوَاءِ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السَّيَّارَاتُ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أَمْرَاضُ</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يُعَدُّ تَلَوُّثُ الهَوَاءِ مِنْ أَخْطَرِ المُشْكِلَاتِ فِي المَدِينَةِ.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 is considered one of the most serious problems in the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تُلَوِّثُ السَّيَّارَاتُ وَالمَصَانِعُ الهَوَاءَ، وَيَنْبَعِثُ مِنْهَا دُخَانٌ كَثِيفٌ.</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 pollute the air, and thick smoke comes from them.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 لِذٰلِكَ، تَزْدَادُ أَمْرَاضُ التَّنَفُّسِ.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 breathing illnesses increase.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تُرْمَى نُفَايَاتٌ بِلَاسْتِيكِيَّةٌ فِي النَّهْرِ،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waste is also thrown into the river,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مِمَّا يُؤَدِّي إِلَى تَلَوُّثِ المِيَاهِ وَنُفُوقِ بَعْضِ الأَسْمَاكِ.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leads to water pollution and the death of some fish.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تلوث الهواء</a:t>
            </a:r>
            <a:pPr algn="l" indent="0" marL="0">
              <a:buNone/>
            </a:pPr>
            <a:r>
              <a:rPr lang="en-US" sz="1050" i="1" dirty="0">
                <a:solidFill>
                  <a:srgbClr val="8A6D1E"/>
                </a:solidFill>
                <a:latin typeface="Calibri" pitchFamily="34" charset="0"/>
                <a:cs typeface="Amiri" pitchFamily="2" charset="-78"/>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تَلَوُّثُ الهَوَاءِ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السَّيَّارَاتُ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أَمْرَاضُ</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أَخْطَرُ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سَبَبُهَا؟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نَتَائِجُهَا عَلَى المَدَى الطَّوِيلِ؟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رَأْيِي، أَخْطَرُ مُشْكِلَةٍ هِيَ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بِسَبَبِ ___ ، يُلَوَّثُ / تُقْطَعُ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يُؤَدِّي ذٰلِكَ إِلَى ___ ، مِمَّا يُسَبِّبُ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أَخْطَرُ مُشْكِلَةٍ بِيئِيَّةٍ فِي رَأْيِكَ؟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What is the most serious environmental problem, in your opinion?</a:t>
            </a:r>
            <a:endParaRPr lang="en-US" sz="9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رَأْيِي، تَلَوُّثُ الهَوَاءِ خَطِيرٌ لِأَنَّ السَّيَّارَاتِ وَالمَصَانِعَ تُطْلِقُ دُخَانًا يُؤَدِّي إِلَى أَمْرَاضٍ تَنَفُّسِيَّةٍ.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In my opinion, air pollution is serious because cars and factories release smoke that leads to breathing illnesses.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problem: what it is, one cause (bi-sababi), one effect (yuʾaddī ilā).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problems, each with cause and effect; one active and one passive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developed chains, three different connectors and a justified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تُلَوِّثُ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pollute(s)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مِمَّا يُسَبِّبُ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which causes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a result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الطَّوِيلِ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أَخْطَرِ المُشْكِلَاتِ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the most serious problems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يُلَوَّثُ الهَوَاءُ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air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يُؤَدِّي ذٰلِكَ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leads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تُقْطَعُ الأَشْجَارُ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Trees are cut down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تَلَوُّثُ الهَوَاءِ  ·  تَلَوُّثُ المِيَاهِ  ·  النُّفَايَاتُ البِلَاسْتِيكِيَّةُ  ·  إِزَالَةُ الغَابَاتِ  ·  الاحْتِبَاسُ الحَرَارِيُّ  ·  تُلَوِّثُ  ·  يُلَوَّثُ  ·  تُقْطَعُ  ·  تُرْمَى  ·  بِسَبَبِ  ·  يُؤَدِّي إِلَى  ·  مِمَّا يُسَبِّبُ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يُعَدُّ … مِنْ أَخْطَرِ المُشْكِلَاتِ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considered one of the most serious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ثَانِي أُكْسِيدِ الكَرْبُونِ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carbon dioxide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تَفْقِدُ الحَيَوَانَاتُ مَوَائِلَهَا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animals lose their habitats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سَتَكُونُ نَتَائِجُهَا طَوِيلَةَ الأَمَدِ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results will be long-term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بُدَّ مِنْ فَهْمِ الأَسْبَابِ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understand the causes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cities face connected environmental problems. Because of the large number of cars and the burning of fossil fuels, the air is polluted and breathing illnesses increase. Plastic waste is also thrown into the seas, which harms fish and birds. Trees are cut down in some regions, which leads to habitat loss and desertification. In the long term, these problems will affect people’s health and the economy. So we must understand the causes before choosing the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bi-sababi + a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yuʾaddī +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active and one passive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Non-human plurals take ta-.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chains, three connectors, a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pattern is </a:t>
            </a:r>
            <a:pPr algn="l" indent="0" marL="0">
              <a:buNone/>
            </a:pPr>
            <a:r>
              <a:rPr lang="ar-SA" altLang="en-US" sz="1350" dirty="0">
                <a:solidFill>
                  <a:srgbClr val="8A6D1E"/>
                </a:solidFill>
                <a:latin typeface="Amiri" pitchFamily="2" charset="-78"/>
                <a:ea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حَرْقِ الوَقُودِ الأُحْفُورِيِّ</a:t>
            </a:r>
            <a:endParaRPr lang="ar-SA" sz="155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burning fossil fuel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level / proportion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ثَانِي أُكْسِيدِ الكَرْبُونِ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carbon dioxide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الاحْتِبَاسِ الحَرَارِيِّ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global warming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ذَوَبَانَ الجَلِيدِ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melting ice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ارْتِفَاعَ مُسْتَوَى البَحْرِ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sea-level rise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تُقْطَعُ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cut down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مَوَائِلَهَا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habitats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اسْتَمَرَّتْ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 continue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ea typeface="Amiri" pitchFamily="2" charset="-78"/>
                <a:cs typeface="Amiri" pitchFamily="2" charset="-78"/>
              </a:rPr>
              <a:t>بسبب حرق الوقود الأحفوري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Environmental Problems — Causes and Effects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“Factories pollute the 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بِالمَصَانِعِ.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المَصَانِعُ الهَوَاءَ.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تَتَلَوَّثُ المَصَانِعُ مِنَ الهَوَاءِ.</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focuses on the polluted air rather than the agent?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بِالدُّخَانِ.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يَنْبَعِثُ الهَوَاءُ مِنَ الدُّخَانِ.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المَصَانِعُ الهَوَاءَ.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best completion: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بِسَبَبِ قَطْعِ الأَشْجَارِ، ...</a:t>
            </a:r>
            <a:endParaRPr lang="ar-SA" sz="14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جَوْدَةُ الهَوَاءِ فَوْرًا.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تَزْدَادُ المِيَاهُ العَذْبَةُ دَائِمًا.</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تَفْقِدُ الحَيَوَانَاتُ مَوَائِلَهَا.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يُؤَدِّي الاحْتِبَاسُ الحَرَارِيُّ بِذَوَبَانِ الجَلِيدِ.</a:t>
            </a:r>
            <a:endParaRPr lang="ar-SA" sz="15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يُؤَدِّي الاحْتِبَاسُ الحَرَارِيُّ مِنْ ذَوَبَانِ الجَلِيدِ.</a:t>
            </a:r>
            <a:endParaRPr lang="ar-SA" sz="15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يُؤَدِّي الاحْتِبَاسُ الحَرَارِيُّ إِلَى ذَوَبَانِ الجَلِيدِ.</a:t>
            </a:r>
            <a:endParaRPr lang="ar-SA" sz="15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correctly expresses “as a result of plastic waste”?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نَتِيجَةً لِلنُّفَايَاتِ البِلَاسْتِيكِيَّةِ</a:t>
            </a:r>
            <a:endParaRPr lang="ar-SA" sz="19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نَتِيجَةُ بِالنُّفَايَاتَ البِلَاسْتِيكِيَّةَ</a:t>
            </a:r>
            <a:endParaRPr lang="ar-SA" sz="19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نَتِيجَةً إِلَى النُّفَايَاتُ البِلَاسْتِيكِيَّةُ</a:t>
            </a:r>
            <a:endParaRPr lang="ar-SA" sz="19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logically and grammatically coherent consequence?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تَرْتَفِعُ دَرَجَةُ الحَرَارَةِ، مِمَّا يُسَبِّبُ زِيَادَةَ الجَلِيدِ.</a:t>
            </a:r>
            <a:endParaRPr lang="ar-SA" sz="13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تَرْتَفِعُ دَرَجَةُ الحَرَارَةِ، مِمَّا يُسَبِّبُ ذَوَبَانَ الجَلِيدِ.</a:t>
            </a:r>
            <a:endParaRPr lang="ar-SA" sz="13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تَرْتَفِعُ دَرَجَةُ الحَرَارَةِ، مِمَّا يُسَبِّبُ بُرُودَةَ الصَّحْرَاءِ.</a:t>
            </a:r>
            <a:endParaRPr lang="ar-SA" sz="13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“Factories pollute the 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بِالمَصَانِعِ.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تُلَوِّثُ المَصَانِعُ الهَوَاءَ.</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تَتَلَوَّثُ المَصَانِعُ مِنَ الهَوَاءِ.</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active verb agrees with </a:t>
            </a:r>
            <a:pPr algn="l" indent="0" marL="0">
              <a:buNone/>
            </a:pPr>
            <a:r>
              <a:rPr lang="ar-SA" altLang="en-US" sz="1350" dirty="0">
                <a:solidFill>
                  <a:srgbClr val="8A6D1E"/>
                </a:solidFill>
                <a:latin typeface="Amiri" pitchFamily="2" charset="-78"/>
                <a:ea typeface="Amiri" pitchFamily="2" charset="-78"/>
                <a:cs typeface="Amiri" pitchFamily="2" charset="-78"/>
              </a:rPr>
              <a:t>المصانع</a:t>
            </a:r>
            <a:pPr algn="l" indent="0" marL="0">
              <a:buNone/>
            </a:pPr>
            <a:r>
              <a:rPr lang="en-US" sz="1050" i="1" dirty="0">
                <a:solidFill>
                  <a:srgbClr val="8A6D1E"/>
                </a:solidFill>
                <a:latin typeface="Calibri" pitchFamily="34" charset="0"/>
                <a:cs typeface="Amiri" pitchFamily="2" charset="-78"/>
              </a:rPr>
              <a:t> and takes </a:t>
            </a:r>
            <a:pPr algn="l" indent="0" marL="0">
              <a:buNone/>
            </a:pPr>
            <a:r>
              <a:rPr lang="ar-SA" altLang="en-US" sz="1350" dirty="0">
                <a:solidFill>
                  <a:srgbClr val="8A6D1E"/>
                </a:solidFill>
                <a:latin typeface="Amiri" pitchFamily="2" charset="-78"/>
                <a:ea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as its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focuses on the polluted air rather than the agent?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بِالدُّخَانِ.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يَنْبَعِثُ الهَوَاءُ مِنَ الدُّخَانِ.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تُلَوِّثُ المَصَانِعُ الهَوَاءَ.</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puts </a:t>
            </a:r>
            <a:pPr algn="l" indent="0" marL="0">
              <a:buNone/>
            </a:pPr>
            <a:r>
              <a:rPr lang="ar-SA" altLang="en-US" sz="1350" dirty="0">
                <a:solidFill>
                  <a:srgbClr val="8A6D1E"/>
                </a:solidFill>
                <a:latin typeface="Amiri" pitchFamily="2" charset="-78"/>
                <a:ea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in focus.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best completion:</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بِسَبَبِ قَطْعِ الأَشْجَارِ، ...</a:t>
            </a:r>
            <a:endParaRPr lang="ar-SA" sz="14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جَوْدَةُ الهَوَاءِ فَوْرًا.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تَزْدَادُ المِيَاهُ العَذْبَةُ دَائِمًا.</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تَفْقِدُ الحَيَوَانَاتُ مَوَائِلَهَا.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Deforestation causes habitat loss.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يُؤَدِّي الاحْتِبَاسُ الحَرَارِيُّ بِذَوَبَانِ الجَلِيدِ.</a:t>
            </a:r>
            <a:endParaRPr lang="ar-SA" sz="15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يُؤَدِّي الاحْتِبَاسُ الحَرَارِيُّ مِنْ ذَوَبَانِ الجَلِيدِ.</a:t>
            </a:r>
            <a:endParaRPr lang="ar-SA" sz="15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يُؤَدِّي الاحْتِبَاسُ الحَرَارِيُّ إِلَى ذَوَبَانِ الجَلِيدِ.</a:t>
            </a:r>
            <a:endParaRPr lang="ar-SA" sz="15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follows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correctly expresses “as a result of plastic waste”?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نَتِيجَةً لِلنُّفَايَاتِ البِلَاسْتِيكِيَّةِ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بِالنُّفَايَاتَ البِلَاسْتِيكِيَّةَ</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إِلَى النُّفَايَاتُ البِلَاسْتِيكِيَّةُ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نتيجةً لـ</a:t>
            </a:r>
            <a:pPr algn="l" indent="0" marL="0">
              <a:buNone/>
            </a:pPr>
            <a:r>
              <a:rPr lang="en-US" sz="1050" i="1" dirty="0">
                <a:solidFill>
                  <a:srgbClr val="8A6D1E"/>
                </a:solidFill>
                <a:latin typeface="Calibri" pitchFamily="34" charset="0"/>
                <a:cs typeface="Amiri" pitchFamily="2" charset="-78"/>
              </a:rPr>
              <a:t> is followed by a genitive noun phrase.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logically and grammatically coherent consequence?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تَرْتَفِعُ دَرَجَةُ الحَرَارَةِ، مِمَّا يُسَبِّبُ زِيَادَةَ الجَلِيدِ.</a:t>
            </a:r>
            <a:endParaRPr lang="ar-SA" sz="13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تَرْتَفِعُ دَرَجَةُ الحَرَارَةِ، مِمَّا يُسَبِّبُ ذَوَبَانَ الجَلِيدِ.</a:t>
            </a:r>
            <a:endParaRPr lang="ar-SA" sz="13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تَرْتَفِعُ دَرَجَةُ الحَرَارَةِ، مِمَّا يُسَبِّبُ بُرُودَةَ الصَّحْرَاءِ.</a:t>
            </a:r>
            <a:endParaRPr lang="ar-SA" sz="13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Rising temperature causes ice to melt.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D4-L04 · Environmental Solutions — What Can Be Done?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recycling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الطَّاقَةُ المُتَجَدِّدَةُ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renewable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الطَّاقَةُ الشَّمْسِيَّةُ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solar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should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نُقَلِّلُ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reduce</a:t>
            </a:r>
            <a:pPr indent="0" marL="0">
              <a:buNone/>
            </a:pPr>
            <a:r>
              <a:rPr lang="ar-SA" sz="1000" i="1" dirty="0">
                <a:solidFill>
                  <a:srgbClr val="5A6472"/>
                </a:solidFill>
                <a:latin typeface="Calibri" pitchFamily="34" charset="0"/>
                <a:ea typeface="Amiri" pitchFamily="2" charset="-78"/>
                <a:cs typeface="Amiri" pitchFamily="2" charset="-78"/>
              </a:rPr>
              <a:t>  أُقَلِّلُ 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(or your family) already do to help the environment?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بَيْتِنَا نُ… · أَنَا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problem nouns; write 5 sentences with bi-sababi and yuʾaddī ilā.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problems in 100–120 words with one active and one passive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two developed chains and a judgement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D4-L04 · Environmental Solutions — What Can Be Done?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الحُلُولُ البِيئِيَّةُ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active names the agent, passive (yu-…-a-) the victim — bi-sababi + noun — yuʾaddī ilā — mimmā yusabbibu.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D4-L03 · Environmental Problems — Causes and Effects</dc:title>
  <dc:subject>PptxGenJS Presentation</dc:subject>
  <dc:creator>Al Madina Online School · Arabic Department</dc:creator>
  <cp:lastModifiedBy>Al Madina Online School · Arabic Department</cp:lastModifiedBy>
  <cp:revision>1</cp:revision>
  <dcterms:created xsi:type="dcterms:W3CDTF">2026-10-11T06:40:51Z</dcterms:created>
  <dcterms:modified xsi:type="dcterms:W3CDTF">2026-10-11T06:40:51Z</dcterms:modified>
</cp:coreProperties>
</file>