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(sentence builder, repair, listening)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 (TC-L01). The website lesson reuses D6-L01 (Countries, Nationalities and Languages of the Arab World) and the Topic C “People &amp; Places” vocabulary bank (continents and compass points). All vocabulary, grammar rules, quizzes, the listening script, the reading text, speaking prompts and model answers come from those pages, so students meet the same language in class and at home.
SUPPORT FOR THIS CLASS (Arabic not yet secure; mixed levels):
• Core route is designed for students working at roughly A1: transliteration on every key word, English on every model sentence, sentence frames and a word bank, and a CORE flag on the words to learn first.
• Colour code (same as all Miftah lessons): WHO = blue, MEANING/country = purple, ENDING = pink, KEY WORD/place = teal.
• Urdu bridge words (شمال، جنوب، مشرق، مغرب، لہجہ) value home language as a resource (EAL Guide).
• SEND “automatic doors”: the lesson map, chunked tasks, read-along scripts,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send a private chat to any student who seemed unsettled last lesson — “Are you okay today? 👍 / 👎”. Keep it private and brief.
• Point to the four expectations — brief and positive: this is our class agreement (Behaviour training: rules agreed early and revisited).
• Remind students of the talk code: “I will always give you thinking and practice time before I ask anyone.” (Oracy: safe cold call; EAL: warn before you ask.) Reading aloud is always by invitation — a student may say “pass” and you return to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and say it aloud: using the Core supports is normal and expected, not a sign of weakness. This is the “automatic doors” idea — support is there for everyone, so no student is singled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This is the first lesson of Topic C, so the Do Now retrieves Foundation language that today’s lesson depends on: country, “I am from…”, feminine ـَةٌ, the word for Arabic, and the adjective coming after the noun. (Teacher-made retrieval questions — the website Do Now for this lesson uses end-of-lesson questions, which appear in today’s exit ticket instead.)
• Students work silently. Answers go in the chat as five letters (e.g. “1B 2A …”)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Q4 and Q5 are the bridge into today: عَرَبِيٌّ is already a nationality word. Today we make the same shape for every Arab country.
Key idea for today (bottom-right card): add ـِيٌّ for he and ـِيَّةٌ for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(D6-L01, reused by TC-L01).
Right: the same objectives broken into three routes. Everyone starts with Core; most students reach Develop; confident students aim for Stretch. Students decide privately which route they are aiming for (● Think 10s) — revisit in Feedback.
The Core statements add the Topic C focus (“Locate, identify and compare places accurately”) using compass points from the Topic C People &amp; Places vocabulary bank.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for Groups 1–3)
1. HEAR IT: say the word twice, clearly, with a gesture where possible (point up for north, down for south, right for east, left for west — as on a map).
2. SAY IT: choral repetition — “I say, you say” — then two volunteers.
3. SEE IT: point out the part of the word that carries today’s grammar (the pink ending ـِيٌّ / ـِيَّةٌ).
4. USE IT: quick check — “Type the NUMBER of the word that means …” in the chat.
Transliteration is printed for Core students. Develop/Stretch students should cover it and read the Arabic.
Group 4 (FLEX) is for fast classes or homework — every word is on the website vocabulary tab and the People &amp; Places bank.
URDU BRIDGE: ask “Which of these do you already know from home?” (● 10s → ◎). Urdu uses مشرق / مغرب for east / west — the same roots as شَرْقٌ / غَرْبٌ. المَغْرِبُ (Morocco) literally means “the West”, and صَلَاةُ المَغْرِبِ is the sunset prayer: the sun sets in the west. This values home language as a resource (EAL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Compass points (website: Topic C People &amp; Places bank, “Compass directions”). Hear → Say → See → Use.
The small boxes show the describing form (m. / f.) — شَمَالِيٌّ “northern”. This is the SAME ending as today’s nationalities, so students meet the pattern before the grammar slide. Example they will see later: أَمْرِيكَا الشَّمَالِيَّةُ (North America).
Website example: تُشِيرُ إِبْرَةُ البُوصَلَةِ نَحْوَ الشَّمَالِ = The compass needle points north.
Website note: تُشْرِقُ الشَّمْسُ مِنَ الشَّرْقِ = the sun rises in the east.
PRONUNCIATION: ج in جَنُوب is “j”; غ in غَرْب is the gargled “gh” (like French r); ق in شَرْق is the deep “q” from the back of the throat.
Quick check: “Type the NUMBER of the word that means west / north /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Continents (website: Topic C People &amp; Places bank, “Continents”). All continents are feminine.
The third column is teacher-added context (the 22 Arab League states: 12 in Asia, 10 in Africa — the website reading text says the Arab League has 22 states).
Point out the pink endings: الشَّمَالِيَّةُ and الجَنُوبِيَّةُ are nisba adjectives (northern / southern) in the feminine because قَارَّة is feminine. Core students only need the three CORE continents.
Website example: تَضُمُّ آسِيَا الصِّينَ وَاليَابَانَ وَالهِنْدَ = Asia includes China, Japan and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Arab countries and nationalities (website: D6-L01 vocabulary “Countries of the Mashriq and the Gulf” / “Countries of the Maghreb and the Horn”). Notes column = website notes.
These seven are the CORE countries: they appear in today’s listening, speaking and model texts.
The he / she / they columns give every nationality in masculine, feminine and plural. Purple = the country (meaning); pink = the ending.
SAY IT: -ī (he) · -iyya (she) · -iyyūn (they). Example: miṣr → miṣrī · miṣriyya · miṣriyyūn.
The website’s full name for Saudi Arabia is المَمْلَكَةُ العَرَبِيَّةُ السُّعُودِيَّةُ; السُّعُودِيَّةُ is the everyday short form.
Plural note: the sound plural ـِيُّونَ is always correct; some nationalities also have a common broken plural (the website uses مَغَارِبَةٌ for Moroccans).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Mashriq and Gulf countries (website D6-L01). Develop / Stretch focus; Core students listen and repeat, then use the table as a reference during writing.
Pattern check (● 10s): “What do you drop before adding the ending?” → the article ال (الكُوَيْت → كُوَيْتِيٌّ).
Diptotes flagged in the notes column link to the Stretch grammar slide (no tanwīn: مِنْ قَطَرَ).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Maghreb and Horn of Africa (website D6-L01). Together with the previous two slides this gives all 22 Arab League states.
Countries ending in ـيَا (لِيبِيَا، سُورِيَا، مُورِيتَانِيَا) drop the ـيَا before the ending: لِيبِيَا → لِيبِيٌّ.
Quick check: “Type the nationality for a girl from Sudan” → سُودَانِيَّةٌ.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Language and identity (website: D6-L01 “Languages and identity” + Topic C People &amp; Places bank for بَلَد / لُغَة / جِنْسِيَّة). Hear → Say → See → Use.
Website notes: الفُصْحَى = the shared written and formal register; اللَّهَجَاتُ = spoken varieties, which differ by region; عَوَاصِمُ (capitals) is a diptote.
URDU BRIDGE: لَهْجَةٌ ↔ لہجہ (accent). عَاصِمَةٌ has no Urdu cognate — give it a gesture (a star on a map).
Note: جِنْسِيَّةٌ itself ends in ـِيَّةٌ — the same feminine ending students are about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Extra detail (FLEX: teach only if time allows; otherwise students learn these on the website vocabulary tab for homework). Website notes shown on the cards.
Language names are feminine nisba words because لُغَة is feminine: (اللُّغَةُ) العَرَبِيَّةُ، الأَمَازِيغِيَّةُ، الكُرْدِيَّةُ — pink ending again.
Also on the website: الهُوِيَّةُ العَرَبِيَّةُ = Arab identity.
Stretch: نَشَأَ and اتَّسَعَ are used for history (past tense) — see the FLEX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nisba (2 min). Website rule “Forming the nisba”: country + ـِيٌّ (m.) / ـِيَّةٌ (f.). The ending carries a shadda on the yāʾ. A final tāʾ marbūṭa or article is dropped first.
Think aloud: “When I look at مِصْرِيَّةٌ I read it in two parts. The PURPLE part is the country — the meaning. The PINK part is the ending — it tells me WHO: a woman or girl.”
For Core students the only rule to hold on to today: country + ـِيٌّ for he, + ـِيَّةٌ for she.
Website teaching point: “The shadda on the yāʾ is part of the ending, not an optional decoration.”
Misconception: students write مِصْرِيٌ (no shadda) or مَغْرِبَةٌ (adding ـة straight to the country) — the website quiz uses مَغْرِبَةٌ as a distractor.
Pastoral: award Curiosity to any student who notices that عَرَبِيٌّ, شَمَالِيٌّ and جِنْسِيَّةٌ all use the same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agreement (2 min). Website rule: the nisba adjective must agree with its noun (quiz: هِيَ طَالِبَةٌ جَزَائِرِيَّةٌ).
Model: read each row aloud; students repeat only the blue WHO + the pink ending.
Spot the trap: أَنَا can be a boy OR a girl — Salmā is a girl, so أَنَا مَغْرِبِيَّةٌ.
Sentences are built from website language: الطَّالِبُ مِنْهُمْ مَغْرِبِيٌّ وَالطَّالِبَةُ مَغْرِبِيَّةٌ (writing model) and أَنَا سَلْمَى، وَأَنَا مَغْرِبِيَّةٌ (listening script). The website model also uses the broken plural مَغَارِبَةٌ — both are correct.
Row 5 shows why language names end in ـِيَّةُ: اللُّغَةُ is feminine.
Check: thumbs-up reaction if you can tell me the ending for “she”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nominal sentence with a place (2 min). Topic C grammar focus: “Nisba adjectives; prepositions; nominal sentences” and the Topic C grammar spine “Place expressions, compass directions and locative prepositions”.
Read each line in three beats: country → place word → place. Students tap the three beats.
Key point for Core: Arabic has NO word for “is” in these sentences.
Row 5 is from the website Map &amp; Compass game (فَرَنْسَا شَمَالَ إِسْبَانْيَا). Rows 1–4 are teacher-made with website vocabulary so that students practise Arab countries.
Develop/Stretch: after شَمَالَ / جَنُوبَ / شَرْقَ / غَرْبَ the place is genitive (ending ـِ): غَرْبَ الجَزَائِرِ. With a diptote it is a fatḥa: شَرْقَ تُونُسَ.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diptotes (FLEX — Stretch focus; if time is short, say only: “Egypt and Lebanon never take tanwīn”).
Website rule “Diptote country names”: no tanwīn; fatḥa instead of kasra. A diptote takes a ḍamma when nominative and a fatḥa in both the accusative and the genitive. Examples (website): أَنَا مِنْ لُبْنَانَ · زُرْتُ مِصْرَ فِي الصَّيْفِ.
Website common error: “Adding tanwīn to a diptote — writing مِنْ لُبْنَانٍ or زُرْتُ مِصْرًا. These names take a bare fatḥa in the genitive and accusative.”
• CORE: not required today — listen only.
• DEVELOP: recognise the six diptotes in the clue box.
• STRETCH: use one diptote after مِنْ and one after a verb in the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use for revision or homework). Every example sentence from the website grammar tab, one row per rule.
Website overview: “Three systems carry this lesson: forming the nationality, handling country names that refuse tanwīn, and choosing past or present according to whether you describe history or the present day.”
Read one row at a time; students choose ONE example per rule to copy. Core: rows 1 and 2. Stretch: explain rules 3 and 4 in one English sentence each (past for history, present for today; qualify claims about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and 8, plus Arab World Mission round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 (e.g. مَغْرِبَةٌ adds ـة to the country without ـِيّ).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finished sentence into their books (framework: students copy the example so they can refer back to it).
Think-aloud script:
Step 1 — Choose a country: “I choose المَغْرِبُ. It means ‘the West’ — like the Maghrib prayer at sunset.”
Step 2 — Say where it is: “There is no ‘is’ in Arabic here. Country + فِي + place: فِي شَمَالِ أَفْرِيقِيَا.”
Step 3 — Add the capital: “عَاصِمَة is capital; ـهُ means its, because المَغْرِب is masculine.”
Step 4 — Who? Then the ending: “Salmā is a girl, so I need she → ـِيَّةٌ: مَغْرِبِيَّةٌ.”
Finish by reading the whole description twice; students read it chorally once.
Built from website language: Salmā is Moroccan from Rabat (listening script); الرِّبَاطُ is the capital of Morocco (Arab World Mission); عَاصِمَتُهُ الرِّبَاطُ (speaking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grammar examples and listening script. Read each aloud; students copy TWO that are useful for them.
• Core: copy 1 and 2.
• Develop: copy 3 and change the country (e.g. الكُرْدِيَّةُ … فِي العِرَاقِ).
• Stretch: copy 4 and write a second sentence using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language (listening script: Karīm is Iraqi from Baghdad; Nūr is Lebanese from Lebanon).
For each English sentence, students choose ONE box from each column (start from Column 1 on the right) and type the letters in chat, e.g. “1: A B A”.
↔ Rehearse 30s: whisper the full Arabic sentence before typing.
Prompt Core students: “Find the WHO first — boy or girl? — then the matching ending.” Develop/Stretch explain the wrong option in each column.
Separate the class if needed (framework): Develop/Stretch continue to the FLEX practice while you work with Core students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language (listening script: Karīm is Iraqi from Baghdad; Nūr is Lebanese from Lebanon).
For each English sentence, students choose ONE box from each column (start from Column 1 on the right) and type the letters in chat, e.g. “1: A B A”.
↔ Rehearse 30s: whisper the full Arabic sentence before typing.
Prompt Core students: “Find the WHO first — boy or girl? — then the matching ending.” Develop/Stretch explain the wrong option in each column.
Separate the class if needed (framework): Develop/Stretch continue to the FLEX practice while you work with Core students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grammar quiz questions 3, 4, 6 and 7 (FLEX, 2 min). If time is short these are homework on the website.
“Show me” alternative: students hold up A/B/C fingers to camera.
Q5–6 are the Stretch diptote rule; Q7–8 check the language facts from the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Read each Arabic country and place it in its region. This supports listening, reading and the Continent &amp; Compass challenge.
On Teams: drag the tiles into the columns live (PowerPoint edit mode) while students call out “tile → column”, or annotate on the shared screen.
Core: sort the tiles you know and say the nationality (تُونُسِيٌّ). Develop/Stretch: say a full sentence for each tile, e.g. تُونُسُ فِي شَمَالِ أَفْرِيقِيَا.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Read each Arabic country and place it in its region. This supports listening, reading and the Continent &amp; Compass challenge.
On Teams: drag the tiles into the columns live (PowerPoint edit mode) while students call out “tile → column”, or annotate on the shared screen.
Core: sort the tiles you know and say the nationality (تُونُسِيٌّ). Develop/Stretch: say a full sentence for each tile, e.g. تُونُسُ فِي شَمَالِ أَفْرِيقِيَا.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Prompt Core: “Check the WHO first — does the ending match?” Stretch: explain each fix with a grammar word (diptote, agreement, qualified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Prompt Core: “Check the WHO first — does the ending match?” Stretch: explain each fix with a grammar word (diptote, agreement, qualified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(the website audio is “coming soon”).
Before listening: students read the questions (● 30s). Core: questions 1–3 only. Develop/Stretch: all 5.
Listen 1: just listen. Listen 2: note answers. Then chat the letters.
Support: after the second listening, show the read-along slide (Arabic + English, line by line) for Core students.
SCRIPT (read aloud):
أَنَا سَلْمَى، وَأَنَا مَغْرِبِيَّةٌ مِنْ مَدِينَةِ الرِّبَاطِ. فِي بَيْتِنَا نَتَحَدَّثُ العَرَبِيَّةَ وَالأَمَازِيغِيَّةَ، لِأَنَّ الأَمَازِيغِيَّةَ لُغَةٌ رَسْمِيَّةٌ فِي المَغْرِبِ. وَصَدِيقِي كَرِيمٌ عِرَاقِيٌّ مِنْ بَغْدَادَ، وَيَقُولُ إِنَّ الكُرْدِيَّةَ تُسْتَعْمَلُ إِلَى جَانِبِ العَرَبِيَّةِ فِي بِلَادِهِ. أَمَّا زَمِيلَتُنَا نُورُ فَهِيَ لُبْنَانِيَّةٌ، وَقَدْ جَاءَتْ مِنْ لُبْنَانَ قَبْلَ سَنَتَيْنِ. نَحْنُ نَكْتُبُ جَمِيعًا بِالفُصْحَى، وَلٰكِنَّنَا نَتَحَدَّثُ بِلَهَجَاتٍ مُخْتَلِفَةٍ، وَأَحْيَانًا لَا نَفْهَمُ بَعْضَنَا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or keep it for the answers discussion. The Arabic is the website script, line by line; the English is a teacher translation.
Read it once more while Core students follow. Annotate the words that gave each answer (مَغْرِبِيَّةٌ، الأَمَازِيغِيَّةَ، الكُرْدِيَّةَ، قَبْلَ سَنَتَيْنِ، بِالفُصْحَى).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Advanced application from the website (FLEX, 3 min): “Continent and compass challenge — place countries and regions on a simple map, add north/south/east/west clues and describe where people or places are without naming them first.”
The three riddles are teacher-made with website vocabulary. Read each riddle aloud twice; students answer A/B/C in the chat.
Website routes for this challenge — Core: complete accurately · Develop: add a reason or comparison · Stretch: change time frame or viewpoint (e.g. زُرْتُ … قَبْلَ سَنَتَيْنِ).
YOUR TURN: pairs write a riddle in the chat; the class guesses. Oracy: + build (add a clue) / ? challenge (“Is that really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The English line under each card translates the riddle for Core students. Ask a Stretch student to change one riddle into the past: كُنْتُ … / زُرْتُ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(prompt 1 is a teacher-made Core prompt). No breakout rooms (saves setup time).
Sequence: ● 10s think → ↔ 45s everyone rehearses their answer aloud with mic muted (say it to yourself) → ◎ pairs on open mic: name two students (warned in advance); A asks, B answers; the rest of the class types one follow-up question in chat (+ / ?) → ↺ one student summarises the answer they heard.
Routes: Core uses prompt 1 with the Core stem (e.g. مِصْرُ فِي أَفْرِيقِيَا، وَأَهْلُهَا مِصْرِيُّونَ). Develop prompts 2–3; Stretch prompt 4.
Model (website) at the bottom — read it with a confident student first. The website model continues:
A: وَأَيُّ لُغَاتٍ تُسْتَعْمَلُ هُنَاكَ؟ (Follow-up on language)
B: تُسْتَعْمَلُ العَرَبِيَّةُ وَالأَمَازِيغِيَّةُ، وَالأَمَازِيغِيَّةُ لُغَةٌ رَسْمِيَّةٌ أَيْضًا، وَلَيْسَ الأَمْرُ نَفْسَهُ فِي كُلِّ الدُّوَلِ. (Accurate, qualified answer)
Safeguarding / sensitivity: students talk about countries in general — never press anyone to share their own nationality or family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Routes are the website’s differentiation tasks:
• Core: Match ten countries to their nationalities and write five sentences with accurate nisba agreement.
• Develop: Add a sentence about the languages used in two different countries.
• Stretch: Contrast fuṣḥā and the dialects, and qualify one claim about regional diversity. (website writing task: Write about eighty words introducing one Arab country: its name, its capital, the nationality of its people, the languages used there, and one accurate statement about the region's diversity.)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“Sentence 1 and 2 first,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The capitals القَاهِرَةُ (Cairo) and بَغْدَادُ (Baghdad) appear in the website texts and mission; الرِّبَاطُ is the capital of Morocco (website mission).
EAL Band A–B students: matching first (country → nationality from the tables), then complete 3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 one line from the website grammar rule “Past for history, present for today”); phrase bank = phrases from the website model, reading text and listening script.
Live feedback for Stretch: check that there is one accurate nisba, one diptote after a preposition (no tanwīn) and one qualified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(“Reveal an achievable model”), with an English translation for Core students.
Students find in the model (● 20s → ◎): a nisba for he and for she (مَغْرِبِيٌّ / مَغْرِبِيَّةٌ), the diptote زُرْتُ مِصْرَ, a language other than Arabic (الأَمَازِيغِيَّةُ), and the qualified statement (وَلَيْسَ صَحِيحًا أَنَّ …). Annotate as they call them out.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(the second Core line is the Topic C place focus).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Question 4 and the Arab World Mission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look at the title and link ideas;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(TC-L02 · Landscapes, Nature and Animals) will spend class time USING this language, so students prepare it tonight — short, simple, easy to access (school guidance: “Simple, Short, Interesting, Relevant, Easy to access”). The five words come from the website Natural World vocabulary bank (Landscapes and Animals).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1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People, Places, Continents and Compass Points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النَّاسُ وَالأَمَاكِنُ وَالقَارَّاتُ وَاتِّجَاهَاتُ البُوصَلَةِ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Locate, identify and compare places accurately: name the Arab countries, build nationalities with the nisba </a:t>
            </a:r>
            <a:pPr algn="l" indent="0" marL="0">
              <a:buNone/>
            </a:pPr>
            <a:r>
              <a:rPr lang="ar-SA" altLang="en-US" sz="1800" dirty="0">
                <a:solidFill>
                  <a:srgbClr val="C6D2E6"/>
                </a:solidFill>
                <a:latin typeface="Amiri" pitchFamily="34" charset="0"/>
                <a:ea typeface="Amiri" pitchFamily="34" charset="-122"/>
                <a:cs typeface="Amiri" pitchFamily="34" charset="-120"/>
              </a:rPr>
              <a:t>ـِيٌّ / ـِيَّةٌ</a:t>
            </a:r>
            <a:pPr algn="l" indent="0" marL="0">
              <a:buNone/>
            </a:pPr>
            <a:r>
              <a:rPr lang="en-US" sz="1400" dirty="0">
                <a:solidFill>
                  <a:srgbClr val="C6D2E6"/>
                </a:solidFill>
                <a:latin typeface="Calibri" pitchFamily="34" charset="0"/>
                <a:ea typeface="Calibri" pitchFamily="34" charset="-122"/>
                <a:cs typeface="Calibri" pitchFamily="34" charset="-120"/>
              </a:rPr>
              <a:t> and say where places are with compass points.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TC-L01 · Week 1,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Key words, then how to make a nationality and say where a place 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Build, fix and listen together.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“country”?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لُغَةٌ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بَلَدٌ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مِنْ بِرِيطَانْيَا.</a:t>
            </a:r>
            <a:endParaRPr lang="ar-SA" sz="15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Britain.</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live in Britain.</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British.</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feminine?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“Arabic” (the language)?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عَرَبِيٌّ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طَالِبٌ عَرَبِيٌّ.</a:t>
            </a:r>
            <a:endParaRPr lang="ar-SA" sz="15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an Arab student.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an Arabic teacher.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study Arabic.</a:t>
            </a:r>
            <a:endParaRPr lang="en-US" sz="12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“country”?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لُغَةٌ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بَلَدٌ</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جِنْسِيَّةٌ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بَلَدٌ</a:t>
            </a:r>
            <a:pPr algn="l" indent="0" marL="0">
              <a:buNone/>
            </a:pPr>
            <a:r>
              <a:rPr lang="en-US" sz="1050" i="1" dirty="0">
                <a:solidFill>
                  <a:srgbClr val="8A6D1E"/>
                </a:solidFill>
                <a:latin typeface="Calibri" pitchFamily="34" charset="0"/>
                <a:ea typeface="Calibri" pitchFamily="34" charset="-122"/>
                <a:cs typeface="Calibri" pitchFamily="34" charset="-120"/>
              </a:rPr>
              <a:t> = country · </a:t>
            </a:r>
            <a:pPr algn="l" indent="0" marL="0">
              <a:buNone/>
            </a:pPr>
            <a:r>
              <a:rPr lang="ar-SA" altLang="en-US" sz="1350" dirty="0">
                <a:solidFill>
                  <a:srgbClr val="8A6D1E"/>
                </a:solidFill>
                <a:latin typeface="Amiri" pitchFamily="34" charset="0"/>
                <a:ea typeface="Amiri" pitchFamily="34" charset="-122"/>
                <a:cs typeface="Amiri" pitchFamily="34" charset="-120"/>
              </a:rPr>
              <a:t>لُغَةٌ</a:t>
            </a:r>
            <a:pPr algn="l" indent="0" marL="0">
              <a:buNone/>
            </a:pPr>
            <a:r>
              <a:rPr lang="en-US" sz="1050" i="1" dirty="0">
                <a:solidFill>
                  <a:srgbClr val="8A6D1E"/>
                </a:solidFill>
                <a:latin typeface="Calibri" pitchFamily="34" charset="0"/>
                <a:ea typeface="Calibri" pitchFamily="34" charset="-122"/>
                <a:cs typeface="Calibri" pitchFamily="34" charset="-120"/>
              </a:rPr>
              <a:t> = language · </a:t>
            </a:r>
            <a:pPr algn="l" indent="0" marL="0">
              <a:buNone/>
            </a:pPr>
            <a:r>
              <a:rPr lang="ar-SA" altLang="en-US" sz="1350" dirty="0">
                <a:solidFill>
                  <a:srgbClr val="8A6D1E"/>
                </a:solidFill>
                <a:latin typeface="Amiri" pitchFamily="34" charset="0"/>
                <a:ea typeface="Amiri" pitchFamily="34" charset="-122"/>
                <a:cs typeface="Amiri" pitchFamily="34" charset="-120"/>
              </a:rPr>
              <a:t>جِنْسِيَّةٌ</a:t>
            </a:r>
            <a:pPr algn="l" indent="0" marL="0">
              <a:buNone/>
            </a:pPr>
            <a:r>
              <a:rPr lang="en-US" sz="1050" i="1" dirty="0">
                <a:solidFill>
                  <a:srgbClr val="8A6D1E"/>
                </a:solidFill>
                <a:latin typeface="Calibri" pitchFamily="34" charset="0"/>
                <a:ea typeface="Calibri" pitchFamily="34" charset="-122"/>
                <a:cs typeface="Calibri" pitchFamily="34" charset="-120"/>
              </a:rPr>
              <a:t> = nationality.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مِنْ بِرِيطَانْيَا.</a:t>
            </a:r>
            <a:endParaRPr lang="ar-SA" sz="15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am from Britain.</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live in Britain.</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British.</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أَنَا مِنْ</a:t>
            </a:r>
            <a:pPr algn="l" indent="0" marL="0">
              <a:buNone/>
            </a:pPr>
            <a:r>
              <a:rPr lang="en-US" sz="1050" i="1" dirty="0">
                <a:solidFill>
                  <a:srgbClr val="8A6D1E"/>
                </a:solidFill>
                <a:latin typeface="Calibri" pitchFamily="34" charset="0"/>
                <a:ea typeface="Calibri" pitchFamily="34" charset="-122"/>
                <a:cs typeface="Calibri" pitchFamily="34" charset="-120"/>
              </a:rPr>
              <a:t> … = I am from …</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feminine?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طَالِبٌ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طَالِبَةٌ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ـَةٌ</a:t>
            </a:r>
            <a:pPr algn="l" indent="0" marL="0">
              <a:buNone/>
            </a:pPr>
            <a:r>
              <a:rPr lang="en-US" sz="1050" i="1" dirty="0">
                <a:solidFill>
                  <a:srgbClr val="8A6D1E"/>
                </a:solidFill>
                <a:latin typeface="Calibri" pitchFamily="34" charset="0"/>
                <a:ea typeface="Calibri" pitchFamily="34" charset="-122"/>
                <a:cs typeface="Calibri" pitchFamily="34" charset="-120"/>
              </a:rPr>
              <a:t> (tāʾ marbūṭa) at the end usually shows a feminine word.</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“Arabic” (the language)?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عَرَبِيٌّ</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العَرَبِيَّةُ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العَرَبِيَّةُ</a:t>
            </a:r>
            <a:pPr algn="l" indent="0" marL="0">
              <a:buNone/>
            </a:pPr>
            <a:r>
              <a:rPr lang="en-US" sz="1050" i="1" dirty="0">
                <a:solidFill>
                  <a:srgbClr val="8A6D1E"/>
                </a:solidFill>
                <a:latin typeface="Calibri" pitchFamily="34" charset="0"/>
                <a:ea typeface="Calibri" pitchFamily="34" charset="-122"/>
                <a:cs typeface="Calibri" pitchFamily="34" charset="-120"/>
              </a:rPr>
              <a:t> = the Arabic language. </a:t>
            </a:r>
            <a:pPr algn="l" indent="0" marL="0">
              <a:buNone/>
            </a:pPr>
            <a:r>
              <a:rPr lang="ar-SA" altLang="en-US" sz="1350" dirty="0">
                <a:solidFill>
                  <a:srgbClr val="8A6D1E"/>
                </a:solidFill>
                <a:latin typeface="Amiri" pitchFamily="34" charset="0"/>
                <a:ea typeface="Amiri" pitchFamily="34" charset="-122"/>
                <a:cs typeface="Amiri" pitchFamily="34" charset="-120"/>
              </a:rPr>
              <a:t>عَرَبِيٌّ</a:t>
            </a:r>
            <a:pPr algn="l" indent="0" marL="0">
              <a:buNone/>
            </a:pPr>
            <a:r>
              <a:rPr lang="en-US" sz="1050" i="1" dirty="0">
                <a:solidFill>
                  <a:srgbClr val="8A6D1E"/>
                </a:solidFill>
                <a:latin typeface="Calibri" pitchFamily="34" charset="0"/>
                <a:ea typeface="Calibri" pitchFamily="34" charset="-122"/>
                <a:cs typeface="Calibri" pitchFamily="34" charset="-120"/>
              </a:rPr>
              <a:t> = an Arab man / Arab (m.).</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أَنَا طَالِبٌ عَرَبِيٌّ.</a:t>
            </a:r>
            <a:endParaRPr lang="ar-SA" sz="15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am an Arab student.</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an Arabic teacher.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study Arabic.</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describing word </a:t>
            </a:r>
            <a:pPr algn="l" indent="0" marL="0">
              <a:buNone/>
            </a:pPr>
            <a:r>
              <a:rPr lang="ar-SA" altLang="en-US" sz="1350" dirty="0">
                <a:solidFill>
                  <a:srgbClr val="8A6D1E"/>
                </a:solidFill>
                <a:latin typeface="Amiri" pitchFamily="34" charset="0"/>
                <a:ea typeface="Amiri" pitchFamily="34" charset="-122"/>
                <a:cs typeface="Amiri" pitchFamily="34" charset="-120"/>
              </a:rPr>
              <a:t>عَرَبِيٌّ</a:t>
            </a:r>
            <a:pPr algn="l" indent="0" marL="0">
              <a:buNone/>
            </a:pPr>
            <a:r>
              <a:rPr lang="en-US" sz="1050" i="1" dirty="0">
                <a:solidFill>
                  <a:srgbClr val="8A6D1E"/>
                </a:solidFill>
                <a:latin typeface="Calibri" pitchFamily="34" charset="0"/>
                <a:ea typeface="Calibri" pitchFamily="34" charset="-122"/>
                <a:cs typeface="Calibri" pitchFamily="34" charset="-120"/>
              </a:rPr>
              <a:t> comes AFTER the noun </a:t>
            </a:r>
            <a:pPr algn="l" indent="0" marL="0">
              <a:buNone/>
            </a:pPr>
            <a:r>
              <a:rPr lang="ar-SA" altLang="en-US" sz="1350" dirty="0">
                <a:solidFill>
                  <a:srgbClr val="8A6D1E"/>
                </a:solidFill>
                <a:latin typeface="Amiri" pitchFamily="34" charset="0"/>
                <a:ea typeface="Amiri" pitchFamily="34" charset="-122"/>
                <a:cs typeface="Amiri" pitchFamily="34" charset="-120"/>
              </a:rPr>
              <a:t>طَالِبٌ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Add </a:t>
            </a:r>
            <a:pPr algn="l" indent="0" marL="0">
              <a:buNone/>
            </a:pPr>
            <a:r>
              <a:rPr lang="ar-SA" altLang="en-US" sz="1700" b="1" dirty="0">
                <a:solidFill>
                  <a:srgbClr val="1F2A37"/>
                </a:solidFill>
                <a:latin typeface="Amiri" pitchFamily="34" charset="0"/>
                <a:ea typeface="Amiri" pitchFamily="34" charset="-122"/>
                <a:cs typeface="Amiri" pitchFamily="34" charset="-120"/>
              </a:rPr>
              <a:t>ـِيٌّ</a:t>
            </a:r>
            <a:pPr algn="l" indent="0" marL="0">
              <a:buNone/>
            </a:pPr>
            <a:r>
              <a:rPr lang="en-US" sz="1300" b="1" dirty="0">
                <a:solidFill>
                  <a:srgbClr val="1F2A37"/>
                </a:solidFill>
                <a:latin typeface="Calibri" pitchFamily="34" charset="0"/>
                <a:ea typeface="Calibri" pitchFamily="34" charset="-122"/>
                <a:cs typeface="Calibri" pitchFamily="34" charset="-120"/>
              </a:rPr>
              <a:t> (he) or </a:t>
            </a:r>
            <a:pPr algn="l" indent="0" marL="0">
              <a:buNone/>
            </a:pPr>
            <a:r>
              <a:rPr lang="ar-SA" altLang="en-US" sz="1700" b="1" dirty="0">
                <a:solidFill>
                  <a:srgbClr val="1F2A37"/>
                </a:solidFill>
                <a:latin typeface="Amiri" pitchFamily="34" charset="0"/>
                <a:ea typeface="Amiri" pitchFamily="34" charset="-122"/>
                <a:cs typeface="Amiri" pitchFamily="34" charset="-120"/>
              </a:rPr>
              <a:t>ـِيَّةٌ</a:t>
            </a:r>
            <a:pPr algn="l" indent="0" marL="0">
              <a:buNone/>
            </a:pPr>
            <a:r>
              <a:rPr lang="en-US" sz="1300" b="1" dirty="0">
                <a:solidFill>
                  <a:srgbClr val="1F2A37"/>
                </a:solidFill>
                <a:latin typeface="Calibri" pitchFamily="34" charset="0"/>
                <a:ea typeface="Calibri" pitchFamily="34" charset="-122"/>
                <a:cs typeface="Calibri" pitchFamily="34" charset="-120"/>
              </a:rPr>
              <a:t> (she) to a country to make a nationality.</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400" b="1" dirty="0">
                <a:solidFill>
                  <a:srgbClr val="D6336C"/>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400" b="1" dirty="0">
                <a:solidFill>
                  <a:srgbClr val="D6336C"/>
                </a:solidFill>
                <a:latin typeface="Amiri" pitchFamily="34" charset="0"/>
                <a:ea typeface="Amiri" pitchFamily="34" charset="-122"/>
                <a:cs typeface="Amiri" pitchFamily="34" charset="-120"/>
              </a:rPr>
              <a:t>يَّةٌ</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the twenty-two Arab League countries and their nationalities.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Form a nationality adjective with the nisba ending </a:t>
            </a:r>
            <a:pPr algn="l" indent="0" marL="0">
              <a:buNone/>
            </a:pPr>
            <a:r>
              <a:rPr lang="ar-SA" altLang="en-US" sz="1700" dirty="0">
                <a:solidFill>
                  <a:srgbClr val="1F2A37"/>
                </a:solidFill>
                <a:latin typeface="Amiri" pitchFamily="34" charset="0"/>
                <a:ea typeface="Amiri" pitchFamily="34" charset="-122"/>
                <a:cs typeface="Amiri" pitchFamily="34" charset="-120"/>
              </a:rPr>
              <a:t>ـِيٌّ / ـِيَّةٌ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that several country names are diptotes and take no tanwīn.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language use across the region without treating it as uniform.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where a country is with </a:t>
            </a:r>
            <a:pPr algn="l" indent="0" marL="0">
              <a:buNone/>
            </a:pPr>
            <a:r>
              <a:rPr lang="ar-SA" altLang="en-US" sz="1700" b="1" dirty="0">
                <a:solidFill>
                  <a:srgbClr val="2E8B57"/>
                </a:solidFill>
                <a:latin typeface="Amiri" pitchFamily="34" charset="0"/>
                <a:ea typeface="Amiri" pitchFamily="34" charset="-122"/>
                <a:cs typeface="Amiri" pitchFamily="34" charset="-120"/>
              </a:rPr>
              <a:t>فِي</a:t>
            </a:r>
            <a:pPr algn="l" indent="0" marL="0">
              <a:buNone/>
            </a:pPr>
            <a:r>
              <a:rPr lang="en-US" sz="1300" b="1" dirty="0">
                <a:solidFill>
                  <a:srgbClr val="2E8B57"/>
                </a:solidFill>
                <a:latin typeface="Calibri" pitchFamily="34" charset="0"/>
                <a:ea typeface="Calibri" pitchFamily="34" charset="-122"/>
                <a:cs typeface="Calibri" pitchFamily="34" charset="-120"/>
              </a:rPr>
              <a:t> and north / south / east / west.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make the nationality for he (</a:t>
            </a:r>
            <a:pPr algn="l" indent="0" marL="0">
              <a:buNone/>
            </a:pPr>
            <a:r>
              <a:rPr lang="ar-SA" altLang="en-US" sz="1700" b="1" dirty="0">
                <a:solidFill>
                  <a:srgbClr val="2E8B57"/>
                </a:solidFill>
                <a:latin typeface="Amiri" pitchFamily="34" charset="0"/>
                <a:ea typeface="Amiri" pitchFamily="34" charset="-122"/>
                <a:cs typeface="Amiri" pitchFamily="34" charset="-120"/>
              </a:rPr>
              <a:t>ـِيٌّ</a:t>
            </a:r>
            <a:pPr algn="l" indent="0" marL="0">
              <a:buNone/>
            </a:pPr>
            <a:r>
              <a:rPr lang="en-US" sz="1300" b="1" dirty="0">
                <a:solidFill>
                  <a:srgbClr val="2E8B57"/>
                </a:solidFill>
                <a:latin typeface="Calibri" pitchFamily="34" charset="0"/>
                <a:ea typeface="Calibri" pitchFamily="34" charset="-122"/>
                <a:cs typeface="Calibri" pitchFamily="34" charset="-120"/>
              </a:rPr>
              <a:t>) and she (</a:t>
            </a:r>
            <a:pPr algn="l" indent="0" marL="0">
              <a:buNone/>
            </a:pPr>
            <a:r>
              <a:rPr lang="ar-SA" altLang="en-US" sz="1700" b="1" dirty="0">
                <a:solidFill>
                  <a:srgbClr val="2E8B57"/>
                </a:solidFill>
                <a:latin typeface="Amiri" pitchFamily="34" charset="0"/>
                <a:ea typeface="Amiri" pitchFamily="34" charset="-122"/>
                <a:cs typeface="Amiri" pitchFamily="34" charset="-120"/>
              </a:rPr>
              <a:t>ـِيَّةٌ</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match nationalities to 10 countries and to the noun (m. / f.).</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which languages are used in a country.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t>
            </a:r>
            <a:pPr algn="l" indent="0" marL="0">
              <a:buNone/>
            </a:pPr>
            <a:r>
              <a:rPr lang="ar-SA" altLang="en-US" sz="1700" b="1" dirty="0">
                <a:solidFill>
                  <a:srgbClr val="B83227"/>
                </a:solidFill>
                <a:latin typeface="Amiri" pitchFamily="34" charset="0"/>
                <a:ea typeface="Amiri" pitchFamily="34" charset="-122"/>
                <a:cs typeface="Amiri" pitchFamily="34" charset="-120"/>
              </a:rPr>
              <a:t>مِنْ لُبْنَانَ</a:t>
            </a:r>
            <a:pPr algn="l" indent="0" marL="0">
              <a:buNone/>
            </a:pPr>
            <a:r>
              <a:rPr lang="en-US" sz="1300" b="1" dirty="0">
                <a:solidFill>
                  <a:srgbClr val="B83227"/>
                </a:solidFill>
                <a:latin typeface="Calibri" pitchFamily="34" charset="0"/>
                <a:ea typeface="Calibri" pitchFamily="34" charset="-122"/>
                <a:cs typeface="Calibri" pitchFamily="34" charset="-120"/>
              </a:rPr>
              <a:t>, </a:t>
            </a:r>
            <a:pPr algn="l" indent="0" marL="0">
              <a:buNone/>
            </a:pPr>
            <a:r>
              <a:rPr lang="ar-SA" altLang="en-US" sz="1700" b="1" dirty="0">
                <a:solidFill>
                  <a:srgbClr val="B83227"/>
                </a:solidFill>
                <a:latin typeface="Amiri" pitchFamily="34" charset="0"/>
                <a:ea typeface="Amiri" pitchFamily="34" charset="-122"/>
                <a:cs typeface="Amiri" pitchFamily="34" charset="-120"/>
              </a:rPr>
              <a:t>زُرْتُ مِصْرَ</a:t>
            </a:r>
            <a:pPr algn="l" indent="0" marL="0">
              <a:buNone/>
            </a:pPr>
            <a:r>
              <a:rPr lang="en-US" sz="1300" b="1" dirty="0">
                <a:solidFill>
                  <a:srgbClr val="B83227"/>
                </a:solidFill>
                <a:latin typeface="Calibri" pitchFamily="34" charset="0"/>
                <a:ea typeface="Calibri" pitchFamily="34" charset="-122"/>
                <a:cs typeface="Calibri" pitchFamily="34" charset="-120"/>
              </a:rPr>
              <a:t> — no tanwīn on a diptote.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about 80 words about one Arab country.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47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Compass points &amp; continents · 13</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Arab countries &amp; nationalities · 22</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Language &amp; identity · 6</a:t>
            </a:r>
            <a:endParaRPr lang="en-US" sz="900" dirty="0"/>
          </a:p>
        </p:txBody>
      </p:sp>
      <p:sp>
        <p:nvSpPr>
          <p:cNvPr id="14" name="Shape 12"/>
          <p:cNvSpPr/>
          <p:nvPr/>
        </p:nvSpPr>
        <p:spPr>
          <a:xfrm>
            <a:off x="6457950" y="4572000"/>
            <a:ext cx="1863090" cy="960120"/>
          </a:xfrm>
          <a:prstGeom prst="roundRect">
            <a:avLst>
              <a:gd name="adj" fmla="val 7619"/>
            </a:avLst>
          </a:prstGeom>
          <a:solidFill>
            <a:srgbClr val="0D1F3C"/>
          </a:solidFill>
          <a:ln w="12700">
            <a:solidFill>
              <a:srgbClr val="7E92B4"/>
            </a:solidFill>
            <a:prstDash val="dash"/>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 · FLEX</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Extra detail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شَمَالٌ</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‎شمال‎ </a:t>
            </a:r>
            <a:pPr indent="0" marL="0">
              <a:buNone/>
            </a:pPr>
            <a:r>
              <a:rPr lang="en-US" sz="950" b="1" dirty="0">
                <a:solidFill>
                  <a:srgbClr val="2E8B57"/>
                </a:solidFill>
                <a:latin typeface="Calibri" pitchFamily="34" charset="0"/>
                <a:ea typeface="Calibri" pitchFamily="34" charset="-122"/>
                <a:cs typeface="Calibri" pitchFamily="34" charset="-120"/>
              </a:rPr>
              <a:t> shimāl · north</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جَنُوبٌ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‎جنوب‎ </a:t>
            </a:r>
            <a:pPr indent="0" marL="0">
              <a:buNone/>
            </a:pPr>
            <a:r>
              <a:rPr lang="en-US" sz="950" b="1" dirty="0">
                <a:solidFill>
                  <a:srgbClr val="2E8B57"/>
                </a:solidFill>
                <a:latin typeface="Calibri" pitchFamily="34" charset="0"/>
                <a:ea typeface="Calibri" pitchFamily="34" charset="-122"/>
                <a:cs typeface="Calibri" pitchFamily="34" charset="-120"/>
              </a:rPr>
              <a:t> junūb · south</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شَرْقٌ</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‎مشرق‎ </a:t>
            </a:r>
            <a:pPr indent="0" marL="0">
              <a:buNone/>
            </a:pPr>
            <a:r>
              <a:rPr lang="en-US" sz="950" b="1" dirty="0">
                <a:solidFill>
                  <a:srgbClr val="2E8B57"/>
                </a:solidFill>
                <a:latin typeface="Calibri" pitchFamily="34" charset="0"/>
                <a:ea typeface="Calibri" pitchFamily="34" charset="-122"/>
                <a:cs typeface="Calibri" pitchFamily="34" charset="-120"/>
              </a:rPr>
              <a:t> mashriq · east</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غَرْبٌ</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‎مغرب‎ </a:t>
            </a:r>
            <a:pPr indent="0" marL="0">
              <a:buNone/>
            </a:pPr>
            <a:r>
              <a:rPr lang="en-US" sz="950" b="1" dirty="0">
                <a:solidFill>
                  <a:srgbClr val="2E8B57"/>
                </a:solidFill>
                <a:latin typeface="Calibri" pitchFamily="34" charset="0"/>
                <a:ea typeface="Calibri" pitchFamily="34" charset="-122"/>
                <a:cs typeface="Calibri" pitchFamily="34" charset="-120"/>
              </a:rPr>
              <a:t> maghrib · west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لَهْجَةٌ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‎لہجہ‎ </a:t>
            </a:r>
            <a:pPr indent="0" marL="0">
              <a:buNone/>
            </a:pPr>
            <a:r>
              <a:rPr lang="en-US" sz="950" b="1" dirty="0">
                <a:solidFill>
                  <a:srgbClr val="2E8B57"/>
                </a:solidFill>
                <a:latin typeface="Calibri" pitchFamily="34" charset="0"/>
                <a:ea typeface="Calibri" pitchFamily="34" charset="-122"/>
                <a:cs typeface="Calibri" pitchFamily="34" charset="-120"/>
              </a:rPr>
              <a:t> lahja · accent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Compass points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اتِّجَاهَاتُ البُوصَلَةِ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شَمَالٌ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north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sha-māl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شَمَالِ</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شَمَالِ</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جَنُوبٌ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south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ja-nūb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جَنُوبِ</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جَنُوبِ</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شَرْقٌ</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east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sharq</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شَرْقِ</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شَرْقِ</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direction</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غَرْبٌ</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gharb</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غَرْبِ</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34" charset="0"/>
                <a:ea typeface="Amiri" pitchFamily="34" charset="-122"/>
                <a:cs typeface="Amiri" pitchFamily="34" charset="-120"/>
              </a:rPr>
              <a:t>غَرْبِ</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قَارَّةٌ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continent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qār-ra · pl. qār-rāt</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قَارَّةٌ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قَارَّاتٌ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اتِّجَاهٌ</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direction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it-ti-jāh · pl. it-ti-jā-hāt</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اتِّجَاهٌ</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اتِّجَاهَاتٌ</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Continents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Continent</a:t>
            </a:r>
            <a:endParaRPr lang="en-US" sz="1100" dirty="0"/>
          </a:p>
        </p:txBody>
      </p:sp>
      <p:sp>
        <p:nvSpPr>
          <p:cNvPr id="17" name="Text 14"/>
          <p:cNvSpPr txBox="1"/>
          <p:nvPr/>
        </p:nvSpPr>
        <p:spPr>
          <a:xfrm>
            <a:off x="56784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5001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 League countries here</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8074152" y="2286000"/>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آسِيَا</a:t>
            </a:r>
            <a:endParaRPr lang="ar-SA" sz="1500" dirty="0"/>
          </a:p>
        </p:txBody>
      </p:sp>
      <p:sp>
        <p:nvSpPr>
          <p:cNvPr id="21" name="Text 18"/>
          <p:cNvSpPr txBox="1"/>
          <p:nvPr/>
        </p:nvSpPr>
        <p:spPr>
          <a:xfrm>
            <a:off x="8028432" y="2585923"/>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ā-si-yā</a:t>
            </a:r>
            <a:endParaRPr lang="en-US" sz="950" dirty="0"/>
          </a:p>
        </p:txBody>
      </p:sp>
      <p:sp>
        <p:nvSpPr>
          <p:cNvPr id="22" name="Text 19"/>
          <p:cNvSpPr txBox="1"/>
          <p:nvPr/>
        </p:nvSpPr>
        <p:spPr>
          <a:xfrm>
            <a:off x="5715000" y="226771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Asia</a:t>
            </a:r>
            <a:endParaRPr lang="en-US" sz="1100" dirty="0"/>
          </a:p>
        </p:txBody>
      </p:sp>
      <p:sp>
        <p:nvSpPr>
          <p:cNvPr id="23" name="Text 20"/>
          <p:cNvSpPr txBox="1"/>
          <p:nvPr/>
        </p:nvSpPr>
        <p:spPr>
          <a:xfrm>
            <a:off x="566928" y="2267712"/>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12 — e.g. </a:t>
            </a:r>
            <a:pPr algn="l" indent="0" marL="0">
              <a:buNone/>
            </a:pPr>
            <a:r>
              <a:rPr lang="ar-SA" altLang="en-US" sz="1450" dirty="0">
                <a:solidFill>
                  <a:srgbClr val="5A6472"/>
                </a:solidFill>
                <a:latin typeface="Amiri" pitchFamily="34" charset="0"/>
                <a:ea typeface="Amiri" pitchFamily="34" charset="-122"/>
                <a:cs typeface="Amiri" pitchFamily="34" charset="-120"/>
              </a:rPr>
              <a:t>العِرَاقُ، الأُرْدُنُّ، السُّعُودِيَّةُ</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7" name="Text 24"/>
          <p:cNvSpPr txBox="1"/>
          <p:nvPr/>
        </p:nvSpPr>
        <p:spPr>
          <a:xfrm>
            <a:off x="8074152" y="2871216"/>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أَفْرِيقِيَا</a:t>
            </a:r>
            <a:endParaRPr lang="ar-SA" sz="1500" dirty="0"/>
          </a:p>
        </p:txBody>
      </p:sp>
      <p:sp>
        <p:nvSpPr>
          <p:cNvPr id="28" name="Text 25"/>
          <p:cNvSpPr txBox="1"/>
          <p:nvPr/>
        </p:nvSpPr>
        <p:spPr>
          <a:xfrm>
            <a:off x="8028432" y="3171139"/>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af-rī-qi-yā</a:t>
            </a:r>
            <a:endParaRPr lang="en-US" sz="950" dirty="0"/>
          </a:p>
        </p:txBody>
      </p:sp>
      <p:sp>
        <p:nvSpPr>
          <p:cNvPr id="29" name="Text 26"/>
          <p:cNvSpPr txBox="1"/>
          <p:nvPr/>
        </p:nvSpPr>
        <p:spPr>
          <a:xfrm>
            <a:off x="5715000" y="285292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Africa</a:t>
            </a:r>
            <a:endParaRPr lang="en-US" sz="1100" dirty="0"/>
          </a:p>
        </p:txBody>
      </p:sp>
      <p:sp>
        <p:nvSpPr>
          <p:cNvPr id="30" name="Text 27"/>
          <p:cNvSpPr txBox="1"/>
          <p:nvPr/>
        </p:nvSpPr>
        <p:spPr>
          <a:xfrm>
            <a:off x="566928" y="2852928"/>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10 — e.g. </a:t>
            </a:r>
            <a:pPr algn="l" indent="0" marL="0">
              <a:buNone/>
            </a:pPr>
            <a:r>
              <a:rPr lang="ar-SA" altLang="en-US" sz="1450" dirty="0">
                <a:solidFill>
                  <a:srgbClr val="5A6472"/>
                </a:solidFill>
                <a:latin typeface="Amiri" pitchFamily="34" charset="0"/>
                <a:ea typeface="Amiri" pitchFamily="34" charset="-122"/>
                <a:cs typeface="Amiri" pitchFamily="34" charset="-120"/>
              </a:rPr>
              <a:t>مِصْرُ، المَغْرِبُ، تُونُسُ</a:t>
            </a:r>
            <a:endParaRPr lang="en-US" sz="1100" dirty="0"/>
          </a:p>
        </p:txBody>
      </p:sp>
      <p:sp>
        <p:nvSpPr>
          <p:cNvPr id="31" name="Shape 28"/>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4" name="Text 31"/>
          <p:cNvSpPr txBox="1"/>
          <p:nvPr/>
        </p:nvSpPr>
        <p:spPr>
          <a:xfrm>
            <a:off x="8074152" y="3456432"/>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أُورُوبَّا</a:t>
            </a:r>
            <a:endParaRPr lang="ar-SA" sz="1500" dirty="0"/>
          </a:p>
        </p:txBody>
      </p:sp>
      <p:sp>
        <p:nvSpPr>
          <p:cNvPr id="35" name="Text 32"/>
          <p:cNvSpPr txBox="1"/>
          <p:nvPr/>
        </p:nvSpPr>
        <p:spPr>
          <a:xfrm>
            <a:off x="8028432" y="3756355"/>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ū-rūb-bā</a:t>
            </a:r>
            <a:endParaRPr lang="en-US" sz="950" dirty="0"/>
          </a:p>
        </p:txBody>
      </p:sp>
      <p:sp>
        <p:nvSpPr>
          <p:cNvPr id="36" name="Text 33"/>
          <p:cNvSpPr txBox="1"/>
          <p:nvPr/>
        </p:nvSpPr>
        <p:spPr>
          <a:xfrm>
            <a:off x="5715000" y="3438144"/>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Europe</a:t>
            </a:r>
            <a:endParaRPr lang="en-US" sz="1100" dirty="0"/>
          </a:p>
        </p:txBody>
      </p:sp>
      <p:sp>
        <p:nvSpPr>
          <p:cNvPr id="37" name="Text 34"/>
          <p:cNvSpPr txBox="1"/>
          <p:nvPr/>
        </p:nvSpPr>
        <p:spPr>
          <a:xfrm>
            <a:off x="566928" y="3438144"/>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a:t>
            </a:r>
            <a:endParaRPr lang="en-US" sz="1100" dirty="0"/>
          </a:p>
        </p:txBody>
      </p:sp>
      <p:sp>
        <p:nvSpPr>
          <p:cNvPr id="38" name="Shape 35"/>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1" name="Text 38"/>
          <p:cNvSpPr txBox="1"/>
          <p:nvPr/>
        </p:nvSpPr>
        <p:spPr>
          <a:xfrm>
            <a:off x="8074152" y="4041648"/>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أَمْرِيكَا </a:t>
            </a:r>
            <a:pPr rtl="1" algn="ctr" indent="0" marL="0">
              <a:buNone/>
            </a:pPr>
            <a:r>
              <a:rPr lang="ar-SA" altLang="en-US" sz="1500" b="1" dirty="0">
                <a:solidFill>
                  <a:srgbClr val="7B3FA0"/>
                </a:solidFill>
                <a:latin typeface="Amiri" pitchFamily="34" charset="0"/>
                <a:ea typeface="Amiri" pitchFamily="34" charset="-122"/>
                <a:cs typeface="Amiri" pitchFamily="34" charset="-120"/>
              </a:rPr>
              <a:t>الشَّمَالِ</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2" name="Text 39"/>
          <p:cNvSpPr txBox="1"/>
          <p:nvPr/>
        </p:nvSpPr>
        <p:spPr>
          <a:xfrm>
            <a:off x="8028432" y="4341571"/>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am-rī-kā sh-sha-mā-liy-ya</a:t>
            </a:r>
            <a:endParaRPr lang="en-US" sz="950" dirty="0"/>
          </a:p>
        </p:txBody>
      </p:sp>
      <p:sp>
        <p:nvSpPr>
          <p:cNvPr id="43" name="Text 40"/>
          <p:cNvSpPr txBox="1"/>
          <p:nvPr/>
        </p:nvSpPr>
        <p:spPr>
          <a:xfrm>
            <a:off x="5715000" y="4023360"/>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North America</a:t>
            </a:r>
            <a:endParaRPr lang="en-US" sz="1100" dirty="0"/>
          </a:p>
        </p:txBody>
      </p:sp>
      <p:sp>
        <p:nvSpPr>
          <p:cNvPr id="44" name="Text 41"/>
          <p:cNvSpPr txBox="1"/>
          <p:nvPr/>
        </p:nvSpPr>
        <p:spPr>
          <a:xfrm>
            <a:off x="566928" y="4023360"/>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 — notice the nisba: </a:t>
            </a:r>
            <a:pPr algn="l" indent="0" marL="0">
              <a:buNone/>
            </a:pPr>
            <a:r>
              <a:rPr lang="ar-SA" altLang="en-US" sz="1450" dirty="0">
                <a:solidFill>
                  <a:srgbClr val="5A6472"/>
                </a:solidFill>
                <a:latin typeface="Amiri" pitchFamily="34" charset="0"/>
                <a:ea typeface="Amiri" pitchFamily="34" charset="-122"/>
                <a:cs typeface="Amiri" pitchFamily="34" charset="-120"/>
              </a:rPr>
              <a:t>الشَّمَالِيَّةُ</a:t>
            </a:r>
            <a:pPr algn="l" indent="0" marL="0">
              <a:buNone/>
            </a:pPr>
            <a:r>
              <a:rPr lang="en-US" sz="1100" i="1" dirty="0">
                <a:solidFill>
                  <a:srgbClr val="5A6472"/>
                </a:solidFill>
                <a:latin typeface="Calibri" pitchFamily="34" charset="0"/>
                <a:ea typeface="Calibri" pitchFamily="34" charset="-122"/>
                <a:cs typeface="Calibri" pitchFamily="34" charset="-120"/>
              </a:rPr>
              <a:t> (f.)</a:t>
            </a:r>
            <a:endParaRPr lang="en-US" sz="1100" dirty="0"/>
          </a:p>
        </p:txBody>
      </p:sp>
      <p:sp>
        <p:nvSpPr>
          <p:cNvPr id="45" name="Shape 42"/>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6" name="Text 43"/>
          <p:cNvSpPr txBox="1"/>
          <p:nvPr/>
        </p:nvSpPr>
        <p:spPr>
          <a:xfrm>
            <a:off x="8074152" y="4626864"/>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أَمْرِيكَا </a:t>
            </a:r>
            <a:pPr rtl="1" algn="ctr" indent="0" marL="0">
              <a:buNone/>
            </a:pPr>
            <a:r>
              <a:rPr lang="ar-SA" altLang="en-US" sz="1500" b="1" dirty="0">
                <a:solidFill>
                  <a:srgbClr val="7B3FA0"/>
                </a:solidFill>
                <a:latin typeface="Amiri" pitchFamily="34" charset="0"/>
                <a:ea typeface="Amiri" pitchFamily="34" charset="-122"/>
                <a:cs typeface="Amiri" pitchFamily="34" charset="-120"/>
              </a:rPr>
              <a:t>الجَنُوبِ</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7" name="Text 44"/>
          <p:cNvSpPr txBox="1"/>
          <p:nvPr/>
        </p:nvSpPr>
        <p:spPr>
          <a:xfrm>
            <a:off x="8028432" y="4926787"/>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am-rī-kā l-ja-nū-biy-ya</a:t>
            </a:r>
            <a:endParaRPr lang="en-US" sz="950" dirty="0"/>
          </a:p>
        </p:txBody>
      </p:sp>
      <p:sp>
        <p:nvSpPr>
          <p:cNvPr id="48" name="Text 45"/>
          <p:cNvSpPr txBox="1"/>
          <p:nvPr/>
        </p:nvSpPr>
        <p:spPr>
          <a:xfrm>
            <a:off x="5715000" y="4608576"/>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South America</a:t>
            </a:r>
            <a:endParaRPr lang="en-US" sz="1100" dirty="0"/>
          </a:p>
        </p:txBody>
      </p:sp>
      <p:sp>
        <p:nvSpPr>
          <p:cNvPr id="49" name="Text 46"/>
          <p:cNvSpPr txBox="1"/>
          <p:nvPr/>
        </p:nvSpPr>
        <p:spPr>
          <a:xfrm>
            <a:off x="566928" y="4608576"/>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 — </a:t>
            </a:r>
            <a:pPr algn="l" indent="0" marL="0">
              <a:buNone/>
            </a:pPr>
            <a:r>
              <a:rPr lang="ar-SA" altLang="en-US" sz="1450" dirty="0">
                <a:solidFill>
                  <a:srgbClr val="5A6472"/>
                </a:solidFill>
                <a:latin typeface="Amiri" pitchFamily="34" charset="0"/>
                <a:ea typeface="Amiri" pitchFamily="34" charset="-122"/>
                <a:cs typeface="Amiri" pitchFamily="34" charset="-120"/>
              </a:rPr>
              <a:t>الجَنُوبِيَّةُ</a:t>
            </a:r>
            <a:pPr algn="l" indent="0" marL="0">
              <a:buNone/>
            </a:pPr>
            <a:r>
              <a:rPr lang="en-US" sz="1100" i="1" dirty="0">
                <a:solidFill>
                  <a:srgbClr val="5A6472"/>
                </a:solidFill>
                <a:latin typeface="Calibri" pitchFamily="34" charset="0"/>
                <a:ea typeface="Calibri" pitchFamily="34" charset="-122"/>
                <a:cs typeface="Calibri" pitchFamily="34" charset="-120"/>
              </a:rPr>
              <a:t> agrees with a feminine continent</a:t>
            </a:r>
            <a:endParaRPr lang="en-US" sz="1100" dirty="0"/>
          </a:p>
        </p:txBody>
      </p:sp>
      <p:sp>
        <p:nvSpPr>
          <p:cNvPr id="50" name="Shape 47"/>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1" name="Text 48"/>
          <p:cNvSpPr txBox="1"/>
          <p:nvPr/>
        </p:nvSpPr>
        <p:spPr>
          <a:xfrm>
            <a:off x="8074152" y="5212080"/>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أُسْتُرَالِيَا</a:t>
            </a:r>
            <a:endParaRPr lang="ar-SA" sz="1500" dirty="0"/>
          </a:p>
        </p:txBody>
      </p:sp>
      <p:sp>
        <p:nvSpPr>
          <p:cNvPr id="52" name="Text 49"/>
          <p:cNvSpPr txBox="1"/>
          <p:nvPr/>
        </p:nvSpPr>
        <p:spPr>
          <a:xfrm>
            <a:off x="8028432" y="5512003"/>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us-tu-rā-li-yā</a:t>
            </a:r>
            <a:endParaRPr lang="en-US" sz="950" dirty="0"/>
          </a:p>
        </p:txBody>
      </p:sp>
      <p:sp>
        <p:nvSpPr>
          <p:cNvPr id="53" name="Text 50"/>
          <p:cNvSpPr txBox="1"/>
          <p:nvPr/>
        </p:nvSpPr>
        <p:spPr>
          <a:xfrm>
            <a:off x="5715000" y="519379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Australia (continent)</a:t>
            </a:r>
            <a:endParaRPr lang="en-US" sz="1100" dirty="0"/>
          </a:p>
        </p:txBody>
      </p:sp>
      <p:sp>
        <p:nvSpPr>
          <p:cNvPr id="54" name="Text 51"/>
          <p:cNvSpPr txBox="1"/>
          <p:nvPr/>
        </p:nvSpPr>
        <p:spPr>
          <a:xfrm>
            <a:off x="566928" y="5193792"/>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a:t>
            </a:r>
            <a:endParaRPr lang="en-US" sz="1100" dirty="0"/>
          </a:p>
        </p:txBody>
      </p:sp>
      <p:sp>
        <p:nvSpPr>
          <p:cNvPr id="55" name="Shape 5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6" name="Text 53"/>
          <p:cNvSpPr txBox="1"/>
          <p:nvPr/>
        </p:nvSpPr>
        <p:spPr>
          <a:xfrm>
            <a:off x="8074152" y="5797296"/>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القَارَّةُ القُطْبِيَّةُ الجَنُوبِيَّةُ</a:t>
            </a:r>
            <a:endParaRPr lang="ar-SA" sz="1500" dirty="0"/>
          </a:p>
        </p:txBody>
      </p:sp>
      <p:sp>
        <p:nvSpPr>
          <p:cNvPr id="57" name="Text 54"/>
          <p:cNvSpPr txBox="1"/>
          <p:nvPr/>
        </p:nvSpPr>
        <p:spPr>
          <a:xfrm>
            <a:off x="8028432" y="6097219"/>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al-qār-ra l-quṭ-biy-ya l-ja-nū-biy-ya</a:t>
            </a:r>
            <a:endParaRPr lang="en-US" sz="950" dirty="0"/>
          </a:p>
        </p:txBody>
      </p:sp>
      <p:sp>
        <p:nvSpPr>
          <p:cNvPr id="58" name="Text 55"/>
          <p:cNvSpPr txBox="1"/>
          <p:nvPr/>
        </p:nvSpPr>
        <p:spPr>
          <a:xfrm>
            <a:off x="5715000" y="577900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Antarctica</a:t>
            </a:r>
            <a:endParaRPr lang="en-US" sz="1100" dirty="0"/>
          </a:p>
        </p:txBody>
      </p:sp>
      <p:sp>
        <p:nvSpPr>
          <p:cNvPr id="59" name="Text 56"/>
          <p:cNvSpPr txBox="1"/>
          <p:nvPr/>
        </p:nvSpPr>
        <p:spPr>
          <a:xfrm>
            <a:off x="566928" y="5779008"/>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none</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START HERE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Arab countries (1 of 3): the core seven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الدُّوَلُ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 (website)</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8851392" y="228600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المَغْرِبُ</a:t>
            </a:r>
            <a:endParaRPr lang="ar-SA" sz="1500" dirty="0"/>
          </a:p>
        </p:txBody>
      </p:sp>
      <p:sp>
        <p:nvSpPr>
          <p:cNvPr id="23" name="Text 20"/>
          <p:cNvSpPr txBox="1"/>
          <p:nvPr/>
        </p:nvSpPr>
        <p:spPr>
          <a:xfrm>
            <a:off x="8805672" y="258592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al-Maghrib · Morocco</a:t>
            </a:r>
            <a:endParaRPr lang="en-US" sz="950" dirty="0"/>
          </a:p>
        </p:txBody>
      </p:sp>
      <p:sp>
        <p:nvSpPr>
          <p:cNvPr id="24" name="Text 21"/>
          <p:cNvSpPr txBox="1"/>
          <p:nvPr/>
        </p:nvSpPr>
        <p:spPr>
          <a:xfrm>
            <a:off x="683971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25" name="Text 22"/>
          <p:cNvSpPr txBox="1"/>
          <p:nvPr/>
        </p:nvSpPr>
        <p:spPr>
          <a:xfrm>
            <a:off x="482803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26" name="Text 23"/>
          <p:cNvSpPr txBox="1"/>
          <p:nvPr/>
        </p:nvSpPr>
        <p:spPr>
          <a:xfrm>
            <a:off x="281635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27" name="Text 24"/>
          <p:cNvSpPr txBox="1"/>
          <p:nvPr/>
        </p:nvSpPr>
        <p:spPr>
          <a:xfrm>
            <a:off x="566928" y="226771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Also: </a:t>
            </a:r>
            <a:pPr algn="l" indent="0" marL="0">
              <a:buNone/>
            </a:pPr>
            <a:r>
              <a:rPr lang="ar-SA" altLang="en-US" sz="1450" dirty="0">
                <a:solidFill>
                  <a:srgbClr val="5A6472"/>
                </a:solidFill>
                <a:latin typeface="Amiri" pitchFamily="34" charset="0"/>
                <a:ea typeface="Amiri" pitchFamily="34" charset="-122"/>
                <a:cs typeface="Amiri" pitchFamily="34" charset="-120"/>
              </a:rPr>
              <a:t>مَغَارِبَةٌ</a:t>
            </a:r>
            <a:pPr algn="l" indent="0" marL="0">
              <a:buNone/>
            </a:pPr>
            <a:r>
              <a:rPr lang="en-US" sz="1100" i="1" dirty="0">
                <a:solidFill>
                  <a:srgbClr val="5A6472"/>
                </a:solidFill>
                <a:latin typeface="Calibri" pitchFamily="34" charset="0"/>
                <a:ea typeface="Calibri" pitchFamily="34" charset="-122"/>
                <a:cs typeface="Calibri" pitchFamily="34" charset="-120"/>
              </a:rPr>
              <a:t> (people, pl.)</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31" name="Text 28"/>
          <p:cNvSpPr txBox="1"/>
          <p:nvPr/>
        </p:nvSpPr>
        <p:spPr>
          <a:xfrm>
            <a:off x="8851392" y="287121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مِصْرُ</a:t>
            </a:r>
            <a:endParaRPr lang="ar-SA" sz="1500" dirty="0"/>
          </a:p>
        </p:txBody>
      </p:sp>
      <p:sp>
        <p:nvSpPr>
          <p:cNvPr id="32" name="Text 29"/>
          <p:cNvSpPr txBox="1"/>
          <p:nvPr/>
        </p:nvSpPr>
        <p:spPr>
          <a:xfrm>
            <a:off x="8805672" y="317113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Miṣr · Egypt</a:t>
            </a:r>
            <a:endParaRPr lang="en-US" sz="950" dirty="0"/>
          </a:p>
        </p:txBody>
      </p:sp>
      <p:sp>
        <p:nvSpPr>
          <p:cNvPr id="33" name="Text 30"/>
          <p:cNvSpPr txBox="1"/>
          <p:nvPr/>
        </p:nvSpPr>
        <p:spPr>
          <a:xfrm>
            <a:off x="683971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4" name="Text 31"/>
          <p:cNvSpPr txBox="1"/>
          <p:nvPr/>
        </p:nvSpPr>
        <p:spPr>
          <a:xfrm>
            <a:off x="482803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35" name="Text 32"/>
          <p:cNvSpPr txBox="1"/>
          <p:nvPr/>
        </p:nvSpPr>
        <p:spPr>
          <a:xfrm>
            <a:off x="281635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مِصْرِ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36" name="Text 33"/>
          <p:cNvSpPr txBox="1"/>
          <p:nvPr/>
        </p:nvSpPr>
        <p:spPr>
          <a:xfrm>
            <a:off x="566928" y="285292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 </a:t>
            </a:r>
            <a:pPr algn="l" indent="0" marL="0">
              <a:buNone/>
            </a:pPr>
            <a:r>
              <a:rPr lang="ar-SA" altLang="en-US" sz="1450" dirty="0">
                <a:solidFill>
                  <a:srgbClr val="5A6472"/>
                </a:solidFill>
                <a:latin typeface="Amiri" pitchFamily="34" charset="0"/>
                <a:ea typeface="Amiri" pitchFamily="34" charset="-122"/>
                <a:cs typeface="Amiri" pitchFamily="34" charset="-120"/>
              </a:rPr>
              <a:t>مِصْرُ، مِصْرَ</a:t>
            </a:r>
            <a:pPr algn="l" indent="0" marL="0">
              <a:buNone/>
            </a:pPr>
            <a:r>
              <a:rPr lang="en-US" sz="1100" i="1" dirty="0">
                <a:solidFill>
                  <a:srgbClr val="5A6472"/>
                </a:solidFill>
                <a:latin typeface="Calibri" pitchFamily="34" charset="0"/>
                <a:ea typeface="Calibri" pitchFamily="34" charset="-122"/>
                <a:cs typeface="Calibri" pitchFamily="34" charset="-120"/>
              </a:rPr>
              <a:t> — never </a:t>
            </a:r>
            <a:pPr algn="l" indent="0" marL="0">
              <a:buNone/>
            </a:pPr>
            <a:r>
              <a:rPr lang="ar-SA" altLang="en-US" sz="1450" dirty="0">
                <a:solidFill>
                  <a:srgbClr val="5A6472"/>
                </a:solidFill>
                <a:latin typeface="Amiri" pitchFamily="34" charset="0"/>
                <a:ea typeface="Amiri" pitchFamily="34" charset="-122"/>
                <a:cs typeface="Amiri" pitchFamily="34" charset="-120"/>
              </a:rPr>
              <a:t>مِصْرٌ</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37" name="Shape 34"/>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9" name="Shape 3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40" name="Text 37"/>
          <p:cNvSpPr txBox="1"/>
          <p:nvPr/>
        </p:nvSpPr>
        <p:spPr>
          <a:xfrm>
            <a:off x="8851392" y="3456432"/>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العِرَاقُ</a:t>
            </a:r>
            <a:endParaRPr lang="ar-SA" sz="1500" dirty="0"/>
          </a:p>
        </p:txBody>
      </p:sp>
      <p:sp>
        <p:nvSpPr>
          <p:cNvPr id="41" name="Text 38"/>
          <p:cNvSpPr txBox="1"/>
          <p:nvPr/>
        </p:nvSpPr>
        <p:spPr>
          <a:xfrm>
            <a:off x="8805672" y="3756355"/>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al-ʿIrāq · Iraq</a:t>
            </a:r>
            <a:endParaRPr lang="en-US" sz="950" dirty="0"/>
          </a:p>
        </p:txBody>
      </p:sp>
      <p:sp>
        <p:nvSpPr>
          <p:cNvPr id="42" name="Text 39"/>
          <p:cNvSpPr txBox="1"/>
          <p:nvPr/>
        </p:nvSpPr>
        <p:spPr>
          <a:xfrm>
            <a:off x="683971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عِرَاقِ</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43" name="Text 40"/>
          <p:cNvSpPr txBox="1"/>
          <p:nvPr/>
        </p:nvSpPr>
        <p:spPr>
          <a:xfrm>
            <a:off x="482803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عِرَاقِ</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4" name="Text 41"/>
          <p:cNvSpPr txBox="1"/>
          <p:nvPr/>
        </p:nvSpPr>
        <p:spPr>
          <a:xfrm>
            <a:off x="281635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عِرَاقِ</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5" name="Text 42"/>
          <p:cNvSpPr txBox="1"/>
          <p:nvPr/>
        </p:nvSpPr>
        <p:spPr>
          <a:xfrm>
            <a:off x="566928" y="3438144"/>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Nationality </a:t>
            </a:r>
            <a:pPr algn="l" indent="0" marL="0">
              <a:buNone/>
            </a:pPr>
            <a:r>
              <a:rPr lang="ar-SA" altLang="en-US" sz="1450" dirty="0">
                <a:solidFill>
                  <a:srgbClr val="5A6472"/>
                </a:solidFill>
                <a:latin typeface="Amiri" pitchFamily="34" charset="0"/>
                <a:ea typeface="Amiri" pitchFamily="34" charset="-122"/>
                <a:cs typeface="Amiri" pitchFamily="34" charset="-120"/>
              </a:rPr>
              <a:t>عِرَاقِيٌّ</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46" name="Shape 43"/>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9" name="Text 46"/>
          <p:cNvSpPr txBox="1"/>
          <p:nvPr/>
        </p:nvSpPr>
        <p:spPr>
          <a:xfrm>
            <a:off x="8851392" y="4041648"/>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لُبْنَانُ</a:t>
            </a:r>
            <a:endParaRPr lang="ar-SA" sz="1500" dirty="0"/>
          </a:p>
        </p:txBody>
      </p:sp>
      <p:sp>
        <p:nvSpPr>
          <p:cNvPr id="50" name="Text 47"/>
          <p:cNvSpPr txBox="1"/>
          <p:nvPr/>
        </p:nvSpPr>
        <p:spPr>
          <a:xfrm>
            <a:off x="8805672" y="4341571"/>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Lubnān · Lebanon</a:t>
            </a:r>
            <a:endParaRPr lang="en-US" sz="950" dirty="0"/>
          </a:p>
        </p:txBody>
      </p:sp>
      <p:sp>
        <p:nvSpPr>
          <p:cNvPr id="51" name="Text 48"/>
          <p:cNvSpPr txBox="1"/>
          <p:nvPr/>
        </p:nvSpPr>
        <p:spPr>
          <a:xfrm>
            <a:off x="683971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لُبْنَانِ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52" name="Text 49"/>
          <p:cNvSpPr txBox="1"/>
          <p:nvPr/>
        </p:nvSpPr>
        <p:spPr>
          <a:xfrm>
            <a:off x="482803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لُبْنَانِ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53" name="Text 50"/>
          <p:cNvSpPr txBox="1"/>
          <p:nvPr/>
        </p:nvSpPr>
        <p:spPr>
          <a:xfrm>
            <a:off x="281635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لُبْنَانِ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54" name="Text 51"/>
          <p:cNvSpPr txBox="1"/>
          <p:nvPr/>
        </p:nvSpPr>
        <p:spPr>
          <a:xfrm>
            <a:off x="566928" y="4023360"/>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 </a:t>
            </a:r>
            <a:pPr algn="l" indent="0" marL="0">
              <a:buNone/>
            </a:pPr>
            <a:r>
              <a:rPr lang="ar-SA" altLang="en-US" sz="1450" dirty="0">
                <a:solidFill>
                  <a:srgbClr val="5A6472"/>
                </a:solidFill>
                <a:latin typeface="Amiri" pitchFamily="34" charset="0"/>
                <a:ea typeface="Amiri" pitchFamily="34" charset="-122"/>
                <a:cs typeface="Amiri" pitchFamily="34" charset="-120"/>
              </a:rPr>
              <a:t>مِنْ لُبْنَانَ</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55" name="Shape 52"/>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7" name="Shape 54"/>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8" name="Text 55"/>
          <p:cNvSpPr txBox="1"/>
          <p:nvPr/>
        </p:nvSpPr>
        <p:spPr>
          <a:xfrm>
            <a:off x="8851392" y="4626864"/>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الأُرْدُنُّ</a:t>
            </a:r>
            <a:endParaRPr lang="ar-SA" sz="1500" dirty="0"/>
          </a:p>
        </p:txBody>
      </p:sp>
      <p:sp>
        <p:nvSpPr>
          <p:cNvPr id="59" name="Text 56"/>
          <p:cNvSpPr txBox="1"/>
          <p:nvPr/>
        </p:nvSpPr>
        <p:spPr>
          <a:xfrm>
            <a:off x="8805672" y="4926787"/>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al-Urdunn · Jordan</a:t>
            </a:r>
            <a:endParaRPr lang="en-US" sz="950" dirty="0"/>
          </a:p>
        </p:txBody>
      </p:sp>
      <p:sp>
        <p:nvSpPr>
          <p:cNvPr id="60" name="Text 57"/>
          <p:cNvSpPr txBox="1"/>
          <p:nvPr/>
        </p:nvSpPr>
        <p:spPr>
          <a:xfrm>
            <a:off x="683971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أُرْدُنِّ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1" name="Text 58"/>
          <p:cNvSpPr txBox="1"/>
          <p:nvPr/>
        </p:nvSpPr>
        <p:spPr>
          <a:xfrm>
            <a:off x="482803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أُرْدُنِّ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2" name="Text 59"/>
          <p:cNvSpPr txBox="1"/>
          <p:nvPr/>
        </p:nvSpPr>
        <p:spPr>
          <a:xfrm>
            <a:off x="281635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أُرْدُنِّ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3" name="Text 60"/>
          <p:cNvSpPr txBox="1"/>
          <p:nvPr/>
        </p:nvSpPr>
        <p:spPr>
          <a:xfrm>
            <a:off x="566928" y="4608576"/>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Nationality </a:t>
            </a:r>
            <a:pPr algn="l" indent="0" marL="0">
              <a:buNone/>
            </a:pPr>
            <a:r>
              <a:rPr lang="ar-SA" altLang="en-US" sz="1450" dirty="0">
                <a:solidFill>
                  <a:srgbClr val="5A6472"/>
                </a:solidFill>
                <a:latin typeface="Amiri" pitchFamily="34" charset="0"/>
                <a:ea typeface="Amiri" pitchFamily="34" charset="-122"/>
                <a:cs typeface="Amiri" pitchFamily="34" charset="-120"/>
              </a:rPr>
              <a:t>أُرْدُنِّيٌّ</a:t>
            </a:r>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64" name="Shape 61"/>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6" name="Shape 63"/>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67" name="Text 64"/>
          <p:cNvSpPr txBox="1"/>
          <p:nvPr/>
        </p:nvSpPr>
        <p:spPr>
          <a:xfrm>
            <a:off x="8851392" y="521208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السُّعُودِيَّةُ</a:t>
            </a:r>
            <a:endParaRPr lang="ar-SA" sz="1500" dirty="0"/>
          </a:p>
        </p:txBody>
      </p:sp>
      <p:sp>
        <p:nvSpPr>
          <p:cNvPr id="68" name="Text 65"/>
          <p:cNvSpPr txBox="1"/>
          <p:nvPr/>
        </p:nvSpPr>
        <p:spPr>
          <a:xfrm>
            <a:off x="8805672" y="551200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as-Suʿūdiyya · Saudi Arabia</a:t>
            </a:r>
            <a:endParaRPr lang="en-US" sz="950" dirty="0"/>
          </a:p>
        </p:txBody>
      </p:sp>
      <p:sp>
        <p:nvSpPr>
          <p:cNvPr id="69" name="Text 66"/>
          <p:cNvSpPr txBox="1"/>
          <p:nvPr/>
        </p:nvSpPr>
        <p:spPr>
          <a:xfrm>
            <a:off x="683971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سُعُودِ</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70" name="Text 67"/>
          <p:cNvSpPr txBox="1"/>
          <p:nvPr/>
        </p:nvSpPr>
        <p:spPr>
          <a:xfrm>
            <a:off x="482803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سُعُودِ</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71" name="Text 68"/>
          <p:cNvSpPr txBox="1"/>
          <p:nvPr/>
        </p:nvSpPr>
        <p:spPr>
          <a:xfrm>
            <a:off x="281635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سُعُودِ</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72" name="Text 69"/>
          <p:cNvSpPr txBox="1"/>
          <p:nvPr/>
        </p:nvSpPr>
        <p:spPr>
          <a:xfrm>
            <a:off x="566928" y="519379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Drop the </a:t>
            </a:r>
            <a:pPr algn="l" indent="0" marL="0">
              <a:buNone/>
            </a:pPr>
            <a:r>
              <a:rPr lang="ar-SA" altLang="en-US" sz="1450" dirty="0">
                <a:solidFill>
                  <a:srgbClr val="5A6472"/>
                </a:solidFill>
                <a:latin typeface="Amiri" pitchFamily="34" charset="0"/>
                <a:ea typeface="Amiri" pitchFamily="34" charset="-122"/>
                <a:cs typeface="Amiri" pitchFamily="34" charset="-120"/>
              </a:rPr>
              <a:t>ـة</a:t>
            </a:r>
            <a:pPr algn="l" indent="0" marL="0">
              <a:buNone/>
            </a:pPr>
            <a:r>
              <a:rPr lang="en-US" sz="1100" i="1" dirty="0">
                <a:solidFill>
                  <a:srgbClr val="5A6472"/>
                </a:solidFill>
                <a:latin typeface="Calibri" pitchFamily="34" charset="0"/>
                <a:ea typeface="Calibri" pitchFamily="34" charset="-122"/>
                <a:cs typeface="Calibri" pitchFamily="34" charset="-120"/>
              </a:rPr>
              <a:t> first.</a:t>
            </a:r>
            <a:endParaRPr lang="en-US" sz="1100" dirty="0"/>
          </a:p>
        </p:txBody>
      </p:sp>
      <p:sp>
        <p:nvSpPr>
          <p:cNvPr id="73" name="Shape 70"/>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5" name="Shape 7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76" name="Text 73"/>
          <p:cNvSpPr txBox="1"/>
          <p:nvPr/>
        </p:nvSpPr>
        <p:spPr>
          <a:xfrm>
            <a:off x="8851392" y="579729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تُونُسُ</a:t>
            </a:r>
            <a:endParaRPr lang="ar-SA" sz="1500" dirty="0"/>
          </a:p>
        </p:txBody>
      </p:sp>
      <p:sp>
        <p:nvSpPr>
          <p:cNvPr id="77" name="Text 74"/>
          <p:cNvSpPr txBox="1"/>
          <p:nvPr/>
        </p:nvSpPr>
        <p:spPr>
          <a:xfrm>
            <a:off x="8805672" y="609721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Tūnis · Tunisia</a:t>
            </a:r>
            <a:endParaRPr lang="en-US" sz="950" dirty="0"/>
          </a:p>
        </p:txBody>
      </p:sp>
      <p:sp>
        <p:nvSpPr>
          <p:cNvPr id="78" name="Text 75"/>
          <p:cNvSpPr txBox="1"/>
          <p:nvPr/>
        </p:nvSpPr>
        <p:spPr>
          <a:xfrm>
            <a:off x="683971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تُونُسِ</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79" name="Text 76"/>
          <p:cNvSpPr txBox="1"/>
          <p:nvPr/>
        </p:nvSpPr>
        <p:spPr>
          <a:xfrm>
            <a:off x="482803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تُونُسِ</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80" name="Text 77"/>
          <p:cNvSpPr txBox="1"/>
          <p:nvPr/>
        </p:nvSpPr>
        <p:spPr>
          <a:xfrm>
            <a:off x="281635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تُونُسِ</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81" name="Text 78"/>
          <p:cNvSpPr txBox="1"/>
          <p:nvPr/>
        </p:nvSpPr>
        <p:spPr>
          <a:xfrm>
            <a:off x="566928" y="577900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82" name="Shape 79"/>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ea typeface="Cambria" pitchFamily="34" charset="-122"/>
                <a:cs typeface="Cambria" pitchFamily="34" charset="-120"/>
              </a:rPr>
              <a:t>Arab countries (2 of 3): Mashriq and the Gulf</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المَشْرِقُ وَالخَلِيجُ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 (website)</a:t>
            </a:r>
            <a:endParaRPr lang="en-US" sz="1100" dirty="0"/>
          </a:p>
        </p:txBody>
      </p:sp>
      <p:sp>
        <p:nvSpPr>
          <p:cNvPr id="21" name="Shape 18"/>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2" name="Text 19"/>
          <p:cNvSpPr txBox="1"/>
          <p:nvPr/>
        </p:nvSpPr>
        <p:spPr>
          <a:xfrm>
            <a:off x="8851392" y="2286000"/>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سُورِيَا</a:t>
            </a:r>
            <a:endParaRPr lang="ar-SA" sz="1300" dirty="0"/>
          </a:p>
        </p:txBody>
      </p:sp>
      <p:sp>
        <p:nvSpPr>
          <p:cNvPr id="23" name="Text 20"/>
          <p:cNvSpPr txBox="1"/>
          <p:nvPr/>
        </p:nvSpPr>
        <p:spPr>
          <a:xfrm>
            <a:off x="8805672" y="2542032"/>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Sūriyā · Syria</a:t>
            </a:r>
            <a:endParaRPr lang="en-US" sz="950" dirty="0"/>
          </a:p>
        </p:txBody>
      </p:sp>
      <p:sp>
        <p:nvSpPr>
          <p:cNvPr id="24" name="Text 21"/>
          <p:cNvSpPr txBox="1"/>
          <p:nvPr/>
        </p:nvSpPr>
        <p:spPr>
          <a:xfrm>
            <a:off x="683971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25" name="Text 22"/>
          <p:cNvSpPr txBox="1"/>
          <p:nvPr/>
        </p:nvSpPr>
        <p:spPr>
          <a:xfrm>
            <a:off x="482803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26" name="Text 23"/>
          <p:cNvSpPr txBox="1"/>
          <p:nvPr/>
        </p:nvSpPr>
        <p:spPr>
          <a:xfrm>
            <a:off x="281635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27" name="Text 24"/>
          <p:cNvSpPr txBox="1"/>
          <p:nvPr/>
        </p:nvSpPr>
        <p:spPr>
          <a:xfrm>
            <a:off x="566928" y="2267712"/>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Indeclinable.</a:t>
            </a:r>
            <a:endParaRPr lang="en-US" sz="1100" dirty="0"/>
          </a:p>
        </p:txBody>
      </p:sp>
      <p:sp>
        <p:nvSpPr>
          <p:cNvPr id="28" name="Shape 25"/>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9" name="Text 26"/>
          <p:cNvSpPr txBox="1"/>
          <p:nvPr/>
        </p:nvSpPr>
        <p:spPr>
          <a:xfrm>
            <a:off x="8851392" y="2798064"/>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فِلَسْطِينُ</a:t>
            </a:r>
            <a:endParaRPr lang="ar-SA" sz="1300" dirty="0"/>
          </a:p>
        </p:txBody>
      </p:sp>
      <p:sp>
        <p:nvSpPr>
          <p:cNvPr id="30" name="Text 27"/>
          <p:cNvSpPr txBox="1"/>
          <p:nvPr/>
        </p:nvSpPr>
        <p:spPr>
          <a:xfrm>
            <a:off x="8805672" y="3054096"/>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Filasṭīn · Palestine</a:t>
            </a:r>
            <a:endParaRPr lang="en-US" sz="950" dirty="0"/>
          </a:p>
        </p:txBody>
      </p:sp>
      <p:sp>
        <p:nvSpPr>
          <p:cNvPr id="31" name="Text 28"/>
          <p:cNvSpPr txBox="1"/>
          <p:nvPr/>
        </p:nvSpPr>
        <p:spPr>
          <a:xfrm>
            <a:off x="683971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فِلَسْطِينِ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2" name="Text 29"/>
          <p:cNvSpPr txBox="1"/>
          <p:nvPr/>
        </p:nvSpPr>
        <p:spPr>
          <a:xfrm>
            <a:off x="482803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فِلَسْطِينِ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33" name="Text 30"/>
          <p:cNvSpPr txBox="1"/>
          <p:nvPr/>
        </p:nvSpPr>
        <p:spPr>
          <a:xfrm>
            <a:off x="281635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فِلَسْطِينِ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34" name="Text 31"/>
          <p:cNvSpPr txBox="1"/>
          <p:nvPr/>
        </p:nvSpPr>
        <p:spPr>
          <a:xfrm>
            <a:off x="566928" y="2779776"/>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35" name="Shape 32"/>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6" name="Text 33"/>
          <p:cNvSpPr txBox="1"/>
          <p:nvPr/>
        </p:nvSpPr>
        <p:spPr>
          <a:xfrm>
            <a:off x="8851392" y="3310128"/>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الكُوَيْتُ</a:t>
            </a:r>
            <a:endParaRPr lang="ar-SA" sz="1300" dirty="0"/>
          </a:p>
        </p:txBody>
      </p:sp>
      <p:sp>
        <p:nvSpPr>
          <p:cNvPr id="37" name="Text 34"/>
          <p:cNvSpPr txBox="1"/>
          <p:nvPr/>
        </p:nvSpPr>
        <p:spPr>
          <a:xfrm>
            <a:off x="8805672" y="3566160"/>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al-Kuwayt · Kuwait</a:t>
            </a:r>
            <a:endParaRPr lang="en-US" sz="950" dirty="0"/>
          </a:p>
        </p:txBody>
      </p:sp>
      <p:sp>
        <p:nvSpPr>
          <p:cNvPr id="38" name="Text 35"/>
          <p:cNvSpPr txBox="1"/>
          <p:nvPr/>
        </p:nvSpPr>
        <p:spPr>
          <a:xfrm>
            <a:off x="683971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كُوَيْتِ</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9" name="Text 36"/>
          <p:cNvSpPr txBox="1"/>
          <p:nvPr/>
        </p:nvSpPr>
        <p:spPr>
          <a:xfrm>
            <a:off x="482803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كُوَيْتِ</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0" name="Text 37"/>
          <p:cNvSpPr txBox="1"/>
          <p:nvPr/>
        </p:nvSpPr>
        <p:spPr>
          <a:xfrm>
            <a:off x="281635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كُوَيْتِ</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1" name="Text 38"/>
          <p:cNvSpPr txBox="1"/>
          <p:nvPr/>
        </p:nvSpPr>
        <p:spPr>
          <a:xfrm>
            <a:off x="566928" y="3291840"/>
            <a:ext cx="2084832" cy="457200"/>
          </a:xfrm>
          <a:prstGeom prst="rect">
            <a:avLst/>
          </a:prstGeom>
          <a:noFill/>
          <a:ln/>
        </p:spPr>
        <p:txBody>
          <a:bodyPr wrap="square" lIns="0" tIns="0" rIns="0" bIns="0" rtlCol="0" anchor="ctr"/>
          <a:lstStyle/>
          <a:p>
            <a:pPr algn="l" indent="0" marL="0">
              <a:buNone/>
            </a:pPr>
            <a:endParaRPr lang="en-US" sz="1100" dirty="0"/>
          </a:p>
        </p:txBody>
      </p:sp>
      <p:sp>
        <p:nvSpPr>
          <p:cNvPr id="42" name="Shape 39"/>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3" name="Text 40"/>
          <p:cNvSpPr txBox="1"/>
          <p:nvPr/>
        </p:nvSpPr>
        <p:spPr>
          <a:xfrm>
            <a:off x="8851392" y="3822192"/>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الإِمَارَاتُ</a:t>
            </a:r>
            <a:endParaRPr lang="ar-SA" sz="1300" dirty="0"/>
          </a:p>
        </p:txBody>
      </p:sp>
      <p:sp>
        <p:nvSpPr>
          <p:cNvPr id="44" name="Text 41"/>
          <p:cNvSpPr txBox="1"/>
          <p:nvPr/>
        </p:nvSpPr>
        <p:spPr>
          <a:xfrm>
            <a:off x="8805672" y="4078224"/>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al-Imārāt · the UAE</a:t>
            </a:r>
            <a:endParaRPr lang="en-US" sz="950" dirty="0"/>
          </a:p>
        </p:txBody>
      </p:sp>
      <p:sp>
        <p:nvSpPr>
          <p:cNvPr id="45" name="Text 42"/>
          <p:cNvSpPr txBox="1"/>
          <p:nvPr/>
        </p:nvSpPr>
        <p:spPr>
          <a:xfrm>
            <a:off x="683971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إِمَارَاتِ</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46" name="Text 43"/>
          <p:cNvSpPr txBox="1"/>
          <p:nvPr/>
        </p:nvSpPr>
        <p:spPr>
          <a:xfrm>
            <a:off x="482803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إِمَارَاتِ</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7" name="Text 44"/>
          <p:cNvSpPr txBox="1"/>
          <p:nvPr/>
        </p:nvSpPr>
        <p:spPr>
          <a:xfrm>
            <a:off x="281635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إِمَارَاتِ</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8" name="Text 45"/>
          <p:cNvSpPr txBox="1"/>
          <p:nvPr/>
        </p:nvSpPr>
        <p:spPr>
          <a:xfrm>
            <a:off x="566928" y="3803904"/>
            <a:ext cx="2084832" cy="457200"/>
          </a:xfrm>
          <a:prstGeom prst="rect">
            <a:avLst/>
          </a:prstGeom>
          <a:noFill/>
          <a:ln/>
        </p:spPr>
        <p:txBody>
          <a:bodyPr wrap="square" lIns="0" tIns="0" rIns="0" bIns="0" rtlCol="0" anchor="ctr"/>
          <a:lstStyle/>
          <a:p>
            <a:pPr algn="l" indent="0" marL="0">
              <a:buNone/>
            </a:pPr>
            <a:endParaRPr lang="en-US" sz="1100" dirty="0"/>
          </a:p>
        </p:txBody>
      </p:sp>
      <p:sp>
        <p:nvSpPr>
          <p:cNvPr id="49" name="Shape 46"/>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50" name="Text 47"/>
          <p:cNvSpPr txBox="1"/>
          <p:nvPr/>
        </p:nvSpPr>
        <p:spPr>
          <a:xfrm>
            <a:off x="8851392" y="4334256"/>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قَطَرُ</a:t>
            </a:r>
            <a:endParaRPr lang="ar-SA" sz="1300" dirty="0"/>
          </a:p>
        </p:txBody>
      </p:sp>
      <p:sp>
        <p:nvSpPr>
          <p:cNvPr id="51" name="Text 48"/>
          <p:cNvSpPr txBox="1"/>
          <p:nvPr/>
        </p:nvSpPr>
        <p:spPr>
          <a:xfrm>
            <a:off x="8805672" y="4590288"/>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Qaṭar · Qatar</a:t>
            </a:r>
            <a:endParaRPr lang="en-US" sz="950" dirty="0"/>
          </a:p>
        </p:txBody>
      </p:sp>
      <p:sp>
        <p:nvSpPr>
          <p:cNvPr id="52" name="Text 49"/>
          <p:cNvSpPr txBox="1"/>
          <p:nvPr/>
        </p:nvSpPr>
        <p:spPr>
          <a:xfrm>
            <a:off x="683971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قَطَرِ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53" name="Text 50"/>
          <p:cNvSpPr txBox="1"/>
          <p:nvPr/>
        </p:nvSpPr>
        <p:spPr>
          <a:xfrm>
            <a:off x="482803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قَطَرِ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54" name="Text 51"/>
          <p:cNvSpPr txBox="1"/>
          <p:nvPr/>
        </p:nvSpPr>
        <p:spPr>
          <a:xfrm>
            <a:off x="281635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قَطَرِ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55" name="Text 52"/>
          <p:cNvSpPr txBox="1"/>
          <p:nvPr/>
        </p:nvSpPr>
        <p:spPr>
          <a:xfrm>
            <a:off x="566928" y="4315968"/>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56" name="Shape 53"/>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7" name="Text 54"/>
          <p:cNvSpPr txBox="1"/>
          <p:nvPr/>
        </p:nvSpPr>
        <p:spPr>
          <a:xfrm>
            <a:off x="8851392" y="4846320"/>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البَحْرَيْنُ</a:t>
            </a:r>
            <a:endParaRPr lang="ar-SA" sz="1300" dirty="0"/>
          </a:p>
        </p:txBody>
      </p:sp>
      <p:sp>
        <p:nvSpPr>
          <p:cNvPr id="58" name="Text 55"/>
          <p:cNvSpPr txBox="1"/>
          <p:nvPr/>
        </p:nvSpPr>
        <p:spPr>
          <a:xfrm>
            <a:off x="8805672" y="5102352"/>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al-Baḥrayn · Bahrain</a:t>
            </a:r>
            <a:endParaRPr lang="en-US" sz="950" dirty="0"/>
          </a:p>
        </p:txBody>
      </p:sp>
      <p:sp>
        <p:nvSpPr>
          <p:cNvPr id="59" name="Text 56"/>
          <p:cNvSpPr txBox="1"/>
          <p:nvPr/>
        </p:nvSpPr>
        <p:spPr>
          <a:xfrm>
            <a:off x="683971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بَحْرَيْنِ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0" name="Text 57"/>
          <p:cNvSpPr txBox="1"/>
          <p:nvPr/>
        </p:nvSpPr>
        <p:spPr>
          <a:xfrm>
            <a:off x="482803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بَحْرَيْنِ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1" name="Text 58"/>
          <p:cNvSpPr txBox="1"/>
          <p:nvPr/>
        </p:nvSpPr>
        <p:spPr>
          <a:xfrm>
            <a:off x="281635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بَحْرَيْنِ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2" name="Text 59"/>
          <p:cNvSpPr txBox="1"/>
          <p:nvPr/>
        </p:nvSpPr>
        <p:spPr>
          <a:xfrm>
            <a:off x="566928" y="4828032"/>
            <a:ext cx="2084832" cy="457200"/>
          </a:xfrm>
          <a:prstGeom prst="rect">
            <a:avLst/>
          </a:prstGeom>
          <a:noFill/>
          <a:ln/>
        </p:spPr>
        <p:txBody>
          <a:bodyPr wrap="square" lIns="0" tIns="0" rIns="0" bIns="0" rtlCol="0" anchor="ctr"/>
          <a:lstStyle/>
          <a:p>
            <a:pPr algn="l" indent="0" marL="0">
              <a:buNone/>
            </a:pPr>
            <a:endParaRPr lang="en-US" sz="1100" dirty="0"/>
          </a:p>
        </p:txBody>
      </p:sp>
      <p:sp>
        <p:nvSpPr>
          <p:cNvPr id="63" name="Shape 60"/>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64" name="Text 61"/>
          <p:cNvSpPr txBox="1"/>
          <p:nvPr/>
        </p:nvSpPr>
        <p:spPr>
          <a:xfrm>
            <a:off x="8851392" y="5358384"/>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عُمَانُ</a:t>
            </a:r>
            <a:endParaRPr lang="ar-SA" sz="1300" dirty="0"/>
          </a:p>
        </p:txBody>
      </p:sp>
      <p:sp>
        <p:nvSpPr>
          <p:cNvPr id="65" name="Text 62"/>
          <p:cNvSpPr txBox="1"/>
          <p:nvPr/>
        </p:nvSpPr>
        <p:spPr>
          <a:xfrm>
            <a:off x="8805672" y="5614416"/>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ʿUmān · Oman</a:t>
            </a:r>
            <a:endParaRPr lang="en-US" sz="950" dirty="0"/>
          </a:p>
        </p:txBody>
      </p:sp>
      <p:sp>
        <p:nvSpPr>
          <p:cNvPr id="66" name="Text 63"/>
          <p:cNvSpPr txBox="1"/>
          <p:nvPr/>
        </p:nvSpPr>
        <p:spPr>
          <a:xfrm>
            <a:off x="683971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عُمَانِ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7" name="Text 64"/>
          <p:cNvSpPr txBox="1"/>
          <p:nvPr/>
        </p:nvSpPr>
        <p:spPr>
          <a:xfrm>
            <a:off x="482803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عُمَانِ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8" name="Text 65"/>
          <p:cNvSpPr txBox="1"/>
          <p:nvPr/>
        </p:nvSpPr>
        <p:spPr>
          <a:xfrm>
            <a:off x="281635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عُمَانِ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9" name="Text 66"/>
          <p:cNvSpPr txBox="1"/>
          <p:nvPr/>
        </p:nvSpPr>
        <p:spPr>
          <a:xfrm>
            <a:off x="566928" y="5340096"/>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 diptote.</a:t>
            </a:r>
            <a:endParaRPr lang="en-US" sz="1100" dirty="0"/>
          </a:p>
        </p:txBody>
      </p:sp>
      <p:sp>
        <p:nvSpPr>
          <p:cNvPr id="70" name="Shape 6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71" name="Text 68"/>
          <p:cNvSpPr txBox="1"/>
          <p:nvPr/>
        </p:nvSpPr>
        <p:spPr>
          <a:xfrm>
            <a:off x="8851392" y="5870448"/>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اليَمَنُ</a:t>
            </a:r>
            <a:endParaRPr lang="ar-SA" sz="1300" dirty="0"/>
          </a:p>
        </p:txBody>
      </p:sp>
      <p:sp>
        <p:nvSpPr>
          <p:cNvPr id="72" name="Text 69"/>
          <p:cNvSpPr txBox="1"/>
          <p:nvPr/>
        </p:nvSpPr>
        <p:spPr>
          <a:xfrm>
            <a:off x="8805672" y="6126480"/>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al-Yaman · Yemen</a:t>
            </a:r>
            <a:endParaRPr lang="en-US" sz="950" dirty="0"/>
          </a:p>
        </p:txBody>
      </p:sp>
      <p:sp>
        <p:nvSpPr>
          <p:cNvPr id="73" name="Text 70"/>
          <p:cNvSpPr txBox="1"/>
          <p:nvPr/>
        </p:nvSpPr>
        <p:spPr>
          <a:xfrm>
            <a:off x="683971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74" name="Text 71"/>
          <p:cNvSpPr txBox="1"/>
          <p:nvPr/>
        </p:nvSpPr>
        <p:spPr>
          <a:xfrm>
            <a:off x="482803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75" name="Text 72"/>
          <p:cNvSpPr txBox="1"/>
          <p:nvPr/>
        </p:nvSpPr>
        <p:spPr>
          <a:xfrm>
            <a:off x="281635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76" name="Text 73"/>
          <p:cNvSpPr txBox="1"/>
          <p:nvPr/>
        </p:nvSpPr>
        <p:spPr>
          <a:xfrm>
            <a:off x="566928" y="5852160"/>
            <a:ext cx="2084832" cy="457200"/>
          </a:xfrm>
          <a:prstGeom prst="rect">
            <a:avLst/>
          </a:prstGeom>
          <a:noFill/>
          <a:ln/>
        </p:spPr>
        <p:txBody>
          <a:bodyPr wrap="square" lIns="0" tIns="0" rIns="0" bIns="0" rtlCol="0" anchor="ctr"/>
          <a:lstStyle/>
          <a:p>
            <a:pPr algn="l" indent="0" marL="0">
              <a:buNone/>
            </a:pPr>
            <a:endParaRPr lang="en-US" sz="11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ea typeface="Cambria" pitchFamily="34" charset="-122"/>
                <a:cs typeface="Cambria" pitchFamily="34" charset="-120"/>
              </a:rPr>
              <a:t>Arab countries (3 of 3): Maghreb and Horn of Africa</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المَغْرِبُ العَرَبِيُّ وَالقَرْنُ الأَفْرِيقِيُّ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 (website)</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8851392" y="228600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الجَزَائِرُ</a:t>
            </a:r>
            <a:endParaRPr lang="ar-SA" sz="1500" dirty="0"/>
          </a:p>
        </p:txBody>
      </p:sp>
      <p:sp>
        <p:nvSpPr>
          <p:cNvPr id="23" name="Text 20"/>
          <p:cNvSpPr txBox="1"/>
          <p:nvPr/>
        </p:nvSpPr>
        <p:spPr>
          <a:xfrm>
            <a:off x="8805672" y="258592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al-Jazāʾir · Algeria</a:t>
            </a:r>
            <a:endParaRPr lang="en-US" sz="950" dirty="0"/>
          </a:p>
        </p:txBody>
      </p:sp>
      <p:sp>
        <p:nvSpPr>
          <p:cNvPr id="24" name="Text 21"/>
          <p:cNvSpPr txBox="1"/>
          <p:nvPr/>
        </p:nvSpPr>
        <p:spPr>
          <a:xfrm>
            <a:off x="683971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جَزَائِرِ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25" name="Text 22"/>
          <p:cNvSpPr txBox="1"/>
          <p:nvPr/>
        </p:nvSpPr>
        <p:spPr>
          <a:xfrm>
            <a:off x="482803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جَزَائِرِ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26" name="Text 23"/>
          <p:cNvSpPr txBox="1"/>
          <p:nvPr/>
        </p:nvSpPr>
        <p:spPr>
          <a:xfrm>
            <a:off x="281635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جَزَائِرِ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27" name="Text 24"/>
          <p:cNvSpPr txBox="1"/>
          <p:nvPr/>
        </p:nvSpPr>
        <p:spPr>
          <a:xfrm>
            <a:off x="566928" y="2267712"/>
            <a:ext cx="2084832" cy="530352"/>
          </a:xfrm>
          <a:prstGeom prst="rect">
            <a:avLst/>
          </a:prstGeom>
          <a:noFill/>
          <a:ln/>
        </p:spPr>
        <p:txBody>
          <a:bodyPr wrap="square" lIns="0" tIns="0" rIns="0" bIns="0" rtlCol="0" anchor="ctr"/>
          <a:lstStyle/>
          <a:p>
            <a:pPr algn="l" indent="0" marL="0">
              <a:buNone/>
            </a:pPr>
            <a:endParaRPr lang="en-US" sz="1100" dirty="0"/>
          </a:p>
        </p:txBody>
      </p:sp>
      <p:sp>
        <p:nvSpPr>
          <p:cNvPr id="28" name="Shape 25"/>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9" name="Text 26"/>
          <p:cNvSpPr txBox="1"/>
          <p:nvPr/>
        </p:nvSpPr>
        <p:spPr>
          <a:xfrm>
            <a:off x="8851392" y="287121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لِيبِيَا</a:t>
            </a:r>
            <a:endParaRPr lang="ar-SA" sz="1500" dirty="0"/>
          </a:p>
        </p:txBody>
      </p:sp>
      <p:sp>
        <p:nvSpPr>
          <p:cNvPr id="30" name="Text 27"/>
          <p:cNvSpPr txBox="1"/>
          <p:nvPr/>
        </p:nvSpPr>
        <p:spPr>
          <a:xfrm>
            <a:off x="8805672" y="317113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Lībiyā · Libya</a:t>
            </a:r>
            <a:endParaRPr lang="en-US" sz="950" dirty="0"/>
          </a:p>
        </p:txBody>
      </p:sp>
      <p:sp>
        <p:nvSpPr>
          <p:cNvPr id="31" name="Text 28"/>
          <p:cNvSpPr txBox="1"/>
          <p:nvPr/>
        </p:nvSpPr>
        <p:spPr>
          <a:xfrm>
            <a:off x="683971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لِيبِ</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2" name="Text 29"/>
          <p:cNvSpPr txBox="1"/>
          <p:nvPr/>
        </p:nvSpPr>
        <p:spPr>
          <a:xfrm>
            <a:off x="482803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لِيبِ</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33" name="Text 30"/>
          <p:cNvSpPr txBox="1"/>
          <p:nvPr/>
        </p:nvSpPr>
        <p:spPr>
          <a:xfrm>
            <a:off x="281635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لِيبِ</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34" name="Text 31"/>
          <p:cNvSpPr txBox="1"/>
          <p:nvPr/>
        </p:nvSpPr>
        <p:spPr>
          <a:xfrm>
            <a:off x="566928" y="2852928"/>
            <a:ext cx="2084832" cy="530352"/>
          </a:xfrm>
          <a:prstGeom prst="rect">
            <a:avLst/>
          </a:prstGeom>
          <a:noFill/>
          <a:ln/>
        </p:spPr>
        <p:txBody>
          <a:bodyPr wrap="square" lIns="0" tIns="0" rIns="0" bIns="0" rtlCol="0" anchor="ctr"/>
          <a:lstStyle/>
          <a:p>
            <a:pPr algn="l" indent="0" marL="0">
              <a:buNone/>
            </a:pPr>
            <a:endParaRPr lang="en-US" sz="1100" dirty="0"/>
          </a:p>
        </p:txBody>
      </p:sp>
      <p:sp>
        <p:nvSpPr>
          <p:cNvPr id="35" name="Shape 32"/>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6" name="Text 33"/>
          <p:cNvSpPr txBox="1"/>
          <p:nvPr/>
        </p:nvSpPr>
        <p:spPr>
          <a:xfrm>
            <a:off x="8851392" y="3456432"/>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مُورِيتَانِيَا</a:t>
            </a:r>
            <a:endParaRPr lang="ar-SA" sz="1500" dirty="0"/>
          </a:p>
        </p:txBody>
      </p:sp>
      <p:sp>
        <p:nvSpPr>
          <p:cNvPr id="37" name="Text 34"/>
          <p:cNvSpPr txBox="1"/>
          <p:nvPr/>
        </p:nvSpPr>
        <p:spPr>
          <a:xfrm>
            <a:off x="8805672" y="3756355"/>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Mūrītāniyā · Mauritania</a:t>
            </a:r>
            <a:endParaRPr lang="en-US" sz="950" dirty="0"/>
          </a:p>
        </p:txBody>
      </p:sp>
      <p:sp>
        <p:nvSpPr>
          <p:cNvPr id="38" name="Text 35"/>
          <p:cNvSpPr txBox="1"/>
          <p:nvPr/>
        </p:nvSpPr>
        <p:spPr>
          <a:xfrm>
            <a:off x="683971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مُورِيتَانِ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39" name="Text 36"/>
          <p:cNvSpPr txBox="1"/>
          <p:nvPr/>
        </p:nvSpPr>
        <p:spPr>
          <a:xfrm>
            <a:off x="482803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مُورِيتَانِ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0" name="Text 37"/>
          <p:cNvSpPr txBox="1"/>
          <p:nvPr/>
        </p:nvSpPr>
        <p:spPr>
          <a:xfrm>
            <a:off x="281635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مُورِيتَانِ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1" name="Text 38"/>
          <p:cNvSpPr txBox="1"/>
          <p:nvPr/>
        </p:nvSpPr>
        <p:spPr>
          <a:xfrm>
            <a:off x="566928" y="3438144"/>
            <a:ext cx="2084832" cy="530352"/>
          </a:xfrm>
          <a:prstGeom prst="rect">
            <a:avLst/>
          </a:prstGeom>
          <a:noFill/>
          <a:ln/>
        </p:spPr>
        <p:txBody>
          <a:bodyPr wrap="square" lIns="0" tIns="0" rIns="0" bIns="0" rtlCol="0" anchor="ctr"/>
          <a:lstStyle/>
          <a:p>
            <a:pPr algn="l" indent="0" marL="0">
              <a:buNone/>
            </a:pPr>
            <a:endParaRPr lang="en-US" sz="1100" dirty="0"/>
          </a:p>
        </p:txBody>
      </p:sp>
      <p:sp>
        <p:nvSpPr>
          <p:cNvPr id="42" name="Shape 39"/>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3" name="Text 40"/>
          <p:cNvSpPr txBox="1"/>
          <p:nvPr/>
        </p:nvSpPr>
        <p:spPr>
          <a:xfrm>
            <a:off x="8851392" y="4041648"/>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السُّودَانُ</a:t>
            </a:r>
            <a:endParaRPr lang="ar-SA" sz="1500" dirty="0"/>
          </a:p>
        </p:txBody>
      </p:sp>
      <p:sp>
        <p:nvSpPr>
          <p:cNvPr id="44" name="Text 41"/>
          <p:cNvSpPr txBox="1"/>
          <p:nvPr/>
        </p:nvSpPr>
        <p:spPr>
          <a:xfrm>
            <a:off x="8805672" y="4341571"/>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as-Sūdān · Sudan</a:t>
            </a:r>
            <a:endParaRPr lang="en-US" sz="950" dirty="0"/>
          </a:p>
        </p:txBody>
      </p:sp>
      <p:sp>
        <p:nvSpPr>
          <p:cNvPr id="45" name="Text 42"/>
          <p:cNvSpPr txBox="1"/>
          <p:nvPr/>
        </p:nvSpPr>
        <p:spPr>
          <a:xfrm>
            <a:off x="683971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سُودَانِ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46" name="Text 43"/>
          <p:cNvSpPr txBox="1"/>
          <p:nvPr/>
        </p:nvSpPr>
        <p:spPr>
          <a:xfrm>
            <a:off x="482803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سُودَانِ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47" name="Text 44"/>
          <p:cNvSpPr txBox="1"/>
          <p:nvPr/>
        </p:nvSpPr>
        <p:spPr>
          <a:xfrm>
            <a:off x="281635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سُودَانِ</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48" name="Text 45"/>
          <p:cNvSpPr txBox="1"/>
          <p:nvPr/>
        </p:nvSpPr>
        <p:spPr>
          <a:xfrm>
            <a:off x="566928" y="4023360"/>
            <a:ext cx="2084832" cy="530352"/>
          </a:xfrm>
          <a:prstGeom prst="rect">
            <a:avLst/>
          </a:prstGeom>
          <a:noFill/>
          <a:ln/>
        </p:spPr>
        <p:txBody>
          <a:bodyPr wrap="square" lIns="0" tIns="0" rIns="0" bIns="0" rtlCol="0" anchor="ctr"/>
          <a:lstStyle/>
          <a:p>
            <a:pPr algn="l" indent="0" marL="0">
              <a:buNone/>
            </a:pPr>
            <a:endParaRPr lang="en-US" sz="1100" dirty="0"/>
          </a:p>
        </p:txBody>
      </p:sp>
      <p:sp>
        <p:nvSpPr>
          <p:cNvPr id="49" name="Shape 46"/>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0" name="Text 47"/>
          <p:cNvSpPr txBox="1"/>
          <p:nvPr/>
        </p:nvSpPr>
        <p:spPr>
          <a:xfrm>
            <a:off x="8851392" y="4626864"/>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الصُّومَالُ</a:t>
            </a:r>
            <a:endParaRPr lang="ar-SA" sz="1500" dirty="0"/>
          </a:p>
        </p:txBody>
      </p:sp>
      <p:sp>
        <p:nvSpPr>
          <p:cNvPr id="51" name="Text 48"/>
          <p:cNvSpPr txBox="1"/>
          <p:nvPr/>
        </p:nvSpPr>
        <p:spPr>
          <a:xfrm>
            <a:off x="8805672" y="4926787"/>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aṣ-Ṣūmāl · Somalia</a:t>
            </a:r>
            <a:endParaRPr lang="en-US" sz="950" dirty="0"/>
          </a:p>
        </p:txBody>
      </p:sp>
      <p:sp>
        <p:nvSpPr>
          <p:cNvPr id="52" name="Text 49"/>
          <p:cNvSpPr txBox="1"/>
          <p:nvPr/>
        </p:nvSpPr>
        <p:spPr>
          <a:xfrm>
            <a:off x="683971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صُومَالِ</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53" name="Text 50"/>
          <p:cNvSpPr txBox="1"/>
          <p:nvPr/>
        </p:nvSpPr>
        <p:spPr>
          <a:xfrm>
            <a:off x="482803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صُومَالِ</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54" name="Text 51"/>
          <p:cNvSpPr txBox="1"/>
          <p:nvPr/>
        </p:nvSpPr>
        <p:spPr>
          <a:xfrm>
            <a:off x="281635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صُومَالِ</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55" name="Text 52"/>
          <p:cNvSpPr txBox="1"/>
          <p:nvPr/>
        </p:nvSpPr>
        <p:spPr>
          <a:xfrm>
            <a:off x="566928" y="4608576"/>
            <a:ext cx="2084832" cy="530352"/>
          </a:xfrm>
          <a:prstGeom prst="rect">
            <a:avLst/>
          </a:prstGeom>
          <a:noFill/>
          <a:ln/>
        </p:spPr>
        <p:txBody>
          <a:bodyPr wrap="square" lIns="0" tIns="0" rIns="0" bIns="0" rtlCol="0" anchor="ctr"/>
          <a:lstStyle/>
          <a:p>
            <a:pPr algn="l" indent="0" marL="0">
              <a:buNone/>
            </a:pPr>
            <a:endParaRPr lang="en-US" sz="1100" dirty="0"/>
          </a:p>
        </p:txBody>
      </p:sp>
      <p:sp>
        <p:nvSpPr>
          <p:cNvPr id="56" name="Shape 53"/>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7" name="Text 54"/>
          <p:cNvSpPr txBox="1"/>
          <p:nvPr/>
        </p:nvSpPr>
        <p:spPr>
          <a:xfrm>
            <a:off x="8851392" y="521208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جِيبُوتِي</a:t>
            </a:r>
            <a:endParaRPr lang="ar-SA" sz="1500" dirty="0"/>
          </a:p>
        </p:txBody>
      </p:sp>
      <p:sp>
        <p:nvSpPr>
          <p:cNvPr id="58" name="Text 55"/>
          <p:cNvSpPr txBox="1"/>
          <p:nvPr/>
        </p:nvSpPr>
        <p:spPr>
          <a:xfrm>
            <a:off x="8805672" y="551200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Jībūtī · Djibouti</a:t>
            </a:r>
            <a:endParaRPr lang="en-US" sz="950" dirty="0"/>
          </a:p>
        </p:txBody>
      </p:sp>
      <p:sp>
        <p:nvSpPr>
          <p:cNvPr id="59" name="Text 56"/>
          <p:cNvSpPr txBox="1"/>
          <p:nvPr/>
        </p:nvSpPr>
        <p:spPr>
          <a:xfrm>
            <a:off x="683971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جِيبُوتِ</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0" name="Text 57"/>
          <p:cNvSpPr txBox="1"/>
          <p:nvPr/>
        </p:nvSpPr>
        <p:spPr>
          <a:xfrm>
            <a:off x="482803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جِيبُوتِ</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1" name="Text 58"/>
          <p:cNvSpPr txBox="1"/>
          <p:nvPr/>
        </p:nvSpPr>
        <p:spPr>
          <a:xfrm>
            <a:off x="281635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جِيبُوتِ</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2" name="Text 59"/>
          <p:cNvSpPr txBox="1"/>
          <p:nvPr/>
        </p:nvSpPr>
        <p:spPr>
          <a:xfrm>
            <a:off x="566928" y="519379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Indeclinable.</a:t>
            </a:r>
            <a:endParaRPr lang="en-US" sz="1100" dirty="0"/>
          </a:p>
        </p:txBody>
      </p:sp>
      <p:sp>
        <p:nvSpPr>
          <p:cNvPr id="63" name="Shape 60"/>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64" name="Text 61"/>
          <p:cNvSpPr txBox="1"/>
          <p:nvPr/>
        </p:nvSpPr>
        <p:spPr>
          <a:xfrm>
            <a:off x="8851392" y="579729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جُزُرُ القَمَرِ</a:t>
            </a:r>
            <a:endParaRPr lang="ar-SA" sz="1500" dirty="0"/>
          </a:p>
        </p:txBody>
      </p:sp>
      <p:sp>
        <p:nvSpPr>
          <p:cNvPr id="65" name="Text 62"/>
          <p:cNvSpPr txBox="1"/>
          <p:nvPr/>
        </p:nvSpPr>
        <p:spPr>
          <a:xfrm>
            <a:off x="8805672" y="609721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Juzur al-Qamar · the Comoros</a:t>
            </a:r>
            <a:endParaRPr lang="en-US" sz="950" dirty="0"/>
          </a:p>
        </p:txBody>
      </p:sp>
      <p:sp>
        <p:nvSpPr>
          <p:cNvPr id="66" name="Text 63"/>
          <p:cNvSpPr txBox="1"/>
          <p:nvPr/>
        </p:nvSpPr>
        <p:spPr>
          <a:xfrm>
            <a:off x="683971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قَمَرِ</a:t>
            </a:r>
            <a:pPr rtl="1" algn="ctr" indent="0" marL="0">
              <a:buNone/>
            </a:pPr>
            <a:r>
              <a:rPr lang="ar-SA" altLang="en-US" sz="2000" b="1" dirty="0">
                <a:solidFill>
                  <a:srgbClr val="D6336C"/>
                </a:solidFill>
                <a:latin typeface="Amiri" pitchFamily="34" charset="0"/>
                <a:ea typeface="Amiri" pitchFamily="34" charset="-122"/>
                <a:cs typeface="Amiri" pitchFamily="34" charset="-120"/>
              </a:rPr>
              <a:t>يٌّ</a:t>
            </a:r>
            <a:endParaRPr lang="ar-SA" sz="2000" dirty="0"/>
          </a:p>
        </p:txBody>
      </p:sp>
      <p:sp>
        <p:nvSpPr>
          <p:cNvPr id="67" name="Text 64"/>
          <p:cNvSpPr txBox="1"/>
          <p:nvPr/>
        </p:nvSpPr>
        <p:spPr>
          <a:xfrm>
            <a:off x="482803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قَمَرِ</a:t>
            </a:r>
            <a:pPr rtl="1" algn="ctr" indent="0" marL="0">
              <a:buNone/>
            </a:pPr>
            <a:r>
              <a:rPr lang="ar-SA" altLang="en-US" sz="2000" b="1" dirty="0">
                <a:solidFill>
                  <a:srgbClr val="D6336C"/>
                </a:solidFill>
                <a:latin typeface="Amiri" pitchFamily="34" charset="0"/>
                <a:ea typeface="Amiri" pitchFamily="34" charset="-122"/>
                <a:cs typeface="Amiri" pitchFamily="34" charset="-120"/>
              </a:rPr>
              <a:t>يَّةٌ</a:t>
            </a:r>
            <a:endParaRPr lang="ar-SA" sz="2000" dirty="0"/>
          </a:p>
        </p:txBody>
      </p:sp>
      <p:sp>
        <p:nvSpPr>
          <p:cNvPr id="68" name="Text 65"/>
          <p:cNvSpPr txBox="1"/>
          <p:nvPr/>
        </p:nvSpPr>
        <p:spPr>
          <a:xfrm>
            <a:off x="281635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قَمَرِ</a:t>
            </a:r>
            <a:pPr rtl="1" algn="ctr" indent="0" marL="0">
              <a:buNone/>
            </a:pPr>
            <a:r>
              <a:rPr lang="ar-SA" altLang="en-US" sz="2000" b="1" dirty="0">
                <a:solidFill>
                  <a:srgbClr val="D6336C"/>
                </a:solidFill>
                <a:latin typeface="Amiri" pitchFamily="34" charset="0"/>
                <a:ea typeface="Amiri" pitchFamily="34" charset="-122"/>
                <a:cs typeface="Amiri" pitchFamily="34" charset="-120"/>
              </a:rPr>
              <a:t>يُّونَ</a:t>
            </a:r>
            <a:endParaRPr lang="ar-SA" sz="2000" dirty="0"/>
          </a:p>
        </p:txBody>
      </p:sp>
      <p:sp>
        <p:nvSpPr>
          <p:cNvPr id="69" name="Text 66"/>
          <p:cNvSpPr txBox="1"/>
          <p:nvPr/>
        </p:nvSpPr>
        <p:spPr>
          <a:xfrm>
            <a:off x="566928" y="577900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An iḍāfa.</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Language and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اللُّغَةُ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بَلَدٌ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country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ba-lad · pl. bul-dān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بَلَدٌ</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بُلْدَانٌ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 · pl. lu-ghāt</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جِنْسِيَّةٌ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nationality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jin-siy-ya · pl. jin-siy-yāt</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جِنْسِيَّةٌ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جِنْسِيَّاتٌ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عَاصِمَةٌ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capital city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ʿā-ṣi-ma · pl. ʿa-wā-ṣim</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عَاصِمَةٌ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عَوَاصِمُ</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register</a:t>
            </a:r>
            <a:endParaRPr lang="en-US" sz="800" dirty="0"/>
          </a:p>
        </p:txBody>
      </p:sp>
      <p:sp>
        <p:nvSpPr>
          <p:cNvPr id="80" name="Text 7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العَرَبِيَّةُ الفُصْحَى</a:t>
            </a:r>
            <a:endParaRPr lang="ar-SA" sz="3000" dirty="0"/>
          </a:p>
        </p:txBody>
      </p:sp>
      <p:sp>
        <p:nvSpPr>
          <p:cNvPr id="81" name="Text 7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Modern Standard Arabic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al-ʿa-ra-biy-ya l-fuṣ-ḥā</a:t>
            </a:r>
            <a:endParaRPr lang="en-US" sz="1350" dirty="0"/>
          </a:p>
        </p:txBody>
      </p:sp>
      <p:sp>
        <p:nvSpPr>
          <p:cNvPr id="82" name="Text 7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shared written and formal register.</a:t>
            </a:r>
            <a:endParaRPr lang="en-US" sz="10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6" name="Shape 8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8" name="Text 8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لَهْجَةٌ</a:t>
            </a:r>
            <a:endParaRPr lang="ar-SA" sz="3000" dirty="0"/>
          </a:p>
        </p:txBody>
      </p:sp>
      <p:sp>
        <p:nvSpPr>
          <p:cNvPr id="89" name="Text 8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dialect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lah-ja · pl. la-ha-jāt</a:t>
            </a:r>
            <a:endParaRPr lang="en-US" sz="1350" dirty="0"/>
          </a:p>
        </p:txBody>
      </p:sp>
      <p:sp>
        <p:nvSpPr>
          <p:cNvPr id="90" name="Shape 8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2377440"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2" name="Text 8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لَهْجَةٌ</a:t>
            </a:r>
            <a:endParaRPr lang="ar-SA" sz="1500" dirty="0"/>
          </a:p>
        </p:txBody>
      </p:sp>
      <p:sp>
        <p:nvSpPr>
          <p:cNvPr id="93" name="Shape 9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5" name="Text 9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لَهَجَاتٌ</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Extra detail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تَفَاصِيلُ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language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7B3FA0"/>
                </a:solidFill>
                <a:latin typeface="Amiri" pitchFamily="34" charset="0"/>
                <a:ea typeface="Amiri" pitchFamily="34" charset="-122"/>
                <a:cs typeface="Amiri" pitchFamily="34" charset="-120"/>
              </a:rPr>
              <a:t>الأَمَازِيغِ</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Amazigh (Berber)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al-a-mā-zī-ghiy-ya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Official in Morocco and Algeria.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language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7B3FA0"/>
                </a:solidFill>
                <a:latin typeface="Amiri" pitchFamily="34" charset="0"/>
                <a:ea typeface="Amiri" pitchFamily="34" charset="-122"/>
                <a:cs typeface="Amiri" pitchFamily="34" charset="-120"/>
              </a:rPr>
              <a:t>الكُرْدِ</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Kurdish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al-kur-diy-ya</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Official in Iraq alongside Arabic.</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 رَسْمِيَّةٌ</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 official 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 ras-miy-ya</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لُغَةٌ رَسْمِيَّةٌ</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56432"/>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لُغَاتٌ رَسْمِيَّةٌ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9" name="Shape 46"/>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وَطَنٌ</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homeland, home country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wa-ṭan · pl. aw-ṭān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وَطَنٌ</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97296"/>
            <a:ext cx="365760" cy="182880"/>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أَوْطَانٌ</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2" name="Shape 5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نَشَأَ / يَنْشَأُ</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arose / arises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na-sha-ʾa / yan-sha-ʾu</a:t>
            </a:r>
            <a:endParaRPr lang="en-US" sz="1350" dirty="0"/>
          </a:p>
        </p:txBody>
      </p:sp>
      <p:sp>
        <p:nvSpPr>
          <p:cNvPr id="66" name="Text 6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Used for civilisations and institutions.</a:t>
            </a:r>
            <a:endParaRPr lang="en-US" sz="1000" dirty="0"/>
          </a:p>
        </p:txBody>
      </p:sp>
      <p:sp>
        <p:nvSpPr>
          <p:cNvPr id="67" name="Shape 6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66928"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0" name="Shape 6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Form VIII</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اتَّسَعَ / يَتَّسِعُ</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expanded / expands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it-ta-sa-ʿa / yat-ta-si-ʿu</a:t>
            </a:r>
            <a:endParaRPr lang="en-US" sz="1350" dirty="0"/>
          </a:p>
        </p:txBody>
      </p:sp>
      <p:sp>
        <p:nvSpPr>
          <p:cNvPr id="74" name="Text 7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VIII.</a:t>
            </a:r>
            <a:endParaRPr lang="en-US" sz="10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THE NISBA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Make a nationality in three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النِّسْبَةُ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7B3FA0"/>
                </a:solidFill>
                <a:latin typeface="Amiri" pitchFamily="34" charset="0"/>
                <a:ea typeface="Amiri" pitchFamily="34" charset="-122"/>
                <a:cs typeface="Amiri" pitchFamily="34" charset="-120"/>
              </a:rPr>
              <a:t>مِصْرِ</a:t>
            </a:r>
            <a:pPr rtl="1" algn="ctr" indent="0" marL="0">
              <a:buNone/>
            </a:pPr>
            <a:r>
              <a:rPr lang="ar-SA" altLang="en-US" sz="7200" b="1" dirty="0">
                <a:solidFill>
                  <a:srgbClr val="D6336C"/>
                </a:solidFill>
                <a:latin typeface="Amiri" pitchFamily="34" charset="0"/>
                <a:ea typeface="Amiri" pitchFamily="34" charset="-122"/>
                <a:cs typeface="Amiri" pitchFamily="34" charset="-120"/>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miṣ-riy-ya · Egyptian (f.) — an Egyptian woman or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مِصْرُ</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COUNTRY = meaning</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Start with the country. Drop </a:t>
            </a:r>
            <a:pPr algn="l" indent="0" marL="0">
              <a:buNone/>
            </a:pPr>
            <a:r>
              <a:rPr lang="ar-SA" altLang="en-US" sz="1500" dirty="0">
                <a:solidFill>
                  <a:srgbClr val="5A6472"/>
                </a:solidFill>
                <a:latin typeface="Amiri" pitchFamily="34" charset="0"/>
                <a:ea typeface="Amiri" pitchFamily="34" charset="-122"/>
                <a:cs typeface="Amiri" pitchFamily="34" charset="-120"/>
              </a:rPr>
              <a:t>ال</a:t>
            </a:r>
            <a:pPr algn="l" indent="0" marL="0">
              <a:buNone/>
            </a:pPr>
            <a:r>
              <a:rPr lang="en-US" sz="1150" dirty="0">
                <a:solidFill>
                  <a:srgbClr val="5A6472"/>
                </a:solidFill>
                <a:latin typeface="Calibri" pitchFamily="34" charset="0"/>
                <a:ea typeface="Calibri" pitchFamily="34" charset="-122"/>
                <a:cs typeface="Calibri" pitchFamily="34" charset="-120"/>
              </a:rPr>
              <a:t> or a final </a:t>
            </a:r>
            <a:pPr algn="l" indent="0" marL="0">
              <a:buNone/>
            </a:pPr>
            <a:r>
              <a:rPr lang="ar-SA" altLang="en-US" sz="1500" dirty="0">
                <a:solidFill>
                  <a:srgbClr val="5A6472"/>
                </a:solidFill>
                <a:latin typeface="Amiri" pitchFamily="34" charset="0"/>
                <a:ea typeface="Amiri" pitchFamily="34" charset="-122"/>
                <a:cs typeface="Amiri" pitchFamily="34" charset="-120"/>
              </a:rPr>
              <a:t>ـة</a:t>
            </a:r>
            <a:pPr algn="l" indent="0" marL="0">
              <a:buNone/>
            </a:pPr>
            <a:r>
              <a:rPr lang="en-US" sz="1150" dirty="0">
                <a:solidFill>
                  <a:srgbClr val="5A6472"/>
                </a:solidFill>
                <a:latin typeface="Calibri" pitchFamily="34" charset="0"/>
                <a:ea typeface="Calibri" pitchFamily="34" charset="-122"/>
                <a:cs typeface="Calibri" pitchFamily="34" charset="-120"/>
              </a:rPr>
              <a:t> first: </a:t>
            </a:r>
            <a:pPr algn="l" indent="0" marL="0">
              <a:buNone/>
            </a:pPr>
            <a:r>
              <a:rPr lang="ar-SA" altLang="en-US" sz="1500" dirty="0">
                <a:solidFill>
                  <a:srgbClr val="5A6472"/>
                </a:solidFill>
                <a:latin typeface="Amiri" pitchFamily="34" charset="0"/>
                <a:ea typeface="Amiri" pitchFamily="34" charset="-122"/>
                <a:cs typeface="Amiri" pitchFamily="34" charset="-120"/>
              </a:rPr>
              <a:t>المَغْرِب</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مَغْرِب</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HE · a man or boy (m.)</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Add -ī with a shadda: </a:t>
            </a:r>
            <a:pPr algn="l" indent="0" marL="0">
              <a:buNone/>
            </a:pPr>
            <a:r>
              <a:rPr lang="ar-SA" altLang="en-US" sz="1500" dirty="0">
                <a:solidFill>
                  <a:srgbClr val="5A6472"/>
                </a:solidFill>
                <a:latin typeface="Amiri" pitchFamily="34" charset="0"/>
                <a:ea typeface="Amiri" pitchFamily="34" charset="-122"/>
                <a:cs typeface="Amiri" pitchFamily="34" charset="-120"/>
              </a:rPr>
              <a:t>مِصْرِيٌّ</a:t>
            </a:r>
            <a:pPr algn="l" indent="0" marL="0">
              <a:buNone/>
            </a:pPr>
            <a:r>
              <a:rPr lang="en-US" sz="1150" dirty="0">
                <a:solidFill>
                  <a:srgbClr val="5A6472"/>
                </a:solidFill>
                <a:latin typeface="Calibri" pitchFamily="34" charset="0"/>
                <a:ea typeface="Calibri" pitchFamily="34" charset="-122"/>
                <a:cs typeface="Calibri" pitchFamily="34" charset="-120"/>
              </a:rPr>
              <a:t> = Egyptian (m.).</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SHE · a woman or girl (f.)</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Add -iyya: </a:t>
            </a:r>
            <a:pPr algn="l" indent="0" marL="0">
              <a:buNone/>
            </a:pPr>
            <a:r>
              <a:rPr lang="ar-SA" altLang="en-US" sz="1500" dirty="0">
                <a:solidFill>
                  <a:srgbClr val="5A6472"/>
                </a:solidFill>
                <a:latin typeface="Amiri" pitchFamily="34" charset="0"/>
                <a:ea typeface="Amiri" pitchFamily="34" charset="-122"/>
                <a:cs typeface="Amiri" pitchFamily="34" charset="-120"/>
              </a:rPr>
              <a:t>مِصْرِيَّةٌ</a:t>
            </a:r>
            <a:pPr algn="l" indent="0" marL="0">
              <a:buNone/>
            </a:pPr>
            <a:r>
              <a:rPr lang="en-US" sz="1150" dirty="0">
                <a:solidFill>
                  <a:srgbClr val="5A6472"/>
                </a:solidFill>
                <a:latin typeface="Calibri" pitchFamily="34" charset="0"/>
                <a:ea typeface="Calibri" pitchFamily="34" charset="-122"/>
                <a:cs typeface="Calibri" pitchFamily="34" charset="-120"/>
              </a:rPr>
              <a:t>. They (pl.) = </a:t>
            </a:r>
            <a:pPr algn="l" indent="0" marL="0">
              <a:buNone/>
            </a:pPr>
            <a:r>
              <a:rPr lang="ar-SA" altLang="en-US" sz="1500" dirty="0">
                <a:solidFill>
                  <a:srgbClr val="5A6472"/>
                </a:solidFill>
                <a:latin typeface="Amiri" pitchFamily="34" charset="0"/>
                <a:ea typeface="Amiri" pitchFamily="34" charset="-122"/>
                <a:cs typeface="Amiri" pitchFamily="34" charset="-120"/>
              </a:rPr>
              <a:t>مِصْرِيُّونَ</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MATCH THE NISBA TO THE PERSON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country, many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بَلَدٌ وَاحِدٌ، نَاسٌ كَثِيرُونَ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Nationality</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 sentence (website language)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هُوَ</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he</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الطَّالِبُ</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(male) student is Moroccan.</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هِيَ</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she</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الطَّالِبَةُ</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(female) student is Moroccan.</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أَنَا</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I (girl)</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أَنَا</a:t>
            </a:r>
            <a:pPr rtl="1" algn="r" indent="0" marL="0">
              <a:buNone/>
            </a:pPr>
            <a:r>
              <a:rPr lang="ar-SA" altLang="en-US" sz="2000" dirty="0">
                <a:solidFill>
                  <a:srgbClr val="1F2A37"/>
                </a:solidFill>
                <a:latin typeface="Amiri" pitchFamily="34" charset="0"/>
                <a:ea typeface="Amiri" pitchFamily="34" charset="-122"/>
                <a:cs typeface="Amiri" pitchFamily="34" charset="-120"/>
              </a:rPr>
              <a:t> سَلْمَى، وَ</a:t>
            </a:r>
            <a:pPr rtl="1" algn="r" indent="0" marL="0">
              <a:buNone/>
            </a:pPr>
            <a:r>
              <a:rPr lang="ar-SA" altLang="en-US" sz="2000" dirty="0">
                <a:solidFill>
                  <a:srgbClr val="1D5FBF"/>
                </a:solidFill>
                <a:latin typeface="Amiri" pitchFamily="34" charset="0"/>
                <a:ea typeface="Amiri" pitchFamily="34" charset="-122"/>
                <a:cs typeface="Amiri" pitchFamily="34" charset="-120"/>
              </a:rPr>
              <a:t>أَنَا</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 am Salmā, and I am Moroccan.</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هُمْ</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they</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يُّونَ</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هُمْ</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مَغْرِبِ</a:t>
            </a:r>
            <a:pPr rtl="1" algn="r" indent="0" marL="0">
              <a:buNone/>
            </a:pPr>
            <a:r>
              <a:rPr lang="ar-SA" altLang="en-US" sz="2000" dirty="0">
                <a:solidFill>
                  <a:srgbClr val="D6336C"/>
                </a:solidFill>
                <a:latin typeface="Amiri" pitchFamily="34" charset="0"/>
                <a:ea typeface="Amiri" pitchFamily="34" charset="-122"/>
                <a:cs typeface="Amiri" pitchFamily="34" charset="-120"/>
              </a:rPr>
              <a:t>يُّونَ</a:t>
            </a:r>
            <a:pPr rtl="1" algn="r" indent="0" marL="0">
              <a:buNone/>
            </a:pPr>
            <a:r>
              <a:rPr lang="ar-SA" altLang="en-US" sz="2000" dirty="0">
                <a:solidFill>
                  <a:srgbClr val="1F2A37"/>
                </a:solidFill>
                <a:latin typeface="Amiri" pitchFamily="34" charset="0"/>
                <a:ea typeface="Amiri" pitchFamily="34" charset="-122"/>
                <a:cs typeface="Amiri" pitchFamily="34" charset="-120"/>
              </a:rPr>
              <a:t> مِنَ الرِّبَاطِ.</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They are Moroccans from Rabat.</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لُغَةٌ</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language (f.)</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العَرَبِ</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اللُّغَةُ</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العَرَبِ</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 لُغَةٌ رَسْمِيَّةٌ فِي المَغْرِبِ.</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Arabic is an official language in Morocco.</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SAY WHERE A PLACE IS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is it? Country + place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يَقَعُ البَلَدُ؟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البَلَدُ</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country (what?)</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أَيْنَ؟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place word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place</a:t>
            </a:r>
            <a:endParaRPr lang="en-US" sz="900" dirty="0"/>
          </a:p>
        </p:txBody>
      </p:sp>
      <p:sp>
        <p:nvSpPr>
          <p:cNvPr id="25" name="Text 22"/>
          <p:cNvSpPr txBox="1"/>
          <p:nvPr/>
        </p:nvSpPr>
        <p:spPr>
          <a:xfrm>
            <a:off x="457200" y="2487168"/>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Egypt is in Africa.</a:t>
            </a:r>
            <a:endParaRPr lang="en-US" sz="1200" dirty="0"/>
          </a:p>
        </p:txBody>
      </p:sp>
      <p:sp>
        <p:nvSpPr>
          <p:cNvPr id="26" name="Shape 23"/>
          <p:cNvSpPr/>
          <p:nvPr/>
        </p:nvSpPr>
        <p:spPr>
          <a:xfrm>
            <a:off x="9089136" y="2487168"/>
            <a:ext cx="2642616" cy="592531"/>
          </a:xfrm>
          <a:prstGeom prst="roundRect">
            <a:avLst>
              <a:gd name="adj" fmla="val 9259"/>
            </a:avLst>
          </a:prstGeom>
          <a:solidFill>
            <a:srgbClr val="EEF3FA"/>
          </a:solidFill>
          <a:ln w="9525">
            <a:solidFill>
              <a:srgbClr val="EEF3FA"/>
            </a:solidFill>
            <a:prstDash val="solid"/>
          </a:ln>
        </p:spPr>
      </p:sp>
      <p:sp>
        <p:nvSpPr>
          <p:cNvPr id="27" name="Text 24"/>
          <p:cNvSpPr txBox="1"/>
          <p:nvPr/>
        </p:nvSpPr>
        <p:spPr>
          <a:xfrm>
            <a:off x="9162288"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مِصْرُ</a:t>
            </a:r>
            <a:endParaRPr lang="ar-SA" sz="2400" dirty="0"/>
          </a:p>
        </p:txBody>
      </p:sp>
      <p:sp>
        <p:nvSpPr>
          <p:cNvPr id="28" name="Shape 25"/>
          <p:cNvSpPr/>
          <p:nvPr/>
        </p:nvSpPr>
        <p:spPr>
          <a:xfrm>
            <a:off x="6336792" y="2487168"/>
            <a:ext cx="2642616" cy="592531"/>
          </a:xfrm>
          <a:prstGeom prst="roundRect">
            <a:avLst>
              <a:gd name="adj" fmla="val 9259"/>
            </a:avLst>
          </a:prstGeom>
          <a:solidFill>
            <a:srgbClr val="E3F2F3"/>
          </a:solidFill>
          <a:ln w="9525">
            <a:solidFill>
              <a:srgbClr val="E3F2F3"/>
            </a:solidFill>
            <a:prstDash val="solid"/>
          </a:ln>
        </p:spPr>
      </p:sp>
      <p:sp>
        <p:nvSpPr>
          <p:cNvPr id="29" name="Text 26"/>
          <p:cNvSpPr txBox="1"/>
          <p:nvPr/>
        </p:nvSpPr>
        <p:spPr>
          <a:xfrm>
            <a:off x="6409944"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فِي</a:t>
            </a:r>
            <a:endParaRPr lang="ar-SA" sz="2400" dirty="0"/>
          </a:p>
        </p:txBody>
      </p:sp>
      <p:sp>
        <p:nvSpPr>
          <p:cNvPr id="30" name="Shape 27"/>
          <p:cNvSpPr/>
          <p:nvPr/>
        </p:nvSpPr>
        <p:spPr>
          <a:xfrm>
            <a:off x="3584448" y="2487168"/>
            <a:ext cx="2642616" cy="592531"/>
          </a:xfrm>
          <a:prstGeom prst="roundRect">
            <a:avLst>
              <a:gd name="adj" fmla="val 9259"/>
            </a:avLst>
          </a:prstGeom>
          <a:solidFill>
            <a:srgbClr val="F8F0DC"/>
          </a:solidFill>
          <a:ln w="9525">
            <a:solidFill>
              <a:srgbClr val="F8F0DC"/>
            </a:solidFill>
            <a:prstDash val="solid"/>
          </a:ln>
        </p:spPr>
      </p:sp>
      <p:sp>
        <p:nvSpPr>
          <p:cNvPr id="31" name="Text 28"/>
          <p:cNvSpPr txBox="1"/>
          <p:nvPr/>
        </p:nvSpPr>
        <p:spPr>
          <a:xfrm>
            <a:off x="3657600"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أَفْرِيقِيَا.</a:t>
            </a:r>
            <a:endParaRPr lang="ar-SA" sz="2400" dirty="0"/>
          </a:p>
        </p:txBody>
      </p:sp>
      <p:sp>
        <p:nvSpPr>
          <p:cNvPr id="32" name="Text 29"/>
          <p:cNvSpPr txBox="1"/>
          <p:nvPr/>
        </p:nvSpPr>
        <p:spPr>
          <a:xfrm>
            <a:off x="457200" y="3189427"/>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Iraq is in Asia.</a:t>
            </a:r>
            <a:endParaRPr lang="en-US" sz="1200" dirty="0"/>
          </a:p>
        </p:txBody>
      </p:sp>
      <p:sp>
        <p:nvSpPr>
          <p:cNvPr id="33" name="Shape 30"/>
          <p:cNvSpPr/>
          <p:nvPr/>
        </p:nvSpPr>
        <p:spPr>
          <a:xfrm>
            <a:off x="9089136" y="3189427"/>
            <a:ext cx="2642616" cy="592531"/>
          </a:xfrm>
          <a:prstGeom prst="roundRect">
            <a:avLst>
              <a:gd name="adj" fmla="val 9259"/>
            </a:avLst>
          </a:prstGeom>
          <a:solidFill>
            <a:srgbClr val="EEF3FA"/>
          </a:solidFill>
          <a:ln w="9525">
            <a:solidFill>
              <a:srgbClr val="EEF3FA"/>
            </a:solidFill>
            <a:prstDash val="solid"/>
          </a:ln>
        </p:spPr>
      </p:sp>
      <p:sp>
        <p:nvSpPr>
          <p:cNvPr id="34" name="Text 31"/>
          <p:cNvSpPr txBox="1"/>
          <p:nvPr/>
        </p:nvSpPr>
        <p:spPr>
          <a:xfrm>
            <a:off x="9162288"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العِرَاقُ</a:t>
            </a:r>
            <a:endParaRPr lang="ar-SA" sz="2400" dirty="0"/>
          </a:p>
        </p:txBody>
      </p:sp>
      <p:sp>
        <p:nvSpPr>
          <p:cNvPr id="35" name="Shape 32"/>
          <p:cNvSpPr/>
          <p:nvPr/>
        </p:nvSpPr>
        <p:spPr>
          <a:xfrm>
            <a:off x="6336792" y="3189427"/>
            <a:ext cx="2642616" cy="592531"/>
          </a:xfrm>
          <a:prstGeom prst="roundRect">
            <a:avLst>
              <a:gd name="adj" fmla="val 9259"/>
            </a:avLst>
          </a:prstGeom>
          <a:solidFill>
            <a:srgbClr val="E3F2F3"/>
          </a:solidFill>
          <a:ln w="9525">
            <a:solidFill>
              <a:srgbClr val="E3F2F3"/>
            </a:solidFill>
            <a:prstDash val="solid"/>
          </a:ln>
        </p:spPr>
      </p:sp>
      <p:sp>
        <p:nvSpPr>
          <p:cNvPr id="36" name="Text 33"/>
          <p:cNvSpPr txBox="1"/>
          <p:nvPr/>
        </p:nvSpPr>
        <p:spPr>
          <a:xfrm>
            <a:off x="6409944"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فِي</a:t>
            </a:r>
            <a:endParaRPr lang="ar-SA" sz="2400" dirty="0"/>
          </a:p>
        </p:txBody>
      </p:sp>
      <p:sp>
        <p:nvSpPr>
          <p:cNvPr id="37" name="Shape 34"/>
          <p:cNvSpPr/>
          <p:nvPr/>
        </p:nvSpPr>
        <p:spPr>
          <a:xfrm>
            <a:off x="3584448" y="3189427"/>
            <a:ext cx="2642616" cy="592531"/>
          </a:xfrm>
          <a:prstGeom prst="roundRect">
            <a:avLst>
              <a:gd name="adj" fmla="val 9259"/>
            </a:avLst>
          </a:prstGeom>
          <a:solidFill>
            <a:srgbClr val="F8F0DC"/>
          </a:solidFill>
          <a:ln w="9525">
            <a:solidFill>
              <a:srgbClr val="F8F0DC"/>
            </a:solidFill>
            <a:prstDash val="solid"/>
          </a:ln>
        </p:spPr>
      </p:sp>
      <p:sp>
        <p:nvSpPr>
          <p:cNvPr id="38" name="Text 35"/>
          <p:cNvSpPr txBox="1"/>
          <p:nvPr/>
        </p:nvSpPr>
        <p:spPr>
          <a:xfrm>
            <a:off x="3657600"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آسِيَا.</a:t>
            </a:r>
            <a:endParaRPr lang="ar-SA" sz="2400" dirty="0"/>
          </a:p>
        </p:txBody>
      </p:sp>
      <p:sp>
        <p:nvSpPr>
          <p:cNvPr id="39" name="Text 36"/>
          <p:cNvSpPr txBox="1"/>
          <p:nvPr/>
        </p:nvSpPr>
        <p:spPr>
          <a:xfrm>
            <a:off x="457200" y="3891686"/>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Morocco is west of Algeria.</a:t>
            </a:r>
            <a:endParaRPr lang="en-US" sz="1200" dirty="0"/>
          </a:p>
        </p:txBody>
      </p:sp>
      <p:sp>
        <p:nvSpPr>
          <p:cNvPr id="40" name="Shape 37"/>
          <p:cNvSpPr/>
          <p:nvPr/>
        </p:nvSpPr>
        <p:spPr>
          <a:xfrm>
            <a:off x="9089136" y="3891686"/>
            <a:ext cx="2642616" cy="592531"/>
          </a:xfrm>
          <a:prstGeom prst="roundRect">
            <a:avLst>
              <a:gd name="adj" fmla="val 9259"/>
            </a:avLst>
          </a:prstGeom>
          <a:solidFill>
            <a:srgbClr val="EEF3FA"/>
          </a:solidFill>
          <a:ln w="9525">
            <a:solidFill>
              <a:srgbClr val="EEF3FA"/>
            </a:solidFill>
            <a:prstDash val="solid"/>
          </a:ln>
        </p:spPr>
      </p:sp>
      <p:sp>
        <p:nvSpPr>
          <p:cNvPr id="41" name="Text 38"/>
          <p:cNvSpPr txBox="1"/>
          <p:nvPr/>
        </p:nvSpPr>
        <p:spPr>
          <a:xfrm>
            <a:off x="9162288"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المَغْرِبُ</a:t>
            </a:r>
            <a:endParaRPr lang="ar-SA" sz="2400" dirty="0"/>
          </a:p>
        </p:txBody>
      </p:sp>
      <p:sp>
        <p:nvSpPr>
          <p:cNvPr id="42" name="Shape 39"/>
          <p:cNvSpPr/>
          <p:nvPr/>
        </p:nvSpPr>
        <p:spPr>
          <a:xfrm>
            <a:off x="6336792" y="3891686"/>
            <a:ext cx="2642616" cy="592531"/>
          </a:xfrm>
          <a:prstGeom prst="roundRect">
            <a:avLst>
              <a:gd name="adj" fmla="val 9259"/>
            </a:avLst>
          </a:prstGeom>
          <a:solidFill>
            <a:srgbClr val="E3F2F3"/>
          </a:solidFill>
          <a:ln w="9525">
            <a:solidFill>
              <a:srgbClr val="E3F2F3"/>
            </a:solidFill>
            <a:prstDash val="solid"/>
          </a:ln>
        </p:spPr>
      </p:sp>
      <p:sp>
        <p:nvSpPr>
          <p:cNvPr id="43" name="Text 40"/>
          <p:cNvSpPr txBox="1"/>
          <p:nvPr/>
        </p:nvSpPr>
        <p:spPr>
          <a:xfrm>
            <a:off x="6409944"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غَرْبَ</a:t>
            </a:r>
            <a:endParaRPr lang="ar-SA" sz="2400" dirty="0"/>
          </a:p>
        </p:txBody>
      </p:sp>
      <p:sp>
        <p:nvSpPr>
          <p:cNvPr id="44" name="Shape 41"/>
          <p:cNvSpPr/>
          <p:nvPr/>
        </p:nvSpPr>
        <p:spPr>
          <a:xfrm>
            <a:off x="3584448" y="3891686"/>
            <a:ext cx="2642616" cy="592531"/>
          </a:xfrm>
          <a:prstGeom prst="roundRect">
            <a:avLst>
              <a:gd name="adj" fmla="val 9259"/>
            </a:avLst>
          </a:prstGeom>
          <a:solidFill>
            <a:srgbClr val="F8F0DC"/>
          </a:solidFill>
          <a:ln w="9525">
            <a:solidFill>
              <a:srgbClr val="F8F0DC"/>
            </a:solidFill>
            <a:prstDash val="solid"/>
          </a:ln>
        </p:spPr>
      </p:sp>
      <p:sp>
        <p:nvSpPr>
          <p:cNvPr id="45" name="Text 42"/>
          <p:cNvSpPr txBox="1"/>
          <p:nvPr/>
        </p:nvSpPr>
        <p:spPr>
          <a:xfrm>
            <a:off x="3657600"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الجَزَائِرِ.</a:t>
            </a:r>
            <a:endParaRPr lang="ar-SA" sz="2400" dirty="0"/>
          </a:p>
        </p:txBody>
      </p:sp>
      <p:sp>
        <p:nvSpPr>
          <p:cNvPr id="46" name="Text 43"/>
          <p:cNvSpPr txBox="1"/>
          <p:nvPr/>
        </p:nvSpPr>
        <p:spPr>
          <a:xfrm>
            <a:off x="457200" y="4593946"/>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Yemen is south of Saudi Arabia.</a:t>
            </a:r>
            <a:endParaRPr lang="en-US" sz="1200" dirty="0"/>
          </a:p>
        </p:txBody>
      </p:sp>
      <p:sp>
        <p:nvSpPr>
          <p:cNvPr id="47" name="Shape 44"/>
          <p:cNvSpPr/>
          <p:nvPr/>
        </p:nvSpPr>
        <p:spPr>
          <a:xfrm>
            <a:off x="9089136" y="4593946"/>
            <a:ext cx="2642616" cy="592531"/>
          </a:xfrm>
          <a:prstGeom prst="roundRect">
            <a:avLst>
              <a:gd name="adj" fmla="val 9259"/>
            </a:avLst>
          </a:prstGeom>
          <a:solidFill>
            <a:srgbClr val="EEF3FA"/>
          </a:solidFill>
          <a:ln w="9525">
            <a:solidFill>
              <a:srgbClr val="EEF3FA"/>
            </a:solidFill>
            <a:prstDash val="solid"/>
          </a:ln>
        </p:spPr>
      </p:sp>
      <p:sp>
        <p:nvSpPr>
          <p:cNvPr id="48" name="Text 45"/>
          <p:cNvSpPr txBox="1"/>
          <p:nvPr/>
        </p:nvSpPr>
        <p:spPr>
          <a:xfrm>
            <a:off x="9162288"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اليَمَنُ</a:t>
            </a:r>
            <a:endParaRPr lang="ar-SA" sz="2400" dirty="0"/>
          </a:p>
        </p:txBody>
      </p:sp>
      <p:sp>
        <p:nvSpPr>
          <p:cNvPr id="49" name="Shape 46"/>
          <p:cNvSpPr/>
          <p:nvPr/>
        </p:nvSpPr>
        <p:spPr>
          <a:xfrm>
            <a:off x="6336792" y="4593946"/>
            <a:ext cx="2642616" cy="592531"/>
          </a:xfrm>
          <a:prstGeom prst="roundRect">
            <a:avLst>
              <a:gd name="adj" fmla="val 9259"/>
            </a:avLst>
          </a:prstGeom>
          <a:solidFill>
            <a:srgbClr val="E3F2F3"/>
          </a:solidFill>
          <a:ln w="9525">
            <a:solidFill>
              <a:srgbClr val="E3F2F3"/>
            </a:solidFill>
            <a:prstDash val="solid"/>
          </a:ln>
        </p:spPr>
      </p:sp>
      <p:sp>
        <p:nvSpPr>
          <p:cNvPr id="50" name="Text 47"/>
          <p:cNvSpPr txBox="1"/>
          <p:nvPr/>
        </p:nvSpPr>
        <p:spPr>
          <a:xfrm>
            <a:off x="6409944"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جَنُوبَ</a:t>
            </a:r>
            <a:endParaRPr lang="ar-SA" sz="2400" dirty="0"/>
          </a:p>
        </p:txBody>
      </p:sp>
      <p:sp>
        <p:nvSpPr>
          <p:cNvPr id="51" name="Shape 48"/>
          <p:cNvSpPr/>
          <p:nvPr/>
        </p:nvSpPr>
        <p:spPr>
          <a:xfrm>
            <a:off x="3584448" y="4593946"/>
            <a:ext cx="2642616" cy="592531"/>
          </a:xfrm>
          <a:prstGeom prst="roundRect">
            <a:avLst>
              <a:gd name="adj" fmla="val 9259"/>
            </a:avLst>
          </a:prstGeom>
          <a:solidFill>
            <a:srgbClr val="F8F0DC"/>
          </a:solidFill>
          <a:ln w="9525">
            <a:solidFill>
              <a:srgbClr val="F8F0DC"/>
            </a:solidFill>
            <a:prstDash val="solid"/>
          </a:ln>
        </p:spPr>
      </p:sp>
      <p:sp>
        <p:nvSpPr>
          <p:cNvPr id="52" name="Text 49"/>
          <p:cNvSpPr txBox="1"/>
          <p:nvPr/>
        </p:nvSpPr>
        <p:spPr>
          <a:xfrm>
            <a:off x="3657600"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السُّعُودِيَّةِ.</a:t>
            </a:r>
            <a:endParaRPr lang="ar-SA" sz="2400" dirty="0"/>
          </a:p>
        </p:txBody>
      </p:sp>
      <p:sp>
        <p:nvSpPr>
          <p:cNvPr id="53" name="Text 50"/>
          <p:cNvSpPr txBox="1"/>
          <p:nvPr/>
        </p:nvSpPr>
        <p:spPr>
          <a:xfrm>
            <a:off x="457200" y="5296205"/>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France is north of Spain. (website game)</a:t>
            </a:r>
            <a:endParaRPr lang="en-US" sz="1200" dirty="0"/>
          </a:p>
        </p:txBody>
      </p:sp>
      <p:sp>
        <p:nvSpPr>
          <p:cNvPr id="54" name="Shape 51"/>
          <p:cNvSpPr/>
          <p:nvPr/>
        </p:nvSpPr>
        <p:spPr>
          <a:xfrm>
            <a:off x="9089136" y="5296205"/>
            <a:ext cx="2642616" cy="592531"/>
          </a:xfrm>
          <a:prstGeom prst="roundRect">
            <a:avLst>
              <a:gd name="adj" fmla="val 9259"/>
            </a:avLst>
          </a:prstGeom>
          <a:solidFill>
            <a:srgbClr val="EEF3FA"/>
          </a:solidFill>
          <a:ln w="9525">
            <a:solidFill>
              <a:srgbClr val="EEF3FA"/>
            </a:solidFill>
            <a:prstDash val="solid"/>
          </a:ln>
        </p:spPr>
      </p:sp>
      <p:sp>
        <p:nvSpPr>
          <p:cNvPr id="55" name="Text 52"/>
          <p:cNvSpPr txBox="1"/>
          <p:nvPr/>
        </p:nvSpPr>
        <p:spPr>
          <a:xfrm>
            <a:off x="9162288"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فَرَنْسَا</a:t>
            </a:r>
            <a:endParaRPr lang="ar-SA" sz="2400" dirty="0"/>
          </a:p>
        </p:txBody>
      </p:sp>
      <p:sp>
        <p:nvSpPr>
          <p:cNvPr id="56" name="Shape 53"/>
          <p:cNvSpPr/>
          <p:nvPr/>
        </p:nvSpPr>
        <p:spPr>
          <a:xfrm>
            <a:off x="6336792" y="5296205"/>
            <a:ext cx="2642616" cy="592531"/>
          </a:xfrm>
          <a:prstGeom prst="roundRect">
            <a:avLst>
              <a:gd name="adj" fmla="val 9259"/>
            </a:avLst>
          </a:prstGeom>
          <a:solidFill>
            <a:srgbClr val="E3F2F3"/>
          </a:solidFill>
          <a:ln w="9525">
            <a:solidFill>
              <a:srgbClr val="E3F2F3"/>
            </a:solidFill>
            <a:prstDash val="solid"/>
          </a:ln>
        </p:spPr>
      </p:sp>
      <p:sp>
        <p:nvSpPr>
          <p:cNvPr id="57" name="Text 54"/>
          <p:cNvSpPr txBox="1"/>
          <p:nvPr/>
        </p:nvSpPr>
        <p:spPr>
          <a:xfrm>
            <a:off x="6409944"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شَمَالَ</a:t>
            </a:r>
            <a:endParaRPr lang="ar-SA" sz="2400" dirty="0"/>
          </a:p>
        </p:txBody>
      </p:sp>
      <p:sp>
        <p:nvSpPr>
          <p:cNvPr id="58" name="Shape 55"/>
          <p:cNvSpPr/>
          <p:nvPr/>
        </p:nvSpPr>
        <p:spPr>
          <a:xfrm>
            <a:off x="3584448" y="5296205"/>
            <a:ext cx="2642616" cy="592531"/>
          </a:xfrm>
          <a:prstGeom prst="roundRect">
            <a:avLst>
              <a:gd name="adj" fmla="val 9259"/>
            </a:avLst>
          </a:prstGeom>
          <a:solidFill>
            <a:srgbClr val="F8F0DC"/>
          </a:solidFill>
          <a:ln w="9525">
            <a:solidFill>
              <a:srgbClr val="F8F0DC"/>
            </a:solidFill>
            <a:prstDash val="solid"/>
          </a:ln>
        </p:spPr>
      </p:sp>
      <p:sp>
        <p:nvSpPr>
          <p:cNvPr id="59" name="Text 56"/>
          <p:cNvSpPr txBox="1"/>
          <p:nvPr/>
        </p:nvSpPr>
        <p:spPr>
          <a:xfrm>
            <a:off x="3657600"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إِسْبَانْيَا.</a:t>
            </a:r>
            <a:endParaRPr lang="ar-SA" sz="2400" dirty="0"/>
          </a:p>
        </p:txBody>
      </p:sp>
      <p:sp>
        <p:nvSpPr>
          <p:cNvPr id="60" name="Text 57"/>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 word for “is”: </a:t>
            </a:r>
            <a:pPr algn="l" indent="0" marL="0">
              <a:buNone/>
            </a:pPr>
            <a:r>
              <a:rPr lang="ar-SA" altLang="en-US" sz="1550" b="1" dirty="0">
                <a:solidFill>
                  <a:srgbClr val="8A6D1E"/>
                </a:solidFill>
                <a:latin typeface="Amiri" pitchFamily="34" charset="0"/>
                <a:ea typeface="Amiri" pitchFamily="34" charset="-122"/>
                <a:cs typeface="Amiri" pitchFamily="34" charset="-120"/>
              </a:rPr>
              <a:t>مِصْرُ فِي أَفْرِيقِيَا</a:t>
            </a:r>
            <a:pPr algn="l" indent="0" marL="0">
              <a:buNone/>
            </a:pPr>
            <a:r>
              <a:rPr lang="en-US" sz="1200" b="1" dirty="0">
                <a:solidFill>
                  <a:srgbClr val="8A6D1E"/>
                </a:solidFill>
                <a:latin typeface="Calibri" pitchFamily="34" charset="0"/>
                <a:ea typeface="Calibri" pitchFamily="34" charset="-122"/>
                <a:cs typeface="Calibri" pitchFamily="34" charset="-120"/>
              </a:rPr>
              <a:t> = Egypt (is) in Africa. Use </a:t>
            </a:r>
            <a:pPr algn="l" indent="0" marL="0">
              <a:buNone/>
            </a:pPr>
            <a:r>
              <a:rPr lang="ar-SA" altLang="en-US" sz="1550" b="1" dirty="0">
                <a:solidFill>
                  <a:srgbClr val="8A6D1E"/>
                </a:solidFill>
                <a:latin typeface="Amiri" pitchFamily="34" charset="0"/>
                <a:ea typeface="Amiri" pitchFamily="34" charset="-122"/>
                <a:cs typeface="Amiri" pitchFamily="34" charset="-120"/>
              </a:rPr>
              <a:t>شَمَالَ / جَنُوبَ / شَرْقَ / غَرْبَ</a:t>
            </a:r>
            <a:pPr algn="l" indent="0" marL="0">
              <a:buNone/>
            </a:pPr>
            <a:r>
              <a:rPr lang="en-US" sz="1200" b="1" dirty="0">
                <a:solidFill>
                  <a:srgbClr val="8A6D1E"/>
                </a:solidFill>
                <a:latin typeface="Calibri" pitchFamily="34" charset="0"/>
                <a:ea typeface="Calibri" pitchFamily="34" charset="-122"/>
                <a:cs typeface="Calibri" pitchFamily="34" charset="-120"/>
              </a:rPr>
              <a:t> + a place.</a:t>
            </a:r>
            <a:endParaRPr lang="en-US" sz="12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Country names that refuse tanwīn</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المَمْنُوعُ مِنَ الصَّرْفِ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68580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NORMAL</a:t>
            </a:r>
            <a:endParaRPr lang="en-US" sz="850" dirty="0"/>
          </a:p>
        </p:txBody>
      </p:sp>
      <p:sp>
        <p:nvSpPr>
          <p:cNvPr id="20" name="Text 17"/>
          <p:cNvSpPr txBox="1"/>
          <p:nvPr/>
        </p:nvSpPr>
        <p:spPr>
          <a:xfrm>
            <a:off x="8964168" y="1874520"/>
            <a:ext cx="26304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العِرَاقِ</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مِنَ العِرَاقِ</a:t>
            </a:r>
            <a:endParaRPr lang="ar-SA" sz="32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from Iraq — normal kasra </a:t>
            </a:r>
            <a:pPr algn="ctr" indent="0" marL="0">
              <a:buNone/>
            </a:pPr>
            <a:r>
              <a:rPr lang="ar-SA" altLang="en-US" sz="1550" dirty="0">
                <a:solidFill>
                  <a:srgbClr val="5A6472"/>
                </a:solidFill>
                <a:latin typeface="Amiri" pitchFamily="34" charset="0"/>
                <a:ea typeface="Amiri" pitchFamily="34" charset="-122"/>
                <a:cs typeface="Amiri" pitchFamily="34" charset="-120"/>
              </a:rPr>
              <a:t>ـِ</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Most country names with </a:t>
            </a:r>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take the normal kasra after </a:t>
            </a:r>
            <a:pPr algn="l" indent="0" marL="0">
              <a:buNone/>
            </a:pPr>
            <a:r>
              <a:rPr lang="ar-SA" altLang="en-US" sz="1450" dirty="0">
                <a:solidFill>
                  <a:srgbClr val="1F2A37"/>
                </a:solidFill>
                <a:latin typeface="Amiri" pitchFamily="34" charset="0"/>
                <a:ea typeface="Amiri" pitchFamily="34" charset="-122"/>
                <a:cs typeface="Amiri" pitchFamily="34" charset="-120"/>
              </a:rPr>
              <a:t>مِنْ / فِي / إِلَى</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0876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DIPTOTE · GENITIVE</a:t>
            </a:r>
            <a:endParaRPr lang="en-US" sz="850" dirty="0"/>
          </a:p>
        </p:txBody>
      </p:sp>
      <p:sp>
        <p:nvSpPr>
          <p:cNvPr id="28" name="Text 25"/>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لُبْنَانَ</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أَنَا مِنْ لُبْنَانَ</a:t>
            </a:r>
            <a:endParaRPr lang="ar-SA" sz="320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am from Lebanon — fatḥa </a:t>
            </a:r>
            <a:pPr algn="ctr" indent="0" marL="0">
              <a:buNone/>
            </a:pPr>
            <a:r>
              <a:rPr lang="ar-SA" altLang="en-US" sz="1550" dirty="0">
                <a:solidFill>
                  <a:srgbClr val="5A6472"/>
                </a:solidFill>
                <a:latin typeface="Amiri" pitchFamily="34" charset="0"/>
                <a:ea typeface="Amiri" pitchFamily="34" charset="-122"/>
                <a:cs typeface="Amiri" pitchFamily="34" charset="-120"/>
              </a:rPr>
              <a:t>ـَ</a:t>
            </a:r>
            <a:pPr algn="ctr" indent="0" marL="0">
              <a:buNone/>
            </a:pPr>
            <a:r>
              <a:rPr lang="en-US" sz="1200" i="1" dirty="0">
                <a:solidFill>
                  <a:srgbClr val="5A6472"/>
                </a:solidFill>
                <a:latin typeface="Calibri" pitchFamily="34" charset="0"/>
                <a:ea typeface="Calibri" pitchFamily="34" charset="-122"/>
                <a:cs typeface="Calibri" pitchFamily="34" charset="-120"/>
              </a:rPr>
              <a:t>, never </a:t>
            </a:r>
            <a:pPr algn="ctr" indent="0" marL="0">
              <a:buNone/>
            </a:pPr>
            <a:r>
              <a:rPr lang="ar-SA" altLang="en-US" sz="1550" dirty="0">
                <a:solidFill>
                  <a:srgbClr val="5A6472"/>
                </a:solidFill>
                <a:latin typeface="Amiri" pitchFamily="34" charset="0"/>
                <a:ea typeface="Amiri" pitchFamily="34" charset="-122"/>
                <a:cs typeface="Amiri" pitchFamily="34" charset="-120"/>
              </a:rPr>
              <a:t>ـٍ</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Diptotes: </a:t>
            </a:r>
            <a:pPr algn="l" indent="0" marL="0">
              <a:buNone/>
            </a:pPr>
            <a:r>
              <a:rPr lang="ar-SA" altLang="en-US" sz="1450" dirty="0">
                <a:solidFill>
                  <a:srgbClr val="1F2A37"/>
                </a:solidFill>
                <a:latin typeface="Amiri" pitchFamily="34" charset="0"/>
                <a:ea typeface="Amiri" pitchFamily="34" charset="-122"/>
                <a:cs typeface="Amiri" pitchFamily="34" charset="-120"/>
              </a:rPr>
              <a:t>مِصْرُ، لُبْنَانُ، قَطَرُ، عُمَانُ، تُونُسُ، فِلَسْطِينُ</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1645920" cy="274320"/>
          </a:xfrm>
          <a:prstGeom prst="roundRect">
            <a:avLst>
              <a:gd name="adj" fmla="val 50000"/>
            </a:avLst>
          </a:prstGeom>
          <a:solidFill>
            <a:srgbClr val="7B3FA0"/>
          </a:solidFill>
          <a:ln w="12700">
            <a:solidFill>
              <a:srgbClr val="7B3FA0"/>
            </a:solidFill>
            <a:prstDash val="solid"/>
          </a:ln>
        </p:spPr>
      </p:sp>
      <p:sp>
        <p:nvSpPr>
          <p:cNvPr id="35" name="Text 32"/>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DIPTOTE · ACCUSATIVE</a:t>
            </a:r>
            <a:endParaRPr lang="en-US" sz="850" dirty="0"/>
          </a:p>
        </p:txBody>
      </p:sp>
      <p:sp>
        <p:nvSpPr>
          <p:cNvPr id="36" name="Text 33"/>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زُرْتُ مِصْرَ</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زُرْتُ مِصْرَ فِي الصَّيْفِ</a:t>
            </a:r>
            <a:endParaRPr lang="ar-SA" sz="32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visited Egypt in the summer — never </a:t>
            </a:r>
            <a:pPr algn="ctr" indent="0" marL="0">
              <a:buNone/>
            </a:pPr>
            <a:r>
              <a:rPr lang="ar-SA" altLang="en-US" sz="1550" dirty="0">
                <a:solidFill>
                  <a:srgbClr val="5A6472"/>
                </a:solidFill>
                <a:latin typeface="Amiri" pitchFamily="34" charset="0"/>
                <a:ea typeface="Amiri" pitchFamily="34" charset="-122"/>
                <a:cs typeface="Amiri" pitchFamily="34" charset="-120"/>
              </a:rPr>
              <a:t>مِصْرًا</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a verb the diptote also takes a bare fatḥa.</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Adding tanwīn to a diptote — writing </a:t>
            </a:r>
            <a:pPr algn="l" indent="0" marL="0">
              <a:buNone/>
            </a:pPr>
            <a:r>
              <a:rPr lang="ar-SA" altLang="en-US" sz="1500" dirty="0">
                <a:solidFill>
                  <a:srgbClr val="1F2A37"/>
                </a:solidFill>
                <a:latin typeface="Amiri" pitchFamily="34" charset="0"/>
                <a:ea typeface="Amiri" pitchFamily="34" charset="-122"/>
                <a:cs typeface="Amiri" pitchFamily="34" charset="-120"/>
              </a:rPr>
              <a:t>مِنْ لُبْنَانٍ</a:t>
            </a:r>
            <a:pPr algn="l" indent="0" marL="0">
              <a:buNone/>
            </a:pPr>
            <a:r>
              <a:rPr lang="en-US" sz="1150" dirty="0">
                <a:solidFill>
                  <a:srgbClr val="1F2A37"/>
                </a:solidFill>
                <a:latin typeface="Calibri" pitchFamily="34" charset="0"/>
                <a:ea typeface="Calibri" pitchFamily="34" charset="-122"/>
                <a:cs typeface="Calibri" pitchFamily="34" charset="-120"/>
              </a:rPr>
              <a:t> or </a:t>
            </a:r>
            <a:pPr algn="l" indent="0" marL="0">
              <a:buNone/>
            </a:pPr>
            <a:r>
              <a:rPr lang="ar-SA" altLang="en-US" sz="1500" dirty="0">
                <a:solidFill>
                  <a:srgbClr val="1F2A37"/>
                </a:solidFill>
                <a:latin typeface="Amiri" pitchFamily="34" charset="0"/>
                <a:ea typeface="Amiri" pitchFamily="34" charset="-122"/>
                <a:cs typeface="Amiri" pitchFamily="34" charset="-120"/>
              </a:rPr>
              <a:t>زُرْتُ مِصْرًا</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مِنْ لُبْنَانَ</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مِنْ لُبْنَانٍ</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زُرْتُ مِصْرَ</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زُرْتُ مِصْرًا</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rules with website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Forming the nisba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country + </a:t>
            </a:r>
            <a:pPr algn="l" indent="0" marL="0">
              <a:buNone/>
            </a:pPr>
            <a:r>
              <a:rPr lang="ar-SA" altLang="en-US" sz="1350" dirty="0">
                <a:solidFill>
                  <a:srgbClr val="5A6472"/>
                </a:solidFill>
                <a:latin typeface="Amiri" pitchFamily="34" charset="0"/>
                <a:ea typeface="Amiri" pitchFamily="34" charset="-122"/>
                <a:cs typeface="Amiri" pitchFamily="34" charset="-120"/>
              </a:rPr>
              <a:t>ـِيٌّ</a:t>
            </a:r>
            <a:pPr algn="l" indent="0" marL="0">
              <a:buNone/>
            </a:pPr>
            <a:r>
              <a:rPr lang="en-US" sz="1050" dirty="0">
                <a:solidFill>
                  <a:srgbClr val="5A6472"/>
                </a:solidFill>
                <a:latin typeface="Calibri" pitchFamily="34" charset="0"/>
                <a:ea typeface="Calibri" pitchFamily="34" charset="-122"/>
                <a:cs typeface="Calibri" pitchFamily="34" charset="-120"/>
              </a:rPr>
              <a:t> (m.) / </a:t>
            </a:r>
            <a:pPr algn="l" indent="0" marL="0">
              <a:buNone/>
            </a:pPr>
            <a:r>
              <a:rPr lang="ar-SA" altLang="en-US" sz="1350" dirty="0">
                <a:solidFill>
                  <a:srgbClr val="5A6472"/>
                </a:solidFill>
                <a:latin typeface="Amiri" pitchFamily="34" charset="0"/>
                <a:ea typeface="Amiri" pitchFamily="34" charset="-122"/>
                <a:cs typeface="Amiri" pitchFamily="34" charset="-120"/>
              </a:rPr>
              <a:t>ـِيَّةٌ</a:t>
            </a:r>
            <a:pPr algn="l" indent="0" marL="0">
              <a:buNone/>
            </a:pPr>
            <a:r>
              <a:rPr lang="en-US" sz="1050" dirty="0">
                <a:solidFill>
                  <a:srgbClr val="5A6472"/>
                </a:solidFill>
                <a:latin typeface="Calibri" pitchFamily="34" charset="0"/>
                <a:ea typeface="Calibri" pitchFamily="34" charset="-122"/>
                <a:cs typeface="Calibri" pitchFamily="34" charset="-120"/>
              </a:rPr>
              <a:t> (f.)</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المَغْرِب ← مَغْرِبِيٌّ / مَغْرِبِيَّةٌ   ·   السُّعُودِيَّة ← سُعُودِيٌّ / سُعُودِيَّةٌ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Diptote country names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no tanwīn; fatḥa instead of kasra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أَنَا مِنْ لُبْنَانَ   ·   زُرْتُ مِصْرَ فِي الصَّيْفِ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Past for history, present for today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نَشَأَتْ / اتَّسَعَ</a:t>
            </a:r>
            <a:pPr algn="l" indent="0" marL="0">
              <a:buNone/>
            </a:pPr>
            <a:r>
              <a:rPr lang="en-US" sz="1050" dirty="0">
                <a:solidFill>
                  <a:srgbClr val="5A6472"/>
                </a:solidFill>
                <a:latin typeface="Calibri" pitchFamily="34" charset="0"/>
                <a:ea typeface="Calibri" pitchFamily="34" charset="-122"/>
                <a:cs typeface="Calibri" pitchFamily="34" charset="-120"/>
              </a:rPr>
              <a:t> … vs </a:t>
            </a:r>
            <a:pPr algn="l" indent="0" marL="0">
              <a:buNone/>
            </a:pPr>
            <a:r>
              <a:rPr lang="ar-SA" altLang="en-US" sz="1350" dirty="0">
                <a:solidFill>
                  <a:srgbClr val="5A6472"/>
                </a:solidFill>
                <a:latin typeface="Amiri" pitchFamily="34" charset="0"/>
                <a:ea typeface="Amiri" pitchFamily="34" charset="-122"/>
                <a:cs typeface="Amiri" pitchFamily="34" charset="-120"/>
              </a:rPr>
              <a:t>تُهَيْمِنُ / تُعَدُّ</a:t>
            </a:r>
            <a:pPr algn="l" indent="0" marL="0">
              <a:buNone/>
            </a:pPr>
            <a:r>
              <a:rPr lang="en-US" sz="1050" dirty="0">
                <a:solidFill>
                  <a:srgbClr val="5A6472"/>
                </a:solidFill>
                <a:latin typeface="Calibri" pitchFamily="34" charset="0"/>
                <a:ea typeface="Calibri" pitchFamily="34" charset="-122"/>
                <a:cs typeface="Calibri" pitchFamily="34" charset="-120"/>
              </a:rPr>
              <a:t>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نَشَأَتِ الحَضَارَةُ العَرَبِيَّةُ فِي هٰذِهِ المِنْطَقَةِ   ·   تُعَدُّ العَرَبِيَّةُ مِنْ أَكْثَرِ اللُّغَاتِ انْتِشَارًا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Describing language use accurately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فِي بَعْضِ الدُّوَلِ / إِلَى جَانِبِ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الأَمَازِيغِيَّةُ لُغَةٌ رَسْمِيَّةٌ فِي المَغْرِبِ وَالجَزَائِرِ   ·   تُسْتَعْمَلُ الكُرْدِيَّةُ إِلَى جَانِبِ العَرَبِيَّةِ فِي العِرَاقِ</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masculine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المَغْرِب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feminine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تُونُس</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طَالِبَةٌ جَزَائِرِيٌّ.</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طَالِبَةٌ جَزَائِرِيَّةٌ.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طَالِبٌ جَزَائِرِيَّةٌ.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هُوَ مُهَنْدِسٌ</a:t>
            </a:r>
            <a:pPr algn="l" indent="0" marL="0">
              <a:buNone/>
            </a:pPr>
            <a:r>
              <a:rPr lang="en-US" sz="1250" b="1" dirty="0">
                <a:solidFill>
                  <a:srgbClr val="1B3B6F"/>
                </a:solidFill>
                <a:latin typeface="Calibri" pitchFamily="34" charset="0"/>
                <a:ea typeface="Calibri" pitchFamily="34" charset="-122"/>
                <a:cs typeface="Calibri" pitchFamily="34" charset="-120"/>
              </a:rPr>
              <a:t> ___ .</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جَزَائِرِيٌّ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جَزَائِرِيَّةٌ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جَزَائِرَةٌ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masculine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المَغْرِب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مَغْرِبَةٌ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مَغْرِبِيَّةٌ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مَغْرِبِيٌّ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masculine nisba ends in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with a shadda.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feminine nationality for </a:t>
            </a:r>
            <a:pPr algn="l" indent="0" marL="0">
              <a:buNone/>
            </a:pPr>
            <a:r>
              <a:rPr lang="ar-SA" altLang="en-US" sz="1650" b="1" dirty="0">
                <a:solidFill>
                  <a:srgbClr val="1B3B6F"/>
                </a:solidFill>
                <a:latin typeface="Amiri" pitchFamily="34" charset="0"/>
                <a:ea typeface="Amiri" pitchFamily="34" charset="-122"/>
                <a:cs typeface="Amiri" pitchFamily="34" charset="-120"/>
              </a:rPr>
              <a:t>تُونُس</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تُونُسِيَّةٌ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تُونُسِيٌّ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تُونُسَةٌ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nisba adds tāʾ marbūṭa after the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ending.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طَالِبَةٌ جَزَائِرِيٌّ.</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هِيَ طَالِبَةٌ جَزَائِرِيَّةٌ.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طَالِبٌ جَزَائِرِيَّةٌ.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the noun and its nisba adjective are feminine.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هُوَ مُهَنْدِسٌ</a:t>
            </a:r>
            <a:pPr algn="l" indent="0" marL="0">
              <a:buNone/>
            </a:pPr>
            <a:r>
              <a:rPr lang="en-US" sz="1250" b="1" dirty="0">
                <a:solidFill>
                  <a:srgbClr val="1B3B6F"/>
                </a:solidFill>
                <a:latin typeface="Calibri" pitchFamily="34" charset="0"/>
                <a:ea typeface="Calibri" pitchFamily="34" charset="-122"/>
                <a:cs typeface="Calibri" pitchFamily="34" charset="-120"/>
              </a:rPr>
              <a:t> ___ .</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جَزَائِرِيٌّ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جَزَائِرِيَّةٌ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جَزَائِرَةٌ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masculine noun takes a masculine nisba.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build one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Choose a country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34" charset="0"/>
                <a:ea typeface="Amiri" pitchFamily="34" charset="-122"/>
                <a:cs typeface="Amiri" pitchFamily="34" charset="-120"/>
              </a:rPr>
              <a:t>المَغْرِبُ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Start with the country. </a:t>
            </a:r>
            <a:pPr algn="l" indent="0" marL="0">
              <a:buNone/>
            </a:pPr>
            <a:r>
              <a:rPr lang="ar-SA" altLang="en-US" sz="1500" dirty="0">
                <a:solidFill>
                  <a:srgbClr val="1F2A37"/>
                </a:solidFill>
                <a:latin typeface="Amiri" pitchFamily="34" charset="0"/>
                <a:ea typeface="Amiri" pitchFamily="34" charset="-122"/>
                <a:cs typeface="Amiri" pitchFamily="34" charset="-120"/>
              </a:rPr>
              <a:t>المَغْرِبُ</a:t>
            </a:r>
            <a:pPr algn="l" indent="0" marL="0">
              <a:buNone/>
            </a:pPr>
            <a:r>
              <a:rPr lang="en-US" sz="1150" dirty="0">
                <a:solidFill>
                  <a:srgbClr val="1F2A37"/>
                </a:solidFill>
                <a:latin typeface="Calibri" pitchFamily="34" charset="0"/>
                <a:ea typeface="Calibri" pitchFamily="34" charset="-122"/>
                <a:cs typeface="Calibri" pitchFamily="34" charset="-120"/>
              </a:rPr>
              <a:t> = “the West” (like Maghrib prayer).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Say where it 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فِي شَمَالِ</a:t>
            </a:r>
            <a:pPr rtl="1" algn="ctr" indent="0" marL="0">
              <a:buNone/>
            </a:pPr>
            <a:r>
              <a:rPr lang="ar-SA" altLang="en-US" sz="2800" b="1" dirty="0">
                <a:solidFill>
                  <a:srgbClr val="1B3B6F"/>
                </a:solidFill>
                <a:latin typeface="Amiri" pitchFamily="34" charset="0"/>
                <a:ea typeface="Amiri" pitchFamily="34" charset="-122"/>
                <a:cs typeface="Amiri" pitchFamily="34" charset="-120"/>
              </a:rPr>
              <a:t> أَفْرِيقِيَا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No word for “is”: country +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 + place.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 the capital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وَعَاصِمَتُهُ الرِّبَاطُ</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عَاصِمَة</a:t>
            </a:r>
            <a:pPr algn="l" indent="0" marL="0">
              <a:buNone/>
            </a:pPr>
            <a:r>
              <a:rPr lang="en-US" sz="1150" dirty="0">
                <a:solidFill>
                  <a:srgbClr val="1F2A37"/>
                </a:solidFill>
                <a:latin typeface="Calibri" pitchFamily="34" charset="0"/>
                <a:ea typeface="Calibri" pitchFamily="34" charset="-122"/>
                <a:cs typeface="Calibri" pitchFamily="34" charset="-120"/>
              </a:rPr>
              <a:t> = capital. </a:t>
            </a:r>
            <a:pPr algn="l" indent="0" marL="0">
              <a:buNone/>
            </a:pPr>
            <a:r>
              <a:rPr lang="ar-SA" altLang="en-US" sz="1500" dirty="0">
                <a:solidFill>
                  <a:srgbClr val="1F2A37"/>
                </a:solidFill>
                <a:latin typeface="Amiri" pitchFamily="34" charset="0"/>
                <a:ea typeface="Amiri" pitchFamily="34" charset="-122"/>
                <a:cs typeface="Amiri" pitchFamily="34" charset="-120"/>
              </a:rPr>
              <a:t>ـهُ</a:t>
            </a:r>
            <a:pPr algn="l" indent="0" marL="0">
              <a:buNone/>
            </a:pPr>
            <a:r>
              <a:rPr lang="en-US" sz="1150" dirty="0">
                <a:solidFill>
                  <a:srgbClr val="1F2A37"/>
                </a:solidFill>
                <a:latin typeface="Calibri" pitchFamily="34" charset="0"/>
                <a:ea typeface="Calibri" pitchFamily="34" charset="-122"/>
                <a:cs typeface="Calibri" pitchFamily="34" charset="-120"/>
              </a:rPr>
              <a:t> = its.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Who? Then the ending</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سَلْمَى</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7B3FA0"/>
                </a:solidFill>
                <a:latin typeface="Amiri" pitchFamily="34" charset="0"/>
                <a:ea typeface="Amiri" pitchFamily="34" charset="-122"/>
                <a:cs typeface="Amiri" pitchFamily="34" charset="-120"/>
              </a:rPr>
              <a:t>مَغْرِبِ</a:t>
            </a:r>
            <a:pPr rtl="1" algn="ctr" indent="0" marL="0">
              <a:buNone/>
            </a:pPr>
            <a:r>
              <a:rPr lang="ar-SA" altLang="en-US" sz="2800" b="1" dirty="0">
                <a:solidFill>
                  <a:srgbClr val="D6336C"/>
                </a:solidFill>
                <a:latin typeface="Amiri" pitchFamily="34" charset="0"/>
                <a:ea typeface="Amiri" pitchFamily="34" charset="-122"/>
                <a:cs typeface="Amiri" pitchFamily="34" charset="-120"/>
              </a:rPr>
              <a:t>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Salmā is a girl → she → </a:t>
            </a:r>
            <a:pPr algn="l" indent="0" marL="0">
              <a:buNone/>
            </a:pPr>
            <a:r>
              <a:rPr lang="ar-SA" altLang="en-US" sz="1500" dirty="0">
                <a:solidFill>
                  <a:srgbClr val="1F2A37"/>
                </a:solidFill>
                <a:latin typeface="Amiri" pitchFamily="34" charset="0"/>
                <a:ea typeface="Amiri" pitchFamily="34" charset="-122"/>
                <a:cs typeface="Amiri" pitchFamily="34" charset="-120"/>
              </a:rPr>
              <a:t>ـِيَّةٌ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COUNTRY</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PLACE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7B3FA0"/>
                </a:solidFill>
                <a:latin typeface="Amiri" pitchFamily="34" charset="0"/>
                <a:ea typeface="Amiri" pitchFamily="34" charset="-122"/>
                <a:cs typeface="Amiri" pitchFamily="34" charset="-120"/>
              </a:rPr>
              <a:t>المَغْرِبُ</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0E7C86"/>
                </a:solidFill>
                <a:latin typeface="Amiri" pitchFamily="34" charset="0"/>
                <a:ea typeface="Amiri" pitchFamily="34" charset="-122"/>
                <a:cs typeface="Amiri" pitchFamily="34" charset="-120"/>
              </a:rPr>
              <a:t>فِي شَمَالِ</a:t>
            </a:r>
            <a:pPr rtl="1" algn="r" indent="0" marL="0">
              <a:buNone/>
            </a:pPr>
            <a:r>
              <a:rPr lang="ar-SA" altLang="en-US" sz="2600" b="1" dirty="0">
                <a:solidFill>
                  <a:srgbClr val="1B3B6F"/>
                </a:solidFill>
                <a:latin typeface="Amiri" pitchFamily="34" charset="0"/>
                <a:ea typeface="Amiri" pitchFamily="34" charset="-122"/>
                <a:cs typeface="Amiri" pitchFamily="34" charset="-120"/>
              </a:rPr>
              <a:t> أَفْرِيقِيَا، وَعَاصِمَتُهُ الرِّبَاطُ. </a:t>
            </a:r>
            <a:pPr rtl="1" algn="r" indent="0" marL="0">
              <a:buNone/>
            </a:pPr>
            <a:r>
              <a:rPr lang="ar-SA" altLang="en-US" sz="2600" b="1" dirty="0">
                <a:solidFill>
                  <a:srgbClr val="1D5FBF"/>
                </a:solidFill>
                <a:latin typeface="Amiri" pitchFamily="34" charset="0"/>
                <a:ea typeface="Amiri" pitchFamily="34" charset="-122"/>
                <a:cs typeface="Amiri" pitchFamily="34" charset="-120"/>
              </a:rPr>
              <a:t>سَلْمَى</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7B3FA0"/>
                </a:solidFill>
                <a:latin typeface="Amiri" pitchFamily="34" charset="0"/>
                <a:ea typeface="Amiri" pitchFamily="34" charset="-122"/>
                <a:cs typeface="Amiri" pitchFamily="34" charset="-120"/>
              </a:rPr>
              <a:t>مَغْرِبِ</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pPr rtl="1" algn="r" indent="0" marL="0">
              <a:buNone/>
            </a:pPr>
            <a:r>
              <a:rPr lang="ar-SA" altLang="en-US" sz="2600" b="1" dirty="0">
                <a:solidFill>
                  <a:srgbClr val="1B3B6F"/>
                </a:solidFill>
                <a:latin typeface="Amiri" pitchFamily="34" charset="0"/>
                <a:ea typeface="Amiri" pitchFamily="34" charset="-122"/>
                <a:cs typeface="Amiri" pitchFamily="34" charset="-120"/>
              </a:rPr>
              <a:t> مِنَ الرِّبَاطِ.</a:t>
            </a:r>
            <a:endParaRPr lang="ar-SA" sz="26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Morocco is in the north of Africa, and its capital is Rabat. Salmā is Moroccan, from Rabat.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مِصْر ← </a:t>
            </a:r>
            <a:pPr rtl="1" algn="r" indent="0" marL="0">
              <a:buNone/>
            </a:pPr>
            <a:r>
              <a:rPr lang="ar-SA" altLang="en-US" sz="2600" b="1" dirty="0">
                <a:solidFill>
                  <a:srgbClr val="7B3FA0"/>
                </a:solidFill>
                <a:latin typeface="Amiri" pitchFamily="34" charset="0"/>
                <a:ea typeface="Amiri" pitchFamily="34" charset="-122"/>
                <a:cs typeface="Amiri" pitchFamily="34" charset="-120"/>
              </a:rPr>
              <a:t>مِصْرِ</a:t>
            </a:r>
            <a:pPr rtl="1" algn="r" indent="0" marL="0">
              <a:buNone/>
            </a:pPr>
            <a:r>
              <a:rPr lang="ar-SA" altLang="en-US" sz="2600" b="1" dirty="0">
                <a:solidFill>
                  <a:srgbClr val="D6336C"/>
                </a:solidFill>
                <a:latin typeface="Amiri" pitchFamily="34" charset="0"/>
                <a:ea typeface="Amiri" pitchFamily="34" charset="-122"/>
                <a:cs typeface="Amiri" pitchFamily="34" charset="-120"/>
              </a:rPr>
              <a:t>يٌّ</a:t>
            </a:r>
            <a:pPr rtl="1" algn="r" indent="0" marL="0">
              <a:buNone/>
            </a:pPr>
            <a:r>
              <a:rPr lang="ar-SA" altLang="en-US" sz="2600" b="1" dirty="0">
                <a:solidFill>
                  <a:srgbClr val="1B3B6F"/>
                </a:solidFill>
                <a:latin typeface="Amiri" pitchFamily="34" charset="0"/>
                <a:ea typeface="Amiri" pitchFamily="34" charset="-122"/>
                <a:cs typeface="Amiri" pitchFamily="34" charset="-120"/>
              </a:rPr>
              <a:t> / </a:t>
            </a:r>
            <a:pPr rtl="1" algn="r" indent="0" marL="0">
              <a:buNone/>
            </a:pPr>
            <a:r>
              <a:rPr lang="ar-SA" altLang="en-US" sz="2600" b="1" dirty="0">
                <a:solidFill>
                  <a:srgbClr val="7B3FA0"/>
                </a:solidFill>
                <a:latin typeface="Amiri" pitchFamily="34" charset="0"/>
                <a:ea typeface="Amiri" pitchFamily="34" charset="-122"/>
                <a:cs typeface="Amiri" pitchFamily="34" charset="-120"/>
              </a:rPr>
              <a:t>مِصْرِ</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Egypt → Egyptian (m.) / Egyptian (f.)</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The nisba ending carries a shadda on the yāʾ.</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أَنَا مِنْ لُبْنَانَ.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am from Lebanon.</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 diptote takes a fatḥa after مِنْ, with no tanwīn.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الأَمَازِيغِيَّةُ لُغَةٌ رَسْمِيَّةٌ فِي المَغْرِبِ وَالجَزَائِرِ.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Amazigh is an official language in Morocco and Algeria.</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Name a language other than Arabic.</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نَكْتُبُ جَمِيعًا بِالفُصْحَى، وَلٰكِنَّنَا نَتَحَدَّثُ بِلَهَجَاتٍ مُخْتَلِفَةٍ.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all write in fuṣḥā, but we speak different dialects.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 careful, accurate statement about the region.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Karīm is Iraqi, from Baghdad.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كَرِيمٌ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سَلْمَى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عِرَاقِيَّةٌ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عِرَاقِيٌّ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بَغْدَادَ.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الرِّبَاطِ.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Nūr is Lebanese, from Lebanon.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نُورُ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كَرِيمٌ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لُبْنَانِيٌّ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لُبْنَانِيَّةٌ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لُبْنَانٍ.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لُبْنَانَ.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Egypt is in Africa, and Iraq is in Asia.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المَغْرِبُ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مِصْرُ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أَفْرِيقِيَا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أُورُوبَّا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وَالعِرَاقُ فِي أُورُوبَّا.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وَالعِرَاقُ فِي آسِيَا.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Karīm is Iraqi, from Baghdad.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Karīm is a boy → </a:t>
            </a:r>
            <a:pPr algn="l" indent="0" marL="0">
              <a:buNone/>
            </a:pPr>
            <a:r>
              <a:rPr lang="ar-SA" altLang="en-US" sz="1350" dirty="0">
                <a:solidFill>
                  <a:srgbClr val="5A6472"/>
                </a:solidFill>
                <a:latin typeface="Amiri" pitchFamily="34" charset="0"/>
                <a:ea typeface="Amiri" pitchFamily="34" charset="-122"/>
                <a:cs typeface="Amiri" pitchFamily="34" charset="-120"/>
              </a:rPr>
              <a:t>ـِيٌّ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كَرِيمٌ عِرَاقِيٌّ مِنْ بَغْدَادَ.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Nūr is Lebanese, from Lebanon.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Nūr is a girl → </a:t>
            </a:r>
            <a:pPr algn="l" indent="0" marL="0">
              <a:buNone/>
            </a:pPr>
            <a:r>
              <a:rPr lang="ar-SA" altLang="en-US" sz="1350" dirty="0">
                <a:solidFill>
                  <a:srgbClr val="5A6472"/>
                </a:solidFill>
                <a:latin typeface="Amiri" pitchFamily="34" charset="0"/>
                <a:ea typeface="Amiri" pitchFamily="34" charset="-122"/>
                <a:cs typeface="Amiri" pitchFamily="34" charset="-120"/>
              </a:rPr>
              <a:t>ـِيَّةٌ</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لُبْنَانَ</a:t>
            </a:r>
            <a:pPr algn="l" indent="0" marL="0">
              <a:buNone/>
            </a:pPr>
            <a:r>
              <a:rPr lang="en-US" sz="1050" i="1" dirty="0">
                <a:solidFill>
                  <a:srgbClr val="5A6472"/>
                </a:solidFill>
                <a:latin typeface="Calibri" pitchFamily="34" charset="0"/>
                <a:ea typeface="Calibri" pitchFamily="34" charset="-122"/>
                <a:cs typeface="Calibri" pitchFamily="34" charset="-120"/>
              </a:rPr>
              <a:t> has no tanwīn.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نُورُ لُبْنَانِيَّةٌ مِنْ لُبْنَانَ.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Egypt is in Africa, and Iraq is in Asia.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No word for “is”: country + </a:t>
            </a:r>
            <a:pPr algn="l" indent="0" marL="0">
              <a:buNone/>
            </a:pPr>
            <a:r>
              <a:rPr lang="ar-SA" altLang="en-US" sz="1350" dirty="0">
                <a:solidFill>
                  <a:srgbClr val="5A6472"/>
                </a:solidFill>
                <a:latin typeface="Amiri" pitchFamily="34" charset="0"/>
                <a:ea typeface="Amiri" pitchFamily="34" charset="-122"/>
                <a:cs typeface="Amiri" pitchFamily="34" charset="-120"/>
              </a:rPr>
              <a:t>فِي</a:t>
            </a:r>
            <a:pPr algn="l" indent="0" marL="0">
              <a:buNone/>
            </a:pPr>
            <a:r>
              <a:rPr lang="en-US" sz="1050" i="1" dirty="0">
                <a:solidFill>
                  <a:srgbClr val="5A6472"/>
                </a:solidFill>
                <a:latin typeface="Calibri" pitchFamily="34" charset="0"/>
                <a:ea typeface="Calibri" pitchFamily="34" charset="-122"/>
                <a:cs typeface="Calibri" pitchFamily="34" charset="-120"/>
              </a:rPr>
              <a:t> + continent.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مِصْرُ فِي أَفْرِيقِيَا وَالعِرَاقُ فِي آسِيَا.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QUIZ QUESTIONS 3, 4,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أَنَا مِنْ</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زُرْتُ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فِي الصَّيْفِ المَاضِي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language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العَرَبِيَّةُ هِيَ اللُّغَةُ الوَحِيدَةُ فِي كُلِّ الدُّوَلِ العَرَبِيَّةِ.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الأَمَازِيغِيَّةُ لُغَةٌ رَسْمِيَّةٌ فِي المَغْرِبِ وَالجَزَائِرِ.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تُوجَدُ لَهَجَاتٌ فِي العَالَمِ العَرَبِيِّ.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difference between </a:t>
            </a:r>
            <a:pPr algn="l" indent="0" marL="0">
              <a:buNone/>
            </a:pPr>
            <a:r>
              <a:rPr lang="ar-SA" altLang="en-US" sz="1650" b="1" dirty="0">
                <a:solidFill>
                  <a:srgbClr val="1B3B6F"/>
                </a:solidFill>
                <a:latin typeface="Amiri" pitchFamily="34" charset="0"/>
                <a:ea typeface="Amiri" pitchFamily="34" charset="-122"/>
                <a:cs typeface="Amiri" pitchFamily="34" charset="-120"/>
              </a:rPr>
              <a:t>الفُصْحَى</a:t>
            </a:r>
            <a:pPr algn="l" indent="0" marL="0">
              <a:buNone/>
            </a:pPr>
            <a:r>
              <a:rPr lang="en-US" sz="1250" b="1" dirty="0">
                <a:solidFill>
                  <a:srgbClr val="1B3B6F"/>
                </a:solidFill>
                <a:latin typeface="Calibri" pitchFamily="34" charset="0"/>
                <a:ea typeface="Calibri" pitchFamily="34" charset="-122"/>
                <a:cs typeface="Calibri" pitchFamily="34" charset="-120"/>
              </a:rPr>
              <a:t> and </a:t>
            </a:r>
            <a:pPr algn="l" indent="0" marL="0">
              <a:buNone/>
            </a:pPr>
            <a:r>
              <a:rPr lang="ar-SA" altLang="en-US" sz="1650" b="1" dirty="0">
                <a:solidFill>
                  <a:srgbClr val="1B3B6F"/>
                </a:solidFill>
                <a:latin typeface="Amiri" pitchFamily="34" charset="0"/>
                <a:ea typeface="Amiri" pitchFamily="34" charset="-122"/>
                <a:cs typeface="Amiri" pitchFamily="34" charset="-120"/>
              </a:rPr>
              <a:t>اللَّهَجَاتُ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two names for the same thing.</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الفُصْحَى</a:t>
            </a:r>
            <a:pPr algn="l" indent="0" marL="0">
              <a:buNone/>
            </a:pPr>
            <a:r>
              <a:rPr lang="en-US" sz="1250" dirty="0">
                <a:solidFill>
                  <a:srgbClr val="1F2A37"/>
                </a:solidFill>
                <a:latin typeface="Calibri" pitchFamily="34" charset="0"/>
                <a:ea typeface="Calibri" pitchFamily="34" charset="-122"/>
                <a:cs typeface="Calibri" pitchFamily="34" charset="-120"/>
              </a:rPr>
              <a:t> is spoken only at home.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الفُصْحَى</a:t>
            </a:r>
            <a:pPr algn="l" indent="0" marL="0">
              <a:buNone/>
            </a:pPr>
            <a:r>
              <a:rPr lang="en-US" sz="1250" dirty="0">
                <a:solidFill>
                  <a:srgbClr val="1F2A37"/>
                </a:solidFill>
                <a:latin typeface="Calibri" pitchFamily="34" charset="0"/>
                <a:ea typeface="Calibri" pitchFamily="34" charset="-122"/>
                <a:cs typeface="Calibri" pitchFamily="34" charset="-120"/>
              </a:rPr>
              <a:t> is the shared formal register; the dialects are spoken and vary by region.</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أَنَا مِنْ</a:t>
            </a:r>
            <a:pPr algn="l" indent="0" marL="0">
              <a:buNone/>
            </a:pPr>
            <a:r>
              <a:rPr lang="en-US" sz="1250" b="1" dirty="0">
                <a:solidFill>
                  <a:srgbClr val="1B3B6F"/>
                </a:solidFill>
                <a:latin typeface="Calibri" pitchFamily="34" charset="0"/>
                <a:ea typeface="Calibri" pitchFamily="34" charset="-122"/>
                <a:cs typeface="Calibri" pitchFamily="34" charset="-120"/>
              </a:rPr>
              <a:t> ___.</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لُبْنَانَ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لُبْنَان</a:t>
            </a:r>
            <a:pPr algn="l" indent="0" marL="0">
              <a:buNone/>
            </a:pPr>
            <a:r>
              <a:rPr lang="en-US" sz="1050" i="1" dirty="0">
                <a:solidFill>
                  <a:srgbClr val="8A6D1E"/>
                </a:solidFill>
                <a:latin typeface="Calibri" pitchFamily="34" charset="0"/>
                <a:ea typeface="Calibri" pitchFamily="34" charset="-122"/>
                <a:cs typeface="Calibri" pitchFamily="34" charset="-120"/>
              </a:rPr>
              <a:t> is a diptote, so the genitive takes a fatḥa and no tanwīn.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زُرْتُ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فِي الصَّيْفِ المَاضِي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مِصْر</a:t>
            </a:r>
            <a:pPr algn="l" indent="0" marL="0">
              <a:buNone/>
            </a:pPr>
            <a:r>
              <a:rPr lang="en-US" sz="1050" i="1" dirty="0">
                <a:solidFill>
                  <a:srgbClr val="8A6D1E"/>
                </a:solidFill>
                <a:latin typeface="Calibri" pitchFamily="34" charset="0"/>
                <a:ea typeface="Calibri" pitchFamily="34" charset="-122"/>
                <a:cs typeface="Calibri" pitchFamily="34" charset="-120"/>
              </a:rPr>
              <a:t> is a diptote; the accusative is a bare fatḥa.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language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العَرَبِيَّةُ هِيَ اللُّغَةُ الوَحِيدَةُ فِي كُلِّ الدُّوَلِ العَرَبِيَّةِ.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الأَمَازِيغِيَّةُ لُغَةٌ رَسْمِيَّةٌ فِي المَغْرِبِ وَالجَزَائِرِ.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 تُوجَدُ لَهَجَاتٌ فِي العَالَمِ العَرَبِيِّ.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Amazigh is co-official in Morocco and Algeria; the region is multilingual.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difference between </a:t>
            </a:r>
            <a:pPr algn="l" indent="0" marL="0">
              <a:buNone/>
            </a:pPr>
            <a:r>
              <a:rPr lang="ar-SA" altLang="en-US" sz="1650" b="1" dirty="0">
                <a:solidFill>
                  <a:srgbClr val="1B3B6F"/>
                </a:solidFill>
                <a:latin typeface="Amiri" pitchFamily="34" charset="0"/>
                <a:ea typeface="Amiri" pitchFamily="34" charset="-122"/>
                <a:cs typeface="Amiri" pitchFamily="34" charset="-120"/>
              </a:rPr>
              <a:t>الفُصْحَى</a:t>
            </a:r>
            <a:pPr algn="l" indent="0" marL="0">
              <a:buNone/>
            </a:pPr>
            <a:r>
              <a:rPr lang="en-US" sz="1250" b="1" dirty="0">
                <a:solidFill>
                  <a:srgbClr val="1B3B6F"/>
                </a:solidFill>
                <a:latin typeface="Calibri" pitchFamily="34" charset="0"/>
                <a:ea typeface="Calibri" pitchFamily="34" charset="-122"/>
                <a:cs typeface="Calibri" pitchFamily="34" charset="-120"/>
              </a:rPr>
              <a:t> and </a:t>
            </a:r>
            <a:pPr algn="l" indent="0" marL="0">
              <a:buNone/>
            </a:pPr>
            <a:r>
              <a:rPr lang="ar-SA" altLang="en-US" sz="1650" b="1" dirty="0">
                <a:solidFill>
                  <a:srgbClr val="1B3B6F"/>
                </a:solidFill>
                <a:latin typeface="Amiri" pitchFamily="34" charset="0"/>
                <a:ea typeface="Amiri" pitchFamily="34" charset="-122"/>
                <a:cs typeface="Amiri" pitchFamily="34" charset="-120"/>
              </a:rPr>
              <a:t>اللَّهَجَاتُ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two names for the same thing.</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34" charset="0"/>
                <a:ea typeface="Amiri" pitchFamily="34" charset="-122"/>
                <a:cs typeface="Amiri" pitchFamily="34" charset="-120"/>
              </a:rPr>
              <a:t>الفُصْحَى</a:t>
            </a:r>
            <a:pPr algn="l" indent="0" marL="0">
              <a:buNone/>
            </a:pPr>
            <a:r>
              <a:rPr lang="en-US" sz="1250" dirty="0">
                <a:solidFill>
                  <a:srgbClr val="9AA1AB"/>
                </a:solidFill>
                <a:latin typeface="Calibri" pitchFamily="34" charset="0"/>
                <a:ea typeface="Calibri" pitchFamily="34" charset="-122"/>
                <a:cs typeface="Calibri" pitchFamily="34" charset="-120"/>
              </a:rPr>
              <a:t> is spoken only at home.</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34" charset="0"/>
                <a:ea typeface="Amiri" pitchFamily="34" charset="-122"/>
                <a:cs typeface="Amiri" pitchFamily="34" charset="-120"/>
              </a:rPr>
              <a:t>الفُصْحَى</a:t>
            </a:r>
            <a:pPr algn="l" indent="0" marL="0">
              <a:buNone/>
            </a:pPr>
            <a:r>
              <a:rPr lang="en-US" sz="1150" b="1" dirty="0">
                <a:solidFill>
                  <a:srgbClr val="1F2A37"/>
                </a:solidFill>
                <a:latin typeface="Calibri" pitchFamily="34" charset="0"/>
                <a:ea typeface="Calibri" pitchFamily="34" charset="-122"/>
                <a:cs typeface="Calibri" pitchFamily="34" charset="-120"/>
              </a:rPr>
              <a:t> is the shared formal register; the dialects are spoken and vary by region.</a:t>
            </a:r>
            <a:endParaRPr lang="en-US" sz="11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الفُصْحَى</a:t>
            </a:r>
            <a:pPr algn="l" indent="0" marL="0">
              <a:buNone/>
            </a:pPr>
            <a:r>
              <a:rPr lang="en-US" sz="1050" i="1" dirty="0">
                <a:solidFill>
                  <a:srgbClr val="8A6D1E"/>
                </a:solidFill>
                <a:latin typeface="Calibri" pitchFamily="34" charset="0"/>
                <a:ea typeface="Calibri" pitchFamily="34" charset="-122"/>
                <a:cs typeface="Calibri" pitchFamily="34" charset="-120"/>
              </a:rPr>
              <a:t> is used in writing and formal speech; dialects differ from place to place.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 IT</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region is each country 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تُونُسُ</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العِرَاقُ</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الصُّومَالُ</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الجَزَائِرُ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قَطَرُ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جِيبُوتِي</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الأُرْدُنُّ</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جُزُرُ القَمَرِ</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المَغْرِبُ</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Mashriq and Gulf</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Maghreb</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Horn of Africa</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Mashriq and Gulf</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العِرَاقُ</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قَطَرُ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الأُرْدُنُّ</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Maghreb</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تُونُسُ</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الجَزَائِرُ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المَغْرِبُ</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Horn of Africa</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الصُّومَالُ</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جِيبُوتِي</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جُزُرُ القَمَرِ</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Check the ending on the country after </a:t>
            </a:r>
            <a:pPr algn="l" indent="0" marL="0">
              <a:buNone/>
            </a:pPr>
            <a:r>
              <a:rPr lang="ar-SA" altLang="en-US" sz="1700" dirty="0">
                <a:solidFill>
                  <a:srgbClr val="5A6472"/>
                </a:solidFill>
                <a:latin typeface="Amiri" pitchFamily="34" charset="0"/>
                <a:ea typeface="Amiri" pitchFamily="34" charset="-122"/>
                <a:cs typeface="Amiri" pitchFamily="34" charset="-120"/>
              </a:rPr>
              <a:t>مِنْ</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هِيَ طَالِبَةٌ مَغْرِبِيٌّ.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Check the WHO: boy or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العَرَبِيَّةُ هِيَ اللُّغَةُ الوَحِيدَةُ فِي المِنْطَقَةِ.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Arabic really the only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لُبْنَان</a:t>
            </a:r>
            <a:pPr algn="l" indent="0" marL="0">
              <a:buNone/>
            </a:pPr>
            <a:r>
              <a:rPr lang="en-US" sz="1150" b="1" dirty="0">
                <a:solidFill>
                  <a:srgbClr val="1B3B6F"/>
                </a:solidFill>
                <a:latin typeface="Calibri" pitchFamily="34" charset="0"/>
                <a:ea typeface="Calibri" pitchFamily="34" charset="-122"/>
                <a:cs typeface="Calibri" pitchFamily="34" charset="-120"/>
              </a:rPr>
              <a:t> is a diptote and cannot take tanwīn.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هِيَ طَالِبَةٌ مَغْرِبِيٌّ.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هِيَ طَالِبَةٌ مَغْرِبِيَّةٌ.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nisba adjective must agree with its feminine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العَرَبِيَّةُ هِيَ اللُّغَةُ الوَحِيدَةُ فِي المِنْطَقَةِ.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إِلَى جَانِبِ العَرَبِيَّةِ تُوجَدُ لُغَاتٌ أُخْرَى مِثْلُ الأَمَازِيغِيَّةِ وَالكُرْدِيَّةِ.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region is multilingual, so the version on the left states something untrue.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Listening: introductions from across the region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Salmā's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Iraqi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Lebanese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are spoken in her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Kurdish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Amazigh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Karīm say about Iraq?</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Arabic is 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Amazigh is official there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Kurdish is used alongside 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Nūr arrive from Lebanon?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years ago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Last month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year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say about writing and speaking?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all speak the same dialect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all write in fuṣḥā but speak different dialects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never use fuṣḥā</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answer questions 1–3 — listen for the names Salmā, Karīm and Nūr, and the countries.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سَلْمَى، وَأَنَا مَغْرِبِيَّةٌ مِنْ مَدِينَةِ الرِّبَاطِ.</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Salmā, and I am Moroccan, from the city of Rabat.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34" charset="0"/>
                <a:ea typeface="Amiri" pitchFamily="34" charset="-122"/>
                <a:cs typeface="Amiri" pitchFamily="34" charset="-120"/>
              </a:rPr>
              <a:t>فِي بَيْتِنَا نَتَحَدَّثُ العَرَبِيَّةَ وَالأَمَازِيغِيَّةَ، لِأَنَّ الأَمَازِيغِيَّةَ لُغَةٌ رَسْمِيَّةٌ فِي المَغْرِبِ.</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home we speak Arabic and Amazigh, because Amazigh is an official language in Morocco.</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34" charset="0"/>
                <a:ea typeface="Amiri" pitchFamily="34" charset="-122"/>
                <a:cs typeface="Amiri" pitchFamily="34" charset="-120"/>
              </a:rPr>
              <a:t>وَصَدِيقِي كَرِيمٌ عِرَاقِيٌّ مِنْ بَغْدَادَ، وَيَقُولُ إِنَّ الكُرْدِيَّةَ تُسْتَعْمَلُ إِلَى جَانِبِ العَرَبِيَّةِ فِي بِلَادِهِ.</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friend Karīm is Iraqi, from Baghdad. He says Kurdish is used alongside Arabic in his country.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زَمِيلَتُنَا نُورُ فَهِيَ لُبْنَانِيَّةٌ، وَقَدْ جَاءَتْ مِنْ لُبْنَانَ قَبْلَ سَنَتَيْنِ.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our classmate Nūr, she is Lebanese; she came from Lebanon two years ago.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34" charset="0"/>
                <a:ea typeface="Amiri" pitchFamily="34" charset="-122"/>
                <a:cs typeface="Amiri" pitchFamily="34" charset="-120"/>
              </a:rPr>
              <a:t>نَحْنُ نَكْتُبُ جَمِيعًا بِالفُصْحَى، وَلٰكِنَّنَا نَتَحَدَّثُ بِلَهَجَاتٍ مُخْتَلِفَةٍ، وَأَحْيَانًا لَا نَفْهَمُ بَعْضَنَا بِسُرْعَةٍ.</a:t>
            </a:r>
            <a:endParaRPr lang="ar-SA" sz="18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all write in fuṣḥā, but we speak different dialects, and sometimes we do not understand each other quickly.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Salmā's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Moroccan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Iraqi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Lebanese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أَنَا مَغْرِبِيَّةٌ مِنْ مَدِينَةِ الرِّبَاطِ.</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are spoken in her home?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Kurdish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 and Amazigh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نَتَحَدَّثُ العَرَبِيَّةَ وَالأَمَازِيغِيَّةَ.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Karīm say about Iraq?</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Arabic is used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Amazigh is official there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Kurdish is used alongside 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الكُرْدِيَّةَ تُسْتَعْمَلُ إِلَى جَانِبِ العَرَبِيَّةِ فِي بِلَادِهِ.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Nūr arrive from Lebanon?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 years ago</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Last month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This year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جَاءَتْ مِنْ لُبْنَانَ قَبْلَ سَنَتَيْنِ.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say about writing and speaking?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all speak the same dialect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They all write in fuṣḥā but speak different dialects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never use fuṣḥā</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نَكْتُبُ جَمِيعًا بِالفُصْحَى، وَلٰكِنَّنَا نَتَحَدَّثُ بِلَهَجَاتٍ مُخْتَلِفَةٍ.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answer questions 1–3 — listen for the names Salmā, Karīm and Nūr, and the countries.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CONTINENT AND COMPASS CHALLENGE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am I? Guess the country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أَنَا؟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21" name="Text 18"/>
          <p:cNvSpPr txBox="1"/>
          <p:nvPr/>
        </p:nvSpPr>
        <p:spPr>
          <a:xfrm>
            <a:off x="640080" y="2340864"/>
            <a:ext cx="3270504" cy="512064"/>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أَنَا دَوْلَةٌ فِي شَمَالِ أَفْرِيقِيَا، غَرْبَ الجَزَائِرِ. عَاصِمَتِي الرِّبَاطُ.</a:t>
            </a:r>
            <a:endParaRPr lang="ar-SA" sz="1200" dirty="0"/>
          </a:p>
        </p:txBody>
      </p:sp>
      <p:sp>
        <p:nvSpPr>
          <p:cNvPr id="22" name="Shape 19"/>
          <p:cNvSpPr/>
          <p:nvPr/>
        </p:nvSpPr>
        <p:spPr>
          <a:xfrm>
            <a:off x="640080" y="2971800"/>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25" name="Shape 22"/>
          <p:cNvSpPr/>
          <p:nvPr/>
        </p:nvSpPr>
        <p:spPr>
          <a:xfrm>
            <a:off x="640080" y="3429000"/>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28" name="Shape 25"/>
          <p:cNvSpPr/>
          <p:nvPr/>
        </p:nvSpPr>
        <p:spPr>
          <a:xfrm>
            <a:off x="640080" y="3886200"/>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العِرَاقُ</a:t>
            </a:r>
            <a:endParaRPr lang="ar-SA" sz="2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35" name="Text 32"/>
          <p:cNvSpPr txBox="1"/>
          <p:nvPr/>
        </p:nvSpPr>
        <p:spPr>
          <a:xfrm>
            <a:off x="4459224"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جَنُوبَ السُّعُودِيَّةِ.</a:t>
            </a:r>
            <a:endParaRPr lang="ar-SA" sz="1800" dirty="0"/>
          </a:p>
        </p:txBody>
      </p:sp>
      <p:sp>
        <p:nvSpPr>
          <p:cNvPr id="36" name="Shape 33"/>
          <p:cNvSpPr/>
          <p:nvPr/>
        </p:nvSpPr>
        <p:spPr>
          <a:xfrm>
            <a:off x="4459224" y="2971800"/>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اليَمَنُ</a:t>
            </a:r>
            <a:endParaRPr lang="ar-SA" sz="2050" dirty="0"/>
          </a:p>
        </p:txBody>
      </p:sp>
      <p:sp>
        <p:nvSpPr>
          <p:cNvPr id="39" name="Shape 36"/>
          <p:cNvSpPr/>
          <p:nvPr/>
        </p:nvSpPr>
        <p:spPr>
          <a:xfrm>
            <a:off x="4459224" y="3429000"/>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الأُرْدُنُّ</a:t>
            </a:r>
            <a:endParaRPr lang="ar-SA" sz="2050" dirty="0"/>
          </a:p>
        </p:txBody>
      </p:sp>
      <p:sp>
        <p:nvSpPr>
          <p:cNvPr id="42" name="Shape 39"/>
          <p:cNvSpPr/>
          <p:nvPr/>
        </p:nvSpPr>
        <p:spPr>
          <a:xfrm>
            <a:off x="4459224" y="3886200"/>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a:t>
            </a:r>
            <a:endParaRPr lang="ar-SA" sz="2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49" name="Text 46"/>
          <p:cNvSpPr txBox="1"/>
          <p:nvPr/>
        </p:nvSpPr>
        <p:spPr>
          <a:xfrm>
            <a:off x="8278368"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وَعَاصِمَتِي بَغْدَادُ.</a:t>
            </a:r>
            <a:endParaRPr lang="ar-SA" sz="1800" dirty="0"/>
          </a:p>
        </p:txBody>
      </p:sp>
      <p:sp>
        <p:nvSpPr>
          <p:cNvPr id="50" name="Shape 47"/>
          <p:cNvSpPr/>
          <p:nvPr/>
        </p:nvSpPr>
        <p:spPr>
          <a:xfrm>
            <a:off x="8278368" y="2971800"/>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53" name="Shape 50"/>
          <p:cNvSpPr/>
          <p:nvPr/>
        </p:nvSpPr>
        <p:spPr>
          <a:xfrm>
            <a:off x="8278368" y="3429000"/>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قَطَرُ</a:t>
            </a:r>
            <a:endParaRPr lang="ar-SA" sz="2050" dirty="0"/>
          </a:p>
        </p:txBody>
      </p:sp>
      <p:sp>
        <p:nvSpPr>
          <p:cNvPr id="56" name="Shape 53"/>
          <p:cNvSpPr/>
          <p:nvPr/>
        </p:nvSpPr>
        <p:spPr>
          <a:xfrm>
            <a:off x="8278368" y="3886200"/>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العِرَاقُ</a:t>
            </a:r>
            <a:endParaRPr lang="ar-SA" sz="2050" dirty="0"/>
          </a:p>
        </p:txBody>
      </p:sp>
      <p:sp>
        <p:nvSpPr>
          <p:cNvPr id="59" name="Shape 56"/>
          <p:cNvSpPr/>
          <p:nvPr/>
        </p:nvSpPr>
        <p:spPr>
          <a:xfrm>
            <a:off x="457200" y="5532120"/>
            <a:ext cx="11274552" cy="777240"/>
          </a:xfrm>
          <a:prstGeom prst="roundRect">
            <a:avLst>
              <a:gd name="adj" fmla="val 9412"/>
            </a:avLst>
          </a:prstGeom>
          <a:solidFill>
            <a:srgbClr val="E3F2F3"/>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60" name="Text 57"/>
          <p:cNvSpPr txBox="1"/>
          <p:nvPr/>
        </p:nvSpPr>
        <p:spPr>
          <a:xfrm>
            <a:off x="685800" y="5577840"/>
            <a:ext cx="1357884" cy="685800"/>
          </a:xfrm>
          <a:prstGeom prst="rect">
            <a:avLst/>
          </a:prstGeom>
          <a:noFill/>
          <a:ln/>
        </p:spPr>
        <p:txBody>
          <a:bodyPr wrap="square" lIns="0" tIns="0" rIns="0" bIns="0" rtlCol="0" anchor="ctr"/>
          <a:lstStyle/>
          <a:p>
            <a:pPr algn="l" indent="0" marL="0">
              <a:buNone/>
            </a:pPr>
            <a:r>
              <a:rPr lang="en-US" sz="1200" b="1" spc="100" kern="0" dirty="0">
                <a:solidFill>
                  <a:srgbClr val="0E7C86"/>
                </a:solidFill>
                <a:latin typeface="Calibri" pitchFamily="34" charset="0"/>
                <a:ea typeface="Calibri" pitchFamily="34" charset="-122"/>
                <a:cs typeface="Calibri" pitchFamily="34" charset="-120"/>
              </a:rPr>
              <a:t>YOUR TURN</a:t>
            </a:r>
            <a:endParaRPr lang="en-US" sz="1200" dirty="0"/>
          </a:p>
        </p:txBody>
      </p:sp>
      <p:sp>
        <p:nvSpPr>
          <p:cNvPr id="61" name="Text 58"/>
          <p:cNvSpPr txBox="1"/>
          <p:nvPr/>
        </p:nvSpPr>
        <p:spPr>
          <a:xfrm>
            <a:off x="2043684" y="5577840"/>
            <a:ext cx="9523476"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 your own riddle in the chat: “</a:t>
            </a:r>
            <a:pPr algn="l" indent="0" marL="0">
              <a:buNone/>
            </a:pPr>
            <a:r>
              <a:rPr lang="ar-SA" altLang="en-US" sz="1650" dirty="0">
                <a:solidFill>
                  <a:srgbClr val="1F2A37"/>
                </a:solidFill>
                <a:latin typeface="Amiri" pitchFamily="34" charset="0"/>
                <a:ea typeface="Amiri" pitchFamily="34" charset="-122"/>
                <a:cs typeface="Amiri" pitchFamily="34" charset="-120"/>
              </a:rPr>
              <a:t>أَنَا دَوْلَةٌ فِي</a:t>
            </a:r>
            <a:pPr algn="l" indent="0" marL="0">
              <a:buNone/>
            </a:pPr>
            <a:r>
              <a:rPr lang="en-US" sz="1250" dirty="0">
                <a:solidFill>
                  <a:srgbClr val="1F2A37"/>
                </a:solidFill>
                <a:latin typeface="Calibri" pitchFamily="34" charset="0"/>
                <a:ea typeface="Calibri" pitchFamily="34" charset="-122"/>
                <a:cs typeface="Calibri" pitchFamily="34" charset="-120"/>
              </a:rPr>
              <a:t> ___ </a:t>
            </a:r>
            <a:pPr algn="l" indent="0" marL="0">
              <a:buNone/>
            </a:pPr>
            <a:r>
              <a:rPr lang="ar-SA" altLang="en-US" sz="1650" dirty="0">
                <a:solidFill>
                  <a:srgbClr val="1F2A37"/>
                </a:solidFill>
                <a:latin typeface="Amiri" pitchFamily="34" charset="0"/>
                <a:ea typeface="Amiri" pitchFamily="34" charset="-122"/>
                <a:cs typeface="Amiri" pitchFamily="34" charset="-120"/>
              </a:rPr>
              <a:t>، غَرْبَ</a:t>
            </a:r>
            <a:pPr algn="l" indent="0" marL="0">
              <a:buNone/>
            </a:pPr>
            <a:r>
              <a:rPr lang="en-US" sz="1250" dirty="0">
                <a:solidFill>
                  <a:srgbClr val="1F2A37"/>
                </a:solidFill>
                <a:latin typeface="Calibri" pitchFamily="34" charset="0"/>
                <a:ea typeface="Calibri" pitchFamily="34" charset="-122"/>
                <a:cs typeface="Calibri" pitchFamily="34" charset="-120"/>
              </a:rPr>
              <a:t> ___ .” Your partner guesses the country and its nationality (he / she).</a:t>
            </a:r>
            <a:endParaRPr lang="en-US" sz="12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CHALLENGE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am I?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21" name="Text 18"/>
          <p:cNvSpPr txBox="1"/>
          <p:nvPr/>
        </p:nvSpPr>
        <p:spPr>
          <a:xfrm>
            <a:off x="640080" y="2340864"/>
            <a:ext cx="3270504" cy="512064"/>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أَنَا دَوْلَةٌ فِي شَمَالِ أَفْرِيقِيَا، غَرْبَ الجَزَائِرِ. عَاصِمَتِي الرِّبَاطُ.</a:t>
            </a:r>
            <a:endParaRPr lang="ar-SA" sz="1200" dirty="0"/>
          </a:p>
        </p:txBody>
      </p:sp>
      <p:sp>
        <p:nvSpPr>
          <p:cNvPr id="22" name="Shape 19"/>
          <p:cNvSpPr/>
          <p:nvPr/>
        </p:nvSpPr>
        <p:spPr>
          <a:xfrm>
            <a:off x="640080" y="2971800"/>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مِصْرُ</a:t>
            </a:r>
            <a:endParaRPr lang="ar-SA" sz="2050" dirty="0"/>
          </a:p>
        </p:txBody>
      </p:sp>
      <p:sp>
        <p:nvSpPr>
          <p:cNvPr id="25" name="Shape 22"/>
          <p:cNvSpPr/>
          <p:nvPr/>
        </p:nvSpPr>
        <p:spPr>
          <a:xfrm>
            <a:off x="548640" y="3392424"/>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429000"/>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4290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8" name="Text 25"/>
          <p:cNvSpPr txBox="1"/>
          <p:nvPr/>
        </p:nvSpPr>
        <p:spPr>
          <a:xfrm>
            <a:off x="969264" y="33284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المَغْرِبُ</a:t>
            </a:r>
            <a:endParaRPr lang="ar-SA" sz="2050" dirty="0"/>
          </a:p>
        </p:txBody>
      </p:sp>
      <p:sp>
        <p:nvSpPr>
          <p:cNvPr id="29" name="Shape 26"/>
          <p:cNvSpPr/>
          <p:nvPr/>
        </p:nvSpPr>
        <p:spPr>
          <a:xfrm>
            <a:off x="640080" y="3886200"/>
            <a:ext cx="256032" cy="256032"/>
          </a:xfrm>
          <a:prstGeom prst="ellipse">
            <a:avLst/>
          </a:prstGeom>
          <a:solidFill>
            <a:srgbClr val="C9CED6"/>
          </a:solidFill>
          <a:ln w="12700">
            <a:solidFill>
              <a:srgbClr val="C9CED6"/>
            </a:solidFill>
            <a:prstDash val="solid"/>
          </a:ln>
        </p:spPr>
      </p:sp>
      <p:sp>
        <p:nvSpPr>
          <p:cNvPr id="30" name="Text 27"/>
          <p:cNvSpPr txBox="1"/>
          <p:nvPr/>
        </p:nvSpPr>
        <p:spPr>
          <a:xfrm>
            <a:off x="640080"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العِرَاقُ</a:t>
            </a:r>
            <a:endParaRPr lang="ar-SA" sz="2050" dirty="0"/>
          </a:p>
        </p:txBody>
      </p:sp>
      <p:sp>
        <p:nvSpPr>
          <p:cNvPr id="32" name="Text 29"/>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 am in North Africa, west of Algeria. My capital is Rabat.</a:t>
            </a:r>
            <a:endParaRPr lang="en-US" sz="1050" dirty="0"/>
          </a:p>
        </p:txBody>
      </p:sp>
      <p:sp>
        <p:nvSpPr>
          <p:cNvPr id="33" name="Shape 30"/>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3"/>
          <p:cNvSpPr txBox="1"/>
          <p:nvPr/>
        </p:nvSpPr>
        <p:spPr>
          <a:xfrm>
            <a:off x="4770120"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37" name="Text 34"/>
          <p:cNvSpPr txBox="1"/>
          <p:nvPr/>
        </p:nvSpPr>
        <p:spPr>
          <a:xfrm>
            <a:off x="4459224"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جَنُوبَ السُّعُودِيَّةِ.</a:t>
            </a:r>
            <a:endParaRPr lang="ar-SA" sz="1800" dirty="0"/>
          </a:p>
        </p:txBody>
      </p:sp>
      <p:sp>
        <p:nvSpPr>
          <p:cNvPr id="38" name="Shape 35"/>
          <p:cNvSpPr/>
          <p:nvPr/>
        </p:nvSpPr>
        <p:spPr>
          <a:xfrm>
            <a:off x="4367784" y="2935224"/>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71800"/>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718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4788408" y="28712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اليَمَنُ</a:t>
            </a:r>
            <a:endParaRPr lang="ar-SA" sz="2050" dirty="0"/>
          </a:p>
        </p:txBody>
      </p:sp>
      <p:sp>
        <p:nvSpPr>
          <p:cNvPr id="42" name="Shape 39"/>
          <p:cNvSpPr/>
          <p:nvPr/>
        </p:nvSpPr>
        <p:spPr>
          <a:xfrm>
            <a:off x="4459224" y="3429000"/>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4788408"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الأُرْدُنُّ</a:t>
            </a:r>
            <a:endParaRPr lang="ar-SA" sz="2050" dirty="0"/>
          </a:p>
        </p:txBody>
      </p:sp>
      <p:sp>
        <p:nvSpPr>
          <p:cNvPr id="45" name="Shape 42"/>
          <p:cNvSpPr/>
          <p:nvPr/>
        </p:nvSpPr>
        <p:spPr>
          <a:xfrm>
            <a:off x="4459224" y="3886200"/>
            <a:ext cx="256032" cy="256032"/>
          </a:xfrm>
          <a:prstGeom prst="ellipse">
            <a:avLst/>
          </a:prstGeom>
          <a:solidFill>
            <a:srgbClr val="C9CED6"/>
          </a:solidFill>
          <a:ln w="12700">
            <a:solidFill>
              <a:srgbClr val="C9CED6"/>
            </a:solidFill>
            <a:prstDash val="solid"/>
          </a:ln>
        </p:spPr>
      </p:sp>
      <p:sp>
        <p:nvSpPr>
          <p:cNvPr id="46" name="Text 43"/>
          <p:cNvSpPr txBox="1"/>
          <p:nvPr/>
        </p:nvSpPr>
        <p:spPr>
          <a:xfrm>
            <a:off x="4459224"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4788408"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تُونُسُ</a:t>
            </a:r>
            <a:endParaRPr lang="ar-SA" sz="2050" dirty="0"/>
          </a:p>
        </p:txBody>
      </p:sp>
      <p:sp>
        <p:nvSpPr>
          <p:cNvPr id="48" name="Text 45"/>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 am a country in Asia, south of Saudi Arabia.</a:t>
            </a:r>
            <a:endParaRPr lang="en-US" sz="1050" dirty="0"/>
          </a:p>
        </p:txBody>
      </p:sp>
      <p:sp>
        <p:nvSpPr>
          <p:cNvPr id="49" name="Shape 46"/>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1"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8589264"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am I?</a:t>
            </a:r>
            <a:endParaRPr lang="en-US" sz="1250" dirty="0"/>
          </a:p>
        </p:txBody>
      </p:sp>
      <p:sp>
        <p:nvSpPr>
          <p:cNvPr id="53" name="Text 50"/>
          <p:cNvSpPr txBox="1"/>
          <p:nvPr/>
        </p:nvSpPr>
        <p:spPr>
          <a:xfrm>
            <a:off x="8278368"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34" charset="0"/>
                <a:ea typeface="Amiri" pitchFamily="34" charset="-122"/>
                <a:cs typeface="Amiri" pitchFamily="34" charset="-120"/>
              </a:rPr>
              <a:t>أَنَا دَوْلَةٌ فِي آسِيَا، وَعَاصِمَتِي بَغْدَادُ.</a:t>
            </a:r>
            <a:endParaRPr lang="ar-SA" sz="1800" dirty="0"/>
          </a:p>
        </p:txBody>
      </p:sp>
      <p:sp>
        <p:nvSpPr>
          <p:cNvPr id="54" name="Shape 51"/>
          <p:cNvSpPr/>
          <p:nvPr/>
        </p:nvSpPr>
        <p:spPr>
          <a:xfrm>
            <a:off x="8278368" y="297180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6" name="Text 53"/>
          <p:cNvSpPr txBox="1"/>
          <p:nvPr/>
        </p:nvSpPr>
        <p:spPr>
          <a:xfrm>
            <a:off x="8607552"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المَغْرِبُ</a:t>
            </a:r>
            <a:endParaRPr lang="ar-SA" sz="2050" dirty="0"/>
          </a:p>
        </p:txBody>
      </p:sp>
      <p:sp>
        <p:nvSpPr>
          <p:cNvPr id="57" name="Shape 54"/>
          <p:cNvSpPr/>
          <p:nvPr/>
        </p:nvSpPr>
        <p:spPr>
          <a:xfrm>
            <a:off x="8278368" y="3429000"/>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9" name="Text 56"/>
          <p:cNvSpPr txBox="1"/>
          <p:nvPr/>
        </p:nvSpPr>
        <p:spPr>
          <a:xfrm>
            <a:off x="8607552"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قَطَرُ</a:t>
            </a:r>
            <a:endParaRPr lang="ar-SA" sz="2050" dirty="0"/>
          </a:p>
        </p:txBody>
      </p:sp>
      <p:sp>
        <p:nvSpPr>
          <p:cNvPr id="60" name="Shape 57"/>
          <p:cNvSpPr/>
          <p:nvPr/>
        </p:nvSpPr>
        <p:spPr>
          <a:xfrm>
            <a:off x="8186928" y="3849624"/>
            <a:ext cx="3453384" cy="347472"/>
          </a:xfrm>
          <a:prstGeom prst="roundRect">
            <a:avLst>
              <a:gd name="adj" fmla="val 15789"/>
            </a:avLst>
          </a:prstGeom>
          <a:solidFill>
            <a:srgbClr val="E6F4EC"/>
          </a:solidFill>
          <a:ln w="9525">
            <a:solidFill>
              <a:srgbClr val="2E8B57"/>
            </a:solidFill>
            <a:prstDash val="solid"/>
          </a:ln>
        </p:spPr>
      </p:sp>
      <p:sp>
        <p:nvSpPr>
          <p:cNvPr id="61" name="Shape 58"/>
          <p:cNvSpPr/>
          <p:nvPr/>
        </p:nvSpPr>
        <p:spPr>
          <a:xfrm>
            <a:off x="8278368" y="3886200"/>
            <a:ext cx="256032" cy="256032"/>
          </a:xfrm>
          <a:prstGeom prst="ellipse">
            <a:avLst/>
          </a:prstGeom>
          <a:solidFill>
            <a:srgbClr val="2E8B57"/>
          </a:solidFill>
          <a:ln w="12700">
            <a:solidFill>
              <a:srgbClr val="2E8B57"/>
            </a:solidFill>
            <a:prstDash val="solid"/>
          </a:ln>
        </p:spPr>
      </p:sp>
      <p:sp>
        <p:nvSpPr>
          <p:cNvPr id="62" name="Text 59"/>
          <p:cNvSpPr txBox="1"/>
          <p:nvPr/>
        </p:nvSpPr>
        <p:spPr>
          <a:xfrm>
            <a:off x="8278368" y="38862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3" name="Text 60"/>
          <p:cNvSpPr txBox="1"/>
          <p:nvPr/>
        </p:nvSpPr>
        <p:spPr>
          <a:xfrm>
            <a:off x="8607552" y="37856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العِرَاقُ</a:t>
            </a:r>
            <a:endParaRPr lang="ar-SA" sz="2050" dirty="0"/>
          </a:p>
        </p:txBody>
      </p:sp>
      <p:sp>
        <p:nvSpPr>
          <p:cNvPr id="64" name="Text 61"/>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 am a country in Asia, and my capital is Baghdad.</a:t>
            </a:r>
            <a:endParaRPr lang="en-US" sz="1050" dirty="0"/>
          </a:p>
        </p:txBody>
      </p:sp>
      <p:sp>
        <p:nvSpPr>
          <p:cNvPr id="65" name="Shape 62"/>
          <p:cNvSpPr/>
          <p:nvPr/>
        </p:nvSpPr>
        <p:spPr>
          <a:xfrm>
            <a:off x="457200" y="5532120"/>
            <a:ext cx="11274552" cy="777240"/>
          </a:xfrm>
          <a:prstGeom prst="roundRect">
            <a:avLst>
              <a:gd name="adj" fmla="val 9412"/>
            </a:avLst>
          </a:prstGeom>
          <a:solidFill>
            <a:srgbClr val="E3F2F3"/>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66" name="Text 63"/>
          <p:cNvSpPr txBox="1"/>
          <p:nvPr/>
        </p:nvSpPr>
        <p:spPr>
          <a:xfrm>
            <a:off x="685800" y="5577840"/>
            <a:ext cx="1357884" cy="685800"/>
          </a:xfrm>
          <a:prstGeom prst="rect">
            <a:avLst/>
          </a:prstGeom>
          <a:noFill/>
          <a:ln/>
        </p:spPr>
        <p:txBody>
          <a:bodyPr wrap="square" lIns="0" tIns="0" rIns="0" bIns="0" rtlCol="0" anchor="ctr"/>
          <a:lstStyle/>
          <a:p>
            <a:pPr algn="l" indent="0" marL="0">
              <a:buNone/>
            </a:pPr>
            <a:r>
              <a:rPr lang="en-US" sz="1200" b="1" spc="100" kern="0" dirty="0">
                <a:solidFill>
                  <a:srgbClr val="0E7C86"/>
                </a:solidFill>
                <a:latin typeface="Calibri" pitchFamily="34" charset="0"/>
                <a:ea typeface="Calibri" pitchFamily="34" charset="-122"/>
                <a:cs typeface="Calibri" pitchFamily="34" charset="-120"/>
              </a:rPr>
              <a:t>YOUR TURN</a:t>
            </a:r>
            <a:endParaRPr lang="en-US" sz="1200" dirty="0"/>
          </a:p>
        </p:txBody>
      </p:sp>
      <p:sp>
        <p:nvSpPr>
          <p:cNvPr id="67" name="Text 64"/>
          <p:cNvSpPr txBox="1"/>
          <p:nvPr/>
        </p:nvSpPr>
        <p:spPr>
          <a:xfrm>
            <a:off x="2043684" y="5577840"/>
            <a:ext cx="9523476"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 your own riddle in the chat: “</a:t>
            </a:r>
            <a:pPr algn="l" indent="0" marL="0">
              <a:buNone/>
            </a:pPr>
            <a:r>
              <a:rPr lang="ar-SA" altLang="en-US" sz="1650" dirty="0">
                <a:solidFill>
                  <a:srgbClr val="1F2A37"/>
                </a:solidFill>
                <a:latin typeface="Amiri" pitchFamily="34" charset="0"/>
                <a:ea typeface="Amiri" pitchFamily="34" charset="-122"/>
                <a:cs typeface="Amiri" pitchFamily="34" charset="-120"/>
              </a:rPr>
              <a:t>أَنَا دَوْلَةٌ فِي</a:t>
            </a:r>
            <a:pPr algn="l" indent="0" marL="0">
              <a:buNone/>
            </a:pPr>
            <a:r>
              <a:rPr lang="en-US" sz="1250" dirty="0">
                <a:solidFill>
                  <a:srgbClr val="1F2A37"/>
                </a:solidFill>
                <a:latin typeface="Calibri" pitchFamily="34" charset="0"/>
                <a:ea typeface="Calibri" pitchFamily="34" charset="-122"/>
                <a:cs typeface="Calibri" pitchFamily="34" charset="-120"/>
              </a:rPr>
              <a:t> ___ </a:t>
            </a:r>
            <a:pPr algn="l" indent="0" marL="0">
              <a:buNone/>
            </a:pPr>
            <a:r>
              <a:rPr lang="ar-SA" altLang="en-US" sz="1650" dirty="0">
                <a:solidFill>
                  <a:srgbClr val="1F2A37"/>
                </a:solidFill>
                <a:latin typeface="Amiri" pitchFamily="34" charset="0"/>
                <a:ea typeface="Amiri" pitchFamily="34" charset="-122"/>
                <a:cs typeface="Amiri" pitchFamily="34" charset="-120"/>
              </a:rPr>
              <a:t>، غَرْبَ</a:t>
            </a:r>
            <a:pPr algn="l" indent="0" marL="0">
              <a:buNone/>
            </a:pPr>
            <a:r>
              <a:rPr lang="en-US" sz="1250" dirty="0">
                <a:solidFill>
                  <a:srgbClr val="1F2A37"/>
                </a:solidFill>
                <a:latin typeface="Calibri" pitchFamily="34" charset="0"/>
                <a:ea typeface="Calibri" pitchFamily="34" charset="-122"/>
                <a:cs typeface="Calibri" pitchFamily="34" charset="-120"/>
              </a:rPr>
              <a:t> ___ .” Your partner guesses the country and its nationality (he / she).</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ea typeface="Cambria" pitchFamily="34" charset="-122"/>
                <a:cs typeface="Cambria" pitchFamily="34" charset="-120"/>
              </a:rPr>
              <a:t>Speaking: introduce a country and its languages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تَقَعُ مِصْرُ؟ وَمَا جِنْسِيَّةُ أَهْلِهَا؟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اِخْتَرْ دَوْلَةً عَرَبِيَّةً. مَا عَاصِمَتُهَا؟ وَمَا جِنْسِيَّةُ أَهْلِهَا؟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لُغَاتٍ تُسْتَعْمَلُ هُنَاكَ إِلَى جَانِبِ العَرَبِيَّةِ؟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الفَرْقُ بَيْنَ الفُصْحَى وَاللَّهَجَاتِ؟</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34" charset="0"/>
                <a:ea typeface="Amiri" pitchFamily="34" charset="-122"/>
                <a:cs typeface="Amiri" pitchFamily="34" charset="-120"/>
              </a:rPr>
              <a:t>______ فِي ______ ، وَأَهْلُهَا ______ ـِيُّونَ.</a:t>
            </a:r>
            <a:endParaRPr lang="ar-SA" sz="14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عَاصِمَتُهُ ______ ، وَتُسْتَعْمَلُ هُنَاكَ ______ .</a:t>
            </a:r>
            <a:endParaRPr lang="ar-SA" sz="14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نَكْتُبُ بِالفُصْحَى، وَلٰكِنَّنَا ______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هُوَ / هِيَ اخْتَارَ / اخْتَارَتْ ______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اِخْتَرْ دَوْلَةً عَرَبِيَّةً وَتَحَدَّثْ عَنْهَا.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Choose an Arab country and talk about it.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أَخْتَارُ المَغْرِبَ. عَاصِمَتُهُ الرِّبَاطُ، وَأَهْلُهُ مَغَارِبَةٌ، وَالوَاحِدُ مِنْهُمْ مَغْرِبِيٌّ.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Country, capital and nisba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Match ten countries to their nationalities and write five sentences with accurate nisba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sentence frames and word bank (next slide). Start each sentence with a person or a country. Use the nationality tables in your notes.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5 + 2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sentence about the languages used in two different countries.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Develop frames on the next slide. Add فِي + a place, and a language with إِلَى جَانِبِ العَرَبِيَّةِ.</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about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Contrast fuṣḥā and the dialects, and qualify one claim about regional diversity.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introduce one Arab country in about 80 words.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فِي ______ يَتَحَدَّثُ النَّاسُ العَرَبِيَّةَ وَ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 people speak Arabic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تُسْتَعْمَلُ ______ إِلَى جَانِبِ العَرَبِيَّةِ فِي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used alongside Arabic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لُغَةٌ رَسْمِيَّةٌ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an official language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أَهْلُ ______ ______ ـِيُّونَ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people of … are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طَالِبَةٌ ______ ـِيَّةٌ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She is a … student.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فِي أَفْرِيقِيَا / آسِيَا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Egypt is in Africa.</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غَرْبَ / شَرْقَ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Morocco is west of Algeria.</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كَرِيمٌ ______ ـِيٌّ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Karīm is Iraqi.</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سَلْمَى ______ ـِيَّةٌ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Salmā is Moroccan.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عَاصِمَةُ ______ هِيَ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capital of …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مِصْرُ  ·  العِرَاقُ  ·  المَغْرِبُ  ·  لُبْنَانُ  ·  الأُرْدُنُّ  ·  تُونُسُ  ·  أَفْرِيقِيَا  ·  آسِيَا  ·  شَمَالَ  ·  جَنُوبَ  ·  شَرْقَ  ·  غَرْبَ  ·  الأَمَازِيغِيَّةُ  ·  الكُرْدِيَّةُ  ·  القَاهِرَةُ  ·  بَغْدَادُ  ·  الرِّبَاطُ</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about eighty words introducing one Arab country: its name, its capital, the nationality of its people, the languages used there, and one accurate statement about the region's diversity.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correctly formed nisba, matching the gender of its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diptote country name used after a preposition, with no tanwīn.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sentence naming a language other than Arabic.</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qualified statement about diversity rather than a generalisation.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Mix past and present on purpose: </a:t>
            </a:r>
            <a:pPr algn="l" indent="0" marL="0">
              <a:buNone/>
            </a:pPr>
            <a:r>
              <a:rPr lang="ar-SA" altLang="en-US" sz="1550" dirty="0">
                <a:solidFill>
                  <a:srgbClr val="1F2A37"/>
                </a:solidFill>
                <a:latin typeface="Amiri" pitchFamily="34" charset="0"/>
                <a:ea typeface="Amiri" pitchFamily="34" charset="-122"/>
                <a:cs typeface="Amiri" pitchFamily="34" charset="-120"/>
              </a:rPr>
              <a:t>زُرْتُ … قَبْلَ سَنَتَيْنِ / تُسْتَعْمَلُ</a:t>
            </a:r>
            <a:pPr algn="l" indent="0" marL="0">
              <a:buNone/>
            </a:pPr>
            <a:r>
              <a:rPr lang="en-US" sz="1200" dirty="0">
                <a:solidFill>
                  <a:srgbClr val="1F2A37"/>
                </a:solidFill>
                <a:latin typeface="Calibri" pitchFamily="34" charset="0"/>
                <a:ea typeface="Calibri" pitchFamily="34" charset="-122"/>
                <a:cs typeface="Calibri" pitchFamily="34" charset="-120"/>
              </a:rPr>
              <a:t> …</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أَجْمَلِ الدُّوَلِ العَرَبِيَّةِ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one of the most beautiful Arab countries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تُسْتَعْمَلُ فِيهِ … إِلَى جَانِبِ العَرَبِيَّةِ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used there alongside Arabic</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وَلَاحَظْتُ أَنَّ اللَّهْجَةَ تَخْتَلِفُ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 noticed that the dialect is different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نَكْتُبُ جَمِيعًا بِالفُصْحَى</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 all write in fuṣḥā</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وَلَيْسَ صَحِيحًا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it is not true that …</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فَالتَّنَوُّعُ فِيهَا كَبِيرٌ</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for the diversity there is great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buNone/>
            </a:pPr>
            <a:r>
              <a:rPr lang="ar-SA" altLang="en-US" sz="2600" dirty="0">
                <a:solidFill>
                  <a:srgbClr val="1F2A37"/>
                </a:solidFill>
                <a:latin typeface="Amiri" pitchFamily="34" charset="0"/>
                <a:ea typeface="Amiri" pitchFamily="34" charset="-122"/>
                <a:cs typeface="Amiri" pitchFamily="34" charset="-120"/>
              </a:rPr>
              <a:t>مِنْ أَجْمَلِ الدُّوَلِ العَرَبِيَّةِ المَغْرِبُ، وَعَاصِمَتُهُ الرِّبَاطُ. وَأَهْلُهُ مَغَارِبَةٌ، وَالطَّالِبُ مِنْهُمْ مَغْرِبِيٌّ وَالطَّالِبَةُ مَغْرِبِيَّةٌ. تُسْتَعْمَلُ فِيهِ العَرَبِيَّةُ وَالأَمَازِيغِيَّةُ، وَالأَمَازِيغِيَّةُ لُغَةٌ رَسْمِيَّةٌ هُنَاكَ. وَقَدْ زُرْتُ مِصْرَ أَيْضًا قَبْلَ سَنَتَيْنِ، وَلَاحَظْتُ أَنَّ اللَّهْجَةَ تَخْتَلِفُ كَثِيرًا عَنْ لَهْجَةِ المَغْرِبِ. نَكْتُبُ جَمِيعًا بِالفُصْحَى، وَلٰكِنَّنَا نَتَحَدَّثُ بِلَهَجَاتٍ مُخْتَلِفَةٍ. وَلَيْسَ صَحِيحًا أَنَّ المِنْطَقَةَ ذَاتُ ثَقَافَةٍ وَاحِدَةٍ؛ فَالتَّنَوُّعُ فِيهَا كَبِيرٌ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Morocco is one of the most beautiful Arab countries, and its capital is Rabat. Its people are Moroccans: a male student from there is maghribī and a female student is maghribiyya. Arabic and Amazigh are used there, and Amazigh is an official language there. I also visited Egypt two years ago, and I noticed that the dialect is very different from the Moroccan dialect. We all write in fuṣḥā, but we speak different dialects. It is not true that the region has a single culture; its diversity is very great.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nisba (he / she)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diptote: زُرْتُ مِصْرَ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language besides Arabic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careful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add </a:t>
            </a:r>
            <a:pPr algn="l" indent="0" marL="0">
              <a:buNone/>
            </a:pPr>
            <a:r>
              <a:rPr lang="ar-SA" altLang="en-US" sz="1700" dirty="0">
                <a:solidFill>
                  <a:srgbClr val="1F2A37"/>
                </a:solidFill>
                <a:latin typeface="Amiri" pitchFamily="34" charset="0"/>
                <a:ea typeface="Amiri" pitchFamily="34" charset="-122"/>
                <a:cs typeface="Amiri" pitchFamily="34" charset="-120"/>
              </a:rPr>
              <a:t>ـِيٌّ</a:t>
            </a:r>
            <a:pPr algn="l" indent="0" marL="0">
              <a:buNone/>
            </a:pPr>
            <a:r>
              <a:rPr lang="en-US" sz="1300" dirty="0">
                <a:solidFill>
                  <a:srgbClr val="1F2A37"/>
                </a:solidFill>
                <a:latin typeface="Calibri" pitchFamily="34" charset="0"/>
                <a:ea typeface="Calibri" pitchFamily="34" charset="-122"/>
                <a:cs typeface="Calibri" pitchFamily="34" charset="-120"/>
              </a:rPr>
              <a:t> for a masculine nationality and </a:t>
            </a:r>
            <a:pPr algn="l" indent="0" marL="0">
              <a:buNone/>
            </a:pPr>
            <a:r>
              <a:rPr lang="ar-SA" altLang="en-US" sz="1700" dirty="0">
                <a:solidFill>
                  <a:srgbClr val="1F2A37"/>
                </a:solidFill>
                <a:latin typeface="Amiri" pitchFamily="34" charset="0"/>
                <a:ea typeface="Amiri" pitchFamily="34" charset="-122"/>
                <a:cs typeface="Amiri" pitchFamily="34" charset="-120"/>
              </a:rPr>
              <a:t>ـِيَّةٌ</a:t>
            </a:r>
            <a:pPr algn="l" indent="0" marL="0">
              <a:buNone/>
            </a:pPr>
            <a:r>
              <a:rPr lang="en-US" sz="1300" dirty="0">
                <a:solidFill>
                  <a:srgbClr val="1F2A37"/>
                </a:solidFill>
                <a:latin typeface="Calibri" pitchFamily="34" charset="0"/>
                <a:ea typeface="Calibri" pitchFamily="34" charset="-122"/>
                <a:cs typeface="Calibri" pitchFamily="34" charset="-120"/>
              </a:rPr>
              <a:t> for a feminine one.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where a country is: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 continent, or </a:t>
            </a:r>
            <a:pPr algn="l" indent="0" marL="0">
              <a:buNone/>
            </a:pPr>
            <a:r>
              <a:rPr lang="ar-SA" altLang="en-US" sz="1700" dirty="0">
                <a:solidFill>
                  <a:srgbClr val="1F2A37"/>
                </a:solidFill>
                <a:latin typeface="Amiri" pitchFamily="34" charset="0"/>
                <a:ea typeface="Amiri" pitchFamily="34" charset="-122"/>
                <a:cs typeface="Amiri" pitchFamily="34" charset="-120"/>
              </a:rPr>
              <a:t>شَمَالَ / جَنُوبَ / شَرْقَ / غَرْبَ</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distinguish </a:t>
            </a:r>
            <a:pPr algn="l" indent="0" marL="0">
              <a:buNone/>
            </a:pPr>
            <a:r>
              <a:rPr lang="ar-SA" altLang="en-US" sz="1700" dirty="0">
                <a:solidFill>
                  <a:srgbClr val="1F2A37"/>
                </a:solidFill>
                <a:latin typeface="Amiri" pitchFamily="34" charset="0"/>
                <a:ea typeface="Amiri" pitchFamily="34" charset="-122"/>
                <a:cs typeface="Amiri" pitchFamily="34" charset="-120"/>
              </a:rPr>
              <a:t>الفُصْحَى</a:t>
            </a:r>
            <a:pPr algn="l" indent="0" marL="0">
              <a:buNone/>
            </a:pPr>
            <a:r>
              <a:rPr lang="en-US" sz="1300" dirty="0">
                <a:solidFill>
                  <a:srgbClr val="1F2A37"/>
                </a:solidFill>
                <a:latin typeface="Calibri" pitchFamily="34" charset="0"/>
                <a:ea typeface="Calibri" pitchFamily="34" charset="-122"/>
                <a:cs typeface="Calibri" pitchFamily="34" charset="-120"/>
              </a:rPr>
              <a:t> from the spoken dialects.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mention Amazigh and Kurdish as languages of the region, not only Arabic.</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write </a:t>
            </a:r>
            <a:pPr algn="l" indent="0" marL="0">
              <a:buNone/>
            </a:pPr>
            <a:r>
              <a:rPr lang="ar-SA" altLang="en-US" sz="1700" dirty="0">
                <a:solidFill>
                  <a:srgbClr val="1F2A37"/>
                </a:solidFill>
                <a:latin typeface="Amiri" pitchFamily="34" charset="0"/>
                <a:ea typeface="Amiri" pitchFamily="34" charset="-122"/>
                <a:cs typeface="Amiri" pitchFamily="34" charset="-120"/>
              </a:rPr>
              <a:t>مِصْرُ، لُبْنَانُ</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قَطَرُ</a:t>
            </a:r>
            <a:pPr algn="l" indent="0" marL="0">
              <a:buNone/>
            </a:pPr>
            <a:r>
              <a:rPr lang="en-US" sz="1300" dirty="0">
                <a:solidFill>
                  <a:srgbClr val="1F2A37"/>
                </a:solidFill>
                <a:latin typeface="Calibri" pitchFamily="34" charset="0"/>
                <a:ea typeface="Calibri" pitchFamily="34" charset="-122"/>
                <a:cs typeface="Calibri" pitchFamily="34" charset="-120"/>
              </a:rPr>
              <a:t> without tanwīn, and </a:t>
            </a:r>
            <a:pPr algn="l" indent="0" marL="0">
              <a:buNone/>
            </a:pPr>
            <a:r>
              <a:rPr lang="ar-SA" altLang="en-US" sz="1700" dirty="0">
                <a:solidFill>
                  <a:srgbClr val="1F2A37"/>
                </a:solidFill>
                <a:latin typeface="Amiri" pitchFamily="34" charset="0"/>
                <a:ea typeface="Amiri" pitchFamily="34" charset="-122"/>
                <a:cs typeface="Amiri" pitchFamily="34" charset="-120"/>
              </a:rPr>
              <a:t>مِصْرَ</a:t>
            </a:r>
            <a:pPr algn="l" indent="0" marL="0">
              <a:buNone/>
            </a:pPr>
            <a:r>
              <a:rPr lang="en-US" sz="1300" dirty="0">
                <a:solidFill>
                  <a:srgbClr val="1F2A37"/>
                </a:solidFill>
                <a:latin typeface="Calibri" pitchFamily="34" charset="0"/>
                <a:ea typeface="Calibri" pitchFamily="34" charset="-122"/>
                <a:cs typeface="Calibri" pitchFamily="34" charset="-120"/>
              </a:rPr>
              <a:t> in the genitive.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nisba.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 سُودَانِيَّةٌ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 سُودَانِيٌّ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 سُودَانِيَّةٌ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سَافَرْنَا إِلَى ___ فِي الرَّبِيعِ.</a:t>
            </a:r>
            <a:endParaRPr lang="ar-SA" sz="1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تُونُسًا</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accurate?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الكُرْدِيَّةُ لُغَةٌ رَسْمِيَّةٌ فِي العِرَاقِ.</a:t>
            </a:r>
            <a:endParaRPr lang="ar-SA" sz="18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الكُرْدِيَّةُ لُغَةٌ رَسْمِيَّةٌ فِي المَغْرِبِ.</a:t>
            </a:r>
            <a:endParaRPr lang="ar-SA" sz="18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لَا تُوجَدُ لُغَاتٌ رَسْمِيَّةٌ غَيْرُ العَرَبِيَّةِ.</a:t>
            </a:r>
            <a:endParaRPr lang="ar-SA" sz="18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nisba.</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طَالِبَةٌ سُودَانِيَّةٌ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طَالِبَةٌ سُودَانِيٌّ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طَالِبٌ سُودَانِيَّةٌ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nisba adjective agrees with its feminine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سَافَرْنَا إِلَى ___ فِي الرَّبِيعِ.</a:t>
            </a:r>
            <a:endParaRPr lang="ar-SA" sz="1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تُونُسٍ</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تُونُسَ</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تُونُسًا</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تُونُس</a:t>
            </a:r>
            <a:pPr algn="l" indent="0" marL="0">
              <a:buNone/>
            </a:pPr>
            <a:r>
              <a:rPr lang="en-US" sz="1050" i="1" dirty="0">
                <a:solidFill>
                  <a:srgbClr val="8A6D1E"/>
                </a:solidFill>
                <a:latin typeface="Calibri" pitchFamily="34" charset="0"/>
                <a:ea typeface="Calibri" pitchFamily="34" charset="-122"/>
                <a:cs typeface="Calibri" pitchFamily="34" charset="-120"/>
              </a:rPr>
              <a:t> is a diptote, so the genitive is a bare fatḥa.</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accurate?</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34" charset="0"/>
                <a:ea typeface="Amiri" pitchFamily="34" charset="-122"/>
                <a:cs typeface="Amiri" pitchFamily="34" charset="-120"/>
              </a:rPr>
              <a:t>الكُرْدِيَّةُ لُغَةٌ رَسْمِيَّةٌ فِي العِرَاقِ.</a:t>
            </a:r>
            <a:endParaRPr lang="ar-SA" sz="18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الكُرْدِيَّةُ لُغَةٌ رَسْمِيَّةٌ فِي المَغْرِبِ.</a:t>
            </a:r>
            <a:endParaRPr lang="ar-SA" sz="18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لَا تُوجَدُ لُغَاتٌ رَسْمِيَّةٌ غَيْرُ العَرَبِيَّةِ.</a:t>
            </a:r>
            <a:endParaRPr lang="ar-SA" sz="18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Kurdish is co-official in Iraq.</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Reading: one region, many languages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34" charset="0"/>
                <a:ea typeface="Amiri" pitchFamily="34" charset="-122"/>
                <a:cs typeface="Amiri" pitchFamily="34" charset="-120"/>
              </a:rPr>
              <a:t>تَضُمُّ جَامِعَةُ الدُّوَلِ العَرَبِيَّةِ اثْنَتَيْنِ وَعِشْرِينَ دَوْلَةً، تَمْتَدُّ مِنَ المُحِيطِ الأَطْلَسِيِّ غَرْبًا إِلَى الخَلِيجِ شَرْقًا. وَتُعَدُّ العَرَبِيَّةُ الفُصْحَى اللُّغَةَ المُشْتَرَكَةَ فِي الكِتَابَةِ وَالإِعْلَامِ وَالتَّعْلِيمِ. أَمَّا فِي الحَيَاةِ اليَوْمِيَّةِ فَيَتَحَدَّثُ النَّاسُ لَهَجَاتٍ مُخْتَلِفَةً تَخْتَلِفُ مِنْ بَلَدٍ إِلَى بَلَدٍ، وَأَحْيَانًا مِنْ مَدِينَةٍ إِلَى مَدِينَةٍ. وَإِلَى جَانِبِ العَرَبِيَّةِ تُوجَدُ لُغَاتٌ أُخْرَى: فَالأَمَازِيغِيَّةُ لُغَةٌ رَسْمِيَّةٌ فِي المَغْرِبِ وَالجَزَائِرِ، وَالكُرْدِيَّةُ لُغَةٌ رَسْمِيَّةٌ فِي العِرَاقِ. وَلَيْسَ صَحِيحًا أَنَّ المِنْطَقَةَ ذَاتُ ثَقَافَةٍ وَاحِدَةٍ؛ فَالتَّنَوُّعُ فِيهَا كَبِيرٌ.</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تَضُمُّ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includes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جَامِعَةُ الدُّوَلِ العَرَبِيَّةِ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Arab League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تَمْتَدُّ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stretches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المُحِيطُ الأَطْلَسِيُّ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Atlantic Ocean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الخَلِيجُ</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Gulf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الإِعْلَامُ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media</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التَّعْلِيمُ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education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الحَيَاةُ اليَوْمِيَّةُ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daily life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تَخْتَلِفُ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differs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التَّنَوُّعُ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diversity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states are in the Arab League?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Twelve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Twenty-two</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Twenty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fuṣḥā used?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in poetry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at home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Writing, media and education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about dialects?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differ between countries and sometimes between cities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identical everywhere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no longer spoken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Amazigh an official language?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Iraq and Syria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and Algeria</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Egypt and Sudan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text's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region is not a single culture; its diversity is great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region shares one culture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one language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 (a number, a country, a language).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states are in the Arab League?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Twelve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Twenty-two</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Twenty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تَضُمُّ … اثْنَتَيْنِ وَعِشْرِينَ دَوْلَةً.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fuṣḥā used?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in poetry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at home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Writing, media and education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اللُّغَةَ المُشْتَرَكَةَ فِي الكِتَابَةِ وَالإِعْلَامِ وَالتَّعْلِيمِ.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about dialects?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They differ between countries and sometimes between cities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identical everywhere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no longer spoken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تَخْتَلِفُ مِنْ بَلَدٍ إِلَى بَلَدٍ، وَأَحْيَانًا مِنْ مَدِينَةٍ إِلَى مَدِينَةٍ.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Amazigh an official language?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Iraq and Syria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Morocco and Algeria</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Egypt and Sudan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الأَمَازِيغِيَّةُ لُغَةٌ رَسْمِيَّةٌ فِي المَغْرِبِ وَالجَزَائِرِ.</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text's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region is not a single culture; its diversity is great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region shares one culture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one language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وَلَيْسَ صَحِيحًا أَنَّ المِنْطَقَةَ ذَاتُ ثَقَافَةٍ وَاحِدَةٍ؛ فَالتَّنَوُّعُ فِيهَا كَبِيرٌ.</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 (a number, a country, a language).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TC-L02 · Landscapes, Nature and Animals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جَبَلٌ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mountain</a:t>
            </a:r>
            <a:pPr indent="0" marL="0">
              <a:buNone/>
            </a:pPr>
            <a:r>
              <a:rPr lang="en-US" sz="1000" i="1" dirty="0">
                <a:solidFill>
                  <a:srgbClr val="5A6472"/>
                </a:solidFill>
                <a:latin typeface="Calibri" pitchFamily="34" charset="0"/>
                <a:ea typeface="Calibri" pitchFamily="34" charset="-122"/>
                <a:cs typeface="Calibri" pitchFamily="34" charset="-120"/>
              </a:rPr>
              <a:t>  pl. جِبَالٌ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نَهْرٌ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river</a:t>
            </a:r>
            <a:pPr indent="0" marL="0">
              <a:buNone/>
            </a:pPr>
            <a:r>
              <a:rPr lang="en-US" sz="1000" i="1" dirty="0">
                <a:solidFill>
                  <a:srgbClr val="5A6472"/>
                </a:solidFill>
                <a:latin typeface="Calibri" pitchFamily="34" charset="0"/>
                <a:ea typeface="Calibri" pitchFamily="34" charset="-122"/>
                <a:cs typeface="Calibri" pitchFamily="34" charset="-120"/>
              </a:rPr>
              <a:t>  pl. أَنْهَارٌ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صَحْرَاءُ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desert</a:t>
            </a:r>
            <a:pPr indent="0" marL="0">
              <a:buNone/>
            </a:pPr>
            <a:r>
              <a:rPr lang="en-US" sz="1000" i="1" dirty="0">
                <a:solidFill>
                  <a:srgbClr val="5A6472"/>
                </a:solidFill>
                <a:latin typeface="Calibri" pitchFamily="34" charset="0"/>
                <a:ea typeface="Calibri" pitchFamily="34" charset="-122"/>
                <a:cs typeface="Calibri" pitchFamily="34" charset="-120"/>
              </a:rPr>
              <a:t>  pl. صَحَارَى</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غَابَةٌ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forest</a:t>
            </a:r>
            <a:pPr indent="0" marL="0">
              <a:buNone/>
            </a:pPr>
            <a:r>
              <a:rPr lang="en-US" sz="1000" i="1" dirty="0">
                <a:solidFill>
                  <a:srgbClr val="5A6472"/>
                </a:solidFill>
                <a:latin typeface="Calibri" pitchFamily="34" charset="0"/>
                <a:ea typeface="Calibri" pitchFamily="34" charset="-122"/>
                <a:cs typeface="Calibri" pitchFamily="34" charset="-120"/>
              </a:rPr>
              <a:t>  pl. غَابَاتٌ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حَيَوَانٌ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animal</a:t>
            </a:r>
            <a:pPr indent="0" marL="0">
              <a:buNone/>
            </a:pPr>
            <a:r>
              <a:rPr lang="en-US" sz="1000" i="1" dirty="0">
                <a:solidFill>
                  <a:srgbClr val="5A6472"/>
                </a:solidFill>
                <a:latin typeface="Calibri" pitchFamily="34" charset="0"/>
                <a:ea typeface="Calibri" pitchFamily="34" charset="-122"/>
                <a:cs typeface="Calibri" pitchFamily="34" charset="-120"/>
              </a:rPr>
              <a:t>  pl. حَيَوَانَاتٌ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Arab country would you like to visit, and where is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أَيَّ بَلَدٍ عَرَبِيٍّ تُحِبُّ أَنْ تَزُورَ؟ وَأَيْنَ يَقَعُ؟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TC-L01 · play the “Map &amp; Compass” game, then the vocabulary mission (8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country + </a:t>
            </a:r>
            <a:pPr algn="l" indent="0" marL="0">
              <a:buNone/>
            </a:pPr>
            <a:r>
              <a:rPr lang="ar-SA" altLang="en-US" sz="1550" dirty="0">
                <a:solidFill>
                  <a:srgbClr val="1F2A37"/>
                </a:solidFill>
                <a:latin typeface="Amiri" pitchFamily="34" charset="0"/>
                <a:ea typeface="Amiri" pitchFamily="34" charset="-122"/>
                <a:cs typeface="Amiri" pitchFamily="34" charset="-120"/>
              </a:rPr>
              <a:t>فِي</a:t>
            </a:r>
            <a:pPr algn="l" indent="0" marL="0">
              <a:buNone/>
            </a:pPr>
            <a:r>
              <a:rPr lang="en-US" sz="1200" dirty="0">
                <a:solidFill>
                  <a:srgbClr val="1F2A37"/>
                </a:solidFill>
                <a:latin typeface="Calibri" pitchFamily="34" charset="0"/>
                <a:ea typeface="Calibri" pitchFamily="34" charset="-122"/>
                <a:cs typeface="Calibri" pitchFamily="34" charset="-120"/>
              </a:rPr>
              <a:t> + continent + nationality for he and she (</a:t>
            </a:r>
            <a:pPr algn="l" indent="0" marL="0">
              <a:buNone/>
            </a:pPr>
            <a:r>
              <a:rPr lang="ar-SA" altLang="en-US" sz="1550" dirty="0">
                <a:solidFill>
                  <a:srgbClr val="1F2A37"/>
                </a:solidFill>
                <a:latin typeface="Amiri" pitchFamily="34" charset="0"/>
                <a:ea typeface="Amiri" pitchFamily="34" charset="-122"/>
                <a:cs typeface="Amiri" pitchFamily="34" charset="-120"/>
              </a:rPr>
              <a:t>مِصْرِيٌّ / مِصْرِيَّةٌ</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TC-L01 · “Arab World Mission” (14 rounds) and the reading “One region, many languages”.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TC-L02 · Landscapes, Nature and Animals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التَّضَارِيسُ وَالطَّبِيعَةُ وَالحَيَوَانَاتُ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TC-L01 · People, Places, Continents and Compass Points</dc:title>
  <dc:subject>PptxGenJS Presentation</dc:subject>
  <dc:creator>Al Madina Online School · Arabic Department</dc:creator>
  <cp:lastModifiedBy>Al Madina Online School · Arabic Department</cp:lastModifiedBy>
  <cp:revision>1</cp:revision>
  <dcterms:created xsi:type="dcterms:W3CDTF">2026-09-27T07:45:45Z</dcterms:created>
  <dcterms:modified xsi:type="dcterms:W3CDTF">2026-09-27T07:45:45Z</dcterms:modified>
</cp:coreProperties>
</file>