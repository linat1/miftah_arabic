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6 (TC-L06). The website lesson reuses D4-L05 (The Digital World — Technology and Social Media) with the Topic C focus “Discuss devices, platforms, benefits, risks and patterns of use” (grammar: verbal nouns; object pronouns; contrast). The picture match is the website lesson game “Digital Life”; the “benefit–risk debate”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D4-L05 is B1 language. CORE: devices and apps + “I” verbs from the website game (أُرْسِلُ رَسَائِلَ … بِالهَاتِفِ · أَسْتَعْمِلُ الحَاسُوبَ لِلدِّرَاسَةِ) and the rule “keep the verb with its partner preposition”. DEVELOP: verbal nouns and a balanced view (مِنْ نَاحِيَةٍ … وَمِنْ نَاحِيَةٍ أُخْرَى). STRETCH: pronoun reference (عَلَيْهِ / فِيهَا), عَلَى الرَّغْمِ مِنْ أَنَّ and شَرِيطَةَ أَنْ.
• “He / I” verb tables with transliteration; picture match with icons; read-along listening with English.
• Website note: the website lists “follows” as يَتَابِعُ; the correct form is يُتَابِعُ (Form III) — used on the slides.
• Safeguarding: keep discussion of apps and social media general; remind students never to share passwords or personal details (the lesson content supports this message).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TC-L05, TC-L02 and TC-L04 — questions 4–5 are fixed verb + preposition pairs, today’s key idea.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Many verbs have a PARTNER word that never changes: يَتَفَاعَلُ مَعَ · يُعَلِّقُ عَلَى · يَبْحَثُ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معلومات (information — مَعْلُومَاتٌ مُضَلِّلَةٌ = misinformation), تعلیم (education — same root as التَّعَلُّمُ), صحت (health — الصِّحَّةُ الرَّقْمِيَّةُ), مفید (useful), خطرات (dangers — مَخَاطِرُ).
Groups 2–4 are the website D4-L05 vocabulary; Group 1 adds هَاتِفٌ / حَاسُوبٌ / الإِنْتَرْنِتُ from the website game; Group 5 (verbal nouns — Topic C grammar focus) uses nouns from the website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devices and apps (website D4-L05 + the website game “Digital Life”). Hear → Say → See → Use.
Pink ending again: إِلِكْتُرُونِيٌّ is a nisba (electronic). كَلِمَةُ المُرُورِ = “word of passing” (iḍāfa, TC-L02).
Quick check: “Type the NUMBER of the thing you used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online world (website D4-L05 “Digital tools and 2028 vocabulary”). Develop / Stretch; Core students listen and repeat.
Also on the website: عَلَامَةٌ تِجَارِيَّةٌ / مَارْكَةٌ =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Online actions (website D4-L05). The blue letter is WHO: يُـ / يَـ = he, أُـ / أَـ = I. Change only the blue letter (the morning-routine rule).
Core: the three CORE rows — say “he … / I …” for each.
Website note: the website lists “follows” as يَتَابِعُ; the correct Form III form is يُتَابِعُ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that keep a partner word (website D4-L05 “Online actions and their prepositions”). Teal = the partner word, which NEVER changes.
Teach as chunks: “interact-WITH”, “comment-ON”, “search-FOR”. Website rule: “Arabic digital verbs often govern a specific preposition. Changing it makes the phrase inaccurate.”
Core: the three CORE rows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benefits and risks (website D4-L05). Also on the website: مِنْ نَاحِيَةٍ (on the one hand) and مِنْ نَاحِيَةٍ أُخْرَى (on the other hand) — taught on the contrast slide.
Nisba again: رَقْمِيٌّ (digital, from رَقْم = number) — masculine الأَمَانُ الرَّقْمِيُّ vs feminine الصِّحَّةُ الرَّقْمِيَّةُ.
Safeguarding: if cyberbullying comes up, remind students who they can talk to in school; do not invite personal disclosures on open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verbal nouns (Topic C grammar focus for this lesson). A verbal noun (مَصْدَر) is the “-ing” noun of a verb. The website phrases come from the mission (اسْتِخْدَامُ كَلِمَةِ مُرُورٍ قَوِيَّةٍ · نَشْرُ العُنْوَانِ الشَّخْصِيِّ), vocabulary (التَّعَلُّمُ عَنْ بُعْدٍ), lesson title (وَسَائِلُ التَّوَاصُلِ الاجْتِمَاعِيِّ) and listening (تَقْلِيلُ وَقْتِ الشَّاشَةِ).
Develop: say the verb, then the noun. Stretch: make a verbal noun the subject of a sentence (اسْتِخْدَامُ الهَاتِفِ مُفِيدٌ).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“Keep the verb with its required preposition”: verb + fixed preposition. Arabic digital verbs often govern a specific preposition. Changing it makes the phrase inaccurate.
Think aloud: “Blue tells me WHO (I). Purple is the meaning. Teal is the partner word — I learn the verb and its partner together as one chunk.”
Misconception (website common mistakes): يَتَفَاعَلُ … عَلَى ✗ · يُعَلِّقُ … مَعَ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verbs and their partners in website sentences (website rule examples, game, listening script).
Read each row; students repeat the verb + partner as ONE chunk.
Row 4 shows the partner with an attached pronoun: عَلَى + ـهِ = عَلَيْهِ (on it) — Stretch pronoun reference.
Row 5: تُسَاعِدُنِي = helps ME (ـنِي = me, an object pronoun — Topic C grammar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“Balanced contrast” (present a benefit and a limitation before reaching a judgement) and “Pronoun reference” (refer back precisely: عَلَيْهِ for a masculine noun, عَلَيْهَا for a feminine noun).
Examples are the website rule examples (shortened on the cards; full sentences in the FLEX rules slide).
• CORE: listen. • DEVELOP: card 1. • STRETCH: cards 2–3.
Website application “Technology benefit–risk debate”: sort statements into benefit / risk / balanced, then defend a balanced viewpoint.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Rule 3 is the Stretch concession: عَلَى الرَّغْمِ مِنْ أَنَّ + nominal clause (use أَنَّ with a noun or attached pronoun; the sentence that follows states the unexpected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paragraph into their books.
Step 1 — “Which device? أَسْتَعْمِلُ الحَاسُوبَ — أَـ tells you it is me.”
Step 2 — “What for? لِلدِّرَاسَةِ = for studying — لِـ + a verbal noun.”
Step 3 — “A benefit: مِنْ نَاحِيَةٍ، أَتَفَاعَلُ مَعَ المُعَلِّمِ — the verb keeps its partner مَعَ.”
Step 4 — “A risk: وَمِنْ نَاحِيَةٍ أُخْرَى، أَحْتَاجُ إِلَى تَقْلِيلِ وَقْتِ الشَّاشَةِ.”
Built from website language: game (أَسْتَعْمِلُ الحَاسُوبَ لِلدِّرَاسَةِ عَبْرَ الإِنْتَرْنِتِ) and listening script (أَتَفَاعَلُ مَعَ المُعَلِّمِ … أَحْتَاجُ إِلَى تَقْلِيلِ وَقْتِ 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and change the device or the person. • Develop: copy 3 with a different verb and partner. • Stretch: copy 4 about a different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(“Digital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بِالهَاتِفِ / رَسَائِلَ (phone / messages), الحَاسُوبَ / لِلدِّرَاسَةِ (computer / for studying), كَلِمَةَ مُرُورٍ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(“Digital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بِالهَاتِفِ / رَسَائِلَ (phone / messages), الحَاسُوبَ / لِلدِّرَاسَةِ (computer / for studying), كَلِمَةَ مُرُورٍ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(game, patterns, quiz).
Students choose ONE box per column (start from Column 1 on the right) and type the letters, e.g. “1: B A A”. ↔ Rehearse 30s first.
Core: sentences 1–2. Develop / Stretch: sentence 3 and explain each wrong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(game, patterns, quiz).
Students choose ONE box per column (start from Column 1 on the right) and type the letters, e.g. “1: B A A”. ↔ Rehearse 30s first.
Core: sentences 1–2. Develop / Stretch: sentence 3 and explain each wrong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يُـ / يَـ is an action (verb).
Website application “Benefit–risk debate”: for the benefits/risks column, students say whether each is a benefit or a risk, then defend one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يُـ / يَـ is an action (verb).
Website application “Benefit–risk debate”: for the benefits/risks column, students say whether each is a benefit or a risk, then defend one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أَسْتَخْدِمُ مَنْصَّةً لِلتَّعَلُّمِ عَنْ بُعْدٍ ثَلَاثَ مَرَّاتٍ فِي الأُسْبُوعِ. أَتَفَاعَلُ مَعَ المُعَلِّمِ، وَأُحَمِّلُ وَاجِبَاتِي، وَأُعَلِّقُ عَلَى أَفْكَارِ زُمَلَائِي. مِنْ نَاحِيَةٍ، تُسَاعِدُنِي المِنَصَّةُ عَلَى التَّعَلُّمِ فِي أَيِّ مَكَانٍ. وَمِنْ نَاحِيَةٍ أُخْرَى، أَحْتَاجُ إِلَى تَقْلِيلِ وَقْتِ الشَّاشَةِ. لِذٰلِكَ أَسْتَخْدِمُ كَلِمَةَ مُرُورٍ قَوِيَّةً وَأَتَوَقَّفُ عَنِ الاسْتِخْدَامِ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“Which app do you use a lot, and why?” — answered with the Core stem, e.g. أَسْتَعْمِلُ تَطْبِيقًا لِلدِّرَاسَةِ.
Website note: the listening script on the website spells مَنْصَّةً; the read-along slide uses the standard vowelling مِنَصَّةً.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evaluating technology or social media.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يُسَاعِدُ … عَلَى · تُؤَدِّي … إِلَى · يَتَعَرَّضُ … لِـ; the risks إِدْمَانِ الشَّاشَاتِ / مَعْلُومَاتٍ مُضَلِّلَةٍ; the qualified conclusion شَرِيطَةَ أَنْ نَسْتَخْدِمَهَا (ـهَا = technology, feminine).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(TC-L07 · Documents, Texts and Digital Information) will spend class time USING this language, so students prepare it tonight — short, simple, easy to access (school guidance: “Simple, Short, Interesting, Relevant, Easy to access”). The five words come from the website lesson game “Document Detective” and the website P3-L02 travel-documents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2  ·  LESSON 3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The Digital World and Communication</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العَالَمُ الرَّقْمِيُّ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devices, platforms, benefits, risks and patterns of use: “I” verbs with their fixed prepositions (</a:t>
            </a:r>
            <a:pPr algn="l" indent="0" marL="0">
              <a:buNone/>
            </a:pPr>
            <a:r>
              <a:rPr lang="ar-SA" altLang="en-US" sz="1800" dirty="0">
                <a:solidFill>
                  <a:srgbClr val="C6D2E6"/>
                </a:solidFill>
                <a:latin typeface="Amiri" pitchFamily="34" charset="0"/>
                <a:ea typeface="Amiri" pitchFamily="34" charset="-122"/>
                <a:cs typeface="Amiri" pitchFamily="34" charset="-120"/>
              </a:rPr>
              <a:t>أَتَفَاعَلُ مَعَ</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أُعَلِّقُ عَلَى</a:t>
            </a:r>
            <a:pPr algn="l" indent="0" marL="0">
              <a:buNone/>
            </a:pPr>
            <a:r>
              <a:rPr lang="en-US" sz="1400" dirty="0">
                <a:solidFill>
                  <a:srgbClr val="C6D2E6"/>
                </a:solidFill>
                <a:latin typeface="Calibri" pitchFamily="34" charset="0"/>
                <a:ea typeface="Calibri" pitchFamily="34" charset="-122"/>
                <a:cs typeface="Calibri" pitchFamily="34" charset="-120"/>
              </a:rPr>
              <a:t>), verbal nouns and a balanced view (</a:t>
            </a:r>
            <a:pPr algn="l" indent="0" marL="0">
              <a:buNone/>
            </a:pPr>
            <a:r>
              <a:rPr lang="ar-SA" altLang="en-US" sz="1800" dirty="0">
                <a:solidFill>
                  <a:srgbClr val="C6D2E6"/>
                </a:solidFill>
                <a:latin typeface="Amiri" pitchFamily="34" charset="0"/>
                <a:ea typeface="Amiri" pitchFamily="34" charset="-122"/>
                <a:cs typeface="Amiri" pitchFamily="34" charset="-120"/>
              </a:rPr>
              <a:t>مِنْ نَاحِيَةٍ … وَمِنْ نَاحِيَةٍ أُخْرَى</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TC-L06 · Week 2, lesson 3</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Digital words, “I” verbs and their partner words.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“app”?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هَاتِفٌ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تَطْبِيقٌ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مَوْقِعٌ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المُرُورِ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message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البِلَاسْتِيكَ.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نُقَلِّلُ البِلَاسْتِيكَ.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البِلَاسْتِيكَ.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depends 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leads to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interacts with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إِلَى أَمْرَاضٍ.</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فِي أَمْرَاضٍ.</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مَعَ أَمْرَاضٍ.</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“app”?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هَاتِفٌ</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تَطْبِيقٌ</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مَوْقِعٌ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تَطْبِيقٌ</a:t>
            </a:r>
            <a:pPr algn="l" indent="0" marL="0">
              <a:buNone/>
            </a:pPr>
            <a:r>
              <a:rPr lang="en-US" sz="1050" i="1" dirty="0">
                <a:solidFill>
                  <a:srgbClr val="8A6D1E"/>
                </a:solidFill>
                <a:latin typeface="Calibri" pitchFamily="34" charset="0"/>
                <a:ea typeface="Calibri" pitchFamily="34" charset="-122"/>
                <a:cs typeface="Calibri" pitchFamily="34" charset="-120"/>
              </a:rPr>
              <a:t> = app · </a:t>
            </a:r>
            <a:pPr algn="l" indent="0" marL="0">
              <a:buNone/>
            </a:pPr>
            <a:r>
              <a:rPr lang="ar-SA" altLang="en-US" sz="1350" dirty="0">
                <a:solidFill>
                  <a:srgbClr val="8A6D1E"/>
                </a:solidFill>
                <a:latin typeface="Amiri" pitchFamily="34" charset="0"/>
                <a:ea typeface="Amiri" pitchFamily="34" charset="-122"/>
                <a:cs typeface="Amiri" pitchFamily="34" charset="-120"/>
              </a:rPr>
              <a:t>هَاتِفٌ</a:t>
            </a:r>
            <a:pPr algn="l" indent="0" marL="0">
              <a:buNone/>
            </a:pPr>
            <a:r>
              <a:rPr lang="en-US" sz="1050" i="1" dirty="0">
                <a:solidFill>
                  <a:srgbClr val="8A6D1E"/>
                </a:solidFill>
                <a:latin typeface="Calibri" pitchFamily="34" charset="0"/>
                <a:ea typeface="Calibri" pitchFamily="34" charset="-122"/>
                <a:cs typeface="Calibri" pitchFamily="34" charset="-120"/>
              </a:rPr>
              <a:t> = phone · </a:t>
            </a:r>
            <a:pPr algn="l" indent="0" marL="0">
              <a:buNone/>
            </a:pPr>
            <a:r>
              <a:rPr lang="ar-SA" altLang="en-US" sz="1350" dirty="0">
                <a:solidFill>
                  <a:srgbClr val="8A6D1E"/>
                </a:solidFill>
                <a:latin typeface="Amiri" pitchFamily="34" charset="0"/>
                <a:ea typeface="Amiri" pitchFamily="34" charset="-122"/>
                <a:cs typeface="Amiri" pitchFamily="34" charset="-120"/>
              </a:rPr>
              <a:t>مَوْقِعٌ</a:t>
            </a:r>
            <a:pPr algn="l" indent="0" marL="0">
              <a:buNone/>
            </a:pPr>
            <a:r>
              <a:rPr lang="en-US" sz="1050" i="1" dirty="0">
                <a:solidFill>
                  <a:srgbClr val="8A6D1E"/>
                </a:solidFill>
                <a:latin typeface="Calibri" pitchFamily="34" charset="0"/>
                <a:ea typeface="Calibri" pitchFamily="34" charset="-122"/>
                <a:cs typeface="Calibri" pitchFamily="34" charset="-120"/>
              </a:rPr>
              <a:t> =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المُرُورِ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password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message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website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كَلِمَةُ المُرُورِ</a:t>
            </a:r>
            <a:pPr algn="l" indent="0" marL="0">
              <a:buNone/>
            </a:pPr>
            <a:r>
              <a:rPr lang="en-US" sz="1050" i="1" dirty="0">
                <a:solidFill>
                  <a:srgbClr val="8A6D1E"/>
                </a:solidFill>
                <a:latin typeface="Calibri" pitchFamily="34" charset="0"/>
                <a:ea typeface="Calibri" pitchFamily="34" charset="-122"/>
                <a:cs typeface="Calibri" pitchFamily="34" charset="-120"/>
              </a:rPr>
              <a:t> = password.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البِلَاسْتِيكَ.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نُقَلِّلُ البِلَاسْتِيكَ.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نُقَلِّلَ البِلَاسْتِيكَ.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TC-L05: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ends in a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depends 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leads to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interacts with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a:t>
            </a:r>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is always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التَّلَوُّثُ إِلَى أَمْرَاضٍ.</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فِي أَمْرَاضٍ.</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مَعَ أَمْرَاضٍ.</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a:t>
            </a:r>
            <a:pPr algn="l" indent="0" marL="0">
              <a:buNone/>
            </a:pPr>
            <a:r>
              <a:rPr lang="ar-SA" altLang="en-US" sz="1350" dirty="0">
                <a:solidFill>
                  <a:srgbClr val="8A6D1E"/>
                </a:solidFill>
                <a:latin typeface="Amiri" pitchFamily="34" charset="0"/>
                <a:ea typeface="Amiri" pitchFamily="34" charset="-122"/>
                <a:cs typeface="Amiri" pitchFamily="34" charset="-120"/>
              </a:rPr>
              <a:t>يُؤَدِّي</a:t>
            </a:r>
            <a:pPr algn="l" indent="0" marL="0">
              <a:buNone/>
            </a:pPr>
            <a:r>
              <a:rPr lang="en-US" sz="1050" i="1" dirty="0">
                <a:solidFill>
                  <a:srgbClr val="8A6D1E"/>
                </a:solidFill>
                <a:latin typeface="Calibri" pitchFamily="34" charset="0"/>
                <a:ea typeface="Calibri" pitchFamily="34" charset="-122"/>
                <a:cs typeface="Calibri" pitchFamily="34" charset="-120"/>
              </a:rPr>
              <a:t> is always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Many verbs have a PARTNER word that never changes: </a:t>
            </a:r>
            <a:pPr algn="l" indent="0" marL="0">
              <a:buNone/>
            </a:pPr>
            <a:r>
              <a:rPr lang="ar-SA" altLang="en-US" sz="1700" b="1" dirty="0">
                <a:solidFill>
                  <a:srgbClr val="1F2A37"/>
                </a:solidFill>
                <a:latin typeface="Amiri" pitchFamily="34" charset="0"/>
                <a:ea typeface="Amiri" pitchFamily="34" charset="-122"/>
                <a:cs typeface="Amiri" pitchFamily="34" charset="-120"/>
              </a:rPr>
              <a:t>يَتَفَاعَلُ مَعَ</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يُعَلِّقُ عَلَى</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يَبْحَثُ عَنْ</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أَتَفَاعَلُ </a:t>
            </a:r>
            <a:pPr rtl="1" algn="ctr" indent="0" marL="0">
              <a:buNone/>
            </a:pPr>
            <a:r>
              <a:rPr lang="ar-SA" altLang="en-US" sz="2400" b="1" dirty="0">
                <a:solidFill>
                  <a:srgbClr val="0E7C86"/>
                </a:solidFill>
                <a:latin typeface="Amiri" pitchFamily="34" charset="0"/>
                <a:ea typeface="Amiri" pitchFamily="34" charset="-122"/>
                <a:cs typeface="Amiri" pitchFamily="34" charset="-120"/>
              </a:rPr>
              <a:t>مَعَ</a:t>
            </a:r>
            <a:pPr rtl="1" algn="ctr" indent="0" marL="0">
              <a:buNone/>
            </a:pPr>
            <a:r>
              <a:rPr lang="ar-SA" altLang="en-US" sz="2400" b="1" dirty="0">
                <a:solidFill>
                  <a:srgbClr val="1B3B6F"/>
                </a:solidFill>
                <a:latin typeface="Amiri" pitchFamily="34" charset="0"/>
                <a:ea typeface="Amiri" pitchFamily="34" charset="-122"/>
                <a:cs typeface="Amiri" pitchFamily="34" charset="-120"/>
              </a:rPr>
              <a:t>  ·  أُعَلِّقُ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3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devices and apps and say what I use them for.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keep each verb with its partner: </a:t>
            </a:r>
            <a:pPr algn="l" indent="0" marL="0">
              <a:buNone/>
            </a:pPr>
            <a:r>
              <a:rPr lang="ar-SA" altLang="en-US" sz="1700" b="1" dirty="0">
                <a:solidFill>
                  <a:srgbClr val="2E8B57"/>
                </a:solidFill>
                <a:latin typeface="Amiri" pitchFamily="34" charset="0"/>
                <a:ea typeface="Amiri" pitchFamily="34" charset="-122"/>
                <a:cs typeface="Amiri" pitchFamily="34" charset="-120"/>
              </a:rPr>
              <a:t>أَتَفَاعَلُ مَعَ، أُعَلِّقُ عَلَى، أَبْحَثُ عَنْ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benefit and a risk with </a:t>
            </a:r>
            <a:pPr algn="l" indent="0" marL="0">
              <a:buNone/>
            </a:pPr>
            <a:r>
              <a:rPr lang="ar-SA" altLang="en-US" sz="1700" b="1" dirty="0">
                <a:solidFill>
                  <a:srgbClr val="C9780A"/>
                </a:solidFill>
                <a:latin typeface="Amiri" pitchFamily="34" charset="0"/>
                <a:ea typeface="Amiri" pitchFamily="34" charset="-122"/>
                <a:cs typeface="Amiri" pitchFamily="34" charset="-120"/>
              </a:rPr>
              <a:t>مِنْ نَاحِيَةٍ … وَمِنْ نَاحِيَةٍ أُخْرَى</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verbal nouns: </a:t>
            </a:r>
            <a:pPr algn="l" indent="0" marL="0">
              <a:buNone/>
            </a:pPr>
            <a:r>
              <a:rPr lang="ar-SA" altLang="en-US" sz="1700" b="1" dirty="0">
                <a:solidFill>
                  <a:srgbClr val="C9780A"/>
                </a:solidFill>
                <a:latin typeface="Amiri" pitchFamily="34" charset="0"/>
                <a:ea typeface="Amiri" pitchFamily="34" charset="-122"/>
                <a:cs typeface="Amiri" pitchFamily="34" charset="-120"/>
              </a:rPr>
              <a:t>اسْتِخْدَامٌ، تَعَلُّمٌ، نَشْرٌ</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refer back with </a:t>
            </a:r>
            <a:pPr algn="l" indent="0" marL="0">
              <a:buNone/>
            </a:pPr>
            <a:r>
              <a:rPr lang="ar-SA" altLang="en-US" sz="1700" b="1" dirty="0">
                <a:solidFill>
                  <a:srgbClr val="B83227"/>
                </a:solidFill>
                <a:latin typeface="Amiri" pitchFamily="34" charset="0"/>
                <a:ea typeface="Amiri" pitchFamily="34" charset="-122"/>
                <a:cs typeface="Amiri" pitchFamily="34" charset="-120"/>
              </a:rPr>
              <a:t>عَلَيْهِ / فِيهَا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qualify an opinion with </a:t>
            </a:r>
            <a:pPr algn="l" indent="0" marL="0">
              <a:buNone/>
            </a:pPr>
            <a:r>
              <a:rPr lang="ar-SA" altLang="en-US" sz="1700" b="1" dirty="0">
                <a:solidFill>
                  <a:srgbClr val="B83227"/>
                </a:solidFill>
                <a:latin typeface="Amiri" pitchFamily="34" charset="0"/>
                <a:ea typeface="Amiri" pitchFamily="34" charset="-122"/>
                <a:cs typeface="Amiri" pitchFamily="34" charset="-120"/>
              </a:rPr>
              <a:t>شَرِيطَةَ أَنْ</a:t>
            </a:r>
            <a:pPr algn="l" indent="0" marL="0">
              <a:buNone/>
            </a:pPr>
            <a:r>
              <a:rPr lang="en-US" sz="1300" b="1" dirty="0">
                <a:solidFill>
                  <a:srgbClr val="B83227"/>
                </a:solidFill>
                <a:latin typeface="Calibri" pitchFamily="34" charset="0"/>
                <a:ea typeface="Calibri" pitchFamily="34" charset="-122"/>
                <a:cs typeface="Calibri" pitchFamily="34" charset="-120"/>
              </a:rPr>
              <a:t>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Devices and apps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Online world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Online actions · 10</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Benefits and risks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Verbal nouns · 5</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مَعْلُومَاتٌ</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‎معلومات‎ </a:t>
            </a:r>
            <a:pPr indent="0" marL="0">
              <a:buNone/>
            </a:pPr>
            <a:r>
              <a:rPr lang="en-US" sz="950" b="1" dirty="0">
                <a:solidFill>
                  <a:srgbClr val="2E8B57"/>
                </a:solidFill>
                <a:latin typeface="Calibri" pitchFamily="34" charset="0"/>
                <a:ea typeface="Calibri" pitchFamily="34" charset="-122"/>
                <a:cs typeface="Calibri" pitchFamily="34" charset="-120"/>
              </a:rPr>
              <a:t> maʿlūmāt · information</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تَعَلُّمٌ</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‎تعلیم‎ </a:t>
            </a:r>
            <a:pPr indent="0" marL="0">
              <a:buNone/>
            </a:pPr>
            <a:r>
              <a:rPr lang="en-US" sz="950" b="1" dirty="0">
                <a:solidFill>
                  <a:srgbClr val="2E8B57"/>
                </a:solidFill>
                <a:latin typeface="Calibri" pitchFamily="34" charset="0"/>
                <a:ea typeface="Calibri" pitchFamily="34" charset="-122"/>
                <a:cs typeface="Calibri" pitchFamily="34" charset="-120"/>
              </a:rPr>
              <a:t> taʿlīm · learning</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صِحَّةٌ</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sehat · health</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مُفِيدٌ</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‎مفید‎ </a:t>
            </a:r>
            <a:pPr indent="0" marL="0">
              <a:buNone/>
            </a:pPr>
            <a:r>
              <a:rPr lang="en-US" sz="950" b="1" dirty="0">
                <a:solidFill>
                  <a:srgbClr val="2E8B57"/>
                </a:solidFill>
                <a:latin typeface="Calibri" pitchFamily="34" charset="0"/>
                <a:ea typeface="Calibri" pitchFamily="34" charset="-122"/>
                <a:cs typeface="Calibri" pitchFamily="34" charset="-120"/>
              </a:rPr>
              <a:t> mufīd · useful</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مَخَاطِرُ</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‎خطرات‎ </a:t>
            </a:r>
            <a:pPr indent="0" marL="0">
              <a:buNone/>
            </a:pPr>
            <a:r>
              <a:rPr lang="en-US" sz="950" b="1" dirty="0">
                <a:solidFill>
                  <a:srgbClr val="2E8B57"/>
                </a:solidFill>
                <a:latin typeface="Calibri" pitchFamily="34" charset="0"/>
                <a:ea typeface="Calibri" pitchFamily="34" charset="-122"/>
                <a:cs typeface="Calibri" pitchFamily="34" charset="-120"/>
              </a:rPr>
              <a:t> khatrāt · risks</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Devices and apps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الأَجْهِزَةُ وَالتَّطْبِيقَاتُ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 (game)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هَاتِفٌ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hā-tif · pl. ha-wā-tif</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هَاتِفٌ</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هَوَاتِفُ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 (game)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حَاسُوبٌ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ḥā-sūb · pl. ḥa-wā-sīb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حَاسُوبٌ</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حَوَاسِيبُ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(game)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الإِنْتَرْنِتُ</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internet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al-in-tar-nit</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عَبْرَ الإِنْتَرْنِتِ</a:t>
            </a:r>
            <a:pPr algn="l" indent="0" marL="0">
              <a:buNone/>
            </a:pPr>
            <a:r>
              <a:rPr lang="en-US" sz="1000" i="1" dirty="0">
                <a:solidFill>
                  <a:srgbClr val="8A6D1E"/>
                </a:solidFill>
                <a:latin typeface="Calibri" pitchFamily="34" charset="0"/>
                <a:ea typeface="Calibri" pitchFamily="34" charset="-122"/>
                <a:cs typeface="Calibri" pitchFamily="34" charset="-120"/>
              </a:rPr>
              <a:t> = online, via the internet</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8" name="Shape 5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تَطْبِيقٌ</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taṭ-bīq · pl. taṭ-bī-qāt</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تَطْبِيقٌ</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9" name="Text 6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تَطْبِيقَاتٌ</a:t>
            </a:r>
            <a:endParaRPr lang="ar-SA" sz="15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a:t>
            </a:r>
            <a:pPr rtl="1" algn="r" indent="0" marL="0">
              <a:buNone/>
            </a:pPr>
            <a:r>
              <a:rPr lang="ar-SA" altLang="en-US" sz="3000" b="1" dirty="0">
                <a:solidFill>
                  <a:srgbClr val="7B3FA0"/>
                </a:solidFill>
                <a:latin typeface="Amiri" pitchFamily="34" charset="0"/>
                <a:ea typeface="Amiri" pitchFamily="34" charset="-122"/>
                <a:cs typeface="Amiri" pitchFamily="34" charset="-120"/>
              </a:rPr>
              <a:t>إِلِكْتُرُونِ</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website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 i-lik-tru-niyy · pl. ma-wā-qiʿ</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مَوْقِعٌ</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مَوَاقِعُ</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90" name="Shape 8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2" name="Text 8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المُرُورِ</a:t>
            </a:r>
            <a:endParaRPr lang="ar-SA" sz="3000" dirty="0"/>
          </a:p>
        </p:txBody>
      </p:sp>
      <p:sp>
        <p:nvSpPr>
          <p:cNvPr id="93" name="Text 9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 al-mu-rūr</a:t>
            </a:r>
            <a:endParaRPr lang="en-US" sz="1350" dirty="0"/>
          </a:p>
        </p:txBody>
      </p:sp>
      <p:sp>
        <p:nvSpPr>
          <p:cNvPr id="94" name="Text 9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t>
            </a:r>
            <a:pPr algn="l" indent="0" marL="0">
              <a:buNone/>
            </a:pPr>
            <a:r>
              <a:rPr lang="ar-SA" altLang="en-US" sz="1300" dirty="0">
                <a:solidFill>
                  <a:srgbClr val="8A6D1E"/>
                </a:solidFill>
                <a:latin typeface="Amiri" pitchFamily="34" charset="0"/>
                <a:ea typeface="Amiri" pitchFamily="34" charset="-122"/>
                <a:cs typeface="Amiri" pitchFamily="34" charset="-120"/>
              </a:rPr>
              <a:t>كَلِمَةُ السِّرِّ</a:t>
            </a:r>
            <a:endParaRPr lang="en-US" sz="10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online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مِنَصَّةٌ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mi-naṣ-ṣa · pl. mi-naṣ-ṣāt</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مِنَصَّةٌ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مِنَصَّاتٌ</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عَنْ بُعْدٍ</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distance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 ʿan buʿd</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الذَّكَاءُ </a:t>
            </a:r>
            <a:pPr rtl="1" algn="r" indent="0" marL="0">
              <a:buNone/>
            </a:pPr>
            <a:r>
              <a:rPr lang="ar-SA" altLang="en-US" sz="3000" b="1" dirty="0">
                <a:solidFill>
                  <a:srgbClr val="7B3FA0"/>
                </a:solidFill>
                <a:latin typeface="Amiri" pitchFamily="34" charset="0"/>
                <a:ea typeface="Amiri" pitchFamily="34" charset="-122"/>
                <a:cs typeface="Amiri" pitchFamily="34" charset="-120"/>
              </a:rPr>
              <a:t>الاصْطِنَاعِ</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artificial intelligence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adh-dha-kāʾ al-iṣ-ṭi-nā-ʿiyy</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5" name="Shape 4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شَبَكَةٌ </a:t>
            </a:r>
            <a:pPr rtl="1" algn="r" indent="0" marL="0">
              <a:buNone/>
            </a:pPr>
            <a:r>
              <a:rPr lang="ar-SA" altLang="en-US" sz="3000" b="1" dirty="0">
                <a:solidFill>
                  <a:srgbClr val="7B3FA0"/>
                </a:solidFill>
                <a:latin typeface="Amiri" pitchFamily="34" charset="0"/>
                <a:ea typeface="Amiri" pitchFamily="34" charset="-122"/>
                <a:cs typeface="Amiri" pitchFamily="34" charset="-120"/>
              </a:rPr>
              <a:t>اجْتِمَاعِ</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network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sha-ba-ka ij-ti-mā-ʿiy-ya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2" name="Shape 49"/>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بَثٌّ مُبَاشِرٌ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live stream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baththun mu-bā-shir</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9" name="Shape 56"/>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مُدَوَّنَةٌ</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mu-daw-wa-na</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ONLINE ACTIONS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Online actions: he →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(he)</a:t>
            </a:r>
            <a:endParaRPr lang="en-US" sz="1100" dirty="0"/>
          </a:p>
        </p:txBody>
      </p:sp>
      <p:sp>
        <p:nvSpPr>
          <p:cNvPr id="17" name="Text 14"/>
          <p:cNvSpPr txBox="1"/>
          <p:nvPr/>
        </p:nvSpPr>
        <p:spPr>
          <a:xfrm>
            <a:off x="62270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348386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form</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 word</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رْسِلُ</a:t>
            </a:r>
            <a:endParaRPr lang="ar-SA" sz="2100" dirty="0"/>
          </a:p>
        </p:txBody>
      </p:sp>
      <p:sp>
        <p:nvSpPr>
          <p:cNvPr id="22" name="Text 19"/>
          <p:cNvSpPr txBox="1"/>
          <p:nvPr/>
        </p:nvSpPr>
        <p:spPr>
          <a:xfrm>
            <a:off x="875995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yur-si-lu</a:t>
            </a:r>
            <a:endParaRPr lang="en-US" sz="950" dirty="0"/>
          </a:p>
        </p:txBody>
      </p:sp>
      <p:sp>
        <p:nvSpPr>
          <p:cNvPr id="23" name="Text 20"/>
          <p:cNvSpPr txBox="1"/>
          <p:nvPr/>
        </p:nvSpPr>
        <p:spPr>
          <a:xfrm>
            <a:off x="626364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sends</a:t>
            </a:r>
            <a:endParaRPr lang="en-US" sz="1100" dirty="0"/>
          </a:p>
        </p:txBody>
      </p:sp>
      <p:sp>
        <p:nvSpPr>
          <p:cNvPr id="24" name="Text 21"/>
          <p:cNvSpPr txBox="1"/>
          <p:nvPr/>
        </p:nvSpPr>
        <p:spPr>
          <a:xfrm>
            <a:off x="3502152"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رْسِلُ</a:t>
            </a:r>
            <a:endParaRPr lang="ar-SA" sz="2200" dirty="0"/>
          </a:p>
        </p:txBody>
      </p:sp>
      <p:sp>
        <p:nvSpPr>
          <p:cNvPr id="25" name="Text 22"/>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إِلَى</a:t>
            </a:r>
            <a:pPr algn="l" indent="0" marL="0">
              <a:buNone/>
            </a:pPr>
            <a:r>
              <a:rPr lang="en-US" sz="1100" i="1" dirty="0">
                <a:solidFill>
                  <a:srgbClr val="5A6472"/>
                </a:solidFill>
                <a:latin typeface="Calibri" pitchFamily="34" charset="0"/>
                <a:ea typeface="Calibri" pitchFamily="34" charset="-122"/>
                <a:cs typeface="Calibri" pitchFamily="34" charset="-120"/>
              </a:rPr>
              <a:t> (to someone)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80567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نْشُرُ</a:t>
            </a:r>
            <a:endParaRPr lang="ar-SA" sz="2100" dirty="0"/>
          </a:p>
        </p:txBody>
      </p:sp>
      <p:sp>
        <p:nvSpPr>
          <p:cNvPr id="30" name="Text 27"/>
          <p:cNvSpPr txBox="1"/>
          <p:nvPr/>
        </p:nvSpPr>
        <p:spPr>
          <a:xfrm>
            <a:off x="875995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yan-shu-ru</a:t>
            </a:r>
            <a:endParaRPr lang="en-US" sz="950" dirty="0"/>
          </a:p>
        </p:txBody>
      </p:sp>
      <p:sp>
        <p:nvSpPr>
          <p:cNvPr id="31" name="Text 28"/>
          <p:cNvSpPr txBox="1"/>
          <p:nvPr/>
        </p:nvSpPr>
        <p:spPr>
          <a:xfrm>
            <a:off x="626364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posts, publishes</a:t>
            </a:r>
            <a:endParaRPr lang="en-US" sz="1100" dirty="0"/>
          </a:p>
        </p:txBody>
      </p:sp>
      <p:sp>
        <p:nvSpPr>
          <p:cNvPr id="32" name="Text 29"/>
          <p:cNvSpPr txBox="1"/>
          <p:nvPr/>
        </p:nvSpPr>
        <p:spPr>
          <a:xfrm>
            <a:off x="3502152"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نْشُرُ</a:t>
            </a:r>
            <a:endParaRPr lang="ar-SA" sz="2200" dirty="0"/>
          </a:p>
        </p:txBody>
      </p:sp>
      <p:sp>
        <p:nvSpPr>
          <p:cNvPr id="33" name="Text 30"/>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80567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حَمِّلُ</a:t>
            </a:r>
            <a:endParaRPr lang="ar-SA" sz="2100" dirty="0"/>
          </a:p>
        </p:txBody>
      </p:sp>
      <p:sp>
        <p:nvSpPr>
          <p:cNvPr id="38" name="Text 35"/>
          <p:cNvSpPr txBox="1"/>
          <p:nvPr/>
        </p:nvSpPr>
        <p:spPr>
          <a:xfrm>
            <a:off x="875995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yu-ḥam-mi-lu</a:t>
            </a:r>
            <a:endParaRPr lang="en-US" sz="950" dirty="0"/>
          </a:p>
        </p:txBody>
      </p:sp>
      <p:sp>
        <p:nvSpPr>
          <p:cNvPr id="39" name="Text 36"/>
          <p:cNvSpPr txBox="1"/>
          <p:nvPr/>
        </p:nvSpPr>
        <p:spPr>
          <a:xfrm>
            <a:off x="626364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uploads</a:t>
            </a:r>
            <a:endParaRPr lang="en-US" sz="1100" dirty="0"/>
          </a:p>
        </p:txBody>
      </p:sp>
      <p:sp>
        <p:nvSpPr>
          <p:cNvPr id="40" name="Text 37"/>
          <p:cNvSpPr txBox="1"/>
          <p:nvPr/>
        </p:nvSpPr>
        <p:spPr>
          <a:xfrm>
            <a:off x="3502152"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حَمِّلُ</a:t>
            </a:r>
            <a:endParaRPr lang="ar-SA" sz="2200" dirty="0"/>
          </a:p>
        </p:txBody>
      </p:sp>
      <p:sp>
        <p:nvSpPr>
          <p:cNvPr id="41" name="Text 38"/>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880567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نَزِّلُ</a:t>
            </a:r>
            <a:endParaRPr lang="ar-SA" sz="2100" dirty="0"/>
          </a:p>
        </p:txBody>
      </p:sp>
      <p:sp>
        <p:nvSpPr>
          <p:cNvPr id="46" name="Text 43"/>
          <p:cNvSpPr txBox="1"/>
          <p:nvPr/>
        </p:nvSpPr>
        <p:spPr>
          <a:xfrm>
            <a:off x="875995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yu-naz-zi-lu</a:t>
            </a:r>
            <a:endParaRPr lang="en-US" sz="950" dirty="0"/>
          </a:p>
        </p:txBody>
      </p:sp>
      <p:sp>
        <p:nvSpPr>
          <p:cNvPr id="47" name="Text 44"/>
          <p:cNvSpPr txBox="1"/>
          <p:nvPr/>
        </p:nvSpPr>
        <p:spPr>
          <a:xfrm>
            <a:off x="626364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downloads</a:t>
            </a:r>
            <a:endParaRPr lang="en-US" sz="1100" dirty="0"/>
          </a:p>
        </p:txBody>
      </p:sp>
      <p:sp>
        <p:nvSpPr>
          <p:cNvPr id="48" name="Text 45"/>
          <p:cNvSpPr txBox="1"/>
          <p:nvPr/>
        </p:nvSpPr>
        <p:spPr>
          <a:xfrm>
            <a:off x="3502152"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نَزِّلُ</a:t>
            </a:r>
            <a:endParaRPr lang="ar-SA" sz="2200" dirty="0"/>
          </a:p>
        </p:txBody>
      </p:sp>
      <p:sp>
        <p:nvSpPr>
          <p:cNvPr id="49" name="Text 46"/>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50" name="Shape 4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1" name="Text 48"/>
          <p:cNvSpPr txBox="1"/>
          <p:nvPr/>
        </p:nvSpPr>
        <p:spPr>
          <a:xfrm>
            <a:off x="8805672" y="5431536"/>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تَابِعُ</a:t>
            </a:r>
            <a:endParaRPr lang="ar-SA" sz="2100" dirty="0"/>
          </a:p>
        </p:txBody>
      </p:sp>
      <p:sp>
        <p:nvSpPr>
          <p:cNvPr id="52" name="Text 49"/>
          <p:cNvSpPr txBox="1"/>
          <p:nvPr/>
        </p:nvSpPr>
        <p:spPr>
          <a:xfrm>
            <a:off x="8759952" y="5852160"/>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yu-tā-bi-ʿu</a:t>
            </a:r>
            <a:endParaRPr lang="en-US" sz="950" dirty="0"/>
          </a:p>
        </p:txBody>
      </p:sp>
      <p:sp>
        <p:nvSpPr>
          <p:cNvPr id="53" name="Text 50"/>
          <p:cNvSpPr txBox="1"/>
          <p:nvPr/>
        </p:nvSpPr>
        <p:spPr>
          <a:xfrm>
            <a:off x="626364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follows</a:t>
            </a:r>
            <a:endParaRPr lang="en-US" sz="1100" dirty="0"/>
          </a:p>
        </p:txBody>
      </p:sp>
      <p:sp>
        <p:nvSpPr>
          <p:cNvPr id="54" name="Text 51"/>
          <p:cNvSpPr txBox="1"/>
          <p:nvPr/>
        </p:nvSpPr>
        <p:spPr>
          <a:xfrm>
            <a:off x="3502152" y="5413248"/>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تَابِعُ</a:t>
            </a:r>
            <a:endParaRPr lang="ar-SA" sz="2200" dirty="0"/>
          </a:p>
        </p:txBody>
      </p:sp>
      <p:sp>
        <p:nvSpPr>
          <p:cNvPr id="55" name="Text 52"/>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ONLINE ACTIONS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Verbs with a partner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مَعَ حُرُوفِ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(he)</a:t>
            </a:r>
            <a:endParaRPr lang="en-US" sz="1100" dirty="0"/>
          </a:p>
        </p:txBody>
      </p:sp>
      <p:sp>
        <p:nvSpPr>
          <p:cNvPr id="17" name="Text 14"/>
          <p:cNvSpPr txBox="1"/>
          <p:nvPr/>
        </p:nvSpPr>
        <p:spPr>
          <a:xfrm>
            <a:off x="62270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348386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form</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 word</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تَفَاعَلُ</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مَعَ</a:t>
            </a:r>
            <a:endParaRPr lang="ar-SA" sz="2100" dirty="0"/>
          </a:p>
        </p:txBody>
      </p:sp>
      <p:sp>
        <p:nvSpPr>
          <p:cNvPr id="22" name="Text 19"/>
          <p:cNvSpPr txBox="1"/>
          <p:nvPr/>
        </p:nvSpPr>
        <p:spPr>
          <a:xfrm>
            <a:off x="875995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ya-ta-fā-ʿa-lu ma-ʿa</a:t>
            </a:r>
            <a:endParaRPr lang="en-US" sz="950" dirty="0"/>
          </a:p>
        </p:txBody>
      </p:sp>
      <p:sp>
        <p:nvSpPr>
          <p:cNvPr id="23" name="Text 20"/>
          <p:cNvSpPr txBox="1"/>
          <p:nvPr/>
        </p:nvSpPr>
        <p:spPr>
          <a:xfrm>
            <a:off x="626364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interacts with</a:t>
            </a:r>
            <a:endParaRPr lang="en-US" sz="1100" dirty="0"/>
          </a:p>
        </p:txBody>
      </p:sp>
      <p:sp>
        <p:nvSpPr>
          <p:cNvPr id="24" name="Text 21"/>
          <p:cNvSpPr txBox="1"/>
          <p:nvPr/>
        </p:nvSpPr>
        <p:spPr>
          <a:xfrm>
            <a:off x="3502152"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تَفَاعَلُ</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مَعَ</a:t>
            </a:r>
            <a:endParaRPr lang="ar-SA" sz="2200" dirty="0"/>
          </a:p>
        </p:txBody>
      </p:sp>
      <p:sp>
        <p:nvSpPr>
          <p:cNvPr id="25" name="Text 22"/>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مَعَ</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80567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عَلِّقُ</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عَلَى</a:t>
            </a:r>
            <a:endParaRPr lang="ar-SA" sz="2100" dirty="0"/>
          </a:p>
        </p:txBody>
      </p:sp>
      <p:sp>
        <p:nvSpPr>
          <p:cNvPr id="30" name="Text 27"/>
          <p:cNvSpPr txBox="1"/>
          <p:nvPr/>
        </p:nvSpPr>
        <p:spPr>
          <a:xfrm>
            <a:off x="875995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yu-ʿal-li-qu ʿa-lā</a:t>
            </a:r>
            <a:endParaRPr lang="en-US" sz="950" dirty="0"/>
          </a:p>
        </p:txBody>
      </p:sp>
      <p:sp>
        <p:nvSpPr>
          <p:cNvPr id="31" name="Text 28"/>
          <p:cNvSpPr txBox="1"/>
          <p:nvPr/>
        </p:nvSpPr>
        <p:spPr>
          <a:xfrm>
            <a:off x="626364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comments on</a:t>
            </a:r>
            <a:endParaRPr lang="en-US" sz="1100" dirty="0"/>
          </a:p>
        </p:txBody>
      </p:sp>
      <p:sp>
        <p:nvSpPr>
          <p:cNvPr id="32" name="Text 29"/>
          <p:cNvSpPr txBox="1"/>
          <p:nvPr/>
        </p:nvSpPr>
        <p:spPr>
          <a:xfrm>
            <a:off x="3502152"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عَلِّقُ</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endParaRPr lang="ar-SA" sz="2200" dirty="0"/>
          </a:p>
        </p:txBody>
      </p:sp>
      <p:sp>
        <p:nvSpPr>
          <p:cNvPr id="33" name="Text 30"/>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عَلَى</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80567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بْحَثُ</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عَنْ</a:t>
            </a:r>
            <a:endParaRPr lang="ar-SA" sz="2100" dirty="0"/>
          </a:p>
        </p:txBody>
      </p:sp>
      <p:sp>
        <p:nvSpPr>
          <p:cNvPr id="38" name="Text 35"/>
          <p:cNvSpPr txBox="1"/>
          <p:nvPr/>
        </p:nvSpPr>
        <p:spPr>
          <a:xfrm>
            <a:off x="875995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yab-ḥa-thu ʿan</a:t>
            </a:r>
            <a:endParaRPr lang="en-US" sz="950" dirty="0"/>
          </a:p>
        </p:txBody>
      </p:sp>
      <p:sp>
        <p:nvSpPr>
          <p:cNvPr id="39" name="Text 36"/>
          <p:cNvSpPr txBox="1"/>
          <p:nvPr/>
        </p:nvSpPr>
        <p:spPr>
          <a:xfrm>
            <a:off x="626364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searches for</a:t>
            </a:r>
            <a:endParaRPr lang="en-US" sz="1100" dirty="0"/>
          </a:p>
        </p:txBody>
      </p:sp>
      <p:sp>
        <p:nvSpPr>
          <p:cNvPr id="40" name="Text 37"/>
          <p:cNvSpPr txBox="1"/>
          <p:nvPr/>
        </p:nvSpPr>
        <p:spPr>
          <a:xfrm>
            <a:off x="3502152"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بْحَثُ</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عَنْ</a:t>
            </a:r>
            <a:endParaRPr lang="ar-SA" sz="2200" dirty="0"/>
          </a:p>
        </p:txBody>
      </p:sp>
      <p:sp>
        <p:nvSpPr>
          <p:cNvPr id="41" name="Text 38"/>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عَنْ</a:t>
            </a:r>
            <a:endParaRPr lang="en-US" sz="110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880567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عْتَمِدُ</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عَلَى</a:t>
            </a:r>
            <a:endParaRPr lang="ar-SA" sz="2100" dirty="0"/>
          </a:p>
        </p:txBody>
      </p:sp>
      <p:sp>
        <p:nvSpPr>
          <p:cNvPr id="46" name="Text 43"/>
          <p:cNvSpPr txBox="1"/>
          <p:nvPr/>
        </p:nvSpPr>
        <p:spPr>
          <a:xfrm>
            <a:off x="875995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yaʿ-ta-mi-du ʿa-lā</a:t>
            </a:r>
            <a:endParaRPr lang="en-US" sz="950" dirty="0"/>
          </a:p>
        </p:txBody>
      </p:sp>
      <p:sp>
        <p:nvSpPr>
          <p:cNvPr id="47" name="Text 44"/>
          <p:cNvSpPr txBox="1"/>
          <p:nvPr/>
        </p:nvSpPr>
        <p:spPr>
          <a:xfrm>
            <a:off x="626364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relies on</a:t>
            </a:r>
            <a:endParaRPr lang="en-US" sz="1100" dirty="0"/>
          </a:p>
        </p:txBody>
      </p:sp>
      <p:sp>
        <p:nvSpPr>
          <p:cNvPr id="48" name="Text 45"/>
          <p:cNvSpPr txBox="1"/>
          <p:nvPr/>
        </p:nvSpPr>
        <p:spPr>
          <a:xfrm>
            <a:off x="3502152"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عْتَمِدُ</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endParaRPr lang="ar-SA" sz="2200" dirty="0"/>
          </a:p>
        </p:txBody>
      </p:sp>
      <p:sp>
        <p:nvSpPr>
          <p:cNvPr id="49" name="Text 46"/>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عَلَى</a:t>
            </a:r>
            <a:endParaRPr lang="en-US" sz="1100" dirty="0"/>
          </a:p>
        </p:txBody>
      </p:sp>
      <p:sp>
        <p:nvSpPr>
          <p:cNvPr id="50" name="Shape 4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1" name="Text 48"/>
          <p:cNvSpPr txBox="1"/>
          <p:nvPr/>
        </p:nvSpPr>
        <p:spPr>
          <a:xfrm>
            <a:off x="8805672" y="5431536"/>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شَارِكُ</a:t>
            </a:r>
            <a:endParaRPr lang="ar-SA" sz="2100" dirty="0"/>
          </a:p>
        </p:txBody>
      </p:sp>
      <p:sp>
        <p:nvSpPr>
          <p:cNvPr id="52" name="Text 49"/>
          <p:cNvSpPr txBox="1"/>
          <p:nvPr/>
        </p:nvSpPr>
        <p:spPr>
          <a:xfrm>
            <a:off x="8759952" y="5852160"/>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yu-shā-ri-ku</a:t>
            </a:r>
            <a:endParaRPr lang="en-US" sz="950" dirty="0"/>
          </a:p>
        </p:txBody>
      </p:sp>
      <p:sp>
        <p:nvSpPr>
          <p:cNvPr id="53" name="Text 50"/>
          <p:cNvSpPr txBox="1"/>
          <p:nvPr/>
        </p:nvSpPr>
        <p:spPr>
          <a:xfrm>
            <a:off x="626364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shares, takes part</a:t>
            </a:r>
            <a:endParaRPr lang="en-US" sz="1100" dirty="0"/>
          </a:p>
        </p:txBody>
      </p:sp>
      <p:sp>
        <p:nvSpPr>
          <p:cNvPr id="54" name="Text 51"/>
          <p:cNvSpPr txBox="1"/>
          <p:nvPr/>
        </p:nvSpPr>
        <p:spPr>
          <a:xfrm>
            <a:off x="3502152" y="5413248"/>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شَارِكُ</a:t>
            </a:r>
            <a:endParaRPr lang="ar-SA" sz="2200" dirty="0"/>
          </a:p>
        </p:txBody>
      </p:sp>
      <p:sp>
        <p:nvSpPr>
          <p:cNvPr id="55" name="Text 52"/>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فِي</a:t>
            </a:r>
            <a:pPr algn="l" indent="0" marL="0">
              <a:buNone/>
            </a:pPr>
            <a:r>
              <a:rPr lang="en-US" sz="1100" i="1" dirty="0">
                <a:solidFill>
                  <a:srgbClr val="5A6472"/>
                </a:solidFill>
                <a:latin typeface="Calibri" pitchFamily="34" charset="0"/>
                <a:ea typeface="Calibri" pitchFamily="34" charset="-122"/>
                <a:cs typeface="Calibri" pitchFamily="34" charset="-120"/>
              </a:rPr>
              <a:t> = takes part in</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Benefits and risks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الفَوَائِدُ وَالمَخَاطِرُ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الخُصُوصِيَّةُ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privacy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al-khu-ṣū-ṣiy-ya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الأَمَانُ </a:t>
            </a:r>
            <a:pPr rtl="1" algn="r" indent="0" marL="0">
              <a:buNone/>
            </a:pPr>
            <a:r>
              <a:rPr lang="ar-SA" altLang="en-US" sz="3000" b="1" dirty="0">
                <a:solidFill>
                  <a:srgbClr val="7B3FA0"/>
                </a:solidFill>
                <a:latin typeface="Amiri" pitchFamily="34" charset="0"/>
                <a:ea typeface="Amiri" pitchFamily="34" charset="-122"/>
                <a:cs typeface="Amiri" pitchFamily="34" charset="-120"/>
              </a:rPr>
              <a:t>الرَّقْمِ</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security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al-a-mān ar-raq-miyy</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إِدْمَانُ الشَّاشَاتِ</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screen addiction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id-mān ash-shā-shāt</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addiction</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إِدْمَانٌ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screens</a:t>
            </a:r>
            <a:endParaRPr lang="en-US" sz="700" dirty="0"/>
          </a:p>
        </p:txBody>
      </p:sp>
      <p:sp>
        <p:nvSpPr>
          <p:cNvPr id="47" name="Text 4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الشَّاشَاتُ</a:t>
            </a:r>
            <a:endParaRPr lang="ar-SA"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1" name="Shape 48"/>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مَعْلُومَاتٌ مُضَلِّلَةٌ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misinformation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maʿ-lū-māt mu-ḍal-li-la</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8" name="Shape 5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التَّنَمُّرُ </a:t>
            </a:r>
            <a:pPr rtl="1" algn="r" indent="0" marL="0">
              <a:buNone/>
            </a:pPr>
            <a:r>
              <a:rPr lang="ar-SA" altLang="en-US" sz="3000" b="1" dirty="0">
                <a:solidFill>
                  <a:srgbClr val="7B3FA0"/>
                </a:solidFill>
                <a:latin typeface="Amiri" pitchFamily="34" charset="0"/>
                <a:ea typeface="Amiri" pitchFamily="34" charset="-122"/>
                <a:cs typeface="Amiri" pitchFamily="34" charset="-120"/>
              </a:rPr>
              <a:t>الإِلِكْتُرُونِ</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cyberbullying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at-ta-nam-mur al-i-lik-tru-niyy</a:t>
            </a:r>
            <a:endParaRPr lang="en-US" sz="135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5" name="Shape 62"/>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الصِّحَّةُ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الرَّقْمِ</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wellbeing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aṣ-ṣiḥ-ḥa r-raq-miy-ya</a:t>
            </a:r>
            <a:endParaRPr lang="en-US"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5 · DEVELOP · VERBAL NOUNS (TOPIC C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 → verbal noun (“-ing”)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(he)</a:t>
            </a:r>
            <a:endParaRPr lang="en-US" sz="1100" dirty="0"/>
          </a:p>
        </p:txBody>
      </p:sp>
      <p:sp>
        <p:nvSpPr>
          <p:cNvPr id="17" name="Text 14"/>
          <p:cNvSpPr txBox="1"/>
          <p:nvPr/>
        </p:nvSpPr>
        <p:spPr>
          <a:xfrm>
            <a:off x="66842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8" name="Text 15"/>
          <p:cNvSpPr txBox="1"/>
          <p:nvPr/>
        </p:nvSpPr>
        <p:spPr>
          <a:xfrm>
            <a:off x="458114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9" name="Text 16"/>
          <p:cNvSpPr txBox="1"/>
          <p:nvPr/>
        </p:nvSpPr>
        <p:spPr>
          <a:xfrm>
            <a:off x="53035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a website phrase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يَسْتَخْدِمُ</a:t>
            </a:r>
            <a:endParaRPr lang="ar-SA" sz="2100" dirty="0"/>
          </a:p>
        </p:txBody>
      </p:sp>
      <p:sp>
        <p:nvSpPr>
          <p:cNvPr id="22" name="Text 19"/>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uses</a:t>
            </a:r>
            <a:endParaRPr lang="en-US" sz="950" dirty="0"/>
          </a:p>
        </p:txBody>
      </p:sp>
      <p:sp>
        <p:nvSpPr>
          <p:cNvPr id="23" name="Text 20"/>
          <p:cNvSpPr txBox="1"/>
          <p:nvPr/>
        </p:nvSpPr>
        <p:spPr>
          <a:xfrm>
            <a:off x="670255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اسْتِخْدَامٌ</a:t>
            </a:r>
            <a:endParaRPr lang="ar-SA" sz="2100" dirty="0"/>
          </a:p>
        </p:txBody>
      </p:sp>
      <p:sp>
        <p:nvSpPr>
          <p:cNvPr id="24" name="Text 21"/>
          <p:cNvSpPr txBox="1"/>
          <p:nvPr/>
        </p:nvSpPr>
        <p:spPr>
          <a:xfrm>
            <a:off x="665683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is-tikh-dām</a:t>
            </a:r>
            <a:endParaRPr lang="en-US" sz="950" dirty="0"/>
          </a:p>
        </p:txBody>
      </p:sp>
      <p:sp>
        <p:nvSpPr>
          <p:cNvPr id="25" name="Text 22"/>
          <p:cNvSpPr txBox="1"/>
          <p:nvPr/>
        </p:nvSpPr>
        <p:spPr>
          <a:xfrm>
            <a:off x="461772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using, use</a:t>
            </a:r>
            <a:endParaRPr lang="en-US" sz="1100" dirty="0"/>
          </a:p>
        </p:txBody>
      </p:sp>
      <p:sp>
        <p:nvSpPr>
          <p:cNvPr id="26" name="Text 23"/>
          <p:cNvSpPr txBox="1"/>
          <p:nvPr/>
        </p:nvSpPr>
        <p:spPr>
          <a:xfrm>
            <a:off x="548640" y="2267712"/>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اسْتِخْدَامُ كَلِمَةِ مُرُورٍ قَوِيَّةٍ</a:t>
            </a:r>
            <a:endParaRPr lang="ar-SA" sz="18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يَتَعَلَّمُ</a:t>
            </a:r>
            <a:endParaRPr lang="ar-SA" sz="2100" dirty="0"/>
          </a:p>
        </p:txBody>
      </p:sp>
      <p:sp>
        <p:nvSpPr>
          <p:cNvPr id="29" name="Text 26"/>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learns</a:t>
            </a:r>
            <a:endParaRPr lang="en-US" sz="950" dirty="0"/>
          </a:p>
        </p:txBody>
      </p:sp>
      <p:sp>
        <p:nvSpPr>
          <p:cNvPr id="30" name="Text 27"/>
          <p:cNvSpPr txBox="1"/>
          <p:nvPr/>
        </p:nvSpPr>
        <p:spPr>
          <a:xfrm>
            <a:off x="670255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تَعَلُّمٌ</a:t>
            </a:r>
            <a:endParaRPr lang="ar-SA" sz="2100" dirty="0"/>
          </a:p>
        </p:txBody>
      </p:sp>
      <p:sp>
        <p:nvSpPr>
          <p:cNvPr id="31" name="Text 28"/>
          <p:cNvSpPr txBox="1"/>
          <p:nvPr/>
        </p:nvSpPr>
        <p:spPr>
          <a:xfrm>
            <a:off x="665683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ta-ʿal-lum</a:t>
            </a:r>
            <a:endParaRPr lang="en-US" sz="950" dirty="0"/>
          </a:p>
        </p:txBody>
      </p:sp>
      <p:sp>
        <p:nvSpPr>
          <p:cNvPr id="32" name="Text 29"/>
          <p:cNvSpPr txBox="1"/>
          <p:nvPr/>
        </p:nvSpPr>
        <p:spPr>
          <a:xfrm>
            <a:off x="461772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learning</a:t>
            </a:r>
            <a:endParaRPr lang="en-US" sz="1100" dirty="0"/>
          </a:p>
        </p:txBody>
      </p:sp>
      <p:sp>
        <p:nvSpPr>
          <p:cNvPr id="33" name="Text 30"/>
          <p:cNvSpPr txBox="1"/>
          <p:nvPr/>
        </p:nvSpPr>
        <p:spPr>
          <a:xfrm>
            <a:off x="548640" y="3054096"/>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التَّعَلُّمُ عَنْ بُعْدٍ</a:t>
            </a:r>
            <a:endParaRPr lang="ar-SA" sz="180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يَنْشُرُ</a:t>
            </a:r>
            <a:endParaRPr lang="ar-SA" sz="2100" dirty="0"/>
          </a:p>
        </p:txBody>
      </p:sp>
      <p:sp>
        <p:nvSpPr>
          <p:cNvPr id="36" name="Text 33"/>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posts</a:t>
            </a:r>
            <a:endParaRPr lang="en-US" sz="950" dirty="0"/>
          </a:p>
        </p:txBody>
      </p:sp>
      <p:sp>
        <p:nvSpPr>
          <p:cNvPr id="37" name="Text 34"/>
          <p:cNvSpPr txBox="1"/>
          <p:nvPr/>
        </p:nvSpPr>
        <p:spPr>
          <a:xfrm>
            <a:off x="670255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نَشْرٌ</a:t>
            </a:r>
            <a:endParaRPr lang="ar-SA" sz="2100" dirty="0"/>
          </a:p>
        </p:txBody>
      </p:sp>
      <p:sp>
        <p:nvSpPr>
          <p:cNvPr id="38" name="Text 35"/>
          <p:cNvSpPr txBox="1"/>
          <p:nvPr/>
        </p:nvSpPr>
        <p:spPr>
          <a:xfrm>
            <a:off x="665683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nashr</a:t>
            </a:r>
            <a:endParaRPr lang="en-US" sz="950" dirty="0"/>
          </a:p>
        </p:txBody>
      </p:sp>
      <p:sp>
        <p:nvSpPr>
          <p:cNvPr id="39" name="Text 36"/>
          <p:cNvSpPr txBox="1"/>
          <p:nvPr/>
        </p:nvSpPr>
        <p:spPr>
          <a:xfrm>
            <a:off x="461772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posting</a:t>
            </a:r>
            <a:endParaRPr lang="en-US" sz="1100" dirty="0"/>
          </a:p>
        </p:txBody>
      </p:sp>
      <p:sp>
        <p:nvSpPr>
          <p:cNvPr id="40" name="Text 37"/>
          <p:cNvSpPr txBox="1"/>
          <p:nvPr/>
        </p:nvSpPr>
        <p:spPr>
          <a:xfrm>
            <a:off x="548640" y="3840480"/>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نَشْرُ العُنْوَانِ الشَّخْصِيِّ</a:t>
            </a:r>
            <a:endParaRPr lang="ar-SA" sz="18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يَتَوَاصَلُ</a:t>
            </a:r>
            <a:endParaRPr lang="ar-SA" sz="2100" dirty="0"/>
          </a:p>
        </p:txBody>
      </p:sp>
      <p:sp>
        <p:nvSpPr>
          <p:cNvPr id="43" name="Text 40"/>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communicates</a:t>
            </a:r>
            <a:endParaRPr lang="en-US" sz="950" dirty="0"/>
          </a:p>
        </p:txBody>
      </p:sp>
      <p:sp>
        <p:nvSpPr>
          <p:cNvPr id="44" name="Text 41"/>
          <p:cNvSpPr txBox="1"/>
          <p:nvPr/>
        </p:nvSpPr>
        <p:spPr>
          <a:xfrm>
            <a:off x="6702552" y="4645152"/>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تَوَاصُلٌ</a:t>
            </a:r>
            <a:endParaRPr lang="ar-SA" sz="2100" dirty="0"/>
          </a:p>
        </p:txBody>
      </p:sp>
      <p:sp>
        <p:nvSpPr>
          <p:cNvPr id="45" name="Text 42"/>
          <p:cNvSpPr txBox="1"/>
          <p:nvPr/>
        </p:nvSpPr>
        <p:spPr>
          <a:xfrm>
            <a:off x="665683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ta-wā-ṣul</a:t>
            </a:r>
            <a:endParaRPr lang="en-US" sz="950" dirty="0"/>
          </a:p>
        </p:txBody>
      </p:sp>
      <p:sp>
        <p:nvSpPr>
          <p:cNvPr id="46" name="Text 43"/>
          <p:cNvSpPr txBox="1"/>
          <p:nvPr/>
        </p:nvSpPr>
        <p:spPr>
          <a:xfrm>
            <a:off x="4617720"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communication</a:t>
            </a:r>
            <a:endParaRPr lang="en-US" sz="1100" dirty="0"/>
          </a:p>
        </p:txBody>
      </p:sp>
      <p:sp>
        <p:nvSpPr>
          <p:cNvPr id="47" name="Text 44"/>
          <p:cNvSpPr txBox="1"/>
          <p:nvPr/>
        </p:nvSpPr>
        <p:spPr>
          <a:xfrm>
            <a:off x="548640" y="4626864"/>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وَسَائِلُ التَّوَاصُلِ الاجْتِمَاعِيِّ</a:t>
            </a:r>
            <a:endParaRPr lang="ar-SA" sz="1800" dirty="0"/>
          </a:p>
        </p:txBody>
      </p:sp>
      <p:sp>
        <p:nvSpPr>
          <p:cNvPr id="48" name="Shape 45"/>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9" name="Text 46"/>
          <p:cNvSpPr txBox="1"/>
          <p:nvPr/>
        </p:nvSpPr>
        <p:spPr>
          <a:xfrm>
            <a:off x="9262872" y="5431536"/>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يُقَلِّلُ</a:t>
            </a:r>
            <a:endParaRPr lang="ar-SA" sz="2100" dirty="0"/>
          </a:p>
        </p:txBody>
      </p:sp>
      <p:sp>
        <p:nvSpPr>
          <p:cNvPr id="50" name="Text 47"/>
          <p:cNvSpPr txBox="1"/>
          <p:nvPr/>
        </p:nvSpPr>
        <p:spPr>
          <a:xfrm>
            <a:off x="9217152" y="5852160"/>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reduces</a:t>
            </a:r>
            <a:endParaRPr lang="en-US" sz="950" dirty="0"/>
          </a:p>
        </p:txBody>
      </p:sp>
      <p:sp>
        <p:nvSpPr>
          <p:cNvPr id="51" name="Text 48"/>
          <p:cNvSpPr txBox="1"/>
          <p:nvPr/>
        </p:nvSpPr>
        <p:spPr>
          <a:xfrm>
            <a:off x="6702552" y="5431536"/>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تَقْلِيلٌ</a:t>
            </a:r>
            <a:endParaRPr lang="ar-SA" sz="2100" dirty="0"/>
          </a:p>
        </p:txBody>
      </p:sp>
      <p:sp>
        <p:nvSpPr>
          <p:cNvPr id="52" name="Text 49"/>
          <p:cNvSpPr txBox="1"/>
          <p:nvPr/>
        </p:nvSpPr>
        <p:spPr>
          <a:xfrm>
            <a:off x="6656832" y="5852160"/>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taq-līl</a:t>
            </a:r>
            <a:endParaRPr lang="en-US" sz="950" dirty="0"/>
          </a:p>
        </p:txBody>
      </p:sp>
      <p:sp>
        <p:nvSpPr>
          <p:cNvPr id="53" name="Text 50"/>
          <p:cNvSpPr txBox="1"/>
          <p:nvPr/>
        </p:nvSpPr>
        <p:spPr>
          <a:xfrm>
            <a:off x="4617720" y="5413248"/>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reducing</a:t>
            </a:r>
            <a:endParaRPr lang="en-US" sz="1100" dirty="0"/>
          </a:p>
        </p:txBody>
      </p:sp>
      <p:sp>
        <p:nvSpPr>
          <p:cNvPr id="54" name="Text 51"/>
          <p:cNvSpPr txBox="1"/>
          <p:nvPr/>
        </p:nvSpPr>
        <p:spPr>
          <a:xfrm>
            <a:off x="548640" y="5413248"/>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تَقْلِيلُ وَقْتِ الشَّاشَةِ</a:t>
            </a:r>
            <a:endParaRPr lang="ar-SA" sz="18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WEBSITE RULE “VERB + FIXED PREPOSITION”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verb and its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أَ</a:t>
            </a:r>
            <a:pPr rtl="1" algn="ctr" indent="0" marL="0">
              <a:buNone/>
            </a:pPr>
            <a:r>
              <a:rPr lang="ar-SA" altLang="en-US" sz="7200" b="1" dirty="0">
                <a:solidFill>
                  <a:srgbClr val="7B3FA0"/>
                </a:solidFill>
                <a:latin typeface="Amiri" pitchFamily="34" charset="0"/>
                <a:ea typeface="Amiri" pitchFamily="34" charset="-122"/>
                <a:cs typeface="Amiri" pitchFamily="34" charset="-120"/>
              </a:rPr>
              <a:t>تَفَاعَلُ</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0E7C86"/>
                </a:solidFill>
                <a:latin typeface="Amiri" pitchFamily="34" charset="0"/>
                <a:ea typeface="Amiri" pitchFamily="34" charset="-122"/>
                <a:cs typeface="Amiri" pitchFamily="34" charset="-120"/>
              </a:rPr>
              <a:t>مَعَ</a:t>
            </a:r>
            <a:pPr rtl="1" algn="ctr" indent="0" marL="0">
              <a:buNone/>
            </a:pPr>
            <a:r>
              <a:rPr lang="ar-SA" altLang="en-US" sz="7200" b="1" dirty="0">
                <a:solidFill>
                  <a:srgbClr val="1B3B6F"/>
                </a:solidFill>
                <a:latin typeface="Amiri" pitchFamily="34" charset="0"/>
                <a:ea typeface="Amiri" pitchFamily="34" charset="-122"/>
                <a:cs typeface="Amiri" pitchFamily="34" charset="-120"/>
              </a:rPr>
              <a:t> المُعَلِّمِ</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a-ta-fā-ʿa-lu ma-ʿa l-mu-ʿal-lim · I interact with the teacher</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أَـ</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a:t>
            </a:r>
            <a:pPr algn="l" indent="0" marL="0">
              <a:buNone/>
            </a:pPr>
            <a:r>
              <a:rPr lang="ar-SA" altLang="en-US" sz="2100" b="1" dirty="0">
                <a:solidFill>
                  <a:srgbClr val="1D5FBF"/>
                </a:solidFill>
                <a:latin typeface="Amiri" pitchFamily="34" charset="0"/>
                <a:ea typeface="Amiri" pitchFamily="34" charset="-122"/>
                <a:cs typeface="Amiri" pitchFamily="34" charset="-120"/>
              </a:rPr>
              <a:t>أَـ</a:t>
            </a:r>
            <a:pPr algn="l" indent="0" marL="0">
              <a:buNone/>
            </a:pPr>
            <a:r>
              <a:rPr lang="en-US" sz="1600" b="1" dirty="0">
                <a:solidFill>
                  <a:srgbClr val="1D5FBF"/>
                </a:solidFill>
                <a:latin typeface="Calibri" pitchFamily="34" charset="0"/>
                <a:ea typeface="Calibri" pitchFamily="34" charset="-122"/>
                <a:cs typeface="Calibri" pitchFamily="34" charset="-120"/>
              </a:rPr>
              <a:t> = I</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Change the first letter for the person: </a:t>
            </a:r>
            <a:pPr algn="l" indent="0" marL="0">
              <a:buNone/>
            </a:pPr>
            <a:r>
              <a:rPr lang="ar-SA" altLang="en-US" sz="1500" dirty="0">
                <a:solidFill>
                  <a:srgbClr val="5A6472"/>
                </a:solidFill>
                <a:latin typeface="Amiri" pitchFamily="34" charset="0"/>
                <a:ea typeface="Amiri" pitchFamily="34" charset="-122"/>
                <a:cs typeface="Amiri" pitchFamily="34" charset="-120"/>
              </a:rPr>
              <a:t>أَتَفَاعَلُ</a:t>
            </a:r>
            <a:pPr algn="l" indent="0" marL="0">
              <a:buNone/>
            </a:pPr>
            <a:r>
              <a:rPr lang="en-US" sz="1150" dirty="0">
                <a:solidFill>
                  <a:srgbClr val="5A6472"/>
                </a:solidFill>
                <a:latin typeface="Calibri" pitchFamily="34" charset="0"/>
                <a:ea typeface="Calibri" pitchFamily="34" charset="-122"/>
                <a:cs typeface="Calibri" pitchFamily="34" charset="-120"/>
              </a:rPr>
              <a:t> (I) · </a:t>
            </a:r>
            <a:pPr algn="l" indent="0" marL="0">
              <a:buNone/>
            </a:pPr>
            <a:r>
              <a:rPr lang="ar-SA" altLang="en-US" sz="1500" dirty="0">
                <a:solidFill>
                  <a:srgbClr val="5A6472"/>
                </a:solidFill>
                <a:latin typeface="Amiri" pitchFamily="34" charset="0"/>
                <a:ea typeface="Amiri" pitchFamily="34" charset="-122"/>
                <a:cs typeface="Amiri" pitchFamily="34" charset="-120"/>
              </a:rPr>
              <a:t>يَتَفَاعَلُ</a:t>
            </a:r>
            <a:pPr algn="l" indent="0" marL="0">
              <a:buNone/>
            </a:pPr>
            <a:r>
              <a:rPr lang="en-US" sz="1150" dirty="0">
                <a:solidFill>
                  <a:srgbClr val="5A6472"/>
                </a:solidFill>
                <a:latin typeface="Calibri" pitchFamily="34" charset="0"/>
                <a:ea typeface="Calibri" pitchFamily="34" charset="-122"/>
                <a:cs typeface="Calibri" pitchFamily="34" charset="-120"/>
              </a:rPr>
              <a:t> (he).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تَفَاعَلُ</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rest of the verb carries the meaning: interact.</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مَعَ</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PARTNER word</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Each verb keeps its own partner: </a:t>
            </a:r>
            <a:pPr algn="l" indent="0" marL="0">
              <a:buNone/>
            </a:pPr>
            <a:r>
              <a:rPr lang="ar-SA" altLang="en-US" sz="1500" dirty="0">
                <a:solidFill>
                  <a:srgbClr val="5A6472"/>
                </a:solidFill>
                <a:latin typeface="Amiri" pitchFamily="34" charset="0"/>
                <a:ea typeface="Amiri" pitchFamily="34" charset="-122"/>
                <a:cs typeface="Amiri" pitchFamily="34" charset="-120"/>
              </a:rPr>
              <a:t>مَعَ</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عَلَى</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عَنْ</a:t>
            </a:r>
            <a:pPr algn="l" indent="0" marL="0">
              <a:buNone/>
            </a:pPr>
            <a:r>
              <a:rPr lang="en-US" sz="1150" dirty="0">
                <a:solidFill>
                  <a:srgbClr val="5A6472"/>
                </a:solidFill>
                <a:latin typeface="Calibri" pitchFamily="34" charset="0"/>
                <a:ea typeface="Calibri" pitchFamily="34" charset="-122"/>
                <a:cs typeface="Calibri" pitchFamily="34" charset="-120"/>
              </a:rPr>
              <a:t>. It never changes.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VERBS AND THEIR PARTNERS IN WEBSITE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verb, one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وَاحِدٌ، حَرْفٌ وَاحِدٌ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Partner</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يَتَفَاعَلُ</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interacts</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مَعَ</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يَتَفَاعَلُ الطُّلَّابُ </a:t>
            </a:r>
            <a:pPr rtl="1" algn="r" indent="0" marL="0">
              <a:buNone/>
            </a:pPr>
            <a:r>
              <a:rPr lang="ar-SA" altLang="en-US" sz="2000" dirty="0">
                <a:solidFill>
                  <a:srgbClr val="0E7C86"/>
                </a:solidFill>
                <a:latin typeface="Amiri" pitchFamily="34" charset="0"/>
                <a:ea typeface="Amiri" pitchFamily="34" charset="-122"/>
                <a:cs typeface="Amiri" pitchFamily="34" charset="-120"/>
              </a:rPr>
              <a:t>مَعَ</a:t>
            </a:r>
            <a:pPr rtl="1" algn="r" indent="0" marL="0">
              <a:buNone/>
            </a:pPr>
            <a:r>
              <a:rPr lang="ar-SA" altLang="en-US" sz="2000" dirty="0">
                <a:solidFill>
                  <a:srgbClr val="1F2A37"/>
                </a:solidFill>
                <a:latin typeface="Amiri" pitchFamily="34" charset="0"/>
                <a:ea typeface="Amiri" pitchFamily="34" charset="-122"/>
                <a:cs typeface="Amiri" pitchFamily="34" charset="-120"/>
              </a:rPr>
              <a:t> المُعَلِّمِ.</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students interact with the teacher.</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يُعَلِّقُ</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comments</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عَلَى</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يُعَلِّقُ المُسْتَخْدِمُ </a:t>
            </a:r>
            <a:pPr rtl="1" algn="r" indent="0" marL="0">
              <a:buNone/>
            </a:pPr>
            <a:r>
              <a:rPr lang="ar-SA" altLang="en-US" sz="2000" dirty="0">
                <a:solidFill>
                  <a:srgbClr val="0E7C86"/>
                </a:solidFill>
                <a:latin typeface="Amiri" pitchFamily="34" charset="0"/>
                <a:ea typeface="Amiri" pitchFamily="34" charset="-122"/>
                <a:cs typeface="Amiri" pitchFamily="34" charset="-120"/>
              </a:rPr>
              <a:t>عَلَى</a:t>
            </a:r>
            <a:pPr rtl="1" algn="r" indent="0" marL="0">
              <a:buNone/>
            </a:pPr>
            <a:r>
              <a:rPr lang="ar-SA" altLang="en-US" sz="2000" dirty="0">
                <a:solidFill>
                  <a:srgbClr val="1F2A37"/>
                </a:solidFill>
                <a:latin typeface="Amiri" pitchFamily="34" charset="0"/>
                <a:ea typeface="Amiri" pitchFamily="34" charset="-122"/>
                <a:cs typeface="Amiri" pitchFamily="34" charset="-120"/>
              </a:rPr>
              <a:t> المَنْشُورِ.</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user comments on the post.</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يُرْسِلُ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sends</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إِلَى</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أُرْسِلُ رَسَائِلَ </a:t>
            </a:r>
            <a:pPr rtl="1" algn="r" indent="0" marL="0">
              <a:buNone/>
            </a:pPr>
            <a:r>
              <a:rPr lang="ar-SA" altLang="en-US" sz="2000" dirty="0">
                <a:solidFill>
                  <a:srgbClr val="0E7C86"/>
                </a:solidFill>
                <a:latin typeface="Amiri" pitchFamily="34" charset="0"/>
                <a:ea typeface="Amiri" pitchFamily="34" charset="-122"/>
                <a:cs typeface="Amiri" pitchFamily="34" charset="-120"/>
              </a:rPr>
              <a:t>إِلَى</a:t>
            </a:r>
            <a:pPr rtl="1" algn="r" indent="0" marL="0">
              <a:buNone/>
            </a:pPr>
            <a:r>
              <a:rPr lang="ar-SA" altLang="en-US" sz="2000" dirty="0">
                <a:solidFill>
                  <a:srgbClr val="1F2A37"/>
                </a:solidFill>
                <a:latin typeface="Amiri" pitchFamily="34" charset="0"/>
                <a:ea typeface="Amiri" pitchFamily="34" charset="-122"/>
                <a:cs typeface="Amiri" pitchFamily="34" charset="-120"/>
              </a:rPr>
              <a:t> أَصْدِقَائِي بِالهَاتِفِ.</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send messages to my friends by phone. (website game)</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يَعْتَمِدُ</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relies</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عَلَى</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لَا يَجِبُ أَنْ نَعْتَمِدَ </a:t>
            </a:r>
            <a:pPr rtl="1" algn="r" indent="0" marL="0">
              <a:buNone/>
            </a:pPr>
            <a:r>
              <a:rPr lang="ar-SA" altLang="en-US" sz="2000" dirty="0">
                <a:solidFill>
                  <a:srgbClr val="0E7C86"/>
                </a:solidFill>
                <a:latin typeface="Amiri" pitchFamily="34" charset="0"/>
                <a:ea typeface="Amiri" pitchFamily="34" charset="-122"/>
                <a:cs typeface="Amiri" pitchFamily="34" charset="-120"/>
              </a:rPr>
              <a:t>عَلَيْهِ</a:t>
            </a:r>
            <a:pPr rtl="1" algn="r" indent="0" marL="0">
              <a:buNone/>
            </a:pPr>
            <a:r>
              <a:rPr lang="ar-SA" altLang="en-US" sz="2000" dirty="0">
                <a:solidFill>
                  <a:srgbClr val="1F2A37"/>
                </a:solidFill>
                <a:latin typeface="Amiri" pitchFamily="34" charset="0"/>
                <a:ea typeface="Amiri" pitchFamily="34" charset="-122"/>
                <a:cs typeface="Amiri" pitchFamily="34" charset="-120"/>
              </a:rPr>
              <a:t> كُلِّيًّا.</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must not rely on it completely.</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يُسَاعِدُ</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helps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عَلَى</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تُسَاعِدُنِي المِنَصَّةُ </a:t>
            </a:r>
            <a:pPr rtl="1" algn="r" indent="0" marL="0">
              <a:buNone/>
            </a:pPr>
            <a:r>
              <a:rPr lang="ar-SA" altLang="en-US" sz="2000" dirty="0">
                <a:solidFill>
                  <a:srgbClr val="0E7C86"/>
                </a:solidFill>
                <a:latin typeface="Amiri" pitchFamily="34" charset="0"/>
                <a:ea typeface="Amiri" pitchFamily="34" charset="-122"/>
                <a:cs typeface="Amiri" pitchFamily="34" charset="-120"/>
              </a:rPr>
              <a:t>عَلَى</a:t>
            </a:r>
            <a:pPr rtl="1" algn="r" indent="0" marL="0">
              <a:buNone/>
            </a:pPr>
            <a:r>
              <a:rPr lang="ar-SA" altLang="en-US" sz="2000" dirty="0">
                <a:solidFill>
                  <a:srgbClr val="1F2A37"/>
                </a:solidFill>
                <a:latin typeface="Amiri" pitchFamily="34" charset="0"/>
                <a:ea typeface="Amiri" pitchFamily="34" charset="-122"/>
                <a:cs typeface="Amiri" pitchFamily="34" charset="-120"/>
              </a:rPr>
              <a:t> التَّعَلُّمِ فِي أَيِّ مَكَانٍ.</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platform helps me learn anywhere.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CONTRAST AND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 the one hand … on the 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نَاحِيَةٍ … وَمِنْ نَاحِيَةٍ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 · CONTRAST</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نَاحِيَةٍ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مِنْ نَاحِيَةٍ … وَمِنْ نَاحِيَةٍ أُخْرَى …</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the one hand … and on the other hand …</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Give a benefit first, then a risk, then your judgement (website rule “Balanced contrast”).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“it” (m.)</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عَلَيْهِ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المَوْقِعُ مُفِيدٌ … يُنْشَرُ عَلَيْهِ</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website is useful … (check) what is posted on it.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Masculine noun → </a:t>
            </a:r>
            <a:pPr algn="l" indent="0" marL="0">
              <a:buNone/>
            </a:pPr>
            <a:r>
              <a:rPr lang="ar-SA" altLang="en-US" sz="1450" dirty="0">
                <a:solidFill>
                  <a:srgbClr val="1F2A37"/>
                </a:solidFill>
                <a:latin typeface="Amiri" pitchFamily="34" charset="0"/>
                <a:ea typeface="Amiri" pitchFamily="34" charset="-122"/>
                <a:cs typeface="Amiri" pitchFamily="34" charset="-120"/>
              </a:rPr>
              <a:t>ـهُ / ـهِ</a:t>
            </a:r>
            <a:pPr algn="l" indent="0" marL="0">
              <a:buNone/>
            </a:pPr>
            <a:r>
              <a:rPr lang="en-US" sz="1100" dirty="0">
                <a:solidFill>
                  <a:srgbClr val="1F2A37"/>
                </a:solidFill>
                <a:latin typeface="Calibri" pitchFamily="34" charset="0"/>
                <a:ea typeface="Calibri" pitchFamily="34" charset="-122"/>
                <a:cs typeface="Calibri" pitchFamily="34" charset="-120"/>
              </a:rPr>
              <a:t>: </a:t>
            </a:r>
            <a:pPr algn="l" indent="0" marL="0">
              <a:buNone/>
            </a:pPr>
            <a:r>
              <a:rPr lang="ar-SA" altLang="en-US" sz="1450" dirty="0">
                <a:solidFill>
                  <a:srgbClr val="1F2A37"/>
                </a:solidFill>
                <a:latin typeface="Amiri" pitchFamily="34" charset="0"/>
                <a:ea typeface="Amiri" pitchFamily="34" charset="-122"/>
                <a:cs typeface="Amiri" pitchFamily="34" charset="-120"/>
              </a:rPr>
              <a:t>عَلَيْهِ</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“it” (f.)</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المِنَصَّةُ آمِنَةٌ … فِيهَا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platform is safe … (our privacy) on it.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Feminine noun → </a:t>
            </a:r>
            <a:pPr algn="l" indent="0" marL="0">
              <a:buNone/>
            </a:pPr>
            <a:r>
              <a:rPr lang="ar-SA" altLang="en-US" sz="1450" dirty="0">
                <a:solidFill>
                  <a:srgbClr val="1F2A37"/>
                </a:solidFill>
                <a:latin typeface="Amiri" pitchFamily="34" charset="0"/>
                <a:ea typeface="Amiri" pitchFamily="34" charset="-122"/>
                <a:cs typeface="Amiri" pitchFamily="34" charset="-120"/>
              </a:rPr>
              <a:t>ـهَا</a:t>
            </a:r>
            <a:pPr algn="l" indent="0" marL="0">
              <a:buNone/>
            </a:pPr>
            <a:r>
              <a:rPr lang="en-US" sz="1100" dirty="0">
                <a:solidFill>
                  <a:srgbClr val="1F2A37"/>
                </a:solidFill>
                <a:latin typeface="Calibri" pitchFamily="34" charset="0"/>
                <a:ea typeface="Calibri" pitchFamily="34" charset="-122"/>
                <a:cs typeface="Calibri" pitchFamily="34" charset="-120"/>
              </a:rPr>
              <a:t>: </a:t>
            </a:r>
            <a:pPr algn="l" indent="0" marL="0">
              <a:buNone/>
            </a:pPr>
            <a:r>
              <a:rPr lang="ar-SA" altLang="en-US" sz="1450" dirty="0">
                <a:solidFill>
                  <a:srgbClr val="1F2A37"/>
                </a:solidFill>
                <a:latin typeface="Amiri" pitchFamily="34" charset="0"/>
                <a:ea typeface="Amiri" pitchFamily="34" charset="-122"/>
                <a:cs typeface="Amiri" pitchFamily="34" charset="-120"/>
              </a:rPr>
              <a:t>فِيهَا</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نَسْتَخْدِمُهَا</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the wrong partner word after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يَتَفَاعَلُ مَعَ</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يَتَفَاعَلُ عَلَى</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يُعَلِّقُ عَلَى</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يُعَلِّقُ مَعَ</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Keep the verb with its required preposition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fixed preposition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يَتَفَاعَلُ الطُّلَّابُ مَعَ المُعَلِّمِ.   ·   يُعَلِّقُ المُسْتَخْدِمُ عَلَى المَنْشُورِ.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Balanced contrast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نَاحِيَةٍ ... وَمِنْ نَاحِيَةٍ أُخْرَى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نَاحِيَةٍ، يُسَهِّلُ التَّعَلُّمُ عَنْ بُعْدٍ الوُصُولَ إِلَى الدُّرُوسِ، وَمِنْ نَاحِيَةٍ أُخْرَى، قَدْ يَزِيدُ وَقْتَ الشَّاشَةِ.</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Concession with </a:t>
            </a:r>
            <a:pPr algn="l" indent="0" marL="0">
              <a:buNone/>
            </a:pPr>
            <a:r>
              <a:rPr lang="ar-SA" altLang="en-US" sz="1650" b="1" dirty="0">
                <a:solidFill>
                  <a:srgbClr val="1B3B6F"/>
                </a:solidFill>
                <a:latin typeface="Amiri" pitchFamily="34" charset="0"/>
                <a:ea typeface="Amiri" pitchFamily="34" charset="-122"/>
                <a:cs typeface="Amiri" pitchFamily="34" charset="-120"/>
              </a:rPr>
              <a:t>عَلَى الرَّغْمِ مِنْ 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عَلَى الرَّغْمِ مِنْ أَنَّ</a:t>
            </a:r>
            <a:pPr algn="l" indent="0" marL="0">
              <a:buNone/>
            </a:pPr>
            <a:r>
              <a:rPr lang="en-US" sz="1050" dirty="0">
                <a:solidFill>
                  <a:srgbClr val="5A6472"/>
                </a:solidFill>
                <a:latin typeface="Calibri" pitchFamily="34" charset="0"/>
                <a:ea typeface="Calibri" pitchFamily="34" charset="-122"/>
                <a:cs typeface="Calibri" pitchFamily="34" charset="-120"/>
              </a:rPr>
              <a:t> + nominal clause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عَلَى الرَّغْمِ مِنْ أَنَّ الذَّكَاءَ الاصْطِنَاعِيَّ مُفِيدٌ، فَلَا يَجِبُ أَنْ نَعْتَمِدَ عَلَيْهِ كُلِّيًّا.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preposition + attached pronoun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المَوْقِعُ مُفِيدٌ، وَلٰكِنْ يَجِبُ التَّحَقُّقُ مِمَّا يُنْشَرُ عَلَيْهِ.   ·   المِنَصَّةُ آمِنَةٌ إِذَا حَافَظْنَا عَلَى خُصُوصِيَّتِنَا فِيهَا.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عَلَى المُعَلِّمِ.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عَنْ المُعَلِّمِ.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مَعَ المُعَلِّمِ.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عَلَى المَنْشُورِ.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مِنَ المَنْشُورِ.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مَعَ المَنْشُورِ.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“distance learning”?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فِي قُرْبٍ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عَنْ بُعْدٍ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عَلَى مَارْكَةٍ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المِنَصَّةُ</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فِيهَا.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عَلَيْهِمَا.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فِيهِ.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preposition.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الطُّلَّابُ عَلَى المُعَلِّمِ.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الطُّلَّابُ عَنْ المُعَلِّمِ.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يَتَفَاعَلُ الطُّلَّابُ مَعَ المُعَلِّمِ.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يُعَلِّقُ عَلَى المَنْشُورِ.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يُعَلِّقُ مِنَ المَنْشُورِ.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يُعَلِّقُ مَعَ المَنْشُورِ.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يعلق</a:t>
            </a:r>
            <a:pPr algn="l" indent="0" marL="0">
              <a:buNone/>
            </a:pPr>
            <a:r>
              <a:rPr lang="en-US" sz="1050" i="1" dirty="0">
                <a:solidFill>
                  <a:srgbClr val="8A6D1E"/>
                </a:solidFill>
                <a:latin typeface="Calibri" pitchFamily="34" charset="0"/>
                <a:ea typeface="Calibri" pitchFamily="34" charset="-122"/>
                <a:cs typeface="Calibri" pitchFamily="34" charset="-120"/>
              </a:rPr>
              <a:t> governs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“distance learning”?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التَّعَلُّمُ فِي قُرْبٍ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التَّعَلُّمُ عَنْ بُعْدٍ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التَّعَلُّمُ عَلَى مَارْكَةٍ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التعلم عن بعد</a:t>
            </a:r>
            <a:pPr algn="l" indent="0" marL="0">
              <a:buNone/>
            </a:pPr>
            <a:r>
              <a:rPr lang="en-US" sz="1050" i="1" dirty="0">
                <a:solidFill>
                  <a:srgbClr val="8A6D1E"/>
                </a:solidFill>
                <a:latin typeface="Calibri" pitchFamily="34" charset="0"/>
                <a:ea typeface="Calibri" pitchFamily="34" charset="-122"/>
                <a:cs typeface="Calibri" pitchFamily="34" charset="-120"/>
              </a:rPr>
              <a:t> is the required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المِنَصَّةُ</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نَحْفَظُ بَيَانَاتِنَا فِيهَا.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نَحْفَظُ بَيَانَاتِنَا عَلَيْهِمَا.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نَحْفَظُ بَيَانَاتِنَا فِيهِ.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منصة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فيها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describe how I use technology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Which device?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أَ</a:t>
            </a:r>
            <a:pPr rtl="1" algn="ctr" indent="0" marL="0">
              <a:buNone/>
            </a:pPr>
            <a:r>
              <a:rPr lang="ar-SA" altLang="en-US" sz="2800" b="1" dirty="0">
                <a:solidFill>
                  <a:srgbClr val="1B3B6F"/>
                </a:solidFill>
                <a:latin typeface="Amiri" pitchFamily="34" charset="0"/>
                <a:ea typeface="Amiri" pitchFamily="34" charset="-122"/>
                <a:cs typeface="Amiri" pitchFamily="34" charset="-120"/>
              </a:rPr>
              <a:t>سْتَعْمِلُ الحَاسُوبَ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أَـ</a:t>
            </a:r>
            <a:pPr algn="l" indent="0" marL="0">
              <a:buNone/>
            </a:pPr>
            <a:r>
              <a:rPr lang="en-US" sz="1150" dirty="0">
                <a:solidFill>
                  <a:srgbClr val="1F2A37"/>
                </a:solidFill>
                <a:latin typeface="Calibri" pitchFamily="34" charset="0"/>
                <a:ea typeface="Calibri" pitchFamily="34" charset="-122"/>
                <a:cs typeface="Calibri" pitchFamily="34" charset="-120"/>
              </a:rPr>
              <a:t> = I. From the website game.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for?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لِلدِّرَاسَةِ عَبْرَ الإِنْتَرْنِتِ</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لِـ</a:t>
            </a:r>
            <a:pPr algn="l" indent="0" marL="0">
              <a:buNone/>
            </a:pPr>
            <a:r>
              <a:rPr lang="en-US" sz="1150" dirty="0">
                <a:solidFill>
                  <a:srgbClr val="1F2A37"/>
                </a:solidFill>
                <a:latin typeface="Calibri" pitchFamily="34" charset="0"/>
                <a:ea typeface="Calibri" pitchFamily="34" charset="-122"/>
                <a:cs typeface="Calibri" pitchFamily="34" charset="-120"/>
              </a:rPr>
              <a:t> + verbal noun = for studying.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 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مِنْ نَاحِيَةٍ</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أَتَفَاعَلُ مَعَ المُعَلِّمِ</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Keep </a:t>
            </a:r>
            <a:pPr algn="l" indent="0" marL="0">
              <a:buNone/>
            </a:pPr>
            <a:r>
              <a:rPr lang="ar-SA" altLang="en-US" sz="1500" dirty="0">
                <a:solidFill>
                  <a:srgbClr val="1F2A37"/>
                </a:solidFill>
                <a:latin typeface="Amiri" pitchFamily="34" charset="0"/>
                <a:ea typeface="Amiri" pitchFamily="34" charset="-122"/>
                <a:cs typeface="Amiri" pitchFamily="34" charset="-120"/>
              </a:rPr>
              <a:t>مَعَ</a:t>
            </a:r>
            <a:pPr algn="l" indent="0" marL="0">
              <a:buNone/>
            </a:pPr>
            <a:r>
              <a:rPr lang="en-US" sz="1150" dirty="0">
                <a:solidFill>
                  <a:srgbClr val="1F2A37"/>
                </a:solidFill>
                <a:latin typeface="Calibri" pitchFamily="34" charset="0"/>
                <a:ea typeface="Calibri" pitchFamily="34" charset="-122"/>
                <a:cs typeface="Calibri" pitchFamily="34" charset="-120"/>
              </a:rPr>
              <a:t> with </a:t>
            </a:r>
            <a:pPr algn="l" indent="0" marL="0">
              <a:buNone/>
            </a:pPr>
            <a:r>
              <a:rPr lang="ar-SA" altLang="en-US" sz="1500" dirty="0">
                <a:solidFill>
                  <a:srgbClr val="1F2A37"/>
                </a:solidFill>
                <a:latin typeface="Amiri" pitchFamily="34" charset="0"/>
                <a:ea typeface="Amiri" pitchFamily="34" charset="-122"/>
                <a:cs typeface="Amiri" pitchFamily="34" charset="-120"/>
              </a:rPr>
              <a:t>أَتَفَاعَلُ</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 risk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وَمِنْ نَاحِيَةٍ أُخْرَى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أَحْتَاجُ إِلَى تَقْلِيلِ وَقْتِ الشَّاشَةِ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other side: a risk (website listening).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 (I)</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D5FBF"/>
                </a:solidFill>
                <a:latin typeface="Amiri" pitchFamily="34" charset="0"/>
                <a:ea typeface="Amiri" pitchFamily="34" charset="-122"/>
                <a:cs typeface="Amiri" pitchFamily="34" charset="-120"/>
              </a:rPr>
              <a:t>أَ</a:t>
            </a:r>
            <a:pPr rtl="1" algn="r" indent="0" marL="0">
              <a:buNone/>
            </a:pPr>
            <a:r>
              <a:rPr lang="ar-SA" altLang="en-US" sz="1950" b="1" dirty="0">
                <a:solidFill>
                  <a:srgbClr val="1B3B6F"/>
                </a:solidFill>
                <a:latin typeface="Amiri" pitchFamily="34" charset="0"/>
                <a:ea typeface="Amiri" pitchFamily="34" charset="-122"/>
                <a:cs typeface="Amiri" pitchFamily="34" charset="-120"/>
              </a:rPr>
              <a:t>سْتَعْمِلُ الحَاسُوبَ لِلدِّرَاسَةِ عَبْرَ الإِنْتَرْنِتِ. </a:t>
            </a:r>
            <a:pPr rtl="1" algn="r" indent="0" marL="0">
              <a:buNone/>
            </a:pPr>
            <a:r>
              <a:rPr lang="ar-SA" altLang="en-US" sz="1950" b="1" dirty="0">
                <a:solidFill>
                  <a:srgbClr val="0E7C86"/>
                </a:solidFill>
                <a:latin typeface="Amiri" pitchFamily="34" charset="0"/>
                <a:ea typeface="Amiri" pitchFamily="34" charset="-122"/>
                <a:cs typeface="Amiri" pitchFamily="34" charset="-120"/>
              </a:rPr>
              <a:t>مِنْ نَاحِيَةٍ</a:t>
            </a:r>
            <a:pPr rtl="1" algn="r" indent="0" marL="0">
              <a:buNone/>
            </a:pPr>
            <a:r>
              <a:rPr lang="ar-SA" altLang="en-US" sz="1950" b="1" dirty="0">
                <a:solidFill>
                  <a:srgbClr val="1B3B6F"/>
                </a:solidFill>
                <a:latin typeface="Amiri" pitchFamily="34" charset="0"/>
                <a:ea typeface="Amiri" pitchFamily="34" charset="-122"/>
                <a:cs typeface="Amiri" pitchFamily="34" charset="-120"/>
              </a:rPr>
              <a:t>، أَتَفَاعَلُ مَعَ المُعَلِّمِ، </a:t>
            </a:r>
            <a:pPr rtl="1" algn="r" indent="0" marL="0">
              <a:buNone/>
            </a:pPr>
            <a:r>
              <a:rPr lang="ar-SA" altLang="en-US" sz="1950" b="1" dirty="0">
                <a:solidFill>
                  <a:srgbClr val="0E7C86"/>
                </a:solidFill>
                <a:latin typeface="Amiri" pitchFamily="34" charset="0"/>
                <a:ea typeface="Amiri" pitchFamily="34" charset="-122"/>
                <a:cs typeface="Amiri" pitchFamily="34" charset="-120"/>
              </a:rPr>
              <a:t>وَمِنْ نَاحِيَةٍ أُخْرَى</a:t>
            </a:r>
            <a:pPr rtl="1" algn="r" indent="0" marL="0">
              <a:buNone/>
            </a:pPr>
            <a:r>
              <a:rPr lang="ar-SA" altLang="en-US" sz="1950" b="1" dirty="0">
                <a:solidFill>
                  <a:srgbClr val="1B3B6F"/>
                </a:solidFill>
                <a:latin typeface="Amiri" pitchFamily="34" charset="0"/>
                <a:ea typeface="Amiri" pitchFamily="34" charset="-122"/>
                <a:cs typeface="Amiri" pitchFamily="34" charset="-120"/>
              </a:rPr>
              <a:t>، أَحْتَاجُ إِلَى تَقْلِيلِ وَقْتِ الشَّاشَةِ.</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use the computer to study online. On the one hand, I interact with the teacher; on the other hand, I need to reduce screen time.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أُرْسِلُ رَسَائِلَ إِلَى أَصْدِقَائِي بِالْهَاتِفِ.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send messages to my friends by phone.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نَسْتَعْمِلَ كَلِمَةَ مُرُورٍ قَوِيَّةً.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must use a strong password.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أَنْ + fatḥa (TC-L05).</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يَتَفَاعَلُ الطُّلَّابُ مَعَ المُعَلِّمِ.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students interact with the teacher.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مَعَ with يَتَفَاعَلُ.</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عَلَى الرَّغْمِ مِنْ أَنَّ الذَّكَاءَ الاصْطِنَاعِيَّ مُفِيدٌ، فَلَا يَجِبُ أَنْ نَعْتَمِدَ عَلَيْهِ كُلِّيًّا.</a:t>
            </a:r>
            <a:endParaRPr lang="ar-SA" sz="19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Although AI is useful, we must not rely on it completely.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concession + عَلَيْهِ.</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“DIGITAL LIFE”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الْحَيَاةُ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4"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6"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7"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8"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29"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4"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6"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7"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8"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9"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نَسْتَعْمِلَ كَلِمَةَ مُرُورٍ قَوِيَّةً.</a:t>
            </a:r>
            <a:endParaRPr lang="ar-SA" sz="2000" dirty="0"/>
          </a:p>
        </p:txBody>
      </p:sp>
      <p:sp>
        <p:nvSpPr>
          <p:cNvPr id="40"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1"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42"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3"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أُرْسِلُ رَسَائِلَ إِلَى أَصْدِقَائِي بِالْهَاتِفِ.</a:t>
            </a:r>
            <a:endParaRPr lang="ar-SA" sz="2000" dirty="0"/>
          </a:p>
        </p:txBody>
      </p:sp>
      <p:sp>
        <p:nvSpPr>
          <p:cNvPr id="44"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5"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6"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7"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أَسْتَعْمِلُ الْحَاسُوبَ لِلدِّرَاسَةِ عَبْرَ الْإِنْتَرْنِتِ.</a:t>
            </a:r>
            <a:endParaRPr lang="ar-SA" sz="2000" dirty="0"/>
          </a:p>
        </p:txBody>
      </p:sp>
      <p:sp>
        <p:nvSpPr>
          <p:cNvPr id="48"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9"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0"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الْحَيَاةُ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4"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5"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أُرْسِلُ رَسَائِلَ إِلَى أَصْدِقَائِي بِالْهَاتِفِ.</a:t>
            </a:r>
            <a:endParaRPr lang="ar-SA" sz="2200" dirty="0"/>
          </a:p>
        </p:txBody>
      </p:sp>
      <p:sp>
        <p:nvSpPr>
          <p:cNvPr id="26"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send messages to my friends by phone.</a:t>
            </a:r>
            <a:endParaRPr lang="en-US" sz="1200" dirty="0"/>
          </a:p>
        </p:txBody>
      </p:sp>
      <p:sp>
        <p:nvSpPr>
          <p:cNvPr id="27"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2"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4"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7" name="Text 30"/>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أَسْتَعْمِلُ الْحَاسُوبَ لِلدِّرَاسَةِ عَبْرَ الْإِنْتَرْنِتِ.</a:t>
            </a:r>
            <a:endParaRPr lang="ar-SA" sz="2200" dirty="0"/>
          </a:p>
        </p:txBody>
      </p:sp>
      <p:sp>
        <p:nvSpPr>
          <p:cNvPr id="38"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use the computer to study online.</a:t>
            </a:r>
            <a:endParaRPr lang="en-US" sz="1200" dirty="0"/>
          </a:p>
        </p:txBody>
      </p:sp>
      <p:sp>
        <p:nvSpPr>
          <p:cNvPr id="39"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4"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6"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7"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8"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9"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نَسْتَعْمِلَ كَلِمَةَ مُرُورٍ قَوِيَّةً.</a:t>
            </a:r>
            <a:endParaRPr lang="ar-SA" sz="2200" dirty="0"/>
          </a:p>
        </p:txBody>
      </p:sp>
      <p:sp>
        <p:nvSpPr>
          <p:cNvPr id="50"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use a strong password.</a:t>
            </a:r>
            <a:endParaRPr lang="en-US" sz="1200" dirty="0"/>
          </a:p>
        </p:txBody>
      </p:sp>
      <p:sp>
        <p:nvSpPr>
          <p:cNvPr id="51"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 send messages to my friends.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يُرْسِلُ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أُرْسِلُ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رَسَائِلَ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كَلِمَةَ المُرُورِ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أَصْدِقَائِي.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 أَصْدِقَائِي.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user comments on the post.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يُعَلِّقُ</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يُنَزِّلُ</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المُسْتَخْدِمُ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المُعَلِّمَ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مَعَ المَنْشُورِ.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 المَنْشُورِ.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We must use a strong password.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أَنْ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 إِلَى</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نَسْتَخْدِمُ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نَسْتَخْدِمَ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كَلِمَةَ مُرُورٍ قَوِيَّةً.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كَلِمَةَ مُرُورٍ قَوِيٌّ.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 send messages to my friends.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أُـ</a:t>
            </a:r>
            <a:pPr algn="l" indent="0" marL="0">
              <a:buNone/>
            </a:pPr>
            <a:r>
              <a:rPr lang="en-US" sz="1050" i="1" dirty="0">
                <a:solidFill>
                  <a:srgbClr val="5A6472"/>
                </a:solidFill>
                <a:latin typeface="Calibri" pitchFamily="34" charset="0"/>
                <a:ea typeface="Calibri" pitchFamily="34" charset="-122"/>
                <a:cs typeface="Calibri" pitchFamily="34" charset="-120"/>
              </a:rPr>
              <a:t> = I; </a:t>
            </a:r>
            <a:pPr algn="l" indent="0" marL="0">
              <a:buNone/>
            </a:pPr>
            <a:r>
              <a:rPr lang="ar-SA" altLang="en-US" sz="1350" dirty="0">
                <a:solidFill>
                  <a:srgbClr val="5A6472"/>
                </a:solidFill>
                <a:latin typeface="Amiri" pitchFamily="34" charset="0"/>
                <a:ea typeface="Amiri" pitchFamily="34" charset="-122"/>
                <a:cs typeface="Amiri" pitchFamily="34" charset="-120"/>
              </a:rPr>
              <a:t>يُرْسِلُ … إِلَى</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أُرْسِلُ رَسَائِلَ إِلَى أَصْدِقَائِي.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user comments on the post.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يُعَلِّقُ</a:t>
            </a:r>
            <a:pPr algn="l" indent="0" marL="0">
              <a:buNone/>
            </a:pPr>
            <a:r>
              <a:rPr lang="en-US" sz="1050" i="1" dirty="0">
                <a:solidFill>
                  <a:srgbClr val="5A6472"/>
                </a:solidFill>
                <a:latin typeface="Calibri" pitchFamily="34" charset="0"/>
                <a:ea typeface="Calibri" pitchFamily="34" charset="-122"/>
                <a:cs typeface="Calibri" pitchFamily="34" charset="-120"/>
              </a:rPr>
              <a:t> always with </a:t>
            </a:r>
            <a:pPr algn="l" indent="0" marL="0">
              <a:buNone/>
            </a:pPr>
            <a:r>
              <a:rPr lang="ar-SA" altLang="en-US" sz="1350" dirty="0">
                <a:solidFill>
                  <a:srgbClr val="5A6472"/>
                </a:solidFill>
                <a:latin typeface="Amiri" pitchFamily="34" charset="0"/>
                <a:ea typeface="Amiri" pitchFamily="34" charset="-122"/>
                <a:cs typeface="Amiri" pitchFamily="34" charset="-120"/>
              </a:rPr>
              <a:t>عَلَى</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يُعَلِّقُ المُسْتَخْدِمُ عَلَى المَنْشُورِ.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We must use a strong password.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i="1" dirty="0">
                <a:solidFill>
                  <a:srgbClr val="5A6472"/>
                </a:solidFill>
                <a:latin typeface="Calibri" pitchFamily="34" charset="0"/>
                <a:ea typeface="Calibri" pitchFamily="34" charset="-122"/>
                <a:cs typeface="Calibri" pitchFamily="34" charset="-120"/>
              </a:rPr>
              <a:t>: fatḥa; </a:t>
            </a:r>
            <a:pPr algn="l" indent="0" marL="0">
              <a:buNone/>
            </a:pPr>
            <a:r>
              <a:rPr lang="ar-SA" altLang="en-US" sz="1350" dirty="0">
                <a:solidFill>
                  <a:srgbClr val="5A6472"/>
                </a:solidFill>
                <a:latin typeface="Amiri" pitchFamily="34" charset="0"/>
                <a:ea typeface="Amiri" pitchFamily="34" charset="-122"/>
                <a:cs typeface="Amiri" pitchFamily="34" charset="-120"/>
              </a:rPr>
              <a:t>قَوِيَّةً</a:t>
            </a:r>
            <a:pPr algn="l" indent="0" marL="0">
              <a:buNone/>
            </a:pPr>
            <a:r>
              <a:rPr lang="en-US" sz="1050" i="1" dirty="0">
                <a:solidFill>
                  <a:srgbClr val="5A6472"/>
                </a:solidFill>
                <a:latin typeface="Calibri" pitchFamily="34" charset="0"/>
                <a:ea typeface="Calibri" pitchFamily="34" charset="-122"/>
                <a:cs typeface="Calibri" pitchFamily="34" charset="-120"/>
              </a:rPr>
              <a:t> agrees with </a:t>
            </a:r>
            <a:pPr algn="l" indent="0" marL="0">
              <a:buNone/>
            </a:pPr>
            <a:r>
              <a:rPr lang="ar-SA" altLang="en-US" sz="1350" dirty="0">
                <a:solidFill>
                  <a:srgbClr val="5A6472"/>
                </a:solidFill>
                <a:latin typeface="Amiri" pitchFamily="34" charset="0"/>
                <a:ea typeface="Amiri" pitchFamily="34" charset="-122"/>
                <a:cs typeface="Amiri" pitchFamily="34" charset="-120"/>
              </a:rPr>
              <a:t>كَلِمَة</a:t>
            </a:r>
            <a:pPr algn="l" indent="0" marL="0">
              <a:buNone/>
            </a:pPr>
            <a:r>
              <a:rPr lang="en-US" sz="1050" i="1" dirty="0">
                <a:solidFill>
                  <a:srgbClr val="5A6472"/>
                </a:solidFill>
                <a:latin typeface="Calibri" pitchFamily="34" charset="0"/>
                <a:ea typeface="Calibri" pitchFamily="34" charset="-122"/>
                <a:cs typeface="Calibri" pitchFamily="34" charset="-120"/>
              </a:rPr>
              <a:t> (f.).</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يَجِبُ أَنْ نَسْتَخْدِمَ كَلِمَةَ مُرُورٍ قَوِيَّةً.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Tool, action or benefit/risk?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يُحَمِّلُ</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الخُصُوصِيَّةُ</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المُرُورِ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الأَمَانُ الرَّقْمِيُّ</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يُنَزِّلُ</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مَعْلُومَاتٌ مُضَلِّلَةٌ</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عَلَامَةٌ تِجَارِيَّةٌ</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Digital tools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Online actions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Benefits and risks</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Digital tools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المُرُورِ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عَلَامَةٌ تِجَارِيَّةٌ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Online actions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يُحَمِّلُ</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يُنَزِّلُ</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Benefits and risks</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الخُصُوصِيَّةُ</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الأَمَانُ الرَّقْمِيُّ</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مَعْلُومَاتٌ مُضَلِّلَةٌ</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QUIZ QUESTIONS 3, 4,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builds a balanced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 قُرْبَ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 حَتَّى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 وَمِنْ نَاحِيَةٍ أُخْرَى</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concession.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التِّقْنِيَّةُ مُفِيدَةٌ، لَهَا مَخَاطِرُ.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 التِّقْنِيَّةَ مُفِيدَةٌ، فَلَهَا مَخَاطِرُ.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التِّقْنِيَّةَ أَنَّ مُفِيدَةٌ.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digital-safety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نَنْشُرَ كَلِمَةَ المُرُورِ لِلْجَمِيعِ.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نَسْتَخْدِمَ كَلِمَةَ مُرُورٍ قَوِيَّةً لِحِمَايَةِ حِسَابَاتِنَا.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نُحَمِّلَ الخُصُوصِيَّةَ.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qualified judgement?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شَرِيطَةٌ عَلَى المَسْؤُولِيَّةِ.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مُفِيدَةٌ لِأَنَّهَا مُفِيدَةٌ.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مُفِيدَةٌ شَرِيطَةَ أَنْ نَسْتَخْدِمَهَا بِمَسْؤُولِيَّةٍ.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builds a balanced contrast?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 قُرْبَ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مُنْذُ ... حَتَّى</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 وَمِنْ نَاحِيَةٍ أُخْرَى</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two phrases frame contrasting sides.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concession.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التِّقْنِيَّةُ مُفِيدَةٌ، لَهَا مَخَاطِرُ.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أَنَّ التِّقْنِيَّةَ مُفِيدَةٌ، فَلَهَا مَخَاطِرُ.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 التِّقْنِيَّةَ أَنَّ مُفِيدَةٌ.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a:t>
            </a:r>
            <a:pPr algn="l" indent="0" marL="0">
              <a:buNone/>
            </a:pPr>
            <a:r>
              <a:rPr lang="ar-SA" altLang="en-US" sz="1350" dirty="0">
                <a:solidFill>
                  <a:srgbClr val="8A6D1E"/>
                </a:solidFill>
                <a:latin typeface="Amiri" pitchFamily="34" charset="0"/>
                <a:ea typeface="Amiri" pitchFamily="34" charset="-122"/>
                <a:cs typeface="Amiri" pitchFamily="34" charset="-120"/>
              </a:rPr>
              <a:t>على الرغم من أن</a:t>
            </a:r>
            <a:pPr algn="l" indent="0" marL="0">
              <a:buNone/>
            </a:pPr>
            <a:r>
              <a:rPr lang="en-US" sz="1050" i="1" dirty="0">
                <a:solidFill>
                  <a:srgbClr val="8A6D1E"/>
                </a:solidFill>
                <a:latin typeface="Calibri" pitchFamily="34" charset="0"/>
                <a:ea typeface="Calibri" pitchFamily="34" charset="-122"/>
                <a:cs typeface="Calibri" pitchFamily="34" charset="-120"/>
              </a:rPr>
              <a:t> + clause.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digital-safety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نَنْشُرَ كَلِمَةَ المُرُورِ لِلْجَمِيعِ.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نَسْتَخْدِمَ كَلِمَةَ مُرُورٍ قَوِيَّةً لِحِمَايَةِ حِسَابَاتِنَا.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نُحَمِّلَ الخُصُوصِيَّةَ.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strong password protects accounts.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qualified judgement?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شَرِيطَةٌ عَلَى المَسْؤُولِيَّةِ.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مُفِيدَةٌ لِأَنَّهَا مُفِيدَةٌ.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التِّقْنِيَّةُ مُفِيدَةٌ شَرِيطَةَ أَنْ نَسْتَخْدِمَهَا بِمَسْؤُولِيَّةٍ.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شريطة 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condition for the judgement.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يَتَفَاعَلُ الطُّلَّابُ عَلَى المُعَلِّمِ.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partner word goes with </a:t>
            </a:r>
            <a:pPr algn="l" indent="0" marL="0">
              <a:buNone/>
            </a:pPr>
            <a:r>
              <a:rPr lang="ar-SA" altLang="en-US" sz="1700" dirty="0">
                <a:solidFill>
                  <a:srgbClr val="5A6472"/>
                </a:solidFill>
                <a:latin typeface="Amiri" pitchFamily="34" charset="0"/>
                <a:ea typeface="Amiri" pitchFamily="34" charset="-122"/>
                <a:cs typeface="Amiri" pitchFamily="34" charset="-120"/>
              </a:rPr>
              <a:t>يَتَفَاعَلُ</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يُعَلِّقُ المُسْتَخْدِمُ مَعَ المَنْشُورِ.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partner word goes with </a:t>
            </a:r>
            <a:pPr algn="l" indent="0" marL="0">
              <a:buNone/>
            </a:pPr>
            <a:r>
              <a:rPr lang="ar-SA" altLang="en-US" sz="1700" dirty="0">
                <a:solidFill>
                  <a:srgbClr val="5A6472"/>
                </a:solidFill>
                <a:latin typeface="Amiri" pitchFamily="34" charset="0"/>
                <a:ea typeface="Amiri" pitchFamily="34" charset="-122"/>
                <a:cs typeface="Amiri" pitchFamily="34" charset="-120"/>
              </a:rPr>
              <a:t>يُعَلِّقُ</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عَلَى الرَّغْمِ أَنَّ الذَّكَاءَ الاصْطِنَاعِيَّ مُفِيدٌ.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The full connector is </a:t>
            </a:r>
            <a:pPr algn="l" indent="0" marL="0">
              <a:buNone/>
            </a:pPr>
            <a:r>
              <a:rPr lang="ar-SA" altLang="en-US" sz="1700" dirty="0">
                <a:solidFill>
                  <a:srgbClr val="5A6472"/>
                </a:solidFill>
                <a:latin typeface="Amiri" pitchFamily="34" charset="0"/>
                <a:ea typeface="Amiri" pitchFamily="34" charset="-122"/>
                <a:cs typeface="Amiri" pitchFamily="34" charset="-120"/>
              </a:rPr>
              <a:t>عَلَى الرَّغْمِ … أَنَّ</a:t>
            </a:r>
            <a:pPr algn="l" indent="0" marL="0">
              <a:buNone/>
            </a:pPr>
            <a:r>
              <a:rPr lang="en-US" sz="1300" i="1" dirty="0">
                <a:solidFill>
                  <a:srgbClr val="5A6472"/>
                </a:solidFill>
                <a:latin typeface="Calibri" pitchFamily="34" charset="0"/>
                <a:ea typeface="Calibri" pitchFamily="34" charset="-122"/>
                <a:cs typeface="Calibri" pitchFamily="34" charset="-120"/>
              </a:rPr>
              <a:t> — what is missing?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يَتَفَاعَلُ الطُّلَّابُ عَلَى المُعَلِّمِ.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يَتَفَاعَلُ الطُّلَّابُ مَعَ المُعَلِّمِ.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يتفاعل</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مع</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يُعَلِّقُ المُسْتَخْدِمُ مَعَ المَنْشُورِ.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يُعَلِّقُ المُسْتَخْدِمُ عَلَى المَنْشُورِ.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يعلّق</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عَلَى الرَّغْمِ أَنَّ الذَّكَاءَ الاصْطِنَاعِيَّ مُفِيدٌ.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34" charset="0"/>
                <a:ea typeface="Amiri" pitchFamily="34" charset="-122"/>
                <a:cs typeface="Amiri" pitchFamily="34" charset="-120"/>
              </a:rPr>
              <a:t>عَلَى الرَّغْمِ مِنْ أَنَّ الذَّكَاءَ الاصْطِنَاعِيَّ مُفِيدٌ.</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complete connector is </a:t>
            </a:r>
            <a:pPr algn="l" indent="0" marL="0">
              <a:buNone/>
            </a:pPr>
            <a:r>
              <a:rPr lang="ar-SA" altLang="en-US" sz="1500" b="1" dirty="0">
                <a:solidFill>
                  <a:srgbClr val="1B3B6F"/>
                </a:solidFill>
                <a:latin typeface="Amiri" pitchFamily="34" charset="0"/>
                <a:ea typeface="Amiri" pitchFamily="34" charset="-122"/>
                <a:cs typeface="Amiri" pitchFamily="34" charset="-120"/>
              </a:rPr>
              <a:t>على الرغم من 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Listening: a student’s digital routine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the platform used?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speaker interact with?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 assistant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upload?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Advertisements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one advantage?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from any place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needing a teacher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private data</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needs to be reduced?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 strength</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 time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Lesson time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safety/wellbeing actions are taken?</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a strong password and stopping before sleep</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the password and staying online all night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Posting personal details and avoiding lessons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ثَلَاثَ مَرَّاتٍ</a:t>
            </a:r>
            <a:pPr algn="l" indent="0" marL="0">
              <a:buNone/>
            </a:pPr>
            <a:r>
              <a:rPr lang="en-US" sz="1250" dirty="0">
                <a:solidFill>
                  <a:srgbClr val="1E6B52"/>
                </a:solidFill>
                <a:latin typeface="Calibri" pitchFamily="34" charset="0"/>
                <a:ea typeface="Calibri" pitchFamily="34" charset="-122"/>
                <a:cs typeface="Calibri" pitchFamily="34" charset="-120"/>
              </a:rPr>
              <a:t> (three times), </a:t>
            </a:r>
            <a:pPr algn="l" indent="0" marL="0">
              <a:buNone/>
            </a:pPr>
            <a:r>
              <a:rPr lang="ar-SA" altLang="en-US" sz="1650" dirty="0">
                <a:solidFill>
                  <a:srgbClr val="1E6B52"/>
                </a:solidFill>
                <a:latin typeface="Amiri" pitchFamily="34" charset="0"/>
                <a:ea typeface="Amiri" pitchFamily="34" charset="-122"/>
                <a:cs typeface="Amiri" pitchFamily="34" charset="-120"/>
              </a:rPr>
              <a:t>المُعَلِّم</a:t>
            </a:r>
            <a:pPr algn="l" indent="0" marL="0">
              <a:buNone/>
            </a:pPr>
            <a:r>
              <a:rPr lang="en-US" sz="1250" dirty="0">
                <a:solidFill>
                  <a:srgbClr val="1E6B52"/>
                </a:solidFill>
                <a:latin typeface="Calibri" pitchFamily="34" charset="0"/>
                <a:ea typeface="Calibri" pitchFamily="34" charset="-122"/>
                <a:cs typeface="Calibri" pitchFamily="34" charset="-120"/>
              </a:rPr>
              <a:t> (teacher) and </a:t>
            </a:r>
            <a:pPr algn="l" indent="0" marL="0">
              <a:buNone/>
            </a:pPr>
            <a:r>
              <a:rPr lang="ar-SA" altLang="en-US" sz="1650" dirty="0">
                <a:solidFill>
                  <a:srgbClr val="1E6B52"/>
                </a:solidFill>
                <a:latin typeface="Amiri" pitchFamily="34" charset="0"/>
                <a:ea typeface="Amiri" pitchFamily="34" charset="-122"/>
                <a:cs typeface="Amiri" pitchFamily="34" charset="-120"/>
              </a:rPr>
              <a:t>وَاجِبَاتِي</a:t>
            </a:r>
            <a:pPr algn="l" indent="0" marL="0">
              <a:buNone/>
            </a:pPr>
            <a:r>
              <a:rPr lang="en-US" sz="1250" dirty="0">
                <a:solidFill>
                  <a:srgbClr val="1E6B52"/>
                </a:solidFill>
                <a:latin typeface="Calibri" pitchFamily="34" charset="0"/>
                <a:ea typeface="Calibri" pitchFamily="34" charset="-122"/>
                <a:cs typeface="Calibri" pitchFamily="34" charset="-120"/>
              </a:rPr>
              <a:t> (my homework).</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أَسْتَخْدِمُ مِنَصَّةً لِلتَّعَلُّمِ عَنْ بُعْدٍ ثَلَاثَ مَرَّاتٍ فِي الأُسْبُوعِ.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 a platform for distance learning three times a week.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أَتَفَاعَلُ مَعَ المُعَلِّمِ، وَأُحَمِّلُ وَاجِبَاتِي، وَأُعَلِّقُ عَلَى أَفْكَارِ زُمَلَائِي.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interact with the teacher, upload my homework and comment on my classmates’ ideas.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نَاحِيَةٍ، تُسَاعِدُنِي المِنَصَّةُ عَلَى التَّعَلُّمِ فِي أَيِّ مَكَانٍ.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one hand, the platform helps me learn anywhere.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وَمِنْ نَاحِيَةٍ أُخْرَى، أَحْتَاجُ إِلَى تَقْلِيلِ وَقْتِ الشَّاشَةِ.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other hand, I need to reduce screen time.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أَسْتَخْدِمُ كَلِمَةَ مُرُورٍ قَوِيَّةً وَأَتَوَقَّفُ عَنِ الاسْتِخْدَامِ قَبْلَ النَّوْمِ.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I use a strong password and I stop using it before sleep.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the platform used?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speaker interact with?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shop assistant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أتفاعل مع المعلم.</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upload?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Advertisements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أحمل واجباتي.</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one advantage?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Learning from any place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needing a teacher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Sharing private data</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التعلم في أي مكان.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needs to be reduced?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 strength</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Screen time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Lesson time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تقليل وقت الشاشة.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safety/wellbeing actions are taken?</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Using a strong password and stopping before sleep</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Sharing the password and staying online all night</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Posting personal details and avoiding lessons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names both actions.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ثَلَاثَ مَرَّاتٍ</a:t>
            </a:r>
            <a:pPr algn="l" indent="0" marL="0">
              <a:buNone/>
            </a:pPr>
            <a:r>
              <a:rPr lang="en-US" sz="1250" dirty="0">
                <a:solidFill>
                  <a:srgbClr val="1E6B52"/>
                </a:solidFill>
                <a:latin typeface="Calibri" pitchFamily="34" charset="0"/>
                <a:ea typeface="Calibri" pitchFamily="34" charset="-122"/>
                <a:cs typeface="Calibri" pitchFamily="34" charset="-120"/>
              </a:rPr>
              <a:t> (three times), </a:t>
            </a:r>
            <a:pPr algn="l" indent="0" marL="0">
              <a:buNone/>
            </a:pPr>
            <a:r>
              <a:rPr lang="ar-SA" altLang="en-US" sz="1650" dirty="0">
                <a:solidFill>
                  <a:srgbClr val="1E6B52"/>
                </a:solidFill>
                <a:latin typeface="Amiri" pitchFamily="34" charset="0"/>
                <a:ea typeface="Amiri" pitchFamily="34" charset="-122"/>
                <a:cs typeface="Amiri" pitchFamily="34" charset="-120"/>
              </a:rPr>
              <a:t>المُعَلِّم</a:t>
            </a:r>
            <a:pPr algn="l" indent="0" marL="0">
              <a:buNone/>
            </a:pPr>
            <a:r>
              <a:rPr lang="en-US" sz="1250" dirty="0">
                <a:solidFill>
                  <a:srgbClr val="1E6B52"/>
                </a:solidFill>
                <a:latin typeface="Calibri" pitchFamily="34" charset="0"/>
                <a:ea typeface="Calibri" pitchFamily="34" charset="-122"/>
                <a:cs typeface="Calibri" pitchFamily="34" charset="-120"/>
              </a:rPr>
              <a:t> (teacher) and </a:t>
            </a:r>
            <a:pPr algn="l" indent="0" marL="0">
              <a:buNone/>
            </a:pPr>
            <a:r>
              <a:rPr lang="ar-SA" altLang="en-US" sz="1650" dirty="0">
                <a:solidFill>
                  <a:srgbClr val="1E6B52"/>
                </a:solidFill>
                <a:latin typeface="Amiri" pitchFamily="34" charset="0"/>
                <a:ea typeface="Amiri" pitchFamily="34" charset="-122"/>
                <a:cs typeface="Amiri" pitchFamily="34" charset="-120"/>
              </a:rPr>
              <a:t>وَاجِبَاتِي</a:t>
            </a:r>
            <a:pPr algn="l" indent="0" marL="0">
              <a:buNone/>
            </a:pPr>
            <a:r>
              <a:rPr lang="en-US" sz="1250" dirty="0">
                <a:solidFill>
                  <a:srgbClr val="1E6B52"/>
                </a:solidFill>
                <a:latin typeface="Calibri" pitchFamily="34" charset="0"/>
                <a:ea typeface="Calibri" pitchFamily="34" charset="-122"/>
                <a:cs typeface="Calibri" pitchFamily="34" charset="-120"/>
              </a:rPr>
              <a:t> (my homework).</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evaluate digital learning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تَطْبِيقٍ تَسْتَعْمِلُ كَثِيرًا؟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تَسْتَخْدِمُ التِّقْنِيَّةَ؟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فَوَائِدُ التَّعَلُّمِ عَنْ بُعْدٍ؟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مَخَاطِرُ وَسَائِلِ التَّوَاصُلِ؟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أَسْتَعْمِلُ ___ لِـ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نَاحِيَةٍ ___ ، وَمِنْ نَاحِيَةٍ أُخْرَى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يَسْتَعْمِلُ / هِيَ تَسْتَعْمِلُ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رَأْيُكَ فِي التَّعَلُّمِ عَنْ بُعْدٍ؟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opinion of distance learning?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مِنْ نَاحِيَةٍ، هُوَ مُرِنٌ وَيُسَهِّلُ الوُصُولَ إِلَى الدُّرُوسِ، وَمِنْ نَاحِيَةٍ أُخْرَى، قَدْ يُقَلِّلُ التَّفَاعُلَ المُبَاشِرَ. أُؤَيِّدُهُ شَرِيطَةَ أَنْ يَكُونَ آمِنًا وَتَفَاعُلِيًّا.</a:t>
            </a:r>
            <a:endParaRPr lang="ar-SA" sz="140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أَسْتَعْمِلُ / أُرْسِلُ / أَبْحَثُ عَنْ … — the أَـ / أُـ “I” verbs with their partner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benefit and one risk with مِنْ نَاحِيَةٍ … وَمِنْ نَاحِيَةٍ أُخْرَى; two verbs with their partner words; one verbal noun.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evaluate technology or social media with a qualified conclusion (شَرِيطَةَ أَنْ).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نَاحِيَةٍ،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one hand,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وَمِنْ نَاحِيَةٍ أُخْرَى،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أَتَفَاعَلُ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interact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أُعَلِّقُ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comment on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مُفِيدٌ، وَلٰكِنْ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useful, but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أَسْتَعْمِلُ هَاتِفِي لِـ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my phone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أُرْسِلُ رَسَائِلَ إِلَى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send messages to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______ عَلَى الإِنْتَرْنِتِ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search for … online.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تَطْبِيقِي المُفَضَّلُ هُوَ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app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أَسْتَخْدِمُ كَلِمَةَ مُرُورٍ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a strong password.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هَاتِفٌ  ·  حَاسُوبٌ  ·  الإِنْتَرْنِتُ  ·  تَطْبِيقٌ  ·  مَوْقِعٌ  ·  رَسَائِلُ  ·  أَصْدِقَائِي  ·  الدِّرَاسَةِ  ·  الخُصُوصِيَّةُ  ·  وَقْتُ الشَّاشَةِ  ·  مُفِيدٌ  ·  خَطِيرٌ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evaluating technology or social media.</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all four target 2028 digital terms where relevant.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Balance at least one benefit and one risk.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accurate digital-verb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qualified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أَصْبَحَتِ التِّقْنِيَّةُ جُزْءًا أَسَاسِيًّا مِنْ حَيَاتِنَا</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technology has become a basic part of our lives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يُسَهِّلُ … الوُصُولَ إِلَى الدُّرُوسِ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makes access to lessons easier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تُؤَدِّي كَثْرَةُ الاسْتِخْدَامِ إِلَى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too much use may lead to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يَتَعَرَّضُ المُسْتَخْدِمُ لِـ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user may be exposed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 ، فَـ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شَرِيطَةَ أَنْ نَسْتَخْدِمَهَا بِمَسْؤُولِيَّةٍ</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provided that we use it responsibly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أَصْبَحَتِ التِّقْنِيَّةُ جُزْءًا أَسَاسِيًّا مِنْ حَيَاتِنَا. مِنْ نَاحِيَةٍ، يُسَهِّلُ التَّعَلُّمُ عَنْ بُعْدٍ الوُصُولَ إِلَى الدُّرُوسِ، وَيُسَاعِدُ الذَّكَاءُ الاصْطِنَاعِيُّ عَلَى تَنْظِيمِ الأَفْكَارِ. وَمِنْ نَاحِيَةٍ أُخْرَى، قَدْ تُؤَدِّي كَثْرَةُ الاسْتِخْدَامِ إِلَى إِدْمَانِ الشَّاشَاتِ، وَقَدْ يَتَعَرَّضُ المُسْتَخْدِمُ لِمَعْلُومَاتٍ مُضَلِّلَةٍ. عَلَى الرَّغْمِ مِنْ أَنَّ المِنَصَّاتِ مُفِيدَةٌ، فَيَجِبُ أَنْ نَحْمِيَ خُصُوصِيَّتَنَا وَنَسْتَخْدِمَ كَلِمَاتِ مُرُورٍ قَوِيَّةً. فِي رَأْيِي، التِّقْنِيَّةُ إِيجَابِيَّةٌ شَرِيطَةَ أَنْ نَسْتَخْدِمَهَا بِمَسْؤُولِيَّةٍ.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Technology has become a basic part of our lives. On the one hand, distance learning makes access to lessons easier, and artificial intelligence helps to organise ideas. On the other hand, too much use may lead to screen addiction, and the user may be exposed to misleading information. Although platforms are useful, we must protect our privacy and use strong passwords. In my opinion, technology is positive provided that we use it responsibly.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verb + its partner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مِنْ نَاحِيَةٍ … أُخْرَى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risk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شَرِيطَةَ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devices and apps and say what I use them for: </a:t>
            </a:r>
            <a:pPr algn="l" indent="0" marL="0">
              <a:buNone/>
            </a:pPr>
            <a:r>
              <a:rPr lang="ar-SA" altLang="en-US" sz="1700" dirty="0">
                <a:solidFill>
                  <a:srgbClr val="1F2A37"/>
                </a:solidFill>
                <a:latin typeface="Amiri" pitchFamily="34" charset="0"/>
                <a:ea typeface="Amiri" pitchFamily="34" charset="-122"/>
                <a:cs typeface="Amiri" pitchFamily="34" charset="-120"/>
              </a:rPr>
              <a:t>أَسْتَعْمِلُ … لِـ</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keep each verb with its partner: </a:t>
            </a:r>
            <a:pPr algn="l" indent="0" marL="0">
              <a:buNone/>
            </a:pPr>
            <a:r>
              <a:rPr lang="ar-SA" altLang="en-US" sz="1700" dirty="0">
                <a:solidFill>
                  <a:srgbClr val="1F2A37"/>
                </a:solidFill>
                <a:latin typeface="Amiri" pitchFamily="34" charset="0"/>
                <a:ea typeface="Amiri" pitchFamily="34" charset="-122"/>
                <a:cs typeface="Amiri" pitchFamily="34" charset="-120"/>
              </a:rPr>
              <a:t>أَتَفَاعَلُ مَعَ، أُعَلِّقُ عَلَى، أَبْحَثُ عَنْ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give a benefit and a risk with </a:t>
            </a:r>
            <a:pPr algn="l" indent="0" marL="0">
              <a:buNone/>
            </a:pPr>
            <a:r>
              <a:rPr lang="ar-SA" altLang="en-US" sz="170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refer back with </a:t>
            </a:r>
            <a:pPr algn="l" indent="0" marL="0">
              <a:buNone/>
            </a:pPr>
            <a:r>
              <a:rPr lang="ar-SA" altLang="en-US" sz="1700" dirty="0">
                <a:solidFill>
                  <a:srgbClr val="1F2A37"/>
                </a:solidFill>
                <a:latin typeface="Amiri" pitchFamily="34" charset="0"/>
                <a:ea typeface="Amiri" pitchFamily="34" charset="-122"/>
                <a:cs typeface="Amiri" pitchFamily="34" charset="-120"/>
              </a:rPr>
              <a:t>عَلَيْهِ / فِيهَا</a:t>
            </a:r>
            <a:pPr algn="l" indent="0" marL="0">
              <a:buNone/>
            </a:pPr>
            <a:r>
              <a:rPr lang="en-US" sz="1300" dirty="0">
                <a:solidFill>
                  <a:srgbClr val="1F2A37"/>
                </a:solidFill>
                <a:latin typeface="Calibri" pitchFamily="34" charset="0"/>
                <a:ea typeface="Calibri" pitchFamily="34" charset="-122"/>
                <a:cs typeface="Calibri" pitchFamily="34" charset="-120"/>
              </a:rPr>
              <a:t> and qualify with </a:t>
            </a:r>
            <a:pPr algn="l" indent="0" marL="0">
              <a:buNone/>
            </a:pPr>
            <a:r>
              <a:rPr lang="ar-SA" altLang="en-US" sz="1700" dirty="0">
                <a:solidFill>
                  <a:srgbClr val="1F2A37"/>
                </a:solidFill>
                <a:latin typeface="Amiri" pitchFamily="34" charset="0"/>
                <a:ea typeface="Amiri" pitchFamily="34" charset="-122"/>
                <a:cs typeface="Amiri" pitchFamily="34" charset="-120"/>
              </a:rPr>
              <a:t>شَرِيطَةَ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frames the other side of an argument?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التِّقْنِيَّةُ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يَتَفَاعَلُ 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يَتَفَاعَلُ 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يَتَفَاعَلُ 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يتفاعل مع.</a:t>
            </a:r>
            <a:endParaRPr lang="ar-SA" sz="13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frames the other side of an argument?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ناحية أخرى.</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التِّقْنِيَّةُ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نَسْتَخْدِمُهَا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نَسْتَخْدِمُهُ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نَسْتَخْدِمُهُمْ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Technology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Reading: responsible use of artificial intelligence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أَصْبَحَ الذَّكَاءُ الاصْطِنَاعِيُّ جُزْءًا مِنَ التَّعَلُّمِ الرَّقْمِيِّ. فَهُوَ يُسَاعِدُ بَعْضَ الطُّلَّابِ عَلَى فَهْمِ المَفَاهِيمِ وَتَنْظِيمِ أَفْكَارِهِمْ. وَمَعَ ذٰلِكَ، لَا تَكُونُ كُلُّ المَعْلُومَاتِ الَّتِي يُنْتِجُهَا دَقِيقَةً. لِذٰلِكَ يَجِبُ التَّحَقُّقُ مِنَ المَصَادِرِ، وَعَدَمُ إِدْخَالِ البَيَانَاتِ الشَّخْصِيَّةِ فِي مَوَاقِعَ غَيْرِ آمِنَةٍ. فِي رَأْيِي، هُوَ أَدَاةٌ مُفِيدَةٌ شَرِيطَةَ أَنْ يَسْتَخْدِمَهُ الطَّالِبُ بِوَعْيٍ.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أَصْبَحَ</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became</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جُزْءٌ</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part</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المَفَاهِيمُ</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concepts</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تَنْظِيمٌ</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organising</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يُنْتِجُ</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produces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دَقِيقَةٌ</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accurate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التَّحَقُّقُ مِنَ</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checking</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المَصَادِرُ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sources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البَيَانَاتُ الشَّخْصِيَّةُ</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personal data</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أَدَاةٌ</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tool</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شَرِيطَةَ أَنْ</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provided that</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part of digital learning?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Printed newspapers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transport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benefit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removes the need to think</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guarantees every answer is correct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can help students understand concepts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is stated?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all generated information is accurate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cannot organise ideas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uses data</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learners verify?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Brands only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Sources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forecasts only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be entered on unsafe sites?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Personal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vocabulary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Lesson titles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Under what condition is AI useful according to the writer?</a:t>
            </a:r>
            <a:endParaRPr lang="en-US" sz="10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every response is copied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privacy is ignored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used consciously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part of digital learning?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Printed newspapers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transport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الذكاء الاصطناعي.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benefit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removes the need to think</a:t>
            </a:r>
            <a:endParaRPr lang="en-US" sz="11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guarantees every answer is correct</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can help students understand concepts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it helps some students understand concepts.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is stated?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Not all generated information is accurate</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cannot organise ideas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uses data</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تكون كل المعلومات دقيقة.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learners verify?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Brands only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Sources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Weather forecasts only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التحقق من المصادر.</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be entered on unsafe sites?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Personal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vocabulary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Lesson titles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البيانات الشخصية.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Under what condition is AI useful according to the writer?</a:t>
            </a:r>
            <a:endParaRPr lang="en-US" sz="10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When every response is copied</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privacy is ignored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When used consciously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شريطة أن يستخدمه الطالب بوعي.</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TC-L07 · Documents, Texts and Digital Information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جَوَازُ سَفَرٍ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passport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تَذْكِرَةٌ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ticket</a:t>
            </a:r>
            <a:pPr indent="0" marL="0">
              <a:buNone/>
            </a:pPr>
            <a:r>
              <a:rPr lang="en-US" sz="1000" i="1" dirty="0">
                <a:solidFill>
                  <a:srgbClr val="5A6472"/>
                </a:solidFill>
                <a:latin typeface="Calibri" pitchFamily="34" charset="0"/>
                <a:ea typeface="Calibri" pitchFamily="34" charset="-122"/>
                <a:cs typeface="Calibri" pitchFamily="34" charset="-120"/>
              </a:rPr>
              <a:t>  pl. تَذَاكِرُ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حَجْزٌ</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booking</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appointment</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رِسَالَةٌ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message, email</a:t>
            </a:r>
            <a:pPr indent="0" marL="0">
              <a:buNone/>
            </a:pPr>
            <a:r>
              <a:rPr lang="en-US" sz="1000" i="1" dirty="0">
                <a:solidFill>
                  <a:srgbClr val="5A6472"/>
                </a:solidFill>
                <a:latin typeface="Calibri" pitchFamily="34" charset="0"/>
                <a:ea typeface="Calibri" pitchFamily="34" charset="-122"/>
                <a:cs typeface="Calibri" pitchFamily="34" charset="-120"/>
              </a:rPr>
              <a:t>  pl. رَسَائِلُ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documents do you need to travel?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الوَثَائِقُ الَّتِي تَحْتَاجُهَا لِلسَّفَرِ؟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TC-L06 · play “Digital Life”,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about how you use technology, with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TC-L06 · the application mission and the reading “Responsible use of artificial intelligence”.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TC-L07 · Documents, Texts and Digital Information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الوَثَائِقُ وَالنُّصُوصُ وَالمَعْلُومَاتُ الرَّقْمِيَّةُ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TC-L06 · The Digital World and Communication</dc:title>
  <dc:subject>PptxGenJS Presentation</dc:subject>
  <dc:creator>Al Madina Online School · Arabic Department</dc:creator>
  <cp:lastModifiedBy>Al Madina Online School · Arabic Department</cp:lastModifiedBy>
  <cp:revision>1</cp:revision>
  <dcterms:created xsi:type="dcterms:W3CDTF">2026-09-27T08:18:14Z</dcterms:created>
  <dcterms:modified xsi:type="dcterms:W3CDTF">2026-09-27T08:18:14Z</dcterms:modified>
</cp:coreProperties>
</file>