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6 (TC-L06). The website lesson reuses D4-L05 (The Digital World — Technology and Social Media) with the Topic C focus “Discuss devices, platforms, benefits, risks and patterns of use” (grammar: verbal nouns; object pronouns; contrast). The picture match is the website lesson game “Digital Life”; the “benefit–risk debate” is the website’s advanced application challenge.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D4-L05 is B1 language. CORE: devices and apps + “I” verbs from the website game (أُرْسِلُ رَسَائِلَ … بِالهَاتِفِ · أَسْتَعْمِلُ الحَاسُوبَ لِلدِّرَاسَةِ) and the rule “keep the verb with its partner preposition”. DEVELOP: verbal nouns and a balanced view (مِنْ نَاحِيَةٍ … وَمِنْ نَاحِيَةٍ أُخْرَى). STRETCH: pronoun reference (عَلَيْهِ / فِيهَا), عَلَى الرَّغْمِ مِنْ أَنَّ and شَرِيطَةَ أَنْ.
• “He / I” verb tables with transliteration; picture match with icons; read-along listening with English.
• Website note: the website lists “follows” as يَتَابِعُ; the correct form is يُتَابِعُ (Form III) — used on the slides.
• Safeguarding: keep discussion of apps and social media general; remind students never to share passwords or personal details (the lesson content supports this message).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(Flipped Learning follow-up). Questions 3–5 retrieve TC-L05, TC-L02 and TC-L04 — questions 4–5 are fixed verb + preposition pairs, today’s key idea.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Many verbs have a PARTNER word that never changes: يَتَفَاعَلُ مَعَ · يُعَلِّقُ عَلَى · يَبْحَثُ عَنْ.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general website objectives into this lesson’s concrete targets (website grammar rules 1–4 and the Topic C focus).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معلومات (information — مَعْلُومَاتٌ مُضَلِّلَةٌ = misinformation), تعلیم (education — same root as التَّعَلُّمُ), صحت (health — الصِّحَّةُ الرَّقْمِيَّةُ), مفید (useful), خطرات (dangers — مَخَاطِرُ).
Groups 2–4 are the website D4-L05 vocabulary; Group 1 adds هَاتِفٌ / حَاسُوبٌ / الإِنْتَرْنِتُ from the website game; Group 5 (verbal nouns — Topic C grammar focus) uses nouns from the website 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devices and apps (website D4-L05 + the website game “Digital Life”). Hear → Say → See → Use.
Pink ending again: إِلِكْتُرُونِيٌّ is a nisba (electronic). كَلِمَةُ المُرُورِ = “word of passing” (iḍāfa, TC-L02).
Quick check: “Type the NUMBER of the thing you used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online world (website D4-L05 “Digital tools and 2028 vocabulary”). Develop / Stretch; Core students listen and repeat.
Also on the website: عَلَامَةٌ تِجَارِيَّةٌ / مَارْكَةٌ = 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Online actions (website D4-L05). The blue letter is WHO: يُـ / يَـ = he, أُـ / أَـ = I. Change only the blue letter (the morning-routine rule).
Core: the three CORE rows — say “he … / I …” for each.
Website note: the website lists “follows” as يَتَابِعُ; the correct Form III form is يُتَابِعُ (used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verbs that keep a partner word (website D4-L05 “Online actions and their prepositions”). Teal = the partner word, which NEVER changes.
Teach as chunks: “interact-WITH”, “comment-ON”, “search-FOR”. Website rule: “Arabic digital verbs often govern a specific preposition. Changing it makes the phrase inaccurate.”
Core: the three CORE rows as fixed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Digital benefits and risks (website D4-L05). Also on the website: مِنْ نَاحِيَةٍ (on the one hand) and مِنْ نَاحِيَةٍ أُخْرَى (on the other hand) — taught on the contrast slide.
Nisba again: رَقْمِيٌّ (digital, from رَقْم = number) — masculine الأَمَانُ الرَّقْمِيُّ vs feminine الصِّحَّةُ الرَّقْمِيَّةُ.
Safeguarding: if cyberbullying comes up, remind students who they can talk to in school; do not invite personal disclosures on open 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verbal nouns (Topic C grammar focus for this lesson). A verbal noun (مَصْدَر) is the “-ing” noun of a verb. The website phrases come from the mission (اسْتِخْدَامُ كَلِمَةِ مُرُورٍ قَوِيَّةٍ · نَشْرُ العُنْوَانِ الشَّخْصِيِّ), vocabulary (التَّعَلُّمُ عَنْ بُعْدٍ), lesson title (وَسَائِلُ التَّوَاصُلِ الاجْتِمَاعِيِّ) and listening (تَقْلِيلُ وَقْتِ الشَّاشَةِ).
Develop: say the verb, then the noun. Stretch: make a verbal noun the subject of a sentence (اسْتِخْدَامُ الهَاتِفِ مُفِيدٌ).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 “Keep the verb with its required preposition”: verb + fixed preposition. Arabic digital verbs often govern a specific preposition. Changing it makes the phrase inaccurate.
Think aloud: “Blue tells me WHO (I). Purple is the meaning. Teal is the partner word — I learn the verb and its partner together as one chunk.”
Misconception (website common mistakes): يَتَفَاعَلُ … عَلَى ✗ · يُعَلِّقُ … مَعَ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verbs and their partners in website sentences (website rule examples, game, listening script).
Read each row; students repeat the verb + partner as ONE chunk.
Row 4 shows the partner with an attached pronoun: عَلَى + ـهِ = عَلَيْهِ (on it) — Stretch pronoun reference.
Row 5: تُسَاعِدُنِي = helps ME (ـنِي = me, an object pronoun — Topic C grammar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rules “Balanced contrast” (present a benefit and a limitation before reaching a judgement) and “Pronoun reference” (refer back precisely: عَلَيْهِ for a masculine noun, عَلَيْهَا for a feminine noun).
Examples are the website rule examples (shortened on the cards; full sentences in the FLEX rules slide).
• CORE: listen. • DEVELOP: card 1. • STRETCH: cards 2–3.
Website application “Technology benefit–risk debate”: sort statements into benefit / risk / balanced, then defend a balanced viewpoint.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Rule 3 is the Stretch concession: عَلَى الرَّغْمِ مِنْ أَنَّ + nominal clause (use أَنَّ with a noun or attached pronoun; the sentence that follows states the unexpected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6 and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with a think-aloud; students watch, then COPY the paragraph into their books.
Step 1 — “Which device? أَسْتَعْمِلُ الحَاسُوبَ — أَـ tells you it is me.”
Step 2 — “What for? لِلدِّرَاسَةِ = for studying — لِـ + a verbal noun.”
Step 3 — “A benefit: مِنْ نَاحِيَةٍ، أَتَفَاعَلُ مَعَ المُعَلِّمِ — the verb keeps its partner مَعَ.”
Step 4 — “A risk: وَمِنْ نَاحِيَةٍ أُخْرَى، أَحْتَاجُ إِلَى تَقْلِيلِ وَقْتِ الشَّاشَةِ.”
Built from website language: game (أَسْتَعْمِلُ الحَاسُوبَ لِلدِّرَاسَةِ عَبْرَ الإِنْتَرْنِتِ) and listening script (أَتَفَاعَلُ مَعَ المُعَلِّمِ … أَحْتَاجُ إِلَى تَقْلِيلِ وَقْتِ الشَّاشَةِ).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lesson game and patterns. Students copy TWO that are useful for them.
• Core: copy 1 and 2 and change the device or the person. • Develop: copy 3 with a different verb and partner. • Stretch: copy 4 about a different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(“Digital Life”)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بِالهَاتِفِ / رَسَائِلَ (phone / messages), الحَاسُوبَ / لِلدِّرَاسَةِ (computer / for studying), كَلِمَةَ مُرُورٍ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(“Digital Life”)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بِالهَاتِفِ / رَسَائِلَ (phone / messages), الحَاسُوبَ / لِلدِّرَاسَةِ (computer / for studying), كَلِمَةَ مُرُورٍ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(game, patterns, quiz).
Students choose ONE box per column (start from Column 1 on the right) and type the letters, e.g. “1: B A A”. ↔ Rehearse 30s first.
Core: sentences 1–2. Develop / Stretch: sentence 3 and explain each wrong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(game, patterns, quiz).
Students choose ONE box per column (start from Column 1 on the right) and type the letters, e.g. “1: B A A”. ↔ Rehearse 30s first.
Core: sentences 1–2. Develop / Stretch: sentence 3 and explain each wrong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2 min). Clue for Core: a tile starting with يُـ / يَـ is an action (verb).
Website application “Benefit–risk debate”: for the benefits/risks column, students say whether each is a benefit or a risk, then defend one balanced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2 min). Clue for Core: a tile starting with يُـ / يَـ is an action (verb).
Website application “Benefit–risk debate”: for the benefits/risks column, students say whether each is a benefit or a risk, then defend one balanced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4, 7, 8 (Stretch)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1–3. Develop / Stretch: all 6.
Listen 1: just listen. Listen 2: note answers. Then chat the letters.
Support: after the second listening, show the read-along slide (Arabic + English, line by line) for Core students.
SCRIPT (read aloud):
أَسْتَخْدِمُ مَنْصَّةً لِلتَّعَلُّمِ عَنْ بُعْدٍ ثَلَاثَ مَرَّاتٍ فِي الأُسْبُوعِ. أَتَفَاعَلُ مَعَ المُعَلِّمِ، وَأُحَمِّلُ وَاجِبَاتِي، وَأُعَلِّقُ عَلَى أَفْكَارِ زُمَلَائِي. مِنْ نَاحِيَةٍ، تُسَاعِدُنِي المِنَصَّةُ عَلَى التَّعَلُّمِ فِي أَيِّ مَكَانٍ. وَمِنْ نَاحِيَةٍ أُخْرَى، أَحْتَاجُ إِلَى تَقْلِيلِ وَقْتِ الشَّاشَةِ. لِذٰلِكَ أَسْتَخْدِمُ كَلِمَةَ مُرُورٍ قَوِيَّةً وَأَتَوَقَّفُ عَنِ الاسْتِخْدَامِ قَبْلَ النَّوْمِ.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Core prompt (teacher-made; it is the preparation question): “Which app do you use a lot, and why?” — answered with the Core stem, e.g. أَسْتَعْمِلُ تَطْبِيقًا لِلدِّرَاسَةِ.
Website note: the listening script on the website spells مَنْصَّةً; the read-along slide uses the standard vowelling مِنَصَّةً.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120–140 Arabic words evaluating technology or social media.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يُسَاعِدُ … عَلَى · تُؤَدِّي … إِلَى · يَتَعَرَّضُ … لِـ; the risks إِدْمَانِ الشَّاشَاتِ / مَعْلُومَاتٍ مُضَلِّلَةٍ; the qualified conclusion شَرِيطَةَ أَنْ نَسْتَخْدِمَهَا (ـهَا = technology, feminine).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(TC-L07 · Documents, Texts and Digital Information) will spend class time USING this language, so students prepare it tonight — short, simple, easy to access (school guidance: “Simple, Short, Interesting, Relevant, Easy to access”). The five words come from the website lesson game “Document Detective” and the website P3-L02 travel-documents vocabulary.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8  ·  ADVANCED TOPIC C  ·  WEEK 2  ·  LESSON 3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The Digital World and Communication</a:t>
            </a:r>
            <a:endParaRPr lang="en-US" sz="3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العَالَمُ الرَّقْمِيُّ وَالتَّوَاصُلُ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Discuss devices, platforms, benefits, risks and patterns of use: “I” verbs with their fixed prepositions (</a:t>
            </a:r>
            <a:pPr algn="l" indent="0" marL="0">
              <a:buNone/>
            </a:pPr>
            <a:r>
              <a:rPr lang="ar-SA" altLang="en-US" sz="1800" dirty="0">
                <a:solidFill>
                  <a:srgbClr val="C6D2E6"/>
                </a:solidFill>
                <a:latin typeface="Amiri" pitchFamily="34" charset="0"/>
                <a:ea typeface="Amiri" pitchFamily="34" charset="-122"/>
                <a:cs typeface="Amiri" pitchFamily="34" charset="-120"/>
              </a:rPr>
              <a:t>أَتَفَاعَلُ مَعَ</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أُعَلِّقُ عَلَى</a:t>
            </a:r>
            <a:pPr algn="l" indent="0" marL="0">
              <a:buNone/>
            </a:pPr>
            <a:r>
              <a:rPr lang="en-US" sz="1400" dirty="0">
                <a:solidFill>
                  <a:srgbClr val="C6D2E6"/>
                </a:solidFill>
                <a:latin typeface="Calibri" pitchFamily="34" charset="0"/>
                <a:ea typeface="Calibri" pitchFamily="34" charset="-122"/>
                <a:cs typeface="Calibri" pitchFamily="34" charset="-120"/>
              </a:rPr>
              <a:t>), verbal nouns and a balanced view (</a:t>
            </a:r>
            <a:pPr algn="l" indent="0" marL="0">
              <a:buNone/>
            </a:pPr>
            <a:r>
              <a:rPr lang="ar-SA" altLang="en-US" sz="1800" dirty="0">
                <a:solidFill>
                  <a:srgbClr val="C6D2E6"/>
                </a:solidFill>
                <a:latin typeface="Amiri" pitchFamily="34" charset="0"/>
                <a:ea typeface="Amiri" pitchFamily="34" charset="-122"/>
                <a:cs typeface="Amiri" pitchFamily="34" charset="-120"/>
              </a:rPr>
              <a:t>مِنْ نَاحِيَةٍ … وَمِنْ نَاحِيَةٍ أُخْرَى</a:t>
            </a:r>
            <a:pPr algn="l" indent="0" marL="0">
              <a:buNone/>
            </a:pPr>
            <a:r>
              <a:rPr lang="en-US" sz="1400" dirty="0">
                <a:solidFill>
                  <a:srgbClr val="C6D2E6"/>
                </a:solidFill>
                <a:latin typeface="Calibri" pitchFamily="34" charset="0"/>
                <a:ea typeface="Calibri" pitchFamily="34" charset="-122"/>
                <a:cs typeface="Calibri" pitchFamily="34" charset="-120"/>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TC-L06 · Week 2, lesson 3</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Digital words, “I” verbs and their partner words.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Picture match, build, sort,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TC-L07.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“app”?</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هَاتِفٌ</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تَطْبِيقٌ</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مَوْقِعٌ</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كَلِمَةُ المُرُورِ</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password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message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website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advice.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يَنْبَغِي أَنْ نُقَلِّلُ البِلَاسْتِيكَ.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يَنْبَغِي نُقَلِّلُ البِلَاسْتِيكَ.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يَنْبَغِي أَنْ نُقَلِّلَ البِلَاسْتِيكَ.</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يَتَفَاعَلُ مَعَ</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depends on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leads to</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interacts with</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التَّلَوُّثُ إِلَى أَمْرَاضٍ.</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التَّلَوُّثُ فِي أَمْرَاضٍ.</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التَّلَوُّثُ مَعَ أَمْرَاضٍ.</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“app”?</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هَاتِفٌ</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تَطْبِيقٌ</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مَوْقِعٌ</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تَطْبِيقٌ</a:t>
            </a:r>
            <a:pPr algn="l" indent="0" marL="0">
              <a:buNone/>
            </a:pPr>
            <a:r>
              <a:rPr lang="en-US" sz="1050" i="1" dirty="0">
                <a:solidFill>
                  <a:srgbClr val="8A6D1E"/>
                </a:solidFill>
                <a:latin typeface="Calibri" pitchFamily="34" charset="0"/>
                <a:ea typeface="Calibri" pitchFamily="34" charset="-122"/>
                <a:cs typeface="Calibri" pitchFamily="34" charset="-120"/>
              </a:rPr>
              <a:t> = app · </a:t>
            </a:r>
            <a:pPr algn="l" indent="0" marL="0">
              <a:buNone/>
            </a:pPr>
            <a:r>
              <a:rPr lang="ar-SA" altLang="en-US" sz="1350" dirty="0">
                <a:solidFill>
                  <a:srgbClr val="8A6D1E"/>
                </a:solidFill>
                <a:latin typeface="Amiri" pitchFamily="34" charset="0"/>
                <a:ea typeface="Amiri" pitchFamily="34" charset="-122"/>
                <a:cs typeface="Amiri" pitchFamily="34" charset="-120"/>
              </a:rPr>
              <a:t>هَاتِفٌ</a:t>
            </a:r>
            <a:pPr algn="l" indent="0" marL="0">
              <a:buNone/>
            </a:pPr>
            <a:r>
              <a:rPr lang="en-US" sz="1050" i="1" dirty="0">
                <a:solidFill>
                  <a:srgbClr val="8A6D1E"/>
                </a:solidFill>
                <a:latin typeface="Calibri" pitchFamily="34" charset="0"/>
                <a:ea typeface="Calibri" pitchFamily="34" charset="-122"/>
                <a:cs typeface="Calibri" pitchFamily="34" charset="-120"/>
              </a:rPr>
              <a:t> = phone · </a:t>
            </a:r>
            <a:pPr algn="l" indent="0" marL="0">
              <a:buNone/>
            </a:pPr>
            <a:r>
              <a:rPr lang="ar-SA" altLang="en-US" sz="1350" dirty="0">
                <a:solidFill>
                  <a:srgbClr val="8A6D1E"/>
                </a:solidFill>
                <a:latin typeface="Amiri" pitchFamily="34" charset="0"/>
                <a:ea typeface="Amiri" pitchFamily="34" charset="-122"/>
                <a:cs typeface="Amiri" pitchFamily="34" charset="-120"/>
              </a:rPr>
              <a:t>مَوْقِعٌ</a:t>
            </a:r>
            <a:pPr algn="l" indent="0" marL="0">
              <a:buNone/>
            </a:pPr>
            <a:r>
              <a:rPr lang="en-US" sz="1050" i="1" dirty="0">
                <a:solidFill>
                  <a:srgbClr val="8A6D1E"/>
                </a:solidFill>
                <a:latin typeface="Calibri" pitchFamily="34" charset="0"/>
                <a:ea typeface="Calibri" pitchFamily="34" charset="-122"/>
                <a:cs typeface="Calibri" pitchFamily="34" charset="-120"/>
              </a:rPr>
              <a:t> = website.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كَلِمَةُ المُرُورِ</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password</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message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website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كَلِمَةُ المُرُورِ</a:t>
            </a:r>
            <a:pPr algn="l" indent="0" marL="0">
              <a:buNone/>
            </a:pPr>
            <a:r>
              <a:rPr lang="en-US" sz="1050" i="1" dirty="0">
                <a:solidFill>
                  <a:srgbClr val="8A6D1E"/>
                </a:solidFill>
                <a:latin typeface="Calibri" pitchFamily="34" charset="0"/>
                <a:ea typeface="Calibri" pitchFamily="34" charset="-122"/>
                <a:cs typeface="Calibri" pitchFamily="34" charset="-120"/>
              </a:rPr>
              <a:t> = password.</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advice.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يَنْبَغِي أَنْ نُقَلِّلُ البِلَاسْتِيكَ.</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يَنْبَغِي نُقَلِّلُ البِلَاسْتِيكَ.</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يَنْبَغِي أَنْ نُقَلِّلَ البِلَاسْتِيكَ.</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TC-L05: after </a:t>
            </a:r>
            <a:pPr algn="l" indent="0" marL="0">
              <a:buNone/>
            </a:pPr>
            <a:r>
              <a:rPr lang="ar-SA" altLang="en-US" sz="1350" dirty="0">
                <a:solidFill>
                  <a:srgbClr val="8A6D1E"/>
                </a:solidFill>
                <a:latin typeface="Amiri" pitchFamily="34" charset="0"/>
                <a:ea typeface="Amiri" pitchFamily="34" charset="-122"/>
                <a:cs typeface="Amiri" pitchFamily="34" charset="-120"/>
              </a:rPr>
              <a:t>أَنْ</a:t>
            </a:r>
            <a:pPr algn="l" indent="0" marL="0">
              <a:buNone/>
            </a:pPr>
            <a:r>
              <a:rPr lang="en-US" sz="1050" i="1" dirty="0">
                <a:solidFill>
                  <a:srgbClr val="8A6D1E"/>
                </a:solidFill>
                <a:latin typeface="Calibri" pitchFamily="34" charset="0"/>
                <a:ea typeface="Calibri" pitchFamily="34" charset="-122"/>
                <a:cs typeface="Calibri" pitchFamily="34" charset="-120"/>
              </a:rPr>
              <a:t> the verb ends in a fatḥa.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يَتَفَاعَلُ مَعَ</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depends on</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leads to</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interacts with</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TC-L02: </a:t>
            </a:r>
            <a:pPr algn="l" indent="0" marL="0">
              <a:buNone/>
            </a:pPr>
            <a:r>
              <a:rPr lang="ar-SA" altLang="en-US" sz="1350" dirty="0">
                <a:solidFill>
                  <a:srgbClr val="8A6D1E"/>
                </a:solidFill>
                <a:latin typeface="Amiri" pitchFamily="34" charset="0"/>
                <a:ea typeface="Amiri" pitchFamily="34" charset="-122"/>
                <a:cs typeface="Amiri" pitchFamily="34" charset="-120"/>
              </a:rPr>
              <a:t>يَتَفَاعَلُ</a:t>
            </a:r>
            <a:pPr algn="l" indent="0" marL="0">
              <a:buNone/>
            </a:pPr>
            <a:r>
              <a:rPr lang="en-US" sz="1050" i="1" dirty="0">
                <a:solidFill>
                  <a:srgbClr val="8A6D1E"/>
                </a:solidFill>
                <a:latin typeface="Calibri" pitchFamily="34" charset="0"/>
                <a:ea typeface="Calibri" pitchFamily="34" charset="-122"/>
                <a:cs typeface="Calibri" pitchFamily="34" charset="-120"/>
              </a:rPr>
              <a:t> is always with </a:t>
            </a:r>
            <a:pPr algn="l" indent="0" marL="0">
              <a:buNone/>
            </a:pPr>
            <a:r>
              <a:rPr lang="ar-SA" altLang="en-US" sz="1350" dirty="0">
                <a:solidFill>
                  <a:srgbClr val="8A6D1E"/>
                </a:solidFill>
                <a:latin typeface="Amiri" pitchFamily="34" charset="0"/>
                <a:ea typeface="Amiri" pitchFamily="34" charset="-122"/>
                <a:cs typeface="Amiri" pitchFamily="34" charset="-120"/>
              </a:rPr>
              <a:t>مَعَ</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يُؤَدِّي التَّلَوُّثُ إِلَى أَمْرَاضٍ.</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يُؤَدِّي التَّلَوُّثُ فِي أَمْرَاضٍ.</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يُؤَدِّي التَّلَوُّثُ مَعَ أَمْرَاضٍ.</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TC-L04: </a:t>
            </a:r>
            <a:pPr algn="l" indent="0" marL="0">
              <a:buNone/>
            </a:pPr>
            <a:r>
              <a:rPr lang="ar-SA" altLang="en-US" sz="1350" dirty="0">
                <a:solidFill>
                  <a:srgbClr val="8A6D1E"/>
                </a:solidFill>
                <a:latin typeface="Amiri" pitchFamily="34" charset="0"/>
                <a:ea typeface="Amiri" pitchFamily="34" charset="-122"/>
                <a:cs typeface="Amiri" pitchFamily="34" charset="-120"/>
              </a:rPr>
              <a:t>يُؤَدِّي</a:t>
            </a:r>
            <a:pPr algn="l" indent="0" marL="0">
              <a:buNone/>
            </a:pPr>
            <a:r>
              <a:rPr lang="en-US" sz="1050" i="1" dirty="0">
                <a:solidFill>
                  <a:srgbClr val="8A6D1E"/>
                </a:solidFill>
                <a:latin typeface="Calibri" pitchFamily="34" charset="0"/>
                <a:ea typeface="Calibri" pitchFamily="34" charset="-122"/>
                <a:cs typeface="Calibri" pitchFamily="34" charset="-120"/>
              </a:rPr>
              <a:t> is always with </a:t>
            </a:r>
            <a:pPr algn="l" indent="0" marL="0">
              <a:buNone/>
            </a:pPr>
            <a:r>
              <a:rPr lang="ar-SA" altLang="en-US" sz="1350" dirty="0">
                <a:solidFill>
                  <a:srgbClr val="8A6D1E"/>
                </a:solidFill>
                <a:latin typeface="Amiri" pitchFamily="34" charset="0"/>
                <a:ea typeface="Amiri" pitchFamily="34" charset="-122"/>
                <a:cs typeface="Amiri" pitchFamily="34" charset="-120"/>
              </a:rPr>
              <a:t>إِلَى</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Many verbs have a PARTNER word that never changes: </a:t>
            </a:r>
            <a:pPr algn="l" indent="0" marL="0">
              <a:buNone/>
            </a:pPr>
            <a:r>
              <a:rPr lang="ar-SA" altLang="en-US" sz="1700" b="1" dirty="0">
                <a:solidFill>
                  <a:srgbClr val="1F2A37"/>
                </a:solidFill>
                <a:latin typeface="Amiri" pitchFamily="34" charset="0"/>
                <a:ea typeface="Amiri" pitchFamily="34" charset="-122"/>
                <a:cs typeface="Amiri" pitchFamily="34" charset="-120"/>
              </a:rPr>
              <a:t>يَتَفَاعَلُ مَعَ</a:t>
            </a:r>
            <a:pPr algn="l" indent="0" marL="0">
              <a:buNone/>
            </a:pPr>
            <a:r>
              <a:rPr lang="en-US" sz="1300" b="1" dirty="0">
                <a:solidFill>
                  <a:srgbClr val="1F2A37"/>
                </a:solidFill>
                <a:latin typeface="Calibri" pitchFamily="34" charset="0"/>
                <a:ea typeface="Calibri" pitchFamily="34" charset="-122"/>
                <a:cs typeface="Calibri" pitchFamily="34" charset="-120"/>
              </a:rPr>
              <a:t> · </a:t>
            </a:r>
            <a:pPr algn="l" indent="0" marL="0">
              <a:buNone/>
            </a:pPr>
            <a:r>
              <a:rPr lang="ar-SA" altLang="en-US" sz="1700" b="1" dirty="0">
                <a:solidFill>
                  <a:srgbClr val="1F2A37"/>
                </a:solidFill>
                <a:latin typeface="Amiri" pitchFamily="34" charset="0"/>
                <a:ea typeface="Amiri" pitchFamily="34" charset="-122"/>
                <a:cs typeface="Amiri" pitchFamily="34" charset="-120"/>
              </a:rPr>
              <a:t>يُعَلِّقُ عَلَى</a:t>
            </a:r>
            <a:pPr algn="l" indent="0" marL="0">
              <a:buNone/>
            </a:pPr>
            <a:r>
              <a:rPr lang="en-US" sz="1300" b="1" dirty="0">
                <a:solidFill>
                  <a:srgbClr val="1F2A37"/>
                </a:solidFill>
                <a:latin typeface="Calibri" pitchFamily="34" charset="0"/>
                <a:ea typeface="Calibri" pitchFamily="34" charset="-122"/>
                <a:cs typeface="Calibri" pitchFamily="34" charset="-120"/>
              </a:rPr>
              <a:t> · </a:t>
            </a:r>
            <a:pPr algn="l" indent="0" marL="0">
              <a:buNone/>
            </a:pPr>
            <a:r>
              <a:rPr lang="ar-SA" altLang="en-US" sz="1700" b="1" dirty="0">
                <a:solidFill>
                  <a:srgbClr val="1F2A37"/>
                </a:solidFill>
                <a:latin typeface="Amiri" pitchFamily="34" charset="0"/>
                <a:ea typeface="Amiri" pitchFamily="34" charset="-122"/>
                <a:cs typeface="Amiri" pitchFamily="34" charset="-120"/>
              </a:rPr>
              <a:t>يَبْحَثُ عَنْ</a:t>
            </a:r>
            <a:pPr algn="l" indent="0" marL="0">
              <a:buNone/>
            </a:pPr>
            <a:r>
              <a:rPr lang="en-US" sz="1300" b="1" dirty="0">
                <a:solidFill>
                  <a:srgbClr val="1F2A37"/>
                </a:solidFill>
                <a:latin typeface="Calibri" pitchFamily="34" charset="0"/>
                <a:ea typeface="Calibri" pitchFamily="34" charset="-122"/>
                <a:cs typeface="Calibri" pitchFamily="34" charset="-120"/>
              </a:rPr>
              <a: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أَتَفَاعَلُ </a:t>
            </a:r>
            <a:pPr rtl="1" algn="ctr" indent="0" marL="0">
              <a:buNone/>
            </a:pPr>
            <a:r>
              <a:rPr lang="ar-SA" altLang="en-US" sz="2400" b="1" dirty="0">
                <a:solidFill>
                  <a:srgbClr val="0E7C86"/>
                </a:solidFill>
                <a:latin typeface="Amiri" pitchFamily="34" charset="0"/>
                <a:ea typeface="Amiri" pitchFamily="34" charset="-122"/>
                <a:cs typeface="Amiri" pitchFamily="34" charset="-120"/>
              </a:rPr>
              <a:t>مَعَ</a:t>
            </a:r>
            <a:pPr rtl="1" algn="ctr" indent="0" marL="0">
              <a:buNone/>
            </a:pPr>
            <a:r>
              <a:rPr lang="ar-SA" altLang="en-US" sz="2400" b="1" dirty="0">
                <a:solidFill>
                  <a:srgbClr val="1B3B6F"/>
                </a:solidFill>
                <a:latin typeface="Amiri" pitchFamily="34" charset="0"/>
                <a:ea typeface="Amiri" pitchFamily="34" charset="-122"/>
                <a:cs typeface="Amiri" pitchFamily="34" charset="-120"/>
              </a:rPr>
              <a:t>  ·  أُعَلِّقُ </a:t>
            </a:r>
            <a:pPr rtl="1" algn="ctr" indent="0" marL="0">
              <a:buNone/>
            </a:pPr>
            <a:r>
              <a:rPr lang="ar-SA" altLang="en-US" sz="2400" b="1" dirty="0">
                <a:solidFill>
                  <a:srgbClr val="0E7C86"/>
                </a:solidFill>
                <a:latin typeface="Amiri" pitchFamily="34" charset="0"/>
                <a:ea typeface="Amiri" pitchFamily="34" charset="-122"/>
                <a:cs typeface="Amiri" pitchFamily="34" charset="-120"/>
              </a:rPr>
              <a:t>عَلَى</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3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Understand and use the full lesson vocabulary in connected Arabic.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Explain and apply the target grammar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Extract exact information from listening and reading texts.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Produce a developed intermediate spoken and written response.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6 devices and apps and say what I use them for.</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keep each verb with its partner: </a:t>
            </a:r>
            <a:pPr algn="l" indent="0" marL="0">
              <a:buNone/>
            </a:pPr>
            <a:r>
              <a:rPr lang="ar-SA" altLang="en-US" sz="1700" b="1" dirty="0">
                <a:solidFill>
                  <a:srgbClr val="2E8B57"/>
                </a:solidFill>
                <a:latin typeface="Amiri" pitchFamily="34" charset="0"/>
                <a:ea typeface="Amiri" pitchFamily="34" charset="-122"/>
                <a:cs typeface="Amiri" pitchFamily="34" charset="-120"/>
              </a:rPr>
              <a:t>أَتَفَاعَلُ مَعَ، أُعَلِّقُ عَلَى، أَبْحَثُ عَنْ</a:t>
            </a:r>
            <a:pPr algn="l" indent="0" marL="0">
              <a:buNone/>
            </a:pPr>
            <a:r>
              <a:rPr lang="en-US" sz="1300" b="1" dirty="0">
                <a:solidFill>
                  <a:srgbClr val="2E8B57"/>
                </a:solidFill>
                <a:latin typeface="Calibri" pitchFamily="34" charset="0"/>
                <a:ea typeface="Calibri" pitchFamily="34" charset="-122"/>
                <a:cs typeface="Calibri" pitchFamily="34" charset="-120"/>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give a benefit and a risk with </a:t>
            </a:r>
            <a:pPr algn="l" indent="0" marL="0">
              <a:buNone/>
            </a:pPr>
            <a:r>
              <a:rPr lang="ar-SA" altLang="en-US" sz="1700" b="1" dirty="0">
                <a:solidFill>
                  <a:srgbClr val="C9780A"/>
                </a:solidFill>
                <a:latin typeface="Amiri" pitchFamily="34" charset="0"/>
                <a:ea typeface="Amiri" pitchFamily="34" charset="-122"/>
                <a:cs typeface="Amiri" pitchFamily="34" charset="-120"/>
              </a:rPr>
              <a:t>مِنْ نَاحِيَةٍ … وَمِنْ نَاحِيَةٍ أُخْرَى</a:t>
            </a:r>
            <a:pPr algn="l" indent="0" marL="0">
              <a:buNone/>
            </a:pPr>
            <a:r>
              <a:rPr lang="en-US" sz="1300" b="1" dirty="0">
                <a:solidFill>
                  <a:srgbClr val="C9780A"/>
                </a:solidFill>
                <a:latin typeface="Calibri" pitchFamily="34" charset="0"/>
                <a:ea typeface="Calibri" pitchFamily="34" charset="-122"/>
                <a:cs typeface="Calibri" pitchFamily="34" charset="-120"/>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verbal nouns: </a:t>
            </a:r>
            <a:pPr algn="l" indent="0" marL="0">
              <a:buNone/>
            </a:pPr>
            <a:r>
              <a:rPr lang="ar-SA" altLang="en-US" sz="1700" b="1" dirty="0">
                <a:solidFill>
                  <a:srgbClr val="C9780A"/>
                </a:solidFill>
                <a:latin typeface="Amiri" pitchFamily="34" charset="0"/>
                <a:ea typeface="Amiri" pitchFamily="34" charset="-122"/>
                <a:cs typeface="Amiri" pitchFamily="34" charset="-120"/>
              </a:rPr>
              <a:t>اسْتِخْدَامٌ، تَعَلُّمٌ، نَشْرٌ</a:t>
            </a:r>
            <a:pPr algn="l" indent="0" marL="0">
              <a:buNone/>
            </a:pPr>
            <a:r>
              <a:rPr lang="en-US" sz="1300" b="1" dirty="0">
                <a:solidFill>
                  <a:srgbClr val="C9780A"/>
                </a:solidFill>
                <a:latin typeface="Calibri" pitchFamily="34" charset="0"/>
                <a:ea typeface="Calibri" pitchFamily="34" charset="-122"/>
                <a:cs typeface="Calibri" pitchFamily="34" charset="-120"/>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refer back with </a:t>
            </a:r>
            <a:pPr algn="l" indent="0" marL="0">
              <a:buNone/>
            </a:pPr>
            <a:r>
              <a:rPr lang="ar-SA" altLang="en-US" sz="1700" b="1" dirty="0">
                <a:solidFill>
                  <a:srgbClr val="B83227"/>
                </a:solidFill>
                <a:latin typeface="Amiri" pitchFamily="34" charset="0"/>
                <a:ea typeface="Amiri" pitchFamily="34" charset="-122"/>
                <a:cs typeface="Amiri" pitchFamily="34" charset="-120"/>
              </a:rPr>
              <a:t>عَلَيْهِ / فِيهَا</a:t>
            </a:r>
            <a:pPr algn="l" indent="0" marL="0">
              <a:buNone/>
            </a:pPr>
            <a:r>
              <a:rPr lang="en-US" sz="1300" b="1" dirty="0">
                <a:solidFill>
                  <a:srgbClr val="B83227"/>
                </a:solidFill>
                <a:latin typeface="Calibri" pitchFamily="34" charset="0"/>
                <a:ea typeface="Calibri" pitchFamily="34" charset="-122"/>
                <a:cs typeface="Calibri" pitchFamily="34" charset="-120"/>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qualify an opinion with </a:t>
            </a:r>
            <a:pPr algn="l" indent="0" marL="0">
              <a:buNone/>
            </a:pPr>
            <a:r>
              <a:rPr lang="ar-SA" altLang="en-US" sz="1700" b="1" dirty="0">
                <a:solidFill>
                  <a:srgbClr val="B83227"/>
                </a:solidFill>
                <a:latin typeface="Amiri" pitchFamily="34" charset="0"/>
                <a:ea typeface="Amiri" pitchFamily="34" charset="-122"/>
                <a:cs typeface="Amiri" pitchFamily="34" charset="-120"/>
              </a:rPr>
              <a:t>شَرِيطَةَ أَنْ</a:t>
            </a:r>
            <a:pPr algn="l" indent="0" marL="0">
              <a:buNone/>
            </a:pPr>
            <a:r>
              <a:rPr lang="en-US" sz="1300" b="1" dirty="0">
                <a:solidFill>
                  <a:srgbClr val="B83227"/>
                </a:solidFill>
                <a:latin typeface="Calibri" pitchFamily="34" charset="0"/>
                <a:ea typeface="Calibri" pitchFamily="34" charset="-122"/>
                <a:cs typeface="Calibri" pitchFamily="34" charset="-120"/>
              </a:rPr>
              <a:t> …</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30 words from the website in 5 groups. Learn the CORE words first. Hear it → say it → see it → use it.</a:t>
            </a:r>
            <a:endParaRPr lang="en-US" sz="1600" dirty="0"/>
          </a:p>
        </p:txBody>
      </p:sp>
      <p:sp>
        <p:nvSpPr>
          <p:cNvPr id="8" name="Shape 6"/>
          <p:cNvSpPr/>
          <p:nvPr/>
        </p:nvSpPr>
        <p:spPr>
          <a:xfrm>
            <a:off x="457200" y="4572000"/>
            <a:ext cx="14630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Devices and apps · 6</a:t>
            </a:r>
            <a:endParaRPr lang="en-US" sz="900" dirty="0"/>
          </a:p>
        </p:txBody>
      </p:sp>
      <p:sp>
        <p:nvSpPr>
          <p:cNvPr id="10" name="Shape 8"/>
          <p:cNvSpPr/>
          <p:nvPr/>
        </p:nvSpPr>
        <p:spPr>
          <a:xfrm>
            <a:off x="2057400" y="4572000"/>
            <a:ext cx="14630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1945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Online world · 6</a:t>
            </a:r>
            <a:endParaRPr lang="en-US" sz="900" dirty="0"/>
          </a:p>
        </p:txBody>
      </p:sp>
      <p:sp>
        <p:nvSpPr>
          <p:cNvPr id="12" name="Shape 10"/>
          <p:cNvSpPr/>
          <p:nvPr/>
        </p:nvSpPr>
        <p:spPr>
          <a:xfrm>
            <a:off x="3657600" y="4572000"/>
            <a:ext cx="14630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37947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Online actions · 10</a:t>
            </a:r>
            <a:endParaRPr lang="en-US" sz="900" dirty="0"/>
          </a:p>
        </p:txBody>
      </p:sp>
      <p:sp>
        <p:nvSpPr>
          <p:cNvPr id="14" name="Shape 12"/>
          <p:cNvSpPr/>
          <p:nvPr/>
        </p:nvSpPr>
        <p:spPr>
          <a:xfrm>
            <a:off x="5257800" y="4572000"/>
            <a:ext cx="146304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53949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4</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Benefits and risks · 6</a:t>
            </a:r>
            <a:endParaRPr lang="en-US" sz="900" dirty="0"/>
          </a:p>
        </p:txBody>
      </p:sp>
      <p:sp>
        <p:nvSpPr>
          <p:cNvPr id="16" name="Shape 14"/>
          <p:cNvSpPr/>
          <p:nvPr/>
        </p:nvSpPr>
        <p:spPr>
          <a:xfrm>
            <a:off x="6858000" y="4572000"/>
            <a:ext cx="1463040" cy="960120"/>
          </a:xfrm>
          <a:prstGeom prst="roundRect">
            <a:avLst>
              <a:gd name="adj" fmla="val 7619"/>
            </a:avLst>
          </a:prstGeom>
          <a:solidFill>
            <a:srgbClr val="16335F"/>
          </a:solidFill>
          <a:ln w="12700">
            <a:solidFill>
              <a:srgbClr val="2A4B7C"/>
            </a:solidFill>
            <a:prstDash val="solid"/>
          </a:ln>
        </p:spPr>
      </p:sp>
      <p:sp>
        <p:nvSpPr>
          <p:cNvPr id="17" name="Text 15"/>
          <p:cNvSpPr txBox="1"/>
          <p:nvPr/>
        </p:nvSpPr>
        <p:spPr>
          <a:xfrm>
            <a:off x="69951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5</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Verbal nouns · 5</a:t>
            </a:r>
            <a:endParaRPr lang="en-US" sz="900" dirty="0"/>
          </a:p>
        </p:txBody>
      </p:sp>
      <p:sp>
        <p:nvSpPr>
          <p:cNvPr id="18" name="Shape 16"/>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9" name="Text 17"/>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20" name="Text 18"/>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مَعْلُومَاتٌ</a:t>
            </a:r>
            <a:endParaRPr lang="ar-SA" sz="1900" dirty="0"/>
          </a:p>
        </p:txBody>
      </p:sp>
      <p:sp>
        <p:nvSpPr>
          <p:cNvPr id="21" name="Text 19"/>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‎معلومات‎ </a:t>
            </a:r>
            <a:pPr indent="0" marL="0">
              <a:buNone/>
            </a:pPr>
            <a:r>
              <a:rPr lang="en-US" sz="950" b="1" dirty="0">
                <a:solidFill>
                  <a:srgbClr val="2E8B57"/>
                </a:solidFill>
                <a:latin typeface="Calibri" pitchFamily="34" charset="0"/>
                <a:ea typeface="Calibri" pitchFamily="34" charset="-122"/>
                <a:cs typeface="Calibri" pitchFamily="34" charset="-120"/>
              </a:rPr>
              <a:t> maʿlūmāt · information</a:t>
            </a:r>
            <a:endParaRPr lang="en-US" sz="1400" dirty="0"/>
          </a:p>
        </p:txBody>
      </p:sp>
      <p:sp>
        <p:nvSpPr>
          <p:cNvPr id="22" name="Text 20"/>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تَعَلُّمٌ</a:t>
            </a:r>
            <a:endParaRPr lang="ar-SA" sz="1900" dirty="0"/>
          </a:p>
        </p:txBody>
      </p:sp>
      <p:sp>
        <p:nvSpPr>
          <p:cNvPr id="23" name="Text 21"/>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‎تعلیم‎ </a:t>
            </a:r>
            <a:pPr indent="0" marL="0">
              <a:buNone/>
            </a:pPr>
            <a:r>
              <a:rPr lang="en-US" sz="950" b="1" dirty="0">
                <a:solidFill>
                  <a:srgbClr val="2E8B57"/>
                </a:solidFill>
                <a:latin typeface="Calibri" pitchFamily="34" charset="0"/>
                <a:ea typeface="Calibri" pitchFamily="34" charset="-122"/>
                <a:cs typeface="Calibri" pitchFamily="34" charset="-120"/>
              </a:rPr>
              <a:t> taʿlīm · learning</a:t>
            </a:r>
            <a:endParaRPr lang="en-US" sz="1400" dirty="0"/>
          </a:p>
        </p:txBody>
      </p:sp>
      <p:sp>
        <p:nvSpPr>
          <p:cNvPr id="24" name="Text 22"/>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صِحَّةٌ</a:t>
            </a:r>
            <a:endParaRPr lang="ar-SA" sz="1900" dirty="0"/>
          </a:p>
        </p:txBody>
      </p:sp>
      <p:sp>
        <p:nvSpPr>
          <p:cNvPr id="25" name="Text 23"/>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‎صحت‎ </a:t>
            </a:r>
            <a:pPr indent="0" marL="0">
              <a:buNone/>
            </a:pPr>
            <a:r>
              <a:rPr lang="en-US" sz="950" b="1" dirty="0">
                <a:solidFill>
                  <a:srgbClr val="2E8B57"/>
                </a:solidFill>
                <a:latin typeface="Calibri" pitchFamily="34" charset="0"/>
                <a:ea typeface="Calibri" pitchFamily="34" charset="-122"/>
                <a:cs typeface="Calibri" pitchFamily="34" charset="-120"/>
              </a:rPr>
              <a:t> sehat · health</a:t>
            </a:r>
            <a:endParaRPr lang="en-US" sz="1400" dirty="0"/>
          </a:p>
        </p:txBody>
      </p:sp>
      <p:sp>
        <p:nvSpPr>
          <p:cNvPr id="26" name="Text 24"/>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مُفِيدٌ</a:t>
            </a:r>
            <a:endParaRPr lang="ar-SA" sz="1900" dirty="0"/>
          </a:p>
        </p:txBody>
      </p:sp>
      <p:sp>
        <p:nvSpPr>
          <p:cNvPr id="27" name="Text 25"/>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‎مفید‎ </a:t>
            </a:r>
            <a:pPr indent="0" marL="0">
              <a:buNone/>
            </a:pPr>
            <a:r>
              <a:rPr lang="en-US" sz="950" b="1" dirty="0">
                <a:solidFill>
                  <a:srgbClr val="2E8B57"/>
                </a:solidFill>
                <a:latin typeface="Calibri" pitchFamily="34" charset="0"/>
                <a:ea typeface="Calibri" pitchFamily="34" charset="-122"/>
                <a:cs typeface="Calibri" pitchFamily="34" charset="-120"/>
              </a:rPr>
              <a:t> mufīd · useful</a:t>
            </a:r>
            <a:endParaRPr lang="en-US" sz="1400" dirty="0"/>
          </a:p>
        </p:txBody>
      </p:sp>
      <p:sp>
        <p:nvSpPr>
          <p:cNvPr id="28" name="Text 26"/>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مَخَاطِرُ</a:t>
            </a:r>
            <a:endParaRPr lang="ar-SA" sz="1900" dirty="0"/>
          </a:p>
        </p:txBody>
      </p:sp>
      <p:sp>
        <p:nvSpPr>
          <p:cNvPr id="29" name="Text 27"/>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‎خطرات‎ </a:t>
            </a:r>
            <a:pPr indent="0" marL="0">
              <a:buNone/>
            </a:pPr>
            <a:r>
              <a:rPr lang="en-US" sz="950" b="1" dirty="0">
                <a:solidFill>
                  <a:srgbClr val="2E8B57"/>
                </a:solidFill>
                <a:latin typeface="Calibri" pitchFamily="34" charset="0"/>
                <a:ea typeface="Calibri" pitchFamily="34" charset="-122"/>
                <a:cs typeface="Calibri" pitchFamily="34" charset="-120"/>
              </a:rPr>
              <a:t> khatrāt · risks</a:t>
            </a:r>
            <a:endParaRPr lang="en-US" sz="140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Devices and apps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الأَجْهِزَةُ وَالتَّطْبِيقَاتُ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 (game)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هَاتِفٌ</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phone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hā-tif · pl. ha-wā-tif</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هَاتِفٌ</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هَوَاتِفُ</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1269187"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 (game)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حَاسُوبٌ</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computer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ḥā-sūb · pl. ḥa-wā-sīb</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حَاسُوبٌ</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حَوَاسِيبُ</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(game)</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الإِنْتَرْنِتُ</a:t>
            </a:r>
            <a:endParaRPr lang="ar-SA" sz="3000" dirty="0"/>
          </a:p>
        </p:txBody>
      </p:sp>
      <p:sp>
        <p:nvSpPr>
          <p:cNvPr id="53" name="Text 5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 internet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al-in-tar-nit</a:t>
            </a:r>
            <a:endParaRPr lang="en-US" sz="1350" dirty="0"/>
          </a:p>
        </p:txBody>
      </p:sp>
      <p:sp>
        <p:nvSpPr>
          <p:cNvPr id="54" name="Text 5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34" charset="0"/>
                <a:ea typeface="Amiri" pitchFamily="34" charset="-122"/>
                <a:cs typeface="Amiri" pitchFamily="34" charset="-120"/>
              </a:rPr>
              <a:t>عَبْرَ الإِنْتَرْنِتِ</a:t>
            </a:r>
            <a:pPr algn="l" indent="0" marL="0">
              <a:buNone/>
            </a:pPr>
            <a:r>
              <a:rPr lang="en-US" sz="1000" i="1" dirty="0">
                <a:solidFill>
                  <a:srgbClr val="8A6D1E"/>
                </a:solidFill>
                <a:latin typeface="Calibri" pitchFamily="34" charset="0"/>
                <a:ea typeface="Calibri" pitchFamily="34" charset="-122"/>
                <a:cs typeface="Calibri" pitchFamily="34" charset="-120"/>
              </a:rPr>
              <a:t> = online, via the internet</a:t>
            </a:r>
            <a:endParaRPr lang="en-US" sz="1000" dirty="0"/>
          </a:p>
        </p:txBody>
      </p:sp>
      <p:sp>
        <p:nvSpPr>
          <p:cNvPr id="55" name="Shape 5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211312"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58" name="Shape 55"/>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60" name="Shape 5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2" name="Text 5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تَطْبِيقٌ</a:t>
            </a:r>
            <a:endParaRPr lang="ar-SA" sz="3000" dirty="0"/>
          </a:p>
        </p:txBody>
      </p:sp>
      <p:sp>
        <p:nvSpPr>
          <p:cNvPr id="63" name="Text 6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app</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taṭ-bīq · pl. taṭ-bī-qāt</a:t>
            </a:r>
            <a:endParaRPr lang="en-US" sz="1350" dirty="0"/>
          </a:p>
        </p:txBody>
      </p:sp>
      <p:sp>
        <p:nvSpPr>
          <p:cNvPr id="64" name="Shape 61"/>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66" name="Text 63"/>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تَطْبِيقٌ</a:t>
            </a:r>
            <a:endParaRPr lang="ar-SA" sz="1500" dirty="0"/>
          </a:p>
        </p:txBody>
      </p:sp>
      <p:sp>
        <p:nvSpPr>
          <p:cNvPr id="67" name="Shape 64"/>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69" name="Text 66"/>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تَطْبِيقَاتٌ</a:t>
            </a:r>
            <a:endParaRPr lang="ar-SA" sz="1500" dirty="0"/>
          </a:p>
        </p:txBody>
      </p:sp>
      <p:sp>
        <p:nvSpPr>
          <p:cNvPr id="70" name="Shape 6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389120"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3" name="Shape 70"/>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74" name="Text 71"/>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75" name="Shape 7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77" name="Text 74"/>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مَوْقِعٌ </a:t>
            </a:r>
            <a:pPr rtl="1" algn="r" indent="0" marL="0">
              <a:buNone/>
            </a:pPr>
            <a:r>
              <a:rPr lang="ar-SA" altLang="en-US" sz="3000" b="1" dirty="0">
                <a:solidFill>
                  <a:srgbClr val="7B3FA0"/>
                </a:solidFill>
                <a:latin typeface="Amiri" pitchFamily="34" charset="0"/>
                <a:ea typeface="Amiri" pitchFamily="34" charset="-122"/>
                <a:cs typeface="Amiri" pitchFamily="34" charset="-120"/>
              </a:rPr>
              <a:t>إِلِكْتُرُونِ</a:t>
            </a:r>
            <a:pPr rtl="1" algn="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78" name="Text 75"/>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website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maw-qiʿ i-lik-tru-niyy · pl. ma-wā-qiʿ</a:t>
            </a:r>
            <a:endParaRPr lang="en-US" sz="1350" dirty="0"/>
          </a:p>
        </p:txBody>
      </p:sp>
      <p:sp>
        <p:nvSpPr>
          <p:cNvPr id="79" name="Shape 76"/>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81" name="Text 78"/>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مَوْقِعٌ</a:t>
            </a:r>
            <a:endParaRPr lang="ar-SA" sz="1500" dirty="0"/>
          </a:p>
        </p:txBody>
      </p:sp>
      <p:sp>
        <p:nvSpPr>
          <p:cNvPr id="82" name="Shape 79"/>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84" name="Text 81"/>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مَوَاقِعُ</a:t>
            </a:r>
            <a:endParaRPr lang="ar-SA" sz="1500" dirty="0"/>
          </a:p>
        </p:txBody>
      </p:sp>
      <p:sp>
        <p:nvSpPr>
          <p:cNvPr id="85" name="Shape 8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566928"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88" name="Shape 85"/>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90" name="Shape 8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1" name="Text 8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92" name="Text 8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كَلِمَةُ المُرُورِ</a:t>
            </a:r>
            <a:endParaRPr lang="ar-SA" sz="3000" dirty="0"/>
          </a:p>
        </p:txBody>
      </p:sp>
      <p:sp>
        <p:nvSpPr>
          <p:cNvPr id="93" name="Text 9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password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ka-li-mat al-mu-rūr</a:t>
            </a:r>
            <a:endParaRPr lang="en-US" sz="1350" dirty="0"/>
          </a:p>
        </p:txBody>
      </p:sp>
      <p:sp>
        <p:nvSpPr>
          <p:cNvPr id="94" name="Text 91"/>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Also: </a:t>
            </a:r>
            <a:pPr algn="l" indent="0" marL="0">
              <a:buNone/>
            </a:pPr>
            <a:r>
              <a:rPr lang="ar-SA" altLang="en-US" sz="1300" dirty="0">
                <a:solidFill>
                  <a:srgbClr val="8A6D1E"/>
                </a:solidFill>
                <a:latin typeface="Amiri" pitchFamily="34" charset="0"/>
                <a:ea typeface="Amiri" pitchFamily="34" charset="-122"/>
                <a:cs typeface="Amiri" pitchFamily="34" charset="-120"/>
              </a:rPr>
              <a:t>كَلِمَةُ السِّرِّ</a:t>
            </a:r>
            <a:endParaRPr lang="en-US" sz="10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The online world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العَالَمُ الرَّقْمِيُّ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مِنَصَّةٌ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platform</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mi-naṣ-ṣa · pl. mi-naṣ-ṣāt</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مِنَصَّةٌ</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7" name="Text 24"/>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مِنَصَّاتٌ</a:t>
            </a:r>
            <a:endParaRPr lang="ar-SA" sz="150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31" name="Shape 28"/>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phrase</a:t>
            </a:r>
            <a:endParaRPr lang="en-US" sz="800" dirty="0"/>
          </a:p>
        </p:txBody>
      </p:sp>
      <p:sp>
        <p:nvSpPr>
          <p:cNvPr id="33" name="Text 3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التَّعَلُّمُ عَنْ بُعْدٍ</a:t>
            </a:r>
            <a:endParaRPr lang="ar-SA" sz="3000" dirty="0"/>
          </a:p>
        </p:txBody>
      </p:sp>
      <p:sp>
        <p:nvSpPr>
          <p:cNvPr id="34" name="Text 3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distance learning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at-ta-ʿal-lum ʿan buʿd</a:t>
            </a:r>
            <a:endParaRPr lang="en-US" sz="135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38" name="Shape 35"/>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الذَّكَاءُ </a:t>
            </a:r>
            <a:pPr rtl="1" algn="r" indent="0" marL="0">
              <a:buNone/>
            </a:pPr>
            <a:r>
              <a:rPr lang="ar-SA" altLang="en-US" sz="3000" b="1" dirty="0">
                <a:solidFill>
                  <a:srgbClr val="7B3FA0"/>
                </a:solidFill>
                <a:latin typeface="Amiri" pitchFamily="34" charset="0"/>
                <a:ea typeface="Amiri" pitchFamily="34" charset="-122"/>
                <a:cs typeface="Amiri" pitchFamily="34" charset="-120"/>
              </a:rPr>
              <a:t>الاصْطِنَاعِ</a:t>
            </a:r>
            <a:pPr rtl="1" algn="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artificial intelligence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adh-dha-kāʾ al-iṣ-ṭi-nā-ʿiyy</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45" name="Shape 42"/>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شَبَكَةٌ </a:t>
            </a:r>
            <a:pPr rtl="1" algn="r" indent="0" marL="0">
              <a:buNone/>
            </a:pPr>
            <a:r>
              <a:rPr lang="ar-SA" altLang="en-US" sz="3000" b="1" dirty="0">
                <a:solidFill>
                  <a:srgbClr val="7B3FA0"/>
                </a:solidFill>
                <a:latin typeface="Amiri" pitchFamily="34" charset="0"/>
                <a:ea typeface="Amiri" pitchFamily="34" charset="-122"/>
                <a:cs typeface="Amiri" pitchFamily="34" charset="-120"/>
              </a:rPr>
              <a:t>اجْتِمَاعِ</a:t>
            </a:r>
            <a:pPr rtl="1" algn="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social network</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sha-ba-ka ij-ti-mā-ʿiy-ya</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52" name="Shape 49"/>
          <p:cNvSpPr/>
          <p:nvPr/>
        </p:nvSpPr>
        <p:spPr>
          <a:xfrm>
            <a:off x="4782312" y="4279392"/>
            <a:ext cx="1269187"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4782312"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54" name="Text 5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بَثٌّ مُبَاشِرٌ</a:t>
            </a:r>
            <a:endParaRPr lang="ar-SA" sz="3000" dirty="0"/>
          </a:p>
        </p:txBody>
      </p:sp>
      <p:sp>
        <p:nvSpPr>
          <p:cNvPr id="55" name="Text 5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live stream</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baththun mu-bā-shir</a:t>
            </a:r>
            <a:endParaRPr lang="en-US" sz="1350" dirty="0"/>
          </a:p>
        </p:txBody>
      </p:sp>
      <p:sp>
        <p:nvSpPr>
          <p:cNvPr id="56" name="Shape 5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66928"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59" name="Shape 56"/>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61" name="Text 5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مُدَوَّنَةٌ</a:t>
            </a:r>
            <a:endParaRPr lang="ar-SA" sz="3000" dirty="0"/>
          </a:p>
        </p:txBody>
      </p:sp>
      <p:sp>
        <p:nvSpPr>
          <p:cNvPr id="62" name="Text 5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blog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mu-daw-wa-na</a:t>
            </a:r>
            <a:endParaRPr lang="en-US"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ONLINE ACTIONS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Online actions: he → I</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أَفْعَالٌ رَقْمِيَّةٌ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8738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Verb (he)</a:t>
            </a:r>
            <a:endParaRPr lang="en-US" sz="1100" dirty="0"/>
          </a:p>
        </p:txBody>
      </p:sp>
      <p:sp>
        <p:nvSpPr>
          <p:cNvPr id="17" name="Text 14"/>
          <p:cNvSpPr txBox="1"/>
          <p:nvPr/>
        </p:nvSpPr>
        <p:spPr>
          <a:xfrm>
            <a:off x="622706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18" name="Text 15"/>
          <p:cNvSpPr txBox="1"/>
          <p:nvPr/>
        </p:nvSpPr>
        <p:spPr>
          <a:xfrm>
            <a:off x="348386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 form</a:t>
            </a:r>
            <a:endParaRPr lang="en-US" sz="1100" dirty="0"/>
          </a:p>
        </p:txBody>
      </p:sp>
      <p:sp>
        <p:nvSpPr>
          <p:cNvPr id="19" name="Text 16"/>
          <p:cNvSpPr txBox="1"/>
          <p:nvPr/>
        </p:nvSpPr>
        <p:spPr>
          <a:xfrm>
            <a:off x="530352" y="1810512"/>
            <a:ext cx="2807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Partner word</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805672" y="2286000"/>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7B3FA0"/>
                </a:solidFill>
                <a:latin typeface="Amiri" pitchFamily="34" charset="0"/>
                <a:ea typeface="Amiri" pitchFamily="34" charset="-122"/>
                <a:cs typeface="Amiri" pitchFamily="34" charset="-120"/>
              </a:rPr>
              <a:t>رْسِلُ</a:t>
            </a:r>
            <a:endParaRPr lang="ar-SA" sz="2100" dirty="0"/>
          </a:p>
        </p:txBody>
      </p:sp>
      <p:sp>
        <p:nvSpPr>
          <p:cNvPr id="22" name="Text 19"/>
          <p:cNvSpPr txBox="1"/>
          <p:nvPr/>
        </p:nvSpPr>
        <p:spPr>
          <a:xfrm>
            <a:off x="8759952" y="2706624"/>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yur-si-lu</a:t>
            </a:r>
            <a:endParaRPr lang="en-US" sz="950" dirty="0"/>
          </a:p>
        </p:txBody>
      </p:sp>
      <p:sp>
        <p:nvSpPr>
          <p:cNvPr id="23" name="Text 20"/>
          <p:cNvSpPr txBox="1"/>
          <p:nvPr/>
        </p:nvSpPr>
        <p:spPr>
          <a:xfrm>
            <a:off x="6263640" y="2267712"/>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sends</a:t>
            </a:r>
            <a:endParaRPr lang="en-US" sz="1100" dirty="0"/>
          </a:p>
        </p:txBody>
      </p:sp>
      <p:sp>
        <p:nvSpPr>
          <p:cNvPr id="24" name="Text 21"/>
          <p:cNvSpPr txBox="1"/>
          <p:nvPr/>
        </p:nvSpPr>
        <p:spPr>
          <a:xfrm>
            <a:off x="3502152" y="2267712"/>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أُ</a:t>
            </a:r>
            <a:pPr rtl="1" algn="ctr" indent="0" marL="0">
              <a:buNone/>
            </a:pPr>
            <a:r>
              <a:rPr lang="ar-SA" altLang="en-US" sz="2200" b="1" dirty="0">
                <a:solidFill>
                  <a:srgbClr val="7B3FA0"/>
                </a:solidFill>
                <a:latin typeface="Amiri" pitchFamily="34" charset="0"/>
                <a:ea typeface="Amiri" pitchFamily="34" charset="-122"/>
                <a:cs typeface="Amiri" pitchFamily="34" charset="-120"/>
              </a:rPr>
              <a:t>رْسِلُ</a:t>
            </a:r>
            <a:endParaRPr lang="ar-SA" sz="2200" dirty="0"/>
          </a:p>
        </p:txBody>
      </p:sp>
      <p:sp>
        <p:nvSpPr>
          <p:cNvPr id="25" name="Text 22"/>
          <p:cNvSpPr txBox="1"/>
          <p:nvPr/>
        </p:nvSpPr>
        <p:spPr>
          <a:xfrm>
            <a:off x="566928" y="2267712"/>
            <a:ext cx="277063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إِلَى</a:t>
            </a:r>
            <a:pPr algn="l" indent="0" marL="0">
              <a:buNone/>
            </a:pPr>
            <a:r>
              <a:rPr lang="en-US" sz="1100" i="1" dirty="0">
                <a:solidFill>
                  <a:srgbClr val="5A6472"/>
                </a:solidFill>
                <a:latin typeface="Calibri" pitchFamily="34" charset="0"/>
                <a:ea typeface="Calibri" pitchFamily="34" charset="-122"/>
                <a:cs typeface="Calibri" pitchFamily="34" charset="-120"/>
              </a:rPr>
              <a:t> (to someone)</a:t>
            </a:r>
            <a:endParaRPr lang="en-US" sz="1100" dirty="0"/>
          </a:p>
        </p:txBody>
      </p:sp>
      <p:sp>
        <p:nvSpPr>
          <p:cNvPr id="26" name="Shape 23"/>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8" name="Shape 25"/>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9" name="Text 26"/>
          <p:cNvSpPr txBox="1"/>
          <p:nvPr/>
        </p:nvSpPr>
        <p:spPr>
          <a:xfrm>
            <a:off x="8805672" y="3072384"/>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7B3FA0"/>
                </a:solidFill>
                <a:latin typeface="Amiri" pitchFamily="34" charset="0"/>
                <a:ea typeface="Amiri" pitchFamily="34" charset="-122"/>
                <a:cs typeface="Amiri" pitchFamily="34" charset="-120"/>
              </a:rPr>
              <a:t>نْشُرُ</a:t>
            </a:r>
            <a:endParaRPr lang="ar-SA" sz="2100" dirty="0"/>
          </a:p>
        </p:txBody>
      </p:sp>
      <p:sp>
        <p:nvSpPr>
          <p:cNvPr id="30" name="Text 27"/>
          <p:cNvSpPr txBox="1"/>
          <p:nvPr/>
        </p:nvSpPr>
        <p:spPr>
          <a:xfrm>
            <a:off x="8759952" y="3493008"/>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yan-shu-ru</a:t>
            </a:r>
            <a:endParaRPr lang="en-US" sz="950" dirty="0"/>
          </a:p>
        </p:txBody>
      </p:sp>
      <p:sp>
        <p:nvSpPr>
          <p:cNvPr id="31" name="Text 28"/>
          <p:cNvSpPr txBox="1"/>
          <p:nvPr/>
        </p:nvSpPr>
        <p:spPr>
          <a:xfrm>
            <a:off x="6263640" y="3054096"/>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posts, publishes</a:t>
            </a:r>
            <a:endParaRPr lang="en-US" sz="1100" dirty="0"/>
          </a:p>
        </p:txBody>
      </p:sp>
      <p:sp>
        <p:nvSpPr>
          <p:cNvPr id="32" name="Text 29"/>
          <p:cNvSpPr txBox="1"/>
          <p:nvPr/>
        </p:nvSpPr>
        <p:spPr>
          <a:xfrm>
            <a:off x="3502152" y="3054096"/>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أَ</a:t>
            </a:r>
            <a:pPr rtl="1" algn="ctr" indent="0" marL="0">
              <a:buNone/>
            </a:pPr>
            <a:r>
              <a:rPr lang="ar-SA" altLang="en-US" sz="2200" b="1" dirty="0">
                <a:solidFill>
                  <a:srgbClr val="7B3FA0"/>
                </a:solidFill>
                <a:latin typeface="Amiri" pitchFamily="34" charset="0"/>
                <a:ea typeface="Amiri" pitchFamily="34" charset="-122"/>
                <a:cs typeface="Amiri" pitchFamily="34" charset="-120"/>
              </a:rPr>
              <a:t>نْشُرُ</a:t>
            </a:r>
            <a:endParaRPr lang="ar-SA" sz="2200" dirty="0"/>
          </a:p>
        </p:txBody>
      </p:sp>
      <p:sp>
        <p:nvSpPr>
          <p:cNvPr id="33" name="Text 30"/>
          <p:cNvSpPr txBox="1"/>
          <p:nvPr/>
        </p:nvSpPr>
        <p:spPr>
          <a:xfrm>
            <a:off x="566928" y="3054096"/>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t>
            </a:r>
            <a:endParaRPr lang="en-US" sz="1100" dirty="0"/>
          </a:p>
        </p:txBody>
      </p:sp>
      <p:sp>
        <p:nvSpPr>
          <p:cNvPr id="34" name="Shape 31"/>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6" name="Shape 33"/>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7" name="Text 34"/>
          <p:cNvSpPr txBox="1"/>
          <p:nvPr/>
        </p:nvSpPr>
        <p:spPr>
          <a:xfrm>
            <a:off x="8805672" y="3858768"/>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7B3FA0"/>
                </a:solidFill>
                <a:latin typeface="Amiri" pitchFamily="34" charset="0"/>
                <a:ea typeface="Amiri" pitchFamily="34" charset="-122"/>
                <a:cs typeface="Amiri" pitchFamily="34" charset="-120"/>
              </a:rPr>
              <a:t>حَمِّلُ</a:t>
            </a:r>
            <a:endParaRPr lang="ar-SA" sz="2100" dirty="0"/>
          </a:p>
        </p:txBody>
      </p:sp>
      <p:sp>
        <p:nvSpPr>
          <p:cNvPr id="38" name="Text 35"/>
          <p:cNvSpPr txBox="1"/>
          <p:nvPr/>
        </p:nvSpPr>
        <p:spPr>
          <a:xfrm>
            <a:off x="8759952" y="4279392"/>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yu-ḥam-mi-lu</a:t>
            </a:r>
            <a:endParaRPr lang="en-US" sz="950" dirty="0"/>
          </a:p>
        </p:txBody>
      </p:sp>
      <p:sp>
        <p:nvSpPr>
          <p:cNvPr id="39" name="Text 36"/>
          <p:cNvSpPr txBox="1"/>
          <p:nvPr/>
        </p:nvSpPr>
        <p:spPr>
          <a:xfrm>
            <a:off x="6263640" y="3840480"/>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uploads</a:t>
            </a:r>
            <a:endParaRPr lang="en-US" sz="1100" dirty="0"/>
          </a:p>
        </p:txBody>
      </p:sp>
      <p:sp>
        <p:nvSpPr>
          <p:cNvPr id="40" name="Text 37"/>
          <p:cNvSpPr txBox="1"/>
          <p:nvPr/>
        </p:nvSpPr>
        <p:spPr>
          <a:xfrm>
            <a:off x="3502152" y="3840480"/>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أُ</a:t>
            </a:r>
            <a:pPr rtl="1" algn="ctr" indent="0" marL="0">
              <a:buNone/>
            </a:pPr>
            <a:r>
              <a:rPr lang="ar-SA" altLang="en-US" sz="2200" b="1" dirty="0">
                <a:solidFill>
                  <a:srgbClr val="7B3FA0"/>
                </a:solidFill>
                <a:latin typeface="Amiri" pitchFamily="34" charset="0"/>
                <a:ea typeface="Amiri" pitchFamily="34" charset="-122"/>
                <a:cs typeface="Amiri" pitchFamily="34" charset="-120"/>
              </a:rPr>
              <a:t>حَمِّلُ</a:t>
            </a:r>
            <a:endParaRPr lang="ar-SA" sz="2200" dirty="0"/>
          </a:p>
        </p:txBody>
      </p:sp>
      <p:sp>
        <p:nvSpPr>
          <p:cNvPr id="41" name="Text 38"/>
          <p:cNvSpPr txBox="1"/>
          <p:nvPr/>
        </p:nvSpPr>
        <p:spPr>
          <a:xfrm>
            <a:off x="566928" y="3840480"/>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t>
            </a:r>
            <a:endParaRPr lang="en-US" sz="1100" dirty="0"/>
          </a:p>
        </p:txBody>
      </p:sp>
      <p:sp>
        <p:nvSpPr>
          <p:cNvPr id="42" name="Shape 39"/>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4" name="Shape 4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5" name="Text 42"/>
          <p:cNvSpPr txBox="1"/>
          <p:nvPr/>
        </p:nvSpPr>
        <p:spPr>
          <a:xfrm>
            <a:off x="8805672" y="4645152"/>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7B3FA0"/>
                </a:solidFill>
                <a:latin typeface="Amiri" pitchFamily="34" charset="0"/>
                <a:ea typeface="Amiri" pitchFamily="34" charset="-122"/>
                <a:cs typeface="Amiri" pitchFamily="34" charset="-120"/>
              </a:rPr>
              <a:t>نَزِّلُ</a:t>
            </a:r>
            <a:endParaRPr lang="ar-SA" sz="2100" dirty="0"/>
          </a:p>
        </p:txBody>
      </p:sp>
      <p:sp>
        <p:nvSpPr>
          <p:cNvPr id="46" name="Text 43"/>
          <p:cNvSpPr txBox="1"/>
          <p:nvPr/>
        </p:nvSpPr>
        <p:spPr>
          <a:xfrm>
            <a:off x="8759952" y="5065776"/>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yu-naz-zi-lu</a:t>
            </a:r>
            <a:endParaRPr lang="en-US" sz="950" dirty="0"/>
          </a:p>
        </p:txBody>
      </p:sp>
      <p:sp>
        <p:nvSpPr>
          <p:cNvPr id="47" name="Text 44"/>
          <p:cNvSpPr txBox="1"/>
          <p:nvPr/>
        </p:nvSpPr>
        <p:spPr>
          <a:xfrm>
            <a:off x="6263640" y="4626864"/>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downloads</a:t>
            </a:r>
            <a:endParaRPr lang="en-US" sz="1100" dirty="0"/>
          </a:p>
        </p:txBody>
      </p:sp>
      <p:sp>
        <p:nvSpPr>
          <p:cNvPr id="48" name="Text 45"/>
          <p:cNvSpPr txBox="1"/>
          <p:nvPr/>
        </p:nvSpPr>
        <p:spPr>
          <a:xfrm>
            <a:off x="3502152" y="4626864"/>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أُ</a:t>
            </a:r>
            <a:pPr rtl="1" algn="ctr" indent="0" marL="0">
              <a:buNone/>
            </a:pPr>
            <a:r>
              <a:rPr lang="ar-SA" altLang="en-US" sz="2200" b="1" dirty="0">
                <a:solidFill>
                  <a:srgbClr val="7B3FA0"/>
                </a:solidFill>
                <a:latin typeface="Amiri" pitchFamily="34" charset="0"/>
                <a:ea typeface="Amiri" pitchFamily="34" charset="-122"/>
                <a:cs typeface="Amiri" pitchFamily="34" charset="-120"/>
              </a:rPr>
              <a:t>نَزِّلُ</a:t>
            </a:r>
            <a:endParaRPr lang="ar-SA" sz="2200" dirty="0"/>
          </a:p>
        </p:txBody>
      </p:sp>
      <p:sp>
        <p:nvSpPr>
          <p:cNvPr id="49" name="Text 46"/>
          <p:cNvSpPr txBox="1"/>
          <p:nvPr/>
        </p:nvSpPr>
        <p:spPr>
          <a:xfrm>
            <a:off x="566928" y="4626864"/>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t>
            </a:r>
            <a:endParaRPr lang="en-US" sz="1100" dirty="0"/>
          </a:p>
        </p:txBody>
      </p:sp>
      <p:sp>
        <p:nvSpPr>
          <p:cNvPr id="50" name="Shape 47"/>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51" name="Text 48"/>
          <p:cNvSpPr txBox="1"/>
          <p:nvPr/>
        </p:nvSpPr>
        <p:spPr>
          <a:xfrm>
            <a:off x="8805672" y="5431536"/>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7B3FA0"/>
                </a:solidFill>
                <a:latin typeface="Amiri" pitchFamily="34" charset="0"/>
                <a:ea typeface="Amiri" pitchFamily="34" charset="-122"/>
                <a:cs typeface="Amiri" pitchFamily="34" charset="-120"/>
              </a:rPr>
              <a:t>تَابِعُ</a:t>
            </a:r>
            <a:endParaRPr lang="ar-SA" sz="2100" dirty="0"/>
          </a:p>
        </p:txBody>
      </p:sp>
      <p:sp>
        <p:nvSpPr>
          <p:cNvPr id="52" name="Text 49"/>
          <p:cNvSpPr txBox="1"/>
          <p:nvPr/>
        </p:nvSpPr>
        <p:spPr>
          <a:xfrm>
            <a:off x="8759952" y="5852160"/>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yu-tā-bi-ʿu</a:t>
            </a:r>
            <a:endParaRPr lang="en-US" sz="950" dirty="0"/>
          </a:p>
        </p:txBody>
      </p:sp>
      <p:sp>
        <p:nvSpPr>
          <p:cNvPr id="53" name="Text 50"/>
          <p:cNvSpPr txBox="1"/>
          <p:nvPr/>
        </p:nvSpPr>
        <p:spPr>
          <a:xfrm>
            <a:off x="6263640" y="5413248"/>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follows</a:t>
            </a:r>
            <a:endParaRPr lang="en-US" sz="1100" dirty="0"/>
          </a:p>
        </p:txBody>
      </p:sp>
      <p:sp>
        <p:nvSpPr>
          <p:cNvPr id="54" name="Text 51"/>
          <p:cNvSpPr txBox="1"/>
          <p:nvPr/>
        </p:nvSpPr>
        <p:spPr>
          <a:xfrm>
            <a:off x="3502152" y="5413248"/>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أُ</a:t>
            </a:r>
            <a:pPr rtl="1" algn="ctr" indent="0" marL="0">
              <a:buNone/>
            </a:pPr>
            <a:r>
              <a:rPr lang="ar-SA" altLang="en-US" sz="2200" b="1" dirty="0">
                <a:solidFill>
                  <a:srgbClr val="7B3FA0"/>
                </a:solidFill>
                <a:latin typeface="Amiri" pitchFamily="34" charset="0"/>
                <a:ea typeface="Amiri" pitchFamily="34" charset="-122"/>
                <a:cs typeface="Amiri" pitchFamily="34" charset="-120"/>
              </a:rPr>
              <a:t>تَابِعُ</a:t>
            </a:r>
            <a:endParaRPr lang="ar-SA" sz="2200" dirty="0"/>
          </a:p>
        </p:txBody>
      </p:sp>
      <p:sp>
        <p:nvSpPr>
          <p:cNvPr id="55" name="Text 52"/>
          <p:cNvSpPr txBox="1"/>
          <p:nvPr/>
        </p:nvSpPr>
        <p:spPr>
          <a:xfrm>
            <a:off x="566928" y="5413248"/>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t>
            </a:r>
            <a:endParaRPr lang="en-US" sz="11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ONLINE ACTIONS (2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Verbs with a partner word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أَفْعَالٌ مَعَ حُرُوفِ الجَرِّ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8738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Verb (he)</a:t>
            </a:r>
            <a:endParaRPr lang="en-US" sz="1100" dirty="0"/>
          </a:p>
        </p:txBody>
      </p:sp>
      <p:sp>
        <p:nvSpPr>
          <p:cNvPr id="17" name="Text 14"/>
          <p:cNvSpPr txBox="1"/>
          <p:nvPr/>
        </p:nvSpPr>
        <p:spPr>
          <a:xfrm>
            <a:off x="622706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18" name="Text 15"/>
          <p:cNvSpPr txBox="1"/>
          <p:nvPr/>
        </p:nvSpPr>
        <p:spPr>
          <a:xfrm>
            <a:off x="348386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 form</a:t>
            </a:r>
            <a:endParaRPr lang="en-US" sz="1100" dirty="0"/>
          </a:p>
        </p:txBody>
      </p:sp>
      <p:sp>
        <p:nvSpPr>
          <p:cNvPr id="19" name="Text 16"/>
          <p:cNvSpPr txBox="1"/>
          <p:nvPr/>
        </p:nvSpPr>
        <p:spPr>
          <a:xfrm>
            <a:off x="530352" y="1810512"/>
            <a:ext cx="2807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Partner word</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805672" y="2286000"/>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7B3FA0"/>
                </a:solidFill>
                <a:latin typeface="Amiri" pitchFamily="34" charset="0"/>
                <a:ea typeface="Amiri" pitchFamily="34" charset="-122"/>
                <a:cs typeface="Amiri" pitchFamily="34" charset="-120"/>
              </a:rPr>
              <a:t>تَفَاعَلُ</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مَعَ</a:t>
            </a:r>
            <a:endParaRPr lang="ar-SA" sz="2100" dirty="0"/>
          </a:p>
        </p:txBody>
      </p:sp>
      <p:sp>
        <p:nvSpPr>
          <p:cNvPr id="22" name="Text 19"/>
          <p:cNvSpPr txBox="1"/>
          <p:nvPr/>
        </p:nvSpPr>
        <p:spPr>
          <a:xfrm>
            <a:off x="8759952" y="2706624"/>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ya-ta-fā-ʿa-lu ma-ʿa</a:t>
            </a:r>
            <a:endParaRPr lang="en-US" sz="950" dirty="0"/>
          </a:p>
        </p:txBody>
      </p:sp>
      <p:sp>
        <p:nvSpPr>
          <p:cNvPr id="23" name="Text 20"/>
          <p:cNvSpPr txBox="1"/>
          <p:nvPr/>
        </p:nvSpPr>
        <p:spPr>
          <a:xfrm>
            <a:off x="6263640" y="2267712"/>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interacts with</a:t>
            </a:r>
            <a:endParaRPr lang="en-US" sz="1100" dirty="0"/>
          </a:p>
        </p:txBody>
      </p:sp>
      <p:sp>
        <p:nvSpPr>
          <p:cNvPr id="24" name="Text 21"/>
          <p:cNvSpPr txBox="1"/>
          <p:nvPr/>
        </p:nvSpPr>
        <p:spPr>
          <a:xfrm>
            <a:off x="3502152" y="2267712"/>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أَ</a:t>
            </a:r>
            <a:pPr rtl="1" algn="ctr" indent="0" marL="0">
              <a:buNone/>
            </a:pPr>
            <a:r>
              <a:rPr lang="ar-SA" altLang="en-US" sz="2200" b="1" dirty="0">
                <a:solidFill>
                  <a:srgbClr val="7B3FA0"/>
                </a:solidFill>
                <a:latin typeface="Amiri" pitchFamily="34" charset="0"/>
                <a:ea typeface="Amiri" pitchFamily="34" charset="-122"/>
                <a:cs typeface="Amiri" pitchFamily="34" charset="-120"/>
              </a:rPr>
              <a:t>تَفَاعَلُ</a:t>
            </a:r>
            <a:pPr rtl="1" algn="ctr" indent="0" marL="0">
              <a:buNone/>
            </a:pPr>
            <a:r>
              <a:rPr lang="ar-SA" altLang="en-US" sz="2200" b="1" dirty="0">
                <a:solidFill>
                  <a:srgbClr val="1B3B6F"/>
                </a:solidFill>
                <a:latin typeface="Amiri" pitchFamily="34" charset="0"/>
                <a:ea typeface="Amiri" pitchFamily="34" charset="-122"/>
                <a:cs typeface="Amiri" pitchFamily="34" charset="-120"/>
              </a:rPr>
              <a:t> </a:t>
            </a:r>
            <a:pPr rtl="1" algn="ctr" indent="0" marL="0">
              <a:buNone/>
            </a:pPr>
            <a:r>
              <a:rPr lang="ar-SA" altLang="en-US" sz="2200" b="1" dirty="0">
                <a:solidFill>
                  <a:srgbClr val="0E7C86"/>
                </a:solidFill>
                <a:latin typeface="Amiri" pitchFamily="34" charset="0"/>
                <a:ea typeface="Amiri" pitchFamily="34" charset="-122"/>
                <a:cs typeface="Amiri" pitchFamily="34" charset="-120"/>
              </a:rPr>
              <a:t>مَعَ</a:t>
            </a:r>
            <a:endParaRPr lang="ar-SA" sz="2200" dirty="0"/>
          </a:p>
        </p:txBody>
      </p:sp>
      <p:sp>
        <p:nvSpPr>
          <p:cNvPr id="25" name="Text 22"/>
          <p:cNvSpPr txBox="1"/>
          <p:nvPr/>
        </p:nvSpPr>
        <p:spPr>
          <a:xfrm>
            <a:off x="566928" y="2267712"/>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always </a:t>
            </a:r>
            <a:pPr algn="l" indent="0" marL="0">
              <a:buNone/>
            </a:pPr>
            <a:r>
              <a:rPr lang="ar-SA" altLang="en-US" sz="1450" dirty="0">
                <a:solidFill>
                  <a:srgbClr val="5A6472"/>
                </a:solidFill>
                <a:latin typeface="Amiri" pitchFamily="34" charset="0"/>
                <a:ea typeface="Amiri" pitchFamily="34" charset="-122"/>
                <a:cs typeface="Amiri" pitchFamily="34" charset="-120"/>
              </a:rPr>
              <a:t>مَعَ</a:t>
            </a:r>
            <a:endParaRPr lang="en-US" sz="1100" dirty="0"/>
          </a:p>
        </p:txBody>
      </p:sp>
      <p:sp>
        <p:nvSpPr>
          <p:cNvPr id="26" name="Shape 23"/>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8" name="Shape 25"/>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9" name="Text 26"/>
          <p:cNvSpPr txBox="1"/>
          <p:nvPr/>
        </p:nvSpPr>
        <p:spPr>
          <a:xfrm>
            <a:off x="8805672" y="3072384"/>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7B3FA0"/>
                </a:solidFill>
                <a:latin typeface="Amiri" pitchFamily="34" charset="0"/>
                <a:ea typeface="Amiri" pitchFamily="34" charset="-122"/>
                <a:cs typeface="Amiri" pitchFamily="34" charset="-120"/>
              </a:rPr>
              <a:t>عَلِّقُ</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عَلَى</a:t>
            </a:r>
            <a:endParaRPr lang="ar-SA" sz="2100" dirty="0"/>
          </a:p>
        </p:txBody>
      </p:sp>
      <p:sp>
        <p:nvSpPr>
          <p:cNvPr id="30" name="Text 27"/>
          <p:cNvSpPr txBox="1"/>
          <p:nvPr/>
        </p:nvSpPr>
        <p:spPr>
          <a:xfrm>
            <a:off x="8759952" y="3493008"/>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yu-ʿal-li-qu ʿa-lā</a:t>
            </a:r>
            <a:endParaRPr lang="en-US" sz="950" dirty="0"/>
          </a:p>
        </p:txBody>
      </p:sp>
      <p:sp>
        <p:nvSpPr>
          <p:cNvPr id="31" name="Text 28"/>
          <p:cNvSpPr txBox="1"/>
          <p:nvPr/>
        </p:nvSpPr>
        <p:spPr>
          <a:xfrm>
            <a:off x="6263640" y="3054096"/>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comments on</a:t>
            </a:r>
            <a:endParaRPr lang="en-US" sz="1100" dirty="0"/>
          </a:p>
        </p:txBody>
      </p:sp>
      <p:sp>
        <p:nvSpPr>
          <p:cNvPr id="32" name="Text 29"/>
          <p:cNvSpPr txBox="1"/>
          <p:nvPr/>
        </p:nvSpPr>
        <p:spPr>
          <a:xfrm>
            <a:off x="3502152" y="3054096"/>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أُ</a:t>
            </a:r>
            <a:pPr rtl="1" algn="ctr" indent="0" marL="0">
              <a:buNone/>
            </a:pPr>
            <a:r>
              <a:rPr lang="ar-SA" altLang="en-US" sz="2200" b="1" dirty="0">
                <a:solidFill>
                  <a:srgbClr val="7B3FA0"/>
                </a:solidFill>
                <a:latin typeface="Amiri" pitchFamily="34" charset="0"/>
                <a:ea typeface="Amiri" pitchFamily="34" charset="-122"/>
                <a:cs typeface="Amiri" pitchFamily="34" charset="-120"/>
              </a:rPr>
              <a:t>عَلِّقُ</a:t>
            </a:r>
            <a:pPr rtl="1" algn="ctr" indent="0" marL="0">
              <a:buNone/>
            </a:pPr>
            <a:r>
              <a:rPr lang="ar-SA" altLang="en-US" sz="2200" b="1" dirty="0">
                <a:solidFill>
                  <a:srgbClr val="1B3B6F"/>
                </a:solidFill>
                <a:latin typeface="Amiri" pitchFamily="34" charset="0"/>
                <a:ea typeface="Amiri" pitchFamily="34" charset="-122"/>
                <a:cs typeface="Amiri" pitchFamily="34" charset="-120"/>
              </a:rPr>
              <a:t> </a:t>
            </a:r>
            <a:pPr rtl="1" algn="ctr" indent="0" marL="0">
              <a:buNone/>
            </a:pPr>
            <a:r>
              <a:rPr lang="ar-SA" altLang="en-US" sz="2200" b="1" dirty="0">
                <a:solidFill>
                  <a:srgbClr val="0E7C86"/>
                </a:solidFill>
                <a:latin typeface="Amiri" pitchFamily="34" charset="0"/>
                <a:ea typeface="Amiri" pitchFamily="34" charset="-122"/>
                <a:cs typeface="Amiri" pitchFamily="34" charset="-120"/>
              </a:rPr>
              <a:t>عَلَى</a:t>
            </a:r>
            <a:endParaRPr lang="ar-SA" sz="2200" dirty="0"/>
          </a:p>
        </p:txBody>
      </p:sp>
      <p:sp>
        <p:nvSpPr>
          <p:cNvPr id="33" name="Text 30"/>
          <p:cNvSpPr txBox="1"/>
          <p:nvPr/>
        </p:nvSpPr>
        <p:spPr>
          <a:xfrm>
            <a:off x="566928" y="3054096"/>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always </a:t>
            </a:r>
            <a:pPr algn="l" indent="0" marL="0">
              <a:buNone/>
            </a:pPr>
            <a:r>
              <a:rPr lang="ar-SA" altLang="en-US" sz="1450" dirty="0">
                <a:solidFill>
                  <a:srgbClr val="5A6472"/>
                </a:solidFill>
                <a:latin typeface="Amiri" pitchFamily="34" charset="0"/>
                <a:ea typeface="Amiri" pitchFamily="34" charset="-122"/>
                <a:cs typeface="Amiri" pitchFamily="34" charset="-120"/>
              </a:rPr>
              <a:t>عَلَى</a:t>
            </a:r>
            <a:endParaRPr lang="en-US" sz="1100" dirty="0"/>
          </a:p>
        </p:txBody>
      </p:sp>
      <p:sp>
        <p:nvSpPr>
          <p:cNvPr id="34" name="Shape 31"/>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6" name="Shape 33"/>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7" name="Text 34"/>
          <p:cNvSpPr txBox="1"/>
          <p:nvPr/>
        </p:nvSpPr>
        <p:spPr>
          <a:xfrm>
            <a:off x="8805672" y="3858768"/>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7B3FA0"/>
                </a:solidFill>
                <a:latin typeface="Amiri" pitchFamily="34" charset="0"/>
                <a:ea typeface="Amiri" pitchFamily="34" charset="-122"/>
                <a:cs typeface="Amiri" pitchFamily="34" charset="-120"/>
              </a:rPr>
              <a:t>بْحَثُ</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عَنْ</a:t>
            </a:r>
            <a:endParaRPr lang="ar-SA" sz="2100" dirty="0"/>
          </a:p>
        </p:txBody>
      </p:sp>
      <p:sp>
        <p:nvSpPr>
          <p:cNvPr id="38" name="Text 35"/>
          <p:cNvSpPr txBox="1"/>
          <p:nvPr/>
        </p:nvSpPr>
        <p:spPr>
          <a:xfrm>
            <a:off x="8759952" y="4279392"/>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yab-ḥa-thu ʿan</a:t>
            </a:r>
            <a:endParaRPr lang="en-US" sz="950" dirty="0"/>
          </a:p>
        </p:txBody>
      </p:sp>
      <p:sp>
        <p:nvSpPr>
          <p:cNvPr id="39" name="Text 36"/>
          <p:cNvSpPr txBox="1"/>
          <p:nvPr/>
        </p:nvSpPr>
        <p:spPr>
          <a:xfrm>
            <a:off x="6263640" y="3840480"/>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searches for</a:t>
            </a:r>
            <a:endParaRPr lang="en-US" sz="1100" dirty="0"/>
          </a:p>
        </p:txBody>
      </p:sp>
      <p:sp>
        <p:nvSpPr>
          <p:cNvPr id="40" name="Text 37"/>
          <p:cNvSpPr txBox="1"/>
          <p:nvPr/>
        </p:nvSpPr>
        <p:spPr>
          <a:xfrm>
            <a:off x="3502152" y="3840480"/>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أَ</a:t>
            </a:r>
            <a:pPr rtl="1" algn="ctr" indent="0" marL="0">
              <a:buNone/>
            </a:pPr>
            <a:r>
              <a:rPr lang="ar-SA" altLang="en-US" sz="2200" b="1" dirty="0">
                <a:solidFill>
                  <a:srgbClr val="7B3FA0"/>
                </a:solidFill>
                <a:latin typeface="Amiri" pitchFamily="34" charset="0"/>
                <a:ea typeface="Amiri" pitchFamily="34" charset="-122"/>
                <a:cs typeface="Amiri" pitchFamily="34" charset="-120"/>
              </a:rPr>
              <a:t>بْحَثُ</a:t>
            </a:r>
            <a:pPr rtl="1" algn="ctr" indent="0" marL="0">
              <a:buNone/>
            </a:pPr>
            <a:r>
              <a:rPr lang="ar-SA" altLang="en-US" sz="2200" b="1" dirty="0">
                <a:solidFill>
                  <a:srgbClr val="1B3B6F"/>
                </a:solidFill>
                <a:latin typeface="Amiri" pitchFamily="34" charset="0"/>
                <a:ea typeface="Amiri" pitchFamily="34" charset="-122"/>
                <a:cs typeface="Amiri" pitchFamily="34" charset="-120"/>
              </a:rPr>
              <a:t> </a:t>
            </a:r>
            <a:pPr rtl="1" algn="ctr" indent="0" marL="0">
              <a:buNone/>
            </a:pPr>
            <a:r>
              <a:rPr lang="ar-SA" altLang="en-US" sz="2200" b="1" dirty="0">
                <a:solidFill>
                  <a:srgbClr val="0E7C86"/>
                </a:solidFill>
                <a:latin typeface="Amiri" pitchFamily="34" charset="0"/>
                <a:ea typeface="Amiri" pitchFamily="34" charset="-122"/>
                <a:cs typeface="Amiri" pitchFamily="34" charset="-120"/>
              </a:rPr>
              <a:t>عَنْ</a:t>
            </a:r>
            <a:endParaRPr lang="ar-SA" sz="2200" dirty="0"/>
          </a:p>
        </p:txBody>
      </p:sp>
      <p:sp>
        <p:nvSpPr>
          <p:cNvPr id="41" name="Text 38"/>
          <p:cNvSpPr txBox="1"/>
          <p:nvPr/>
        </p:nvSpPr>
        <p:spPr>
          <a:xfrm>
            <a:off x="566928" y="3840480"/>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always </a:t>
            </a:r>
            <a:pPr algn="l" indent="0" marL="0">
              <a:buNone/>
            </a:pPr>
            <a:r>
              <a:rPr lang="ar-SA" altLang="en-US" sz="1450" dirty="0">
                <a:solidFill>
                  <a:srgbClr val="5A6472"/>
                </a:solidFill>
                <a:latin typeface="Amiri" pitchFamily="34" charset="0"/>
                <a:ea typeface="Amiri" pitchFamily="34" charset="-122"/>
                <a:cs typeface="Amiri" pitchFamily="34" charset="-120"/>
              </a:rPr>
              <a:t>عَنْ</a:t>
            </a:r>
            <a:endParaRPr lang="en-US" sz="1100" dirty="0"/>
          </a:p>
        </p:txBody>
      </p:sp>
      <p:sp>
        <p:nvSpPr>
          <p:cNvPr id="42" name="Shape 39"/>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4" name="Shape 4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5" name="Text 42"/>
          <p:cNvSpPr txBox="1"/>
          <p:nvPr/>
        </p:nvSpPr>
        <p:spPr>
          <a:xfrm>
            <a:off x="8805672" y="4645152"/>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7B3FA0"/>
                </a:solidFill>
                <a:latin typeface="Amiri" pitchFamily="34" charset="0"/>
                <a:ea typeface="Amiri" pitchFamily="34" charset="-122"/>
                <a:cs typeface="Amiri" pitchFamily="34" charset="-120"/>
              </a:rPr>
              <a:t>عْتَمِدُ</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عَلَى</a:t>
            </a:r>
            <a:endParaRPr lang="ar-SA" sz="2100" dirty="0"/>
          </a:p>
        </p:txBody>
      </p:sp>
      <p:sp>
        <p:nvSpPr>
          <p:cNvPr id="46" name="Text 43"/>
          <p:cNvSpPr txBox="1"/>
          <p:nvPr/>
        </p:nvSpPr>
        <p:spPr>
          <a:xfrm>
            <a:off x="8759952" y="5065776"/>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yaʿ-ta-mi-du ʿa-lā</a:t>
            </a:r>
            <a:endParaRPr lang="en-US" sz="950" dirty="0"/>
          </a:p>
        </p:txBody>
      </p:sp>
      <p:sp>
        <p:nvSpPr>
          <p:cNvPr id="47" name="Text 44"/>
          <p:cNvSpPr txBox="1"/>
          <p:nvPr/>
        </p:nvSpPr>
        <p:spPr>
          <a:xfrm>
            <a:off x="6263640" y="4626864"/>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relies on</a:t>
            </a:r>
            <a:endParaRPr lang="en-US" sz="1100" dirty="0"/>
          </a:p>
        </p:txBody>
      </p:sp>
      <p:sp>
        <p:nvSpPr>
          <p:cNvPr id="48" name="Text 45"/>
          <p:cNvSpPr txBox="1"/>
          <p:nvPr/>
        </p:nvSpPr>
        <p:spPr>
          <a:xfrm>
            <a:off x="3502152" y="4626864"/>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أَ</a:t>
            </a:r>
            <a:pPr rtl="1" algn="ctr" indent="0" marL="0">
              <a:buNone/>
            </a:pPr>
            <a:r>
              <a:rPr lang="ar-SA" altLang="en-US" sz="2200" b="1" dirty="0">
                <a:solidFill>
                  <a:srgbClr val="7B3FA0"/>
                </a:solidFill>
                <a:latin typeface="Amiri" pitchFamily="34" charset="0"/>
                <a:ea typeface="Amiri" pitchFamily="34" charset="-122"/>
                <a:cs typeface="Amiri" pitchFamily="34" charset="-120"/>
              </a:rPr>
              <a:t>عْتَمِدُ</a:t>
            </a:r>
            <a:pPr rtl="1" algn="ctr" indent="0" marL="0">
              <a:buNone/>
            </a:pPr>
            <a:r>
              <a:rPr lang="ar-SA" altLang="en-US" sz="2200" b="1" dirty="0">
                <a:solidFill>
                  <a:srgbClr val="1B3B6F"/>
                </a:solidFill>
                <a:latin typeface="Amiri" pitchFamily="34" charset="0"/>
                <a:ea typeface="Amiri" pitchFamily="34" charset="-122"/>
                <a:cs typeface="Amiri" pitchFamily="34" charset="-120"/>
              </a:rPr>
              <a:t> </a:t>
            </a:r>
            <a:pPr rtl="1" algn="ctr" indent="0" marL="0">
              <a:buNone/>
            </a:pPr>
            <a:r>
              <a:rPr lang="ar-SA" altLang="en-US" sz="2200" b="1" dirty="0">
                <a:solidFill>
                  <a:srgbClr val="0E7C86"/>
                </a:solidFill>
                <a:latin typeface="Amiri" pitchFamily="34" charset="0"/>
                <a:ea typeface="Amiri" pitchFamily="34" charset="-122"/>
                <a:cs typeface="Amiri" pitchFamily="34" charset="-120"/>
              </a:rPr>
              <a:t>عَلَى</a:t>
            </a:r>
            <a:endParaRPr lang="ar-SA" sz="2200" dirty="0"/>
          </a:p>
        </p:txBody>
      </p:sp>
      <p:sp>
        <p:nvSpPr>
          <p:cNvPr id="49" name="Text 46"/>
          <p:cNvSpPr txBox="1"/>
          <p:nvPr/>
        </p:nvSpPr>
        <p:spPr>
          <a:xfrm>
            <a:off x="566928" y="4626864"/>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always </a:t>
            </a:r>
            <a:pPr algn="l" indent="0" marL="0">
              <a:buNone/>
            </a:pPr>
            <a:r>
              <a:rPr lang="ar-SA" altLang="en-US" sz="1450" dirty="0">
                <a:solidFill>
                  <a:srgbClr val="5A6472"/>
                </a:solidFill>
                <a:latin typeface="Amiri" pitchFamily="34" charset="0"/>
                <a:ea typeface="Amiri" pitchFamily="34" charset="-122"/>
                <a:cs typeface="Amiri" pitchFamily="34" charset="-120"/>
              </a:rPr>
              <a:t>عَلَى</a:t>
            </a:r>
            <a:endParaRPr lang="en-US" sz="1100" dirty="0"/>
          </a:p>
        </p:txBody>
      </p:sp>
      <p:sp>
        <p:nvSpPr>
          <p:cNvPr id="50" name="Shape 47"/>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51" name="Text 48"/>
          <p:cNvSpPr txBox="1"/>
          <p:nvPr/>
        </p:nvSpPr>
        <p:spPr>
          <a:xfrm>
            <a:off x="8805672" y="5431536"/>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7B3FA0"/>
                </a:solidFill>
                <a:latin typeface="Amiri" pitchFamily="34" charset="0"/>
                <a:ea typeface="Amiri" pitchFamily="34" charset="-122"/>
                <a:cs typeface="Amiri" pitchFamily="34" charset="-120"/>
              </a:rPr>
              <a:t>شَارِكُ</a:t>
            </a:r>
            <a:endParaRPr lang="ar-SA" sz="2100" dirty="0"/>
          </a:p>
        </p:txBody>
      </p:sp>
      <p:sp>
        <p:nvSpPr>
          <p:cNvPr id="52" name="Text 49"/>
          <p:cNvSpPr txBox="1"/>
          <p:nvPr/>
        </p:nvSpPr>
        <p:spPr>
          <a:xfrm>
            <a:off x="8759952" y="5852160"/>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yu-shā-ri-ku</a:t>
            </a:r>
            <a:endParaRPr lang="en-US" sz="950" dirty="0"/>
          </a:p>
        </p:txBody>
      </p:sp>
      <p:sp>
        <p:nvSpPr>
          <p:cNvPr id="53" name="Text 50"/>
          <p:cNvSpPr txBox="1"/>
          <p:nvPr/>
        </p:nvSpPr>
        <p:spPr>
          <a:xfrm>
            <a:off x="6263640" y="5413248"/>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shares, takes part</a:t>
            </a:r>
            <a:endParaRPr lang="en-US" sz="1100" dirty="0"/>
          </a:p>
        </p:txBody>
      </p:sp>
      <p:sp>
        <p:nvSpPr>
          <p:cNvPr id="54" name="Text 51"/>
          <p:cNvSpPr txBox="1"/>
          <p:nvPr/>
        </p:nvSpPr>
        <p:spPr>
          <a:xfrm>
            <a:off x="3502152" y="5413248"/>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أُ</a:t>
            </a:r>
            <a:pPr rtl="1" algn="ctr" indent="0" marL="0">
              <a:buNone/>
            </a:pPr>
            <a:r>
              <a:rPr lang="ar-SA" altLang="en-US" sz="2200" b="1" dirty="0">
                <a:solidFill>
                  <a:srgbClr val="7B3FA0"/>
                </a:solidFill>
                <a:latin typeface="Amiri" pitchFamily="34" charset="0"/>
                <a:ea typeface="Amiri" pitchFamily="34" charset="-122"/>
                <a:cs typeface="Amiri" pitchFamily="34" charset="-120"/>
              </a:rPr>
              <a:t>شَارِكُ</a:t>
            </a:r>
            <a:endParaRPr lang="ar-SA" sz="2200" dirty="0"/>
          </a:p>
        </p:txBody>
      </p:sp>
      <p:sp>
        <p:nvSpPr>
          <p:cNvPr id="55" name="Text 52"/>
          <p:cNvSpPr txBox="1"/>
          <p:nvPr/>
        </p:nvSpPr>
        <p:spPr>
          <a:xfrm>
            <a:off x="566928" y="5413248"/>
            <a:ext cx="277063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فِي</a:t>
            </a:r>
            <a:pPr algn="l" indent="0" marL="0">
              <a:buNone/>
            </a:pPr>
            <a:r>
              <a:rPr lang="en-US" sz="1100" i="1" dirty="0">
                <a:solidFill>
                  <a:srgbClr val="5A6472"/>
                </a:solidFill>
                <a:latin typeface="Calibri" pitchFamily="34" charset="0"/>
                <a:ea typeface="Calibri" pitchFamily="34" charset="-122"/>
                <a:cs typeface="Calibri" pitchFamily="34" charset="-120"/>
              </a:rPr>
              <a:t> = takes part in</a:t>
            </a:r>
            <a:endParaRPr lang="en-US" sz="11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Benefits and risks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الفَوَائِدُ وَالمَخَاطِرُ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الخُصُوصِيَّةُ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privacy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al-khu-ṣū-ṣiy-ya</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7" name="Shape 24"/>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الأَمَانُ </a:t>
            </a:r>
            <a:pPr rtl="1" algn="r" indent="0" marL="0">
              <a:buNone/>
            </a:pPr>
            <a:r>
              <a:rPr lang="ar-SA" altLang="en-US" sz="3000" b="1" dirty="0">
                <a:solidFill>
                  <a:srgbClr val="7B3FA0"/>
                </a:solidFill>
                <a:latin typeface="Amiri" pitchFamily="34" charset="0"/>
                <a:ea typeface="Amiri" pitchFamily="34" charset="-122"/>
                <a:cs typeface="Amiri" pitchFamily="34" charset="-120"/>
              </a:rPr>
              <a:t>الرَّقْمِ</a:t>
            </a:r>
            <a:pPr rtl="1" algn="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digital security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al-a-mān ar-raq-miyy</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6" name="Shape 3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إِدْمَانُ الشَّاشَاتِ</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screen addiction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id-mān ash-shā-shāt</a:t>
            </a:r>
            <a:endParaRPr lang="en-US" sz="1350" dirty="0"/>
          </a:p>
        </p:txBody>
      </p:sp>
      <p:sp>
        <p:nvSpPr>
          <p:cNvPr id="42" name="Shape 3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addiction</a:t>
            </a:r>
            <a:endParaRPr lang="en-US" sz="700" dirty="0"/>
          </a:p>
        </p:txBody>
      </p:sp>
      <p:sp>
        <p:nvSpPr>
          <p:cNvPr id="44" name="Text 41"/>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إِدْمَانٌ</a:t>
            </a:r>
            <a:endParaRPr lang="ar-SA" sz="1350" dirty="0"/>
          </a:p>
        </p:txBody>
      </p:sp>
      <p:sp>
        <p:nvSpPr>
          <p:cNvPr id="45" name="Shape 4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screens</a:t>
            </a:r>
            <a:endParaRPr lang="en-US" sz="700" dirty="0"/>
          </a:p>
        </p:txBody>
      </p:sp>
      <p:sp>
        <p:nvSpPr>
          <p:cNvPr id="47" name="Text 44"/>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الشَّاشَاتُ</a:t>
            </a:r>
            <a:endParaRPr lang="ar-SA" sz="135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51" name="Shape 48"/>
          <p:cNvSpPr/>
          <p:nvPr/>
        </p:nvSpPr>
        <p:spPr>
          <a:xfrm>
            <a:off x="8604504" y="4279392"/>
            <a:ext cx="1269187"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8604504"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53" name="Text 5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مَعْلُومَاتٌ مُضَلِّلَةٌ</a:t>
            </a:r>
            <a:endParaRPr lang="ar-SA" sz="3000" dirty="0"/>
          </a:p>
        </p:txBody>
      </p:sp>
      <p:sp>
        <p:nvSpPr>
          <p:cNvPr id="54" name="Text 5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misinformation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maʿ-lū-māt mu-ḍal-li-la</a:t>
            </a:r>
            <a:endParaRPr lang="en-US" sz="1350" dirty="0"/>
          </a:p>
        </p:txBody>
      </p:sp>
      <p:sp>
        <p:nvSpPr>
          <p:cNvPr id="55" name="Shape 5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4389120"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58" name="Shape 55"/>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60" name="Text 5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التَّنَمُّرُ </a:t>
            </a:r>
            <a:pPr rtl="1" algn="r" indent="0" marL="0">
              <a:buNone/>
            </a:pPr>
            <a:r>
              <a:rPr lang="ar-SA" altLang="en-US" sz="3000" b="1" dirty="0">
                <a:solidFill>
                  <a:srgbClr val="7B3FA0"/>
                </a:solidFill>
                <a:latin typeface="Amiri" pitchFamily="34" charset="0"/>
                <a:ea typeface="Amiri" pitchFamily="34" charset="-122"/>
                <a:cs typeface="Amiri" pitchFamily="34" charset="-120"/>
              </a:rPr>
              <a:t>الإِلِكْتُرُونِ</a:t>
            </a:r>
            <a:pPr rtl="1" algn="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61" name="Text 5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cyberbullying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at-ta-nam-mur al-i-lik-tru-niyy</a:t>
            </a:r>
            <a:endParaRPr lang="en-US" sz="1350" dirty="0"/>
          </a:p>
        </p:txBody>
      </p:sp>
      <p:sp>
        <p:nvSpPr>
          <p:cNvPr id="62" name="Shape 5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66928" y="4261104"/>
            <a:ext cx="310896" cy="310896"/>
          </a:xfrm>
          <a:prstGeom prst="ellipse">
            <a:avLst/>
          </a:prstGeom>
          <a:solidFill>
            <a:srgbClr val="F4F1EA"/>
          </a:solidFill>
          <a:ln w="12700">
            <a:solidFill>
              <a:srgbClr val="F4F1EA"/>
            </a:solidFill>
            <a:prstDash val="solid"/>
          </a:ln>
        </p:spPr>
      </p:sp>
      <p:sp>
        <p:nvSpPr>
          <p:cNvPr id="64" name="Text 6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65" name="Shape 62"/>
          <p:cNvSpPr/>
          <p:nvPr/>
        </p:nvSpPr>
        <p:spPr>
          <a:xfrm>
            <a:off x="960120" y="4279392"/>
            <a:ext cx="1020470" cy="256032"/>
          </a:xfrm>
          <a:prstGeom prst="roundRect">
            <a:avLst>
              <a:gd name="adj" fmla="val 50000"/>
            </a:avLst>
          </a:prstGeom>
          <a:solidFill>
            <a:srgbClr val="EFE7D2"/>
          </a:solidFill>
          <a:ln w="12700">
            <a:solidFill>
              <a:srgbClr val="EFE7D2"/>
            </a:solidFill>
            <a:prstDash val="solid"/>
          </a:ln>
        </p:spPr>
      </p:sp>
      <p:sp>
        <p:nvSpPr>
          <p:cNvPr id="66" name="Text 63"/>
          <p:cNvSpPr txBox="1"/>
          <p:nvPr/>
        </p:nvSpPr>
        <p:spPr>
          <a:xfrm>
            <a:off x="960120"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67" name="Text 6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الصِّحَّةُ </a:t>
            </a:r>
            <a:pPr rtl="1" algn="r" indent="0" marL="0">
              <a:buNone/>
            </a:pPr>
            <a:r>
              <a:rPr lang="ar-SA" altLang="en-US" sz="3000" b="1" dirty="0">
                <a:solidFill>
                  <a:srgbClr val="7B3FA0"/>
                </a:solidFill>
                <a:latin typeface="Amiri" pitchFamily="34" charset="0"/>
                <a:ea typeface="Amiri" pitchFamily="34" charset="-122"/>
                <a:cs typeface="Amiri" pitchFamily="34" charset="-120"/>
              </a:rPr>
              <a:t>الرَّقْمِ</a:t>
            </a:r>
            <a:pPr rtl="1" algn="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68" name="Text 6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digital wellbeing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aṣ-ṣiḥ-ḥa r-raq-miy-ya</a:t>
            </a:r>
            <a:endParaRPr lang="en-US" sz="13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WORDS · GROUP 5 · DEVELOP · VERBAL NOUNS (TOPIC C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Verb → verbal noun (“-ing”)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المَصْدَرُ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24458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Verb (he)</a:t>
            </a:r>
            <a:endParaRPr lang="en-US" sz="1100" dirty="0"/>
          </a:p>
        </p:txBody>
      </p:sp>
      <p:sp>
        <p:nvSpPr>
          <p:cNvPr id="17" name="Text 14"/>
          <p:cNvSpPr txBox="1"/>
          <p:nvPr/>
        </p:nvSpPr>
        <p:spPr>
          <a:xfrm>
            <a:off x="668426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Verbal noun</a:t>
            </a:r>
            <a:endParaRPr lang="en-US" sz="1100" dirty="0"/>
          </a:p>
        </p:txBody>
      </p:sp>
      <p:sp>
        <p:nvSpPr>
          <p:cNvPr id="18" name="Text 15"/>
          <p:cNvSpPr txBox="1"/>
          <p:nvPr/>
        </p:nvSpPr>
        <p:spPr>
          <a:xfrm>
            <a:off x="4581144"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19" name="Text 16"/>
          <p:cNvSpPr txBox="1"/>
          <p:nvPr/>
        </p:nvSpPr>
        <p:spPr>
          <a:xfrm>
            <a:off x="53035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 a website phrase</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262872" y="2286000"/>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يَسْتَخْدِمُ</a:t>
            </a:r>
            <a:endParaRPr lang="ar-SA" sz="2100" dirty="0"/>
          </a:p>
        </p:txBody>
      </p:sp>
      <p:sp>
        <p:nvSpPr>
          <p:cNvPr id="22" name="Text 19"/>
          <p:cNvSpPr txBox="1"/>
          <p:nvPr/>
        </p:nvSpPr>
        <p:spPr>
          <a:xfrm>
            <a:off x="9217152" y="2706624"/>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uses</a:t>
            </a:r>
            <a:endParaRPr lang="en-US" sz="950" dirty="0"/>
          </a:p>
        </p:txBody>
      </p:sp>
      <p:sp>
        <p:nvSpPr>
          <p:cNvPr id="23" name="Text 20"/>
          <p:cNvSpPr txBox="1"/>
          <p:nvPr/>
        </p:nvSpPr>
        <p:spPr>
          <a:xfrm>
            <a:off x="6702552" y="2286000"/>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اسْتِخْدَامٌ</a:t>
            </a:r>
            <a:endParaRPr lang="ar-SA" sz="2100" dirty="0"/>
          </a:p>
        </p:txBody>
      </p:sp>
      <p:sp>
        <p:nvSpPr>
          <p:cNvPr id="24" name="Text 21"/>
          <p:cNvSpPr txBox="1"/>
          <p:nvPr/>
        </p:nvSpPr>
        <p:spPr>
          <a:xfrm>
            <a:off x="6656832" y="2706624"/>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is-tikh-dām</a:t>
            </a:r>
            <a:endParaRPr lang="en-US" sz="950" dirty="0"/>
          </a:p>
        </p:txBody>
      </p:sp>
      <p:sp>
        <p:nvSpPr>
          <p:cNvPr id="25" name="Text 22"/>
          <p:cNvSpPr txBox="1"/>
          <p:nvPr/>
        </p:nvSpPr>
        <p:spPr>
          <a:xfrm>
            <a:off x="4617720" y="2267712"/>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using, use</a:t>
            </a:r>
            <a:endParaRPr lang="en-US" sz="1100" dirty="0"/>
          </a:p>
        </p:txBody>
      </p:sp>
      <p:sp>
        <p:nvSpPr>
          <p:cNvPr id="26" name="Text 23"/>
          <p:cNvSpPr txBox="1"/>
          <p:nvPr/>
        </p:nvSpPr>
        <p:spPr>
          <a:xfrm>
            <a:off x="548640" y="2267712"/>
            <a:ext cx="386791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اسْتِخْدَامُ كَلِمَةِ مُرُورٍ قَوِيَّةٍ</a:t>
            </a:r>
            <a:endParaRPr lang="ar-SA" sz="180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262872" y="3072384"/>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يَتَعَلَّمُ</a:t>
            </a:r>
            <a:endParaRPr lang="ar-SA" sz="2100" dirty="0"/>
          </a:p>
        </p:txBody>
      </p:sp>
      <p:sp>
        <p:nvSpPr>
          <p:cNvPr id="29" name="Text 26"/>
          <p:cNvSpPr txBox="1"/>
          <p:nvPr/>
        </p:nvSpPr>
        <p:spPr>
          <a:xfrm>
            <a:off x="9217152" y="3493008"/>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learns</a:t>
            </a:r>
            <a:endParaRPr lang="en-US" sz="950" dirty="0"/>
          </a:p>
        </p:txBody>
      </p:sp>
      <p:sp>
        <p:nvSpPr>
          <p:cNvPr id="30" name="Text 27"/>
          <p:cNvSpPr txBox="1"/>
          <p:nvPr/>
        </p:nvSpPr>
        <p:spPr>
          <a:xfrm>
            <a:off x="6702552" y="3072384"/>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تَعَلُّمٌ</a:t>
            </a:r>
            <a:endParaRPr lang="ar-SA" sz="2100" dirty="0"/>
          </a:p>
        </p:txBody>
      </p:sp>
      <p:sp>
        <p:nvSpPr>
          <p:cNvPr id="31" name="Text 28"/>
          <p:cNvSpPr txBox="1"/>
          <p:nvPr/>
        </p:nvSpPr>
        <p:spPr>
          <a:xfrm>
            <a:off x="6656832" y="3493008"/>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ta-ʿal-lum</a:t>
            </a:r>
            <a:endParaRPr lang="en-US" sz="950" dirty="0"/>
          </a:p>
        </p:txBody>
      </p:sp>
      <p:sp>
        <p:nvSpPr>
          <p:cNvPr id="32" name="Text 29"/>
          <p:cNvSpPr txBox="1"/>
          <p:nvPr/>
        </p:nvSpPr>
        <p:spPr>
          <a:xfrm>
            <a:off x="4617720" y="3054096"/>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learning</a:t>
            </a:r>
            <a:endParaRPr lang="en-US" sz="1100" dirty="0"/>
          </a:p>
        </p:txBody>
      </p:sp>
      <p:sp>
        <p:nvSpPr>
          <p:cNvPr id="33" name="Text 30"/>
          <p:cNvSpPr txBox="1"/>
          <p:nvPr/>
        </p:nvSpPr>
        <p:spPr>
          <a:xfrm>
            <a:off x="548640" y="3054096"/>
            <a:ext cx="386791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التَّعَلُّمُ عَنْ بُعْدٍ</a:t>
            </a:r>
            <a:endParaRPr lang="ar-SA" sz="180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262872" y="3858768"/>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يَنْشُرُ</a:t>
            </a:r>
            <a:endParaRPr lang="ar-SA" sz="2100" dirty="0"/>
          </a:p>
        </p:txBody>
      </p:sp>
      <p:sp>
        <p:nvSpPr>
          <p:cNvPr id="36" name="Text 33"/>
          <p:cNvSpPr txBox="1"/>
          <p:nvPr/>
        </p:nvSpPr>
        <p:spPr>
          <a:xfrm>
            <a:off x="9217152" y="4279392"/>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posts</a:t>
            </a:r>
            <a:endParaRPr lang="en-US" sz="950" dirty="0"/>
          </a:p>
        </p:txBody>
      </p:sp>
      <p:sp>
        <p:nvSpPr>
          <p:cNvPr id="37" name="Text 34"/>
          <p:cNvSpPr txBox="1"/>
          <p:nvPr/>
        </p:nvSpPr>
        <p:spPr>
          <a:xfrm>
            <a:off x="6702552" y="3858768"/>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نَشْرٌ</a:t>
            </a:r>
            <a:endParaRPr lang="ar-SA" sz="2100" dirty="0"/>
          </a:p>
        </p:txBody>
      </p:sp>
      <p:sp>
        <p:nvSpPr>
          <p:cNvPr id="38" name="Text 35"/>
          <p:cNvSpPr txBox="1"/>
          <p:nvPr/>
        </p:nvSpPr>
        <p:spPr>
          <a:xfrm>
            <a:off x="6656832" y="4279392"/>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nashr</a:t>
            </a:r>
            <a:endParaRPr lang="en-US" sz="950" dirty="0"/>
          </a:p>
        </p:txBody>
      </p:sp>
      <p:sp>
        <p:nvSpPr>
          <p:cNvPr id="39" name="Text 36"/>
          <p:cNvSpPr txBox="1"/>
          <p:nvPr/>
        </p:nvSpPr>
        <p:spPr>
          <a:xfrm>
            <a:off x="4617720" y="3840480"/>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posting</a:t>
            </a:r>
            <a:endParaRPr lang="en-US" sz="1100" dirty="0"/>
          </a:p>
        </p:txBody>
      </p:sp>
      <p:sp>
        <p:nvSpPr>
          <p:cNvPr id="40" name="Text 37"/>
          <p:cNvSpPr txBox="1"/>
          <p:nvPr/>
        </p:nvSpPr>
        <p:spPr>
          <a:xfrm>
            <a:off x="548640" y="3840480"/>
            <a:ext cx="386791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نَشْرُ العُنْوَانِ الشَّخْصِيِّ</a:t>
            </a:r>
            <a:endParaRPr lang="ar-SA" sz="180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9262872" y="4645152"/>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يَتَوَاصَلُ</a:t>
            </a:r>
            <a:endParaRPr lang="ar-SA" sz="2100" dirty="0"/>
          </a:p>
        </p:txBody>
      </p:sp>
      <p:sp>
        <p:nvSpPr>
          <p:cNvPr id="43" name="Text 40"/>
          <p:cNvSpPr txBox="1"/>
          <p:nvPr/>
        </p:nvSpPr>
        <p:spPr>
          <a:xfrm>
            <a:off x="9217152" y="5065776"/>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communicates</a:t>
            </a:r>
            <a:endParaRPr lang="en-US" sz="950" dirty="0"/>
          </a:p>
        </p:txBody>
      </p:sp>
      <p:sp>
        <p:nvSpPr>
          <p:cNvPr id="44" name="Text 41"/>
          <p:cNvSpPr txBox="1"/>
          <p:nvPr/>
        </p:nvSpPr>
        <p:spPr>
          <a:xfrm>
            <a:off x="6702552" y="4645152"/>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تَوَاصُلٌ</a:t>
            </a:r>
            <a:endParaRPr lang="ar-SA" sz="2100" dirty="0"/>
          </a:p>
        </p:txBody>
      </p:sp>
      <p:sp>
        <p:nvSpPr>
          <p:cNvPr id="45" name="Text 42"/>
          <p:cNvSpPr txBox="1"/>
          <p:nvPr/>
        </p:nvSpPr>
        <p:spPr>
          <a:xfrm>
            <a:off x="6656832" y="5065776"/>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ta-wā-ṣul</a:t>
            </a:r>
            <a:endParaRPr lang="en-US" sz="950" dirty="0"/>
          </a:p>
        </p:txBody>
      </p:sp>
      <p:sp>
        <p:nvSpPr>
          <p:cNvPr id="46" name="Text 43"/>
          <p:cNvSpPr txBox="1"/>
          <p:nvPr/>
        </p:nvSpPr>
        <p:spPr>
          <a:xfrm>
            <a:off x="4617720" y="4626864"/>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communication</a:t>
            </a:r>
            <a:endParaRPr lang="en-US" sz="1100" dirty="0"/>
          </a:p>
        </p:txBody>
      </p:sp>
      <p:sp>
        <p:nvSpPr>
          <p:cNvPr id="47" name="Text 44"/>
          <p:cNvSpPr txBox="1"/>
          <p:nvPr/>
        </p:nvSpPr>
        <p:spPr>
          <a:xfrm>
            <a:off x="548640" y="4626864"/>
            <a:ext cx="386791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وَسَائِلُ التَّوَاصُلِ الاجْتِمَاعِيِّ</a:t>
            </a:r>
            <a:endParaRPr lang="ar-SA" sz="1800" dirty="0"/>
          </a:p>
        </p:txBody>
      </p:sp>
      <p:sp>
        <p:nvSpPr>
          <p:cNvPr id="48" name="Shape 45"/>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9" name="Text 46"/>
          <p:cNvSpPr txBox="1"/>
          <p:nvPr/>
        </p:nvSpPr>
        <p:spPr>
          <a:xfrm>
            <a:off x="9262872" y="5431536"/>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يُقَلِّلُ</a:t>
            </a:r>
            <a:endParaRPr lang="ar-SA" sz="2100" dirty="0"/>
          </a:p>
        </p:txBody>
      </p:sp>
      <p:sp>
        <p:nvSpPr>
          <p:cNvPr id="50" name="Text 47"/>
          <p:cNvSpPr txBox="1"/>
          <p:nvPr/>
        </p:nvSpPr>
        <p:spPr>
          <a:xfrm>
            <a:off x="9217152" y="5852160"/>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reduces</a:t>
            </a:r>
            <a:endParaRPr lang="en-US" sz="950" dirty="0"/>
          </a:p>
        </p:txBody>
      </p:sp>
      <p:sp>
        <p:nvSpPr>
          <p:cNvPr id="51" name="Text 48"/>
          <p:cNvSpPr txBox="1"/>
          <p:nvPr/>
        </p:nvSpPr>
        <p:spPr>
          <a:xfrm>
            <a:off x="6702552" y="5431536"/>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تَقْلِيلٌ</a:t>
            </a:r>
            <a:endParaRPr lang="ar-SA" sz="2100" dirty="0"/>
          </a:p>
        </p:txBody>
      </p:sp>
      <p:sp>
        <p:nvSpPr>
          <p:cNvPr id="52" name="Text 49"/>
          <p:cNvSpPr txBox="1"/>
          <p:nvPr/>
        </p:nvSpPr>
        <p:spPr>
          <a:xfrm>
            <a:off x="6656832" y="5852160"/>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taq-līl</a:t>
            </a:r>
            <a:endParaRPr lang="en-US" sz="950" dirty="0"/>
          </a:p>
        </p:txBody>
      </p:sp>
      <p:sp>
        <p:nvSpPr>
          <p:cNvPr id="53" name="Text 50"/>
          <p:cNvSpPr txBox="1"/>
          <p:nvPr/>
        </p:nvSpPr>
        <p:spPr>
          <a:xfrm>
            <a:off x="4617720" y="5413248"/>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reducing</a:t>
            </a:r>
            <a:endParaRPr lang="en-US" sz="1100" dirty="0"/>
          </a:p>
        </p:txBody>
      </p:sp>
      <p:sp>
        <p:nvSpPr>
          <p:cNvPr id="54" name="Text 51"/>
          <p:cNvSpPr txBox="1"/>
          <p:nvPr/>
        </p:nvSpPr>
        <p:spPr>
          <a:xfrm>
            <a:off x="548640" y="5413248"/>
            <a:ext cx="386791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تَقْلِيلُ وَقْتِ الشَّاشَةِ</a:t>
            </a:r>
            <a:endParaRPr lang="ar-SA" sz="18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GRAMMAR FOCUS · PART 1 · WEBSITE RULE “VERB + FIXED PREPOSITION”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 the verb and its partner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الفِعْلُ وَحَرْفُهُ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28800"/>
            <a:ext cx="11274552" cy="2331720"/>
          </a:xfrm>
          <a:prstGeom prst="roundRect">
            <a:avLst>
              <a:gd name="adj" fmla="val 313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371600" y="1828800"/>
            <a:ext cx="9445752" cy="1572768"/>
          </a:xfrm>
          <a:prstGeom prst="rect">
            <a:avLst/>
          </a:prstGeom>
          <a:noFill/>
          <a:ln/>
        </p:spPr>
        <p:txBody>
          <a:bodyPr wrap="square" lIns="0" tIns="0" rIns="0" bIns="0" rtlCol="0" anchor="ctr"/>
          <a:lstStyle/>
          <a:p>
            <a:pPr rtl="1" algn="ctr" indent="0" marL="0">
              <a:buNone/>
            </a:pPr>
            <a:r>
              <a:rPr lang="ar-SA" altLang="en-US" sz="7200" b="1" dirty="0">
                <a:solidFill>
                  <a:srgbClr val="1D5FBF"/>
                </a:solidFill>
                <a:latin typeface="Amiri" pitchFamily="34" charset="0"/>
                <a:ea typeface="Amiri" pitchFamily="34" charset="-122"/>
                <a:cs typeface="Amiri" pitchFamily="34" charset="-120"/>
              </a:rPr>
              <a:t>أَ</a:t>
            </a:r>
            <a:pPr rtl="1" algn="ctr" indent="0" marL="0">
              <a:buNone/>
            </a:pPr>
            <a:r>
              <a:rPr lang="ar-SA" altLang="en-US" sz="7200" b="1" dirty="0">
                <a:solidFill>
                  <a:srgbClr val="7B3FA0"/>
                </a:solidFill>
                <a:latin typeface="Amiri" pitchFamily="34" charset="0"/>
                <a:ea typeface="Amiri" pitchFamily="34" charset="-122"/>
                <a:cs typeface="Amiri" pitchFamily="34" charset="-120"/>
              </a:rPr>
              <a:t>تَفَاعَلُ</a:t>
            </a:r>
            <a:pPr rtl="1" algn="ctr" indent="0" marL="0">
              <a:buNone/>
            </a:pPr>
            <a:r>
              <a:rPr lang="ar-SA" altLang="en-US" sz="7200" b="1" dirty="0">
                <a:solidFill>
                  <a:srgbClr val="1B3B6F"/>
                </a:solidFill>
                <a:latin typeface="Amiri" pitchFamily="34" charset="0"/>
                <a:ea typeface="Amiri" pitchFamily="34" charset="-122"/>
                <a:cs typeface="Amiri" pitchFamily="34" charset="-120"/>
              </a:rPr>
              <a:t> </a:t>
            </a:r>
            <a:pPr rtl="1" algn="ctr" indent="0" marL="0">
              <a:buNone/>
            </a:pPr>
            <a:r>
              <a:rPr lang="ar-SA" altLang="en-US" sz="7200" b="1" dirty="0">
                <a:solidFill>
                  <a:srgbClr val="0E7C86"/>
                </a:solidFill>
                <a:latin typeface="Amiri" pitchFamily="34" charset="0"/>
                <a:ea typeface="Amiri" pitchFamily="34" charset="-122"/>
                <a:cs typeface="Amiri" pitchFamily="34" charset="-120"/>
              </a:rPr>
              <a:t>مَعَ</a:t>
            </a:r>
            <a:pPr rtl="1" algn="ctr" indent="0" marL="0">
              <a:buNone/>
            </a:pPr>
            <a:r>
              <a:rPr lang="ar-SA" altLang="en-US" sz="7200" b="1" dirty="0">
                <a:solidFill>
                  <a:srgbClr val="1B3B6F"/>
                </a:solidFill>
                <a:latin typeface="Amiri" pitchFamily="34" charset="0"/>
                <a:ea typeface="Amiri" pitchFamily="34" charset="-122"/>
                <a:cs typeface="Amiri" pitchFamily="34" charset="-120"/>
              </a:rPr>
              <a:t> المُعَلِّمِ</a:t>
            </a:r>
            <a:endParaRPr lang="ar-SA" sz="7200" dirty="0"/>
          </a:p>
        </p:txBody>
      </p:sp>
      <p:sp>
        <p:nvSpPr>
          <p:cNvPr id="17" name="Text 14"/>
          <p:cNvSpPr txBox="1"/>
          <p:nvPr/>
        </p:nvSpPr>
        <p:spPr>
          <a:xfrm>
            <a:off x="457200" y="3675888"/>
            <a:ext cx="11274552" cy="365760"/>
          </a:xfrm>
          <a:prstGeom prst="rect">
            <a:avLst/>
          </a:prstGeom>
          <a:noFill/>
          <a:ln/>
        </p:spPr>
        <p:txBody>
          <a:bodyPr wrap="square" lIns="0" tIns="0" rIns="0" bIns="0" rtlCol="0" anchor="ctr"/>
          <a:lstStyle/>
          <a:p>
            <a:pPr algn="ctr" indent="0" marL="0">
              <a:buNone/>
            </a:pPr>
            <a:r>
              <a:rPr lang="en-US" sz="1500" i="1" dirty="0">
                <a:solidFill>
                  <a:srgbClr val="5A6472"/>
                </a:solidFill>
                <a:latin typeface="Calibri" pitchFamily="34" charset="0"/>
                <a:ea typeface="Calibri" pitchFamily="34" charset="-122"/>
                <a:cs typeface="Calibri" pitchFamily="34" charset="-120"/>
              </a:rPr>
              <a:t>a-ta-fā-ʿa-lu ma-ʿa l-mu-ʿal-lim · I interact with the teacher</a:t>
            </a:r>
            <a:endParaRPr lang="en-US" sz="1500" dirty="0"/>
          </a:p>
        </p:txBody>
      </p:sp>
      <p:sp>
        <p:nvSpPr>
          <p:cNvPr id="18" name="Shape 15"/>
          <p:cNvSpPr/>
          <p:nvPr/>
        </p:nvSpPr>
        <p:spPr>
          <a:xfrm>
            <a:off x="8095488" y="4370832"/>
            <a:ext cx="3636264" cy="1783080"/>
          </a:xfrm>
          <a:prstGeom prst="roundRect">
            <a:avLst>
              <a:gd name="adj" fmla="val 4103"/>
            </a:avLst>
          </a:prstGeom>
          <a:solidFill>
            <a:srgbClr val="FFFFFF"/>
          </a:solidFill>
          <a:ln w="19050">
            <a:solidFill>
              <a:srgbClr val="1D5FBF"/>
            </a:solidFill>
            <a:prstDash val="solid"/>
          </a:ln>
          <a:effectLst>
            <a:outerShdw sx="100000" sy="100000" kx="0" ky="0" algn="bl" rotWithShape="0" blurRad="50800" dist="19050" dir="5400000">
              <a:srgbClr val="000000">
                <a:alpha val="10000"/>
              </a:srgbClr>
            </a:outerShdw>
          </a:effectLst>
        </p:spPr>
      </p:sp>
      <p:sp>
        <p:nvSpPr>
          <p:cNvPr id="19" name="Text 16"/>
          <p:cNvSpPr txBox="1"/>
          <p:nvPr/>
        </p:nvSpPr>
        <p:spPr>
          <a:xfrm>
            <a:off x="8278368"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1</a:t>
            </a:r>
            <a:endParaRPr lang="en-US" sz="3000" dirty="0"/>
          </a:p>
        </p:txBody>
      </p:sp>
      <p:sp>
        <p:nvSpPr>
          <p:cNvPr id="20" name="Text 17"/>
          <p:cNvSpPr txBox="1"/>
          <p:nvPr/>
        </p:nvSpPr>
        <p:spPr>
          <a:xfrm>
            <a:off x="8827008"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1D5FBF"/>
                </a:solidFill>
                <a:latin typeface="Amiri" pitchFamily="34" charset="0"/>
                <a:ea typeface="Amiri" pitchFamily="34" charset="-122"/>
                <a:cs typeface="Amiri" pitchFamily="34" charset="-120"/>
              </a:rPr>
              <a:t>أَـ</a:t>
            </a:r>
            <a:endParaRPr lang="ar-SA" sz="3400" dirty="0"/>
          </a:p>
        </p:txBody>
      </p:sp>
      <p:sp>
        <p:nvSpPr>
          <p:cNvPr id="21" name="Text 18"/>
          <p:cNvSpPr txBox="1"/>
          <p:nvPr/>
        </p:nvSpPr>
        <p:spPr>
          <a:xfrm>
            <a:off x="8278368" y="5120640"/>
            <a:ext cx="3270504" cy="310896"/>
          </a:xfrm>
          <a:prstGeom prst="rect">
            <a:avLst/>
          </a:prstGeom>
          <a:noFill/>
          <a:ln/>
        </p:spPr>
        <p:txBody>
          <a:bodyPr wrap="square" lIns="0" tIns="0" rIns="0" bIns="0" rtlCol="0" anchor="ctr"/>
          <a:lstStyle/>
          <a:p>
            <a:pPr algn="l" indent="0" marL="0">
              <a:buNone/>
            </a:pPr>
            <a:r>
              <a:rPr lang="en-US" sz="1600" b="1" dirty="0">
                <a:solidFill>
                  <a:srgbClr val="1D5FBF"/>
                </a:solidFill>
                <a:latin typeface="Calibri" pitchFamily="34" charset="0"/>
                <a:ea typeface="Calibri" pitchFamily="34" charset="-122"/>
                <a:cs typeface="Calibri" pitchFamily="34" charset="-120"/>
              </a:rPr>
              <a:t>WHO? </a:t>
            </a:r>
            <a:pPr algn="l" indent="0" marL="0">
              <a:buNone/>
            </a:pPr>
            <a:r>
              <a:rPr lang="ar-SA" altLang="en-US" sz="2100" b="1" dirty="0">
                <a:solidFill>
                  <a:srgbClr val="1D5FBF"/>
                </a:solidFill>
                <a:latin typeface="Amiri" pitchFamily="34" charset="0"/>
                <a:ea typeface="Amiri" pitchFamily="34" charset="-122"/>
                <a:cs typeface="Amiri" pitchFamily="34" charset="-120"/>
              </a:rPr>
              <a:t>أَـ</a:t>
            </a:r>
            <a:pPr algn="l" indent="0" marL="0">
              <a:buNone/>
            </a:pPr>
            <a:r>
              <a:rPr lang="en-US" sz="1600" b="1" dirty="0">
                <a:solidFill>
                  <a:srgbClr val="1D5FBF"/>
                </a:solidFill>
                <a:latin typeface="Calibri" pitchFamily="34" charset="0"/>
                <a:ea typeface="Calibri" pitchFamily="34" charset="-122"/>
                <a:cs typeface="Calibri" pitchFamily="34" charset="-120"/>
              </a:rPr>
              <a:t> = I</a:t>
            </a:r>
            <a:endParaRPr lang="en-US" sz="1600" dirty="0"/>
          </a:p>
        </p:txBody>
      </p:sp>
      <p:sp>
        <p:nvSpPr>
          <p:cNvPr id="22" name="Text 19"/>
          <p:cNvSpPr txBox="1"/>
          <p:nvPr/>
        </p:nvSpPr>
        <p:spPr>
          <a:xfrm>
            <a:off x="8278368"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Change the first letter for the person: </a:t>
            </a:r>
            <a:pPr algn="l" indent="0" marL="0">
              <a:buNone/>
            </a:pPr>
            <a:r>
              <a:rPr lang="ar-SA" altLang="en-US" sz="1500" dirty="0">
                <a:solidFill>
                  <a:srgbClr val="5A6472"/>
                </a:solidFill>
                <a:latin typeface="Amiri" pitchFamily="34" charset="0"/>
                <a:ea typeface="Amiri" pitchFamily="34" charset="-122"/>
                <a:cs typeface="Amiri" pitchFamily="34" charset="-120"/>
              </a:rPr>
              <a:t>أَتَفَاعَلُ</a:t>
            </a:r>
            <a:pPr algn="l" indent="0" marL="0">
              <a:buNone/>
            </a:pPr>
            <a:r>
              <a:rPr lang="en-US" sz="1150" dirty="0">
                <a:solidFill>
                  <a:srgbClr val="5A6472"/>
                </a:solidFill>
                <a:latin typeface="Calibri" pitchFamily="34" charset="0"/>
                <a:ea typeface="Calibri" pitchFamily="34" charset="-122"/>
                <a:cs typeface="Calibri" pitchFamily="34" charset="-120"/>
              </a:rPr>
              <a:t> (I) · </a:t>
            </a:r>
            <a:pPr algn="l" indent="0" marL="0">
              <a:buNone/>
            </a:pPr>
            <a:r>
              <a:rPr lang="ar-SA" altLang="en-US" sz="1500" dirty="0">
                <a:solidFill>
                  <a:srgbClr val="5A6472"/>
                </a:solidFill>
                <a:latin typeface="Amiri" pitchFamily="34" charset="0"/>
                <a:ea typeface="Amiri" pitchFamily="34" charset="-122"/>
                <a:cs typeface="Amiri" pitchFamily="34" charset="-120"/>
              </a:rPr>
              <a:t>يَتَفَاعَلُ</a:t>
            </a:r>
            <a:pPr algn="l" indent="0" marL="0">
              <a:buNone/>
            </a:pPr>
            <a:r>
              <a:rPr lang="en-US" sz="1150" dirty="0">
                <a:solidFill>
                  <a:srgbClr val="5A6472"/>
                </a:solidFill>
                <a:latin typeface="Calibri" pitchFamily="34" charset="0"/>
                <a:ea typeface="Calibri" pitchFamily="34" charset="-122"/>
                <a:cs typeface="Calibri" pitchFamily="34" charset="-120"/>
              </a:rPr>
              <a:t> (he).</a:t>
            </a:r>
            <a:endParaRPr lang="en-US" sz="1150" dirty="0"/>
          </a:p>
        </p:txBody>
      </p:sp>
      <p:sp>
        <p:nvSpPr>
          <p:cNvPr id="23" name="Shape 20"/>
          <p:cNvSpPr/>
          <p:nvPr/>
        </p:nvSpPr>
        <p:spPr>
          <a:xfrm>
            <a:off x="4276344" y="4370832"/>
            <a:ext cx="3636264" cy="1783080"/>
          </a:xfrm>
          <a:prstGeom prst="roundRect">
            <a:avLst>
              <a:gd name="adj" fmla="val 4103"/>
            </a:avLst>
          </a:prstGeom>
          <a:solidFill>
            <a:srgbClr val="FFFFFF"/>
          </a:solidFill>
          <a:ln w="19050">
            <a:solidFill>
              <a:srgbClr val="7B3FA0"/>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4459224"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2</a:t>
            </a:r>
            <a:endParaRPr lang="en-US" sz="3000" dirty="0"/>
          </a:p>
        </p:txBody>
      </p:sp>
      <p:sp>
        <p:nvSpPr>
          <p:cNvPr id="25" name="Text 22"/>
          <p:cNvSpPr txBox="1"/>
          <p:nvPr/>
        </p:nvSpPr>
        <p:spPr>
          <a:xfrm>
            <a:off x="5007864"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7B3FA0"/>
                </a:solidFill>
                <a:latin typeface="Amiri" pitchFamily="34" charset="0"/>
                <a:ea typeface="Amiri" pitchFamily="34" charset="-122"/>
                <a:cs typeface="Amiri" pitchFamily="34" charset="-120"/>
              </a:rPr>
              <a:t>تَفَاعَلُ</a:t>
            </a:r>
            <a:endParaRPr lang="ar-SA" sz="3400" dirty="0"/>
          </a:p>
        </p:txBody>
      </p:sp>
      <p:sp>
        <p:nvSpPr>
          <p:cNvPr id="26" name="Text 23"/>
          <p:cNvSpPr txBox="1"/>
          <p:nvPr/>
        </p:nvSpPr>
        <p:spPr>
          <a:xfrm>
            <a:off x="4459224" y="5120640"/>
            <a:ext cx="3270504" cy="310896"/>
          </a:xfrm>
          <a:prstGeom prst="rect">
            <a:avLst/>
          </a:prstGeom>
          <a:noFill/>
          <a:ln/>
        </p:spPr>
        <p:txBody>
          <a:bodyPr wrap="square" lIns="0" tIns="0" rIns="0" bIns="0" rtlCol="0" anchor="ctr"/>
          <a:lstStyle/>
          <a:p>
            <a:pPr algn="l" indent="0" marL="0">
              <a:buNone/>
            </a:pPr>
            <a:r>
              <a:rPr lang="en-US" sz="1600" b="1" dirty="0">
                <a:solidFill>
                  <a:srgbClr val="7B3FA0"/>
                </a:solidFill>
                <a:latin typeface="Calibri" pitchFamily="34" charset="0"/>
                <a:ea typeface="Calibri" pitchFamily="34" charset="-122"/>
                <a:cs typeface="Calibri" pitchFamily="34" charset="-120"/>
              </a:rPr>
              <a:t>MEANING</a:t>
            </a:r>
            <a:endParaRPr lang="en-US" sz="1600" dirty="0"/>
          </a:p>
        </p:txBody>
      </p:sp>
      <p:sp>
        <p:nvSpPr>
          <p:cNvPr id="27" name="Text 24"/>
          <p:cNvSpPr txBox="1"/>
          <p:nvPr/>
        </p:nvSpPr>
        <p:spPr>
          <a:xfrm>
            <a:off x="4459224"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The rest of the verb carries the meaning: interact.</a:t>
            </a:r>
            <a:endParaRPr lang="en-US" sz="1150" dirty="0"/>
          </a:p>
        </p:txBody>
      </p:sp>
      <p:sp>
        <p:nvSpPr>
          <p:cNvPr id="28" name="Shape 25"/>
          <p:cNvSpPr/>
          <p:nvPr/>
        </p:nvSpPr>
        <p:spPr>
          <a:xfrm>
            <a:off x="457200" y="4370832"/>
            <a:ext cx="3636264" cy="1783080"/>
          </a:xfrm>
          <a:prstGeom prst="roundRect">
            <a:avLst>
              <a:gd name="adj" fmla="val 4103"/>
            </a:avLst>
          </a:prstGeom>
          <a:solidFill>
            <a:srgbClr val="FFFFFF"/>
          </a:solidFill>
          <a:ln w="19050">
            <a:solidFill>
              <a:srgbClr val="0E7C86"/>
            </a:solidFill>
            <a:prstDash val="solid"/>
          </a:ln>
          <a:effectLst>
            <a:outerShdw sx="100000" sy="100000" kx="0" ky="0" algn="bl" rotWithShape="0" blurRad="50800" dist="19050" dir="5400000">
              <a:srgbClr val="000000">
                <a:alpha val="10000"/>
              </a:srgbClr>
            </a:outerShdw>
          </a:effectLst>
        </p:spPr>
      </p:sp>
      <p:sp>
        <p:nvSpPr>
          <p:cNvPr id="29" name="Text 26"/>
          <p:cNvSpPr txBox="1"/>
          <p:nvPr/>
        </p:nvSpPr>
        <p:spPr>
          <a:xfrm>
            <a:off x="640080"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3</a:t>
            </a:r>
            <a:endParaRPr lang="en-US" sz="3000" dirty="0"/>
          </a:p>
        </p:txBody>
      </p:sp>
      <p:sp>
        <p:nvSpPr>
          <p:cNvPr id="30" name="Text 27"/>
          <p:cNvSpPr txBox="1"/>
          <p:nvPr/>
        </p:nvSpPr>
        <p:spPr>
          <a:xfrm>
            <a:off x="1188720"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0E7C86"/>
                </a:solidFill>
                <a:latin typeface="Amiri" pitchFamily="34" charset="0"/>
                <a:ea typeface="Amiri" pitchFamily="34" charset="-122"/>
                <a:cs typeface="Amiri" pitchFamily="34" charset="-120"/>
              </a:rPr>
              <a:t>مَعَ</a:t>
            </a:r>
            <a:endParaRPr lang="ar-SA" sz="3400" dirty="0"/>
          </a:p>
        </p:txBody>
      </p:sp>
      <p:sp>
        <p:nvSpPr>
          <p:cNvPr id="31" name="Text 28"/>
          <p:cNvSpPr txBox="1"/>
          <p:nvPr/>
        </p:nvSpPr>
        <p:spPr>
          <a:xfrm>
            <a:off x="640080" y="5120640"/>
            <a:ext cx="3270504" cy="310896"/>
          </a:xfrm>
          <a:prstGeom prst="rect">
            <a:avLst/>
          </a:prstGeom>
          <a:noFill/>
          <a:ln/>
        </p:spPr>
        <p:txBody>
          <a:bodyPr wrap="square" lIns="0" tIns="0" rIns="0" bIns="0" rtlCol="0" anchor="ctr"/>
          <a:lstStyle/>
          <a:p>
            <a:pPr algn="l" indent="0" marL="0">
              <a:buNone/>
            </a:pPr>
            <a:r>
              <a:rPr lang="en-US" sz="1600" b="1" dirty="0">
                <a:solidFill>
                  <a:srgbClr val="0E7C86"/>
                </a:solidFill>
                <a:latin typeface="Calibri" pitchFamily="34" charset="0"/>
                <a:ea typeface="Calibri" pitchFamily="34" charset="-122"/>
                <a:cs typeface="Calibri" pitchFamily="34" charset="-120"/>
              </a:rPr>
              <a:t>PARTNER word</a:t>
            </a:r>
            <a:endParaRPr lang="en-US" sz="1600" dirty="0"/>
          </a:p>
        </p:txBody>
      </p:sp>
      <p:sp>
        <p:nvSpPr>
          <p:cNvPr id="32" name="Text 29"/>
          <p:cNvSpPr txBox="1"/>
          <p:nvPr/>
        </p:nvSpPr>
        <p:spPr>
          <a:xfrm>
            <a:off x="640080"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Each verb keeps its own partner: </a:t>
            </a:r>
            <a:pPr algn="l" indent="0" marL="0">
              <a:buNone/>
            </a:pPr>
            <a:r>
              <a:rPr lang="ar-SA" altLang="en-US" sz="1500" dirty="0">
                <a:solidFill>
                  <a:srgbClr val="5A6472"/>
                </a:solidFill>
                <a:latin typeface="Amiri" pitchFamily="34" charset="0"/>
                <a:ea typeface="Amiri" pitchFamily="34" charset="-122"/>
                <a:cs typeface="Amiri" pitchFamily="34" charset="-120"/>
              </a:rPr>
              <a:t>مَعَ</a:t>
            </a:r>
            <a:pPr algn="l" indent="0" marL="0">
              <a:buNone/>
            </a:pPr>
            <a:r>
              <a:rPr lang="en-US" sz="1150" dirty="0">
                <a:solidFill>
                  <a:srgbClr val="5A6472"/>
                </a:solidFill>
                <a:latin typeface="Calibri" pitchFamily="34" charset="0"/>
                <a:ea typeface="Calibri" pitchFamily="34" charset="-122"/>
                <a:cs typeface="Calibri" pitchFamily="34" charset="-120"/>
              </a:rPr>
              <a:t> · </a:t>
            </a:r>
            <a:pPr algn="l" indent="0" marL="0">
              <a:buNone/>
            </a:pPr>
            <a:r>
              <a:rPr lang="ar-SA" altLang="en-US" sz="1500" dirty="0">
                <a:solidFill>
                  <a:srgbClr val="5A6472"/>
                </a:solidFill>
                <a:latin typeface="Amiri" pitchFamily="34" charset="0"/>
                <a:ea typeface="Amiri" pitchFamily="34" charset="-122"/>
                <a:cs typeface="Amiri" pitchFamily="34" charset="-120"/>
              </a:rPr>
              <a:t>عَلَى</a:t>
            </a:r>
            <a:pPr algn="l" indent="0" marL="0">
              <a:buNone/>
            </a:pPr>
            <a:r>
              <a:rPr lang="en-US" sz="1150" dirty="0">
                <a:solidFill>
                  <a:srgbClr val="5A6472"/>
                </a:solidFill>
                <a:latin typeface="Calibri" pitchFamily="34" charset="0"/>
                <a:ea typeface="Calibri" pitchFamily="34" charset="-122"/>
                <a:cs typeface="Calibri" pitchFamily="34" charset="-120"/>
              </a:rPr>
              <a:t> · </a:t>
            </a:r>
            <a:pPr algn="l" indent="0" marL="0">
              <a:buNone/>
            </a:pPr>
            <a:r>
              <a:rPr lang="ar-SA" altLang="en-US" sz="1500" dirty="0">
                <a:solidFill>
                  <a:srgbClr val="5A6472"/>
                </a:solidFill>
                <a:latin typeface="Amiri" pitchFamily="34" charset="0"/>
                <a:ea typeface="Amiri" pitchFamily="34" charset="-122"/>
                <a:cs typeface="Amiri" pitchFamily="34" charset="-120"/>
              </a:rPr>
              <a:t>عَنْ</a:t>
            </a:r>
            <a:pPr algn="l" indent="0" marL="0">
              <a:buNone/>
            </a:pPr>
            <a:r>
              <a:rPr lang="en-US" sz="1150" dirty="0">
                <a:solidFill>
                  <a:srgbClr val="5A6472"/>
                </a:solidFill>
                <a:latin typeface="Calibri" pitchFamily="34" charset="0"/>
                <a:ea typeface="Calibri" pitchFamily="34" charset="-122"/>
                <a:cs typeface="Calibri" pitchFamily="34" charset="-120"/>
              </a:rPr>
              <a:t>. It never changes.</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GRAMMAR FOCUS · PART 2 · VERBS AND THEIR PARTNERS IN WEBSITE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One verb, one partner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فِعْلٌ وَاحِدٌ، حَرْفٌ وَاحِدٌ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11274552" cy="420624"/>
          </a:xfrm>
          <a:prstGeom prst="rect">
            <a:avLst/>
          </a:prstGeom>
          <a:solidFill>
            <a:srgbClr val="1B3B6F"/>
          </a:solidFill>
          <a:ln w="12700">
            <a:solidFill>
              <a:srgbClr val="1B3B6F"/>
            </a:solidFill>
            <a:prstDash val="solid"/>
          </a:ln>
        </p:spPr>
      </p:sp>
      <p:sp>
        <p:nvSpPr>
          <p:cNvPr id="16" name="Text 13"/>
          <p:cNvSpPr txBox="1"/>
          <p:nvPr/>
        </p:nvSpPr>
        <p:spPr>
          <a:xfrm>
            <a:off x="9674352" y="1810512"/>
            <a:ext cx="19202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Verb</a:t>
            </a:r>
            <a:endParaRPr lang="en-US" sz="1200" dirty="0"/>
          </a:p>
        </p:txBody>
      </p:sp>
      <p:sp>
        <p:nvSpPr>
          <p:cNvPr id="17" name="Text 14"/>
          <p:cNvSpPr txBox="1"/>
          <p:nvPr/>
        </p:nvSpPr>
        <p:spPr>
          <a:xfrm>
            <a:off x="6565392" y="1810512"/>
            <a:ext cx="28346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Partner</a:t>
            </a:r>
            <a:endParaRPr lang="en-US" sz="1200" dirty="0"/>
          </a:p>
        </p:txBody>
      </p:sp>
      <p:sp>
        <p:nvSpPr>
          <p:cNvPr id="18" name="Text 15"/>
          <p:cNvSpPr txBox="1"/>
          <p:nvPr/>
        </p:nvSpPr>
        <p:spPr>
          <a:xfrm>
            <a:off x="594360" y="1810512"/>
            <a:ext cx="5696712"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Website sentence</a:t>
            </a:r>
            <a:endParaRPr lang="en-US" sz="1200" dirty="0"/>
          </a:p>
        </p:txBody>
      </p:sp>
      <p:sp>
        <p:nvSpPr>
          <p:cNvPr id="19" name="Shape 16"/>
          <p:cNvSpPr/>
          <p:nvPr/>
        </p:nvSpPr>
        <p:spPr>
          <a:xfrm>
            <a:off x="457200" y="2322576"/>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085832" y="232257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يَتَفَاعَلُ</a:t>
            </a:r>
            <a:endParaRPr lang="ar-SA" sz="2400" dirty="0"/>
          </a:p>
        </p:txBody>
      </p:sp>
      <p:sp>
        <p:nvSpPr>
          <p:cNvPr id="21" name="Text 18"/>
          <p:cNvSpPr txBox="1"/>
          <p:nvPr/>
        </p:nvSpPr>
        <p:spPr>
          <a:xfrm>
            <a:off x="9509760" y="232257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interacts</a:t>
            </a:r>
            <a:endParaRPr lang="en-US" sz="1150" dirty="0"/>
          </a:p>
        </p:txBody>
      </p:sp>
      <p:sp>
        <p:nvSpPr>
          <p:cNvPr id="22" name="Text 19"/>
          <p:cNvSpPr txBox="1"/>
          <p:nvPr/>
        </p:nvSpPr>
        <p:spPr>
          <a:xfrm>
            <a:off x="6565392" y="232257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0E7C86"/>
                </a:solidFill>
                <a:latin typeface="Amiri" pitchFamily="34" charset="0"/>
                <a:ea typeface="Amiri" pitchFamily="34" charset="-122"/>
                <a:cs typeface="Amiri" pitchFamily="34" charset="-120"/>
              </a:rPr>
              <a:t>مَعَ</a:t>
            </a:r>
            <a:endParaRPr lang="ar-SA" sz="3000" dirty="0"/>
          </a:p>
        </p:txBody>
      </p:sp>
      <p:sp>
        <p:nvSpPr>
          <p:cNvPr id="23" name="Text 20"/>
          <p:cNvSpPr txBox="1"/>
          <p:nvPr/>
        </p:nvSpPr>
        <p:spPr>
          <a:xfrm>
            <a:off x="594360" y="234086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يَتَفَاعَلُ الطُّلَّابُ </a:t>
            </a:r>
            <a:pPr rtl="1" algn="r" indent="0" marL="0">
              <a:buNone/>
            </a:pPr>
            <a:r>
              <a:rPr lang="ar-SA" altLang="en-US" sz="2000" dirty="0">
                <a:solidFill>
                  <a:srgbClr val="0E7C86"/>
                </a:solidFill>
                <a:latin typeface="Amiri" pitchFamily="34" charset="0"/>
                <a:ea typeface="Amiri" pitchFamily="34" charset="-122"/>
                <a:cs typeface="Amiri" pitchFamily="34" charset="-120"/>
              </a:rPr>
              <a:t>مَعَ</a:t>
            </a:r>
            <a:pPr rtl="1" algn="r" indent="0" marL="0">
              <a:buNone/>
            </a:pPr>
            <a:r>
              <a:rPr lang="ar-SA" altLang="en-US" sz="2000" dirty="0">
                <a:solidFill>
                  <a:srgbClr val="1F2A37"/>
                </a:solidFill>
                <a:latin typeface="Amiri" pitchFamily="34" charset="0"/>
                <a:ea typeface="Amiri" pitchFamily="34" charset="-122"/>
                <a:cs typeface="Amiri" pitchFamily="34" charset="-120"/>
              </a:rPr>
              <a:t> المُعَلِّمِ.</a:t>
            </a:r>
            <a:endParaRPr lang="ar-SA" sz="2000" dirty="0"/>
          </a:p>
        </p:txBody>
      </p:sp>
      <p:sp>
        <p:nvSpPr>
          <p:cNvPr id="24" name="Text 21"/>
          <p:cNvSpPr txBox="1"/>
          <p:nvPr/>
        </p:nvSpPr>
        <p:spPr>
          <a:xfrm>
            <a:off x="594360" y="274685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The students interact with the teacher.</a:t>
            </a:r>
            <a:endParaRPr lang="en-US" sz="1100" dirty="0"/>
          </a:p>
        </p:txBody>
      </p:sp>
      <p:sp>
        <p:nvSpPr>
          <p:cNvPr id="25" name="Shape 22"/>
          <p:cNvSpPr/>
          <p:nvPr/>
        </p:nvSpPr>
        <p:spPr>
          <a:xfrm>
            <a:off x="457200" y="314553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085832" y="314553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يُعَلِّقُ</a:t>
            </a:r>
            <a:endParaRPr lang="ar-SA" sz="2400" dirty="0"/>
          </a:p>
        </p:txBody>
      </p:sp>
      <p:sp>
        <p:nvSpPr>
          <p:cNvPr id="27" name="Text 24"/>
          <p:cNvSpPr txBox="1"/>
          <p:nvPr/>
        </p:nvSpPr>
        <p:spPr>
          <a:xfrm>
            <a:off x="9509760" y="314553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comments</a:t>
            </a:r>
            <a:endParaRPr lang="en-US" sz="1150" dirty="0"/>
          </a:p>
        </p:txBody>
      </p:sp>
      <p:sp>
        <p:nvSpPr>
          <p:cNvPr id="28" name="Text 25"/>
          <p:cNvSpPr txBox="1"/>
          <p:nvPr/>
        </p:nvSpPr>
        <p:spPr>
          <a:xfrm>
            <a:off x="6565392" y="314553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0E7C86"/>
                </a:solidFill>
                <a:latin typeface="Amiri" pitchFamily="34" charset="0"/>
                <a:ea typeface="Amiri" pitchFamily="34" charset="-122"/>
                <a:cs typeface="Amiri" pitchFamily="34" charset="-120"/>
              </a:rPr>
              <a:t>عَلَى</a:t>
            </a:r>
            <a:endParaRPr lang="ar-SA" sz="3000" dirty="0"/>
          </a:p>
        </p:txBody>
      </p:sp>
      <p:sp>
        <p:nvSpPr>
          <p:cNvPr id="29" name="Text 26"/>
          <p:cNvSpPr txBox="1"/>
          <p:nvPr/>
        </p:nvSpPr>
        <p:spPr>
          <a:xfrm>
            <a:off x="594360" y="316382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يُعَلِّقُ المُسْتَخْدِمُ </a:t>
            </a:r>
            <a:pPr rtl="1" algn="r" indent="0" marL="0">
              <a:buNone/>
            </a:pPr>
            <a:r>
              <a:rPr lang="ar-SA" altLang="en-US" sz="2000" dirty="0">
                <a:solidFill>
                  <a:srgbClr val="0E7C86"/>
                </a:solidFill>
                <a:latin typeface="Amiri" pitchFamily="34" charset="0"/>
                <a:ea typeface="Amiri" pitchFamily="34" charset="-122"/>
                <a:cs typeface="Amiri" pitchFamily="34" charset="-120"/>
              </a:rPr>
              <a:t>عَلَى</a:t>
            </a:r>
            <a:pPr rtl="1" algn="r" indent="0" marL="0">
              <a:buNone/>
            </a:pPr>
            <a:r>
              <a:rPr lang="ar-SA" altLang="en-US" sz="2000" dirty="0">
                <a:solidFill>
                  <a:srgbClr val="1F2A37"/>
                </a:solidFill>
                <a:latin typeface="Amiri" pitchFamily="34" charset="0"/>
                <a:ea typeface="Amiri" pitchFamily="34" charset="-122"/>
                <a:cs typeface="Amiri" pitchFamily="34" charset="-120"/>
              </a:rPr>
              <a:t> المَنْشُورِ.</a:t>
            </a:r>
            <a:endParaRPr lang="ar-SA" sz="2000" dirty="0"/>
          </a:p>
        </p:txBody>
      </p:sp>
      <p:sp>
        <p:nvSpPr>
          <p:cNvPr id="30" name="Text 27"/>
          <p:cNvSpPr txBox="1"/>
          <p:nvPr/>
        </p:nvSpPr>
        <p:spPr>
          <a:xfrm>
            <a:off x="594360" y="356981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The user comments on the post.</a:t>
            </a:r>
            <a:endParaRPr lang="en-US" sz="1100" dirty="0"/>
          </a:p>
        </p:txBody>
      </p:sp>
      <p:sp>
        <p:nvSpPr>
          <p:cNvPr id="31" name="Shape 28"/>
          <p:cNvSpPr/>
          <p:nvPr/>
        </p:nvSpPr>
        <p:spPr>
          <a:xfrm>
            <a:off x="457200" y="3968496"/>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085832" y="396849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يُرْسِلُ</a:t>
            </a:r>
            <a:endParaRPr lang="ar-SA" sz="2400" dirty="0"/>
          </a:p>
        </p:txBody>
      </p:sp>
      <p:sp>
        <p:nvSpPr>
          <p:cNvPr id="33" name="Text 30"/>
          <p:cNvSpPr txBox="1"/>
          <p:nvPr/>
        </p:nvSpPr>
        <p:spPr>
          <a:xfrm>
            <a:off x="9509760" y="396849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sends</a:t>
            </a:r>
            <a:endParaRPr lang="en-US" sz="1150" dirty="0"/>
          </a:p>
        </p:txBody>
      </p:sp>
      <p:sp>
        <p:nvSpPr>
          <p:cNvPr id="34" name="Text 31"/>
          <p:cNvSpPr txBox="1"/>
          <p:nvPr/>
        </p:nvSpPr>
        <p:spPr>
          <a:xfrm>
            <a:off x="6565392" y="396849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0E7C86"/>
                </a:solidFill>
                <a:latin typeface="Amiri" pitchFamily="34" charset="0"/>
                <a:ea typeface="Amiri" pitchFamily="34" charset="-122"/>
                <a:cs typeface="Amiri" pitchFamily="34" charset="-120"/>
              </a:rPr>
              <a:t>إِلَى</a:t>
            </a:r>
            <a:endParaRPr lang="ar-SA" sz="3000" dirty="0"/>
          </a:p>
        </p:txBody>
      </p:sp>
      <p:sp>
        <p:nvSpPr>
          <p:cNvPr id="35" name="Text 32"/>
          <p:cNvSpPr txBox="1"/>
          <p:nvPr/>
        </p:nvSpPr>
        <p:spPr>
          <a:xfrm>
            <a:off x="594360" y="398678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أُرْسِلُ رَسَائِلَ </a:t>
            </a:r>
            <a:pPr rtl="1" algn="r" indent="0" marL="0">
              <a:buNone/>
            </a:pPr>
            <a:r>
              <a:rPr lang="ar-SA" altLang="en-US" sz="2000" dirty="0">
                <a:solidFill>
                  <a:srgbClr val="0E7C86"/>
                </a:solidFill>
                <a:latin typeface="Amiri" pitchFamily="34" charset="0"/>
                <a:ea typeface="Amiri" pitchFamily="34" charset="-122"/>
                <a:cs typeface="Amiri" pitchFamily="34" charset="-120"/>
              </a:rPr>
              <a:t>إِلَى</a:t>
            </a:r>
            <a:pPr rtl="1" algn="r" indent="0" marL="0">
              <a:buNone/>
            </a:pPr>
            <a:r>
              <a:rPr lang="ar-SA" altLang="en-US" sz="2000" dirty="0">
                <a:solidFill>
                  <a:srgbClr val="1F2A37"/>
                </a:solidFill>
                <a:latin typeface="Amiri" pitchFamily="34" charset="0"/>
                <a:ea typeface="Amiri" pitchFamily="34" charset="-122"/>
                <a:cs typeface="Amiri" pitchFamily="34" charset="-120"/>
              </a:rPr>
              <a:t> أَصْدِقَائِي بِالهَاتِفِ.</a:t>
            </a:r>
            <a:endParaRPr lang="ar-SA" sz="2000" dirty="0"/>
          </a:p>
        </p:txBody>
      </p:sp>
      <p:sp>
        <p:nvSpPr>
          <p:cNvPr id="36" name="Text 33"/>
          <p:cNvSpPr txBox="1"/>
          <p:nvPr/>
        </p:nvSpPr>
        <p:spPr>
          <a:xfrm>
            <a:off x="594360" y="439277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I send messages to my friends by phone. (website game)</a:t>
            </a:r>
            <a:endParaRPr lang="en-US" sz="1100" dirty="0"/>
          </a:p>
        </p:txBody>
      </p:sp>
      <p:sp>
        <p:nvSpPr>
          <p:cNvPr id="37" name="Shape 34"/>
          <p:cNvSpPr/>
          <p:nvPr/>
        </p:nvSpPr>
        <p:spPr>
          <a:xfrm>
            <a:off x="457200" y="4791456"/>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085832" y="479145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يَعْتَمِدُ</a:t>
            </a:r>
            <a:endParaRPr lang="ar-SA" sz="2400" dirty="0"/>
          </a:p>
        </p:txBody>
      </p:sp>
      <p:sp>
        <p:nvSpPr>
          <p:cNvPr id="39" name="Text 36"/>
          <p:cNvSpPr txBox="1"/>
          <p:nvPr/>
        </p:nvSpPr>
        <p:spPr>
          <a:xfrm>
            <a:off x="9509760" y="479145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relies</a:t>
            </a:r>
            <a:endParaRPr lang="en-US" sz="1150" dirty="0"/>
          </a:p>
        </p:txBody>
      </p:sp>
      <p:sp>
        <p:nvSpPr>
          <p:cNvPr id="40" name="Text 37"/>
          <p:cNvSpPr txBox="1"/>
          <p:nvPr/>
        </p:nvSpPr>
        <p:spPr>
          <a:xfrm>
            <a:off x="6565392" y="479145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0E7C86"/>
                </a:solidFill>
                <a:latin typeface="Amiri" pitchFamily="34" charset="0"/>
                <a:ea typeface="Amiri" pitchFamily="34" charset="-122"/>
                <a:cs typeface="Amiri" pitchFamily="34" charset="-120"/>
              </a:rPr>
              <a:t>عَلَى</a:t>
            </a:r>
            <a:endParaRPr lang="ar-SA" sz="3000" dirty="0"/>
          </a:p>
        </p:txBody>
      </p:sp>
      <p:sp>
        <p:nvSpPr>
          <p:cNvPr id="41" name="Text 38"/>
          <p:cNvSpPr txBox="1"/>
          <p:nvPr/>
        </p:nvSpPr>
        <p:spPr>
          <a:xfrm>
            <a:off x="594360" y="480974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لَا يَجِبُ أَنْ نَعْتَمِدَ </a:t>
            </a:r>
            <a:pPr rtl="1" algn="r" indent="0" marL="0">
              <a:buNone/>
            </a:pPr>
            <a:r>
              <a:rPr lang="ar-SA" altLang="en-US" sz="2000" dirty="0">
                <a:solidFill>
                  <a:srgbClr val="0E7C86"/>
                </a:solidFill>
                <a:latin typeface="Amiri" pitchFamily="34" charset="0"/>
                <a:ea typeface="Amiri" pitchFamily="34" charset="-122"/>
                <a:cs typeface="Amiri" pitchFamily="34" charset="-120"/>
              </a:rPr>
              <a:t>عَلَيْهِ</a:t>
            </a:r>
            <a:pPr rtl="1" algn="r" indent="0" marL="0">
              <a:buNone/>
            </a:pPr>
            <a:r>
              <a:rPr lang="ar-SA" altLang="en-US" sz="2000" dirty="0">
                <a:solidFill>
                  <a:srgbClr val="1F2A37"/>
                </a:solidFill>
                <a:latin typeface="Amiri" pitchFamily="34" charset="0"/>
                <a:ea typeface="Amiri" pitchFamily="34" charset="-122"/>
                <a:cs typeface="Amiri" pitchFamily="34" charset="-120"/>
              </a:rPr>
              <a:t> كُلِّيًّا.</a:t>
            </a:r>
            <a:endParaRPr lang="ar-SA" sz="2000" dirty="0"/>
          </a:p>
        </p:txBody>
      </p:sp>
      <p:sp>
        <p:nvSpPr>
          <p:cNvPr id="42" name="Text 39"/>
          <p:cNvSpPr txBox="1"/>
          <p:nvPr/>
        </p:nvSpPr>
        <p:spPr>
          <a:xfrm>
            <a:off x="594360" y="521573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We must not rely on it completely.</a:t>
            </a:r>
            <a:endParaRPr lang="en-US" sz="1100" dirty="0"/>
          </a:p>
        </p:txBody>
      </p:sp>
      <p:sp>
        <p:nvSpPr>
          <p:cNvPr id="43" name="Shape 40"/>
          <p:cNvSpPr/>
          <p:nvPr/>
        </p:nvSpPr>
        <p:spPr>
          <a:xfrm>
            <a:off x="457200" y="5614416"/>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10085832" y="561441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يُسَاعِدُ</a:t>
            </a:r>
            <a:endParaRPr lang="ar-SA" sz="2400" dirty="0"/>
          </a:p>
        </p:txBody>
      </p:sp>
      <p:sp>
        <p:nvSpPr>
          <p:cNvPr id="45" name="Text 42"/>
          <p:cNvSpPr txBox="1"/>
          <p:nvPr/>
        </p:nvSpPr>
        <p:spPr>
          <a:xfrm>
            <a:off x="9509760" y="561441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helps</a:t>
            </a:r>
            <a:endParaRPr lang="en-US" sz="1150" dirty="0"/>
          </a:p>
        </p:txBody>
      </p:sp>
      <p:sp>
        <p:nvSpPr>
          <p:cNvPr id="46" name="Text 43"/>
          <p:cNvSpPr txBox="1"/>
          <p:nvPr/>
        </p:nvSpPr>
        <p:spPr>
          <a:xfrm>
            <a:off x="6565392" y="561441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0E7C86"/>
                </a:solidFill>
                <a:latin typeface="Amiri" pitchFamily="34" charset="0"/>
                <a:ea typeface="Amiri" pitchFamily="34" charset="-122"/>
                <a:cs typeface="Amiri" pitchFamily="34" charset="-120"/>
              </a:rPr>
              <a:t>عَلَى</a:t>
            </a:r>
            <a:endParaRPr lang="ar-SA" sz="3000" dirty="0"/>
          </a:p>
        </p:txBody>
      </p:sp>
      <p:sp>
        <p:nvSpPr>
          <p:cNvPr id="47" name="Text 44"/>
          <p:cNvSpPr txBox="1"/>
          <p:nvPr/>
        </p:nvSpPr>
        <p:spPr>
          <a:xfrm>
            <a:off x="594360" y="563270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تُسَاعِدُنِي المِنَصَّةُ </a:t>
            </a:r>
            <a:pPr rtl="1" algn="r" indent="0" marL="0">
              <a:buNone/>
            </a:pPr>
            <a:r>
              <a:rPr lang="ar-SA" altLang="en-US" sz="2000" dirty="0">
                <a:solidFill>
                  <a:srgbClr val="0E7C86"/>
                </a:solidFill>
                <a:latin typeface="Amiri" pitchFamily="34" charset="0"/>
                <a:ea typeface="Amiri" pitchFamily="34" charset="-122"/>
                <a:cs typeface="Amiri" pitchFamily="34" charset="-120"/>
              </a:rPr>
              <a:t>عَلَى</a:t>
            </a:r>
            <a:pPr rtl="1" algn="r" indent="0" marL="0">
              <a:buNone/>
            </a:pPr>
            <a:r>
              <a:rPr lang="ar-SA" altLang="en-US" sz="2000" dirty="0">
                <a:solidFill>
                  <a:srgbClr val="1F2A37"/>
                </a:solidFill>
                <a:latin typeface="Amiri" pitchFamily="34" charset="0"/>
                <a:ea typeface="Amiri" pitchFamily="34" charset="-122"/>
                <a:cs typeface="Amiri" pitchFamily="34" charset="-120"/>
              </a:rPr>
              <a:t> التَّعَلُّمِ فِي أَيِّ مَكَانٍ.</a:t>
            </a:r>
            <a:endParaRPr lang="ar-SA" sz="2000" dirty="0"/>
          </a:p>
        </p:txBody>
      </p:sp>
      <p:sp>
        <p:nvSpPr>
          <p:cNvPr id="48" name="Text 45"/>
          <p:cNvSpPr txBox="1"/>
          <p:nvPr/>
        </p:nvSpPr>
        <p:spPr>
          <a:xfrm>
            <a:off x="594360" y="603869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The platform helps me learn anywhere.</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3 · CONTRAST AND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On the one hand … on the other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مِنْ نَاحِيَةٍ … وَمِنْ نَاحِيَةٍ أُخْرَى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0876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 · CONTRAST</a:t>
            </a:r>
            <a:endParaRPr lang="en-US" sz="850" dirty="0"/>
          </a:p>
        </p:txBody>
      </p:sp>
      <p:sp>
        <p:nvSpPr>
          <p:cNvPr id="18" name="Text 15"/>
          <p:cNvSpPr txBox="1"/>
          <p:nvPr/>
        </p:nvSpPr>
        <p:spPr>
          <a:xfrm>
            <a:off x="9787128"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مِنْ نَاحِيَةٍ …</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34" charset="0"/>
                <a:ea typeface="Amiri" pitchFamily="34" charset="-122"/>
                <a:cs typeface="Amiri" pitchFamily="34" charset="-120"/>
              </a:rPr>
              <a:t>مِنْ نَاحِيَةٍ … وَمِنْ نَاحِيَةٍ أُخْرَى …</a:t>
            </a:r>
            <a:endParaRPr lang="ar-SA" sz="24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On the one hand … and on the other hand …</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Give a benefit first, then a risk, then your judgement (website rule “Balanced contrast”).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 · “it” (m.)</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عَلَيْهِ</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34" charset="0"/>
                <a:ea typeface="Amiri" pitchFamily="34" charset="-122"/>
                <a:cs typeface="Amiri" pitchFamily="34" charset="-120"/>
              </a:rPr>
              <a:t>المَوْقِعُ مُفِيدٌ … يُنْشَرُ عَلَيْهِ</a:t>
            </a:r>
            <a:endParaRPr lang="ar-SA" sz="28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website is useful … (check) what is posted on it.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Masculine noun → </a:t>
            </a:r>
            <a:pPr algn="l" indent="0" marL="0">
              <a:buNone/>
            </a:pPr>
            <a:r>
              <a:rPr lang="ar-SA" altLang="en-US" sz="1450" dirty="0">
                <a:solidFill>
                  <a:srgbClr val="1F2A37"/>
                </a:solidFill>
                <a:latin typeface="Amiri" pitchFamily="34" charset="0"/>
                <a:ea typeface="Amiri" pitchFamily="34" charset="-122"/>
                <a:cs typeface="Amiri" pitchFamily="34" charset="-120"/>
              </a:rPr>
              <a:t>ـهُ / ـهِ</a:t>
            </a:r>
            <a:pPr algn="l" indent="0" marL="0">
              <a:buNone/>
            </a:pPr>
            <a:r>
              <a:rPr lang="en-US" sz="1100" dirty="0">
                <a:solidFill>
                  <a:srgbClr val="1F2A37"/>
                </a:solidFill>
                <a:latin typeface="Calibri" pitchFamily="34" charset="0"/>
                <a:ea typeface="Calibri" pitchFamily="34" charset="-122"/>
                <a:cs typeface="Calibri" pitchFamily="34" charset="-120"/>
              </a:rPr>
              <a:t>: </a:t>
            </a:r>
            <a:pPr algn="l" indent="0" marL="0">
              <a:buNone/>
            </a:pPr>
            <a:r>
              <a:rPr lang="ar-SA" altLang="en-US" sz="1450" dirty="0">
                <a:solidFill>
                  <a:srgbClr val="1F2A37"/>
                </a:solidFill>
                <a:latin typeface="Amiri" pitchFamily="34" charset="0"/>
                <a:ea typeface="Amiri" pitchFamily="34" charset="-122"/>
                <a:cs typeface="Amiri" pitchFamily="34" charset="-120"/>
              </a:rPr>
              <a:t>عَلَيْهِ</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 · “it” (f.)</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فِيهَا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المِنَصَّةُ آمِنَةٌ … فِيهَا</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platform is safe … (our privacy) on it.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Feminine noun → </a:t>
            </a:r>
            <a:pPr algn="l" indent="0" marL="0">
              <a:buNone/>
            </a:pPr>
            <a:r>
              <a:rPr lang="ar-SA" altLang="en-US" sz="1450" dirty="0">
                <a:solidFill>
                  <a:srgbClr val="1F2A37"/>
                </a:solidFill>
                <a:latin typeface="Amiri" pitchFamily="34" charset="0"/>
                <a:ea typeface="Amiri" pitchFamily="34" charset="-122"/>
                <a:cs typeface="Amiri" pitchFamily="34" charset="-120"/>
              </a:rPr>
              <a:t>ـهَا</a:t>
            </a:r>
            <a:pPr algn="l" indent="0" marL="0">
              <a:buNone/>
            </a:pPr>
            <a:r>
              <a:rPr lang="en-US" sz="1100" dirty="0">
                <a:solidFill>
                  <a:srgbClr val="1F2A37"/>
                </a:solidFill>
                <a:latin typeface="Calibri" pitchFamily="34" charset="0"/>
                <a:ea typeface="Calibri" pitchFamily="34" charset="-122"/>
                <a:cs typeface="Calibri" pitchFamily="34" charset="-120"/>
              </a:rPr>
              <a:t>: </a:t>
            </a:r>
            <a:pPr algn="l" indent="0" marL="0">
              <a:buNone/>
            </a:pPr>
            <a:r>
              <a:rPr lang="ar-SA" altLang="en-US" sz="1450" dirty="0">
                <a:solidFill>
                  <a:srgbClr val="1F2A37"/>
                </a:solidFill>
                <a:latin typeface="Amiri" pitchFamily="34" charset="0"/>
                <a:ea typeface="Amiri" pitchFamily="34" charset="-122"/>
                <a:cs typeface="Amiri" pitchFamily="34" charset="-120"/>
              </a:rPr>
              <a:t>فِيهَا</a:t>
            </a:r>
            <a:pPr algn="l" indent="0" marL="0">
              <a:buNone/>
            </a:pPr>
            <a:r>
              <a:rPr lang="en-US" sz="1100" dirty="0">
                <a:solidFill>
                  <a:srgbClr val="1F2A37"/>
                </a:solidFill>
                <a:latin typeface="Calibri" pitchFamily="34" charset="0"/>
                <a:ea typeface="Calibri" pitchFamily="34" charset="-122"/>
                <a:cs typeface="Calibri" pitchFamily="34" charset="-120"/>
              </a:rPr>
              <a:t> · </a:t>
            </a:r>
            <a:pPr algn="l" indent="0" marL="0">
              <a:buNone/>
            </a:pPr>
            <a:r>
              <a:rPr lang="ar-SA" altLang="en-US" sz="1450" dirty="0">
                <a:solidFill>
                  <a:srgbClr val="1F2A37"/>
                </a:solidFill>
                <a:latin typeface="Amiri" pitchFamily="34" charset="0"/>
                <a:ea typeface="Amiri" pitchFamily="34" charset="-122"/>
                <a:cs typeface="Amiri" pitchFamily="34" charset="-120"/>
              </a:rPr>
              <a:t>نَسْتَخْدِمُهَا</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The website’s common mistakes: the wrong partner word after the verb.</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يَتَفَاعَلُ مَعَ</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يَتَفَاعَلُ عَلَى</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يُعَلِّقُ عَلَى</a:t>
            </a:r>
            <a:endParaRPr lang="ar-SA" sz="26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يُعَلِّقُ مَعَ</a:t>
            </a:r>
            <a:endParaRPr lang="ar-SA" sz="26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4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Keep the verb with its required preposition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verb + fixed preposition</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يَتَفَاعَلُ الطُّلَّابُ مَعَ المُعَلِّمِ.   ·   يُعَلِّقُ المُسْتَخْدِمُ عَلَى المَنْشُورِ.</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Balanced contrast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مِنْ نَاحِيَةٍ ... وَمِنْ نَاحِيَةٍ أُخْرَى ...</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34" charset="0"/>
                <a:ea typeface="Amiri" pitchFamily="34" charset="-122"/>
                <a:cs typeface="Amiri" pitchFamily="34" charset="-120"/>
              </a:rPr>
              <a:t>مِنْ نَاحِيَةٍ، يُسَهِّلُ التَّعَلُّمُ عَنْ بُعْدٍ الوُصُولَ إِلَى الدُّرُوسِ، وَمِنْ نَاحِيَةٍ أُخْرَى، قَدْ يَزِيدُ وَقْتَ الشَّاشَةِ.</a:t>
            </a:r>
            <a:endParaRPr lang="ar-SA" sz="18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Concession with </a:t>
            </a:r>
            <a:pPr algn="l" indent="0" marL="0">
              <a:buNone/>
            </a:pPr>
            <a:r>
              <a:rPr lang="ar-SA" altLang="en-US" sz="1650" b="1" dirty="0">
                <a:solidFill>
                  <a:srgbClr val="1B3B6F"/>
                </a:solidFill>
                <a:latin typeface="Amiri" pitchFamily="34" charset="0"/>
                <a:ea typeface="Amiri" pitchFamily="34" charset="-122"/>
                <a:cs typeface="Amiri" pitchFamily="34" charset="-120"/>
              </a:rPr>
              <a:t>عَلَى الرَّغْمِ مِنْ أَنَّ</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عَلَى الرَّغْمِ مِنْ أَنَّ</a:t>
            </a:r>
            <a:pPr algn="l" indent="0" marL="0">
              <a:buNone/>
            </a:pPr>
            <a:r>
              <a:rPr lang="en-US" sz="1050" dirty="0">
                <a:solidFill>
                  <a:srgbClr val="5A6472"/>
                </a:solidFill>
                <a:latin typeface="Calibri" pitchFamily="34" charset="0"/>
                <a:ea typeface="Calibri" pitchFamily="34" charset="-122"/>
                <a:cs typeface="Calibri" pitchFamily="34" charset="-120"/>
              </a:rPr>
              <a:t> + nominal clause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عَلَى الرَّغْمِ مِنْ أَنَّ الذَّكَاءَ الاصْطِنَاعِيَّ مُفِيدٌ، فَلَا يَجِبُ أَنْ نَعْتَمِدَ عَلَيْهِ كُلِّيًّا.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Pronoun reference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preposition + attached pronoun</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34" charset="0"/>
                <a:ea typeface="Amiri" pitchFamily="34" charset="-122"/>
                <a:cs typeface="Amiri" pitchFamily="34" charset="-120"/>
              </a:rPr>
              <a:t>المَوْقِعُ مُفِيدٌ، وَلٰكِنْ يَجِبُ التَّحَقُّقُ مِمَّا يُنْشَرُ عَلَيْهِ.   ·   المِنَصَّةُ آمِنَةٌ إِذَا حَافَظْنَا عَلَى خُصُوصِيَّتِنَا فِيهَا.</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preposition.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يَتَفَاعَلُ الطُّلَّابُ عَلَى المُعَلِّمِ.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يَتَفَاعَلُ الطُّلَّابُ عَنْ المُعَلِّمِ.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يَتَفَاعَلُ الطُّلَّابُ مَعَ المُعَلِّمِ.</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phrase.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يُعَلِّقُ عَلَى المَنْشُورِ.</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يُعَلِّقُ مِنَ المَنْشُورِ.</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يُعَلِّقُ مَعَ المَنْشُورِ.</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“distance learning”?</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التَّعَلُّمُ فِي قُرْبٍ</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التَّعَلُّمُ عَنْ بُعْدٍ</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التَّعَلُّمُ عَلَى مَارْكَةٍ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Refer back to </a:t>
            </a:r>
            <a:pPr algn="l" indent="0" marL="0">
              <a:buNone/>
            </a:pPr>
            <a:r>
              <a:rPr lang="ar-SA" altLang="en-US" sz="1650" b="1" dirty="0">
                <a:solidFill>
                  <a:srgbClr val="1B3B6F"/>
                </a:solidFill>
                <a:latin typeface="Amiri" pitchFamily="34" charset="0"/>
                <a:ea typeface="Amiri" pitchFamily="34" charset="-122"/>
                <a:cs typeface="Amiri" pitchFamily="34" charset="-120"/>
              </a:rPr>
              <a:t>المِنَصَّةُ</a:t>
            </a:r>
            <a:pPr algn="l" indent="0" marL="0">
              <a:buNone/>
            </a:pPr>
            <a:r>
              <a:rPr lang="en-US" sz="1250" b="1" dirty="0">
                <a:solidFill>
                  <a:srgbClr val="1B3B6F"/>
                </a:solidFill>
                <a:latin typeface="Calibri" pitchFamily="34" charset="0"/>
                <a:ea typeface="Calibri" pitchFamily="34" charset="-122"/>
                <a:cs typeface="Calibri" pitchFamily="34" charset="-120"/>
              </a:rPr>
              <a:t> accurately.</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نَحْفَظُ بَيَانَاتِنَا فِيهَا.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نَحْفَظُ بَيَانَاتِنَا عَلَيْهِمَا.</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نَحْفَظُ بَيَانَاتِنَا فِيهِ.</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preposition.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يَتَفَاعَلُ الطُّلَّابُ عَلَى المُعَلِّمِ.</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يَتَفَاعَلُ الطُّلَّابُ عَنْ المُعَلِّمِ.</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يَتَفَاعَلُ الطُّلَّابُ مَعَ المُعَلِّمِ.</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يتفاعل</a:t>
            </a:r>
            <a:pPr algn="l" indent="0" marL="0">
              <a:buNone/>
            </a:pPr>
            <a:r>
              <a:rPr lang="en-US" sz="1050" i="1" dirty="0">
                <a:solidFill>
                  <a:srgbClr val="8A6D1E"/>
                </a:solidFill>
                <a:latin typeface="Calibri" pitchFamily="34" charset="0"/>
                <a:ea typeface="Calibri" pitchFamily="34" charset="-122"/>
                <a:cs typeface="Calibri" pitchFamily="34" charset="-120"/>
              </a:rPr>
              <a:t> requires </a:t>
            </a:r>
            <a:pPr algn="l" indent="0" marL="0">
              <a:buNone/>
            </a:pPr>
            <a:r>
              <a:rPr lang="ar-SA" altLang="en-US" sz="1350" dirty="0">
                <a:solidFill>
                  <a:srgbClr val="8A6D1E"/>
                </a:solidFill>
                <a:latin typeface="Amiri" pitchFamily="34" charset="0"/>
                <a:ea typeface="Amiri" pitchFamily="34" charset="-122"/>
                <a:cs typeface="Amiri" pitchFamily="34" charset="-120"/>
              </a:rPr>
              <a:t>مع</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phrase.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يُعَلِّقُ عَلَى المَنْشُورِ.</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يُعَلِّقُ مِنَ المَنْشُورِ.</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يُعَلِّقُ مَعَ المَنْشُورِ.</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يعلق</a:t>
            </a:r>
            <a:pPr algn="l" indent="0" marL="0">
              <a:buNone/>
            </a:pPr>
            <a:r>
              <a:rPr lang="en-US" sz="1050" i="1" dirty="0">
                <a:solidFill>
                  <a:srgbClr val="8A6D1E"/>
                </a:solidFill>
                <a:latin typeface="Calibri" pitchFamily="34" charset="0"/>
                <a:ea typeface="Calibri" pitchFamily="34" charset="-122"/>
                <a:cs typeface="Calibri" pitchFamily="34" charset="-120"/>
              </a:rPr>
              <a:t> governs </a:t>
            </a:r>
            <a:pPr algn="l" indent="0" marL="0">
              <a:buNone/>
            </a:pPr>
            <a:r>
              <a:rPr lang="ar-SA" altLang="en-US" sz="1350" dirty="0">
                <a:solidFill>
                  <a:srgbClr val="8A6D1E"/>
                </a:solidFill>
                <a:latin typeface="Amiri" pitchFamily="34" charset="0"/>
                <a:ea typeface="Amiri" pitchFamily="34" charset="-122"/>
                <a:cs typeface="Amiri" pitchFamily="34" charset="-120"/>
              </a:rPr>
              <a:t>على</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“distance learning”?</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التَّعَلُّمُ فِي قُرْبٍ</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التَّعَلُّمُ عَنْ بُعْدٍ</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التَّعَلُّمُ عَلَى مَارْكَةٍ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التعلم عن بعد</a:t>
            </a:r>
            <a:pPr algn="l" indent="0" marL="0">
              <a:buNone/>
            </a:pPr>
            <a:r>
              <a:rPr lang="en-US" sz="1050" i="1" dirty="0">
                <a:solidFill>
                  <a:srgbClr val="8A6D1E"/>
                </a:solidFill>
                <a:latin typeface="Calibri" pitchFamily="34" charset="0"/>
                <a:ea typeface="Calibri" pitchFamily="34" charset="-122"/>
                <a:cs typeface="Calibri" pitchFamily="34" charset="-120"/>
              </a:rPr>
              <a:t> is the required phrase.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Refer back to </a:t>
            </a:r>
            <a:pPr algn="l" indent="0" marL="0">
              <a:buNone/>
            </a:pPr>
            <a:r>
              <a:rPr lang="ar-SA" altLang="en-US" sz="1650" b="1" dirty="0">
                <a:solidFill>
                  <a:srgbClr val="1B3B6F"/>
                </a:solidFill>
                <a:latin typeface="Amiri" pitchFamily="34" charset="0"/>
                <a:ea typeface="Amiri" pitchFamily="34" charset="-122"/>
                <a:cs typeface="Amiri" pitchFamily="34" charset="-120"/>
              </a:rPr>
              <a:t>المِنَصَّةُ</a:t>
            </a:r>
            <a:pPr algn="l" indent="0" marL="0">
              <a:buNone/>
            </a:pPr>
            <a:r>
              <a:rPr lang="en-US" sz="1250" b="1" dirty="0">
                <a:solidFill>
                  <a:srgbClr val="1B3B6F"/>
                </a:solidFill>
                <a:latin typeface="Calibri" pitchFamily="34" charset="0"/>
                <a:ea typeface="Calibri" pitchFamily="34" charset="-122"/>
                <a:cs typeface="Calibri" pitchFamily="34" charset="-120"/>
              </a:rPr>
              <a:t> accurately.</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نَحْفَظُ بَيَانَاتِنَا فِيهَا.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نَحْفَظُ بَيَانَاتِنَا عَلَيْهِمَا.</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نَحْفَظُ بَيَانَاتِنَا فِيهِ.</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منصة</a:t>
            </a:r>
            <a:pPr algn="l" indent="0" marL="0">
              <a:buNone/>
            </a:pPr>
            <a:r>
              <a:rPr lang="en-US" sz="1050" i="1" dirty="0">
                <a:solidFill>
                  <a:srgbClr val="8A6D1E"/>
                </a:solidFill>
                <a:latin typeface="Calibri" pitchFamily="34" charset="0"/>
                <a:ea typeface="Calibri" pitchFamily="34" charset="-122"/>
                <a:cs typeface="Calibri" pitchFamily="34" charset="-120"/>
              </a:rPr>
              <a:t> is feminine, so use </a:t>
            </a:r>
            <a:pPr algn="l" indent="0" marL="0">
              <a:buNone/>
            </a:pPr>
            <a:r>
              <a:rPr lang="ar-SA" altLang="en-US" sz="1350" dirty="0">
                <a:solidFill>
                  <a:srgbClr val="8A6D1E"/>
                </a:solidFill>
                <a:latin typeface="Amiri" pitchFamily="34" charset="0"/>
                <a:ea typeface="Amiri" pitchFamily="34" charset="-122"/>
                <a:cs typeface="Amiri" pitchFamily="34" charset="-120"/>
              </a:rPr>
              <a:t>فيها</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ea typeface="Cambria" pitchFamily="34" charset="-122"/>
                <a:cs typeface="Cambria" pitchFamily="34" charset="-120"/>
              </a:rPr>
              <a:t>Watch me describe how I use technology</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Which device?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34" charset="0"/>
                <a:ea typeface="Amiri" pitchFamily="34" charset="-122"/>
                <a:cs typeface="Amiri" pitchFamily="34" charset="-120"/>
              </a:rPr>
              <a:t>أَ</a:t>
            </a:r>
            <a:pPr rtl="1" algn="ctr" indent="0" marL="0">
              <a:buNone/>
            </a:pPr>
            <a:r>
              <a:rPr lang="ar-SA" altLang="en-US" sz="2800" b="1" dirty="0">
                <a:solidFill>
                  <a:srgbClr val="1B3B6F"/>
                </a:solidFill>
                <a:latin typeface="Amiri" pitchFamily="34" charset="0"/>
                <a:ea typeface="Amiri" pitchFamily="34" charset="-122"/>
                <a:cs typeface="Amiri" pitchFamily="34" charset="-120"/>
              </a:rPr>
              <a:t>سْتَعْمِلُ الحَاسُوبَ</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أَـ</a:t>
            </a:r>
            <a:pPr algn="l" indent="0" marL="0">
              <a:buNone/>
            </a:pPr>
            <a:r>
              <a:rPr lang="en-US" sz="1150" dirty="0">
                <a:solidFill>
                  <a:srgbClr val="1F2A37"/>
                </a:solidFill>
                <a:latin typeface="Calibri" pitchFamily="34" charset="0"/>
                <a:ea typeface="Calibri" pitchFamily="34" charset="-122"/>
                <a:cs typeface="Calibri" pitchFamily="34" charset="-120"/>
              </a:rPr>
              <a:t> = I. From the website game.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What for?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لِلدِّرَاسَةِ عَبْرَ الإِنْتَرْنِتِ</a:t>
            </a:r>
            <a:endParaRPr lang="ar-SA" sz="24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لِـ</a:t>
            </a:r>
            <a:pPr algn="l" indent="0" marL="0">
              <a:buNone/>
            </a:pPr>
            <a:r>
              <a:rPr lang="en-US" sz="1150" dirty="0">
                <a:solidFill>
                  <a:srgbClr val="1F2A37"/>
                </a:solidFill>
                <a:latin typeface="Calibri" pitchFamily="34" charset="0"/>
                <a:ea typeface="Calibri" pitchFamily="34" charset="-122"/>
                <a:cs typeface="Calibri" pitchFamily="34" charset="-120"/>
              </a:rPr>
              <a:t> + verbal noun = for studying.</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A benefit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0E7C86"/>
                </a:solidFill>
                <a:latin typeface="Amiri" pitchFamily="34" charset="0"/>
                <a:ea typeface="Amiri" pitchFamily="34" charset="-122"/>
                <a:cs typeface="Amiri" pitchFamily="34" charset="-120"/>
              </a:rPr>
              <a:t>مِنْ نَاحِيَةٍ</a:t>
            </a:r>
            <a:pPr rtl="1" algn="ctr" indent="0" marL="0">
              <a:lnSpc>
                <a:spcPct val="120000"/>
              </a:lnSpc>
              <a:buNone/>
            </a:pPr>
            <a:r>
              <a:rPr lang="ar-SA" altLang="en-US" sz="1850" b="1" dirty="0">
                <a:solidFill>
                  <a:srgbClr val="1B3B6F"/>
                </a:solidFill>
                <a:latin typeface="Amiri" pitchFamily="34" charset="0"/>
                <a:ea typeface="Amiri" pitchFamily="34" charset="-122"/>
                <a:cs typeface="Amiri" pitchFamily="34" charset="-120"/>
              </a:rPr>
              <a:t>، أَتَفَاعَلُ مَعَ المُعَلِّمِ</a:t>
            </a:r>
            <a:endParaRPr lang="ar-SA" sz="18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Keep </a:t>
            </a:r>
            <a:pPr algn="l" indent="0" marL="0">
              <a:buNone/>
            </a:pPr>
            <a:r>
              <a:rPr lang="ar-SA" altLang="en-US" sz="1500" dirty="0">
                <a:solidFill>
                  <a:srgbClr val="1F2A37"/>
                </a:solidFill>
                <a:latin typeface="Amiri" pitchFamily="34" charset="0"/>
                <a:ea typeface="Amiri" pitchFamily="34" charset="-122"/>
                <a:cs typeface="Amiri" pitchFamily="34" charset="-120"/>
              </a:rPr>
              <a:t>مَعَ</a:t>
            </a:r>
            <a:pPr algn="l" indent="0" marL="0">
              <a:buNone/>
            </a:pPr>
            <a:r>
              <a:rPr lang="en-US" sz="1150" dirty="0">
                <a:solidFill>
                  <a:srgbClr val="1F2A37"/>
                </a:solidFill>
                <a:latin typeface="Calibri" pitchFamily="34" charset="0"/>
                <a:ea typeface="Calibri" pitchFamily="34" charset="-122"/>
                <a:cs typeface="Calibri" pitchFamily="34" charset="-120"/>
              </a:rPr>
              <a:t> with </a:t>
            </a:r>
            <a:pPr algn="l" indent="0" marL="0">
              <a:buNone/>
            </a:pPr>
            <a:r>
              <a:rPr lang="ar-SA" altLang="en-US" sz="1500" dirty="0">
                <a:solidFill>
                  <a:srgbClr val="1F2A37"/>
                </a:solidFill>
                <a:latin typeface="Amiri" pitchFamily="34" charset="0"/>
                <a:ea typeface="Amiri" pitchFamily="34" charset="-122"/>
                <a:cs typeface="Amiri" pitchFamily="34" charset="-120"/>
              </a:rPr>
              <a:t>أَتَفَاعَلُ</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A risk</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وَمِنْ نَاحِيَةٍ أُخْرَى</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أَحْتَاجُ إِلَى تَقْلِيلِ وَقْتِ الشَّاشَةِ</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The other side: a risk (website listening).</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WHO (I)</a:t>
            </a:r>
            <a:endParaRPr lang="en-US" sz="800" dirty="0"/>
          </a:p>
        </p:txBody>
      </p:sp>
      <p:sp>
        <p:nvSpPr>
          <p:cNvPr id="47" name="Shape 43"/>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CONTRAST</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950" b="1" dirty="0">
                <a:solidFill>
                  <a:srgbClr val="1D5FBF"/>
                </a:solidFill>
                <a:latin typeface="Amiri" pitchFamily="34" charset="0"/>
                <a:ea typeface="Amiri" pitchFamily="34" charset="-122"/>
                <a:cs typeface="Amiri" pitchFamily="34" charset="-120"/>
              </a:rPr>
              <a:t>أَ</a:t>
            </a:r>
            <a:pPr rtl="1" algn="r" indent="0" marL="0">
              <a:buNone/>
            </a:pPr>
            <a:r>
              <a:rPr lang="ar-SA" altLang="en-US" sz="1950" b="1" dirty="0">
                <a:solidFill>
                  <a:srgbClr val="1B3B6F"/>
                </a:solidFill>
                <a:latin typeface="Amiri" pitchFamily="34" charset="0"/>
                <a:ea typeface="Amiri" pitchFamily="34" charset="-122"/>
                <a:cs typeface="Amiri" pitchFamily="34" charset="-120"/>
              </a:rPr>
              <a:t>سْتَعْمِلُ الحَاسُوبَ لِلدِّرَاسَةِ عَبْرَ الإِنْتَرْنِتِ. </a:t>
            </a:r>
            <a:pPr rtl="1" algn="r" indent="0" marL="0">
              <a:buNone/>
            </a:pPr>
            <a:r>
              <a:rPr lang="ar-SA" altLang="en-US" sz="1950" b="1" dirty="0">
                <a:solidFill>
                  <a:srgbClr val="0E7C86"/>
                </a:solidFill>
                <a:latin typeface="Amiri" pitchFamily="34" charset="0"/>
                <a:ea typeface="Amiri" pitchFamily="34" charset="-122"/>
                <a:cs typeface="Amiri" pitchFamily="34" charset="-120"/>
              </a:rPr>
              <a:t>مِنْ نَاحِيَةٍ</a:t>
            </a:r>
            <a:pPr rtl="1" algn="r" indent="0" marL="0">
              <a:buNone/>
            </a:pPr>
            <a:r>
              <a:rPr lang="ar-SA" altLang="en-US" sz="1950" b="1" dirty="0">
                <a:solidFill>
                  <a:srgbClr val="1B3B6F"/>
                </a:solidFill>
                <a:latin typeface="Amiri" pitchFamily="34" charset="0"/>
                <a:ea typeface="Amiri" pitchFamily="34" charset="-122"/>
                <a:cs typeface="Amiri" pitchFamily="34" charset="-120"/>
              </a:rPr>
              <a:t>، أَتَفَاعَلُ مَعَ المُعَلِّمِ، </a:t>
            </a:r>
            <a:pPr rtl="1" algn="r" indent="0" marL="0">
              <a:buNone/>
            </a:pPr>
            <a:r>
              <a:rPr lang="ar-SA" altLang="en-US" sz="1950" b="1" dirty="0">
                <a:solidFill>
                  <a:srgbClr val="0E7C86"/>
                </a:solidFill>
                <a:latin typeface="Amiri" pitchFamily="34" charset="0"/>
                <a:ea typeface="Amiri" pitchFamily="34" charset="-122"/>
                <a:cs typeface="Amiri" pitchFamily="34" charset="-120"/>
              </a:rPr>
              <a:t>وَمِنْ نَاحِيَةٍ أُخْرَى</a:t>
            </a:r>
            <a:pPr rtl="1" algn="r" indent="0" marL="0">
              <a:buNone/>
            </a:pPr>
            <a:r>
              <a:rPr lang="ar-SA" altLang="en-US" sz="1950" b="1" dirty="0">
                <a:solidFill>
                  <a:srgbClr val="1B3B6F"/>
                </a:solidFill>
                <a:latin typeface="Amiri" pitchFamily="34" charset="0"/>
                <a:ea typeface="Amiri" pitchFamily="34" charset="-122"/>
                <a:cs typeface="Amiri" pitchFamily="34" charset="-120"/>
              </a:rPr>
              <a:t>، أَحْتَاجُ إِلَى تَقْلِيلِ وَقْتِ الشَّاشَةِ.</a:t>
            </a:r>
            <a:endParaRPr lang="ar-SA" sz="19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ea typeface="Calibri" pitchFamily="34" charset="-122"/>
                <a:cs typeface="Calibri" pitchFamily="34" charset="-120"/>
              </a:rPr>
              <a:t>I use the computer to study online. On the one hand, I interact with the teacher; on the other hand, I need to reduce screen time.</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أُرْسِلُ رَسَائِلَ إِلَى أَصْدِقَائِي بِالْهَاتِفِ.</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I send messages to my friends by phone.</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game — a Core sentence.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يَجِبُ أَنْ نَسْتَعْمِلَ كَلِمَةَ مُرُورٍ قَوِيَّةً.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We must use a strong password.</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game — أَنْ + fatḥa (TC-L05).</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يَتَفَاعَلُ الطُّلَّابُ مَعَ المُعَلِّمِ.</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students interact with the teacher.</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Keep مَعَ with يَتَفَاعَلُ.</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lnSpc>
                <a:spcPct val="120000"/>
              </a:lnSpc>
              <a:buNone/>
            </a:pPr>
            <a:r>
              <a:rPr lang="ar-SA" altLang="en-US" sz="1900" b="1" dirty="0">
                <a:solidFill>
                  <a:srgbClr val="1B3B6F"/>
                </a:solidFill>
                <a:latin typeface="Amiri" pitchFamily="34" charset="0"/>
                <a:ea typeface="Amiri" pitchFamily="34" charset="-122"/>
                <a:cs typeface="Amiri" pitchFamily="34" charset="-120"/>
              </a:rPr>
              <a:t>عَلَى الرَّغْمِ مِنْ أَنَّ الذَّكَاءَ الاصْطِنَاعِيَّ مُفِيدٌ، فَلَا يَجِبُ أَنْ نَعْتَمِدَ عَلَيْهِ كُلِّيًّا.</a:t>
            </a:r>
            <a:endParaRPr lang="ar-SA" sz="19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Although AI is useful, we must not rely on it completely.</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Stretch: concession + عَلَيْهِ.</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 WEBSITE GAME “DIGITAL LIFE”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الْحَيَاةُ الرَّقْمِيَّةُ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4"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Shape 20"/>
          <p:cNvSpPr/>
          <p:nvPr/>
        </p:nvSpPr>
        <p:spPr>
          <a:xfrm>
            <a:off x="4992624" y="2066544"/>
            <a:ext cx="1014984" cy="1014984"/>
          </a:xfrm>
          <a:prstGeom prst="ellipse">
            <a:avLst/>
          </a:prstGeom>
          <a:solidFill>
            <a:srgbClr val="F4F1EA"/>
          </a:solidFill>
          <a:ln w="12700">
            <a:solidFill>
              <a:srgbClr val="F4F1EA"/>
            </a:solidFill>
            <a:prstDash val="solid"/>
          </a:ln>
        </p:spPr>
      </p:sp>
      <p:pic>
        <p:nvPicPr>
          <p:cNvPr id="26"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7" name="Shape 21"/>
          <p:cNvSpPr/>
          <p:nvPr/>
        </p:nvSpPr>
        <p:spPr>
          <a:xfrm>
            <a:off x="6181344" y="2066544"/>
            <a:ext cx="1014984" cy="1014984"/>
          </a:xfrm>
          <a:prstGeom prst="ellipse">
            <a:avLst/>
          </a:prstGeom>
          <a:solidFill>
            <a:srgbClr val="F4F1EA"/>
          </a:solidFill>
          <a:ln w="12700">
            <a:solidFill>
              <a:srgbClr val="F4F1EA"/>
            </a:solidFill>
            <a:prstDash val="solid"/>
          </a:ln>
        </p:spPr>
      </p:sp>
      <p:pic>
        <p:nvPicPr>
          <p:cNvPr id="28"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29"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31"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Shape 25"/>
          <p:cNvSpPr/>
          <p:nvPr/>
        </p:nvSpPr>
        <p:spPr>
          <a:xfrm>
            <a:off x="1173480" y="2066544"/>
            <a:ext cx="1014984" cy="1014984"/>
          </a:xfrm>
          <a:prstGeom prst="ellipse">
            <a:avLst/>
          </a:prstGeom>
          <a:solidFill>
            <a:srgbClr val="F4F1EA"/>
          </a:solidFill>
          <a:ln w="12700">
            <a:solidFill>
              <a:srgbClr val="F4F1EA"/>
            </a:solidFill>
            <a:prstDash val="solid"/>
          </a:ln>
        </p:spPr>
      </p:sp>
      <p:pic>
        <p:nvPicPr>
          <p:cNvPr id="33"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4" name="Shape 26"/>
          <p:cNvSpPr/>
          <p:nvPr/>
        </p:nvSpPr>
        <p:spPr>
          <a:xfrm>
            <a:off x="2362200" y="2066544"/>
            <a:ext cx="1014984" cy="1014984"/>
          </a:xfrm>
          <a:prstGeom prst="ellipse">
            <a:avLst/>
          </a:prstGeom>
          <a:solidFill>
            <a:srgbClr val="F4F1EA"/>
          </a:solidFill>
          <a:ln w="12700">
            <a:solidFill>
              <a:srgbClr val="F4F1EA"/>
            </a:solidFill>
            <a:prstDash val="solid"/>
          </a:ln>
        </p:spPr>
      </p:sp>
      <p:pic>
        <p:nvPicPr>
          <p:cNvPr id="35"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6" name="Shape 27"/>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7" name="Shape 28"/>
          <p:cNvSpPr/>
          <p:nvPr/>
        </p:nvSpPr>
        <p:spPr>
          <a:xfrm>
            <a:off x="11247120" y="3831336"/>
            <a:ext cx="292608" cy="292608"/>
          </a:xfrm>
          <a:prstGeom prst="ellipse">
            <a:avLst/>
          </a:prstGeom>
          <a:solidFill>
            <a:srgbClr val="2F6FB0"/>
          </a:solidFill>
          <a:ln w="12700">
            <a:solidFill>
              <a:srgbClr val="2F6FB0"/>
            </a:solidFill>
            <a:prstDash val="solid"/>
          </a:ln>
        </p:spPr>
      </p:sp>
      <p:sp>
        <p:nvSpPr>
          <p:cNvPr id="38" name="Text 29"/>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39" name="Text 30"/>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يَجِبُ أَنْ نَسْتَعْمِلَ كَلِمَةَ مُرُورٍ قَوِيَّةً.</a:t>
            </a:r>
            <a:endParaRPr lang="ar-SA" sz="2000" dirty="0"/>
          </a:p>
        </p:txBody>
      </p:sp>
      <p:sp>
        <p:nvSpPr>
          <p:cNvPr id="40" name="Shape 31"/>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1" name="Shape 32"/>
          <p:cNvSpPr/>
          <p:nvPr/>
        </p:nvSpPr>
        <p:spPr>
          <a:xfrm>
            <a:off x="11247120" y="4398264"/>
            <a:ext cx="292608" cy="292608"/>
          </a:xfrm>
          <a:prstGeom prst="ellipse">
            <a:avLst/>
          </a:prstGeom>
          <a:solidFill>
            <a:srgbClr val="2F6FB0"/>
          </a:solidFill>
          <a:ln w="12700">
            <a:solidFill>
              <a:srgbClr val="2F6FB0"/>
            </a:solidFill>
            <a:prstDash val="solid"/>
          </a:ln>
        </p:spPr>
      </p:sp>
      <p:sp>
        <p:nvSpPr>
          <p:cNvPr id="42" name="Text 33"/>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3" name="Text 34"/>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أُرْسِلُ رَسَائِلَ إِلَى أَصْدِقَائِي بِالْهَاتِفِ.</a:t>
            </a:r>
            <a:endParaRPr lang="ar-SA" sz="2000" dirty="0"/>
          </a:p>
        </p:txBody>
      </p:sp>
      <p:sp>
        <p:nvSpPr>
          <p:cNvPr id="44" name="Shape 35"/>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5" name="Shape 36"/>
          <p:cNvSpPr/>
          <p:nvPr/>
        </p:nvSpPr>
        <p:spPr>
          <a:xfrm>
            <a:off x="11247120" y="4965192"/>
            <a:ext cx="292608" cy="292608"/>
          </a:xfrm>
          <a:prstGeom prst="ellipse">
            <a:avLst/>
          </a:prstGeom>
          <a:solidFill>
            <a:srgbClr val="2F6FB0"/>
          </a:solidFill>
          <a:ln w="12700">
            <a:solidFill>
              <a:srgbClr val="2F6FB0"/>
            </a:solidFill>
            <a:prstDash val="solid"/>
          </a:ln>
        </p:spPr>
      </p:sp>
      <p:sp>
        <p:nvSpPr>
          <p:cNvPr id="46" name="Text 37"/>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47" name="Text 38"/>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أَسْتَعْمِلُ الْحَاسُوبَ لِلدِّرَاسَةِ عَبْرَ الْإِنْتَرْنِتِ.</a:t>
            </a:r>
            <a:endParaRPr lang="ar-SA" sz="2000" dirty="0"/>
          </a:p>
        </p:txBody>
      </p:sp>
      <p:sp>
        <p:nvSpPr>
          <p:cNvPr id="48" name="Text 39"/>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49" name="Text 40"/>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0"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الْحَيَاةُ الرَّقْمِيَّةُ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4"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5" name="Text 20"/>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أُرْسِلُ رَسَائِلَ إِلَى أَصْدِقَائِي بِالْهَاتِفِ.</a:t>
            </a:r>
            <a:endParaRPr lang="ar-SA" sz="2200" dirty="0"/>
          </a:p>
        </p:txBody>
      </p:sp>
      <p:sp>
        <p:nvSpPr>
          <p:cNvPr id="26"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send messages to my friends by phone.</a:t>
            </a:r>
            <a:endParaRPr lang="en-US" sz="1200" dirty="0"/>
          </a:p>
        </p:txBody>
      </p:sp>
      <p:sp>
        <p:nvSpPr>
          <p:cNvPr id="27"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0" name="Shape 25"/>
          <p:cNvSpPr/>
          <p:nvPr/>
        </p:nvSpPr>
        <p:spPr>
          <a:xfrm>
            <a:off x="4992624"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2" name="Shape 26"/>
          <p:cNvSpPr/>
          <p:nvPr/>
        </p:nvSpPr>
        <p:spPr>
          <a:xfrm>
            <a:off x="6181344"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4"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5"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6"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7" name="Text 30"/>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أَسْتَعْمِلُ الْحَاسُوبَ لِلدِّرَاسَةِ عَبْرَ الْإِنْتَرْنِتِ.</a:t>
            </a:r>
            <a:endParaRPr lang="ar-SA" sz="2200" dirty="0"/>
          </a:p>
        </p:txBody>
      </p:sp>
      <p:sp>
        <p:nvSpPr>
          <p:cNvPr id="38"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use the computer to study online.</a:t>
            </a:r>
            <a:endParaRPr lang="en-US" sz="1200" dirty="0"/>
          </a:p>
        </p:txBody>
      </p:sp>
      <p:sp>
        <p:nvSpPr>
          <p:cNvPr id="39"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41"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Shape 35"/>
          <p:cNvSpPr/>
          <p:nvPr/>
        </p:nvSpPr>
        <p:spPr>
          <a:xfrm>
            <a:off x="1173480" y="2066544"/>
            <a:ext cx="1014984" cy="1014984"/>
          </a:xfrm>
          <a:prstGeom prst="ellipse">
            <a:avLst/>
          </a:prstGeom>
          <a:solidFill>
            <a:srgbClr val="F4F1EA"/>
          </a:solidFill>
          <a:ln w="12700">
            <a:solidFill>
              <a:srgbClr val="F4F1EA"/>
            </a:solidFill>
            <a:prstDash val="solid"/>
          </a:ln>
        </p:spPr>
      </p:sp>
      <p:pic>
        <p:nvPicPr>
          <p:cNvPr id="43"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4" name="Shape 36"/>
          <p:cNvSpPr/>
          <p:nvPr/>
        </p:nvSpPr>
        <p:spPr>
          <a:xfrm>
            <a:off x="2362200" y="2066544"/>
            <a:ext cx="1014984" cy="1014984"/>
          </a:xfrm>
          <a:prstGeom prst="ellipse">
            <a:avLst/>
          </a:prstGeom>
          <a:solidFill>
            <a:srgbClr val="F4F1EA"/>
          </a:solidFill>
          <a:ln w="12700">
            <a:solidFill>
              <a:srgbClr val="F4F1EA"/>
            </a:solidFill>
            <a:prstDash val="solid"/>
          </a:ln>
        </p:spPr>
      </p:sp>
      <p:pic>
        <p:nvPicPr>
          <p:cNvPr id="45"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6" name="Shape 37"/>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7" name="Shape 38"/>
          <p:cNvSpPr/>
          <p:nvPr/>
        </p:nvSpPr>
        <p:spPr>
          <a:xfrm>
            <a:off x="3617976" y="3785616"/>
            <a:ext cx="329184" cy="329184"/>
          </a:xfrm>
          <a:prstGeom prst="ellipse">
            <a:avLst/>
          </a:prstGeom>
          <a:solidFill>
            <a:srgbClr val="2E8B57"/>
          </a:solidFill>
          <a:ln w="12700">
            <a:solidFill>
              <a:srgbClr val="2E8B57"/>
            </a:solidFill>
            <a:prstDash val="solid"/>
          </a:ln>
        </p:spPr>
      </p:sp>
      <p:sp>
        <p:nvSpPr>
          <p:cNvPr id="48" name="Text 39"/>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49" name="Text 40"/>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يَجِبُ أَنْ نَسْتَعْمِلَ كَلِمَةَ مُرُورٍ قَوِيَّةً.</a:t>
            </a:r>
            <a:endParaRPr lang="ar-SA" sz="2200" dirty="0"/>
          </a:p>
        </p:txBody>
      </p:sp>
      <p:sp>
        <p:nvSpPr>
          <p:cNvPr id="50" name="Text 41"/>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We must use a strong password.</a:t>
            </a:r>
            <a:endParaRPr lang="en-US" sz="1200" dirty="0"/>
          </a:p>
        </p:txBody>
      </p:sp>
      <p:sp>
        <p:nvSpPr>
          <p:cNvPr id="51"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I send messages to my friends.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يُرْسِلُ</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أُرْسِلُ</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رَسَائِلَ</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كَلِمَةَ المُرُورِ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إِلَى أَصْدِقَائِي.</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عَلَى أَصْدِقَائِي.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user comments on the post.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يُعَلِّقُ</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يُنَزِّلُ</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المُسْتَخْدِمُ</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المُعَلِّمَ</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مَعَ المَنْشُورِ.</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عَلَى المَنْشُورِ.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We must use a strong password.</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يَجِبُ أَنْ</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يُؤَدِّي إِلَى</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نَسْتَخْدِمُ</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نَسْتَخْدِمَ</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كَلِمَةَ مُرُورٍ قَوِيَّةً.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كَلِمَةَ مُرُورٍ قَوِيٌّ.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I send messages to my friends.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أُـ</a:t>
            </a:r>
            <a:pPr algn="l" indent="0" marL="0">
              <a:buNone/>
            </a:pPr>
            <a:r>
              <a:rPr lang="en-US" sz="1050" i="1" dirty="0">
                <a:solidFill>
                  <a:srgbClr val="5A6472"/>
                </a:solidFill>
                <a:latin typeface="Calibri" pitchFamily="34" charset="0"/>
                <a:ea typeface="Calibri" pitchFamily="34" charset="-122"/>
                <a:cs typeface="Calibri" pitchFamily="34" charset="-120"/>
              </a:rPr>
              <a:t> = I; </a:t>
            </a:r>
            <a:pPr algn="l" indent="0" marL="0">
              <a:buNone/>
            </a:pPr>
            <a:r>
              <a:rPr lang="ar-SA" altLang="en-US" sz="1350" dirty="0">
                <a:solidFill>
                  <a:srgbClr val="5A6472"/>
                </a:solidFill>
                <a:latin typeface="Amiri" pitchFamily="34" charset="0"/>
                <a:ea typeface="Amiri" pitchFamily="34" charset="-122"/>
                <a:cs typeface="Amiri" pitchFamily="34" charset="-120"/>
              </a:rPr>
              <a:t>يُرْسِلُ … إِلَى</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أُرْسِلُ رَسَائِلَ إِلَى أَصْدِقَائِي.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 user comments on the post.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A · B</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يُعَلِّقُ</a:t>
            </a:r>
            <a:pPr algn="l" indent="0" marL="0">
              <a:buNone/>
            </a:pPr>
            <a:r>
              <a:rPr lang="en-US" sz="1050" i="1" dirty="0">
                <a:solidFill>
                  <a:srgbClr val="5A6472"/>
                </a:solidFill>
                <a:latin typeface="Calibri" pitchFamily="34" charset="0"/>
                <a:ea typeface="Calibri" pitchFamily="34" charset="-122"/>
                <a:cs typeface="Calibri" pitchFamily="34" charset="-120"/>
              </a:rPr>
              <a:t> always with </a:t>
            </a:r>
            <a:pPr algn="l" indent="0" marL="0">
              <a:buNone/>
            </a:pPr>
            <a:r>
              <a:rPr lang="ar-SA" altLang="en-US" sz="1350" dirty="0">
                <a:solidFill>
                  <a:srgbClr val="5A6472"/>
                </a:solidFill>
                <a:latin typeface="Amiri" pitchFamily="34" charset="0"/>
                <a:ea typeface="Amiri" pitchFamily="34" charset="-122"/>
                <a:cs typeface="Amiri" pitchFamily="34" charset="-120"/>
              </a:rPr>
              <a:t>عَلَى</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يُعَلِّقُ المُسْتَخْدِمُ عَلَى المَنْشُورِ.</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We must use a strong password.</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After </a:t>
            </a:r>
            <a:pPr algn="l" indent="0" marL="0">
              <a:buNone/>
            </a:pPr>
            <a:r>
              <a:rPr lang="ar-SA" altLang="en-US" sz="1350" dirty="0">
                <a:solidFill>
                  <a:srgbClr val="5A6472"/>
                </a:solidFill>
                <a:latin typeface="Amiri" pitchFamily="34" charset="0"/>
                <a:ea typeface="Amiri" pitchFamily="34" charset="-122"/>
                <a:cs typeface="Amiri" pitchFamily="34" charset="-120"/>
              </a:rPr>
              <a:t>أَنْ</a:t>
            </a:r>
            <a:pPr algn="l" indent="0" marL="0">
              <a:buNone/>
            </a:pPr>
            <a:r>
              <a:rPr lang="en-US" sz="1050" i="1" dirty="0">
                <a:solidFill>
                  <a:srgbClr val="5A6472"/>
                </a:solidFill>
                <a:latin typeface="Calibri" pitchFamily="34" charset="0"/>
                <a:ea typeface="Calibri" pitchFamily="34" charset="-122"/>
                <a:cs typeface="Calibri" pitchFamily="34" charset="-120"/>
              </a:rPr>
              <a:t>: fatḥa; </a:t>
            </a:r>
            <a:pPr algn="l" indent="0" marL="0">
              <a:buNone/>
            </a:pPr>
            <a:r>
              <a:rPr lang="ar-SA" altLang="en-US" sz="1350" dirty="0">
                <a:solidFill>
                  <a:srgbClr val="5A6472"/>
                </a:solidFill>
                <a:latin typeface="Amiri" pitchFamily="34" charset="0"/>
                <a:ea typeface="Amiri" pitchFamily="34" charset="-122"/>
                <a:cs typeface="Amiri" pitchFamily="34" charset="-120"/>
              </a:rPr>
              <a:t>قَوِيَّةً</a:t>
            </a:r>
            <a:pPr algn="l" indent="0" marL="0">
              <a:buNone/>
            </a:pPr>
            <a:r>
              <a:rPr lang="en-US" sz="1050" i="1" dirty="0">
                <a:solidFill>
                  <a:srgbClr val="5A6472"/>
                </a:solidFill>
                <a:latin typeface="Calibri" pitchFamily="34" charset="0"/>
                <a:ea typeface="Calibri" pitchFamily="34" charset="-122"/>
                <a:cs typeface="Calibri" pitchFamily="34" charset="-120"/>
              </a:rPr>
              <a:t> agrees with </a:t>
            </a:r>
            <a:pPr algn="l" indent="0" marL="0">
              <a:buNone/>
            </a:pPr>
            <a:r>
              <a:rPr lang="ar-SA" altLang="en-US" sz="1350" dirty="0">
                <a:solidFill>
                  <a:srgbClr val="5A6472"/>
                </a:solidFill>
                <a:latin typeface="Amiri" pitchFamily="34" charset="0"/>
                <a:ea typeface="Amiri" pitchFamily="34" charset="-122"/>
                <a:cs typeface="Amiri" pitchFamily="34" charset="-120"/>
              </a:rPr>
              <a:t>كَلِمَة</a:t>
            </a:r>
            <a:pPr algn="l" indent="0" marL="0">
              <a:buNone/>
            </a:pPr>
            <a:r>
              <a:rPr lang="en-US" sz="1050" i="1" dirty="0">
                <a:solidFill>
                  <a:srgbClr val="5A6472"/>
                </a:solidFill>
                <a:latin typeface="Calibri" pitchFamily="34" charset="0"/>
                <a:ea typeface="Calibri" pitchFamily="34" charset="-122"/>
                <a:cs typeface="Calibri" pitchFamily="34" charset="-120"/>
              </a:rPr>
              <a:t> (f.).</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يَجِبُ أَنْ نَسْتَخْدِمَ كَلِمَةَ مُرُورٍ قَوِيَّةً.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Tool, action or benefit/risk?</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يُحَمِّلُ</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الذَّكَاءُ الاصْطِنَاعِيُّ</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الخُصُوصِيَّةُ</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يَنْشُرُ</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كَلِمَةُ المُرُورِ</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الأَمَانُ الرَّقْمِيُّ</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يُنَزِّلُ</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مَعْلُومَاتٌ مُضَلِّلَةٌ</a:t>
            </a:r>
            <a:endParaRPr lang="ar-SA" sz="1800" dirty="0"/>
          </a:p>
        </p:txBody>
      </p:sp>
      <p:sp>
        <p:nvSpPr>
          <p:cNvPr id="33" name="Shape 30"/>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عَلَامَةٌ تِجَارِيَّةٌ</a:t>
            </a:r>
            <a:endParaRPr lang="ar-SA" sz="1800" dirty="0"/>
          </a:p>
        </p:txBody>
      </p:sp>
      <p:sp>
        <p:nvSpPr>
          <p:cNvPr id="35" name="Shape 32"/>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Digital tools</a:t>
            </a:r>
            <a:endParaRPr lang="en-US" sz="950" dirty="0"/>
          </a:p>
        </p:txBody>
      </p:sp>
      <p:sp>
        <p:nvSpPr>
          <p:cNvPr id="38" name="Shape 35"/>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Online actions</a:t>
            </a:r>
            <a:endParaRPr lang="en-US" sz="950" dirty="0"/>
          </a:p>
        </p:txBody>
      </p:sp>
      <p:sp>
        <p:nvSpPr>
          <p:cNvPr id="41" name="Shape 38"/>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2" name="Shape 39"/>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3" name="Text 40"/>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Benefits and risks</a:t>
            </a:r>
            <a:endParaRPr lang="en-US" sz="9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7" name="Shape 14"/>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8" name="Shape 15"/>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Digital tools</a:t>
            </a:r>
            <a:endParaRPr lang="en-US" sz="950" dirty="0"/>
          </a:p>
        </p:txBody>
      </p:sp>
      <p:sp>
        <p:nvSpPr>
          <p:cNvPr id="20" name="Shape 17"/>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الذَّكَاءُ الاصْطِنَاعِيُّ</a:t>
            </a:r>
            <a:endParaRPr lang="ar-SA" sz="1800" dirty="0"/>
          </a:p>
        </p:txBody>
      </p:sp>
      <p:sp>
        <p:nvSpPr>
          <p:cNvPr id="22" name="Shape 19"/>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كَلِمَةُ المُرُورِ</a:t>
            </a:r>
            <a:endParaRPr lang="ar-SA" sz="1800" dirty="0"/>
          </a:p>
        </p:txBody>
      </p:sp>
      <p:sp>
        <p:nvSpPr>
          <p:cNvPr id="24" name="Shape 21"/>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عَلَامَةٌ تِجَارِيَّةٌ</a:t>
            </a:r>
            <a:endParaRPr lang="ar-SA" sz="1800" dirty="0"/>
          </a:p>
        </p:txBody>
      </p:sp>
      <p:sp>
        <p:nvSpPr>
          <p:cNvPr id="26" name="Shape 23"/>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7" name="Shape 24"/>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Online actions</a:t>
            </a:r>
            <a:endParaRPr lang="en-US" sz="950" dirty="0"/>
          </a:p>
        </p:txBody>
      </p:sp>
      <p:sp>
        <p:nvSpPr>
          <p:cNvPr id="29" name="Shape 26"/>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يُحَمِّلُ</a:t>
            </a:r>
            <a:endParaRPr lang="ar-SA" sz="1800" dirty="0"/>
          </a:p>
        </p:txBody>
      </p:sp>
      <p:sp>
        <p:nvSpPr>
          <p:cNvPr id="31" name="Shape 28"/>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يَنْشُرُ</a:t>
            </a:r>
            <a:endParaRPr lang="ar-SA" sz="1800" dirty="0"/>
          </a:p>
        </p:txBody>
      </p:sp>
      <p:sp>
        <p:nvSpPr>
          <p:cNvPr id="33" name="Shape 30"/>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يُنَزِّلُ</a:t>
            </a:r>
            <a:endParaRPr lang="ar-SA" sz="1800" dirty="0"/>
          </a:p>
        </p:txBody>
      </p:sp>
      <p:sp>
        <p:nvSpPr>
          <p:cNvPr id="35" name="Shape 32"/>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6" name="Shape 33"/>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Benefits and risks</a:t>
            </a:r>
            <a:endParaRPr lang="en-US" sz="950" dirty="0"/>
          </a:p>
        </p:txBody>
      </p:sp>
      <p:sp>
        <p:nvSpPr>
          <p:cNvPr id="38" name="Shape 35"/>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الخُصُوصِيَّةُ</a:t>
            </a:r>
            <a:endParaRPr lang="ar-SA" sz="1800" dirty="0"/>
          </a:p>
        </p:txBody>
      </p:sp>
      <p:sp>
        <p:nvSpPr>
          <p:cNvPr id="40" name="Shape 37"/>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الأَمَانُ الرَّقْمِيُّ</a:t>
            </a:r>
            <a:endParaRPr lang="ar-SA" sz="1800" dirty="0"/>
          </a:p>
        </p:txBody>
      </p:sp>
      <p:sp>
        <p:nvSpPr>
          <p:cNvPr id="42" name="Shape 39"/>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3" name="Text 40"/>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مَعْلُومَاتٌ مُضَلِّلَةٌ</a:t>
            </a:r>
            <a:endParaRPr lang="ar-SA"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GUIDED PRACTICE · WEBSITE QUIZ QUESTIONS 3, 4, 7, 8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pair builds a balanced contrast?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بِسَبَبِ ... قُرْبَ</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مُنْذُ ... حَتَّى</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نَاحِيَةٍ ... وَمِنْ نَاحِيَةٍ أُخْرَى</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concession.</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 الرَّغْمِ التِّقْنِيَّةُ مُفِيدَةٌ، لَهَا مَخَاطِرُ.</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 الرَّغْمِ مِنْ أَنَّ التِّقْنِيَّةَ مُفِيدَةٌ، فَلَهَا مَخَاطِرُ.</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 الرَّغْمِ مِنْ التِّقْنِيَّةَ أَنَّ مُفِيدَةٌ.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a coherent digital-safety sentence.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أَنْ نَنْشُرَ كَلِمَةَ المُرُورِ لِلْجَمِيعِ.</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أَنْ نَسْتَخْدِمَ كَلِمَةَ مُرُورٍ قَوِيَّةً لِحِمَايَةِ حِسَابَاتِنَا.</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أَنْ نُحَمِّلَ الخُصُوصِيَّةَ.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gives a qualified judgement?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التِّقْنِيَّةُ شَرِيطَةٌ عَلَى المَسْؤُولِيَّةِ.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التِّقْنِيَّةُ مُفِيدَةٌ لِأَنَّهَا مُفِيدَةٌ.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التِّقْنِيَّةُ مُفِيدَةٌ شَرِيطَةَ أَنْ نَسْتَخْدِمَهَا بِمَسْؤُولِيَّةٍ.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pair builds a balanced contrast?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بِسَبَبِ ... قُرْبَ</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مُنْذُ ... حَتَّى</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مِنْ نَاحِيَةٍ ... وَمِنْ نَاحِيَةٍ أُخْرَى</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two phrases frame contrasting sides.</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concession.</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 الرَّغْمِ التِّقْنِيَّةُ مُفِيدَةٌ، لَهَا مَخَاطِرُ.</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عَلَى الرَّغْمِ مِنْ أَنَّ التِّقْنِيَّةَ مُفِيدَةٌ، فَلَهَا مَخَاطِرُ.</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 الرَّغْمِ مِنْ التِّقْنِيَّةَ أَنَّ مُفِيدَةٌ.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pattern is </a:t>
            </a:r>
            <a:pPr algn="l" indent="0" marL="0">
              <a:buNone/>
            </a:pPr>
            <a:r>
              <a:rPr lang="ar-SA" altLang="en-US" sz="1350" dirty="0">
                <a:solidFill>
                  <a:srgbClr val="8A6D1E"/>
                </a:solidFill>
                <a:latin typeface="Amiri" pitchFamily="34" charset="0"/>
                <a:ea typeface="Amiri" pitchFamily="34" charset="-122"/>
                <a:cs typeface="Amiri" pitchFamily="34" charset="-120"/>
              </a:rPr>
              <a:t>على الرغم من أن</a:t>
            </a:r>
            <a:pPr algn="l" indent="0" marL="0">
              <a:buNone/>
            </a:pPr>
            <a:r>
              <a:rPr lang="en-US" sz="1050" i="1" dirty="0">
                <a:solidFill>
                  <a:srgbClr val="8A6D1E"/>
                </a:solidFill>
                <a:latin typeface="Calibri" pitchFamily="34" charset="0"/>
                <a:ea typeface="Calibri" pitchFamily="34" charset="-122"/>
                <a:cs typeface="Calibri" pitchFamily="34" charset="-120"/>
              </a:rPr>
              <a:t> + clause.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a coherent digital-safety sentence.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يَجِبُ أَنْ نَنْشُرَ كَلِمَةَ المُرُورِ لِلْجَمِيعِ.</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يَجِبُ أَنْ نَسْتَخْدِمَ كَلِمَةَ مُرُورٍ قَوِيَّةً لِحِمَايَةِ حِسَابَاتِنَا.</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يَجِبُ أَنْ نُحَمِّلَ الخُصُوصِيَّةَ.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 strong password protects accounts.</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gives a qualified judgement?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التِّقْنِيَّةُ شَرِيطَةٌ عَلَى المَسْؤُولِيَّةِ.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التِّقْنِيَّةُ مُفِيدَةٌ لِأَنَّهَا مُفِيدَةٌ.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التِّقْنِيَّةُ مُفِيدَةٌ شَرِيطَةَ أَنْ نَسْتَخْدِمَهَا بِمَسْؤُولِيَّةٍ.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شريطة أن</a:t>
            </a:r>
            <a:pPr algn="l" indent="0" marL="0">
              <a:buNone/>
            </a:pPr>
            <a:r>
              <a:rPr lang="en-US" sz="1050" i="1" dirty="0">
                <a:solidFill>
                  <a:srgbClr val="8A6D1E"/>
                </a:solidFill>
                <a:latin typeface="Calibri" pitchFamily="34" charset="0"/>
                <a:ea typeface="Calibri" pitchFamily="34" charset="-122"/>
                <a:cs typeface="Calibri" pitchFamily="34" charset="-120"/>
              </a:rPr>
              <a:t> introduces a condition for the judgement.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يَتَفَاعَلُ الطُّلَّابُ عَلَى المُعَلِّمِ.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Which partner word goes with </a:t>
            </a:r>
            <a:pPr algn="l" indent="0" marL="0">
              <a:buNone/>
            </a:pPr>
            <a:r>
              <a:rPr lang="ar-SA" altLang="en-US" sz="1700" dirty="0">
                <a:solidFill>
                  <a:srgbClr val="5A6472"/>
                </a:solidFill>
                <a:latin typeface="Amiri" pitchFamily="34" charset="0"/>
                <a:ea typeface="Amiri" pitchFamily="34" charset="-122"/>
                <a:cs typeface="Amiri" pitchFamily="34" charset="-120"/>
              </a:rPr>
              <a:t>يَتَفَاعَلُ</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يُعَلِّقُ المُسْتَخْدِمُ مَعَ المَنْشُورِ.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Which partner word goes with </a:t>
            </a:r>
            <a:pPr algn="l" indent="0" marL="0">
              <a:buNone/>
            </a:pPr>
            <a:r>
              <a:rPr lang="ar-SA" altLang="en-US" sz="1700" dirty="0">
                <a:solidFill>
                  <a:srgbClr val="5A6472"/>
                </a:solidFill>
                <a:latin typeface="Amiri" pitchFamily="34" charset="0"/>
                <a:ea typeface="Amiri" pitchFamily="34" charset="-122"/>
                <a:cs typeface="Amiri" pitchFamily="34" charset="-120"/>
              </a:rPr>
              <a:t>يُعَلِّقُ</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عَلَى الرَّغْمِ أَنَّ الذَّكَاءَ الاصْطِنَاعِيَّ مُفِيدٌ.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The full connector is </a:t>
            </a:r>
            <a:pPr algn="l" indent="0" marL="0">
              <a:buNone/>
            </a:pPr>
            <a:r>
              <a:rPr lang="ar-SA" altLang="en-US" sz="1700" dirty="0">
                <a:solidFill>
                  <a:srgbClr val="5A6472"/>
                </a:solidFill>
                <a:latin typeface="Amiri" pitchFamily="34" charset="0"/>
                <a:ea typeface="Amiri" pitchFamily="34" charset="-122"/>
                <a:cs typeface="Amiri" pitchFamily="34" charset="-120"/>
              </a:rPr>
              <a:t>عَلَى الرَّغْمِ … أَنَّ</a:t>
            </a:r>
            <a:pPr algn="l" indent="0" marL="0">
              <a:buNone/>
            </a:pPr>
            <a:r>
              <a:rPr lang="en-US" sz="1300" i="1" dirty="0">
                <a:solidFill>
                  <a:srgbClr val="5A6472"/>
                </a:solidFill>
                <a:latin typeface="Calibri" pitchFamily="34" charset="0"/>
                <a:ea typeface="Calibri" pitchFamily="34" charset="-122"/>
                <a:cs typeface="Calibri" pitchFamily="34" charset="-120"/>
              </a:rPr>
              <a:t> — what is missing?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يَتَفَاعَلُ الطُّلَّابُ عَلَى المُعَلِّمِ.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يَتَفَاعَلُ الطُّلَّابُ مَعَ المُعَلِّمِ.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يتفاعل</a:t>
            </a:r>
            <a:pPr algn="l" indent="0" marL="0">
              <a:buNone/>
            </a:pPr>
            <a:r>
              <a:rPr lang="en-US" sz="1150" b="1" dirty="0">
                <a:solidFill>
                  <a:srgbClr val="1B3B6F"/>
                </a:solidFill>
                <a:latin typeface="Calibri" pitchFamily="34" charset="0"/>
                <a:ea typeface="Calibri" pitchFamily="34" charset="-122"/>
                <a:cs typeface="Calibri" pitchFamily="34" charset="-120"/>
              </a:rPr>
              <a:t> governs </a:t>
            </a:r>
            <a:pPr algn="l" indent="0" marL="0">
              <a:buNone/>
            </a:pPr>
            <a:r>
              <a:rPr lang="ar-SA" altLang="en-US" sz="1500" b="1" dirty="0">
                <a:solidFill>
                  <a:srgbClr val="1B3B6F"/>
                </a:solidFill>
                <a:latin typeface="Amiri" pitchFamily="34" charset="0"/>
                <a:ea typeface="Amiri" pitchFamily="34" charset="-122"/>
                <a:cs typeface="Amiri" pitchFamily="34" charset="-120"/>
              </a:rPr>
              <a:t>مع</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يُعَلِّقُ المُسْتَخْدِمُ مَعَ المَنْشُورِ.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يُعَلِّقُ المُسْتَخْدِمُ عَلَى المَنْشُورِ.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يعلّق</a:t>
            </a:r>
            <a:pPr algn="l" indent="0" marL="0">
              <a:buNone/>
            </a:pPr>
            <a:r>
              <a:rPr lang="en-US" sz="1150" b="1" dirty="0">
                <a:solidFill>
                  <a:srgbClr val="1B3B6F"/>
                </a:solidFill>
                <a:latin typeface="Calibri" pitchFamily="34" charset="0"/>
                <a:ea typeface="Calibri" pitchFamily="34" charset="-122"/>
                <a:cs typeface="Calibri" pitchFamily="34" charset="-120"/>
              </a:rPr>
              <a:t> governs </a:t>
            </a:r>
            <a:pPr algn="l" indent="0" marL="0">
              <a:buNone/>
            </a:pPr>
            <a:r>
              <a:rPr lang="ar-SA" altLang="en-US" sz="1500" b="1" dirty="0">
                <a:solidFill>
                  <a:srgbClr val="1B3B6F"/>
                </a:solidFill>
                <a:latin typeface="Amiri" pitchFamily="34" charset="0"/>
                <a:ea typeface="Amiri" pitchFamily="34" charset="-122"/>
                <a:cs typeface="Amiri" pitchFamily="34" charset="-120"/>
              </a:rPr>
              <a:t>على</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34" charset="0"/>
                <a:ea typeface="Amiri" pitchFamily="34" charset="-122"/>
                <a:cs typeface="Amiri" pitchFamily="34" charset="-120"/>
              </a:rPr>
              <a:t>عَلَى الرَّغْمِ أَنَّ الذَّكَاءَ الاصْطِنَاعِيَّ مُفِيدٌ.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350" b="1" dirty="0">
                <a:solidFill>
                  <a:srgbClr val="1E6B52"/>
                </a:solidFill>
                <a:latin typeface="Amiri" pitchFamily="34" charset="0"/>
                <a:ea typeface="Amiri" pitchFamily="34" charset="-122"/>
                <a:cs typeface="Amiri" pitchFamily="34" charset="-120"/>
              </a:rPr>
              <a:t>عَلَى الرَّغْمِ مِنْ أَنَّ الذَّكَاءَ الاصْطِنَاعِيَّ مُفِيدٌ.</a:t>
            </a:r>
            <a:endParaRPr lang="ar-SA" sz="235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complete connector is </a:t>
            </a:r>
            <a:pPr algn="l" indent="0" marL="0">
              <a:buNone/>
            </a:pPr>
            <a:r>
              <a:rPr lang="ar-SA" altLang="en-US" sz="1500" b="1" dirty="0">
                <a:solidFill>
                  <a:srgbClr val="1B3B6F"/>
                </a:solidFill>
                <a:latin typeface="Amiri" pitchFamily="34" charset="0"/>
                <a:ea typeface="Amiri" pitchFamily="34" charset="-122"/>
                <a:cs typeface="Amiri" pitchFamily="34" charset="-120"/>
              </a:rPr>
              <a:t>على الرغم من أن</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Listening: a student’s digital routine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often is the platform used?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Three times a week</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Every hour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Once a month</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does the speaker interact with?</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doctor</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shop assistant</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teacher</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speaker upload?</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Passwords</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Advertisements</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Homework</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one advantage?</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Learning from any place</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Never needing a teacher</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Sharing private data</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needs to be reduced?</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Password strength</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Screen time</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Lesson time</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two safety/wellbeing actions are taken?</a:t>
            </a:r>
            <a:endParaRPr lang="en-US" sz="120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Using a strong password and stopping before sleep</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Sharing the password and staying online all night</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Posting personal details and avoiding lessons</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3 — listen for </a:t>
            </a:r>
            <a:pPr algn="l" indent="0" marL="0">
              <a:buNone/>
            </a:pPr>
            <a:r>
              <a:rPr lang="ar-SA" altLang="en-US" sz="1650" dirty="0">
                <a:solidFill>
                  <a:srgbClr val="1E6B52"/>
                </a:solidFill>
                <a:latin typeface="Amiri" pitchFamily="34" charset="0"/>
                <a:ea typeface="Amiri" pitchFamily="34" charset="-122"/>
                <a:cs typeface="Amiri" pitchFamily="34" charset="-120"/>
              </a:rPr>
              <a:t>ثَلَاثَ مَرَّاتٍ</a:t>
            </a:r>
            <a:pPr algn="l" indent="0" marL="0">
              <a:buNone/>
            </a:pPr>
            <a:r>
              <a:rPr lang="en-US" sz="1250" dirty="0">
                <a:solidFill>
                  <a:srgbClr val="1E6B52"/>
                </a:solidFill>
                <a:latin typeface="Calibri" pitchFamily="34" charset="0"/>
                <a:ea typeface="Calibri" pitchFamily="34" charset="-122"/>
                <a:cs typeface="Calibri" pitchFamily="34" charset="-120"/>
              </a:rPr>
              <a:t> (three times), </a:t>
            </a:r>
            <a:pPr algn="l" indent="0" marL="0">
              <a:buNone/>
            </a:pPr>
            <a:r>
              <a:rPr lang="ar-SA" altLang="en-US" sz="1650" dirty="0">
                <a:solidFill>
                  <a:srgbClr val="1E6B52"/>
                </a:solidFill>
                <a:latin typeface="Amiri" pitchFamily="34" charset="0"/>
                <a:ea typeface="Amiri" pitchFamily="34" charset="-122"/>
                <a:cs typeface="Amiri" pitchFamily="34" charset="-120"/>
              </a:rPr>
              <a:t>المُعَلِّم</a:t>
            </a:r>
            <a:pPr algn="l" indent="0" marL="0">
              <a:buNone/>
            </a:pPr>
            <a:r>
              <a:rPr lang="en-US" sz="1250" dirty="0">
                <a:solidFill>
                  <a:srgbClr val="1E6B52"/>
                </a:solidFill>
                <a:latin typeface="Calibri" pitchFamily="34" charset="0"/>
                <a:ea typeface="Calibri" pitchFamily="34" charset="-122"/>
                <a:cs typeface="Calibri" pitchFamily="34" charset="-120"/>
              </a:rPr>
              <a:t> (teacher) and </a:t>
            </a:r>
            <a:pPr algn="l" indent="0" marL="0">
              <a:buNone/>
            </a:pPr>
            <a:r>
              <a:rPr lang="ar-SA" altLang="en-US" sz="1650" dirty="0">
                <a:solidFill>
                  <a:srgbClr val="1E6B52"/>
                </a:solidFill>
                <a:latin typeface="Amiri" pitchFamily="34" charset="0"/>
                <a:ea typeface="Amiri" pitchFamily="34" charset="-122"/>
                <a:cs typeface="Amiri" pitchFamily="34" charset="-120"/>
              </a:rPr>
              <a:t>وَاجِبَاتِي</a:t>
            </a:r>
            <a:pPr algn="l" indent="0" marL="0">
              <a:buNone/>
            </a:pPr>
            <a:r>
              <a:rPr lang="en-US" sz="1250" dirty="0">
                <a:solidFill>
                  <a:srgbClr val="1E6B52"/>
                </a:solidFill>
                <a:latin typeface="Calibri" pitchFamily="34" charset="0"/>
                <a:ea typeface="Calibri" pitchFamily="34" charset="-122"/>
                <a:cs typeface="Calibri" pitchFamily="34" charset="-120"/>
              </a:rPr>
              <a:t> (my homework).</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أَسْتَخْدِمُ مِنَصَّةً لِلتَّعَلُّمِ عَنْ بُعْدٍ ثَلَاثَ مَرَّاتٍ فِي الأُسْبُوعِ.</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use a platform for distance learning three times a week.</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أَتَفَاعَلُ مَعَ المُعَلِّمِ، وَأُحَمِّلُ وَاجِبَاتِي، وَأُعَلِّقُ عَلَى أَفْكَارِ زُمَلَائِي.</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interact with the teacher, upload my homework and comment on my classmates’ ideas.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مِنْ نَاحِيَةٍ، تُسَاعِدُنِي المِنَصَّةُ عَلَى التَّعَلُّمِ فِي أَيِّ مَكَانٍ.</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 the one hand, the platform helps me learn anywhere.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وَمِنْ نَاحِيَةٍ أُخْرَى، أَحْتَاجُ إِلَى تَقْلِيلِ وَقْتِ الشَّاشَةِ.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 the other hand, I need to reduce screen time.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لِذٰلِكَ أَسْتَخْدِمُ كَلِمَةَ مُرُورٍ قَوِيَّةً وَأَتَوَقَّفُ عَنِ الاسْتِخْدَامِ قَبْلَ النَّوْمِ.</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 I use a strong password and I stop using it before sleep.</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often is the platform used?</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Three times a week</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Every hour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Once a month</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ثلاث مرات في الأسبوع.</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does the speaker interact with?</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doctor</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shop assistant</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 teacher</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أتفاعل مع المعلم.</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speaker upload?</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Passwords</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Advertisements</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Homework</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أحمل واجباتي.</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one advantage?</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Learning from any place</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Never needing a teacher</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Sharing private data</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التعلم في أي مكان.</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needs to be reduced?</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Password strength</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Screen time</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Lesson time</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تقليل وقت الشاشة.</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two safety/wellbeing actions are taken?</a:t>
            </a:r>
            <a:endParaRPr lang="en-US" sz="120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Using a strong password and stopping before sleep</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Sharing the password and staying online all night</a:t>
            </a:r>
            <a:endParaRPr lang="en-US" sz="11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Posting personal details and avoiding lessons</a:t>
            </a:r>
            <a:endParaRPr lang="en-US" sz="11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final sentence names both actions.</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3 — listen for </a:t>
            </a:r>
            <a:pPr algn="l" indent="0" marL="0">
              <a:buNone/>
            </a:pPr>
            <a:r>
              <a:rPr lang="ar-SA" altLang="en-US" sz="1650" dirty="0">
                <a:solidFill>
                  <a:srgbClr val="1E6B52"/>
                </a:solidFill>
                <a:latin typeface="Amiri" pitchFamily="34" charset="0"/>
                <a:ea typeface="Amiri" pitchFamily="34" charset="-122"/>
                <a:cs typeface="Amiri" pitchFamily="34" charset="-120"/>
              </a:rPr>
              <a:t>ثَلَاثَ مَرَّاتٍ</a:t>
            </a:r>
            <a:pPr algn="l" indent="0" marL="0">
              <a:buNone/>
            </a:pPr>
            <a:r>
              <a:rPr lang="en-US" sz="1250" dirty="0">
                <a:solidFill>
                  <a:srgbClr val="1E6B52"/>
                </a:solidFill>
                <a:latin typeface="Calibri" pitchFamily="34" charset="0"/>
                <a:ea typeface="Calibri" pitchFamily="34" charset="-122"/>
                <a:cs typeface="Calibri" pitchFamily="34" charset="-120"/>
              </a:rPr>
              <a:t> (three times), </a:t>
            </a:r>
            <a:pPr algn="l" indent="0" marL="0">
              <a:buNone/>
            </a:pPr>
            <a:r>
              <a:rPr lang="ar-SA" altLang="en-US" sz="1650" dirty="0">
                <a:solidFill>
                  <a:srgbClr val="1E6B52"/>
                </a:solidFill>
                <a:latin typeface="Amiri" pitchFamily="34" charset="0"/>
                <a:ea typeface="Amiri" pitchFamily="34" charset="-122"/>
                <a:cs typeface="Amiri" pitchFamily="34" charset="-120"/>
              </a:rPr>
              <a:t>المُعَلِّم</a:t>
            </a:r>
            <a:pPr algn="l" indent="0" marL="0">
              <a:buNone/>
            </a:pPr>
            <a:r>
              <a:rPr lang="en-US" sz="1250" dirty="0">
                <a:solidFill>
                  <a:srgbClr val="1E6B52"/>
                </a:solidFill>
                <a:latin typeface="Calibri" pitchFamily="34" charset="0"/>
                <a:ea typeface="Calibri" pitchFamily="34" charset="-122"/>
                <a:cs typeface="Calibri" pitchFamily="34" charset="-120"/>
              </a:rPr>
              <a:t> (teacher) and </a:t>
            </a:r>
            <a:pPr algn="l" indent="0" marL="0">
              <a:buNone/>
            </a:pPr>
            <a:r>
              <a:rPr lang="ar-SA" altLang="en-US" sz="1650" dirty="0">
                <a:solidFill>
                  <a:srgbClr val="1E6B52"/>
                </a:solidFill>
                <a:latin typeface="Amiri" pitchFamily="34" charset="0"/>
                <a:ea typeface="Amiri" pitchFamily="34" charset="-122"/>
                <a:cs typeface="Amiri" pitchFamily="34" charset="-120"/>
              </a:rPr>
              <a:t>وَاجِبَاتِي</a:t>
            </a:r>
            <a:pPr algn="l" indent="0" marL="0">
              <a:buNone/>
            </a:pPr>
            <a:r>
              <a:rPr lang="en-US" sz="1250" dirty="0">
                <a:solidFill>
                  <a:srgbClr val="1E6B52"/>
                </a:solidFill>
                <a:latin typeface="Calibri" pitchFamily="34" charset="0"/>
                <a:ea typeface="Calibri" pitchFamily="34" charset="-122"/>
                <a:cs typeface="Calibri" pitchFamily="34" charset="-120"/>
              </a:rPr>
              <a:t> (my homework).</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Speaking: evaluate digital learning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أَيَّ تَطْبِيقٍ تَسْتَعْمِلُ كَثِيرًا؟ وَلِمَاذَا؟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كَيْفَ تَسْتَخْدِمُ التِّقْنِيَّةَ؟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فَوَائِدُ التَّعَلُّمِ عَنْ بُعْدٍ؟</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مَخَاطِرُ وَسَائِلِ التَّوَاصُلِ؟</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أَسْتَعْمِلُ ___ لِـ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مِنْ نَاحِيَةٍ ___ ، وَمِنْ نَاحِيَةٍ أُخْرَى ___ .</a:t>
            </a:r>
            <a:endParaRPr lang="ar-SA" sz="15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عَلَى الرَّغْمِ مِنْ أَنَّ ___ ، فَـ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هُوَ يَسْتَعْمِلُ / هِيَ تَسْتَعْمِلُ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مَا رَأْيُكَ فِي التَّعَلُّمِ عَنْ بُعْدٍ؟</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What is your opinion of distance learning?</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34" charset="0"/>
                <a:ea typeface="Amiri" pitchFamily="34" charset="-122"/>
                <a:cs typeface="Amiri" pitchFamily="34" charset="-120"/>
              </a:rPr>
              <a:t>مِنْ نَاحِيَةٍ، هُوَ مُرِنٌ وَيُسَهِّلُ الوُصُولَ إِلَى الدُّرُوسِ، وَمِنْ نَاحِيَةٍ أُخْرَى، قَدْ يُقَلِّلُ التَّفَاعُلَ المُبَاشِرَ. أُؤَيِّدُهُ شَرِيطَةَ أَنْ يَكُونَ آمِنًا وَتَفَاعُلِيًّا.</a:t>
            </a:r>
            <a:endParaRPr lang="ar-SA" sz="140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Developed answer</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Frames + word bank (next slide): أَسْتَعْمِلُ / أُرْسِلُ / أَبْحَثُ عَنْ … — the أَـ / أُـ “I” verbs with their partner words.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One benefit and one risk with مِنْ نَاحِيَةٍ … وَمِنْ نَاحِيَةٍ أُخْرَى; two verbs with their partner words; one verbal noun.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120–140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writing task: evaluate technology or social media with a qualified conclusion (شَرِيطَةَ أَنْ).</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نَاحِيَةٍ،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On the one hand,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وَمِنْ نَاحِيَةٍ أُخْرَى،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On the other hand,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أَتَفَاعَلُ مَعَ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interact with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أُعَلِّقُ عَلَى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comment on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مُفِيدٌ، وَلٰكِنْ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is useful, but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أَسْتَعْمِلُ هَاتِفِي لِـ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use my phone to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أُرْسِلُ رَسَائِلَ إِلَى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send messages to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أَبْحَثُ عَنْ ______ عَلَى الإِنْتَرْنِتِ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search for … online.</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تَطْبِيقِي المُفَضَّلُ هُوَ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My favourite app is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أَسْتَخْدِمُ كَلِمَةَ مُرُورٍ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use a strong password.</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هَاتِفٌ  ·  حَاسُوبٌ  ·  الإِنْتَرْنِتُ  ·  تَطْبِيقٌ  ·  مَوْقِعٌ  ·  رَسَائِلُ  ·  أَصْدِقَائِي  ·  الدِّرَاسَةِ  ·  الخُصُوصِيَّةُ  ·  وَقْتُ الشَّاشَةِ  ·  مُفِيدٌ  ·  خَطِيرٌ</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Write 120–140 Arabic words evaluating technology or social media.</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all four target 2028 digital terms where relevant.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Balance at least one benefit and one risk.</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accurate digital-verb prepositions.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Give a qualified conclusion.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34" charset="0"/>
                <a:ea typeface="Amiri" pitchFamily="34" charset="-122"/>
                <a:cs typeface="Amiri" pitchFamily="34" charset="-120"/>
              </a:rPr>
              <a:t>أَصْبَحَتِ التِّقْنِيَّةُ جُزْءًا أَسَاسِيًّا مِنْ حَيَاتِنَا</a:t>
            </a:r>
            <a:endParaRPr lang="ar-SA" sz="175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technology has become a basic part of our lives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يُسَهِّلُ … الوُصُولَ إِلَى الدُّرُوسِ</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 makes access to lessons easier</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قَدْ تُؤَدِّي كَثْرَةُ الاسْتِخْدَامِ إِلَى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too much use may lead to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قَدْ يَتَعَرَّضُ المُسْتَخْدِمُ لِـ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the user may be exposed to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عَلَى الرَّغْمِ مِنْ أَنَّ … ، فَـ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although …, …</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شَرِيطَةَ أَنْ نَسْتَخْدِمَهَا بِمَسْؤُولِيَّةٍ</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provided that we use it responsibly</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34" charset="0"/>
                <a:ea typeface="Amiri" pitchFamily="34" charset="-122"/>
                <a:cs typeface="Amiri" pitchFamily="34" charset="-120"/>
              </a:rPr>
              <a:t>أَصْبَحَتِ التِّقْنِيَّةُ جُزْءًا أَسَاسِيًّا مِنْ حَيَاتِنَا. مِنْ نَاحِيَةٍ، يُسَهِّلُ التَّعَلُّمُ عَنْ بُعْدٍ الوُصُولَ إِلَى الدُّرُوسِ، وَيُسَاعِدُ الذَّكَاءُ الاصْطِنَاعِيُّ عَلَى تَنْظِيمِ الأَفْكَارِ. وَمِنْ نَاحِيَةٍ أُخْرَى، قَدْ تُؤَدِّي كَثْرَةُ الاسْتِخْدَامِ إِلَى إِدْمَانِ الشَّاشَاتِ، وَقَدْ يَتَعَرَّضُ المُسْتَخْدِمُ لِمَعْلُومَاتٍ مُضَلِّلَةٍ. عَلَى الرَّغْمِ مِنْ أَنَّ المِنَصَّاتِ مُفِيدَةٌ، فَيَجِبُ أَنْ نَحْمِيَ خُصُوصِيَّتَنَا وَنَسْتَخْدِمَ كَلِمَاتِ مُرُورٍ قَوِيَّةً. فِي رَأْيِي، التِّقْنِيَّةُ إِيجَابِيَّةٌ شَرِيطَةَ أَنْ نَسْتَخْدِمَهَا بِمَسْؤُولِيَّةٍ.</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Technology has become a basic part of our lives. On the one hand, distance learning makes access to lessons easier, and artificial intelligence helps to organise ideas. On the other hand, too much use may lead to screen addiction, and the user may be exposed to misleading information. Although platforms are useful, we must protect our privacy and use strong passwords. In my opinion, technology is positive provided that we use it responsibly.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verb + its partner word</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مِنْ نَاحِيَةٍ … أُخْرَى</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risk</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شَرِيطَةَ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name devices and apps and say what I use them for: </a:t>
            </a:r>
            <a:pPr algn="l" indent="0" marL="0">
              <a:buNone/>
            </a:pPr>
            <a:r>
              <a:rPr lang="ar-SA" altLang="en-US" sz="1700" dirty="0">
                <a:solidFill>
                  <a:srgbClr val="1F2A37"/>
                </a:solidFill>
                <a:latin typeface="Amiri" pitchFamily="34" charset="0"/>
                <a:ea typeface="Amiri" pitchFamily="34" charset="-122"/>
                <a:cs typeface="Amiri" pitchFamily="34" charset="-120"/>
              </a:rPr>
              <a:t>أَسْتَعْمِلُ … لِـ</a:t>
            </a:r>
            <a:pPr algn="l" indent="0" marL="0">
              <a:buNone/>
            </a:pPr>
            <a:r>
              <a:rPr lang="en-US" sz="1300" dirty="0">
                <a:solidFill>
                  <a:srgbClr val="1F2A37"/>
                </a:solidFill>
                <a:latin typeface="Calibri" pitchFamily="34" charset="0"/>
                <a:ea typeface="Calibri" pitchFamily="34" charset="-122"/>
                <a:cs typeface="Calibri" pitchFamily="34" charset="-120"/>
              </a:rPr>
              <a:t> …</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keep each verb with its partner: </a:t>
            </a:r>
            <a:pPr algn="l" indent="0" marL="0">
              <a:buNone/>
            </a:pPr>
            <a:r>
              <a:rPr lang="ar-SA" altLang="en-US" sz="1700" dirty="0">
                <a:solidFill>
                  <a:srgbClr val="1F2A37"/>
                </a:solidFill>
                <a:latin typeface="Amiri" pitchFamily="34" charset="0"/>
                <a:ea typeface="Amiri" pitchFamily="34" charset="-122"/>
                <a:cs typeface="Amiri" pitchFamily="34" charset="-120"/>
              </a:rPr>
              <a:t>أَتَفَاعَلُ مَعَ، أُعَلِّقُ عَلَى، أَبْحَثُ عَنْ</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give a benefit and a risk with </a:t>
            </a:r>
            <a:pPr algn="l" indent="0" marL="0">
              <a:buNone/>
            </a:pPr>
            <a:r>
              <a:rPr lang="ar-SA" altLang="en-US" sz="1700" dirty="0">
                <a:solidFill>
                  <a:srgbClr val="1F2A37"/>
                </a:solidFill>
                <a:latin typeface="Amiri" pitchFamily="34" charset="0"/>
                <a:ea typeface="Amiri" pitchFamily="34" charset="-122"/>
                <a:cs typeface="Amiri" pitchFamily="34" charset="-120"/>
              </a:rPr>
              <a:t>مِنْ نَاحِيَةٍ … وَمِنْ نَاحِيَةٍ أُخْرَى</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support an answer with exact Arabic evidence.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refer back with </a:t>
            </a:r>
            <a:pPr algn="l" indent="0" marL="0">
              <a:buNone/>
            </a:pPr>
            <a:r>
              <a:rPr lang="ar-SA" altLang="en-US" sz="1700" dirty="0">
                <a:solidFill>
                  <a:srgbClr val="1F2A37"/>
                </a:solidFill>
                <a:latin typeface="Amiri" pitchFamily="34" charset="0"/>
                <a:ea typeface="Amiri" pitchFamily="34" charset="-122"/>
                <a:cs typeface="Amiri" pitchFamily="34" charset="-120"/>
              </a:rPr>
              <a:t>عَلَيْهِ / فِيهَا</a:t>
            </a:r>
            <a:pPr algn="l" indent="0" marL="0">
              <a:buNone/>
            </a:pPr>
            <a:r>
              <a:rPr lang="en-US" sz="1300" dirty="0">
                <a:solidFill>
                  <a:srgbClr val="1F2A37"/>
                </a:solidFill>
                <a:latin typeface="Calibri" pitchFamily="34" charset="0"/>
                <a:ea typeface="Calibri" pitchFamily="34" charset="-122"/>
                <a:cs typeface="Calibri" pitchFamily="34" charset="-120"/>
              </a:rPr>
              <a:t> and qualify with </a:t>
            </a:r>
            <a:pPr algn="l" indent="0" marL="0">
              <a:buNone/>
            </a:pPr>
            <a:r>
              <a:rPr lang="ar-SA" altLang="en-US" sz="1700" dirty="0">
                <a:solidFill>
                  <a:srgbClr val="1F2A37"/>
                </a:solidFill>
                <a:latin typeface="Amiri" pitchFamily="34" charset="0"/>
                <a:ea typeface="Amiri" pitchFamily="34" charset="-122"/>
                <a:cs typeface="Amiri" pitchFamily="34" charset="-120"/>
              </a:rPr>
              <a:t>شَرِيطَةَ أَنْ</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collocation.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يَتَفَاعَلُ مَعَ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يَتَفَاعَلُ عَلَى</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يَتَفَاعَلُ مِنْ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frames the other side of an argument?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قُرْبَ</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نَاحِيَةٍ أُخْرَى</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بِسَبَبِ</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Refer back to </a:t>
            </a:r>
            <a:pPr algn="l" indent="0" marL="0">
              <a:buNone/>
            </a:pPr>
            <a:r>
              <a:rPr lang="ar-SA" altLang="en-US" sz="1650" b="1" dirty="0">
                <a:solidFill>
                  <a:srgbClr val="1B3B6F"/>
                </a:solidFill>
                <a:latin typeface="Amiri" pitchFamily="34" charset="0"/>
                <a:ea typeface="Amiri" pitchFamily="34" charset="-122"/>
                <a:cs typeface="Amiri" pitchFamily="34" charset="-120"/>
              </a:rPr>
              <a:t>التِّقْنِيَّةُ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نَسْتَخْدِمُهَا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نَسْتَخْدِمُهُ</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نَسْتَخْدِمُهُمْ</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collocation.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يَتَفَاعَلُ مَعَ</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يَتَفَاعَلُ عَلَى</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يَتَفَاعَلُ مِنْ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يتفاعل مع.</a:t>
            </a:r>
            <a:endParaRPr lang="ar-SA" sz="13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frames the other side of an argument?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قُرْبَ</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مِنْ نَاحِيَةٍ أُخْرَى</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بِسَبَبِ</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من ناحية أخرى.</a:t>
            </a:r>
            <a:endParaRPr lang="ar-SA" sz="13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Refer back to </a:t>
            </a:r>
            <a:pPr algn="l" indent="0" marL="0">
              <a:buNone/>
            </a:pPr>
            <a:r>
              <a:rPr lang="ar-SA" altLang="en-US" sz="1650" b="1" dirty="0">
                <a:solidFill>
                  <a:srgbClr val="1B3B6F"/>
                </a:solidFill>
                <a:latin typeface="Amiri" pitchFamily="34" charset="0"/>
                <a:ea typeface="Amiri" pitchFamily="34" charset="-122"/>
                <a:cs typeface="Amiri" pitchFamily="34" charset="-120"/>
              </a:rPr>
              <a:t>التِّقْنِيَّةُ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نَسْتَخْدِمُهَا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نَسْتَخْدِمُهُ</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نَسْتَخْدِمُهُمْ</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Technology is feminine.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ea typeface="Cambria" pitchFamily="34" charset="-122"/>
                <a:cs typeface="Cambria" pitchFamily="34" charset="-120"/>
              </a:rPr>
              <a:t>Reading: responsible use of artificial intelligence</a:t>
            </a:r>
            <a:endParaRPr lang="en-US" sz="19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أَصْبَحَ الذَّكَاءُ الاصْطِنَاعِيُّ جُزْءًا مِنَ التَّعَلُّمِ الرَّقْمِيِّ. فَهُوَ يُسَاعِدُ بَعْضَ الطُّلَّابِ عَلَى فَهْمِ المَفَاهِيمِ وَتَنْظِيمِ أَفْكَارِهِمْ. وَمَعَ ذٰلِكَ، لَا تَكُونُ كُلُّ المَعْلُومَاتِ الَّتِي يُنْتِجُهَا دَقِيقَةً. لِذٰلِكَ يَجِبُ التَّحَقُّقُ مِنَ المَصَادِرِ، وَعَدَمُ إِدْخَالِ البَيَانَاتِ الشَّخْصِيَّةِ فِي مَوَاقِعَ غَيْرِ آمِنَةٍ. فِي رَأْيِي، هُوَ أَدَاةٌ مُفِيدَةٌ شَرِيطَةَ أَنْ يَسْتَخْدِمَهُ الطَّالِبُ بِوَعْيٍ.</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أَصْبَحَ</a:t>
            </a:r>
            <a:endParaRPr lang="ar-SA" sz="1600" dirty="0"/>
          </a:p>
        </p:txBody>
      </p:sp>
      <p:sp>
        <p:nvSpPr>
          <p:cNvPr id="22" name="Text 19"/>
          <p:cNvSpPr txBox="1"/>
          <p:nvPr/>
        </p:nvSpPr>
        <p:spPr>
          <a:xfrm>
            <a:off x="8851392" y="22128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became</a:t>
            </a:r>
            <a:endParaRPr lang="en-US" sz="1050" dirty="0"/>
          </a:p>
        </p:txBody>
      </p:sp>
      <p:sp>
        <p:nvSpPr>
          <p:cNvPr id="23" name="Text 20"/>
          <p:cNvSpPr txBox="1"/>
          <p:nvPr/>
        </p:nvSpPr>
        <p:spPr>
          <a:xfrm>
            <a:off x="10102291" y="25786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جُزْءٌ</a:t>
            </a:r>
            <a:endParaRPr lang="ar-SA" sz="1600" dirty="0"/>
          </a:p>
        </p:txBody>
      </p:sp>
      <p:sp>
        <p:nvSpPr>
          <p:cNvPr id="24" name="Text 21"/>
          <p:cNvSpPr txBox="1"/>
          <p:nvPr/>
        </p:nvSpPr>
        <p:spPr>
          <a:xfrm>
            <a:off x="8851392" y="25786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part</a:t>
            </a:r>
            <a:endParaRPr lang="en-US" sz="1050" dirty="0"/>
          </a:p>
        </p:txBody>
      </p:sp>
      <p:sp>
        <p:nvSpPr>
          <p:cNvPr id="25" name="Text 22"/>
          <p:cNvSpPr txBox="1"/>
          <p:nvPr/>
        </p:nvSpPr>
        <p:spPr>
          <a:xfrm>
            <a:off x="10102291" y="29443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المَفَاهِيمُ</a:t>
            </a:r>
            <a:endParaRPr lang="ar-SA" sz="1600" dirty="0"/>
          </a:p>
        </p:txBody>
      </p:sp>
      <p:sp>
        <p:nvSpPr>
          <p:cNvPr id="26" name="Text 23"/>
          <p:cNvSpPr txBox="1"/>
          <p:nvPr/>
        </p:nvSpPr>
        <p:spPr>
          <a:xfrm>
            <a:off x="8851392" y="29443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concepts</a:t>
            </a:r>
            <a:endParaRPr lang="en-US" sz="1050" dirty="0"/>
          </a:p>
        </p:txBody>
      </p:sp>
      <p:sp>
        <p:nvSpPr>
          <p:cNvPr id="27" name="Text 24"/>
          <p:cNvSpPr txBox="1"/>
          <p:nvPr/>
        </p:nvSpPr>
        <p:spPr>
          <a:xfrm>
            <a:off x="10102291" y="33101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تَنْظِيمٌ</a:t>
            </a:r>
            <a:endParaRPr lang="ar-SA" sz="1600" dirty="0"/>
          </a:p>
        </p:txBody>
      </p:sp>
      <p:sp>
        <p:nvSpPr>
          <p:cNvPr id="28" name="Text 25"/>
          <p:cNvSpPr txBox="1"/>
          <p:nvPr/>
        </p:nvSpPr>
        <p:spPr>
          <a:xfrm>
            <a:off x="8851392" y="33101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organising</a:t>
            </a:r>
            <a:endParaRPr lang="en-US" sz="1050" dirty="0"/>
          </a:p>
        </p:txBody>
      </p:sp>
      <p:sp>
        <p:nvSpPr>
          <p:cNvPr id="29" name="Text 26"/>
          <p:cNvSpPr txBox="1"/>
          <p:nvPr/>
        </p:nvSpPr>
        <p:spPr>
          <a:xfrm>
            <a:off x="10102291" y="36758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يُنْتِجُ</a:t>
            </a:r>
            <a:endParaRPr lang="ar-SA" sz="1600" dirty="0"/>
          </a:p>
        </p:txBody>
      </p:sp>
      <p:sp>
        <p:nvSpPr>
          <p:cNvPr id="30" name="Text 27"/>
          <p:cNvSpPr txBox="1"/>
          <p:nvPr/>
        </p:nvSpPr>
        <p:spPr>
          <a:xfrm>
            <a:off x="8851392" y="36758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produces</a:t>
            </a:r>
            <a:endParaRPr lang="en-US" sz="1050" dirty="0"/>
          </a:p>
        </p:txBody>
      </p:sp>
      <p:sp>
        <p:nvSpPr>
          <p:cNvPr id="31" name="Text 28"/>
          <p:cNvSpPr txBox="1"/>
          <p:nvPr/>
        </p:nvSpPr>
        <p:spPr>
          <a:xfrm>
            <a:off x="10102291" y="40416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دَقِيقَةٌ</a:t>
            </a:r>
            <a:endParaRPr lang="ar-SA" sz="1600" dirty="0"/>
          </a:p>
        </p:txBody>
      </p:sp>
      <p:sp>
        <p:nvSpPr>
          <p:cNvPr id="32" name="Text 29"/>
          <p:cNvSpPr txBox="1"/>
          <p:nvPr/>
        </p:nvSpPr>
        <p:spPr>
          <a:xfrm>
            <a:off x="8851392" y="40416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accurate</a:t>
            </a:r>
            <a:endParaRPr lang="en-US" sz="1050" dirty="0"/>
          </a:p>
        </p:txBody>
      </p:sp>
      <p:sp>
        <p:nvSpPr>
          <p:cNvPr id="33" name="Text 30"/>
          <p:cNvSpPr txBox="1"/>
          <p:nvPr/>
        </p:nvSpPr>
        <p:spPr>
          <a:xfrm>
            <a:off x="10102291" y="44074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التَّحَقُّقُ مِنَ</a:t>
            </a:r>
            <a:endParaRPr lang="ar-SA" sz="1600" dirty="0"/>
          </a:p>
        </p:txBody>
      </p:sp>
      <p:sp>
        <p:nvSpPr>
          <p:cNvPr id="34" name="Text 31"/>
          <p:cNvSpPr txBox="1"/>
          <p:nvPr/>
        </p:nvSpPr>
        <p:spPr>
          <a:xfrm>
            <a:off x="8851392" y="44074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checking</a:t>
            </a:r>
            <a:endParaRPr lang="en-US" sz="1050" dirty="0"/>
          </a:p>
        </p:txBody>
      </p:sp>
      <p:sp>
        <p:nvSpPr>
          <p:cNvPr id="35" name="Text 32"/>
          <p:cNvSpPr txBox="1"/>
          <p:nvPr/>
        </p:nvSpPr>
        <p:spPr>
          <a:xfrm>
            <a:off x="10102291" y="47731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المَصَادِرُ</a:t>
            </a:r>
            <a:endParaRPr lang="ar-SA" sz="1600" dirty="0"/>
          </a:p>
        </p:txBody>
      </p:sp>
      <p:sp>
        <p:nvSpPr>
          <p:cNvPr id="36" name="Text 33"/>
          <p:cNvSpPr txBox="1"/>
          <p:nvPr/>
        </p:nvSpPr>
        <p:spPr>
          <a:xfrm>
            <a:off x="8851392" y="47731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sources</a:t>
            </a:r>
            <a:endParaRPr lang="en-US" sz="1050" dirty="0"/>
          </a:p>
        </p:txBody>
      </p:sp>
      <p:sp>
        <p:nvSpPr>
          <p:cNvPr id="37" name="Text 34"/>
          <p:cNvSpPr txBox="1"/>
          <p:nvPr/>
        </p:nvSpPr>
        <p:spPr>
          <a:xfrm>
            <a:off x="10102291" y="51389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البَيَانَاتُ الشَّخْصِيَّةُ</a:t>
            </a:r>
            <a:endParaRPr lang="ar-SA" sz="1600" dirty="0"/>
          </a:p>
        </p:txBody>
      </p:sp>
      <p:sp>
        <p:nvSpPr>
          <p:cNvPr id="38" name="Text 35"/>
          <p:cNvSpPr txBox="1"/>
          <p:nvPr/>
        </p:nvSpPr>
        <p:spPr>
          <a:xfrm>
            <a:off x="8851392" y="51389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personal data</a:t>
            </a:r>
            <a:endParaRPr lang="en-US" sz="1050" dirty="0"/>
          </a:p>
        </p:txBody>
      </p:sp>
      <p:sp>
        <p:nvSpPr>
          <p:cNvPr id="39" name="Text 36"/>
          <p:cNvSpPr txBox="1"/>
          <p:nvPr/>
        </p:nvSpPr>
        <p:spPr>
          <a:xfrm>
            <a:off x="10102291" y="55046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أَدَاةٌ</a:t>
            </a:r>
            <a:endParaRPr lang="ar-SA" sz="1600" dirty="0"/>
          </a:p>
        </p:txBody>
      </p:sp>
      <p:sp>
        <p:nvSpPr>
          <p:cNvPr id="40" name="Text 37"/>
          <p:cNvSpPr txBox="1"/>
          <p:nvPr/>
        </p:nvSpPr>
        <p:spPr>
          <a:xfrm>
            <a:off x="8851392" y="55046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tool</a:t>
            </a:r>
            <a:endParaRPr lang="en-US" sz="1050" dirty="0"/>
          </a:p>
        </p:txBody>
      </p:sp>
      <p:sp>
        <p:nvSpPr>
          <p:cNvPr id="41" name="Text 38"/>
          <p:cNvSpPr txBox="1"/>
          <p:nvPr/>
        </p:nvSpPr>
        <p:spPr>
          <a:xfrm>
            <a:off x="10102291" y="58704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شَرِيطَةَ أَنْ</a:t>
            </a:r>
            <a:endParaRPr lang="ar-SA" sz="1600" dirty="0"/>
          </a:p>
        </p:txBody>
      </p:sp>
      <p:sp>
        <p:nvSpPr>
          <p:cNvPr id="42" name="Text 39"/>
          <p:cNvSpPr txBox="1"/>
          <p:nvPr/>
        </p:nvSpPr>
        <p:spPr>
          <a:xfrm>
            <a:off x="8851392" y="58704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provided that</a:t>
            </a:r>
            <a:endParaRPr lang="en-US" sz="10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has become part of digital learning?</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Printed newspapers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Artificial intelligence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Public transport</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Name one benefit mentioned.</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removes the need to think</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guarantees every answer is correct</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can help students understand concepts</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limitation is stated?</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Not all generated information is accurate</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cannot organise ideas</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never uses data</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should learners verify?</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Brands only</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Sources</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Weather forecasts only</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should not be entered on unsafe sites?</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Personal data</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Public vocabulary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Lesson titles</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050" b="1" dirty="0">
                <a:solidFill>
                  <a:srgbClr val="1B3B6F"/>
                </a:solidFill>
                <a:latin typeface="Calibri" pitchFamily="34" charset="0"/>
                <a:ea typeface="Calibri" pitchFamily="34" charset="-122"/>
                <a:cs typeface="Calibri" pitchFamily="34" charset="-120"/>
              </a:rPr>
              <a:t>Under what condition is AI useful according to the writer?</a:t>
            </a:r>
            <a:endParaRPr lang="en-US" sz="10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When every response is copied</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When privacy is ignored</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When used consciously</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has become part of digital learning?</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Printed newspapers</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Artificial intelligence</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Public transport</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الذكاء الاصطناعي.</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Name one benefit mentioned.</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It removes the need to think</a:t>
            </a:r>
            <a:endParaRPr lang="en-US" sz="11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It guarantees every answer is correct</a:t>
            </a:r>
            <a:endParaRPr lang="en-US" sz="11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It can help students understand concepts</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text says it helps some students understand concepts.</a:t>
            </a:r>
            <a:endParaRPr lang="en-US" sz="10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limitation is stated?</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Not all generated information is accurate</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cannot organise ideas</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never uses data</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لا تكون كل المعلومات دقيقة.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should learners verify?</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Brands only</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Sources</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Weather forecasts only</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التحقق من المصادر.</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should not be entered on unsafe sites?</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Personal data</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Public vocabulary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Lesson titles</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البيانات الشخصية.</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050" b="1" dirty="0">
                <a:solidFill>
                  <a:srgbClr val="1B3B6F"/>
                </a:solidFill>
                <a:latin typeface="Calibri" pitchFamily="34" charset="0"/>
                <a:ea typeface="Calibri" pitchFamily="34" charset="-122"/>
                <a:cs typeface="Calibri" pitchFamily="34" charset="-120"/>
              </a:rPr>
              <a:t>Under what condition is AI useful according to the writer?</a:t>
            </a:r>
            <a:endParaRPr lang="en-US" sz="10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When every response is copied</a:t>
            </a:r>
            <a:endParaRPr lang="en-US" sz="11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When privacy is ignored</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When used consciously</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شريطة أن يستخدمه الطالب بوعي.</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TC-L07: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TC-L07 · Documents, Texts and Digital Information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جَوَازُ سَفَرٍ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passport</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تَذْكِرَةٌ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ticket</a:t>
            </a:r>
            <a:pPr indent="0" marL="0">
              <a:buNone/>
            </a:pPr>
            <a:r>
              <a:rPr lang="en-US" sz="1000" i="1" dirty="0">
                <a:solidFill>
                  <a:srgbClr val="5A6472"/>
                </a:solidFill>
                <a:latin typeface="Calibri" pitchFamily="34" charset="0"/>
                <a:ea typeface="Calibri" pitchFamily="34" charset="-122"/>
                <a:cs typeface="Calibri" pitchFamily="34" charset="-120"/>
              </a:rPr>
              <a:t>  pl. تَذَاكِرُ</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حَجْزٌ</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booking</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مَوْعِدٌ</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appointment</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رِسَالَةٌ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message, email</a:t>
            </a:r>
            <a:pPr indent="0" marL="0">
              <a:buNone/>
            </a:pPr>
            <a:r>
              <a:rPr lang="en-US" sz="1000" i="1" dirty="0">
                <a:solidFill>
                  <a:srgbClr val="5A6472"/>
                </a:solidFill>
                <a:latin typeface="Calibri" pitchFamily="34" charset="0"/>
                <a:ea typeface="Calibri" pitchFamily="34" charset="-122"/>
                <a:cs typeface="Calibri" pitchFamily="34" charset="-120"/>
              </a:rPr>
              <a:t>  pl. رَسَائِلُ</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one Arabic sentence: which documents do you need to travel?</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مَا الوَثَائِقُ الَّتِي تَحْتَاجُهَا لِلسَّفَرِ؟</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TC-L06 · play “Digital Life”,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5 sentences about how you use technology, with </a:t>
            </a:r>
            <a:pPr algn="l" indent="0" marL="0">
              <a:buNone/>
            </a:pPr>
            <a:r>
              <a:rPr lang="ar-SA" altLang="en-US" sz="1550" dirty="0">
                <a:solidFill>
                  <a:srgbClr val="1F2A37"/>
                </a:solidFill>
                <a:latin typeface="Amiri" pitchFamily="34" charset="0"/>
                <a:ea typeface="Amiri" pitchFamily="34" charset="-122"/>
                <a:cs typeface="Amiri" pitchFamily="34" charset="-120"/>
              </a:rPr>
              <a:t>مِنْ نَاحِيَةٍ … وَمِنْ نَاحِيَةٍ أُخْرَى</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TC-L06 · the application mission and the reading “Responsible use of artificial intelligence”.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ea typeface="Cambria" pitchFamily="34" charset="-122"/>
                <a:cs typeface="Cambria" pitchFamily="34" charset="-120"/>
              </a:rPr>
              <a:t>TC-L07 · Documents, Texts and Digital Information</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الوَثَائِقُ وَالنُّصُوصُ وَالمَعْلُومَاتُ الرَّقْمِيَّةُ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TC-L06 · The Digital World and Communication</dc:title>
  <dc:subject>PptxGenJS Presentation</dc:subject>
  <dc:creator>Al Madina Online School · Arabic Department</dc:creator>
  <cp:lastModifiedBy>Al Madina Online School · Arabic Department</cp:lastModifiedBy>
  <cp:revision>1</cp:revision>
  <dcterms:created xsi:type="dcterms:W3CDTF">2026-09-27T08:24:09Z</dcterms:created>
  <dcterms:modified xsi:type="dcterms:W3CDTF">2026-09-27T08:24:09Z</dcterms:modified>
</cp:coreProperties>
</file>