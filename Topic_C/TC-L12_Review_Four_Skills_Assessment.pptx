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12 (TC-L12). The website lesson reuses D4-L12 (Review and Unit Assessment: listening 20 · reading 10 · writing 20 · speaking 10) with the Topic C focus “Assess knowledge, inference, communication and accuracy across Topic C”. The website assessment is B1–B2, so each section here is TIERED: a Core part (teacher-made from Topic C lessons 1–11) that every student can access, then the website’s own questions for Develop / Stretch. The warm-up picture match is the website game “Topic C Mixed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50 marks, 5 sections × 10: A words and grammar · B listening · C reading · D writing · E speaking. In every section the first half is Core; the second half is Develop / Stretch (website questions).
• Access arrangements: Core students may use the Topic C word bank for Section D only. SEND: extra time, reading of questions in English allowed, one section at a time on screen.
• Every section has an answer slide straight after — mark live and record scores on the Score profile slide, or hide the answer slides and mark later (teacher choice).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(predictability — SEND). This lesson is an assessment, so the stages are the five sections. Timings are a guide for one 60-minute lesson; if time is short, Section E (speaking) can be done in the next lesson or as a 2-minute recording.
Reassure students: “Every section starts with questions everyone can answer. Do the Core part first, then go as far as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Warm-up only — not part of the 50 marks. Questions 2–4 are the five revision words prepared at home (Flipped Learning follow-up). Question 1 previews Topic D (teachers: accept “pass”).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Do the Core part of every section first. Then aim higher. Read every question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four objectives on the left summarise the website D4-L12 assessment aims for Topic C.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ASSESSMENT WORKS (3 min). Tiered design so that weak and strong students are both assessed fairly on the same Topic C content.
Scoring: 1 mark per question in A–C (10 each). Writing and speaking: marked out of 10 with the mark scheme slide (Task 4 · Range 3 · Accuracy 3), adapted from the website’s Task /5 · Range /5 · Accuracy /5.
Rules: cameras on, mics muted, chat only for your answers (A–C: type e.g. “A: 1B 2A 3C …” privately to the teacher). Write sections D in books / OneNote, then photograph or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C Mixed Challenge”)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WARM-UP (not marked): each sentence joins two or three parts of Topic C. Key words: المُنَاخُ (climate), التَّلَوُّثِ + إِعَادَةِ التَّدْوِيرِ (pollution + recycling), المَتَاجِرِ + الأَسْعَارِ (shops +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C Mixed Challenge”)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WARM-UP (not marked): each sentence joins two or three parts of Topic C. Key words: المُنَاخُ (climate), التَّلَوُّثِ + إِعَادَةِ التَّدْوِيرِ (pollution + recycling), المَتَاجِرِ + الأَسْعَارِ (shops +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part 1 (Core — everyone, 3 min). Teacher-made from Topic C lessons 3, 6, 8, 9 and 10. 1 mark each. Read each question aloud in English once for SEND / EAL students (allowed: questions only, not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If marking live, students tick their own in a different colour. Note any question most students got wrong — it becomes a Do Now item in Topic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part 2 (Develop / Stretch, 3 min) — five of the website’s 12 “cumulative grammar laboratory” questions (2, 3, 4, 5, 12). Core students attempt question 8 (يُؤَدِّي إِلَى, TC-L04) and any others they can.
The other website grammar questions (for Stretch revision later): Choose the accurate formal climate description. · Which five-verb form is accurate after أَنْ? · Choose the accurate negative condition. · Choose the accurate resource sentence. · Choose the accurate reporting frame. · Choose the accurate prediction. · Which sentence gives a genuine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A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part 1 (Core — everyone, 4 min). Teacher-made script from Topic C lessons 1, 3, 4, 8, 9. Read it aloud twice at a calm pace.
SCRIPT (read aloud):
مَرْحَبًا! أَنَا لَيْلَى، وَأَسْكُنُ فِي مَدِينَةٍ فِي شَمَالِ المَغْرِبِ. أَمْسِ كَانَ الطَّقْسُ حَارًّا، وَلٰكِنْ غَدًا سَيَكُونُ مُمْطِرًا. فِي مَدِينَتِي تُوجَدُ مَكْتَبَةٌ كَبِيرَةٌ بِجَانِبِ المَسْجِدِ. المُشْكِلَةُ هِيَ التَّلَوُّثُ بِسَبَبِ السَّيَّارَاتِ، لِذٰلِكَ أَذْهَبُ إِلَى المَدْرَسَةِ بِالحَافِلَةِ. اِشْتَرَيْتُ هَاتِفًا جَدِيدًا بِمِئَةِ دِينَارٍ، وَهُوَ أَرْخَصُ مِنْ هَاتِفِ أُخْتِي.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 show ONLY AFTER Section B part 1 answers have been submitted. Teacher-made script using Topic C language (L01 place, L03 weather, L08 town, L04 problem, L09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Then show the read-along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part 2 (Develop / Stretch, 4 min) — the website assessment listening texts 2 and 3 with five of the website questions (9, 10, 11, 15, 16). Read each text twice.
SCRIPTS (read aloud):
Text 2 · Two views on technology: سَلْمَى: أُؤَيِّدُ الطَّاقَةَ الشَّمْسِيَّةَ وَالشَّبَكَاتِ الذَّكِيَّةَ لِأَنَّهَا تُقَلِّلُ الهَدْرَ. عُمَرُ: أُوَافِقُ عَلَى تَقْلِيلِ الهَدْرِ، وَلٰكِنِّي أَخْشَى ارْتِفَاعَ التَّكْلِفَةِ وَجَمْعَ البَيَانَاتِ الشَّخْصِيَّةِ. سَلْمَى: إِذَنْ نَحْنُ مُتَّفِقَانِ عَلَى الهَدَفِ، وَلٰكِنَّنَا نَخْتَلِفُ فِي طَرِيقَةِ التَّطْبِيقِ.
Text 3 · Smart-city report: تُمَثِّلُ الطَّاقَةُ المُتَجَدِّدَةُ خَمْسًا وَثَلَاثِينَ فِي المِئَةِ مِنْ إِنْتَاجِ الكَهْرَبَاءِ فِي المَدِينَةِ. وَكَانَ مِنَ المُقَرَّرِ اكْتِمَالُ شَبَكَةِ النَّقْلِ فِي عَامِ ٢٠٣٠، وَلٰكِنَّ المَوْعِدَ الجَدِيدَ هُوَ ٢٠٣٢. وَيُؤَكِّدُ الخَبِيرُ أَنَّ التِّقْنِيَّةَ وَحْدَهَا لَا تَكْفِي؛ بَلْ يَجِبُ أَنْ يَتَغَيَّرَ سُلُوكُ المُسْتَخْدِمِينَ أَيْضًا.
Website text 1 (climate and water) and its 8 questions can be used for Stretch revision: Text 1: Which region has the driest climate? · Text 1: What has become longer? · Text 1: What consequence is named? · Text 1: Which solution is proposed? · Text 1: Which formal phrase introduces reported information? · Text 1: Which two responses are recommended? · Text 1: What is the overall topic? · Text 1: Which idea is NOT mentioned?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B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1 (Core — everyone). Teacher-made email using Topic C language: L07 (نُقِيمُ فِي, travel), L03 (weather, temperature), L10 (مَبْنِيَّةٌ مِنَ الحَجَرِ), L09 (ثَمَنُهَا), L05 (recycling advice).
The glossary is allowed — this assesses reading for meaning, not vocabulary recall. Students read silently (3 min), then answer on the next slide.
Translation for the teacher: From Yusuf to my friend Adam. Peace be upon you, Adam. I am now in Oman with my family. We are staying in a hotel near the sea. The weather here is hot and sunny, and the temperature is 35. Yesterday we visited an old castle built of stone. In the market I bought you a present; it cost ten riyals. My advice: don’t forget to recycle plastic!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1 questions (Core — everyone). 1 mark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2 (Develop / Stretch) — the website assessment reading text (Part B), unchanged. Core students may read it for the extra challenge but are not expected to finish.
Translation for the teacher: It is reported that climate change is increasing water scarcity in several Arab regions. Because of longer droughts, groundwater stocks fall and agriculture suffers. In cities, the air is polluted by car exhaust. So some councils are investing in electric transport and smart systems. According to one council’s data, electricity use in public buildings fell by 18% after systems were installed that switch off the lights in empty rooms. However, these solutions are expensive and may collect personal data. In my opinion, technology is an important part of the solution, provided that privacy is protected and it is accompanied by responsible policies and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2 questions — five of the website’s 10 reading questions (2, 4, 7, 8, 1). The website’s other reading questions for Stretch revision: Which passive foregrounds an environmental result? · What does “ها” refer to in “تُرَكَّبُ الأَنْظِمَةُ فِي المَبَانِي لِأَنَّهَا تُقَلِّلُ الهَدْرَ”? · Which phrase attributes information to a source? · Why does the writer mention public transport? · What tone best describes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C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5 sentences about your town or a trip, with help from the word bank. · Develop — Write 80–100 words: your town, its environment and technology in three tenses. · Stretch — Website task: a 130–140-word environment and technology article.
Website writing task (Stretch): Write 130–140 Arabic words. Explain an environmental issue, causes and effects, a practical or technological solution, evidence and one limitation.
SECTION D — WRITING (12 min). Assessment conditions: silent, on your own. Core may use the word bank slide; Develop / Stretch without support. Photograph or upload at the end.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MARK SCHEME (Section D, /10) — adapted from the website: Task /5 · Range /5 · Accuracy /5. Each route is marked against its OWN column, so a Core student can score full marks for 5 accurate sentences.
Band guide: 9–10 all points, accurate; 6–8 most points, some errors; 3–5 some points, errors affect meaning; 1–2 very limited.
Website Question 1 (environmental action profile — problem, two causes, evidence, a solution, expected result) can be used as a Develop scaffold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الحَلُّ فِي رَأْيِكَ؟ (And what is the solution, in your opinion?)
B: فِي رَأْيِي، يَجِبُ أَنْ نَسْتَعْمِلَ النَّقْلَ العَامَّ أَكْثَرَ لِكَيْ نُقَلِّلَ التَّلَوُّثَ. (In my opinion, we must use public transport more so that we reduce pollution.)
SECTION E — SPEAKING (/10). Website Part D cues: identify one issue; explain causes and consequences; propose and evaluate one solution; use one example or statistic; respond to a follow-up question.
Online delivery: each student answers the Core questions and then their route question on open mic (1–2 minutes each), or records a short voice note if time is short. Mark: Communication /4 · Range /3 · Accuracy and pronunciation /3.
The stems are for the rehearsal minute only — remove them (next slide) for the assessed answer if you want a stricter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(3 min) — website Section 07 “Evidence · target · transfer”. Students copy this table into their books and fill it in (/50 total).
Reflection (website): “My strongest Topic C evidence was …” · “My precise next action is …” — each student writes ONE of each in English or Arabic.
Guide: 40–50 → Stretch route in Topic D; 25–39 → Develop; below 25 → Core route with a Do Now check-in. Record results in the markbook and the Pastoral Tracker (Character: resilience for students who attempted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(Topic D · The World of Work) will spend class time USING this language, so students prepare it tonight — short, simple, easy to access (school guidance: “Simple, Short, Interesting, Relevant, Easy to access”). Next: Topic D “The World of Work”, lesson TD-L01 “Learning Institutions and Stages of Education”. The five words come from the Topic D “School, Education &amp; Training”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Topic C Review and Four-Skills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مُرَاجَعَةُ الوَحْدَةِ وَتَقْيِيمُ المَهَارَاتِ الأَرْبَعِ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know from Topic C: words and grammar, listening, reading, writing and speaking — each section with a Core part for everyone and a Stretch part to aim high.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TC-L12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Our assessment today, step by step</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Warm-up quiz,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assessment works; picture match.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Section A: words and grammar.</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القِسْمُ أ</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Sections B and C: listening and reading.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ب · ج</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Sections D and E: writing and speaking.</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د · هـ</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Score profile and my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نَتَائِجِي</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Topic 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 section starts with Core questions that everyone can answer. Do the Core part first, then go as far as you can. Read each question twice.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أُسْتَاذٌ</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“pollution”?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التَّلَوُّثُ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الطَّقْسُ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الشَّمَالُ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كَلِمَةُ مُرُورٍ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message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“hospital”?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مَكْتَبَةٌ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مَقْهًى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مُسْتَشْفًى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linking word means “so, therefore”?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أُسْتَاذٌ</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teacher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This is next topic’s word — a free point for curious students! (Otherwise: pass.)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“pollution”?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التَّلَوُّثُ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الطَّقْسُ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الشَّمَالُ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TC-L04 / 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كَلِمَةُ مُرُورٍ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message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website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password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TC-L06 / prepared at home.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“hospital”?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مَكْتَبَةٌ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مَقْهًى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مُسْتَشْفًى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TC-L08 / prepared at home.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linking word means “so, therefore”?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بَيْنَمَا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TC-L11.</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Do the Core part of every section first. Then aim higher. Read every question twice.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اِقْرَأْ · فَكِّرْ · أَجِبْ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use the full Topic C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the Topic C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an organised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the Core questions in every section.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5 correct sentences about my town or a trip.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three tenses and linking words in writing.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some website (B1) questions.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the website listening and reading questions.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the 130–140-word article.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HOW THE ASSESSMENT WORKS · 50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sections, two levels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أَقْسَامُ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616184"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747979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Develop / Stretch part</a:t>
            </a:r>
            <a:endParaRPr lang="en-US" sz="1100" dirty="0"/>
          </a:p>
        </p:txBody>
      </p:sp>
      <p:sp>
        <p:nvSpPr>
          <p:cNvPr id="18" name="Text 15"/>
          <p:cNvSpPr txBox="1"/>
          <p:nvPr/>
        </p:nvSpPr>
        <p:spPr>
          <a:xfrm>
            <a:off x="446227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part (everyone)</a:t>
            </a:r>
            <a:endParaRPr lang="en-US" sz="1100" dirty="0"/>
          </a:p>
        </p:txBody>
      </p:sp>
      <p:sp>
        <p:nvSpPr>
          <p:cNvPr id="19" name="Text 16"/>
          <p:cNvSpPr txBox="1"/>
          <p:nvPr/>
        </p:nvSpPr>
        <p:spPr>
          <a:xfrm>
            <a:off x="25420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20" name="Text 17"/>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10652760" y="2267712"/>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3" name="Text 20"/>
          <p:cNvSpPr txBox="1"/>
          <p:nvPr/>
        </p:nvSpPr>
        <p:spPr>
          <a:xfrm>
            <a:off x="751636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website grammar questions</a:t>
            </a:r>
            <a:endParaRPr lang="en-US" sz="1100" dirty="0"/>
          </a:p>
        </p:txBody>
      </p:sp>
      <p:sp>
        <p:nvSpPr>
          <p:cNvPr id="24" name="Text 21"/>
          <p:cNvSpPr txBox="1"/>
          <p:nvPr/>
        </p:nvSpPr>
        <p:spPr>
          <a:xfrm>
            <a:off x="4498848" y="2267712"/>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questions from Topic C</a:t>
            </a:r>
            <a:endParaRPr lang="en-US" sz="1100" dirty="0"/>
          </a:p>
        </p:txBody>
      </p:sp>
      <p:sp>
        <p:nvSpPr>
          <p:cNvPr id="25" name="Text 22"/>
          <p:cNvSpPr txBox="1"/>
          <p:nvPr/>
        </p:nvSpPr>
        <p:spPr>
          <a:xfrm>
            <a:off x="2578608"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Words and grammar</a:t>
            </a:r>
            <a:endParaRPr lang="en-US" sz="1100" dirty="0"/>
          </a:p>
        </p:txBody>
      </p:sp>
      <p:sp>
        <p:nvSpPr>
          <p:cNvPr id="26" name="Text 23"/>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652760" y="3054096"/>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Text 26"/>
          <p:cNvSpPr txBox="1"/>
          <p:nvPr/>
        </p:nvSpPr>
        <p:spPr>
          <a:xfrm>
            <a:off x="751636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texts 2 and 3 (5 questions)</a:t>
            </a:r>
            <a:endParaRPr lang="en-US" sz="1100" dirty="0"/>
          </a:p>
        </p:txBody>
      </p:sp>
      <p:sp>
        <p:nvSpPr>
          <p:cNvPr id="30" name="Text 27"/>
          <p:cNvSpPr txBox="1"/>
          <p:nvPr/>
        </p:nvSpPr>
        <p:spPr>
          <a:xfrm>
            <a:off x="4498848" y="3054096"/>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Layla’s message (5 questions)</a:t>
            </a:r>
            <a:endParaRPr lang="en-US" sz="1100" dirty="0"/>
          </a:p>
        </p:txBody>
      </p:sp>
      <p:sp>
        <p:nvSpPr>
          <p:cNvPr id="31" name="Text 28"/>
          <p:cNvSpPr txBox="1"/>
          <p:nvPr/>
        </p:nvSpPr>
        <p:spPr>
          <a:xfrm>
            <a:off x="2578608"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Listening</a:t>
            </a:r>
            <a:endParaRPr lang="en-US" sz="1100" dirty="0"/>
          </a:p>
        </p:txBody>
      </p:sp>
      <p:sp>
        <p:nvSpPr>
          <p:cNvPr id="32" name="Text 29"/>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10652760" y="3840480"/>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5" name="Text 32"/>
          <p:cNvSpPr txBox="1"/>
          <p:nvPr/>
        </p:nvSpPr>
        <p:spPr>
          <a:xfrm>
            <a:off x="751636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article (5 questions)</a:t>
            </a:r>
            <a:endParaRPr lang="en-US" sz="1100" dirty="0"/>
          </a:p>
        </p:txBody>
      </p:sp>
      <p:sp>
        <p:nvSpPr>
          <p:cNvPr id="36" name="Text 33"/>
          <p:cNvSpPr txBox="1"/>
          <p:nvPr/>
        </p:nvSpPr>
        <p:spPr>
          <a:xfrm>
            <a:off x="4498848" y="3840480"/>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Yusuf’s email (5 questions)</a:t>
            </a:r>
            <a:endParaRPr lang="en-US" sz="1100" dirty="0"/>
          </a:p>
        </p:txBody>
      </p:sp>
      <p:sp>
        <p:nvSpPr>
          <p:cNvPr id="37" name="Text 34"/>
          <p:cNvSpPr txBox="1"/>
          <p:nvPr/>
        </p:nvSpPr>
        <p:spPr>
          <a:xfrm>
            <a:off x="2578608"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a:t>
            </a:r>
            <a:endParaRPr lang="en-US" sz="11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10652760" y="4626864"/>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Text 38"/>
          <p:cNvSpPr txBox="1"/>
          <p:nvPr/>
        </p:nvSpPr>
        <p:spPr>
          <a:xfrm>
            <a:off x="7516368" y="4626864"/>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80–100 words · or the 130–140-word article</a:t>
            </a:r>
            <a:endParaRPr lang="en-US" sz="1100" dirty="0"/>
          </a:p>
        </p:txBody>
      </p:sp>
      <p:sp>
        <p:nvSpPr>
          <p:cNvPr id="42" name="Text 39"/>
          <p:cNvSpPr txBox="1"/>
          <p:nvPr/>
        </p:nvSpPr>
        <p:spPr>
          <a:xfrm>
            <a:off x="4498848" y="4626864"/>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sentences with the word bank</a:t>
            </a:r>
            <a:endParaRPr lang="en-US" sz="1100" dirty="0"/>
          </a:p>
        </p:txBody>
      </p:sp>
      <p:sp>
        <p:nvSpPr>
          <p:cNvPr id="43" name="Text 40"/>
          <p:cNvSpPr txBox="1"/>
          <p:nvPr/>
        </p:nvSpPr>
        <p:spPr>
          <a:xfrm>
            <a:off x="2578608"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Writing</a:t>
            </a:r>
            <a:endParaRPr lang="en-US" sz="1100" dirty="0"/>
          </a:p>
        </p:txBody>
      </p:sp>
      <p:sp>
        <p:nvSpPr>
          <p:cNvPr id="44" name="Text 41"/>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
            </a:r>
            <a:endParaRPr lang="en-US" sz="1100" dirty="0"/>
          </a:p>
        </p:txBody>
      </p:sp>
      <p:sp>
        <p:nvSpPr>
          <p:cNvPr id="45" name="Shape 42"/>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10652760" y="5413248"/>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7" name="Text 44"/>
          <p:cNvSpPr txBox="1"/>
          <p:nvPr/>
        </p:nvSpPr>
        <p:spPr>
          <a:xfrm>
            <a:off x="7516368" y="5413248"/>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Discuss a problem and a solution</a:t>
            </a:r>
            <a:endParaRPr lang="en-US" sz="1100" dirty="0"/>
          </a:p>
        </p:txBody>
      </p:sp>
      <p:sp>
        <p:nvSpPr>
          <p:cNvPr id="48" name="Text 45"/>
          <p:cNvSpPr txBox="1"/>
          <p:nvPr/>
        </p:nvSpPr>
        <p:spPr>
          <a:xfrm>
            <a:off x="4498848" y="5413248"/>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3 questions about your town</a:t>
            </a:r>
            <a:endParaRPr lang="en-US" sz="1100" dirty="0"/>
          </a:p>
        </p:txBody>
      </p:sp>
      <p:sp>
        <p:nvSpPr>
          <p:cNvPr id="49" name="Text 46"/>
          <p:cNvSpPr txBox="1"/>
          <p:nvPr/>
        </p:nvSpPr>
        <p:spPr>
          <a:xfrm>
            <a:off x="2578608" y="5413248"/>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Speaking</a:t>
            </a:r>
            <a:endParaRPr lang="en-US" sz="1100" dirty="0"/>
          </a:p>
        </p:txBody>
      </p:sp>
      <p:sp>
        <p:nvSpPr>
          <p:cNvPr id="50" name="Text 47"/>
          <p:cNvSpPr txBox="1"/>
          <p:nvPr/>
        </p:nvSpPr>
        <p:spPr>
          <a:xfrm>
            <a:off x="566928" y="5413248"/>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“TOPIC C MIXED CHALLENGE”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places + climate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problem + solution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57912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6"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38" name="Shape 29"/>
          <p:cNvSpPr/>
          <p:nvPr/>
        </p:nvSpPr>
        <p:spPr>
          <a:xfrm>
            <a:off x="295656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town + shopping + phone</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يُمْكِنُنَا تَقْلِيلُ التَّلَوُّثِ بِإِعَادَةِ التَّدْوِيرِ وَاسْتِعْمَالِ طَاقَةٍ أَنْظَفَ.</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أَسْتَعْمِلُ هَاتِفِي لِلْعُثُورِ عَلَى الْمَتَاجِرِ وَمُقَارَنَةِ الأَسْعَارِ.</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يَخْتَلِفُ الْمُنَاخُ مِنْ مَنْطِقَةٍ إِلَى أُخْرَى.</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places + climate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يَخْتَلِفُ الْمُنَاخُ مِنْ مَنْطِقَةٍ إِلَى أُخْرَى.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climate differs from one region to another.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problem + solution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يُمْكِنُنَا تَقْلِيلُ التَّلَوُّثِ بِإِعَادَةِ التَّدْوِيرِ وَاسْتِعْمَالِ طَاقَةٍ أَنْظَفَ.</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can reduce pollution by recycling and using cleaner energy.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57912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6"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8" name="Shape 39"/>
          <p:cNvSpPr/>
          <p:nvPr/>
        </p:nvSpPr>
        <p:spPr>
          <a:xfrm>
            <a:off x="295656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town + shopping + phone</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أَسْتَعْمِلُ هَاتِفِي لِلْعُثُورِ عَلَى الْمَتَاجِرِ وَمُقَارَنَةِ الأَسْعَارِ.</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use my phone to find shops and compare prices.</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SECTION A · PART 1 · CORE · WORDS AND GRAMMAR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Section A: Topic C words and grammar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“the weather”?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الطَّقْسُ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الشَّمَالُ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السُّوقُ</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___ مَكْتَبَةٌ فِي مَدِينَتِي.</a:t>
            </a:r>
            <a:endParaRPr lang="ar-SA" sz="15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يُوجَدُونَ</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is a bag. How much is it?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حَقِيبَةٌ. كَمْ ثَمَنُهَا؟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حَقِيبَةٌ. كَمْ ثَمَنُهُ؟</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حَقِيبَةٌ. كَمْ ثَمَنُهُ؟</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الطَّاوِلَةُ ___ مِنَ الخَشَبِ.</a:t>
            </a:r>
            <a:endParaRPr lang="ar-SA" sz="14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مَصْنُوعٌ</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مَصْنُوعُونَ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مَصْنُوعَةٌ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about the FUTURE?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أَرْسَلْتُ رِسَالَةً إِلَى صَدِيقِي.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أُرْسِلُ رِسَالَةً إِلَى صَدِيقِي.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سَأُرْسِلُ رِسَالَةً إِلَى صَدِيقِي.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Work on your own in silence.</a:t>
            </a:r>
            <a:endParaRPr lang="en-US" sz="1250" dirty="0"/>
          </a:p>
          <a:p>
            <a:pPr algn="l" indent="0" marL="0">
              <a:buNone/>
            </a:pPr>
            <a:r>
              <a:rPr lang="en-US" sz="1250" dirty="0">
                <a:solidFill>
                  <a:srgbClr val="1F2A37"/>
                </a:solidFill>
                <a:latin typeface="Calibri" pitchFamily="34" charset="0"/>
                <a:cs typeface="Amiri" pitchFamily="2" charset="-78"/>
              </a:rPr>
              <a:t>Private chat to the teacher:</a:t>
            </a:r>
            <a:endParaRPr lang="en-US" sz="1250" dirty="0"/>
          </a:p>
          <a:p>
            <a:pPr algn="l" indent="0" marL="0">
              <a:buNone/>
            </a:pPr>
            <a:r>
              <a:rPr lang="en-US" sz="1250" dirty="0">
                <a:solidFill>
                  <a:srgbClr val="1F2A37"/>
                </a:solidFill>
                <a:latin typeface="Calibri" pitchFamily="34" charset="0"/>
                <a:cs typeface="Amiri" pitchFamily="2" charset="-78"/>
              </a:rPr>
              <a:t>A: 1_ 2_ 3_ 4_ 5_</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SECTION A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A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“the weather”?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الطَّقْسُ</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الشَّمَالُ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السُّوقُ</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TC-L03: </a:t>
            </a:r>
            <a:pPr algn="l" indent="0" marL="0">
              <a:buNone/>
            </a:pPr>
            <a:r>
              <a:rPr lang="ar-SA" altLang="en-US" sz="1350" dirty="0">
                <a:solidFill>
                  <a:srgbClr val="8A6D1E"/>
                </a:solidFill>
                <a:latin typeface="Amiri" pitchFamily="2" charset="-78"/>
                <a:cs typeface="Amiri" pitchFamily="2" charset="-78"/>
              </a:rPr>
              <a:t>الطَّقْسُ</a:t>
            </a:r>
            <a:pPr algn="l" indent="0" marL="0">
              <a:buNone/>
            </a:pPr>
            <a:r>
              <a:rPr lang="en-US" sz="1050" i="1" dirty="0">
                <a:solidFill>
                  <a:srgbClr val="8A6D1E"/>
                </a:solidFill>
                <a:latin typeface="Calibri" pitchFamily="34" charset="0"/>
                <a:cs typeface="Amiri" pitchFamily="2" charset="-78"/>
              </a:rPr>
              <a:t> = the weather.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___ مَكْتَبَةٌ فِي مَدِينَتِي.</a:t>
            </a:r>
            <a:endParaRPr lang="ar-SA" sz="150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a:t>
            </a:r>
            <a:endParaRPr lang="ar-SA" sz="1700" dirty="0"/>
          </a:p>
        </p:txBody>
      </p:sp>
      <p:sp>
        <p:nvSpPr>
          <p:cNvPr id="38" name="Shape 35"/>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862072"/>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يُوجَدُونَ</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TC-L08: </a:t>
            </a:r>
            <a:pPr algn="l" indent="0" marL="0">
              <a:buNone/>
            </a:pPr>
            <a:r>
              <a:rPr lang="ar-SA" altLang="en-US" sz="1350" dirty="0">
                <a:solidFill>
                  <a:srgbClr val="8A6D1E"/>
                </a:solidFill>
                <a:latin typeface="Amiri" pitchFamily="2" charset="-78"/>
                <a:cs typeface="Amiri" pitchFamily="2" charset="-78"/>
              </a:rPr>
              <a:t>مَكْتَبَةٌ</a:t>
            </a:r>
            <a:pPr algn="l" indent="0" marL="0">
              <a:buNone/>
            </a:pPr>
            <a:r>
              <a:rPr lang="en-US" sz="1050" i="1" dirty="0">
                <a:solidFill>
                  <a:srgbClr val="8A6D1E"/>
                </a:solidFill>
                <a:latin typeface="Calibri" pitchFamily="34" charset="0"/>
                <a:cs typeface="Amiri" pitchFamily="2" charset="-78"/>
              </a:rPr>
              <a:t> is feminine → </a:t>
            </a:r>
            <a:pPr algn="l" indent="0" marL="0">
              <a:buNone/>
            </a:pPr>
            <a:r>
              <a:rPr lang="ar-SA" altLang="en-US" sz="1350" dirty="0">
                <a:solidFill>
                  <a:srgbClr val="8A6D1E"/>
                </a:solidFill>
                <a:latin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is a bag. How much is it?</a:t>
            </a:r>
            <a:endParaRPr lang="en-US" sz="125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حَقِيبَةٌ. كَمْ ثَمَنُهَا؟</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حَقِيبَةٌ. كَمْ ثَمَنُهُ؟</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حَقِيبَةٌ. كَمْ ثَمَنُهُ؟</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TC-L09: feminine → </a:t>
            </a:r>
            <a:pPr algn="l" indent="0" marL="0">
              <a:buNone/>
            </a:pPr>
            <a:r>
              <a:rPr lang="ar-SA" altLang="en-US" sz="1350" dirty="0">
                <a:solidFill>
                  <a:srgbClr val="8A6D1E"/>
                </a:solidFill>
                <a:latin typeface="Amiri" pitchFamily="2" charset="-78"/>
                <a:cs typeface="Amiri" pitchFamily="2" charset="-78"/>
              </a:rPr>
              <a:t>هٰذِهِ … ثَمَنُهَا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الطَّاوِلَةُ ___ مِنَ الخَشَبِ.</a:t>
            </a:r>
            <a:endParaRPr lang="ar-SA" sz="14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مَصْنُوعٌ</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مَصْنُوعُونَ</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مَصْنُوعَةٌ</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TC-L10: </a:t>
            </a:r>
            <a:pPr algn="l" indent="0" marL="0">
              <a:buNone/>
            </a:pPr>
            <a:r>
              <a:rPr lang="ar-SA" altLang="en-US" sz="1350" dirty="0">
                <a:solidFill>
                  <a:srgbClr val="8A6D1E"/>
                </a:solidFill>
                <a:latin typeface="Amiri" pitchFamily="2" charset="-78"/>
                <a:cs typeface="Amiri" pitchFamily="2" charset="-78"/>
              </a:rPr>
              <a:t>الطَّاوِلَةُ</a:t>
            </a:r>
            <a:pPr algn="l" indent="0" marL="0">
              <a:buNone/>
            </a:pPr>
            <a:r>
              <a:rPr lang="en-US" sz="1050" i="1" dirty="0">
                <a:solidFill>
                  <a:srgbClr val="8A6D1E"/>
                </a:solidFill>
                <a:latin typeface="Calibri" pitchFamily="34" charset="0"/>
                <a:cs typeface="Amiri" pitchFamily="2" charset="-78"/>
              </a:rPr>
              <a:t> is feminine → </a:t>
            </a:r>
            <a:pPr algn="l" indent="0" marL="0">
              <a:buNone/>
            </a:pPr>
            <a:r>
              <a:rPr lang="ar-SA" altLang="en-US" sz="1350" dirty="0">
                <a:solidFill>
                  <a:srgbClr val="8A6D1E"/>
                </a:solidFill>
                <a:latin typeface="Amiri" pitchFamily="2" charset="-78"/>
                <a:cs typeface="Amiri" pitchFamily="2" charset="-78"/>
              </a:rPr>
              <a:t>مَصْنُوعَةٌ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about the FUTURE?</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أَرْسَلْتُ رِسَالَةً إِلَى صَدِيقِي.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أُرْسِلُ رِسَالَةً إِلَى صَدِيقِي.</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سَأُرْسِلُ رِسَالَةً إِلَى صَدِيقِي.</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TC-L06 / L11: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 will.</a:t>
            </a:r>
            <a:endParaRPr lang="en-US" sz="1050" dirty="0"/>
          </a:p>
        </p:txBody>
      </p:sp>
      <p:sp>
        <p:nvSpPr>
          <p:cNvPr id="92"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Work on your own in silence.</a:t>
            </a:r>
            <a:endParaRPr lang="en-US" sz="1250" dirty="0"/>
          </a:p>
          <a:p>
            <a:pPr algn="l" indent="0" marL="0">
              <a:buNone/>
            </a:pPr>
            <a:r>
              <a:rPr lang="en-US" sz="1250" dirty="0">
                <a:solidFill>
                  <a:srgbClr val="1F2A37"/>
                </a:solidFill>
                <a:latin typeface="Calibri" pitchFamily="34" charset="0"/>
                <a:cs typeface="Amiri" pitchFamily="2" charset="-78"/>
              </a:rPr>
              <a:t>Private chat to the teacher:</a:t>
            </a:r>
            <a:endParaRPr lang="en-US" sz="1250" dirty="0"/>
          </a:p>
          <a:p>
            <a:pPr algn="l" indent="0" marL="0">
              <a:buNone/>
            </a:pPr>
            <a:r>
              <a:rPr lang="en-US" sz="1250" dirty="0">
                <a:solidFill>
                  <a:srgbClr val="1F2A37"/>
                </a:solidFill>
                <a:latin typeface="Calibri" pitchFamily="34" charset="0"/>
                <a:cs typeface="Amiri" pitchFamily="2" charset="-78"/>
              </a:rPr>
              <a:t>A: 1_ 2_ 3_ 4_ 5_</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SECTION A · PART 2 · DEVELOP / STRETCH · WEBSITE GRAMMAR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Section A: website grammar questions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أ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تَهُبَّ الرِّيَاحَ وَتَسْقُطَ الثُّلُوجَ.</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تَهُبُّ الرِّيَاحُ وَتَسْقُطُ الثُّلُوجُ.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يَهُبُّ الرِّيَاحُ وَيَسْقُطُ الثُّلُوجُ.</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true environmental passive.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يُلَوَّثُ الهَوَاءُ بِعَوَادِمِ السَّيَّارَاتِ.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يَلَوِّثُ الهَوَاءُ عَوَادِمَ السَّيَّارَاتِ.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يَنْبَعِثُ الهَوَاءُ السَّيَّارَاتِ.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subjunctive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نُقَلِّلْ النُّفَايَاتِ.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نُقَلِّلُ النُّفَايَاتِ.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نُقَلِّلَ النُّفَايَاتِ.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balanced and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cs typeface="Amiri" pitchFamily="2" charset="-78"/>
              </a:rPr>
              <a:t>التِّقْنِيَّةُ مُفِيدَةٌ إِلَى حَدٍّ مَا، شَرِيطَةَ أَنْ تُطَبَّقَ بِمَسْؤُولِيَّةٍ.</a:t>
            </a:r>
            <a:endParaRPr lang="ar-SA" sz="12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cs typeface="Amiri" pitchFamily="2" charset="-78"/>
              </a:rPr>
              <a:t>التِّقْنِيَّةُ مُفِيدَةٌ دَائِمًا دُونَ شُرُوطٍ.</a:t>
            </a:r>
            <a:endParaRPr lang="ar-SA"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cs typeface="Amiri" pitchFamily="2" charset="-78"/>
              </a:rPr>
              <a:t>التِّقْنِيَّةُ غَيْرُ مُفِيدَةٍ لِأَنَّهَا تِقْنِيَّةٌ.</a:t>
            </a:r>
            <a:endParaRPr lang="ar-SA" sz="120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Try question 8 first: which word always comes before </a:t>
            </a:r>
            <a:pPr algn="l" indent="0" marL="0">
              <a:lnSpc>
                <a:spcPct val="115000"/>
              </a:lnSpc>
              <a:buNone/>
            </a:pPr>
            <a:r>
              <a:rPr lang="ar-SA" altLang="en-US" sz="1650" dirty="0">
                <a:solidFill>
                  <a:srgbClr val="1E6B52"/>
                </a:solidFill>
                <a:latin typeface="Amiri" pitchFamily="2" charset="-78"/>
                <a:cs typeface="Amiri" pitchFamily="2" charset="-78"/>
              </a:rPr>
              <a:t>إِلَى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Then try the others — no penalty for trying.</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SECTION A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A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weather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تَهُبَّ الرِّيَاحَ وَتَسْقُطَ الثُّلُوجَ.</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تَهُبُّ الرِّيَاحُ وَتَسْقُطُ الثُّلُوجُ.</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يَهُبُّ الرِّيَاحُ وَيَسْقُطُ الثُّلُوجُ.</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subjects take feminine agreement.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true environmental passive.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يُلَوَّثُ الهَوَاءُ بِعَوَادِمِ السَّيَّارَاتِ.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يَلَوِّثُ الهَوَاءُ عَوَادِمَ السَّيَّارَاتِ.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يَنْبَعِثُ الهَوَاءُ السَّيَّارَاتِ.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air is the affected grammatical subject.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بِسَبَبِ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يُؤَدِّي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result pattern is </a:t>
            </a:r>
            <a:pPr algn="l" indent="0" marL="0">
              <a:buNone/>
            </a:pPr>
            <a:r>
              <a:rPr lang="ar-SA" altLang="en-US" sz="1350" dirty="0">
                <a:solidFill>
                  <a:srgbClr val="8A6D1E"/>
                </a:solidFill>
                <a:latin typeface="Amiri" pitchFamily="2" charset="-78"/>
                <a:cs typeface="Amiri" pitchFamily="2" charset="-78"/>
              </a:rPr>
              <a:t>يؤدي 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subjunctive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نُقَلِّلْ النُّفَايَاتِ.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نُقَلِّلُ النُّفَايَاتِ.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 نُقَلِّلَ النُّفَايَاتِ.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نقلل</a:t>
            </a:r>
            <a:pPr algn="l" indent="0" marL="0">
              <a:buNone/>
            </a:pPr>
            <a:r>
              <a:rPr lang="en-US" sz="1050" i="1" dirty="0">
                <a:solidFill>
                  <a:srgbClr val="8A6D1E"/>
                </a:solidFill>
                <a:latin typeface="Calibri" pitchFamily="34" charset="0"/>
                <a:cs typeface="Amiri" pitchFamily="2" charset="-78"/>
              </a:rPr>
              <a:t> is a sound-ending present verb and takes final fatḥa; it is not one of the five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balanced and conditional?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التِّقْنِيَّةُ مُفِيدَةٌ إِلَى حَدٍّ مَا، شَرِيطَةَ أَنْ تُطَبَّقَ بِمَسْؤُولِيَّةٍ.</a:t>
            </a:r>
            <a:endParaRPr lang="ar-SA" sz="1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cs typeface="Amiri" pitchFamily="2" charset="-78"/>
              </a:rPr>
              <a:t>التِّقْنِيَّةُ مُفِيدَةٌ دَائِمًا دُونَ شُرُوطٍ.</a:t>
            </a:r>
            <a:endParaRPr lang="ar-SA"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cs typeface="Amiri" pitchFamily="2" charset="-78"/>
              </a:rPr>
              <a:t>التِّقْنِيَّةُ غَيْرُ مُفِيدَةٍ لِأَنَّهَا تِقْنِيَّةٌ.</a:t>
            </a:r>
            <a:endParaRPr lang="ar-SA" sz="12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qualifies the judgement and states a condition.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Try question 8 first: which word always comes before </a:t>
            </a:r>
            <a:pPr algn="l" indent="0" marL="0">
              <a:lnSpc>
                <a:spcPct val="115000"/>
              </a:lnSpc>
              <a:buNone/>
            </a:pPr>
            <a:r>
              <a:rPr lang="ar-SA" altLang="en-US" sz="1650" dirty="0">
                <a:solidFill>
                  <a:srgbClr val="1E6B52"/>
                </a:solidFill>
                <a:latin typeface="Amiri" pitchFamily="2" charset="-78"/>
                <a:cs typeface="Amiri" pitchFamily="2" charset="-78"/>
              </a:rPr>
              <a:t>إِلَى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Then try the others — no penalty for trying.</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B · PART 1 · CORE · LISTENING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B: Layla’s voice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ب ·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Layla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north of Morocco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south of Morocco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Oman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tomorrow?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mosque?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hospital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café</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 library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go to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true about her new phone?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expensive than her sister’s.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cheaper than her sister’s.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cost 10 dinars.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questions (30 s).</a:t>
            </a:r>
            <a:endParaRPr lang="en-US" sz="1250" dirty="0"/>
          </a:p>
          <a:p>
            <a:pPr algn="l" indent="0" marL="0">
              <a:buNone/>
            </a:pPr>
            <a:r>
              <a:rPr lang="en-US" sz="1250" dirty="0">
                <a:solidFill>
                  <a:srgbClr val="1F2A37"/>
                </a:solidFill>
                <a:latin typeface="Calibri" pitchFamily="34" charset="0"/>
                <a:cs typeface="Amiri" pitchFamily="2" charset="-78"/>
              </a:rPr>
              <a:t>2. Listen once — just listen.</a:t>
            </a:r>
            <a:endParaRPr lang="en-US" sz="1250" dirty="0"/>
          </a:p>
          <a:p>
            <a:pPr algn="l" indent="0" marL="0">
              <a:buNone/>
            </a:pPr>
            <a:r>
              <a:rPr lang="en-US" sz="1250" dirty="0">
                <a:solidFill>
                  <a:srgbClr val="1F2A37"/>
                </a:solidFill>
                <a:latin typeface="Calibri" pitchFamily="34" charset="0"/>
                <a:cs typeface="Amiri" pitchFamily="2" charset="-78"/>
              </a:rPr>
              <a:t>3. Listen again — choose.</a:t>
            </a:r>
            <a:endParaRPr lang="en-US" sz="1250" dirty="0"/>
          </a:p>
          <a:p>
            <a:pPr algn="l" indent="0" marL="0">
              <a:buNone/>
            </a:pPr>
            <a:r>
              <a:rPr lang="en-US" sz="1250" dirty="0">
                <a:solidFill>
                  <a:srgbClr val="1F2A37"/>
                </a:solidFill>
                <a:latin typeface="Calibri" pitchFamily="34" charset="0"/>
                <a:cs typeface="Amiri" pitchFamily="2" charset="-78"/>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B · AFTER MARKING · READ ALONG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Layla’s message — read along with English</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أَنَا لَيْلَى، وَأَسْكُنُ فِي مَدِينَةٍ فِي شَمَالِ المَغْرِبِ.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I am Layla, and I live in a city in the north of Morocco.</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أَمْسِ كَانَ الطَّقْسُ حَارًّا، وَلٰكِنْ غَدًا سَيَكُونُ مُمْطِرًا.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 the weather was hot, but tomorrow it will be rainy.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مَدِينَتِي تُوجَدُ مَكْتَبَةٌ كَبِيرَةٌ بِجَانِبِ المَسْجِدِ.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city there is a big library next to the mosque.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المُشْكِلَةُ هِيَ التَّلَوُّثُ بِسَبَبِ السَّيَّارَاتِ، لِذٰلِكَ أَذْهَبُ إِلَى المَدْرَسَةِ بِالحَافِلَةِ.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problem is pollution because of cars, so I go to school by bus.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اِشْتَرَيْتُ هَاتِفًا جَدِيدًا بِمِئَةِ دِينَارٍ، وَهُوَ أَرْخَصُ مِنْ هَاتِفِ أُخْتِي.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bought a new phone for 100 dinars, and it is cheaper than my sister’s phone.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B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B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Layla live?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north of Morocco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south of Morocco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Oman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شَمَالِ المَغْرِبِ.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weather be like tomorrow?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Sunny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Rainy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غَدًا سَيَكُونُ مُمْطِرًا.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mosque?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hospital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café</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big library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تُوجَدُ مَكْتَبَةٌ كَبِيرَةٌ بِجَانِبِ المَسْجِدِ.</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go to school?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أَذْهَبُ إِلَى المَدْرَسَةِ بِالحَافِلَةِ.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true about her new phone?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more expensive than her sister’s.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cheaper than her sister’s.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cost 10 dinars.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وَهُوَ أَرْخَصُ مِنْ هَاتِفِ أُخْتِي.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questions (30 s).</a:t>
            </a:r>
            <a:endParaRPr lang="en-US" sz="1250" dirty="0"/>
          </a:p>
          <a:p>
            <a:pPr algn="l" indent="0" marL="0">
              <a:buNone/>
            </a:pPr>
            <a:r>
              <a:rPr lang="en-US" sz="1250" dirty="0">
                <a:solidFill>
                  <a:srgbClr val="1F2A37"/>
                </a:solidFill>
                <a:latin typeface="Calibri" pitchFamily="34" charset="0"/>
                <a:cs typeface="Amiri" pitchFamily="2" charset="-78"/>
              </a:rPr>
              <a:t>2. Listen once — just listen.</a:t>
            </a:r>
            <a:endParaRPr lang="en-US" sz="1250" dirty="0"/>
          </a:p>
          <a:p>
            <a:pPr algn="l" indent="0" marL="0">
              <a:buNone/>
            </a:pPr>
            <a:r>
              <a:rPr lang="en-US" sz="1250" dirty="0">
                <a:solidFill>
                  <a:srgbClr val="1F2A37"/>
                </a:solidFill>
                <a:latin typeface="Calibri" pitchFamily="34" charset="0"/>
                <a:cs typeface="Amiri" pitchFamily="2" charset="-78"/>
              </a:rPr>
              <a:t>3. Listen again — choose.</a:t>
            </a:r>
            <a:endParaRPr lang="en-US" sz="1250" dirty="0"/>
          </a:p>
          <a:p>
            <a:pPr algn="l" indent="0" marL="0">
              <a:buNone/>
            </a:pPr>
            <a:r>
              <a:rPr lang="en-US" sz="1250" dirty="0">
                <a:solidFill>
                  <a:srgbClr val="1F2A37"/>
                </a:solidFill>
                <a:latin typeface="Calibri" pitchFamily="34" charset="0"/>
                <a:cs typeface="Amiri" pitchFamily="2" charset="-78"/>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SECTION B · PART 2 · DEVELOP / STRETCH · WEBSITE LISTENING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Section B: two views and a city report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ب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2: What does Salma support?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fossil fuels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Removing public transport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energy and smart grids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2: What is Omar’s main reservation?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technology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weather is cold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cost and privacy risk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2: What do both speakers support?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waste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consumption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passwords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3: What percentage of electricity is renewable?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3: What changed from the original plan?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completion year moved from 2030 to 2032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changed country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percentage became zero</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Question 9: listen for the number (a percentage).</a:t>
            </a:r>
            <a:endParaRPr lang="en-US" sz="1250" dirty="0"/>
          </a:p>
          <a:p>
            <a:pPr algn="l" indent="0" marL="0">
              <a:buNone/>
            </a:pPr>
            <a:r>
              <a:rPr lang="en-US" sz="1250" dirty="0">
                <a:solidFill>
                  <a:srgbClr val="1E6B52"/>
                </a:solidFill>
                <a:latin typeface="Calibri" pitchFamily="34" charset="0"/>
                <a:cs typeface="Amiri" pitchFamily="2" charset="-78"/>
              </a:rPr>
              <a:t>Question 8: what do BOTH people want?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B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B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2: What does Salma support?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fossil fuels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Removing public transport</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 energy and smart grids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Salma supports solar power and smart grids.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2: What is Omar’s main reservation?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technology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weather is cold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High cost and privacy risk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Omar raises cost and personal-data concerns.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2: What do both speakers support?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Reducing waste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Increasing consumption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Sharing passwords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agree on reducing waste.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3: What percentage of electricity is renewable?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expert states 35%.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Text 3: What changed from the original plan?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completion year moved from 2030 to 2032</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changed country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percentage became zero</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corrected completion year is 2032.</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Question 9: listen for the number (a percentage).</a:t>
            </a:r>
            <a:endParaRPr lang="en-US" sz="1250" dirty="0"/>
          </a:p>
          <a:p>
            <a:pPr algn="l" indent="0" marL="0">
              <a:buNone/>
            </a:pPr>
            <a:r>
              <a:rPr lang="en-US" sz="1250" dirty="0">
                <a:solidFill>
                  <a:srgbClr val="1E6B52"/>
                </a:solidFill>
                <a:latin typeface="Calibri" pitchFamily="34" charset="0"/>
                <a:cs typeface="Amiri" pitchFamily="2" charset="-78"/>
              </a:rPr>
              <a:t>Question 8: what do BOTH people want?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C · PART 1 · CORE ·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C: Yusuf’s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ج ·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مِنْ: يُوسُفَ   إِلَى: صَدِيقِي آدَمَ</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السَّلَامُ عَلَيْكُمْ يَا آدَمُ،</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أَنَا الآنَ فِي عُمَانَ مَعَ عَائِلَتِي. نُقِيمُ فِي فُنْدُقٍ قُرْبَ البَحْرِ.</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الجَوُّ هُنَا حَارٌّ وَمُشْمِسٌ، وَدَرَجَةُ الحَرَارَةِ خَمْسٌ وَثَلَاثُونَ.</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أَمْسِ زُرْنَا قَلْعَةً قَدِيمَةً مَبْنِيَّةً مِنَ الحَجَرِ.</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فِي السُّوقِ اِشْتَرَيْتُ هَدِيَّةً لَكَ، ثَمَنُهَا عَشَرَةُ رِيَالَاتٍ.</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نَصِيحَتِي: لَا تَنْسَ أَنْ تُعِيدَ تَدْوِيرَ البِلَاسْتِيكِ! إِلَى اللِّقَاءِ.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عُمَانُ</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Oman</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عَائِلَتِي</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نُقِيمُ فِي</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are staying at</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قُرْبَ</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near</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دَرَجَةُ الحَرَارَةِ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temperature</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زُرْنَا</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visited</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قَلْعَةٌ</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castle</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رِيَالَاتٌ</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riyals</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نَصِيحَتِي</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advice</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تَنْسَ</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don’t forget</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C · PART 1 · CORE · READING QUESTIONS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C: email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Yusuf staying?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flat in the 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his grandparents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hotel near the sea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weather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Hot and sunny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and rainy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Windy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castle built of?</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the present cost?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riyals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 riyals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 riyals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Yusuf’s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 the castle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 a hotel early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Recycle plastic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in the email.</a:t>
            </a:r>
            <a:endParaRPr lang="en-US" sz="1250" dirty="0"/>
          </a:p>
          <a:p>
            <a:pPr algn="l" indent="0" marL="0">
              <a:buNone/>
            </a:pPr>
            <a:r>
              <a:rPr lang="en-US" sz="1250" dirty="0">
                <a:solidFill>
                  <a:srgbClr val="1F2A37"/>
                </a:solidFill>
                <a:latin typeface="Calibri" pitchFamily="34" charset="0"/>
                <a:cs typeface="Amiri" pitchFamily="2" charset="-78"/>
              </a:rPr>
              <a:t>3. Read that line again, then choose.</a:t>
            </a:r>
            <a:endParaRPr lang="en-US" sz="1250" dirty="0"/>
          </a:p>
          <a:p>
            <a:pPr algn="l" indent="0" marL="0">
              <a:buNone/>
            </a:pPr>
            <a:r>
              <a:rPr lang="en-US" sz="1250" dirty="0">
                <a:solidFill>
                  <a:srgbClr val="1F2A37"/>
                </a:solidFill>
                <a:latin typeface="Calibri" pitchFamily="34" charset="0"/>
                <a:cs typeface="Amiri" pitchFamily="2" charset="-78"/>
              </a:rPr>
              <a:t>Chat: C: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C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C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Yusuf staying?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flat in the city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his grandparents</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hotel near the sea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نُقِيمُ فِي فُنْدُقٍ قُرْبَ البَحْرِ.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weather like?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Hot and sunny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 and rainy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Windy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الجَوُّ هُنَا حَارٌّ وَمُشْمِسٌ.</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castle built of?</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قَلْعَةً قَدِيمَةً مَبْنِيَّةً مِنَ الحَجَرِ.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the present cost?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riyals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35 riyals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 riyals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ثَمَنُهَا عَشَرَةُ رِيَالَاتٍ.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Yusuf’s advice?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 the castle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 a hotel early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Recycle plastic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تَنْسَ أَنْ تُعِيدَ تَدْوِيرَ البِلَاسْتِيكِ!</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in the email.</a:t>
            </a:r>
            <a:endParaRPr lang="en-US" sz="1250" dirty="0"/>
          </a:p>
          <a:p>
            <a:pPr algn="l" indent="0" marL="0">
              <a:buNone/>
            </a:pPr>
            <a:r>
              <a:rPr lang="en-US" sz="1250" dirty="0">
                <a:solidFill>
                  <a:srgbClr val="1F2A37"/>
                </a:solidFill>
                <a:latin typeface="Calibri" pitchFamily="34" charset="0"/>
                <a:cs typeface="Amiri" pitchFamily="2" charset="-78"/>
              </a:rPr>
              <a:t>3. Read that line again, then choose.</a:t>
            </a:r>
            <a:endParaRPr lang="en-US" sz="1250" dirty="0"/>
          </a:p>
          <a:p>
            <a:pPr algn="l" indent="0" marL="0">
              <a:buNone/>
            </a:pPr>
            <a:r>
              <a:rPr lang="en-US" sz="1250" dirty="0">
                <a:solidFill>
                  <a:srgbClr val="1F2A37"/>
                </a:solidFill>
                <a:latin typeface="Calibri" pitchFamily="34" charset="0"/>
                <a:cs typeface="Amiri" pitchFamily="2" charset="-78"/>
              </a:rPr>
              <a:t>Chat: C: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C · PART 2 · DEVELOP / STRETCH · WEBSITE ARTICLE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Section C: water, cities and technology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القِسْمُ ج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يُشَارُ إِلَى أَنَّ تَغَيُّرَ المَنَاخِ يَزِيدُ شُحَّ المِيَاهِ فِي مَنَاطِقَ عَرَبِيَّةٍ عِدَّةٍ. فَبِسَبَبِ طُولِ فَتَرَاتِ الجَفَافِ، يَنْخَفِضُ المَخْزُونُ الجَوْفِيُّ وَتَتَضَرَّرُ الزِّرَاعَةُ. وَفِي المُدُنِ، يُلَوَّثُ الهَوَاءُ بِعَوَادِمِ السَّيَّارَاتِ. لِذٰلِكَ تَسْتَثْمِرُ بَعْضُ البَلَدِيَّاتِ فِي النَّقْلِ الكَهْرَبَائِيِّ وَالأَنْظِمَةِ الذَّكِيَّةِ. وَفْقًا لِبَيَانَاتِ إِحْدَى البَلَدِيَّاتِ، انْخَفَضَ اسْتِهْلَاكُ الكَهْرَبَاءِ فِي المَبَانِي العَامَّةِ بِنِسْبَةِ ١٨٪ بَعْدَ تَرْكِيبِ أَنْظِمَةٍ تُطْفِئُ الإِضَاءَةَ فِي الغُرَفِ الفَارِغَةِ. مَعَ ذٰلِكَ، هٰذِهِ الحُلُولُ مُكَلِّفَةٌ وَقَدْ تَجْمَعُ بَيَانَاتٍ شَخْصِيَّةً. فِي رَأْيِي، التِّقْنِيَّةُ جُزْءٌ مُهِمٌّ مِنَ الحَلِّ، شَرِيطَةَ أَنْ تُحْمَى الخُصُوصِيَّةُ وَأَنْ تَصْحَبَهَا سِيَاسَاتٌ وَسُلُوكٌ مَسْؤُولٌ.</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يُشَارُ إِلَى أَنَّ</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is reported that</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شُحُّ المِيَاهِ</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water scarcity</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الجَفَافُ</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drought</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المَخْزُونُ الجَوْفِيُّ</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groundwater stock</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عَوَادِمُ</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exhaust fumes</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البَلَدِيَّاتُ</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town councils</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وَفْقًا لِـ</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according to</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بِنِسْبَةِ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(a percentage)</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 ذٰلِكَ</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however</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الخُصُوصِيَّةُ</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privacy</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SECTION C · PART 2 · DEVELOP / STRETCH · WEBSITE QUESTIONS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C: article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problem is linked to longer drought?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Clothing prices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Cyberbullying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datum is used as evidence?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likes green buildings.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Electricity use fell by 18% in public buildings.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has a long name.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of smart systems is acknowledged?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Cost and privacy concerns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cannot measure anything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always increase waste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the counterargument?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نَتِيجَةً لِذٰلِكَ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عَلَاوَةً عَلَى ذٰلِكَ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article’s central argument?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has no environmental use.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Technology can support environmental action but cannot replace policy and behaviour.</a:t>
            </a:r>
            <a:endParaRPr lang="en-US" sz="1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Weather vocabulary is the only important issue.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Question 6: find </a:t>
            </a:r>
            <a:pPr algn="l" indent="0" marL="0">
              <a:lnSpc>
                <a:spcPct val="115000"/>
              </a:lnSpc>
              <a:buNone/>
            </a:pPr>
            <a:r>
              <a:rPr lang="ar-SA" altLang="en-US" sz="1650" dirty="0">
                <a:solidFill>
                  <a:srgbClr val="1E6B52"/>
                </a:solidFill>
                <a:latin typeface="Amiri" pitchFamily="2" charset="-78"/>
                <a:cs typeface="Amiri" pitchFamily="2" charset="-78"/>
              </a:rPr>
              <a:t>الجَفَافِ</a:t>
            </a:r>
            <a:pPr algn="l" indent="0" marL="0">
              <a:lnSpc>
                <a:spcPct val="115000"/>
              </a:lnSpc>
              <a:buNone/>
            </a:pPr>
            <a:r>
              <a:rPr lang="en-US" sz="1250" dirty="0">
                <a:solidFill>
                  <a:srgbClr val="1E6B52"/>
                </a:solidFill>
                <a:latin typeface="Calibri" pitchFamily="34" charset="0"/>
                <a:cs typeface="Amiri" pitchFamily="2" charset="-78"/>
              </a:rPr>
              <a:t> in the text.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Question 7: find the number (</a:t>
            </a:r>
            <a:pPr algn="l" indent="0" marL="0">
              <a:lnSpc>
                <a:spcPct val="115000"/>
              </a:lnSpc>
              <a:buNone/>
            </a:pPr>
            <a:r>
              <a:rPr lang="ar-SA" altLang="en-US" sz="1650" dirty="0">
                <a:solidFill>
                  <a:srgbClr val="1E6B52"/>
                </a:solidFill>
                <a:latin typeface="Amiri" pitchFamily="2" charset="-78"/>
                <a:cs typeface="Amiri" pitchFamily="2" charset="-78"/>
              </a:rPr>
              <a:t>١٨٪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SECTION C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Section C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problem is linked to longer drought?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scarcity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Clothing prices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Cyberbullying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Longer drought is linked to water scarcity.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datum is used as evidence?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likes green buildings.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Electricity use fell by 18% in public buildings.</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has a long name.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article gives an 18% measured reduction.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of smart systems is acknowledged?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Cost and privacy concerns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cannot measure anything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always increase waste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cost and data privacy are named.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the counterargument?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نَتِيجَةً لِذٰلِكَ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عَلَاوَةً عَلَى ذٰلِكَ</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مع ذلك</a:t>
            </a:r>
            <a:pPr algn="l" indent="0" marL="0">
              <a:buNone/>
            </a:pPr>
            <a:r>
              <a:rPr lang="en-US" sz="1050" i="1" dirty="0">
                <a:solidFill>
                  <a:srgbClr val="8A6D1E"/>
                </a:solidFill>
                <a:latin typeface="Calibri" pitchFamily="34" charset="0"/>
                <a:cs typeface="Amiri" pitchFamily="2" charset="-78"/>
              </a:rPr>
              <a:t> introduces the reservation.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article’s central argument?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has no environmental use.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Technology can support environmental action but cannot replace policy and behaviour.</a:t>
            </a:r>
            <a:endParaRPr lang="en-US" sz="10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Weather vocabulary is the only important issue.</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judgement combines technology, policy and behaviour.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Question 6: find </a:t>
            </a:r>
            <a:pPr algn="l" indent="0" marL="0">
              <a:lnSpc>
                <a:spcPct val="115000"/>
              </a:lnSpc>
              <a:buNone/>
            </a:pPr>
            <a:r>
              <a:rPr lang="ar-SA" altLang="en-US" sz="1650" dirty="0">
                <a:solidFill>
                  <a:srgbClr val="1E6B52"/>
                </a:solidFill>
                <a:latin typeface="Amiri" pitchFamily="2" charset="-78"/>
                <a:cs typeface="Amiri" pitchFamily="2" charset="-78"/>
              </a:rPr>
              <a:t>الجَفَافِ</a:t>
            </a:r>
            <a:pPr algn="l" indent="0" marL="0">
              <a:lnSpc>
                <a:spcPct val="115000"/>
              </a:lnSpc>
              <a:buNone/>
            </a:pPr>
            <a:r>
              <a:rPr lang="en-US" sz="1250" dirty="0">
                <a:solidFill>
                  <a:srgbClr val="1E6B52"/>
                </a:solidFill>
                <a:latin typeface="Calibri" pitchFamily="34" charset="0"/>
                <a:cs typeface="Amiri" pitchFamily="2" charset="-78"/>
              </a:rPr>
              <a:t> in the text.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Question 7: find the number (</a:t>
            </a:r>
            <a:pPr algn="l" indent="0" marL="0">
              <a:lnSpc>
                <a:spcPct val="115000"/>
              </a:lnSpc>
              <a:buNone/>
            </a:pPr>
            <a:r>
              <a:rPr lang="ar-SA" altLang="en-US" sz="1650" dirty="0">
                <a:solidFill>
                  <a:srgbClr val="1E6B52"/>
                </a:solidFill>
                <a:latin typeface="Amiri" pitchFamily="2" charset="-78"/>
                <a:cs typeface="Amiri" pitchFamily="2" charset="-78"/>
              </a:rPr>
              <a:t>١٨٪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5 sentences about your town or a trip, with help from the word bank.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about your town or a trip: where, weather, what there is, one problem, your opinion. Word bank on the next slide allowed.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80–100 words: your town, its environment and technology in three tenses.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town, its environment and technology: one sentence in the past, one now and one in the future, with linking words and an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 130–140-word environment and technology article.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website article: issue, causes and effects, a solution, evidence and one limitation. Mark scheme on the next slide but one.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المَاضِي كَانَ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past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أَنْ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 so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 نَاحِيَةٍ ______ ، وَمِنْ نَاحِيَةٍ أُخْرَى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one hand … on the other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أَرْخَصُ / أَكْبَرُ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cheaper / bigger than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مَبْنِيٌّ مِنَ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built of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أَسْكُنُ فِي ______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 in the north / south of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الطَّقْسُ ______ / سَيَكُونُ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is … / will be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مَدِينَتِي يُوجَدُ / تُوجَدُ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المُشْكِلَةُ هِيَ ______ بِسَبَبِ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problem is … because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رَأْيِي ______ لِأَنَّ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because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الطَّقْسُ  ·  حَارٌّ  ·  مُمْطِرٌ  ·  مَكْتَبَةٌ  ·  مُسْتَشْفًى  ·  التَّلَوُّثُ  ·  السَّيَّارَاتِ  ·  إِعَادَةُ التَّدْوِيرِ  ·  الحَافِلَةِ  ·  هَاتِفِي  ·  مُفِيدٌ  ·  الشَّمَالِ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SECTION D · WRITING MARK SCHEME · 10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your writing is marked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مِعْيَارُ التَّصْحِيحِ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Stretch (website article)</a:t>
            </a:r>
            <a:endParaRPr lang="en-US" sz="1100" dirty="0"/>
          </a:p>
        </p:txBody>
      </p:sp>
      <p:sp>
        <p:nvSpPr>
          <p:cNvPr id="17" name="Text 14"/>
          <p:cNvSpPr txBox="1"/>
          <p:nvPr/>
        </p:nvSpPr>
        <p:spPr>
          <a:xfrm>
            <a:off x="63825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Develop (80–100 words)</a:t>
            </a:r>
            <a:endParaRPr lang="en-US" sz="1100" dirty="0"/>
          </a:p>
        </p:txBody>
      </p:sp>
      <p:sp>
        <p:nvSpPr>
          <p:cNvPr id="18" name="Text 15"/>
          <p:cNvSpPr txBox="1"/>
          <p:nvPr/>
        </p:nvSpPr>
        <p:spPr>
          <a:xfrm>
            <a:off x="36393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(5 sentences)</a:t>
            </a:r>
            <a:endParaRPr lang="en-US" sz="1100" dirty="0"/>
          </a:p>
        </p:txBody>
      </p:sp>
      <p:sp>
        <p:nvSpPr>
          <p:cNvPr id="19" name="Text 16"/>
          <p:cNvSpPr txBox="1"/>
          <p:nvPr/>
        </p:nvSpPr>
        <p:spPr>
          <a:xfrm>
            <a:off x="254203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20" name="Text 17"/>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Criterion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162288" y="2267712"/>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issue, causes, solution, evidence, limitation</a:t>
            </a:r>
            <a:endParaRPr lang="en-US" sz="1100" dirty="0"/>
          </a:p>
        </p:txBody>
      </p:sp>
      <p:sp>
        <p:nvSpPr>
          <p:cNvPr id="23" name="Text 20"/>
          <p:cNvSpPr txBox="1"/>
          <p:nvPr/>
        </p:nvSpPr>
        <p:spPr>
          <a:xfrm>
            <a:off x="641908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town + environment + technology</a:t>
            </a:r>
            <a:endParaRPr lang="en-US" sz="1100" dirty="0"/>
          </a:p>
        </p:txBody>
      </p:sp>
      <p:sp>
        <p:nvSpPr>
          <p:cNvPr id="24" name="Text 21"/>
          <p:cNvSpPr txBox="1"/>
          <p:nvPr/>
        </p:nvSpPr>
        <p:spPr>
          <a:xfrm>
            <a:off x="367588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sentences on the topic</a:t>
            </a:r>
            <a:endParaRPr lang="en-US" sz="1100" dirty="0"/>
          </a:p>
        </p:txBody>
      </p:sp>
      <p:sp>
        <p:nvSpPr>
          <p:cNvPr id="25" name="Text 22"/>
          <p:cNvSpPr txBox="1"/>
          <p:nvPr/>
        </p:nvSpPr>
        <p:spPr>
          <a:xfrm>
            <a:off x="2578608" y="2267712"/>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26" name="Text 23"/>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162288" y="3054096"/>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cause–effect, purpose, concession</a:t>
            </a:r>
            <a:endParaRPr lang="en-US" sz="1100" dirty="0"/>
          </a:p>
        </p:txBody>
      </p:sp>
      <p:sp>
        <p:nvSpPr>
          <p:cNvPr id="29" name="Text 26"/>
          <p:cNvSpPr txBox="1"/>
          <p:nvPr/>
        </p:nvSpPr>
        <p:spPr>
          <a:xfrm>
            <a:off x="641908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tenses; 3 linking words; an opinion</a:t>
            </a:r>
            <a:endParaRPr lang="en-US" sz="1100" dirty="0"/>
          </a:p>
        </p:txBody>
      </p:sp>
      <p:sp>
        <p:nvSpPr>
          <p:cNvPr id="30" name="Text 27"/>
          <p:cNvSpPr txBox="1"/>
          <p:nvPr/>
        </p:nvSpPr>
        <p:spPr>
          <a:xfrm>
            <a:off x="367588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C words; one linking word</a:t>
            </a:r>
            <a:endParaRPr lang="en-US" sz="1100" dirty="0"/>
          </a:p>
        </p:txBody>
      </p:sp>
      <p:sp>
        <p:nvSpPr>
          <p:cNvPr id="31" name="Text 28"/>
          <p:cNvSpPr txBox="1"/>
          <p:nvPr/>
        </p:nvSpPr>
        <p:spPr>
          <a:xfrm>
            <a:off x="2578608" y="3054096"/>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2" name="Text 29"/>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a:t>
            </a:r>
            <a:endParaRPr lang="en-US" sz="110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162288" y="3840480"/>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 after “an” and “likay”; case endings</a:t>
            </a:r>
            <a:endParaRPr lang="en-US" sz="1100" dirty="0"/>
          </a:p>
        </p:txBody>
      </p:sp>
      <p:sp>
        <p:nvSpPr>
          <p:cNvPr id="35" name="Text 32"/>
          <p:cNvSpPr txBox="1"/>
          <p:nvPr/>
        </p:nvSpPr>
        <p:spPr>
          <a:xfrm>
            <a:off x="641908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 (m./f.), partner words</a:t>
            </a:r>
            <a:endParaRPr lang="en-US" sz="1100" dirty="0"/>
          </a:p>
        </p:txBody>
      </p:sp>
      <p:sp>
        <p:nvSpPr>
          <p:cNvPr id="36" name="Text 33"/>
          <p:cNvSpPr txBox="1"/>
          <p:nvPr/>
        </p:nvSpPr>
        <p:spPr>
          <a:xfrm>
            <a:off x="367588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(m./f.); “the”; spelling</a:t>
            </a:r>
            <a:endParaRPr lang="en-US" sz="1100" dirty="0"/>
          </a:p>
        </p:txBody>
      </p:sp>
      <p:sp>
        <p:nvSpPr>
          <p:cNvPr id="37" name="Text 34"/>
          <p:cNvSpPr txBox="1"/>
          <p:nvPr/>
        </p:nvSpPr>
        <p:spPr>
          <a:xfrm>
            <a:off x="2578608" y="3840480"/>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8" name="Text 35"/>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130–140 Arabic words. Explain an environmental issue, causes and effects, a practical or technological solution, evidence and one limitation.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Task /5 — all points developed.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Range /5 — varied grammar and vocabulary.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Accuracy /5 — agreement, patterns and spelling.</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Proofread before you finish.</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يُشَارُ إِلَى أَنَّ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reported that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بِسَبَبِ … ، مِمَّا يُؤَدِّي إِلَى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which leads to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عَلَى … أَنْ … لِكَيْ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must … so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وَفْقًا لِـ … ، انْخَفَضَ … بِنِسْبَةِ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according to …, … fell by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ذٰلِكَ،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however,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 … فَإِنَّ … شَرِيطَةَ 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 provided that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Section E · Speaking: a Topic C conversation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تَسْكُنُ؟ وَمَاذَا يُوجَدُ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الطَّقْسُ اليَوْمَ؟ وَكَيْفَ سَيَكُونُ غَدًا؟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 مُشْكِلَةٍ بِيئِيَّةٍ فِي مَدِينَتِكَ؟ وَمَا الحَلُّ؟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التِّقْنِيَّةُ جُزْءٌ مِنَ الحَلِّ؟ 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أَسْكُنُ فِي ___ ، وَيُوجَدُ فِيهَا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المُشْكِلَةُ ___ ، لِذٰلِكَ يَجِبُ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عَلَى الرَّغْمِ مِنْ أَنَّ ___ ، فَإِنَّ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يَسْكُنُ / تَسْكُنُ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مَدِينَتَكَ.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town.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أَسْكُنُ فِي مَدِينَةٍ كَبِيرَةٍ فِي شَمَالِ إِنْجِلْتِرَا. تُوجَدُ فِيهَا مَكْتَبَةٌ وَمُسْتَشْفًى، لٰكِنَّ المُشْكِلَةَ هِيَ الاِزْدِحَامُ.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live in a big city in the north of England. It has a library and a hospital, but the problem is congestion.</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SCORE PROFILE · EVIDENCE AND TARGET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Topic C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نَتَائِجِي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next step</a:t>
            </a:r>
            <a:endParaRPr lang="en-US" sz="1100" dirty="0"/>
          </a:p>
        </p:txBody>
      </p:sp>
      <p:sp>
        <p:nvSpPr>
          <p:cNvPr id="17" name="Text 14"/>
          <p:cNvSpPr txBox="1"/>
          <p:nvPr/>
        </p:nvSpPr>
        <p:spPr>
          <a:xfrm>
            <a:off x="683971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Total</a:t>
            </a:r>
            <a:endParaRPr lang="en-US" sz="1100" dirty="0"/>
          </a:p>
        </p:txBody>
      </p:sp>
      <p:sp>
        <p:nvSpPr>
          <p:cNvPr id="18" name="Text 15"/>
          <p:cNvSpPr txBox="1"/>
          <p:nvPr/>
        </p:nvSpPr>
        <p:spPr>
          <a:xfrm>
            <a:off x="46451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Develop / Stretch part</a:t>
            </a:r>
            <a:endParaRPr lang="en-US" sz="1100" dirty="0"/>
          </a:p>
        </p:txBody>
      </p:sp>
      <p:sp>
        <p:nvSpPr>
          <p:cNvPr id="19" name="Text 16"/>
          <p:cNvSpPr txBox="1"/>
          <p:nvPr/>
        </p:nvSpPr>
        <p:spPr>
          <a:xfrm>
            <a:off x="290779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part</a:t>
            </a:r>
            <a:endParaRPr lang="en-US" sz="1100" dirty="0"/>
          </a:p>
        </p:txBody>
      </p:sp>
      <p:sp>
        <p:nvSpPr>
          <p:cNvPr id="20" name="Text 17"/>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Revise the Topic C map rows I got wrong</a:t>
            </a:r>
            <a:endParaRPr lang="en-US" sz="1100" dirty="0"/>
          </a:p>
        </p:txBody>
      </p:sp>
      <p:sp>
        <p:nvSpPr>
          <p:cNvPr id="23" name="Text 20"/>
          <p:cNvSpPr txBox="1"/>
          <p:nvPr/>
        </p:nvSpPr>
        <p:spPr>
          <a:xfrm>
            <a:off x="6876288" y="2267712"/>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4" name="Text 21"/>
          <p:cNvSpPr txBox="1"/>
          <p:nvPr/>
        </p:nvSpPr>
        <p:spPr>
          <a:xfrm>
            <a:off x="468172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5" name="Text 22"/>
          <p:cNvSpPr txBox="1"/>
          <p:nvPr/>
        </p:nvSpPr>
        <p:spPr>
          <a:xfrm>
            <a:off x="2944368"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26" name="Text 23"/>
          <p:cNvSpPr txBox="1"/>
          <p:nvPr/>
        </p:nvSpPr>
        <p:spPr>
          <a:xfrm>
            <a:off x="56692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words and grammar</a:t>
            </a:r>
            <a:endParaRPr lang="en-US" sz="110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for key words and numbers</a:t>
            </a:r>
            <a:endParaRPr lang="en-US" sz="1100" dirty="0"/>
          </a:p>
        </p:txBody>
      </p:sp>
      <p:sp>
        <p:nvSpPr>
          <p:cNvPr id="29" name="Text 26"/>
          <p:cNvSpPr txBox="1"/>
          <p:nvPr/>
        </p:nvSpPr>
        <p:spPr>
          <a:xfrm>
            <a:off x="6876288" y="3054096"/>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0" name="Text 27"/>
          <p:cNvSpPr txBox="1"/>
          <p:nvPr/>
        </p:nvSpPr>
        <p:spPr>
          <a:xfrm>
            <a:off x="468172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1" name="Text 28"/>
          <p:cNvSpPr txBox="1"/>
          <p:nvPr/>
        </p:nvSpPr>
        <p:spPr>
          <a:xfrm>
            <a:off x="2944368"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2" name="Text 29"/>
          <p:cNvSpPr txBox="1"/>
          <p:nvPr/>
        </p:nvSpPr>
        <p:spPr>
          <a:xfrm>
            <a:off x="56692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listening</a:t>
            </a:r>
            <a:endParaRPr lang="en-US" sz="110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question first, then find ONE key word</a:t>
            </a:r>
            <a:endParaRPr lang="en-US" sz="1100" dirty="0"/>
          </a:p>
        </p:txBody>
      </p:sp>
      <p:sp>
        <p:nvSpPr>
          <p:cNvPr id="35" name="Text 32"/>
          <p:cNvSpPr txBox="1"/>
          <p:nvPr/>
        </p:nvSpPr>
        <p:spPr>
          <a:xfrm>
            <a:off x="6876288" y="3840480"/>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6" name="Text 33"/>
          <p:cNvSpPr txBox="1"/>
          <p:nvPr/>
        </p:nvSpPr>
        <p:spPr>
          <a:xfrm>
            <a:off x="468172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7" name="Text 34"/>
          <p:cNvSpPr txBox="1"/>
          <p:nvPr/>
        </p:nvSpPr>
        <p:spPr>
          <a:xfrm>
            <a:off x="2944368"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8" name="Text 35"/>
          <p:cNvSpPr txBox="1"/>
          <p:nvPr/>
        </p:nvSpPr>
        <p:spPr>
          <a:xfrm>
            <a:off x="56692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reading</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one linking word and one reason</a:t>
            </a:r>
            <a:endParaRPr lang="en-US" sz="1100" dirty="0"/>
          </a:p>
        </p:txBody>
      </p:sp>
      <p:sp>
        <p:nvSpPr>
          <p:cNvPr id="41" name="Text 38"/>
          <p:cNvSpPr txBox="1"/>
          <p:nvPr/>
        </p:nvSpPr>
        <p:spPr>
          <a:xfrm>
            <a:off x="6876288" y="4626864"/>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2" name="Text 39"/>
          <p:cNvSpPr txBox="1"/>
          <p:nvPr/>
        </p:nvSpPr>
        <p:spPr>
          <a:xfrm>
            <a:off x="46817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2944368"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Text 41"/>
          <p:cNvSpPr txBox="1"/>
          <p:nvPr/>
        </p:nvSpPr>
        <p:spPr>
          <a:xfrm>
            <a:off x="56692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writing</a:t>
            </a:r>
            <a:endParaRPr lang="en-US" sz="1100" dirty="0"/>
          </a:p>
        </p:txBody>
      </p:sp>
      <p:sp>
        <p:nvSpPr>
          <p:cNvPr id="45" name="Shape 42"/>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8247888" y="5413248"/>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speaking phrase (</a:t>
            </a:r>
            <a:pPr algn="l" indent="0" marL="0">
              <a:buNone/>
            </a:pPr>
            <a:r>
              <a:rPr lang="ar-SA" altLang="en-US" sz="1450" dirty="0">
                <a:solidFill>
                  <a:srgbClr val="5A6472"/>
                </a:solidFill>
                <a:latin typeface="Amiri" pitchFamily="2" charset="-78"/>
                <a:cs typeface="Amiri" pitchFamily="2" charset="-78"/>
              </a:rPr>
              <a:t>مِنْ وَجْهَةِ نَظَرِي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876288" y="5413248"/>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8" name="Text 45"/>
          <p:cNvSpPr txBox="1"/>
          <p:nvPr/>
        </p:nvSpPr>
        <p:spPr>
          <a:xfrm>
            <a:off x="4681728" y="5413248"/>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9" name="Text 46"/>
          <p:cNvSpPr txBox="1"/>
          <p:nvPr/>
        </p:nvSpPr>
        <p:spPr>
          <a:xfrm>
            <a:off x="2944368" y="5413248"/>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0" name="Text 47"/>
          <p:cNvSpPr txBox="1"/>
          <p:nvPr/>
        </p:nvSpPr>
        <p:spPr>
          <a:xfrm>
            <a:off x="566928"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 · speaking</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Core questions in every section.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5 correct sentences about my town or a trip.</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tenses and linking words in my writing.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some of the website questions.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130–140-word article with a concession.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Topic C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Topic D: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Topic D · The World of Work</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مَدْرَسَةٌ ابْتِدَائِيَّةٌ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primary school</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مَدْرَسَةٌ ثَانَوِيَّةٌ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secondary school</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جَامِعَةٌ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university</a:t>
            </a:r>
            <a:pPr indent="0" marL="0">
              <a:buNone/>
            </a:pPr>
            <a:r>
              <a:rPr lang="en-US" sz="1000" i="1" dirty="0">
                <a:solidFill>
                  <a:srgbClr val="5A6472"/>
                </a:solidFill>
                <a:latin typeface="Calibri" pitchFamily="34" charset="0"/>
                <a:cs typeface="Amiri" pitchFamily="2" charset="-78"/>
              </a:rPr>
              <a:t>  pl. جَامِعَاتٌ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أُسْتَاذٌ</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teacher</a:t>
            </a:r>
            <a:pPr indent="0" marL="0">
              <a:buNone/>
            </a:pPr>
            <a:r>
              <a:rPr lang="en-US" sz="1000" i="1" dirty="0">
                <a:solidFill>
                  <a:srgbClr val="5A6472"/>
                </a:solidFill>
                <a:latin typeface="Calibri" pitchFamily="34" charset="0"/>
                <a:cs typeface="Amiri" pitchFamily="2" charset="-78"/>
              </a:rPr>
              <a:t>  pl. أَسَاتِذَةٌ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تِلْمِيذٌ</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pupil</a:t>
            </a:r>
            <a:pPr indent="0" marL="0">
              <a:buNone/>
            </a:pPr>
            <a:r>
              <a:rPr lang="en-US" sz="1000" i="1" dirty="0">
                <a:solidFill>
                  <a:srgbClr val="5A6472"/>
                </a:solidFill>
                <a:latin typeface="Calibri" pitchFamily="34" charset="0"/>
                <a:cs typeface="Amiri" pitchFamily="2" charset="-78"/>
              </a:rPr>
              <a:t>  pl. تَلَامِيذُ</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what kind of school do you go to?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فِي أَيِّ مَدْرَسَةٍ تَدْرُسُ؟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your Section A–C mistakes in your book (write the right answer and why).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your Section D paragraph, adding one linking word and one reason.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TC-L12 · complete the website’s full grammar laboratory (12 questions) and listening text 1.</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Topic D · The World of Work</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عَالَمُ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C complete — well done! 5 words + 1 sentence before Topic 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TC-L12 · Topic C Review and Four-Skills Assessment</dc:title>
  <dc:subject>PptxGenJS Presentation</dc:subject>
  <dc:creator>Al Madina Online School · Arabic Department</dc:creator>
  <cp:lastModifiedBy>Al Madina Online School · Arabic Department</cp:lastModifiedBy>
  <cp:revision>1</cp:revision>
  <dcterms:created xsi:type="dcterms:W3CDTF">2026-10-11T06:44:04Z</dcterms:created>
  <dcterms:modified xsi:type="dcterms:W3CDTF">2026-10-11T06:44:04Z</dcterms:modified>
</cp:coreProperties>
</file>