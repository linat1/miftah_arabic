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7 (TC-L07). The website lesson reuses P3-L02 (Planning a Trip — Booking, Itineraries and Travel Documents) with the Topic C focus “Interpret messages, forms, webpages and instructions critically” (grammar: imperatives; passive; relative pronouns). The picture match is the website lesson game “Document Detective”; the “digital document sort” is the website’s advanced application challenge. The booking-confirmation document is teacher-made using only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P3-L02 is B1+ language. CORE: travel-document words + the two website verbs in the present and future (أَحْجِزُ / سَأَحْجِزُ · أُقِيمُ فِي / سَأُقِيمُ فِي) + reading a short booking confirmation for key facts. DEVELOP: the past and past perfect (حَجَزْتُ · كُنْتُ قَدْ حَجَزْتُ), instructions on forms (imperatives) and الَّذِي / الَّتِي. STRETCH: the website’s two conditional types.
• Tense table with colour (blue = WHO, teal = time marker), transliteration, picture match, a “document detective” reading with a glossary, and a read-along listening with English.
• Urdu bridge words (سفر، مسافر، جدول، وزن، مدت).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TC-L06 and TC-L05.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verb shows TIME: before (حَجَزْتُ), now (أَحْجِزُ), later (سَأَحْجِزُ).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(interpret messages, forms and instructions). The website objectives on the left are the P3-L02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(journey — جَوَازُ سَفَرٍ “permit for travel”), مسافر (traveller), جدول (table — جَدْوَلُ رِحْلَةٍ = itinerary), وزن (weight — وَزْنُ الأَمْتِعَةِ), مدت (period — مُدَّةُ الرِّحْلَةِ).
Groups 1–4 are the website P3-L02 vocabulary (تَذْكِرَة from the website reading); Group 5 turns website verbs into instructions (imperatives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P3-L02; تَذْكِرَةُ الطَّائِرَةِ from the website reading). Hear → Say → See → Use.
Gesture: hold up a passport (open hands like a small book), stamp it (visa), tear a ticket, tick a box (booking).
Website game: هٰذَا جَوَازُ سَفَرٍ = This is a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 the airport (website P3-L02). Develop / Stretch; Core students listen and repeat. All but one are iḍāfa phrases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(website P3-L02). Website teaching point: “Use يُقِيمُ فِي for staying at a hotel — it is the formal choice, not يَسْكُنُ.”
Also on the website: فُنْدُقٌ بِخَمْسِ نُجُومٍ (a five-star hotel).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“The 2028 verbs across tenses” (present, past, future, past perfect of يَحْجِزُ and يُقِيمُ فِي), with website examples from the grammar rules and listening.
Colour: blue = WHO. In the present and future WHO is at the START (أَـ / أُـ = I); in the past WHO moves to the END (ـتُ = I). Teal = the time marker (سَـ = will · كُنْتُ قَدْ = had).
• CORE: rows 1–2 (now and later). • DEVELOP: add row 3. • STRETCH: all four.
Website teaching point: “Present أَحْجِزُ، past حَجَزْتُ، future سَأَحْجِزُ، past perfect كُنْتُ قَدْ حَجَزْتُ.”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instructions (imperatives), the Topic C grammar focus for reading forms and messages. These are teacher-made from website verbs: يَحْجِزُ، يُجَدِّدُ (أُجَدِّدُ جَوَازَ سَفَرِي), يُسَجِّلُ الوُصُولَ, يَشْتَرِي (أَشْتَرِي تَأْمِينَ سَفَرٍ), and the common instruction verbs أَحْضِرْ / اِقْرَأْ.
Rule of thumb for Core: an instruction has NO person letter at the start and a sukūn at the end — “Do it!”. Examples on forms: أَحْضِرْ جَوَازَ سَفَرِكَ · اِحْجِزْ مُبَكِّرًا · سَجِّلِ الوُصُولَ إِلِكْتْرُونِيًّا.
Stretch: notice the vowel before the root: اِحْجِزْ / اِقْرَأْ / اِشْتَرِ (i-) vs أَحْضِرْ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reading documents. Card 1 is the website rule “يُقِيمُ فِي” (website example). Cards 2–3 are the Topic C focus (imperatives; passive) as it appears in real messages — teacher-made examples used in today’s booking confirmation.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relative pronouns (Topic C grammar focus; FLEX — Develop / Stretch). Teacher-made phrases from website language: listening (جَدَّدْتُ جَوَازَ سَفَرِي · التَّأْشِيرَةُ فَقَدْ حَصَلْتُ عَلَيْهَا إِلِكْتْرُونِيًّا) and the website game (تُؤَكِّدُ الرِّسَالَةُ … المَوْعِدَ).
Stretch: notice the “it” pronoun at the end (ـهُ / عَلَيْهَا) — TC-L06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present/past/future, past perfect, Type 1 (إِذَا حَجَزْتَ … سَـ) and Type 2 (لَوْ حَجَزْتُ … لَـ) with يُقِيمُ فِي. Website overview: “يَحْجِزُ and يُقِيمُ conjugated across the present, past, future, past perfect and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plan into their books.
Step 1 — “Later → سَـ: سَأَحْجِزُ رِحْلَةً إِلَى مَرَّاكُشَ.”
Step 2 — “Before → past: جَدَّدْتُ. In the past the ‘I’ is at the END: ـتُ.”
Step 3 — “Stay → سَأُقِيمُ فِي — never without فِي.”
Step 4 — “An instruction for a friend: اِحْجِزْ مُبَكِّرًا! — no person letter, just ‘Do it!’.”
Built from website language: grammar example (سَأَحْجِزُ رِحْلَةً إِلَى مَرَّاكُشَ), listening (جَدَّدْتُ جَوَازَ سَفَرِي · سَأُقِيمُ فِي رِيَاضٍ تَقْلِيدِيٍّ فِي المَدِينَةِ القَدِيمَةِ), reading (أَنْصَحُ دَائِمًا بِالحَجْزِ المُبَكِّرِ).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(change the document / the place). • Develop: copy 3 with a different time. • Stretch: copy 4 and add a Type 1 conditional (website pattern: إِذَا حَجَزْتَ مُبَكِّرًا، سَتَحْصُلُ عَلَى سِعْرٍ أَرْخَصَ).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(2 min reading) — Topic C focus “Interpret messages, forms, webpages and instructions critically”, and the website application “Digital document sort … extract the key fact needed for a realistic task”.
The document is teacher-made using only website vocabulary (P3-L02 words + the website game). Read it aloud once while students follow. SEND: cover the text and uncover one line at a time; Core students use the glossary.
Point out the three “document” structures: تَمَّ حَجْزُ (has been booked), the instructions أَحْضِرْ / سَجِّلْ, and the future سَتُقِيمُ فِي.
Translation for the teacher: Booking confirmation. Thank you! Your trip to Marrakesh has been booked. Departure time: Saturday, 10 a.m. Gate: 12 · Economy class. Baggage weight: 20 kg only. You will stay in a five-star hotel near the old city. Important: bring your passport and visa, and check in online before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questions (teacher-made). Students type five letters in the chat. Core: questions 1, 2 and 5 with the key-word clues. Stretch: explain what تَمَّ حَجْزُ means and why it is useful in official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document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3,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Core prompt (teacher-made; it is the preparation question): “Which documents do you need to travel?” — answered with the Core stem, e.g. أَحْتَاجُ إِلَى جَوَازِ سَفَرٍ وَتَذْكِرَةٍ.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future verbs with سَـ and the places after فِي; Stretch find both conditionals.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(TC-L08 · Buildings, Services and Urban Areas) will spend class time USING this language, so students prepare it tonight — short, simple, easy to access (school guidance: “Simple, Short, Interesting, Relevant, Easy to access”). The five words come from the website lesson game “Town Map” and the Topic C “Towns, Buildings, Services &amp; Shopping”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Documents, Texts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الوَثَائِقُ وَالنُّصُوصُ وَالمَعْلُومَاتُ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messages, forms and instructions: travel documents, booking and staying in every tense (</a:t>
            </a:r>
            <a:pPr algn="l" indent="0" marL="0">
              <a:buNone/>
            </a:pPr>
            <a:r>
              <a:rPr lang="ar-SA" altLang="en-US" sz="1800" dirty="0">
                <a:solidFill>
                  <a:srgbClr val="C6D2E6"/>
                </a:solidFill>
                <a:latin typeface="Amiri" pitchFamily="2" charset="-78"/>
                <a:cs typeface="Amiri" pitchFamily="2" charset="-78"/>
              </a:rPr>
              <a:t>أَحْجِزُ</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حَجَزْتُ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سَأَحْجِزُ</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أُقِيمُ فِي</a:t>
            </a:r>
            <a:pPr algn="l" indent="0" marL="0">
              <a:buNone/>
            </a:pPr>
            <a:r>
              <a:rPr lang="en-US" sz="1400" dirty="0">
                <a:solidFill>
                  <a:srgbClr val="C6D2E6"/>
                </a:solidFill>
                <a:latin typeface="Calibri" pitchFamily="34" charset="0"/>
                <a:cs typeface="Amiri" pitchFamily="2" charset="-78"/>
              </a:rPr>
              <a:t>) and the instructions found on forms (</a:t>
            </a:r>
            <a:pPr algn="l" indent="0" marL="0">
              <a:buNone/>
            </a:pPr>
            <a:r>
              <a:rPr lang="ar-SA" altLang="en-US" sz="1800" dirty="0">
                <a:solidFill>
                  <a:srgbClr val="C6D2E6"/>
                </a:solidFill>
                <a:latin typeface="Amiri" pitchFamily="2" charset="-78"/>
                <a:cs typeface="Amiri" pitchFamily="2" charset="-78"/>
              </a:rPr>
              <a:t>أَحْضِرْ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سَجِّلْ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TC-L07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Document words, then book / stay in every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read a document,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“passport”?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جَوَازُ سَفَرٍ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ticket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أَتَفَاعَلُ عَلَى المُعَلِّمِ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أَتَفَاعَلُ عَنِ المُعَلِّمِ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أَتَفَاعَلُ مَعَ المُعَلِّمِ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 must”?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send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sends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“passport”?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تَذْكِرَةٌ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جَوَازُ سَفَرٍ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جَوَازُ سَفَرٍ</a:t>
            </a:r>
            <a:pPr algn="l" indent="0" marL="0">
              <a:buNone/>
            </a:pPr>
            <a:r>
              <a:rPr lang="en-US" sz="1050" i="1" dirty="0">
                <a:solidFill>
                  <a:srgbClr val="8A6D1E"/>
                </a:solidFill>
                <a:latin typeface="Calibri" pitchFamily="34" charset="0"/>
                <a:cs typeface="Amiri" pitchFamily="2" charset="-78"/>
              </a:rPr>
              <a:t> = passport · </a:t>
            </a:r>
            <a:pPr algn="l" indent="0" marL="0">
              <a:buNone/>
            </a:pPr>
            <a:r>
              <a:rPr lang="ar-SA" altLang="en-US" sz="1350" dirty="0">
                <a:solidFill>
                  <a:srgbClr val="8A6D1E"/>
                </a:solidFill>
                <a:latin typeface="Amiri" pitchFamily="2" charset="-78"/>
                <a:cs typeface="Amiri" pitchFamily="2" charset="-78"/>
              </a:rPr>
              <a:t>تَذْكِرَةٌ</a:t>
            </a:r>
            <a:pPr algn="l" indent="0" marL="0">
              <a:buNone/>
            </a:pPr>
            <a:r>
              <a:rPr lang="en-US" sz="1050" i="1" dirty="0">
                <a:solidFill>
                  <a:srgbClr val="8A6D1E"/>
                </a:solidFill>
                <a:latin typeface="Calibri" pitchFamily="34" charset="0"/>
                <a:cs typeface="Amiri" pitchFamily="2" charset="-78"/>
              </a:rPr>
              <a:t> = ticket · </a:t>
            </a:r>
            <a:pPr algn="l" indent="0" marL="0">
              <a:buNone/>
            </a:pPr>
            <a:r>
              <a:rPr lang="ar-SA" altLang="en-US" sz="1350" dirty="0">
                <a:solidFill>
                  <a:srgbClr val="8A6D1E"/>
                </a:solidFill>
                <a:latin typeface="Amiri" pitchFamily="2" charset="-78"/>
                <a:cs typeface="Amiri" pitchFamily="2" charset="-78"/>
              </a:rPr>
              <a:t>حَجْزٌ</a:t>
            </a:r>
            <a:pPr algn="l" indent="0" marL="0">
              <a:buNone/>
            </a:pPr>
            <a:r>
              <a:rPr lang="en-US" sz="1050" i="1" dirty="0">
                <a:solidFill>
                  <a:srgbClr val="8A6D1E"/>
                </a:solidFill>
                <a:latin typeface="Calibri" pitchFamily="34" charset="0"/>
                <a:cs typeface="Amiri" pitchFamily="2" charset="-78"/>
              </a:rPr>
              <a:t> = booking.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ticket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مَوْعِدٌ</a:t>
            </a:r>
            <a:pPr algn="l" indent="0" marL="0">
              <a:buNone/>
            </a:pPr>
            <a:r>
              <a:rPr lang="en-US" sz="1050" i="1" dirty="0">
                <a:solidFill>
                  <a:srgbClr val="8A6D1E"/>
                </a:solidFill>
                <a:latin typeface="Calibri" pitchFamily="34" charset="0"/>
                <a:cs typeface="Amiri" pitchFamily="2" charset="-78"/>
              </a:rPr>
              <a:t> = appointment, time.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أَتَفَاعَلُ عَلَى المُعَلِّمِ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أَتَفَاعَلُ عَنِ المُعَلِّمِ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أَتَفَاعَلُ مَعَ المُعَلِّمِ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TC-L06: </a:t>
            </a:r>
            <a:pPr algn="l" indent="0" marL="0">
              <a:buNone/>
            </a:pPr>
            <a:r>
              <a:rPr lang="ar-SA" altLang="en-US" sz="1350" dirty="0">
                <a:solidFill>
                  <a:srgbClr val="8A6D1E"/>
                </a:solidFill>
                <a:latin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always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 must”?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TC-L05: </a:t>
            </a:r>
            <a:pPr algn="l" indent="0" marL="0">
              <a:buNone/>
            </a:pPr>
            <a:r>
              <a:rPr lang="ar-SA" altLang="en-US" sz="1350" dirty="0">
                <a:solidFill>
                  <a:srgbClr val="8A6D1E"/>
                </a:solidFill>
                <a:latin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 verb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send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sends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TC-L06: </a:t>
            </a:r>
            <a:pPr algn="l" indent="0" marL="0">
              <a:buNone/>
            </a:pPr>
            <a:r>
              <a:rPr lang="ar-SA" altLang="en-US" sz="1350" dirty="0">
                <a:solidFill>
                  <a:srgbClr val="8A6D1E"/>
                </a:solidFill>
                <a:latin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verb shows TIME: before (</a:t>
            </a:r>
            <a:pPr algn="l" indent="0" marL="0">
              <a:buNone/>
            </a:pPr>
            <a:r>
              <a:rPr lang="ar-SA" altLang="en-US" sz="1700" b="1" dirty="0">
                <a:solidFill>
                  <a:srgbClr val="1F2A37"/>
                </a:solidFill>
                <a:latin typeface="Amiri" pitchFamily="2" charset="-78"/>
                <a:cs typeface="Amiri" pitchFamily="2" charset="-78"/>
              </a:rPr>
              <a:t>حَجَزْتُ</a:t>
            </a:r>
            <a:pPr algn="l" indent="0" marL="0">
              <a:buNone/>
            </a:pPr>
            <a:r>
              <a:rPr lang="en-US" sz="1300" b="1" dirty="0">
                <a:solidFill>
                  <a:srgbClr val="1F2A37"/>
                </a:solidFill>
                <a:latin typeface="Calibri" pitchFamily="34" charset="0"/>
                <a:cs typeface="Amiri" pitchFamily="2" charset="-78"/>
              </a:rPr>
              <a:t>), now (</a:t>
            </a:r>
            <a:pPr algn="l" indent="0" marL="0">
              <a:buNone/>
            </a:pPr>
            <a:r>
              <a:rPr lang="ar-SA" altLang="en-US" sz="1700" b="1" dirty="0">
                <a:solidFill>
                  <a:srgbClr val="1F2A37"/>
                </a:solidFill>
                <a:latin typeface="Amiri" pitchFamily="2" charset="-78"/>
                <a:cs typeface="Amiri" pitchFamily="2" charset="-78"/>
              </a:rPr>
              <a:t>أَحْجِزُ</a:t>
            </a:r>
            <a:pPr algn="l" indent="0" marL="0">
              <a:buNone/>
            </a:pPr>
            <a:r>
              <a:rPr lang="en-US" sz="1300" b="1" dirty="0">
                <a:solidFill>
                  <a:srgbClr val="1F2A37"/>
                </a:solidFill>
                <a:latin typeface="Calibri" pitchFamily="34" charset="0"/>
                <a:cs typeface="Amiri" pitchFamily="2" charset="-78"/>
              </a:rPr>
              <a:t>), later (</a:t>
            </a:r>
            <a:pPr algn="l" indent="0" marL="0">
              <a:buNone/>
            </a:pPr>
            <a:r>
              <a:rPr lang="ar-SA" altLang="en-US" sz="1700" b="1" dirty="0">
                <a:solidFill>
                  <a:srgbClr val="1F2A37"/>
                </a:solidFill>
                <a:latin typeface="Amiri" pitchFamily="2" charset="-78"/>
                <a:cs typeface="Amiri" pitchFamily="2" charset="-78"/>
              </a:rPr>
              <a:t>سَأَحْجِزُ</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حَجَزْ</a:t>
            </a:r>
            <a:pPr rtl="1" algn="ctr" indent="0" marL="0">
              <a:buNone/>
            </a:pPr>
            <a:r>
              <a:rPr lang="ar-SA" altLang="en-US" sz="2400" b="1" dirty="0">
                <a:solidFill>
                  <a:srgbClr val="1D5FBF"/>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حْجِزُ  ·  </a:t>
            </a:r>
            <a:pPr rtl="1" algn="ctr" indent="0" marL="0">
              <a:buNone/>
            </a:pPr>
            <a:r>
              <a:rPr lang="ar-SA" altLang="en-US" sz="2400" b="1" dirty="0">
                <a:solidFill>
                  <a:srgbClr val="0E7C86"/>
                </a:solidFill>
                <a:latin typeface="Amiri" pitchFamily="2" charset="-78"/>
                <a:cs typeface="Amiri" pitchFamily="2" charset="-78"/>
              </a:rPr>
              <a:t>سَ</a:t>
            </a:r>
            <a:pPr rtl="1" algn="ctr" indent="0" marL="0">
              <a:buNone/>
            </a:pPr>
            <a:r>
              <a:rPr lang="ar-SA" altLang="en-US" sz="2400" b="1" dirty="0">
                <a:solidFill>
                  <a:srgbClr val="1B3B6F"/>
                </a:solidFill>
                <a:latin typeface="Amiri" pitchFamily="2" charset="-78"/>
                <a:cs typeface="Amiri" pitchFamily="2" charset="-78"/>
              </a:rPr>
              <a:t>أَحْجِزُ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يَحْجِزُ</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يُقِيمُ</a:t>
            </a:r>
            <a:pPr algn="l" indent="0" marL="0">
              <a:buNone/>
            </a:pPr>
            <a:r>
              <a:rPr lang="en-US" sz="1300" dirty="0">
                <a:solidFill>
                  <a:srgbClr val="1F2A37"/>
                </a:solidFill>
                <a:latin typeface="Calibri" pitchFamily="34" charset="0"/>
                <a:cs typeface="Amiri" pitchFamily="2" charset="-78"/>
              </a:rPr>
              <a:t>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day-by-day itinerary integrating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travel documents and read a booking message for key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t>
            </a:r>
            <a:pPr algn="l" indent="0" marL="0">
              <a:buNone/>
            </a:pPr>
            <a:r>
              <a:rPr lang="ar-SA" altLang="en-US" sz="1700" b="1" dirty="0">
                <a:solidFill>
                  <a:srgbClr val="2E8B57"/>
                </a:solidFill>
                <a:latin typeface="Amiri" pitchFamily="2" charset="-78"/>
                <a:cs typeface="Amiri" pitchFamily="2" charset="-78"/>
              </a:rPr>
              <a:t>أَحْجِزُ / سَأَحْجِزُ</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cs typeface="Amiri" pitchFamily="2" charset="-78"/>
              </a:rPr>
              <a:t>أُقِيمُ فِي / سَأُقِيمُ فِي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past and past perfect: </a:t>
            </a:r>
            <a:pPr algn="l" indent="0" marL="0">
              <a:buNone/>
            </a:pPr>
            <a:r>
              <a:rPr lang="ar-SA" altLang="en-US" sz="1700" b="1" dirty="0">
                <a:solidFill>
                  <a:srgbClr val="C9780A"/>
                </a:solidFill>
                <a:latin typeface="Amiri" pitchFamily="2" charset="-78"/>
                <a:cs typeface="Amiri" pitchFamily="2" charset="-78"/>
              </a:rPr>
              <a:t>حَجَزْتُ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كُنْتُ قَدْ حَجَزْتُ</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understand instructions on a form: </a:t>
            </a:r>
            <a:pPr algn="l" indent="0" marL="0">
              <a:buNone/>
            </a:pPr>
            <a:r>
              <a:rPr lang="ar-SA" altLang="en-US" sz="1700" b="1" dirty="0">
                <a:solidFill>
                  <a:srgbClr val="C9780A"/>
                </a:solidFill>
                <a:latin typeface="Amiri" pitchFamily="2" charset="-78"/>
                <a:cs typeface="Amiri" pitchFamily="2" charset="-78"/>
              </a:rPr>
              <a:t>أَحْضِرْ</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سَجِّلْ</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both conditionals with </a:t>
            </a:r>
            <a:pPr algn="l" indent="0" marL="0">
              <a:buNone/>
            </a:pPr>
            <a:r>
              <a:rPr lang="ar-SA" altLang="en-US" sz="1700" b="1" dirty="0">
                <a:solidFill>
                  <a:srgbClr val="B83227"/>
                </a:solidFill>
                <a:latin typeface="Amiri" pitchFamily="2" charset="-78"/>
                <a:cs typeface="Amiri" pitchFamily="2" charset="-78"/>
              </a:rPr>
              <a:t>يَحْجِزُ</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100–110-word itinerary.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Documents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At the airport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Two verbs, four times · 8</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Instructions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مُسَافِرٌ</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traveller</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جَدْوَلٌ</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‎جدول‎ </a:t>
            </a:r>
            <a:pPr indent="0" marL="0">
              <a:buNone/>
            </a:pPr>
            <a:r>
              <a:rPr lang="en-US" sz="950" b="1" dirty="0">
                <a:solidFill>
                  <a:srgbClr val="2E8B57"/>
                </a:solidFill>
                <a:latin typeface="Calibri" pitchFamily="34" charset="0"/>
                <a:cs typeface="Amiri" pitchFamily="2" charset="-78"/>
              </a:rPr>
              <a:t> jadwal · table, schedule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وَزْنٌ</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‎وزن‎ </a:t>
            </a:r>
            <a:pPr indent="0" marL="0">
              <a:buNone/>
            </a:pPr>
            <a:r>
              <a:rPr lang="en-US" sz="950" b="1" dirty="0">
                <a:solidFill>
                  <a:srgbClr val="2E8B57"/>
                </a:solidFill>
                <a:latin typeface="Calibri" pitchFamily="34" charset="0"/>
                <a:cs typeface="Amiri" pitchFamily="2" charset="-78"/>
              </a:rPr>
              <a:t> wazn · weight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duration</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documents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وَثَائِقُ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جَوَازُ سَفَرٍ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sa-far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permit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جَوَازٌ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travel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سَفَرٌ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تَأْشِيرَةٌ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visa</a:t>
            </a:r>
            <a:endParaRPr lang="en-US" sz="1350" dirty="0"/>
          </a:p>
          <a:p>
            <a:pPr indent="0" marL="0">
              <a:buNone/>
            </a:pPr>
            <a:r>
              <a:rPr lang="en-US" sz="1100" i="1" dirty="0">
                <a:solidFill>
                  <a:srgbClr val="5A6472"/>
                </a:solidFill>
                <a:latin typeface="Calibri" pitchFamily="34" charset="0"/>
                <a:cs typeface="Amiri" pitchFamily="2" charset="-78"/>
              </a:rPr>
              <a:t>taʾ-shī-ra · pl. taʾ-shī-rāt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تَأْشِيرَةٌ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تَأْشِيرَاتٌ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تَذْكِرَةٌ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 · pl. ta-dhā-kir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تَذْكِرَةٌ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تَذَاكِرُ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حَجْزٌ</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booking</a:t>
            </a:r>
            <a:endParaRPr lang="en-US" sz="1350" dirty="0"/>
          </a:p>
          <a:p>
            <a:pPr indent="0" marL="0">
              <a:buNone/>
            </a:pPr>
            <a:r>
              <a:rPr lang="en-US" sz="1100" i="1" dirty="0">
                <a:solidFill>
                  <a:srgbClr val="5A6472"/>
                </a:solidFill>
                <a:latin typeface="Calibri" pitchFamily="34" charset="0"/>
                <a:cs typeface="Amiri" pitchFamily="2" charset="-78"/>
              </a:rPr>
              <a:t>ḥajz</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Verb: </a:t>
            </a:r>
            <a:pPr algn="l" indent="0" marL="0">
              <a:buNone/>
            </a:pPr>
            <a:r>
              <a:rPr lang="ar-SA" altLang="en-US" sz="1300" dirty="0">
                <a:solidFill>
                  <a:srgbClr val="8A6D1E"/>
                </a:solidFill>
                <a:latin typeface="Amiri" pitchFamily="2" charset="-78"/>
                <a:cs typeface="Amiri" pitchFamily="2" charset="-78"/>
              </a:rPr>
              <a:t>يَحْجِزُ</a:t>
            </a:r>
            <a:pPr algn="l" indent="0" marL="0">
              <a:buNone/>
            </a:pPr>
            <a:r>
              <a:rPr lang="en-US" sz="1000" i="1" dirty="0">
                <a:solidFill>
                  <a:srgbClr val="8A6D1E"/>
                </a:solidFill>
                <a:latin typeface="Calibri" pitchFamily="34" charset="0"/>
                <a:cs typeface="Amiri" pitchFamily="2" charset="-78"/>
              </a:rPr>
              <a:t> = books.</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تَأْمِينُ سَفَرٍ</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insurance</a:t>
            </a:r>
            <a:endParaRPr lang="en-US" sz="1350" dirty="0"/>
          </a:p>
          <a:p>
            <a:pPr indent="0" marL="0">
              <a:buNone/>
            </a:pPr>
            <a:r>
              <a:rPr lang="en-US" sz="1100" i="1" dirty="0">
                <a:solidFill>
                  <a:srgbClr val="5A6472"/>
                </a:solidFill>
                <a:latin typeface="Calibri" pitchFamily="34" charset="0"/>
                <a:cs typeface="Amiri" pitchFamily="2" charset="-78"/>
              </a:rPr>
              <a:t>taʾ-mī-nu sa-far</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جَدْوَلُ رِحْلَةٍ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itinerary</a:t>
            </a:r>
            <a:endParaRPr lang="en-US" sz="1350" dirty="0"/>
          </a:p>
          <a:p>
            <a:pPr indent="0" marL="0">
              <a:buNone/>
            </a:pPr>
            <a:r>
              <a:rPr lang="en-US" sz="1100" i="1" dirty="0">
                <a:solidFill>
                  <a:srgbClr val="5A6472"/>
                </a:solidFill>
                <a:latin typeface="Calibri" pitchFamily="34" charset="0"/>
                <a:cs typeface="Amiri" pitchFamily="2" charset="-78"/>
              </a:rPr>
              <a:t>jad-wa-lu riḥ-la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table</a:t>
            </a:r>
            <a:endParaRPr lang="en-US" sz="700" dirty="0"/>
          </a:p>
        </p:txBody>
      </p:sp>
      <p:sp>
        <p:nvSpPr>
          <p:cNvPr id="90" name="Text 87"/>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جَدْوَلٌ</a:t>
            </a:r>
            <a:endParaRPr lang="ar-SA" sz="135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trip</a:t>
            </a:r>
            <a:endParaRPr lang="en-US" sz="700" dirty="0"/>
          </a:p>
        </p:txBody>
      </p:sp>
      <p:sp>
        <p:nvSpPr>
          <p:cNvPr id="93" name="Text 9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رِحْلَةٌ</a:t>
            </a:r>
            <a:endParaRPr lang="ar-SA" sz="1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airport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المَطَارِ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تَسْجِيلُ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check-in</a:t>
            </a:r>
            <a:endParaRPr lang="en-US" sz="1350" dirty="0"/>
          </a:p>
          <a:p>
            <a:pPr indent="0" marL="0">
              <a:buNone/>
            </a:pPr>
            <a:r>
              <a:rPr lang="en-US" sz="1100" i="1" dirty="0">
                <a:solidFill>
                  <a:srgbClr val="5A6472"/>
                </a:solidFill>
                <a:latin typeface="Calibri" pitchFamily="34" charset="0"/>
                <a:cs typeface="Amiri" pitchFamily="2" charset="-78"/>
              </a:rPr>
              <a:t>tas-jī-lu l-wu-ṣūl</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البَوَّابَةُ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gate</a:t>
            </a:r>
            <a:endParaRPr lang="en-US" sz="1350" dirty="0"/>
          </a:p>
          <a:p>
            <a:pPr indent="0" marL="0">
              <a:buNone/>
            </a:pPr>
            <a:r>
              <a:rPr lang="en-US" sz="1100" i="1" dirty="0">
                <a:solidFill>
                  <a:srgbClr val="5A6472"/>
                </a:solidFill>
                <a:latin typeface="Calibri" pitchFamily="34" charset="0"/>
                <a:cs typeface="Amiri" pitchFamily="2" charset="-78"/>
              </a:rPr>
              <a:t>al-baw-wā-ba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وَزْنُ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baggage weight</a:t>
            </a:r>
            <a:endParaRPr lang="en-US" sz="1350" dirty="0"/>
          </a:p>
          <a:p>
            <a:pPr indent="0" marL="0">
              <a:buNone/>
            </a:pPr>
            <a:r>
              <a:rPr lang="en-US" sz="1100" i="1" dirty="0">
                <a:solidFill>
                  <a:srgbClr val="5A6472"/>
                </a:solidFill>
                <a:latin typeface="Calibri" pitchFamily="34" charset="0"/>
                <a:cs typeface="Amiri" pitchFamily="2" charset="-78"/>
              </a:rPr>
              <a:t>waz-nu l-am-ti-ʿa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صَالَةُ المُغَادَرَةِ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lounge</a:t>
            </a:r>
            <a:endParaRPr lang="en-US" sz="1350" dirty="0"/>
          </a:p>
          <a:p>
            <a:pPr indent="0" marL="0">
              <a:buNone/>
            </a:pPr>
            <a:r>
              <a:rPr lang="en-US" sz="1100" i="1" dirty="0">
                <a:solidFill>
                  <a:srgbClr val="5A6472"/>
                </a:solidFill>
                <a:latin typeface="Calibri" pitchFamily="34" charset="0"/>
                <a:cs typeface="Amiri" pitchFamily="2" charset="-78"/>
              </a:rPr>
              <a:t>ṣā-la-tu l-mu-ghā-da-ra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صَالَةُ الوُصُولِ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arrivals hall</a:t>
            </a:r>
            <a:endParaRPr lang="en-US" sz="1350" dirty="0"/>
          </a:p>
          <a:p>
            <a:pPr indent="0" marL="0">
              <a:buNone/>
            </a:pPr>
            <a:r>
              <a:rPr lang="en-US" sz="1100" i="1" dirty="0">
                <a:solidFill>
                  <a:srgbClr val="5A6472"/>
                </a:solidFill>
                <a:latin typeface="Calibri" pitchFamily="34" charset="0"/>
                <a:cs typeface="Amiri" pitchFamily="2" charset="-78"/>
              </a:rPr>
              <a:t>ṣā-la-tu l-wu-ṣūl</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الدَّرَجَةُ </a:t>
            </a:r>
            <a:pPr rtl="1" algn="r" indent="0" marL="0">
              <a:buNone/>
            </a:pPr>
            <a:r>
              <a:rPr lang="ar-SA" altLang="en-US" sz="3000" b="1" dirty="0">
                <a:solidFill>
                  <a:srgbClr val="7B3FA0"/>
                </a:solidFill>
                <a:latin typeface="Amiri" pitchFamily="2" charset="-78"/>
                <a:cs typeface="Amiri" pitchFamily="2" charset="-78"/>
              </a:rPr>
              <a:t>الاِقْتِصَادِ</a:t>
            </a:r>
            <a:pPr rtl="1" algn="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economy class</a:t>
            </a:r>
            <a:endParaRPr lang="en-US" sz="1350" dirty="0"/>
          </a:p>
          <a:p>
            <a:pPr indent="0" marL="0">
              <a:buNone/>
            </a:pPr>
            <a:r>
              <a:rPr lang="en-US" sz="1100" i="1" dirty="0">
                <a:solidFill>
                  <a:srgbClr val="5A6472"/>
                </a:solidFill>
                <a:latin typeface="Calibri" pitchFamily="34" charset="0"/>
                <a:cs typeface="Amiri" pitchFamily="2" charset="-78"/>
              </a:rPr>
              <a:t>ad-da-ra-ja l-iq-ti-ṣā-diy-ya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Staying somewhere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الإِقَامَةُ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فِي</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يُقِيمُ </a:t>
            </a:r>
            <a:pPr rtl="1" algn="r" indent="0" marL="0">
              <a:buNone/>
            </a:pPr>
            <a:r>
              <a:rPr lang="ar-SA" altLang="en-US" sz="3000" b="1" dirty="0">
                <a:solidFill>
                  <a:srgbClr val="0E7C86"/>
                </a:solidFill>
                <a:latin typeface="Amiri" pitchFamily="2" charset="-78"/>
                <a:cs typeface="Amiri" pitchFamily="2" charset="-78"/>
              </a:rPr>
              <a:t>فِي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 at</a:t>
            </a:r>
            <a:endParaRPr lang="en-US" sz="1350" dirty="0"/>
          </a:p>
          <a:p>
            <a:pPr indent="0" marL="0">
              <a:buNone/>
            </a:pPr>
            <a:r>
              <a:rPr lang="en-US" sz="1100" i="1" dirty="0">
                <a:solidFill>
                  <a:srgbClr val="5A6472"/>
                </a:solidFill>
                <a:latin typeface="Calibri" pitchFamily="34" charset="0"/>
                <a:cs typeface="Amiri" pitchFamily="2" charset="-78"/>
              </a:rPr>
              <a:t>yu-qī-mu fī</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Fixed with </a:t>
            </a:r>
            <a:pPr algn="l" indent="0" marL="0">
              <a:buNone/>
            </a:pPr>
            <a:r>
              <a:rPr lang="ar-SA" altLang="en-US" sz="1300" dirty="0">
                <a:solidFill>
                  <a:srgbClr val="8A6D1E"/>
                </a:solidFill>
                <a:latin typeface="Amiri" pitchFamily="2" charset="-78"/>
                <a:cs typeface="Amiri" pitchFamily="2" charset="-78"/>
              </a:rPr>
              <a:t>فِي</a:t>
            </a:r>
            <a:pPr algn="l" indent="0" marL="0">
              <a:buNone/>
            </a:pPr>
            <a:r>
              <a:rPr lang="en-US" sz="1000" i="1" dirty="0">
                <a:solidFill>
                  <a:srgbClr val="8A6D1E"/>
                </a:solidFill>
                <a:latin typeface="Calibri" pitchFamily="34" charset="0"/>
                <a:cs typeface="Amiri" pitchFamily="2" charset="-78"/>
              </a:rPr>
              <a:t> (website).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فُنْدُقٌ</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hotel</a:t>
            </a:r>
            <a:endParaRPr lang="en-US" sz="1350" dirty="0"/>
          </a:p>
          <a:p>
            <a:pPr indent="0" marL="0">
              <a:buNone/>
            </a:pPr>
            <a:r>
              <a:rPr lang="en-US" sz="1100" i="1" dirty="0">
                <a:solidFill>
                  <a:srgbClr val="5A6472"/>
                </a:solidFill>
                <a:latin typeface="Calibri" pitchFamily="34" charset="0"/>
                <a:cs typeface="Amiri" pitchFamily="2" charset="-78"/>
              </a:rPr>
              <a:t>fun-duq · pl. fa-nā-diq</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فُنْدُقٌ</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فَنَادِقُ</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شَقَّةٌ مَفْرُوشَةٌ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furnished apartment</a:t>
            </a:r>
            <a:endParaRPr lang="en-US" sz="1350" dirty="0"/>
          </a:p>
          <a:p>
            <a:pPr indent="0" marL="0">
              <a:buNone/>
            </a:pPr>
            <a:r>
              <a:rPr lang="en-US" sz="1100" i="1" dirty="0">
                <a:solidFill>
                  <a:srgbClr val="5A6472"/>
                </a:solidFill>
                <a:latin typeface="Calibri" pitchFamily="34" charset="0"/>
                <a:cs typeface="Amiri" pitchFamily="2" charset="-78"/>
              </a:rPr>
              <a:t>shaq-qa maf-rū-sha</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شَقَّةٌ</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شُقَقٌ</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رِيَاضٌ </a:t>
            </a:r>
            <a:pPr rtl="1" algn="r" indent="0" marL="0">
              <a:buNone/>
            </a:pPr>
            <a:r>
              <a:rPr lang="ar-SA" altLang="en-US" sz="3000" b="1" dirty="0">
                <a:solidFill>
                  <a:srgbClr val="7B3FA0"/>
                </a:solidFill>
                <a:latin typeface="Amiri" pitchFamily="2" charset="-78"/>
                <a:cs typeface="Amiri" pitchFamily="2" charset="-78"/>
              </a:rPr>
              <a:t>تَقْلِيدِ</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traditional riad (house)</a:t>
            </a:r>
            <a:endParaRPr lang="en-US" sz="1350" dirty="0"/>
          </a:p>
          <a:p>
            <a:pPr indent="0" marL="0">
              <a:buNone/>
            </a:pPr>
            <a:r>
              <a:rPr lang="en-US" sz="1100" i="1" dirty="0">
                <a:solidFill>
                  <a:srgbClr val="5A6472"/>
                </a:solidFill>
                <a:latin typeface="Calibri" pitchFamily="34" charset="0"/>
                <a:cs typeface="Amiri" pitchFamily="2" charset="-78"/>
              </a:rPr>
              <a:t>ri-yāḍ taq-lī-diyy</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Moroccan courtyard house (listening).</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القِيَامِ</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time</a:t>
            </a:r>
            <a:endParaRPr lang="en-US" sz="1350" dirty="0"/>
          </a:p>
          <a:p>
            <a:pPr indent="0" marL="0">
              <a:buNone/>
            </a:pPr>
            <a:r>
              <a:rPr lang="en-US" sz="1100" i="1" dirty="0">
                <a:solidFill>
                  <a:srgbClr val="5A6472"/>
                </a:solidFill>
                <a:latin typeface="Calibri" pitchFamily="34" charset="0"/>
                <a:cs typeface="Amiri" pitchFamily="2" charset="-78"/>
              </a:rPr>
              <a:t>maw-ʿi-du l-qi-yām</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مُدَّةُ الرِّحْلَةِ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journey duration</a:t>
            </a:r>
            <a:endParaRPr lang="en-US" sz="1350" dirty="0"/>
          </a:p>
          <a:p>
            <a:pPr indent="0" marL="0">
              <a:buNone/>
            </a:pPr>
            <a:r>
              <a:rPr lang="en-US" sz="1100" i="1" dirty="0">
                <a:solidFill>
                  <a:srgbClr val="5A6472"/>
                </a:solidFill>
                <a:latin typeface="Calibri" pitchFamily="34" charset="0"/>
                <a:cs typeface="Amiri" pitchFamily="2" charset="-78"/>
              </a:rPr>
              <a:t>mud-da-tu r-riḥ-la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GRAMMAR PART 1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verbs,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فِعْلَانِ فِي أَرْبَعَةِ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8671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يَحْجِزُ</a:t>
            </a:r>
            <a:pPr algn="ctr" indent="0" marL="0">
              <a:buNone/>
            </a:pPr>
            <a:r>
              <a:rPr lang="en-US" sz="1100" b="1" dirty="0">
                <a:solidFill>
                  <a:srgbClr val="FFFFFF"/>
                </a:solidFill>
                <a:latin typeface="Calibri" pitchFamily="34" charset="0"/>
                <a:cs typeface="Amiri" pitchFamily="2" charset="-78"/>
              </a:rPr>
              <a:t> · book</a:t>
            </a:r>
            <a:endParaRPr lang="en-US" sz="1100" dirty="0"/>
          </a:p>
        </p:txBody>
      </p:sp>
      <p:sp>
        <p:nvSpPr>
          <p:cNvPr id="18" name="Text 15"/>
          <p:cNvSpPr txBox="1"/>
          <p:nvPr/>
        </p:nvSpPr>
        <p:spPr>
          <a:xfrm>
            <a:off x="41239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يُقِيمُ فِي</a:t>
            </a:r>
            <a:pPr algn="ctr" indent="0" marL="0">
              <a:buNone/>
            </a:pPr>
            <a:r>
              <a:rPr lang="en-US" sz="1100" b="1" dirty="0">
                <a:solidFill>
                  <a:srgbClr val="FFFFFF"/>
                </a:solidFill>
                <a:latin typeface="Calibri" pitchFamily="34" charset="0"/>
                <a:cs typeface="Amiri" pitchFamily="2" charset="-78"/>
              </a:rPr>
              <a:t> · stay at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(present)</a:t>
            </a:r>
            <a:endParaRPr lang="en-US" sz="1100" dirty="0"/>
          </a:p>
        </p:txBody>
      </p:sp>
      <p:sp>
        <p:nvSpPr>
          <p:cNvPr id="22" name="Text 19"/>
          <p:cNvSpPr txBox="1"/>
          <p:nvPr/>
        </p:nvSpPr>
        <p:spPr>
          <a:xfrm>
            <a:off x="68854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7B3FA0"/>
                </a:solidFill>
                <a:latin typeface="Amiri" pitchFamily="2" charset="-78"/>
                <a:cs typeface="Amiri" pitchFamily="2" charset="-78"/>
              </a:rPr>
              <a:t>حْجِزُ</a:t>
            </a:r>
            <a:endParaRPr lang="ar-SA" sz="2100" dirty="0"/>
          </a:p>
        </p:txBody>
      </p:sp>
      <p:sp>
        <p:nvSpPr>
          <p:cNvPr id="23" name="Text 20"/>
          <p:cNvSpPr txBox="1"/>
          <p:nvPr/>
        </p:nvSpPr>
        <p:spPr>
          <a:xfrm>
            <a:off x="68397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aḥ-ji-zu · I book</a:t>
            </a:r>
            <a:endParaRPr lang="en-US" sz="950" dirty="0"/>
          </a:p>
        </p:txBody>
      </p:sp>
      <p:sp>
        <p:nvSpPr>
          <p:cNvPr id="24" name="Text 21"/>
          <p:cNvSpPr txBox="1"/>
          <p:nvPr/>
        </p:nvSpPr>
        <p:spPr>
          <a:xfrm>
            <a:off x="41422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7B3FA0"/>
                </a:solidFill>
                <a:latin typeface="Amiri" pitchFamily="2" charset="-78"/>
                <a:cs typeface="Amiri" pitchFamily="2" charset="-78"/>
              </a:rPr>
              <a:t>قِيمُ</a:t>
            </a:r>
            <a:pPr rtl="1" algn="ctr" indent="0" marL="0">
              <a:buNone/>
            </a:pPr>
            <a:r>
              <a:rPr lang="ar-SA" altLang="en-US" sz="2100" b="1" dirty="0">
                <a:solidFill>
                  <a:srgbClr val="1B3B6F"/>
                </a:solidFill>
                <a:latin typeface="Amiri" pitchFamily="2" charset="-78"/>
                <a:cs typeface="Amiri" pitchFamily="2" charset="-78"/>
              </a:rPr>
              <a:t> فِي</a:t>
            </a:r>
            <a:endParaRPr lang="ar-SA" sz="2100" dirty="0"/>
          </a:p>
        </p:txBody>
      </p:sp>
      <p:sp>
        <p:nvSpPr>
          <p:cNvPr id="25" name="Text 22"/>
          <p:cNvSpPr txBox="1"/>
          <p:nvPr/>
        </p:nvSpPr>
        <p:spPr>
          <a:xfrm>
            <a:off x="40965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u-qī-mu fī · I stay</a:t>
            </a:r>
            <a:endParaRPr lang="en-US" sz="950" dirty="0"/>
          </a:p>
        </p:txBody>
      </p:sp>
      <p:sp>
        <p:nvSpPr>
          <p:cNvPr id="26" name="Text 23"/>
          <p:cNvSpPr txBox="1"/>
          <p:nvPr/>
        </p:nvSpPr>
        <p:spPr>
          <a:xfrm>
            <a:off x="548640" y="2267712"/>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أَحْجِزُ تَذَاكِرِي مُبَكِّرًا</a:t>
            </a:r>
            <a:endParaRPr lang="ar-SA" sz="17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later (future)</a:t>
            </a:r>
            <a:endParaRPr lang="en-US" sz="1100" dirty="0"/>
          </a:p>
        </p:txBody>
      </p:sp>
      <p:sp>
        <p:nvSpPr>
          <p:cNvPr id="31" name="Text 28"/>
          <p:cNvSpPr txBox="1"/>
          <p:nvPr/>
        </p:nvSpPr>
        <p:spPr>
          <a:xfrm>
            <a:off x="68854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سَ</a:t>
            </a:r>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7B3FA0"/>
                </a:solidFill>
                <a:latin typeface="Amiri" pitchFamily="2" charset="-78"/>
                <a:cs typeface="Amiri" pitchFamily="2" charset="-78"/>
              </a:rPr>
              <a:t>حْجِزُ</a:t>
            </a:r>
            <a:endParaRPr lang="ar-SA" sz="2100" dirty="0"/>
          </a:p>
        </p:txBody>
      </p:sp>
      <p:sp>
        <p:nvSpPr>
          <p:cNvPr id="32" name="Text 29"/>
          <p:cNvSpPr txBox="1"/>
          <p:nvPr/>
        </p:nvSpPr>
        <p:spPr>
          <a:xfrm>
            <a:off x="68397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sa-ʾaḥ-ji-zu · I will book</a:t>
            </a:r>
            <a:endParaRPr lang="en-US" sz="950" dirty="0"/>
          </a:p>
        </p:txBody>
      </p:sp>
      <p:sp>
        <p:nvSpPr>
          <p:cNvPr id="33" name="Text 30"/>
          <p:cNvSpPr txBox="1"/>
          <p:nvPr/>
        </p:nvSpPr>
        <p:spPr>
          <a:xfrm>
            <a:off x="41422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سَ</a:t>
            </a:r>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7B3FA0"/>
                </a:solidFill>
                <a:latin typeface="Amiri" pitchFamily="2" charset="-78"/>
                <a:cs typeface="Amiri" pitchFamily="2" charset="-78"/>
              </a:rPr>
              <a:t>قِيمُ</a:t>
            </a:r>
            <a:pPr rtl="1" algn="ctr" indent="0" marL="0">
              <a:buNone/>
            </a:pPr>
            <a:r>
              <a:rPr lang="ar-SA" altLang="en-US" sz="2100" b="1" dirty="0">
                <a:solidFill>
                  <a:srgbClr val="1B3B6F"/>
                </a:solidFill>
                <a:latin typeface="Amiri" pitchFamily="2" charset="-78"/>
                <a:cs typeface="Amiri" pitchFamily="2" charset="-78"/>
              </a:rPr>
              <a:t> فِي</a:t>
            </a:r>
            <a:endParaRPr lang="ar-SA" sz="2100" dirty="0"/>
          </a:p>
        </p:txBody>
      </p:sp>
      <p:sp>
        <p:nvSpPr>
          <p:cNvPr id="34" name="Text 31"/>
          <p:cNvSpPr txBox="1"/>
          <p:nvPr/>
        </p:nvSpPr>
        <p:spPr>
          <a:xfrm>
            <a:off x="40965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sa-ʾu-qī-mu fī</a:t>
            </a:r>
            <a:endParaRPr lang="en-US" sz="950" dirty="0"/>
          </a:p>
        </p:txBody>
      </p:sp>
      <p:sp>
        <p:nvSpPr>
          <p:cNvPr id="35" name="Text 32"/>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سَأَحْجِزُ رِحْلَةً إِلَى مَرَّاكُشَ</a:t>
            </a:r>
            <a:endParaRPr lang="ar-SA" sz="1700" dirty="0"/>
          </a:p>
        </p:txBody>
      </p:sp>
      <p:sp>
        <p:nvSpPr>
          <p:cNvPr id="36" name="Shape 3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9" name="Text 36"/>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(past)</a:t>
            </a:r>
            <a:endParaRPr lang="en-US" sz="1100" dirty="0"/>
          </a:p>
        </p:txBody>
      </p:sp>
      <p:sp>
        <p:nvSpPr>
          <p:cNvPr id="40" name="Text 37"/>
          <p:cNvSpPr txBox="1"/>
          <p:nvPr/>
        </p:nvSpPr>
        <p:spPr>
          <a:xfrm>
            <a:off x="68854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cs typeface="Amiri" pitchFamily="2" charset="-78"/>
              </a:rPr>
              <a:t>حَجَزْ</a:t>
            </a:r>
            <a:pPr rtl="1" algn="ctr" indent="0" marL="0">
              <a:buNone/>
            </a:pPr>
            <a:r>
              <a:rPr lang="ar-SA" altLang="en-US" sz="2100" b="1" dirty="0">
                <a:solidFill>
                  <a:srgbClr val="1D5FBF"/>
                </a:solidFill>
                <a:latin typeface="Amiri" pitchFamily="2" charset="-78"/>
                <a:cs typeface="Amiri" pitchFamily="2" charset="-78"/>
              </a:rPr>
              <a:t>تُ</a:t>
            </a:r>
            <a:endParaRPr lang="ar-SA" sz="2100" dirty="0"/>
          </a:p>
        </p:txBody>
      </p:sp>
      <p:sp>
        <p:nvSpPr>
          <p:cNvPr id="41" name="Text 38"/>
          <p:cNvSpPr txBox="1"/>
          <p:nvPr/>
        </p:nvSpPr>
        <p:spPr>
          <a:xfrm>
            <a:off x="68397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ḥa-jaz-tu · I booked</a:t>
            </a:r>
            <a:endParaRPr lang="en-US" sz="950" dirty="0"/>
          </a:p>
        </p:txBody>
      </p:sp>
      <p:sp>
        <p:nvSpPr>
          <p:cNvPr id="42" name="Text 39"/>
          <p:cNvSpPr txBox="1"/>
          <p:nvPr/>
        </p:nvSpPr>
        <p:spPr>
          <a:xfrm>
            <a:off x="41422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cs typeface="Amiri" pitchFamily="2" charset="-78"/>
              </a:rPr>
              <a:t>أَقَمْ</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 فِي</a:t>
            </a:r>
            <a:endParaRPr lang="ar-SA" sz="2100" dirty="0"/>
          </a:p>
        </p:txBody>
      </p:sp>
      <p:sp>
        <p:nvSpPr>
          <p:cNvPr id="43" name="Text 40"/>
          <p:cNvSpPr txBox="1"/>
          <p:nvPr/>
        </p:nvSpPr>
        <p:spPr>
          <a:xfrm>
            <a:off x="40965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a-qam-tu fī · I stayed</a:t>
            </a:r>
            <a:endParaRPr lang="en-US" sz="950" dirty="0"/>
          </a:p>
        </p:txBody>
      </p:sp>
      <p:sp>
        <p:nvSpPr>
          <p:cNvPr id="44" name="Text 41"/>
          <p:cNvSpPr txBox="1"/>
          <p:nvPr/>
        </p:nvSpPr>
        <p:spPr>
          <a:xfrm>
            <a:off x="548640" y="3840480"/>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حَجَزْتُ الفُنْدُقَ قَبْلَ شَهْرٍ</a:t>
            </a:r>
            <a:endParaRPr lang="ar-SA" sz="170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had (past perfect)</a:t>
            </a:r>
            <a:endParaRPr lang="en-US" sz="1100" dirty="0"/>
          </a:p>
        </p:txBody>
      </p:sp>
      <p:sp>
        <p:nvSpPr>
          <p:cNvPr id="47" name="Text 44"/>
          <p:cNvSpPr txBox="1"/>
          <p:nvPr/>
        </p:nvSpPr>
        <p:spPr>
          <a:xfrm>
            <a:off x="68854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كُنْتُ قَدْ</a:t>
            </a:r>
            <a:pPr rtl="1" algn="ctr" indent="0" marL="0">
              <a:buNone/>
            </a:pPr>
            <a:r>
              <a:rPr lang="ar-SA" altLang="en-US" sz="2100" b="1" dirty="0">
                <a:solidFill>
                  <a:srgbClr val="1B3B6F"/>
                </a:solidFill>
                <a:latin typeface="Amiri" pitchFamily="2" charset="-78"/>
                <a:cs typeface="Amiri" pitchFamily="2" charset="-78"/>
              </a:rPr>
              <a:t> حَجَزْتُ</a:t>
            </a:r>
            <a:endParaRPr lang="ar-SA" sz="2100" dirty="0"/>
          </a:p>
        </p:txBody>
      </p:sp>
      <p:sp>
        <p:nvSpPr>
          <p:cNvPr id="48" name="Text 45"/>
          <p:cNvSpPr txBox="1"/>
          <p:nvPr/>
        </p:nvSpPr>
        <p:spPr>
          <a:xfrm>
            <a:off x="68397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kun-tu qad ḥa-jaz-tu</a:t>
            </a:r>
            <a:endParaRPr lang="en-US" sz="950" dirty="0"/>
          </a:p>
        </p:txBody>
      </p:sp>
      <p:sp>
        <p:nvSpPr>
          <p:cNvPr id="49" name="Text 46"/>
          <p:cNvSpPr txBox="1"/>
          <p:nvPr/>
        </p:nvSpPr>
        <p:spPr>
          <a:xfrm>
            <a:off x="41422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كُنْتُ قَدْ</a:t>
            </a:r>
            <a:pPr rtl="1" algn="ctr" indent="0" marL="0">
              <a:buNone/>
            </a:pPr>
            <a:r>
              <a:rPr lang="ar-SA" altLang="en-US" sz="2100" b="1" dirty="0">
                <a:solidFill>
                  <a:srgbClr val="1B3B6F"/>
                </a:solidFill>
                <a:latin typeface="Amiri" pitchFamily="2" charset="-78"/>
                <a:cs typeface="Amiri" pitchFamily="2" charset="-78"/>
              </a:rPr>
              <a:t> أَقَمْتُ فِي</a:t>
            </a:r>
            <a:endParaRPr lang="ar-SA" sz="2100" dirty="0"/>
          </a:p>
        </p:txBody>
      </p:sp>
      <p:sp>
        <p:nvSpPr>
          <p:cNvPr id="50" name="Text 47"/>
          <p:cNvSpPr txBox="1"/>
          <p:nvPr/>
        </p:nvSpPr>
        <p:spPr>
          <a:xfrm>
            <a:off x="40965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kun-tu qad a-qam-tu fī</a:t>
            </a:r>
            <a:endParaRPr lang="en-US" sz="950" dirty="0"/>
          </a:p>
        </p:txBody>
      </p:sp>
      <p:sp>
        <p:nvSpPr>
          <p:cNvPr id="51" name="Text 48"/>
          <p:cNvSpPr txBox="1"/>
          <p:nvPr/>
        </p:nvSpPr>
        <p:spPr>
          <a:xfrm>
            <a:off x="548640" y="4626864"/>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كُنْتُ قَدْ حَجَزْتُ رِحْلَتِي قَبْلَ شَهْرَيْنِ</a:t>
            </a:r>
            <a:endParaRPr lang="ar-SA" sz="17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GRAMMAR PART 2 · IMPERATIVE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Instructions: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اِحْجِزْ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iḥ-jiz</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يَحْجِزُ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اِحْجِزْ</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أَحْضِرْ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Bring!</a:t>
            </a:r>
            <a:endParaRPr lang="en-US" sz="1350" dirty="0"/>
          </a:p>
          <a:p>
            <a:pPr indent="0" marL="0">
              <a:buNone/>
            </a:pPr>
            <a:r>
              <a:rPr lang="en-US" sz="1100" i="1" dirty="0">
                <a:solidFill>
                  <a:srgbClr val="5A6472"/>
                </a:solidFill>
                <a:latin typeface="Calibri" pitchFamily="34" charset="0"/>
                <a:cs typeface="Amiri" pitchFamily="2" charset="-78"/>
              </a:rPr>
              <a:t>aḥ-ḍir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يُحْضِرُ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أَحْضِرْ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سَجِّلْ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Register! Check in!</a:t>
            </a:r>
            <a:endParaRPr lang="en-US" sz="1350" dirty="0"/>
          </a:p>
          <a:p>
            <a:pPr indent="0" marL="0">
              <a:buNone/>
            </a:pPr>
            <a:r>
              <a:rPr lang="en-US" sz="1100" i="1" dirty="0">
                <a:solidFill>
                  <a:srgbClr val="5A6472"/>
                </a:solidFill>
                <a:latin typeface="Calibri" pitchFamily="34" charset="0"/>
                <a:cs typeface="Amiri" pitchFamily="2" charset="-78"/>
              </a:rPr>
              <a:t>saj-jil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يُسَجِّلُ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سَجِّلْ</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جَدِّدْ</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t>
            </a:r>
            <a:endParaRPr lang="en-US" sz="1350" dirty="0"/>
          </a:p>
          <a:p>
            <a:pPr indent="0" marL="0">
              <a:buNone/>
            </a:pPr>
            <a:r>
              <a:rPr lang="en-US" sz="1100" i="1" dirty="0">
                <a:solidFill>
                  <a:srgbClr val="5A6472"/>
                </a:solidFill>
                <a:latin typeface="Calibri" pitchFamily="34" charset="0"/>
                <a:cs typeface="Amiri" pitchFamily="2" charset="-78"/>
              </a:rPr>
              <a:t>jad-did</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69" name="Text 6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يُجَدِّدُ</a:t>
            </a:r>
            <a:endParaRPr lang="ar-SA" sz="135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جَدِّدْ</a:t>
            </a:r>
            <a:endParaRPr lang="ar-SA"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6" name="Shape 73"/>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اِشْتَرِ</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Buy!</a:t>
            </a:r>
            <a:endParaRPr lang="en-US" sz="1350" dirty="0"/>
          </a:p>
          <a:p>
            <a:pPr indent="0" marL="0">
              <a:buNone/>
            </a:pPr>
            <a:r>
              <a:rPr lang="en-US" sz="1100" i="1" dirty="0">
                <a:solidFill>
                  <a:srgbClr val="5A6472"/>
                </a:solidFill>
                <a:latin typeface="Calibri" pitchFamily="34" charset="0"/>
                <a:cs typeface="Amiri" pitchFamily="2" charset="-78"/>
              </a:rPr>
              <a:t>ish-ta-ri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82" name="Text 79"/>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يَشْتَرِي</a:t>
            </a:r>
            <a:endParaRPr lang="ar-SA" sz="135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85" name="Text 8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اِشْتَرِ</a:t>
            </a:r>
            <a:endParaRPr lang="ar-SA"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9" name="Shape 86"/>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اِقْرَأْ</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a:t>
            </a:r>
            <a:endParaRPr lang="en-US" sz="1350" dirty="0"/>
          </a:p>
          <a:p>
            <a:pPr indent="0" marL="0">
              <a:buNone/>
            </a:pPr>
            <a:r>
              <a:rPr lang="en-US" sz="1100" i="1" dirty="0">
                <a:solidFill>
                  <a:srgbClr val="5A6472"/>
                </a:solidFill>
                <a:latin typeface="Calibri" pitchFamily="34" charset="0"/>
                <a:cs typeface="Amiri" pitchFamily="2" charset="-78"/>
              </a:rPr>
              <a:t>iq-raʾ</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95" name="Text 92"/>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يَقْرَأُ</a:t>
            </a:r>
            <a:endParaRPr lang="ar-SA" sz="135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98" name="Text 9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اِقْرَأْ</a:t>
            </a:r>
            <a:endParaRPr lang="ar-SA"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READING DOCUMENTS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Stay at · do it · it has been done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STAY AT · فِي</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يُقِيمُ 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أُقِيمُ فِي فُنْدُقٍ قَرِيبٍ مِنَ الشَّاطِئِ</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stay at a hotel near the beach.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يُقِيمُ</a:t>
            </a:r>
            <a:pPr algn="l" indent="0" marL="0">
              <a:buNone/>
            </a:pPr>
            <a:r>
              <a:rPr lang="en-US" sz="1100" dirty="0">
                <a:solidFill>
                  <a:srgbClr val="1F2A37"/>
                </a:solidFill>
                <a:latin typeface="Calibri" pitchFamily="34" charset="0"/>
                <a:cs typeface="Amiri" pitchFamily="2" charset="-78"/>
              </a:rPr>
              <a:t> always takes </a:t>
            </a:r>
            <a:pPr algn="l" indent="0" marL="0">
              <a:buNone/>
            </a:pPr>
            <a:r>
              <a:rPr lang="ar-SA" altLang="en-US" sz="1450" dirty="0">
                <a:solidFill>
                  <a:srgbClr val="1F2A37"/>
                </a:solidFill>
                <a:latin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before the place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INSTRUCTION · imperative</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أَحْضِرْ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أَحْضِرْ جَوَازَ سَفَرِكَ</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Bring your passport.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Forms and messages give instructions: </a:t>
            </a:r>
            <a:pPr algn="l" indent="0" marL="0">
              <a:buNone/>
            </a:pPr>
            <a:r>
              <a:rPr lang="ar-SA" altLang="en-US" sz="1450" dirty="0">
                <a:solidFill>
                  <a:srgbClr val="1F2A37"/>
                </a:solidFill>
                <a:latin typeface="Amiri" pitchFamily="2" charset="-78"/>
                <a:cs typeface="Amiri" pitchFamily="2" charset="-78"/>
              </a:rPr>
              <a:t>أَحْضِرْ</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سَجِّلْ</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اِحْجِزْ</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DONE · تَمَّ + noun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تَمَّ حَجْزُ رِحْلَتِكَ</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Your trip has been booked.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 messages, </a:t>
            </a:r>
            <a:pPr algn="l" indent="0" marL="0">
              <a:buNone/>
            </a:pPr>
            <a:r>
              <a:rPr lang="ar-SA" altLang="en-US" sz="1450" dirty="0">
                <a:solidFill>
                  <a:srgbClr val="1F2A37"/>
                </a:solidFill>
                <a:latin typeface="Amiri" pitchFamily="2" charset="-78"/>
                <a:cs typeface="Amiri" pitchFamily="2" charset="-78"/>
              </a:rPr>
              <a:t>تَمَّ</a:t>
            </a:r>
            <a:pPr algn="l" indent="0" marL="0">
              <a:buNone/>
            </a:pPr>
            <a:r>
              <a:rPr lang="en-US" sz="1100" dirty="0">
                <a:solidFill>
                  <a:srgbClr val="1F2A37"/>
                </a:solidFill>
                <a:latin typeface="Calibri" pitchFamily="34" charset="0"/>
                <a:cs typeface="Amiri" pitchFamily="2" charset="-78"/>
              </a:rPr>
              <a:t> + a verbal noun = “has been done” (passive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dropping </a:t>
            </a:r>
            <a:pPr algn="l" indent="0" marL="0">
              <a:buNone/>
            </a:pPr>
            <a:r>
              <a:rPr lang="ar-SA" altLang="en-US" sz="1500" dirty="0">
                <a:solidFill>
                  <a:srgbClr val="1F2A37"/>
                </a:solidFill>
                <a:latin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after </a:t>
            </a:r>
            <a:pPr algn="l" indent="0" marL="0">
              <a:buNone/>
            </a:pPr>
            <a:r>
              <a:rPr lang="ar-SA" altLang="en-US" sz="1500" dirty="0">
                <a:solidFill>
                  <a:srgbClr val="1F2A37"/>
                </a:solidFill>
                <a:latin typeface="Amiri" pitchFamily="2" charset="-78"/>
                <a:cs typeface="Amiri" pitchFamily="2" charset="-78"/>
              </a:rPr>
              <a:t>يُقِيمُ</a:t>
            </a:r>
            <a:pPr algn="l" indent="0" marL="0">
              <a:buNone/>
            </a:pPr>
            <a:r>
              <a:rPr lang="en-US" sz="1150" dirty="0">
                <a:solidFill>
                  <a:srgbClr val="1F2A37"/>
                </a:solidFill>
                <a:latin typeface="Calibri" pitchFamily="34" charset="0"/>
                <a:cs typeface="Amiri" pitchFamily="2" charset="-78"/>
              </a:rPr>
              <a:t>, and a present verb after </a:t>
            </a:r>
            <a:pPr algn="l" indent="0" marL="0">
              <a:buNone/>
            </a:pPr>
            <a:r>
              <a:rPr lang="ar-SA" altLang="en-US" sz="1500" dirty="0">
                <a:solidFill>
                  <a:srgbClr val="1F2A37"/>
                </a:solidFill>
                <a:latin typeface="Amiri" pitchFamily="2" charset="-78"/>
                <a:cs typeface="Amiri" pitchFamily="2" charset="-78"/>
              </a:rPr>
              <a:t>إِذَا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أُقِيمُ فِي فُنْدُقٍ</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أُقِيمُ فُنْدُقًا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إِذَا حَجَزْتَ</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إِذَا تَحْجِزُ</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RELATIVE PRONOUNS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 that …: </a:t>
            </a:r>
            <a:pPr algn="l" indent="0" marL="0">
              <a:buNone/>
            </a:pPr>
            <a:r>
              <a:rPr lang="ar-SA" altLang="en-US" sz="3650" b="1" dirty="0">
                <a:solidFill>
                  <a:srgbClr val="1B3B6F"/>
                </a:solidFill>
                <a:latin typeface="Amiri" pitchFamily="2" charset="-78"/>
                <a:cs typeface="Amiri" pitchFamily="2" charset="-78"/>
              </a:rPr>
              <a:t>الَّذِي / الَّتِي</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الاِسْمُ المَوْصُولُ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الاِسْمُ</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the thing</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الَّذِي / الَّتِي</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that / which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التَّفْصِيلُ</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more information</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hotel that I booked</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الفُنْدُقُ</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الَّذِي</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حَجَزْتُهُ</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passport that I renewed</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الجَوَازُ</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الَّذِي</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جَدَّدْتُهُ</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visa that I got online</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التَّأْشِيرَةُ</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الَّتِي</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حَصَلْتُ عَلَيْهَا إِلِكْتْرُونِيًّا</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message that confirms the time</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الرِّسَالَةُ</a:t>
            </a:r>
            <a:endParaRPr lang="ar-SA" sz="240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الَّتِي</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تُؤَكِّدُ المَوْعِدَ</a:t>
            </a:r>
            <a:endParaRPr lang="ar-SA" sz="240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Use </a:t>
            </a:r>
            <a:pPr algn="l" indent="0" marL="0">
              <a:buNone/>
            </a:pPr>
            <a:r>
              <a:rPr lang="ar-SA" altLang="en-US" sz="1550" b="1" dirty="0">
                <a:solidFill>
                  <a:srgbClr val="8A6D1E"/>
                </a:solidFill>
                <a:latin typeface="Amiri" pitchFamily="2" charset="-78"/>
                <a:cs typeface="Amiri" pitchFamily="2" charset="-78"/>
              </a:rPr>
              <a:t>الَّذِي</a:t>
            </a:r>
            <a:pPr algn="l" indent="0" marL="0">
              <a:buNone/>
            </a:pPr>
            <a:r>
              <a:rPr lang="en-US" sz="1200" b="1" dirty="0">
                <a:solidFill>
                  <a:srgbClr val="8A6D1E"/>
                </a:solidFill>
                <a:latin typeface="Calibri" pitchFamily="34" charset="0"/>
                <a:cs typeface="Amiri" pitchFamily="2" charset="-78"/>
              </a:rPr>
              <a:t> after a masculine noun and </a:t>
            </a:r>
            <a:pPr algn="l" indent="0" marL="0">
              <a:buNone/>
            </a:pPr>
            <a:r>
              <a:rPr lang="ar-SA" altLang="en-US" sz="1550" b="1" dirty="0">
                <a:solidFill>
                  <a:srgbClr val="8A6D1E"/>
                </a:solidFill>
                <a:latin typeface="Amiri" pitchFamily="2" charset="-78"/>
                <a:cs typeface="Amiri" pitchFamily="2" charset="-78"/>
              </a:rPr>
              <a:t>الَّتِي</a:t>
            </a:r>
            <a:pPr algn="l" indent="0" marL="0">
              <a:buNone/>
            </a:pPr>
            <a:r>
              <a:rPr lang="en-US" sz="1200" b="1" dirty="0">
                <a:solidFill>
                  <a:srgbClr val="8A6D1E"/>
                </a:solidFill>
                <a:latin typeface="Calibri" pitchFamily="34" charset="0"/>
                <a:cs typeface="Amiri" pitchFamily="2" charset="-78"/>
              </a:rPr>
              <a:t> after a feminine noun (</a:t>
            </a:r>
            <a:pPr algn="l" indent="0" marL="0">
              <a:buNone/>
            </a:pPr>
            <a:r>
              <a:rPr lang="ar-SA" altLang="en-US" sz="1550" b="1" dirty="0">
                <a:solidFill>
                  <a:srgbClr val="8A6D1E"/>
                </a:solidFill>
                <a:latin typeface="Amiri" pitchFamily="2" charset="-78"/>
                <a:cs typeface="Amiri" pitchFamily="2" charset="-78"/>
              </a:rPr>
              <a:t>ـة</a:t>
            </a:r>
            <a:pPr algn="l" indent="0" marL="0">
              <a:buNone/>
            </a:pPr>
            <a:r>
              <a:rPr lang="en-US" sz="1200" b="1" dirty="0">
                <a:solidFill>
                  <a:srgbClr val="8A6D1E"/>
                </a:solidFill>
                <a:latin typeface="Calibri" pitchFamily="34" charset="0"/>
                <a:cs typeface="Amiri" pitchFamily="2" charset="-78"/>
              </a:rPr>
              <a:t>). </a:t>
            </a:r>
            <a:pPr algn="l" indent="0" marL="0">
              <a:buNone/>
            </a:pPr>
            <a:r>
              <a:rPr lang="ar-SA" altLang="en-US" sz="1550" b="1" dirty="0">
                <a:solidFill>
                  <a:srgbClr val="8A6D1E"/>
                </a:solidFill>
                <a:latin typeface="Amiri" pitchFamily="2" charset="-78"/>
                <a:cs typeface="Amiri" pitchFamily="2" charset="-78"/>
              </a:rPr>
              <a:t>ـهُ / ـهَا</a:t>
            </a:r>
            <a:pPr algn="l" indent="0" marL="0">
              <a:buNone/>
            </a:pPr>
            <a:r>
              <a:rPr lang="en-US" sz="1200" b="1" dirty="0">
                <a:solidFill>
                  <a:srgbClr val="8A6D1E"/>
                </a:solidFill>
                <a:latin typeface="Calibri" pitchFamily="34" charset="0"/>
                <a:cs typeface="Amiri" pitchFamily="2" charset="-78"/>
              </a:rPr>
              <a:t> = it.</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أَحْجِزُ · حَجَزْتُ · سَأَحْجِزُ</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كُنْتُ قَدْ حَجَزْتُ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إِذَا حَجَزْتَ … سَـ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and </a:t>
            </a:r>
            <a:pPr algn="l" indent="0" marL="0">
              <a:buNone/>
            </a:pPr>
            <a:r>
              <a:rPr lang="ar-SA" altLang="en-US" sz="1650" b="1" dirty="0">
                <a:solidFill>
                  <a:srgbClr val="1B3B6F"/>
                </a:solidFill>
                <a:latin typeface="Amiri" pitchFamily="2" charset="-78"/>
                <a:cs typeface="Amiri" pitchFamily="2" charset="-78"/>
              </a:rPr>
              <a:t>يُقِيمُ 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لَوْ حَجَزْتُ … لَـ · يُقِيمُ فِي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أُقِيمُ ___ فُنْدُقٍ قَرِيبٍ مِنَ الشَّاطِئِ.</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أَقَمْتُ فِي شَقَّةٍ مَفْرُوشَةٍ.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أُقِيمُ فِي شَقَّةٍ مَفْرُوشَةٍ أَمْسِ.</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سَأُقِيمُ فِي شَقَّةٍ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first person is </a:t>
            </a:r>
            <a:pPr algn="l" indent="0" marL="0">
              <a:buNone/>
            </a:pPr>
            <a:r>
              <a:rPr lang="ar-SA" altLang="en-US" sz="1350" dirty="0">
                <a:solidFill>
                  <a:srgbClr val="8A6D1E"/>
                </a:solidFill>
                <a:latin typeface="Amiri" pitchFamily="2" charset="-78"/>
                <a:cs typeface="Amiri" pitchFamily="2" charset="-78"/>
              </a:rPr>
              <a:t>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سَأَحْجِزُ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أُقِيمُ ___ فُنْدُقٍ قَرِيبٍ مِنَ الشَّاطِئِ.</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أَقَمْتُ فِي شَقَّةٍ مَفْرُوشَةٍ.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أُقِيمُ فِي شَقَّةٍ مَفْرُوشَةٍ أَمْسِ.</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سَأُقِيمُ فِي شَقَّةٍ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is </a:t>
            </a:r>
            <a:pPr algn="l" indent="0" marL="0">
              <a:buNone/>
            </a:pPr>
            <a:r>
              <a:rPr lang="ar-SA" altLang="en-US" sz="1350" dirty="0">
                <a:solidFill>
                  <a:srgbClr val="8A6D1E"/>
                </a:solidFill>
                <a:latin typeface="Amiri" pitchFamily="2" charset="-78"/>
                <a:cs typeface="Amiri" pitchFamily="2" charset="-78"/>
              </a:rPr>
              <a:t>أَقَمْتُ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(later)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سَ</a:t>
            </a:r>
            <a:pPr rtl="1" algn="ctr" indent="0" marL="0">
              <a:buNone/>
            </a:pPr>
            <a:r>
              <a:rPr lang="ar-SA" altLang="en-US" sz="2400" b="1" dirty="0">
                <a:solidFill>
                  <a:srgbClr val="1B3B6F"/>
                </a:solidFill>
                <a:latin typeface="Amiri" pitchFamily="2" charset="-78"/>
                <a:cs typeface="Amiri" pitchFamily="2" charset="-78"/>
              </a:rPr>
              <a:t>أَحْجِزُ رِحْلَةً إِلَى مَرَّاكُشَ</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سَـ</a:t>
            </a:r>
            <a:pPr algn="l" indent="0" marL="0">
              <a:buNone/>
            </a:pPr>
            <a:r>
              <a:rPr lang="en-US" sz="1150" dirty="0">
                <a:solidFill>
                  <a:srgbClr val="1F2A37"/>
                </a:solidFill>
                <a:latin typeface="Calibri" pitchFamily="34" charset="0"/>
                <a:cs typeface="Amiri" pitchFamily="2" charset="-78"/>
              </a:rPr>
              <a:t> = will. A website sentence.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Documents (before)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جَدَّدْ</a:t>
            </a:r>
            <a:pPr rtl="1" algn="ctr" indent="0" marL="0">
              <a:buNone/>
            </a:pPr>
            <a:r>
              <a:rPr lang="ar-SA" altLang="en-US" sz="2800" b="1" dirty="0">
                <a:solidFill>
                  <a:srgbClr val="1D5FBF"/>
                </a:solidFill>
                <a:latin typeface="Amiri" pitchFamily="2" charset="-78"/>
                <a:cs typeface="Amiri" pitchFamily="2" charset="-78"/>
              </a:rPr>
              <a:t>تُ</a:t>
            </a:r>
            <a:pPr rtl="1" algn="ctr" indent="0" marL="0">
              <a:buNone/>
            </a:pPr>
            <a:r>
              <a:rPr lang="ar-SA" altLang="en-US" sz="2800" b="1" dirty="0">
                <a:solidFill>
                  <a:srgbClr val="1B3B6F"/>
                </a:solidFill>
                <a:latin typeface="Amiri" pitchFamily="2" charset="-78"/>
                <a:cs typeface="Amiri" pitchFamily="2" charset="-78"/>
              </a:rPr>
              <a:t> جَوَازَ سَفَرِي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a:t>
            </a:r>
            <a:pPr algn="l" indent="0" marL="0">
              <a:buNone/>
            </a:pPr>
            <a:r>
              <a:rPr lang="ar-SA" altLang="en-US" sz="1500" dirty="0">
                <a:solidFill>
                  <a:srgbClr val="1F2A37"/>
                </a:solidFill>
                <a:latin typeface="Amiri" pitchFamily="2" charset="-78"/>
                <a:cs typeface="Amiri" pitchFamily="2" charset="-78"/>
              </a:rPr>
              <a:t>ـتُ</a:t>
            </a:r>
            <a:pPr algn="l" indent="0" marL="0">
              <a:buNone/>
            </a:pPr>
            <a:r>
              <a:rPr lang="en-US" sz="1150" dirty="0">
                <a:solidFill>
                  <a:srgbClr val="1F2A37"/>
                </a:solidFill>
                <a:latin typeface="Calibri" pitchFamily="34" charset="0"/>
                <a:cs typeface="Amiri" pitchFamily="2" charset="-78"/>
              </a:rPr>
              <a:t> at the END =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will I stay?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سَأُقِيمُ </a:t>
            </a:r>
            <a:pPr rtl="1" algn="ctr" indent="0" marL="0">
              <a:buNone/>
            </a:pPr>
            <a:r>
              <a:rPr lang="ar-SA" altLang="en-US" sz="2400" b="1" dirty="0">
                <a:solidFill>
                  <a:srgbClr val="0E7C86"/>
                </a:solidFill>
                <a:latin typeface="Amiri" pitchFamily="2" charset="-78"/>
                <a:cs typeface="Amiri" pitchFamily="2" charset="-78"/>
              </a:rPr>
              <a:t>فِي</a:t>
            </a:r>
            <a:pPr rtl="1" algn="ctr" indent="0" marL="0">
              <a:buNone/>
            </a:pPr>
            <a:r>
              <a:rPr lang="ar-SA" altLang="en-US" sz="2400" b="1" dirty="0">
                <a:solidFill>
                  <a:srgbClr val="1B3B6F"/>
                </a:solidFill>
                <a:latin typeface="Amiri" pitchFamily="2" charset="-78"/>
                <a:cs typeface="Amiri" pitchFamily="2" charset="-78"/>
              </a:rPr>
              <a:t> رِيَاضٍ تَقْلِيدِيٍّ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يُقِيمُ</a:t>
            </a:r>
            <a:pPr algn="l" indent="0" marL="0">
              <a:buNone/>
            </a:pPr>
            <a:r>
              <a:rPr lang="en-US" sz="1150" dirty="0">
                <a:solidFill>
                  <a:srgbClr val="1F2A37"/>
                </a:solidFill>
                <a:latin typeface="Calibri" pitchFamily="34" charset="0"/>
                <a:cs typeface="Amiri" pitchFamily="2" charset="-78"/>
              </a:rPr>
              <a:t> always + </a:t>
            </a:r>
            <a:pPr algn="l" indent="0" marL="0">
              <a:buNone/>
            </a:pPr>
            <a:r>
              <a:rPr lang="ar-SA" altLang="en-US" sz="1500" dirty="0">
                <a:solidFill>
                  <a:srgbClr val="1F2A37"/>
                </a:solidFill>
                <a:latin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 (instruction)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اِحْجِزْ</a:t>
            </a:r>
            <a:pPr rtl="1" algn="ctr" indent="0" marL="0">
              <a:buNone/>
            </a:pPr>
            <a:r>
              <a:rPr lang="ar-SA" altLang="en-US" sz="2800" b="1" dirty="0">
                <a:solidFill>
                  <a:srgbClr val="1B3B6F"/>
                </a:solidFill>
                <a:latin typeface="Amiri" pitchFamily="2" charset="-78"/>
                <a:cs typeface="Amiri" pitchFamily="2" charset="-78"/>
              </a:rPr>
              <a:t> مُبَكِّرًا!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instruction: “Book early!”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 KEY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2" charset="-78"/>
                <a:cs typeface="Amiri" pitchFamily="2" charset="-78"/>
              </a:rPr>
              <a:t>سَ</a:t>
            </a:r>
            <a:pPr rtl="1" algn="r" indent="0" marL="0">
              <a:buNone/>
            </a:pPr>
            <a:r>
              <a:rPr lang="ar-SA" altLang="en-US" sz="2150" b="1" dirty="0">
                <a:solidFill>
                  <a:srgbClr val="1B3B6F"/>
                </a:solidFill>
                <a:latin typeface="Amiri" pitchFamily="2" charset="-78"/>
                <a:cs typeface="Amiri" pitchFamily="2" charset="-78"/>
              </a:rPr>
              <a:t>أَحْجِزُ رِحْلَةً إِلَى مَرَّاكُشَ. جَدَّدْ</a:t>
            </a:r>
            <a:pPr rtl="1" algn="r" indent="0" marL="0">
              <a:buNone/>
            </a:pPr>
            <a:r>
              <a:rPr lang="ar-SA" altLang="en-US" sz="2150" b="1" dirty="0">
                <a:solidFill>
                  <a:srgbClr val="1D5FBF"/>
                </a:solidFill>
                <a:latin typeface="Amiri" pitchFamily="2" charset="-78"/>
                <a:cs typeface="Amiri" pitchFamily="2" charset="-78"/>
              </a:rPr>
              <a:t>تُ</a:t>
            </a:r>
            <a:pPr rtl="1" algn="r" indent="0" marL="0">
              <a:buNone/>
            </a:pPr>
            <a:r>
              <a:rPr lang="ar-SA" altLang="en-US" sz="2150" b="1" dirty="0">
                <a:solidFill>
                  <a:srgbClr val="1B3B6F"/>
                </a:solidFill>
                <a:latin typeface="Amiri" pitchFamily="2" charset="-78"/>
                <a:cs typeface="Amiri" pitchFamily="2" charset="-78"/>
              </a:rPr>
              <a:t> جَوَازَ سَفَرِي، وَسَأُقِيمُ </a:t>
            </a:r>
            <a:pPr rtl="1" algn="r" indent="0" marL="0">
              <a:buNone/>
            </a:pPr>
            <a:r>
              <a:rPr lang="ar-SA" altLang="en-US" sz="2150" b="1" dirty="0">
                <a:solidFill>
                  <a:srgbClr val="0E7C86"/>
                </a:solidFill>
                <a:latin typeface="Amiri" pitchFamily="2" charset="-78"/>
                <a:cs typeface="Amiri" pitchFamily="2" charset="-78"/>
              </a:rPr>
              <a:t>فِي</a:t>
            </a:r>
            <a:pPr rtl="1" algn="r" indent="0" marL="0">
              <a:buNone/>
            </a:pPr>
            <a:r>
              <a:rPr lang="ar-SA" altLang="en-US" sz="2150" b="1" dirty="0">
                <a:solidFill>
                  <a:srgbClr val="1B3B6F"/>
                </a:solidFill>
                <a:latin typeface="Amiri" pitchFamily="2" charset="-78"/>
                <a:cs typeface="Amiri" pitchFamily="2" charset="-78"/>
              </a:rPr>
              <a:t> رِيَاضٍ تَقْلِيدِيٍّ فِي المَدِينَةِ القَدِيمَةِ. نَصِيحَتِي: </a:t>
            </a:r>
            <a:pPr rtl="1" algn="r" indent="0" marL="0">
              <a:buNone/>
            </a:pPr>
            <a:r>
              <a:rPr lang="ar-SA" altLang="en-US" sz="2150" b="1" dirty="0">
                <a:solidFill>
                  <a:srgbClr val="0E7C86"/>
                </a:solidFill>
                <a:latin typeface="Amiri" pitchFamily="2" charset="-78"/>
                <a:cs typeface="Amiri" pitchFamily="2" charset="-78"/>
              </a:rPr>
              <a:t>اِحْجِزْ</a:t>
            </a:r>
            <a:pPr rtl="1" algn="r" indent="0" marL="0">
              <a:buNone/>
            </a:pPr>
            <a:r>
              <a:rPr lang="ar-SA" altLang="en-US" sz="2150" b="1" dirty="0">
                <a:solidFill>
                  <a:srgbClr val="1B3B6F"/>
                </a:solidFill>
                <a:latin typeface="Amiri" pitchFamily="2" charset="-78"/>
                <a:cs typeface="Amiri" pitchFamily="2" charset="-78"/>
              </a:rPr>
              <a:t> مُبَكِّرًا!</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will book a trip to Marrakesh. I renewed my passport, and I will stay in a traditional riad in the old city. My advice: book early!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جَوَازُ 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passport.</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أُقِيمُ فِي رِيَاضٍ تَقْلِيدِيٍّ فِي المَدِينَةِ القَدِيمَةِ.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stay in a traditional riad in the old city.</a:t>
            </a:r>
            <a:endParaRPr lang="en-US" sz="1250" dirty="0"/>
          </a:p>
          <a:p>
            <a:pPr indent="0" marL="0">
              <a:buNone/>
            </a:pPr>
            <a:r>
              <a:rPr lang="en-US" sz="1050" i="1" dirty="0">
                <a:solidFill>
                  <a:srgbClr val="8A6D1E"/>
                </a:solidFill>
                <a:latin typeface="Calibri" pitchFamily="34" charset="0"/>
                <a:cs typeface="Amiri" pitchFamily="2" charset="-78"/>
              </a:rPr>
              <a:t>يُقِيمُ فِي before accommodation.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تُؤَكِّدُ الرِّسَالَةُ أَنَّ الْمَوْعِدَ فِي السَّاعَةِ الْعَاشِرَةِ.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message confirms that the appointment is at ten o’clock.</a:t>
            </a:r>
            <a:endParaRPr lang="en-US" sz="1250" dirty="0"/>
          </a:p>
          <a:p>
            <a:pPr indent="0" marL="0">
              <a:buNone/>
            </a:pPr>
            <a:r>
              <a:rPr lang="en-US" sz="1050" i="1" dirty="0">
                <a:solidFill>
                  <a:srgbClr val="8A6D1E"/>
                </a:solidFill>
                <a:latin typeface="Calibri" pitchFamily="34" charset="0"/>
                <a:cs typeface="Amiri" pitchFamily="2" charset="-78"/>
              </a:rPr>
              <a:t>Website game — read a message for the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حَجَزْتُ رِحْلَتِي قَبْلَ شَهْرَيْنِ.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booked my trip two months earlier.</a:t>
            </a:r>
            <a:endParaRPr lang="en-US" sz="1250" dirty="0"/>
          </a:p>
          <a:p>
            <a:pPr indent="0" marL="0">
              <a:buNone/>
            </a:pPr>
            <a:r>
              <a:rPr lang="en-US" sz="1050" i="1" dirty="0">
                <a:solidFill>
                  <a:srgbClr val="8A6D1E"/>
                </a:solidFill>
                <a:latin typeface="Calibri" pitchFamily="34" charset="0"/>
                <a:cs typeface="Amiri" pitchFamily="2" charset="-78"/>
              </a:rPr>
              <a:t>Past perfect of يَحْجِزُ.</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“DOCUMENT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2" charset="-78"/>
                <a:cs typeface="Amiri" pitchFamily="2" charset="-78"/>
              </a:rPr>
              <a:t>جواز سفر</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10:00</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£24.50</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تُؤَكِّدُ الرِّسَالَةُ أَنَّ الْمَوْعِدَ فِي السَّاعَةِ الْعَاشِرَةِ.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اَلْمَبْلَغُ الإِجْمَالِيُّ أَرْبَعَةٌ وَعِشْرُونَ جُنَيْهًا وَخَمْسُونَ بِنْسًا.</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جَوَازُ سَفَرٍ.</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2" charset="-78"/>
                <a:cs typeface="Amiri" pitchFamily="2" charset="-78"/>
              </a:rPr>
              <a:t>جواز سفر</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جَوَازُ سَفَرٍ.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passport.</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10:00</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تُؤَكِّدُ الرِّسَالَةُ أَنَّ الْمَوْعِدَ فِي السَّاعَةِ الْعَاشِرَةِ.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message confirms that the appointment is at ten o’clock.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£24.50</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اَلْمَبْلَغُ الإِجْمَالِيُّ أَرْبَعَةٌ وَعِشْرُونَ جُنَيْهًا وَخَمْسُونَ بِنْسًا.</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total amount is twenty-four pounds and fifty pence.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DOCUMENT DETECTIVE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a booking confirmation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رِسَالَةُ تَأْكِيدِ الحَجْزِ</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شُكْرًا لَكَ! تَمَّ حَجْزُ رِحْلَتِكَ إِلَى مَرَّاكُشَ.</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مَوْعِدُ القِيَامِ: يَوْمَ السَّبْتِ، السَّاعَةَ العَاشِرَةَ صَبَاحًا.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البَوَّابَةُ: ١٢  ·  الدَّرَجَةُ الاِقْتِصَادِيَّةُ.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وَزْنُ الأَمْتِعَةِ: ٢٠ كِيلُوغْرَامًا فَقَطْ.</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سَتُقِيمُ فِي فُنْدُقٍ بِخَمْسِ نُجُومٍ قُرْبَ المَدِينَةِ القَدِيمَةِ.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مُهِمٌّ: أَحْضِرْ جَوَازَ سَفَرِكَ وَالتَّأْشِيرَةَ، وَسَجِّلِ الوُصُولَ إِلِكْتْرُونِيًّا قَبْلَ الرِّحْلَةِ.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تَأْكِيدُ الحَجْزِ</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booking confirmation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 حَجْزُ …</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 has been booked</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مَوْعِدُ القِيَامِ</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departure time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يَوْمَ السَّبْتِ</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Saturday</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البَوَّابَةُ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gate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وَزْنُ الأَمْتِعَةِ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baggage 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سَتُقِيمُ فِي</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will stay at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مُهِمٌّ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important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أَحْضِرْ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سَجِّلِ الوُصُولَ</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 in!</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DOCUMENT DETECTIVE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key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flight leave?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Sunday, 10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12 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10 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baggage can you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you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furnished apartment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five-star hotel near the old 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traditional riad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passport and visa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ticket and insurance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When? </a:t>
            </a:r>
            <a:pPr algn="l" indent="0" marL="0">
              <a:lnSpc>
                <a:spcPct val="115000"/>
              </a:lnSpc>
              <a:buNone/>
            </a:pPr>
            <a:r>
              <a:rPr lang="ar-SA" altLang="en-US" sz="1650" dirty="0">
                <a:solidFill>
                  <a:srgbClr val="1E6B52"/>
                </a:solidFill>
                <a:latin typeface="Amiri" pitchFamily="2" charset="-78"/>
                <a:cs typeface="Amiri" pitchFamily="2" charset="-78"/>
              </a:rPr>
              <a:t>مَوْعِدُ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Gate? </a:t>
            </a:r>
            <a:pPr algn="l" indent="0" marL="0">
              <a:lnSpc>
                <a:spcPct val="115000"/>
              </a:lnSpc>
              <a:buNone/>
            </a:pPr>
            <a:r>
              <a:rPr lang="ar-SA" altLang="en-US" sz="1650" dirty="0">
                <a:solidFill>
                  <a:srgbClr val="1E6B52"/>
                </a:solidFill>
                <a:latin typeface="Amiri" pitchFamily="2" charset="-78"/>
                <a:cs typeface="Amiri" pitchFamily="2" charset="-78"/>
              </a:rPr>
              <a:t>البَوَّابَةُ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Baggage? </a:t>
            </a:r>
            <a:pPr algn="l" indent="0" marL="0">
              <a:lnSpc>
                <a:spcPct val="115000"/>
              </a:lnSpc>
              <a:buNone/>
            </a:pPr>
            <a:r>
              <a:rPr lang="ar-SA" altLang="en-US" sz="1650" dirty="0">
                <a:solidFill>
                  <a:srgbClr val="1E6B52"/>
                </a:solidFill>
                <a:latin typeface="Amiri" pitchFamily="2" charset="-78"/>
                <a:cs typeface="Amiri" pitchFamily="2" charset="-78"/>
              </a:rPr>
              <a:t>الأَمْتِعَةُ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Bring? </a:t>
            </a:r>
            <a:pPr algn="l" indent="0" marL="0">
              <a:lnSpc>
                <a:spcPct val="115000"/>
              </a:lnSpc>
              <a:buNone/>
            </a:pPr>
            <a:r>
              <a:rPr lang="ar-SA" altLang="en-US" sz="1650" dirty="0">
                <a:solidFill>
                  <a:srgbClr val="1E6B52"/>
                </a:solidFill>
                <a:latin typeface="Amiri" pitchFamily="2" charset="-78"/>
                <a:cs typeface="Amiri" pitchFamily="2" charset="-78"/>
              </a:rPr>
              <a:t>أَحْضِرْ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DOCUMENT DETECTIVE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Key facts: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flight leave?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Sunday, 10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Saturday, 12 noon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Saturday, 10 a.m.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مَوْعِدُ القِيَامِ: يَوْمَ السَّبْتِ، السَّاعَةَ العَاشِرَةَ صَبَاحًا.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البَوَّابَةُ: ١٢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baggage can you take?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kg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وَزْنُ الأَمْتِعَةِ: ٢٠ كِيلُوغْرَامًا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you stay?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furnished apartment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five-star hotel near the old 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traditional riad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سَتُقِيمُ فِي فُنْدُقٍ بِخَمْسِ نُجُومٍ قُرْبَ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bring?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passport and visa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ticket and insurance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أَحْضِرْ جَوَازَ سَفَرِكَ وَالتَّأْشِيرَةَ.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When? </a:t>
            </a:r>
            <a:pPr algn="l" indent="0" marL="0">
              <a:lnSpc>
                <a:spcPct val="115000"/>
              </a:lnSpc>
              <a:buNone/>
            </a:pPr>
            <a:r>
              <a:rPr lang="ar-SA" altLang="en-US" sz="1650" dirty="0">
                <a:solidFill>
                  <a:srgbClr val="1E6B52"/>
                </a:solidFill>
                <a:latin typeface="Amiri" pitchFamily="2" charset="-78"/>
                <a:cs typeface="Amiri" pitchFamily="2" charset="-78"/>
              </a:rPr>
              <a:t>مَوْعِدُ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Gate? </a:t>
            </a:r>
            <a:pPr algn="l" indent="0" marL="0">
              <a:lnSpc>
                <a:spcPct val="115000"/>
              </a:lnSpc>
              <a:buNone/>
            </a:pPr>
            <a:r>
              <a:rPr lang="ar-SA" altLang="en-US" sz="1650" dirty="0">
                <a:solidFill>
                  <a:srgbClr val="1E6B52"/>
                </a:solidFill>
                <a:latin typeface="Amiri" pitchFamily="2" charset="-78"/>
                <a:cs typeface="Amiri" pitchFamily="2" charset="-78"/>
              </a:rPr>
              <a:t>البَوَّابَةُ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Baggage? </a:t>
            </a:r>
            <a:pPr algn="l" indent="0" marL="0">
              <a:lnSpc>
                <a:spcPct val="115000"/>
              </a:lnSpc>
              <a:buNone/>
            </a:pPr>
            <a:r>
              <a:rPr lang="ar-SA" altLang="en-US" sz="1650" dirty="0">
                <a:solidFill>
                  <a:srgbClr val="1E6B52"/>
                </a:solidFill>
                <a:latin typeface="Amiri" pitchFamily="2" charset="-78"/>
                <a:cs typeface="Amiri" pitchFamily="2" charset="-78"/>
              </a:rPr>
              <a:t>الأَمْتِعَةُ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Bring? </a:t>
            </a:r>
            <a:pPr algn="l" indent="0" marL="0">
              <a:lnSpc>
                <a:spcPct val="115000"/>
              </a:lnSpc>
              <a:buNone/>
            </a:pPr>
            <a:r>
              <a:rPr lang="ar-SA" altLang="en-US" sz="1650" dirty="0">
                <a:solidFill>
                  <a:srgbClr val="1E6B52"/>
                </a:solidFill>
                <a:latin typeface="Amiri" pitchFamily="2" charset="-78"/>
                <a:cs typeface="Amiri" pitchFamily="2" charset="-78"/>
              </a:rPr>
              <a:t>أَحْضِرْ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will stay in a hotel.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أُقِيمُ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سَأُقِيمُ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فُنْدُقٍ.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فُنْدُقًا.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booked the hotel a month ago.</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أَحْجِزُ</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حَجَزْتُ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الفُنْدُقَ</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التَّأْشِيرَةَ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بَعْدَ شَهْرٍ.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قَبْلَ شَهْرٍ.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Bring your passport and visa!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أَحْضِرْ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يُحْضِرُ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جَدْوَلَ رِحْلَتِكَ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جَوَازَ سَفَرِكَ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وَالتَّأْشِيرَةَ!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وَالبَوَّابَةَ!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will stay in a hotel.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Future </a:t>
            </a:r>
            <a:pPr algn="l" indent="0" marL="0">
              <a:buNone/>
            </a:pPr>
            <a:r>
              <a:rPr lang="ar-SA" altLang="en-US" sz="1350" dirty="0">
                <a:solidFill>
                  <a:srgbClr val="5A6472"/>
                </a:solidFill>
                <a:latin typeface="Amiri" pitchFamily="2" charset="-78"/>
                <a:cs typeface="Amiri" pitchFamily="2" charset="-78"/>
              </a:rPr>
              <a:t>سَـ</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cs typeface="Amiri" pitchFamily="2" charset="-78"/>
              </a:rPr>
              <a:t>يُقِيمُ فِي</a:t>
            </a:r>
            <a:pPr algn="l" indent="0" marL="0">
              <a:buNone/>
            </a:pPr>
            <a:r>
              <a:rPr lang="en-US" sz="1050" i="1" dirty="0">
                <a:solidFill>
                  <a:srgbClr val="5A6472"/>
                </a:solidFill>
                <a:latin typeface="Calibri" pitchFamily="34" charset="0"/>
                <a:cs typeface="Amiri" pitchFamily="2" charset="-78"/>
              </a:rPr>
              <a:t> + place.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سَأُقِيمُ فِي فُنْدُقٍ.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booked the hotel a month ago.</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Past: </a:t>
            </a:r>
            <a:pPr algn="l" indent="0" marL="0">
              <a:buNone/>
            </a:pPr>
            <a:r>
              <a:rPr lang="ar-SA" altLang="en-US" sz="1350" dirty="0">
                <a:solidFill>
                  <a:srgbClr val="5A6472"/>
                </a:solidFill>
                <a:latin typeface="Amiri" pitchFamily="2" charset="-78"/>
                <a:cs typeface="Amiri" pitchFamily="2" charset="-78"/>
              </a:rPr>
              <a:t>حَجَزْتُ</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cs typeface="Amiri" pitchFamily="2" charset="-78"/>
              </a:rPr>
              <a:t>ـتُ</a:t>
            </a:r>
            <a:pPr algn="l" indent="0" marL="0">
              <a:buNone/>
            </a:pPr>
            <a:r>
              <a:rPr lang="en-US" sz="1050" i="1" dirty="0">
                <a:solidFill>
                  <a:srgbClr val="5A6472"/>
                </a:solidFill>
                <a:latin typeface="Calibri" pitchFamily="34" charset="0"/>
                <a:cs typeface="Amiri" pitchFamily="2" charset="-78"/>
              </a:rPr>
              <a:t> = I); </a:t>
            </a:r>
            <a:pPr algn="l" indent="0" marL="0">
              <a:buNone/>
            </a:pPr>
            <a:r>
              <a:rPr lang="ar-SA" altLang="en-US" sz="1350" dirty="0">
                <a:solidFill>
                  <a:srgbClr val="5A6472"/>
                </a:solidFill>
                <a:latin typeface="Amiri" pitchFamily="2" charset="-78"/>
                <a:cs typeface="Amiri" pitchFamily="2" charset="-78"/>
              </a:rPr>
              <a:t>قَبْلَ</a:t>
            </a:r>
            <a:pPr algn="l" indent="0" marL="0">
              <a:buNone/>
            </a:pPr>
            <a:r>
              <a:rPr lang="en-US" sz="1050" i="1" dirty="0">
                <a:solidFill>
                  <a:srgbClr val="5A6472"/>
                </a:solidFill>
                <a:latin typeface="Calibri" pitchFamily="34" charset="0"/>
                <a:cs typeface="Amiri" pitchFamily="2" charset="-78"/>
              </a:rPr>
              <a:t> = ago, before.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حَجَزْتُ الفُنْدُقَ قَبْلَ شَهْرٍ.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Bring your passport and visa!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instruction: </a:t>
            </a:r>
            <a:pPr algn="l" indent="0" marL="0">
              <a:buNone/>
            </a:pPr>
            <a:r>
              <a:rPr lang="ar-SA" altLang="en-US" sz="1350" dirty="0">
                <a:solidFill>
                  <a:srgbClr val="5A6472"/>
                </a:solidFill>
                <a:latin typeface="Amiri" pitchFamily="2" charset="-78"/>
                <a:cs typeface="Amiri" pitchFamily="2" charset="-78"/>
              </a:rPr>
              <a:t>أَحْضِرْ</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أَحْضِرْ جَوَازَ سَفَرِكَ وَالتَّأْشِيرَةَ!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past or future?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سَأَحْجِزُ</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أَحْجِزُ</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حَجَزْتُ</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أُقِيمُ فِي</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سَتَحْصُلُ</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يَحْجِزُ</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أَقَمْتُ فِي</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لَكَانَ</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أَحْجِزُ</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أُقِيمُ فِي</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يَحْجِزُ</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حَجَزْتُ</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أَقَمْتُ فِي</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سَأَحْجِزُ</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سَتَحْصُلُ</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لَكَانَ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3,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___ مُبَكِّرًا، سَتَحْصُلُ عَلَى سِعْرٍ أَرْخَصَ.</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تَحْجِزُ</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سَتَحْجِزُ</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فِي فُنْدُقٍ آخَرَ، ___ أَفْضَلَ.</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حَجَزْتُ فُنْدُقًا جَمِيلًا.</a:t>
            </a:r>
            <a:endParaRPr lang="ar-SA" sz="13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أُحِبُّ السَّفَرَ.</a:t>
            </a:r>
            <a:endParaRPr lang="ar-SA" sz="13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cs typeface="Amiri" pitchFamily="2" charset="-78"/>
              </a:rPr>
              <a:t>كُنْتُ قَدْ 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___ مُبَكِّرًا، سَتَحْصُلُ عَلَى سِعْرٍ أَرْخَصَ.</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تَحْجِزُ</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حَجَزْتَ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سَتَحْجِزُ</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فِي فُنْدُقٍ آخَرَ، ___ أَفْضَلَ.</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حَجَزْتُ فُنْدُقًا جَمِيلًا.</a:t>
            </a:r>
            <a:endParaRPr lang="ar-SA" sz="13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أُحِبُّ السَّفَرَ.</a:t>
            </a:r>
            <a:endParaRPr lang="ar-SA" sz="13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reported speech + Type 1 conditional in one sentence.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must come after </a:t>
            </a:r>
            <a:pPr algn="l" indent="0" marL="0">
              <a:buNone/>
            </a:pPr>
            <a:r>
              <a:rPr lang="ar-SA" altLang="en-US" sz="1700" dirty="0">
                <a:solidFill>
                  <a:srgbClr val="5A6472"/>
                </a:solidFill>
                <a:latin typeface="Amiri" pitchFamily="2" charset="-78"/>
                <a:cs typeface="Amiri" pitchFamily="2" charset="-78"/>
              </a:rPr>
              <a:t>أُقِيمُ</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cs typeface="Amiri" pitchFamily="2" charset="-78"/>
              </a:rPr>
              <a:t>إِذَا</a:t>
            </a:r>
            <a:pPr algn="l" indent="0" marL="0">
              <a:buNone/>
            </a:pPr>
            <a:r>
              <a:rPr lang="en-US" sz="1300" i="1" dirty="0">
                <a:solidFill>
                  <a:srgbClr val="5A6472"/>
                </a:solidFill>
                <a:latin typeface="Calibri" pitchFamily="34" charset="0"/>
                <a:cs typeface="Amiri" pitchFamily="2" charset="-78"/>
              </a:rPr>
              <a:t>, do we use the past or the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cs typeface="Amiri" pitchFamily="2" charset="-78"/>
              </a:rPr>
              <a:t>لَوْ</a:t>
            </a:r>
            <a:pPr algn="l" indent="0" marL="0">
              <a:buNone/>
            </a:pPr>
            <a:r>
              <a:rPr lang="en-US" sz="1300" i="1" dirty="0">
                <a:solidFill>
                  <a:srgbClr val="5A6472"/>
                </a:solidFill>
                <a:latin typeface="Calibri" pitchFamily="34" charset="0"/>
                <a:cs typeface="Amiri" pitchFamily="2" charset="-78"/>
              </a:rPr>
              <a:t>, which result word: </a:t>
            </a:r>
            <a:pPr algn="l" indent="0" marL="0">
              <a:buNone/>
            </a:pPr>
            <a:r>
              <a:rPr lang="ar-SA" altLang="en-US" sz="1700" dirty="0">
                <a:solidFill>
                  <a:srgbClr val="5A6472"/>
                </a:solidFill>
                <a:latin typeface="Amiri" pitchFamily="2" charset="-78"/>
                <a:cs typeface="Amiri" pitchFamily="2" charset="-78"/>
              </a:rPr>
              <a:t>سَـ</a:t>
            </a:r>
            <a:pPr algn="l" indent="0" marL="0">
              <a:buNone/>
            </a:pPr>
            <a:r>
              <a:rPr lang="en-US" sz="1300" i="1" dirty="0">
                <a:solidFill>
                  <a:srgbClr val="5A6472"/>
                </a:solidFill>
                <a:latin typeface="Calibri" pitchFamily="34" charset="0"/>
                <a:cs typeface="Amiri" pitchFamily="2" charset="-78"/>
              </a:rPr>
              <a:t> or </a:t>
            </a:r>
            <a:pPr algn="l" indent="0" marL="0">
              <a:buNone/>
            </a:pPr>
            <a:r>
              <a:rPr lang="ar-SA" altLang="en-US" sz="1700" dirty="0">
                <a:solidFill>
                  <a:srgbClr val="5A6472"/>
                </a:solidFill>
                <a:latin typeface="Amiri" pitchFamily="2" charset="-78"/>
                <a:cs typeface="Amiri" pitchFamily="2" charset="-78"/>
              </a:rPr>
              <a:t>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يُقِيمُ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cs typeface="Amiri" pitchFamily="2" charset="-78"/>
              </a:rPr>
              <a:t>قَبْلَ شَهْرَيْنِ</a:t>
            </a:r>
            <a:pPr algn="l" indent="0" marL="0">
              <a:buNone/>
            </a:pPr>
            <a:r>
              <a:rPr lang="en-US" sz="1250" dirty="0">
                <a:solidFill>
                  <a:srgbClr val="1E6B52"/>
                </a:solidFill>
                <a:latin typeface="Calibri" pitchFamily="34" charset="0"/>
                <a:cs typeface="Amiri" pitchFamily="2" charset="-78"/>
              </a:rPr>
              <a:t> (two months ago), </a:t>
            </a:r>
            <a:pPr algn="l" indent="0" marL="0">
              <a:buNone/>
            </a:pPr>
            <a:r>
              <a:rPr lang="ar-SA" altLang="en-US" sz="1650" dirty="0">
                <a:solidFill>
                  <a:srgbClr val="1E6B52"/>
                </a:solidFill>
                <a:latin typeface="Amiri" pitchFamily="2" charset="-78"/>
                <a:cs typeface="Amiri" pitchFamily="2" charset="-78"/>
              </a:rPr>
              <a:t>مُبَكِّرًا</a:t>
            </a:r>
            <a:pPr algn="l" indent="0" marL="0">
              <a:buNone/>
            </a:pPr>
            <a:r>
              <a:rPr lang="en-US" sz="1250" dirty="0">
                <a:solidFill>
                  <a:srgbClr val="1E6B52"/>
                </a:solidFill>
                <a:latin typeface="Calibri" pitchFamily="34" charset="0"/>
                <a:cs typeface="Amiri" pitchFamily="2" charset="-78"/>
              </a:rPr>
              <a:t> (early) and </a:t>
            </a:r>
            <a:pPr algn="l" indent="0" marL="0">
              <a:buNone/>
            </a:pPr>
            <a:r>
              <a:rPr lang="ar-SA" altLang="en-US" sz="1650" dirty="0">
                <a:solidFill>
                  <a:srgbClr val="1E6B52"/>
                </a:solidFill>
                <a:latin typeface="Amiri" pitchFamily="2" charset="-78"/>
                <a:cs typeface="Amiri" pitchFamily="2" charset="-78"/>
              </a:rPr>
              <a:t>رِيَاضٍ تَقْلِيدِيٍّ</a:t>
            </a:r>
            <a:pPr algn="l" indent="0" marL="0">
              <a:buNone/>
            </a:pPr>
            <a:r>
              <a:rPr lang="en-US" sz="1250" dirty="0">
                <a:solidFill>
                  <a:srgbClr val="1E6B52"/>
                </a:solidFill>
                <a:latin typeface="Calibri" pitchFamily="34" charset="0"/>
                <a:cs typeface="Amiri" pitchFamily="2" charset="-78"/>
              </a:rPr>
              <a:t> (a traditional riad).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says: I had booked my trip to Marrakesh two months ago, and I had renewed my passport.</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أَحْجِزُ دَائِمًا تَذَاكِرِي مُبَكِّرًا لِأَحْصُلَ عَلَى الدَّرَجَةِ الاِقْتِصَادِيَّةِ بِسِعْرٍ مُنَاسِبٍ.</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always book my tickets early to get economy class at a good price.</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سَأُقِيمُ فِي رِيَاضٍ تَقْلِيدِيٍّ فِي المَدِينَةِ القَدِيمَةِ.</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stay in a traditional riad in the old city.</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وَأَشَارَ دَلِيلُ السَّفَرِ إِلَى أَنَّهُ إِذَا وَصَلْتُ مُبَكِّرًا، سَأَزُورُ سُوقَ الجُدَيْدَةِ قَبْلَ الزِّحَامِ.</a:t>
            </a:r>
            <a:endParaRPr lang="ar-SA" sz="185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 guide said that if I arrive early, I will visit the market before the crowds.</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التَّأْشِيرَةُ فَقَدْ حَصَلْتُ عَلَيْهَا إِلِكْتْرُونِيًّا.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visa, I got it online.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وَلَوْ حَجَزْتُ فِي فُنْدُقٍ حَدِيثٍ خَارِجَ المَدِينَةِ، لَفَقَدْتُ سِحْرَ الأَحْيَاءِ القَدِيمَةِ.</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 booked a modern hotel outside the city, I would have lost the charm of the old quarters.</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سَأَحْمِلُ حَقِيبَةً وَاحِدَةً فَقَطْ لِأَتَجَنَّبَ رُسُومَ الأَمْتِعَةِ الزَّائِدَةِ.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carry only one bag to avoid extra baggage fees.</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cs typeface="Amiri" pitchFamily="2" charset="-78"/>
              </a:rPr>
              <a:t>قَبْلَ شَهْرَيْنِ</a:t>
            </a:r>
            <a:pPr algn="l" indent="0" marL="0">
              <a:buNone/>
            </a:pPr>
            <a:r>
              <a:rPr lang="en-US" sz="1250" dirty="0">
                <a:solidFill>
                  <a:srgbClr val="1E6B52"/>
                </a:solidFill>
                <a:latin typeface="Calibri" pitchFamily="34" charset="0"/>
                <a:cs typeface="Amiri" pitchFamily="2" charset="-78"/>
              </a:rPr>
              <a:t> (two months ago), </a:t>
            </a:r>
            <a:pPr algn="l" indent="0" marL="0">
              <a:buNone/>
            </a:pPr>
            <a:r>
              <a:rPr lang="ar-SA" altLang="en-US" sz="1650" dirty="0">
                <a:solidFill>
                  <a:srgbClr val="1E6B52"/>
                </a:solidFill>
                <a:latin typeface="Amiri" pitchFamily="2" charset="-78"/>
                <a:cs typeface="Amiri" pitchFamily="2" charset="-78"/>
              </a:rPr>
              <a:t>مُبَكِّرًا</a:t>
            </a:r>
            <a:pPr algn="l" indent="0" marL="0">
              <a:buNone/>
            </a:pPr>
            <a:r>
              <a:rPr lang="en-US" sz="1250" dirty="0">
                <a:solidFill>
                  <a:srgbClr val="1E6B52"/>
                </a:solidFill>
                <a:latin typeface="Calibri" pitchFamily="34" charset="0"/>
                <a:cs typeface="Amiri" pitchFamily="2" charset="-78"/>
              </a:rPr>
              <a:t> (early) and </a:t>
            </a:r>
            <a:pPr algn="l" indent="0" marL="0">
              <a:buNone/>
            </a:pPr>
            <a:r>
              <a:rPr lang="ar-SA" altLang="en-US" sz="1650" dirty="0">
                <a:solidFill>
                  <a:srgbClr val="1E6B52"/>
                </a:solidFill>
                <a:latin typeface="Amiri" pitchFamily="2" charset="-78"/>
                <a:cs typeface="Amiri" pitchFamily="2" charset="-78"/>
              </a:rPr>
              <a:t>رِيَاضٍ تَقْلِيدِيٍّ</a:t>
            </a:r>
            <a:pPr algn="l" indent="0" marL="0">
              <a:buNone/>
            </a:pPr>
            <a:r>
              <a:rPr lang="en-US" sz="1250" dirty="0">
                <a:solidFill>
                  <a:srgbClr val="1E6B52"/>
                </a:solidFill>
                <a:latin typeface="Calibri" pitchFamily="34" charset="0"/>
                <a:cs typeface="Amiri" pitchFamily="2" charset="-78"/>
              </a:rPr>
              <a:t> (a traditional riad).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الوَثَائِقُ الَّتِي تَحْتَاجُهَا لِلسَّفَرِ؟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حَجَزْتَ رِحْلَتَكَ، وَأَيْنَ سَتُقِيمُ؟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سَيَحْدُثُ إِذَا سَجَّلْتَ الوُصُولَ إِلِكْتْرُونِيًّا؟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حَجَزْتَ فِي مَكَانٍ آخَرَ، مَاذَا كَانَ سَيَخْتَلِفُ؟</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أَحْتَاجُ إِلَى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حَجَزْتُ ___ ، وَسَأُقِيمُ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سَيُقِيمُ / سَتُقِيمُ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حَجَزْتَ رِحْلَتَكَ، وَأَيْنَ سَتُقِيمُ؟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did you book your trip, and where will you stay?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حَجَزْتُ رِحْلَتِي قَبْلَ شَهْرَيْنِ، وَسَأُقِيمُ فِي رِيَاضٍ تَقْلِيدِيٍّ.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Past perfect + future </a:t>
            </a:r>
            <a:pPr algn="l" indent="0" marL="0">
              <a:buNone/>
            </a:pPr>
            <a:r>
              <a:rPr lang="ar-SA" altLang="en-US" sz="1250" dirty="0">
                <a:solidFill>
                  <a:srgbClr val="5A6472"/>
                </a:solidFill>
                <a:latin typeface="Amiri" pitchFamily="2" charset="-78"/>
                <a:cs typeface="Amiri" pitchFamily="2" charset="-78"/>
              </a:rPr>
              <a:t>يُقِيمُ فِي</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t>
            </a:r>
            <a:pPr algn="l" indent="0" marL="0">
              <a:buNone/>
            </a:pPr>
            <a:r>
              <a:rPr lang="ar-SA" altLang="en-US" sz="1800" b="1" dirty="0">
                <a:solidFill>
                  <a:srgbClr val="1F2A37"/>
                </a:solidFill>
                <a:latin typeface="Amiri" pitchFamily="2" charset="-78"/>
                <a:cs typeface="Amiri" pitchFamily="2" charset="-78"/>
              </a:rPr>
              <a:t>يَحْجِزُ</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cs typeface="Amiri" pitchFamily="2" charset="-78"/>
              </a:rPr>
              <a:t>يُقِيمُ</a:t>
            </a:r>
            <a:pPr algn="l" indent="0" marL="0">
              <a:buNone/>
            </a:pPr>
            <a:r>
              <a:rPr lang="en-US" sz="1400" b="1" dirty="0">
                <a:solidFill>
                  <a:srgbClr val="1F2A37"/>
                </a:solidFill>
                <a:latin typeface="Calibri" pitchFamily="34" charset="0"/>
                <a:cs typeface="Amiri" pitchFamily="2" charset="-78"/>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Say when you book, where you will stay and which documents you need.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past perfect and one “if” sentence, then give a friend one instruction, such as “Book early!”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a day-by-day itinerary opening with كُنْتُ قَدْ حَجَزْتُ;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حَجَزْتُ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booked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حَجَزْتَ مُبَكِّرًا، سَـ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book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أَحْضِرْ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Bring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الفُنْدُقُ الَّذِي حَجَزْتُهُ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hotel that I booked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الدَّلِيلُ إِلَى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أَحْجِزُ ______ مُبَكِّرًا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book my ticket early.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حَجَزْتُ ______ قَبْلَ شَهْرٍ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booked … a month ago.</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سَأَحْجِزُ رِحْلَةً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book a trip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سَأُقِيمُ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stay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أَحْتَاجُ إِلَى جَوَازِ سَفَرٍ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need a passport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جَوَازُ سَفَرٍ  ·  تَأْشِيرَةٌ  ·  تَذْكِرَةٌ  ·  تَأْمِينُ سَفَرٍ  ·  فُنْدُقٍ  ·  شَقَّةٍ مَفْرُوشَةٍ  ·  رِيَاضٍ  ·  مَرَّاكُشَ  ·  عُمَانَ  ·  مُبَكِّرًا  ·  قَبْلَ شَهْرٍ  ·  الصَّيْفَ القَادِمَ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2" charset="-78"/>
                <a:cs typeface="Amiri" pitchFamily="2" charset="-78"/>
              </a:rPr>
              <a:t>كُنْتُ قَدْ حَجَزْتُ</a:t>
            </a:r>
            <a:pPr algn="l" indent="0" marL="0">
              <a:buNone/>
            </a:pPr>
            <a:r>
              <a:rPr lang="en-US" sz="1300" b="1" dirty="0">
                <a:solidFill>
                  <a:srgbClr val="1F2A37"/>
                </a:solidFill>
                <a:latin typeface="Calibri" pitchFamily="34" charset="0"/>
                <a:cs typeface="Amiri" pitchFamily="2" charset="-78"/>
              </a:rPr>
              <a:t>), use </a:t>
            </a:r>
            <a:pPr algn="l" indent="0" marL="0">
              <a:buNone/>
            </a:pPr>
            <a:r>
              <a:rPr lang="ar-SA" altLang="en-US" sz="1700" b="1" dirty="0">
                <a:solidFill>
                  <a:srgbClr val="1F2A37"/>
                </a:solidFill>
                <a:latin typeface="Amiri" pitchFamily="2" charset="-78"/>
                <a:cs typeface="Amiri" pitchFamily="2" charset="-78"/>
              </a:rPr>
              <a:t>يُقِيمُ فِي</a:t>
            </a:r>
            <a:pPr algn="l" indent="0" marL="0">
              <a:buNone/>
            </a:pPr>
            <a:r>
              <a:rPr lang="en-US" sz="1300" b="1" dirty="0">
                <a:solidFill>
                  <a:srgbClr val="1F2A37"/>
                </a:solidFill>
                <a:latin typeface="Calibri" pitchFamily="34" charset="0"/>
                <a:cs typeface="Amiri" pitchFamily="2" charset="-78"/>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opening with </a:t>
            </a:r>
            <a:pPr algn="l" indent="0" marL="0">
              <a:buNone/>
            </a:pPr>
            <a:r>
              <a:rPr lang="ar-SA" altLang="en-US" sz="1550" dirty="0">
                <a:solidFill>
                  <a:srgbClr val="1F2A37"/>
                </a:solidFill>
                <a:latin typeface="Amiri" pitchFamily="2" charset="-78"/>
                <a:cs typeface="Amiri" pitchFamily="2" charset="-78"/>
              </a:rPr>
              <a:t>يَحْجِزُ</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كُنْتُ قَدْ حَجَزْتُ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يُقِيمُ فِي</a:t>
            </a:r>
            <a:pPr algn="l" indent="0" marL="0">
              <a:buNone/>
            </a:pPr>
            <a:r>
              <a:rPr lang="en-US" sz="1200" dirty="0">
                <a:solidFill>
                  <a:srgbClr val="1F2A37"/>
                </a:solidFill>
                <a:latin typeface="Calibri" pitchFamily="34" charset="0"/>
                <a:cs typeface="Amiri" pitchFamily="2" charset="-78"/>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اليَوْمُ الأَوَّلُ: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Day one: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حَجَزْتُ … قَبْلَ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had booked … before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وَأَشَارَ دَلِيلُ السَّفَرِ إِلَى أَنَّهُ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travel guide indicated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كَانَ الطَّقْسُ جَيِّدًا،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the weather is good, I will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وَلَوْ كُنْتُ قَدْ حَجَزْتُ … لَحَصَلْتُ عَلَى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had I booked …, I would have got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أَنْصَحُ بِـ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recommend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Day one: I had booked my trip to Casablanca two months ago, and I had renewed my passport. I will arrive at the airport in the morning, and I will stay in a traditional riad in the old city. The travel guide said that if I arrive early, I will visit the market before the crowds. Day two: I will book a trip to the mountains, and if the weather is good, I will walk all day. Day three: I will stay one last night near the beach. Had I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قَدْ حَجَزْتُ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يُقِيمُ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 سَـ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 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travel documents: </a:t>
            </a:r>
            <a:pPr algn="l" indent="0" marL="0">
              <a:buNone/>
            </a:pPr>
            <a:r>
              <a:rPr lang="ar-SA" altLang="en-US" sz="1700" dirty="0">
                <a:solidFill>
                  <a:srgbClr val="1F2A37"/>
                </a:solidFill>
                <a:latin typeface="Amiri" pitchFamily="2" charset="-78"/>
                <a:cs typeface="Amiri" pitchFamily="2" charset="-78"/>
              </a:rPr>
              <a:t>جَوَازُ سَفَرٍ، تَأْشِيرَةٌ، تَذْكِرَةٌ</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a:t>
            </a:r>
            <a:pPr algn="l" indent="0" marL="0">
              <a:buNone/>
            </a:pPr>
            <a:r>
              <a:rPr lang="ar-SA" altLang="en-US" sz="1700" dirty="0">
                <a:solidFill>
                  <a:srgbClr val="1F2A37"/>
                </a:solidFill>
                <a:latin typeface="Amiri" pitchFamily="2" charset="-78"/>
                <a:cs typeface="Amiri" pitchFamily="2" charset="-78"/>
              </a:rPr>
              <a:t>أَحْجِزُ / سَأَحْجِزُ</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سَأُقِيمُ فِي</a:t>
            </a:r>
            <a:pPr algn="l" indent="0" marL="0">
              <a:buNone/>
            </a:pPr>
            <a:r>
              <a:rPr lang="en-US" sz="1300" dirty="0">
                <a:solidFill>
                  <a:srgbClr val="1F2A37"/>
                </a:solidFill>
                <a:latin typeface="Calibri" pitchFamily="34" charset="0"/>
                <a:cs typeface="Amiri" pitchFamily="2" charset="-78"/>
              </a:rPr>
              <a:t> … and find key facts in a message.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follow </a:t>
            </a:r>
            <a:pPr algn="l" indent="0" marL="0">
              <a:buNone/>
            </a:pPr>
            <a:r>
              <a:rPr lang="ar-SA" altLang="en-US" sz="1700" dirty="0">
                <a:solidFill>
                  <a:srgbClr val="1F2A37"/>
                </a:solidFill>
                <a:latin typeface="Amiri" pitchFamily="2" charset="-78"/>
                <a:cs typeface="Amiri" pitchFamily="2" charset="-78"/>
              </a:rPr>
              <a:t>يُقِيمُ</a:t>
            </a:r>
            <a:pPr algn="l" indent="0" marL="0">
              <a:buNone/>
            </a:pPr>
            <a:r>
              <a:rPr lang="en-US" sz="1300" dirty="0">
                <a:solidFill>
                  <a:srgbClr val="1F2A37"/>
                </a:solidFill>
                <a:latin typeface="Calibri" pitchFamily="34" charset="0"/>
                <a:cs typeface="Amiri" pitchFamily="2" charset="-78"/>
              </a:rPr>
              <a:t> with </a:t>
            </a:r>
            <a:pPr algn="l" indent="0" marL="0">
              <a:buNone/>
            </a:pPr>
            <a:r>
              <a:rPr lang="ar-SA" altLang="en-US" sz="1700" dirty="0">
                <a:solidFill>
                  <a:srgbClr val="1F2A37"/>
                </a:solidFill>
                <a:latin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before accommodation.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understand instructions on a form: </a:t>
            </a:r>
            <a:pPr algn="l" indent="0" marL="0">
              <a:buNone/>
            </a:pPr>
            <a:r>
              <a:rPr lang="ar-SA" altLang="en-US" sz="1700" dirty="0">
                <a:solidFill>
                  <a:srgbClr val="1F2A37"/>
                </a:solidFill>
                <a:latin typeface="Amiri" pitchFamily="2" charset="-78"/>
                <a:cs typeface="Amiri" pitchFamily="2" charset="-78"/>
              </a:rPr>
              <a:t>أَحْضِرْ، سَجِّلْ، اِحْجِزْ</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open an itinerary day with a past perfect (</a:t>
            </a:r>
            <a:pPr algn="l" indent="0" marL="0">
              <a:buNone/>
            </a:pPr>
            <a:r>
              <a:rPr lang="ar-SA" altLang="en-US" sz="1700" dirty="0">
                <a:solidFill>
                  <a:srgbClr val="1F2A37"/>
                </a:solidFill>
                <a:latin typeface="Amiri" pitchFamily="2" charset="-78"/>
                <a:cs typeface="Amiri" pitchFamily="2" charset="-78"/>
              </a:rPr>
              <a:t>كُنْتُ قَدْ حَجَزْتُ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أُقِيمُ ___ فُنْدُقٍ قَرِيبٍ مِنَ الشَّاطِئِ.</a:t>
            </a:r>
            <a:endParaRPr lang="ar-SA" sz="10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إِذَا ___ مُبَكِّرًا، سَتَحْصُلُ عَلَى سِعْرٍ أَرْخَصَ.</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سَتَحْجِزُ</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أُقِيمُ ___ فُنْدُقٍ قَرِيبٍ مِنَ الشَّاطِئِ.</a:t>
            </a:r>
            <a:endParaRPr lang="ar-SA" sz="10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إِذَا ___ مُبَكِّرًا، سَتَحْصُلُ عَلَى سِعْرٍ أَرْخَصَ.</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حَجَزْتَ</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تَحْجِزُ</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سَتَحْجِزُ</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cs typeface="Amiri" pitchFamily="2" charset="-78"/>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أُخَطِّطُ لِـ</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plan (for)</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الأَسَاسِيَّاتُ</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basics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الطَّائِرَةُ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plane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أُجَدِّدُ</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renew</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أَشْتَرِي</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buy</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الأَخِيرَةُ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last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المَرْكَزُ</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المُنَظِّمُ</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organiser</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سَجَّلْتُ الوُصُولَ</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checked in</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نُزُلٌ جَبَلِيٌّ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mountain lodge</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العُطْلَةُ الرَّسْمِيَّةُ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public holiday</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TC-L08 · Buildings, Services and Urban Areas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a:t>
            </a:r>
            <a:pPr indent="0" marL="0">
              <a:buNone/>
            </a:pPr>
            <a:r>
              <a:rPr lang="en-US" sz="1000" i="1" dirty="0">
                <a:solidFill>
                  <a:srgbClr val="5A6472"/>
                </a:solidFill>
                <a:latin typeface="Calibri" pitchFamily="34" charset="0"/>
                <a:cs typeface="Amiri" pitchFamily="2" charset="-78"/>
              </a:rPr>
              <a:t>  pl. 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بَنْكٌ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bank</a:t>
            </a:r>
            <a:pPr indent="0" marL="0">
              <a:buNone/>
            </a:pPr>
            <a:r>
              <a:rPr lang="en-US" sz="1000" i="1" dirty="0">
                <a:solidFill>
                  <a:srgbClr val="5A6472"/>
                </a:solidFill>
                <a:latin typeface="Calibri" pitchFamily="34" charset="0"/>
                <a:cs typeface="Amiri" pitchFamily="2" charset="-78"/>
              </a:rPr>
              <a:t>  pl. بُنُوكٌ</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مَكْتَبَةٌ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library</a:t>
            </a:r>
            <a:pPr indent="0" marL="0">
              <a:buNone/>
            </a:pPr>
            <a:r>
              <a:rPr lang="en-US" sz="1000" i="1" dirty="0">
                <a:solidFill>
                  <a:srgbClr val="5A6472"/>
                </a:solidFill>
                <a:latin typeface="Calibri" pitchFamily="34" charset="0"/>
                <a:cs typeface="Amiri" pitchFamily="2" charset="-78"/>
              </a:rPr>
              <a:t>  pl. مَكْتَبَاتٌ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مَقْهًى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café</a:t>
            </a:r>
            <a:pPr indent="0" marL="0">
              <a:buNone/>
            </a:pPr>
            <a:r>
              <a:rPr lang="en-US" sz="1000" i="1" dirty="0">
                <a:solidFill>
                  <a:srgbClr val="5A6472"/>
                </a:solidFill>
                <a:latin typeface="Calibri" pitchFamily="34" charset="0"/>
                <a:cs typeface="Amiri" pitchFamily="2" charset="-78"/>
              </a:rPr>
              <a:t>  pl. مَقَاهٍ</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مَحَطَّةُ القِطَارِ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train station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places are there in your town?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يُوجَدُ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TC-L07 · play “Document Detective”,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message to a friend with three instructions for a trip: </a:t>
            </a:r>
            <a:pPr algn="l" indent="0" marL="0">
              <a:buNone/>
            </a:pPr>
            <a:r>
              <a:rPr lang="ar-SA" altLang="en-US" sz="1550" dirty="0">
                <a:solidFill>
                  <a:srgbClr val="1F2A37"/>
                </a:solidFill>
                <a:latin typeface="Amiri" pitchFamily="2" charset="-78"/>
                <a:cs typeface="Amiri" pitchFamily="2" charset="-78"/>
              </a:rPr>
              <a:t>اِحْجِزْ</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أَحْضِرْ</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سَجِّلْ</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TC-L07 · “Booking Mission” (14 rounds) and the reading “A traveller’s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TC-L08 · Buildings, Services and Urban Areas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المَبَانِي وَالخَدَمَاتُ وَالمَنَاطِقُ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Documents, Texts and Digital Information</dc:title>
  <dc:subject>PptxGenJS Presentation</dc:subject>
  <dc:creator>Al Madina Online School · Arabic Department</dc:creator>
  <cp:lastModifiedBy>Al Madina Online School · Arabic Department</cp:lastModifiedBy>
  <cp:revision>1</cp:revision>
  <dcterms:created xsi:type="dcterms:W3CDTF">2026-10-11T06:44:00Z</dcterms:created>
  <dcterms:modified xsi:type="dcterms:W3CDTF">2026-10-11T06:44:00Z</dcterms:modified>
</cp:coreProperties>
</file>