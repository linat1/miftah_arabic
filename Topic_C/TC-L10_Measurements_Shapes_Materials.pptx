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10 (TC-L10). The website lesson reuses F6-L07 (The Built Environment: Buildings, Materials and Urban Life) with the Topic C focus “Describe size, form, composition, use and suitability precisely” (grammar: measurement expressions; agreement; passive participles). Core vocabulary also comes from the Topic C Measurements and Materials banks; the picture match is the website lesson game “Measure &amp; Material”; the product card is teacher-made for the website application “Shape and material lab”.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F6-L07 is accessible (A2–B1). CORE: everyday materials + shapes + size words + “it is made of” (مَصْنُوعٌ / مَصْنُوعَةٌ مِنْ) + one measurement (طُولُهُ …). DEVELOP: the website’s building materials, مَبْنِيٌّ / مَبْنِيَّةٌ agreement and يَتَمَيَّزُ بِـ. STRETCH: بَيْنَمَا contrasts and judging suitability (مُنَاسِبٌ لِـ … لِأَنَّ).
• Colour: pink = the ending that agrees (مَصْنُوعٌ / مَصْنُوعَةٌ), m./f. adjective forms on every material card, a product card to read, a read-along listening with English and a “guess my object” speaking game.
• Urdu bridge words (شکل، وزن، مربع، مادہ، تاریخی).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(Flipped Learning follow-up). Questions 3–5 retrieve TC-L09 and TC-L08 — the masculine / feminine agreement that runs through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Today the ending tells you about the thing: made of … changes with masculine and feminine, just like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(size, form, composition, use and suitability; measurement expressions, agreement, passive participles). The website objectives on the left are the F6-L07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شکل (shape — the same word), وزن (weight — TC-L07 وَزْنُ الأَمْتِعَةِ), مربع (a square — Urdu maths), مادہ (matter — Arabic مَادَّةٌ = material), تاریخی (historic — تَارِيخٌ = history, date).
Groups 1–3 are the Topic C Materials and Measurements banks; Groups 4–5 are the website F6-L07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materials (Topic C Materials bank). Hear → Say → See → Use. Hold up or point to real objects around you on camera: a wooden table, a glass, a metal pen, a plastic bottle, paper.
The small boxes show the ADJECTIVE made from each material with ـِيٌّ (m.) / ـِيَّةٌ (f.) — the nisba ending from TC-L02: بَابٌ خَشَبِيٌّ (a wooden door), زُجَاجَةٌ بِلَاسْتِيكِيَّةٌ (a plastic bottle).
Stretch: the website listening says أَبْوَابُهَا الخَشَبِيَّةُ = its wooden doors (plural of things →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shapes and sizes (Topic C Measurements bank). Draw the shapes in the air: a circle, a square, a rectangle; hands wide apart (long), close together (short), arms open (huge).
Bank example: الفِيلُ كَبِيرٌ وَالفَأْرُ صَغِيرٌ = The elephant is big and the mouse is small. Every adjective adds ـة for a feminine thing: طَاوِلَةٌ مُسْتَطِيلَةٌ · صَحْنٌ دَائِرِيٌّ.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measurement expressions (Topic C grammar focus). Pattern: MEASURE + “its” + NUMBER + UNIT. The pink ending is the same attached pronoun as TC-L09 (ثَمَنُهُ / ثَمَنُهَا): ـهُ for a masculine object, ـهَا for a feminine object.
Units (Topic C bank): مِتْرٌ (metre), سَنْتِيمِتْرٌ (cm), كِيلُومِتْرٌ (km), غِرَامٌ (gram), كِيلُوغْرَامٌ (kg), لِتْرٌ (litre).
Two of anything: add ـَانِ → مِتْرَانِ (two metres), كِيلُوغْرَامَانِ (two kilos) — no number word needed!
Core: rows 1–3 (length, width, weight). Rows 4–5 are the website game sentences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passive participles and agreement (Topic C grammar focus), built on the website table “Subject · Participle · Example”.
Purple = the participle (a describing word made from a verb: يَصْنَعُ → مَصْنُوعٌ “made”; يَبْنِي → مَبْنِيٌّ “built”). Pink = the ـة it adds for a feminine thing — and for plurals of THINGS (المَبَانِي … مَبْنِيَّةٌ, website). Teal = مِنْ, which never changes.
Core: rows 1–2 (objects, مَصْنُوعٌ / مَصْنُوعَةٌ). Develop: rows 3–4 (buildings, the website’s مَبْنِيٌّ / مَبْنِيَّةٌ).
Website common error: “Do not write العِمَارَةُ مَبْنِيٌّ. The feminine noun requires مَبْنِيَّةٌ.”
Remember TC-L08: مَبْنِيٌّ always takes مِنْ, never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use and suitability (Topic C focus “composition, use and suitability”). Cards 1–2 are teacher-made; card 3 is the website rule and pattern.
Useful describing words for suitability: قَوِيٌّ (strong), خَفِيفٌ (light), ثَقِيلٌ (heavy), رَخِيصٌ (cheap — TC-L09), جَمِيلٌ (beautiful), فَسِيحٌ (spacious — website).
Website teaching point: “Materials are introduced as language for description, not as isolated science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contrast (FLEX — Develop / Stretch). Rows 1–3 are website examples (quiz, pattern and speaking model); row 4 is from the website listening.
Website rule: “Each side should contain a complete idea that creates a meaningful contrast.” Website teaching point: “Cultural comparison should notice diversity within the Arab world and avoid presenting one building style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“Describe what a building is made of with مَبْنِيٌّ مِنْ. The passive participle agrees with the building noun. Use بَيْنَمَا to compare genuinely different urban and rural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ideally holding or pointing to a real table or desk on camera. Students COPY the description into their books.
Step 1 — “طَاوِلَةٌ ends in ـة, so the shape adjective adds ـة: مُسْتَطِيلَةٌ.”
Step 2 — “Its length: طُولُهَا — ـهَا because it’s the table. Two metres: just مِتْرَانِ.”
Step 3 — “Made of: مَصْنُوعَةٌ مِنَ الخَشَبِ — pink ـة again.”
Step 4 — “Why is wood good? لِأَنَّهُ قَوِيٌّ — because it is strong.”
Teacher-made from the Topic C banks and the website game (طُولُهُ مِتْرَانِ وَهُوَ مَصْنُوعٌ مِنَ الخَشَبِ).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the website patterns. Students copy TWO that are useful for them.
• Core: copy 1 and 2 and change the material (البَيْتُ مَبْنِيٌّ مِنَ الطُّوبِ …). • Develop: copy 3 about a place you know. • Stretch: copy 4 and write your own بَيْنَمَا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PRODUCT CARD (2 min) — Topic C focus “Describe size, form, composition, use and suitability precisely”, set out like a real online product listing. Teacher-made from the Topic C banks and website F6-L07 vocabulary.
Read it aloud once while students follow. SEND: cover the text and uncover one line at a time; Core students use the glossary.
Notice: each line is one of today’s five questions — shape, size, weight, material, use. لَا تَضَعْ = a negative instruction (TC-L07 imperatives).
Translation for the teacher: Product card: study desk. Shape: rectangular. Length: 120 cm · Width: 60 cm. Weight: 15 kg. Material: the desk is made of wood, and the legs of metal. Use: suitable for studying in a small room. Warning: do not put the desk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CARD questions (teacher-made). Students type five letters in the chat. Core: questions 1, 4 and 5 with the key-word clues. Stretch: is this desk suitable for a big family room? Answer with مُنَاسِبٌ لِـ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card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4. Develop / Stretch: all 5.
Listen 1: just listen. Listen 2: note answers. Then chat the letters.
Support: after the second listening, show the read-along slide (Arabic + English, line by line) for Core students.
SCRIPT (read aloud):
فِي الحَيِّ القَدِيمِ بُيُوتٌ تَقْلِيدِيَّةٌ مَبْنِيَّةٌ مِنَ الحَجَرِ وَالطِّينِ. تَتَمَيَّزُ البُيُوتُ بِأَبْوَابِهَا الخَشَبِيَّةِ وَسَاحَاتِهَا الدَّاخِلِيَّةِ. أَمَّا فِي الحَيِّ الجَدِيدِ فَتُوجَدُ عِمَارَاتٌ مُعَاصِرَةٌ مَبْنِيَّةٌ مِنَ الخَرَسَانَةِ وَالزُّجَاجِ. الحَيُّ الجَدِيدُ مُكْتَنِزٌ، بَيْنَمَا الحَيُّ القَدِيمُ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عَنِ العِمَارَةِ الحَدِيثَةِ؟ (How does it differ from the modern block?)
B: البَيْتُ تَقْلِيدِيٌّ وَفَسِيحٌ، بَيْنَمَا العِمَارَةُ مُعَاصِرَةٌ وَمُكْتَنِزَةٌ. (The house is traditional and spacious, whereas the block is contemporary and compact.)
SHAPE AND MATERIAL LAB (website application): “Describe objects by measurement, shape and material. Partners identify the object, then improve the description with a precise property or comparison.”
Game: A describes an object in the room WITHOUT naming it (shape + material + one measurement); B guesses: هَلْ هُوَ … ؟ Then B adds one more precise detail. Core prompt 1 is teacher-made for this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four buildings to their materials. · Develop — Write an accurate comparison using agreement and بَيْنَمَا. · Stretch — Analyse how a contemporary building can respect architectural heritage and propose one design feature.
Website writing task (Stretch): Compare an old building and a modern building in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materials after مِنَ; Stretch find the contrast and explain why الأَوَّلَ / الثَّانِيَ refer to the two buildings.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(TC-L11 · Topic C Integrated Communication Workshop) will spend class time USING this language, so students prepare it tonight — short, simple, easy to access (school guidance: “Simple, Short, Interesting, Relevant, Easy to access”). The five phrases come from the website lesson (D4-L11 “Speaking and self-correction” vocabulary) — you will use them in next lesson’s workshop.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Measurements, Shapes and Materials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القِيَاسَاتُ وَالأَشْكَالُ وَالمَوَادُّ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 object or a building precisely: its shape, its size (</a:t>
            </a:r>
            <a:pPr algn="l" indent="0" marL="0">
              <a:buNone/>
            </a:pPr>
            <a:r>
              <a:rPr lang="ar-SA" altLang="en-US" sz="1800" dirty="0">
                <a:solidFill>
                  <a:srgbClr val="C6D2E6"/>
                </a:solidFill>
                <a:latin typeface="Amiri" pitchFamily="34" charset="0"/>
                <a:ea typeface="Amiri" pitchFamily="34" charset="-122"/>
                <a:cs typeface="Amiri" pitchFamily="34" charset="-120"/>
              </a:rPr>
              <a:t>طُولُهُ مِتْرَانِ</a:t>
            </a:r>
            <a:pPr algn="l" indent="0" marL="0">
              <a:buNone/>
            </a:pPr>
            <a:r>
              <a:rPr lang="en-US" sz="1400" dirty="0">
                <a:solidFill>
                  <a:srgbClr val="C6D2E6"/>
                </a:solidFill>
                <a:latin typeface="Calibri" pitchFamily="34" charset="0"/>
                <a:ea typeface="Calibri" pitchFamily="34" charset="-122"/>
                <a:cs typeface="Calibri" pitchFamily="34" charset="-120"/>
              </a:rPr>
              <a:t>), what it is made of (</a:t>
            </a:r>
            <a:pPr algn="l" indent="0" marL="0">
              <a:buNone/>
            </a:pPr>
            <a:r>
              <a:rPr lang="ar-SA" altLang="en-US" sz="1800" dirty="0">
                <a:solidFill>
                  <a:srgbClr val="C6D2E6"/>
                </a:solidFill>
                <a:latin typeface="Amiri" pitchFamily="34" charset="0"/>
                <a:ea typeface="Amiri" pitchFamily="34" charset="-122"/>
                <a:cs typeface="Amiri" pitchFamily="34" charset="-120"/>
              </a:rPr>
              <a:t>مَصْنُوعٌ مِنْ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مَبْنِيٌّ مِنْ</a:t>
            </a:r>
            <a:pPr algn="l" indent="0" marL="0">
              <a:buNone/>
            </a:pPr>
            <a:r>
              <a:rPr lang="en-US" sz="1400" dirty="0">
                <a:solidFill>
                  <a:srgbClr val="C6D2E6"/>
                </a:solidFill>
                <a:latin typeface="Calibri" pitchFamily="34" charset="0"/>
                <a:ea typeface="Calibri" pitchFamily="34" charset="-122"/>
                <a:cs typeface="Calibri" pitchFamily="34" charset="-120"/>
              </a:rPr>
              <a:t>), what it is for and why it is suitable.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TC-L10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Materials, shapes, sizes, “made of”.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product card,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طُوبٌ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“metre”?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حَقِيبَةٌ. 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مَكْتَبَةٌ فِي مَدِينَتِي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طُوبٌ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concrete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طُوبٌ</a:t>
            </a:r>
            <a:pPr algn="l" indent="0" marL="0">
              <a:buNone/>
            </a:pPr>
            <a:r>
              <a:rPr lang="en-US" sz="1050" i="1" dirty="0">
                <a:solidFill>
                  <a:srgbClr val="8A6D1E"/>
                </a:solidFill>
                <a:latin typeface="Calibri" pitchFamily="34" charset="0"/>
                <a:ea typeface="Calibri" pitchFamily="34" charset="-122"/>
                <a:cs typeface="Calibri" pitchFamily="34" charset="-120"/>
              </a:rPr>
              <a:t> = brick · </a:t>
            </a:r>
            <a:pPr algn="l" indent="0" marL="0">
              <a:buNone/>
            </a:pPr>
            <a:r>
              <a:rPr lang="ar-SA" altLang="en-US" sz="1350" dirty="0">
                <a:solidFill>
                  <a:srgbClr val="8A6D1E"/>
                </a:solidFill>
                <a:latin typeface="Amiri" pitchFamily="34" charset="0"/>
                <a:ea typeface="Amiri" pitchFamily="34" charset="-122"/>
                <a:cs typeface="Amiri" pitchFamily="34" charset="-120"/>
              </a:rPr>
              <a:t>مَعْدِنٌ</a:t>
            </a:r>
            <a:pPr algn="l" indent="0" marL="0">
              <a:buNone/>
            </a:pPr>
            <a:r>
              <a:rPr lang="en-US" sz="1050" i="1" dirty="0">
                <a:solidFill>
                  <a:srgbClr val="8A6D1E"/>
                </a:solidFill>
                <a:latin typeface="Calibri" pitchFamily="34" charset="0"/>
                <a:ea typeface="Calibri" pitchFamily="34" charset="-122"/>
                <a:cs typeface="Calibri" pitchFamily="34" charset="-120"/>
              </a:rPr>
              <a:t> = metal · </a:t>
            </a:r>
            <a:pPr algn="l" indent="0" marL="0">
              <a:buNone/>
            </a:pPr>
            <a:r>
              <a:rPr lang="ar-SA" altLang="en-US" sz="1350" dirty="0">
                <a:solidFill>
                  <a:srgbClr val="8A6D1E"/>
                </a:solidFill>
                <a:latin typeface="Amiri" pitchFamily="34" charset="0"/>
                <a:ea typeface="Amiri" pitchFamily="34" charset="-122"/>
                <a:cs typeface="Amiri" pitchFamily="34" charset="-120"/>
              </a:rPr>
              <a:t>خَرَسَانَةٌ</a:t>
            </a:r>
            <a:pPr algn="l" indent="0" marL="0">
              <a:buNone/>
            </a:pPr>
            <a:r>
              <a:rPr lang="en-US" sz="1050" i="1" dirty="0">
                <a:solidFill>
                  <a:srgbClr val="8A6D1E"/>
                </a:solidFill>
                <a:latin typeface="Calibri" pitchFamily="34" charset="0"/>
                <a:ea typeface="Calibri" pitchFamily="34" charset="-122"/>
                <a:cs typeface="Calibri" pitchFamily="34" charset="-120"/>
              </a:rPr>
              <a:t> = concrete.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“metre”?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مِتْرٌ</a:t>
            </a:r>
            <a:pPr algn="l" indent="0" marL="0">
              <a:buNone/>
            </a:pPr>
            <a:r>
              <a:rPr lang="en-US" sz="1050" i="1" dirty="0">
                <a:solidFill>
                  <a:srgbClr val="8A6D1E"/>
                </a:solidFill>
                <a:latin typeface="Calibri" pitchFamily="34" charset="0"/>
                <a:ea typeface="Calibri" pitchFamily="34" charset="-122"/>
                <a:cs typeface="Calibri" pitchFamily="34" charset="-120"/>
              </a:rPr>
              <a:t> = metre · </a:t>
            </a:r>
            <a:pPr algn="l" indent="0" marL="0">
              <a:buNone/>
            </a:pPr>
            <a:r>
              <a:rPr lang="ar-SA" altLang="en-US" sz="1350" dirty="0">
                <a:solidFill>
                  <a:srgbClr val="8A6D1E"/>
                </a:solidFill>
                <a:latin typeface="Amiri" pitchFamily="34" charset="0"/>
                <a:ea typeface="Amiri" pitchFamily="34" charset="-122"/>
                <a:cs typeface="Amiri" pitchFamily="34" charset="-120"/>
              </a:rPr>
              <a:t>طُولٌ</a:t>
            </a:r>
            <a:pPr algn="l" indent="0" marL="0">
              <a:buNone/>
            </a:pPr>
            <a:r>
              <a:rPr lang="en-US" sz="1050" i="1" dirty="0">
                <a:solidFill>
                  <a:srgbClr val="8A6D1E"/>
                </a:solidFill>
                <a:latin typeface="Calibri" pitchFamily="34" charset="0"/>
                <a:ea typeface="Calibri" pitchFamily="34" charset="-122"/>
                <a:cs typeface="Calibri" pitchFamily="34" charset="-120"/>
              </a:rPr>
              <a:t> = length.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حَقِيبَةٌ. كَمْ ثَمَنُهُ؟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حَقِيبَةٌ. كَمْ ثَمَنُهُ؟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حَقِيبَةٌ. كَمْ ثَمَنُهَا؟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TC-L09: feminine → </a:t>
            </a:r>
            <a:pPr algn="l" indent="0" marL="0">
              <a:buNone/>
            </a:pPr>
            <a:r>
              <a:rPr lang="ar-SA" altLang="en-US" sz="1350" dirty="0">
                <a:solidFill>
                  <a:srgbClr val="8A6D1E"/>
                </a:solidFill>
                <a:latin typeface="Amiri" pitchFamily="34" charset="0"/>
                <a:ea typeface="Amiri" pitchFamily="34" charset="-122"/>
                <a:cs typeface="Amiri" pitchFamily="34" charset="-120"/>
              </a:rPr>
              <a:t>هٰذِهِ … ثَمَنُهَا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TC-L09: </a:t>
            </a:r>
            <a:pPr algn="l" indent="0" marL="0">
              <a:buNone/>
            </a:pPr>
            <a:r>
              <a:rPr lang="ar-SA" altLang="en-US" sz="1350" dirty="0">
                <a:solidFill>
                  <a:srgbClr val="8A6D1E"/>
                </a:solidFill>
                <a:latin typeface="Amiri" pitchFamily="34" charset="0"/>
                <a:ea typeface="Amiri" pitchFamily="34" charset="-122"/>
                <a:cs typeface="Amiri" pitchFamily="34" charset="-120"/>
              </a:rPr>
              <a:t>أَرْخَصُ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مَكْتَبَةٌ فِي مَدِينَتِي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Today the ending tells you about the thing: made of … changes with masculine and feminine, just like </a:t>
            </a:r>
            <a:pPr algn="l" indent="0" marL="0">
              <a:buNone/>
            </a:pPr>
            <a:r>
              <a:rPr lang="ar-SA" altLang="en-US" sz="1700" b="1" dirty="0">
                <a:solidFill>
                  <a:srgbClr val="1F2A37"/>
                </a:solidFill>
                <a:latin typeface="Amiri" pitchFamily="34" charset="0"/>
                <a:ea typeface="Amiri" pitchFamily="34" charset="-122"/>
                <a:cs typeface="Amiri" pitchFamily="34" charset="-120"/>
              </a:rPr>
              <a:t>ثَمَنُهُ / ثَمَنُهَا</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الكُرْسِيُّ مَصْنُوعٌ  ·  الطَّاوِلَةُ مَصْنُوعَ</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ةٌ</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building materials and settlement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t>
            </a:r>
            <a:pPr algn="l" indent="0" marL="0">
              <a:buNone/>
            </a:pPr>
            <a:r>
              <a:rPr lang="ar-SA" altLang="en-US" sz="1700" dirty="0">
                <a:solidFill>
                  <a:srgbClr val="1F2A37"/>
                </a:solidFill>
                <a:latin typeface="Amiri" pitchFamily="34" charset="0"/>
                <a:ea typeface="Amiri" pitchFamily="34" charset="-122"/>
                <a:cs typeface="Amiri" pitchFamily="34" charset="-120"/>
              </a:rPr>
              <a:t>مَبْنِيٌّ / مَبْنِيَّةٌ</a:t>
            </a:r>
            <a:pPr algn="l" indent="0" marL="0">
              <a:buNone/>
            </a:pPr>
            <a:r>
              <a:rPr lang="en-US" sz="1300" dirty="0">
                <a:solidFill>
                  <a:srgbClr val="1F2A37"/>
                </a:solidFill>
                <a:latin typeface="Calibri" pitchFamily="34" charset="0"/>
                <a:ea typeface="Calibri" pitchFamily="34" charset="-122"/>
                <a:cs typeface="Calibri" pitchFamily="34" charset="-120"/>
              </a:rPr>
              <a:t> agree with the building.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يَتَمَيَّزُ / تَتَمَيَّزُ بِـ</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urban and rural built environments with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materials and 6 shape and size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ea typeface="Calibri" pitchFamily="34" charset="-122"/>
                <a:cs typeface="Calibri" pitchFamily="34" charset="-120"/>
              </a:rPr>
              <a:t>☐  I can say what an object is made of and give one measurement (</a:t>
            </a:r>
            <a:pPr algn="l" indent="0" marL="0">
              <a:buNone/>
            </a:pPr>
            <a:r>
              <a:rPr lang="ar-SA" altLang="en-US" sz="1550" b="1" dirty="0">
                <a:solidFill>
                  <a:srgbClr val="2E8B57"/>
                </a:solidFill>
                <a:latin typeface="Amiri" pitchFamily="34" charset="0"/>
                <a:ea typeface="Amiri" pitchFamily="34" charset="-122"/>
                <a:cs typeface="Amiri" pitchFamily="34" charset="-120"/>
              </a:rPr>
              <a:t>طُولُهُ مِتْرَانِ</a:t>
            </a:r>
            <a:pPr algn="l" indent="0" marL="0">
              <a:buNone/>
            </a:pPr>
            <a:r>
              <a:rPr lang="en-US" sz="1200" b="1" dirty="0">
                <a:solidFill>
                  <a:srgbClr val="2E8B57"/>
                </a:solidFill>
                <a:latin typeface="Calibri" pitchFamily="34" charset="0"/>
                <a:ea typeface="Calibri" pitchFamily="34" charset="-122"/>
                <a:cs typeface="Calibri" pitchFamily="34" charset="-120"/>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مَبْنِيٌّ / مَبْنِيَّةٌ مِنْ</a:t>
            </a:r>
            <a:pPr algn="l" indent="0" marL="0">
              <a:buNone/>
            </a:pPr>
            <a:r>
              <a:rPr lang="en-US" sz="1300" b="1" dirty="0">
                <a:solidFill>
                  <a:srgbClr val="C9780A"/>
                </a:solidFill>
                <a:latin typeface="Calibri" pitchFamily="34" charset="0"/>
                <a:ea typeface="Calibri" pitchFamily="34" charset="-122"/>
                <a:cs typeface="Calibri" pitchFamily="34" charset="-120"/>
              </a:rPr>
              <a:t> with the right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an object is for and why it is suitable.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two buildings with </a:t>
            </a:r>
            <a:pPr algn="l" indent="0" marL="0">
              <a:buNone/>
            </a:pPr>
            <a:r>
              <a:rPr lang="ar-SA" altLang="en-US" sz="1700" b="1" dirty="0">
                <a:solidFill>
                  <a:srgbClr val="B83227"/>
                </a:solidFill>
                <a:latin typeface="Amiri" pitchFamily="34" charset="0"/>
                <a:ea typeface="Amiri" pitchFamily="34" charset="-122"/>
                <a:cs typeface="Amiri" pitchFamily="34" charset="-120"/>
              </a:rPr>
              <a:t>بَيْنَمَا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80–100-word comparison of an old and a modern building.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34 words in 5 groups (Topic C banks + website F6-L07).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Materials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Shape and size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Measuring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 materials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شَكْلٌ</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‎شکل‎ </a:t>
            </a:r>
            <a:pPr indent="0" marL="0">
              <a:buNone/>
            </a:pPr>
            <a:r>
              <a:rPr lang="en-US" sz="950" b="1" dirty="0">
                <a:solidFill>
                  <a:srgbClr val="2E8B57"/>
                </a:solidFill>
                <a:latin typeface="Calibri" pitchFamily="34" charset="0"/>
                <a:ea typeface="Calibri" pitchFamily="34" charset="-122"/>
                <a:cs typeface="Calibri" pitchFamily="34" charset="-120"/>
              </a:rPr>
              <a:t> shakl · shape, form</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وَزْنٌ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‎وزن‎ </a:t>
            </a:r>
            <a:pPr indent="0" marL="0">
              <a:buNone/>
            </a:pPr>
            <a:r>
              <a:rPr lang="en-US" sz="950" b="1" dirty="0">
                <a:solidFill>
                  <a:srgbClr val="2E8B57"/>
                </a:solidFill>
                <a:latin typeface="Calibri" pitchFamily="34" charset="0"/>
                <a:ea typeface="Calibri" pitchFamily="34" charset="-122"/>
                <a:cs typeface="Calibri" pitchFamily="34" charset="-120"/>
              </a:rPr>
              <a:t> wazn · weight</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مُرَبَّعٌ</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‎مربع‎ </a:t>
            </a:r>
            <a:pPr indent="0" marL="0">
              <a:buNone/>
            </a:pPr>
            <a:r>
              <a:rPr lang="en-US" sz="950" b="1" dirty="0">
                <a:solidFill>
                  <a:srgbClr val="2E8B57"/>
                </a:solidFill>
                <a:latin typeface="Calibri" pitchFamily="34" charset="0"/>
                <a:ea typeface="Calibri" pitchFamily="34" charset="-122"/>
                <a:cs typeface="Calibri" pitchFamily="34" charset="-120"/>
              </a:rPr>
              <a:t> murabbaʿ · square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مَادَّةٌ</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‎مادہ‎ </a:t>
            </a:r>
            <a:pPr indent="0" marL="0">
              <a:buNone/>
            </a:pPr>
            <a:r>
              <a:rPr lang="en-US" sz="950" b="1" dirty="0">
                <a:solidFill>
                  <a:srgbClr val="2E8B57"/>
                </a:solidFill>
                <a:latin typeface="Calibri" pitchFamily="34" charset="0"/>
                <a:ea typeface="Calibri" pitchFamily="34" charset="-122"/>
                <a:cs typeface="Calibri" pitchFamily="34" charset="-120"/>
              </a:rPr>
              <a:t> māddah · material, matter</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تَارِيخِيٌّ</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‎تاریخی‎ </a:t>
            </a:r>
            <a:pPr indent="0" marL="0">
              <a:buNone/>
            </a:pPr>
            <a:r>
              <a:rPr lang="en-US" sz="950" b="1" dirty="0">
                <a:solidFill>
                  <a:srgbClr val="2E8B57"/>
                </a:solidFill>
                <a:latin typeface="Calibri" pitchFamily="34" charset="0"/>
                <a:ea typeface="Calibri" pitchFamily="34" charset="-122"/>
                <a:cs typeface="Calibri" pitchFamily="34" charset="-120"/>
              </a:rPr>
              <a:t> tārīkhī · historic</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TOPIC C MATERIALS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made 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خَشَبٌ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kha-shab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خَشَبِيٌّ</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خَشَبِيَّةٌ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ḥa-jar · pl. ḥi-jā-ra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حَجَرِيٌّ</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حَجَرِيَّةٌ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زُجَاجٌ</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zu-jāj</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زُجَاجِيٌّ</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زُجَاجِيَّةٌ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maʿ-din · pl. ma-ʿā-din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مَعْدِنِيٌّ</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مَعْدِنِيَّةٌ</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بِلَاسْتِيكٌ</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bi-lās-tīk</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بِلَاسْتِيكِيٌّ</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بِلَاسْتِيكِيَّةٌ</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material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وَرَقٌ</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wa-raq</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adj.</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وَرَقِيٌّ</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adj.</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وَرَقِيَّةٌ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TOPIC C MEASUREMENTS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Shape and size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الشَّكْلُ وَالحَجْمُ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shape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دَائِرِيٌّ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round, circular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dā-ʾi-riyy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دَائِرِيٌّ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دَائِرِيَّةٌ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shape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مُرَبَّعٌ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square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mu-rab-baʿ</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مُرَبَّعٌ</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مُرَبَّعَةٌ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shape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مُسْتَطِيلٌ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rectangular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mus-ta-ṭīl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مُسْتَطِيلٌ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مُسْتَطِيلَةٌ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size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tall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size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size</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ضَخْمٌ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ḍakhm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ضَخْمٌ</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ضَخْمَةٌ</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3 · GRAMMAR PART 1 · MEASUREMENT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Its length is two metres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طُولُهُ مِتْرَانِ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Measure</a:t>
            </a:r>
            <a:endParaRPr lang="en-US" sz="1100" dirty="0"/>
          </a:p>
        </p:txBody>
      </p:sp>
      <p:sp>
        <p:nvSpPr>
          <p:cNvPr id="17" name="Text 14"/>
          <p:cNvSpPr txBox="1"/>
          <p:nvPr/>
        </p:nvSpPr>
        <p:spPr>
          <a:xfrm>
            <a:off x="80558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word</a:t>
            </a:r>
            <a:endParaRPr lang="en-US" sz="1100" dirty="0"/>
          </a:p>
        </p:txBody>
      </p:sp>
      <p:sp>
        <p:nvSpPr>
          <p:cNvPr id="18" name="Text 15"/>
          <p:cNvSpPr txBox="1"/>
          <p:nvPr/>
        </p:nvSpPr>
        <p:spPr>
          <a:xfrm>
            <a:off x="5769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its … (m. thing)</a:t>
            </a:r>
            <a:endParaRPr lang="en-US" sz="1100" dirty="0"/>
          </a:p>
        </p:txBody>
      </p:sp>
      <p:sp>
        <p:nvSpPr>
          <p:cNvPr id="19" name="Text 16"/>
          <p:cNvSpPr txBox="1"/>
          <p:nvPr/>
        </p:nvSpPr>
        <p:spPr>
          <a:xfrm>
            <a:off x="3483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its … (f. thing)</a:t>
            </a:r>
            <a:endParaRPr lang="en-US" sz="1100" dirty="0"/>
          </a:p>
        </p:txBody>
      </p:sp>
      <p:sp>
        <p:nvSpPr>
          <p:cNvPr id="20" name="Text 17"/>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04120"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length</a:t>
            </a:r>
            <a:endParaRPr lang="en-US" sz="1100" dirty="0"/>
          </a:p>
        </p:txBody>
      </p:sp>
      <p:sp>
        <p:nvSpPr>
          <p:cNvPr id="23" name="Text 20"/>
          <p:cNvSpPr txBox="1"/>
          <p:nvPr/>
        </p:nvSpPr>
        <p:spPr>
          <a:xfrm>
            <a:off x="807415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الطُّولُ</a:t>
            </a:r>
            <a:endParaRPr lang="ar-SA" sz="2100" dirty="0"/>
          </a:p>
        </p:txBody>
      </p:sp>
      <p:sp>
        <p:nvSpPr>
          <p:cNvPr id="24" name="Text 21"/>
          <p:cNvSpPr txBox="1"/>
          <p:nvPr/>
        </p:nvSpPr>
        <p:spPr>
          <a:xfrm>
            <a:off x="802843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aṭ-ṭūl</a:t>
            </a:r>
            <a:endParaRPr lang="en-US" sz="950" dirty="0"/>
          </a:p>
        </p:txBody>
      </p:sp>
      <p:sp>
        <p:nvSpPr>
          <p:cNvPr id="25" name="Text 22"/>
          <p:cNvSpPr txBox="1"/>
          <p:nvPr/>
        </p:nvSpPr>
        <p:spPr>
          <a:xfrm>
            <a:off x="5788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طُولُ</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endParaRPr lang="ar-SA" sz="2100" dirty="0"/>
          </a:p>
        </p:txBody>
      </p:sp>
      <p:sp>
        <p:nvSpPr>
          <p:cNvPr id="26" name="Text 23"/>
          <p:cNvSpPr txBox="1"/>
          <p:nvPr/>
        </p:nvSpPr>
        <p:spPr>
          <a:xfrm>
            <a:off x="5742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ṭū-lu-hu</a:t>
            </a:r>
            <a:endParaRPr lang="en-US" sz="950" dirty="0"/>
          </a:p>
        </p:txBody>
      </p:sp>
      <p:sp>
        <p:nvSpPr>
          <p:cNvPr id="27" name="Text 24"/>
          <p:cNvSpPr txBox="1"/>
          <p:nvPr/>
        </p:nvSpPr>
        <p:spPr>
          <a:xfrm>
            <a:off x="3502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طُولُ</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28" name="Text 25"/>
          <p:cNvSpPr txBox="1"/>
          <p:nvPr/>
        </p:nvSpPr>
        <p:spPr>
          <a:xfrm>
            <a:off x="3456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ṭū-lu-hā</a:t>
            </a:r>
            <a:endParaRPr lang="en-US" sz="950" dirty="0"/>
          </a:p>
        </p:txBody>
      </p:sp>
      <p:sp>
        <p:nvSpPr>
          <p:cNvPr id="29" name="Text 26"/>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طُولُهُ مِتْرَانِ</a:t>
            </a:r>
            <a:pPr algn="l" indent="0" marL="0">
              <a:buNone/>
            </a:pPr>
            <a:r>
              <a:rPr lang="en-US" sz="1100" dirty="0">
                <a:solidFill>
                  <a:srgbClr val="5A6472"/>
                </a:solidFill>
                <a:latin typeface="Calibri" pitchFamily="34" charset="0"/>
                <a:ea typeface="Calibri" pitchFamily="34" charset="-122"/>
                <a:cs typeface="Calibri" pitchFamily="34" charset="-120"/>
              </a:rPr>
              <a:t> (game)</a:t>
            </a:r>
            <a:endParaRPr lang="en-US" sz="11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3" name="Text 30"/>
          <p:cNvSpPr txBox="1"/>
          <p:nvPr/>
        </p:nvSpPr>
        <p:spPr>
          <a:xfrm>
            <a:off x="10104120"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width</a:t>
            </a:r>
            <a:endParaRPr lang="en-US" sz="1100" dirty="0"/>
          </a:p>
        </p:txBody>
      </p:sp>
      <p:sp>
        <p:nvSpPr>
          <p:cNvPr id="34" name="Text 31"/>
          <p:cNvSpPr txBox="1"/>
          <p:nvPr/>
        </p:nvSpPr>
        <p:spPr>
          <a:xfrm>
            <a:off x="807415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العَرْضُ</a:t>
            </a:r>
            <a:endParaRPr lang="ar-SA" sz="2100" dirty="0"/>
          </a:p>
        </p:txBody>
      </p:sp>
      <p:sp>
        <p:nvSpPr>
          <p:cNvPr id="35" name="Text 32"/>
          <p:cNvSpPr txBox="1"/>
          <p:nvPr/>
        </p:nvSpPr>
        <p:spPr>
          <a:xfrm>
            <a:off x="802843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al-ʿarḍ</a:t>
            </a:r>
            <a:endParaRPr lang="en-US" sz="950" dirty="0"/>
          </a:p>
        </p:txBody>
      </p:sp>
      <p:sp>
        <p:nvSpPr>
          <p:cNvPr id="36" name="Text 33"/>
          <p:cNvSpPr txBox="1"/>
          <p:nvPr/>
        </p:nvSpPr>
        <p:spPr>
          <a:xfrm>
            <a:off x="5788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عَرْضُ</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endParaRPr lang="ar-SA" sz="2100" dirty="0"/>
          </a:p>
        </p:txBody>
      </p:sp>
      <p:sp>
        <p:nvSpPr>
          <p:cNvPr id="37" name="Text 34"/>
          <p:cNvSpPr txBox="1"/>
          <p:nvPr/>
        </p:nvSpPr>
        <p:spPr>
          <a:xfrm>
            <a:off x="5742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ʿar-ḍu-hu</a:t>
            </a:r>
            <a:endParaRPr lang="en-US" sz="950" dirty="0"/>
          </a:p>
        </p:txBody>
      </p:sp>
      <p:sp>
        <p:nvSpPr>
          <p:cNvPr id="38" name="Text 35"/>
          <p:cNvSpPr txBox="1"/>
          <p:nvPr/>
        </p:nvSpPr>
        <p:spPr>
          <a:xfrm>
            <a:off x="3502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عَرْضُ</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39" name="Text 36"/>
          <p:cNvSpPr txBox="1"/>
          <p:nvPr/>
        </p:nvSpPr>
        <p:spPr>
          <a:xfrm>
            <a:off x="3456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ʿar-ḍu-hā</a:t>
            </a:r>
            <a:endParaRPr lang="en-US" sz="950" dirty="0"/>
          </a:p>
        </p:txBody>
      </p:sp>
      <p:sp>
        <p:nvSpPr>
          <p:cNvPr id="40" name="Text 37"/>
          <p:cNvSpPr txBox="1"/>
          <p:nvPr/>
        </p:nvSpPr>
        <p:spPr>
          <a:xfrm>
            <a:off x="548640" y="3054096"/>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عَرْضُهَا مِتْرٌ وَاحِدٌ</a:t>
            </a:r>
            <a:endParaRPr lang="ar-SA" sz="1800" dirty="0"/>
          </a:p>
        </p:txBody>
      </p:sp>
      <p:sp>
        <p:nvSpPr>
          <p:cNvPr id="41" name="Shape 3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104120"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weight</a:t>
            </a:r>
            <a:endParaRPr lang="en-US" sz="1100" dirty="0"/>
          </a:p>
        </p:txBody>
      </p:sp>
      <p:sp>
        <p:nvSpPr>
          <p:cNvPr id="45" name="Text 42"/>
          <p:cNvSpPr txBox="1"/>
          <p:nvPr/>
        </p:nvSpPr>
        <p:spPr>
          <a:xfrm>
            <a:off x="807415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الوَزْنُ</a:t>
            </a:r>
            <a:endParaRPr lang="ar-SA" sz="2100" dirty="0"/>
          </a:p>
        </p:txBody>
      </p:sp>
      <p:sp>
        <p:nvSpPr>
          <p:cNvPr id="46" name="Text 43"/>
          <p:cNvSpPr txBox="1"/>
          <p:nvPr/>
        </p:nvSpPr>
        <p:spPr>
          <a:xfrm>
            <a:off x="802843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al-wazn</a:t>
            </a:r>
            <a:endParaRPr lang="en-US" sz="950" dirty="0"/>
          </a:p>
        </p:txBody>
      </p:sp>
      <p:sp>
        <p:nvSpPr>
          <p:cNvPr id="47" name="Text 44"/>
          <p:cNvSpPr txBox="1"/>
          <p:nvPr/>
        </p:nvSpPr>
        <p:spPr>
          <a:xfrm>
            <a:off x="5788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وَزْنُ</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endParaRPr lang="ar-SA" sz="2100" dirty="0"/>
          </a:p>
        </p:txBody>
      </p:sp>
      <p:sp>
        <p:nvSpPr>
          <p:cNvPr id="48" name="Text 45"/>
          <p:cNvSpPr txBox="1"/>
          <p:nvPr/>
        </p:nvSpPr>
        <p:spPr>
          <a:xfrm>
            <a:off x="5742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waz-nu-hu</a:t>
            </a:r>
            <a:endParaRPr lang="en-US" sz="950" dirty="0"/>
          </a:p>
        </p:txBody>
      </p:sp>
      <p:sp>
        <p:nvSpPr>
          <p:cNvPr id="49" name="Text 46"/>
          <p:cNvSpPr txBox="1"/>
          <p:nvPr/>
        </p:nvSpPr>
        <p:spPr>
          <a:xfrm>
            <a:off x="3502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وَزْنُ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50" name="Text 47"/>
          <p:cNvSpPr txBox="1"/>
          <p:nvPr/>
        </p:nvSpPr>
        <p:spPr>
          <a:xfrm>
            <a:off x="3456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waz-nu-hā</a:t>
            </a:r>
            <a:endParaRPr lang="en-US" sz="950" dirty="0"/>
          </a:p>
        </p:txBody>
      </p:sp>
      <p:sp>
        <p:nvSpPr>
          <p:cNvPr id="51" name="Text 48"/>
          <p:cNvSpPr txBox="1"/>
          <p:nvPr/>
        </p:nvSpPr>
        <p:spPr>
          <a:xfrm>
            <a:off x="548640" y="3840480"/>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وَزْنُهُ كِيلُوغْرَامَانِ</a:t>
            </a:r>
            <a:endParaRPr lang="ar-SA" sz="1800" dirty="0"/>
          </a:p>
        </p:txBody>
      </p:sp>
      <p:sp>
        <p:nvSpPr>
          <p:cNvPr id="52" name="Shape 4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5" name="Text 52"/>
          <p:cNvSpPr txBox="1"/>
          <p:nvPr/>
        </p:nvSpPr>
        <p:spPr>
          <a:xfrm>
            <a:off x="10104120"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capacity</a:t>
            </a:r>
            <a:endParaRPr lang="en-US" sz="1100" dirty="0"/>
          </a:p>
        </p:txBody>
      </p:sp>
      <p:sp>
        <p:nvSpPr>
          <p:cNvPr id="56" name="Text 53"/>
          <p:cNvSpPr txBox="1"/>
          <p:nvPr/>
        </p:nvSpPr>
        <p:spPr>
          <a:xfrm>
            <a:off x="8074152" y="4645152"/>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السِّعَةُ</a:t>
            </a:r>
            <a:endParaRPr lang="ar-SA" sz="2100" dirty="0"/>
          </a:p>
        </p:txBody>
      </p:sp>
      <p:sp>
        <p:nvSpPr>
          <p:cNvPr id="57" name="Text 54"/>
          <p:cNvSpPr txBox="1"/>
          <p:nvPr/>
        </p:nvSpPr>
        <p:spPr>
          <a:xfrm>
            <a:off x="8028432" y="5065776"/>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as-si-ʿa</a:t>
            </a:r>
            <a:endParaRPr lang="en-US" sz="950" dirty="0"/>
          </a:p>
        </p:txBody>
      </p:sp>
      <p:sp>
        <p:nvSpPr>
          <p:cNvPr id="58" name="Text 55"/>
          <p:cNvSpPr txBox="1"/>
          <p:nvPr/>
        </p:nvSpPr>
        <p:spPr>
          <a:xfrm>
            <a:off x="5788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سِعَتُ</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endParaRPr lang="ar-SA" sz="2100" dirty="0"/>
          </a:p>
        </p:txBody>
      </p:sp>
      <p:sp>
        <p:nvSpPr>
          <p:cNvPr id="59" name="Text 56"/>
          <p:cNvSpPr txBox="1"/>
          <p:nvPr/>
        </p:nvSpPr>
        <p:spPr>
          <a:xfrm>
            <a:off x="5742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si-ʿa-tu-hu</a:t>
            </a:r>
            <a:endParaRPr lang="en-US" sz="950" dirty="0"/>
          </a:p>
        </p:txBody>
      </p:sp>
      <p:sp>
        <p:nvSpPr>
          <p:cNvPr id="60" name="Text 57"/>
          <p:cNvSpPr txBox="1"/>
          <p:nvPr/>
        </p:nvSpPr>
        <p:spPr>
          <a:xfrm>
            <a:off x="3502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سِعَتُ</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61" name="Text 58"/>
          <p:cNvSpPr txBox="1"/>
          <p:nvPr/>
        </p:nvSpPr>
        <p:spPr>
          <a:xfrm>
            <a:off x="3456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si-ʿa-tu-hā</a:t>
            </a:r>
            <a:endParaRPr lang="en-US" sz="950" dirty="0"/>
          </a:p>
        </p:txBody>
      </p:sp>
      <p:sp>
        <p:nvSpPr>
          <p:cNvPr id="62" name="Text 59"/>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سِعَةُ الزُّجَاجَةِ لِتْرٌ</a:t>
            </a:r>
            <a:pPr algn="l" indent="0" marL="0">
              <a:buNone/>
            </a:pPr>
            <a:r>
              <a:rPr lang="en-US" sz="1100" dirty="0">
                <a:solidFill>
                  <a:srgbClr val="5A6472"/>
                </a:solidFill>
                <a:latin typeface="Calibri" pitchFamily="34" charset="0"/>
                <a:ea typeface="Calibri" pitchFamily="34" charset="-122"/>
                <a:cs typeface="Calibri" pitchFamily="34" charset="-120"/>
              </a:rPr>
              <a:t> (game)</a:t>
            </a:r>
            <a:endParaRPr lang="en-US" sz="1100" dirty="0"/>
          </a:p>
        </p:txBody>
      </p:sp>
      <p:sp>
        <p:nvSpPr>
          <p:cNvPr id="63" name="Shape 6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64" name="Text 61"/>
          <p:cNvSpPr txBox="1"/>
          <p:nvPr/>
        </p:nvSpPr>
        <p:spPr>
          <a:xfrm>
            <a:off x="10104120"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diameter</a:t>
            </a:r>
            <a:endParaRPr lang="en-US" sz="1100" dirty="0"/>
          </a:p>
        </p:txBody>
      </p:sp>
      <p:sp>
        <p:nvSpPr>
          <p:cNvPr id="65" name="Text 62"/>
          <p:cNvSpPr txBox="1"/>
          <p:nvPr/>
        </p:nvSpPr>
        <p:spPr>
          <a:xfrm>
            <a:off x="8074152" y="5431536"/>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القُطْرُ</a:t>
            </a:r>
            <a:endParaRPr lang="ar-SA" sz="2100" dirty="0"/>
          </a:p>
        </p:txBody>
      </p:sp>
      <p:sp>
        <p:nvSpPr>
          <p:cNvPr id="66" name="Text 63"/>
          <p:cNvSpPr txBox="1"/>
          <p:nvPr/>
        </p:nvSpPr>
        <p:spPr>
          <a:xfrm>
            <a:off x="8028432" y="5852160"/>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al-quṭr</a:t>
            </a:r>
            <a:endParaRPr lang="en-US" sz="950" dirty="0"/>
          </a:p>
        </p:txBody>
      </p:sp>
      <p:sp>
        <p:nvSpPr>
          <p:cNvPr id="67" name="Text 64"/>
          <p:cNvSpPr txBox="1"/>
          <p:nvPr/>
        </p:nvSpPr>
        <p:spPr>
          <a:xfrm>
            <a:off x="5788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قُطْرُ</a:t>
            </a:r>
            <a:pPr rtl="1" algn="ctr" indent="0" marL="0">
              <a:buNone/>
            </a:pPr>
            <a:r>
              <a:rPr lang="ar-SA" altLang="en-US" sz="2100" b="1" dirty="0">
                <a:solidFill>
                  <a:srgbClr val="D6336C"/>
                </a:solidFill>
                <a:latin typeface="Amiri" pitchFamily="34" charset="0"/>
                <a:ea typeface="Amiri" pitchFamily="34" charset="-122"/>
                <a:cs typeface="Amiri" pitchFamily="34" charset="-120"/>
              </a:rPr>
              <a:t>هُ</a:t>
            </a:r>
            <a:endParaRPr lang="ar-SA" sz="2100" dirty="0"/>
          </a:p>
        </p:txBody>
      </p:sp>
      <p:sp>
        <p:nvSpPr>
          <p:cNvPr id="68" name="Text 65"/>
          <p:cNvSpPr txBox="1"/>
          <p:nvPr/>
        </p:nvSpPr>
        <p:spPr>
          <a:xfrm>
            <a:off x="5742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quṭ-ru-hu</a:t>
            </a:r>
            <a:endParaRPr lang="en-US" sz="950" dirty="0"/>
          </a:p>
        </p:txBody>
      </p:sp>
      <p:sp>
        <p:nvSpPr>
          <p:cNvPr id="69" name="Text 66"/>
          <p:cNvSpPr txBox="1"/>
          <p:nvPr/>
        </p:nvSpPr>
        <p:spPr>
          <a:xfrm>
            <a:off x="3502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قُطْرُ</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endParaRPr lang="ar-SA" sz="2100" dirty="0"/>
          </a:p>
        </p:txBody>
      </p:sp>
      <p:sp>
        <p:nvSpPr>
          <p:cNvPr id="70" name="Text 67"/>
          <p:cNvSpPr txBox="1"/>
          <p:nvPr/>
        </p:nvSpPr>
        <p:spPr>
          <a:xfrm>
            <a:off x="3456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quṭ-ru-hā</a:t>
            </a:r>
            <a:endParaRPr lang="en-US" sz="950" dirty="0"/>
          </a:p>
        </p:txBody>
      </p:sp>
      <p:sp>
        <p:nvSpPr>
          <p:cNvPr id="71" name="Text 68"/>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قُطْرُهُ عَشَرَةُ سَنْتِيمِتْرَاتٍ</a:t>
            </a:r>
            <a:pPr algn="l" indent="0" marL="0">
              <a:buNone/>
            </a:pPr>
            <a:r>
              <a:rPr lang="en-US" sz="1100" dirty="0">
                <a:solidFill>
                  <a:srgbClr val="5A6472"/>
                </a:solidFill>
                <a:latin typeface="Calibri" pitchFamily="34" charset="0"/>
                <a:ea typeface="Calibri" pitchFamily="34" charset="-122"/>
                <a:cs typeface="Calibri" pitchFamily="34" charset="-120"/>
              </a:rPr>
              <a:t> (game)</a:t>
            </a:r>
            <a:endParaRPr lang="en-US" sz="11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2 · PASSIVE PARTICIPLES + AGREEMENT ·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Made of … / built of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مَصْنُوعٌ مِنْ · مَبْنِيٌّ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thing</a:t>
            </a:r>
            <a:endParaRPr lang="en-US" sz="1100" dirty="0"/>
          </a:p>
        </p:txBody>
      </p:sp>
      <p:sp>
        <p:nvSpPr>
          <p:cNvPr id="17" name="Text 14"/>
          <p:cNvSpPr txBox="1"/>
          <p:nvPr/>
        </p:nvSpPr>
        <p:spPr>
          <a:xfrm>
            <a:off x="5129784"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thing</a:t>
            </a:r>
            <a:endParaRPr lang="en-US" sz="1100" dirty="0"/>
          </a:p>
        </p:txBody>
      </p:sp>
      <p:sp>
        <p:nvSpPr>
          <p:cNvPr id="18" name="Text 15"/>
          <p:cNvSpPr txBox="1"/>
          <p:nvPr/>
        </p:nvSpPr>
        <p:spPr>
          <a:xfrm>
            <a:off x="5303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thing (or plural of things)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object: made of</a:t>
            </a:r>
            <a:endParaRPr lang="en-US" sz="1100" dirty="0"/>
          </a:p>
        </p:txBody>
      </p:sp>
      <p:sp>
        <p:nvSpPr>
          <p:cNvPr id="21" name="Text 18"/>
          <p:cNvSpPr txBox="1"/>
          <p:nvPr/>
        </p:nvSpPr>
        <p:spPr>
          <a:xfrm>
            <a:off x="5148072" y="2286000"/>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الكُرْسِيُّ </a:t>
            </a:r>
            <a:pPr rtl="1" algn="ctr" indent="0" marL="0">
              <a:buNone/>
            </a:pPr>
            <a:r>
              <a:rPr lang="ar-SA" altLang="en-US" sz="2100" b="1" dirty="0">
                <a:solidFill>
                  <a:srgbClr val="7B3FA0"/>
                </a:solidFill>
                <a:latin typeface="Amiri" pitchFamily="34" charset="0"/>
                <a:ea typeface="Amiri" pitchFamily="34" charset="-122"/>
                <a:cs typeface="Amiri" pitchFamily="34" charset="-120"/>
              </a:rPr>
              <a:t>مَصْنُوعٌ</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الخَشَبِ</a:t>
            </a:r>
            <a:endParaRPr lang="ar-SA" sz="2100" dirty="0"/>
          </a:p>
        </p:txBody>
      </p:sp>
      <p:sp>
        <p:nvSpPr>
          <p:cNvPr id="22" name="Text 19"/>
          <p:cNvSpPr txBox="1"/>
          <p:nvPr/>
        </p:nvSpPr>
        <p:spPr>
          <a:xfrm>
            <a:off x="5102352" y="2706624"/>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chair is made of wood</a:t>
            </a:r>
            <a:endParaRPr lang="en-US" sz="950" dirty="0"/>
          </a:p>
        </p:txBody>
      </p:sp>
      <p:sp>
        <p:nvSpPr>
          <p:cNvPr id="23" name="Text 20"/>
          <p:cNvSpPr txBox="1"/>
          <p:nvPr/>
        </p:nvSpPr>
        <p:spPr>
          <a:xfrm>
            <a:off x="5486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الطَّاوِلَةُ </a:t>
            </a:r>
            <a:pPr rtl="1" algn="ctr" indent="0" marL="0">
              <a:buNone/>
            </a:pPr>
            <a:r>
              <a:rPr lang="ar-SA" altLang="en-US" sz="2100" b="1" dirty="0">
                <a:solidFill>
                  <a:srgbClr val="7B3FA0"/>
                </a:solidFill>
                <a:latin typeface="Amiri" pitchFamily="34" charset="0"/>
                <a:ea typeface="Amiri" pitchFamily="34" charset="-122"/>
                <a:cs typeface="Amiri" pitchFamily="34" charset="-120"/>
              </a:rPr>
              <a:t>مَصْنُوعَ</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الخَشَبِ</a:t>
            </a:r>
            <a:endParaRPr lang="ar-SA" sz="2100" dirty="0"/>
          </a:p>
        </p:txBody>
      </p:sp>
      <p:sp>
        <p:nvSpPr>
          <p:cNvPr id="24" name="Text 21"/>
          <p:cNvSpPr txBox="1"/>
          <p:nvPr/>
        </p:nvSpPr>
        <p:spPr>
          <a:xfrm>
            <a:off x="5029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made of wood</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object: made of</a:t>
            </a:r>
            <a:endParaRPr lang="en-US" sz="1100" dirty="0"/>
          </a:p>
        </p:txBody>
      </p:sp>
      <p:sp>
        <p:nvSpPr>
          <p:cNvPr id="29" name="Text 26"/>
          <p:cNvSpPr txBox="1"/>
          <p:nvPr/>
        </p:nvSpPr>
        <p:spPr>
          <a:xfrm>
            <a:off x="5148072" y="3072384"/>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القَلَمُ </a:t>
            </a:r>
            <a:pPr rtl="1" algn="ctr" indent="0" marL="0">
              <a:buNone/>
            </a:pPr>
            <a:r>
              <a:rPr lang="ar-SA" altLang="en-US" sz="2100" b="1" dirty="0">
                <a:solidFill>
                  <a:srgbClr val="7B3FA0"/>
                </a:solidFill>
                <a:latin typeface="Amiri" pitchFamily="34" charset="0"/>
                <a:ea typeface="Amiri" pitchFamily="34" charset="-122"/>
                <a:cs typeface="Amiri" pitchFamily="34" charset="-120"/>
              </a:rPr>
              <a:t>مَصْنُوعٌ</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المَعْدِنِ</a:t>
            </a:r>
            <a:endParaRPr lang="ar-SA" sz="2100" dirty="0"/>
          </a:p>
        </p:txBody>
      </p:sp>
      <p:sp>
        <p:nvSpPr>
          <p:cNvPr id="30" name="Text 27"/>
          <p:cNvSpPr txBox="1"/>
          <p:nvPr/>
        </p:nvSpPr>
        <p:spPr>
          <a:xfrm>
            <a:off x="5102352" y="3493008"/>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pen is made of metal</a:t>
            </a:r>
            <a:endParaRPr lang="en-US" sz="950" dirty="0"/>
          </a:p>
        </p:txBody>
      </p:sp>
      <p:sp>
        <p:nvSpPr>
          <p:cNvPr id="31" name="Text 28"/>
          <p:cNvSpPr txBox="1"/>
          <p:nvPr/>
        </p:nvSpPr>
        <p:spPr>
          <a:xfrm>
            <a:off x="5486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الزُّجَاجَةُ </a:t>
            </a:r>
            <a:pPr rtl="1" algn="ctr" indent="0" marL="0">
              <a:buNone/>
            </a:pPr>
            <a:r>
              <a:rPr lang="ar-SA" altLang="en-US" sz="2100" b="1" dirty="0">
                <a:solidFill>
                  <a:srgbClr val="7B3FA0"/>
                </a:solidFill>
                <a:latin typeface="Amiri" pitchFamily="34" charset="0"/>
                <a:ea typeface="Amiri" pitchFamily="34" charset="-122"/>
                <a:cs typeface="Amiri" pitchFamily="34" charset="-120"/>
              </a:rPr>
              <a:t>مَصْنُوعَ</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البِلَاسْتِيكِ</a:t>
            </a:r>
            <a:endParaRPr lang="ar-SA" sz="2100" dirty="0"/>
          </a:p>
        </p:txBody>
      </p:sp>
      <p:sp>
        <p:nvSpPr>
          <p:cNvPr id="32" name="Text 29"/>
          <p:cNvSpPr txBox="1"/>
          <p:nvPr/>
        </p:nvSpPr>
        <p:spPr>
          <a:xfrm>
            <a:off x="5029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bottle is made of plastic</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building: built of</a:t>
            </a:r>
            <a:endParaRPr lang="en-US" sz="1100" dirty="0"/>
          </a:p>
        </p:txBody>
      </p:sp>
      <p:sp>
        <p:nvSpPr>
          <p:cNvPr id="37" name="Text 34"/>
          <p:cNvSpPr txBox="1"/>
          <p:nvPr/>
        </p:nvSpPr>
        <p:spPr>
          <a:xfrm>
            <a:off x="5148072" y="3858768"/>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البَيْتُ </a:t>
            </a:r>
            <a:pPr rtl="1" algn="ctr" indent="0" marL="0">
              <a:buNone/>
            </a:pPr>
            <a:r>
              <a:rPr lang="ar-SA" altLang="en-US" sz="2100" b="1" dirty="0">
                <a:solidFill>
                  <a:srgbClr val="7B3FA0"/>
                </a:solidFill>
                <a:latin typeface="Amiri" pitchFamily="34" charset="0"/>
                <a:ea typeface="Amiri" pitchFamily="34" charset="-122"/>
                <a:cs typeface="Amiri" pitchFamily="34" charset="-120"/>
              </a:rPr>
              <a:t>مَبْنِيٌّ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الحَجَرِ</a:t>
            </a:r>
            <a:endParaRPr lang="ar-SA" sz="2100" dirty="0"/>
          </a:p>
        </p:txBody>
      </p:sp>
      <p:sp>
        <p:nvSpPr>
          <p:cNvPr id="38" name="Text 35"/>
          <p:cNvSpPr txBox="1"/>
          <p:nvPr/>
        </p:nvSpPr>
        <p:spPr>
          <a:xfrm>
            <a:off x="5102352" y="4279392"/>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house is built of stone (website)</a:t>
            </a:r>
            <a:endParaRPr lang="en-US" sz="950" dirty="0"/>
          </a:p>
        </p:txBody>
      </p:sp>
      <p:sp>
        <p:nvSpPr>
          <p:cNvPr id="39" name="Text 36"/>
          <p:cNvSpPr txBox="1"/>
          <p:nvPr/>
        </p:nvSpPr>
        <p:spPr>
          <a:xfrm>
            <a:off x="5486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المَدْرَسَةُ </a:t>
            </a:r>
            <a:pPr rtl="1" algn="ctr" indent="0" marL="0">
              <a:buNone/>
            </a:pPr>
            <a:r>
              <a:rPr lang="ar-SA" altLang="en-US" sz="2100" b="1" dirty="0">
                <a:solidFill>
                  <a:srgbClr val="7B3FA0"/>
                </a:solidFill>
                <a:latin typeface="Amiri" pitchFamily="34" charset="0"/>
                <a:ea typeface="Amiri" pitchFamily="34" charset="-122"/>
                <a:cs typeface="Amiri" pitchFamily="34" charset="-120"/>
              </a:rPr>
              <a:t>مَبْنِيَّ</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الطُّوبِ</a:t>
            </a:r>
            <a:endParaRPr lang="ar-SA" sz="2100" dirty="0"/>
          </a:p>
        </p:txBody>
      </p:sp>
      <p:sp>
        <p:nvSpPr>
          <p:cNvPr id="40" name="Text 37"/>
          <p:cNvSpPr txBox="1"/>
          <p:nvPr/>
        </p:nvSpPr>
        <p:spPr>
          <a:xfrm>
            <a:off x="5029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school is built of brick (website)</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of things</a:t>
            </a:r>
            <a:endParaRPr lang="en-US" sz="1100" dirty="0"/>
          </a:p>
        </p:txBody>
      </p:sp>
      <p:sp>
        <p:nvSpPr>
          <p:cNvPr id="43" name="Text 40"/>
          <p:cNvSpPr txBox="1"/>
          <p:nvPr/>
        </p:nvSpPr>
        <p:spPr>
          <a:xfrm>
            <a:off x="5148072" y="4645152"/>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الجِسْرُ </a:t>
            </a:r>
            <a:pPr rtl="1" algn="ctr" indent="0" marL="0">
              <a:buNone/>
            </a:pPr>
            <a:r>
              <a:rPr lang="ar-SA" altLang="en-US" sz="2100" b="1" dirty="0">
                <a:solidFill>
                  <a:srgbClr val="7B3FA0"/>
                </a:solidFill>
                <a:latin typeface="Amiri" pitchFamily="34" charset="0"/>
                <a:ea typeface="Amiri" pitchFamily="34" charset="-122"/>
                <a:cs typeface="Amiri" pitchFamily="34" charset="-120"/>
              </a:rPr>
              <a:t>مَبْنِيٌّ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المَعْدِنِ</a:t>
            </a:r>
            <a:endParaRPr lang="ar-SA" sz="2100" dirty="0"/>
          </a:p>
        </p:txBody>
      </p:sp>
      <p:sp>
        <p:nvSpPr>
          <p:cNvPr id="44" name="Text 41"/>
          <p:cNvSpPr txBox="1"/>
          <p:nvPr/>
        </p:nvSpPr>
        <p:spPr>
          <a:xfrm>
            <a:off x="5102352" y="5065776"/>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bridge is built of metal (website)</a:t>
            </a:r>
            <a:endParaRPr lang="en-US" sz="950" dirty="0"/>
          </a:p>
        </p:txBody>
      </p:sp>
      <p:sp>
        <p:nvSpPr>
          <p:cNvPr id="45" name="Text 42"/>
          <p:cNvSpPr txBox="1"/>
          <p:nvPr/>
        </p:nvSpPr>
        <p:spPr>
          <a:xfrm>
            <a:off x="5486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المَبَانِي </a:t>
            </a:r>
            <a:pPr rtl="1" algn="ctr" indent="0" marL="0">
              <a:buNone/>
            </a:pPr>
            <a:r>
              <a:rPr lang="ar-SA" altLang="en-US" sz="2100" b="1" dirty="0">
                <a:solidFill>
                  <a:srgbClr val="7B3FA0"/>
                </a:solidFill>
                <a:latin typeface="Amiri" pitchFamily="34" charset="0"/>
                <a:ea typeface="Amiri" pitchFamily="34" charset="-122"/>
                <a:cs typeface="Amiri" pitchFamily="34" charset="-120"/>
              </a:rPr>
              <a:t>مَبْنِيَّ</a:t>
            </a:r>
            <a:pPr rtl="1" algn="ctr" indent="0" marL="0">
              <a:buNone/>
            </a:pPr>
            <a:r>
              <a:rPr lang="ar-SA" altLang="en-US" sz="2100" b="1" dirty="0">
                <a:solidFill>
                  <a:srgbClr val="D6336C"/>
                </a:solidFill>
                <a:latin typeface="Amiri" pitchFamily="34" charset="0"/>
                <a:ea typeface="Amiri" pitchFamily="34" charset="-122"/>
                <a:cs typeface="Amiri" pitchFamily="34" charset="-120"/>
              </a:rPr>
              <a:t>ةٌ</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الخَرَسَانَةِ</a:t>
            </a:r>
            <a:endParaRPr lang="ar-SA" sz="2100" dirty="0"/>
          </a:p>
        </p:txBody>
      </p:sp>
      <p:sp>
        <p:nvSpPr>
          <p:cNvPr id="46" name="Text 43"/>
          <p:cNvSpPr txBox="1"/>
          <p:nvPr/>
        </p:nvSpPr>
        <p:spPr>
          <a:xfrm>
            <a:off x="5029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buildings are built of concrete (website)</a:t>
            </a:r>
            <a:endParaRPr lang="en-US" sz="9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USE AND SUITABILITY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for? Is it suitable?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الاِسْتِعْمَالُ وَالمُلَاءَمَةُ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 · USED FOR</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نَسْتَعْمِلُهُ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نَسْتَعْمِلُ الزُّجَاجَةَ لِلْمَاءِ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use the bottle for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لِـ</a:t>
            </a:r>
            <a:pPr algn="l" indent="0" marL="0">
              <a:buNone/>
            </a:pPr>
            <a:r>
              <a:rPr lang="en-US" sz="1100" dirty="0">
                <a:solidFill>
                  <a:srgbClr val="1F2A37"/>
                </a:solidFill>
                <a:latin typeface="Calibri" pitchFamily="34" charset="0"/>
                <a:ea typeface="Calibri" pitchFamily="34" charset="-122"/>
                <a:cs typeface="Calibri" pitchFamily="34" charset="-120"/>
              </a:rPr>
              <a:t> + the = </a:t>
            </a:r>
            <a:pPr algn="l" indent="0" marL="0">
              <a:buNone/>
            </a:pPr>
            <a:r>
              <a:rPr lang="ar-SA" altLang="en-US" sz="1450" dirty="0">
                <a:solidFill>
                  <a:srgbClr val="1F2A37"/>
                </a:solidFill>
                <a:latin typeface="Amiri" pitchFamily="34" charset="0"/>
                <a:ea typeface="Amiri" pitchFamily="34" charset="-122"/>
                <a:cs typeface="Amiri" pitchFamily="34" charset="-120"/>
              </a:rPr>
              <a:t>لِلْـ</a:t>
            </a:r>
            <a:pPr algn="l" indent="0" marL="0">
              <a:buNone/>
            </a:pPr>
            <a:r>
              <a:rPr lang="en-US" sz="1100" dirty="0">
                <a:solidFill>
                  <a:srgbClr val="1F2A37"/>
                </a:solidFill>
                <a:latin typeface="Calibri" pitchFamily="34" charset="0"/>
                <a:ea typeface="Calibri" pitchFamily="34" charset="-122"/>
                <a:cs typeface="Calibri" pitchFamily="34" charset="-120"/>
              </a:rPr>
              <a:t>: </a:t>
            </a:r>
            <a:pPr algn="l" indent="0" marL="0">
              <a:buNone/>
            </a:pPr>
            <a:r>
              <a:rPr lang="ar-SA" altLang="en-US" sz="1450" dirty="0">
                <a:solidFill>
                  <a:srgbClr val="1F2A37"/>
                </a:solidFill>
                <a:latin typeface="Amiri" pitchFamily="34" charset="0"/>
                <a:ea typeface="Amiri" pitchFamily="34" charset="-122"/>
                <a:cs typeface="Amiri" pitchFamily="34" charset="-120"/>
              </a:rPr>
              <a:t>لِلْمَاءِ</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لِلدِّرَاسَةِ</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SUITABLE FOR</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مُنَاسِبٌ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الخَشَبُ مُنَاسِبٌ لِلْأَثَاثِ لِأَنَّهُ قَوِيٌّ</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Wood is suitable for furniture because it is strong.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مُنَاسِبٌ / مُنَاسِبَةٌ</a:t>
            </a:r>
            <a:pPr algn="l" indent="0" marL="0">
              <a:buNone/>
            </a:pPr>
            <a:r>
              <a:rPr lang="en-US" sz="1100" dirty="0">
                <a:solidFill>
                  <a:srgbClr val="1F2A37"/>
                </a:solidFill>
                <a:latin typeface="Calibri" pitchFamily="34" charset="0"/>
                <a:ea typeface="Calibri" pitchFamily="34" charset="-122"/>
                <a:cs typeface="Calibri" pitchFamily="34" charset="-120"/>
              </a:rPr>
              <a:t> agrees too; add a reason with </a:t>
            </a:r>
            <a:pPr algn="l" indent="0" marL="0">
              <a:buNone/>
            </a:pPr>
            <a:r>
              <a:rPr lang="ar-SA" altLang="en-US" sz="1450" dirty="0">
                <a:solidFill>
                  <a:srgbClr val="1F2A37"/>
                </a:solidFill>
                <a:latin typeface="Amiri" pitchFamily="34" charset="0"/>
                <a:ea typeface="Amiri" pitchFamily="34" charset="-122"/>
                <a:cs typeface="Amiri" pitchFamily="34" charset="-120"/>
              </a:rPr>
              <a:t>لِأَنَّ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 · KNOWN FOR</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يَتَمَيَّزُ / تَتَمَيَّزُ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تَتَمَيَّزُ القَرْيَةُ بِبُيُوتِهَا التَّقْلِيدِيَّةِ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village is known for its traditional houses.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subject → </a:t>
            </a:r>
            <a:pPr algn="l" indent="0" marL="0">
              <a:buNone/>
            </a:pPr>
            <a:r>
              <a:rPr lang="ar-SA" altLang="en-US" sz="1450" dirty="0">
                <a:solidFill>
                  <a:srgbClr val="1F2A37"/>
                </a:solidFill>
                <a:latin typeface="Amiri" pitchFamily="34" charset="0"/>
                <a:ea typeface="Amiri" pitchFamily="34" charset="-122"/>
                <a:cs typeface="Amiri" pitchFamily="34" charset="-120"/>
              </a:rPr>
              <a:t>تَتَمَيَّزُ</a:t>
            </a:r>
            <a:pPr algn="l" indent="0" marL="0">
              <a:buNone/>
            </a:pPr>
            <a:r>
              <a:rPr lang="en-US" sz="1100" dirty="0">
                <a:solidFill>
                  <a:srgbClr val="1F2A37"/>
                </a:solidFill>
                <a:latin typeface="Calibri" pitchFamily="34" charset="0"/>
                <a:ea typeface="Calibri" pitchFamily="34" charset="-122"/>
                <a:cs typeface="Calibri" pitchFamily="34" charset="-120"/>
              </a:rPr>
              <a:t>; the feature always after </a:t>
            </a:r>
            <a:pPr algn="l" indent="0" marL="0">
              <a:buNone/>
            </a:pPr>
            <a:r>
              <a:rPr lang="ar-SA" altLang="en-US" sz="1450" dirty="0">
                <a:solidFill>
                  <a:srgbClr val="1F2A37"/>
                </a:solidFill>
                <a:latin typeface="Amiri" pitchFamily="34" charset="0"/>
                <a:ea typeface="Amiri" pitchFamily="34" charset="-122"/>
                <a:cs typeface="Amiri" pitchFamily="34" charset="-120"/>
              </a:rPr>
              <a:t>بِـ</a:t>
            </a:r>
            <a:pPr algn="l" indent="0" marL="0">
              <a:buNone/>
            </a:pPr>
            <a:r>
              <a:rPr lang="en-US" sz="1100" dirty="0">
                <a:solidFill>
                  <a:srgbClr val="1F2A37"/>
                </a:solidFill>
                <a:latin typeface="Calibri" pitchFamily="34" charset="0"/>
                <a:ea typeface="Calibri" pitchFamily="34" charset="-122"/>
                <a:cs typeface="Calibri" pitchFamily="34" charset="-120"/>
              </a:rPr>
              <a:t> (website).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the verb or the participle not agreeing with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العِمَارَةُ مَبْنِيَّةٌ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العِمَارَةُ مَبْنِيٌّ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تَتَمَيَّزُ القَرْيَةُ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يَتَمَيَّزُ القَرْيَةُ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CONTRAST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 and new: whereas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الفِكْرَةُ الأُولَى</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idea 1 (complete)</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بَيْنَمَا</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whereas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الفِكْرَةُ الثَّانِيَةُ</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idea 2 (complete, different)</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city is crowded, whereas the village is quiet.</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المَدِينَةُ مُكْتَظَّةٌ،</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بَيْنَمَا</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القَرْيَةُ هَادِئَةٌ</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city is dense, whereas the countryside is spacious.</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المَدِينَةُ مُكْتَظَّةٌ،</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بَيْنَمَا</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الرِّيفُ فَسِيحٌ</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house is traditional, whereas the block is modern.</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تَقْلِيدِيٌّ،</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بَيْنَمَا</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العِمَارَةُ مُعَاصِرَةٌ</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old district is built of stone, whereas the new one is built of glass.</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الحَيُّ القَدِيمُ مَبْنِيٌّ مِنَ الحَجَرِ،</a:t>
            </a:r>
            <a:endParaRPr lang="ar-SA" sz="185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بَيْنَمَا</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الجَدِيدُ مَبْنِيٌّ مِنَ الزُّجَاجِ</a:t>
            </a:r>
            <a:endParaRPr lang="ar-SA" sz="235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Both sides must be complete ideas that really contrast (website rule).</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Describe a masculine building material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مُذَكَّرٌ + مَبْنِيٌّ مِنْ + مَادَّةٍ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البَيْتُ مَبْنِيٌّ مِنَ الحَجَرِ.   ·   الجِسْرُ مَبْنِيٌّ مِنَ المَعْدِنِ.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Describe a feminine building material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مُؤَنَّثٌ + مَبْنِيَّةٌ مِنْ + مَادَّةٍ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المَدْرَسَةُ مَبْنِيَّةٌ مِنَ الطُّوبِ.   ·   العِمَارَةُ مَبْنِيَّةٌ مِنَ الخَرَسَانَةِ وَالزُّجَاجِ.</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Describe architectural identity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يَتَمَيَّزُ / تَتَمَيَّزُ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يَتَمَيَّزُ المَسْجِدُ بِمِئْذَنَتِهِ التَّارِيخِيَّةِ.   ·   تَتَمَيَّزُ القَرْيَةُ بِبُيُوتِهَا الطِّينِيَّةِ.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 city and countryside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 بَيْنَمَا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تَكْثُرُ نَاطِحَاتُ السَّحَابِ فِي المَدِينَةِ، بَيْنَمَا تَكْثُرُ البُيُوتُ الفَسِيحَةُ فِي الرِّيفِ.   ·   المَدِينَةُ مُكْتَظَّةٌ، بَيْنَمَا القَرْيَةُ هَادِئَةٌ.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الطَّاوِلَةُ ___ مِنَ الخَشَبِ.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“Its length is two metres”?</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طُولُهُ مِتْرَانِ.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وَزْنُهُ مِتْرَانِ.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عَرْضُهُ لِتْرَانِ.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البَيْتُ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الحَجَرِ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الطُّوبِ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الطَّاوِلَةُ ___ مِنَ الخَشَبِ.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مَصْنُوعَةٌ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الطَّاوِلَةُ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مَصْنُوعَةٌ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“Its length is two metres”?</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طُولُهُ مِتْرَانِ.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وَزْنُهُ مِتْرَانِ.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عَرْضُهُ لِتْرَانِ.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طُولٌ</a:t>
            </a:r>
            <a:pPr algn="l" indent="0" marL="0">
              <a:buNone/>
            </a:pPr>
            <a:r>
              <a:rPr lang="en-US" sz="1050" i="1" dirty="0">
                <a:solidFill>
                  <a:srgbClr val="8A6D1E"/>
                </a:solidFill>
                <a:latin typeface="Calibri" pitchFamily="34" charset="0"/>
                <a:ea typeface="Calibri" pitchFamily="34" charset="-122"/>
                <a:cs typeface="Calibri" pitchFamily="34" charset="-120"/>
              </a:rPr>
              <a:t> = length; </a:t>
            </a:r>
            <a:pPr algn="l" indent="0" marL="0">
              <a:buNone/>
            </a:pPr>
            <a:r>
              <a:rPr lang="ar-SA" altLang="en-US" sz="1350" dirty="0">
                <a:solidFill>
                  <a:srgbClr val="8A6D1E"/>
                </a:solidFill>
                <a:latin typeface="Amiri" pitchFamily="34" charset="0"/>
                <a:ea typeface="Amiri" pitchFamily="34" charset="-122"/>
                <a:cs typeface="Amiri" pitchFamily="34" charset="-120"/>
              </a:rPr>
              <a:t>مِتْرَانِ</a:t>
            </a:r>
            <a:pPr algn="l" indent="0" marL="0">
              <a:buNone/>
            </a:pPr>
            <a:r>
              <a:rPr lang="en-US" sz="1050" i="1" dirty="0">
                <a:solidFill>
                  <a:srgbClr val="8A6D1E"/>
                </a:solidFill>
                <a:latin typeface="Calibri" pitchFamily="34" charset="0"/>
                <a:ea typeface="Calibri" pitchFamily="34" charset="-122"/>
                <a:cs typeface="Calibri" pitchFamily="34" charset="-120"/>
              </a:rPr>
              <a:t> = two metres (website game).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البَيْتُ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الحَجَرِ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مَبْنِيَّاتٌ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الطُّوبِ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مَبْنِيَّانِ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and shape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طَاوِلَةٌ مُسْتَطِيلَ</a:t>
            </a:r>
            <a:pPr rtl="1" algn="ctr" indent="0" marL="0">
              <a:buNone/>
            </a:pPr>
            <a:r>
              <a:rPr lang="ar-SA" altLang="en-US" sz="2800" b="1" dirty="0">
                <a:solidFill>
                  <a:srgbClr val="D6336C"/>
                </a:solidFill>
                <a:latin typeface="Amiri" pitchFamily="34" charset="0"/>
                <a:ea typeface="Amiri" pitchFamily="34" charset="-122"/>
                <a:cs typeface="Amiri" pitchFamily="34" charset="-120"/>
              </a:rPr>
              <a:t>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طَاوِلَةٌ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مُسْتَطِيلَةٌ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طُولُ</a:t>
            </a:r>
            <a:pPr rtl="1" algn="ctr" indent="0" marL="0">
              <a:buNone/>
            </a:pPr>
            <a:r>
              <a:rPr lang="ar-SA" altLang="en-US" sz="2800" b="1" dirty="0">
                <a:solidFill>
                  <a:srgbClr val="D6336C"/>
                </a:solidFill>
                <a:latin typeface="Amiri" pitchFamily="34" charset="0"/>
                <a:ea typeface="Amiri" pitchFamily="34" charset="-122"/>
                <a:cs typeface="Amiri" pitchFamily="34" charset="-120"/>
              </a:rPr>
              <a:t>هَا</a:t>
            </a:r>
            <a:pPr rtl="1" algn="ctr" indent="0" marL="0">
              <a:buNone/>
            </a:pPr>
            <a:r>
              <a:rPr lang="ar-SA" altLang="en-US" sz="2800" b="1" dirty="0">
                <a:solidFill>
                  <a:srgbClr val="1B3B6F"/>
                </a:solidFill>
                <a:latin typeface="Amiri" pitchFamily="34" charset="0"/>
                <a:ea typeface="Amiri" pitchFamily="34" charset="-122"/>
                <a:cs typeface="Amiri" pitchFamily="34" charset="-120"/>
              </a:rPr>
              <a:t> مِتْرَانِ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ـهَا</a:t>
            </a:r>
            <a:pPr algn="l" indent="0" marL="0">
              <a:buNone/>
            </a:pPr>
            <a:r>
              <a:rPr lang="en-US" sz="1150" dirty="0">
                <a:solidFill>
                  <a:srgbClr val="1F2A37"/>
                </a:solidFill>
                <a:latin typeface="Calibri" pitchFamily="34" charset="0"/>
                <a:ea typeface="Calibri" pitchFamily="34" charset="-122"/>
                <a:cs typeface="Calibri" pitchFamily="34" charset="-120"/>
              </a:rPr>
              <a:t> = its (the table,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Made of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هِيَ </a:t>
            </a:r>
            <a:pPr rtl="1" algn="ctr" indent="0" marL="0">
              <a:buNone/>
            </a:pPr>
            <a:r>
              <a:rPr lang="ar-SA" altLang="en-US" sz="2700" b="1" dirty="0">
                <a:solidFill>
                  <a:srgbClr val="7B3FA0"/>
                </a:solidFill>
                <a:latin typeface="Amiri" pitchFamily="34" charset="0"/>
                <a:ea typeface="Amiri" pitchFamily="34" charset="-122"/>
                <a:cs typeface="Amiri" pitchFamily="34" charset="-120"/>
              </a:rPr>
              <a:t>مَصْنُوعَ</a:t>
            </a:r>
            <a:pPr rtl="1" algn="ctr" indent="0" marL="0">
              <a:buNone/>
            </a:pPr>
            <a:r>
              <a:rPr lang="ar-SA" altLang="en-US" sz="2700" b="1" dirty="0">
                <a:solidFill>
                  <a:srgbClr val="D6336C"/>
                </a:solidFill>
                <a:latin typeface="Amiri" pitchFamily="34" charset="0"/>
                <a:ea typeface="Amiri" pitchFamily="34" charset="-122"/>
                <a:cs typeface="Amiri" pitchFamily="34" charset="-120"/>
              </a:rPr>
              <a:t>ةٌ</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0E7C86"/>
                </a:solidFill>
                <a:latin typeface="Amiri" pitchFamily="34" charset="0"/>
                <a:ea typeface="Amiri" pitchFamily="34" charset="-122"/>
                <a:cs typeface="Amiri" pitchFamily="34" charset="-120"/>
              </a:rPr>
              <a:t>مِنَ</a:t>
            </a:r>
            <a:pPr rtl="1" algn="ctr" indent="0" marL="0">
              <a:buNone/>
            </a:pPr>
            <a:r>
              <a:rPr lang="ar-SA" altLang="en-US" sz="2700" b="1" dirty="0">
                <a:solidFill>
                  <a:srgbClr val="1B3B6F"/>
                </a:solidFill>
                <a:latin typeface="Amiri" pitchFamily="34" charset="0"/>
                <a:ea typeface="Amiri" pitchFamily="34" charset="-122"/>
                <a:cs typeface="Amiri" pitchFamily="34" charset="-120"/>
              </a:rPr>
              <a:t> الخَشَبِ</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 </a:t>
            </a:r>
            <a:pPr algn="l" indent="0" marL="0">
              <a:buNone/>
            </a:pPr>
            <a:r>
              <a:rPr lang="ar-SA" altLang="en-US" sz="1500" dirty="0">
                <a:solidFill>
                  <a:srgbClr val="1F2A37"/>
                </a:solidFill>
                <a:latin typeface="Amiri" pitchFamily="34" charset="0"/>
                <a:ea typeface="Amiri" pitchFamily="34" charset="-122"/>
                <a:cs typeface="Amiri" pitchFamily="34" charset="-120"/>
              </a:rPr>
              <a:t>مَصْنُوعَةٌ</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Suitable because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الخَشَبُ مُنَاسِبٌ </a:t>
            </a:r>
            <a:pPr rtl="1" algn="ctr" indent="0" marL="0">
              <a:buNone/>
            </a:pPr>
            <a:r>
              <a:rPr lang="ar-SA" altLang="en-US" sz="2400" b="1" dirty="0">
                <a:solidFill>
                  <a:srgbClr val="0E7C86"/>
                </a:solidFill>
                <a:latin typeface="Amiri" pitchFamily="34" charset="0"/>
                <a:ea typeface="Amiri" pitchFamily="34" charset="-122"/>
                <a:cs typeface="Amiri" pitchFamily="34" charset="-120"/>
              </a:rPr>
              <a:t>لِأَنَّهُ</a:t>
            </a:r>
            <a:pPr rtl="1" algn="ctr" indent="0" marL="0">
              <a:buNone/>
            </a:pPr>
            <a:r>
              <a:rPr lang="ar-SA" altLang="en-US" sz="2400" b="1" dirty="0">
                <a:solidFill>
                  <a:srgbClr val="1B3B6F"/>
                </a:solidFill>
                <a:latin typeface="Amiri" pitchFamily="34" charset="0"/>
                <a:ea typeface="Amiri" pitchFamily="34" charset="-122"/>
                <a:cs typeface="Amiri" pitchFamily="34" charset="-120"/>
              </a:rPr>
              <a:t> قَوِيٌّ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reason: </a:t>
            </a:r>
            <a:pPr algn="l" indent="0" marL="0">
              <a:buNone/>
            </a:pPr>
            <a:r>
              <a:rPr lang="ar-SA" altLang="en-US" sz="1500" dirty="0">
                <a:solidFill>
                  <a:srgbClr val="1F2A37"/>
                </a:solidFill>
                <a:latin typeface="Amiri" pitchFamily="34" charset="0"/>
                <a:ea typeface="Amiri" pitchFamily="34" charset="-122"/>
                <a:cs typeface="Amiri" pitchFamily="34" charset="-120"/>
              </a:rPr>
              <a:t>لِأَنَّهُ</a:t>
            </a:r>
            <a:pPr algn="l" indent="0" marL="0">
              <a:buNone/>
            </a:pPr>
            <a:r>
              <a:rPr lang="en-US" sz="1150" dirty="0">
                <a:solidFill>
                  <a:srgbClr val="1F2A37"/>
                </a:solidFill>
                <a:latin typeface="Calibri" pitchFamily="34" charset="0"/>
                <a:ea typeface="Calibri" pitchFamily="34" charset="-122"/>
                <a:cs typeface="Calibri" pitchFamily="34" charset="-120"/>
              </a:rPr>
              <a: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PARTICIPLE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طَاوِلَةٌ مُسْتَطِيلَ</a:t>
            </a:r>
            <a:pPr rtl="1" algn="r" indent="0" marL="0">
              <a:buNone/>
            </a:pPr>
            <a:r>
              <a:rPr lang="ar-SA" altLang="en-US" sz="2000" b="1" dirty="0">
                <a:solidFill>
                  <a:srgbClr val="D6336C"/>
                </a:solidFill>
                <a:latin typeface="Amiri" pitchFamily="34" charset="0"/>
                <a:ea typeface="Amiri" pitchFamily="34" charset="-122"/>
                <a:cs typeface="Amiri" pitchFamily="34" charset="-120"/>
              </a:rPr>
              <a:t>ةٌ</a:t>
            </a:r>
            <a:pPr rtl="1" algn="r" indent="0" marL="0">
              <a:buNone/>
            </a:pPr>
            <a:r>
              <a:rPr lang="ar-SA" altLang="en-US" sz="2000" b="1" dirty="0">
                <a:solidFill>
                  <a:srgbClr val="1B3B6F"/>
                </a:solidFill>
                <a:latin typeface="Amiri" pitchFamily="34" charset="0"/>
                <a:ea typeface="Amiri" pitchFamily="34" charset="-122"/>
                <a:cs typeface="Amiri" pitchFamily="34" charset="-120"/>
              </a:rPr>
              <a:t>. طُولُ</a:t>
            </a:r>
            <a:pPr rtl="1" algn="r" indent="0" marL="0">
              <a:buNone/>
            </a:pPr>
            <a:r>
              <a:rPr lang="ar-SA" altLang="en-US" sz="2000" b="1" dirty="0">
                <a:solidFill>
                  <a:srgbClr val="D6336C"/>
                </a:solidFill>
                <a:latin typeface="Amiri" pitchFamily="34" charset="0"/>
                <a:ea typeface="Amiri" pitchFamily="34" charset="-122"/>
                <a:cs typeface="Amiri" pitchFamily="34" charset="-120"/>
              </a:rPr>
              <a:t>هَا</a:t>
            </a:r>
            <a:pPr rtl="1" algn="r" indent="0" marL="0">
              <a:buNone/>
            </a:pPr>
            <a:r>
              <a:rPr lang="ar-SA" altLang="en-US" sz="2000" b="1" dirty="0">
                <a:solidFill>
                  <a:srgbClr val="1B3B6F"/>
                </a:solidFill>
                <a:latin typeface="Amiri" pitchFamily="34" charset="0"/>
                <a:ea typeface="Amiri" pitchFamily="34" charset="-122"/>
                <a:cs typeface="Amiri" pitchFamily="34" charset="-120"/>
              </a:rPr>
              <a:t> مِتْرَانِ، وَعَرْضُ</a:t>
            </a:r>
            <a:pPr rtl="1" algn="r" indent="0" marL="0">
              <a:buNone/>
            </a:pPr>
            <a:r>
              <a:rPr lang="ar-SA" altLang="en-US" sz="2000" b="1" dirty="0">
                <a:solidFill>
                  <a:srgbClr val="D6336C"/>
                </a:solidFill>
                <a:latin typeface="Amiri" pitchFamily="34" charset="0"/>
                <a:ea typeface="Amiri" pitchFamily="34" charset="-122"/>
                <a:cs typeface="Amiri" pitchFamily="34" charset="-120"/>
              </a:rPr>
              <a:t>هَا</a:t>
            </a:r>
            <a:pPr rtl="1" algn="r" indent="0" marL="0">
              <a:buNone/>
            </a:pPr>
            <a:r>
              <a:rPr lang="ar-SA" altLang="en-US" sz="2000" b="1" dirty="0">
                <a:solidFill>
                  <a:srgbClr val="1B3B6F"/>
                </a:solidFill>
                <a:latin typeface="Amiri" pitchFamily="34" charset="0"/>
                <a:ea typeface="Amiri" pitchFamily="34" charset="-122"/>
                <a:cs typeface="Amiri" pitchFamily="34" charset="-120"/>
              </a:rPr>
              <a:t> مِتْرٌ وَاحِدٌ. هِيَ </a:t>
            </a:r>
            <a:pPr rtl="1" algn="r" indent="0" marL="0">
              <a:buNone/>
            </a:pPr>
            <a:r>
              <a:rPr lang="ar-SA" altLang="en-US" sz="2000" b="1" dirty="0">
                <a:solidFill>
                  <a:srgbClr val="7B3FA0"/>
                </a:solidFill>
                <a:latin typeface="Amiri" pitchFamily="34" charset="0"/>
                <a:ea typeface="Amiri" pitchFamily="34" charset="-122"/>
                <a:cs typeface="Amiri" pitchFamily="34" charset="-120"/>
              </a:rPr>
              <a:t>مَصْنُوعَ</a:t>
            </a:r>
            <a:pPr rtl="1" algn="r" indent="0" marL="0">
              <a:buNone/>
            </a:pPr>
            <a:r>
              <a:rPr lang="ar-SA" altLang="en-US" sz="2000" b="1" dirty="0">
                <a:solidFill>
                  <a:srgbClr val="D6336C"/>
                </a:solidFill>
                <a:latin typeface="Amiri" pitchFamily="34" charset="0"/>
                <a:ea typeface="Amiri" pitchFamily="34" charset="-122"/>
                <a:cs typeface="Amiri" pitchFamily="34" charset="-120"/>
              </a:rPr>
              <a:t>ةٌ</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0E7C86"/>
                </a:solidFill>
                <a:latin typeface="Amiri" pitchFamily="34" charset="0"/>
                <a:ea typeface="Amiri" pitchFamily="34" charset="-122"/>
                <a:cs typeface="Amiri" pitchFamily="34" charset="-120"/>
              </a:rPr>
              <a:t>مِنَ</a:t>
            </a:r>
            <a:pPr rtl="1" algn="r" indent="0" marL="0">
              <a:buNone/>
            </a:pPr>
            <a:r>
              <a:rPr lang="ar-SA" altLang="en-US" sz="2000" b="1" dirty="0">
                <a:solidFill>
                  <a:srgbClr val="1B3B6F"/>
                </a:solidFill>
                <a:latin typeface="Amiri" pitchFamily="34" charset="0"/>
                <a:ea typeface="Amiri" pitchFamily="34" charset="-122"/>
                <a:cs typeface="Amiri" pitchFamily="34" charset="-120"/>
              </a:rPr>
              <a:t> الخَشَبِ، وَالخَشَبُ مُنَاسِبٌ لِلدِّرَاسَةِ </a:t>
            </a:r>
            <a:pPr rtl="1" algn="r" indent="0" marL="0">
              <a:buNone/>
            </a:pPr>
            <a:r>
              <a:rPr lang="ar-SA" altLang="en-US" sz="2000" b="1" dirty="0">
                <a:solidFill>
                  <a:srgbClr val="0E7C86"/>
                </a:solidFill>
                <a:latin typeface="Amiri" pitchFamily="34" charset="0"/>
                <a:ea typeface="Amiri" pitchFamily="34" charset="-122"/>
                <a:cs typeface="Amiri" pitchFamily="34" charset="-120"/>
              </a:rPr>
              <a:t>لِأَنَّهُ</a:t>
            </a:r>
            <a:pPr rtl="1" algn="r" indent="0" marL="0">
              <a:buNone/>
            </a:pPr>
            <a:r>
              <a:rPr lang="ar-SA" altLang="en-US" sz="2000" b="1" dirty="0">
                <a:solidFill>
                  <a:srgbClr val="1B3B6F"/>
                </a:solidFill>
                <a:latin typeface="Amiri" pitchFamily="34" charset="0"/>
                <a:ea typeface="Amiri" pitchFamily="34" charset="-122"/>
                <a:cs typeface="Amiri" pitchFamily="34" charset="-120"/>
              </a:rPr>
              <a:t> قَوِيٌّ وَجَمِيلٌ.</a:t>
            </a:r>
            <a:endParaRPr lang="ar-SA" sz="20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a rectangular table. Its length is two metres and its width is one metre. It is made of wood, and wood is suitable for studying because it is strong and beautiful.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مَبْنِيٌّ مِنَ الحَجَرِ.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house is built of stone.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building → مَبْنِيٌّ.</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المَدْرَسَةُ مَبْنِيَّةٌ مِنَ الطُّوبِ.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is built of brick.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building → مَبْنِيَّةٌ.</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تَتَمَيَّزُ القَرْيَةُ بِبُيُوتِهَا التَّقْلِيدِيَّةِ.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village is distinguished by its traditional houses.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تَتَمَيَّزُ.</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المَدِينَةُ مُكْتَظَّةٌ، بَيْنَمَا الرِّيفُ فَسِيحٌ.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city is dense, whereas the countryside is spacious.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complete contrasting clauses.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“MEASURE &amp; MATERIAL”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m · wood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 cm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سِعَةُ الزُّجَاجَةِ لِتْرٌ وَاحِدٌ.</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طُولُهُ مِتْرَانِ وَهُوَ مَصْنُوعٌ مِنَ الْخَشَبِ.</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دَائِرِيُّ الشَّكْلِ وَقُطْرُهُ عَشَرَةُ سَنْتِيمِتْرَاتٍ.</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m · wood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طُولُهُ مِتْرَانِ وَهُوَ مَصْنُوعٌ مِنَ الْخَشَبِ.</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Its length is two metres and it is made of wood.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 cm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هُوَ دَائِرِيُّ الشَّكْلِ وَقُطْرُهُ عَشَرَةُ سَنْتِيمِتْرَاتٍ.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round and its diameter is ten centimetres.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سِعَةُ الزُّجَاجَةِ لِتْرٌ وَاحِدٌ.</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capacity of the bottle is one litre.</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 A PRODUCT CARD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Product card: a study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بِطَاقَةُ المُنْتَجِ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بِطَاقَةُ المُنْتَجِ: مَكْتَبُ دِرَاسَةٍ</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الشَّكْلُ: مُسْتَطِيلٌ</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الطُّولُ: مِئَةٌ وَعِشْرُونَ سَنْتِيمِتْرًا · العَرْضُ: سِتُّونَ سَنْتِيمِتْرًا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الوَزْنُ: خَمْسَةَ عَشَرَ كِيلُوغْرَامًا</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المَادَّةُ: المَكْتَبُ مَصْنُوعٌ مِنَ الخَشَبِ، وَالأَرْجُلُ مِنَ المَعْدِنِ.</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الاِسْتِعْمَالُ: مُنَاسِبٌ لِلدِّرَاسَةِ فِي غُرْفَةٍ صَغِيرَةٍ.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تَنْبِيهٌ: لَا تَضَعِ المَكْتَبَ قُرْبَ المَاءِ.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بِطَاقَةُ المُنْتَجِ</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product card</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 دِرَاسَةٍ</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study desk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الشَّكْلُ</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shape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الطُّولُ</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length</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العَرْضُ</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width</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الوَزْنُ</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الأَرْجُلُ</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legs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الاِسْتِعْمَالُ</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use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تَنْبِيهٌ</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warning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تَضَعْ</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put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PRODUCT CARD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shape is the desk?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Rectangular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Round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Square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cm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cm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120 cm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heavy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legs made of?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Metal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must you NOT put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small room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a window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water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shape?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الشَّكْل</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الطُّول</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heavy?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الوَزْن</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made of?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PRODUCT CARD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Product card: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shape is the desk?</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Rectangular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Round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Square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الشَّكْلُ: مُسْتَطِيلٌ.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 cm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cm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120 cm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الطُّولُ: مِئَةٌ وَعِشْرُونَ سَنْتِيمِتْرًا.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heavy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kg</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الوَزْنُ: خَمْسَةَ عَشَرَ كِيلُوغْرَامًا.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legs made of?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Metal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وَالأَرْجُلُ مِنَ المَعْدِنِ.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must you NOT put 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small room</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Near a window</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تَضَعِ المَكْتَبَ قُرْبَ المَاءِ.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shape?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الشَّكْل</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long?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الطُّول</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heavy?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الوَزْن</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made of?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table is made of wood.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الطَّاوِلَةُ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الكُرْسِيُّ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مَصْنُوعٌ</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مَصْنُوعَةٌ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بِالخَشَبِ.</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الخَشَبِ.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Its (the bottle’s) capacity is one litre.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سِعَتُهَا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سِعَتُهُ</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لِتْرٌ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مِتْرٌ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وَاحِدٌ.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وَاحِدَةٌ.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city is crowded, whereas the village is quiet.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المَدِينَةُ مُكْتَظَّةٌ،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القَرْيَةُ مُكْتَظَّةٌ،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بَيْنَمَا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المَدِينَةُ مُكْتَظَّةٌ.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القَرْيَةُ هَادِئَةٌ.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table is made of wood.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Feminine </a:t>
            </a:r>
            <a:pPr algn="l" indent="0" marL="0">
              <a:buNone/>
            </a:pPr>
            <a:r>
              <a:rPr lang="ar-SA" altLang="en-US" sz="1350" dirty="0">
                <a:solidFill>
                  <a:srgbClr val="5A6472"/>
                </a:solidFill>
                <a:latin typeface="Amiri" pitchFamily="34" charset="0"/>
                <a:ea typeface="Amiri" pitchFamily="34" charset="-122"/>
                <a:cs typeface="Amiri" pitchFamily="34" charset="-120"/>
              </a:rPr>
              <a:t>الطَّاوِلَةُ</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مَصْنُوعَةٌ</a:t>
            </a:r>
            <a:pPr algn="l" indent="0" marL="0">
              <a:buNone/>
            </a:pPr>
            <a:r>
              <a:rPr lang="en-US" sz="1050" i="1" dirty="0">
                <a:solidFill>
                  <a:srgbClr val="5A6472"/>
                </a:solidFill>
                <a:latin typeface="Calibri" pitchFamily="34" charset="0"/>
                <a:ea typeface="Calibri" pitchFamily="34" charset="-122"/>
                <a:cs typeface="Calibri" pitchFamily="34" charset="-120"/>
              </a:rPr>
              <a:t>; always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الطَّاوِلَةُ مَصْنُوعَةٌ مِنَ الخَشَبِ.</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Its (the bottle’s) capacity is one litre.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الزُّجَاجَةُ</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سِعَتُهَا</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لِتْرٌ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وَاحِدٌ</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سِعَتُهَا لِتْرٌ وَاحِدٌ.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city is crowded, whereas the village is quiet.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i="1" dirty="0">
                <a:solidFill>
                  <a:srgbClr val="5A6472"/>
                </a:solidFill>
                <a:latin typeface="Calibri" pitchFamily="34" charset="0"/>
                <a:ea typeface="Calibri" pitchFamily="34" charset="-122"/>
                <a:cs typeface="Calibri" pitchFamily="34" charset="-120"/>
              </a:rPr>
              <a:t> + a complete, different idea (website).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المَدِينَةُ مُكْتَظَّةٌ، بَيْنَمَا القَرْيَةُ هَادِئَةٌ.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 or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مَادَّةٌ أَمْ مَبْنًى؟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عِمَارَةٌ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زُجَاجٌ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نَاطِحَةُ سَحَابٍ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خَرَسَانَةٌ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مَنْزِلٌ مُسْتَقِلٌّ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مَبْنًى تَارِيخِيٌّ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Building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Material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زُجَاجٌ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خَرَسَانَةٌ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Building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عِمَارَةٌ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نَاطِحَةُ سَحَابٍ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مَنْزِلٌ مُسْتَقِلٌّ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مَبْنًى تَارِيخِيٌّ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القَرْيَةُ بِبُيُوتِهَا التَّقْلِيدِيَّةِ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تَمَيَّزْ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مُكْتَظَّةٌ، بَيْنَمَا المَدِينَةُ مُكْتَظَّةٌ.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مُكْتَظَّةٌ، بَيْنَمَا القَرْيَةُ هَادِئَةٌ.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لِأَنَّ القَرْيَةَ.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architectural heritage?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مُبَاشِرَةٌ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تُرَاثٌ مِعْمَارِيٌّ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القَرْيَةُ بِبُيُوتِهَا التَّقْلِيدِيَّةِ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تَمَيَّزْ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القَرْيَةُ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creates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مُكْتَظَّةٌ، بَيْنَمَا المَدِينَةُ مُكْتَظَّةٌ.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مُكْتَظَّةٌ، بَيْنَمَا القَرْيَةُ هَادِئَةٌ.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لِأَنَّ القَرْيَةَ.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clauses contrast urban and rural life.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architectural heritage?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مَوَاصَلَاتٌ عَامَّةٌ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رِحْلَةٌ مُبَاشِرَةٌ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تُرَاثٌ مِعْمَارِيٌّ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تُرَاثٌ مِعْمَارِيٌّ</a:t>
            </a:r>
            <a:pPr algn="l" indent="0" marL="0">
              <a:buNone/>
            </a:pPr>
            <a:r>
              <a:rPr lang="en-US" sz="1050" i="1" dirty="0">
                <a:solidFill>
                  <a:srgbClr val="8A6D1E"/>
                </a:solidFill>
                <a:latin typeface="Calibri" pitchFamily="34" charset="0"/>
                <a:ea typeface="Calibri" pitchFamily="34" charset="-122"/>
                <a:cs typeface="Calibri" pitchFamily="34" charset="-120"/>
              </a:rPr>
              <a:t> means architectural heritage.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العِمَارَةُ مَبْنِيٌّ مِنَ الخَرَسَانَةِ.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العِمَارَةُ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القَرْيَةُ بِالتُّرَاثِ.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القَرْيَةُ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المَدِينَةُ مُكْتَظَّةٌ بَيْنَمَا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the second idea really different?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العِمَارَةُ مَبْنِيٌّ مِنَ الخَرَسَانَةِ.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العِمَارَةُ مَبْنِيَّةٌ مِنَ الخَرَسَانَةِ.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participle agrees with the feminine building.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القَرْيَةُ بِالتُّرَاثِ.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القَرْيَةُ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feminine </a:t>
            </a:r>
            <a:pPr algn="l" indent="0" marL="0">
              <a:buNone/>
            </a:pPr>
            <a:r>
              <a:rPr lang="ar-SA" altLang="en-US" sz="1500" b="1" dirty="0">
                <a:solidFill>
                  <a:srgbClr val="1B3B6F"/>
                </a:solidFill>
                <a:latin typeface="Amiri" pitchFamily="34" charset="0"/>
                <a:ea typeface="Amiri" pitchFamily="34" charset="-122"/>
                <a:cs typeface="Amiri" pitchFamily="34" charset="-120"/>
              </a:rPr>
              <a:t>القَرْيَةُ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المَدِينَةُ مُكْتَظَّةٌ بَيْنَمَا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المَدِينَةُ مُكْتَظَّةٌ، بَيْنَمَا القَرْيَةُ هَادِئَةٌ.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بَيْنَمَا</a:t>
            </a:r>
            <a:pPr algn="l" indent="0" marL="0">
              <a:buNone/>
            </a:pPr>
            <a:r>
              <a:rPr lang="en-US" sz="1150" b="1" dirty="0">
                <a:solidFill>
                  <a:srgbClr val="1B3B6F"/>
                </a:solidFill>
                <a:latin typeface="Calibri" pitchFamily="34" charset="0"/>
                <a:ea typeface="Calibri" pitchFamily="34" charset="-122"/>
                <a:cs typeface="Calibri" pitchFamily="34" charset="-120"/>
              </a:rPr>
              <a:t> needs two complete contrasting ideas.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Architecture in two neighbourhoods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traditional houses built of?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the traditional houses?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stations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wooden doors and inner courtyards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new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mud houses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village market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contemporary apartment blocks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materials are used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 and glass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sand and rock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neighbourhood is quieter?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the same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الحَجَرِ وَالطِّينِ</a:t>
            </a:r>
            <a:pPr algn="l" indent="0" marL="0">
              <a:buNone/>
            </a:pPr>
            <a:r>
              <a:rPr lang="en-US" sz="1250" dirty="0">
                <a:solidFill>
                  <a:srgbClr val="1E6B52"/>
                </a:solidFill>
                <a:latin typeface="Calibri" pitchFamily="34" charset="0"/>
                <a:ea typeface="Calibri" pitchFamily="34" charset="-122"/>
                <a:cs typeface="Calibri" pitchFamily="34" charset="-120"/>
              </a:rPr>
              <a:t> (stone and clay), </a:t>
            </a:r>
            <a:pPr algn="l" indent="0" marL="0">
              <a:buNone/>
            </a:pPr>
            <a:r>
              <a:rPr lang="ar-SA" altLang="en-US" sz="1650" dirty="0">
                <a:solidFill>
                  <a:srgbClr val="1E6B52"/>
                </a:solidFill>
                <a:latin typeface="Amiri" pitchFamily="34" charset="0"/>
                <a:ea typeface="Amiri" pitchFamily="34" charset="-122"/>
                <a:cs typeface="Amiri" pitchFamily="34" charset="-120"/>
              </a:rPr>
              <a:t>عِمَارَاتٌ</a:t>
            </a:r>
            <a:pPr algn="l" indent="0" marL="0">
              <a:buNone/>
            </a:pPr>
            <a:r>
              <a:rPr lang="en-US" sz="1250" dirty="0">
                <a:solidFill>
                  <a:srgbClr val="1E6B52"/>
                </a:solidFill>
                <a:latin typeface="Calibri" pitchFamily="34" charset="0"/>
                <a:ea typeface="Calibri" pitchFamily="34" charset="-122"/>
                <a:cs typeface="Calibri" pitchFamily="34" charset="-120"/>
              </a:rPr>
              <a:t> (blocks) and </a:t>
            </a:r>
            <a:pPr algn="l" indent="0" marL="0">
              <a:buNone/>
            </a:pPr>
            <a:r>
              <a:rPr lang="ar-SA" altLang="en-US" sz="1650" dirty="0">
                <a:solidFill>
                  <a:srgbClr val="1E6B52"/>
                </a:solidFill>
                <a:latin typeface="Amiri" pitchFamily="34" charset="0"/>
                <a:ea typeface="Amiri" pitchFamily="34" charset="-122"/>
                <a:cs typeface="Amiri" pitchFamily="34" charset="-120"/>
              </a:rPr>
              <a:t>الخَرَسَانَةِ وَالزُّجَاجِ</a:t>
            </a:r>
            <a:pPr algn="l" indent="0" marL="0">
              <a:buNone/>
            </a:pPr>
            <a:r>
              <a:rPr lang="en-US" sz="1250" dirty="0">
                <a:solidFill>
                  <a:srgbClr val="1E6B52"/>
                </a:solidFill>
                <a:latin typeface="Calibri" pitchFamily="34" charset="0"/>
                <a:ea typeface="Calibri" pitchFamily="34" charset="-122"/>
                <a:cs typeface="Calibri" pitchFamily="34" charset="-120"/>
              </a:rPr>
              <a:t> (concrete and glass).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الحَيِّ القَدِيمِ بُيُوتٌ تَقْلِيدِيَّةٌ مَبْنِيَّةٌ مِنَ الحَجَرِ وَالطِّينِ.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old district there are traditional houses built of stone and clay.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البُيُوتُ بِأَبْوَابِهَا الخَشَبِيَّةِ وَسَاحَاتِهَا الدَّاخِلِيَّةِ.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houses are known for their wooden doors and inner courtyards.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الحَيِّ الجَدِيدِ فَتُوجَدُ عِمَارَاتٌ مُعَاصِرَةٌ مَبْنِيَّةٌ مِنَ الخَرَسَانَةِ وَالزُّجَاجِ.</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new district, there are modern blocks built of concrete and glass.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الحَيُّ الجَدِيدُ مُكْتَنِزٌ، بَيْنَمَا الحَيُّ القَدِيمُ أَكْثَرُ هُدُوءًا.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district is dense, whereas the old district is quieter.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traditional houses built of?</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metal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الحَجَرِ وَالطِّينِ.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the traditional houses?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towers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stations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wooden doors and inner courtyards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أَبْوَابِهَا الخَشَبِيَّةِ وَسَاحَاتِهَا.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new neighbourhood?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mud houses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village market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contemporary apartment blocks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عِمَارَاتٌ مُعَاصِرَةٌ.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materials are used there?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concrete and glass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stone and clay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sand and rock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الخَرَسَانَةِ وَالزُّجَاجِ.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neighbourhood is quieter?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new 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old 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the same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الحَيُّ القَدِيمُ أَكْثَرُ هُدُوءًا.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 — listen for </a:t>
            </a:r>
            <a:pPr algn="l" indent="0" marL="0">
              <a:buNone/>
            </a:pPr>
            <a:r>
              <a:rPr lang="ar-SA" altLang="en-US" sz="1650" dirty="0">
                <a:solidFill>
                  <a:srgbClr val="1E6B52"/>
                </a:solidFill>
                <a:latin typeface="Amiri" pitchFamily="34" charset="0"/>
                <a:ea typeface="Amiri" pitchFamily="34" charset="-122"/>
                <a:cs typeface="Amiri" pitchFamily="34" charset="-120"/>
              </a:rPr>
              <a:t>الحَجَرِ وَالطِّينِ</a:t>
            </a:r>
            <a:pPr algn="l" indent="0" marL="0">
              <a:buNone/>
            </a:pPr>
            <a:r>
              <a:rPr lang="en-US" sz="1250" dirty="0">
                <a:solidFill>
                  <a:srgbClr val="1E6B52"/>
                </a:solidFill>
                <a:latin typeface="Calibri" pitchFamily="34" charset="0"/>
                <a:ea typeface="Calibri" pitchFamily="34" charset="-122"/>
                <a:cs typeface="Calibri" pitchFamily="34" charset="-120"/>
              </a:rPr>
              <a:t> (stone and clay), </a:t>
            </a:r>
            <a:pPr algn="l" indent="0" marL="0">
              <a:buNone/>
            </a:pPr>
            <a:r>
              <a:rPr lang="ar-SA" altLang="en-US" sz="1650" dirty="0">
                <a:solidFill>
                  <a:srgbClr val="1E6B52"/>
                </a:solidFill>
                <a:latin typeface="Amiri" pitchFamily="34" charset="0"/>
                <a:ea typeface="Amiri" pitchFamily="34" charset="-122"/>
                <a:cs typeface="Amiri" pitchFamily="34" charset="-120"/>
              </a:rPr>
              <a:t>عِمَارَاتٌ</a:t>
            </a:r>
            <a:pPr algn="l" indent="0" marL="0">
              <a:buNone/>
            </a:pPr>
            <a:r>
              <a:rPr lang="en-US" sz="1250" dirty="0">
                <a:solidFill>
                  <a:srgbClr val="1E6B52"/>
                </a:solidFill>
                <a:latin typeface="Calibri" pitchFamily="34" charset="0"/>
                <a:ea typeface="Calibri" pitchFamily="34" charset="-122"/>
                <a:cs typeface="Calibri" pitchFamily="34" charset="-120"/>
              </a:rPr>
              <a:t> (blocks) and </a:t>
            </a:r>
            <a:pPr algn="l" indent="0" marL="0">
              <a:buNone/>
            </a:pPr>
            <a:r>
              <a:rPr lang="ar-SA" altLang="en-US" sz="1650" dirty="0">
                <a:solidFill>
                  <a:srgbClr val="1E6B52"/>
                </a:solidFill>
                <a:latin typeface="Amiri" pitchFamily="34" charset="0"/>
                <a:ea typeface="Amiri" pitchFamily="34" charset="-122"/>
                <a:cs typeface="Amiri" pitchFamily="34" charset="-120"/>
              </a:rPr>
              <a:t>الخَرَسَانَةِ وَالزُّجَاجِ</a:t>
            </a:r>
            <a:pPr algn="l" indent="0" marL="0">
              <a:buNone/>
            </a:pPr>
            <a:r>
              <a:rPr lang="en-US" sz="1250" dirty="0">
                <a:solidFill>
                  <a:srgbClr val="1E6B52"/>
                </a:solidFill>
                <a:latin typeface="Calibri" pitchFamily="34" charset="0"/>
                <a:ea typeface="Calibri" pitchFamily="34" charset="-122"/>
                <a:cs typeface="Calibri" pitchFamily="34" charset="-120"/>
              </a:rPr>
              <a:t> (concrete and glass).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Architecture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الشَّيْءُ؟ صِفْ شَكْلَهُ وَمَادَّتَهُ.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 بُنِيَ هٰذَا المَبْنَى؟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الحَيِّ القَدِيمِ وَالجَدِيدِ؟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نَوْعٍ مِنَ العُمْرَانِ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هُوَ مَصْنُوعٌ / هِيَ مَصْنُوعَةٌ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طُولُهُ / طُولُهَا ___ ، وَشَكْلُهُ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يَقُولُ / تَقُولُ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مِمَّ بُنِيَ هٰذَا البَيْتُ؟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house built from?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مَبْنِيٌّ مِنَ الحَجَرِ وَالخَشَبِ.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is built of stone and wood.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one object at home: what it is, its shape, one measurement and what it is made of.</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 copy the I do model and change the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accurate comparison using agreement and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Describe two buildings with the right ending (built of …), one feature (known for …) and one contrast (whereas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Analyse how a contemporary building can respect architectural heritage and propose one design feature.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an old and a modern building;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مَبْنِيٌّ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(m.) is built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مَبْنِيَّةٌ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(f.) is built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يَتَمَيَّزُ / تَتَمَيَّزُ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known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مُنَاسِبٌ لِـ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suitable for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 هٰذِهِ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(m.) is a … / This (f.) is a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شَكْلُهُ / شَكْلُهَا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shape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طُولُهُ / طُولُهَا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length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مَصْنُوعٌ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(m.) is made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مَصْنُوعَةٌ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(f.) is made of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خَشَبٌ  ·  حَجَرٌ  ·  زُجَاجٌ  ·  مَعْدِنٌ  ·  بِلَاسْتِيكٌ  ·  طُوبٌ  ·  مُسْتَطِيلٌ  ·  دَائِرِيٌّ  ·  مِتْرَانِ  ·  كِيلُوغْرَامٌ  ·  قَوِيٌّ  ·  خَفِيفٌ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an old building and a modern building in 80–100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materials.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مَبْنِيٌّ / مَبْنِيَّةٌ</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يَتَمَيَّزُ / تَتَمَيَّزُ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Create a meaningful contrast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give an opinion.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مَدِينَتِي مَسْجِدٌ تَارِيخِيٌّ وَمَرْكَزٌ ثَقَافِيٌّ حَدِيثٌ</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city there is a historic mosque and a modern cultural centre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مَبْنِيٌّ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mosque is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وَيَتَمَيَّزُ بِقُبَّتِهِ وَأَبْوَابِهِ الخَشَبِيَّةِ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is known for its dome and wooden doors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المَرْكَزُ فَـ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centre,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هَادِئٌ وَتَقْلِيدِيٌّ، بَيْنَمَا … مُعَاصِرٌ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calm and traditional, whereas … is modern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المَبْنَيَيْنِ لِأَنَّ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both buildings because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مَسْجِدٌ تَارِيخِيٌّ وَمَرْكَزٌ ثَقَافِيٌّ حَدِيثٌ. المَسْجِدُ مَبْنِيٌّ مِنَ الحَجَرِ، وَيَتَمَيَّزُ بِقُبَّتِهِ وَأَبْوَابِهِ الخَشَبِيَّةِ. أَمَّا المَرْكَزُ فَهُوَ مَبْنِيٌّ مِنَ الزُّجَاجِ وَالمَعْدِنِ، وَفِيهِ قَاعَاتٌ فَسِيحَةٌ. المَسْجِدُ هَادِئٌ وَتَقْلِيدِيٌّ، بَيْنَمَا المَرْكَزُ نَشِيطٌ وَمُعَاصِرٌ. أُحِبُّ المَبْنَيَيْنِ لِأَنَّ الأَوَّلَ يَحْمِي التُّرَاثَ وَالثَّانِيَ يُقَدِّمُ خِدْمَاتٍ 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city there is a historic mosque and a modern cultural centre. The mosque is built of stone, and it is known for its dome and its wooden doors. As for the centre, it is built of glass and metal, and it has spacious halls. The mosque is calm and traditional, whereas the centre is lively and modern. I like both buildings, because the first protects our heritage and the second offers new services.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مَبْنِيٌّ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يَتَمَيَّزُ بِـ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6 materials and 6 shape or size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an object is made of and give its length (</a:t>
            </a:r>
            <a:pPr algn="l" indent="0" marL="0">
              <a:buNone/>
            </a:pPr>
            <a:r>
              <a:rPr lang="ar-SA" altLang="en-US" sz="1700" dirty="0">
                <a:solidFill>
                  <a:srgbClr val="1F2A37"/>
                </a:solidFill>
                <a:latin typeface="Amiri" pitchFamily="34" charset="0"/>
                <a:ea typeface="Amiri" pitchFamily="34" charset="-122"/>
                <a:cs typeface="Amiri" pitchFamily="34" charset="-120"/>
              </a:rPr>
              <a:t>طُولُهُ / طُولُهَا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four buildings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something is for and why it is suitable (</a:t>
            </a:r>
            <a:pPr algn="l" indent="0" marL="0">
              <a:buNone/>
            </a:pPr>
            <a:r>
              <a:rPr lang="ar-SA" altLang="en-US" sz="1700" dirty="0">
                <a:solidFill>
                  <a:srgbClr val="1F2A37"/>
                </a:solidFill>
                <a:latin typeface="Amiri" pitchFamily="34" charset="0"/>
                <a:ea typeface="Amiri" pitchFamily="34" charset="-122"/>
                <a:cs typeface="Amiri" pitchFamily="34" charset="-120"/>
              </a:rPr>
              <a:t>مُنَاسِبٌ لِـ … لِأَنَّ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contrast urban and rural life.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stone?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زُجَاجٌ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خَشَبٌ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الخَرَسَانَةِ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contrasts two settings?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stone?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زُجَاجٌ</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خَشَبٌ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حَجَرٌ</a:t>
            </a:r>
            <a:pPr algn="l" indent="0" marL="0">
              <a:buNone/>
            </a:pPr>
            <a:r>
              <a:rPr lang="en-US" sz="1050" i="1" dirty="0">
                <a:solidFill>
                  <a:srgbClr val="8A6D1E"/>
                </a:solidFill>
                <a:latin typeface="Calibri" pitchFamily="34" charset="0"/>
                <a:ea typeface="Calibri" pitchFamily="34" charset="-122"/>
                <a:cs typeface="Calibri" pitchFamily="34" charset="-120"/>
              </a:rPr>
              <a:t> means stone.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الخَرَسَانَةِ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contrasts two settings?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بَيْنَمَا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means whereas.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 and new architecture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تَجْمَعُ مَدِينَةُ الرِّوَاقِ بَيْنَ التُّرَاثِ وَالعُمْرَانِ المُعَاصِرِ. فِي القَلْعَةِ القَدِيمَةِ مَبَانٍ مَبْنِيَّةٌ مِنَ الحَجَرِ، وَتَتَمَيَّزُ بِنَوَافِذِهَا الصَّغِيرَةِ وَأَقْوَاسِهَا. بِالقُرْبِ مِنْهَا مَرْكَزٌ ثَقَافِيٌّ حَدِيثٌ مَبْنِيٌّ مِنَ الزُّجَاجِ وَالمَعْدِنِ. يَحْتَرِمُ تَصْمِيمُهُ المِعْمَارَ القَدِيمَ، بَيْنَمَا يُوَفِّرُ مَسَاحَاتٍ فَسِيحَةً لِلزُّوَّارِ. لِذٰلِكَ يَرَى السُّكَّانُ أَنَّ المَشْرُوعَ يَحْمِي التُّرَاثَ وَيُطَوِّرُ المَدِينَةَ.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العُمْرَانُ المُعَاصِرُ</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modern development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القَلْعَةُ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castle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نَوَافِذُهَا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windows</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أَقْوَاسُهَا</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arches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 ثَقَافِيٌّ</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cultural centre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يَحْتَرِمُ</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respects</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provides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الزُّوَّارُ</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visitors</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يَحْمِي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protects</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يُطَوِّرُ</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develops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combine?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rural and coastal life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heritage and contemporary development</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and shopping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buildings made of?</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metal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features do they have?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windows and arches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glass 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cultural centre made of?</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brick and clay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 and sand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design respect?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architecture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railway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residents’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destroys the old city.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should be closed.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protects heritage and develops the city.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combine?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rural and coastal life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heritage and contemporary development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and shopping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بَيْنَ التُّرَاثِ وَالعُمْرَانِ المُعَاصِرِ.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buildings made of?</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metal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مَبْنِيَّةٌ مِنَ الحَجَرِ.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features do they have?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windows and arches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glass 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نَوَافِذِهَا الصَّغِيرَةِ وَأَقْوَاسِهَا.</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cultural centre made of?</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brick and clay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 and sand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الزُّجَاجِ وَالمَعْدِنِ.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design respect?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architecture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railway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يَحْتَرِمُ ... المِعْمَارَ القَدِيمَ.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residents’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destroys the old city.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should be closed.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protects heritage and develops the city.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this positive balanced view.</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TC-L11 · Topic C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وَجْهَةِ نَظَرِي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from my point of view</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بِعِبَارَةٍ أُخْرَى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other words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سَأُعْطِي مِثَالًا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will give an example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أَقْصِدُ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 mean is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إِلَى حَدٍّ 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some extent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Topic C topic interests you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أَيُّ مَوْضُوعٍ فِي المِحْوَرِ ج يُهِمُّكَ أَكْثَرَ؟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TC-L10 · play “Measure &amp; Material”,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Photograph (or draw) three objects at home and write two sentences for each: shape or size + material.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TC-L10 · the reading “Old and new architecture”, then write your own 80–100-word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TC-L11 · Topic C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وَرْشَةُ التَّوَاصُلِ المُتَكَامِلِ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TC-L10 · Measurements, Shapes and Materials</dc:title>
  <dc:subject>PptxGenJS Presentation</dc:subject>
  <dc:creator>Al Madina Online School · Arabic Department</dc:creator>
  <cp:lastModifiedBy>Al Madina Online School · Arabic Department</cp:lastModifiedBy>
  <cp:revision>1</cp:revision>
  <dcterms:created xsi:type="dcterms:W3CDTF">2026-09-27T10:53:33Z</dcterms:created>
  <dcterms:modified xsi:type="dcterms:W3CDTF">2026-09-27T10:53:33Z</dcterms:modified>
</cp:coreProperties>
</file>