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Advanced Topics › Topic C › Lesson 10 (TC-L10). The website lesson reuses F6-L07 (The Built Environment: Buildings, Materials and Urban Life) with the Topic C focus “Describe size, form, composition, use and suitability precisely” (grammar: measurement expressions; agreement; passive participles). Core vocabulary also comes from the Topic C Measurements and Materials banks; the picture match is the website lesson game “Measure &amp; Material”; the product card is teacher-made for the website application “Shape and material lab”.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F6-L07 is accessible (A2–B1). CORE: everyday materials + shapes + size words + “it is made of” (مَصْنُوعٌ / مَصْنُوعَةٌ مِنْ) + one measurement (طُولُهُ …). DEVELOP: the website’s building materials, مَبْنِيٌّ / مَبْنِيَّةٌ agreement and يَتَمَيَّزُ بِـ. STRETCH: بَيْنَمَا contrasts and judging suitability (مُنَاسِبٌ لِـ … لِأَنَّ).
• Colour: pink = the ending that agrees (مَصْنُوعٌ / مَصْنُوعَةٌ), m./f. adjective forms on every material card, a product card to read, a read-along listening with English and a “guess my object” speaking game.
• Urdu bridge words (شکل، وزن، مربع، مادہ، تاریخی).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the words prepared at home (Flipped Learning follow-up). Questions 3–5 retrieve TC-L09 and TC-L08 — the masculine / feminine agreement that runs through today.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GO THROUGH THE ANSWERS (2 min). Reveal and ask “why?” for each (● 10s think → named student, warned in advance).
Key idea for today (bottom-right card): Today the ending tells you about the thing: made of … changes with masculine and feminine, just like ثَمَنُهُ / ثَمَنُهَا.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Core statements carry the Topic C focus (size, form, composition, use and suitability; measurement expressions, agreement, passive participles). The website objectives on the left are the F6-L07 objectives.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شکل (shape — the same word), وزن (weight — TC-L07 وَزْنُ الأَمْتِعَةِ), مربع (a square — Urdu maths), مادہ (matter — Arabic مَادَّةٌ = material), تاریخی (historic — تَارِيخٌ = history, date).
Groups 1–3 are the Topic C Materials and Measurements banks; Groups 4–5 are the website F6-L07 vocabulary.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materials (Topic C Materials bank). Hear → Say → See → Use. Hold up or point to real objects around you on camera: a wooden table, a glass, a metal pen, a plastic bottle, paper.
The small boxes show the ADJECTIVE made from each material with ـِيٌّ (m.) / ـِيَّةٌ (f.) — the nisba ending from TC-L02: بَابٌ خَشَبِيٌّ (a wooden door), زُجَاجَةٌ بِلَاسْتِيكِيَّةٌ (a plastic bottle).
Stretch: the website listening says أَبْوَابُهَا الخَشَبِيَّةُ = its wooden doors (plural of things → feminine).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shapes and sizes (Topic C Measurements bank). Draw the shapes in the air: a circle, a square, a rectangle; hands wide apart (long), close together (short), arms open (huge).
Bank example: الفِيلُ كَبِيرٌ وَالفَأْرُ صَغِيرٌ = The elephant is big and the mouse is small. Every adjective adds ـة for a feminine thing: طَاوِلَةٌ مُسْتَطِيلَةٌ · صَحْنٌ دَائِرِيٌّ.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measurement expressions (Topic C grammar focus). Pattern: MEASURE + “its” + NUMBER + UNIT. The pink ending is the same attached pronoun as TC-L09 (ثَمَنُهُ / ثَمَنُهَا): ـهُ for a masculine object, ـهَا for a feminine object.
Units (Topic C bank): مِتْرٌ (metre), سَنْتِيمِتْرٌ (cm), كِيلُومِتْرٌ (km), غِرَامٌ (gram), كِيلُوغْرَامٌ (kg), لِتْرٌ (litre).
Two of anything: add ـَانِ → مِتْرَانِ (two metres), كِيلُوغْرَامَانِ (two kilos) — no number word needed!
Core: rows 1–3 (length, width, weight). Rows 4–5 are the website game sentences (Develop /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passive participles and agreement (Topic C grammar focus), built on the website table “Subject · Participle · Example”.
Purple = the participle (a describing word made from a verb: يَصْنَعُ → مَصْنُوعٌ “made”; يَبْنِي → مَبْنِيٌّ “built”). Pink = the ـة it adds for a feminine thing — and for plurals of THINGS (المَبَانِي … مَبْنِيَّةٌ, website). Teal = مِنْ, which never changes.
Core: rows 1–2 (objects, مَصْنُوعٌ / مَصْنُوعَةٌ). Develop: rows 3–4 (buildings, the website’s مَبْنِيٌّ / مَبْنِيَّةٌ).
Website common error: “Do not write العِمَارَةُ مَبْنِيٌّ. The feminine noun requires مَبْنِيَّةٌ.”
Remember TC-L08: مَبْنِيٌّ always takes مِنْ, never بِـ.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3 — use and suitability (Topic C focus “composition, use and suitability”). Cards 1–2 are teacher-made; card 3 is the website rule and pattern.
Useful describing words for suitability: قَوِيٌّ (strong), خَفِيفٌ (light), ثَقِيلٌ (heavy), رَخِيصٌ (cheap — TC-L09), جَمِيلٌ (beautiful), فَسِيحٌ (spacious — website).
Website teaching point: “Materials are introduced as language for description, not as isolated science vocabulary.”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contrast (FLEX — Develop / Stretch). Rows 1–3 are website examples (quiz, pattern and speaking model); row 4 is from the website listening.
Website rule: “Each side should contain a complete idea that creates a meaningful contrast.” Website teaching point: “Cultural comparison should notice diversity within the Arab world and avoid presenting one building style as universal.”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“Describe what a building is made of with مَبْنِيٌّ مِنْ. The passive participle agrees with the building noun. Use بَيْنَمَا to compare genuinely different urban and rural features.”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questions 1–2 teacher-made (Topic C grammar focus); questions 3–4 are website grammar quiz questions 1–2.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I DO (3 min) — teacher models with a think-aloud, ideally holding or pointing to a real table or desk on camera. Students COPY the description into their books.
Step 1 — “طَاوِلَةٌ ends in ـة, so the shape adjective adds ـة: مُسْتَطِيلَةٌ.”
Step 2 — “Its length: طُولُهَا — ـهَا because it’s the table. Two metres: just مِتْرَانِ.”
Step 3 — “Made of: مَصْنُوعَةٌ مِنَ الخَشَبِ — pink ـة again.”
Step 4 — “Why is wood good? لِأَنَّهُ قَوِيٌّ — because it is strong.”
Teacher-made from the Topic C banks and the website game (طُولُهُ مِتْرَانِ وَهُوَ مَصْنُوعٌ مِنَ الخَشَبِ).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MODEL SENTENCES (1 min) — the website patterns. Students copy TWO that are useful for them.
• Core: copy 1 and 2 and change the material (البَيْتُ مَبْنِيٌّ مِنَ الطُّوبِ …). • Develop: copy 3 about a place you know. • Stretch: copy 4 and write your own بَيْنَمَا contrast.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(“Measure &amp; Material”)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Key words to spot: مِتْرَانِ + الخَشَبِ (two metres, wood), دَائِرِيُّ (round) + سَنْتِيمِتْرَاتٍ (cm), سِعَةُ … لِتْرٌ (capacity … litre). Stretch: explain طُولُهُ vs طُولُهَا in the sentences.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(“Measure &amp; Material”)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Key words to spot: مِتْرَانِ + الخَشَبِ (two metres, wood), دَائِرِيُّ (round) + سَنْتِيمِتْرَاتٍ (cm), سِعَةُ … لِتْرٌ (capacity … litre). Stretch: explain طُولُهُ vs طُولُهَا in the sentences.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READ A PRODUCT CARD (2 min) — Topic C focus “Describe size, form, composition, use and suitability precisely”, set out like a real online product listing. Teacher-made from the Topic C banks and website F6-L07 vocabulary.
Read it aloud once while students follow. SEND: cover the text and uncover one line at a time; Core students use the glossary.
Notice: each line is one of today’s five questions — shape, size, weight, material, use. لَا تَضَعْ = a negative instruction (TC-L07 imperatives).
Translation for the teacher: Product card: study desk. Shape: rectangular. Length: 120 cm · Width: 60 cm. Weight: 15 kg. Material: the desk is made of wood, and the legs of metal. Use: suitable for studying in a small room. Warning: do not put the desk near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PRODUCT CARD questions (teacher-made). Students type five letters in the chat. Core: questions 1, 4 and 5 with the key-word clues. Stretch: is this desk suitable for a big family room? Answer with مُنَاسِبٌ لِـ … لِأَنَّ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For each answer, a student reads the exact line from the card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sentence builder (3 min). Rows 1–2 teacher-made (Topic C grammar focus: agreement, participles, measurements); row 3 from the website quiz.
Students choose ONE box per column (start from Column 1 on the right) and type the letters, e.g. “1: A B B”. ↔ Rehearse 30s first.
Core: sentences 1 and 2. Develop / Stretch: sentence 3 and explain the wrong options.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sentence builder (3 min). Rows 1–2 teacher-made (Topic C grammar focus: agreement, participles, measurements); row 3 from the website quiz.
Students choose ONE box per column (start from Column 1 on the right) and type the letters, e.g. “1: A B B”. ↔ Rehearse 30s first.
Core: sentences 1 and 2. Develop / Stretch: sentence 3 and explain the wrong options.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“Material or building?” (2 min, all students). New website words: عِمَارَةٌ (apartment block), نَاطِحَةُ سَحَابٍ (skyscraper — “cloud-scraper”!), مَنْزِلٌ مُسْتَقِلٌّ (detached house), مَبْنًى تَارِيخِيٌّ (historic building), خَرَسَانَةٌ (concrete), طِينٌ (clay, mud).
Then: each student makes ONE sentence joining a building and a material with مَبْنِيٌّ / مَبْنِيَّةٌ مِنْ.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“Material or building?” (2 min, all students). New website words: عِمَارَةٌ (apartment block), نَاطِحَةُ سَحَابٍ (skyscraper — “cloud-scraper”!), مَنْزِلٌ مُسْتَقِلٌّ (detached house), مَبْنًى تَارِيخِيٌّ (historic building), خَرَسَانَةٌ (concrete), طِينٌ (clay, mud).
Then: each student makes ONE sentence joining a building and a material with مَبْنِيٌّ / مَبْنِيَّةٌ مِنْ.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4, 5, 6,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3, 4. Develop / Stretch: all 5.
Listen 1: just listen. Listen 2: note answers. Then chat the letters.
Support: after the second listening, show the read-along slide (Arabic + English, line by line) for Core students.
SCRIPT (read aloud):
فِي الحَيِّ القَدِيمِ بُيُوتٌ تَقْلِيدِيَّةٌ مَبْنِيَّةٌ مِنَ الحَجَرِ وَالطِّينِ. تَتَمَيَّزُ البُيُوتُ بِأَبْوَابِهَا الخَشَبِيَّةِ وَسَاحَاتِهَا الدَّاخِلِيَّةِ. أَمَّا فِي الحَيِّ الجَدِيدِ فَتُوجَدُ عِمَارَاتٌ مُعَاصِرَةٌ مَبْنِيَّةٌ مِنَ الخَرَسَانَةِ وَالزُّجَاجِ. الحَيُّ الجَدِيدُ مُكْتَنِزٌ، بَيْنَمَا الحَيُّ القَدِيمُ أَكْثَرُ هُدُوءًا.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كَيْفَ يَخْتَلِفُ عَنِ العِمَارَةِ الحَدِيثَةِ؟ (How does it differ from the modern block?)
B: البَيْتُ تَقْلِيدِيٌّ وَفَسِيحٌ، بَيْنَمَا العِمَارَةُ مُعَاصِرَةٌ وَمُكْتَنِزَةٌ. (The house is traditional and spacious, whereas the block is contemporary and compact.)
SHAPE AND MATERIAL LAB (website application): “Describe objects by measurement, shape and material. Partners identify the object, then improve the description with a precise property or comparison.”
Game: A describes an object in the room WITHOUT naming it (shape + material + one measurement); B guesses: هَلْ هُوَ … ؟ Then B adds one more precise detail. Core prompt 1 is teacher-made for this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YOU DO (9 min writing). Steer routes using the Do Now and quick-check results.
Website differentiation tasks: Core — Match four buildings to their materials. · Develop — Write an accurate comparison using agreement and بَيْنَمَا. · Stretch — Analyse how a contemporary building can respect architectural heritage and propose one design feature.
Website writing task (Stretch): Compare an old building and a modern building in 80–100 Arabic words.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Core students find the materials after مِنَ; Stretch find the contrast and explain why الأَوَّلَ / الثَّانِيَ refer to the two buildings.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(TC-L11 · Topic C Integrated Communication Workshop) will spend class time USING this language, so students prepare it tonight — short, simple, easy to access (school guidance: “Simple, Short, Interesting, Relevant, Easy to access”). The five phrases come from the website lesson (D4-L11 “Speaking and self-correction” vocabulary) — you will use them in next lesson’s workshop.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C  ·  TC-L10</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TC-L10</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900" b="1" dirty="0">
                <a:solidFill>
                  <a:srgbClr val="FFFFFF"/>
                </a:solidFill>
                <a:latin typeface="Cambria" pitchFamily="34" charset="0"/>
                <a:cs typeface="Amiri" pitchFamily="2" charset="-78"/>
              </a:rPr>
              <a:t>Measurements, Shapes and Materials</a:t>
            </a:r>
            <a:endParaRPr lang="en-US" sz="29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القِيَاسَاتُ وَالأَشْكَالُ وَالمَوَادُّ</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Describe an object or a building precisely: its shape, its size (</a:t>
            </a:r>
            <a:pPr algn="l" indent="0" marL="0">
              <a:buNone/>
            </a:pPr>
            <a:r>
              <a:rPr lang="ar-SA" altLang="en-US" sz="1800" dirty="0">
                <a:solidFill>
                  <a:srgbClr val="C6D2E6"/>
                </a:solidFill>
                <a:latin typeface="Amiri" pitchFamily="2" charset="-78"/>
                <a:ea typeface="Amiri" pitchFamily="2" charset="-78"/>
                <a:cs typeface="Amiri" pitchFamily="2" charset="-78"/>
              </a:rPr>
              <a:t>طُولُهُ مِتْرَانِ</a:t>
            </a:r>
            <a:pPr algn="l" indent="0" marL="0">
              <a:buNone/>
            </a:pPr>
            <a:r>
              <a:rPr lang="en-US" sz="1400" dirty="0">
                <a:solidFill>
                  <a:srgbClr val="C6D2E6"/>
                </a:solidFill>
                <a:latin typeface="Calibri" pitchFamily="34" charset="0"/>
                <a:cs typeface="Amiri" pitchFamily="2" charset="-78"/>
              </a:rPr>
              <a:t>), what it is made of (</a:t>
            </a:r>
            <a:pPr algn="l" indent="0" marL="0">
              <a:buNone/>
            </a:pPr>
            <a:r>
              <a:rPr lang="ar-SA" altLang="en-US" sz="1800" dirty="0">
                <a:solidFill>
                  <a:srgbClr val="C6D2E6"/>
                </a:solidFill>
                <a:latin typeface="Amiri" pitchFamily="2" charset="-78"/>
                <a:ea typeface="Amiri" pitchFamily="2" charset="-78"/>
                <a:cs typeface="Amiri" pitchFamily="2" charset="-78"/>
              </a:rPr>
              <a:t>مَصْنُوعٌ مِنْ</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مَبْنِيٌّ مِنْ</a:t>
            </a:r>
            <a:pPr algn="l" indent="0" marL="0">
              <a:buNone/>
            </a:pPr>
            <a:r>
              <a:rPr lang="en-US" sz="1400" dirty="0">
                <a:solidFill>
                  <a:srgbClr val="C6D2E6"/>
                </a:solidFill>
                <a:latin typeface="Calibri" pitchFamily="34" charset="0"/>
                <a:cs typeface="Amiri" pitchFamily="2" charset="-78"/>
              </a:rPr>
              <a:t>), what it is for and why it is suitable.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TC-L10 · Advanced Topic C</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C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C › TC-L10</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TC-L10 · Measure, Shape, Material</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TC-L10</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TC-L10 · Measure, Shape, Material</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TC-L10</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Materials, shapes, sizes, “made of”.</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product card, build,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TC-L11.</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TC-L10 · Measure, Shape, Material</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طُوبٌ</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metal</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brick</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concrete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“metre”?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مِتْرٌ</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طُولٌ</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لِتْرٌ</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This is a bag. How much is it?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 حَقِيبَةٌ. كَمْ ثَمَنُهُ؟</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هٰذِهِ حَقِيبَةٌ. كَمْ ثَمَنُهُ؟</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هٰذِهِ حَقِيبَةٌ. كَمْ ثَمَنُهَا؟</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“cheaper than”?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أَغْلَى مِنْ</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أَكْبَرُ مِنْ</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أَرْخَصُ مِنْ</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ea typeface="Amiri" pitchFamily="2" charset="-78"/>
                <a:cs typeface="Amiri" pitchFamily="2" charset="-78"/>
              </a:rPr>
              <a:t>مَكْتَبَةٌ فِي مَدِينَتِي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تُوجَدُ</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يُوجَدُ</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تُوجَدِينَ</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TC-L10 · Measure, Shape, Material</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طُوبٌ</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metal</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brick</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concrete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a:t>
            </a:r>
            <a:pPr algn="l" indent="0" marL="0">
              <a:buNone/>
            </a:pPr>
            <a:r>
              <a:rPr lang="ar-SA" altLang="en-US" sz="1350" dirty="0">
                <a:solidFill>
                  <a:srgbClr val="8A6D1E"/>
                </a:solidFill>
                <a:latin typeface="Amiri" pitchFamily="2" charset="-78"/>
                <a:ea typeface="Amiri" pitchFamily="2" charset="-78"/>
                <a:cs typeface="Amiri" pitchFamily="2" charset="-78"/>
              </a:rPr>
              <a:t>طُوبٌ</a:t>
            </a:r>
            <a:pPr algn="l" indent="0" marL="0">
              <a:buNone/>
            </a:pPr>
            <a:r>
              <a:rPr lang="en-US" sz="1050" i="1" dirty="0">
                <a:solidFill>
                  <a:srgbClr val="8A6D1E"/>
                </a:solidFill>
                <a:latin typeface="Calibri" pitchFamily="34" charset="0"/>
                <a:cs typeface="Amiri" pitchFamily="2" charset="-78"/>
              </a:rPr>
              <a:t> = brick · </a:t>
            </a:r>
            <a:pPr algn="l" indent="0" marL="0">
              <a:buNone/>
            </a:pPr>
            <a:r>
              <a:rPr lang="ar-SA" altLang="en-US" sz="1350" dirty="0">
                <a:solidFill>
                  <a:srgbClr val="8A6D1E"/>
                </a:solidFill>
                <a:latin typeface="Amiri" pitchFamily="2" charset="-78"/>
                <a:ea typeface="Amiri" pitchFamily="2" charset="-78"/>
                <a:cs typeface="Amiri" pitchFamily="2" charset="-78"/>
              </a:rPr>
              <a:t>مَعْدِنٌ</a:t>
            </a:r>
            <a:pPr algn="l" indent="0" marL="0">
              <a:buNone/>
            </a:pPr>
            <a:r>
              <a:rPr lang="en-US" sz="1050" i="1" dirty="0">
                <a:solidFill>
                  <a:srgbClr val="8A6D1E"/>
                </a:solidFill>
                <a:latin typeface="Calibri" pitchFamily="34" charset="0"/>
                <a:cs typeface="Amiri" pitchFamily="2" charset="-78"/>
              </a:rPr>
              <a:t> = metal · </a:t>
            </a:r>
            <a:pPr algn="l" indent="0" marL="0">
              <a:buNone/>
            </a:pPr>
            <a:r>
              <a:rPr lang="ar-SA" altLang="en-US" sz="1350" dirty="0">
                <a:solidFill>
                  <a:srgbClr val="8A6D1E"/>
                </a:solidFill>
                <a:latin typeface="Amiri" pitchFamily="2" charset="-78"/>
                <a:ea typeface="Amiri" pitchFamily="2" charset="-78"/>
                <a:cs typeface="Amiri" pitchFamily="2" charset="-78"/>
              </a:rPr>
              <a:t>خَرَسَانَةٌ</a:t>
            </a:r>
            <a:pPr algn="l" indent="0" marL="0">
              <a:buNone/>
            </a:pPr>
            <a:r>
              <a:rPr lang="en-US" sz="1050" i="1" dirty="0">
                <a:solidFill>
                  <a:srgbClr val="8A6D1E"/>
                </a:solidFill>
                <a:latin typeface="Calibri" pitchFamily="34" charset="0"/>
                <a:cs typeface="Amiri" pitchFamily="2" charset="-78"/>
              </a:rPr>
              <a:t> = concrete.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“metre”?</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مِتْرٌ</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طُولٌ</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لِتْرٌ</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a:t>
            </a:r>
            <a:pPr algn="l" indent="0" marL="0">
              <a:buNone/>
            </a:pPr>
            <a:r>
              <a:rPr lang="ar-SA" altLang="en-US" sz="1350" dirty="0">
                <a:solidFill>
                  <a:srgbClr val="8A6D1E"/>
                </a:solidFill>
                <a:latin typeface="Amiri" pitchFamily="2" charset="-78"/>
                <a:ea typeface="Amiri" pitchFamily="2" charset="-78"/>
                <a:cs typeface="Amiri" pitchFamily="2" charset="-78"/>
              </a:rPr>
              <a:t>مِتْرٌ</a:t>
            </a:r>
            <a:pPr algn="l" indent="0" marL="0">
              <a:buNone/>
            </a:pPr>
            <a:r>
              <a:rPr lang="en-US" sz="1050" i="1" dirty="0">
                <a:solidFill>
                  <a:srgbClr val="8A6D1E"/>
                </a:solidFill>
                <a:latin typeface="Calibri" pitchFamily="34" charset="0"/>
                <a:cs typeface="Amiri" pitchFamily="2" charset="-78"/>
              </a:rPr>
              <a:t> = metre · </a:t>
            </a:r>
            <a:pPr algn="l" indent="0" marL="0">
              <a:buNone/>
            </a:pPr>
            <a:r>
              <a:rPr lang="ar-SA" altLang="en-US" sz="1350" dirty="0">
                <a:solidFill>
                  <a:srgbClr val="8A6D1E"/>
                </a:solidFill>
                <a:latin typeface="Amiri" pitchFamily="2" charset="-78"/>
                <a:ea typeface="Amiri" pitchFamily="2" charset="-78"/>
                <a:cs typeface="Amiri" pitchFamily="2" charset="-78"/>
              </a:rPr>
              <a:t>طُولٌ</a:t>
            </a:r>
            <a:pPr algn="l" indent="0" marL="0">
              <a:buNone/>
            </a:pPr>
            <a:r>
              <a:rPr lang="en-US" sz="1050" i="1" dirty="0">
                <a:solidFill>
                  <a:srgbClr val="8A6D1E"/>
                </a:solidFill>
                <a:latin typeface="Calibri" pitchFamily="34" charset="0"/>
                <a:cs typeface="Amiri" pitchFamily="2" charset="-78"/>
              </a:rPr>
              <a:t> = length.</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This is a bag. How much is it?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هٰذَا حَقِيبَةٌ. كَمْ ثَمَنُهُ؟</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هٰذِهِ حَقِيبَةٌ. كَمْ ثَمَنُهُ؟</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هٰذِهِ حَقِيبَةٌ. كَمْ ثَمَنُهَا؟</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TC-L09: feminine → </a:t>
            </a:r>
            <a:pPr algn="l" indent="0" marL="0">
              <a:buNone/>
            </a:pPr>
            <a:r>
              <a:rPr lang="ar-SA" altLang="en-US" sz="1350" dirty="0">
                <a:solidFill>
                  <a:srgbClr val="8A6D1E"/>
                </a:solidFill>
                <a:latin typeface="Amiri" pitchFamily="2" charset="-78"/>
                <a:ea typeface="Amiri" pitchFamily="2" charset="-78"/>
                <a:cs typeface="Amiri" pitchFamily="2" charset="-78"/>
              </a:rPr>
              <a:t>هٰذِهِ … ثَمَنُهَا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“cheaper than”?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أَغْلَى مِنْ</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أَكْبَرُ مِنْ</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أَرْخَصُ مِنْ</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TC-L09: </a:t>
            </a:r>
            <a:pPr algn="l" indent="0" marL="0">
              <a:buNone/>
            </a:pPr>
            <a:r>
              <a:rPr lang="ar-SA" altLang="en-US" sz="1350" dirty="0">
                <a:solidFill>
                  <a:srgbClr val="8A6D1E"/>
                </a:solidFill>
                <a:latin typeface="Amiri" pitchFamily="2" charset="-78"/>
                <a:ea typeface="Amiri" pitchFamily="2" charset="-78"/>
                <a:cs typeface="Amiri" pitchFamily="2" charset="-78"/>
              </a:rPr>
              <a:t>أَرْخَصُ مِنْ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ea typeface="Amiri" pitchFamily="2" charset="-78"/>
                <a:cs typeface="Amiri" pitchFamily="2" charset="-78"/>
              </a:rPr>
              <a:t>مَكْتَبَةٌ فِي مَدِينَتِي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تُوجَدُ</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يُوجَدُ</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تُوجَدِينَ</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TC-L08: feminine → </a:t>
            </a:r>
            <a:pPr algn="l" indent="0" marL="0">
              <a:buNone/>
            </a:pPr>
            <a:r>
              <a:rPr lang="ar-SA" altLang="en-US" sz="1350" dirty="0">
                <a:solidFill>
                  <a:srgbClr val="8A6D1E"/>
                </a:solidFill>
                <a:latin typeface="Amiri" pitchFamily="2" charset="-78"/>
                <a:ea typeface="Amiri" pitchFamily="2" charset="-78"/>
                <a:cs typeface="Amiri" pitchFamily="2" charset="-78"/>
              </a:rPr>
              <a:t>تُوجَدُ</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Today the ending tells you about the thing: made of … changes with masculine and feminine, just like </a:t>
            </a:r>
            <a:pPr algn="l" indent="0" marL="0">
              <a:buNone/>
            </a:pPr>
            <a:r>
              <a:rPr lang="ar-SA" altLang="en-US" sz="1700" b="1" dirty="0">
                <a:solidFill>
                  <a:srgbClr val="1F2A37"/>
                </a:solidFill>
                <a:latin typeface="Amiri" pitchFamily="2" charset="-78"/>
                <a:ea typeface="Amiri" pitchFamily="2" charset="-78"/>
                <a:cs typeface="Amiri" pitchFamily="2" charset="-78"/>
              </a:rPr>
              <a:t>ثَمَنُهُ / ثَمَنُهَا</a:t>
            </a:r>
            <a:pPr algn="l" indent="0" marL="0">
              <a:buNone/>
            </a:pPr>
            <a:r>
              <a:rPr lang="en-US" sz="1300" b="1" dirty="0">
                <a:solidFill>
                  <a:srgbClr val="1F2A37"/>
                </a:solidFill>
                <a:latin typeface="Calibri" pitchFamily="34" charset="0"/>
                <a:cs typeface="Amiri" pitchFamily="2" charset="-78"/>
              </a:rPr>
              <a: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الكُرْسِيُّ مَصْنُوعٌ  ·  الطَّاوِلَةُ مَصْنُوعَ</a:t>
            </a:r>
            <a:pPr rtl="1" algn="ctr" indent="0" marL="0">
              <a:lnSpc>
                <a:spcPct val="120000"/>
              </a:lnSpc>
              <a:buNone/>
            </a:pPr>
            <a:r>
              <a:rPr lang="ar-SA" altLang="en-US" sz="2200" b="1" dirty="0">
                <a:solidFill>
                  <a:srgbClr val="D6336C"/>
                </a:solidFill>
                <a:latin typeface="Amiri" pitchFamily="2" charset="-78"/>
                <a:ea typeface="Amiri" pitchFamily="2" charset="-78"/>
                <a:cs typeface="Amiri" pitchFamily="2" charset="-78"/>
              </a:rPr>
              <a:t>ةٌ</a:t>
            </a:r>
            <a:endParaRPr lang="ar-SA" sz="22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TC-L10 · Measure, Shape, Material</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TC-L10</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key building materials and settlement types.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Make </a:t>
            </a:r>
            <a:pPr algn="l" indent="0" marL="0">
              <a:buNone/>
            </a:pPr>
            <a:r>
              <a:rPr lang="ar-SA" altLang="en-US" sz="1700" dirty="0">
                <a:solidFill>
                  <a:srgbClr val="1F2A37"/>
                </a:solidFill>
                <a:latin typeface="Amiri" pitchFamily="2" charset="-78"/>
                <a:ea typeface="Amiri" pitchFamily="2" charset="-78"/>
                <a:cs typeface="Amiri" pitchFamily="2" charset="-78"/>
              </a:rPr>
              <a:t>مَبْنِيٌّ / مَبْنِيَّةٌ</a:t>
            </a:r>
            <a:pPr algn="l" indent="0" marL="0">
              <a:buNone/>
            </a:pPr>
            <a:r>
              <a:rPr lang="en-US" sz="1300" dirty="0">
                <a:solidFill>
                  <a:srgbClr val="1F2A37"/>
                </a:solidFill>
                <a:latin typeface="Calibri" pitchFamily="34" charset="0"/>
                <a:cs typeface="Amiri" pitchFamily="2" charset="-78"/>
              </a:rPr>
              <a:t> agree with the building.</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a:t>
            </a:r>
            <a:pPr algn="l" indent="0" marL="0">
              <a:buNone/>
            </a:pPr>
            <a:r>
              <a:rPr lang="ar-SA" altLang="en-US" sz="1700" dirty="0">
                <a:solidFill>
                  <a:srgbClr val="1F2A37"/>
                </a:solidFill>
                <a:latin typeface="Amiri" pitchFamily="2" charset="-78"/>
                <a:ea typeface="Amiri" pitchFamily="2" charset="-78"/>
                <a:cs typeface="Amiri" pitchFamily="2" charset="-78"/>
              </a:rPr>
              <a:t>يَتَمَيَّزُ / تَتَمَيَّزُ بِـ</a:t>
            </a:r>
            <a:pPr algn="l" indent="0" marL="0">
              <a:buNone/>
            </a:pPr>
            <a:r>
              <a:rPr lang="en-US" sz="1300" dirty="0">
                <a:solidFill>
                  <a:srgbClr val="1F2A37"/>
                </a:solidFill>
                <a:latin typeface="Calibri" pitchFamily="34" charset="0"/>
                <a:cs typeface="Amiri" pitchFamily="2" charset="-78"/>
              </a:rPr>
              <a:t> accurately.</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Compare urban and rural built environments with </a:t>
            </a:r>
            <a:pPr algn="l" indent="0" marL="0">
              <a:buNone/>
            </a:pPr>
            <a:r>
              <a:rPr lang="ar-SA" altLang="en-US" sz="1700" dirty="0">
                <a:solidFill>
                  <a:srgbClr val="1F2A37"/>
                </a:solidFill>
                <a:latin typeface="Amiri" pitchFamily="2" charset="-78"/>
                <a:ea typeface="Amiri" pitchFamily="2" charset="-78"/>
                <a:cs typeface="Amiri" pitchFamily="2" charset="-78"/>
              </a:rPr>
              <a:t>بَيْنَمَا</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6 materials and 6 shape and size words.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200" b="1" dirty="0">
                <a:solidFill>
                  <a:srgbClr val="2E8B57"/>
                </a:solidFill>
                <a:latin typeface="Calibri" pitchFamily="34" charset="0"/>
                <a:cs typeface="Amiri" pitchFamily="2" charset="-78"/>
              </a:rPr>
              <a:t>☐  I can say what an object is made of and give one measurement (</a:t>
            </a:r>
            <a:pPr algn="l" indent="0" marL="0">
              <a:buNone/>
            </a:pPr>
            <a:r>
              <a:rPr lang="ar-SA" altLang="en-US" sz="1550" b="1" dirty="0">
                <a:solidFill>
                  <a:srgbClr val="2E8B57"/>
                </a:solidFill>
                <a:latin typeface="Amiri" pitchFamily="2" charset="-78"/>
                <a:ea typeface="Amiri" pitchFamily="2" charset="-78"/>
                <a:cs typeface="Amiri" pitchFamily="2" charset="-78"/>
              </a:rPr>
              <a:t>طُولُهُ مِتْرَانِ</a:t>
            </a:r>
            <a:pPr algn="l" indent="0" marL="0">
              <a:buNone/>
            </a:pPr>
            <a:r>
              <a:rPr lang="en-US" sz="1200" b="1" dirty="0">
                <a:solidFill>
                  <a:srgbClr val="2E8B57"/>
                </a:solidFill>
                <a:latin typeface="Calibri" pitchFamily="34" charset="0"/>
                <a:cs typeface="Amiri" pitchFamily="2" charset="-78"/>
              </a:rPr>
              <a:t>).</a:t>
            </a:r>
            <a:endParaRPr lang="en-US" sz="12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a:t>
            </a:r>
            <a:pPr algn="l" indent="0" marL="0">
              <a:buNone/>
            </a:pPr>
            <a:r>
              <a:rPr lang="ar-SA" altLang="en-US" sz="1700" b="1" dirty="0">
                <a:solidFill>
                  <a:srgbClr val="C9780A"/>
                </a:solidFill>
                <a:latin typeface="Amiri" pitchFamily="2" charset="-78"/>
                <a:ea typeface="Amiri" pitchFamily="2" charset="-78"/>
                <a:cs typeface="Amiri" pitchFamily="2" charset="-78"/>
              </a:rPr>
              <a:t>مَبْنِيٌّ / مَبْنِيَّةٌ مِنْ</a:t>
            </a:r>
            <a:pPr algn="l" indent="0" marL="0">
              <a:buNone/>
            </a:pPr>
            <a:r>
              <a:rPr lang="en-US" sz="1300" b="1" dirty="0">
                <a:solidFill>
                  <a:srgbClr val="C9780A"/>
                </a:solidFill>
                <a:latin typeface="Calibri" pitchFamily="34" charset="0"/>
                <a:cs typeface="Amiri" pitchFamily="2" charset="-78"/>
              </a:rPr>
              <a:t> with the right ending.</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say what an object is for and why it is suitable.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contrast two buildings with </a:t>
            </a:r>
            <a:pPr algn="l" indent="0" marL="0">
              <a:buNone/>
            </a:pPr>
            <a:r>
              <a:rPr lang="ar-SA" altLang="en-US" sz="1700" b="1" dirty="0">
                <a:solidFill>
                  <a:srgbClr val="B83227"/>
                </a:solidFill>
                <a:latin typeface="Amiri" pitchFamily="2" charset="-78"/>
                <a:ea typeface="Amiri" pitchFamily="2" charset="-78"/>
                <a:cs typeface="Amiri" pitchFamily="2" charset="-78"/>
              </a:rPr>
              <a:t>بَيْنَمَا</a:t>
            </a:r>
            <a:pPr algn="l" indent="0" marL="0">
              <a:buNone/>
            </a:pPr>
            <a:r>
              <a:rPr lang="en-US" sz="1300" b="1" dirty="0">
                <a:solidFill>
                  <a:srgbClr val="B83227"/>
                </a:solidFill>
                <a:latin typeface="Calibri" pitchFamily="34" charset="0"/>
                <a:cs typeface="Amiri" pitchFamily="2" charset="-78"/>
              </a:rPr>
              <a: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an 80–100-word comparison of an old and a modern building.</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34 words in 5 groups (Topic C banks + website F6-L07). Learn the CORE words first. Hear it → say it → see it → use it.</a:t>
            </a:r>
            <a:endParaRPr lang="en-US" sz="1600" dirty="0"/>
          </a:p>
        </p:txBody>
      </p:sp>
      <p:sp>
        <p:nvSpPr>
          <p:cNvPr id="8" name="Shape 6"/>
          <p:cNvSpPr/>
          <p:nvPr/>
        </p:nvSpPr>
        <p:spPr>
          <a:xfrm>
            <a:off x="457200" y="4572000"/>
            <a:ext cx="14630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11887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Materials · 6</a:t>
            </a:r>
            <a:endParaRPr lang="en-US" sz="900" dirty="0"/>
          </a:p>
        </p:txBody>
      </p:sp>
      <p:sp>
        <p:nvSpPr>
          <p:cNvPr id="10" name="Shape 8"/>
          <p:cNvSpPr/>
          <p:nvPr/>
        </p:nvSpPr>
        <p:spPr>
          <a:xfrm>
            <a:off x="2057400" y="4572000"/>
            <a:ext cx="14630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2194560" y="4617720"/>
            <a:ext cx="11887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Shape and size · 6</a:t>
            </a:r>
            <a:endParaRPr lang="en-US" sz="900" dirty="0"/>
          </a:p>
        </p:txBody>
      </p:sp>
      <p:sp>
        <p:nvSpPr>
          <p:cNvPr id="12" name="Shape 10"/>
          <p:cNvSpPr/>
          <p:nvPr/>
        </p:nvSpPr>
        <p:spPr>
          <a:xfrm>
            <a:off x="3657600" y="4572000"/>
            <a:ext cx="14630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3794760" y="4617720"/>
            <a:ext cx="11887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Measuring · 6</a:t>
            </a:r>
            <a:endParaRPr lang="en-US" sz="900" dirty="0"/>
          </a:p>
        </p:txBody>
      </p:sp>
      <p:sp>
        <p:nvSpPr>
          <p:cNvPr id="14" name="Shape 12"/>
          <p:cNvSpPr/>
          <p:nvPr/>
        </p:nvSpPr>
        <p:spPr>
          <a:xfrm>
            <a:off x="5257800" y="4572000"/>
            <a:ext cx="1463040" cy="960120"/>
          </a:xfrm>
          <a:prstGeom prst="roundRect">
            <a:avLst>
              <a:gd name="adj" fmla="val 7619"/>
            </a:avLst>
          </a:prstGeom>
          <a:solidFill>
            <a:srgbClr val="16335F"/>
          </a:solidFill>
          <a:ln w="12700">
            <a:solidFill>
              <a:srgbClr val="2A4B7C"/>
            </a:solidFill>
            <a:prstDash val="solid"/>
          </a:ln>
        </p:spPr>
      </p:sp>
      <p:sp>
        <p:nvSpPr>
          <p:cNvPr id="15" name="Text 13"/>
          <p:cNvSpPr txBox="1"/>
          <p:nvPr/>
        </p:nvSpPr>
        <p:spPr>
          <a:xfrm>
            <a:off x="5394960" y="4617720"/>
            <a:ext cx="11887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4</a:t>
            </a:r>
            <a:endParaRPr lang="en-US" sz="900" dirty="0"/>
          </a:p>
          <a:p>
            <a:pPr indent="0" marL="0">
              <a:buNone/>
            </a:pPr>
            <a:r>
              <a:rPr lang="en-US" sz="1200" b="1" dirty="0">
                <a:solidFill>
                  <a:srgbClr val="FFFFFF"/>
                </a:solidFill>
                <a:latin typeface="Calibri" pitchFamily="34" charset="0"/>
                <a:cs typeface="Amiri" pitchFamily="2" charset="-78"/>
              </a:rPr>
              <a:t>Building materials · 6</a:t>
            </a:r>
            <a:endParaRPr lang="en-US" sz="900" dirty="0"/>
          </a:p>
        </p:txBody>
      </p:sp>
      <p:sp>
        <p:nvSpPr>
          <p:cNvPr id="16" name="Shape 14"/>
          <p:cNvSpPr/>
          <p:nvPr/>
        </p:nvSpPr>
        <p:spPr>
          <a:xfrm>
            <a:off x="6858000" y="4572000"/>
            <a:ext cx="1463040" cy="960120"/>
          </a:xfrm>
          <a:prstGeom prst="roundRect">
            <a:avLst>
              <a:gd name="adj" fmla="val 7619"/>
            </a:avLst>
          </a:prstGeom>
          <a:solidFill>
            <a:srgbClr val="16335F"/>
          </a:solidFill>
          <a:ln w="12700">
            <a:solidFill>
              <a:srgbClr val="2A4B7C"/>
            </a:solidFill>
            <a:prstDash val="solid"/>
          </a:ln>
        </p:spPr>
      </p:sp>
      <p:sp>
        <p:nvSpPr>
          <p:cNvPr id="17" name="Text 15"/>
          <p:cNvSpPr txBox="1"/>
          <p:nvPr/>
        </p:nvSpPr>
        <p:spPr>
          <a:xfrm>
            <a:off x="6995160" y="4617720"/>
            <a:ext cx="11887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5</a:t>
            </a:r>
            <a:endParaRPr lang="en-US" sz="900" dirty="0"/>
          </a:p>
          <a:p>
            <a:pPr indent="0" marL="0">
              <a:buNone/>
            </a:pPr>
            <a:r>
              <a:rPr lang="en-US" sz="1200" b="1" dirty="0">
                <a:solidFill>
                  <a:srgbClr val="FFFFFF"/>
                </a:solidFill>
                <a:latin typeface="Calibri" pitchFamily="34" charset="0"/>
                <a:cs typeface="Amiri" pitchFamily="2" charset="-78"/>
              </a:rPr>
              <a:t>Buildings · 6</a:t>
            </a:r>
            <a:endParaRPr lang="en-US" sz="900" dirty="0"/>
          </a:p>
        </p:txBody>
      </p:sp>
      <p:sp>
        <p:nvSpPr>
          <p:cNvPr id="18" name="Shape 16"/>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9" name="Text 17"/>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20" name="Text 18"/>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شَكْلٌ</a:t>
            </a:r>
            <a:endParaRPr lang="ar-SA" sz="1900" dirty="0"/>
          </a:p>
        </p:txBody>
      </p:sp>
      <p:sp>
        <p:nvSpPr>
          <p:cNvPr id="21" name="Text 19"/>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‎شکل‎ </a:t>
            </a:r>
            <a:pPr indent="0" marL="0">
              <a:buNone/>
            </a:pPr>
            <a:r>
              <a:rPr lang="en-US" sz="950" b="1" dirty="0">
                <a:solidFill>
                  <a:srgbClr val="2E8B57"/>
                </a:solidFill>
                <a:latin typeface="Calibri" pitchFamily="34" charset="0"/>
                <a:cs typeface="Amiri" pitchFamily="2" charset="-78"/>
              </a:rPr>
              <a:t> shakl · shape, form</a:t>
            </a:r>
            <a:endParaRPr lang="en-US" sz="1400" dirty="0"/>
          </a:p>
        </p:txBody>
      </p:sp>
      <p:sp>
        <p:nvSpPr>
          <p:cNvPr id="22" name="Text 20"/>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وَزْنٌ</a:t>
            </a:r>
            <a:endParaRPr lang="ar-SA" sz="1900" dirty="0"/>
          </a:p>
        </p:txBody>
      </p:sp>
      <p:sp>
        <p:nvSpPr>
          <p:cNvPr id="23" name="Text 21"/>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‎وزن‎ </a:t>
            </a:r>
            <a:pPr indent="0" marL="0">
              <a:buNone/>
            </a:pPr>
            <a:r>
              <a:rPr lang="en-US" sz="950" b="1" dirty="0">
                <a:solidFill>
                  <a:srgbClr val="2E8B57"/>
                </a:solidFill>
                <a:latin typeface="Calibri" pitchFamily="34" charset="0"/>
                <a:cs typeface="Amiri" pitchFamily="2" charset="-78"/>
              </a:rPr>
              <a:t> wazn · weight</a:t>
            </a:r>
            <a:endParaRPr lang="en-US" sz="1400" dirty="0"/>
          </a:p>
        </p:txBody>
      </p:sp>
      <p:sp>
        <p:nvSpPr>
          <p:cNvPr id="24" name="Text 22"/>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مُرَبَّعٌ</a:t>
            </a:r>
            <a:endParaRPr lang="ar-SA" sz="1900" dirty="0"/>
          </a:p>
        </p:txBody>
      </p:sp>
      <p:sp>
        <p:nvSpPr>
          <p:cNvPr id="25" name="Text 23"/>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‎مربع‎ </a:t>
            </a:r>
            <a:pPr indent="0" marL="0">
              <a:buNone/>
            </a:pPr>
            <a:r>
              <a:rPr lang="en-US" sz="950" b="1" dirty="0">
                <a:solidFill>
                  <a:srgbClr val="2E8B57"/>
                </a:solidFill>
                <a:latin typeface="Calibri" pitchFamily="34" charset="0"/>
                <a:cs typeface="Amiri" pitchFamily="2" charset="-78"/>
              </a:rPr>
              <a:t> murabbaʿ · square</a:t>
            </a:r>
            <a:endParaRPr lang="en-US" sz="1400" dirty="0"/>
          </a:p>
        </p:txBody>
      </p:sp>
      <p:sp>
        <p:nvSpPr>
          <p:cNvPr id="26" name="Text 24"/>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مَادَّةٌ</a:t>
            </a:r>
            <a:endParaRPr lang="ar-SA" sz="1900" dirty="0"/>
          </a:p>
        </p:txBody>
      </p:sp>
      <p:sp>
        <p:nvSpPr>
          <p:cNvPr id="27" name="Text 25"/>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‎مادہ‎ </a:t>
            </a:r>
            <a:pPr indent="0" marL="0">
              <a:buNone/>
            </a:pPr>
            <a:r>
              <a:rPr lang="en-US" sz="950" b="1" dirty="0">
                <a:solidFill>
                  <a:srgbClr val="2E8B57"/>
                </a:solidFill>
                <a:latin typeface="Calibri" pitchFamily="34" charset="0"/>
                <a:cs typeface="Amiri" pitchFamily="2" charset="-78"/>
              </a:rPr>
              <a:t> māddah · material, matter</a:t>
            </a:r>
            <a:endParaRPr lang="en-US" sz="1400" dirty="0"/>
          </a:p>
        </p:txBody>
      </p:sp>
      <p:sp>
        <p:nvSpPr>
          <p:cNvPr id="28" name="Text 26"/>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تَارِيخِيٌّ</a:t>
            </a:r>
            <a:endParaRPr lang="ar-SA" sz="1900" dirty="0"/>
          </a:p>
        </p:txBody>
      </p:sp>
      <p:sp>
        <p:nvSpPr>
          <p:cNvPr id="29" name="Text 27"/>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‎تاریخی‎ </a:t>
            </a:r>
            <a:pPr indent="0" marL="0">
              <a:buNone/>
            </a:pPr>
            <a:r>
              <a:rPr lang="en-US" sz="950" b="1" dirty="0">
                <a:solidFill>
                  <a:srgbClr val="2E8B57"/>
                </a:solidFill>
                <a:latin typeface="Calibri" pitchFamily="34" charset="0"/>
                <a:cs typeface="Amiri" pitchFamily="2" charset="-78"/>
              </a:rPr>
              <a:t> tārīkhī · historic</a:t>
            </a:r>
            <a:endParaRPr lang="en-US" sz="1400" dirty="0"/>
          </a:p>
        </p:txBody>
      </p:sp>
      <p:sp>
        <p:nvSpPr>
          <p:cNvPr id="31" name="Text 2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TC-L10 · Measure, Shape, Material</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 · TOPIC C MATERIALS BANK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is it made of?</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المَوَادُّ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7175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material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خَشَبٌ</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wood</a:t>
            </a:r>
            <a:endParaRPr lang="en-US" sz="1350" dirty="0"/>
          </a:p>
          <a:p>
            <a:pPr indent="0" marL="0">
              <a:buNone/>
            </a:pPr>
            <a:r>
              <a:rPr lang="en-US" sz="1100" i="1" dirty="0">
                <a:solidFill>
                  <a:srgbClr val="5A6472"/>
                </a:solidFill>
                <a:latin typeface="Calibri" pitchFamily="34" charset="0"/>
                <a:cs typeface="Amiri" pitchFamily="2" charset="-78"/>
              </a:rPr>
              <a:t>kha-shab</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m. adj.</a:t>
            </a:r>
            <a:endParaRPr lang="en-US" sz="700" dirty="0"/>
          </a:p>
        </p:txBody>
      </p:sp>
      <p:sp>
        <p:nvSpPr>
          <p:cNvPr id="26" name="Text 23"/>
          <p:cNvSpPr txBox="1"/>
          <p:nvPr/>
        </p:nvSpPr>
        <p:spPr>
          <a:xfrm>
            <a:off x="100126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خَشَبِيٌّ</a:t>
            </a:r>
            <a:endParaRPr lang="ar-SA" sz="135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f. adj.</a:t>
            </a:r>
            <a:endParaRPr lang="en-US" sz="700" dirty="0"/>
          </a:p>
        </p:txBody>
      </p:sp>
      <p:sp>
        <p:nvSpPr>
          <p:cNvPr id="29" name="Text 26"/>
          <p:cNvSpPr txBox="1"/>
          <p:nvPr/>
        </p:nvSpPr>
        <p:spPr>
          <a:xfrm>
            <a:off x="8284464"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خَشَبِيَّةٌ</a:t>
            </a:r>
            <a:endParaRPr lang="ar-SA" sz="135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3" name="Shape 30"/>
          <p:cNvSpPr/>
          <p:nvPr/>
        </p:nvSpPr>
        <p:spPr>
          <a:xfrm>
            <a:off x="4782312" y="1938528"/>
            <a:ext cx="771754"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material</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حَجَرٌ</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stone</a:t>
            </a:r>
            <a:endParaRPr lang="en-US" sz="1350" dirty="0"/>
          </a:p>
          <a:p>
            <a:pPr indent="0" marL="0">
              <a:buNone/>
            </a:pPr>
            <a:r>
              <a:rPr lang="en-US" sz="1100" i="1" dirty="0">
                <a:solidFill>
                  <a:srgbClr val="5A6472"/>
                </a:solidFill>
                <a:latin typeface="Calibri" pitchFamily="34" charset="0"/>
                <a:cs typeface="Amiri" pitchFamily="2" charset="-78"/>
              </a:rPr>
              <a:t>ḥa-jar · pl. ḥi-jā-ra</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m. adj.</a:t>
            </a:r>
            <a:endParaRPr lang="en-US" sz="700" dirty="0"/>
          </a:p>
        </p:txBody>
      </p:sp>
      <p:sp>
        <p:nvSpPr>
          <p:cNvPr id="41" name="Text 38"/>
          <p:cNvSpPr txBox="1"/>
          <p:nvPr/>
        </p:nvSpPr>
        <p:spPr>
          <a:xfrm>
            <a:off x="6190488"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حَجَرِيٌّ</a:t>
            </a:r>
            <a:endParaRPr lang="ar-SA" sz="135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f. adj.</a:t>
            </a:r>
            <a:endParaRPr lang="en-US" sz="700" dirty="0"/>
          </a:p>
        </p:txBody>
      </p:sp>
      <p:sp>
        <p:nvSpPr>
          <p:cNvPr id="44" name="Text 41"/>
          <p:cNvSpPr txBox="1"/>
          <p:nvPr/>
        </p:nvSpPr>
        <p:spPr>
          <a:xfrm>
            <a:off x="4462272"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حَجَرِيَّةٌ</a:t>
            </a:r>
            <a:endParaRPr lang="ar-SA" sz="135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8" name="Shape 45"/>
          <p:cNvSpPr/>
          <p:nvPr/>
        </p:nvSpPr>
        <p:spPr>
          <a:xfrm>
            <a:off x="960120" y="1938528"/>
            <a:ext cx="771754"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material</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زُجَاجٌ</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glass</a:t>
            </a:r>
            <a:endParaRPr lang="en-US" sz="1350" dirty="0"/>
          </a:p>
          <a:p>
            <a:pPr indent="0" marL="0">
              <a:buNone/>
            </a:pPr>
            <a:r>
              <a:rPr lang="en-US" sz="1100" i="1" dirty="0">
                <a:solidFill>
                  <a:srgbClr val="5A6472"/>
                </a:solidFill>
                <a:latin typeface="Calibri" pitchFamily="34" charset="0"/>
                <a:cs typeface="Amiri" pitchFamily="2" charset="-78"/>
              </a:rPr>
              <a:t>zu-jāj</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m. adj.</a:t>
            </a:r>
            <a:endParaRPr lang="en-US" sz="700" dirty="0"/>
          </a:p>
        </p:txBody>
      </p:sp>
      <p:sp>
        <p:nvSpPr>
          <p:cNvPr id="56" name="Text 53"/>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زُجَاجِيٌّ</a:t>
            </a:r>
            <a:endParaRPr lang="ar-SA" sz="135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f. adj.</a:t>
            </a:r>
            <a:endParaRPr lang="en-US" sz="700" dirty="0"/>
          </a:p>
        </p:txBody>
      </p:sp>
      <p:sp>
        <p:nvSpPr>
          <p:cNvPr id="59" name="Text 56"/>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زُجَاجِيَّةٌ</a:t>
            </a:r>
            <a:endParaRPr lang="ar-SA" sz="135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63" name="Shape 60"/>
          <p:cNvSpPr/>
          <p:nvPr/>
        </p:nvSpPr>
        <p:spPr>
          <a:xfrm>
            <a:off x="8604504" y="4279392"/>
            <a:ext cx="771754"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material</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مَعْدِنٌ</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metal</a:t>
            </a:r>
            <a:endParaRPr lang="en-US" sz="1350" dirty="0"/>
          </a:p>
          <a:p>
            <a:pPr indent="0" marL="0">
              <a:buNone/>
            </a:pPr>
            <a:r>
              <a:rPr lang="en-US" sz="1100" i="1" dirty="0">
                <a:solidFill>
                  <a:srgbClr val="5A6472"/>
                </a:solidFill>
                <a:latin typeface="Calibri" pitchFamily="34" charset="0"/>
                <a:cs typeface="Amiri" pitchFamily="2" charset="-78"/>
              </a:rPr>
              <a:t>maʿ-din · pl. ma-ʿā-din</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m. adj.</a:t>
            </a:r>
            <a:endParaRPr lang="en-US" sz="700" dirty="0"/>
          </a:p>
        </p:txBody>
      </p:sp>
      <p:sp>
        <p:nvSpPr>
          <p:cNvPr id="71" name="Text 68"/>
          <p:cNvSpPr txBox="1"/>
          <p:nvPr/>
        </p:nvSpPr>
        <p:spPr>
          <a:xfrm>
            <a:off x="100126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مَعْدِنِيٌّ</a:t>
            </a:r>
            <a:endParaRPr lang="ar-SA" sz="135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f. adj.</a:t>
            </a:r>
            <a:endParaRPr lang="en-US" sz="700" dirty="0"/>
          </a:p>
        </p:txBody>
      </p:sp>
      <p:sp>
        <p:nvSpPr>
          <p:cNvPr id="74" name="Text 71"/>
          <p:cNvSpPr txBox="1"/>
          <p:nvPr/>
        </p:nvSpPr>
        <p:spPr>
          <a:xfrm>
            <a:off x="8284464"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مَعْدِنِيَّةٌ</a:t>
            </a:r>
            <a:endParaRPr lang="ar-SA" sz="135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78" name="Shape 75"/>
          <p:cNvSpPr/>
          <p:nvPr/>
        </p:nvSpPr>
        <p:spPr>
          <a:xfrm>
            <a:off x="4782312" y="4279392"/>
            <a:ext cx="771754"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material</a:t>
            </a:r>
            <a:endParaRPr lang="en-US" sz="800" dirty="0"/>
          </a:p>
        </p:txBody>
      </p:sp>
      <p:sp>
        <p:nvSpPr>
          <p:cNvPr id="80" name="Shape 7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81" name="Text 7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82" name="Text 7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بِلَاسْتِيكٌ</a:t>
            </a:r>
            <a:endParaRPr lang="ar-SA" sz="3000" dirty="0"/>
          </a:p>
        </p:txBody>
      </p:sp>
      <p:sp>
        <p:nvSpPr>
          <p:cNvPr id="83" name="Text 8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plastic</a:t>
            </a:r>
            <a:endParaRPr lang="en-US" sz="1350" dirty="0"/>
          </a:p>
          <a:p>
            <a:pPr indent="0" marL="0">
              <a:buNone/>
            </a:pPr>
            <a:r>
              <a:rPr lang="en-US" sz="1100" i="1" dirty="0">
                <a:solidFill>
                  <a:srgbClr val="5A6472"/>
                </a:solidFill>
                <a:latin typeface="Calibri" pitchFamily="34" charset="0"/>
                <a:cs typeface="Amiri" pitchFamily="2" charset="-78"/>
              </a:rPr>
              <a:t>bi-lās-tīk</a:t>
            </a:r>
            <a:endParaRPr lang="en-US" sz="1350" dirty="0"/>
          </a:p>
        </p:txBody>
      </p:sp>
      <p:sp>
        <p:nvSpPr>
          <p:cNvPr id="84" name="Shape 81"/>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m. adj.</a:t>
            </a:r>
            <a:endParaRPr lang="en-US" sz="700" dirty="0"/>
          </a:p>
        </p:txBody>
      </p:sp>
      <p:sp>
        <p:nvSpPr>
          <p:cNvPr id="86" name="Text 83"/>
          <p:cNvSpPr txBox="1"/>
          <p:nvPr/>
        </p:nvSpPr>
        <p:spPr>
          <a:xfrm>
            <a:off x="6190488"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بِلَاسْتِيكِيٌّ</a:t>
            </a:r>
            <a:endParaRPr lang="ar-SA" sz="1350" dirty="0"/>
          </a:p>
        </p:txBody>
      </p:sp>
      <p:sp>
        <p:nvSpPr>
          <p:cNvPr id="87" name="Shape 84"/>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8" name="Text 85"/>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f. adj.</a:t>
            </a:r>
            <a:endParaRPr lang="en-US" sz="700" dirty="0"/>
          </a:p>
        </p:txBody>
      </p:sp>
      <p:sp>
        <p:nvSpPr>
          <p:cNvPr id="89" name="Text 86"/>
          <p:cNvSpPr txBox="1"/>
          <p:nvPr/>
        </p:nvSpPr>
        <p:spPr>
          <a:xfrm>
            <a:off x="4462272"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بِلَاسْتِيكِيَّةٌ</a:t>
            </a:r>
            <a:endParaRPr lang="ar-SA" sz="1350" dirty="0"/>
          </a:p>
        </p:txBody>
      </p:sp>
      <p:sp>
        <p:nvSpPr>
          <p:cNvPr id="90" name="Shape 8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566928" y="4261104"/>
            <a:ext cx="310896" cy="310896"/>
          </a:xfrm>
          <a:prstGeom prst="ellipse">
            <a:avLst/>
          </a:prstGeom>
          <a:solidFill>
            <a:srgbClr val="F4F1EA"/>
          </a:solidFill>
          <a:ln w="12700">
            <a:solidFill>
              <a:srgbClr val="F4F1EA"/>
            </a:solidFill>
            <a:prstDash val="solid"/>
          </a:ln>
        </p:spPr>
      </p:sp>
      <p:sp>
        <p:nvSpPr>
          <p:cNvPr id="92" name="Text 8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93" name="Shape 90"/>
          <p:cNvSpPr/>
          <p:nvPr/>
        </p:nvSpPr>
        <p:spPr>
          <a:xfrm>
            <a:off x="960120" y="4279392"/>
            <a:ext cx="771754" cy="256032"/>
          </a:xfrm>
          <a:prstGeom prst="roundRect">
            <a:avLst>
              <a:gd name="adj" fmla="val 50000"/>
            </a:avLst>
          </a:prstGeom>
          <a:solidFill>
            <a:srgbClr val="EFE7D2"/>
          </a:solidFill>
          <a:ln w="12700">
            <a:solidFill>
              <a:srgbClr val="EFE7D2"/>
            </a:solidFill>
            <a:prstDash val="solid"/>
          </a:ln>
        </p:spPr>
      </p:sp>
      <p:sp>
        <p:nvSpPr>
          <p:cNvPr id="94" name="Text 91"/>
          <p:cNvSpPr txBox="1"/>
          <p:nvPr/>
        </p:nvSpPr>
        <p:spPr>
          <a:xfrm>
            <a:off x="960120" y="4279392"/>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material</a:t>
            </a:r>
            <a:endParaRPr lang="en-US" sz="800" dirty="0"/>
          </a:p>
        </p:txBody>
      </p:sp>
      <p:sp>
        <p:nvSpPr>
          <p:cNvPr id="95" name="Shape 92"/>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96" name="Text 93"/>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97" name="Text 94"/>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وَرَقٌ</a:t>
            </a:r>
            <a:endParaRPr lang="ar-SA" sz="3000" dirty="0"/>
          </a:p>
        </p:txBody>
      </p:sp>
      <p:sp>
        <p:nvSpPr>
          <p:cNvPr id="98" name="Text 95"/>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paper</a:t>
            </a:r>
            <a:endParaRPr lang="en-US" sz="1350" dirty="0"/>
          </a:p>
          <a:p>
            <a:pPr indent="0" marL="0">
              <a:buNone/>
            </a:pPr>
            <a:r>
              <a:rPr lang="en-US" sz="1100" i="1" dirty="0">
                <a:solidFill>
                  <a:srgbClr val="5A6472"/>
                </a:solidFill>
                <a:latin typeface="Calibri" pitchFamily="34" charset="0"/>
                <a:cs typeface="Amiri" pitchFamily="2" charset="-78"/>
              </a:rPr>
              <a:t>wa-raq</a:t>
            </a:r>
            <a:endParaRPr lang="en-US" sz="1350" dirty="0"/>
          </a:p>
        </p:txBody>
      </p:sp>
      <p:sp>
        <p:nvSpPr>
          <p:cNvPr id="99" name="Shape 96"/>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100" name="Text 97"/>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m. adj.</a:t>
            </a:r>
            <a:endParaRPr lang="en-US" sz="700" dirty="0"/>
          </a:p>
        </p:txBody>
      </p:sp>
      <p:sp>
        <p:nvSpPr>
          <p:cNvPr id="101" name="Text 98"/>
          <p:cNvSpPr txBox="1"/>
          <p:nvPr/>
        </p:nvSpPr>
        <p:spPr>
          <a:xfrm>
            <a:off x="2368296"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وَرَقِيٌّ</a:t>
            </a:r>
            <a:endParaRPr lang="ar-SA" sz="1350" dirty="0"/>
          </a:p>
        </p:txBody>
      </p:sp>
      <p:sp>
        <p:nvSpPr>
          <p:cNvPr id="102" name="Shape 99"/>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103" name="Text 100"/>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f. adj.</a:t>
            </a:r>
            <a:endParaRPr lang="en-US" sz="700" dirty="0"/>
          </a:p>
        </p:txBody>
      </p:sp>
      <p:sp>
        <p:nvSpPr>
          <p:cNvPr id="104" name="Text 101"/>
          <p:cNvSpPr txBox="1"/>
          <p:nvPr/>
        </p:nvSpPr>
        <p:spPr>
          <a:xfrm>
            <a:off x="6400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وَرَقِيَّةٌ</a:t>
            </a:r>
            <a:endParaRPr lang="ar-SA" sz="135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TC-L10 · Measure, Shape, Material</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TOPIC C MEASUREMENTS BANK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Shape and size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الشَّكْلُ وَالحَجْمُ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shape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دَائِرِيٌّ</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round, circular</a:t>
            </a:r>
            <a:endParaRPr lang="en-US" sz="1350" dirty="0"/>
          </a:p>
          <a:p>
            <a:pPr indent="0" marL="0">
              <a:buNone/>
            </a:pPr>
            <a:r>
              <a:rPr lang="en-US" sz="1100" i="1" dirty="0">
                <a:solidFill>
                  <a:srgbClr val="5A6472"/>
                </a:solidFill>
                <a:latin typeface="Calibri" pitchFamily="34" charset="0"/>
                <a:cs typeface="Amiri" pitchFamily="2" charset="-78"/>
              </a:rPr>
              <a:t>dā-ʾi-riyy</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دَائِرِيٌّ</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دَائِرِيَّةٌ</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3" name="Shape 30"/>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shape</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مُرَبَّعٌ</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square</a:t>
            </a:r>
            <a:endParaRPr lang="en-US" sz="1350" dirty="0"/>
          </a:p>
          <a:p>
            <a:pPr indent="0" marL="0">
              <a:buNone/>
            </a:pPr>
            <a:r>
              <a:rPr lang="en-US" sz="1100" i="1" dirty="0">
                <a:solidFill>
                  <a:srgbClr val="5A6472"/>
                </a:solidFill>
                <a:latin typeface="Calibri" pitchFamily="34" charset="0"/>
                <a:cs typeface="Amiri" pitchFamily="2" charset="-78"/>
              </a:rPr>
              <a:t>mu-rab-baʿ</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مُرَبَّعٌ</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مُرَبَّعَةٌ</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48" name="Shape 45"/>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shape</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مُسْتَطِيلٌ</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rectangular</a:t>
            </a:r>
            <a:endParaRPr lang="en-US" sz="1350" dirty="0"/>
          </a:p>
          <a:p>
            <a:pPr indent="0" marL="0">
              <a:buNone/>
            </a:pPr>
            <a:r>
              <a:rPr lang="en-US" sz="1100" i="1" dirty="0">
                <a:solidFill>
                  <a:srgbClr val="5A6472"/>
                </a:solidFill>
                <a:latin typeface="Calibri" pitchFamily="34" charset="0"/>
                <a:cs typeface="Amiri" pitchFamily="2" charset="-78"/>
              </a:rPr>
              <a:t>mus-ta-ṭīl</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مُسْتَطِيلٌ</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مُسْتَطِيلَةٌ</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63" name="Shape 60"/>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size</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طَوِيلٌ</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long, tall</a:t>
            </a:r>
            <a:endParaRPr lang="en-US" sz="1350" dirty="0"/>
          </a:p>
          <a:p>
            <a:pPr indent="0" marL="0">
              <a:buNone/>
            </a:pPr>
            <a:r>
              <a:rPr lang="en-US" sz="1100" i="1" dirty="0">
                <a:solidFill>
                  <a:srgbClr val="5A6472"/>
                </a:solidFill>
                <a:latin typeface="Calibri" pitchFamily="34" charset="0"/>
                <a:cs typeface="Amiri" pitchFamily="2" charset="-78"/>
              </a:rPr>
              <a:t>ṭa-wīl</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71" name="Text 68"/>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طَوِيلٌ</a:t>
            </a:r>
            <a:endParaRPr lang="ar-SA" sz="150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74" name="Text 7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طَوِيلَةٌ</a:t>
            </a:r>
            <a:endParaRPr lang="ar-SA" sz="150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78" name="Shape 75"/>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size</a:t>
            </a:r>
            <a:endParaRPr lang="en-US" sz="800" dirty="0"/>
          </a:p>
        </p:txBody>
      </p:sp>
      <p:sp>
        <p:nvSpPr>
          <p:cNvPr id="80" name="Shape 7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81" name="Text 7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82" name="Text 7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قَصِيرٌ</a:t>
            </a:r>
            <a:endParaRPr lang="ar-SA" sz="3000" dirty="0"/>
          </a:p>
        </p:txBody>
      </p:sp>
      <p:sp>
        <p:nvSpPr>
          <p:cNvPr id="83" name="Text 8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short</a:t>
            </a:r>
            <a:endParaRPr lang="en-US" sz="1350" dirty="0"/>
          </a:p>
          <a:p>
            <a:pPr indent="0" marL="0">
              <a:buNone/>
            </a:pPr>
            <a:r>
              <a:rPr lang="en-US" sz="1100" i="1" dirty="0">
                <a:solidFill>
                  <a:srgbClr val="5A6472"/>
                </a:solidFill>
                <a:latin typeface="Calibri" pitchFamily="34" charset="0"/>
                <a:cs typeface="Amiri" pitchFamily="2" charset="-78"/>
              </a:rPr>
              <a:t>qa-ṣīr</a:t>
            </a:r>
            <a:endParaRPr lang="en-US" sz="1350" dirty="0"/>
          </a:p>
        </p:txBody>
      </p:sp>
      <p:sp>
        <p:nvSpPr>
          <p:cNvPr id="84" name="Shape 81"/>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6" name="Text 83"/>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قَصِيرٌ</a:t>
            </a:r>
            <a:endParaRPr lang="ar-SA" sz="1500" dirty="0"/>
          </a:p>
        </p:txBody>
      </p:sp>
      <p:sp>
        <p:nvSpPr>
          <p:cNvPr id="87" name="Shape 84"/>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8" name="Text 85"/>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89" name="Text 86"/>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قَصِيرَةٌ</a:t>
            </a:r>
            <a:endParaRPr lang="ar-SA" sz="1500" dirty="0"/>
          </a:p>
        </p:txBody>
      </p:sp>
      <p:sp>
        <p:nvSpPr>
          <p:cNvPr id="90" name="Shape 8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566928" y="4261104"/>
            <a:ext cx="310896" cy="310896"/>
          </a:xfrm>
          <a:prstGeom prst="ellipse">
            <a:avLst/>
          </a:prstGeom>
          <a:solidFill>
            <a:srgbClr val="F4F1EA"/>
          </a:solidFill>
          <a:ln w="12700">
            <a:solidFill>
              <a:srgbClr val="F4F1EA"/>
            </a:solidFill>
            <a:prstDash val="solid"/>
          </a:ln>
        </p:spPr>
      </p:sp>
      <p:sp>
        <p:nvSpPr>
          <p:cNvPr id="92" name="Text 8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93" name="Shape 90"/>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94" name="Text 91"/>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size</a:t>
            </a:r>
            <a:endParaRPr lang="en-US" sz="800" dirty="0"/>
          </a:p>
        </p:txBody>
      </p:sp>
      <p:sp>
        <p:nvSpPr>
          <p:cNvPr id="95" name="Text 92"/>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ضَخْمٌ</a:t>
            </a:r>
            <a:endParaRPr lang="ar-SA" sz="3000" dirty="0"/>
          </a:p>
        </p:txBody>
      </p:sp>
      <p:sp>
        <p:nvSpPr>
          <p:cNvPr id="96" name="Text 93"/>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huge</a:t>
            </a:r>
            <a:endParaRPr lang="en-US" sz="1350" dirty="0"/>
          </a:p>
          <a:p>
            <a:pPr indent="0" marL="0">
              <a:buNone/>
            </a:pPr>
            <a:r>
              <a:rPr lang="en-US" sz="1100" i="1" dirty="0">
                <a:solidFill>
                  <a:srgbClr val="5A6472"/>
                </a:solidFill>
                <a:latin typeface="Calibri" pitchFamily="34" charset="0"/>
                <a:cs typeface="Amiri" pitchFamily="2" charset="-78"/>
              </a:rPr>
              <a:t>ḍakhm</a:t>
            </a:r>
            <a:endParaRPr lang="en-US" sz="1350" dirty="0"/>
          </a:p>
        </p:txBody>
      </p:sp>
      <p:sp>
        <p:nvSpPr>
          <p:cNvPr id="97" name="Shape 94"/>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98" name="Text 95"/>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99" name="Text 96"/>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ضَخْمٌ</a:t>
            </a:r>
            <a:endParaRPr lang="ar-SA" sz="1500" dirty="0"/>
          </a:p>
        </p:txBody>
      </p:sp>
      <p:sp>
        <p:nvSpPr>
          <p:cNvPr id="100" name="Shape 97"/>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101" name="Text 98"/>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102" name="Text 99"/>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ضَخْمَةٌ</a:t>
            </a:r>
            <a:endParaRPr lang="ar-SA" sz="1500" dirty="0"/>
          </a:p>
        </p:txBody>
      </p:sp>
      <p:sp>
        <p:nvSpPr>
          <p:cNvPr id="103" name="Text 10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TC-L10 · Measure, Shape, Material</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KEY WORDS · GROUP 3 · GRAMMAR PART 1 · MEASUREMENT EXPRESSIONS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Its length is two metres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طُولُهُ مِتْرَانِ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067544" y="1810512"/>
            <a:ext cx="1591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Measure</a:t>
            </a:r>
            <a:endParaRPr lang="en-US" sz="1100" dirty="0"/>
          </a:p>
        </p:txBody>
      </p:sp>
      <p:sp>
        <p:nvSpPr>
          <p:cNvPr id="17" name="Text 14"/>
          <p:cNvSpPr txBox="1"/>
          <p:nvPr/>
        </p:nvSpPr>
        <p:spPr>
          <a:xfrm>
            <a:off x="805586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word</a:t>
            </a:r>
            <a:endParaRPr lang="en-US" sz="1100" dirty="0"/>
          </a:p>
        </p:txBody>
      </p:sp>
      <p:sp>
        <p:nvSpPr>
          <p:cNvPr id="18" name="Text 15"/>
          <p:cNvSpPr txBox="1"/>
          <p:nvPr/>
        </p:nvSpPr>
        <p:spPr>
          <a:xfrm>
            <a:off x="5769864"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its … (m. thing)</a:t>
            </a:r>
            <a:endParaRPr lang="en-US" sz="1100" dirty="0"/>
          </a:p>
        </p:txBody>
      </p:sp>
      <p:sp>
        <p:nvSpPr>
          <p:cNvPr id="19" name="Text 16"/>
          <p:cNvSpPr txBox="1"/>
          <p:nvPr/>
        </p:nvSpPr>
        <p:spPr>
          <a:xfrm>
            <a:off x="3483864"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its … (f. thing)</a:t>
            </a:r>
            <a:endParaRPr lang="en-US" sz="1100" dirty="0"/>
          </a:p>
        </p:txBody>
      </p:sp>
      <p:sp>
        <p:nvSpPr>
          <p:cNvPr id="20" name="Text 17"/>
          <p:cNvSpPr txBox="1"/>
          <p:nvPr/>
        </p:nvSpPr>
        <p:spPr>
          <a:xfrm>
            <a:off x="530352" y="1810512"/>
            <a:ext cx="2807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21" name="Shape 18"/>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2" name="Text 19"/>
          <p:cNvSpPr txBox="1"/>
          <p:nvPr/>
        </p:nvSpPr>
        <p:spPr>
          <a:xfrm>
            <a:off x="10104120" y="2267712"/>
            <a:ext cx="1554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length</a:t>
            </a:r>
            <a:endParaRPr lang="en-US" sz="1100" dirty="0"/>
          </a:p>
        </p:txBody>
      </p:sp>
      <p:sp>
        <p:nvSpPr>
          <p:cNvPr id="23" name="Text 20"/>
          <p:cNvSpPr txBox="1"/>
          <p:nvPr/>
        </p:nvSpPr>
        <p:spPr>
          <a:xfrm>
            <a:off x="8074152" y="2286000"/>
            <a:ext cx="18288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الطُّولُ</a:t>
            </a:r>
            <a:endParaRPr lang="ar-SA" sz="2100" dirty="0"/>
          </a:p>
        </p:txBody>
      </p:sp>
      <p:sp>
        <p:nvSpPr>
          <p:cNvPr id="24" name="Text 21"/>
          <p:cNvSpPr txBox="1"/>
          <p:nvPr/>
        </p:nvSpPr>
        <p:spPr>
          <a:xfrm>
            <a:off x="8028432" y="2706624"/>
            <a:ext cx="19202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aṭ-ṭūl</a:t>
            </a:r>
            <a:endParaRPr lang="en-US" sz="950" dirty="0"/>
          </a:p>
        </p:txBody>
      </p:sp>
      <p:sp>
        <p:nvSpPr>
          <p:cNvPr id="25" name="Text 22"/>
          <p:cNvSpPr txBox="1"/>
          <p:nvPr/>
        </p:nvSpPr>
        <p:spPr>
          <a:xfrm>
            <a:off x="5788152" y="2286000"/>
            <a:ext cx="21031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طُولُ</a:t>
            </a:r>
            <a:pPr rtl="1" algn="ctr" indent="0" marL="0">
              <a:buNone/>
            </a:pPr>
            <a:r>
              <a:rPr lang="ar-SA" altLang="en-US" sz="2100" b="1" dirty="0">
                <a:solidFill>
                  <a:srgbClr val="D6336C"/>
                </a:solidFill>
                <a:latin typeface="Amiri" pitchFamily="2" charset="-78"/>
                <a:ea typeface="Amiri" pitchFamily="2" charset="-78"/>
                <a:cs typeface="Amiri" pitchFamily="2" charset="-78"/>
              </a:rPr>
              <a:t>هُ</a:t>
            </a:r>
            <a:endParaRPr lang="ar-SA" sz="2100" dirty="0"/>
          </a:p>
        </p:txBody>
      </p:sp>
      <p:sp>
        <p:nvSpPr>
          <p:cNvPr id="26" name="Text 23"/>
          <p:cNvSpPr txBox="1"/>
          <p:nvPr/>
        </p:nvSpPr>
        <p:spPr>
          <a:xfrm>
            <a:off x="5742432" y="2706624"/>
            <a:ext cx="21945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ṭū-lu-hu</a:t>
            </a:r>
            <a:endParaRPr lang="en-US" sz="950" dirty="0"/>
          </a:p>
        </p:txBody>
      </p:sp>
      <p:sp>
        <p:nvSpPr>
          <p:cNvPr id="27" name="Text 24"/>
          <p:cNvSpPr txBox="1"/>
          <p:nvPr/>
        </p:nvSpPr>
        <p:spPr>
          <a:xfrm>
            <a:off x="3502152" y="2286000"/>
            <a:ext cx="21031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طُولُ</a:t>
            </a:r>
            <a:pPr rtl="1" algn="ctr" indent="0" marL="0">
              <a:buNone/>
            </a:pPr>
            <a:r>
              <a:rPr lang="ar-SA" altLang="en-US" sz="2100" b="1" dirty="0">
                <a:solidFill>
                  <a:srgbClr val="D6336C"/>
                </a:solidFill>
                <a:latin typeface="Amiri" pitchFamily="2" charset="-78"/>
                <a:ea typeface="Amiri" pitchFamily="2" charset="-78"/>
                <a:cs typeface="Amiri" pitchFamily="2" charset="-78"/>
              </a:rPr>
              <a:t>هَا</a:t>
            </a:r>
            <a:endParaRPr lang="ar-SA" sz="2100" dirty="0"/>
          </a:p>
        </p:txBody>
      </p:sp>
      <p:sp>
        <p:nvSpPr>
          <p:cNvPr id="28" name="Text 25"/>
          <p:cNvSpPr txBox="1"/>
          <p:nvPr/>
        </p:nvSpPr>
        <p:spPr>
          <a:xfrm>
            <a:off x="3456432" y="2706624"/>
            <a:ext cx="21945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ṭū-lu-hā</a:t>
            </a:r>
            <a:endParaRPr lang="en-US" sz="950" dirty="0"/>
          </a:p>
        </p:txBody>
      </p:sp>
      <p:sp>
        <p:nvSpPr>
          <p:cNvPr id="29" name="Text 26"/>
          <p:cNvSpPr txBox="1"/>
          <p:nvPr/>
        </p:nvSpPr>
        <p:spPr>
          <a:xfrm>
            <a:off x="566928" y="2267712"/>
            <a:ext cx="2770632" cy="731520"/>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ea typeface="Amiri" pitchFamily="2" charset="-78"/>
                <a:cs typeface="Amiri" pitchFamily="2" charset="-78"/>
              </a:rPr>
              <a:t>طُولُهُ مِتْرَانِ</a:t>
            </a:r>
            <a:pPr algn="l" indent="0" marL="0">
              <a:buNone/>
            </a:pPr>
            <a:r>
              <a:rPr lang="en-US" sz="1100" dirty="0">
                <a:solidFill>
                  <a:srgbClr val="5A6472"/>
                </a:solidFill>
                <a:latin typeface="Calibri" pitchFamily="34" charset="0"/>
                <a:cs typeface="Amiri" pitchFamily="2" charset="-78"/>
              </a:rPr>
              <a:t> (game)</a:t>
            </a:r>
            <a:endParaRPr lang="en-US" sz="1100" dirty="0"/>
          </a:p>
        </p:txBody>
      </p:sp>
      <p:sp>
        <p:nvSpPr>
          <p:cNvPr id="30" name="Shape 27"/>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2" name="Shape 29"/>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33" name="Text 30"/>
          <p:cNvSpPr txBox="1"/>
          <p:nvPr/>
        </p:nvSpPr>
        <p:spPr>
          <a:xfrm>
            <a:off x="10104120" y="3054096"/>
            <a:ext cx="1554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width</a:t>
            </a:r>
            <a:endParaRPr lang="en-US" sz="1100" dirty="0"/>
          </a:p>
        </p:txBody>
      </p:sp>
      <p:sp>
        <p:nvSpPr>
          <p:cNvPr id="34" name="Text 31"/>
          <p:cNvSpPr txBox="1"/>
          <p:nvPr/>
        </p:nvSpPr>
        <p:spPr>
          <a:xfrm>
            <a:off x="8074152" y="3072384"/>
            <a:ext cx="18288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العَرْضُ</a:t>
            </a:r>
            <a:endParaRPr lang="ar-SA" sz="2100" dirty="0"/>
          </a:p>
        </p:txBody>
      </p:sp>
      <p:sp>
        <p:nvSpPr>
          <p:cNvPr id="35" name="Text 32"/>
          <p:cNvSpPr txBox="1"/>
          <p:nvPr/>
        </p:nvSpPr>
        <p:spPr>
          <a:xfrm>
            <a:off x="8028432" y="3493008"/>
            <a:ext cx="19202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al-ʿarḍ</a:t>
            </a:r>
            <a:endParaRPr lang="en-US" sz="950" dirty="0"/>
          </a:p>
        </p:txBody>
      </p:sp>
      <p:sp>
        <p:nvSpPr>
          <p:cNvPr id="36" name="Text 33"/>
          <p:cNvSpPr txBox="1"/>
          <p:nvPr/>
        </p:nvSpPr>
        <p:spPr>
          <a:xfrm>
            <a:off x="5788152" y="3072384"/>
            <a:ext cx="21031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عَرْضُ</a:t>
            </a:r>
            <a:pPr rtl="1" algn="ctr" indent="0" marL="0">
              <a:buNone/>
            </a:pPr>
            <a:r>
              <a:rPr lang="ar-SA" altLang="en-US" sz="2100" b="1" dirty="0">
                <a:solidFill>
                  <a:srgbClr val="D6336C"/>
                </a:solidFill>
                <a:latin typeface="Amiri" pitchFamily="2" charset="-78"/>
                <a:ea typeface="Amiri" pitchFamily="2" charset="-78"/>
                <a:cs typeface="Amiri" pitchFamily="2" charset="-78"/>
              </a:rPr>
              <a:t>هُ</a:t>
            </a:r>
            <a:endParaRPr lang="ar-SA" sz="2100" dirty="0"/>
          </a:p>
        </p:txBody>
      </p:sp>
      <p:sp>
        <p:nvSpPr>
          <p:cNvPr id="37" name="Text 34"/>
          <p:cNvSpPr txBox="1"/>
          <p:nvPr/>
        </p:nvSpPr>
        <p:spPr>
          <a:xfrm>
            <a:off x="5742432" y="3493008"/>
            <a:ext cx="21945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ʿar-ḍu-hu</a:t>
            </a:r>
            <a:endParaRPr lang="en-US" sz="950" dirty="0"/>
          </a:p>
        </p:txBody>
      </p:sp>
      <p:sp>
        <p:nvSpPr>
          <p:cNvPr id="38" name="Text 35"/>
          <p:cNvSpPr txBox="1"/>
          <p:nvPr/>
        </p:nvSpPr>
        <p:spPr>
          <a:xfrm>
            <a:off x="3502152" y="3072384"/>
            <a:ext cx="21031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عَرْضُ</a:t>
            </a:r>
            <a:pPr rtl="1" algn="ctr" indent="0" marL="0">
              <a:buNone/>
            </a:pPr>
            <a:r>
              <a:rPr lang="ar-SA" altLang="en-US" sz="2100" b="1" dirty="0">
                <a:solidFill>
                  <a:srgbClr val="D6336C"/>
                </a:solidFill>
                <a:latin typeface="Amiri" pitchFamily="2" charset="-78"/>
                <a:ea typeface="Amiri" pitchFamily="2" charset="-78"/>
                <a:cs typeface="Amiri" pitchFamily="2" charset="-78"/>
              </a:rPr>
              <a:t>هَا</a:t>
            </a:r>
            <a:endParaRPr lang="ar-SA" sz="2100" dirty="0"/>
          </a:p>
        </p:txBody>
      </p:sp>
      <p:sp>
        <p:nvSpPr>
          <p:cNvPr id="39" name="Text 36"/>
          <p:cNvSpPr txBox="1"/>
          <p:nvPr/>
        </p:nvSpPr>
        <p:spPr>
          <a:xfrm>
            <a:off x="3456432" y="3493008"/>
            <a:ext cx="21945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ʿar-ḍu-hā</a:t>
            </a:r>
            <a:endParaRPr lang="en-US" sz="950" dirty="0"/>
          </a:p>
        </p:txBody>
      </p:sp>
      <p:sp>
        <p:nvSpPr>
          <p:cNvPr id="40" name="Text 37"/>
          <p:cNvSpPr txBox="1"/>
          <p:nvPr/>
        </p:nvSpPr>
        <p:spPr>
          <a:xfrm>
            <a:off x="548640" y="3054096"/>
            <a:ext cx="2770632"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عَرْضُهَا مِتْرٌ وَاحِدٌ</a:t>
            </a:r>
            <a:endParaRPr lang="ar-SA" sz="1800" dirty="0"/>
          </a:p>
        </p:txBody>
      </p:sp>
      <p:sp>
        <p:nvSpPr>
          <p:cNvPr id="41" name="Shape 38"/>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44" name="Text 41"/>
          <p:cNvSpPr txBox="1"/>
          <p:nvPr/>
        </p:nvSpPr>
        <p:spPr>
          <a:xfrm>
            <a:off x="10104120" y="3840480"/>
            <a:ext cx="1554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weight</a:t>
            </a:r>
            <a:endParaRPr lang="en-US" sz="1100" dirty="0"/>
          </a:p>
        </p:txBody>
      </p:sp>
      <p:sp>
        <p:nvSpPr>
          <p:cNvPr id="45" name="Text 42"/>
          <p:cNvSpPr txBox="1"/>
          <p:nvPr/>
        </p:nvSpPr>
        <p:spPr>
          <a:xfrm>
            <a:off x="8074152" y="3858768"/>
            <a:ext cx="18288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الوَزْنُ</a:t>
            </a:r>
            <a:endParaRPr lang="ar-SA" sz="2100" dirty="0"/>
          </a:p>
        </p:txBody>
      </p:sp>
      <p:sp>
        <p:nvSpPr>
          <p:cNvPr id="46" name="Text 43"/>
          <p:cNvSpPr txBox="1"/>
          <p:nvPr/>
        </p:nvSpPr>
        <p:spPr>
          <a:xfrm>
            <a:off x="8028432" y="4279392"/>
            <a:ext cx="19202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al-wazn</a:t>
            </a:r>
            <a:endParaRPr lang="en-US" sz="950" dirty="0"/>
          </a:p>
        </p:txBody>
      </p:sp>
      <p:sp>
        <p:nvSpPr>
          <p:cNvPr id="47" name="Text 44"/>
          <p:cNvSpPr txBox="1"/>
          <p:nvPr/>
        </p:nvSpPr>
        <p:spPr>
          <a:xfrm>
            <a:off x="5788152" y="3858768"/>
            <a:ext cx="21031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وَزْنُ</a:t>
            </a:r>
            <a:pPr rtl="1" algn="ctr" indent="0" marL="0">
              <a:buNone/>
            </a:pPr>
            <a:r>
              <a:rPr lang="ar-SA" altLang="en-US" sz="2100" b="1" dirty="0">
                <a:solidFill>
                  <a:srgbClr val="D6336C"/>
                </a:solidFill>
                <a:latin typeface="Amiri" pitchFamily="2" charset="-78"/>
                <a:ea typeface="Amiri" pitchFamily="2" charset="-78"/>
                <a:cs typeface="Amiri" pitchFamily="2" charset="-78"/>
              </a:rPr>
              <a:t>هُ</a:t>
            </a:r>
            <a:endParaRPr lang="ar-SA" sz="2100" dirty="0"/>
          </a:p>
        </p:txBody>
      </p:sp>
      <p:sp>
        <p:nvSpPr>
          <p:cNvPr id="48" name="Text 45"/>
          <p:cNvSpPr txBox="1"/>
          <p:nvPr/>
        </p:nvSpPr>
        <p:spPr>
          <a:xfrm>
            <a:off x="5742432" y="4279392"/>
            <a:ext cx="21945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waz-nu-hu</a:t>
            </a:r>
            <a:endParaRPr lang="en-US" sz="950" dirty="0"/>
          </a:p>
        </p:txBody>
      </p:sp>
      <p:sp>
        <p:nvSpPr>
          <p:cNvPr id="49" name="Text 46"/>
          <p:cNvSpPr txBox="1"/>
          <p:nvPr/>
        </p:nvSpPr>
        <p:spPr>
          <a:xfrm>
            <a:off x="3502152" y="3858768"/>
            <a:ext cx="21031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وَزْنُ</a:t>
            </a:r>
            <a:pPr rtl="1" algn="ctr" indent="0" marL="0">
              <a:buNone/>
            </a:pPr>
            <a:r>
              <a:rPr lang="ar-SA" altLang="en-US" sz="2100" b="1" dirty="0">
                <a:solidFill>
                  <a:srgbClr val="D6336C"/>
                </a:solidFill>
                <a:latin typeface="Amiri" pitchFamily="2" charset="-78"/>
                <a:ea typeface="Amiri" pitchFamily="2" charset="-78"/>
                <a:cs typeface="Amiri" pitchFamily="2" charset="-78"/>
              </a:rPr>
              <a:t>هَا</a:t>
            </a:r>
            <a:endParaRPr lang="ar-SA" sz="2100" dirty="0"/>
          </a:p>
        </p:txBody>
      </p:sp>
      <p:sp>
        <p:nvSpPr>
          <p:cNvPr id="50" name="Text 47"/>
          <p:cNvSpPr txBox="1"/>
          <p:nvPr/>
        </p:nvSpPr>
        <p:spPr>
          <a:xfrm>
            <a:off x="3456432" y="4279392"/>
            <a:ext cx="21945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waz-nu-hā</a:t>
            </a:r>
            <a:endParaRPr lang="en-US" sz="950" dirty="0"/>
          </a:p>
        </p:txBody>
      </p:sp>
      <p:sp>
        <p:nvSpPr>
          <p:cNvPr id="51" name="Text 48"/>
          <p:cNvSpPr txBox="1"/>
          <p:nvPr/>
        </p:nvSpPr>
        <p:spPr>
          <a:xfrm>
            <a:off x="548640" y="3840480"/>
            <a:ext cx="2770632"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وَزْنُهُ كِيلُوغْرَامَانِ</a:t>
            </a:r>
            <a:endParaRPr lang="ar-SA" sz="1800" dirty="0"/>
          </a:p>
        </p:txBody>
      </p:sp>
      <p:sp>
        <p:nvSpPr>
          <p:cNvPr id="52" name="Shape 49"/>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4" name="Shape 51"/>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55" name="Text 52"/>
          <p:cNvSpPr txBox="1"/>
          <p:nvPr/>
        </p:nvSpPr>
        <p:spPr>
          <a:xfrm>
            <a:off x="10104120" y="4626864"/>
            <a:ext cx="1554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capacity</a:t>
            </a:r>
            <a:endParaRPr lang="en-US" sz="1100" dirty="0"/>
          </a:p>
        </p:txBody>
      </p:sp>
      <p:sp>
        <p:nvSpPr>
          <p:cNvPr id="56" name="Text 53"/>
          <p:cNvSpPr txBox="1"/>
          <p:nvPr/>
        </p:nvSpPr>
        <p:spPr>
          <a:xfrm>
            <a:off x="8074152" y="4645152"/>
            <a:ext cx="18288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السِّعَةُ</a:t>
            </a:r>
            <a:endParaRPr lang="ar-SA" sz="2100" dirty="0"/>
          </a:p>
        </p:txBody>
      </p:sp>
      <p:sp>
        <p:nvSpPr>
          <p:cNvPr id="57" name="Text 54"/>
          <p:cNvSpPr txBox="1"/>
          <p:nvPr/>
        </p:nvSpPr>
        <p:spPr>
          <a:xfrm>
            <a:off x="8028432" y="5065776"/>
            <a:ext cx="19202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as-si-ʿa</a:t>
            </a:r>
            <a:endParaRPr lang="en-US" sz="950" dirty="0"/>
          </a:p>
        </p:txBody>
      </p:sp>
      <p:sp>
        <p:nvSpPr>
          <p:cNvPr id="58" name="Text 55"/>
          <p:cNvSpPr txBox="1"/>
          <p:nvPr/>
        </p:nvSpPr>
        <p:spPr>
          <a:xfrm>
            <a:off x="5788152" y="4645152"/>
            <a:ext cx="21031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سِعَتُ</a:t>
            </a:r>
            <a:pPr rtl="1" algn="ctr" indent="0" marL="0">
              <a:buNone/>
            </a:pPr>
            <a:r>
              <a:rPr lang="ar-SA" altLang="en-US" sz="2100" b="1" dirty="0">
                <a:solidFill>
                  <a:srgbClr val="D6336C"/>
                </a:solidFill>
                <a:latin typeface="Amiri" pitchFamily="2" charset="-78"/>
                <a:ea typeface="Amiri" pitchFamily="2" charset="-78"/>
                <a:cs typeface="Amiri" pitchFamily="2" charset="-78"/>
              </a:rPr>
              <a:t>هُ</a:t>
            </a:r>
            <a:endParaRPr lang="ar-SA" sz="2100" dirty="0"/>
          </a:p>
        </p:txBody>
      </p:sp>
      <p:sp>
        <p:nvSpPr>
          <p:cNvPr id="59" name="Text 56"/>
          <p:cNvSpPr txBox="1"/>
          <p:nvPr/>
        </p:nvSpPr>
        <p:spPr>
          <a:xfrm>
            <a:off x="5742432" y="5065776"/>
            <a:ext cx="21945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si-ʿa-tu-hu</a:t>
            </a:r>
            <a:endParaRPr lang="en-US" sz="950" dirty="0"/>
          </a:p>
        </p:txBody>
      </p:sp>
      <p:sp>
        <p:nvSpPr>
          <p:cNvPr id="60" name="Text 57"/>
          <p:cNvSpPr txBox="1"/>
          <p:nvPr/>
        </p:nvSpPr>
        <p:spPr>
          <a:xfrm>
            <a:off x="3502152" y="4645152"/>
            <a:ext cx="21031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سِعَتُ</a:t>
            </a:r>
            <a:pPr rtl="1" algn="ctr" indent="0" marL="0">
              <a:buNone/>
            </a:pPr>
            <a:r>
              <a:rPr lang="ar-SA" altLang="en-US" sz="2100" b="1" dirty="0">
                <a:solidFill>
                  <a:srgbClr val="D6336C"/>
                </a:solidFill>
                <a:latin typeface="Amiri" pitchFamily="2" charset="-78"/>
                <a:ea typeface="Amiri" pitchFamily="2" charset="-78"/>
                <a:cs typeface="Amiri" pitchFamily="2" charset="-78"/>
              </a:rPr>
              <a:t>هَا</a:t>
            </a:r>
            <a:endParaRPr lang="ar-SA" sz="2100" dirty="0"/>
          </a:p>
        </p:txBody>
      </p:sp>
      <p:sp>
        <p:nvSpPr>
          <p:cNvPr id="61" name="Text 58"/>
          <p:cNvSpPr txBox="1"/>
          <p:nvPr/>
        </p:nvSpPr>
        <p:spPr>
          <a:xfrm>
            <a:off x="3456432" y="5065776"/>
            <a:ext cx="21945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si-ʿa-tu-hā</a:t>
            </a:r>
            <a:endParaRPr lang="en-US" sz="950" dirty="0"/>
          </a:p>
        </p:txBody>
      </p:sp>
      <p:sp>
        <p:nvSpPr>
          <p:cNvPr id="62" name="Text 59"/>
          <p:cNvSpPr txBox="1"/>
          <p:nvPr/>
        </p:nvSpPr>
        <p:spPr>
          <a:xfrm>
            <a:off x="566928" y="4626864"/>
            <a:ext cx="2770632" cy="731520"/>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ea typeface="Amiri" pitchFamily="2" charset="-78"/>
                <a:cs typeface="Amiri" pitchFamily="2" charset="-78"/>
              </a:rPr>
              <a:t>سِعَةُ الزُّجَاجَةِ لِتْرٌ</a:t>
            </a:r>
            <a:pPr algn="l" indent="0" marL="0">
              <a:buNone/>
            </a:pPr>
            <a:r>
              <a:rPr lang="en-US" sz="1100" dirty="0">
                <a:solidFill>
                  <a:srgbClr val="5A6472"/>
                </a:solidFill>
                <a:latin typeface="Calibri" pitchFamily="34" charset="0"/>
                <a:cs typeface="Amiri" pitchFamily="2" charset="-78"/>
              </a:rPr>
              <a:t> (game)</a:t>
            </a:r>
            <a:endParaRPr lang="en-US" sz="1100" dirty="0"/>
          </a:p>
        </p:txBody>
      </p:sp>
      <p:sp>
        <p:nvSpPr>
          <p:cNvPr id="63" name="Shape 60"/>
          <p:cNvSpPr/>
          <p:nvPr/>
        </p:nvSpPr>
        <p:spPr>
          <a:xfrm>
            <a:off x="457200" y="5413248"/>
            <a:ext cx="11274552" cy="731520"/>
          </a:xfrm>
          <a:prstGeom prst="roundRect">
            <a:avLst>
              <a:gd name="adj" fmla="val 6250"/>
            </a:avLst>
          </a:prstGeom>
          <a:solidFill>
            <a:srgbClr val="FFFFFF"/>
          </a:solidFill>
          <a:ln w="9525">
            <a:solidFill>
              <a:srgbClr val="D8D0BF"/>
            </a:solidFill>
            <a:prstDash val="solid"/>
          </a:ln>
        </p:spPr>
      </p:sp>
      <p:sp>
        <p:nvSpPr>
          <p:cNvPr id="64" name="Text 61"/>
          <p:cNvSpPr txBox="1"/>
          <p:nvPr/>
        </p:nvSpPr>
        <p:spPr>
          <a:xfrm>
            <a:off x="10104120" y="5413248"/>
            <a:ext cx="1554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diameter</a:t>
            </a:r>
            <a:endParaRPr lang="en-US" sz="1100" dirty="0"/>
          </a:p>
        </p:txBody>
      </p:sp>
      <p:sp>
        <p:nvSpPr>
          <p:cNvPr id="65" name="Text 62"/>
          <p:cNvSpPr txBox="1"/>
          <p:nvPr/>
        </p:nvSpPr>
        <p:spPr>
          <a:xfrm>
            <a:off x="8074152" y="5431536"/>
            <a:ext cx="18288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القُطْرُ</a:t>
            </a:r>
            <a:endParaRPr lang="ar-SA" sz="2100" dirty="0"/>
          </a:p>
        </p:txBody>
      </p:sp>
      <p:sp>
        <p:nvSpPr>
          <p:cNvPr id="66" name="Text 63"/>
          <p:cNvSpPr txBox="1"/>
          <p:nvPr/>
        </p:nvSpPr>
        <p:spPr>
          <a:xfrm>
            <a:off x="8028432" y="5852160"/>
            <a:ext cx="19202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al-quṭr</a:t>
            </a:r>
            <a:endParaRPr lang="en-US" sz="950" dirty="0"/>
          </a:p>
        </p:txBody>
      </p:sp>
      <p:sp>
        <p:nvSpPr>
          <p:cNvPr id="67" name="Text 64"/>
          <p:cNvSpPr txBox="1"/>
          <p:nvPr/>
        </p:nvSpPr>
        <p:spPr>
          <a:xfrm>
            <a:off x="5788152" y="5431536"/>
            <a:ext cx="21031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قُطْرُ</a:t>
            </a:r>
            <a:pPr rtl="1" algn="ctr" indent="0" marL="0">
              <a:buNone/>
            </a:pPr>
            <a:r>
              <a:rPr lang="ar-SA" altLang="en-US" sz="2100" b="1" dirty="0">
                <a:solidFill>
                  <a:srgbClr val="D6336C"/>
                </a:solidFill>
                <a:latin typeface="Amiri" pitchFamily="2" charset="-78"/>
                <a:ea typeface="Amiri" pitchFamily="2" charset="-78"/>
                <a:cs typeface="Amiri" pitchFamily="2" charset="-78"/>
              </a:rPr>
              <a:t>هُ</a:t>
            </a:r>
            <a:endParaRPr lang="ar-SA" sz="2100" dirty="0"/>
          </a:p>
        </p:txBody>
      </p:sp>
      <p:sp>
        <p:nvSpPr>
          <p:cNvPr id="68" name="Text 65"/>
          <p:cNvSpPr txBox="1"/>
          <p:nvPr/>
        </p:nvSpPr>
        <p:spPr>
          <a:xfrm>
            <a:off x="5742432" y="5852160"/>
            <a:ext cx="21945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quṭ-ru-hu</a:t>
            </a:r>
            <a:endParaRPr lang="en-US" sz="950" dirty="0"/>
          </a:p>
        </p:txBody>
      </p:sp>
      <p:sp>
        <p:nvSpPr>
          <p:cNvPr id="69" name="Text 66"/>
          <p:cNvSpPr txBox="1"/>
          <p:nvPr/>
        </p:nvSpPr>
        <p:spPr>
          <a:xfrm>
            <a:off x="3502152" y="5431536"/>
            <a:ext cx="21031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قُطْرُ</a:t>
            </a:r>
            <a:pPr rtl="1" algn="ctr" indent="0" marL="0">
              <a:buNone/>
            </a:pPr>
            <a:r>
              <a:rPr lang="ar-SA" altLang="en-US" sz="2100" b="1" dirty="0">
                <a:solidFill>
                  <a:srgbClr val="D6336C"/>
                </a:solidFill>
                <a:latin typeface="Amiri" pitchFamily="2" charset="-78"/>
                <a:ea typeface="Amiri" pitchFamily="2" charset="-78"/>
                <a:cs typeface="Amiri" pitchFamily="2" charset="-78"/>
              </a:rPr>
              <a:t>هَا</a:t>
            </a:r>
            <a:endParaRPr lang="ar-SA" sz="2100" dirty="0"/>
          </a:p>
        </p:txBody>
      </p:sp>
      <p:sp>
        <p:nvSpPr>
          <p:cNvPr id="70" name="Text 67"/>
          <p:cNvSpPr txBox="1"/>
          <p:nvPr/>
        </p:nvSpPr>
        <p:spPr>
          <a:xfrm>
            <a:off x="3456432" y="5852160"/>
            <a:ext cx="21945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quṭ-ru-hā</a:t>
            </a:r>
            <a:endParaRPr lang="en-US" sz="950" dirty="0"/>
          </a:p>
        </p:txBody>
      </p:sp>
      <p:sp>
        <p:nvSpPr>
          <p:cNvPr id="71" name="Text 68"/>
          <p:cNvSpPr txBox="1"/>
          <p:nvPr/>
        </p:nvSpPr>
        <p:spPr>
          <a:xfrm>
            <a:off x="566928" y="5413248"/>
            <a:ext cx="2770632" cy="731520"/>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ea typeface="Amiri" pitchFamily="2" charset="-78"/>
                <a:cs typeface="Amiri" pitchFamily="2" charset="-78"/>
              </a:rPr>
              <a:t>قُطْرُهُ عَشَرَةُ سَنْتِيمِتْرَاتٍ</a:t>
            </a:r>
            <a:pPr algn="l" indent="0" marL="0">
              <a:buNone/>
            </a:pPr>
            <a:r>
              <a:rPr lang="en-US" sz="1100" dirty="0">
                <a:solidFill>
                  <a:srgbClr val="5A6472"/>
                </a:solidFill>
                <a:latin typeface="Calibri" pitchFamily="34" charset="0"/>
                <a:cs typeface="Amiri" pitchFamily="2" charset="-78"/>
              </a:rPr>
              <a:t> (game)</a:t>
            </a:r>
            <a:endParaRPr lang="en-US" sz="110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TC-L10 · Measure, Shape, Material</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1B3B6F"/>
                </a:solidFill>
                <a:latin typeface="Calibri" pitchFamily="34" charset="0"/>
                <a:cs typeface="Amiri" pitchFamily="2" charset="-78"/>
              </a:rPr>
              <a:t>GRAMMAR FOCUS · PART 2 · PASSIVE PARTICIPLES + AGREEMENT · WEBSITE TABLE</a:t>
            </a:r>
            <a:endParaRPr lang="en-US" sz="98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Made of … / built of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مَصْنُوعٌ مِنْ · مَبْنِيٌّ مِنْ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610344"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thing</a:t>
            </a:r>
            <a:endParaRPr lang="en-US" sz="1100" dirty="0"/>
          </a:p>
        </p:txBody>
      </p:sp>
      <p:sp>
        <p:nvSpPr>
          <p:cNvPr id="17" name="Text 14"/>
          <p:cNvSpPr txBox="1"/>
          <p:nvPr/>
        </p:nvSpPr>
        <p:spPr>
          <a:xfrm>
            <a:off x="5129784" y="1810512"/>
            <a:ext cx="4334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Masculine thing</a:t>
            </a:r>
            <a:endParaRPr lang="en-US" sz="1100" dirty="0"/>
          </a:p>
        </p:txBody>
      </p:sp>
      <p:sp>
        <p:nvSpPr>
          <p:cNvPr id="18" name="Text 15"/>
          <p:cNvSpPr txBox="1"/>
          <p:nvPr/>
        </p:nvSpPr>
        <p:spPr>
          <a:xfrm>
            <a:off x="530352" y="1810512"/>
            <a:ext cx="4453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Feminine thing (or plural of things)</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9646920" y="2267712"/>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object: made of</a:t>
            </a:r>
            <a:endParaRPr lang="en-US" sz="1100" dirty="0"/>
          </a:p>
        </p:txBody>
      </p:sp>
      <p:sp>
        <p:nvSpPr>
          <p:cNvPr id="21" name="Text 18"/>
          <p:cNvSpPr txBox="1"/>
          <p:nvPr/>
        </p:nvSpPr>
        <p:spPr>
          <a:xfrm>
            <a:off x="5148072" y="2286000"/>
            <a:ext cx="429768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الكُرْسِيُّ </a:t>
            </a:r>
            <a:pPr rtl="1" algn="ctr" indent="0" marL="0">
              <a:buNone/>
            </a:pPr>
            <a:r>
              <a:rPr lang="ar-SA" altLang="en-US" sz="2100" b="1" dirty="0">
                <a:solidFill>
                  <a:srgbClr val="7B3FA0"/>
                </a:solidFill>
                <a:latin typeface="Amiri" pitchFamily="2" charset="-78"/>
                <a:ea typeface="Amiri" pitchFamily="2" charset="-78"/>
                <a:cs typeface="Amiri" pitchFamily="2" charset="-78"/>
              </a:rPr>
              <a:t>مَصْنُوعٌ</a:t>
            </a:r>
            <a:pPr rtl="1" algn="ctr" indent="0" marL="0">
              <a:buNone/>
            </a:pPr>
            <a:r>
              <a:rPr lang="ar-SA" altLang="en-US" sz="2100" b="1" dirty="0">
                <a:solidFill>
                  <a:srgbClr val="1B3B6F"/>
                </a:solidFill>
                <a:latin typeface="Amiri" pitchFamily="2" charset="-78"/>
                <a:cs typeface="Amiri" pitchFamily="2" charset="-78"/>
              </a:rPr>
              <a:t> </a:t>
            </a:r>
            <a:pPr rtl="1" algn="ctr" indent="0" marL="0">
              <a:buNone/>
            </a:pPr>
            <a:r>
              <a:rPr lang="ar-SA" altLang="en-US" sz="2100" b="1" dirty="0">
                <a:solidFill>
                  <a:srgbClr val="0E7C86"/>
                </a:solidFill>
                <a:latin typeface="Amiri" pitchFamily="2" charset="-78"/>
                <a:ea typeface="Amiri" pitchFamily="2" charset="-78"/>
                <a:cs typeface="Amiri" pitchFamily="2" charset="-78"/>
              </a:rPr>
              <a:t>مِنَ</a:t>
            </a:r>
            <a:pPr rtl="1" algn="ctr" indent="0" marL="0">
              <a:buNone/>
            </a:pPr>
            <a:r>
              <a:rPr lang="ar-SA" altLang="en-US" sz="2100" b="1" dirty="0">
                <a:solidFill>
                  <a:srgbClr val="1B3B6F"/>
                </a:solidFill>
                <a:latin typeface="Amiri" pitchFamily="2" charset="-78"/>
                <a:ea typeface="Amiri" pitchFamily="2" charset="-78"/>
                <a:cs typeface="Amiri" pitchFamily="2" charset="-78"/>
              </a:rPr>
              <a:t> الخَشَبِ</a:t>
            </a:r>
            <a:endParaRPr lang="ar-SA" sz="2100" dirty="0"/>
          </a:p>
        </p:txBody>
      </p:sp>
      <p:sp>
        <p:nvSpPr>
          <p:cNvPr id="22" name="Text 19"/>
          <p:cNvSpPr txBox="1"/>
          <p:nvPr/>
        </p:nvSpPr>
        <p:spPr>
          <a:xfrm>
            <a:off x="5102352" y="2706624"/>
            <a:ext cx="43891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chair is made of wood</a:t>
            </a:r>
            <a:endParaRPr lang="en-US" sz="950" dirty="0"/>
          </a:p>
        </p:txBody>
      </p:sp>
      <p:sp>
        <p:nvSpPr>
          <p:cNvPr id="23" name="Text 20"/>
          <p:cNvSpPr txBox="1"/>
          <p:nvPr/>
        </p:nvSpPr>
        <p:spPr>
          <a:xfrm>
            <a:off x="548640" y="2286000"/>
            <a:ext cx="441655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الطَّاوِلَةُ </a:t>
            </a:r>
            <a:pPr rtl="1" algn="ctr" indent="0" marL="0">
              <a:buNone/>
            </a:pPr>
            <a:r>
              <a:rPr lang="ar-SA" altLang="en-US" sz="2100" b="1" dirty="0">
                <a:solidFill>
                  <a:srgbClr val="7B3FA0"/>
                </a:solidFill>
                <a:latin typeface="Amiri" pitchFamily="2" charset="-78"/>
                <a:ea typeface="Amiri" pitchFamily="2" charset="-78"/>
                <a:cs typeface="Amiri" pitchFamily="2" charset="-78"/>
              </a:rPr>
              <a:t>مَصْنُوعَ</a:t>
            </a:r>
            <a:pPr rtl="1" algn="ctr" indent="0" marL="0">
              <a:buNone/>
            </a:pPr>
            <a:r>
              <a:rPr lang="ar-SA" altLang="en-US" sz="2100" b="1" dirty="0">
                <a:solidFill>
                  <a:srgbClr val="D6336C"/>
                </a:solidFill>
                <a:latin typeface="Amiri" pitchFamily="2" charset="-78"/>
                <a:ea typeface="Amiri" pitchFamily="2" charset="-78"/>
                <a:cs typeface="Amiri" pitchFamily="2" charset="-78"/>
              </a:rPr>
              <a:t>ةٌ</a:t>
            </a:r>
            <a:pPr rtl="1" algn="ctr" indent="0" marL="0">
              <a:buNone/>
            </a:pPr>
            <a:r>
              <a:rPr lang="ar-SA" altLang="en-US" sz="2100" b="1" dirty="0">
                <a:solidFill>
                  <a:srgbClr val="1B3B6F"/>
                </a:solidFill>
                <a:latin typeface="Amiri" pitchFamily="2" charset="-78"/>
                <a:cs typeface="Amiri" pitchFamily="2" charset="-78"/>
              </a:rPr>
              <a:t> </a:t>
            </a:r>
            <a:pPr rtl="1" algn="ctr" indent="0" marL="0">
              <a:buNone/>
            </a:pPr>
            <a:r>
              <a:rPr lang="ar-SA" altLang="en-US" sz="2100" b="1" dirty="0">
                <a:solidFill>
                  <a:srgbClr val="0E7C86"/>
                </a:solidFill>
                <a:latin typeface="Amiri" pitchFamily="2" charset="-78"/>
                <a:ea typeface="Amiri" pitchFamily="2" charset="-78"/>
                <a:cs typeface="Amiri" pitchFamily="2" charset="-78"/>
              </a:rPr>
              <a:t>مِنَ</a:t>
            </a:r>
            <a:pPr rtl="1" algn="ctr" indent="0" marL="0">
              <a:buNone/>
            </a:pPr>
            <a:r>
              <a:rPr lang="ar-SA" altLang="en-US" sz="2100" b="1" dirty="0">
                <a:solidFill>
                  <a:srgbClr val="1B3B6F"/>
                </a:solidFill>
                <a:latin typeface="Amiri" pitchFamily="2" charset="-78"/>
                <a:ea typeface="Amiri" pitchFamily="2" charset="-78"/>
                <a:cs typeface="Amiri" pitchFamily="2" charset="-78"/>
              </a:rPr>
              <a:t> الخَشَبِ</a:t>
            </a:r>
            <a:endParaRPr lang="ar-SA" sz="2100" dirty="0"/>
          </a:p>
        </p:txBody>
      </p:sp>
      <p:sp>
        <p:nvSpPr>
          <p:cNvPr id="24" name="Text 21"/>
          <p:cNvSpPr txBox="1"/>
          <p:nvPr/>
        </p:nvSpPr>
        <p:spPr>
          <a:xfrm>
            <a:off x="502920" y="2706624"/>
            <a:ext cx="450799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table is made of wood</a:t>
            </a:r>
            <a:endParaRPr lang="en-US" sz="95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9646920" y="3054096"/>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object: made of</a:t>
            </a:r>
            <a:endParaRPr lang="en-US" sz="1100" dirty="0"/>
          </a:p>
        </p:txBody>
      </p:sp>
      <p:sp>
        <p:nvSpPr>
          <p:cNvPr id="29" name="Text 26"/>
          <p:cNvSpPr txBox="1"/>
          <p:nvPr/>
        </p:nvSpPr>
        <p:spPr>
          <a:xfrm>
            <a:off x="5148072" y="3072384"/>
            <a:ext cx="429768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القَلَمُ </a:t>
            </a:r>
            <a:pPr rtl="1" algn="ctr" indent="0" marL="0">
              <a:buNone/>
            </a:pPr>
            <a:r>
              <a:rPr lang="ar-SA" altLang="en-US" sz="2100" b="1" dirty="0">
                <a:solidFill>
                  <a:srgbClr val="7B3FA0"/>
                </a:solidFill>
                <a:latin typeface="Amiri" pitchFamily="2" charset="-78"/>
                <a:ea typeface="Amiri" pitchFamily="2" charset="-78"/>
                <a:cs typeface="Amiri" pitchFamily="2" charset="-78"/>
              </a:rPr>
              <a:t>مَصْنُوعٌ</a:t>
            </a:r>
            <a:pPr rtl="1" algn="ctr" indent="0" marL="0">
              <a:buNone/>
            </a:pPr>
            <a:r>
              <a:rPr lang="ar-SA" altLang="en-US" sz="2100" b="1" dirty="0">
                <a:solidFill>
                  <a:srgbClr val="1B3B6F"/>
                </a:solidFill>
                <a:latin typeface="Amiri" pitchFamily="2" charset="-78"/>
                <a:cs typeface="Amiri" pitchFamily="2" charset="-78"/>
              </a:rPr>
              <a:t> </a:t>
            </a:r>
            <a:pPr rtl="1" algn="ctr" indent="0" marL="0">
              <a:buNone/>
            </a:pPr>
            <a:r>
              <a:rPr lang="ar-SA" altLang="en-US" sz="2100" b="1" dirty="0">
                <a:solidFill>
                  <a:srgbClr val="0E7C86"/>
                </a:solidFill>
                <a:latin typeface="Amiri" pitchFamily="2" charset="-78"/>
                <a:ea typeface="Amiri" pitchFamily="2" charset="-78"/>
                <a:cs typeface="Amiri" pitchFamily="2" charset="-78"/>
              </a:rPr>
              <a:t>مِنَ</a:t>
            </a:r>
            <a:pPr rtl="1" algn="ctr" indent="0" marL="0">
              <a:buNone/>
            </a:pPr>
            <a:r>
              <a:rPr lang="ar-SA" altLang="en-US" sz="2100" b="1" dirty="0">
                <a:solidFill>
                  <a:srgbClr val="1B3B6F"/>
                </a:solidFill>
                <a:latin typeface="Amiri" pitchFamily="2" charset="-78"/>
                <a:ea typeface="Amiri" pitchFamily="2" charset="-78"/>
                <a:cs typeface="Amiri" pitchFamily="2" charset="-78"/>
              </a:rPr>
              <a:t> المَعْدِنِ</a:t>
            </a:r>
            <a:endParaRPr lang="ar-SA" sz="2100" dirty="0"/>
          </a:p>
        </p:txBody>
      </p:sp>
      <p:sp>
        <p:nvSpPr>
          <p:cNvPr id="30" name="Text 27"/>
          <p:cNvSpPr txBox="1"/>
          <p:nvPr/>
        </p:nvSpPr>
        <p:spPr>
          <a:xfrm>
            <a:off x="5102352" y="3493008"/>
            <a:ext cx="43891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pen is made of metal</a:t>
            </a:r>
            <a:endParaRPr lang="en-US" sz="950" dirty="0"/>
          </a:p>
        </p:txBody>
      </p:sp>
      <p:sp>
        <p:nvSpPr>
          <p:cNvPr id="31" name="Text 28"/>
          <p:cNvSpPr txBox="1"/>
          <p:nvPr/>
        </p:nvSpPr>
        <p:spPr>
          <a:xfrm>
            <a:off x="548640" y="3072384"/>
            <a:ext cx="441655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الزُّجَاجَةُ </a:t>
            </a:r>
            <a:pPr rtl="1" algn="ctr" indent="0" marL="0">
              <a:buNone/>
            </a:pPr>
            <a:r>
              <a:rPr lang="ar-SA" altLang="en-US" sz="2100" b="1" dirty="0">
                <a:solidFill>
                  <a:srgbClr val="7B3FA0"/>
                </a:solidFill>
                <a:latin typeface="Amiri" pitchFamily="2" charset="-78"/>
                <a:ea typeface="Amiri" pitchFamily="2" charset="-78"/>
                <a:cs typeface="Amiri" pitchFamily="2" charset="-78"/>
              </a:rPr>
              <a:t>مَصْنُوعَ</a:t>
            </a:r>
            <a:pPr rtl="1" algn="ctr" indent="0" marL="0">
              <a:buNone/>
            </a:pPr>
            <a:r>
              <a:rPr lang="ar-SA" altLang="en-US" sz="2100" b="1" dirty="0">
                <a:solidFill>
                  <a:srgbClr val="D6336C"/>
                </a:solidFill>
                <a:latin typeface="Amiri" pitchFamily="2" charset="-78"/>
                <a:ea typeface="Amiri" pitchFamily="2" charset="-78"/>
                <a:cs typeface="Amiri" pitchFamily="2" charset="-78"/>
              </a:rPr>
              <a:t>ةٌ</a:t>
            </a:r>
            <a:pPr rtl="1" algn="ctr" indent="0" marL="0">
              <a:buNone/>
            </a:pPr>
            <a:r>
              <a:rPr lang="ar-SA" altLang="en-US" sz="2100" b="1" dirty="0">
                <a:solidFill>
                  <a:srgbClr val="1B3B6F"/>
                </a:solidFill>
                <a:latin typeface="Amiri" pitchFamily="2" charset="-78"/>
                <a:cs typeface="Amiri" pitchFamily="2" charset="-78"/>
              </a:rPr>
              <a:t> </a:t>
            </a:r>
            <a:pPr rtl="1" algn="ctr" indent="0" marL="0">
              <a:buNone/>
            </a:pPr>
            <a:r>
              <a:rPr lang="ar-SA" altLang="en-US" sz="2100" b="1" dirty="0">
                <a:solidFill>
                  <a:srgbClr val="0E7C86"/>
                </a:solidFill>
                <a:latin typeface="Amiri" pitchFamily="2" charset="-78"/>
                <a:ea typeface="Amiri" pitchFamily="2" charset="-78"/>
                <a:cs typeface="Amiri" pitchFamily="2" charset="-78"/>
              </a:rPr>
              <a:t>مِنَ</a:t>
            </a:r>
            <a:pPr rtl="1" algn="ctr" indent="0" marL="0">
              <a:buNone/>
            </a:pPr>
            <a:r>
              <a:rPr lang="ar-SA" altLang="en-US" sz="2100" b="1" dirty="0">
                <a:solidFill>
                  <a:srgbClr val="1B3B6F"/>
                </a:solidFill>
                <a:latin typeface="Amiri" pitchFamily="2" charset="-78"/>
                <a:ea typeface="Amiri" pitchFamily="2" charset="-78"/>
                <a:cs typeface="Amiri" pitchFamily="2" charset="-78"/>
              </a:rPr>
              <a:t> البِلَاسْتِيكِ</a:t>
            </a:r>
            <a:endParaRPr lang="ar-SA" sz="2100" dirty="0"/>
          </a:p>
        </p:txBody>
      </p:sp>
      <p:sp>
        <p:nvSpPr>
          <p:cNvPr id="32" name="Text 29"/>
          <p:cNvSpPr txBox="1"/>
          <p:nvPr/>
        </p:nvSpPr>
        <p:spPr>
          <a:xfrm>
            <a:off x="502920" y="3493008"/>
            <a:ext cx="450799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bottle is made of plastic</a:t>
            </a:r>
            <a:endParaRPr lang="en-US" sz="950" dirty="0"/>
          </a:p>
        </p:txBody>
      </p:sp>
      <p:sp>
        <p:nvSpPr>
          <p:cNvPr id="33" name="Shape 30"/>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5" name="Shape 32"/>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6" name="Text 33"/>
          <p:cNvSpPr txBox="1"/>
          <p:nvPr/>
        </p:nvSpPr>
        <p:spPr>
          <a:xfrm>
            <a:off x="9646920" y="3840480"/>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building: built of</a:t>
            </a:r>
            <a:endParaRPr lang="en-US" sz="1100" dirty="0"/>
          </a:p>
        </p:txBody>
      </p:sp>
      <p:sp>
        <p:nvSpPr>
          <p:cNvPr id="37" name="Text 34"/>
          <p:cNvSpPr txBox="1"/>
          <p:nvPr/>
        </p:nvSpPr>
        <p:spPr>
          <a:xfrm>
            <a:off x="5148072" y="3858768"/>
            <a:ext cx="429768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البَيْتُ </a:t>
            </a:r>
            <a:pPr rtl="1" algn="ctr" indent="0" marL="0">
              <a:buNone/>
            </a:pPr>
            <a:r>
              <a:rPr lang="ar-SA" altLang="en-US" sz="2100" b="1" dirty="0">
                <a:solidFill>
                  <a:srgbClr val="7B3FA0"/>
                </a:solidFill>
                <a:latin typeface="Amiri" pitchFamily="2" charset="-78"/>
                <a:ea typeface="Amiri" pitchFamily="2" charset="-78"/>
                <a:cs typeface="Amiri" pitchFamily="2" charset="-78"/>
              </a:rPr>
              <a:t>مَبْنِيٌّ</a:t>
            </a:r>
            <a:pPr rtl="1" algn="ctr" indent="0" marL="0">
              <a:buNone/>
            </a:pPr>
            <a:r>
              <a:rPr lang="ar-SA" altLang="en-US" sz="2100" b="1" dirty="0">
                <a:solidFill>
                  <a:srgbClr val="1B3B6F"/>
                </a:solidFill>
                <a:latin typeface="Amiri" pitchFamily="2" charset="-78"/>
                <a:cs typeface="Amiri" pitchFamily="2" charset="-78"/>
              </a:rPr>
              <a:t> </a:t>
            </a:r>
            <a:pPr rtl="1" algn="ctr" indent="0" marL="0">
              <a:buNone/>
            </a:pPr>
            <a:r>
              <a:rPr lang="ar-SA" altLang="en-US" sz="2100" b="1" dirty="0">
                <a:solidFill>
                  <a:srgbClr val="0E7C86"/>
                </a:solidFill>
                <a:latin typeface="Amiri" pitchFamily="2" charset="-78"/>
                <a:ea typeface="Amiri" pitchFamily="2" charset="-78"/>
                <a:cs typeface="Amiri" pitchFamily="2" charset="-78"/>
              </a:rPr>
              <a:t>مِنَ</a:t>
            </a:r>
            <a:pPr rtl="1" algn="ctr" indent="0" marL="0">
              <a:buNone/>
            </a:pPr>
            <a:r>
              <a:rPr lang="ar-SA" altLang="en-US" sz="2100" b="1" dirty="0">
                <a:solidFill>
                  <a:srgbClr val="1B3B6F"/>
                </a:solidFill>
                <a:latin typeface="Amiri" pitchFamily="2" charset="-78"/>
                <a:ea typeface="Amiri" pitchFamily="2" charset="-78"/>
                <a:cs typeface="Amiri" pitchFamily="2" charset="-78"/>
              </a:rPr>
              <a:t> الحَجَرِ</a:t>
            </a:r>
            <a:endParaRPr lang="ar-SA" sz="2100" dirty="0"/>
          </a:p>
        </p:txBody>
      </p:sp>
      <p:sp>
        <p:nvSpPr>
          <p:cNvPr id="38" name="Text 35"/>
          <p:cNvSpPr txBox="1"/>
          <p:nvPr/>
        </p:nvSpPr>
        <p:spPr>
          <a:xfrm>
            <a:off x="5102352" y="4279392"/>
            <a:ext cx="43891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house is built of stone (website)</a:t>
            </a:r>
            <a:endParaRPr lang="en-US" sz="950" dirty="0"/>
          </a:p>
        </p:txBody>
      </p:sp>
      <p:sp>
        <p:nvSpPr>
          <p:cNvPr id="39" name="Text 36"/>
          <p:cNvSpPr txBox="1"/>
          <p:nvPr/>
        </p:nvSpPr>
        <p:spPr>
          <a:xfrm>
            <a:off x="548640" y="3858768"/>
            <a:ext cx="441655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المَدْرَسَةُ </a:t>
            </a:r>
            <a:pPr rtl="1" algn="ctr" indent="0" marL="0">
              <a:buNone/>
            </a:pPr>
            <a:r>
              <a:rPr lang="ar-SA" altLang="en-US" sz="2100" b="1" dirty="0">
                <a:solidFill>
                  <a:srgbClr val="7B3FA0"/>
                </a:solidFill>
                <a:latin typeface="Amiri" pitchFamily="2" charset="-78"/>
                <a:ea typeface="Amiri" pitchFamily="2" charset="-78"/>
                <a:cs typeface="Amiri" pitchFamily="2" charset="-78"/>
              </a:rPr>
              <a:t>مَبْنِيَّ</a:t>
            </a:r>
            <a:pPr rtl="1" algn="ctr" indent="0" marL="0">
              <a:buNone/>
            </a:pPr>
            <a:r>
              <a:rPr lang="ar-SA" altLang="en-US" sz="2100" b="1" dirty="0">
                <a:solidFill>
                  <a:srgbClr val="D6336C"/>
                </a:solidFill>
                <a:latin typeface="Amiri" pitchFamily="2" charset="-78"/>
                <a:ea typeface="Amiri" pitchFamily="2" charset="-78"/>
                <a:cs typeface="Amiri" pitchFamily="2" charset="-78"/>
              </a:rPr>
              <a:t>ةٌ</a:t>
            </a:r>
            <a:pPr rtl="1" algn="ctr" indent="0" marL="0">
              <a:buNone/>
            </a:pPr>
            <a:r>
              <a:rPr lang="ar-SA" altLang="en-US" sz="2100" b="1" dirty="0">
                <a:solidFill>
                  <a:srgbClr val="1B3B6F"/>
                </a:solidFill>
                <a:latin typeface="Amiri" pitchFamily="2" charset="-78"/>
                <a:cs typeface="Amiri" pitchFamily="2" charset="-78"/>
              </a:rPr>
              <a:t> </a:t>
            </a:r>
            <a:pPr rtl="1" algn="ctr" indent="0" marL="0">
              <a:buNone/>
            </a:pPr>
            <a:r>
              <a:rPr lang="ar-SA" altLang="en-US" sz="2100" b="1" dirty="0">
                <a:solidFill>
                  <a:srgbClr val="0E7C86"/>
                </a:solidFill>
                <a:latin typeface="Amiri" pitchFamily="2" charset="-78"/>
                <a:ea typeface="Amiri" pitchFamily="2" charset="-78"/>
                <a:cs typeface="Amiri" pitchFamily="2" charset="-78"/>
              </a:rPr>
              <a:t>مِنَ</a:t>
            </a:r>
            <a:pPr rtl="1" algn="ctr" indent="0" marL="0">
              <a:buNone/>
            </a:pPr>
            <a:r>
              <a:rPr lang="ar-SA" altLang="en-US" sz="2100" b="1" dirty="0">
                <a:solidFill>
                  <a:srgbClr val="1B3B6F"/>
                </a:solidFill>
                <a:latin typeface="Amiri" pitchFamily="2" charset="-78"/>
                <a:ea typeface="Amiri" pitchFamily="2" charset="-78"/>
                <a:cs typeface="Amiri" pitchFamily="2" charset="-78"/>
              </a:rPr>
              <a:t> الطُّوبِ</a:t>
            </a:r>
            <a:endParaRPr lang="ar-SA" sz="2100" dirty="0"/>
          </a:p>
        </p:txBody>
      </p:sp>
      <p:sp>
        <p:nvSpPr>
          <p:cNvPr id="40" name="Text 37"/>
          <p:cNvSpPr txBox="1"/>
          <p:nvPr/>
        </p:nvSpPr>
        <p:spPr>
          <a:xfrm>
            <a:off x="502920" y="4279392"/>
            <a:ext cx="450799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school is built of brick (website)</a:t>
            </a:r>
            <a:endParaRPr lang="en-US" sz="950" dirty="0"/>
          </a:p>
        </p:txBody>
      </p:sp>
      <p:sp>
        <p:nvSpPr>
          <p:cNvPr id="41" name="Shape 3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2" name="Text 39"/>
          <p:cNvSpPr txBox="1"/>
          <p:nvPr/>
        </p:nvSpPr>
        <p:spPr>
          <a:xfrm>
            <a:off x="9646920" y="4626864"/>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plural of things</a:t>
            </a:r>
            <a:endParaRPr lang="en-US" sz="1100" dirty="0"/>
          </a:p>
        </p:txBody>
      </p:sp>
      <p:sp>
        <p:nvSpPr>
          <p:cNvPr id="43" name="Text 40"/>
          <p:cNvSpPr txBox="1"/>
          <p:nvPr/>
        </p:nvSpPr>
        <p:spPr>
          <a:xfrm>
            <a:off x="5148072" y="4645152"/>
            <a:ext cx="429768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الجِسْرُ </a:t>
            </a:r>
            <a:pPr rtl="1" algn="ctr" indent="0" marL="0">
              <a:buNone/>
            </a:pPr>
            <a:r>
              <a:rPr lang="ar-SA" altLang="en-US" sz="2100" b="1" dirty="0">
                <a:solidFill>
                  <a:srgbClr val="7B3FA0"/>
                </a:solidFill>
                <a:latin typeface="Amiri" pitchFamily="2" charset="-78"/>
                <a:ea typeface="Amiri" pitchFamily="2" charset="-78"/>
                <a:cs typeface="Amiri" pitchFamily="2" charset="-78"/>
              </a:rPr>
              <a:t>مَبْنِيٌّ</a:t>
            </a:r>
            <a:pPr rtl="1" algn="ctr" indent="0" marL="0">
              <a:buNone/>
            </a:pPr>
            <a:r>
              <a:rPr lang="ar-SA" altLang="en-US" sz="2100" b="1" dirty="0">
                <a:solidFill>
                  <a:srgbClr val="1B3B6F"/>
                </a:solidFill>
                <a:latin typeface="Amiri" pitchFamily="2" charset="-78"/>
                <a:cs typeface="Amiri" pitchFamily="2" charset="-78"/>
              </a:rPr>
              <a:t> </a:t>
            </a:r>
            <a:pPr rtl="1" algn="ctr" indent="0" marL="0">
              <a:buNone/>
            </a:pPr>
            <a:r>
              <a:rPr lang="ar-SA" altLang="en-US" sz="2100" b="1" dirty="0">
                <a:solidFill>
                  <a:srgbClr val="0E7C86"/>
                </a:solidFill>
                <a:latin typeface="Amiri" pitchFamily="2" charset="-78"/>
                <a:ea typeface="Amiri" pitchFamily="2" charset="-78"/>
                <a:cs typeface="Amiri" pitchFamily="2" charset="-78"/>
              </a:rPr>
              <a:t>مِنَ</a:t>
            </a:r>
            <a:pPr rtl="1" algn="ctr" indent="0" marL="0">
              <a:buNone/>
            </a:pPr>
            <a:r>
              <a:rPr lang="ar-SA" altLang="en-US" sz="2100" b="1" dirty="0">
                <a:solidFill>
                  <a:srgbClr val="1B3B6F"/>
                </a:solidFill>
                <a:latin typeface="Amiri" pitchFamily="2" charset="-78"/>
                <a:ea typeface="Amiri" pitchFamily="2" charset="-78"/>
                <a:cs typeface="Amiri" pitchFamily="2" charset="-78"/>
              </a:rPr>
              <a:t> المَعْدِنِ</a:t>
            </a:r>
            <a:endParaRPr lang="ar-SA" sz="2100" dirty="0"/>
          </a:p>
        </p:txBody>
      </p:sp>
      <p:sp>
        <p:nvSpPr>
          <p:cNvPr id="44" name="Text 41"/>
          <p:cNvSpPr txBox="1"/>
          <p:nvPr/>
        </p:nvSpPr>
        <p:spPr>
          <a:xfrm>
            <a:off x="5102352" y="5065776"/>
            <a:ext cx="43891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bridge is built of metal (website)</a:t>
            </a:r>
            <a:endParaRPr lang="en-US" sz="950" dirty="0"/>
          </a:p>
        </p:txBody>
      </p:sp>
      <p:sp>
        <p:nvSpPr>
          <p:cNvPr id="45" name="Text 42"/>
          <p:cNvSpPr txBox="1"/>
          <p:nvPr/>
        </p:nvSpPr>
        <p:spPr>
          <a:xfrm>
            <a:off x="548640" y="4645152"/>
            <a:ext cx="441655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المَبَانِي </a:t>
            </a:r>
            <a:pPr rtl="1" algn="ctr" indent="0" marL="0">
              <a:buNone/>
            </a:pPr>
            <a:r>
              <a:rPr lang="ar-SA" altLang="en-US" sz="2100" b="1" dirty="0">
                <a:solidFill>
                  <a:srgbClr val="7B3FA0"/>
                </a:solidFill>
                <a:latin typeface="Amiri" pitchFamily="2" charset="-78"/>
                <a:ea typeface="Amiri" pitchFamily="2" charset="-78"/>
                <a:cs typeface="Amiri" pitchFamily="2" charset="-78"/>
              </a:rPr>
              <a:t>مَبْنِيَّ</a:t>
            </a:r>
            <a:pPr rtl="1" algn="ctr" indent="0" marL="0">
              <a:buNone/>
            </a:pPr>
            <a:r>
              <a:rPr lang="ar-SA" altLang="en-US" sz="2100" b="1" dirty="0">
                <a:solidFill>
                  <a:srgbClr val="D6336C"/>
                </a:solidFill>
                <a:latin typeface="Amiri" pitchFamily="2" charset="-78"/>
                <a:ea typeface="Amiri" pitchFamily="2" charset="-78"/>
                <a:cs typeface="Amiri" pitchFamily="2" charset="-78"/>
              </a:rPr>
              <a:t>ةٌ</a:t>
            </a:r>
            <a:pPr rtl="1" algn="ctr" indent="0" marL="0">
              <a:buNone/>
            </a:pPr>
            <a:r>
              <a:rPr lang="ar-SA" altLang="en-US" sz="2100" b="1" dirty="0">
                <a:solidFill>
                  <a:srgbClr val="1B3B6F"/>
                </a:solidFill>
                <a:latin typeface="Amiri" pitchFamily="2" charset="-78"/>
                <a:cs typeface="Amiri" pitchFamily="2" charset="-78"/>
              </a:rPr>
              <a:t> </a:t>
            </a:r>
            <a:pPr rtl="1" algn="ctr" indent="0" marL="0">
              <a:buNone/>
            </a:pPr>
            <a:r>
              <a:rPr lang="ar-SA" altLang="en-US" sz="2100" b="1" dirty="0">
                <a:solidFill>
                  <a:srgbClr val="0E7C86"/>
                </a:solidFill>
                <a:latin typeface="Amiri" pitchFamily="2" charset="-78"/>
                <a:ea typeface="Amiri" pitchFamily="2" charset="-78"/>
                <a:cs typeface="Amiri" pitchFamily="2" charset="-78"/>
              </a:rPr>
              <a:t>مِنَ</a:t>
            </a:r>
            <a:pPr rtl="1" algn="ctr" indent="0" marL="0">
              <a:buNone/>
            </a:pPr>
            <a:r>
              <a:rPr lang="ar-SA" altLang="en-US" sz="2100" b="1" dirty="0">
                <a:solidFill>
                  <a:srgbClr val="1B3B6F"/>
                </a:solidFill>
                <a:latin typeface="Amiri" pitchFamily="2" charset="-78"/>
                <a:ea typeface="Amiri" pitchFamily="2" charset="-78"/>
                <a:cs typeface="Amiri" pitchFamily="2" charset="-78"/>
              </a:rPr>
              <a:t> الخَرَسَانَةِ</a:t>
            </a:r>
            <a:endParaRPr lang="ar-SA" sz="2100" dirty="0"/>
          </a:p>
        </p:txBody>
      </p:sp>
      <p:sp>
        <p:nvSpPr>
          <p:cNvPr id="46" name="Text 43"/>
          <p:cNvSpPr txBox="1"/>
          <p:nvPr/>
        </p:nvSpPr>
        <p:spPr>
          <a:xfrm>
            <a:off x="502920" y="5065776"/>
            <a:ext cx="450799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buildings are built of concrete (website)</a:t>
            </a:r>
            <a:endParaRPr lang="en-US" sz="9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TC-L10 · Measure, Shape, Material</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3 · USE AND SUITABILITY (TOPIC C FOCUS)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is it for? Is it suitable?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الاِسْتِعْمَالُ وَالمُلَاءَمَةُ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TC-L10</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303020" cy="274320"/>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8232648"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 · USED FOR</a:t>
            </a:r>
            <a:endParaRPr lang="en-US" sz="850" dirty="0"/>
          </a:p>
        </p:txBody>
      </p:sp>
      <p:sp>
        <p:nvSpPr>
          <p:cNvPr id="18" name="Text 15"/>
          <p:cNvSpPr txBox="1"/>
          <p:nvPr/>
        </p:nvSpPr>
        <p:spPr>
          <a:xfrm>
            <a:off x="9581388"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نَسْتَعْمِلُهُ لِـ</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نَسْتَعْمِلُ الزُّجَاجَةَ لِلْمَاءِ</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We use the bottle for water.</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ar-SA" altLang="en-US" sz="1450" dirty="0">
                <a:solidFill>
                  <a:srgbClr val="1F2A37"/>
                </a:solidFill>
                <a:latin typeface="Amiri" pitchFamily="2" charset="-78"/>
                <a:ea typeface="Amiri" pitchFamily="2" charset="-78"/>
                <a:cs typeface="Amiri" pitchFamily="2" charset="-78"/>
              </a:rPr>
              <a:t>لِـ</a:t>
            </a:r>
            <a:pPr algn="l" indent="0" marL="0">
              <a:buNone/>
            </a:pPr>
            <a:r>
              <a:rPr lang="en-US" sz="1100" dirty="0">
                <a:solidFill>
                  <a:srgbClr val="1F2A37"/>
                </a:solidFill>
                <a:latin typeface="Calibri" pitchFamily="34" charset="0"/>
                <a:cs typeface="Amiri" pitchFamily="2" charset="-78"/>
              </a:rPr>
              <a:t> + the = </a:t>
            </a:r>
            <a:pPr algn="l" indent="0" marL="0">
              <a:buNone/>
            </a:pPr>
            <a:r>
              <a:rPr lang="ar-SA" altLang="en-US" sz="1450" dirty="0">
                <a:solidFill>
                  <a:srgbClr val="1F2A37"/>
                </a:solidFill>
                <a:latin typeface="Amiri" pitchFamily="2" charset="-78"/>
                <a:ea typeface="Amiri" pitchFamily="2" charset="-78"/>
                <a:cs typeface="Amiri" pitchFamily="2" charset="-78"/>
              </a:rPr>
              <a:t>لِلْـ</a:t>
            </a:r>
            <a:pPr algn="l" indent="0" marL="0">
              <a:buNone/>
            </a:pPr>
            <a:r>
              <a:rPr lang="en-US" sz="1100" dirty="0">
                <a:solidFill>
                  <a:srgbClr val="1F2A37"/>
                </a:solidFill>
                <a:latin typeface="Calibri" pitchFamily="34" charset="0"/>
                <a:cs typeface="Amiri" pitchFamily="2" charset="-78"/>
              </a:rPr>
              <a:t>: </a:t>
            </a:r>
            <a:pPr algn="l" indent="0" marL="0">
              <a:buNone/>
            </a:pPr>
            <a:r>
              <a:rPr lang="ar-SA" altLang="en-US" sz="1450" dirty="0">
                <a:solidFill>
                  <a:srgbClr val="1F2A37"/>
                </a:solidFill>
                <a:latin typeface="Amiri" pitchFamily="2" charset="-78"/>
                <a:ea typeface="Amiri" pitchFamily="2" charset="-78"/>
                <a:cs typeface="Amiri" pitchFamily="2" charset="-78"/>
              </a:rPr>
              <a:t>لِلْمَاءِ</a:t>
            </a:r>
            <a:pPr algn="l" indent="0" marL="0">
              <a:buNone/>
            </a:pPr>
            <a:r>
              <a:rPr lang="en-US" sz="1100" dirty="0">
                <a:solidFill>
                  <a:srgbClr val="1F2A37"/>
                </a:solidFill>
                <a:latin typeface="Calibri" pitchFamily="34" charset="0"/>
                <a:cs typeface="Amiri" pitchFamily="2" charset="-78"/>
              </a:rPr>
              <a:t> · </a:t>
            </a:r>
            <a:pPr algn="l" indent="0" marL="0">
              <a:buNone/>
            </a:pPr>
            <a:r>
              <a:rPr lang="ar-SA" altLang="en-US" sz="1450" dirty="0">
                <a:solidFill>
                  <a:srgbClr val="1F2A37"/>
                </a:solidFill>
                <a:latin typeface="Amiri" pitchFamily="2" charset="-78"/>
                <a:ea typeface="Amiri" pitchFamily="2" charset="-78"/>
                <a:cs typeface="Amiri" pitchFamily="2" charset="-78"/>
              </a:rPr>
              <a:t>لِلدِّرَاسَةِ</a:t>
            </a:r>
            <a:pPr algn="l" indent="0" marL="0">
              <a:buNone/>
            </a:pPr>
            <a:r>
              <a:rPr lang="en-US" sz="1100" dirty="0">
                <a:solidFill>
                  <a:srgbClr val="1F2A37"/>
                </a:solidFill>
                <a:latin typeface="Calibri" pitchFamily="34" charset="0"/>
                <a:cs typeface="Amiri" pitchFamily="2" charset="-78"/>
              </a:rPr>
              <a: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783080" cy="274320"/>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13504" y="1920240"/>
            <a:ext cx="17830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 · SUITABLE FOR</a:t>
            </a:r>
            <a:endParaRPr lang="en-US" sz="850" dirty="0"/>
          </a:p>
        </p:txBody>
      </p:sp>
      <p:sp>
        <p:nvSpPr>
          <p:cNvPr id="26" name="Text 23"/>
          <p:cNvSpPr txBox="1"/>
          <p:nvPr/>
        </p:nvSpPr>
        <p:spPr>
          <a:xfrm>
            <a:off x="6242304" y="1874520"/>
            <a:ext cx="15331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مُنَاسِبٌ لِـ</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450" b="1" dirty="0">
                <a:solidFill>
                  <a:srgbClr val="1B3B6F"/>
                </a:solidFill>
                <a:latin typeface="Amiri" pitchFamily="2" charset="-78"/>
                <a:ea typeface="Amiri" pitchFamily="2" charset="-78"/>
                <a:cs typeface="Amiri" pitchFamily="2" charset="-78"/>
              </a:rPr>
              <a:t>الخَشَبُ مُنَاسِبٌ لِلْأَثَاثِ لِأَنَّهُ قَوِيٌّ</a:t>
            </a:r>
            <a:endParaRPr lang="ar-SA" sz="24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Wood is suitable for furniture because it is strong.</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ar-SA" altLang="en-US" sz="1450" dirty="0">
                <a:solidFill>
                  <a:srgbClr val="1F2A37"/>
                </a:solidFill>
                <a:latin typeface="Amiri" pitchFamily="2" charset="-78"/>
                <a:ea typeface="Amiri" pitchFamily="2" charset="-78"/>
                <a:cs typeface="Amiri" pitchFamily="2" charset="-78"/>
              </a:rPr>
              <a:t>مُنَاسِبٌ / مُنَاسِبَةٌ</a:t>
            </a:r>
            <a:pPr algn="l" indent="0" marL="0">
              <a:buNone/>
            </a:pPr>
            <a:r>
              <a:rPr lang="en-US" sz="1100" dirty="0">
                <a:solidFill>
                  <a:srgbClr val="1F2A37"/>
                </a:solidFill>
                <a:latin typeface="Calibri" pitchFamily="34" charset="0"/>
                <a:cs typeface="Amiri" pitchFamily="2" charset="-78"/>
              </a:rPr>
              <a:t> agrees too; add a reason with </a:t>
            </a:r>
            <a:pPr algn="l" indent="0" marL="0">
              <a:buNone/>
            </a:pPr>
            <a:r>
              <a:rPr lang="ar-SA" altLang="en-US" sz="1450" dirty="0">
                <a:solidFill>
                  <a:srgbClr val="1F2A37"/>
                </a:solidFill>
                <a:latin typeface="Amiri" pitchFamily="2" charset="-78"/>
                <a:ea typeface="Amiri" pitchFamily="2" charset="-78"/>
                <a:cs typeface="Amiri" pitchFamily="2" charset="-78"/>
              </a:rPr>
              <a:t>لِأَنَّ</a:t>
            </a:r>
            <a:pPr algn="l" indent="0" marL="0">
              <a:buNone/>
            </a:pPr>
            <a:r>
              <a:rPr lang="en-US" sz="1100" dirty="0">
                <a:solidFill>
                  <a:srgbClr val="1F2A37"/>
                </a:solidFill>
                <a:latin typeface="Calibri" pitchFamily="34" charset="0"/>
                <a:cs typeface="Amiri" pitchFamily="2" charset="-78"/>
              </a:rPr>
              <a:t>.</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77340" cy="274320"/>
          </a:xfrm>
          <a:prstGeom prst="roundRect">
            <a:avLst>
              <a:gd name="adj" fmla="val 50000"/>
            </a:avLst>
          </a:prstGeom>
          <a:solidFill>
            <a:srgbClr val="0E7C86"/>
          </a:solidFill>
          <a:ln w="12700">
            <a:solidFill>
              <a:srgbClr val="0E7C86"/>
            </a:solidFill>
            <a:prstDash val="solid"/>
          </a:ln>
        </p:spPr>
      </p:sp>
      <p:sp>
        <p:nvSpPr>
          <p:cNvPr id="33" name="Text 30"/>
          <p:cNvSpPr txBox="1"/>
          <p:nvPr/>
        </p:nvSpPr>
        <p:spPr>
          <a:xfrm>
            <a:off x="594360"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 · KNOWN FOR</a:t>
            </a:r>
            <a:endParaRPr lang="en-US" sz="850" dirty="0"/>
          </a:p>
        </p:txBody>
      </p:sp>
      <p:sp>
        <p:nvSpPr>
          <p:cNvPr id="34" name="Text 31"/>
          <p:cNvSpPr txBox="1"/>
          <p:nvPr/>
        </p:nvSpPr>
        <p:spPr>
          <a:xfrm>
            <a:off x="2217420"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يَتَمَيَّزُ / تَتَمَيَّزُ بِـ</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تَتَمَيَّزُ القَرْيَةُ بِبُيُوتِهَا التَّقْلِيدِيَّةِ</a:t>
            </a:r>
            <a:endParaRPr lang="ar-SA" sz="2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village is known for its traditional houses.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Feminine subject → </a:t>
            </a:r>
            <a:pPr algn="l" indent="0" marL="0">
              <a:buNone/>
            </a:pPr>
            <a:r>
              <a:rPr lang="ar-SA" altLang="en-US" sz="1450" dirty="0">
                <a:solidFill>
                  <a:srgbClr val="1F2A37"/>
                </a:solidFill>
                <a:latin typeface="Amiri" pitchFamily="2" charset="-78"/>
                <a:ea typeface="Amiri" pitchFamily="2" charset="-78"/>
                <a:cs typeface="Amiri" pitchFamily="2" charset="-78"/>
              </a:rPr>
              <a:t>تَتَمَيَّزُ</a:t>
            </a:r>
            <a:pPr algn="l" indent="0" marL="0">
              <a:buNone/>
            </a:pPr>
            <a:r>
              <a:rPr lang="en-US" sz="1100" dirty="0">
                <a:solidFill>
                  <a:srgbClr val="1F2A37"/>
                </a:solidFill>
                <a:latin typeface="Calibri" pitchFamily="34" charset="0"/>
                <a:cs typeface="Amiri" pitchFamily="2" charset="-78"/>
              </a:rPr>
              <a:t>; the feature always after </a:t>
            </a:r>
            <a:pPr algn="l" indent="0" marL="0">
              <a:buNone/>
            </a:pPr>
            <a:r>
              <a:rPr lang="ar-SA" altLang="en-US" sz="1450" dirty="0">
                <a:solidFill>
                  <a:srgbClr val="1F2A37"/>
                </a:solidFill>
                <a:latin typeface="Amiri" pitchFamily="2" charset="-78"/>
                <a:ea typeface="Amiri" pitchFamily="2" charset="-78"/>
                <a:cs typeface="Amiri" pitchFamily="2" charset="-78"/>
              </a:rPr>
              <a:t>بِـ</a:t>
            </a:r>
            <a:pPr algn="l" indent="0" marL="0">
              <a:buNone/>
            </a:pPr>
            <a:r>
              <a:rPr lang="en-US" sz="1100" dirty="0">
                <a:solidFill>
                  <a:srgbClr val="1F2A37"/>
                </a:solidFill>
                <a:latin typeface="Calibri" pitchFamily="34" charset="0"/>
                <a:cs typeface="Amiri" pitchFamily="2" charset="-78"/>
              </a:rPr>
              <a:t> (website).</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The website’s common mistakes: the verb or the participle not agreeing with a feminine noun.</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500" b="1" dirty="0">
                <a:solidFill>
                  <a:srgbClr val="1B3B6F"/>
                </a:solidFill>
                <a:latin typeface="Amiri" pitchFamily="2" charset="-78"/>
                <a:ea typeface="Amiri" pitchFamily="2" charset="-78"/>
                <a:cs typeface="Amiri" pitchFamily="2" charset="-78"/>
              </a:rPr>
              <a:t>العِمَارَةُ مَبْنِيَّةٌ</a:t>
            </a:r>
            <a:endParaRPr lang="ar-SA" sz="25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2" charset="-78"/>
                <a:ea typeface="Amiri" pitchFamily="2" charset="-78"/>
                <a:cs typeface="Amiri" pitchFamily="2" charset="-78"/>
              </a:rPr>
              <a:t>العِمَارَةُ مَبْنِيٌّ</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626364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تَتَمَيَّزُ القَرْيَةُ</a:t>
            </a:r>
            <a:endParaRPr lang="ar-SA" sz="2600" dirty="0"/>
          </a:p>
        </p:txBody>
      </p:sp>
      <p:sp>
        <p:nvSpPr>
          <p:cNvPr id="47" name="Text 44"/>
          <p:cNvSpPr txBox="1"/>
          <p:nvPr/>
        </p:nvSpPr>
        <p:spPr>
          <a:xfrm>
            <a:off x="589788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8" name="Text 45"/>
          <p:cNvSpPr txBox="1"/>
          <p:nvPr/>
        </p:nvSpPr>
        <p:spPr>
          <a:xfrm>
            <a:off x="429768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2" charset="-78"/>
                <a:ea typeface="Amiri" pitchFamily="2" charset="-78"/>
                <a:cs typeface="Amiri" pitchFamily="2" charset="-78"/>
              </a:rPr>
              <a:t>يَتَمَيَّزُ القَرْيَةُ</a:t>
            </a:r>
            <a:endParaRPr lang="ar-SA" sz="2600" dirty="0"/>
          </a:p>
        </p:txBody>
      </p:sp>
      <p:sp>
        <p:nvSpPr>
          <p:cNvPr id="49" name="Shape 46"/>
          <p:cNvSpPr/>
          <p:nvPr/>
        </p:nvSpPr>
        <p:spPr>
          <a:xfrm>
            <a:off x="4434840" y="5669280"/>
            <a:ext cx="1371600" cy="0"/>
          </a:xfrm>
          <a:prstGeom prst="line">
            <a:avLst/>
          </a:prstGeom>
          <a:noFill/>
          <a:ln w="25400">
            <a:solidFill>
              <a:srgbClr val="B83227"/>
            </a:solidFill>
            <a:prstDash val="solid"/>
          </a:ln>
        </p:spPr>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TC-L10 · Measure, Shape, Material</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4 · FLEX · CONTRAST (WEBSITE)</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Old and new: whereas …</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بَيْنَمَا</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TC-L10</a:t>
            </a:r>
            <a:endParaRPr lang="en-US" sz="850" dirty="0"/>
          </a:p>
        </p:txBody>
      </p:sp>
      <p:sp>
        <p:nvSpPr>
          <p:cNvPr id="17" name="Text 14"/>
          <p:cNvSpPr txBox="1"/>
          <p:nvPr/>
        </p:nvSpPr>
        <p:spPr>
          <a:xfrm>
            <a:off x="457200" y="1828800"/>
            <a:ext cx="3017520" cy="566928"/>
          </a:xfrm>
          <a:prstGeom prst="rect">
            <a:avLst/>
          </a:prstGeom>
          <a:noFill/>
          <a:ln/>
        </p:spPr>
        <p:txBody>
          <a:bodyPr wrap="square" lIns="0" tIns="0" rIns="0" bIns="0" rtlCol="0" anchor="ctr"/>
          <a:lstStyle/>
          <a:p>
            <a:pPr algn="l" indent="0" marL="0">
              <a:buNone/>
            </a:pPr>
            <a:r>
              <a:rPr lang="en-US" sz="1100" b="1" dirty="0">
                <a:solidFill>
                  <a:srgbClr val="5A6472"/>
                </a:solidFill>
                <a:latin typeface="Calibri" pitchFamily="34" charset="0"/>
                <a:cs typeface="Amiri" pitchFamily="2" charset="-78"/>
              </a:rPr>
              <a:t>English meaning</a:t>
            </a:r>
            <a:endParaRPr lang="en-US" sz="1100" dirty="0"/>
          </a:p>
        </p:txBody>
      </p:sp>
      <p:sp>
        <p:nvSpPr>
          <p:cNvPr id="18" name="Shape 15"/>
          <p:cNvSpPr/>
          <p:nvPr/>
        </p:nvSpPr>
        <p:spPr>
          <a:xfrm>
            <a:off x="9089136" y="1810512"/>
            <a:ext cx="2642616" cy="566928"/>
          </a:xfrm>
          <a:prstGeom prst="roundRect">
            <a:avLst>
              <a:gd name="adj" fmla="val 9677"/>
            </a:avLst>
          </a:prstGeom>
          <a:solidFill>
            <a:srgbClr val="1B3B6F"/>
          </a:solidFill>
          <a:ln w="12700">
            <a:solidFill>
              <a:srgbClr val="1B3B6F"/>
            </a:solidFill>
            <a:prstDash val="solid"/>
          </a:ln>
        </p:spPr>
      </p:sp>
      <p:sp>
        <p:nvSpPr>
          <p:cNvPr id="19" name="Text 16"/>
          <p:cNvSpPr txBox="1"/>
          <p:nvPr/>
        </p:nvSpPr>
        <p:spPr>
          <a:xfrm>
            <a:off x="9089136"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2" charset="-78"/>
                <a:ea typeface="Amiri" pitchFamily="2" charset="-78"/>
                <a:cs typeface="Amiri" pitchFamily="2" charset="-78"/>
              </a:rPr>
              <a:t>الفِكْرَةُ الأُولَى</a:t>
            </a:r>
            <a:endParaRPr lang="ar-SA" sz="1850" dirty="0"/>
          </a:p>
        </p:txBody>
      </p:sp>
      <p:sp>
        <p:nvSpPr>
          <p:cNvPr id="20" name="Text 17"/>
          <p:cNvSpPr txBox="1"/>
          <p:nvPr/>
        </p:nvSpPr>
        <p:spPr>
          <a:xfrm>
            <a:off x="9089136"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cs typeface="Amiri" pitchFamily="2" charset="-78"/>
              </a:rPr>
              <a:t>idea 1 (complete)</a:t>
            </a:r>
            <a:endParaRPr lang="en-US" sz="900" dirty="0"/>
          </a:p>
        </p:txBody>
      </p:sp>
      <p:sp>
        <p:nvSpPr>
          <p:cNvPr id="21" name="Shape 18"/>
          <p:cNvSpPr/>
          <p:nvPr/>
        </p:nvSpPr>
        <p:spPr>
          <a:xfrm>
            <a:off x="6336792" y="1810512"/>
            <a:ext cx="2642616" cy="566928"/>
          </a:xfrm>
          <a:prstGeom prst="roundRect">
            <a:avLst>
              <a:gd name="adj" fmla="val 9677"/>
            </a:avLst>
          </a:prstGeom>
          <a:solidFill>
            <a:srgbClr val="0E7C86"/>
          </a:solidFill>
          <a:ln w="12700">
            <a:solidFill>
              <a:srgbClr val="0E7C86"/>
            </a:solidFill>
            <a:prstDash val="solid"/>
          </a:ln>
        </p:spPr>
      </p:sp>
      <p:sp>
        <p:nvSpPr>
          <p:cNvPr id="22" name="Text 19"/>
          <p:cNvSpPr txBox="1"/>
          <p:nvPr/>
        </p:nvSpPr>
        <p:spPr>
          <a:xfrm>
            <a:off x="6336792"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2" charset="-78"/>
                <a:ea typeface="Amiri" pitchFamily="2" charset="-78"/>
                <a:cs typeface="Amiri" pitchFamily="2" charset="-78"/>
              </a:rPr>
              <a:t>بَيْنَمَا</a:t>
            </a:r>
            <a:endParaRPr lang="ar-SA" sz="1850" dirty="0"/>
          </a:p>
        </p:txBody>
      </p:sp>
      <p:sp>
        <p:nvSpPr>
          <p:cNvPr id="23" name="Text 20"/>
          <p:cNvSpPr txBox="1"/>
          <p:nvPr/>
        </p:nvSpPr>
        <p:spPr>
          <a:xfrm>
            <a:off x="6336792"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cs typeface="Amiri" pitchFamily="2" charset="-78"/>
              </a:rPr>
              <a:t>whereas (key word)</a:t>
            </a:r>
            <a:endParaRPr lang="en-US" sz="900" dirty="0"/>
          </a:p>
        </p:txBody>
      </p:sp>
      <p:sp>
        <p:nvSpPr>
          <p:cNvPr id="24" name="Shape 21"/>
          <p:cNvSpPr/>
          <p:nvPr/>
        </p:nvSpPr>
        <p:spPr>
          <a:xfrm>
            <a:off x="3584448" y="1810512"/>
            <a:ext cx="2642616" cy="566928"/>
          </a:xfrm>
          <a:prstGeom prst="roundRect">
            <a:avLst>
              <a:gd name="adj" fmla="val 9677"/>
            </a:avLst>
          </a:prstGeom>
          <a:solidFill>
            <a:srgbClr val="8A6D1E"/>
          </a:solidFill>
          <a:ln w="12700">
            <a:solidFill>
              <a:srgbClr val="8A6D1E"/>
            </a:solidFill>
            <a:prstDash val="solid"/>
          </a:ln>
        </p:spPr>
      </p:sp>
      <p:sp>
        <p:nvSpPr>
          <p:cNvPr id="25" name="Text 22"/>
          <p:cNvSpPr txBox="1"/>
          <p:nvPr/>
        </p:nvSpPr>
        <p:spPr>
          <a:xfrm>
            <a:off x="3584448"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2" charset="-78"/>
                <a:ea typeface="Amiri" pitchFamily="2" charset="-78"/>
                <a:cs typeface="Amiri" pitchFamily="2" charset="-78"/>
              </a:rPr>
              <a:t>الفِكْرَةُ الثَّانِيَةُ</a:t>
            </a:r>
            <a:endParaRPr lang="ar-SA" sz="1850" dirty="0"/>
          </a:p>
        </p:txBody>
      </p:sp>
      <p:sp>
        <p:nvSpPr>
          <p:cNvPr id="26" name="Text 23"/>
          <p:cNvSpPr txBox="1"/>
          <p:nvPr/>
        </p:nvSpPr>
        <p:spPr>
          <a:xfrm>
            <a:off x="3584448"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cs typeface="Amiri" pitchFamily="2" charset="-78"/>
              </a:rPr>
              <a:t>idea 2 (complete, different)</a:t>
            </a:r>
            <a:endParaRPr lang="en-US" sz="900" dirty="0"/>
          </a:p>
        </p:txBody>
      </p:sp>
      <p:sp>
        <p:nvSpPr>
          <p:cNvPr id="27" name="Text 24"/>
          <p:cNvSpPr txBox="1"/>
          <p:nvPr/>
        </p:nvSpPr>
        <p:spPr>
          <a:xfrm>
            <a:off x="457200" y="2487168"/>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The city is crowded, whereas the village is quiet.</a:t>
            </a:r>
            <a:endParaRPr lang="en-US" sz="1200" dirty="0"/>
          </a:p>
        </p:txBody>
      </p:sp>
      <p:sp>
        <p:nvSpPr>
          <p:cNvPr id="28" name="Shape 25"/>
          <p:cNvSpPr/>
          <p:nvPr/>
        </p:nvSpPr>
        <p:spPr>
          <a:xfrm>
            <a:off x="9089136" y="2487168"/>
            <a:ext cx="2642616" cy="768096"/>
          </a:xfrm>
          <a:prstGeom prst="roundRect">
            <a:avLst>
              <a:gd name="adj" fmla="val 7143"/>
            </a:avLst>
          </a:prstGeom>
          <a:solidFill>
            <a:srgbClr val="EEF3FA"/>
          </a:solidFill>
          <a:ln w="9525">
            <a:solidFill>
              <a:srgbClr val="EEF3FA"/>
            </a:solidFill>
            <a:prstDash val="solid"/>
          </a:ln>
        </p:spPr>
      </p:sp>
      <p:sp>
        <p:nvSpPr>
          <p:cNvPr id="29" name="Text 26"/>
          <p:cNvSpPr txBox="1"/>
          <p:nvPr/>
        </p:nvSpPr>
        <p:spPr>
          <a:xfrm>
            <a:off x="9162288"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المَدِينَةُ مُكْتَظَّةٌ،</a:t>
            </a:r>
            <a:endParaRPr lang="ar-SA" sz="2400" dirty="0"/>
          </a:p>
        </p:txBody>
      </p:sp>
      <p:sp>
        <p:nvSpPr>
          <p:cNvPr id="30" name="Shape 27"/>
          <p:cNvSpPr/>
          <p:nvPr/>
        </p:nvSpPr>
        <p:spPr>
          <a:xfrm>
            <a:off x="6336792" y="2487168"/>
            <a:ext cx="2642616" cy="768096"/>
          </a:xfrm>
          <a:prstGeom prst="roundRect">
            <a:avLst>
              <a:gd name="adj" fmla="val 7143"/>
            </a:avLst>
          </a:prstGeom>
          <a:solidFill>
            <a:srgbClr val="E3F2F3"/>
          </a:solidFill>
          <a:ln w="9525">
            <a:solidFill>
              <a:srgbClr val="E3F2F3"/>
            </a:solidFill>
            <a:prstDash val="solid"/>
          </a:ln>
        </p:spPr>
      </p:sp>
      <p:sp>
        <p:nvSpPr>
          <p:cNvPr id="31" name="Text 28"/>
          <p:cNvSpPr txBox="1"/>
          <p:nvPr/>
        </p:nvSpPr>
        <p:spPr>
          <a:xfrm>
            <a:off x="6409944"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بَيْنَمَا</a:t>
            </a:r>
            <a:endParaRPr lang="ar-SA" sz="2400" dirty="0"/>
          </a:p>
        </p:txBody>
      </p:sp>
      <p:sp>
        <p:nvSpPr>
          <p:cNvPr id="32" name="Shape 29"/>
          <p:cNvSpPr/>
          <p:nvPr/>
        </p:nvSpPr>
        <p:spPr>
          <a:xfrm>
            <a:off x="3584448" y="2487168"/>
            <a:ext cx="2642616" cy="768096"/>
          </a:xfrm>
          <a:prstGeom prst="roundRect">
            <a:avLst>
              <a:gd name="adj" fmla="val 7143"/>
            </a:avLst>
          </a:prstGeom>
          <a:solidFill>
            <a:srgbClr val="F8F0DC"/>
          </a:solidFill>
          <a:ln w="9525">
            <a:solidFill>
              <a:srgbClr val="F8F0DC"/>
            </a:solidFill>
            <a:prstDash val="solid"/>
          </a:ln>
        </p:spPr>
      </p:sp>
      <p:sp>
        <p:nvSpPr>
          <p:cNvPr id="33" name="Text 30"/>
          <p:cNvSpPr txBox="1"/>
          <p:nvPr/>
        </p:nvSpPr>
        <p:spPr>
          <a:xfrm>
            <a:off x="3657600"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القَرْيَةُ هَادِئَةٌ</a:t>
            </a:r>
            <a:endParaRPr lang="ar-SA" sz="2400" dirty="0"/>
          </a:p>
        </p:txBody>
      </p:sp>
      <p:sp>
        <p:nvSpPr>
          <p:cNvPr id="34" name="Text 31"/>
          <p:cNvSpPr txBox="1"/>
          <p:nvPr/>
        </p:nvSpPr>
        <p:spPr>
          <a:xfrm>
            <a:off x="457200" y="3364992"/>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The city is dense, whereas the countryside is spacious.</a:t>
            </a:r>
            <a:endParaRPr lang="en-US" sz="1200" dirty="0"/>
          </a:p>
        </p:txBody>
      </p:sp>
      <p:sp>
        <p:nvSpPr>
          <p:cNvPr id="35" name="Shape 32"/>
          <p:cNvSpPr/>
          <p:nvPr/>
        </p:nvSpPr>
        <p:spPr>
          <a:xfrm>
            <a:off x="9089136" y="3364992"/>
            <a:ext cx="2642616" cy="768096"/>
          </a:xfrm>
          <a:prstGeom prst="roundRect">
            <a:avLst>
              <a:gd name="adj" fmla="val 7143"/>
            </a:avLst>
          </a:prstGeom>
          <a:solidFill>
            <a:srgbClr val="EEF3FA"/>
          </a:solidFill>
          <a:ln w="9525">
            <a:solidFill>
              <a:srgbClr val="EEF3FA"/>
            </a:solidFill>
            <a:prstDash val="solid"/>
          </a:ln>
        </p:spPr>
      </p:sp>
      <p:sp>
        <p:nvSpPr>
          <p:cNvPr id="36" name="Text 33"/>
          <p:cNvSpPr txBox="1"/>
          <p:nvPr/>
        </p:nvSpPr>
        <p:spPr>
          <a:xfrm>
            <a:off x="9162288"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المَدِينَةُ مُكْتَظَّةٌ،</a:t>
            </a:r>
            <a:endParaRPr lang="ar-SA" sz="2400" dirty="0"/>
          </a:p>
        </p:txBody>
      </p:sp>
      <p:sp>
        <p:nvSpPr>
          <p:cNvPr id="37" name="Shape 34"/>
          <p:cNvSpPr/>
          <p:nvPr/>
        </p:nvSpPr>
        <p:spPr>
          <a:xfrm>
            <a:off x="6336792" y="3364992"/>
            <a:ext cx="2642616" cy="768096"/>
          </a:xfrm>
          <a:prstGeom prst="roundRect">
            <a:avLst>
              <a:gd name="adj" fmla="val 7143"/>
            </a:avLst>
          </a:prstGeom>
          <a:solidFill>
            <a:srgbClr val="E3F2F3"/>
          </a:solidFill>
          <a:ln w="9525">
            <a:solidFill>
              <a:srgbClr val="E3F2F3"/>
            </a:solidFill>
            <a:prstDash val="solid"/>
          </a:ln>
        </p:spPr>
      </p:sp>
      <p:sp>
        <p:nvSpPr>
          <p:cNvPr id="38" name="Text 35"/>
          <p:cNvSpPr txBox="1"/>
          <p:nvPr/>
        </p:nvSpPr>
        <p:spPr>
          <a:xfrm>
            <a:off x="6409944"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بَيْنَمَا</a:t>
            </a:r>
            <a:endParaRPr lang="ar-SA" sz="2400" dirty="0"/>
          </a:p>
        </p:txBody>
      </p:sp>
      <p:sp>
        <p:nvSpPr>
          <p:cNvPr id="39" name="Shape 36"/>
          <p:cNvSpPr/>
          <p:nvPr/>
        </p:nvSpPr>
        <p:spPr>
          <a:xfrm>
            <a:off x="3584448" y="3364992"/>
            <a:ext cx="2642616" cy="768096"/>
          </a:xfrm>
          <a:prstGeom prst="roundRect">
            <a:avLst>
              <a:gd name="adj" fmla="val 7143"/>
            </a:avLst>
          </a:prstGeom>
          <a:solidFill>
            <a:srgbClr val="F8F0DC"/>
          </a:solidFill>
          <a:ln w="9525">
            <a:solidFill>
              <a:srgbClr val="F8F0DC"/>
            </a:solidFill>
            <a:prstDash val="solid"/>
          </a:ln>
        </p:spPr>
      </p:sp>
      <p:sp>
        <p:nvSpPr>
          <p:cNvPr id="40" name="Text 37"/>
          <p:cNvSpPr txBox="1"/>
          <p:nvPr/>
        </p:nvSpPr>
        <p:spPr>
          <a:xfrm>
            <a:off x="3657600"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الرِّيفُ فَسِيحٌ</a:t>
            </a:r>
            <a:endParaRPr lang="ar-SA" sz="2400" dirty="0"/>
          </a:p>
        </p:txBody>
      </p:sp>
      <p:sp>
        <p:nvSpPr>
          <p:cNvPr id="41" name="Text 38"/>
          <p:cNvSpPr txBox="1"/>
          <p:nvPr/>
        </p:nvSpPr>
        <p:spPr>
          <a:xfrm>
            <a:off x="457200" y="4242816"/>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The house is traditional, whereas the block is modern.</a:t>
            </a:r>
            <a:endParaRPr lang="en-US" sz="1200" dirty="0"/>
          </a:p>
        </p:txBody>
      </p:sp>
      <p:sp>
        <p:nvSpPr>
          <p:cNvPr id="42" name="Shape 39"/>
          <p:cNvSpPr/>
          <p:nvPr/>
        </p:nvSpPr>
        <p:spPr>
          <a:xfrm>
            <a:off x="9089136" y="4242816"/>
            <a:ext cx="2642616" cy="768096"/>
          </a:xfrm>
          <a:prstGeom prst="roundRect">
            <a:avLst>
              <a:gd name="adj" fmla="val 7143"/>
            </a:avLst>
          </a:prstGeom>
          <a:solidFill>
            <a:srgbClr val="EEF3FA"/>
          </a:solidFill>
          <a:ln w="9525">
            <a:solidFill>
              <a:srgbClr val="EEF3FA"/>
            </a:solidFill>
            <a:prstDash val="solid"/>
          </a:ln>
        </p:spPr>
      </p:sp>
      <p:sp>
        <p:nvSpPr>
          <p:cNvPr id="43" name="Text 40"/>
          <p:cNvSpPr txBox="1"/>
          <p:nvPr/>
        </p:nvSpPr>
        <p:spPr>
          <a:xfrm>
            <a:off x="9162288"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البَيْتُ تَقْلِيدِيٌّ،</a:t>
            </a:r>
            <a:endParaRPr lang="ar-SA" sz="2400" dirty="0"/>
          </a:p>
        </p:txBody>
      </p:sp>
      <p:sp>
        <p:nvSpPr>
          <p:cNvPr id="44" name="Shape 41"/>
          <p:cNvSpPr/>
          <p:nvPr/>
        </p:nvSpPr>
        <p:spPr>
          <a:xfrm>
            <a:off x="6336792" y="4242816"/>
            <a:ext cx="2642616" cy="768096"/>
          </a:xfrm>
          <a:prstGeom prst="roundRect">
            <a:avLst>
              <a:gd name="adj" fmla="val 7143"/>
            </a:avLst>
          </a:prstGeom>
          <a:solidFill>
            <a:srgbClr val="E3F2F3"/>
          </a:solidFill>
          <a:ln w="9525">
            <a:solidFill>
              <a:srgbClr val="E3F2F3"/>
            </a:solidFill>
            <a:prstDash val="solid"/>
          </a:ln>
        </p:spPr>
      </p:sp>
      <p:sp>
        <p:nvSpPr>
          <p:cNvPr id="45" name="Text 42"/>
          <p:cNvSpPr txBox="1"/>
          <p:nvPr/>
        </p:nvSpPr>
        <p:spPr>
          <a:xfrm>
            <a:off x="6409944"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بَيْنَمَا</a:t>
            </a:r>
            <a:endParaRPr lang="ar-SA" sz="2400" dirty="0"/>
          </a:p>
        </p:txBody>
      </p:sp>
      <p:sp>
        <p:nvSpPr>
          <p:cNvPr id="46" name="Shape 43"/>
          <p:cNvSpPr/>
          <p:nvPr/>
        </p:nvSpPr>
        <p:spPr>
          <a:xfrm>
            <a:off x="3584448" y="4242816"/>
            <a:ext cx="2642616" cy="768096"/>
          </a:xfrm>
          <a:prstGeom prst="roundRect">
            <a:avLst>
              <a:gd name="adj" fmla="val 7143"/>
            </a:avLst>
          </a:prstGeom>
          <a:solidFill>
            <a:srgbClr val="F8F0DC"/>
          </a:solidFill>
          <a:ln w="9525">
            <a:solidFill>
              <a:srgbClr val="F8F0DC"/>
            </a:solidFill>
            <a:prstDash val="solid"/>
          </a:ln>
        </p:spPr>
      </p:sp>
      <p:sp>
        <p:nvSpPr>
          <p:cNvPr id="47" name="Text 44"/>
          <p:cNvSpPr txBox="1"/>
          <p:nvPr/>
        </p:nvSpPr>
        <p:spPr>
          <a:xfrm>
            <a:off x="3657600"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العِمَارَةُ مُعَاصِرَةٌ</a:t>
            </a:r>
            <a:endParaRPr lang="ar-SA" sz="2400" dirty="0"/>
          </a:p>
        </p:txBody>
      </p:sp>
      <p:sp>
        <p:nvSpPr>
          <p:cNvPr id="48" name="Text 45"/>
          <p:cNvSpPr txBox="1"/>
          <p:nvPr/>
        </p:nvSpPr>
        <p:spPr>
          <a:xfrm>
            <a:off x="457200" y="5120640"/>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The old district is built of stone, whereas the new one is built of glass.</a:t>
            </a:r>
            <a:endParaRPr lang="en-US" sz="1200" dirty="0"/>
          </a:p>
        </p:txBody>
      </p:sp>
      <p:sp>
        <p:nvSpPr>
          <p:cNvPr id="49" name="Shape 46"/>
          <p:cNvSpPr/>
          <p:nvPr/>
        </p:nvSpPr>
        <p:spPr>
          <a:xfrm>
            <a:off x="9089136" y="5120640"/>
            <a:ext cx="2642616" cy="768096"/>
          </a:xfrm>
          <a:prstGeom prst="roundRect">
            <a:avLst>
              <a:gd name="adj" fmla="val 7143"/>
            </a:avLst>
          </a:prstGeom>
          <a:solidFill>
            <a:srgbClr val="EEF3FA"/>
          </a:solidFill>
          <a:ln w="9525">
            <a:solidFill>
              <a:srgbClr val="EEF3FA"/>
            </a:solidFill>
            <a:prstDash val="solid"/>
          </a:ln>
        </p:spPr>
      </p:sp>
      <p:sp>
        <p:nvSpPr>
          <p:cNvPr id="50" name="Text 47"/>
          <p:cNvSpPr txBox="1"/>
          <p:nvPr/>
        </p:nvSpPr>
        <p:spPr>
          <a:xfrm>
            <a:off x="9162288" y="5120640"/>
            <a:ext cx="2496312" cy="768096"/>
          </a:xfrm>
          <a:prstGeom prst="rect">
            <a:avLst/>
          </a:prstGeom>
          <a:noFill/>
          <a:ln/>
        </p:spPr>
        <p:txBody>
          <a:bodyPr wrap="square" lIns="0" tIns="0" rIns="0" bIns="0" rtlCol="0" anchor="ctr"/>
          <a:lstStyle/>
          <a:p>
            <a:pPr rtl="1" algn="ctr" indent="0" marL="0">
              <a:buNone/>
            </a:pPr>
            <a:r>
              <a:rPr lang="ar-SA" altLang="en-US" sz="1850" b="1" dirty="0">
                <a:solidFill>
                  <a:srgbClr val="1B3B6F"/>
                </a:solidFill>
                <a:latin typeface="Amiri" pitchFamily="2" charset="-78"/>
                <a:ea typeface="Amiri" pitchFamily="2" charset="-78"/>
                <a:cs typeface="Amiri" pitchFamily="2" charset="-78"/>
              </a:rPr>
              <a:t>الحَيُّ القَدِيمُ مَبْنِيٌّ مِنَ الحَجَرِ،</a:t>
            </a:r>
            <a:endParaRPr lang="ar-SA" sz="1850" dirty="0"/>
          </a:p>
        </p:txBody>
      </p:sp>
      <p:sp>
        <p:nvSpPr>
          <p:cNvPr id="51" name="Shape 48"/>
          <p:cNvSpPr/>
          <p:nvPr/>
        </p:nvSpPr>
        <p:spPr>
          <a:xfrm>
            <a:off x="6336792" y="5120640"/>
            <a:ext cx="2642616" cy="768096"/>
          </a:xfrm>
          <a:prstGeom prst="roundRect">
            <a:avLst>
              <a:gd name="adj" fmla="val 7143"/>
            </a:avLst>
          </a:prstGeom>
          <a:solidFill>
            <a:srgbClr val="E3F2F3"/>
          </a:solidFill>
          <a:ln w="9525">
            <a:solidFill>
              <a:srgbClr val="E3F2F3"/>
            </a:solidFill>
            <a:prstDash val="solid"/>
          </a:ln>
        </p:spPr>
      </p:sp>
      <p:sp>
        <p:nvSpPr>
          <p:cNvPr id="52" name="Text 49"/>
          <p:cNvSpPr txBox="1"/>
          <p:nvPr/>
        </p:nvSpPr>
        <p:spPr>
          <a:xfrm>
            <a:off x="6409944"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بَيْنَمَا</a:t>
            </a:r>
            <a:endParaRPr lang="ar-SA" sz="2400" dirty="0"/>
          </a:p>
        </p:txBody>
      </p:sp>
      <p:sp>
        <p:nvSpPr>
          <p:cNvPr id="53" name="Shape 50"/>
          <p:cNvSpPr/>
          <p:nvPr/>
        </p:nvSpPr>
        <p:spPr>
          <a:xfrm>
            <a:off x="3584448" y="5120640"/>
            <a:ext cx="2642616" cy="768096"/>
          </a:xfrm>
          <a:prstGeom prst="roundRect">
            <a:avLst>
              <a:gd name="adj" fmla="val 7143"/>
            </a:avLst>
          </a:prstGeom>
          <a:solidFill>
            <a:srgbClr val="F8F0DC"/>
          </a:solidFill>
          <a:ln w="9525">
            <a:solidFill>
              <a:srgbClr val="F8F0DC"/>
            </a:solidFill>
            <a:prstDash val="solid"/>
          </a:ln>
        </p:spPr>
      </p:sp>
      <p:sp>
        <p:nvSpPr>
          <p:cNvPr id="54" name="Text 51"/>
          <p:cNvSpPr txBox="1"/>
          <p:nvPr/>
        </p:nvSpPr>
        <p:spPr>
          <a:xfrm>
            <a:off x="3657600" y="5120640"/>
            <a:ext cx="2496312" cy="768096"/>
          </a:xfrm>
          <a:prstGeom prst="rect">
            <a:avLst/>
          </a:prstGeom>
          <a:noFill/>
          <a:ln/>
        </p:spPr>
        <p:txBody>
          <a:bodyPr wrap="square" lIns="0" tIns="0" rIns="0" bIns="0" rtlCol="0" anchor="ctr"/>
          <a:lstStyle/>
          <a:p>
            <a:pPr rtl="1" algn="ctr" indent="0" marL="0">
              <a:buNone/>
            </a:pPr>
            <a:r>
              <a:rPr lang="ar-SA" altLang="en-US" sz="2350" b="1" dirty="0">
                <a:solidFill>
                  <a:srgbClr val="1B3B6F"/>
                </a:solidFill>
                <a:latin typeface="Amiri" pitchFamily="2" charset="-78"/>
                <a:ea typeface="Amiri" pitchFamily="2" charset="-78"/>
                <a:cs typeface="Amiri" pitchFamily="2" charset="-78"/>
              </a:rPr>
              <a:t>الجَدِيدُ مَبْنِيٌّ مِنَ الزُّجَاجِ</a:t>
            </a:r>
            <a:endParaRPr lang="ar-SA" sz="2350" dirty="0"/>
          </a:p>
        </p:txBody>
      </p:sp>
      <p:sp>
        <p:nvSpPr>
          <p:cNvPr id="55" name="Text 52"/>
          <p:cNvSpPr txBox="1"/>
          <p:nvPr/>
        </p:nvSpPr>
        <p:spPr>
          <a:xfrm>
            <a:off x="457200" y="5989320"/>
            <a:ext cx="11274552" cy="320040"/>
          </a:xfrm>
          <a:prstGeom prst="rect">
            <a:avLst/>
          </a:prstGeom>
          <a:noFill/>
          <a:ln/>
        </p:spPr>
        <p:txBody>
          <a:bodyPr wrap="square" lIns="0" tIns="0" rIns="0" bIns="0" rtlCol="0" anchor="ctr"/>
          <a:lstStyle/>
          <a:p>
            <a:pPr algn="l" indent="0" marL="0">
              <a:buNone/>
            </a:pPr>
            <a:r>
              <a:rPr lang="en-US" sz="1200" b="1" dirty="0">
                <a:solidFill>
                  <a:srgbClr val="8A6D1E"/>
                </a:solidFill>
                <a:latin typeface="Calibri" pitchFamily="34" charset="0"/>
                <a:cs typeface="Amiri" pitchFamily="2" charset="-78"/>
              </a:rPr>
              <a:t>Both sides must be complete ideas that really contrast (website rule).</a:t>
            </a:r>
            <a:endParaRPr lang="en-US" sz="120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TC-L10 · Measure, Shape, Material</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5 · WEBSITE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The four website rules with examples</a:t>
            </a:r>
            <a:endParaRPr lang="en-US" sz="25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أَمْثِلَةُ القَوَاعِدِ</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TC-L10</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Describe a masculine building material</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اِسْمٌ مُذَكَّرٌ + مَبْنِيٌّ مِنْ + مَادَّةٍ</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البَيْتُ مَبْنِيٌّ مِنَ الحَجَرِ.   ·   الجِسْرُ مَبْنِيٌّ مِنَ المَعْدِنِ.</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Describe a feminine building material</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اِسْمٌ مُؤَنَّثٌ + مَبْنِيَّةٌ مِنْ + مَادَّةٍ</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المَدْرَسَةُ مَبْنِيَّةٌ مِنَ الطُّوبِ.   ·   العِمَارَةُ مَبْنِيَّةٌ مِنَ الخَرَسَانَةِ وَالزُّجَاجِ.</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Describe architectural identity</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يَتَمَيَّزُ / تَتَمَيَّزُ بِـ</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يَتَمَيَّزُ المَسْجِدُ بِمِئْذَنَتِهِ التَّارِيخِيَّةِ.   ·   تَتَمَيَّزُ القَرْيَةُ بِبُيُوتِهَا الطِّينِيَّةِ.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Contrast city and countryside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 بَيْنَمَا ...</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2" charset="-78"/>
                <a:ea typeface="Amiri" pitchFamily="2" charset="-78"/>
                <a:cs typeface="Amiri" pitchFamily="2" charset="-78"/>
              </a:rPr>
              <a:t>تَكْثُرُ نَاطِحَاتُ السَّحَابِ فِي المَدِينَةِ، بَيْنَمَا تَكْثُرُ البُيُوتُ الفَسِيحَةُ فِي الرِّيفِ.   ·   المَدِينَةُ مُكْتَظَّةٌ، بَيْنَمَا القَرْيَةُ هَادِئَةٌ.</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TC-L10 · Measure, Shape, Material</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الطَّاوِلَةُ ___ مِنَ الخَشَبِ.</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مَصْنُوعٌ</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مَصْنُوعَانِ</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مَصْنُوعَةٌ</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“Its length is two metres”?</a:t>
            </a:r>
            <a:endParaRPr lang="en-US" sz="125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طُولُهُ مِتْرَانِ.</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وَزْنُهُ مِتْرَانِ.</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عَرْضُهُ لِتْرَانِ.</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البَيْتُ</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مِنَ الحَجَرِ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مَبْنِيَّةٌ</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مَبْنِيٌّ</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مَبْنِيَّاتٌ</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المَدْرَسَةُ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مِنَ الطُّوبِ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مَبْنِيَّةٌ</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مَبْنِيٌّ</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مَبْنِيَّانِ</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TC-L10 · Measure, Shape, Material</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الطَّاوِلَةُ ___ مِنَ الخَشَبِ.</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مَصْنُوعٌ</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مَصْنُوعَانِ</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مَصْنُوعَةٌ</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الطَّاوِلَةُ</a:t>
            </a:r>
            <a:pPr algn="l" indent="0" marL="0">
              <a:buNone/>
            </a:pPr>
            <a:r>
              <a:rPr lang="en-US" sz="1050" i="1" dirty="0">
                <a:solidFill>
                  <a:srgbClr val="8A6D1E"/>
                </a:solidFill>
                <a:latin typeface="Calibri" pitchFamily="34" charset="0"/>
                <a:cs typeface="Amiri" pitchFamily="2" charset="-78"/>
              </a:rPr>
              <a:t> is feminine → </a:t>
            </a:r>
            <a:pPr algn="l" indent="0" marL="0">
              <a:buNone/>
            </a:pPr>
            <a:r>
              <a:rPr lang="ar-SA" altLang="en-US" sz="1350" dirty="0">
                <a:solidFill>
                  <a:srgbClr val="8A6D1E"/>
                </a:solidFill>
                <a:latin typeface="Amiri" pitchFamily="2" charset="-78"/>
                <a:ea typeface="Amiri" pitchFamily="2" charset="-78"/>
                <a:cs typeface="Amiri" pitchFamily="2" charset="-78"/>
              </a:rPr>
              <a:t>مَصْنُوعَةٌ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“Its length is two metres”?</a:t>
            </a:r>
            <a:endParaRPr lang="en-US" sz="125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طُولُهُ مِتْرَانِ.</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وَزْنُهُ مِتْرَانِ.</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عَرْضُهُ لِتْرَانِ.</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طُولٌ</a:t>
            </a:r>
            <a:pPr algn="l" indent="0" marL="0">
              <a:buNone/>
            </a:pPr>
            <a:r>
              <a:rPr lang="en-US" sz="1050" i="1" dirty="0">
                <a:solidFill>
                  <a:srgbClr val="8A6D1E"/>
                </a:solidFill>
                <a:latin typeface="Calibri" pitchFamily="34" charset="0"/>
                <a:cs typeface="Amiri" pitchFamily="2" charset="-78"/>
              </a:rPr>
              <a:t> = length; </a:t>
            </a:r>
            <a:pPr algn="l" indent="0" marL="0">
              <a:buNone/>
            </a:pPr>
            <a:r>
              <a:rPr lang="ar-SA" altLang="en-US" sz="1350" dirty="0">
                <a:solidFill>
                  <a:srgbClr val="8A6D1E"/>
                </a:solidFill>
                <a:latin typeface="Amiri" pitchFamily="2" charset="-78"/>
                <a:ea typeface="Amiri" pitchFamily="2" charset="-78"/>
                <a:cs typeface="Amiri" pitchFamily="2" charset="-78"/>
              </a:rPr>
              <a:t>مِتْرَانِ</a:t>
            </a:r>
            <a:pPr algn="l" indent="0" marL="0">
              <a:buNone/>
            </a:pPr>
            <a:r>
              <a:rPr lang="en-US" sz="1050" i="1" dirty="0">
                <a:solidFill>
                  <a:srgbClr val="8A6D1E"/>
                </a:solidFill>
                <a:latin typeface="Calibri" pitchFamily="34" charset="0"/>
                <a:cs typeface="Amiri" pitchFamily="2" charset="-78"/>
              </a:rPr>
              <a:t> = two metres (website game).</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البَيْتُ</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مِنَ الحَجَرِ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مَبْنِيَّةٌ</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مَبْنِيٌّ</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مَبْنِيَّاتٌ</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بَيْتٌ</a:t>
            </a:r>
            <a:pPr algn="l" indent="0" marL="0">
              <a:buNone/>
            </a:pPr>
            <a:r>
              <a:rPr lang="en-US" sz="1050" i="1" dirty="0">
                <a:solidFill>
                  <a:srgbClr val="8A6D1E"/>
                </a:solidFill>
                <a:latin typeface="Calibri" pitchFamily="34" charset="0"/>
                <a:cs typeface="Amiri" pitchFamily="2" charset="-78"/>
              </a:rPr>
              <a:t> is masculine.</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المَدْرَسَةُ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مِنَ الطُّوبِ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مَبْنِيَّةٌ</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مَبْنِيٌّ</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مَبْنِيَّانِ</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مَدْرَسَةٌ</a:t>
            </a:r>
            <a:pPr algn="l" indent="0" marL="0">
              <a:buNone/>
            </a:pPr>
            <a:r>
              <a:rPr lang="en-US" sz="1050" i="1" dirty="0">
                <a:solidFill>
                  <a:srgbClr val="8A6D1E"/>
                </a:solidFill>
                <a:latin typeface="Calibri" pitchFamily="34" charset="0"/>
                <a:cs typeface="Amiri" pitchFamily="2" charset="-78"/>
              </a:rPr>
              <a:t> is feminine.</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TC-L10 · Measure, Shape, Material</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describe my desk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TC-L10</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What and shape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هٰذِهِ طَاوِلَةٌ مُسْتَطِيلَ</a:t>
            </a:r>
            <a:pPr rtl="1" algn="ctr" indent="0" marL="0">
              <a:buNone/>
            </a:pPr>
            <a:r>
              <a:rPr lang="ar-SA" altLang="en-US" sz="2800" b="1" dirty="0">
                <a:solidFill>
                  <a:srgbClr val="D6336C"/>
                </a:solidFill>
                <a:latin typeface="Amiri" pitchFamily="2" charset="-78"/>
                <a:ea typeface="Amiri" pitchFamily="2" charset="-78"/>
                <a:cs typeface="Amiri" pitchFamily="2" charset="-78"/>
              </a:rPr>
              <a:t>ةٌ</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2" charset="-78"/>
                <a:ea typeface="Amiri" pitchFamily="2" charset="-78"/>
                <a:cs typeface="Amiri" pitchFamily="2" charset="-78"/>
              </a:rPr>
              <a:t>طَاوِلَةٌ</a:t>
            </a:r>
            <a:pPr algn="l" indent="0" marL="0">
              <a:buNone/>
            </a:pPr>
            <a:r>
              <a:rPr lang="en-US" sz="1150" dirty="0">
                <a:solidFill>
                  <a:srgbClr val="1F2A37"/>
                </a:solidFill>
                <a:latin typeface="Calibri" pitchFamily="34" charset="0"/>
                <a:cs typeface="Amiri" pitchFamily="2" charset="-78"/>
              </a:rPr>
              <a:t> is feminine → </a:t>
            </a:r>
            <a:pPr algn="l" indent="0" marL="0">
              <a:buNone/>
            </a:pPr>
            <a:r>
              <a:rPr lang="ar-SA" altLang="en-US" sz="1500" dirty="0">
                <a:solidFill>
                  <a:srgbClr val="1F2A37"/>
                </a:solidFill>
                <a:latin typeface="Amiri" pitchFamily="2" charset="-78"/>
                <a:ea typeface="Amiri" pitchFamily="2" charset="-78"/>
                <a:cs typeface="Amiri" pitchFamily="2" charset="-78"/>
              </a:rPr>
              <a:t>مُسْتَطِيلَةٌ</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Size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طُولُ</a:t>
            </a:r>
            <a:pPr rtl="1" algn="ctr" indent="0" marL="0">
              <a:buNone/>
            </a:pPr>
            <a:r>
              <a:rPr lang="ar-SA" altLang="en-US" sz="2800" b="1" dirty="0">
                <a:solidFill>
                  <a:srgbClr val="D6336C"/>
                </a:solidFill>
                <a:latin typeface="Amiri" pitchFamily="2" charset="-78"/>
                <a:ea typeface="Amiri" pitchFamily="2" charset="-78"/>
                <a:cs typeface="Amiri" pitchFamily="2" charset="-78"/>
              </a:rPr>
              <a:t>هَا</a:t>
            </a:r>
            <a:pPr rtl="1" algn="ctr" indent="0" marL="0">
              <a:buNone/>
            </a:pPr>
            <a:r>
              <a:rPr lang="ar-SA" altLang="en-US" sz="2800" b="1" dirty="0">
                <a:solidFill>
                  <a:srgbClr val="1B3B6F"/>
                </a:solidFill>
                <a:latin typeface="Amiri" pitchFamily="2" charset="-78"/>
                <a:ea typeface="Amiri" pitchFamily="2" charset="-78"/>
                <a:cs typeface="Amiri" pitchFamily="2" charset="-78"/>
              </a:rPr>
              <a:t> مِتْرَانِ</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2" charset="-78"/>
                <a:ea typeface="Amiri" pitchFamily="2" charset="-78"/>
                <a:cs typeface="Amiri" pitchFamily="2" charset="-78"/>
              </a:rPr>
              <a:t>ـهَا</a:t>
            </a:r>
            <a:pPr algn="l" indent="0" marL="0">
              <a:buNone/>
            </a:pPr>
            <a:r>
              <a:rPr lang="en-US" sz="1150" dirty="0">
                <a:solidFill>
                  <a:srgbClr val="1F2A37"/>
                </a:solidFill>
                <a:latin typeface="Calibri" pitchFamily="34" charset="0"/>
                <a:cs typeface="Amiri" pitchFamily="2" charset="-78"/>
              </a:rPr>
              <a:t> = its (the table, f.).</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Made of</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1B3B6F"/>
                </a:solidFill>
                <a:latin typeface="Amiri" pitchFamily="2" charset="-78"/>
                <a:ea typeface="Amiri" pitchFamily="2" charset="-78"/>
                <a:cs typeface="Amiri" pitchFamily="2" charset="-78"/>
              </a:rPr>
              <a:t>هِيَ </a:t>
            </a:r>
            <a:pPr rtl="1" algn="ctr" indent="0" marL="0">
              <a:buNone/>
            </a:pPr>
            <a:r>
              <a:rPr lang="ar-SA" altLang="en-US" sz="2700" b="1" dirty="0">
                <a:solidFill>
                  <a:srgbClr val="7B3FA0"/>
                </a:solidFill>
                <a:latin typeface="Amiri" pitchFamily="2" charset="-78"/>
                <a:ea typeface="Amiri" pitchFamily="2" charset="-78"/>
                <a:cs typeface="Amiri" pitchFamily="2" charset="-78"/>
              </a:rPr>
              <a:t>مَصْنُوعَ</a:t>
            </a:r>
            <a:pPr rtl="1" algn="ctr" indent="0" marL="0">
              <a:buNone/>
            </a:pPr>
            <a:r>
              <a:rPr lang="ar-SA" altLang="en-US" sz="2700" b="1" dirty="0">
                <a:solidFill>
                  <a:srgbClr val="D6336C"/>
                </a:solidFill>
                <a:latin typeface="Amiri" pitchFamily="2" charset="-78"/>
                <a:ea typeface="Amiri" pitchFamily="2" charset="-78"/>
                <a:cs typeface="Amiri" pitchFamily="2" charset="-78"/>
              </a:rPr>
              <a:t>ةٌ</a:t>
            </a:r>
            <a:pPr rtl="1" algn="ctr" indent="0" marL="0">
              <a:buNone/>
            </a:pPr>
            <a:r>
              <a:rPr lang="ar-SA" altLang="en-US" sz="2700" b="1" dirty="0">
                <a:solidFill>
                  <a:srgbClr val="1B3B6F"/>
                </a:solidFill>
                <a:latin typeface="Amiri" pitchFamily="2" charset="-78"/>
                <a:cs typeface="Amiri" pitchFamily="2" charset="-78"/>
              </a:rPr>
              <a:t> </a:t>
            </a:r>
            <a:pPr rtl="1" algn="ctr" indent="0" marL="0">
              <a:buNone/>
            </a:pPr>
            <a:r>
              <a:rPr lang="ar-SA" altLang="en-US" sz="2700" b="1" dirty="0">
                <a:solidFill>
                  <a:srgbClr val="0E7C86"/>
                </a:solidFill>
                <a:latin typeface="Amiri" pitchFamily="2" charset="-78"/>
                <a:ea typeface="Amiri" pitchFamily="2" charset="-78"/>
                <a:cs typeface="Amiri" pitchFamily="2" charset="-78"/>
              </a:rPr>
              <a:t>مِنَ</a:t>
            </a:r>
            <a:pPr rtl="1" algn="ctr" indent="0" marL="0">
              <a:buNone/>
            </a:pPr>
            <a:r>
              <a:rPr lang="ar-SA" altLang="en-US" sz="2700" b="1" dirty="0">
                <a:solidFill>
                  <a:srgbClr val="1B3B6F"/>
                </a:solidFill>
                <a:latin typeface="Amiri" pitchFamily="2" charset="-78"/>
                <a:ea typeface="Amiri" pitchFamily="2" charset="-78"/>
                <a:cs typeface="Amiri" pitchFamily="2" charset="-78"/>
              </a:rPr>
              <a:t> الخَشَبِ</a:t>
            </a:r>
            <a:endParaRPr lang="ar-SA" sz="27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Feminine → </a:t>
            </a:r>
            <a:pPr algn="l" indent="0" marL="0">
              <a:buNone/>
            </a:pPr>
            <a:r>
              <a:rPr lang="ar-SA" altLang="en-US" sz="1500" dirty="0">
                <a:solidFill>
                  <a:srgbClr val="1F2A37"/>
                </a:solidFill>
                <a:latin typeface="Amiri" pitchFamily="2" charset="-78"/>
                <a:ea typeface="Amiri" pitchFamily="2" charset="-78"/>
                <a:cs typeface="Amiri" pitchFamily="2" charset="-78"/>
              </a:rPr>
              <a:t>مَصْنُوعَةٌ</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ea typeface="Amiri" pitchFamily="2" charset="-78"/>
                <a:cs typeface="Amiri" pitchFamily="2" charset="-78"/>
              </a:rPr>
              <a:t>مِنَ</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Suitable because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الخَشَبُ مُنَاسِبٌ </a:t>
            </a:r>
            <a:pPr rtl="1" algn="ctr" indent="0" marL="0">
              <a:buNone/>
            </a:pPr>
            <a:r>
              <a:rPr lang="ar-SA" altLang="en-US" sz="2400" b="1" dirty="0">
                <a:solidFill>
                  <a:srgbClr val="0E7C86"/>
                </a:solidFill>
                <a:latin typeface="Amiri" pitchFamily="2" charset="-78"/>
                <a:ea typeface="Amiri" pitchFamily="2" charset="-78"/>
                <a:cs typeface="Amiri" pitchFamily="2" charset="-78"/>
              </a:rPr>
              <a:t>لِأَنَّهُ</a:t>
            </a:r>
            <a:pPr rtl="1" algn="ctr" indent="0" marL="0">
              <a:buNone/>
            </a:pPr>
            <a:r>
              <a:rPr lang="ar-SA" altLang="en-US" sz="2400" b="1" dirty="0">
                <a:solidFill>
                  <a:srgbClr val="1B3B6F"/>
                </a:solidFill>
                <a:latin typeface="Amiri" pitchFamily="2" charset="-78"/>
                <a:ea typeface="Amiri" pitchFamily="2" charset="-78"/>
                <a:cs typeface="Amiri" pitchFamily="2" charset="-78"/>
              </a:rPr>
              <a:t> قَوِيٌّ</a:t>
            </a:r>
            <a:endParaRPr lang="ar-SA" sz="24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 reason: </a:t>
            </a:r>
            <a:pPr algn="l" indent="0" marL="0">
              <a:buNone/>
            </a:pPr>
            <a:r>
              <a:rPr lang="ar-SA" altLang="en-US" sz="1500" dirty="0">
                <a:solidFill>
                  <a:srgbClr val="1F2A37"/>
                </a:solidFill>
                <a:latin typeface="Amiri" pitchFamily="2" charset="-78"/>
                <a:ea typeface="Amiri" pitchFamily="2" charset="-78"/>
                <a:cs typeface="Amiri" pitchFamily="2" charset="-78"/>
              </a:rPr>
              <a:t>لِأَنَّهُ</a:t>
            </a:r>
            <a:pPr algn="l" indent="0" marL="0">
              <a:buNone/>
            </a:pPr>
            <a:r>
              <a:rPr lang="en-US" sz="1150" dirty="0">
                <a:solidFill>
                  <a:srgbClr val="1F2A37"/>
                </a:solidFill>
                <a:latin typeface="Calibri" pitchFamily="34" charset="0"/>
                <a:cs typeface="Amiri" pitchFamily="2" charset="-78"/>
              </a:rPr>
              <a:t> …</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7B3FA0"/>
          </a:solidFill>
          <a:ln w="12700">
            <a:solidFill>
              <a:srgbClr val="7B3FA0"/>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PARTICIPLE</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ENDING</a:t>
            </a:r>
            <a:endParaRPr lang="en-US" sz="800" dirty="0"/>
          </a:p>
        </p:txBody>
      </p:sp>
      <p:sp>
        <p:nvSpPr>
          <p:cNvPr id="49" name="Shape 45"/>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KEY WORD</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هٰذِهِ طَاوِلَةٌ مُسْتَطِيلَ</a:t>
            </a:r>
            <a:pPr rtl="1" algn="r" indent="0" marL="0">
              <a:buNone/>
            </a:pPr>
            <a:r>
              <a:rPr lang="ar-SA" altLang="en-US" sz="2000" b="1" dirty="0">
                <a:solidFill>
                  <a:srgbClr val="D6336C"/>
                </a:solidFill>
                <a:latin typeface="Amiri" pitchFamily="2" charset="-78"/>
                <a:ea typeface="Amiri" pitchFamily="2" charset="-78"/>
                <a:cs typeface="Amiri" pitchFamily="2" charset="-78"/>
              </a:rPr>
              <a:t>ةٌ</a:t>
            </a:r>
            <a:pPr rtl="1" algn="r" indent="0" marL="0">
              <a:buNone/>
            </a:pPr>
            <a:r>
              <a:rPr lang="ar-SA" altLang="en-US" sz="2000" b="1" dirty="0">
                <a:solidFill>
                  <a:srgbClr val="1B3B6F"/>
                </a:solidFill>
                <a:latin typeface="Amiri" pitchFamily="2" charset="-78"/>
                <a:ea typeface="Amiri" pitchFamily="2" charset="-78"/>
                <a:cs typeface="Amiri" pitchFamily="2" charset="-78"/>
              </a:rPr>
              <a:t>. طُولُ</a:t>
            </a:r>
            <a:pPr rtl="1" algn="r" indent="0" marL="0">
              <a:buNone/>
            </a:pPr>
            <a:r>
              <a:rPr lang="ar-SA" altLang="en-US" sz="2000" b="1" dirty="0">
                <a:solidFill>
                  <a:srgbClr val="D6336C"/>
                </a:solidFill>
                <a:latin typeface="Amiri" pitchFamily="2" charset="-78"/>
                <a:ea typeface="Amiri" pitchFamily="2" charset="-78"/>
                <a:cs typeface="Amiri" pitchFamily="2" charset="-78"/>
              </a:rPr>
              <a:t>هَا</a:t>
            </a:r>
            <a:pPr rtl="1" algn="r" indent="0" marL="0">
              <a:buNone/>
            </a:pPr>
            <a:r>
              <a:rPr lang="ar-SA" altLang="en-US" sz="2000" b="1" dirty="0">
                <a:solidFill>
                  <a:srgbClr val="1B3B6F"/>
                </a:solidFill>
                <a:latin typeface="Amiri" pitchFamily="2" charset="-78"/>
                <a:ea typeface="Amiri" pitchFamily="2" charset="-78"/>
                <a:cs typeface="Amiri" pitchFamily="2" charset="-78"/>
              </a:rPr>
              <a:t> مِتْرَانِ، وَعَرْضُ</a:t>
            </a:r>
            <a:pPr rtl="1" algn="r" indent="0" marL="0">
              <a:buNone/>
            </a:pPr>
            <a:r>
              <a:rPr lang="ar-SA" altLang="en-US" sz="2000" b="1" dirty="0">
                <a:solidFill>
                  <a:srgbClr val="D6336C"/>
                </a:solidFill>
                <a:latin typeface="Amiri" pitchFamily="2" charset="-78"/>
                <a:ea typeface="Amiri" pitchFamily="2" charset="-78"/>
                <a:cs typeface="Amiri" pitchFamily="2" charset="-78"/>
              </a:rPr>
              <a:t>هَا</a:t>
            </a:r>
            <a:pPr rtl="1" algn="r" indent="0" marL="0">
              <a:buNone/>
            </a:pPr>
            <a:r>
              <a:rPr lang="ar-SA" altLang="en-US" sz="2000" b="1" dirty="0">
                <a:solidFill>
                  <a:srgbClr val="1B3B6F"/>
                </a:solidFill>
                <a:latin typeface="Amiri" pitchFamily="2" charset="-78"/>
                <a:ea typeface="Amiri" pitchFamily="2" charset="-78"/>
                <a:cs typeface="Amiri" pitchFamily="2" charset="-78"/>
              </a:rPr>
              <a:t> مِتْرٌ وَاحِدٌ. هِيَ </a:t>
            </a:r>
            <a:pPr rtl="1" algn="r" indent="0" marL="0">
              <a:buNone/>
            </a:pPr>
            <a:r>
              <a:rPr lang="ar-SA" altLang="en-US" sz="2000" b="1" dirty="0">
                <a:solidFill>
                  <a:srgbClr val="7B3FA0"/>
                </a:solidFill>
                <a:latin typeface="Amiri" pitchFamily="2" charset="-78"/>
                <a:ea typeface="Amiri" pitchFamily="2" charset="-78"/>
                <a:cs typeface="Amiri" pitchFamily="2" charset="-78"/>
              </a:rPr>
              <a:t>مَصْنُوعَ</a:t>
            </a:r>
            <a:pPr rtl="1" algn="r" indent="0" marL="0">
              <a:buNone/>
            </a:pPr>
            <a:r>
              <a:rPr lang="ar-SA" altLang="en-US" sz="2000" b="1" dirty="0">
                <a:solidFill>
                  <a:srgbClr val="D6336C"/>
                </a:solidFill>
                <a:latin typeface="Amiri" pitchFamily="2" charset="-78"/>
                <a:ea typeface="Amiri" pitchFamily="2" charset="-78"/>
                <a:cs typeface="Amiri" pitchFamily="2" charset="-78"/>
              </a:rPr>
              <a:t>ةٌ</a:t>
            </a:r>
            <a:pPr rtl="1" algn="r" indent="0" marL="0">
              <a:buNone/>
            </a:pPr>
            <a:r>
              <a:rPr lang="ar-SA" altLang="en-US" sz="2000" b="1" dirty="0">
                <a:solidFill>
                  <a:srgbClr val="1B3B6F"/>
                </a:solidFill>
                <a:latin typeface="Amiri" pitchFamily="2" charset="-78"/>
                <a:cs typeface="Amiri" pitchFamily="2" charset="-78"/>
              </a:rPr>
              <a:t> </a:t>
            </a:r>
            <a:pPr rtl="1" algn="r" indent="0" marL="0">
              <a:buNone/>
            </a:pPr>
            <a:r>
              <a:rPr lang="ar-SA" altLang="en-US" sz="2000" b="1" dirty="0">
                <a:solidFill>
                  <a:srgbClr val="0E7C86"/>
                </a:solidFill>
                <a:latin typeface="Amiri" pitchFamily="2" charset="-78"/>
                <a:ea typeface="Amiri" pitchFamily="2" charset="-78"/>
                <a:cs typeface="Amiri" pitchFamily="2" charset="-78"/>
              </a:rPr>
              <a:t>مِنَ</a:t>
            </a:r>
            <a:pPr rtl="1" algn="r" indent="0" marL="0">
              <a:buNone/>
            </a:pPr>
            <a:r>
              <a:rPr lang="ar-SA" altLang="en-US" sz="2000" b="1" dirty="0">
                <a:solidFill>
                  <a:srgbClr val="1B3B6F"/>
                </a:solidFill>
                <a:latin typeface="Amiri" pitchFamily="2" charset="-78"/>
                <a:ea typeface="Amiri" pitchFamily="2" charset="-78"/>
                <a:cs typeface="Amiri" pitchFamily="2" charset="-78"/>
              </a:rPr>
              <a:t> الخَشَبِ، وَالخَشَبُ مُنَاسِبٌ لِلدِّرَاسَةِ </a:t>
            </a:r>
            <a:pPr rtl="1" algn="r" indent="0" marL="0">
              <a:buNone/>
            </a:pPr>
            <a:r>
              <a:rPr lang="ar-SA" altLang="en-US" sz="2000" b="1" dirty="0">
                <a:solidFill>
                  <a:srgbClr val="0E7C86"/>
                </a:solidFill>
                <a:latin typeface="Amiri" pitchFamily="2" charset="-78"/>
                <a:ea typeface="Amiri" pitchFamily="2" charset="-78"/>
                <a:cs typeface="Amiri" pitchFamily="2" charset="-78"/>
              </a:rPr>
              <a:t>لِأَنَّهُ</a:t>
            </a:r>
            <a:pPr rtl="1" algn="r" indent="0" marL="0">
              <a:buNone/>
            </a:pPr>
            <a:r>
              <a:rPr lang="ar-SA" altLang="en-US" sz="2000" b="1" dirty="0">
                <a:solidFill>
                  <a:srgbClr val="1B3B6F"/>
                </a:solidFill>
                <a:latin typeface="Amiri" pitchFamily="2" charset="-78"/>
                <a:ea typeface="Amiri" pitchFamily="2" charset="-78"/>
                <a:cs typeface="Amiri" pitchFamily="2" charset="-78"/>
              </a:rPr>
              <a:t> قَوِيٌّ وَجَمِيلٌ.</a:t>
            </a:r>
            <a:endParaRPr lang="ar-SA" sz="20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This is a rectangular table. Its length is two metres and its width is one metre. It is made of wood, and wood is suitable for studying because it is strong and beautiful.</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TC-L10 · Measure, Shape, Material</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Four 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TC-L10</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البَيْتُ مَبْنِيٌّ مِنَ الحَجَرِ.</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house is built of stone.</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Masculine building → مَبْنِيٌّ.</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المَدْرَسَةُ مَبْنِيَّةٌ مِنَ الطُّوبِ.</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school is built of brick.</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Feminine building → مَبْنِيَّةٌ.</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تَتَمَيَّزُ القَرْيَةُ بِبُيُوتِهَا التَّقْلِيدِيَّةِ.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village is distinguished by its traditional houses.</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Feminine subject → تَتَمَيَّزُ.</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المَدِينَةُ مُكْتَظَّةٌ، بَيْنَمَا الرِّيفُ فَسِيحٌ.</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city is dense, whereas the countryside is spacious.</a:t>
            </a:r>
            <a:endParaRPr lang="en-US" sz="1250" dirty="0"/>
          </a:p>
          <a:p>
            <a:pPr indent="0" marL="0">
              <a:buNone/>
            </a:pPr>
            <a:r>
              <a:rPr lang="en-US" sz="1050" i="1" dirty="0">
                <a:solidFill>
                  <a:srgbClr val="8A6D1E"/>
                </a:solidFill>
                <a:latin typeface="Calibri" pitchFamily="34" charset="0"/>
                <a:cs typeface="Amiri" pitchFamily="2" charset="-78"/>
              </a:rPr>
              <a:t>Use complete contrasting clauses.</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TC-L10 · Measure, Shape, Material</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 WEBSITE GAME “MEASURE &amp; MATERIAL”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Match the picture to the sentence</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الْقِيَاسُ وَالْمَادَّةُ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TC-L10</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2 m · wood</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10 cm</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76784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950720" y="2249424"/>
            <a:ext cx="649224" cy="649224"/>
          </a:xfrm>
          <a:prstGeom prst="rect">
            <a:avLst/>
          </a:prstGeom>
        </p:spPr>
      </p:pic>
      <p:sp>
        <p:nvSpPr>
          <p:cNvPr id="36" name="Text 28"/>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1 L</a:t>
            </a:r>
            <a:endParaRPr lang="en-US" sz="1100" dirty="0"/>
          </a:p>
        </p:txBody>
      </p:sp>
      <p:sp>
        <p:nvSpPr>
          <p:cNvPr id="37" name="Shape 29"/>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8" name="Shape 30"/>
          <p:cNvSpPr/>
          <p:nvPr/>
        </p:nvSpPr>
        <p:spPr>
          <a:xfrm>
            <a:off x="11247120" y="3831336"/>
            <a:ext cx="292608" cy="292608"/>
          </a:xfrm>
          <a:prstGeom prst="ellipse">
            <a:avLst/>
          </a:prstGeom>
          <a:solidFill>
            <a:srgbClr val="2F6FB0"/>
          </a:solidFill>
          <a:ln w="12700">
            <a:solidFill>
              <a:srgbClr val="2F6FB0"/>
            </a:solidFill>
            <a:prstDash val="solid"/>
          </a:ln>
        </p:spPr>
      </p:sp>
      <p:sp>
        <p:nvSpPr>
          <p:cNvPr id="39" name="Text 31"/>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0" name="Text 32"/>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سِعَةُ الزُّجَاجَةِ لِتْرٌ وَاحِدٌ.</a:t>
            </a:r>
            <a:endParaRPr lang="ar-SA" sz="2000" dirty="0"/>
          </a:p>
        </p:txBody>
      </p:sp>
      <p:sp>
        <p:nvSpPr>
          <p:cNvPr id="41" name="Shape 33"/>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2" name="Shape 34"/>
          <p:cNvSpPr/>
          <p:nvPr/>
        </p:nvSpPr>
        <p:spPr>
          <a:xfrm>
            <a:off x="11247120" y="4398264"/>
            <a:ext cx="292608" cy="292608"/>
          </a:xfrm>
          <a:prstGeom prst="ellipse">
            <a:avLst/>
          </a:prstGeom>
          <a:solidFill>
            <a:srgbClr val="2F6FB0"/>
          </a:solidFill>
          <a:ln w="12700">
            <a:solidFill>
              <a:srgbClr val="2F6FB0"/>
            </a:solidFill>
            <a:prstDash val="solid"/>
          </a:ln>
        </p:spPr>
      </p:sp>
      <p:sp>
        <p:nvSpPr>
          <p:cNvPr id="43" name="Text 35"/>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4" name="Text 36"/>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طُولُهُ مِتْرَانِ وَهُوَ مَصْنُوعٌ مِنَ الْخَشَبِ.</a:t>
            </a:r>
            <a:endParaRPr lang="ar-SA" sz="2000" dirty="0"/>
          </a:p>
        </p:txBody>
      </p:sp>
      <p:sp>
        <p:nvSpPr>
          <p:cNvPr id="45" name="Shape 37"/>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6" name="Shape 38"/>
          <p:cNvSpPr/>
          <p:nvPr/>
        </p:nvSpPr>
        <p:spPr>
          <a:xfrm>
            <a:off x="11247120" y="4965192"/>
            <a:ext cx="292608" cy="292608"/>
          </a:xfrm>
          <a:prstGeom prst="ellipse">
            <a:avLst/>
          </a:prstGeom>
          <a:solidFill>
            <a:srgbClr val="2F6FB0"/>
          </a:solidFill>
          <a:ln w="12700">
            <a:solidFill>
              <a:srgbClr val="2F6FB0"/>
            </a:solidFill>
            <a:prstDash val="solid"/>
          </a:ln>
        </p:spPr>
      </p:sp>
      <p:sp>
        <p:nvSpPr>
          <p:cNvPr id="47" name="Text 39"/>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48" name="Text 40"/>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هُوَ دَائِرِيُّ الشَّكْلِ وَقُطْرُهُ عَشَرَةُ سَنْتِيمِتْرَاتٍ.</a:t>
            </a:r>
            <a:endParaRPr lang="ar-SA" sz="2000" dirty="0"/>
          </a:p>
        </p:txBody>
      </p:sp>
      <p:sp>
        <p:nvSpPr>
          <p:cNvPr id="49" name="Text 41"/>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0" name="Text 42"/>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1"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TC-L10 · Measure, Shape, Material</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الْقِيَاسُ وَالْمَادَّةُ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TC-L10</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2 m · wood</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طُولُهُ مِتْرَانِ وَهُوَ مَصْنُوعٌ مِنَ الْخَشَبِ.</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Its length is two metres and it is made of wood.</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10 cm</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هُوَ دَائِرِيُّ الشَّكْلِ وَقُطْرُهُ عَشَرَةُ سَنْتِيمِتْرَاتٍ.</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It is round and its diameter is ten centimetres.</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76784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950720" y="2249424"/>
            <a:ext cx="649224" cy="649224"/>
          </a:xfrm>
          <a:prstGeom prst="rect">
            <a:avLst/>
          </a:prstGeom>
        </p:spPr>
      </p:pic>
      <p:sp>
        <p:nvSpPr>
          <p:cNvPr id="46" name="Text 38"/>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1 L</a:t>
            </a:r>
            <a:endParaRPr lang="en-US" sz="1100" dirty="0"/>
          </a:p>
        </p:txBody>
      </p:sp>
      <p:sp>
        <p:nvSpPr>
          <p:cNvPr id="47" name="Shape 39"/>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8" name="Shape 40"/>
          <p:cNvSpPr/>
          <p:nvPr/>
        </p:nvSpPr>
        <p:spPr>
          <a:xfrm>
            <a:off x="3617976" y="3785616"/>
            <a:ext cx="329184" cy="329184"/>
          </a:xfrm>
          <a:prstGeom prst="ellipse">
            <a:avLst/>
          </a:prstGeom>
          <a:solidFill>
            <a:srgbClr val="2E8B57"/>
          </a:solidFill>
          <a:ln w="12700">
            <a:solidFill>
              <a:srgbClr val="2E8B57"/>
            </a:solidFill>
            <a:prstDash val="solid"/>
          </a:ln>
        </p:spPr>
      </p:sp>
      <p:sp>
        <p:nvSpPr>
          <p:cNvPr id="49" name="Text 41"/>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50" name="Text 42"/>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سِعَةُ الزُّجَاجَةِ لِتْرٌ وَاحِدٌ.</a:t>
            </a:r>
            <a:endParaRPr lang="ar-SA" sz="2200" dirty="0"/>
          </a:p>
        </p:txBody>
      </p:sp>
      <p:sp>
        <p:nvSpPr>
          <p:cNvPr id="51" name="Text 43"/>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capacity of the bottle is one litre.</a:t>
            </a:r>
            <a:endParaRPr lang="en-US" sz="1200" dirty="0"/>
          </a:p>
        </p:txBody>
      </p:sp>
      <p:sp>
        <p:nvSpPr>
          <p:cNvPr id="52"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TC-L10 · Measure, Shape, Material</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 A PRODUCT CARD (TOPIC C FOCUS)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Product card: a study desk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بِطَاقَةُ المُنْتَجِ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TC-L10</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56816"/>
            <a:ext cx="7616952" cy="564315"/>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بِطَاقَةُ المُنْتَجِ: مَكْتَبُ دِرَاسَةٍ</a:t>
            </a:r>
            <a:endParaRPr lang="ar-SA" sz="2200" dirty="0"/>
          </a:p>
        </p:txBody>
      </p:sp>
      <p:sp>
        <p:nvSpPr>
          <p:cNvPr id="17" name="Shape 14"/>
          <p:cNvSpPr/>
          <p:nvPr/>
        </p:nvSpPr>
        <p:spPr>
          <a:xfrm>
            <a:off x="685800" y="2539419"/>
            <a:ext cx="7616952" cy="0"/>
          </a:xfrm>
          <a:prstGeom prst="line">
            <a:avLst/>
          </a:prstGeom>
          <a:noFill/>
          <a:ln w="9525">
            <a:solidFill>
              <a:srgbClr val="E4DCCB"/>
            </a:solidFill>
            <a:prstDash val="dash"/>
          </a:ln>
        </p:spPr>
      </p:sp>
      <p:sp>
        <p:nvSpPr>
          <p:cNvPr id="18" name="Text 15"/>
          <p:cNvSpPr txBox="1"/>
          <p:nvPr/>
        </p:nvSpPr>
        <p:spPr>
          <a:xfrm>
            <a:off x="685800" y="2557707"/>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الشَّكْلُ: مُسْتَطِيلٌ</a:t>
            </a:r>
            <a:endParaRPr lang="ar-SA" sz="2000" dirty="0"/>
          </a:p>
        </p:txBody>
      </p:sp>
      <p:sp>
        <p:nvSpPr>
          <p:cNvPr id="19" name="Shape 16"/>
          <p:cNvSpPr/>
          <p:nvPr/>
        </p:nvSpPr>
        <p:spPr>
          <a:xfrm>
            <a:off x="685800" y="3140311"/>
            <a:ext cx="7616952" cy="0"/>
          </a:xfrm>
          <a:prstGeom prst="line">
            <a:avLst/>
          </a:prstGeom>
          <a:noFill/>
          <a:ln w="9525">
            <a:solidFill>
              <a:srgbClr val="E4DCCB"/>
            </a:solidFill>
            <a:prstDash val="dash"/>
          </a:ln>
        </p:spPr>
      </p:sp>
      <p:sp>
        <p:nvSpPr>
          <p:cNvPr id="20" name="Text 17"/>
          <p:cNvSpPr txBox="1"/>
          <p:nvPr/>
        </p:nvSpPr>
        <p:spPr>
          <a:xfrm>
            <a:off x="685800" y="3158599"/>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الطُّولُ: مِئَةٌ وَعِشْرُونَ سَنْتِيمِتْرًا · العَرْضُ: سِتُّونَ سَنْتِيمِتْرًا</a:t>
            </a:r>
            <a:endParaRPr lang="ar-SA" sz="2000" dirty="0"/>
          </a:p>
        </p:txBody>
      </p:sp>
      <p:sp>
        <p:nvSpPr>
          <p:cNvPr id="21" name="Shape 18"/>
          <p:cNvSpPr/>
          <p:nvPr/>
        </p:nvSpPr>
        <p:spPr>
          <a:xfrm>
            <a:off x="685800" y="3741202"/>
            <a:ext cx="7616952" cy="0"/>
          </a:xfrm>
          <a:prstGeom prst="line">
            <a:avLst/>
          </a:prstGeom>
          <a:noFill/>
          <a:ln w="9525">
            <a:solidFill>
              <a:srgbClr val="E4DCCB"/>
            </a:solidFill>
            <a:prstDash val="dash"/>
          </a:ln>
        </p:spPr>
      </p:sp>
      <p:sp>
        <p:nvSpPr>
          <p:cNvPr id="22" name="Text 19"/>
          <p:cNvSpPr txBox="1"/>
          <p:nvPr/>
        </p:nvSpPr>
        <p:spPr>
          <a:xfrm>
            <a:off x="685800" y="3759490"/>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الوَزْنُ: خَمْسَةَ عَشَرَ كِيلُوغْرَامًا</a:t>
            </a:r>
            <a:endParaRPr lang="ar-SA" sz="2000" dirty="0"/>
          </a:p>
        </p:txBody>
      </p:sp>
      <p:sp>
        <p:nvSpPr>
          <p:cNvPr id="23" name="Shape 20"/>
          <p:cNvSpPr/>
          <p:nvPr/>
        </p:nvSpPr>
        <p:spPr>
          <a:xfrm>
            <a:off x="685800" y="4342094"/>
            <a:ext cx="7616952" cy="0"/>
          </a:xfrm>
          <a:prstGeom prst="line">
            <a:avLst/>
          </a:prstGeom>
          <a:noFill/>
          <a:ln w="9525">
            <a:solidFill>
              <a:srgbClr val="E4DCCB"/>
            </a:solidFill>
            <a:prstDash val="dash"/>
          </a:ln>
        </p:spPr>
      </p:sp>
      <p:sp>
        <p:nvSpPr>
          <p:cNvPr id="24" name="Text 21"/>
          <p:cNvSpPr txBox="1"/>
          <p:nvPr/>
        </p:nvSpPr>
        <p:spPr>
          <a:xfrm>
            <a:off x="685800" y="4360382"/>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المَادَّةُ: المَكْتَبُ مَصْنُوعٌ مِنَ الخَشَبِ، وَالأَرْجُلُ مِنَ المَعْدِنِ.</a:t>
            </a:r>
            <a:endParaRPr lang="ar-SA" sz="2000" dirty="0"/>
          </a:p>
        </p:txBody>
      </p:sp>
      <p:sp>
        <p:nvSpPr>
          <p:cNvPr id="25" name="Shape 22"/>
          <p:cNvSpPr/>
          <p:nvPr/>
        </p:nvSpPr>
        <p:spPr>
          <a:xfrm>
            <a:off x="685800" y="4942985"/>
            <a:ext cx="7616952" cy="0"/>
          </a:xfrm>
          <a:prstGeom prst="line">
            <a:avLst/>
          </a:prstGeom>
          <a:noFill/>
          <a:ln w="9525">
            <a:solidFill>
              <a:srgbClr val="E4DCCB"/>
            </a:solidFill>
            <a:prstDash val="dash"/>
          </a:ln>
        </p:spPr>
      </p:sp>
      <p:sp>
        <p:nvSpPr>
          <p:cNvPr id="26" name="Text 23"/>
          <p:cNvSpPr txBox="1"/>
          <p:nvPr/>
        </p:nvSpPr>
        <p:spPr>
          <a:xfrm>
            <a:off x="685800" y="4961273"/>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الاِسْتِعْمَالُ: مُنَاسِبٌ لِلدِّرَاسَةِ فِي غُرْفَةٍ صَغِيرَةٍ.</a:t>
            </a:r>
            <a:endParaRPr lang="ar-SA" sz="2000" dirty="0"/>
          </a:p>
        </p:txBody>
      </p:sp>
      <p:sp>
        <p:nvSpPr>
          <p:cNvPr id="27" name="Shape 24"/>
          <p:cNvSpPr/>
          <p:nvPr/>
        </p:nvSpPr>
        <p:spPr>
          <a:xfrm>
            <a:off x="685800" y="5543877"/>
            <a:ext cx="7616952" cy="0"/>
          </a:xfrm>
          <a:prstGeom prst="line">
            <a:avLst/>
          </a:prstGeom>
          <a:noFill/>
          <a:ln w="9525">
            <a:solidFill>
              <a:srgbClr val="E4DCCB"/>
            </a:solidFill>
            <a:prstDash val="dash"/>
          </a:ln>
        </p:spPr>
      </p:sp>
      <p:sp>
        <p:nvSpPr>
          <p:cNvPr id="28" name="Text 25"/>
          <p:cNvSpPr txBox="1"/>
          <p:nvPr/>
        </p:nvSpPr>
        <p:spPr>
          <a:xfrm>
            <a:off x="685800" y="5562165"/>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تَنْبِيهٌ: لَا تَضَعِ المَكْتَبَ قُرْبَ المَاءِ.</a:t>
            </a:r>
            <a:endParaRPr lang="ar-SA" sz="2000" dirty="0"/>
          </a:p>
        </p:txBody>
      </p:sp>
      <p:sp>
        <p:nvSpPr>
          <p:cNvPr id="29" name="Shape 2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31" name="Text 2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بِطَاقَةُ المُنْتَجِ</a:t>
            </a:r>
            <a:endParaRPr lang="ar-SA" sz="1600" dirty="0"/>
          </a:p>
        </p:txBody>
      </p:sp>
      <p:sp>
        <p:nvSpPr>
          <p:cNvPr id="32" name="Text 2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product card</a:t>
            </a:r>
            <a:endParaRPr lang="en-US" sz="1050" dirty="0"/>
          </a:p>
        </p:txBody>
      </p:sp>
      <p:sp>
        <p:nvSpPr>
          <p:cNvPr id="33" name="Text 3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مَكْتَبُ دِرَاسَةٍ</a:t>
            </a:r>
            <a:endParaRPr lang="ar-SA" sz="1600" dirty="0"/>
          </a:p>
        </p:txBody>
      </p:sp>
      <p:sp>
        <p:nvSpPr>
          <p:cNvPr id="34" name="Text 3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study desk</a:t>
            </a:r>
            <a:endParaRPr lang="en-US" sz="1050" dirty="0"/>
          </a:p>
        </p:txBody>
      </p:sp>
      <p:sp>
        <p:nvSpPr>
          <p:cNvPr id="35" name="Text 3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الشَّكْلُ</a:t>
            </a:r>
            <a:endParaRPr lang="ar-SA" sz="1600" dirty="0"/>
          </a:p>
        </p:txBody>
      </p:sp>
      <p:sp>
        <p:nvSpPr>
          <p:cNvPr id="36" name="Text 3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shape</a:t>
            </a:r>
            <a:endParaRPr lang="en-US" sz="1050" dirty="0"/>
          </a:p>
        </p:txBody>
      </p:sp>
      <p:sp>
        <p:nvSpPr>
          <p:cNvPr id="37" name="Text 3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الطُّولُ</a:t>
            </a:r>
            <a:endParaRPr lang="ar-SA" sz="1600" dirty="0"/>
          </a:p>
        </p:txBody>
      </p:sp>
      <p:sp>
        <p:nvSpPr>
          <p:cNvPr id="38" name="Text 3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length</a:t>
            </a:r>
            <a:endParaRPr lang="en-US" sz="1050" dirty="0"/>
          </a:p>
        </p:txBody>
      </p:sp>
      <p:sp>
        <p:nvSpPr>
          <p:cNvPr id="39" name="Text 3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العَرْضُ</a:t>
            </a:r>
            <a:endParaRPr lang="ar-SA" sz="1600" dirty="0"/>
          </a:p>
        </p:txBody>
      </p:sp>
      <p:sp>
        <p:nvSpPr>
          <p:cNvPr id="40" name="Text 3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width</a:t>
            </a:r>
            <a:endParaRPr lang="en-US" sz="1050" dirty="0"/>
          </a:p>
        </p:txBody>
      </p:sp>
      <p:sp>
        <p:nvSpPr>
          <p:cNvPr id="41" name="Text 3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الوَزْنُ</a:t>
            </a:r>
            <a:endParaRPr lang="ar-SA" sz="1600" dirty="0"/>
          </a:p>
        </p:txBody>
      </p:sp>
      <p:sp>
        <p:nvSpPr>
          <p:cNvPr id="42" name="Text 3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weight</a:t>
            </a:r>
            <a:endParaRPr lang="en-US" sz="1050" dirty="0"/>
          </a:p>
        </p:txBody>
      </p:sp>
      <p:sp>
        <p:nvSpPr>
          <p:cNvPr id="43" name="Text 4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الأَرْجُلُ</a:t>
            </a:r>
            <a:endParaRPr lang="ar-SA" sz="1600" dirty="0"/>
          </a:p>
        </p:txBody>
      </p:sp>
      <p:sp>
        <p:nvSpPr>
          <p:cNvPr id="44" name="Text 4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legs</a:t>
            </a:r>
            <a:endParaRPr lang="en-US" sz="1050" dirty="0"/>
          </a:p>
        </p:txBody>
      </p:sp>
      <p:sp>
        <p:nvSpPr>
          <p:cNvPr id="45" name="Text 4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الاِسْتِعْمَالُ</a:t>
            </a:r>
            <a:endParaRPr lang="ar-SA" sz="1600" dirty="0"/>
          </a:p>
        </p:txBody>
      </p:sp>
      <p:sp>
        <p:nvSpPr>
          <p:cNvPr id="46" name="Text 4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use</a:t>
            </a:r>
            <a:endParaRPr lang="en-US" sz="1050" dirty="0"/>
          </a:p>
        </p:txBody>
      </p:sp>
      <p:sp>
        <p:nvSpPr>
          <p:cNvPr id="47" name="Text 4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تَنْبِيهٌ</a:t>
            </a:r>
            <a:endParaRPr lang="ar-SA" sz="1600" dirty="0"/>
          </a:p>
        </p:txBody>
      </p:sp>
      <p:sp>
        <p:nvSpPr>
          <p:cNvPr id="48" name="Text 4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warning</a:t>
            </a:r>
            <a:endParaRPr lang="en-US" sz="1050" dirty="0"/>
          </a:p>
        </p:txBody>
      </p:sp>
      <p:sp>
        <p:nvSpPr>
          <p:cNvPr id="49" name="Text 4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لَا تَضَعْ</a:t>
            </a:r>
            <a:endParaRPr lang="ar-SA" sz="1600" dirty="0"/>
          </a:p>
        </p:txBody>
      </p:sp>
      <p:sp>
        <p:nvSpPr>
          <p:cNvPr id="50" name="Text 4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don’t put</a:t>
            </a:r>
            <a:endParaRPr lang="en-US" sz="10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TC-L10 · Measure, Shape, Material</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PRODUCT CARD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facts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اِسْتَخْرِجِ المَعْلُومَاتِ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shape is the desk?</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Rectangular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Round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Square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is it?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60 cm</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15 cm</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120 cm</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heavy is it?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12 kg</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15 kg</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50 kg</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are the legs made of?</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Wood</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Metal</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Plastic</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must you NOT put it?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a small room</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Near a window</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Near water</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Find the KEY WORD first.</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shape?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الشَّكْل</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long?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الطُّول</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heavy?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الوَزْن</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made of?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مِنَ</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TC-L10 · Measure, Shape, Material</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PRODUCT CARD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Product card: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shape is the desk?</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Rectangular</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Round</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Square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الشَّكْلُ: مُسْتَطِيلٌ.</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is it?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60 cm</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15 cm</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120 cm</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الطُّولُ: مِئَةٌ وَعِشْرُونَ سَنْتِيمِتْرًا.</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heavy is it?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12 kg</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15 kg</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50 kg</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الوَزْنُ: خَمْسَةَ عَشَرَ كِيلُوغْرَامًا.</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are the legs made of?</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Wood</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Metal</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Plastic</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وَالأَرْجُلُ مِنَ المَعْدِنِ.</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must you NOT put it?</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a small room</a:t>
            </a:r>
            <a:endParaRPr lang="en-US" sz="125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Near a window</a:t>
            </a:r>
            <a:endParaRPr lang="en-US" sz="125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Near water</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لَا تَضَعِ المَكْتَبَ قُرْبَ المَاءِ.</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Find the KEY WORD first.</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shape?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الشَّكْل</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long?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الطُّول</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heavy?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الوَزْن</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made of?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مِنَ</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TC-L10 · Measure, Shape, Material</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SENTENCE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the sentence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TC-L10</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The table is made of wood.</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الطَّاوِلَةُ</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الكُرْسِيُّ</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مَصْنُوعٌ</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مَصْنُوعَةٌ</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بِالخَشَبِ.</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مِنَ الخَشَبِ.</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Its (the bottle’s) capacity is one litre.</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سِعَتُهَا</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سِعَتُهُ</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لِتْرٌ</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مِتْرٌ</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وَاحِدٌ.</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وَاحِدَةٌ.</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The city is crowded, whereas the village is quiet.</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المَدِينَةُ مُكْتَظَّةٌ،</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القَرْيَةُ مُكْتَظَّةٌ،</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لِأَنَّ</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بَيْنَمَا</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المَدِينَةُ مُكْتَظَّةٌ.</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القَرْيَةُ هَادِئَةٌ.</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TC-L10 · Measure, Shape, Material</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SENTENCE BUILDER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تَحَقَّقْ مِنْ جُمَلِكَ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TC-L10</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The table is made of wood.</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B · B</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Feminine </a:t>
            </a:r>
            <a:pPr algn="l" indent="0" marL="0">
              <a:buNone/>
            </a:pPr>
            <a:r>
              <a:rPr lang="ar-SA" altLang="en-US" sz="1350" dirty="0">
                <a:solidFill>
                  <a:srgbClr val="5A6472"/>
                </a:solidFill>
                <a:latin typeface="Amiri" pitchFamily="2" charset="-78"/>
                <a:ea typeface="Amiri" pitchFamily="2" charset="-78"/>
                <a:cs typeface="Amiri" pitchFamily="2" charset="-78"/>
              </a:rPr>
              <a:t>الطَّاوِلَةُ</a:t>
            </a:r>
            <a:pPr algn="l" indent="0" marL="0">
              <a:buNone/>
            </a:pPr>
            <a:r>
              <a:rPr lang="en-US" sz="1050" i="1" dirty="0">
                <a:solidFill>
                  <a:srgbClr val="5A6472"/>
                </a:solidFill>
                <a:latin typeface="Calibri" pitchFamily="34" charset="0"/>
                <a:cs typeface="Amiri" pitchFamily="2" charset="-78"/>
              </a:rPr>
              <a:t> → </a:t>
            </a:r>
            <a:pPr algn="l" indent="0" marL="0">
              <a:buNone/>
            </a:pPr>
            <a:r>
              <a:rPr lang="ar-SA" altLang="en-US" sz="1350" dirty="0">
                <a:solidFill>
                  <a:srgbClr val="5A6472"/>
                </a:solidFill>
                <a:latin typeface="Amiri" pitchFamily="2" charset="-78"/>
                <a:ea typeface="Amiri" pitchFamily="2" charset="-78"/>
                <a:cs typeface="Amiri" pitchFamily="2" charset="-78"/>
              </a:rPr>
              <a:t>مَصْنُوعَةٌ</a:t>
            </a:r>
            <a:pPr algn="l" indent="0" marL="0">
              <a:buNone/>
            </a:pPr>
            <a:r>
              <a:rPr lang="en-US" sz="1050" i="1" dirty="0">
                <a:solidFill>
                  <a:srgbClr val="5A6472"/>
                </a:solidFill>
                <a:latin typeface="Calibri" pitchFamily="34" charset="0"/>
                <a:cs typeface="Amiri" pitchFamily="2" charset="-78"/>
              </a:rPr>
              <a:t>; always </a:t>
            </a:r>
            <a:pPr algn="l" indent="0" marL="0">
              <a:buNone/>
            </a:pPr>
            <a:r>
              <a:rPr lang="ar-SA" altLang="en-US" sz="1350" dirty="0">
                <a:solidFill>
                  <a:srgbClr val="5A6472"/>
                </a:solidFill>
                <a:latin typeface="Amiri" pitchFamily="2" charset="-78"/>
                <a:ea typeface="Amiri" pitchFamily="2" charset="-78"/>
                <a:cs typeface="Amiri" pitchFamily="2" charset="-78"/>
              </a:rPr>
              <a:t>مِنْ</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الطَّاوِلَةُ مَصْنُوعَةٌ مِنَ الخَشَبِ.</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Its (the bottle’s) capacity is one litre.</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الزُّجَاجَةُ</a:t>
            </a:r>
            <a:pPr algn="l" indent="0" marL="0">
              <a:buNone/>
            </a:pPr>
            <a:r>
              <a:rPr lang="en-US" sz="1050" i="1" dirty="0">
                <a:solidFill>
                  <a:srgbClr val="5A6472"/>
                </a:solidFill>
                <a:latin typeface="Calibri" pitchFamily="34" charset="0"/>
                <a:cs typeface="Amiri" pitchFamily="2" charset="-78"/>
              </a:rPr>
              <a:t> is feminine → </a:t>
            </a:r>
            <a:pPr algn="l" indent="0" marL="0">
              <a:buNone/>
            </a:pPr>
            <a:r>
              <a:rPr lang="ar-SA" altLang="en-US" sz="1350" dirty="0">
                <a:solidFill>
                  <a:srgbClr val="5A6472"/>
                </a:solidFill>
                <a:latin typeface="Amiri" pitchFamily="2" charset="-78"/>
                <a:ea typeface="Amiri" pitchFamily="2" charset="-78"/>
                <a:cs typeface="Amiri" pitchFamily="2" charset="-78"/>
              </a:rPr>
              <a:t>سِعَتُهَا</a:t>
            </a:r>
            <a:pPr algn="l" indent="0" marL="0">
              <a:buNone/>
            </a:pPr>
            <a:r>
              <a:rPr lang="en-US" sz="1050" i="1" dirty="0">
                <a:solidFill>
                  <a:srgbClr val="5A6472"/>
                </a:solidFill>
                <a:latin typeface="Calibri" pitchFamily="34" charset="0"/>
                <a:cs typeface="Amiri" pitchFamily="2" charset="-78"/>
              </a:rPr>
              <a:t>; </a:t>
            </a:r>
            <a:pPr algn="l" indent="0" marL="0">
              <a:buNone/>
            </a:pPr>
            <a:r>
              <a:rPr lang="ar-SA" altLang="en-US" sz="1350" dirty="0">
                <a:solidFill>
                  <a:srgbClr val="5A6472"/>
                </a:solidFill>
                <a:latin typeface="Amiri" pitchFamily="2" charset="-78"/>
                <a:ea typeface="Amiri" pitchFamily="2" charset="-78"/>
                <a:cs typeface="Amiri" pitchFamily="2" charset="-78"/>
              </a:rPr>
              <a:t>لِتْرٌ</a:t>
            </a:r>
            <a:pPr algn="l" indent="0" marL="0">
              <a:buNone/>
            </a:pPr>
            <a:r>
              <a:rPr lang="en-US" sz="1050" i="1" dirty="0">
                <a:solidFill>
                  <a:srgbClr val="5A6472"/>
                </a:solidFill>
                <a:latin typeface="Calibri" pitchFamily="34" charset="0"/>
                <a:cs typeface="Amiri" pitchFamily="2" charset="-78"/>
              </a:rPr>
              <a:t> is masculine → </a:t>
            </a:r>
            <a:pPr algn="l" indent="0" marL="0">
              <a:buNone/>
            </a:pPr>
            <a:r>
              <a:rPr lang="ar-SA" altLang="en-US" sz="1350" dirty="0">
                <a:solidFill>
                  <a:srgbClr val="5A6472"/>
                </a:solidFill>
                <a:latin typeface="Amiri" pitchFamily="2" charset="-78"/>
                <a:ea typeface="Amiri" pitchFamily="2" charset="-78"/>
                <a:cs typeface="Amiri" pitchFamily="2" charset="-78"/>
              </a:rPr>
              <a:t>وَاحِدٌ</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سِعَتُهَا لِتْرٌ وَاحِدٌ.</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The city is crowded, whereas the village is quiet.</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B · B</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بَيْنَمَا</a:t>
            </a:r>
            <a:pPr algn="l" indent="0" marL="0">
              <a:buNone/>
            </a:pPr>
            <a:r>
              <a:rPr lang="en-US" sz="1050" i="1" dirty="0">
                <a:solidFill>
                  <a:srgbClr val="5A6472"/>
                </a:solidFill>
                <a:latin typeface="Calibri" pitchFamily="34" charset="0"/>
                <a:cs typeface="Amiri" pitchFamily="2" charset="-78"/>
              </a:rPr>
              <a:t> + a complete, different idea (website).</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المَدِينَةُ مُكْتَظَّةٌ، بَيْنَمَا القَرْيَةُ هَادِئَةٌ.</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TC-L10 · Measure, Shape, Material</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Material or building?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مَادَّةٌ أَمْ مَبْنًى؟</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TC-L10</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حَجَرٌ</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عِمَارَةٌ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زُجَاجٌ</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نَاطِحَةُ سَحَابٍ</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خَرَسَانَةٌ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مَنْزِلٌ مُسْتَقِلٌّ</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طِينٌ</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مَبْنًى تَارِيخِيٌّ</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Material</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Building</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TC-L10 · Measure, Shape, Material</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TC-L10</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Material</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حَجَرٌ</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زُجَاجٌ</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خَرَسَانَةٌ</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طِينٌ</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Building</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عِمَارَةٌ</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نَاطِحَةُ سَحَابٍ</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مَنْزِلٌ مُسْتَقِلٌّ</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مَبْنًى تَارِيخِيٌّ</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TC-L10 · Measure, Shape, Material</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4, 5, 6,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TC-L10</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ea typeface="Amiri" pitchFamily="2" charset="-78"/>
                <a:cs typeface="Amiri" pitchFamily="2" charset="-78"/>
              </a:rPr>
              <a:t>القَرْيَةُ بِبُيُوتِهَا التَّقْلِيدِيَّةِ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يَتَمَيَّزُ</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تَمَيَّزْ</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تَتَمَيَّزُ</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means “whereas”?</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بَيْنَمَا</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ثُمَّ</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meaningful contrast.</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المَدِينَةُ مُكْتَظَّةٌ، بَيْنَمَا المَدِينَةُ مُكْتَظَّةٌ.</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المَدِينَةُ مُكْتَظَّةٌ، بَيْنَمَا القَرْيَةُ هَادِئَةٌ.</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المَدِينَةُ لِأَنَّ القَرْيَةَ.</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architectural heritage?</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مَوَاصَلَاتٌ عَامَّةٌ</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رِحْلَةٌ مُبَاشِرَةٌ</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تُرَاثٌ مِعْمَارِيٌّ</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TC-L10 · Measure, Shape, Material</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TC-L10</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ea typeface="Amiri" pitchFamily="2" charset="-78"/>
                <a:cs typeface="Amiri" pitchFamily="2" charset="-78"/>
              </a:rPr>
              <a:t>القَرْيَةُ بِبُيُوتِهَا التَّقْلِيدِيَّةِ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يَتَمَيَّزُ</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تَمَيَّزْ</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تَتَمَيَّزُ</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القَرْيَةُ</a:t>
            </a:r>
            <a:pPr algn="l" indent="0" marL="0">
              <a:buNone/>
            </a:pPr>
            <a:r>
              <a:rPr lang="en-US" sz="1050" i="1" dirty="0">
                <a:solidFill>
                  <a:srgbClr val="8A6D1E"/>
                </a:solidFill>
                <a:latin typeface="Calibri" pitchFamily="34" charset="0"/>
                <a:cs typeface="Amiri" pitchFamily="2" charset="-78"/>
              </a:rPr>
              <a:t> is feminine.</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means “whereas”?</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بَيْنَمَا</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ثُمَّ</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بَيْنَمَا</a:t>
            </a:r>
            <a:pPr algn="l" indent="0" marL="0">
              <a:buNone/>
            </a:pPr>
            <a:r>
              <a:rPr lang="en-US" sz="1050" i="1" dirty="0">
                <a:solidFill>
                  <a:srgbClr val="8A6D1E"/>
                </a:solidFill>
                <a:latin typeface="Calibri" pitchFamily="34" charset="0"/>
                <a:cs typeface="Amiri" pitchFamily="2" charset="-78"/>
              </a:rPr>
              <a:t> creates contrast.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meaningful contrast.</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المَدِينَةُ مُكْتَظَّةٌ، بَيْنَمَا المَدِينَةُ مُكْتَظَّةٌ.</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المَدِينَةُ مُكْتَظَّةٌ، بَيْنَمَا القَرْيَةُ هَادِئَةٌ.</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المَدِينَةُ لِأَنَّ القَرْيَةَ.</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two clauses contrast urban and rural life.</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architectural heritage?</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مَوَاصَلَاتٌ عَامَّةٌ</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رِحْلَةٌ مُبَاشِرَةٌ</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تُرَاثٌ مِعْمَارِيٌّ</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تُرَاثٌ مِعْمَارِيٌّ</a:t>
            </a:r>
            <a:pPr algn="l" indent="0" marL="0">
              <a:buNone/>
            </a:pPr>
            <a:r>
              <a:rPr lang="en-US" sz="1050" i="1" dirty="0">
                <a:solidFill>
                  <a:srgbClr val="8A6D1E"/>
                </a:solidFill>
                <a:latin typeface="Calibri" pitchFamily="34" charset="0"/>
                <a:cs typeface="Amiri" pitchFamily="2" charset="-78"/>
              </a:rPr>
              <a:t> means architectural heritage.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TC-L10 · Measure, Shape, Material</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العِمَارَةُ مَبْنِيٌّ مِنَ الخَرَسَانَةِ.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is wrong? Is </a:t>
            </a:r>
            <a:pPr algn="l" indent="0" marL="0">
              <a:buNone/>
            </a:pPr>
            <a:r>
              <a:rPr lang="ar-SA" altLang="en-US" sz="1700" dirty="0">
                <a:solidFill>
                  <a:srgbClr val="5A6472"/>
                </a:solidFill>
                <a:latin typeface="Amiri" pitchFamily="2" charset="-78"/>
                <a:ea typeface="Amiri" pitchFamily="2" charset="-78"/>
                <a:cs typeface="Amiri" pitchFamily="2" charset="-78"/>
              </a:rPr>
              <a:t>العِمَارَةُ</a:t>
            </a:r>
            <a:pPr algn="l" indent="0" marL="0">
              <a:buNone/>
            </a:pPr>
            <a:r>
              <a:rPr lang="en-US" sz="1300" i="1" dirty="0">
                <a:solidFill>
                  <a:srgbClr val="5A6472"/>
                </a:solidFill>
                <a:latin typeface="Calibri" pitchFamily="34" charset="0"/>
                <a:cs typeface="Amiri" pitchFamily="2" charset="-78"/>
              </a:rPr>
              <a:t> masculine or feminine?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يَتَمَيَّزُ القَرْيَةُ بِالتُّرَاثِ.</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is wrong? Is </a:t>
            </a:r>
            <a:pPr algn="l" indent="0" marL="0">
              <a:buNone/>
            </a:pPr>
            <a:r>
              <a:rPr lang="ar-SA" altLang="en-US" sz="1700" dirty="0">
                <a:solidFill>
                  <a:srgbClr val="5A6472"/>
                </a:solidFill>
                <a:latin typeface="Amiri" pitchFamily="2" charset="-78"/>
                <a:ea typeface="Amiri" pitchFamily="2" charset="-78"/>
                <a:cs typeface="Amiri" pitchFamily="2" charset="-78"/>
              </a:rPr>
              <a:t>القَرْيَةُ</a:t>
            </a:r>
            <a:pPr algn="l" indent="0" marL="0">
              <a:buNone/>
            </a:pPr>
            <a:r>
              <a:rPr lang="en-US" sz="1300" i="1" dirty="0">
                <a:solidFill>
                  <a:srgbClr val="5A6472"/>
                </a:solidFill>
                <a:latin typeface="Calibri" pitchFamily="34" charset="0"/>
                <a:cs typeface="Amiri" pitchFamily="2" charset="-78"/>
              </a:rPr>
              <a:t> masculine or feminine?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المَدِينَةُ مُكْتَظَّةٌ بَيْنَمَا مُكْتَظَّةٌ.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is wrong? Is the second idea really different?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TC-L10 · Measure, Shape, Material</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العِمَارَةُ مَبْنِيٌّ مِنَ الخَرَسَانَةِ.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العِمَارَةُ مَبْنِيَّةٌ مِنَ الخَرَسَانَةِ.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participle agrees with the feminine building.</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يَتَمَيَّزُ القَرْيَةُ بِالتُّرَاثِ.</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تَتَمَيَّزُ القَرْيَةُ بِالتُّرَاثِ.</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verb agrees with feminine </a:t>
            </a:r>
            <a:pPr algn="l" indent="0" marL="0">
              <a:buNone/>
            </a:pPr>
            <a:r>
              <a:rPr lang="ar-SA" altLang="en-US" sz="1500" b="1" dirty="0">
                <a:solidFill>
                  <a:srgbClr val="1B3B6F"/>
                </a:solidFill>
                <a:latin typeface="Amiri" pitchFamily="2" charset="-78"/>
                <a:ea typeface="Amiri" pitchFamily="2" charset="-78"/>
                <a:cs typeface="Amiri" pitchFamily="2" charset="-78"/>
              </a:rPr>
              <a:t>القَرْيَةُ</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المَدِينَةُ مُكْتَظَّةٌ بَيْنَمَا مُكْتَظَّةٌ.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المَدِينَةُ مُكْتَظَّةٌ، بَيْنَمَا القَرْيَةُ هَادِئَةٌ.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بَيْنَمَا</a:t>
            </a:r>
            <a:pPr algn="l" indent="0" marL="0">
              <a:buNone/>
            </a:pPr>
            <a:r>
              <a:rPr lang="en-US" sz="1150" b="1" dirty="0">
                <a:solidFill>
                  <a:srgbClr val="1B3B6F"/>
                </a:solidFill>
                <a:latin typeface="Calibri" pitchFamily="34" charset="0"/>
                <a:cs typeface="Amiri" pitchFamily="2" charset="-78"/>
              </a:rPr>
              <a:t> needs two complete contrasting ideas.</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TC-L10 · Measure, Shape, Material</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Architecture in two neighbourhoods</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are the traditional houses built of?</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stone and clay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glass and metal</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wood only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distinguishes the traditional houses?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tall towers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large stations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wooden doors and inner courtyards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in the new neighbourhood?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mud houses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village market only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contemporary apartment blocks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materials are used there?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concrete and glass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stone and clay</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sand and rock</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neighbourhood is quieter?</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new one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old one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 the same</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3 and 4 — listen for </a:t>
            </a:r>
            <a:pPr algn="l" indent="0" marL="0">
              <a:buNone/>
            </a:pPr>
            <a:r>
              <a:rPr lang="ar-SA" altLang="en-US" sz="1650" dirty="0">
                <a:solidFill>
                  <a:srgbClr val="1E6B52"/>
                </a:solidFill>
                <a:latin typeface="Amiri" pitchFamily="2" charset="-78"/>
                <a:ea typeface="Amiri" pitchFamily="2" charset="-78"/>
                <a:cs typeface="Amiri" pitchFamily="2" charset="-78"/>
              </a:rPr>
              <a:t>الحَجَرِ وَالطِّينِ</a:t>
            </a:r>
            <a:pPr algn="l" indent="0" marL="0">
              <a:buNone/>
            </a:pPr>
            <a:r>
              <a:rPr lang="en-US" sz="1250" dirty="0">
                <a:solidFill>
                  <a:srgbClr val="1E6B52"/>
                </a:solidFill>
                <a:latin typeface="Calibri" pitchFamily="34" charset="0"/>
                <a:cs typeface="Amiri" pitchFamily="2" charset="-78"/>
              </a:rPr>
              <a:t> (stone and clay), </a:t>
            </a:r>
            <a:pPr algn="l" indent="0" marL="0">
              <a:buNone/>
            </a:pPr>
            <a:r>
              <a:rPr lang="ar-SA" altLang="en-US" sz="1650" dirty="0">
                <a:solidFill>
                  <a:srgbClr val="1E6B52"/>
                </a:solidFill>
                <a:latin typeface="Amiri" pitchFamily="2" charset="-78"/>
                <a:ea typeface="Amiri" pitchFamily="2" charset="-78"/>
                <a:cs typeface="Amiri" pitchFamily="2" charset="-78"/>
              </a:rPr>
              <a:t>عِمَارَاتٌ</a:t>
            </a:r>
            <a:pPr algn="l" indent="0" marL="0">
              <a:buNone/>
            </a:pPr>
            <a:r>
              <a:rPr lang="en-US" sz="1250" dirty="0">
                <a:solidFill>
                  <a:srgbClr val="1E6B52"/>
                </a:solidFill>
                <a:latin typeface="Calibri" pitchFamily="34" charset="0"/>
                <a:cs typeface="Amiri" pitchFamily="2" charset="-78"/>
              </a:rPr>
              <a:t> (blocks) and </a:t>
            </a:r>
            <a:pPr algn="l" indent="0" marL="0">
              <a:buNone/>
            </a:pPr>
            <a:r>
              <a:rPr lang="ar-SA" altLang="en-US" sz="1650" dirty="0">
                <a:solidFill>
                  <a:srgbClr val="1E6B52"/>
                </a:solidFill>
                <a:latin typeface="Amiri" pitchFamily="2" charset="-78"/>
                <a:ea typeface="Amiri" pitchFamily="2" charset="-78"/>
                <a:cs typeface="Amiri" pitchFamily="2" charset="-78"/>
              </a:rPr>
              <a:t>الخَرَسَانَةِ وَالزُّجَاجِ</a:t>
            </a:r>
            <a:pPr algn="l" indent="0" marL="0">
              <a:buNone/>
            </a:pPr>
            <a:r>
              <a:rPr lang="en-US" sz="1250" dirty="0">
                <a:solidFill>
                  <a:srgbClr val="1E6B52"/>
                </a:solidFill>
                <a:latin typeface="Calibri" pitchFamily="34" charset="0"/>
                <a:cs typeface="Amiri" pitchFamily="2" charset="-78"/>
              </a:rPr>
              <a:t> (concrete and glass).</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TC-L10 · Measure, Shape, Material</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TC-L10</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 الحَيِّ القَدِيمِ بُيُوتٌ تَقْلِيدِيَّةٌ مَبْنِيَّةٌ مِنَ الحَجَرِ وَالطِّينِ.</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old district there are traditional houses built of stone and clay.</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تَتَمَيَّزُ البُيُوتُ بِأَبْوَابِهَا الخَشَبِيَّةِ وَسَاحَاتِهَا الدَّاخِلِيَّةِ.</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houses are known for their wooden doors and inner courtyards.</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أَمَّا فِي الحَيِّ الجَدِيدِ فَتُوجَدُ عِمَارَاتٌ مُعَاصِرَةٌ مَبْنِيَّةٌ مِنَ الخَرَسَانَةِ وَالزُّجَاجِ.</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 for the new district, there are modern blocks built of concrete and glass.</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الحَيُّ الجَدِيدُ مُكْتَنِزٌ، بَيْنَمَا الحَيُّ القَدِيمُ أَكْثَرُ هُدُوءًا.</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new district is dense, whereas the old district is quieter.</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TC-L10 · Measure, Shape, Material</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are the traditional houses built of?</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stone and clay</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glass and metal</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wood only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مِنَ الحَجَرِ وَالطِّينِ.</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distinguishes the traditional houses?</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tall towers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large stations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wooden doors and inner courtyards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أَبْوَابِهَا الخَشَبِيَّةِ وَسَاحَاتِهَا.</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in the new neighbourhood?</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mud houses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village market only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contemporary apartment blocks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عِمَارَاتٌ مُعَاصِرَةٌ.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materials are used there?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concrete and glass</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stone and clay</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sand and rock</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مِنَ الخَرَسَانَةِ وَالزُّجَاجِ.</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neighbourhood is quieter?</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new one</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old one</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 the same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الحَيُّ القَدِيمُ أَكْثَرُ هُدُوءًا.</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3 and 4 — listen for </a:t>
            </a:r>
            <a:pPr algn="l" indent="0" marL="0">
              <a:buNone/>
            </a:pPr>
            <a:r>
              <a:rPr lang="ar-SA" altLang="en-US" sz="1650" dirty="0">
                <a:solidFill>
                  <a:srgbClr val="1E6B52"/>
                </a:solidFill>
                <a:latin typeface="Amiri" pitchFamily="2" charset="-78"/>
                <a:ea typeface="Amiri" pitchFamily="2" charset="-78"/>
                <a:cs typeface="Amiri" pitchFamily="2" charset="-78"/>
              </a:rPr>
              <a:t>الحَجَرِ وَالطِّينِ</a:t>
            </a:r>
            <a:pPr algn="l" indent="0" marL="0">
              <a:buNone/>
            </a:pPr>
            <a:r>
              <a:rPr lang="en-US" sz="1250" dirty="0">
                <a:solidFill>
                  <a:srgbClr val="1E6B52"/>
                </a:solidFill>
                <a:latin typeface="Calibri" pitchFamily="34" charset="0"/>
                <a:cs typeface="Amiri" pitchFamily="2" charset="-78"/>
              </a:rPr>
              <a:t> (stone and clay), </a:t>
            </a:r>
            <a:pPr algn="l" indent="0" marL="0">
              <a:buNone/>
            </a:pPr>
            <a:r>
              <a:rPr lang="ar-SA" altLang="en-US" sz="1650" dirty="0">
                <a:solidFill>
                  <a:srgbClr val="1E6B52"/>
                </a:solidFill>
                <a:latin typeface="Amiri" pitchFamily="2" charset="-78"/>
                <a:ea typeface="Amiri" pitchFamily="2" charset="-78"/>
                <a:cs typeface="Amiri" pitchFamily="2" charset="-78"/>
              </a:rPr>
              <a:t>عِمَارَاتٌ</a:t>
            </a:r>
            <a:pPr algn="l" indent="0" marL="0">
              <a:buNone/>
            </a:pPr>
            <a:r>
              <a:rPr lang="en-US" sz="1250" dirty="0">
                <a:solidFill>
                  <a:srgbClr val="1E6B52"/>
                </a:solidFill>
                <a:latin typeface="Calibri" pitchFamily="34" charset="0"/>
                <a:cs typeface="Amiri" pitchFamily="2" charset="-78"/>
              </a:rPr>
              <a:t> (blocks) and </a:t>
            </a:r>
            <a:pPr algn="l" indent="0" marL="0">
              <a:buNone/>
            </a:pPr>
            <a:r>
              <a:rPr lang="ar-SA" altLang="en-US" sz="1650" dirty="0">
                <a:solidFill>
                  <a:srgbClr val="1E6B52"/>
                </a:solidFill>
                <a:latin typeface="Amiri" pitchFamily="2" charset="-78"/>
                <a:ea typeface="Amiri" pitchFamily="2" charset="-78"/>
                <a:cs typeface="Amiri" pitchFamily="2" charset="-78"/>
              </a:rPr>
              <a:t>الخَرَسَانَةِ وَالزُّجَاجِ</a:t>
            </a:r>
            <a:pPr algn="l" indent="0" marL="0">
              <a:buNone/>
            </a:pPr>
            <a:r>
              <a:rPr lang="en-US" sz="1250" dirty="0">
                <a:solidFill>
                  <a:srgbClr val="1E6B52"/>
                </a:solidFill>
                <a:latin typeface="Calibri" pitchFamily="34" charset="0"/>
                <a:cs typeface="Amiri" pitchFamily="2" charset="-78"/>
              </a:rPr>
              <a:t> (concrete and glass).</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TC-L10 · Measure, Shape, Material</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Architecture comparison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TC-L10</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هٰذَا الشَّيْءُ؟ صِفْ شَكْلَهُ وَمَادَّتَهُ.</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مِمَّ بُنِيَ هٰذَا المَبْنَى؟</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الفَرْقُ بَيْنَ الحَيِّ القَدِيمِ وَالجَدِيدِ؟</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أَيُّ نَوْعٍ مِنَ العُمْرَانِ تُفَضِّلُ؟ وَلِمَاذَا؟</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هُوَ مَصْنُوعٌ / هِيَ مَصْنُوعَةٌ مِنَ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طُولُهُ / طُولُهَا ___ ، وَشَكْلُهُ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___ ، بَيْنَمَا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يَقُولُ / تَقُولُ إِنَّ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مِمَّ بُنِيَ هٰذَا البَيْتُ؟</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is this house built from?</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هُوَ مَبْنِيٌّ مِنَ الحَجَرِ وَالخَشَبِ.</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It is built of stone and wood.</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TC-L10 · Measure, Shape, Material</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TC-L10</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4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Describe one object at home: what it is, its shape, one measurement and what it is made of.</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Use the frames and word bank on the next slide — copy the I do model and change the words.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an accurate comparison using agreement and </a:t>
            </a:r>
            <a:pPr algn="l" indent="0" marL="0">
              <a:buNone/>
            </a:pPr>
            <a:r>
              <a:rPr lang="ar-SA" altLang="en-US" sz="1800" b="1" dirty="0">
                <a:solidFill>
                  <a:srgbClr val="1F2A37"/>
                </a:solidFill>
                <a:latin typeface="Amiri" pitchFamily="2" charset="-78"/>
                <a:ea typeface="Amiri" pitchFamily="2" charset="-78"/>
                <a:cs typeface="Amiri" pitchFamily="2" charset="-78"/>
              </a:rPr>
              <a:t>بَيْنَمَا</a:t>
            </a:r>
            <a:pPr algn="l" indent="0" marL="0">
              <a:buNone/>
            </a:pPr>
            <a:r>
              <a:rPr lang="en-US" sz="1400" b="1" dirty="0">
                <a:solidFill>
                  <a:srgbClr val="1F2A37"/>
                </a:solidFill>
                <a:latin typeface="Calibri" pitchFamily="34" charset="0"/>
                <a:cs typeface="Amiri" pitchFamily="2" charset="-78"/>
              </a:rPr>
              <a:t>.</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Describe two buildings with the right ending (built of …), one feature (known for …) and one contrast (whereas …).</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80–100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Analyse how a contemporary building can respect architectural heritage and propose one design feature.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writing task: compare an old and a modern building; checklist and phrase bank on the Stretch slide.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TC-L10 · Measure, Shape, Material</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TC-L10</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مَبْنِيٌّ مِنَ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 (m.) is built of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مَبْنِيَّةٌ مِنَ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 (f.) is built of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يَتَمَيَّزُ / تَتَمَيَّزُ بِـ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is known for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مُنَاسِبٌ لِـ ______ لِأَنَّ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is suitable for … because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 بَيْنَمَا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whereas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هٰذَا ______ / هٰذِهِ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(m.) is a … / This (f.) is a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شَكْلُهُ / شَكْلُهَا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Its shape is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طُولُهُ / طُولُهَا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Its length is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هُوَ مَصْنُوعٌ مِنَ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(m.) is made of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هِيَ مَصْنُوعَةٌ مِنَ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(f.) is made of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خَشَبٌ  ·  حَجَرٌ  ·  زُجَاجٌ  ·  مَعْدِنٌ  ·  بِلَاسْتِيكٌ  ·  طُوبٌ  ·  مُسْتَطِيلٌ  ·  دَائِرِيٌّ  ·  مِتْرَانِ  ·  كِيلُوغْرَامٌ  ·  قَوِيٌّ  ·  خَفِيفٌ</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TC-L10 · Measure, Shape, Material</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TC-L10</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Compare an old building and a modern building in 80–100 Arabic words.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Name at least four materials.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a:r>
            <a:pPr algn="l" indent="0" marL="0">
              <a:buNone/>
            </a:pPr>
            <a:r>
              <a:rPr lang="ar-SA" altLang="en-US" sz="1550" dirty="0">
                <a:solidFill>
                  <a:srgbClr val="1F2A37"/>
                </a:solidFill>
                <a:latin typeface="Amiri" pitchFamily="2" charset="-78"/>
                <a:ea typeface="Amiri" pitchFamily="2" charset="-78"/>
                <a:cs typeface="Amiri" pitchFamily="2" charset="-78"/>
              </a:rPr>
              <a:t>مَبْنِيٌّ / مَبْنِيَّةٌ</a:t>
            </a:r>
            <a:pPr algn="l" indent="0" marL="0">
              <a:buNone/>
            </a:pPr>
            <a:r>
              <a:rPr lang="en-US" sz="1200" dirty="0">
                <a:solidFill>
                  <a:srgbClr val="1F2A37"/>
                </a:solidFill>
                <a:latin typeface="Calibri" pitchFamily="34" charset="0"/>
                <a:cs typeface="Amiri" pitchFamily="2" charset="-78"/>
              </a:rPr>
              <a:t> accurately.</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a:r>
            <a:pPr algn="l" indent="0" marL="0">
              <a:buNone/>
            </a:pPr>
            <a:r>
              <a:rPr lang="ar-SA" altLang="en-US" sz="1550" dirty="0">
                <a:solidFill>
                  <a:srgbClr val="1F2A37"/>
                </a:solidFill>
                <a:latin typeface="Amiri" pitchFamily="2" charset="-78"/>
                <a:ea typeface="Amiri" pitchFamily="2" charset="-78"/>
                <a:cs typeface="Amiri" pitchFamily="2" charset="-78"/>
              </a:rPr>
              <a:t>يَتَمَيَّزُ / تَتَمَيَّزُ بِـ</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Create a meaningful contrast with </a:t>
            </a:r>
            <a:pPr algn="l" indent="0" marL="0">
              <a:buNone/>
            </a:pPr>
            <a:r>
              <a:rPr lang="ar-SA" altLang="en-US" sz="1550" dirty="0">
                <a:solidFill>
                  <a:srgbClr val="1F2A37"/>
                </a:solidFill>
                <a:latin typeface="Amiri" pitchFamily="2" charset="-78"/>
                <a:ea typeface="Amiri" pitchFamily="2" charset="-78"/>
                <a:cs typeface="Amiri" pitchFamily="2" charset="-78"/>
              </a:rPr>
              <a:t>بَيْنَمَا</a:t>
            </a:r>
            <a:pPr algn="l" indent="0" marL="0">
              <a:buNone/>
            </a:pPr>
            <a:r>
              <a:rPr lang="en-US" sz="1200" dirty="0">
                <a:solidFill>
                  <a:srgbClr val="1F2A37"/>
                </a:solidFill>
                <a:latin typeface="Calibri" pitchFamily="34" charset="0"/>
                <a:cs typeface="Amiri" pitchFamily="2" charset="-78"/>
              </a:rPr>
              <a:t> and give an opinion.</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فِي مَدِينَتِي مَسْجِدٌ تَارِيخِيٌّ وَمَرْكَزٌ ثَقَافِيٌّ حَدِيثٌ</a:t>
            </a:r>
            <a:endParaRPr lang="ar-SA" sz="16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my city there is a historic mosque and a modern cultural centre</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المَسْجِدُ مَبْنِيٌّ مِنَ …</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mosque is built of …</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وَيَتَمَيَّزُ بِقُبَّتِهِ وَأَبْوَابِهِ الخَشَبِيَّةِ</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it is known for its dome and wooden doors</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أَمَّا المَرْكَزُ فَـ …</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as for the centre, …</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 هَادِئٌ وَتَقْلِيدِيٌّ، بَيْنَمَا … مُعَاصِرٌ</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 is calm and traditional, whereas … is modern</a:t>
            </a:r>
            <a:endParaRPr lang="en-US" sz="1050" dirty="0"/>
          </a:p>
        </p:txBody>
      </p:sp>
      <p:sp>
        <p:nvSpPr>
          <p:cNvPr id="35" name="Text 32"/>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أُحِبُّ المَبْنَيَيْنِ لِأَنَّ …</a:t>
            </a:r>
            <a:endParaRPr lang="ar-SA" sz="1800" dirty="0"/>
          </a:p>
        </p:txBody>
      </p:sp>
      <p:sp>
        <p:nvSpPr>
          <p:cNvPr id="36" name="Text 33"/>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like both buildings because …</a:t>
            </a:r>
            <a:endParaRPr lang="en-US" sz="10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47</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TC-L10 · Measure, Shape, Material</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TC-L10</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فِي مَدِينَتِي مَسْجِدٌ تَارِيخِيٌّ وَمَرْكَزٌ ثَقَافِيٌّ حَدِيثٌ. المَسْجِدُ مَبْنِيٌّ مِنَ الحَجَرِ، وَيَتَمَيَّزُ بِقُبَّتِهِ وَأَبْوَابِهِ الخَشَبِيَّةِ. أَمَّا المَرْكَزُ فَهُوَ مَبْنِيٌّ مِنَ الزُّجَاجِ وَالمَعْدِنِ، وَفِيهِ قَاعَاتٌ فَسِيحَةٌ. المَسْجِدُ هَادِئٌ وَتَقْلِيدِيٌّ، بَيْنَمَا المَرْكَزُ نَشِيطٌ وَمُعَاصِرٌ. أُحِبُّ المَبْنَيَيْنِ لِأَنَّ الأَوَّلَ يَحْمِي التُّرَاثَ وَالثَّانِيَ يُقَدِّمُ خِدْمَاتٍ جَدِيدَةً.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In my city there is a historic mosque and a modern cultural centre. The mosque is built of stone, and it is known for its dome and its wooden doors. As for the centre, it is built of glass and metal, and it has spacious halls. The mosque is calm and traditional, whereas the centre is lively and modern. I like both buildings, because the first protects our heritage and the second offers new services.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مَبْنِيٌّ مِنَ</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يَتَمَيَّزُ بِـ</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أَمَّا … فَـ</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بَيْنَمَا</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47</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TC-L10 · Measure, Shape, Material</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TC-L10</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name 6 materials and 6 shape or size words.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say what an object is made of and give its length (</a:t>
            </a:r>
            <a:pPr algn="l" indent="0" marL="0">
              <a:buNone/>
            </a:pPr>
            <a:r>
              <a:rPr lang="ar-SA" altLang="en-US" sz="1700" dirty="0">
                <a:solidFill>
                  <a:srgbClr val="1F2A37"/>
                </a:solidFill>
                <a:latin typeface="Amiri" pitchFamily="2" charset="-78"/>
                <a:ea typeface="Amiri" pitchFamily="2" charset="-78"/>
                <a:cs typeface="Amiri" pitchFamily="2" charset="-78"/>
              </a:rPr>
              <a:t>طُولُهُ / طُولُهَا</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describe four buildings accurately.</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say what something is for and why it is suitable (</a:t>
            </a:r>
            <a:pPr algn="l" indent="0" marL="0">
              <a:buNone/>
            </a:pPr>
            <a:r>
              <a:rPr lang="ar-SA" altLang="en-US" sz="1700" dirty="0">
                <a:solidFill>
                  <a:srgbClr val="1F2A37"/>
                </a:solidFill>
                <a:latin typeface="Amiri" pitchFamily="2" charset="-78"/>
                <a:ea typeface="Amiri" pitchFamily="2" charset="-78"/>
                <a:cs typeface="Amiri" pitchFamily="2" charset="-78"/>
              </a:rPr>
              <a:t>مُنَاسِبٌ لِـ … لِأَنَّ</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contrast urban and rural life.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47</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TC-L10 · Measure, Shape, Material</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stone?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حَجَرٌ</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زُجَاجٌ</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خَشَبٌ</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العِمَارَةُ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مِنَ الخَرَسَانَةِ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مَبْنِيٌّ</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مَبْنِيَّةٌ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مَبْنِيَّانِ</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contrasts two settings?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بَيْنَمَا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لِذٰلِكَ</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ثُمَّ</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47</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TC-L10 · Measure, Shape, Material</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stone?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حَجَرٌ</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زُجَاجٌ</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خَشَبٌ</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حَجَرٌ</a:t>
            </a:r>
            <a:pPr algn="l" indent="0" marL="0">
              <a:buNone/>
            </a:pPr>
            <a:r>
              <a:rPr lang="en-US" sz="1050" i="1" dirty="0">
                <a:solidFill>
                  <a:srgbClr val="8A6D1E"/>
                </a:solidFill>
                <a:latin typeface="Calibri" pitchFamily="34" charset="0"/>
                <a:cs typeface="Amiri" pitchFamily="2" charset="-78"/>
              </a:rPr>
              <a:t> means stone.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العِمَارَةُ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مِنَ الخَرَسَانَةِ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مَبْنِيٌّ</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مَبْنِيَّةٌ</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مَبْنِيَّانِ</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العِمَارَةُ</a:t>
            </a:r>
            <a:pPr algn="l" indent="0" marL="0">
              <a:buNone/>
            </a:pPr>
            <a:r>
              <a:rPr lang="en-US" sz="1050" i="1" dirty="0">
                <a:solidFill>
                  <a:srgbClr val="8A6D1E"/>
                </a:solidFill>
                <a:latin typeface="Calibri" pitchFamily="34" charset="0"/>
                <a:cs typeface="Amiri" pitchFamily="2" charset="-78"/>
              </a:rPr>
              <a:t> is feminine.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contrasts two settings?</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بَيْنَمَا</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لِذٰلِكَ</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ثُمَّ</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بَيْنَمَا</a:t>
            </a:r>
            <a:pPr algn="l" indent="0" marL="0">
              <a:buNone/>
            </a:pPr>
            <a:r>
              <a:rPr lang="en-US" sz="1050" i="1" dirty="0">
                <a:solidFill>
                  <a:srgbClr val="8A6D1E"/>
                </a:solidFill>
                <a:latin typeface="Calibri" pitchFamily="34" charset="0"/>
                <a:cs typeface="Amiri" pitchFamily="2" charset="-78"/>
              </a:rPr>
              <a:t> means whereas.</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47</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TC-L10 · Measure, Shape, Material</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Old and new architecture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TC-L10</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تَجْمَعُ مَدِينَةُ الرِّوَاقِ بَيْنَ التُّرَاثِ وَالعُمْرَانِ المُعَاصِرِ. فِي القَلْعَةِ القَدِيمَةِ مَبَانٍ مَبْنِيَّةٌ مِنَ الحَجَرِ، وَتَتَمَيَّزُ بِنَوَافِذِهَا الصَّغِيرَةِ وَأَقْوَاسِهَا. بِالقُرْبِ مِنْهَا مَرْكَزٌ ثَقَافِيٌّ حَدِيثٌ مَبْنِيٌّ مِنَ الزُّجَاجِ وَالمَعْدِنِ. يَحْتَرِمُ تَصْمِيمُهُ المِعْمَارَ القَدِيمَ، بَيْنَمَا يُوَفِّرُ مَسَاحَاتٍ فَسِيحَةً لِلزُّوَّارِ. لِذٰلِكَ يَرَى السُّكَّانُ أَنَّ المَشْرُوعَ يَحْمِي التُّرَاثَ وَيُطَوِّرُ المَدِينَةَ.</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تَجْمَعُ بَيْنَ</a:t>
            </a:r>
            <a:endParaRPr lang="ar-SA" sz="1600" dirty="0"/>
          </a:p>
        </p:txBody>
      </p:sp>
      <p:sp>
        <p:nvSpPr>
          <p:cNvPr id="22" name="Text 19"/>
          <p:cNvSpPr txBox="1"/>
          <p:nvPr/>
        </p:nvSpPr>
        <p:spPr>
          <a:xfrm>
            <a:off x="8851392" y="221284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combines</a:t>
            </a:r>
            <a:endParaRPr lang="en-US" sz="1050" dirty="0"/>
          </a:p>
        </p:txBody>
      </p:sp>
      <p:sp>
        <p:nvSpPr>
          <p:cNvPr id="23" name="Text 20"/>
          <p:cNvSpPr txBox="1"/>
          <p:nvPr/>
        </p:nvSpPr>
        <p:spPr>
          <a:xfrm>
            <a:off x="10102291" y="257860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العُمْرَانُ المُعَاصِرُ</a:t>
            </a:r>
            <a:endParaRPr lang="ar-SA" sz="1600" dirty="0"/>
          </a:p>
        </p:txBody>
      </p:sp>
      <p:sp>
        <p:nvSpPr>
          <p:cNvPr id="24" name="Text 21"/>
          <p:cNvSpPr txBox="1"/>
          <p:nvPr/>
        </p:nvSpPr>
        <p:spPr>
          <a:xfrm>
            <a:off x="8851392" y="257860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modern development</a:t>
            </a:r>
            <a:endParaRPr lang="en-US" sz="1050" dirty="0"/>
          </a:p>
        </p:txBody>
      </p:sp>
      <p:sp>
        <p:nvSpPr>
          <p:cNvPr id="25" name="Text 22"/>
          <p:cNvSpPr txBox="1"/>
          <p:nvPr/>
        </p:nvSpPr>
        <p:spPr>
          <a:xfrm>
            <a:off x="10102291" y="294436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القَلْعَةُ</a:t>
            </a:r>
            <a:endParaRPr lang="ar-SA" sz="1600" dirty="0"/>
          </a:p>
        </p:txBody>
      </p:sp>
      <p:sp>
        <p:nvSpPr>
          <p:cNvPr id="26" name="Text 23"/>
          <p:cNvSpPr txBox="1"/>
          <p:nvPr/>
        </p:nvSpPr>
        <p:spPr>
          <a:xfrm>
            <a:off x="8851392" y="294436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castle</a:t>
            </a:r>
            <a:endParaRPr lang="en-US" sz="1050" dirty="0"/>
          </a:p>
        </p:txBody>
      </p:sp>
      <p:sp>
        <p:nvSpPr>
          <p:cNvPr id="27" name="Text 24"/>
          <p:cNvSpPr txBox="1"/>
          <p:nvPr/>
        </p:nvSpPr>
        <p:spPr>
          <a:xfrm>
            <a:off x="10102291" y="331012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نَوَافِذُهَا</a:t>
            </a:r>
            <a:endParaRPr lang="ar-SA" sz="1600" dirty="0"/>
          </a:p>
        </p:txBody>
      </p:sp>
      <p:sp>
        <p:nvSpPr>
          <p:cNvPr id="28" name="Text 25"/>
          <p:cNvSpPr txBox="1"/>
          <p:nvPr/>
        </p:nvSpPr>
        <p:spPr>
          <a:xfrm>
            <a:off x="8851392" y="331012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its windows</a:t>
            </a:r>
            <a:endParaRPr lang="en-US" sz="1050" dirty="0"/>
          </a:p>
        </p:txBody>
      </p:sp>
      <p:sp>
        <p:nvSpPr>
          <p:cNvPr id="29" name="Text 26"/>
          <p:cNvSpPr txBox="1"/>
          <p:nvPr/>
        </p:nvSpPr>
        <p:spPr>
          <a:xfrm>
            <a:off x="10102291" y="367588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أَقْوَاسُهَا</a:t>
            </a:r>
            <a:endParaRPr lang="ar-SA" sz="1600" dirty="0"/>
          </a:p>
        </p:txBody>
      </p:sp>
      <p:sp>
        <p:nvSpPr>
          <p:cNvPr id="30" name="Text 27"/>
          <p:cNvSpPr txBox="1"/>
          <p:nvPr/>
        </p:nvSpPr>
        <p:spPr>
          <a:xfrm>
            <a:off x="8851392" y="367588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its arches</a:t>
            </a:r>
            <a:endParaRPr lang="en-US" sz="1050" dirty="0"/>
          </a:p>
        </p:txBody>
      </p:sp>
      <p:sp>
        <p:nvSpPr>
          <p:cNvPr id="31" name="Text 28"/>
          <p:cNvSpPr txBox="1"/>
          <p:nvPr/>
        </p:nvSpPr>
        <p:spPr>
          <a:xfrm>
            <a:off x="10102291" y="404164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مَرْكَزٌ ثَقَافِيٌّ</a:t>
            </a:r>
            <a:endParaRPr lang="ar-SA" sz="1600" dirty="0"/>
          </a:p>
        </p:txBody>
      </p:sp>
      <p:sp>
        <p:nvSpPr>
          <p:cNvPr id="32" name="Text 29"/>
          <p:cNvSpPr txBox="1"/>
          <p:nvPr/>
        </p:nvSpPr>
        <p:spPr>
          <a:xfrm>
            <a:off x="8851392" y="404164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cultural centre</a:t>
            </a:r>
            <a:endParaRPr lang="en-US" sz="1050" dirty="0"/>
          </a:p>
        </p:txBody>
      </p:sp>
      <p:sp>
        <p:nvSpPr>
          <p:cNvPr id="33" name="Text 30"/>
          <p:cNvSpPr txBox="1"/>
          <p:nvPr/>
        </p:nvSpPr>
        <p:spPr>
          <a:xfrm>
            <a:off x="10102291" y="440740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يَحْتَرِمُ</a:t>
            </a:r>
            <a:endParaRPr lang="ar-SA" sz="1600" dirty="0"/>
          </a:p>
        </p:txBody>
      </p:sp>
      <p:sp>
        <p:nvSpPr>
          <p:cNvPr id="34" name="Text 31"/>
          <p:cNvSpPr txBox="1"/>
          <p:nvPr/>
        </p:nvSpPr>
        <p:spPr>
          <a:xfrm>
            <a:off x="8851392" y="440740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respects</a:t>
            </a:r>
            <a:endParaRPr lang="en-US" sz="1050" dirty="0"/>
          </a:p>
        </p:txBody>
      </p:sp>
      <p:sp>
        <p:nvSpPr>
          <p:cNvPr id="35" name="Text 32"/>
          <p:cNvSpPr txBox="1"/>
          <p:nvPr/>
        </p:nvSpPr>
        <p:spPr>
          <a:xfrm>
            <a:off x="10102291" y="477316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يُوَفِّرُ</a:t>
            </a:r>
            <a:endParaRPr lang="ar-SA" sz="1600" dirty="0"/>
          </a:p>
        </p:txBody>
      </p:sp>
      <p:sp>
        <p:nvSpPr>
          <p:cNvPr id="36" name="Text 33"/>
          <p:cNvSpPr txBox="1"/>
          <p:nvPr/>
        </p:nvSpPr>
        <p:spPr>
          <a:xfrm>
            <a:off x="8851392" y="477316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provides</a:t>
            </a:r>
            <a:endParaRPr lang="en-US" sz="1050" dirty="0"/>
          </a:p>
        </p:txBody>
      </p:sp>
      <p:sp>
        <p:nvSpPr>
          <p:cNvPr id="37" name="Text 34"/>
          <p:cNvSpPr txBox="1"/>
          <p:nvPr/>
        </p:nvSpPr>
        <p:spPr>
          <a:xfrm>
            <a:off x="10102291" y="513892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الزُّوَّارُ</a:t>
            </a:r>
            <a:endParaRPr lang="ar-SA" sz="1600" dirty="0"/>
          </a:p>
        </p:txBody>
      </p:sp>
      <p:sp>
        <p:nvSpPr>
          <p:cNvPr id="38" name="Text 35"/>
          <p:cNvSpPr txBox="1"/>
          <p:nvPr/>
        </p:nvSpPr>
        <p:spPr>
          <a:xfrm>
            <a:off x="8851392" y="513892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visitors</a:t>
            </a:r>
            <a:endParaRPr lang="en-US" sz="1050" dirty="0"/>
          </a:p>
        </p:txBody>
      </p:sp>
      <p:sp>
        <p:nvSpPr>
          <p:cNvPr id="39" name="Text 36"/>
          <p:cNvSpPr txBox="1"/>
          <p:nvPr/>
        </p:nvSpPr>
        <p:spPr>
          <a:xfrm>
            <a:off x="10102291" y="550468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يَحْمِي</a:t>
            </a:r>
            <a:endParaRPr lang="ar-SA" sz="1600" dirty="0"/>
          </a:p>
        </p:txBody>
      </p:sp>
      <p:sp>
        <p:nvSpPr>
          <p:cNvPr id="40" name="Text 37"/>
          <p:cNvSpPr txBox="1"/>
          <p:nvPr/>
        </p:nvSpPr>
        <p:spPr>
          <a:xfrm>
            <a:off x="8851392" y="550468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protects</a:t>
            </a:r>
            <a:endParaRPr lang="en-US" sz="1050" dirty="0"/>
          </a:p>
        </p:txBody>
      </p:sp>
      <p:sp>
        <p:nvSpPr>
          <p:cNvPr id="41" name="Text 38"/>
          <p:cNvSpPr txBox="1"/>
          <p:nvPr/>
        </p:nvSpPr>
        <p:spPr>
          <a:xfrm>
            <a:off x="10102291" y="587044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يُطَوِّرُ</a:t>
            </a:r>
            <a:endParaRPr lang="ar-SA" sz="1600" dirty="0"/>
          </a:p>
        </p:txBody>
      </p:sp>
      <p:sp>
        <p:nvSpPr>
          <p:cNvPr id="42" name="Text 39"/>
          <p:cNvSpPr txBox="1"/>
          <p:nvPr/>
        </p:nvSpPr>
        <p:spPr>
          <a:xfrm>
            <a:off x="8851392" y="587044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develops</a:t>
            </a:r>
            <a:endParaRPr lang="en-US" sz="10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47</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TC-L10 · Measure, Shape, Material</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TC-L10</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city combine?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rural and coastal life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heritage and contemporary development</a:t>
            </a:r>
            <a:endParaRPr lang="en-US" sz="120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transport and shopping</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are the old buildings made of?</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glass</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metal</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stone</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features do they have?</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small windows and arches</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large glass doors</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platforms</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cultural centre made of?</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brick and clay</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glass and metal</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wood and sand</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design respect?</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old architecture</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railway</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market</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residents’ view?</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destroys the old city.</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should be closed.</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protects heritage and develops the city.</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47</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TC-L10 · Measure, Shape, Material</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TC-L10</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city combine?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rural and coastal life</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heritage and contemporary development</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transport and shopping</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بَيْنَ التُّرَاثِ وَالعُمْرَانِ المُعَاصِرِ.</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are the old buildings made of?</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glass</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metal</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stone</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مَبْنِيَّةٌ مِنَ الحَجَرِ.</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features do they have?</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small windows and arches</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large glass doors</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platforms</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نَوَافِذِهَا الصَّغِيرَةِ وَأَقْوَاسِهَا.</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cultural centre made of?</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brick and clay</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glass and metal</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wood and sand</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مِنَ الزُّجَاجِ وَالمَعْدِنِ.</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design respect?</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old architecture</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railway</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market</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يَحْتَرِمُ ... المِعْمَارَ القَدِيمَ.</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residents’ view?</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destroys the old city.</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should be closed.</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It protects heritage and develops the city.</a:t>
            </a:r>
            <a:endParaRPr lang="en-US" sz="11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final sentence gives this positive balanced view.</a:t>
            </a:r>
            <a:endParaRPr lang="en-US" sz="10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47</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TC-L10 · Measure, Shape, Material</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TC-L11: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TC-L10</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TC-L11 · Topic C Integrated Communication Workshop</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مِنْ وَجْهَةِ نَظَرِي</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from my point of view</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بِعِبَارَةٍ أُخْرَى</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in other words</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سَأُعْطِي مِثَالًا</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will give an example</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أَقْصِدُ أَنَّ</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what I mean is</a:t>
            </a:r>
            <a:pPr indent="0" marL="0">
              <a:buNone/>
            </a:pP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إِلَى حَدٍّ مَا</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to some extent</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Write one Arabic sentence: which Topic C topic interests you most, and why?</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أَيُّ مَوْضُوعٍ فِي المِحْوَرِ ج يُهِمُّكَ أَكْثَرَ؟ وَلِمَاذَا؟</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 TC-L10 · play “Measure &amp; Material”, then the vocabulary mission.</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Photograph (or draw) three objects at home and write two sentences for each: shape or size + material.</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 TC-L10 · the reading “Old and new architecture”, then write your own 80–100-word comparison.</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47</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TC-L10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00" b="1" dirty="0">
                <a:solidFill>
                  <a:srgbClr val="FFFFFF"/>
                </a:solidFill>
                <a:latin typeface="Cambria" pitchFamily="34" charset="0"/>
                <a:cs typeface="Amiri" pitchFamily="2" charset="-78"/>
              </a:rPr>
              <a:t>TC-L11 · Topic C Integrated Communication Workshop</a:t>
            </a:r>
            <a:endParaRPr lang="en-US" sz="1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وَرْشَةُ التَّوَاصُلِ المُتَكَامِلِ</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5 words + 1 sentence before next lesson.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TC-L10 · Measurements, Shapes and Materials</dc:title>
  <dc:subject>PptxGenJS Presentation</dc:subject>
  <dc:creator>Al Madina Online School · Arabic Department</dc:creator>
  <cp:lastModifiedBy>Al Madina Online School · Arabic Department</cp:lastModifiedBy>
  <cp:revision>1</cp:revision>
  <dcterms:created xsi:type="dcterms:W3CDTF">2026-10-11T06:44:02Z</dcterms:created>
  <dcterms:modified xsi:type="dcterms:W3CDTF">2026-10-11T06:44:02Z</dcterms:modified>
</cp:coreProperties>
</file>