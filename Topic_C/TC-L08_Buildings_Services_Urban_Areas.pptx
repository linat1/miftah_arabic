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8 (TC-L08). The website lesson reuses P4-L02 (Urban Environments — Cities, Architecture and Urban Planning) with the Topic C focus “Describe a town and evaluate the availability and quality of services” (grammar: يوجد/توجد; locatives; comparatives). The Core vocabulary comes from the Topic C “Towns, Buildings, Services &amp; Shopping” bank; the picture match is the website lesson game “Town Map”. The services guide is teacher-made from website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P4-L02 is B2 language. CORE: town places + يُوجَدُ / تُوجَدُ / لَا يُوجَدُ + six place words (مُقَابِلَ، بِجَانِبِ …) + comparatives (أَكْبَرُ مِنْ). DEVELOP: the website’s مَبْنِيٌّ مِنْ, يَتَمَيَّزُ بِـ and the planning verbs. STRETCH: the urban passive (يُبْنَى) and لِكَيْ + subjunctive.
• Picture match (map), colour-coded masculine/feminine rule, adjective → comparative table, a “services guide” reading with a glossary, and a read-along listening with English.
• Urdu bridge words (مدینہ، عمارت، مکان، سہولت، مقابلہ).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TC-L07.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says “there is” with one verb that changes for masculine and feminine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for this lesson (describe a town, evaluate services; يوجد/توجد, locatives, comparatives). The website objectives on the left are the P4-L02 objectives.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مدینہ (the same word — المَدِينَةُ المُنَوَّرَةُ = “the illuminated city”), عمارت (building — the website’s العِمَارَةُ = architecture), مکان (in Urdu a house; in Arabic any place), سہولت (facility — from سَهْلٌ, easy), مقابلہ (a contest, “facing each other” — مُقَابِلَ = opposite).
Groups 1–2 are the Topic C “Towns, Buildings, Services &amp; Shopping” bank; Groups 3–5 are the Topic C grammar focus (يوجد/توجد, locatives, comparatives); Group 6 is the website P4-L02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buildings (Topic C bank, “Public buildings” and “Leisure &amp; cultural places”). Hear → Say → See → Use.
Pattern spotting (Stretch): many place words start with مَـ = “the place of …”: مَكْتَبَةٌ (place of books, كِتَابٌ), مَقْهًى (place of coffee, قَهْوَةٌ), مَتْحَفٌ (place of treasures, تُحْفَةٌ), مَدْرَسَةٌ (place of study, يَدْرُسُ).
Website example: أَسْتَعِيرُ الكُتُبَ مِنَ المَكْتَبَةِ = I borrow books from the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services and stations (Topic C bank). Core: the three CORE words. The مَـ pattern again: مَلْعَبٌ (place of playing, يَلْعَبُ), مَسْبَحٌ (place of swimming, يَسْبَحُ), مَوْقِفٌ (place of stopping, يَقِفُ).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يُوجَدُ / تُوجَدُ (Topic C grammar focus). Blue = the first letter that matches the THING:
• يُـ for a masculine thing (مُسْتَشْفًى، بَنْكٌ، مَسْبَحٌ). • تُـ for a feminine thing (ـة: مَكْتَبَةٌ، عِيَادَةٌ). • تُـ for a plural of THINGS too (non-human plural = feminine singular — the rule from TC-L04: الأَشْجَارُ … تُقْطَعُ).
Teal = the question / negative word: لَا (not), هَلْ (question).
Core: rows 1–2. Develop: add questions (row 3). Stretch: the website’s own examples use مَوْجُودٌ / يُبْنَى — see Part 5.
Gesture: point to the ـة ending on the word first, THEN choose يُـ or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locatives (Topic C grammar focus). Gesture each one with two hands (two “buildings”): facing, side by side, close, one hand between two, in front, behind.
Compass points from TC-L01 also work as place words: الفُنْدُقُ شَرْقَ مَحَطَّةِ القِطَارِ (website game).
Website note: the website game writes المُسْتَشْفَى مُقَابِلُ البَنْكِ (مُقَابِلُ as the predicate). The more common form in speech and writing is مُقَابِلَ with fatḥa, like all the other place words — teach مُقَابِلَ; accept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locative sentences. Rows 1–3 are the website “Town Map” game sentences (row 1 with مُقَابِلَ — see previous slide); row 4 is teacher-made.
Pink = ENDING: after a place word the next noun takes kasra (-i). No verb “is” is needed in Arabic.
Core: say rows 1–2 with the gestures. Develop: make a new sentence about your own street.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comparatives (Topic C grammar focus). Orange = the PATTERN أَفْعَلُ (a + root with a in the middle). Teal = مِنْ (than), always.
Good news for Core: the comparative is the SAME for masculine and feminine: المَدِينَةُ أَكْبَرُ · البَيْتُ أَكْبَرُ.
Row 5: جَيِّدٌ → أَفْضَلُ (irregular — “better”). Row 6 (Develop / Stretch): long adjectives use أَكْثَرُ + a noun ending -an (the website: أَقَلَّ اكْتِظَاظًا = less overcrowded; أَكْثَرَ اسْتِدَامَةً = more sustainable).
Common error: أَكْبَرُ عَنْ ✗ → أَكْبَرُ مِنْ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website P4-L02 “Urban planning” and “urban passive and goals” vocabulary (Develop / Stretch). Core students listen and repeat; these words help them JUDGE services in the reading (crowded, noisy, green, liveable).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Develop. Website teaching point: “مَبْنِيٌّ مِنْ names the material; the passive names the process”. All three examples are website sentences. Materials from the website: الحَجَرُ (stone), الطِّينُ (clay), الخَشَبُ (wood), الزُّجَاجُ (glass), الصُّلْبُ (steel).
Website common error: “Keeping the passive subject accusative, or leaving the verb after لِكَي in the indicative. The passive subject is nominative, and لِكَي takes a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Stretch or homework): materials and features, planning verbs, the urban passive (يُبْنَى + nominative) and the goal clause (لِكَيْ + fatḥa). Website overview: “مَبْنِيٌّ مِنْ and the planning verbs, the urban passive with a nominative subject, and the لِكَي goal clause with its subjunctive.”
Website teaching point: “يُخَطِّطُ المُهَنْدِسُونَ لِكَيْ تَكُونَ المُدُنُ أَكْثَرَ اسْتِدَامَةً (so that cities become more sustainable — تَكُونَ, subjunctive). The purpose clause carries the goal, and the verb takes a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questions 1–3 teacher-made (Topic C grammar focus); question 4 is website grammar quiz question 1.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teacher models with a think-aloud; students watch, then COPY the paragraph into their books.
Step 1 — “What is there? مُسْتَشْفًى — no ـة, so يُوجَدُ.”
Step 2 — “مَكْتَبَةٌ has ـة → تُوجَدُ. Where? بِجَانِبِ المَقْهَى — next to the café.”
Step 3 — “Something missing: لَا يُوجَدُ مَسْبَحٌ.”
Step 4 — “Judge it: هَادِئٌ (quiet) → أَهْدَأُ مِنْ (quieter than) — the أَفْعَلُ pattern + مِنْ.”
Teacher-made from the Topic C bank and grammar focus; لٰكِنَّ from TC-L03.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SENTENCES (1 min) — website game, Topic C bank and P4-L02. Students copy TWO that are useful for them.
• Core: copy 1 and 2 (change the places). • Develop: copy 3 about a building you know. • Stretch: copy 4 and add a website Type 2: وَلَوْ كَانَ التَّخْطِيطُ أَكْثَرَ اسْتِدَامَةً، لَكَانَتِ المُدُنُ أَقَلَّ اكْتِظَاظًا.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(“Town Map”)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مُقَابِلُ (opposite), بِجَانِبِ (next to), شَرْقَ (east of — TC-L01 compass points). Stretch: say where YOUR nearest hospital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(“Town Map”)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مُقَابِلُ (opposite), بِجَانِبِ (next to), شَرْقَ (east of — TC-L01 compass points). Stretch: say where YOUR nearest hospital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JUDGE (2 min reading) — Topic C focus “Describe a town and evaluate the availability and quality of services”, and the website application “City-planner information gap … ask for missing services, buildings and locations, then justify where two facilities should go”.
The guide is teacher-made from the Topic C bank and website vocabulary. Read it aloud once while students follow. SEND: cover the text and uncover one line at a time; Core students use the glossary.
Ask students to label each line ✓ (good service) or ✗ (problem) — the “evaluate” part of the focus.
Translation for the teacher: A guide to the services in our area. In our area there is a big hospital and two clinics. There is a public library next to the school, and it is open every day. The train station is near the square, and the trains are fast. There is no swimming pool, and the pitch is very small. There are many cafés, but the car park is always crowded. My opinion: our area is better than the old district, but it needs green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 AND JUDGE questions (teacher-made). Students type five letters in the chat. Core: questions 1, 3 and 4 with the key-word clues. Stretch: which facility should be built next, and where? Answer with يَجِبُ أَنْ نَبْنِيَ … بِجَانِبِ … (TC-L05).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answer, a student reads the exact line from the guide (by invitation). Then vote: is this a good area to live 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sentence builder (3 min). Teacher-made from the three Topic C grammar points (يوجد/توجد; locatives; comparatives).
Students choose ONE box per column (start from Column 1 on the right) and type the letters, e.g. “1: B A A”. ↔ Rehearse 30s first.
Core: sentences 1 and 2. Develop / Stretch: sentence 3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sentence builder (3 min). Teacher-made from the three Topic C grammar points (يوجد/توجد; locatives; comparatives).
Students choose ONE box per column (start from Column 1 on the right) and type the letters, e.g. “1: B A A”. ↔ Rehearse 30s first.
Core: sentences 1 and 2. Develop / Stretch: sentence 3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(FLEX — Develop / Stretch, 2 min). Clue: مَبْنِيٌّ / يَتَمَيَّزُ = describing; يُجَدِّدُ / يُعِيدُ / يُحَوِّلُ = planning (doing something to the city); يُبْنَى / يُخَطَّطُ / لِكَيْ = passive or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(FLEX — Develop / Stretch, 2 min). Clue: مَبْنِيٌّ / يَتَمَيَّزُ = describing; يُجَدِّدُ / يُعِيدُ / يُحَوِّلُ = planning (doing something to the city); يُبْنَى / يُخَطَّطُ / لِكَيْ = passive or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2, 3, 4,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1–3. Develop / Stretch: all 5.
Listen 1: just listen. Listen 2: note answers. Then chat the letters.
Support: after the second listening, show the read-along slide (Arabic + English, line by line) for Core students.
SCRIPT (read aloud):
تَتَمَيَّزُ مَدِينَةُ دُبَيَّ بِمَزِيجٍ فَرِيدٍ مِنَ العِمَارَةِ التُّرَاثِيَّةِ وَالمِعْمَارِ الحَدِيثِ. بُنِيَ الجُزْءُ القَدِيمُ مِنَ الطِّينِ وَالخَشَبِ، فِي حِينِ أَنَّ نَاطِحَاتِ السَّحَابِ مَبْنِيَّةٌ مِنَ الزُّجَاجِ وَالصُّلْبِ. تُعِيدُ هَيْئَاتُ التَّطْوِيرِ تَصْمِيمَ أَحْيَاءٍ كَامِلَةٍ، وَتُحَوِّلُ مَنَاطِقَ صِنَاعِيَّةً قَدِيمَةً إِلَى مَسَاحَاتٍ خَضْرَاءَ. غَيْرَ أَنَّ التَّوَسُّعَ السَّرِيعَ يُؤَدِّي إِلَى ازْدِحَامٍ مُرُورِيٍّ. إِذَا وَاصَلَتِ المُدُنُ التَّوَسُّعَ دُونَ تَخْطِيطٍ، سَتُعَانِي مِنْ تَلَوُّثٍ ضَوْضَائِيٍّ. وَلَوْ كَانَ التَّخْطِيطُ أَكْثَرَ اسْتِدَامَةً مُنْذُ البِدَايَةِ، لَكَانَتِ المُدُنُ أَقَلَّ اكْتِظَاظًا. لِذٰلِكَ يُخَطِّطُ المُهَنْدِسُونَ لِكَيْ تَكُونَ المُدُنُ صَالِحَةً لِلْعَيْشِ.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الهَدَفُ العُمْرَانِيُّ؟ (Goal)
B: يُعَادُ تَصْمِيمُ الأَحْيَاءِ لِكَيْ تَكُونَ صَالِحَةً لِلْعَيْشِ، وَلَوِ اهْتَمُّوا بِالخُضْرَةِ مُبَكِّرًا لَكَانَتْ أَجْمَلَ. (Passive + لِكَي + Type 2)
Core prompt (teacher-made; it is the preparation question): “What is there in your town? Where?” — answered with the Core stem, e.g. تُوجَدُ مَكْتَبَةٌ بِجَانِبِ المَسْجِدِ.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urban sentences with مَبْنِيٌّ مِنْ and the planning verbs. · Develop — Add an urban passive and a Type 1 challenge. · Stretch — Close with a Type 2 counterfactual and a لِكَي goal clause.
Website writing task (Stretch): Write one hundred to one hundred and ten words analysing a city or urban project. Use مَبْنِيٌّ مِنْ, a planning verb, the urban passive, both conditional types and a لِكَي goal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Core students find the materials after مِنَ and the places in the text; Stretch find the passive (يُحَوَّلُ) and the لِكَيْ goal.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(TC-L09 · Shopping, Prices and Consumer Choices) will spend class time USING this language, so students prepare it tonight — short, simple, easy to access (school guidance: “Simple, Short, Interesting, Relevant, Easy to access”). The five words come from the website lesson (F6-L06 “Shopping in Town: Prices and Comparisons”).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cs typeface="Amiri" pitchFamily="2" charset="-78"/>
              </a:rPr>
              <a:t>Buildings, Services and Urban Areas</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المَبَانِي وَالخَدَمَاتُ وَالمَنَاطِقُ الحَضَرِيَّةُ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a town and judge its services: what there is (</a:t>
            </a:r>
            <a:pPr algn="l" indent="0" marL="0">
              <a:buNone/>
            </a:pPr>
            <a:r>
              <a:rPr lang="ar-SA" altLang="en-US" sz="1800" dirty="0">
                <a:solidFill>
                  <a:srgbClr val="C6D2E6"/>
                </a:solidFill>
                <a:latin typeface="Amiri" pitchFamily="2" charset="-78"/>
                <a:ea typeface="Amiri" pitchFamily="2" charset="-78"/>
                <a:cs typeface="Amiri" pitchFamily="2" charset="-78"/>
              </a:rPr>
              <a:t>يُوجَدُ / تُوجَدُ</a:t>
            </a:r>
            <a:pPr algn="l" indent="0" marL="0">
              <a:buNone/>
            </a:pPr>
            <a:r>
              <a:rPr lang="en-US" sz="1400" dirty="0">
                <a:solidFill>
                  <a:srgbClr val="C6D2E6"/>
                </a:solidFill>
                <a:latin typeface="Calibri" pitchFamily="34" charset="0"/>
                <a:cs typeface="Amiri" pitchFamily="2" charset="-78"/>
              </a:rPr>
              <a:t>), where it is (</a:t>
            </a:r>
            <a:pPr algn="l" indent="0" marL="0">
              <a:buNone/>
            </a:pPr>
            <a:r>
              <a:rPr lang="ar-SA" altLang="en-US" sz="1800" dirty="0">
                <a:solidFill>
                  <a:srgbClr val="C6D2E6"/>
                </a:solidFill>
                <a:latin typeface="Amiri" pitchFamily="2" charset="-78"/>
                <a:ea typeface="Amiri" pitchFamily="2" charset="-78"/>
                <a:cs typeface="Amiri" pitchFamily="2" charset="-78"/>
              </a:rPr>
              <a:t>مُقَابِلَ</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بِجَانِبِ</a:t>
            </a:r>
            <a:pPr algn="l" indent="0" marL="0">
              <a:buNone/>
            </a:pPr>
            <a:r>
              <a:rPr lang="en-US" sz="1400" dirty="0">
                <a:solidFill>
                  <a:srgbClr val="C6D2E6"/>
                </a:solidFill>
                <a:latin typeface="Calibri" pitchFamily="34" charset="0"/>
                <a:cs typeface="Amiri" pitchFamily="2" charset="-78"/>
              </a:rPr>
              <a:t>) and how it compares (</a:t>
            </a:r>
            <a:pPr algn="l" indent="0" marL="0">
              <a:buNone/>
            </a:pPr>
            <a:r>
              <a:rPr lang="ar-SA" altLang="en-US" sz="1800" dirty="0">
                <a:solidFill>
                  <a:srgbClr val="C6D2E6"/>
                </a:solidFill>
                <a:latin typeface="Amiri" pitchFamily="2" charset="-78"/>
                <a:ea typeface="Amiri" pitchFamily="2" charset="-78"/>
                <a:cs typeface="Amiri" pitchFamily="2" charset="-78"/>
              </a:rPr>
              <a:t>أَكْبَرُ مِنْ</a:t>
            </a:r>
            <a:pPr algn="l" indent="0" marL="0">
              <a:buNone/>
            </a:pPr>
            <a:r>
              <a:rPr lang="en-US" sz="1400" dirty="0">
                <a:solidFill>
                  <a:srgbClr val="C6D2E6"/>
                </a:solidFill>
                <a:latin typeface="Calibri" pitchFamily="34" charset="0"/>
                <a:cs typeface="Amiri" pitchFamily="2" charset="-78"/>
              </a:rPr>
              <a:t>), then analyse a city with </a:t>
            </a:r>
            <a:pPr algn="l" indent="0" marL="0">
              <a:buNone/>
            </a:pPr>
            <a:r>
              <a:rPr lang="ar-SA" altLang="en-US" sz="1800" dirty="0">
                <a:solidFill>
                  <a:srgbClr val="C6D2E6"/>
                </a:solidFill>
                <a:latin typeface="Amiri" pitchFamily="2" charset="-78"/>
                <a:ea typeface="Amiri" pitchFamily="2" charset="-78"/>
                <a:cs typeface="Amiri" pitchFamily="2" charset="-78"/>
              </a:rPr>
              <a:t>مَبْنِيٌّ مِنْ</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TC-L08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Places, “there is”, where it is and comparing.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Town map, read a guide,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مُسْتَشْفًى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library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hospital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bank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“café”?</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مَقْهًى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بَنْكٌ</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small word must follow </a:t>
            </a:r>
            <a:pPr algn="l" indent="0" marL="0">
              <a:buNone/>
            </a:pPr>
            <a:r>
              <a:rPr lang="ar-SA" altLang="en-US" sz="1650" b="1" dirty="0">
                <a:solidFill>
                  <a:srgbClr val="1B3B6F"/>
                </a:solidFill>
                <a:latin typeface="Amiri" pitchFamily="2" charset="-78"/>
                <a:ea typeface="Amiri" pitchFamily="2" charset="-78"/>
                <a:cs typeface="Amiri" pitchFamily="2" charset="-78"/>
              </a:rPr>
              <a:t>أُقِيمُ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أَحْضِرْ جَوَازَ سَفَرِكَ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brought my passport.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has a passport.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Bring your passport.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will book”?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سَأَحْجِزُ</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أَحْجِزُ</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مُسْتَشْفًى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library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hospital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bank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مُسْتَشْفًى</a:t>
            </a:r>
            <a:pPr algn="l" indent="0" marL="0">
              <a:buNone/>
            </a:pPr>
            <a:r>
              <a:rPr lang="en-US" sz="1050" i="1" dirty="0">
                <a:solidFill>
                  <a:srgbClr val="8A6D1E"/>
                </a:solidFill>
                <a:latin typeface="Calibri" pitchFamily="34" charset="0"/>
                <a:cs typeface="Amiri" pitchFamily="2" charset="-78"/>
              </a:rPr>
              <a:t> = hospital.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“café”?</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مَقْهًى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مَكْتَبَةٌ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بَنْكٌ</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مَقْهًى</a:t>
            </a:r>
            <a:pPr algn="l" indent="0" marL="0">
              <a:buNone/>
            </a:pPr>
            <a:r>
              <a:rPr lang="en-US" sz="1050" i="1" dirty="0">
                <a:solidFill>
                  <a:srgbClr val="8A6D1E"/>
                </a:solidFill>
                <a:latin typeface="Calibri" pitchFamily="34" charset="0"/>
                <a:cs typeface="Amiri" pitchFamily="2" charset="-78"/>
              </a:rPr>
              <a:t> = café (pl. </a:t>
            </a:r>
            <a:pPr algn="l" indent="0" marL="0">
              <a:buNone/>
            </a:pPr>
            <a:r>
              <a:rPr lang="ar-SA" altLang="en-US" sz="1350" dirty="0">
                <a:solidFill>
                  <a:srgbClr val="8A6D1E"/>
                </a:solidFill>
                <a:latin typeface="Amiri" pitchFamily="2" charset="-78"/>
                <a:ea typeface="Amiri" pitchFamily="2" charset="-78"/>
                <a:cs typeface="Amiri" pitchFamily="2" charset="-78"/>
              </a:rPr>
              <a:t>مَقَاهٍ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small word must follow </a:t>
            </a:r>
            <a:pPr algn="l" indent="0" marL="0">
              <a:buNone/>
            </a:pPr>
            <a:r>
              <a:rPr lang="ar-SA" altLang="en-US" sz="1650" b="1" dirty="0">
                <a:solidFill>
                  <a:srgbClr val="1B3B6F"/>
                </a:solidFill>
                <a:latin typeface="Amiri" pitchFamily="2" charset="-78"/>
                <a:ea typeface="Amiri" pitchFamily="2" charset="-78"/>
                <a:cs typeface="Amiri" pitchFamily="2" charset="-78"/>
              </a:rPr>
              <a:t>أُقِيمُ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TC-L07: </a:t>
            </a:r>
            <a:pPr algn="l" indent="0" marL="0">
              <a:buNone/>
            </a:pPr>
            <a:r>
              <a:rPr lang="ar-SA" altLang="en-US" sz="1350" dirty="0">
                <a:solidFill>
                  <a:srgbClr val="8A6D1E"/>
                </a:solidFill>
                <a:latin typeface="Amiri" pitchFamily="2" charset="-78"/>
                <a:ea typeface="Amiri" pitchFamily="2" charset="-78"/>
                <a:cs typeface="Amiri" pitchFamily="2" charset="-78"/>
              </a:rPr>
              <a:t>أُقِيمُ فِي فُنْدُقٍ</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أَحْضِرْ جَوَازَ سَفَرِكَ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brought my passport.</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has a passport.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Bring your passport.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TC-L07: an instruction (“Do it!”).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will book”?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سَأَحْجِزُ</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حَجَزْتُ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أَحْجِزُ</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TC-L07: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 will.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Arabic says “there is” with one verb that changes for masculine and feminine things.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وجَدُ مُسْتَشْفًى  ·  </a:t>
            </a:r>
            <a:pPr rtl="1" algn="ctr" indent="0" marL="0">
              <a:buNone/>
            </a:pPr>
            <a:r>
              <a:rPr lang="ar-SA" altLang="en-US" sz="2400" b="1" dirty="0">
                <a:solidFill>
                  <a:srgbClr val="1D5FBF"/>
                </a:solidFill>
                <a:latin typeface="Amiri" pitchFamily="2" charset="-78"/>
                <a:ea typeface="Amiri" pitchFamily="2" charset="-78"/>
                <a:cs typeface="Amiri" pitchFamily="2" charset="-78"/>
              </a:rPr>
              <a:t>تُ</a:t>
            </a:r>
            <a:pPr rtl="1" algn="ctr" indent="0" marL="0">
              <a:buNone/>
            </a:pPr>
            <a:r>
              <a:rPr lang="ar-SA" altLang="en-US" sz="2400" b="1" dirty="0">
                <a:solidFill>
                  <a:srgbClr val="1B3B6F"/>
                </a:solidFill>
                <a:latin typeface="Amiri" pitchFamily="2" charset="-78"/>
                <a:ea typeface="Amiri" pitchFamily="2" charset="-78"/>
                <a:cs typeface="Amiri" pitchFamily="2" charset="-78"/>
              </a:rPr>
              <a:t>وجَدُ مَكْتَبَةٌ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architecture with </a:t>
            </a:r>
            <a:pPr algn="l" indent="0" marL="0">
              <a:buNone/>
            </a:pPr>
            <a:r>
              <a:rPr lang="ar-SA" altLang="en-US" sz="1700" dirty="0">
                <a:solidFill>
                  <a:srgbClr val="1F2A37"/>
                </a:solidFill>
                <a:latin typeface="Amiri" pitchFamily="2" charset="-78"/>
                <a:ea typeface="Amiri" pitchFamily="2" charset="-78"/>
                <a:cs typeface="Amiri" pitchFamily="2" charset="-78"/>
              </a:rPr>
              <a:t>مَبْنِيٌّ مِنْ</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يَتَمَيَّزُ بِـ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planning verbs </a:t>
            </a:r>
            <a:pPr algn="l" indent="0" marL="0">
              <a:buNone/>
            </a:pPr>
            <a:r>
              <a:rPr lang="ar-SA" altLang="en-US" sz="1700" dirty="0">
                <a:solidFill>
                  <a:srgbClr val="1F2A37"/>
                </a:solidFill>
                <a:latin typeface="Amiri" pitchFamily="2" charset="-78"/>
                <a:ea typeface="Amiri" pitchFamily="2" charset="-78"/>
                <a:cs typeface="Amiri" pitchFamily="2" charset="-78"/>
              </a:rPr>
              <a:t>يُعِيدُ تَصْمِيمَ، يُجَدِّدُ، يُحَوِّلُ إِلَى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urban passive </a:t>
            </a:r>
            <a:pPr algn="l" indent="0" marL="0">
              <a:buNone/>
            </a:pPr>
            <a:r>
              <a:rPr lang="ar-SA" altLang="en-US" sz="1700" dirty="0">
                <a:solidFill>
                  <a:srgbClr val="1F2A37"/>
                </a:solidFill>
                <a:latin typeface="Amiri" pitchFamily="2" charset="-78"/>
                <a:ea typeface="Amiri" pitchFamily="2" charset="-78"/>
                <a:cs typeface="Amiri" pitchFamily="2" charset="-78"/>
              </a:rPr>
              <a:t>يُبْنَى، يُخَطَّطُ، يُعَادُ تَصْمِيمُهُ</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State a planning goal with </a:t>
            </a:r>
            <a:pPr algn="l" indent="0" marL="0">
              <a:buNone/>
            </a:pPr>
            <a:r>
              <a:rPr lang="ar-SA" altLang="en-US" sz="1700" dirty="0">
                <a:solidFill>
                  <a:srgbClr val="1F2A37"/>
                </a:solidFill>
                <a:latin typeface="Amiri" pitchFamily="2" charset="-78"/>
                <a:ea typeface="Amiri" pitchFamily="2" charset="-78"/>
                <a:cs typeface="Amiri" pitchFamily="2" charset="-78"/>
              </a:rPr>
              <a:t>لِكَي</a:t>
            </a:r>
            <a:pPr algn="l" indent="0" marL="0">
              <a:buNone/>
            </a:pPr>
            <a:r>
              <a:rPr lang="en-US" sz="1300" dirty="0">
                <a:solidFill>
                  <a:srgbClr val="1F2A37"/>
                </a:solidFill>
                <a:latin typeface="Calibri" pitchFamily="34" charset="0"/>
                <a:cs typeface="Amiri" pitchFamily="2" charset="-78"/>
              </a:rPr>
              <a:t> + a subjunctive verb.</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12 places in a town and say what there is: </a:t>
            </a:r>
            <a:pPr algn="l" indent="0" marL="0">
              <a:buNone/>
            </a:pPr>
            <a:r>
              <a:rPr lang="ar-SA" altLang="en-US" sz="1700" b="1" dirty="0">
                <a:solidFill>
                  <a:srgbClr val="2E8B57"/>
                </a:solidFill>
                <a:latin typeface="Amiri" pitchFamily="2" charset="-78"/>
                <a:ea typeface="Amiri" pitchFamily="2" charset="-78"/>
                <a:cs typeface="Amiri" pitchFamily="2" charset="-78"/>
              </a:rPr>
              <a:t>يُوجَدُ / تُوجَدُ</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200" b="1" dirty="0">
                <a:solidFill>
                  <a:srgbClr val="2E8B57"/>
                </a:solidFill>
                <a:latin typeface="Calibri" pitchFamily="34" charset="0"/>
                <a:cs typeface="Amiri" pitchFamily="2" charset="-78"/>
              </a:rPr>
              <a:t>☐  I can say where a place is (</a:t>
            </a:r>
            <a:pPr algn="l" indent="0" marL="0">
              <a:buNone/>
            </a:pPr>
            <a:r>
              <a:rPr lang="ar-SA" altLang="en-US" sz="1550" b="1" dirty="0">
                <a:solidFill>
                  <a:srgbClr val="2E8B57"/>
                </a:solidFill>
                <a:latin typeface="Amiri" pitchFamily="2" charset="-78"/>
                <a:ea typeface="Amiri" pitchFamily="2" charset="-78"/>
                <a:cs typeface="Amiri" pitchFamily="2" charset="-78"/>
              </a:rPr>
              <a:t>مُقَابِلَ</a:t>
            </a:r>
            <a:pPr algn="l" indent="0" marL="0">
              <a:buNone/>
            </a:pPr>
            <a:r>
              <a:rPr lang="en-US" sz="1200" b="1" dirty="0">
                <a:solidFill>
                  <a:srgbClr val="2E8B57"/>
                </a:solidFill>
                <a:latin typeface="Calibri" pitchFamily="34" charset="0"/>
                <a:cs typeface="Amiri" pitchFamily="2" charset="-78"/>
              </a:rPr>
              <a:t> · </a:t>
            </a:r>
            <a:pPr algn="l" indent="0" marL="0">
              <a:buNone/>
            </a:pPr>
            <a:r>
              <a:rPr lang="ar-SA" altLang="en-US" sz="1550" b="1" dirty="0">
                <a:solidFill>
                  <a:srgbClr val="2E8B57"/>
                </a:solidFill>
                <a:latin typeface="Amiri" pitchFamily="2" charset="-78"/>
                <a:ea typeface="Amiri" pitchFamily="2" charset="-78"/>
                <a:cs typeface="Amiri" pitchFamily="2" charset="-78"/>
              </a:rPr>
              <a:t>بِجَانِبِ</a:t>
            </a:r>
            <a:pPr algn="l" indent="0" marL="0">
              <a:buNone/>
            </a:pPr>
            <a:r>
              <a:rPr lang="en-US" sz="1200" b="1" dirty="0">
                <a:solidFill>
                  <a:srgbClr val="2E8B57"/>
                </a:solidFill>
                <a:latin typeface="Calibri" pitchFamily="34" charset="0"/>
                <a:cs typeface="Amiri" pitchFamily="2" charset="-78"/>
              </a:rPr>
              <a:t>) and compare two places (</a:t>
            </a:r>
            <a:pPr algn="l" indent="0" marL="0">
              <a:buNone/>
            </a:pPr>
            <a:r>
              <a:rPr lang="ar-SA" altLang="en-US" sz="1550" b="1" dirty="0">
                <a:solidFill>
                  <a:srgbClr val="2E8B57"/>
                </a:solidFill>
                <a:latin typeface="Amiri" pitchFamily="2" charset="-78"/>
                <a:ea typeface="Amiri" pitchFamily="2" charset="-78"/>
                <a:cs typeface="Amiri" pitchFamily="2" charset="-78"/>
              </a:rPr>
              <a:t>أَكْبَرُ مِنْ</a:t>
            </a:r>
            <a:pPr algn="l" indent="0" marL="0">
              <a:buNone/>
            </a:pPr>
            <a:r>
              <a:rPr lang="en-US" sz="1200" b="1" dirty="0">
                <a:solidFill>
                  <a:srgbClr val="2E8B57"/>
                </a:solidFill>
                <a:latin typeface="Calibri" pitchFamily="34" charset="0"/>
                <a:cs typeface="Amiri" pitchFamily="2" charset="-78"/>
              </a:rPr>
              <a:t>).</a:t>
            </a:r>
            <a:endParaRPr lang="en-US" sz="12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judge the services in my area (good, poor, crowded).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مَبْنِيٌّ مِنْ</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ea typeface="Amiri" pitchFamily="2" charset="-78"/>
                <a:cs typeface="Amiri" pitchFamily="2" charset="-78"/>
              </a:rPr>
              <a:t>يَتَمَيَّزُ بِـ</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the urban passive and </a:t>
            </a:r>
            <a:pPr algn="l" indent="0" marL="0">
              <a:buNone/>
            </a:pPr>
            <a:r>
              <a:rPr lang="ar-SA" altLang="en-US" sz="1700" b="1" dirty="0">
                <a:solidFill>
                  <a:srgbClr val="B83227"/>
                </a:solidFill>
                <a:latin typeface="Amiri" pitchFamily="2" charset="-78"/>
                <a:ea typeface="Amiri" pitchFamily="2" charset="-78"/>
                <a:cs typeface="Amiri" pitchFamily="2" charset="-78"/>
              </a:rPr>
              <a:t>لِكَيْ تَكُونَ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100–110-word city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in 6 groups (Topic C bank + website P4-L02). Learn the CORE words first. Hear it → say it → see it → use it.</a:t>
            </a:r>
            <a:endParaRPr lang="en-US" sz="1600" dirty="0"/>
          </a:p>
        </p:txBody>
      </p:sp>
      <p:sp>
        <p:nvSpPr>
          <p:cNvPr id="8" name="Shape 6"/>
          <p:cNvSpPr/>
          <p:nvPr/>
        </p:nvSpPr>
        <p:spPr>
          <a:xfrm>
            <a:off x="457200" y="4572000"/>
            <a:ext cx="1196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Buildings · 6</a:t>
            </a:r>
            <a:endParaRPr lang="en-US" sz="900" dirty="0"/>
          </a:p>
        </p:txBody>
      </p:sp>
      <p:sp>
        <p:nvSpPr>
          <p:cNvPr id="10" name="Shape 8"/>
          <p:cNvSpPr/>
          <p:nvPr/>
        </p:nvSpPr>
        <p:spPr>
          <a:xfrm>
            <a:off x="1790700" y="4572000"/>
            <a:ext cx="1196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1927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Services · 6</a:t>
            </a:r>
            <a:endParaRPr lang="en-US" sz="900" dirty="0"/>
          </a:p>
        </p:txBody>
      </p:sp>
      <p:sp>
        <p:nvSpPr>
          <p:cNvPr id="12" name="Shape 10"/>
          <p:cNvSpPr/>
          <p:nvPr/>
        </p:nvSpPr>
        <p:spPr>
          <a:xfrm>
            <a:off x="3124200" y="4572000"/>
            <a:ext cx="11963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261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There is · 6</a:t>
            </a:r>
            <a:endParaRPr lang="en-US" sz="900" dirty="0"/>
          </a:p>
        </p:txBody>
      </p:sp>
      <p:sp>
        <p:nvSpPr>
          <p:cNvPr id="14" name="Shape 12"/>
          <p:cNvSpPr/>
          <p:nvPr/>
        </p:nvSpPr>
        <p:spPr>
          <a:xfrm>
            <a:off x="4457700" y="4572000"/>
            <a:ext cx="11963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4594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Where? · 6</a:t>
            </a:r>
            <a:endParaRPr lang="en-US" sz="900" dirty="0"/>
          </a:p>
        </p:txBody>
      </p:sp>
      <p:sp>
        <p:nvSpPr>
          <p:cNvPr id="16" name="Shape 14"/>
          <p:cNvSpPr/>
          <p:nvPr/>
        </p:nvSpPr>
        <p:spPr>
          <a:xfrm>
            <a:off x="5791200" y="4572000"/>
            <a:ext cx="11963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59283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5</a:t>
            </a:r>
            <a:endParaRPr lang="en-US" sz="900" dirty="0"/>
          </a:p>
          <a:p>
            <a:pPr indent="0" marL="0">
              <a:buNone/>
            </a:pPr>
            <a:r>
              <a:rPr lang="en-US" sz="1200" b="1" dirty="0">
                <a:solidFill>
                  <a:srgbClr val="FFFFFF"/>
                </a:solidFill>
                <a:latin typeface="Calibri" pitchFamily="34" charset="0"/>
                <a:cs typeface="Amiri" pitchFamily="2" charset="-78"/>
              </a:rPr>
              <a:t>Compare · 6</a:t>
            </a:r>
            <a:endParaRPr lang="en-US" sz="900" dirty="0"/>
          </a:p>
        </p:txBody>
      </p:sp>
      <p:sp>
        <p:nvSpPr>
          <p:cNvPr id="18" name="Shape 16"/>
          <p:cNvSpPr/>
          <p:nvPr/>
        </p:nvSpPr>
        <p:spPr>
          <a:xfrm>
            <a:off x="7124700" y="4572000"/>
            <a:ext cx="1196340" cy="960120"/>
          </a:xfrm>
          <a:prstGeom prst="roundRect">
            <a:avLst>
              <a:gd name="adj" fmla="val 7619"/>
            </a:avLst>
          </a:prstGeom>
          <a:solidFill>
            <a:srgbClr val="16335F"/>
          </a:solidFill>
          <a:ln w="12700">
            <a:solidFill>
              <a:srgbClr val="2A4B7C"/>
            </a:solidFill>
            <a:prstDash val="solid"/>
          </a:ln>
        </p:spPr>
      </p:sp>
      <p:sp>
        <p:nvSpPr>
          <p:cNvPr id="19" name="Text 17"/>
          <p:cNvSpPr txBox="1"/>
          <p:nvPr/>
        </p:nvSpPr>
        <p:spPr>
          <a:xfrm>
            <a:off x="7261860" y="4617720"/>
            <a:ext cx="922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6</a:t>
            </a:r>
            <a:endParaRPr lang="en-US" sz="900" dirty="0"/>
          </a:p>
          <a:p>
            <a:pPr indent="0" marL="0">
              <a:buNone/>
            </a:pPr>
            <a:r>
              <a:rPr lang="en-US" sz="1200" b="1" dirty="0">
                <a:solidFill>
                  <a:srgbClr val="FFFFFF"/>
                </a:solidFill>
                <a:latin typeface="Calibri" pitchFamily="34" charset="0"/>
                <a:cs typeface="Amiri" pitchFamily="2" charset="-78"/>
              </a:rPr>
              <a:t>The city · 6</a:t>
            </a:r>
            <a:endParaRPr lang="en-US" sz="900" dirty="0"/>
          </a:p>
        </p:txBody>
      </p:sp>
      <p:sp>
        <p:nvSpPr>
          <p:cNvPr id="20" name="Shape 1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21" name="Text 1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22" name="Text 2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مَدِينَةٌ</a:t>
            </a:r>
            <a:endParaRPr lang="ar-SA" sz="1900" dirty="0"/>
          </a:p>
        </p:txBody>
      </p:sp>
      <p:sp>
        <p:nvSpPr>
          <p:cNvPr id="23" name="Text 21"/>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‎مدینہ‎ </a:t>
            </a:r>
            <a:pPr indent="0" marL="0">
              <a:buNone/>
            </a:pPr>
            <a:r>
              <a:rPr lang="ar-SA" sz="950" b="1" dirty="0">
                <a:solidFill>
                  <a:srgbClr val="2E8B57"/>
                </a:solidFill>
                <a:latin typeface="Calibri" pitchFamily="34" charset="0"/>
                <a:ea typeface="Amiri" pitchFamily="2" charset="-78"/>
                <a:cs typeface="Amiri" pitchFamily="2" charset="-78"/>
              </a:rPr>
              <a:t> madīna · city (the city of the Prophet ﷺ)</a:t>
            </a:r>
            <a:endParaRPr lang="en-US" sz="1400" dirty="0"/>
          </a:p>
        </p:txBody>
      </p:sp>
      <p:sp>
        <p:nvSpPr>
          <p:cNvPr id="24" name="Text 2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عِمَارَةٌ</a:t>
            </a:r>
            <a:endParaRPr lang="ar-SA" sz="1900" dirty="0"/>
          </a:p>
        </p:txBody>
      </p:sp>
      <p:sp>
        <p:nvSpPr>
          <p:cNvPr id="25" name="Text 23"/>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‎عمارت‎ </a:t>
            </a:r>
            <a:pPr indent="0" marL="0">
              <a:buNone/>
            </a:pPr>
            <a:r>
              <a:rPr lang="en-US" sz="950" b="1" dirty="0">
                <a:solidFill>
                  <a:srgbClr val="2E8B57"/>
                </a:solidFill>
                <a:latin typeface="Calibri" pitchFamily="34" charset="0"/>
                <a:cs typeface="Amiri" pitchFamily="2" charset="-78"/>
              </a:rPr>
              <a:t> ʿimārat · building, architecture</a:t>
            </a:r>
            <a:endParaRPr lang="en-US" sz="1400" dirty="0"/>
          </a:p>
        </p:txBody>
      </p:sp>
      <p:sp>
        <p:nvSpPr>
          <p:cNvPr id="26" name="Text 2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مَكَانٌ</a:t>
            </a:r>
            <a:endParaRPr lang="ar-SA" sz="1900" dirty="0"/>
          </a:p>
        </p:txBody>
      </p:sp>
      <p:sp>
        <p:nvSpPr>
          <p:cNvPr id="27" name="Text 25"/>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‎مکان‎ </a:t>
            </a:r>
            <a:pPr indent="0" marL="0">
              <a:buNone/>
            </a:pPr>
            <a:r>
              <a:rPr lang="en-US" sz="950" b="1" dirty="0">
                <a:solidFill>
                  <a:srgbClr val="2E8B57"/>
                </a:solidFill>
                <a:latin typeface="Calibri" pitchFamily="34" charset="0"/>
                <a:cs typeface="Amiri" pitchFamily="2" charset="-78"/>
              </a:rPr>
              <a:t> makān · place (Urdu: house)</a:t>
            </a:r>
            <a:endParaRPr lang="en-US" sz="1400" dirty="0"/>
          </a:p>
        </p:txBody>
      </p:sp>
      <p:sp>
        <p:nvSpPr>
          <p:cNvPr id="28" name="Text 2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سَهْلٌ</a:t>
            </a:r>
            <a:endParaRPr lang="ar-SA" sz="1900" dirty="0"/>
          </a:p>
        </p:txBody>
      </p:sp>
      <p:sp>
        <p:nvSpPr>
          <p:cNvPr id="29" name="Text 27"/>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‎سہولت‎ </a:t>
            </a:r>
            <a:pPr indent="0" marL="0">
              <a:buNone/>
            </a:pPr>
            <a:r>
              <a:rPr lang="en-US" sz="950" b="1" dirty="0">
                <a:solidFill>
                  <a:srgbClr val="2E8B57"/>
                </a:solidFill>
                <a:latin typeface="Calibri" pitchFamily="34" charset="0"/>
                <a:cs typeface="Amiri" pitchFamily="2" charset="-78"/>
              </a:rPr>
              <a:t> sahūlat · easy → facility</a:t>
            </a:r>
            <a:endParaRPr lang="en-US" sz="1400" dirty="0"/>
          </a:p>
        </p:txBody>
      </p:sp>
      <p:sp>
        <p:nvSpPr>
          <p:cNvPr id="30" name="Text 2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مُقَابِلَ</a:t>
            </a:r>
            <a:endParaRPr lang="ar-SA" sz="1900" dirty="0"/>
          </a:p>
        </p:txBody>
      </p:sp>
      <p:sp>
        <p:nvSpPr>
          <p:cNvPr id="31" name="Text 29"/>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‎مقابلہ‎ </a:t>
            </a:r>
            <a:pPr indent="0" marL="0">
              <a:buNone/>
            </a:pPr>
            <a:r>
              <a:rPr lang="en-US" sz="950" b="1" dirty="0">
                <a:solidFill>
                  <a:srgbClr val="2E8B57"/>
                </a:solidFill>
                <a:latin typeface="Calibri" pitchFamily="34" charset="0"/>
                <a:cs typeface="Amiri" pitchFamily="2" charset="-78"/>
              </a:rPr>
              <a:t> muqābala · facing → contest</a:t>
            </a:r>
            <a:endParaRPr lang="en-US" sz="14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TOPIC C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Buildings in town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المَبَانِي 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مُسْتَشْفًى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مُسْتَشْفًى</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مُسْتَشْفَيَاتٌ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بَنْكٌ</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bank</a:t>
            </a:r>
            <a:endParaRPr lang="en-US" sz="1350" dirty="0"/>
          </a:p>
          <a:p>
            <a:pPr indent="0" marL="0">
              <a:buNone/>
            </a:pPr>
            <a:r>
              <a:rPr lang="en-US" sz="1100" i="1" dirty="0">
                <a:solidFill>
                  <a:srgbClr val="5A6472"/>
                </a:solidFill>
                <a:latin typeface="Calibri" pitchFamily="34" charset="0"/>
                <a:cs typeface="Amiri" pitchFamily="2" charset="-78"/>
              </a:rPr>
              <a:t>bank</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بَنْكٌ</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بُنُوكٌ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library</a:t>
            </a:r>
            <a:endParaRPr lang="en-US" sz="1350" dirty="0"/>
          </a:p>
          <a:p>
            <a:pPr indent="0" marL="0">
              <a:buNone/>
            </a:pPr>
            <a:r>
              <a:rPr lang="en-US" sz="1100" i="1" dirty="0">
                <a:solidFill>
                  <a:srgbClr val="5A6472"/>
                </a:solidFill>
                <a:latin typeface="Calibri" pitchFamily="34" charset="0"/>
                <a:cs typeface="Amiri" pitchFamily="2" charset="-78"/>
              </a:rPr>
              <a:t>mak-ta-ba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مَكْتَبَةٌ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مَكْتَبَاتٌ</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مَقْهًى</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café</a:t>
            </a:r>
            <a:endParaRPr lang="en-US" sz="1350" dirty="0"/>
          </a:p>
          <a:p>
            <a:pPr indent="0" marL="0">
              <a:buNone/>
            </a:pPr>
            <a:r>
              <a:rPr lang="en-US" sz="1100" i="1" dirty="0">
                <a:solidFill>
                  <a:srgbClr val="5A6472"/>
                </a:solidFill>
                <a:latin typeface="Calibri" pitchFamily="34" charset="0"/>
                <a:cs typeface="Amiri" pitchFamily="2" charset="-78"/>
              </a:rPr>
              <a:t>maq-hā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مَقْهًى</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مَقَاهٍ</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مَتْحَفٌ</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museum</a:t>
            </a:r>
            <a:endParaRPr lang="en-US" sz="1350" dirty="0"/>
          </a:p>
          <a:p>
            <a:pPr indent="0" marL="0">
              <a:buNone/>
            </a:pPr>
            <a:r>
              <a:rPr lang="en-US" sz="1100" i="1" dirty="0">
                <a:solidFill>
                  <a:srgbClr val="5A6472"/>
                </a:solidFill>
                <a:latin typeface="Calibri" pitchFamily="34" charset="0"/>
                <a:cs typeface="Amiri" pitchFamily="2" charset="-78"/>
              </a:rPr>
              <a:t>mat-ḥaf</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مَتْحَفٌ</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مَتَاحِفُ</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مَدْرَسَةٌ</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مَدْرَسَةٌ</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مَدَارِسُ</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TOPIC C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Services and getting around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الخَدَمَاتُ وَالمُوَاصَلَاتُ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مَحَطَّةُ القِطَارِ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train station</a:t>
            </a:r>
            <a:endParaRPr lang="en-US" sz="1350" dirty="0"/>
          </a:p>
          <a:p>
            <a:pPr indent="0" marL="0">
              <a:buNone/>
            </a:pPr>
            <a:r>
              <a:rPr lang="en-US" sz="1100" i="1" dirty="0">
                <a:solidFill>
                  <a:srgbClr val="5A6472"/>
                </a:solidFill>
                <a:latin typeface="Calibri" pitchFamily="34" charset="0"/>
                <a:cs typeface="Amiri" pitchFamily="2" charset="-78"/>
              </a:rPr>
              <a:t>ma-ḥaṭ-ṭa-tu l-qi-ṭār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station</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مَحَطَّةٌ</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train</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قِطَارٌ</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عِيَادَةٌ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clinic</a:t>
            </a:r>
            <a:endParaRPr lang="en-US" sz="1350" dirty="0"/>
          </a:p>
          <a:p>
            <a:pPr indent="0" marL="0">
              <a:buNone/>
            </a:pPr>
            <a:r>
              <a:rPr lang="en-US" sz="1100" i="1" dirty="0">
                <a:solidFill>
                  <a:srgbClr val="5A6472"/>
                </a:solidFill>
                <a:latin typeface="Calibri" pitchFamily="34" charset="0"/>
                <a:cs typeface="Amiri" pitchFamily="2" charset="-78"/>
              </a:rPr>
              <a:t>ʿi-yā-da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عِيَادَةٌ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عِيَادَاتٌ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 · m.</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 البَرِيدِ</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post office</a:t>
            </a:r>
            <a:endParaRPr lang="en-US" sz="1350" dirty="0"/>
          </a:p>
          <a:p>
            <a:pPr indent="0" marL="0">
              <a:buNone/>
            </a:pPr>
            <a:r>
              <a:rPr lang="en-US" sz="1100" i="1" dirty="0">
                <a:solidFill>
                  <a:srgbClr val="5A6472"/>
                </a:solidFill>
                <a:latin typeface="Calibri" pitchFamily="34" charset="0"/>
                <a:cs typeface="Amiri" pitchFamily="2" charset="-78"/>
              </a:rPr>
              <a:t>mak-ta-bu l-ba-rīd</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office</a:t>
            </a:r>
            <a:endParaRPr lang="en-US" sz="700" dirty="0"/>
          </a:p>
        </p:txBody>
      </p:sp>
      <p:sp>
        <p:nvSpPr>
          <p:cNvPr id="54" name="Text 51"/>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مَكْتَبٌ</a:t>
            </a:r>
            <a:endParaRPr lang="ar-SA" sz="135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post</a:t>
            </a:r>
            <a:endParaRPr lang="en-US" sz="700" dirty="0"/>
          </a:p>
        </p:txBody>
      </p:sp>
      <p:sp>
        <p:nvSpPr>
          <p:cNvPr id="57" name="Text 54"/>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البَرِيدُ</a:t>
            </a:r>
            <a:endParaRPr lang="ar-SA"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1" name="Shape 58"/>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 · m.</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مَوْقِفُ سَيَّارَاتٍ</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car park</a:t>
            </a:r>
            <a:endParaRPr lang="en-US" sz="1350" dirty="0"/>
          </a:p>
          <a:p>
            <a:pPr indent="0" marL="0">
              <a:buNone/>
            </a:pPr>
            <a:r>
              <a:rPr lang="en-US" sz="1100" i="1" dirty="0">
                <a:solidFill>
                  <a:srgbClr val="5A6472"/>
                </a:solidFill>
                <a:latin typeface="Calibri" pitchFamily="34" charset="0"/>
                <a:cs typeface="Amiri" pitchFamily="2" charset="-78"/>
              </a:rPr>
              <a:t>maw-qi-fu say-yā-rāt</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8" name="Shape 6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مَلْعَبٌ</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sports pitch, playground</a:t>
            </a:r>
            <a:endParaRPr lang="en-US" sz="1350" dirty="0"/>
          </a:p>
          <a:p>
            <a:pPr indent="0" marL="0">
              <a:buNone/>
            </a:pPr>
            <a:r>
              <a:rPr lang="en-US" sz="1100" i="1" dirty="0">
                <a:solidFill>
                  <a:srgbClr val="5A6472"/>
                </a:solidFill>
                <a:latin typeface="Calibri" pitchFamily="34" charset="0"/>
                <a:cs typeface="Amiri" pitchFamily="2" charset="-78"/>
              </a:rPr>
              <a:t>mal-ʿab</a:t>
            </a:r>
            <a:endParaRPr lang="en-US" sz="1350" dirty="0"/>
          </a:p>
        </p:txBody>
      </p:sp>
      <p:sp>
        <p:nvSpPr>
          <p:cNvPr id="72" name="Shape 6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74" name="Text 7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مَلْعَبٌ</a:t>
            </a:r>
            <a:endParaRPr lang="ar-SA" sz="1500" dirty="0"/>
          </a:p>
        </p:txBody>
      </p:sp>
      <p:sp>
        <p:nvSpPr>
          <p:cNvPr id="75" name="Shape 7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7" name="Text 7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مَلَاعِبُ</a:t>
            </a:r>
            <a:endParaRPr lang="ar-SA" sz="150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1" name="Shape 7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83" name="Text 8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مَسْبَحٌ</a:t>
            </a:r>
            <a:endParaRPr lang="ar-SA" sz="3000" dirty="0"/>
          </a:p>
        </p:txBody>
      </p:sp>
      <p:sp>
        <p:nvSpPr>
          <p:cNvPr id="84" name="Text 8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swimming pool</a:t>
            </a:r>
            <a:endParaRPr lang="en-US" sz="1350" dirty="0"/>
          </a:p>
          <a:p>
            <a:pPr indent="0" marL="0">
              <a:buNone/>
            </a:pPr>
            <a:r>
              <a:rPr lang="en-US" sz="1100" i="1" dirty="0">
                <a:solidFill>
                  <a:srgbClr val="5A6472"/>
                </a:solidFill>
                <a:latin typeface="Calibri" pitchFamily="34" charset="0"/>
                <a:cs typeface="Amiri" pitchFamily="2" charset="-78"/>
              </a:rPr>
              <a:t>mas-baḥ</a:t>
            </a:r>
            <a:endParaRPr lang="en-US" sz="1350" dirty="0"/>
          </a:p>
        </p:txBody>
      </p:sp>
      <p:sp>
        <p:nvSpPr>
          <p:cNvPr id="85" name="Shape 8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7" name="Text 8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مَسْبَحٌ</a:t>
            </a:r>
            <a:endParaRPr lang="ar-SA" sz="1500" dirty="0"/>
          </a:p>
        </p:txBody>
      </p:sp>
      <p:sp>
        <p:nvSpPr>
          <p:cNvPr id="88" name="Shape 8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مَسَابِحُ</a:t>
            </a:r>
            <a:endParaRPr lang="ar-SA" sz="15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GRAMMAR PART 1 · THERE IS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There is … / There isn’t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يُوجَدُ وَتُوجَدُ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659282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thing</a:t>
            </a:r>
            <a:endParaRPr lang="en-US" sz="1100" dirty="0"/>
          </a:p>
        </p:txBody>
      </p:sp>
      <p:sp>
        <p:nvSpPr>
          <p:cNvPr id="18" name="Text 15"/>
          <p:cNvSpPr txBox="1"/>
          <p:nvPr/>
        </p:nvSpPr>
        <p:spPr>
          <a:xfrm>
            <a:off x="357530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thing (</a:t>
            </a:r>
            <a:pPr algn="ctr" indent="0" marL="0">
              <a:buNone/>
            </a:pPr>
            <a:r>
              <a:rPr lang="ar-SA" altLang="en-US" sz="1450" b="1" dirty="0">
                <a:solidFill>
                  <a:srgbClr val="FFFFFF"/>
                </a:solidFill>
                <a:latin typeface="Amiri" pitchFamily="2" charset="-78"/>
                <a:ea typeface="Amiri" pitchFamily="2" charset="-78"/>
                <a:cs typeface="Amiri" pitchFamily="2" charset="-78"/>
              </a:rPr>
              <a:t>ـة</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 thing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6469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 is / are</a:t>
            </a:r>
            <a:endParaRPr lang="en-US" sz="1100" dirty="0"/>
          </a:p>
        </p:txBody>
      </p:sp>
      <p:sp>
        <p:nvSpPr>
          <p:cNvPr id="22" name="Text 19"/>
          <p:cNvSpPr txBox="1"/>
          <p:nvPr/>
        </p:nvSpPr>
        <p:spPr>
          <a:xfrm>
            <a:off x="661111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1B3B6F"/>
                </a:solidFill>
                <a:latin typeface="Amiri" pitchFamily="2" charset="-78"/>
                <a:ea typeface="Amiri" pitchFamily="2" charset="-78"/>
                <a:cs typeface="Amiri" pitchFamily="2" charset="-78"/>
              </a:rPr>
              <a:t>وجَدُ مُسْتَشْفًى</a:t>
            </a:r>
            <a:endParaRPr lang="ar-SA" sz="2100" dirty="0"/>
          </a:p>
        </p:txBody>
      </p:sp>
      <p:sp>
        <p:nvSpPr>
          <p:cNvPr id="23" name="Text 20"/>
          <p:cNvSpPr txBox="1"/>
          <p:nvPr/>
        </p:nvSpPr>
        <p:spPr>
          <a:xfrm>
            <a:off x="6565392" y="2706624"/>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yū-ja-du · there is a hospital</a:t>
            </a:r>
            <a:endParaRPr lang="en-US" sz="950" dirty="0"/>
          </a:p>
        </p:txBody>
      </p:sp>
      <p:sp>
        <p:nvSpPr>
          <p:cNvPr id="24" name="Text 21"/>
          <p:cNvSpPr txBox="1"/>
          <p:nvPr/>
        </p:nvSpPr>
        <p:spPr>
          <a:xfrm>
            <a:off x="359359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تُ</a:t>
            </a:r>
            <a:pPr rtl="1" algn="ctr" indent="0" marL="0">
              <a:buNone/>
            </a:pPr>
            <a:r>
              <a:rPr lang="ar-SA" altLang="en-US" sz="2100" b="1" dirty="0">
                <a:solidFill>
                  <a:srgbClr val="1B3B6F"/>
                </a:solidFill>
                <a:latin typeface="Amiri" pitchFamily="2" charset="-78"/>
                <a:ea typeface="Amiri" pitchFamily="2" charset="-78"/>
                <a:cs typeface="Amiri" pitchFamily="2" charset="-78"/>
              </a:rPr>
              <a:t>وجَدُ مَكْتَبَةٌ</a:t>
            </a:r>
            <a:endParaRPr lang="ar-SA" sz="2100" dirty="0"/>
          </a:p>
        </p:txBody>
      </p:sp>
      <p:sp>
        <p:nvSpPr>
          <p:cNvPr id="25" name="Text 22"/>
          <p:cNvSpPr txBox="1"/>
          <p:nvPr/>
        </p:nvSpPr>
        <p:spPr>
          <a:xfrm>
            <a:off x="3547872" y="2706624"/>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tū-ja-du · there is a library</a:t>
            </a:r>
            <a:endParaRPr lang="en-US" sz="950" dirty="0"/>
          </a:p>
        </p:txBody>
      </p:sp>
      <p:sp>
        <p:nvSpPr>
          <p:cNvPr id="26" name="Text 23"/>
          <p:cNvSpPr txBox="1"/>
          <p:nvPr/>
        </p:nvSpPr>
        <p:spPr>
          <a:xfrm>
            <a:off x="548640" y="2286000"/>
            <a:ext cx="2862072"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تُ</a:t>
            </a:r>
            <a:pPr rtl="1" algn="ctr" indent="0" marL="0">
              <a:buNone/>
            </a:pPr>
            <a:r>
              <a:rPr lang="ar-SA" altLang="en-US" sz="2100" b="1" dirty="0">
                <a:solidFill>
                  <a:srgbClr val="1B3B6F"/>
                </a:solidFill>
                <a:latin typeface="Amiri" pitchFamily="2" charset="-78"/>
                <a:ea typeface="Amiri" pitchFamily="2" charset="-78"/>
                <a:cs typeface="Amiri" pitchFamily="2" charset="-78"/>
              </a:rPr>
              <a:t>وجَدُ مَقَاهٍ</a:t>
            </a:r>
            <a:endParaRPr lang="ar-SA" sz="2100" dirty="0"/>
          </a:p>
        </p:txBody>
      </p:sp>
      <p:sp>
        <p:nvSpPr>
          <p:cNvPr id="27" name="Text 24"/>
          <p:cNvSpPr txBox="1"/>
          <p:nvPr/>
        </p:nvSpPr>
        <p:spPr>
          <a:xfrm>
            <a:off x="502920" y="2706624"/>
            <a:ext cx="295351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are cafés</a:t>
            </a:r>
            <a:endParaRPr lang="en-US" sz="95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6469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 isn’t</a:t>
            </a:r>
            <a:endParaRPr lang="en-US" sz="1100" dirty="0"/>
          </a:p>
        </p:txBody>
      </p:sp>
      <p:sp>
        <p:nvSpPr>
          <p:cNvPr id="32" name="Text 29"/>
          <p:cNvSpPr txBox="1"/>
          <p:nvPr/>
        </p:nvSpPr>
        <p:spPr>
          <a:xfrm>
            <a:off x="6611112" y="3072384"/>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لَا</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1B3B6F"/>
                </a:solidFill>
                <a:latin typeface="Amiri" pitchFamily="2" charset="-78"/>
                <a:ea typeface="Amiri" pitchFamily="2" charset="-78"/>
                <a:cs typeface="Amiri" pitchFamily="2" charset="-78"/>
              </a:rPr>
              <a:t>وجَدُ مَسْبَحٌ</a:t>
            </a:r>
            <a:endParaRPr lang="ar-SA" sz="2100" dirty="0"/>
          </a:p>
        </p:txBody>
      </p:sp>
      <p:sp>
        <p:nvSpPr>
          <p:cNvPr id="33" name="Text 30"/>
          <p:cNvSpPr txBox="1"/>
          <p:nvPr/>
        </p:nvSpPr>
        <p:spPr>
          <a:xfrm>
            <a:off x="6565392" y="3493008"/>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no pool</a:t>
            </a:r>
            <a:endParaRPr lang="en-US" sz="950" dirty="0"/>
          </a:p>
        </p:txBody>
      </p:sp>
      <p:sp>
        <p:nvSpPr>
          <p:cNvPr id="34" name="Text 31"/>
          <p:cNvSpPr txBox="1"/>
          <p:nvPr/>
        </p:nvSpPr>
        <p:spPr>
          <a:xfrm>
            <a:off x="3593592" y="3072384"/>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لَا</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ea typeface="Amiri" pitchFamily="2" charset="-78"/>
                <a:cs typeface="Amiri" pitchFamily="2" charset="-78"/>
              </a:rPr>
              <a:t>تُ</a:t>
            </a:r>
            <a:pPr rtl="1" algn="ctr" indent="0" marL="0">
              <a:buNone/>
            </a:pPr>
            <a:r>
              <a:rPr lang="ar-SA" altLang="en-US" sz="2100" b="1" dirty="0">
                <a:solidFill>
                  <a:srgbClr val="1B3B6F"/>
                </a:solidFill>
                <a:latin typeface="Amiri" pitchFamily="2" charset="-78"/>
                <a:ea typeface="Amiri" pitchFamily="2" charset="-78"/>
                <a:cs typeface="Amiri" pitchFamily="2" charset="-78"/>
              </a:rPr>
              <a:t>وجَدُ عِيَادَةٌ</a:t>
            </a:r>
            <a:endParaRPr lang="ar-SA" sz="2100" dirty="0"/>
          </a:p>
        </p:txBody>
      </p:sp>
      <p:sp>
        <p:nvSpPr>
          <p:cNvPr id="35" name="Text 32"/>
          <p:cNvSpPr txBox="1"/>
          <p:nvPr/>
        </p:nvSpPr>
        <p:spPr>
          <a:xfrm>
            <a:off x="3547872" y="3493008"/>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no clinic</a:t>
            </a:r>
            <a:endParaRPr lang="en-US" sz="950" dirty="0"/>
          </a:p>
        </p:txBody>
      </p:sp>
      <p:sp>
        <p:nvSpPr>
          <p:cNvPr id="36" name="Text 33"/>
          <p:cNvSpPr txBox="1"/>
          <p:nvPr/>
        </p:nvSpPr>
        <p:spPr>
          <a:xfrm>
            <a:off x="548640" y="3072384"/>
            <a:ext cx="2862072"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لَا</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ea typeface="Amiri" pitchFamily="2" charset="-78"/>
                <a:cs typeface="Amiri" pitchFamily="2" charset="-78"/>
              </a:rPr>
              <a:t>تُ</a:t>
            </a:r>
            <a:pPr rtl="1" algn="ctr" indent="0" marL="0">
              <a:buNone/>
            </a:pPr>
            <a:r>
              <a:rPr lang="ar-SA" altLang="en-US" sz="2100" b="1" dirty="0">
                <a:solidFill>
                  <a:srgbClr val="1B3B6F"/>
                </a:solidFill>
                <a:latin typeface="Amiri" pitchFamily="2" charset="-78"/>
                <a:ea typeface="Amiri" pitchFamily="2" charset="-78"/>
                <a:cs typeface="Amiri" pitchFamily="2" charset="-78"/>
              </a:rPr>
              <a:t>وجَدُ مَلَاعِبُ</a:t>
            </a:r>
            <a:endParaRPr lang="ar-SA" sz="2100" dirty="0"/>
          </a:p>
        </p:txBody>
      </p:sp>
      <p:sp>
        <p:nvSpPr>
          <p:cNvPr id="37" name="Text 34"/>
          <p:cNvSpPr txBox="1"/>
          <p:nvPr/>
        </p:nvSpPr>
        <p:spPr>
          <a:xfrm>
            <a:off x="502920" y="3493008"/>
            <a:ext cx="295351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are no pitches</a:t>
            </a:r>
            <a:endParaRPr lang="en-US" sz="95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96469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there …?</a:t>
            </a:r>
            <a:endParaRPr lang="en-US" sz="1100" dirty="0"/>
          </a:p>
        </p:txBody>
      </p:sp>
      <p:sp>
        <p:nvSpPr>
          <p:cNvPr id="42" name="Text 39"/>
          <p:cNvSpPr txBox="1"/>
          <p:nvPr/>
        </p:nvSpPr>
        <p:spPr>
          <a:xfrm>
            <a:off x="6611112" y="3858768"/>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هَلْ</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1B3B6F"/>
                </a:solidFill>
                <a:latin typeface="Amiri" pitchFamily="2" charset="-78"/>
                <a:ea typeface="Amiri" pitchFamily="2" charset="-78"/>
                <a:cs typeface="Amiri" pitchFamily="2" charset="-78"/>
              </a:rPr>
              <a:t>وجَدُ بَنْكٌ؟</a:t>
            </a:r>
            <a:endParaRPr lang="ar-SA" sz="2100" dirty="0"/>
          </a:p>
        </p:txBody>
      </p:sp>
      <p:sp>
        <p:nvSpPr>
          <p:cNvPr id="43" name="Text 40"/>
          <p:cNvSpPr txBox="1"/>
          <p:nvPr/>
        </p:nvSpPr>
        <p:spPr>
          <a:xfrm>
            <a:off x="6565392" y="4279392"/>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is there a bank?</a:t>
            </a:r>
            <a:endParaRPr lang="en-US" sz="950" dirty="0"/>
          </a:p>
        </p:txBody>
      </p:sp>
      <p:sp>
        <p:nvSpPr>
          <p:cNvPr id="44" name="Text 41"/>
          <p:cNvSpPr txBox="1"/>
          <p:nvPr/>
        </p:nvSpPr>
        <p:spPr>
          <a:xfrm>
            <a:off x="3593592" y="3858768"/>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هَلْ</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ea typeface="Amiri" pitchFamily="2" charset="-78"/>
                <a:cs typeface="Amiri" pitchFamily="2" charset="-78"/>
              </a:rPr>
              <a:t>تُ</a:t>
            </a:r>
            <a:pPr rtl="1" algn="ctr" indent="0" marL="0">
              <a:buNone/>
            </a:pPr>
            <a:r>
              <a:rPr lang="ar-SA" altLang="en-US" sz="2100" b="1" dirty="0">
                <a:solidFill>
                  <a:srgbClr val="1B3B6F"/>
                </a:solidFill>
                <a:latin typeface="Amiri" pitchFamily="2" charset="-78"/>
                <a:ea typeface="Amiri" pitchFamily="2" charset="-78"/>
                <a:cs typeface="Amiri" pitchFamily="2" charset="-78"/>
              </a:rPr>
              <a:t>وجَدُ مَحَطَّةٌ؟</a:t>
            </a:r>
            <a:endParaRPr lang="ar-SA" sz="2100" dirty="0"/>
          </a:p>
        </p:txBody>
      </p:sp>
      <p:sp>
        <p:nvSpPr>
          <p:cNvPr id="45" name="Text 42"/>
          <p:cNvSpPr txBox="1"/>
          <p:nvPr/>
        </p:nvSpPr>
        <p:spPr>
          <a:xfrm>
            <a:off x="3547872" y="4279392"/>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is there a station?</a:t>
            </a:r>
            <a:endParaRPr lang="en-US" sz="950" dirty="0"/>
          </a:p>
        </p:txBody>
      </p:sp>
      <p:sp>
        <p:nvSpPr>
          <p:cNvPr id="46" name="Text 43"/>
          <p:cNvSpPr txBox="1"/>
          <p:nvPr/>
        </p:nvSpPr>
        <p:spPr>
          <a:xfrm>
            <a:off x="548640" y="3858768"/>
            <a:ext cx="2862072"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هَلْ</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ea typeface="Amiri" pitchFamily="2" charset="-78"/>
                <a:cs typeface="Amiri" pitchFamily="2" charset="-78"/>
              </a:rPr>
              <a:t>تُ</a:t>
            </a:r>
            <a:pPr rtl="1" algn="ctr" indent="0" marL="0">
              <a:buNone/>
            </a:pPr>
            <a:r>
              <a:rPr lang="ar-SA" altLang="en-US" sz="2100" b="1" dirty="0">
                <a:solidFill>
                  <a:srgbClr val="1B3B6F"/>
                </a:solidFill>
                <a:latin typeface="Amiri" pitchFamily="2" charset="-78"/>
                <a:ea typeface="Amiri" pitchFamily="2" charset="-78"/>
                <a:cs typeface="Amiri" pitchFamily="2" charset="-78"/>
              </a:rPr>
              <a:t>وجَدُ مَتَاحِفُ؟</a:t>
            </a:r>
            <a:endParaRPr lang="ar-SA" sz="2100" dirty="0"/>
          </a:p>
        </p:txBody>
      </p:sp>
      <p:sp>
        <p:nvSpPr>
          <p:cNvPr id="47" name="Text 44"/>
          <p:cNvSpPr txBox="1"/>
          <p:nvPr/>
        </p:nvSpPr>
        <p:spPr>
          <a:xfrm>
            <a:off x="502920" y="4279392"/>
            <a:ext cx="295351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are there museums?</a:t>
            </a:r>
            <a:endParaRPr lang="en-US" sz="950" dirty="0"/>
          </a:p>
        </p:txBody>
      </p:sp>
      <p:sp>
        <p:nvSpPr>
          <p:cNvPr id="48" name="Shape 4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9" name="Text 46"/>
          <p:cNvSpPr txBox="1"/>
          <p:nvPr/>
        </p:nvSpPr>
        <p:spPr>
          <a:xfrm>
            <a:off x="964692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town</a:t>
            </a:r>
            <a:endParaRPr lang="en-US" sz="1100" dirty="0"/>
          </a:p>
        </p:txBody>
      </p:sp>
      <p:sp>
        <p:nvSpPr>
          <p:cNvPr id="50" name="Text 47"/>
          <p:cNvSpPr txBox="1"/>
          <p:nvPr/>
        </p:nvSpPr>
        <p:spPr>
          <a:xfrm>
            <a:off x="6611112" y="4645152"/>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فِي مَدِينَتِي </a:t>
            </a:r>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1B3B6F"/>
                </a:solidFill>
                <a:latin typeface="Amiri" pitchFamily="2" charset="-78"/>
                <a:ea typeface="Amiri" pitchFamily="2" charset="-78"/>
                <a:cs typeface="Amiri" pitchFamily="2" charset="-78"/>
              </a:rPr>
              <a:t>وجَدُ …</a:t>
            </a:r>
            <a:endParaRPr lang="ar-SA" sz="2100" dirty="0"/>
          </a:p>
        </p:txBody>
      </p:sp>
      <p:sp>
        <p:nvSpPr>
          <p:cNvPr id="51" name="Text 48"/>
          <p:cNvSpPr txBox="1"/>
          <p:nvPr/>
        </p:nvSpPr>
        <p:spPr>
          <a:xfrm>
            <a:off x="6565392" y="5065776"/>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my town there is …</a:t>
            </a:r>
            <a:endParaRPr lang="en-US" sz="950" dirty="0"/>
          </a:p>
        </p:txBody>
      </p:sp>
      <p:sp>
        <p:nvSpPr>
          <p:cNvPr id="52" name="Text 49"/>
          <p:cNvSpPr txBox="1"/>
          <p:nvPr/>
        </p:nvSpPr>
        <p:spPr>
          <a:xfrm>
            <a:off x="3593592" y="4645152"/>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فِي حَيِّنَا </a:t>
            </a:r>
            <a:pPr rtl="1" algn="ctr" indent="0" marL="0">
              <a:buNone/>
            </a:pPr>
            <a:r>
              <a:rPr lang="ar-SA" altLang="en-US" sz="2100" b="1" dirty="0">
                <a:solidFill>
                  <a:srgbClr val="1D5FBF"/>
                </a:solidFill>
                <a:latin typeface="Amiri" pitchFamily="2" charset="-78"/>
                <a:ea typeface="Amiri" pitchFamily="2" charset="-78"/>
                <a:cs typeface="Amiri" pitchFamily="2" charset="-78"/>
              </a:rPr>
              <a:t>تُ</a:t>
            </a:r>
            <a:pPr rtl="1" algn="ctr" indent="0" marL="0">
              <a:buNone/>
            </a:pPr>
            <a:r>
              <a:rPr lang="ar-SA" altLang="en-US" sz="2100" b="1" dirty="0">
                <a:solidFill>
                  <a:srgbClr val="1B3B6F"/>
                </a:solidFill>
                <a:latin typeface="Amiri" pitchFamily="2" charset="-78"/>
                <a:ea typeface="Amiri" pitchFamily="2" charset="-78"/>
                <a:cs typeface="Amiri" pitchFamily="2" charset="-78"/>
              </a:rPr>
              <a:t>وجَدُ …</a:t>
            </a:r>
            <a:endParaRPr lang="ar-SA" sz="2100" dirty="0"/>
          </a:p>
        </p:txBody>
      </p:sp>
      <p:sp>
        <p:nvSpPr>
          <p:cNvPr id="53" name="Text 50"/>
          <p:cNvSpPr txBox="1"/>
          <p:nvPr/>
        </p:nvSpPr>
        <p:spPr>
          <a:xfrm>
            <a:off x="3547872" y="5065776"/>
            <a:ext cx="29260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our area there is …</a:t>
            </a:r>
            <a:endParaRPr lang="en-US" sz="950" dirty="0"/>
          </a:p>
        </p:txBody>
      </p:sp>
      <p:sp>
        <p:nvSpPr>
          <p:cNvPr id="54" name="Text 51"/>
          <p:cNvSpPr txBox="1"/>
          <p:nvPr/>
        </p:nvSpPr>
        <p:spPr>
          <a:xfrm>
            <a:off x="548640" y="4645152"/>
            <a:ext cx="286207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عِنْدَنَا …</a:t>
            </a:r>
            <a:endParaRPr lang="ar-SA" sz="2100" dirty="0"/>
          </a:p>
        </p:txBody>
      </p:sp>
      <p:sp>
        <p:nvSpPr>
          <p:cNvPr id="55" name="Text 52"/>
          <p:cNvSpPr txBox="1"/>
          <p:nvPr/>
        </p:nvSpPr>
        <p:spPr>
          <a:xfrm>
            <a:off x="502920" y="5065776"/>
            <a:ext cx="295351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have …</a:t>
            </a:r>
            <a:endParaRPr lang="en-US" sz="9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GRAMMAR PART 2 · LOCATIVES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أَيْنَ يَقَعُ؟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place word</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مُقَابِلَ</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opposite</a:t>
            </a:r>
            <a:endParaRPr lang="en-US" sz="1350" dirty="0"/>
          </a:p>
          <a:p>
            <a:pPr indent="0" marL="0">
              <a:buNone/>
            </a:pPr>
            <a:r>
              <a:rPr lang="en-US" sz="1100" i="1" dirty="0">
                <a:solidFill>
                  <a:srgbClr val="5A6472"/>
                </a:solidFill>
                <a:latin typeface="Calibri" pitchFamily="34" charset="0"/>
                <a:cs typeface="Amiri" pitchFamily="2" charset="-78"/>
              </a:rPr>
              <a:t>mu-qā-bi-la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Website: </a:t>
            </a:r>
            <a:pPr algn="l" indent="0" marL="0">
              <a:buNone/>
            </a:pPr>
            <a:r>
              <a:rPr lang="ar-SA" altLang="en-US" sz="1300" dirty="0">
                <a:solidFill>
                  <a:srgbClr val="8A6D1E"/>
                </a:solidFill>
                <a:latin typeface="Amiri" pitchFamily="2" charset="-78"/>
                <a:ea typeface="Amiri" pitchFamily="2" charset="-78"/>
                <a:cs typeface="Amiri" pitchFamily="2" charset="-78"/>
              </a:rPr>
              <a:t>المُسْتَشْفَى مُقَابِلُ البَنْكِ</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place word</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بِجَانِبِ</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next to, beside</a:t>
            </a:r>
            <a:endParaRPr lang="en-US" sz="1350" dirty="0"/>
          </a:p>
          <a:p>
            <a:pPr indent="0" marL="0">
              <a:buNone/>
            </a:pPr>
            <a:r>
              <a:rPr lang="en-US" sz="1100" i="1" dirty="0">
                <a:solidFill>
                  <a:srgbClr val="5A6472"/>
                </a:solidFill>
                <a:latin typeface="Calibri" pitchFamily="34" charset="0"/>
                <a:cs typeface="Amiri" pitchFamily="2" charset="-78"/>
              </a:rPr>
              <a:t>bi-jā-ni-bi</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Website: </a:t>
            </a:r>
            <a:pPr algn="l" indent="0" marL="0">
              <a:buNone/>
            </a:pPr>
            <a:r>
              <a:rPr lang="ar-SA" altLang="en-US" sz="1300" dirty="0">
                <a:solidFill>
                  <a:srgbClr val="8A6D1E"/>
                </a:solidFill>
                <a:latin typeface="Amiri" pitchFamily="2" charset="-78"/>
                <a:ea typeface="Amiri" pitchFamily="2" charset="-78"/>
                <a:cs typeface="Amiri" pitchFamily="2" charset="-78"/>
              </a:rPr>
              <a:t>المَقْهَى بِجَانِبِ المَكْتَبَةِ</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place word</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قُرْبَ</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near</a:t>
            </a:r>
            <a:endParaRPr lang="en-US" sz="1350" dirty="0"/>
          </a:p>
          <a:p>
            <a:pPr indent="0" marL="0">
              <a:buNone/>
            </a:pPr>
            <a:r>
              <a:rPr lang="en-US" sz="1100" i="1" dirty="0">
                <a:solidFill>
                  <a:srgbClr val="5A6472"/>
                </a:solidFill>
                <a:latin typeface="Calibri" pitchFamily="34" charset="0"/>
                <a:cs typeface="Amiri" pitchFamily="2" charset="-78"/>
              </a:rPr>
              <a:t>qur-ba</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place word</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بَيْنَ</a:t>
            </a:r>
            <a:pPr rtl="1" algn="r" indent="0" marL="0">
              <a:buNone/>
            </a:pPr>
            <a:r>
              <a:rPr lang="ar-SA" altLang="en-US" sz="3000" b="1" dirty="0">
                <a:solidFill>
                  <a:srgbClr val="1B3B6F"/>
                </a:solidFill>
                <a:latin typeface="Amiri" pitchFamily="2" charset="-78"/>
                <a:cs typeface="Amiri" pitchFamily="2" charset="-78"/>
              </a:rPr>
              <a:t> … </a:t>
            </a:r>
            <a:pPr rtl="1" algn="r" indent="0" marL="0">
              <a:buNone/>
            </a:pPr>
            <a:r>
              <a:rPr lang="ar-SA" altLang="en-US" sz="3000" b="1" dirty="0">
                <a:solidFill>
                  <a:srgbClr val="0E7C86"/>
                </a:solidFill>
                <a:latin typeface="Amiri" pitchFamily="2" charset="-78"/>
                <a:ea typeface="Amiri" pitchFamily="2" charset="-78"/>
                <a:cs typeface="Amiri" pitchFamily="2" charset="-78"/>
              </a:rPr>
              <a:t>وَ</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between … and</a:t>
            </a:r>
            <a:endParaRPr lang="en-US" sz="1350" dirty="0"/>
          </a:p>
          <a:p>
            <a:pPr indent="0" marL="0">
              <a:buNone/>
            </a:pPr>
            <a:r>
              <a:rPr lang="en-US" sz="1100" i="1" dirty="0">
                <a:solidFill>
                  <a:srgbClr val="5A6472"/>
                </a:solidFill>
                <a:latin typeface="Calibri" pitchFamily="34" charset="0"/>
                <a:cs typeface="Amiri" pitchFamily="2" charset="-78"/>
              </a:rPr>
              <a:t>bay-na … wa</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6" name="Shape 5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place word</a:t>
            </a:r>
            <a:endParaRPr lang="en-US" sz="800" dirty="0"/>
          </a:p>
        </p:txBody>
      </p:sp>
      <p:sp>
        <p:nvSpPr>
          <p:cNvPr id="58" name="Text 5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أَمَامَ</a:t>
            </a:r>
            <a:endParaRPr lang="ar-SA" sz="3000" dirty="0"/>
          </a:p>
        </p:txBody>
      </p:sp>
      <p:sp>
        <p:nvSpPr>
          <p:cNvPr id="59" name="Text 5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front of</a:t>
            </a:r>
            <a:endParaRPr lang="en-US" sz="1350" dirty="0"/>
          </a:p>
          <a:p>
            <a:pPr indent="0" marL="0">
              <a:buNone/>
            </a:pPr>
            <a:r>
              <a:rPr lang="en-US" sz="1100" i="1" dirty="0">
                <a:solidFill>
                  <a:srgbClr val="5A6472"/>
                </a:solidFill>
                <a:latin typeface="Calibri" pitchFamily="34" charset="0"/>
                <a:cs typeface="Amiri" pitchFamily="2" charset="-78"/>
              </a:rPr>
              <a:t>a-mā-ma</a:t>
            </a:r>
            <a:endParaRPr lang="en-US" sz="135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3" name="Shape 60"/>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place word</a:t>
            </a:r>
            <a:endParaRPr lang="en-US" sz="8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خَلْفَ</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behind</a:t>
            </a:r>
            <a:endParaRPr lang="en-US" sz="1350" dirty="0"/>
          </a:p>
          <a:p>
            <a:pPr indent="0" marL="0">
              <a:buNone/>
            </a:pPr>
            <a:r>
              <a:rPr lang="en-US" sz="1100" i="1" dirty="0">
                <a:solidFill>
                  <a:srgbClr val="5A6472"/>
                </a:solidFill>
                <a:latin typeface="Calibri" pitchFamily="34" charset="0"/>
                <a:cs typeface="Amiri" pitchFamily="2" charset="-78"/>
              </a:rPr>
              <a:t>khal-fa</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PLACE + WHERE + SECOND PLACE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café is next to the library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المَقْهَى بِجَانِبِ المَكْتَبَةِ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المَكَانُ</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the place</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أَيْنَ؟</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where (key word)</a:t>
            </a:r>
            <a:endParaRPr lang="en-US" sz="900" dirty="0"/>
          </a:p>
        </p:txBody>
      </p:sp>
      <p:sp>
        <p:nvSpPr>
          <p:cNvPr id="22" name="Shape 19"/>
          <p:cNvSpPr/>
          <p:nvPr/>
        </p:nvSpPr>
        <p:spPr>
          <a:xfrm>
            <a:off x="3584448" y="1810512"/>
            <a:ext cx="2642616" cy="566928"/>
          </a:xfrm>
          <a:prstGeom prst="roundRect">
            <a:avLst>
              <a:gd name="adj" fmla="val 9677"/>
            </a:avLst>
          </a:prstGeom>
          <a:solidFill>
            <a:srgbClr val="D6336C"/>
          </a:solidFill>
          <a:ln w="12700">
            <a:solidFill>
              <a:srgbClr val="D6336C"/>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المَكَانُ الثَّانِي</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the second place (ending -i)</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hospital is opposite the bank.</a:t>
            </a:r>
            <a:endParaRPr lang="en-US" sz="1200" dirty="0"/>
          </a:p>
        </p:txBody>
      </p:sp>
      <p:sp>
        <p:nvSpPr>
          <p:cNvPr id="26" name="Shape 23"/>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المُسْتَشْفَى</a:t>
            </a:r>
            <a:endParaRPr lang="ar-SA" sz="2400" dirty="0"/>
          </a:p>
        </p:txBody>
      </p:sp>
      <p:sp>
        <p:nvSpPr>
          <p:cNvPr id="28" name="Shape 25"/>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مُقَابِلَ</a:t>
            </a:r>
            <a:endParaRPr lang="ar-SA" sz="2400" dirty="0"/>
          </a:p>
        </p:txBody>
      </p:sp>
      <p:sp>
        <p:nvSpPr>
          <p:cNvPr id="30" name="Shape 27"/>
          <p:cNvSpPr/>
          <p:nvPr/>
        </p:nvSpPr>
        <p:spPr>
          <a:xfrm>
            <a:off x="3584448" y="2487168"/>
            <a:ext cx="2642616" cy="768096"/>
          </a:xfrm>
          <a:prstGeom prst="roundRect">
            <a:avLst>
              <a:gd name="adj" fmla="val 7143"/>
            </a:avLst>
          </a:prstGeom>
          <a:solidFill>
            <a:srgbClr val="FBE7EF"/>
          </a:solidFill>
          <a:ln w="9525">
            <a:solidFill>
              <a:srgbClr val="FBE7EF"/>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البَنْ</a:t>
            </a:r>
            <a:pPr rtl="1" algn="ctr" indent="0" marL="0">
              <a:buNone/>
            </a:pPr>
            <a:r>
              <a:rPr lang="ar-SA" altLang="en-US" sz="2400" b="1" dirty="0">
                <a:solidFill>
                  <a:srgbClr val="D6336C"/>
                </a:solidFill>
                <a:latin typeface="Amiri" pitchFamily="2" charset="-78"/>
                <a:ea typeface="Amiri" pitchFamily="2" charset="-78"/>
                <a:cs typeface="Amiri" pitchFamily="2" charset="-78"/>
              </a:rPr>
              <a:t>كِ</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café is next to the library.</a:t>
            </a:r>
            <a:endParaRPr lang="en-US" sz="1200" dirty="0"/>
          </a:p>
        </p:txBody>
      </p:sp>
      <p:sp>
        <p:nvSpPr>
          <p:cNvPr id="33" name="Shape 30"/>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المَقْهَى</a:t>
            </a:r>
            <a:endParaRPr lang="ar-SA" sz="2400" dirty="0"/>
          </a:p>
        </p:txBody>
      </p:sp>
      <p:sp>
        <p:nvSpPr>
          <p:cNvPr id="35" name="Shape 32"/>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بِجَانِبِ</a:t>
            </a:r>
            <a:endParaRPr lang="ar-SA" sz="2400" dirty="0"/>
          </a:p>
        </p:txBody>
      </p:sp>
      <p:sp>
        <p:nvSpPr>
          <p:cNvPr id="37" name="Shape 34"/>
          <p:cNvSpPr/>
          <p:nvPr/>
        </p:nvSpPr>
        <p:spPr>
          <a:xfrm>
            <a:off x="3584448" y="3364992"/>
            <a:ext cx="2642616" cy="768096"/>
          </a:xfrm>
          <a:prstGeom prst="roundRect">
            <a:avLst>
              <a:gd name="adj" fmla="val 7143"/>
            </a:avLst>
          </a:prstGeom>
          <a:solidFill>
            <a:srgbClr val="FBE7EF"/>
          </a:solidFill>
          <a:ln w="9525">
            <a:solidFill>
              <a:srgbClr val="FBE7EF"/>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المَكْتَبَ</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hotel is east of the train station.</a:t>
            </a:r>
            <a:endParaRPr lang="en-US" sz="1200" dirty="0"/>
          </a:p>
        </p:txBody>
      </p:sp>
      <p:sp>
        <p:nvSpPr>
          <p:cNvPr id="40" name="Shape 37"/>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الفُنْدُقُ</a:t>
            </a:r>
            <a:endParaRPr lang="ar-SA" sz="2400" dirty="0"/>
          </a:p>
        </p:txBody>
      </p:sp>
      <p:sp>
        <p:nvSpPr>
          <p:cNvPr id="42" name="Shape 39"/>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شَرْقَ</a:t>
            </a:r>
            <a:endParaRPr lang="ar-SA" sz="2400" dirty="0"/>
          </a:p>
        </p:txBody>
      </p:sp>
      <p:sp>
        <p:nvSpPr>
          <p:cNvPr id="44" name="Shape 41"/>
          <p:cNvSpPr/>
          <p:nvPr/>
        </p:nvSpPr>
        <p:spPr>
          <a:xfrm>
            <a:off x="3584448" y="4242816"/>
            <a:ext cx="2642616" cy="768096"/>
          </a:xfrm>
          <a:prstGeom prst="roundRect">
            <a:avLst>
              <a:gd name="adj" fmla="val 7143"/>
            </a:avLst>
          </a:prstGeom>
          <a:solidFill>
            <a:srgbClr val="FBE7EF"/>
          </a:solidFill>
          <a:ln w="9525">
            <a:solidFill>
              <a:srgbClr val="FBE7EF"/>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مَحَطَّةِ القِطَا</a:t>
            </a:r>
            <a:pPr rtl="1" algn="ctr" indent="0" marL="0">
              <a:buNone/>
            </a:pPr>
            <a:r>
              <a:rPr lang="ar-SA" altLang="en-US" sz="2400" b="1" dirty="0">
                <a:solidFill>
                  <a:srgbClr val="D6336C"/>
                </a:solidFill>
                <a:latin typeface="Amiri" pitchFamily="2" charset="-78"/>
                <a:ea typeface="Amiri" pitchFamily="2" charset="-78"/>
                <a:cs typeface="Amiri" pitchFamily="2" charset="-78"/>
              </a:rPr>
              <a:t>رِ</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museum is between the school and the square.</a:t>
            </a:r>
            <a:endParaRPr lang="en-US" sz="1200" dirty="0"/>
          </a:p>
        </p:txBody>
      </p:sp>
      <p:sp>
        <p:nvSpPr>
          <p:cNvPr id="47" name="Shape 44"/>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المَتْحَفُ</a:t>
            </a:r>
            <a:endParaRPr lang="ar-SA" sz="2400" dirty="0"/>
          </a:p>
        </p:txBody>
      </p:sp>
      <p:sp>
        <p:nvSpPr>
          <p:cNvPr id="49" name="Shape 46"/>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بَيْنَ</a:t>
            </a:r>
            <a:endParaRPr lang="ar-SA" sz="2400" dirty="0"/>
          </a:p>
        </p:txBody>
      </p:sp>
      <p:sp>
        <p:nvSpPr>
          <p:cNvPr id="51" name="Shape 48"/>
          <p:cNvSpPr/>
          <p:nvPr/>
        </p:nvSpPr>
        <p:spPr>
          <a:xfrm>
            <a:off x="3584448" y="5120640"/>
            <a:ext cx="2642616" cy="768096"/>
          </a:xfrm>
          <a:prstGeom prst="roundRect">
            <a:avLst>
              <a:gd name="adj" fmla="val 7143"/>
            </a:avLst>
          </a:prstGeom>
          <a:solidFill>
            <a:srgbClr val="FBE7EF"/>
          </a:solidFill>
          <a:ln w="9525">
            <a:solidFill>
              <a:srgbClr val="FBE7EF"/>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المَدْرَسَ</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pPr rtl="1" algn="ctr" indent="0" marL="0">
              <a:buNone/>
            </a:pPr>
            <a:r>
              <a:rPr lang="ar-SA" altLang="en-US" sz="2400" b="1" dirty="0">
                <a:solidFill>
                  <a:srgbClr val="1B3B6F"/>
                </a:solidFill>
                <a:latin typeface="Amiri" pitchFamily="2" charset="-78"/>
                <a:ea typeface="Amiri" pitchFamily="2" charset="-78"/>
                <a:cs typeface="Amiri" pitchFamily="2" charset="-78"/>
              </a:rPr>
              <a:t> وَالسَّاحَ</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After a place word, the second place always ends in -i (kasra): </a:t>
            </a:r>
            <a:pPr algn="l" indent="0" marL="0">
              <a:buNone/>
            </a:pPr>
            <a:r>
              <a:rPr lang="ar-SA" altLang="en-US" sz="1550" b="1" dirty="0">
                <a:solidFill>
                  <a:srgbClr val="8A6D1E"/>
                </a:solidFill>
                <a:latin typeface="Amiri" pitchFamily="2" charset="-78"/>
                <a:ea typeface="Amiri" pitchFamily="2" charset="-78"/>
                <a:cs typeface="Amiri" pitchFamily="2" charset="-78"/>
              </a:rPr>
              <a:t>البَنْكِ</a:t>
            </a:r>
            <a:pPr algn="l" indent="0" marL="0">
              <a:buNone/>
            </a:pPr>
            <a:r>
              <a:rPr lang="en-US" sz="1200" b="1" dirty="0">
                <a:solidFill>
                  <a:srgbClr val="8A6D1E"/>
                </a:solidFill>
                <a:latin typeface="Calibri" pitchFamily="34" charset="0"/>
                <a:cs typeface="Amiri" pitchFamily="2" charset="-78"/>
              </a:rPr>
              <a:t> · </a:t>
            </a:r>
            <a:pPr algn="l" indent="0" marL="0">
              <a:buNone/>
            </a:pPr>
            <a:r>
              <a:rPr lang="ar-SA" altLang="en-US" sz="1550" b="1" dirty="0">
                <a:solidFill>
                  <a:srgbClr val="8A6D1E"/>
                </a:solidFill>
                <a:latin typeface="Amiri" pitchFamily="2" charset="-78"/>
                <a:ea typeface="Amiri" pitchFamily="2" charset="-78"/>
                <a:cs typeface="Amiri" pitchFamily="2" charset="-78"/>
              </a:rPr>
              <a:t>المَكْتَبَةِ</a:t>
            </a:r>
            <a:pPr algn="l" indent="0" marL="0">
              <a:buNone/>
            </a:pPr>
            <a:r>
              <a:rPr lang="en-US" sz="1200" b="1" dirty="0">
                <a:solidFill>
                  <a:srgbClr val="8A6D1E"/>
                </a:solidFill>
                <a:latin typeface="Calibri" pitchFamily="34" charset="0"/>
                <a:cs typeface="Amiri" pitchFamily="2" charset="-78"/>
              </a:rPr>
              <a:t>.</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5 · GRAMMAR PART 3 · COMPARATIVES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Big → bigger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اِسْمُ التَّفْضِيلِ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750722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 (m.)</a:t>
            </a:r>
            <a:endParaRPr lang="en-US" sz="1100" dirty="0"/>
          </a:p>
        </p:txBody>
      </p:sp>
      <p:sp>
        <p:nvSpPr>
          <p:cNvPr id="18" name="Text 15"/>
          <p:cNvSpPr txBox="1"/>
          <p:nvPr/>
        </p:nvSpPr>
        <p:spPr>
          <a:xfrm>
            <a:off x="522122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 (f.)</a:t>
            </a:r>
            <a:endParaRPr lang="en-US" sz="1100" dirty="0"/>
          </a:p>
        </p:txBody>
      </p:sp>
      <p:sp>
        <p:nvSpPr>
          <p:cNvPr id="19" name="Text 16"/>
          <p:cNvSpPr txBox="1"/>
          <p:nvPr/>
        </p:nvSpPr>
        <p:spPr>
          <a:xfrm>
            <a:off x="284378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more … than (m. and f.)</a:t>
            </a:r>
            <a:endParaRPr lang="en-US" sz="1100" dirty="0"/>
          </a:p>
        </p:txBody>
      </p:sp>
      <p:sp>
        <p:nvSpPr>
          <p:cNvPr id="20" name="Text 17"/>
          <p:cNvSpPr txBox="1"/>
          <p:nvPr/>
        </p:nvSpPr>
        <p:spPr>
          <a:xfrm>
            <a:off x="53035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21" name="Shape 18"/>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2" name="Text 19"/>
          <p:cNvSpPr txBox="1"/>
          <p:nvPr/>
        </p:nvSpPr>
        <p:spPr>
          <a:xfrm>
            <a:off x="9829800" y="226771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big</a:t>
            </a:r>
            <a:endParaRPr lang="en-US" sz="1100" dirty="0"/>
          </a:p>
        </p:txBody>
      </p:sp>
      <p:sp>
        <p:nvSpPr>
          <p:cNvPr id="23" name="Text 20"/>
          <p:cNvSpPr txBox="1"/>
          <p:nvPr/>
        </p:nvSpPr>
        <p:spPr>
          <a:xfrm>
            <a:off x="7525512" y="2286000"/>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كَبِيرٌ</a:t>
            </a:r>
            <a:endParaRPr lang="ar-SA" sz="1800" dirty="0"/>
          </a:p>
        </p:txBody>
      </p:sp>
      <p:sp>
        <p:nvSpPr>
          <p:cNvPr id="24" name="Text 21"/>
          <p:cNvSpPr txBox="1"/>
          <p:nvPr/>
        </p:nvSpPr>
        <p:spPr>
          <a:xfrm>
            <a:off x="7479792" y="2644445"/>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ka-bīr</a:t>
            </a:r>
            <a:endParaRPr lang="en-US" sz="950" dirty="0"/>
          </a:p>
        </p:txBody>
      </p:sp>
      <p:sp>
        <p:nvSpPr>
          <p:cNvPr id="25" name="Text 22"/>
          <p:cNvSpPr txBox="1"/>
          <p:nvPr/>
        </p:nvSpPr>
        <p:spPr>
          <a:xfrm>
            <a:off x="5239512" y="2286000"/>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كَبِيرَةٌ</a:t>
            </a:r>
            <a:endParaRPr lang="ar-SA" sz="1800" dirty="0"/>
          </a:p>
        </p:txBody>
      </p:sp>
      <p:sp>
        <p:nvSpPr>
          <p:cNvPr id="26" name="Text 23"/>
          <p:cNvSpPr txBox="1"/>
          <p:nvPr/>
        </p:nvSpPr>
        <p:spPr>
          <a:xfrm>
            <a:off x="5193792" y="2644445"/>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ka-bī-ra</a:t>
            </a:r>
            <a:endParaRPr lang="en-US" sz="950" dirty="0"/>
          </a:p>
        </p:txBody>
      </p:sp>
      <p:sp>
        <p:nvSpPr>
          <p:cNvPr id="27" name="Text 24"/>
          <p:cNvSpPr txBox="1"/>
          <p:nvPr/>
        </p:nvSpPr>
        <p:spPr>
          <a:xfrm>
            <a:off x="2862072" y="2286000"/>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أَ</a:t>
            </a:r>
            <a:pPr rtl="1" algn="ctr" indent="0" marL="0">
              <a:buNone/>
            </a:pPr>
            <a:r>
              <a:rPr lang="ar-SA" altLang="en-US" sz="1800" b="1" dirty="0">
                <a:solidFill>
                  <a:srgbClr val="1B3B6F"/>
                </a:solidFill>
                <a:latin typeface="Amiri" pitchFamily="2" charset="-78"/>
                <a:ea typeface="Amiri" pitchFamily="2" charset="-78"/>
                <a:cs typeface="Amiri" pitchFamily="2" charset="-78"/>
              </a:rPr>
              <a:t>كْبَرُ </a:t>
            </a:r>
            <a:pPr rtl="1" algn="ctr" indent="0" marL="0">
              <a:buNone/>
            </a:pPr>
            <a:r>
              <a:rPr lang="ar-SA" altLang="en-US" sz="1800" b="1" dirty="0">
                <a:solidFill>
                  <a:srgbClr val="0E7C86"/>
                </a:solidFill>
                <a:latin typeface="Amiri" pitchFamily="2" charset="-78"/>
                <a:ea typeface="Amiri" pitchFamily="2" charset="-78"/>
                <a:cs typeface="Amiri" pitchFamily="2" charset="-78"/>
              </a:rPr>
              <a:t>مِنْ</a:t>
            </a:r>
            <a:endParaRPr lang="ar-SA" sz="1800" dirty="0"/>
          </a:p>
        </p:txBody>
      </p:sp>
      <p:sp>
        <p:nvSpPr>
          <p:cNvPr id="28" name="Text 25"/>
          <p:cNvSpPr txBox="1"/>
          <p:nvPr/>
        </p:nvSpPr>
        <p:spPr>
          <a:xfrm>
            <a:off x="2816352" y="2644445"/>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ak-ba-ru min</a:t>
            </a:r>
            <a:endParaRPr lang="en-US" sz="950" dirty="0"/>
          </a:p>
        </p:txBody>
      </p:sp>
      <p:sp>
        <p:nvSpPr>
          <p:cNvPr id="29" name="Text 26"/>
          <p:cNvSpPr txBox="1"/>
          <p:nvPr/>
        </p:nvSpPr>
        <p:spPr>
          <a:xfrm>
            <a:off x="548640" y="2267712"/>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المَدِينَةُ أَكْبَرُ مِنَ القَرْيَةِ</a:t>
            </a:r>
            <a:endParaRPr lang="ar-SA" sz="1600" dirty="0"/>
          </a:p>
        </p:txBody>
      </p:sp>
      <p:sp>
        <p:nvSpPr>
          <p:cNvPr id="30" name="Shape 27"/>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2" name="Shape 29"/>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33" name="Text 30"/>
          <p:cNvSpPr txBox="1"/>
          <p:nvPr/>
        </p:nvSpPr>
        <p:spPr>
          <a:xfrm>
            <a:off x="9829800" y="2950464"/>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a:t>
            </a:r>
            <a:endParaRPr lang="en-US" sz="1100" dirty="0"/>
          </a:p>
        </p:txBody>
      </p:sp>
      <p:sp>
        <p:nvSpPr>
          <p:cNvPr id="34" name="Text 31"/>
          <p:cNvSpPr txBox="1"/>
          <p:nvPr/>
        </p:nvSpPr>
        <p:spPr>
          <a:xfrm>
            <a:off x="7525512" y="2968752"/>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صَغِيرٌ</a:t>
            </a:r>
            <a:endParaRPr lang="ar-SA" sz="1800" dirty="0"/>
          </a:p>
        </p:txBody>
      </p:sp>
      <p:sp>
        <p:nvSpPr>
          <p:cNvPr id="35" name="Text 32"/>
          <p:cNvSpPr txBox="1"/>
          <p:nvPr/>
        </p:nvSpPr>
        <p:spPr>
          <a:xfrm>
            <a:off x="7479792" y="3327197"/>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ṣa-ghīr</a:t>
            </a:r>
            <a:endParaRPr lang="en-US" sz="950" dirty="0"/>
          </a:p>
        </p:txBody>
      </p:sp>
      <p:sp>
        <p:nvSpPr>
          <p:cNvPr id="36" name="Text 33"/>
          <p:cNvSpPr txBox="1"/>
          <p:nvPr/>
        </p:nvSpPr>
        <p:spPr>
          <a:xfrm>
            <a:off x="5239512" y="2968752"/>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صَغِيرَةٌ</a:t>
            </a:r>
            <a:endParaRPr lang="ar-SA" sz="1800" dirty="0"/>
          </a:p>
        </p:txBody>
      </p:sp>
      <p:sp>
        <p:nvSpPr>
          <p:cNvPr id="37" name="Text 34"/>
          <p:cNvSpPr txBox="1"/>
          <p:nvPr/>
        </p:nvSpPr>
        <p:spPr>
          <a:xfrm>
            <a:off x="5193792" y="3327197"/>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ṣa-ghī-ra</a:t>
            </a:r>
            <a:endParaRPr lang="en-US" sz="950" dirty="0"/>
          </a:p>
        </p:txBody>
      </p:sp>
      <p:sp>
        <p:nvSpPr>
          <p:cNvPr id="38" name="Text 35"/>
          <p:cNvSpPr txBox="1"/>
          <p:nvPr/>
        </p:nvSpPr>
        <p:spPr>
          <a:xfrm>
            <a:off x="2862072" y="2968752"/>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أَ</a:t>
            </a:r>
            <a:pPr rtl="1" algn="ctr" indent="0" marL="0">
              <a:buNone/>
            </a:pPr>
            <a:r>
              <a:rPr lang="ar-SA" altLang="en-US" sz="1800" b="1" dirty="0">
                <a:solidFill>
                  <a:srgbClr val="1B3B6F"/>
                </a:solidFill>
                <a:latin typeface="Amiri" pitchFamily="2" charset="-78"/>
                <a:ea typeface="Amiri" pitchFamily="2" charset="-78"/>
                <a:cs typeface="Amiri" pitchFamily="2" charset="-78"/>
              </a:rPr>
              <a:t>صْغَرُ </a:t>
            </a:r>
            <a:pPr rtl="1" algn="ctr" indent="0" marL="0">
              <a:buNone/>
            </a:pPr>
            <a:r>
              <a:rPr lang="ar-SA" altLang="en-US" sz="1800" b="1" dirty="0">
                <a:solidFill>
                  <a:srgbClr val="0E7C86"/>
                </a:solidFill>
                <a:latin typeface="Amiri" pitchFamily="2" charset="-78"/>
                <a:ea typeface="Amiri" pitchFamily="2" charset="-78"/>
                <a:cs typeface="Amiri" pitchFamily="2" charset="-78"/>
              </a:rPr>
              <a:t>مِنْ</a:t>
            </a:r>
            <a:endParaRPr lang="ar-SA" sz="1800" dirty="0"/>
          </a:p>
        </p:txBody>
      </p:sp>
      <p:sp>
        <p:nvSpPr>
          <p:cNvPr id="39" name="Text 36"/>
          <p:cNvSpPr txBox="1"/>
          <p:nvPr/>
        </p:nvSpPr>
        <p:spPr>
          <a:xfrm>
            <a:off x="2816352" y="3327197"/>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aṣ-gha-ru min</a:t>
            </a:r>
            <a:endParaRPr lang="en-US" sz="950" dirty="0"/>
          </a:p>
        </p:txBody>
      </p:sp>
      <p:sp>
        <p:nvSpPr>
          <p:cNvPr id="40" name="Text 37"/>
          <p:cNvSpPr txBox="1"/>
          <p:nvPr/>
        </p:nvSpPr>
        <p:spPr>
          <a:xfrm>
            <a:off x="548640" y="2950464"/>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حَيِّي أَصْغَرُ مِنْ حَيِّكَ</a:t>
            </a:r>
            <a:endParaRPr lang="ar-SA" sz="1600" dirty="0"/>
          </a:p>
        </p:txBody>
      </p:sp>
      <p:sp>
        <p:nvSpPr>
          <p:cNvPr id="41" name="Shape 38"/>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44" name="Text 41"/>
          <p:cNvSpPr txBox="1"/>
          <p:nvPr/>
        </p:nvSpPr>
        <p:spPr>
          <a:xfrm>
            <a:off x="9829800" y="3633216"/>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near</a:t>
            </a:r>
            <a:endParaRPr lang="en-US" sz="1100" dirty="0"/>
          </a:p>
        </p:txBody>
      </p:sp>
      <p:sp>
        <p:nvSpPr>
          <p:cNvPr id="45" name="Text 42"/>
          <p:cNvSpPr txBox="1"/>
          <p:nvPr/>
        </p:nvSpPr>
        <p:spPr>
          <a:xfrm>
            <a:off x="7525512" y="3651504"/>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قَرِيبٌ</a:t>
            </a:r>
            <a:endParaRPr lang="ar-SA" sz="1800" dirty="0"/>
          </a:p>
        </p:txBody>
      </p:sp>
      <p:sp>
        <p:nvSpPr>
          <p:cNvPr id="46" name="Text 43"/>
          <p:cNvSpPr txBox="1"/>
          <p:nvPr/>
        </p:nvSpPr>
        <p:spPr>
          <a:xfrm>
            <a:off x="7479792" y="4009949"/>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qa-rīb</a:t>
            </a:r>
            <a:endParaRPr lang="en-US" sz="950" dirty="0"/>
          </a:p>
        </p:txBody>
      </p:sp>
      <p:sp>
        <p:nvSpPr>
          <p:cNvPr id="47" name="Text 44"/>
          <p:cNvSpPr txBox="1"/>
          <p:nvPr/>
        </p:nvSpPr>
        <p:spPr>
          <a:xfrm>
            <a:off x="5239512" y="3651504"/>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قَرِيبَةٌ</a:t>
            </a:r>
            <a:endParaRPr lang="ar-SA" sz="1800" dirty="0"/>
          </a:p>
        </p:txBody>
      </p:sp>
      <p:sp>
        <p:nvSpPr>
          <p:cNvPr id="48" name="Text 45"/>
          <p:cNvSpPr txBox="1"/>
          <p:nvPr/>
        </p:nvSpPr>
        <p:spPr>
          <a:xfrm>
            <a:off x="5193792" y="4009949"/>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qa-rī-ba</a:t>
            </a:r>
            <a:endParaRPr lang="en-US" sz="950" dirty="0"/>
          </a:p>
        </p:txBody>
      </p:sp>
      <p:sp>
        <p:nvSpPr>
          <p:cNvPr id="49" name="Text 46"/>
          <p:cNvSpPr txBox="1"/>
          <p:nvPr/>
        </p:nvSpPr>
        <p:spPr>
          <a:xfrm>
            <a:off x="2862072" y="3651504"/>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أَ</a:t>
            </a:r>
            <a:pPr rtl="1" algn="ctr" indent="0" marL="0">
              <a:buNone/>
            </a:pPr>
            <a:r>
              <a:rPr lang="ar-SA" altLang="en-US" sz="1800" b="1" dirty="0">
                <a:solidFill>
                  <a:srgbClr val="1B3B6F"/>
                </a:solidFill>
                <a:latin typeface="Amiri" pitchFamily="2" charset="-78"/>
                <a:ea typeface="Amiri" pitchFamily="2" charset="-78"/>
                <a:cs typeface="Amiri" pitchFamily="2" charset="-78"/>
              </a:rPr>
              <a:t>قْرَبُ </a:t>
            </a:r>
            <a:pPr rtl="1" algn="ctr" indent="0" marL="0">
              <a:buNone/>
            </a:pPr>
            <a:r>
              <a:rPr lang="ar-SA" altLang="en-US" sz="1800" b="1" dirty="0">
                <a:solidFill>
                  <a:srgbClr val="0E7C86"/>
                </a:solidFill>
                <a:latin typeface="Amiri" pitchFamily="2" charset="-78"/>
                <a:ea typeface="Amiri" pitchFamily="2" charset="-78"/>
                <a:cs typeface="Amiri" pitchFamily="2" charset="-78"/>
              </a:rPr>
              <a:t>مِنْ</a:t>
            </a:r>
            <a:endParaRPr lang="ar-SA" sz="1800" dirty="0"/>
          </a:p>
        </p:txBody>
      </p:sp>
      <p:sp>
        <p:nvSpPr>
          <p:cNvPr id="50" name="Text 47"/>
          <p:cNvSpPr txBox="1"/>
          <p:nvPr/>
        </p:nvSpPr>
        <p:spPr>
          <a:xfrm>
            <a:off x="2816352" y="4009949"/>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aq-ra-bu min</a:t>
            </a:r>
            <a:endParaRPr lang="en-US" sz="950" dirty="0"/>
          </a:p>
        </p:txBody>
      </p:sp>
      <p:sp>
        <p:nvSpPr>
          <p:cNvPr id="51" name="Text 48"/>
          <p:cNvSpPr txBox="1"/>
          <p:nvPr/>
        </p:nvSpPr>
        <p:spPr>
          <a:xfrm>
            <a:off x="548640" y="3633216"/>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البَنْكُ أَقْرَبُ مِنَ المَتْحَفِ</a:t>
            </a:r>
            <a:endParaRPr lang="ar-SA" sz="1600" dirty="0"/>
          </a:p>
        </p:txBody>
      </p:sp>
      <p:sp>
        <p:nvSpPr>
          <p:cNvPr id="52" name="Shape 49"/>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4" name="Shape 51"/>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55" name="Text 52"/>
          <p:cNvSpPr txBox="1"/>
          <p:nvPr/>
        </p:nvSpPr>
        <p:spPr>
          <a:xfrm>
            <a:off x="9829800" y="4315968"/>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modern</a:t>
            </a:r>
            <a:endParaRPr lang="en-US" sz="1100" dirty="0"/>
          </a:p>
        </p:txBody>
      </p:sp>
      <p:sp>
        <p:nvSpPr>
          <p:cNvPr id="56" name="Text 53"/>
          <p:cNvSpPr txBox="1"/>
          <p:nvPr/>
        </p:nvSpPr>
        <p:spPr>
          <a:xfrm>
            <a:off x="7525512" y="4334256"/>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حَدِيثٌ</a:t>
            </a:r>
            <a:endParaRPr lang="ar-SA" sz="1800" dirty="0"/>
          </a:p>
        </p:txBody>
      </p:sp>
      <p:sp>
        <p:nvSpPr>
          <p:cNvPr id="57" name="Text 54"/>
          <p:cNvSpPr txBox="1"/>
          <p:nvPr/>
        </p:nvSpPr>
        <p:spPr>
          <a:xfrm>
            <a:off x="7479792" y="4692701"/>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ḥa-dīth</a:t>
            </a:r>
            <a:endParaRPr lang="en-US" sz="950" dirty="0"/>
          </a:p>
        </p:txBody>
      </p:sp>
      <p:sp>
        <p:nvSpPr>
          <p:cNvPr id="58" name="Text 55"/>
          <p:cNvSpPr txBox="1"/>
          <p:nvPr/>
        </p:nvSpPr>
        <p:spPr>
          <a:xfrm>
            <a:off x="5239512" y="4334256"/>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حَدِيثَةٌ</a:t>
            </a:r>
            <a:endParaRPr lang="ar-SA" sz="1800" dirty="0"/>
          </a:p>
        </p:txBody>
      </p:sp>
      <p:sp>
        <p:nvSpPr>
          <p:cNvPr id="59" name="Text 56"/>
          <p:cNvSpPr txBox="1"/>
          <p:nvPr/>
        </p:nvSpPr>
        <p:spPr>
          <a:xfrm>
            <a:off x="5193792" y="4692701"/>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ḥa-dī-tha</a:t>
            </a:r>
            <a:endParaRPr lang="en-US" sz="950" dirty="0"/>
          </a:p>
        </p:txBody>
      </p:sp>
      <p:sp>
        <p:nvSpPr>
          <p:cNvPr id="60" name="Text 57"/>
          <p:cNvSpPr txBox="1"/>
          <p:nvPr/>
        </p:nvSpPr>
        <p:spPr>
          <a:xfrm>
            <a:off x="2862072" y="4334256"/>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أَ</a:t>
            </a:r>
            <a:pPr rtl="1" algn="ctr" indent="0" marL="0">
              <a:buNone/>
            </a:pPr>
            <a:r>
              <a:rPr lang="ar-SA" altLang="en-US" sz="1800" b="1" dirty="0">
                <a:solidFill>
                  <a:srgbClr val="1B3B6F"/>
                </a:solidFill>
                <a:latin typeface="Amiri" pitchFamily="2" charset="-78"/>
                <a:ea typeface="Amiri" pitchFamily="2" charset="-78"/>
                <a:cs typeface="Amiri" pitchFamily="2" charset="-78"/>
              </a:rPr>
              <a:t>حْدَثُ </a:t>
            </a:r>
            <a:pPr rtl="1" algn="ctr" indent="0" marL="0">
              <a:buNone/>
            </a:pPr>
            <a:r>
              <a:rPr lang="ar-SA" altLang="en-US" sz="1800" b="1" dirty="0">
                <a:solidFill>
                  <a:srgbClr val="0E7C86"/>
                </a:solidFill>
                <a:latin typeface="Amiri" pitchFamily="2" charset="-78"/>
                <a:ea typeface="Amiri" pitchFamily="2" charset="-78"/>
                <a:cs typeface="Amiri" pitchFamily="2" charset="-78"/>
              </a:rPr>
              <a:t>مِنْ</a:t>
            </a:r>
            <a:endParaRPr lang="ar-SA" sz="1800" dirty="0"/>
          </a:p>
        </p:txBody>
      </p:sp>
      <p:sp>
        <p:nvSpPr>
          <p:cNvPr id="61" name="Text 58"/>
          <p:cNvSpPr txBox="1"/>
          <p:nvPr/>
        </p:nvSpPr>
        <p:spPr>
          <a:xfrm>
            <a:off x="2816352" y="4692701"/>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aḥ-da-thu min</a:t>
            </a:r>
            <a:endParaRPr lang="en-US" sz="950" dirty="0"/>
          </a:p>
        </p:txBody>
      </p:sp>
      <p:sp>
        <p:nvSpPr>
          <p:cNvPr id="62" name="Text 59"/>
          <p:cNvSpPr txBox="1"/>
          <p:nvPr/>
        </p:nvSpPr>
        <p:spPr>
          <a:xfrm>
            <a:off x="548640" y="4315968"/>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المَكْتَبَةُ أَحْدَثُ مِنَ المَدْرَسَةِ</a:t>
            </a:r>
            <a:endParaRPr lang="ar-SA" sz="1600" dirty="0"/>
          </a:p>
        </p:txBody>
      </p:sp>
      <p:sp>
        <p:nvSpPr>
          <p:cNvPr id="63" name="Shape 60"/>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64" name="Text 61"/>
          <p:cNvSpPr txBox="1"/>
          <p:nvPr/>
        </p:nvSpPr>
        <p:spPr>
          <a:xfrm>
            <a:off x="9829800" y="4998720"/>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a:t>
            </a:r>
            <a:endParaRPr lang="en-US" sz="1100" dirty="0"/>
          </a:p>
        </p:txBody>
      </p:sp>
      <p:sp>
        <p:nvSpPr>
          <p:cNvPr id="65" name="Text 62"/>
          <p:cNvSpPr txBox="1"/>
          <p:nvPr/>
        </p:nvSpPr>
        <p:spPr>
          <a:xfrm>
            <a:off x="7525512" y="5017008"/>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جَيِّدٌ</a:t>
            </a:r>
            <a:endParaRPr lang="ar-SA" sz="1800" dirty="0"/>
          </a:p>
        </p:txBody>
      </p:sp>
      <p:sp>
        <p:nvSpPr>
          <p:cNvPr id="66" name="Text 63"/>
          <p:cNvSpPr txBox="1"/>
          <p:nvPr/>
        </p:nvSpPr>
        <p:spPr>
          <a:xfrm>
            <a:off x="7479792" y="5375453"/>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jay-yid</a:t>
            </a:r>
            <a:endParaRPr lang="en-US" sz="950" dirty="0"/>
          </a:p>
        </p:txBody>
      </p:sp>
      <p:sp>
        <p:nvSpPr>
          <p:cNvPr id="67" name="Text 64"/>
          <p:cNvSpPr txBox="1"/>
          <p:nvPr/>
        </p:nvSpPr>
        <p:spPr>
          <a:xfrm>
            <a:off x="5239512" y="5017008"/>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جَيِّدَةٌ</a:t>
            </a:r>
            <a:endParaRPr lang="ar-SA" sz="1800" dirty="0"/>
          </a:p>
        </p:txBody>
      </p:sp>
      <p:sp>
        <p:nvSpPr>
          <p:cNvPr id="68" name="Text 65"/>
          <p:cNvSpPr txBox="1"/>
          <p:nvPr/>
        </p:nvSpPr>
        <p:spPr>
          <a:xfrm>
            <a:off x="5193792" y="5375453"/>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jay-yi-da</a:t>
            </a:r>
            <a:endParaRPr lang="en-US" sz="950" dirty="0"/>
          </a:p>
        </p:txBody>
      </p:sp>
      <p:sp>
        <p:nvSpPr>
          <p:cNvPr id="69" name="Text 66"/>
          <p:cNvSpPr txBox="1"/>
          <p:nvPr/>
        </p:nvSpPr>
        <p:spPr>
          <a:xfrm>
            <a:off x="2862072" y="5017008"/>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أَ</a:t>
            </a:r>
            <a:pPr rtl="1" algn="ctr" indent="0" marL="0">
              <a:buNone/>
            </a:pPr>
            <a:r>
              <a:rPr lang="ar-SA" altLang="en-US" sz="1800" b="1" dirty="0">
                <a:solidFill>
                  <a:srgbClr val="1B3B6F"/>
                </a:solidFill>
                <a:latin typeface="Amiri" pitchFamily="2" charset="-78"/>
                <a:ea typeface="Amiri" pitchFamily="2" charset="-78"/>
                <a:cs typeface="Amiri" pitchFamily="2" charset="-78"/>
              </a:rPr>
              <a:t>فْضَلُ </a:t>
            </a:r>
            <a:pPr rtl="1" algn="ctr" indent="0" marL="0">
              <a:buNone/>
            </a:pPr>
            <a:r>
              <a:rPr lang="ar-SA" altLang="en-US" sz="1800" b="1" dirty="0">
                <a:solidFill>
                  <a:srgbClr val="0E7C86"/>
                </a:solidFill>
                <a:latin typeface="Amiri" pitchFamily="2" charset="-78"/>
                <a:ea typeface="Amiri" pitchFamily="2" charset="-78"/>
                <a:cs typeface="Amiri" pitchFamily="2" charset="-78"/>
              </a:rPr>
              <a:t>مِنْ</a:t>
            </a:r>
            <a:endParaRPr lang="ar-SA" sz="1800" dirty="0"/>
          </a:p>
        </p:txBody>
      </p:sp>
      <p:sp>
        <p:nvSpPr>
          <p:cNvPr id="70" name="Text 67"/>
          <p:cNvSpPr txBox="1"/>
          <p:nvPr/>
        </p:nvSpPr>
        <p:spPr>
          <a:xfrm>
            <a:off x="2816352" y="5375453"/>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af-ḍa-lu min · irregular</a:t>
            </a:r>
            <a:endParaRPr lang="en-US" sz="950" dirty="0"/>
          </a:p>
        </p:txBody>
      </p:sp>
      <p:sp>
        <p:nvSpPr>
          <p:cNvPr id="71" name="Text 68"/>
          <p:cNvSpPr txBox="1"/>
          <p:nvPr/>
        </p:nvSpPr>
        <p:spPr>
          <a:xfrm>
            <a:off x="548640" y="4998720"/>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الخَدَمَاتُ هُنَا أَفْضَلُ</a:t>
            </a:r>
            <a:endParaRPr lang="ar-SA" sz="1600" dirty="0"/>
          </a:p>
        </p:txBody>
      </p:sp>
      <p:sp>
        <p:nvSpPr>
          <p:cNvPr id="72" name="Shape 69"/>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73" name="Text 70"/>
          <p:cNvSpPr txBox="1"/>
          <p:nvPr/>
        </p:nvSpPr>
        <p:spPr>
          <a:xfrm>
            <a:off x="9829800" y="568147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crowded</a:t>
            </a:r>
            <a:endParaRPr lang="en-US" sz="1100" dirty="0"/>
          </a:p>
        </p:txBody>
      </p:sp>
      <p:sp>
        <p:nvSpPr>
          <p:cNvPr id="74" name="Text 71"/>
          <p:cNvSpPr txBox="1"/>
          <p:nvPr/>
        </p:nvSpPr>
        <p:spPr>
          <a:xfrm>
            <a:off x="7525512" y="5699760"/>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مُزْدَحِمٌ</a:t>
            </a:r>
            <a:endParaRPr lang="ar-SA" sz="1800" dirty="0"/>
          </a:p>
        </p:txBody>
      </p:sp>
      <p:sp>
        <p:nvSpPr>
          <p:cNvPr id="75" name="Text 72"/>
          <p:cNvSpPr txBox="1"/>
          <p:nvPr/>
        </p:nvSpPr>
        <p:spPr>
          <a:xfrm>
            <a:off x="7479792" y="6058205"/>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muz-da-ḥim</a:t>
            </a:r>
            <a:endParaRPr lang="en-US" sz="950" dirty="0"/>
          </a:p>
        </p:txBody>
      </p:sp>
      <p:sp>
        <p:nvSpPr>
          <p:cNvPr id="76" name="Text 73"/>
          <p:cNvSpPr txBox="1"/>
          <p:nvPr/>
        </p:nvSpPr>
        <p:spPr>
          <a:xfrm>
            <a:off x="5239512" y="5699760"/>
            <a:ext cx="21031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مُزْدَحِمَةٌ</a:t>
            </a:r>
            <a:endParaRPr lang="ar-SA" sz="1800" dirty="0"/>
          </a:p>
        </p:txBody>
      </p:sp>
      <p:sp>
        <p:nvSpPr>
          <p:cNvPr id="77" name="Text 74"/>
          <p:cNvSpPr txBox="1"/>
          <p:nvPr/>
        </p:nvSpPr>
        <p:spPr>
          <a:xfrm>
            <a:off x="5193792" y="6058205"/>
            <a:ext cx="21945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muz-da-ḥi-ma</a:t>
            </a:r>
            <a:endParaRPr lang="en-US" sz="950" dirty="0"/>
          </a:p>
        </p:txBody>
      </p:sp>
      <p:sp>
        <p:nvSpPr>
          <p:cNvPr id="78" name="Text 75"/>
          <p:cNvSpPr txBox="1"/>
          <p:nvPr/>
        </p:nvSpPr>
        <p:spPr>
          <a:xfrm>
            <a:off x="2862072" y="5699760"/>
            <a:ext cx="2194560" cy="389291"/>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أَكْثَرُ</a:t>
            </a:r>
            <a:pPr rtl="1" algn="ctr" indent="0" marL="0">
              <a:buNone/>
            </a:pPr>
            <a:r>
              <a:rPr lang="ar-SA" altLang="en-US" sz="1800" b="1" dirty="0">
                <a:solidFill>
                  <a:srgbClr val="1B3B6F"/>
                </a:solidFill>
                <a:latin typeface="Amiri" pitchFamily="2" charset="-78"/>
                <a:ea typeface="Amiri" pitchFamily="2" charset="-78"/>
                <a:cs typeface="Amiri" pitchFamily="2" charset="-78"/>
              </a:rPr>
              <a:t> ازْدِحَامًا</a:t>
            </a:r>
            <a:endParaRPr lang="ar-SA" sz="1800" dirty="0"/>
          </a:p>
        </p:txBody>
      </p:sp>
      <p:sp>
        <p:nvSpPr>
          <p:cNvPr id="79" name="Text 76"/>
          <p:cNvSpPr txBox="1"/>
          <p:nvPr/>
        </p:nvSpPr>
        <p:spPr>
          <a:xfrm>
            <a:off x="2816352" y="6058205"/>
            <a:ext cx="228600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ak-tha-ru zdi-ḥā-man</a:t>
            </a:r>
            <a:endParaRPr lang="en-US" sz="950" dirty="0"/>
          </a:p>
        </p:txBody>
      </p:sp>
      <p:sp>
        <p:nvSpPr>
          <p:cNvPr id="80" name="Text 77"/>
          <p:cNvSpPr txBox="1"/>
          <p:nvPr/>
        </p:nvSpPr>
        <p:spPr>
          <a:xfrm>
            <a:off x="548640" y="5681472"/>
            <a:ext cx="2130552" cy="62788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المَدِينَةُ أَكْثَرُ ازْدِحَامًا</a:t>
            </a:r>
            <a:endParaRPr lang="ar-SA" sz="16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6 · DEVELOP · WEBSITE P4-L02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Talking about the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المَدِينَةُ الحَدِيثَةُ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حَيٌّ </a:t>
            </a:r>
            <a:pPr rtl="1" algn="r" indent="0" marL="0">
              <a:buNone/>
            </a:pPr>
            <a:r>
              <a:rPr lang="ar-SA" altLang="en-US" sz="3000" b="1" dirty="0">
                <a:solidFill>
                  <a:srgbClr val="7B3FA0"/>
                </a:solidFill>
                <a:latin typeface="Amiri" pitchFamily="2" charset="-78"/>
                <a:ea typeface="Amiri" pitchFamily="2" charset="-78"/>
                <a:cs typeface="Amiri" pitchFamily="2" charset="-78"/>
              </a:rPr>
              <a:t>سَكَنِ</a:t>
            </a:r>
            <a:pPr rtl="1" algn="r" indent="0" marL="0">
              <a:buNone/>
            </a:pPr>
            <a:r>
              <a:rPr lang="ar-SA" altLang="en-US" sz="3000" b="1" dirty="0">
                <a:solidFill>
                  <a:srgbClr val="D6336C"/>
                </a:solidFill>
                <a:latin typeface="Amiri" pitchFamily="2" charset="-78"/>
                <a:ea typeface="Amiri" pitchFamily="2" charset="-78"/>
                <a:cs typeface="Amiri" pitchFamily="2" charset="-78"/>
              </a:rPr>
              <a:t>يٌّ</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residential district</a:t>
            </a:r>
            <a:endParaRPr lang="en-US" sz="1350" dirty="0"/>
          </a:p>
          <a:p>
            <a:pPr indent="0" marL="0">
              <a:buNone/>
            </a:pPr>
            <a:r>
              <a:rPr lang="en-US" sz="1100" i="1" dirty="0">
                <a:solidFill>
                  <a:srgbClr val="5A6472"/>
                </a:solidFill>
                <a:latin typeface="Calibri" pitchFamily="34" charset="0"/>
                <a:cs typeface="Amiri" pitchFamily="2" charset="-78"/>
              </a:rPr>
              <a:t>ḥayy sa-ka-niyy</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حَيٌّ</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أَحْيَاءٌ</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1" name="Shape 28"/>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مَدِينَةٌ ذَكِيَّةٌ</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smart city</a:t>
            </a:r>
            <a:endParaRPr lang="en-US" sz="1350" dirty="0"/>
          </a:p>
          <a:p>
            <a:pPr indent="0" marL="0">
              <a:buNone/>
            </a:pPr>
            <a:r>
              <a:rPr lang="en-US" sz="1100" i="1" dirty="0">
                <a:solidFill>
                  <a:srgbClr val="5A6472"/>
                </a:solidFill>
                <a:latin typeface="Calibri" pitchFamily="34" charset="0"/>
                <a:cs typeface="Amiri" pitchFamily="2" charset="-78"/>
              </a:rPr>
              <a:t>ma-dī-na dha-kiy-ya</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مَدِينَةٌ</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مُدُنٌ</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4" name="Shape 41"/>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مَسَاحَاتٌ خَضْرَاءُ</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green spaces</a:t>
            </a:r>
            <a:endParaRPr lang="en-US" sz="1350" dirty="0"/>
          </a:p>
          <a:p>
            <a:pPr indent="0" marL="0">
              <a:buNone/>
            </a:pPr>
            <a:r>
              <a:rPr lang="en-US" sz="1100" i="1" dirty="0">
                <a:solidFill>
                  <a:srgbClr val="5A6472"/>
                </a:solidFill>
                <a:latin typeface="Calibri" pitchFamily="34" charset="0"/>
                <a:cs typeface="Amiri" pitchFamily="2" charset="-78"/>
              </a:rPr>
              <a:t>ma-sā-ḥāt khaḍ-rāʾ</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1" name="Shape 4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الاِزْدِحَامُ </a:t>
            </a:r>
            <a:pPr rtl="1" algn="r" indent="0" marL="0">
              <a:buNone/>
            </a:pPr>
            <a:r>
              <a:rPr lang="ar-SA" altLang="en-US" sz="3000" b="1" dirty="0">
                <a:solidFill>
                  <a:srgbClr val="7B3FA0"/>
                </a:solidFill>
                <a:latin typeface="Amiri" pitchFamily="2" charset="-78"/>
                <a:ea typeface="Amiri" pitchFamily="2" charset="-78"/>
                <a:cs typeface="Amiri" pitchFamily="2" charset="-78"/>
              </a:rPr>
              <a:t>المُرُورِ</a:t>
            </a:r>
            <a:pPr rtl="1" algn="r" indent="0" marL="0">
              <a:buNone/>
            </a:pPr>
            <a:r>
              <a:rPr lang="ar-SA" altLang="en-US" sz="3000" b="1" dirty="0">
                <a:solidFill>
                  <a:srgbClr val="D6336C"/>
                </a:solidFill>
                <a:latin typeface="Amiri" pitchFamily="2" charset="-78"/>
                <a:ea typeface="Amiri" pitchFamily="2" charset="-78"/>
                <a:cs typeface="Amiri" pitchFamily="2" charset="-78"/>
              </a:rPr>
              <a:t>يُّ</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traffic congestion</a:t>
            </a:r>
            <a:endParaRPr lang="en-US" sz="1350" dirty="0"/>
          </a:p>
          <a:p>
            <a:pPr indent="0" marL="0">
              <a:buNone/>
            </a:pPr>
            <a:r>
              <a:rPr lang="en-US" sz="1100" i="1" dirty="0">
                <a:solidFill>
                  <a:srgbClr val="5A6472"/>
                </a:solidFill>
                <a:latin typeface="Calibri" pitchFamily="34" charset="0"/>
                <a:cs typeface="Amiri" pitchFamily="2" charset="-78"/>
              </a:rPr>
              <a:t>al-iz-di-ḥām al-mu-rū-riyy</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8" name="Shape 55"/>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التَّلَوُّثُ </a:t>
            </a:r>
            <a:pPr rtl="1" algn="r" indent="0" marL="0">
              <a:buNone/>
            </a:pPr>
            <a:r>
              <a:rPr lang="ar-SA" altLang="en-US" sz="3000" b="1" dirty="0">
                <a:solidFill>
                  <a:srgbClr val="7B3FA0"/>
                </a:solidFill>
                <a:latin typeface="Amiri" pitchFamily="2" charset="-78"/>
                <a:ea typeface="Amiri" pitchFamily="2" charset="-78"/>
                <a:cs typeface="Amiri" pitchFamily="2" charset="-78"/>
              </a:rPr>
              <a:t>الضَّوْضَائِ</a:t>
            </a:r>
            <a:pPr rtl="1" algn="r" indent="0" marL="0">
              <a:buNone/>
            </a:pPr>
            <a:r>
              <a:rPr lang="ar-SA" altLang="en-US" sz="3000" b="1" dirty="0">
                <a:solidFill>
                  <a:srgbClr val="D6336C"/>
                </a:solidFill>
                <a:latin typeface="Amiri" pitchFamily="2" charset="-78"/>
                <a:ea typeface="Amiri" pitchFamily="2" charset="-78"/>
                <a:cs typeface="Amiri" pitchFamily="2" charset="-78"/>
              </a:rPr>
              <a:t>يُّ</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noise pollution</a:t>
            </a:r>
            <a:endParaRPr lang="en-US" sz="1350" dirty="0"/>
          </a:p>
          <a:p>
            <a:pPr indent="0" marL="0">
              <a:buNone/>
            </a:pPr>
            <a:r>
              <a:rPr lang="en-US" sz="1100" i="1" dirty="0">
                <a:solidFill>
                  <a:srgbClr val="5A6472"/>
                </a:solidFill>
                <a:latin typeface="Calibri" pitchFamily="34" charset="0"/>
                <a:cs typeface="Amiri" pitchFamily="2" charset="-78"/>
              </a:rPr>
              <a:t>at-ta-law-wuth aḍ-ḍaw-ḍā-ʾiyy</a:t>
            </a:r>
            <a:endParaRPr lang="en-US" sz="1350" dirty="0"/>
          </a:p>
        </p:txBody>
      </p:sp>
      <p:sp>
        <p:nvSpPr>
          <p:cNvPr id="62" name="Text 5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TC-L04: </a:t>
            </a:r>
            <a:pPr algn="l" indent="0" marL="0">
              <a:buNone/>
            </a:pPr>
            <a:r>
              <a:rPr lang="ar-SA" altLang="en-US" sz="1300" dirty="0">
                <a:solidFill>
                  <a:srgbClr val="8A6D1E"/>
                </a:solidFill>
                <a:latin typeface="Amiri" pitchFamily="2" charset="-78"/>
                <a:ea typeface="Amiri" pitchFamily="2" charset="-78"/>
                <a:cs typeface="Amiri" pitchFamily="2" charset="-78"/>
              </a:rPr>
              <a:t>التَّلَوُّثُ</a:t>
            </a:r>
            <a:pPr algn="l" indent="0" marL="0">
              <a:buNone/>
            </a:pPr>
            <a:r>
              <a:rPr lang="en-US" sz="1000" i="1" dirty="0">
                <a:solidFill>
                  <a:srgbClr val="8A6D1E"/>
                </a:solidFill>
                <a:latin typeface="Calibri" pitchFamily="34" charset="0"/>
                <a:cs typeface="Amiri" pitchFamily="2" charset="-78"/>
              </a:rPr>
              <a:t> = pollution.</a:t>
            </a:r>
            <a:endParaRPr lang="en-US" sz="1000" dirty="0"/>
          </a:p>
        </p:txBody>
      </p:sp>
      <p:sp>
        <p:nvSpPr>
          <p:cNvPr id="63" name="Shape 6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66928"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6" name="Shape 63"/>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adjective phrase</a:t>
            </a:r>
            <a:endParaRPr lang="en-US" sz="800" dirty="0"/>
          </a:p>
        </p:txBody>
      </p:sp>
      <p:sp>
        <p:nvSpPr>
          <p:cNvPr id="68" name="Text 6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صَالِحٌ لِلْعَيْشِ</a:t>
            </a:r>
            <a:endParaRPr lang="ar-SA" sz="3000" dirty="0"/>
          </a:p>
        </p:txBody>
      </p:sp>
      <p:sp>
        <p:nvSpPr>
          <p:cNvPr id="69" name="Text 6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liveable</a:t>
            </a:r>
            <a:endParaRPr lang="en-US" sz="1350" dirty="0"/>
          </a:p>
          <a:p>
            <a:pPr indent="0" marL="0">
              <a:buNone/>
            </a:pPr>
            <a:r>
              <a:rPr lang="en-US" sz="1100" i="1" dirty="0">
                <a:solidFill>
                  <a:srgbClr val="5A6472"/>
                </a:solidFill>
                <a:latin typeface="Calibri" pitchFamily="34" charset="0"/>
                <a:cs typeface="Amiri" pitchFamily="2" charset="-78"/>
              </a:rPr>
              <a:t>ṣā-li-ḥun lil-ʿaysh</a:t>
            </a:r>
            <a:endParaRPr lang="en-US" sz="1350" dirty="0"/>
          </a:p>
        </p:txBody>
      </p:sp>
      <p:sp>
        <p:nvSpPr>
          <p:cNvPr id="70" name="Shape 67"/>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2" name="Text 69"/>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صَالِحٌ</a:t>
            </a:r>
            <a:endParaRPr lang="ar-SA" sz="1500" dirty="0"/>
          </a:p>
        </p:txBody>
      </p:sp>
      <p:sp>
        <p:nvSpPr>
          <p:cNvPr id="73" name="Shape 70"/>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5" name="Text 72"/>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صَالِحَةٌ</a:t>
            </a:r>
            <a:endParaRPr lang="ar-SA" sz="15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DEVELOP · WEBSITE P4-L02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Describe a building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وَصْفُ المَبَانِي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MADE OF · مِنْ</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مَبْنِيٌّ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الحَيُّ القَدِيمُ مَبْنِيٌّ مِنَ الحَجَرِ</a:t>
            </a:r>
            <a:endParaRPr lang="ar-SA" sz="26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old district is built of stone.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مَبْنِيٌّ</a:t>
            </a:r>
            <a:pPr algn="l" indent="0" marL="0">
              <a:buNone/>
            </a:pPr>
            <a:r>
              <a:rPr lang="en-US" sz="1100" dirty="0">
                <a:solidFill>
                  <a:srgbClr val="1F2A37"/>
                </a:solidFill>
                <a:latin typeface="Calibri" pitchFamily="34" charset="0"/>
                <a:cs typeface="Amiri" pitchFamily="2" charset="-78"/>
              </a:rPr>
              <a:t> (built) always takes </a:t>
            </a:r>
            <a:pPr algn="l" indent="0" marL="0">
              <a:buNone/>
            </a:pPr>
            <a:r>
              <a:rPr lang="ar-SA" altLang="en-US" sz="1450" dirty="0">
                <a:solidFill>
                  <a:srgbClr val="1F2A37"/>
                </a:solidFill>
                <a:latin typeface="Amiri" pitchFamily="2" charset="-78"/>
                <a:ea typeface="Amiri" pitchFamily="2" charset="-78"/>
                <a:cs typeface="Amiri" pitchFamily="2" charset="-78"/>
              </a:rPr>
              <a:t>مِنْ</a:t>
            </a:r>
            <a:pPr algn="l" indent="0" marL="0">
              <a:buNone/>
            </a:pPr>
            <a:r>
              <a:rPr lang="en-US" sz="1100" dirty="0">
                <a:solidFill>
                  <a:srgbClr val="1F2A37"/>
                </a:solidFill>
                <a:latin typeface="Calibri" pitchFamily="34" charset="0"/>
                <a:cs typeface="Amiri" pitchFamily="2" charset="-78"/>
              </a:rPr>
              <a:t> + the material (website rule).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KNOWN FOR · بِـ</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يَتَمَيَّزُ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تَتَمَيَّزُ المَدِينَةُ بِمِعْمَارٍ حَدِيثٍ</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city is known for modern architecture.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تَتَمَيَّزُ</a:t>
            </a:r>
            <a:pPr algn="l" indent="0" marL="0">
              <a:buNone/>
            </a:pPr>
            <a:r>
              <a:rPr lang="en-US" sz="1100" dirty="0">
                <a:solidFill>
                  <a:srgbClr val="1F2A37"/>
                </a:solidFill>
                <a:latin typeface="Calibri" pitchFamily="34" charset="0"/>
                <a:cs typeface="Amiri" pitchFamily="2" charset="-78"/>
              </a:rPr>
              <a:t> for a feminine city — the same </a:t>
            </a:r>
            <a:pPr algn="l" indent="0" marL="0">
              <a:buNone/>
            </a:pPr>
            <a:r>
              <a:rPr lang="ar-SA" altLang="en-US" sz="1450" dirty="0">
                <a:solidFill>
                  <a:srgbClr val="1F2A37"/>
                </a:solidFill>
                <a:latin typeface="Amiri" pitchFamily="2" charset="-78"/>
                <a:ea typeface="Amiri" pitchFamily="2" charset="-78"/>
                <a:cs typeface="Amiri" pitchFamily="2" charset="-78"/>
              </a:rPr>
              <a:t>يُـ / تُـ</a:t>
            </a:r>
            <a:pPr algn="l" indent="0" marL="0">
              <a:buNone/>
            </a:pPr>
            <a:r>
              <a:rPr lang="en-US" sz="1100" dirty="0">
                <a:solidFill>
                  <a:srgbClr val="1F2A37"/>
                </a:solidFill>
                <a:latin typeface="Calibri" pitchFamily="34" charset="0"/>
                <a:cs typeface="Amiri" pitchFamily="2" charset="-78"/>
              </a:rPr>
              <a:t> rule as </a:t>
            </a:r>
            <a:pPr algn="l" indent="0" marL="0">
              <a:buNone/>
            </a:pPr>
            <a:r>
              <a:rPr lang="ar-SA" altLang="en-US" sz="1450" dirty="0">
                <a:solidFill>
                  <a:srgbClr val="1F2A37"/>
                </a:solidFill>
                <a:latin typeface="Amiri" pitchFamily="2" charset="-78"/>
                <a:ea typeface="Amiri" pitchFamily="2" charset="-78"/>
                <a:cs typeface="Amiri" pitchFamily="2" charset="-78"/>
              </a:rPr>
              <a:t>يُوجَدُ</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TURN INTO · إِلَى</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يُحَوِّلُ … إِلَى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يُحَوِّلُ المَشْرُوعُ المَطَارَ إِلَى حَدِيقَةٍ</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project turns the airport into a park.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يُحَوِّلُ</a:t>
            </a:r>
            <a:pPr algn="l" indent="0" marL="0">
              <a:buNone/>
            </a:pPr>
            <a:r>
              <a:rPr lang="en-US" sz="1100" dirty="0">
                <a:solidFill>
                  <a:srgbClr val="1F2A37"/>
                </a:solidFill>
                <a:latin typeface="Calibri" pitchFamily="34" charset="0"/>
                <a:cs typeface="Amiri" pitchFamily="2" charset="-78"/>
              </a:rPr>
              <a:t> always takes </a:t>
            </a:r>
            <a:pPr algn="l" indent="0" marL="0">
              <a:buNone/>
            </a:pPr>
            <a:r>
              <a:rPr lang="ar-SA" altLang="en-US" sz="1450" dirty="0">
                <a:solidFill>
                  <a:srgbClr val="1F2A37"/>
                </a:solidFill>
                <a:latin typeface="Amiri" pitchFamily="2" charset="-78"/>
                <a:ea typeface="Amiri" pitchFamily="2" charset="-78"/>
                <a:cs typeface="Amiri" pitchFamily="2" charset="-78"/>
              </a:rPr>
              <a:t>إِلَى</a:t>
            </a:r>
            <a:pPr algn="l" indent="0" marL="0">
              <a:buNone/>
            </a:pPr>
            <a:r>
              <a:rPr lang="en-US" sz="1100" dirty="0">
                <a:solidFill>
                  <a:srgbClr val="1F2A37"/>
                </a:solidFill>
                <a:latin typeface="Calibri" pitchFamily="34" charset="0"/>
                <a:cs typeface="Amiri" pitchFamily="2" charset="-78"/>
              </a:rPr>
              <a:t> (website rule).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The website’s common mistakes: the wrong partner word after </a:t>
            </a:r>
            <a:pPr algn="l" indent="0" marL="0">
              <a:buNone/>
            </a:pPr>
            <a:r>
              <a:rPr lang="ar-SA" altLang="en-US" sz="1500" dirty="0">
                <a:solidFill>
                  <a:srgbClr val="1F2A37"/>
                </a:solidFill>
                <a:latin typeface="Amiri" pitchFamily="2" charset="-78"/>
                <a:ea typeface="Amiri" pitchFamily="2" charset="-78"/>
                <a:cs typeface="Amiri" pitchFamily="2" charset="-78"/>
              </a:rPr>
              <a:t>مَبْنِيٌّ</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يُحَوِّلُ</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مَبْنِيَّةٌ مِنَ الزُّجَاجِ</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ea typeface="Amiri" pitchFamily="2" charset="-78"/>
                <a:cs typeface="Amiri" pitchFamily="2" charset="-78"/>
              </a:rPr>
              <a:t>مَبْنِيَّةٌ بِالزُّجَاجِ</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إِلَى حَدِيقَةٍ</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حَدِيقَةً</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5 · WEBSITE EXAMPLES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Materials and features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مَبْنِيٌّ مِنْ · يَتَمَيَّزُ بِـ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نَاطِحَاتُ السَّحَابِ مَبْنِيَّةٌ مِنَ الزُّجَاجِ   ·   تَتَمَيَّزُ المَدِينَةُ بِمِعْمَارٍ حَدِيثٍ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Planning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يُعِيدُ تَصْمِيمَ · يُجَدِّدُ · يُحَوِّلُ إِلَى</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يُعِيدُ المُهَنْدِسُ تَصْمِيمَ المِنْطَقَةِ   ·   يُحَوِّلُ المَشْرُوعُ المَطَارَ القَدِيمَ إِلَى حَدِيقَةٍ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Urban passive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يُبْنَى / يُخَطَّطُ</a:t>
            </a:r>
            <a:pPr algn="l" indent="0" marL="0">
              <a:buNone/>
            </a:pPr>
            <a:r>
              <a:rPr lang="en-US" sz="1050" dirty="0">
                <a:solidFill>
                  <a:srgbClr val="5A6472"/>
                </a:solidFill>
                <a:latin typeface="Calibri" pitchFamily="34" charset="0"/>
                <a:cs typeface="Amiri" pitchFamily="2" charset="-78"/>
              </a:rPr>
              <a:t> + nominative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يُبْنَى مَشْرُوعٌ ضَخْمٌ عَلَى أَطْرَافِ المَدِينَةِ   ·   يُخَطَّطُ لِاسْتِكْمَالِ المَشْرُوعِ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Goal clause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لِكَيْ</a:t>
            </a:r>
            <a:pPr algn="l" indent="0" marL="0">
              <a:buNone/>
            </a:pPr>
            <a:r>
              <a:rPr lang="en-US" sz="1050" dirty="0">
                <a:solidFill>
                  <a:srgbClr val="5A6472"/>
                </a:solidFill>
                <a:latin typeface="Calibri" pitchFamily="34" charset="0"/>
                <a:cs typeface="Amiri" pitchFamily="2" charset="-78"/>
              </a:rPr>
              <a:t> + verb (final fatḥa)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يُخَطِّطُونَ لِكَيْ تَكُونَ المَدِينَةُ صَالِحَةً لِلْعَيْشِ</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___ مَكْتَبَةٌ كَبِيرَةٌ فِي مَدِينَتِي.</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تُوجَدِينَ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café is next to the library”?</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المَقْهَى بِجَانِبِ المَكْتَبَةِ.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المَقْهَى خَلْفَ المَكْتَبَةِ.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المَقْهَى مُقَابِلَ المَكْتَبَةِ.</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المَدِينَةُ أَكْبَرُ ___ القَرْيَةِ.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نَاطِحَاتُ السَّحَابِ مَبْنِيَّةٌ ___ الزُّجَاجِ وَالصُّلْبِ.</a:t>
            </a:r>
            <a:endParaRPr lang="ar-SA" sz="13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___ مَكْتَبَةٌ كَبِيرَةٌ فِي مَدِينَتِي.</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تُوجَدِينَ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مَكْتَبَةٌ</a:t>
            </a:r>
            <a:pPr algn="l" indent="0" marL="0">
              <a:buNone/>
            </a:pPr>
            <a:r>
              <a:rPr lang="en-US" sz="1050" i="1" dirty="0">
                <a:solidFill>
                  <a:srgbClr val="8A6D1E"/>
                </a:solidFill>
                <a:latin typeface="Calibri" pitchFamily="34" charset="0"/>
                <a:cs typeface="Amiri" pitchFamily="2" charset="-78"/>
              </a:rPr>
              <a:t> ends in </a:t>
            </a:r>
            <a:pPr algn="l" indent="0" marL="0">
              <a:buNone/>
            </a:pPr>
            <a:r>
              <a:rPr lang="ar-SA" altLang="en-US" sz="1350" dirty="0">
                <a:solidFill>
                  <a:srgbClr val="8A6D1E"/>
                </a:solidFill>
                <a:latin typeface="Amiri" pitchFamily="2" charset="-78"/>
                <a:ea typeface="Amiri" pitchFamily="2" charset="-78"/>
                <a:cs typeface="Amiri" pitchFamily="2" charset="-78"/>
              </a:rPr>
              <a:t>ـة</a:t>
            </a:r>
            <a:pPr algn="l" indent="0" marL="0">
              <a:buNone/>
            </a:pPr>
            <a:r>
              <a:rPr lang="en-US" sz="1050" i="1" dirty="0">
                <a:solidFill>
                  <a:srgbClr val="8A6D1E"/>
                </a:solidFill>
                <a:latin typeface="Calibri" pitchFamily="34" charset="0"/>
                <a:cs typeface="Amiri" pitchFamily="2" charset="-78"/>
              </a:rPr>
              <a:t> (feminine) → </a:t>
            </a:r>
            <a:pPr algn="l" indent="0" marL="0">
              <a:buNone/>
            </a:pPr>
            <a:r>
              <a:rPr lang="ar-SA" altLang="en-US" sz="1350" dirty="0">
                <a:solidFill>
                  <a:srgbClr val="8A6D1E"/>
                </a:solidFill>
                <a:latin typeface="Amiri" pitchFamily="2" charset="-78"/>
                <a:ea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café is next to the library”?</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المَقْهَى بِجَانِبِ المَكْتَبَةِ.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المَقْهَى خَلْفَ المَكْتَبَةِ.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المَقْهَى مُقَابِلَ المَكْتَبَةِ.</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game: </a:t>
            </a:r>
            <a:pPr algn="l" indent="0" marL="0">
              <a:buNone/>
            </a:pPr>
            <a:r>
              <a:rPr lang="ar-SA" altLang="en-US" sz="1350" dirty="0">
                <a:solidFill>
                  <a:srgbClr val="8A6D1E"/>
                </a:solidFill>
                <a:latin typeface="Amiri" pitchFamily="2" charset="-78"/>
                <a:ea typeface="Amiri" pitchFamily="2" charset="-78"/>
                <a:cs typeface="Amiri" pitchFamily="2" charset="-78"/>
              </a:rPr>
              <a:t>بِجَانِبِ</a:t>
            </a:r>
            <a:pPr algn="l" indent="0" marL="0">
              <a:buNone/>
            </a:pPr>
            <a:r>
              <a:rPr lang="en-US" sz="1050" i="1" dirty="0">
                <a:solidFill>
                  <a:srgbClr val="8A6D1E"/>
                </a:solidFill>
                <a:latin typeface="Calibri" pitchFamily="34" charset="0"/>
                <a:cs typeface="Amiri" pitchFamily="2" charset="-78"/>
              </a:rPr>
              <a:t> = next to.</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المَدِينَةُ أَكْبَرُ ___ القَرْيَةِ.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Comparatives always take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أَكْبَرُ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نَاطِحَاتُ السَّحَابِ مَبْنِيَّةٌ ___ الزُّجَاجِ وَالصُّلْبِ.</a:t>
            </a:r>
            <a:endParaRPr lang="ar-SA" sz="13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مَبْنِيٌّ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my area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What is there?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فِي حَيِّي </a:t>
            </a:r>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1B3B6F"/>
                </a:solidFill>
                <a:latin typeface="Amiri" pitchFamily="2" charset="-78"/>
                <a:ea typeface="Amiri" pitchFamily="2" charset="-78"/>
                <a:cs typeface="Amiri" pitchFamily="2" charset="-78"/>
              </a:rPr>
              <a:t>وجَدُ مُسْتَشْفًى كَبِيرٌ</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مُسْتَشْفًى</a:t>
            </a:r>
            <a:pPr algn="l" indent="0" marL="0">
              <a:buNone/>
            </a:pPr>
            <a:r>
              <a:rPr lang="en-US" sz="1150" dirty="0">
                <a:solidFill>
                  <a:srgbClr val="1F2A37"/>
                </a:solidFill>
                <a:latin typeface="Calibri" pitchFamily="34" charset="0"/>
                <a:cs typeface="Amiri" pitchFamily="2" charset="-78"/>
              </a:rPr>
              <a:t> is masculine → </a:t>
            </a:r>
            <a:pPr algn="l" indent="0" marL="0">
              <a:buNone/>
            </a:pPr>
            <a:r>
              <a:rPr lang="ar-SA" altLang="en-US" sz="1500" dirty="0">
                <a:solidFill>
                  <a:srgbClr val="1F2A37"/>
                </a:solidFill>
                <a:latin typeface="Amiri" pitchFamily="2" charset="-78"/>
                <a:ea typeface="Amiri" pitchFamily="2" charset="-78"/>
                <a:cs typeface="Amiri" pitchFamily="2" charset="-78"/>
              </a:rPr>
              <a:t>يُـ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Where is it?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وَ</a:t>
            </a:r>
            <a:pPr rtl="1" algn="ctr" indent="0" marL="0">
              <a:lnSpc>
                <a:spcPct val="120000"/>
              </a:lnSpc>
              <a:buNone/>
            </a:pPr>
            <a:r>
              <a:rPr lang="ar-SA" altLang="en-US" sz="2000" b="1" dirty="0">
                <a:solidFill>
                  <a:srgbClr val="1D5FBF"/>
                </a:solidFill>
                <a:latin typeface="Amiri" pitchFamily="2" charset="-78"/>
                <a:ea typeface="Amiri" pitchFamily="2" charset="-78"/>
                <a:cs typeface="Amiri" pitchFamily="2" charset="-78"/>
              </a:rPr>
              <a:t>تُ</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وجَدُ مَكْتَبَةٌ </a:t>
            </a:r>
            <a:pPr rtl="1" algn="ctr" indent="0" marL="0">
              <a:lnSpc>
                <a:spcPct val="120000"/>
              </a:lnSpc>
              <a:buNone/>
            </a:pPr>
            <a:r>
              <a:rPr lang="ar-SA" altLang="en-US" sz="2000" b="1" dirty="0">
                <a:solidFill>
                  <a:srgbClr val="0E7C86"/>
                </a:solidFill>
                <a:latin typeface="Amiri" pitchFamily="2" charset="-78"/>
                <a:ea typeface="Amiri" pitchFamily="2" charset="-78"/>
                <a:cs typeface="Amiri" pitchFamily="2" charset="-78"/>
              </a:rPr>
              <a:t>بِجَانِبِ</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المَقْهَى</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مَكْتَبَةٌ</a:t>
            </a:r>
            <a:pPr algn="l" indent="0" marL="0">
              <a:buNone/>
            </a:pPr>
            <a:r>
              <a:rPr lang="en-US" sz="1150" dirty="0">
                <a:solidFill>
                  <a:srgbClr val="1F2A37"/>
                </a:solidFill>
                <a:latin typeface="Calibri" pitchFamily="34" charset="0"/>
                <a:cs typeface="Amiri" pitchFamily="2" charset="-78"/>
              </a:rPr>
              <a:t> has </a:t>
            </a:r>
            <a:pPr algn="l" indent="0" marL="0">
              <a:buNone/>
            </a:pPr>
            <a:r>
              <a:rPr lang="ar-SA" altLang="en-US" sz="1500" dirty="0">
                <a:solidFill>
                  <a:srgbClr val="1F2A37"/>
                </a:solidFill>
                <a:latin typeface="Amiri" pitchFamily="2" charset="-78"/>
                <a:ea typeface="Amiri" pitchFamily="2" charset="-78"/>
                <a:cs typeface="Amiri" pitchFamily="2" charset="-78"/>
              </a:rPr>
              <a:t>ـة</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تُـ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What is missing?</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لَا</a:t>
            </a:r>
            <a:pPr rtl="1" algn="ctr" indent="0" marL="0">
              <a:buNone/>
            </a:pPr>
            <a:r>
              <a:rPr lang="ar-SA" altLang="en-US" sz="2800" b="1" dirty="0">
                <a:solidFill>
                  <a:srgbClr val="1B3B6F"/>
                </a:solidFill>
                <a:latin typeface="Amiri" pitchFamily="2" charset="-78"/>
                <a:ea typeface="Amiri" pitchFamily="2" charset="-78"/>
                <a:cs typeface="Amiri" pitchFamily="2" charset="-78"/>
              </a:rPr>
              <a:t> يُوجَدُ مَسْبَحٌ</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لَا</a:t>
            </a:r>
            <a:pPr algn="l" indent="0" marL="0">
              <a:buNone/>
            </a:pPr>
            <a:r>
              <a:rPr lang="en-US" sz="1150" dirty="0">
                <a:solidFill>
                  <a:srgbClr val="1F2A37"/>
                </a:solidFill>
                <a:latin typeface="Calibri" pitchFamily="34" charset="0"/>
                <a:cs typeface="Amiri" pitchFamily="2" charset="-78"/>
              </a:rPr>
              <a:t> = there is no …</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 and judge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حَيِّي </a:t>
            </a:r>
            <a:pPr rtl="1" algn="ctr" indent="0" marL="0">
              <a:buNone/>
            </a:pPr>
            <a:r>
              <a:rPr lang="ar-SA" altLang="en-US" sz="2100" b="1" dirty="0">
                <a:solidFill>
                  <a:srgbClr val="C77700"/>
                </a:solidFill>
                <a:latin typeface="Amiri" pitchFamily="2" charset="-78"/>
                <a:ea typeface="Amiri" pitchFamily="2" charset="-78"/>
                <a:cs typeface="Amiri" pitchFamily="2" charset="-78"/>
              </a:rPr>
              <a:t>أَ</a:t>
            </a:r>
            <a:pPr rtl="1" algn="ctr" indent="0" marL="0">
              <a:buNone/>
            </a:pPr>
            <a:r>
              <a:rPr lang="ar-SA" altLang="en-US" sz="2100" b="1" dirty="0">
                <a:solidFill>
                  <a:srgbClr val="1B3B6F"/>
                </a:solidFill>
                <a:latin typeface="Amiri" pitchFamily="2" charset="-78"/>
                <a:ea typeface="Amiri" pitchFamily="2" charset="-78"/>
                <a:cs typeface="Amiri" pitchFamily="2" charset="-78"/>
              </a:rPr>
              <a:t>هْدَأُ </a:t>
            </a:r>
            <a:pPr rtl="1" algn="ctr" indent="0" marL="0">
              <a:buNone/>
            </a:pPr>
            <a:r>
              <a:rPr lang="ar-SA" altLang="en-US" sz="2100" b="1" dirty="0">
                <a:solidFill>
                  <a:srgbClr val="0E7C86"/>
                </a:solidFill>
                <a:latin typeface="Amiri" pitchFamily="2" charset="-78"/>
                <a:ea typeface="Amiri" pitchFamily="2" charset="-78"/>
                <a:cs typeface="Amiri" pitchFamily="2" charset="-78"/>
              </a:rPr>
              <a:t>مِنْ</a:t>
            </a:r>
            <a:pPr rtl="1" algn="ctr" indent="0" marL="0">
              <a:buNone/>
            </a:pPr>
            <a:r>
              <a:rPr lang="ar-SA" altLang="en-US" sz="2100" b="1" dirty="0">
                <a:solidFill>
                  <a:srgbClr val="1B3B6F"/>
                </a:solidFill>
                <a:latin typeface="Amiri" pitchFamily="2" charset="-78"/>
                <a:ea typeface="Amiri" pitchFamily="2" charset="-78"/>
                <a:cs typeface="Amiri" pitchFamily="2" charset="-78"/>
              </a:rPr>
              <a:t> وَسَطِ المَدِينَةِ</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أَهْدَأُ مِنْ</a:t>
            </a:r>
            <a:pPr algn="l" indent="0" marL="0">
              <a:buNone/>
            </a:pPr>
            <a:r>
              <a:rPr lang="en-US" sz="1150" dirty="0">
                <a:solidFill>
                  <a:srgbClr val="1F2A37"/>
                </a:solidFill>
                <a:latin typeface="Calibri" pitchFamily="34" charset="0"/>
                <a:cs typeface="Amiri" pitchFamily="2" charset="-78"/>
              </a:rPr>
              <a:t> = quieter than.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WHO / WHICH</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KEY WORD</a:t>
            </a:r>
            <a:endParaRPr lang="en-US" sz="800" dirty="0"/>
          </a:p>
        </p:txBody>
      </p:sp>
      <p:sp>
        <p:nvSpPr>
          <p:cNvPr id="49" name="Shape 45"/>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PATTERN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50" b="1" dirty="0">
                <a:solidFill>
                  <a:srgbClr val="1B3B6F"/>
                </a:solidFill>
                <a:latin typeface="Amiri" pitchFamily="2" charset="-78"/>
                <a:ea typeface="Amiri" pitchFamily="2" charset="-78"/>
                <a:cs typeface="Amiri" pitchFamily="2" charset="-78"/>
              </a:rPr>
              <a:t>فِي حَيِّي </a:t>
            </a:r>
            <a:pPr rtl="1" algn="r" indent="0" marL="0">
              <a:buNone/>
            </a:pPr>
            <a:r>
              <a:rPr lang="ar-SA" altLang="en-US" sz="2250" b="1" dirty="0">
                <a:solidFill>
                  <a:srgbClr val="1D5FBF"/>
                </a:solidFill>
                <a:latin typeface="Amiri" pitchFamily="2" charset="-78"/>
                <a:ea typeface="Amiri" pitchFamily="2" charset="-78"/>
                <a:cs typeface="Amiri" pitchFamily="2" charset="-78"/>
              </a:rPr>
              <a:t>يُ</a:t>
            </a:r>
            <a:pPr rtl="1" algn="r" indent="0" marL="0">
              <a:buNone/>
            </a:pPr>
            <a:r>
              <a:rPr lang="ar-SA" altLang="en-US" sz="2250" b="1" dirty="0">
                <a:solidFill>
                  <a:srgbClr val="1B3B6F"/>
                </a:solidFill>
                <a:latin typeface="Amiri" pitchFamily="2" charset="-78"/>
                <a:ea typeface="Amiri" pitchFamily="2" charset="-78"/>
                <a:cs typeface="Amiri" pitchFamily="2" charset="-78"/>
              </a:rPr>
              <a:t>وجَدُ مُسْتَشْفًى كَبِيرٌ، وَ</a:t>
            </a:r>
            <a:pPr rtl="1" algn="r" indent="0" marL="0">
              <a:buNone/>
            </a:pPr>
            <a:r>
              <a:rPr lang="ar-SA" altLang="en-US" sz="2250" b="1" dirty="0">
                <a:solidFill>
                  <a:srgbClr val="1D5FBF"/>
                </a:solidFill>
                <a:latin typeface="Amiri" pitchFamily="2" charset="-78"/>
                <a:ea typeface="Amiri" pitchFamily="2" charset="-78"/>
                <a:cs typeface="Amiri" pitchFamily="2" charset="-78"/>
              </a:rPr>
              <a:t>تُ</a:t>
            </a:r>
            <a:pPr rtl="1" algn="r" indent="0" marL="0">
              <a:buNone/>
            </a:pPr>
            <a:r>
              <a:rPr lang="ar-SA" altLang="en-US" sz="2250" b="1" dirty="0">
                <a:solidFill>
                  <a:srgbClr val="1B3B6F"/>
                </a:solidFill>
                <a:latin typeface="Amiri" pitchFamily="2" charset="-78"/>
                <a:ea typeface="Amiri" pitchFamily="2" charset="-78"/>
                <a:cs typeface="Amiri" pitchFamily="2" charset="-78"/>
              </a:rPr>
              <a:t>وجَدُ مَكْتَبَةٌ </a:t>
            </a:r>
            <a:pPr rtl="1" algn="r" indent="0" marL="0">
              <a:buNone/>
            </a:pPr>
            <a:r>
              <a:rPr lang="ar-SA" altLang="en-US" sz="2250" b="1" dirty="0">
                <a:solidFill>
                  <a:srgbClr val="0E7C86"/>
                </a:solidFill>
                <a:latin typeface="Amiri" pitchFamily="2" charset="-78"/>
                <a:ea typeface="Amiri" pitchFamily="2" charset="-78"/>
                <a:cs typeface="Amiri" pitchFamily="2" charset="-78"/>
              </a:rPr>
              <a:t>بِجَانِبِ</a:t>
            </a:r>
            <a:pPr rtl="1" algn="r" indent="0" marL="0">
              <a:buNone/>
            </a:pPr>
            <a:r>
              <a:rPr lang="ar-SA" altLang="en-US" sz="2250" b="1" dirty="0">
                <a:solidFill>
                  <a:srgbClr val="1B3B6F"/>
                </a:solidFill>
                <a:latin typeface="Amiri" pitchFamily="2" charset="-78"/>
                <a:ea typeface="Amiri" pitchFamily="2" charset="-78"/>
                <a:cs typeface="Amiri" pitchFamily="2" charset="-78"/>
              </a:rPr>
              <a:t> المَقْهَى. </a:t>
            </a:r>
            <a:pPr rtl="1" algn="r" indent="0" marL="0">
              <a:buNone/>
            </a:pPr>
            <a:r>
              <a:rPr lang="ar-SA" altLang="en-US" sz="2250" b="1" dirty="0">
                <a:solidFill>
                  <a:srgbClr val="0E7C86"/>
                </a:solidFill>
                <a:latin typeface="Amiri" pitchFamily="2" charset="-78"/>
                <a:ea typeface="Amiri" pitchFamily="2" charset="-78"/>
                <a:cs typeface="Amiri" pitchFamily="2" charset="-78"/>
              </a:rPr>
              <a:t>لَا</a:t>
            </a:r>
            <a:pPr rtl="1" algn="r" indent="0" marL="0">
              <a:buNone/>
            </a:pPr>
            <a:r>
              <a:rPr lang="ar-SA" altLang="en-US" sz="2250" b="1" dirty="0">
                <a:solidFill>
                  <a:srgbClr val="1B3B6F"/>
                </a:solidFill>
                <a:latin typeface="Amiri" pitchFamily="2" charset="-78"/>
                <a:ea typeface="Amiri" pitchFamily="2" charset="-78"/>
                <a:cs typeface="Amiri" pitchFamily="2" charset="-78"/>
              </a:rPr>
              <a:t> يُوجَدُ مَسْبَحٌ، لٰكِنَّ حَيِّي </a:t>
            </a:r>
            <a:pPr rtl="1" algn="r" indent="0" marL="0">
              <a:buNone/>
            </a:pPr>
            <a:r>
              <a:rPr lang="ar-SA" altLang="en-US" sz="2250" b="1" dirty="0">
                <a:solidFill>
                  <a:srgbClr val="C77700"/>
                </a:solidFill>
                <a:latin typeface="Amiri" pitchFamily="2" charset="-78"/>
                <a:ea typeface="Amiri" pitchFamily="2" charset="-78"/>
                <a:cs typeface="Amiri" pitchFamily="2" charset="-78"/>
              </a:rPr>
              <a:t>أَ</a:t>
            </a:r>
            <a:pPr rtl="1" algn="r" indent="0" marL="0">
              <a:buNone/>
            </a:pPr>
            <a:r>
              <a:rPr lang="ar-SA" altLang="en-US" sz="2250" b="1" dirty="0">
                <a:solidFill>
                  <a:srgbClr val="1B3B6F"/>
                </a:solidFill>
                <a:latin typeface="Amiri" pitchFamily="2" charset="-78"/>
                <a:ea typeface="Amiri" pitchFamily="2" charset="-78"/>
                <a:cs typeface="Amiri" pitchFamily="2" charset="-78"/>
              </a:rPr>
              <a:t>هْدَأُ </a:t>
            </a:r>
            <a:pPr rtl="1" algn="r" indent="0" marL="0">
              <a:buNone/>
            </a:pPr>
            <a:r>
              <a:rPr lang="ar-SA" altLang="en-US" sz="2250" b="1" dirty="0">
                <a:solidFill>
                  <a:srgbClr val="0E7C86"/>
                </a:solidFill>
                <a:latin typeface="Amiri" pitchFamily="2" charset="-78"/>
                <a:ea typeface="Amiri" pitchFamily="2" charset="-78"/>
                <a:cs typeface="Amiri" pitchFamily="2" charset="-78"/>
              </a:rPr>
              <a:t>مِنْ</a:t>
            </a:r>
            <a:pPr rtl="1" algn="r" indent="0" marL="0">
              <a:buNone/>
            </a:pPr>
            <a:r>
              <a:rPr lang="ar-SA" altLang="en-US" sz="2250" b="1" dirty="0">
                <a:solidFill>
                  <a:srgbClr val="1B3B6F"/>
                </a:solidFill>
                <a:latin typeface="Amiri" pitchFamily="2" charset="-78"/>
                <a:ea typeface="Amiri" pitchFamily="2" charset="-78"/>
                <a:cs typeface="Amiri" pitchFamily="2" charset="-78"/>
              </a:rPr>
              <a:t> وَسَطِ المَدِينَةِ.</a:t>
            </a:r>
            <a:endParaRPr lang="ar-SA" sz="22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cs typeface="Amiri" pitchFamily="2" charset="-78"/>
              </a:rPr>
              <a:t>In my area there is a big hospital, and there is a library next to the café. There is no swimming pool, but my area is quieter than the city centre.</a:t>
            </a:r>
            <a:endParaRPr lang="en-US" sz="12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اَلْمَقْهَى بِجَانِبِ الْمَكْتَبَةِ.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café is next to the library.</a:t>
            </a:r>
            <a:endParaRPr lang="en-US" sz="1250" dirty="0"/>
          </a:p>
          <a:p>
            <a:pPr indent="0" marL="0">
              <a:buNone/>
            </a:pPr>
            <a:r>
              <a:rPr lang="en-US" sz="1050" i="1" dirty="0">
                <a:solidFill>
                  <a:srgbClr val="8A6D1E"/>
                </a:solidFill>
                <a:latin typeface="Calibri" pitchFamily="34" charset="0"/>
                <a:cs typeface="Amiri" pitchFamily="2" charset="-78"/>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أَسْتَعِيرُ الكُتُبَ مِنَ المَكْتَبَةِ.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borrow books from the library.</a:t>
            </a:r>
            <a:endParaRPr lang="en-US" sz="1250" dirty="0"/>
          </a:p>
          <a:p>
            <a:pPr indent="0" marL="0">
              <a:buNone/>
            </a:pPr>
            <a:r>
              <a:rPr lang="en-US" sz="1050" i="1" dirty="0">
                <a:solidFill>
                  <a:srgbClr val="8A6D1E"/>
                </a:solidFill>
                <a:latin typeface="Calibri" pitchFamily="34" charset="0"/>
                <a:cs typeface="Amiri" pitchFamily="2" charset="-78"/>
              </a:rPr>
              <a:t>Topic C bank example — say what you DO there.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بُنِيَ الجُزْءُ القَدِيمُ مِنَ الطِّينِ وَالخَشَبِ.</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old part was built from clay and wood.</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Website listening — materials with مِنْ.</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يُخَطِّطُونَ لِكَيْ تَكُونَ العَاصِمَةُ أَكْثَرَ اسْتِدَامَةً.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They plan so that the capital becomes more sustainable.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لِكَيْ + subjunctive تَكُونَ.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“TOWN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opposite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next to</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east of</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اَلْفُنْدُقُ شَرْقَ مَحَطَّةِ الْقِطَارِ.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اَلْمُسْتَشْفَى مُقَابِلُ الْبَنْكِ.</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اَلْمَقْهَى بِجَانِبِ الْمَكْتَبَةِ.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opposite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اَلْمُسْتَشْفَى مُقَابِلُ الْبَنْكِ.</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hospital is opposite the bank.</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next to</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اَلْمَقْهَى بِجَانِبِ الْمَكْتَبَةِ.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café is next to the library.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east of</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اَلْفُنْدُقُ شَرْقَ مَحَطَّةِ الْقِطَارِ.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hotel is east of the train station.</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 AND JUDGE (TOPIC C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A guide to the services in our area</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دَلِيلُ الخَدَمَاتِ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دَلِيلُ الخَدَمَاتِ فِي حَيِّنَا</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يُوجَدُ فِي حَيِّنَا مُسْتَشْفًى كَبِيرٌ وَعِيَادَتَانِ.</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تُوجَدُ مَكْتَبَةٌ عَامَّةٌ بِجَانِبِ المَدْرَسَةِ، وَهِيَ مَفْتُوحَةٌ كُلَّ يَوْمٍ.</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مَحَطَّةُ القِطَارِ قُرْبَ السَّاحَةِ، وَالقِطَارَاتُ سَرِيعَةٌ.</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لَا يُوجَدُ مَسْبَحٌ، وَالمَلْعَبُ صَغِيرٌ جِدًّا.</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المَقَاهِي كَثِيرَةٌ، لٰكِنَّ مَوْقِفَ السَّيَّارَاتِ مُزْدَحِمٌ دَائِمًا.</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رَأْيِي: حَيُّنَا أَفْضَلُ مِنَ الحَيِّ القَدِيمِ، لٰكِنَّهُ يَحْتَاجُ إِلَى مَسَاحَاتٍ خَضْرَاءَ.</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دَلِيلٌ</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guide</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حَيُّنَا</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our area</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عِيَادَتَانِ</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clinics</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عَامَّةٌ</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public</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مَفْتُوحَةٌ</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open</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السَّاحَةُ</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square</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سَرِيعَةٌ</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fast</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مُزْدَحِمٌ</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crowded</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رَأْيِي</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opinion</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يَحْتَاجُ إِلَى</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needs</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 AND JUDGE ·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there — and is it good?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اِسْتَخْرِجِ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 station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café</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public library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clinics are there?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service is missing?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hospital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swimming pool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train station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problem with the car park?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always crowded.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closed.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far.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area need, in the writer’s opinion?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cafés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bigger station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 spaces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next to?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بِجَانِبِ</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missing?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لَا يُوجَدُ</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problem?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مُزْدَحِمٌ</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needs?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يَحْتَاجُ إِلَى</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 AND JUDGE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Services: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next to the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train station</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café</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public library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تُوجَدُ مَكْتَبَةٌ عَامَّةٌ بِجَانِبِ المَدْرَسَةِ.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clinics are there?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مُسْتَشْفًى كَبِيرٌ وَعِيَادَتَانِ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ـَانِ</a:t>
            </a:r>
            <a:pPr algn="l" indent="0" marL="0">
              <a:buNone/>
            </a:pPr>
            <a:r>
              <a:rPr lang="en-US" sz="1050" i="1" dirty="0">
                <a:solidFill>
                  <a:srgbClr val="8A6D1E"/>
                </a:solidFill>
                <a:latin typeface="Calibri" pitchFamily="34" charset="0"/>
                <a:cs typeface="Amiri" pitchFamily="2" charset="-78"/>
              </a:rPr>
              <a:t> = two).</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service is missing?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hospital</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swimming pool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train station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يُوجَدُ مَسْبَحٌ.</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problem with the car park?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always crowded.</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closed.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far.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مَوْقِفُ السَّيَّارَاتِ مُزْدَحِمٌ دَائِمًا.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area need, in the writer’s opinion?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cafés</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bigger station</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Green spaces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لٰكِنَّهُ يَحْتَاجُ إِلَى مَسَاحَاتٍ خَضْرَاءَ.</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Find the KEY WORD first.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next to?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بِجَانِبِ</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missing?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لَا يُوجَدُ</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problem?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مُزْدَحِمٌ</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needs?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يَحْتَاجُ إِلَى</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There is a library in my town.</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يُوجَدُ</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تُوجَدُ</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مَكْتَبَةٌ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مَكْتَبَةً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مَدِينَتِي.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مَدِينَتِي.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bank is opposite the hospital.</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البَنْكُ</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المُسْتَشْفَى</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بِجَانِبِ</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مُقَابِلَ</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المُسْتَشْفَى.</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البَنْكِ.</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city is more crowded than the village.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المَدِينَةُ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القَرْيَةُ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أَكْثَرُ ازْدِحَامًا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أَقَلُّ ازْدِحَامًا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 القَرْيَةِ.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القَرْيَةِ.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There is a library in my town.</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مَكْتَبَةٌ</a:t>
            </a:r>
            <a:pPr algn="l" indent="0" marL="0">
              <a:buNone/>
            </a:pPr>
            <a:r>
              <a:rPr lang="en-US" sz="1050" i="1" dirty="0">
                <a:solidFill>
                  <a:srgbClr val="5A6472"/>
                </a:solidFill>
                <a:latin typeface="Calibri" pitchFamily="34" charset="0"/>
                <a:cs typeface="Amiri" pitchFamily="2" charset="-78"/>
              </a:rPr>
              <a:t> is feminine (</a:t>
            </a:r>
            <a:pPr algn="l" indent="0" marL="0">
              <a:buNone/>
            </a:pPr>
            <a:r>
              <a:rPr lang="ar-SA" altLang="en-US" sz="1350" dirty="0">
                <a:solidFill>
                  <a:srgbClr val="5A6472"/>
                </a:solidFill>
                <a:latin typeface="Amiri" pitchFamily="2" charset="-78"/>
                <a:ea typeface="Amiri" pitchFamily="2" charset="-78"/>
                <a:cs typeface="Amiri" pitchFamily="2" charset="-78"/>
              </a:rPr>
              <a:t>ـة</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تُوجَدُ</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تُوجَدُ مَكْتَبَةٌ فِي مَدِينَتِي.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bank is opposite the hospital.</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مُقَابِلَ</a:t>
            </a:r>
            <a:pPr algn="l" indent="0" marL="0">
              <a:buNone/>
            </a:pPr>
            <a:r>
              <a:rPr lang="en-US" sz="1050" i="1" dirty="0">
                <a:solidFill>
                  <a:srgbClr val="5A6472"/>
                </a:solidFill>
                <a:latin typeface="Calibri" pitchFamily="34" charset="0"/>
                <a:cs typeface="Amiri" pitchFamily="2" charset="-78"/>
              </a:rPr>
              <a:t> = opposite; the bank comes first.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البَنْكُ مُقَابِلَ المُسْتَشْفَى.</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city is more crowded than the village.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أَكْثَرُ</a:t>
            </a:r>
            <a:pPr algn="l" indent="0" marL="0">
              <a:buNone/>
            </a:pPr>
            <a:r>
              <a:rPr lang="en-US" sz="1050" i="1" dirty="0">
                <a:solidFill>
                  <a:srgbClr val="5A6472"/>
                </a:solidFill>
                <a:latin typeface="Calibri" pitchFamily="34" charset="0"/>
                <a:cs typeface="Amiri" pitchFamily="2" charset="-78"/>
              </a:rPr>
              <a:t> = more; comparatives take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المَدِينَةُ أَكْثَرُ ازْدِحَامًا مِنَ القَرْيَةِ.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Material, planning or goal?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يُجَدِّدُ المَبَانِيَ القَدِيمَةَ</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مَبْنِيٌّ مِنَ الحَجَرِ</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يُبْنَى مَشْرُوعٌ ضَخْمٌ</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يَتَمَيَّزُ بِمِعْمَارٍ حَدِيثٍ</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تَكُونَ المَدِينَةُ صَالِحَةً</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يُعِيدُ تَصْمِيمَ المِنْطَقَةِ</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يُحَوِّلُ المَطَارَ إِلَى حَدِيقَةٍ</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مَبْنِيٌّ مِنَ الزُّجَاجِ وَالصُّلْبِ</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يُخَطَّطُ لِاسْتِكْمَالِ المَشْرُوعِ</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Material / feature</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Planning verb</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 goal</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Material / feature</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مَبْنِيٌّ مِنَ الحَجَرِ</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يَتَمَيَّزُ بِمِعْمَارٍ حَدِيثٍ</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مَبْنِيٌّ مِنَ الزُّجَاجِ وَالصُّلْبِ</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Planning verb</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يُجَدِّدُ المَبَانِيَ القَدِيمَةَ</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يُعِيدُ تَصْمِيمَ المِنْطَقَةِ</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يُحَوِّلُ المَطَارَ إِلَى حَدِيقَةٍ</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 goal</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يُبْنَى مَشْرُوعٌ ضَخْمٌ</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تَكُونَ المَدِينَةُ صَالِحَةً</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يُخَطَّطُ لِاسْتِكْمَالِ المَشْرُوعِ</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2, 3, 4,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يُحَوِّلُ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يُحَوِّلُ المَشْرُوعُ المَطَارَ القَدِيمَ حَدِيقَةً.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يُحَوِّلُ المَشْرُوعُ بِالمَطَارِ القَدِيمِ.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يُحَوِّلُ المَشْرُوعُ المَطَارَ القَدِيمَ إِلَى حَدِيقَةٍ.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urban passive.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يُبْنَى مَشْرُوعًا ضَخْمًا عَلَى الأَطْرَافِ.</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يُبْنَى مَشْرُوعٌ ضَخْمٌ عَلَى الأَطْرَافِ.</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يَبْنِي مَشْرُوعٌ ضَخْمٌ نَفْسَهُ.</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goal clause: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يُخَطِّطُونَ لِكَيْ ___ المَدِينَةُ صَالِحَةً لِلْعَيْشِ.</a:t>
            </a:r>
            <a:endParaRPr lang="ar-SA" sz="14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تَكُونُ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تَكُونَ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a material, a planning verb and a goal?</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المَدِينَةُ كَبِيرَةٌ.</a:t>
            </a:r>
            <a:endParaRPr lang="ar-SA" sz="19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أُحِبُّ المُدُنَ.</a:t>
            </a:r>
            <a:endParaRPr lang="ar-SA" sz="19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الحَيُّ مَبْنِيٌّ مِنَ الحَجَرِ، وَيُجَدِّدُهُ المَشْرُوعُ لِكَيْ يَكُونَ أَجْمَلَ.</a:t>
            </a:r>
            <a:endParaRPr lang="ar-SA" sz="1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يُحَوِّلُ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يُحَوِّلُ المَشْرُوعُ المَطَارَ القَدِيمَ حَدِيقَةً.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يُحَوِّلُ المَشْرُوعُ بِالمَطَارِ القَدِيمِ.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يُحَوِّلُ المَشْرُوعُ المَطَارَ القَدِيمَ إِلَى حَدِيقَةٍ.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يُحَوِّلُ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urban passive.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يُبْنَى مَشْرُوعًا ضَخْمًا عَلَى الأَطْرَافِ.</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يُبْنَى مَشْرُوعٌ ضَخْمٌ عَلَى الأَطْرَافِ.</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يَبْنِي مَشْرُوعٌ ضَخْمٌ نَفْسَهُ.</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subject is nominative.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goal clause: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يُخَطِّطُونَ لِكَيْ ___ المَدِينَةُ صَالِحَةً لِلْعَيْشِ.</a:t>
            </a:r>
            <a:endParaRPr lang="ar-SA" sz="14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تَكُونُ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تَكُونَ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ea typeface="Amiri" pitchFamily="2" charset="-78"/>
                <a:cs typeface="Amiri" pitchFamily="2" charset="-78"/>
              </a:rPr>
              <a:t>تَكُونَ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a material, a planning verb and a goal?</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كَبِيرَةٌ.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المُدُنَ.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الحَيُّ مَبْنِيٌّ مِنَ الحَجَرِ، وَيُجَدِّدُهُ المَشْرُوعُ لِكَيْ يَكُونَ أَجْمَلَ.</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t>
            </a:r>
            <a:pPr algn="l" indent="0" marL="0">
              <a:buNone/>
            </a:pPr>
            <a:r>
              <a:rPr lang="ar-SA" altLang="en-US" sz="1350" dirty="0">
                <a:solidFill>
                  <a:srgbClr val="8A6D1E"/>
                </a:solidFill>
                <a:latin typeface="Amiri" pitchFamily="2" charset="-78"/>
                <a:ea typeface="Amiri" pitchFamily="2" charset="-78"/>
                <a:cs typeface="Amiri" pitchFamily="2" charset="-78"/>
              </a:rPr>
              <a:t>مَبْنِيٌّ مِنْ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يُجَدِّدُ</a:t>
            </a:r>
            <a:pPr algn="l" indent="0" marL="0">
              <a:buNone/>
            </a:pPr>
            <a:r>
              <a:rPr lang="en-US" sz="1050" i="1" dirty="0">
                <a:solidFill>
                  <a:srgbClr val="8A6D1E"/>
                </a:solidFill>
                <a:latin typeface="Calibri" pitchFamily="34" charset="0"/>
                <a:cs typeface="Amiri" pitchFamily="2" charset="-78"/>
              </a:rPr>
              <a:t> and a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goal.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نَاطِحَاتُ السَّحَابِ مَبْنِيَّةٌ بِالزُّجَاجِ.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Which small word must come after </a:t>
            </a:r>
            <a:pPr algn="l" indent="0" marL="0">
              <a:buNone/>
            </a:pPr>
            <a:r>
              <a:rPr lang="ar-SA" altLang="en-US" sz="1700" dirty="0">
                <a:solidFill>
                  <a:srgbClr val="5A6472"/>
                </a:solidFill>
                <a:latin typeface="Amiri" pitchFamily="2" charset="-78"/>
                <a:ea typeface="Amiri" pitchFamily="2" charset="-78"/>
                <a:cs typeface="Amiri" pitchFamily="2" charset="-78"/>
              </a:rPr>
              <a:t>مَبْنِيَّةٌ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يُحَوِّلُ المَشْرُوعُ المَطَارَ حَدِيقَةً.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Which small word must come after </a:t>
            </a:r>
            <a:pPr algn="l" indent="0" marL="0">
              <a:buNone/>
            </a:pPr>
            <a:r>
              <a:rPr lang="ar-SA" altLang="en-US" sz="1700" dirty="0">
                <a:solidFill>
                  <a:srgbClr val="5A6472"/>
                </a:solidFill>
                <a:latin typeface="Amiri" pitchFamily="2" charset="-78"/>
                <a:ea typeface="Amiri" pitchFamily="2" charset="-78"/>
                <a:cs typeface="Amiri" pitchFamily="2" charset="-78"/>
              </a:rPr>
              <a:t>يُحَوِّلُ</a:t>
            </a:r>
            <a:pPr algn="l" indent="0" marL="0">
              <a:buNone/>
            </a:pPr>
            <a:r>
              <a:rPr lang="en-US" sz="1300" i="1" dirty="0">
                <a:solidFill>
                  <a:srgbClr val="5A6472"/>
                </a:solidFill>
                <a:latin typeface="Calibri" pitchFamily="34" charset="0"/>
                <a:cs typeface="Amiri" pitchFamily="2" charset="-78"/>
              </a:rPr>
              <a:t> …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يُخَطِّطُونَ لِكَيْ تَكُونُ المَدِينَةُ صَالِحَةً.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After </a:t>
            </a:r>
            <a:pPr algn="l" indent="0" marL="0">
              <a:buNone/>
            </a:pPr>
            <a:r>
              <a:rPr lang="ar-SA" altLang="en-US" sz="1700" dirty="0">
                <a:solidFill>
                  <a:srgbClr val="5A6472"/>
                </a:solidFill>
                <a:latin typeface="Amiri" pitchFamily="2" charset="-78"/>
                <a:ea typeface="Amiri" pitchFamily="2" charset="-78"/>
                <a:cs typeface="Amiri" pitchFamily="2" charset="-78"/>
              </a:rPr>
              <a:t>لِكَيْ</a:t>
            </a:r>
            <a:pPr algn="l" indent="0" marL="0">
              <a:buNone/>
            </a:pPr>
            <a:r>
              <a:rPr lang="en-US" sz="1300" i="1" dirty="0">
                <a:solidFill>
                  <a:srgbClr val="5A6472"/>
                </a:solidFill>
                <a:latin typeface="Calibri" pitchFamily="34" charset="0"/>
                <a:cs typeface="Amiri" pitchFamily="2" charset="-78"/>
              </a:rPr>
              <a:t>, what is the last vowel on the verb?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نَاطِحَاتُ السَّحَابِ مَبْنِيَّةٌ بِالزُّجَاجِ.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نَاطِحَاتُ السَّحَابِ مَبْنِيَّةٌ مِنَ الزُّجَاجِ.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مَبْنِيٌّ</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يُحَوِّلُ المَشْرُوعُ المَطَارَ حَدِيقَةً.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يُحَوِّلُ المَشْرُوعُ المَطَارَ إِلَى حَدِيقَةٍ.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يُحَوِّلُ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يُخَطِّطُونَ لِكَيْ تَكُونُ المَدِينَةُ صَالِحَةً.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يُخَطِّطُونَ لِكَيْ تَكُونَ المَدِينَةُ صَالِحَةً.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تَكُونَ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city of the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Dubai?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unique mix of heritage and modern architecture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skyscrapers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old houses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old part built from?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 and steel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Concrete only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Clay and wood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development authorities do with old industrial areas?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Demolish them entirely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them empty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Convert them into green spaces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planning been more sustainable, cities would be less crowded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Planning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Cities cannot be planned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engineers plan for?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make cities bigger only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cities become liveable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1–3 — listen for </a:t>
            </a:r>
            <a:pPr algn="l" indent="0" marL="0">
              <a:buNone/>
            </a:pPr>
            <a:r>
              <a:rPr lang="ar-SA" altLang="en-US" sz="1650" dirty="0">
                <a:solidFill>
                  <a:srgbClr val="1E6B52"/>
                </a:solidFill>
                <a:latin typeface="Amiri" pitchFamily="2" charset="-78"/>
                <a:ea typeface="Amiri" pitchFamily="2" charset="-78"/>
                <a:cs typeface="Amiri" pitchFamily="2" charset="-78"/>
              </a:rPr>
              <a:t>دُبَيَّ</a:t>
            </a:r>
            <a:pPr algn="l" indent="0" marL="0">
              <a:buNone/>
            </a:pPr>
            <a:r>
              <a:rPr lang="en-US" sz="1250" dirty="0">
                <a:solidFill>
                  <a:srgbClr val="1E6B52"/>
                </a:solidFill>
                <a:latin typeface="Calibri" pitchFamily="34" charset="0"/>
                <a:cs typeface="Amiri" pitchFamily="2" charset="-78"/>
              </a:rPr>
              <a:t> (Dubai), </a:t>
            </a:r>
            <a:pPr algn="l" indent="0" marL="0">
              <a:buNone/>
            </a:pPr>
            <a:r>
              <a:rPr lang="ar-SA" altLang="en-US" sz="1650" dirty="0">
                <a:solidFill>
                  <a:srgbClr val="1E6B52"/>
                </a:solidFill>
                <a:latin typeface="Amiri" pitchFamily="2" charset="-78"/>
                <a:ea typeface="Amiri" pitchFamily="2" charset="-78"/>
                <a:cs typeface="Amiri" pitchFamily="2" charset="-78"/>
              </a:rPr>
              <a:t>الطِّينِ وَالخَشَبِ</a:t>
            </a:r>
            <a:pPr algn="l" indent="0" marL="0">
              <a:buNone/>
            </a:pPr>
            <a:r>
              <a:rPr lang="en-US" sz="1250" dirty="0">
                <a:solidFill>
                  <a:srgbClr val="1E6B52"/>
                </a:solidFill>
                <a:latin typeface="Calibri" pitchFamily="34" charset="0"/>
                <a:cs typeface="Amiri" pitchFamily="2" charset="-78"/>
              </a:rPr>
              <a:t> (clay and wood) and </a:t>
            </a:r>
            <a:pPr algn="l" indent="0" marL="0">
              <a:buNone/>
            </a:pPr>
            <a:r>
              <a:rPr lang="ar-SA" altLang="en-US" sz="1650" dirty="0">
                <a:solidFill>
                  <a:srgbClr val="1E6B52"/>
                </a:solidFill>
                <a:latin typeface="Amiri" pitchFamily="2" charset="-78"/>
                <a:ea typeface="Amiri" pitchFamily="2" charset="-78"/>
                <a:cs typeface="Amiri" pitchFamily="2" charset="-78"/>
              </a:rPr>
              <a:t>مَسَاحَاتٍ خَضْرَاءَ</a:t>
            </a:r>
            <a:pPr algn="l" indent="0" marL="0">
              <a:buNone/>
            </a:pPr>
            <a:r>
              <a:rPr lang="en-US" sz="1250" dirty="0">
                <a:solidFill>
                  <a:srgbClr val="1E6B52"/>
                </a:solidFill>
                <a:latin typeface="Calibri" pitchFamily="34" charset="0"/>
                <a:cs typeface="Amiri" pitchFamily="2" charset="-78"/>
              </a:rPr>
              <a:t> (green spaces).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تَتَمَيَّزُ مَدِينَةُ دُبَيَّ بِمَزِيجٍ فَرِيدٍ مِنَ العِمَارَةِ التُّرَاثِيَّةِ وَالمِعْمَارِ الحَدِيثِ.</a:t>
            </a:r>
            <a:endParaRPr lang="ar-SA" sz="20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Dubai is known for a unique mix of heritage and modern architecture.</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بُنِيَ الجُزْءُ القَدِيمُ مِنَ الطِّينِ وَالخَشَبِ، فِي حِينِ أَنَّ نَاطِحَاتِ السَّحَابِ مَبْنِيَّةٌ مِنَ الزُّجَاجِ وَالصُّلْبِ.</a:t>
            </a:r>
            <a:endParaRPr lang="ar-SA" sz="16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old part was built of clay and wood, while the skyscrapers are built of glass and steel.</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تُعِيدُ هَيْئَاتُ التَّطْوِيرِ تَصْمِيمَ أَحْيَاءٍ كَامِلَةٍ، وَتُحَوِّلُ مَنَاطِقَ صِنَاعِيَّةً قَدِيمَةً إِلَى مَسَاحَاتٍ خَضْرَاءَ.</a:t>
            </a:r>
            <a:endParaRPr lang="ar-SA" sz="16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Development authorities redesign whole districts and turn old industrial areas into green spaces.</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غَيْرَ أَنَّ التَّوَسُّعَ السَّرِيعَ يُؤَدِّي إِلَى ازْدِحَامٍ مُرُورِيٍّ.</a:t>
            </a:r>
            <a:endParaRPr lang="ar-SA" sz="200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However, rapid growth leads to traffic congestion.</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إِذَا وَاصَلَتِ المُدُنُ التَّوَسُّعَ دُونَ تَخْطِيطٍ، سَتُعَانِي مِنْ تَلَوُّثٍ ضَوْضَائِيٍّ.</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cities keep growing without planning, they will suffer from noise pollution.</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وَلَوْ كَانَ التَّخْطِيطُ أَكْثَرَ اسْتِدَامَةً مُنْذُ البِدَايَةِ، لَكَانَتِ المُدُنُ أَقَلَّ اكْتِظَاظًا.</a:t>
            </a:r>
            <a:endParaRPr lang="ar-SA" sz="195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planning been more sustainable from the start, cities would be less overcrowded.</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لِذٰلِكَ يُخَطِّطُ المُهَنْدِسُونَ لِكَيْ تَكُونَ المُدُنُ صَالِحَةً لِلْعَيْشِ.</a:t>
            </a:r>
            <a:endParaRPr lang="ar-SA" sz="200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engineers plan so that cities are liveable.</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distinguishes Dubai?</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unique mix of heritage and modern architecture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skyscrapers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old houses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تَتَمَيَّزُ مَدِينَةُ دُبَيَّ بِمَزِيجٍ فَرِيدٍ مِنَ العِمَارَةِ التُّرَاثِيَّةِ وَالمِعْمَارِ الحَدِيثِ.</a:t>
            </a:r>
            <a:endParaRPr lang="ar-SA"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old part built from?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 and steel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Concrete only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Clay and wood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بُنِيَ الجُزْءُ القَدِيمُ مِنَ الطِّينِ وَالخَشَبِ.</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development authorities do with old industrial areas?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Demolish them entirely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them empty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Convert them into green spaces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تُحَوِّلُ مَنَاطِقَ صِنَاعِيَّةً قَدِيمَةً إِلَى مَسَاحَاتٍ خَضْرَاءَ.</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planning been more sustainable, cities would be less crowded</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Planning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Cities cannot be planned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لَوْ كَانَ التَّخْطِيطُ أَكْثَرَ اسْتِدَامَةً … لَكَانَتِ المُدُنُ أَقَلَّ اكْتِظَاظًا.</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engineers plan for?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make cities bigger only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that cities become liveable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يُخَطِّطُ المُهَنْدِسُونَ لِكَيْ تَكُونَ المُدُنُ صَالِحَةً لِلْعَيْشِ.</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1–3 — listen for </a:t>
            </a:r>
            <a:pPr algn="l" indent="0" marL="0">
              <a:buNone/>
            </a:pPr>
            <a:r>
              <a:rPr lang="ar-SA" altLang="en-US" sz="1650" dirty="0">
                <a:solidFill>
                  <a:srgbClr val="1E6B52"/>
                </a:solidFill>
                <a:latin typeface="Amiri" pitchFamily="2" charset="-78"/>
                <a:ea typeface="Amiri" pitchFamily="2" charset="-78"/>
                <a:cs typeface="Amiri" pitchFamily="2" charset="-78"/>
              </a:rPr>
              <a:t>دُبَيَّ</a:t>
            </a:r>
            <a:pPr algn="l" indent="0" marL="0">
              <a:buNone/>
            </a:pPr>
            <a:r>
              <a:rPr lang="en-US" sz="1250" dirty="0">
                <a:solidFill>
                  <a:srgbClr val="1E6B52"/>
                </a:solidFill>
                <a:latin typeface="Calibri" pitchFamily="34" charset="0"/>
                <a:cs typeface="Amiri" pitchFamily="2" charset="-78"/>
              </a:rPr>
              <a:t> (Dubai), </a:t>
            </a:r>
            <a:pPr algn="l" indent="0" marL="0">
              <a:buNone/>
            </a:pPr>
            <a:r>
              <a:rPr lang="ar-SA" altLang="en-US" sz="1650" dirty="0">
                <a:solidFill>
                  <a:srgbClr val="1E6B52"/>
                </a:solidFill>
                <a:latin typeface="Amiri" pitchFamily="2" charset="-78"/>
                <a:ea typeface="Amiri" pitchFamily="2" charset="-78"/>
                <a:cs typeface="Amiri" pitchFamily="2" charset="-78"/>
              </a:rPr>
              <a:t>الطِّينِ وَالخَشَبِ</a:t>
            </a:r>
            <a:pPr algn="l" indent="0" marL="0">
              <a:buNone/>
            </a:pPr>
            <a:r>
              <a:rPr lang="en-US" sz="1250" dirty="0">
                <a:solidFill>
                  <a:srgbClr val="1E6B52"/>
                </a:solidFill>
                <a:latin typeface="Calibri" pitchFamily="34" charset="0"/>
                <a:cs typeface="Amiri" pitchFamily="2" charset="-78"/>
              </a:rPr>
              <a:t> (clay and wood) and </a:t>
            </a:r>
            <a:pPr algn="l" indent="0" marL="0">
              <a:buNone/>
            </a:pPr>
            <a:r>
              <a:rPr lang="ar-SA" altLang="en-US" sz="1650" dirty="0">
                <a:solidFill>
                  <a:srgbClr val="1E6B52"/>
                </a:solidFill>
                <a:latin typeface="Amiri" pitchFamily="2" charset="-78"/>
                <a:ea typeface="Amiri" pitchFamily="2" charset="-78"/>
                <a:cs typeface="Amiri" pitchFamily="2" charset="-78"/>
              </a:rPr>
              <a:t>مَسَاحَاتٍ خَضْرَاءَ</a:t>
            </a:r>
            <a:pPr algn="l" indent="0" marL="0">
              <a:buNone/>
            </a:pPr>
            <a:r>
              <a:rPr lang="en-US" sz="1250" dirty="0">
                <a:solidFill>
                  <a:srgbClr val="1E6B52"/>
                </a:solidFill>
                <a:latin typeface="Calibri" pitchFamily="34" charset="0"/>
                <a:cs typeface="Amiri" pitchFamily="2" charset="-78"/>
              </a:rPr>
              <a:t> (green spaces).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analyse a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يُوجَدُ فِي مَدِينَتِكَ؟ وَأَيْنَ؟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مَدِينَةً مُسْتَعْمِلًا مَبْنِيٌّ مِنْ وَيَتَمَيَّزُ بِـ.</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الَّذِي يُجَدَّدُ أَوْ يُعَادُ تَصْمِيمُهُ فِيهَا؟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الهَدَفُ العُمْرَانِيُّ؟ اِسْتَعْمِلْ لِكَيْ + مَنْصُوبًا.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يُوجَدُ / تُوجَدُ ___ بِجَانِبِ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مَدِينَتِي أَكْبَرُ مِنْ ___ ، لٰكِنْ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يُعَادُ تَصْمِيمُ ___ لِكَيْ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مَدِينَتِهِ / مَدِينَتِهَا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مَدِينَةً.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city.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تَتَمَيَّزُ المَدِينَةُ بِمَزِيجٍ مِنَ القَدِيمِ وَالحَدِيثِ، وَأَحْيَاؤُهَا القَدِيمَةُ مَبْنِيَّةٌ مِنَ الحَجَرِ.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Material and feature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your town: what there is, what is missing, where one place is and one comparison.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frames and word bank on the next slide: two things there are, one thing missing, one “where” and one comparison.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Judge the services in your area and describe one building with </a:t>
            </a:r>
            <a:pPr algn="l" indent="0" marL="0">
              <a:buNone/>
            </a:pPr>
            <a:r>
              <a:rPr lang="ar-SA" altLang="en-US" sz="1800" b="1" dirty="0">
                <a:solidFill>
                  <a:srgbClr val="1F2A37"/>
                </a:solidFill>
                <a:latin typeface="Amiri" pitchFamily="2" charset="-78"/>
                <a:ea typeface="Amiri" pitchFamily="2" charset="-78"/>
                <a:cs typeface="Amiri" pitchFamily="2" charset="-78"/>
              </a:rPr>
              <a:t>مَبْنِيٌّ مِنْ</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Judge the services (good / crowded / missing), add one building material with مِنْ and one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Type 2 counterfactual and a </a:t>
            </a:r>
            <a:pPr algn="l" indent="0" marL="0">
              <a:buNone/>
            </a:pPr>
            <a:r>
              <a:rPr lang="ar-SA" altLang="en-US" sz="1800" b="1" dirty="0">
                <a:solidFill>
                  <a:srgbClr val="1F2A37"/>
                </a:solidFill>
                <a:latin typeface="Amiri" pitchFamily="2" charset="-78"/>
                <a:ea typeface="Amiri" pitchFamily="2" charset="-78"/>
                <a:cs typeface="Amiri" pitchFamily="2" charset="-78"/>
              </a:rPr>
              <a:t>لِكَي</a:t>
            </a:r>
            <a:pPr algn="l" indent="0" marL="0">
              <a:buNone/>
            </a:pPr>
            <a:r>
              <a:rPr lang="en-US" sz="1400" b="1" dirty="0">
                <a:solidFill>
                  <a:srgbClr val="1F2A37"/>
                </a:solidFill>
                <a:latin typeface="Calibri" pitchFamily="34" charset="0"/>
                <a:cs typeface="Amiri" pitchFamily="2" charset="-78"/>
              </a:rPr>
              <a:t> goal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writing task: analyse a city or project;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الخَدَمَاتُ جَيِّدَةٌ، لٰكِنَّ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services are good, but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مُزْدَحِمٌ دَائِمًا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always crowded.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الحَيُّ القَدِيمُ مَبْنِيٌّ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old district is built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تَتَمَيَّزُ مَدِينَتِي بِـ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town is known for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نَحْتَاجُ إِلَى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we need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مَدِينَتِي يُوجَدُ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town there is (m.)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تُوجَدُ ______ بِجَانِبِ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(f.) … next to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يُوجَدُ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no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مُقَابِلَ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is opposite the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مَدِينَتِي أَكْبَرُ مِنْ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town is bigger than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مُسْتَشْفًى  ·  بَنْكٌ  ·  مَكْتَبَةٌ  ·  مَقْهًى  ·  مَتْحَفٌ  ·  مَسْبَحٌ  ·  مَحَطَّةُ القِطَارِ  ·  السَّاحَةِ  ·  القَرْيَةِ  ·  الحَجَرِ  ·  مَسَاحَاتٍ خَضْرَاءَ  ·  هَادِئٌ</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one hundred to one hundred and ten words analysing a city or urban project. Use </a:t>
            </a:r>
            <a:pPr algn="l" indent="0" marL="0">
              <a:buNone/>
            </a:pPr>
            <a:r>
              <a:rPr lang="ar-SA" altLang="en-US" sz="1750" b="1" dirty="0">
                <a:solidFill>
                  <a:srgbClr val="1F2A37"/>
                </a:solidFill>
                <a:latin typeface="Amiri" pitchFamily="2" charset="-78"/>
                <a:ea typeface="Amiri" pitchFamily="2" charset="-78"/>
                <a:cs typeface="Amiri" pitchFamily="2" charset="-78"/>
              </a:rPr>
              <a:t>مَبْنِيٌّ مِنْ</a:t>
            </a:r>
            <a:pPr algn="l" indent="0" marL="0">
              <a:buNone/>
            </a:pPr>
            <a:r>
              <a:rPr lang="en-US" sz="1350" b="1" dirty="0">
                <a:solidFill>
                  <a:srgbClr val="1F2A37"/>
                </a:solidFill>
                <a:latin typeface="Calibri" pitchFamily="34" charset="0"/>
                <a:cs typeface="Amiri" pitchFamily="2" charset="-78"/>
              </a:rPr>
              <a:t>, a planning verb, the urban passive, both conditional types and a </a:t>
            </a:r>
            <a:pPr algn="l" indent="0" marL="0">
              <a:buNone/>
            </a:pPr>
            <a:r>
              <a:rPr lang="ar-SA" altLang="en-US" sz="1750" b="1" dirty="0">
                <a:solidFill>
                  <a:srgbClr val="1F2A37"/>
                </a:solidFill>
                <a:latin typeface="Amiri" pitchFamily="2" charset="-78"/>
                <a:ea typeface="Amiri" pitchFamily="2" charset="-78"/>
                <a:cs typeface="Amiri" pitchFamily="2" charset="-78"/>
              </a:rPr>
              <a:t>لِكَي</a:t>
            </a:r>
            <a:pPr algn="l" indent="0" marL="0">
              <a:buNone/>
            </a:pPr>
            <a:r>
              <a:rPr lang="en-US" sz="1350" b="1" dirty="0">
                <a:solidFill>
                  <a:srgbClr val="1F2A37"/>
                </a:solidFill>
                <a:latin typeface="Calibri" pitchFamily="34" charset="0"/>
                <a:cs typeface="Amiri" pitchFamily="2" charset="-78"/>
              </a:rPr>
              <a:t> goal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مَبْنِيٌّ مِنْ</a:t>
            </a:r>
            <a:pPr algn="l" indent="0" marL="0">
              <a:buNone/>
            </a:pPr>
            <a:r>
              <a:rPr lang="en-US" sz="1200" dirty="0">
                <a:solidFill>
                  <a:srgbClr val="1F2A37"/>
                </a:solidFill>
                <a:latin typeface="Calibri" pitchFamily="34" charset="0"/>
                <a:cs typeface="Amiri" pitchFamily="2" charset="-78"/>
              </a:rPr>
              <a:t> and a planning verb (</a:t>
            </a:r>
            <a:pPr algn="l" indent="0" marL="0">
              <a:buNone/>
            </a:pPr>
            <a:r>
              <a:rPr lang="ar-SA" altLang="en-US" sz="1550" dirty="0">
                <a:solidFill>
                  <a:srgbClr val="1F2A37"/>
                </a:solidFill>
                <a:latin typeface="Amiri" pitchFamily="2" charset="-78"/>
                <a:ea typeface="Amiri" pitchFamily="2" charset="-78"/>
                <a:cs typeface="Amiri" pitchFamily="2" charset="-78"/>
              </a:rPr>
              <a:t>يُعِيدُ تَصْمِيمَ / يُجَدِّدُ / يُحَوِّلُ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urban passive with a nominative subject.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challenge and a Type 2 counterfactual.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a:t>
            </a:r>
            <a:pPr algn="l" indent="0" marL="0">
              <a:buNone/>
            </a:pPr>
            <a:r>
              <a:rPr lang="ar-SA" altLang="en-US" sz="1550" dirty="0">
                <a:solidFill>
                  <a:srgbClr val="1F2A37"/>
                </a:solidFill>
                <a:latin typeface="Amiri" pitchFamily="2" charset="-78"/>
                <a:ea typeface="Amiri" pitchFamily="2" charset="-78"/>
                <a:cs typeface="Amiri" pitchFamily="2" charset="-78"/>
              </a:rPr>
              <a:t>لِكَي</a:t>
            </a:r>
            <a:pPr algn="l" indent="0" marL="0">
              <a:buNone/>
            </a:pPr>
            <a:r>
              <a:rPr lang="en-US" sz="1200" dirty="0">
                <a:solidFill>
                  <a:srgbClr val="1F2A37"/>
                </a:solidFill>
                <a:latin typeface="Calibri" pitchFamily="34" charset="0"/>
                <a:cs typeface="Amiri" pitchFamily="2" charset="-78"/>
              </a:rPr>
              <a:t> goal clause with the subjunctive fatḥa.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تَتَمَيَّزُ مَدِينَةُ … بِـ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distinguished by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بُنِيَ الجُزْءُ القَدِيمُ مِنَ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old part was built of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تُحَوِّلُ … إِلَى مَسَاحَاتٍ خَضْرَاءَ</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turns … into green spaces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وَاصَلَتِ المُدُنُ التَّوَسُّعَ، سَـ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cities keep growing,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وَلَوْ كَانَ التَّخْطِيطُ …، لَكَانَتِ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had planning been …, … would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لِكَيْ تَبْقَى صَالِحَةً لِلْعَيْشِ</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they stay liveable</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تَتَمَيَّزُ مَدِينَةُ دُبَيَّ بِمَزِيجٍ فَرِيدٍ مِنَ العِمَارَةِ التُّرَاثِيَّةِ وَالمِعْمَارِ الحَدِيثِ. بُنِيَ الجُزْءُ القَدِيمُ مِنَ الطِّينِ وَالخَشَبِ، فِي حِينِ أَنَّ نَاطِحَاتِ السَّحَابِ مَبْنِيَّةٌ مِنَ الزُّجَاجِ وَالصُّلْبِ. تُعِيدُ هَيْئَاتُ التَّطْوِيرِ تَصْمِيمَ أَحْيَاءٍ كَامِلَةٍ، وَيُحَوَّلُ كَثِيرٌ مِنَ المَنَاطِقِ الصِّنَاعِيَّةِ إِلَى مَسَاحَاتٍ خَضْرَاءَ. إِذَا وَاصَلَتِ المُدُنُ التَّوَسُّعَ دُونَ تَخْطِيطٍ كَافٍ، سَتُعَانِي مِنِ ازْدِحَامٍ مُرُورِيٍّ وَتَلَوُّثٍ ضَوْضَائِيٍّ. وَلَوْ كَانَ التَّخْطِيطُ أَكْثَرَ اسْتِدَامَةً مُنْذُ البِدَايَةِ، لَكَانَتِ المُدُنُ اليَوْمَ أَقَلَّ اكْتِظَاظًا. لِذٰلِكَ يُشِيرُ خُبَرَاءُ التَّخْطِيطِ إِلَى أَنَّ المُدُنَ تَحْتَاجُ إِلَى مَسَاحَاتٍ خَضْرَاءَ لِكَيْ تَبْقَى صَالِحَةً لِلْعَيْشِ.</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Dubai is known for a unique mix of heritage and modern architecture. The old part was built of clay and wood, while the skyscrapers are built of glass and steel. Development authorities redesign whole districts, and many industrial areas are turned into green spaces. If cities keep growing without enough planning, they will suffer from traffic congestion and noise pollution. Had planning been more sustainable from the start, cities would be less overcrowded today. So planning experts point out that cities need green spaces so that they stay liveable.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مَبْنِيَّةٌ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تُعِيدُ … تَصْمِيمَ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يُحَوَّلُ … إِلَى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لِكَيْ تَبْقَى</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places in a town: </a:t>
            </a:r>
            <a:pPr algn="l" indent="0" marL="0">
              <a:buNone/>
            </a:pPr>
            <a:r>
              <a:rPr lang="ar-SA" altLang="en-US" sz="1700" dirty="0">
                <a:solidFill>
                  <a:srgbClr val="1F2A37"/>
                </a:solidFill>
                <a:latin typeface="Amiri" pitchFamily="2" charset="-78"/>
                <a:ea typeface="Amiri" pitchFamily="2" charset="-78"/>
                <a:cs typeface="Amiri" pitchFamily="2" charset="-78"/>
              </a:rPr>
              <a:t>مُسْتَشْفًى، مَكْتَبَةٌ، مَقْهًى</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choose </a:t>
            </a:r>
            <a:pPr algn="l" indent="0" marL="0">
              <a:buNone/>
            </a:pPr>
            <a:r>
              <a:rPr lang="ar-SA" altLang="en-US" sz="1700" dirty="0">
                <a:solidFill>
                  <a:srgbClr val="1F2A37"/>
                </a:solidFill>
                <a:latin typeface="Amiri" pitchFamily="2" charset="-78"/>
                <a:ea typeface="Amiri" pitchFamily="2" charset="-78"/>
                <a:cs typeface="Amiri" pitchFamily="2" charset="-78"/>
              </a:rPr>
              <a:t>يُوجَدُ</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ea typeface="Amiri" pitchFamily="2" charset="-78"/>
                <a:cs typeface="Amiri" pitchFamily="2" charset="-78"/>
              </a:rPr>
              <a:t>تُوجَدُ</a:t>
            </a:r>
            <a:pPr algn="l" indent="0" marL="0">
              <a:buNone/>
            </a:pPr>
            <a:r>
              <a:rPr lang="en-US" sz="1300" dirty="0">
                <a:solidFill>
                  <a:srgbClr val="1F2A37"/>
                </a:solidFill>
                <a:latin typeface="Calibri" pitchFamily="34" charset="0"/>
                <a:cs typeface="Amiri" pitchFamily="2" charset="-78"/>
              </a:rPr>
              <a:t> and say where a place is (</a:t>
            </a:r>
            <a:pPr algn="l" indent="0" marL="0">
              <a:buNone/>
            </a:pPr>
            <a:r>
              <a:rPr lang="ar-SA" altLang="en-US" sz="1700" dirty="0">
                <a:solidFill>
                  <a:srgbClr val="1F2A37"/>
                </a:solidFill>
                <a:latin typeface="Amiri" pitchFamily="2" charset="-78"/>
                <a:ea typeface="Amiri" pitchFamily="2" charset="-78"/>
                <a:cs typeface="Amiri" pitchFamily="2" charset="-78"/>
              </a:rPr>
              <a:t>بِجَانِبِ، مُقَابِلَ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compare and judge services: </a:t>
            </a:r>
            <a:pPr algn="l" indent="0" marL="0">
              <a:buNone/>
            </a:pPr>
            <a:r>
              <a:rPr lang="ar-SA" altLang="en-US" sz="1700" dirty="0">
                <a:solidFill>
                  <a:srgbClr val="1F2A37"/>
                </a:solidFill>
                <a:latin typeface="Amiri" pitchFamily="2" charset="-78"/>
                <a:ea typeface="Amiri" pitchFamily="2" charset="-78"/>
                <a:cs typeface="Amiri" pitchFamily="2" charset="-78"/>
              </a:rPr>
              <a:t>أَكْبَرُ مِنْ، مُزْدَحِمٌ، لَا يُوجَدُ</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say what a building is made of with </a:t>
            </a:r>
            <a:pPr algn="l" indent="0" marL="0">
              <a:buNone/>
            </a:pPr>
            <a:r>
              <a:rPr lang="ar-SA" altLang="en-US" sz="1700" dirty="0">
                <a:solidFill>
                  <a:srgbClr val="1F2A37"/>
                </a:solidFill>
                <a:latin typeface="Amiri" pitchFamily="2" charset="-78"/>
                <a:ea typeface="Amiri" pitchFamily="2" charset="-78"/>
                <a:cs typeface="Amiri" pitchFamily="2" charset="-78"/>
              </a:rPr>
              <a:t>مَبْنِيٌّ 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put a fatḥa on the verb after </a:t>
            </a:r>
            <a:pPr algn="l" indent="0" marL="0">
              <a:buNone/>
            </a:pPr>
            <a:r>
              <a:rPr lang="ar-SA" altLang="en-US" sz="1700" dirty="0">
                <a:solidFill>
                  <a:srgbClr val="1F2A37"/>
                </a:solidFill>
                <a:latin typeface="Amiri" pitchFamily="2" charset="-78"/>
                <a:ea typeface="Amiri" pitchFamily="2" charset="-78"/>
                <a:cs typeface="Amiri" pitchFamily="2" charset="-78"/>
              </a:rPr>
              <a:t>لِكَي</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تَكُونَ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لَا ___ مَسْبَحٌ فِي حَيِّي.</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يُوجَدُونَ</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hospital is opposite the bank”?</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المُسْتَشْفَى بِجَانِبِ البَنْكِ.</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المُسْتَشْفَى مُقَابِلَ البَنْكِ.</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المُسْتَشْفَى خَلْفَ البَنْكِ.</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نَاطِحَاتُ السَّحَابِ مَبْنِيَّةٌ ___ الزُّجَاجِ.</a:t>
            </a:r>
            <a:endParaRPr lang="ar-SA" sz="10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لَا ___ مَسْبَحٌ فِي حَيِّي.</a:t>
            </a:r>
            <a:endParaRPr lang="ar-SA" sz="15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يُوجَدُ</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تُوجَدُ</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يُوجَدُونَ</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مَسْبَحٌ</a:t>
            </a:r>
            <a:pPr algn="l" indent="0" marL="0">
              <a:buNone/>
            </a:pPr>
            <a:r>
              <a:rPr lang="en-US" sz="1050" i="1" dirty="0">
                <a:solidFill>
                  <a:srgbClr val="8A6D1E"/>
                </a:solidFill>
                <a:latin typeface="Calibri" pitchFamily="34" charset="0"/>
                <a:cs typeface="Amiri" pitchFamily="2" charset="-78"/>
              </a:rPr>
              <a:t> is masculine (no </a:t>
            </a:r>
            <a:pPr algn="l" indent="0" marL="0">
              <a:buNone/>
            </a:pPr>
            <a:r>
              <a:rPr lang="ar-SA" altLang="en-US" sz="1350" dirty="0">
                <a:solidFill>
                  <a:srgbClr val="8A6D1E"/>
                </a:solidFill>
                <a:latin typeface="Amiri" pitchFamily="2" charset="-78"/>
                <a:ea typeface="Amiri" pitchFamily="2" charset="-78"/>
                <a:cs typeface="Amiri" pitchFamily="2" charset="-78"/>
              </a:rPr>
              <a:t>ـة</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يُوجَدُ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hospital is opposite the bank”?</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المُسْتَشْفَى بِجَانِبِ البَنْكِ.</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المُسْتَشْفَى مُقَابِلَ البَنْكِ.</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المُسْتَشْفَى خَلْفَ البَنْكِ.</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مُقَابِلَ</a:t>
            </a:r>
            <a:pPr algn="l" indent="0" marL="0">
              <a:buNone/>
            </a:pPr>
            <a:r>
              <a:rPr lang="en-US" sz="1050" i="1" dirty="0">
                <a:solidFill>
                  <a:srgbClr val="8A6D1E"/>
                </a:solidFill>
                <a:latin typeface="Calibri" pitchFamily="34" charset="0"/>
                <a:cs typeface="Amiri" pitchFamily="2" charset="-78"/>
              </a:rPr>
              <a:t> = opposite (website game).</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نَاطِحَاتُ السَّحَابِ مَبْنِيَّةٌ ___ الزُّجَاجِ.</a:t>
            </a:r>
            <a:endParaRPr lang="ar-SA" sz="10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مَبْنِيٌّ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Reading: heritage and the modern city</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تُوَاجِهُ المُدُنُ العَرَبِيَّةُ تَحَدِّيًا بَيْنَ الحِفَاظِ عَلَى تُرَاثِهَا وَبِنَاءِ مُسْتَقْبَلِهَا. فَالأَحْيَاءُ القَدِيمَةُ مَبْنِيَّةٌ مِنَ الحَجَرِ وَالطِّينِ، وَتَحْمِلُ ذَاكِرَةَ أَجْيَالٍ. وَتُجَدِّدُ بَعْضُ المَشَارِيعِ هٰذِهِ الأَحْيَاءَ وَتُعِيدُ تَصْمِيمَهَا دُونَ أَنْ تَمْحُوَ طَابِعَهَا. وَيُبْنَى فِي المُقَابِلِ مُدُنٌ ذَكِيَّةٌ جَدِيدَةٌ عَلَى أَحْدَثِ المَعَايِيرِ. إِذَا وَازَنَتِ الحُكُومَاتُ بَيْنَ القَدِيمِ وَالجَدِيدِ، سَتَحْفَظُ هُوِيَّتَهَا وَتُوَاكِبُ العَصْرَ مَعًا. وَلَوِ اهْتَمَّتْ بِالمَسَاحَاتِ الخَضْرَاءِ مُبَكِّرًا، لَكَانَتِ المُدُنُ أَجْمَلَ وَأَصَحَّ. لِذٰلِكَ يُشِيرُ الخُبَرَاءُ إِلَى أَنَّ المُدُنَ تَحْتَاجُ إِلَى مَسَاحَاتٍ خَضْرَاءَ لِكَيْ تَبْقَى صَالِحَةً لِلْعَيْشِ.</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تُوَاجِهُ</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faces</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تَحَدِّيًا</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challenge</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الحِفَاظِ عَلَى</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preserving</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تُرَاثِهَا</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heritage</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ذَاكِرَةَ أَجْيَالٍ</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memory of generations</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تَمْحُوَ</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erase</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طَابِعَهَا</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character</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المَعَايِيرِ</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standards</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وَازَنَتْ</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balanced</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هُوِيَّتَهَا</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identity</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أَصَحَّ</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healthier</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challenge do Arab cities face?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building skyscrapers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Preserving heritage while building the future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preserving ruins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old districts built from?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 and steel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 and clay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projects do with old districts?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Renovate and redesign them without erasing their character</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Demolish them</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them</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 spaces make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Had cities cared about green spaces early, they would be more beautiful and healthier</a:t>
            </a:r>
            <a:endParaRPr lang="en-US" sz="11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Cities cannot have green spaces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cities need green spaces, per the experts?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they remain liveable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decoration only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no reason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challenge do Arab cities face?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building skyscrapers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Preserving heritage while building the future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preserving ruins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تَحَدِّيًا بَيْنَ الحِفَاظِ عَلَى تُرَاثِهَا وَبِنَاءِ مُسْتَقْبَلِهَا.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old districts built from?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 and steel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Plastic</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Stone and clay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الأَحْيَاءُ القَدِيمَةُ مَبْنِيَّةٌ مِنَ الحَجَرِ وَالطِّينِ.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projects do with old districts?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Renovate and redesign them without erasing their character</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Demolish them</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them</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تُجَدِّدُ … هٰذِهِ الأَحْيَاءَ وَتُعِيدُ تَصْمِيمَهَا دُونَ أَنْ تَمْحُوَ طَابِعَهَا.</a:t>
            </a:r>
            <a:endParaRPr lang="ar-SA" sz="12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Green spaces make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Had cities cared about green spaces early, they would be more beautiful and healthier</a:t>
            </a:r>
            <a:endParaRPr lang="en-US" sz="11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Cities cannot have green spaces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لَوِ اهْتَمَّتْ بِالمَسَاحَاتِ الخَضْرَاءِ مُبَكِّرًا، لَكَانَتِ المُدُنُ أَجْمَلَ وَأَصَحَّ.</a:t>
            </a:r>
            <a:endParaRPr lang="ar-SA" sz="11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cities need green spaces, per the experts?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that they remain liveable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decoration only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no reason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تَحْتَاجُ إِلَى مَسَاحَاتٍ خَضْرَاءَ لِكَيْ تَبْقَى صَالِحَةً لِلْعَيْشِ.</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Buildings &amp; Services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TC-L09 · Shopping, Prices and Consumer Choices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سُوقٌ</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market</a:t>
            </a:r>
            <a:pPr indent="0" marL="0">
              <a:buNone/>
            </a:pPr>
            <a:r>
              <a:rPr lang="ar-SA" sz="1000" i="1" dirty="0">
                <a:solidFill>
                  <a:srgbClr val="5A6472"/>
                </a:solidFill>
                <a:latin typeface="Calibri" pitchFamily="34" charset="0"/>
                <a:ea typeface="Amiri" pitchFamily="2" charset="-78"/>
                <a:cs typeface="Amiri" pitchFamily="2" charset="-78"/>
              </a:rPr>
              <a:t>  pl. أَسْوَاقٌ</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ثَمَنٌ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price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رَخِيصٌ</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cheap</a:t>
            </a:r>
            <a:pPr indent="0" marL="0">
              <a:buNone/>
            </a:pPr>
            <a:r>
              <a:rPr lang="ar-SA" sz="1000" i="1" dirty="0">
                <a:solidFill>
                  <a:srgbClr val="5A6472"/>
                </a:solidFill>
                <a:latin typeface="Calibri" pitchFamily="34" charset="0"/>
                <a:ea typeface="Amiri" pitchFamily="2" charset="-78"/>
                <a:cs typeface="Amiri" pitchFamily="2" charset="-78"/>
              </a:rPr>
              <a:t>  f. رَخِيصَةٌ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expensive</a:t>
            </a:r>
            <a:pPr indent="0" marL="0">
              <a:buNone/>
            </a:pPr>
            <a:r>
              <a:rPr lang="ar-SA" sz="1000" i="1" dirty="0">
                <a:solidFill>
                  <a:srgbClr val="5A6472"/>
                </a:solidFill>
                <a:latin typeface="Calibri" pitchFamily="34" charset="0"/>
                <a:ea typeface="Amiri" pitchFamily="2" charset="-78"/>
                <a:cs typeface="Amiri" pitchFamily="2" charset="-78"/>
              </a:rPr>
              <a:t>  f. غَالِيَةٌ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خَصْمٌ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discount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what do you like to buy, and where?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تُحِبُّ أَنْ تَشْتَرِيَ؟ وَمِنْ أَيْنَ؟</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TC-L08 · play “Town Map”,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Draw a simple map of your street and write 5 sentences with </a:t>
            </a:r>
            <a:pPr algn="l" indent="0" marL="0">
              <a:buNone/>
            </a:pPr>
            <a:r>
              <a:rPr lang="ar-SA" altLang="en-US" sz="1550" dirty="0">
                <a:solidFill>
                  <a:srgbClr val="1F2A37"/>
                </a:solidFill>
                <a:latin typeface="Amiri" pitchFamily="2" charset="-78"/>
                <a:ea typeface="Amiri" pitchFamily="2" charset="-78"/>
                <a:cs typeface="Amiri" pitchFamily="2" charset="-78"/>
              </a:rPr>
              <a:t>يُوجَدُ / تُوجَدُ</a:t>
            </a:r>
            <a:pPr algn="l" indent="0" marL="0">
              <a:buNone/>
            </a:pPr>
            <a:r>
              <a:rPr lang="en-US" sz="1200" dirty="0">
                <a:solidFill>
                  <a:srgbClr val="1F2A37"/>
                </a:solidFill>
                <a:latin typeface="Calibri" pitchFamily="34" charset="0"/>
                <a:cs typeface="Amiri" pitchFamily="2" charset="-78"/>
              </a:rPr>
              <a:t> and a place word.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TC-L08 · “Urban Mission” (14 rounds) and the reading “Heritage and the modern city”.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TC-L09 · Shopping, Prices and Consumer Choices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التَّسَوُّقُ وَالأَسْعَارُ وَخِيَارَاتُ المُسْتَهْلِكِ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TC-L08 · Buildings, Services and Urban Areas</dc:title>
  <dc:subject>PptxGenJS Presentation</dc:subject>
  <dc:creator>Al Madina Online School · Arabic Department</dc:creator>
  <cp:lastModifiedBy>Al Madina Online School · Arabic Department</cp:lastModifiedBy>
  <cp:revision>1</cp:revision>
  <dcterms:created xsi:type="dcterms:W3CDTF">2026-10-11T06:44:01Z</dcterms:created>
  <dcterms:modified xsi:type="dcterms:W3CDTF">2026-10-11T06:44:01Z</dcterms:modified>
</cp:coreProperties>
</file>