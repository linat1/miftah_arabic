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5 (TC-L05). The website lesson reuses D4-L04 (Environmental Solutions — What Can Be Done?) with the Topic C focus “Propose, justify and evaluate practical environmental action” (grammar: advice; subjunctive after أن/لكي; conditionals). The picture match is the website lesson game “Choose the Solution”; the “solution council” ranking task is the website’s advanced application challenge.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D4-L04 is B1 language. CORE: solution words + ONE pattern: يَنْبَغِي أَنْ / يَجِبُ أَنْ + a “we” verb whose last vowel changes to fatḥa (نُقَلِّلُ → نُقَلِّلَ). The three website game sentences are the Core models. DEVELOP: responsibility (يَجِبُ عَلَى الحُكُومَةِ أَنْ …) and purpose (لِكَيْ). STRETCH: the “five verbs” (أَنْ يُعِيدُوا) and a conditional (إِذَا … سَـ).
• A “before and after أَنْ” verb table with transliteration; picture match with icons; read-along listening with English.
• Urdu bridge words (ضروری، طاقت، حل، حکومت، ممکن).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(Flipped Learning follow-up). Questions 3–5 retrieve TC-L04 and TC-L03.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GO THROUGH THE ANSWERS (2 min). Reveal and ask “why?” for each (● 10s think → named student, warned in advance).
Key idea for today (bottom-right card): After أَنْ (and لِكَيْ) the verb’s last vowel changes to a fatḥa: نُقَلِّلُ → أَنْ نُقَلِّلَ.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general website objectives into this lesson’s concrete targets (website grammar rules 1–4 and the Topic C focus).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ضروری (necessary — مِنَ الضَّرُورِيِّ أَنْ), طاقت (power — الطَّاقَةُ الشَّمْسِيَّةُ), حل (solution — الحُلُولُ), حکومت (government), ممکن (possible — يُمْكِنُ أَنْ).
Groups 1–4 are the website D4-L04 vocabulary; Group 2 also adds الدَّرَّاجَةُ and نُطْفِئُ الأَضْوَاءَ from the website lesson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Environmental solutions (website D4-L04). Hear → Say → See → Use.
The small boxes break each phrase into two words with English. Links: الشَّمْسِيَّةُ = nisba of شَمْس (TC-L01 ending); الرِّيَاح (TC-L03); شَجَرَة (TC-L04 prep word) → التَّشْجِيرُ (planting trees).
Gesture: circular arrows for recycling; sun; blow; plant a seed; turn off a tap; bus steering wheel.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more solutions (website D4-L04 + website lesson game). Core: الدَّرَّاجَةُ and نُطْفِئُ الأَضْوَاءَ (both in the picture match). Develop / Stretch: all six.
Link: البِيئِيَّةُ = nisba of بِيئَة (TC-L02).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Action verbs (website D4-L04), all in the “we” form (نَـ / نُـ = we — the WHO letter from the verb code).
The third column shows the same verb after أَنْ or لِكَيْ: the last vowel changes from ḍamma to fatḥa (website rule: “A sound-ending present verb changes its final ḍamma to fatḥa after أَنْ: نُقَلِّلُ → نُقَلِّلَ. It does not ‘lose a nūn’.”).
Core: the four CORE rows — say both forms aloud: nu-qal-li-LU → an nu-qal-li-LA.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Advice, obligation and purpose (website D4-L04; مِنَ الأَفْضَلِ أَنْ from the website game; also on the website: عَلَى المَدَى الطَّوِيلِ = in the long term).
Every card ends in أَنْ or لِكَيْ — so the NEXT verb always takes a fatḥa. Core: cards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“Advice with يَنْبَغِي أَنْ”: يَنْبَغِي أَنْ + subjunctive present. A sound-ending present verb changes its final ḍamma to fatḥa after أَنْ.
Think aloud: “Three steps: the advice word, then WHO (نُـ = we), then the ending changes to a fatḥa because of أَنْ.”
Pink here marks the part of the verb whose ENDING changes — say the last syllable louder: nu-qal-li-LA.
Core rule for today: after أَنْ → end the verb with “-a”.
Misconception (website mistake): يَنْبَغِي أَنْ نُقَلِّلُ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the same ending after five advice words (2 min). Sentences: website grammar quiz, pattern, website game (rows 2 and 5, shortened in row 5).
Read each row; students repeat only the advice word + the pink verb, stressing the final “-a”.
Develop: in row 4 notice that نَسْتَخْدِمُ (before لِكَيْ) keeps its ḍamma — only the verb AFTER أَنْ / لِكَيْ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 “Obligation for a person or group”: يَجِبُ عَلَى + noun + أَنْ + subjunctive. Name the responsible person or group after عَلَى.
Sentences: website pattern (government), listening script (schools, families) and reading text (students).
The verb agrees with WHO: الحُكُومَة / المَدَارِس / الأُسَر → تَـ; الطُّلَّاب (people, plural) → يَفْصِلُوا (a “five verb”: the ن disappears — Stretch).
Topic C application “Solution council”: responsibility is the key to ranking solutions (individuals vs government).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website rule “The five verbs after أَنْ” (only the five verbs lose their final nūn: يُعِيدُونَ → أَنْ يُعِيدُوا; ordinary forms such as نُقَلِّلُ do not contain that nūn) + the Topic C “conditionals” focus (card 3 is teacher-made, recycling the TC-L02 Type 1 rule).
Website common error: “Do not say that every subjunctive verb “loses nūn”. Only the five verbs lose their nūn. A form such as نُقَلِّلَ is marked by final fatḥa.”
FLEX — Stretch focus. Develop may try card 3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“Study each structure in context, compare accurate and inaccurate forms, then apply it in meaningful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and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teacher models with a think-aloud; students watch, then COPY the proposal into their books.
Step 1 — “The problem: تَزْدَادُ النُّفَايَاتُ. لِذٰلِكَ = so.”
Step 2 — “Advice: يَنْبَغِي أَنْ + نُعِيدُ → نُعِيدَ.”
Step 3 — “Who? يَجِبُ عَلَى المَدْرَسَةِ أَنْ تَضَعَ حَاوِيَاتٍ — the school is ‘she’, so تَضَعَ.”
Step 4 — “Why? لِكَيْ نُقَلِّلَ النُّفَايَاتِ.”
Built from website language: mission (تَزْدَادُ النُّفَايَاتُ، لِذٰلِكَ يَجِبُ أَنْ نُعِيدَ التَّدْوِيرَ), speaking model (يَجِبُ عَلَى المَدْرَسَةِ أَنْ تَضَعَ حَاوِيَاتٍ … لِكَيْ تُقَلِّلَ النُّفَايَاتِ).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MODEL SENTENCES (1 min) — website lesson game and patterns. Students copy TWO that are useful for them.
• Core: copy 1 and 2 and change the solution. • Develop: copy 3 with a different group (المَدَارِسُ، الأُسَرُ). • Stretch: copy 4 and add a limitation (لٰكِنَّ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(“Choose the Solution”)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نُعِيدَ تَدْوِيرَ (recycle), الدَّرَّاجَةَ … السَّيَّارَةِ (bicycle … car), الأَضْوَاءَ (lights). All three use أَنْ + a verb with fatḥa: find them (Develop).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(“Choose the Solution”)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نُعِيدَ تَدْوِيرَ (recycle), الدَّرَّاجَةَ … السَّيَّارَةِ (bicycle … car), الأَضْوَاءَ (lights). All three use أَنْ + a verb with fatḥa: find them (Develop).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sentence builder (3 min). Teacher-made from website sentences (pattern, quiz, final check).
Students choose ONE box per column (start from Column 1 on the right) and type the letters, e.g. “1: A B A”. ↔ Rehearse 30s first.
Core: sentence 1. Develop: sentences 2–3. Stretch: explain every wrong option.
Website “Advanced application — Solution council”: after the builder, groups rank three solutions to one problem in the chat and defend the top choice with a reason (يَجِبُ عَلَى … لِأَنَّ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sentence builder (3 min). Teacher-made from website sentences (pattern, quiz, final check).
Students choose ONE box per column (start from Column 1 on the right) and type the letters, e.g. “1: A B A”. ↔ Rehearse 30s first.
Core: sentence 1. Develop: sentences 2–3. Stretch: explain every wrong option.
Website “Advanced application — Solution council”: after the builder, groups rank three solutions to one problem in the chat and defend the top choice with a reason (يَجِبُ عَلَى … لِأَنَّ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(FLEX, 2 min). Clue for Core: a tile starting with نَـ / نُـ is a “we” action verb; a tile ending in أَنْ is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(FLEX, 2 min). Clue for Core: a tile starting with نَـ / نُـ is a “we” action verb; a tile ending in أَنْ is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5, 7, 8 (Stretch)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4. Develop / Stretch: all 6.
Listen 1: just listen. Listen 2: note answers. Then chat the letters.
Support: after the second listening, show the read-along slide (Arabic + English, line by line) for Core students.
SCRIPT (read aloud):
هُنَاكَ حُلُولٌ عَمَلِيَّةٌ لِحِمَايَةِ البِيئَةِ. يَنْبَغِي أَنْ نُقَلِّلَ اسْتِخْدَامَ البِلَاسْتِيكِ، وَيَجِبُ عَلَى المَدَارِسِ أَنْ تُعِيدَ تَدْوِيرَ الوَرَقِ. كَمَا يَجِبُ عَلَى الحُكُومَاتِ أَنْ تَسْتَثْمِرَ فِي الطَّاقَةِ الشَّمْسِيَّةِ وَطَاقَةِ الرِّيَاحِ. وَيُمْكِنُ لِلأُسَرِ أَنْ تُرَشِّدَ المَاءَ لِكَيْ تَحْمِيَ المَوَارِدَ الطَّبِيعِيَّةَ.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it is the preparation question): “What can you do to protect the environment?” — answered with the Core stem, e.g. يَنْبَغِي أَنْ نُوَفِّرَ المَاءَ.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120–140 Arabic words proposing solutions to one environmental problem.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يَنْبَغِي أَنْ نُقَلِّلَ · يَجِبُ عَلَى الطُّلَّابِ أَنْ يُعِيدُوا (a five verb!) · لِكَيْ نُقَلِّلَ · فِي رَأْيِي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(TC-L06 · The Digital World and Communication) will spend class time USING this language, so students prepare it tonight — short, simple, easy to access (school guidance: “Simple, Short, Interesting, Relevant, Easy to access”). The five words come from the website D4-L05 vocabulary and the website lesson game “Digital Life”.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C  ·  TC-L05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TC-L05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Environmental Solutions and Responsibility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الحُلُولُ البِيئِيَّةُ وَالمَسْؤُولِيَّةُ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Propose, justify and evaluate practical environmental action: give advice (</a:t>
            </a:r>
            <a:pPr algn="l" indent="0" marL="0">
              <a:buNone/>
            </a:pPr>
            <a:r>
              <a:rPr lang="ar-SA" altLang="en-US" sz="1800" dirty="0">
                <a:solidFill>
                  <a:srgbClr val="C6D2E6"/>
                </a:solidFill>
                <a:latin typeface="Amiri" pitchFamily="2" charset="-78"/>
                <a:ea typeface="Amiri" pitchFamily="2" charset="-78"/>
                <a:cs typeface="Amiri" pitchFamily="2" charset="-78"/>
              </a:rPr>
              <a:t>يَنْبَغِي أَنْ نُقَلِّلَ</a:t>
            </a:r>
            <a:pPr algn="l" indent="0" marL="0">
              <a:buNone/>
            </a:pPr>
            <a:r>
              <a:rPr lang="en-US" sz="1400" dirty="0">
                <a:solidFill>
                  <a:srgbClr val="C6D2E6"/>
                </a:solidFill>
                <a:latin typeface="Calibri" pitchFamily="34" charset="0"/>
                <a:cs typeface="Amiri" pitchFamily="2" charset="-78"/>
              </a:rPr>
              <a:t>), say who is responsible (</a:t>
            </a:r>
            <a:pPr algn="l" indent="0" marL="0">
              <a:buNone/>
            </a:pPr>
            <a:r>
              <a:rPr lang="ar-SA" altLang="en-US" sz="1800" dirty="0">
                <a:solidFill>
                  <a:srgbClr val="C6D2E6"/>
                </a:solidFill>
                <a:latin typeface="Amiri" pitchFamily="2" charset="-78"/>
                <a:ea typeface="Amiri" pitchFamily="2" charset="-78"/>
                <a:cs typeface="Amiri" pitchFamily="2" charset="-78"/>
              </a:rPr>
              <a:t>يَجِبُ عَلَى الحُكُومَةِ أَنْ</a:t>
            </a:r>
            <a:pPr algn="l" indent="0" marL="0">
              <a:buNone/>
            </a:pPr>
            <a:r>
              <a:rPr lang="en-US" sz="1400" dirty="0">
                <a:solidFill>
                  <a:srgbClr val="C6D2E6"/>
                </a:solidFill>
                <a:latin typeface="Calibri" pitchFamily="34" charset="0"/>
                <a:cs typeface="Amiri" pitchFamily="2" charset="-78"/>
              </a:rPr>
              <a:t> …) and explain the purpose (</a:t>
            </a:r>
            <a:pPr algn="l" indent="0" marL="0">
              <a:buNone/>
            </a:pPr>
            <a:r>
              <a:rPr lang="ar-SA" altLang="en-US" sz="1800" dirty="0">
                <a:solidFill>
                  <a:srgbClr val="C6D2E6"/>
                </a:solidFill>
                <a:latin typeface="Amiri" pitchFamily="2" charset="-78"/>
                <a:ea typeface="Amiri" pitchFamily="2" charset="-78"/>
                <a:cs typeface="Amiri" pitchFamily="2" charset="-78"/>
              </a:rPr>
              <a:t>لِكَيْ</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TC-L05 · Advanced Topic C</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C › TC-L05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Solution words, then advice, “must” and purpose.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build, rank solutions,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TC-L06.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“recycling”?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النَّقْلُ العَامُّ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إِعَادَةُ التَّدْوِيرِ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تَلَوُّثُ الهَوَاءِ</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نَزْرَعُ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plant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save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throw</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يُؤَدِّي التَّلَوُّثُ فِي أَمْرَاضٍ.</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يُؤَدِّي التَّلَوُّثُ بِأَمْرَاضٍ.</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يُؤَدِّي التَّلَوُّثُ إِلَى أَمْرَاضٍ.</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بِسَبَبِ النُّفَايَاتِ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leads to waste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without waste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of the waste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تَسْقُطُ الثُّلُوجُ فِي الشِّتَاءِ.</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يَسْقُطُ الثُّلُوجُ فِي الشِّتَاءِ.</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الثُّلُوجُ يَسْقُطَ فِي الشِّتَاءِ.</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“recycling”?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النَّقْلُ العَامُّ</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إِعَادَةُ التَّدْوِيرِ</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تَلَوُّثُ الهَوَاءِ</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ea typeface="Amiri" pitchFamily="2" charset="-78"/>
                <a:cs typeface="Amiri" pitchFamily="2" charset="-78"/>
              </a:rPr>
              <a:t>إِعَادَةُ التَّدْوِيرِ</a:t>
            </a:r>
            <a:pPr algn="l" indent="0" marL="0">
              <a:buNone/>
            </a:pPr>
            <a:r>
              <a:rPr lang="en-US" sz="1050" i="1" dirty="0">
                <a:solidFill>
                  <a:srgbClr val="8A6D1E"/>
                </a:solidFill>
                <a:latin typeface="Calibri" pitchFamily="34" charset="0"/>
                <a:cs typeface="Amiri" pitchFamily="2" charset="-78"/>
              </a:rPr>
              <a:t> = recycling · </a:t>
            </a:r>
            <a:pPr algn="l" indent="0" marL="0">
              <a:buNone/>
            </a:pPr>
            <a:r>
              <a:rPr lang="ar-SA" altLang="en-US" sz="1350" dirty="0">
                <a:solidFill>
                  <a:srgbClr val="8A6D1E"/>
                </a:solidFill>
                <a:latin typeface="Amiri" pitchFamily="2" charset="-78"/>
                <a:ea typeface="Amiri" pitchFamily="2" charset="-78"/>
                <a:cs typeface="Amiri" pitchFamily="2" charset="-78"/>
              </a:rPr>
              <a:t>النَّقْلُ العَامُّ</a:t>
            </a:r>
            <a:pPr algn="l" indent="0" marL="0">
              <a:buNone/>
            </a:pPr>
            <a:r>
              <a:rPr lang="en-US" sz="1050" i="1" dirty="0">
                <a:solidFill>
                  <a:srgbClr val="8A6D1E"/>
                </a:solidFill>
                <a:latin typeface="Calibri" pitchFamily="34" charset="0"/>
                <a:cs typeface="Amiri" pitchFamily="2" charset="-78"/>
              </a:rPr>
              <a:t> = public transport.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نَزْرَعُ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we plant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 save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 throw</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ea typeface="Amiri" pitchFamily="2" charset="-78"/>
                <a:cs typeface="Amiri" pitchFamily="2" charset="-78"/>
              </a:rPr>
              <a:t>نَزْرَعُ</a:t>
            </a:r>
            <a:pPr algn="l" indent="0" marL="0">
              <a:buNone/>
            </a:pPr>
            <a:r>
              <a:rPr lang="en-US" sz="1050" i="1" dirty="0">
                <a:solidFill>
                  <a:srgbClr val="8A6D1E"/>
                </a:solidFill>
                <a:latin typeface="Calibri" pitchFamily="34" charset="0"/>
                <a:cs typeface="Amiri" pitchFamily="2" charset="-78"/>
              </a:rPr>
              <a:t> = we plant · </a:t>
            </a:r>
            <a:pPr algn="l" indent="0" marL="0">
              <a:buNone/>
            </a:pPr>
            <a:r>
              <a:rPr lang="ar-SA" altLang="en-US" sz="1350" dirty="0">
                <a:solidFill>
                  <a:srgbClr val="8A6D1E"/>
                </a:solidFill>
                <a:latin typeface="Amiri" pitchFamily="2" charset="-78"/>
                <a:ea typeface="Amiri" pitchFamily="2" charset="-78"/>
                <a:cs typeface="Amiri" pitchFamily="2" charset="-78"/>
              </a:rPr>
              <a:t>نُوَفِّرُ</a:t>
            </a:r>
            <a:pPr algn="l" indent="0" marL="0">
              <a:buNone/>
            </a:pPr>
            <a:r>
              <a:rPr lang="en-US" sz="1050" i="1" dirty="0">
                <a:solidFill>
                  <a:srgbClr val="8A6D1E"/>
                </a:solidFill>
                <a:latin typeface="Calibri" pitchFamily="34" charset="0"/>
                <a:cs typeface="Amiri" pitchFamily="2" charset="-78"/>
              </a:rPr>
              <a:t> = we save.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يُؤَدِّي التَّلَوُّثُ فِي أَمْرَاضٍ.</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يُؤَدِّي التَّلَوُّثُ بِأَمْرَاضٍ.</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يُؤَدِّي التَّلَوُّثُ إِلَى أَمْرَاضٍ.</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TC-L04: always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 after </a:t>
            </a:r>
            <a:pPr algn="l" indent="0" marL="0">
              <a:buNone/>
            </a:pPr>
            <a:r>
              <a:rPr lang="ar-SA" altLang="en-US" sz="1350" dirty="0">
                <a:solidFill>
                  <a:srgbClr val="8A6D1E"/>
                </a:solidFill>
                <a:latin typeface="Amiri" pitchFamily="2" charset="-78"/>
                <a:ea typeface="Amiri" pitchFamily="2" charset="-78"/>
                <a:cs typeface="Amiri" pitchFamily="2" charset="-78"/>
              </a:rPr>
              <a:t>يُؤَدِّي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بِسَبَبِ النُّفَايَاتِ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leads to waste</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without waste</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because of the waste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TC-L04: </a:t>
            </a:r>
            <a:pPr algn="l" indent="0" marL="0">
              <a:buNone/>
            </a:pPr>
            <a:r>
              <a:rPr lang="ar-SA" altLang="en-US" sz="1350" dirty="0">
                <a:solidFill>
                  <a:srgbClr val="8A6D1E"/>
                </a:solidFill>
                <a:latin typeface="Amiri" pitchFamily="2" charset="-78"/>
                <a:ea typeface="Amiri" pitchFamily="2" charset="-78"/>
                <a:cs typeface="Amiri" pitchFamily="2" charset="-78"/>
              </a:rPr>
              <a:t>بِسَبَبِ</a:t>
            </a:r>
            <a:pPr algn="l" indent="0" marL="0">
              <a:buNone/>
            </a:pPr>
            <a:r>
              <a:rPr lang="en-US" sz="1050" i="1" dirty="0">
                <a:solidFill>
                  <a:srgbClr val="8A6D1E"/>
                </a:solidFill>
                <a:latin typeface="Calibri" pitchFamily="34" charset="0"/>
                <a:cs typeface="Amiri" pitchFamily="2" charset="-78"/>
              </a:rPr>
              <a:t> + noun = because of …</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تَسْقُطُ الثُّلُوجُ فِي الشِّتَاءِ.</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يَسْقُطُ الثُّلُوجُ فِي الشِّتَاءِ.</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الثُّلُوجُ يَسْقُطَ فِي الشِّتَاءِ.</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TC-L03: feminine weather word → </a:t>
            </a:r>
            <a:pPr algn="l" indent="0" marL="0">
              <a:buNone/>
            </a:pPr>
            <a:r>
              <a:rPr lang="ar-SA" altLang="en-US" sz="1350" dirty="0">
                <a:solidFill>
                  <a:srgbClr val="8A6D1E"/>
                </a:solidFill>
                <a:latin typeface="Amiri" pitchFamily="2" charset="-78"/>
                <a:ea typeface="Amiri" pitchFamily="2" charset="-78"/>
                <a:cs typeface="Amiri" pitchFamily="2" charset="-78"/>
              </a:rPr>
              <a:t>تَـ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After </a:t>
            </a:r>
            <a:pPr algn="l" indent="0" marL="0">
              <a:buNone/>
            </a:pPr>
            <a:r>
              <a:rPr lang="ar-SA" altLang="en-US" sz="1700" b="1" dirty="0">
                <a:solidFill>
                  <a:srgbClr val="1F2A37"/>
                </a:solidFill>
                <a:latin typeface="Amiri" pitchFamily="2" charset="-78"/>
                <a:ea typeface="Amiri" pitchFamily="2" charset="-78"/>
                <a:cs typeface="Amiri" pitchFamily="2" charset="-78"/>
              </a:rPr>
              <a:t>أَنْ</a:t>
            </a:r>
            <a:pPr algn="l" indent="0" marL="0">
              <a:buNone/>
            </a:pPr>
            <a:r>
              <a:rPr lang="en-US" sz="1300" b="1" dirty="0">
                <a:solidFill>
                  <a:srgbClr val="1F2A37"/>
                </a:solidFill>
                <a:latin typeface="Calibri" pitchFamily="34" charset="0"/>
                <a:cs typeface="Amiri" pitchFamily="2" charset="-78"/>
              </a:rPr>
              <a:t> (and </a:t>
            </a:r>
            <a:pPr algn="l" indent="0" marL="0">
              <a:buNone/>
            </a:pPr>
            <a:r>
              <a:rPr lang="ar-SA" altLang="en-US" sz="1700" b="1" dirty="0">
                <a:solidFill>
                  <a:srgbClr val="1F2A37"/>
                </a:solidFill>
                <a:latin typeface="Amiri" pitchFamily="2" charset="-78"/>
                <a:ea typeface="Amiri" pitchFamily="2" charset="-78"/>
                <a:cs typeface="Amiri" pitchFamily="2" charset="-78"/>
              </a:rPr>
              <a:t>لِكَيْ</a:t>
            </a:r>
            <a:pPr algn="l" indent="0" marL="0">
              <a:buNone/>
            </a:pPr>
            <a:r>
              <a:rPr lang="en-US" sz="1300" b="1" dirty="0">
                <a:solidFill>
                  <a:srgbClr val="1F2A37"/>
                </a:solidFill>
                <a:latin typeface="Calibri" pitchFamily="34" charset="0"/>
                <a:cs typeface="Amiri" pitchFamily="2" charset="-78"/>
              </a:rPr>
              <a:t>) the verb’s last vowel changes to a fatḥa: </a:t>
            </a:r>
            <a:pPr algn="l" indent="0" marL="0">
              <a:buNone/>
            </a:pPr>
            <a:r>
              <a:rPr lang="ar-SA" altLang="en-US" sz="1700" b="1" dirty="0">
                <a:solidFill>
                  <a:srgbClr val="1F2A37"/>
                </a:solidFill>
                <a:latin typeface="Amiri" pitchFamily="2" charset="-78"/>
                <a:ea typeface="Amiri" pitchFamily="2" charset="-78"/>
                <a:cs typeface="Amiri" pitchFamily="2" charset="-78"/>
              </a:rPr>
              <a:t>نُقَلِّلُ</a:t>
            </a:r>
            <a:pPr algn="l" indent="0" marL="0">
              <a:buNone/>
            </a:pPr>
            <a:r>
              <a:rPr lang="en-US" sz="1300" b="1" dirty="0">
                <a:solidFill>
                  <a:srgbClr val="1F2A37"/>
                </a:solidFill>
                <a:latin typeface="Calibri" pitchFamily="34" charset="0"/>
                <a:cs typeface="Amiri" pitchFamily="2" charset="-78"/>
              </a:rPr>
              <a:t> → </a:t>
            </a:r>
            <a:pPr algn="l" indent="0" marL="0">
              <a:buNone/>
            </a:pPr>
            <a:r>
              <a:rPr lang="ar-SA" altLang="en-US" sz="1700" b="1" dirty="0">
                <a:solidFill>
                  <a:srgbClr val="1F2A37"/>
                </a:solidFill>
                <a:latin typeface="Amiri" pitchFamily="2" charset="-78"/>
                <a:ea typeface="Amiri" pitchFamily="2" charset="-78"/>
                <a:cs typeface="Amiri" pitchFamily="2" charset="-78"/>
              </a:rPr>
              <a:t>أَنْ نُقَلِّلَ</a:t>
            </a:r>
            <a:pPr algn="l" indent="0" marL="0">
              <a:buNone/>
            </a:pPr>
            <a:r>
              <a:rPr lang="en-US" sz="1300" b="1" dirty="0">
                <a:solidFill>
                  <a:srgbClr val="1F2A37"/>
                </a:solidFill>
                <a:latin typeface="Calibri" pitchFamily="34" charset="0"/>
                <a:cs typeface="Amiri" pitchFamily="2" charset="-78"/>
              </a:rPr>
              <a: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نُقَلِّلُ  ←  يَنْبَغِي أَنْ </a:t>
            </a:r>
            <a:pPr rtl="1" algn="ctr" indent="0" marL="0">
              <a:buNone/>
            </a:pPr>
            <a:r>
              <a:rPr lang="ar-SA" altLang="en-US" sz="2400" b="1" dirty="0">
                <a:solidFill>
                  <a:srgbClr val="D6336C"/>
                </a:solidFill>
                <a:latin typeface="Amiri" pitchFamily="2" charset="-78"/>
                <a:ea typeface="Amiri" pitchFamily="2" charset="-78"/>
                <a:cs typeface="Amiri" pitchFamily="2" charset="-78"/>
              </a:rPr>
              <a:t>نُقَلِّلَ</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use the full lesson vocabulary in connected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and apply the target grammar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Extract exact information from listening and reading texts.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Produce a developed intermediate spoken and written response.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6 environmental solutions.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give advice: </a:t>
            </a:r>
            <a:pPr algn="l" indent="0" marL="0">
              <a:buNone/>
            </a:pPr>
            <a:r>
              <a:rPr lang="ar-SA" altLang="en-US" sz="1700" b="1" dirty="0">
                <a:solidFill>
                  <a:srgbClr val="2E8B57"/>
                </a:solidFill>
                <a:latin typeface="Amiri" pitchFamily="2" charset="-78"/>
                <a:ea typeface="Amiri" pitchFamily="2" charset="-78"/>
                <a:cs typeface="Amiri" pitchFamily="2" charset="-78"/>
              </a:rPr>
              <a:t>يَنْبَغِي أَنْ نُقَلِّلَ</a:t>
            </a:r>
            <a:pPr algn="l" indent="0" marL="0">
              <a:buNone/>
            </a:pPr>
            <a:r>
              <a:rPr lang="en-US" sz="1300" b="1" dirty="0">
                <a:solidFill>
                  <a:srgbClr val="2E8B57"/>
                </a:solidFill>
                <a:latin typeface="Calibri" pitchFamily="34" charset="0"/>
                <a:cs typeface="Amiri" pitchFamily="2" charset="-78"/>
              </a:rPr>
              <a:t> … (fatḥa after </a:t>
            </a:r>
            <a:pPr algn="l" indent="0" marL="0">
              <a:buNone/>
            </a:pPr>
            <a:r>
              <a:rPr lang="ar-SA" altLang="en-US" sz="1700" b="1" dirty="0">
                <a:solidFill>
                  <a:srgbClr val="2E8B57"/>
                </a:solidFill>
                <a:latin typeface="Amiri" pitchFamily="2" charset="-78"/>
                <a:ea typeface="Amiri" pitchFamily="2" charset="-78"/>
                <a:cs typeface="Amiri" pitchFamily="2" charset="-78"/>
              </a:rPr>
              <a:t>أَنْ</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who is responsible: </a:t>
            </a:r>
            <a:pPr algn="l" indent="0" marL="0">
              <a:buNone/>
            </a:pPr>
            <a:r>
              <a:rPr lang="ar-SA" altLang="en-US" sz="1700" b="1" dirty="0">
                <a:solidFill>
                  <a:srgbClr val="C9780A"/>
                </a:solidFill>
                <a:latin typeface="Amiri" pitchFamily="2" charset="-78"/>
                <a:ea typeface="Amiri" pitchFamily="2" charset="-78"/>
                <a:cs typeface="Amiri" pitchFamily="2" charset="-78"/>
              </a:rPr>
              <a:t>يَجِبُ عَلَى الحُكُومَةِ أَنْ</a:t>
            </a:r>
            <a:pPr algn="l" indent="0" marL="0">
              <a:buNone/>
            </a:pPr>
            <a:r>
              <a:rPr lang="en-US" sz="1300" b="1" dirty="0">
                <a:solidFill>
                  <a:srgbClr val="C9780A"/>
                </a:solidFill>
                <a:latin typeface="Calibri" pitchFamily="34" charset="0"/>
                <a:cs typeface="Amiri" pitchFamily="2" charset="-78"/>
              </a:rPr>
              <a:t> …</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a purpose with </a:t>
            </a:r>
            <a:pPr algn="l" indent="0" marL="0">
              <a:buNone/>
            </a:pPr>
            <a:r>
              <a:rPr lang="ar-SA" altLang="en-US" sz="1700" b="1" dirty="0">
                <a:solidFill>
                  <a:srgbClr val="C9780A"/>
                </a:solidFill>
                <a:latin typeface="Amiri" pitchFamily="2" charset="-78"/>
                <a:ea typeface="Amiri" pitchFamily="2" charset="-78"/>
                <a:cs typeface="Amiri" pitchFamily="2" charset="-78"/>
              </a:rPr>
              <a:t>لِكَيْ</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the five verbs after </a:t>
            </a:r>
            <a:pPr algn="l" indent="0" marL="0">
              <a:buNone/>
            </a:pPr>
            <a:r>
              <a:rPr lang="ar-SA" altLang="en-US" sz="1700" b="1" dirty="0">
                <a:solidFill>
                  <a:srgbClr val="B83227"/>
                </a:solidFill>
                <a:latin typeface="Amiri" pitchFamily="2" charset="-78"/>
                <a:ea typeface="Amiri" pitchFamily="2" charset="-78"/>
                <a:cs typeface="Amiri" pitchFamily="2" charset="-78"/>
              </a:rPr>
              <a:t>أَنْ</a:t>
            </a:r>
            <a:pPr algn="l" indent="0" marL="0">
              <a:buNone/>
            </a:pPr>
            <a:r>
              <a:rPr lang="en-US" sz="1300" b="1" dirty="0">
                <a:solidFill>
                  <a:srgbClr val="B83227"/>
                </a:solidFill>
                <a:latin typeface="Calibri" pitchFamily="34" charset="0"/>
                <a:cs typeface="Amiri" pitchFamily="2" charset="-78"/>
              </a:rPr>
              <a:t>: </a:t>
            </a:r>
            <a:pPr algn="l" indent="0" marL="0">
              <a:buNone/>
            </a:pPr>
            <a:r>
              <a:rPr lang="ar-SA" altLang="en-US" sz="1700" b="1" dirty="0">
                <a:solidFill>
                  <a:srgbClr val="B83227"/>
                </a:solidFill>
                <a:latin typeface="Amiri" pitchFamily="2" charset="-78"/>
                <a:ea typeface="Amiri" pitchFamily="2" charset="-78"/>
                <a:cs typeface="Amiri" pitchFamily="2" charset="-78"/>
              </a:rPr>
              <a:t>أَنْ يُعِيدُوا</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rank solutions and evaluate one limitation.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26 words from the website in 4 groups. Learn the CORE words first. Hear it → say it → see it → use it.</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Solutions · 6</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More solutions · 6</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“We” verbs · 8</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4</a:t>
            </a:r>
            <a:endParaRPr lang="en-US" sz="900" dirty="0"/>
          </a:p>
          <a:p>
            <a:pPr indent="0" marL="0">
              <a:buNone/>
            </a:pPr>
            <a:r>
              <a:rPr lang="en-US" sz="1200" b="1" dirty="0">
                <a:solidFill>
                  <a:srgbClr val="FFFFFF"/>
                </a:solidFill>
                <a:latin typeface="Calibri" pitchFamily="34" charset="0"/>
                <a:cs typeface="Amiri" pitchFamily="2" charset="-78"/>
              </a:rPr>
              <a:t>Advice and purpose · 6</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ضَرُورِيٌّ</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‎ضروری‎ </a:t>
            </a:r>
            <a:pPr indent="0" marL="0">
              <a:buNone/>
            </a:pPr>
            <a:r>
              <a:rPr lang="en-US" sz="950" b="1" dirty="0">
                <a:solidFill>
                  <a:srgbClr val="2E8B57"/>
                </a:solidFill>
                <a:latin typeface="Calibri" pitchFamily="34" charset="0"/>
                <a:cs typeface="Amiri" pitchFamily="2" charset="-78"/>
              </a:rPr>
              <a:t> zarūrī · necessary</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طَاقَةٌ</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‎طاقت‎ </a:t>
            </a:r>
            <a:pPr indent="0" marL="0">
              <a:buNone/>
            </a:pPr>
            <a:r>
              <a:rPr lang="en-US" sz="950" b="1" dirty="0">
                <a:solidFill>
                  <a:srgbClr val="2E8B57"/>
                </a:solidFill>
                <a:latin typeface="Calibri" pitchFamily="34" charset="0"/>
                <a:cs typeface="Amiri" pitchFamily="2" charset="-78"/>
              </a:rPr>
              <a:t> tāqat · energy, power</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حَلٌّ</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‎حل‎ </a:t>
            </a:r>
            <a:pPr indent="0" marL="0">
              <a:buNone/>
            </a:pPr>
            <a:r>
              <a:rPr lang="en-US" sz="950" b="1" dirty="0">
                <a:solidFill>
                  <a:srgbClr val="2E8B57"/>
                </a:solidFill>
                <a:latin typeface="Calibri" pitchFamily="34" charset="0"/>
                <a:cs typeface="Amiri" pitchFamily="2" charset="-78"/>
              </a:rPr>
              <a:t> ḥal · solution</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حُكُومَةٌ</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‎حکومت‎ </a:t>
            </a:r>
            <a:pPr indent="0" marL="0">
              <a:buNone/>
            </a:pPr>
            <a:r>
              <a:rPr lang="en-US" sz="950" b="1" dirty="0">
                <a:solidFill>
                  <a:srgbClr val="2E8B57"/>
                </a:solidFill>
                <a:latin typeface="Calibri" pitchFamily="34" charset="0"/>
                <a:cs typeface="Amiri" pitchFamily="2" charset="-78"/>
              </a:rPr>
              <a:t> ḥukūmat · government</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يُمْكِنُ</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‎ممکن‎ </a:t>
            </a:r>
            <a:pPr indent="0" marL="0">
              <a:buNone/>
            </a:pPr>
            <a:r>
              <a:rPr lang="en-US" sz="950" b="1" dirty="0">
                <a:solidFill>
                  <a:srgbClr val="2E8B57"/>
                </a:solidFill>
                <a:latin typeface="Calibri" pitchFamily="34" charset="0"/>
                <a:cs typeface="Amiri" pitchFamily="2" charset="-78"/>
              </a:rPr>
              <a:t> mumkin · possible</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Environmental solutions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الحُلُولُ البِيئِيَّةُ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إِعَادَةُ التَّدْوِيرِ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recycling</a:t>
            </a:r>
            <a:endParaRPr lang="en-US" sz="1350" dirty="0"/>
          </a:p>
          <a:p>
            <a:pPr indent="0" marL="0">
              <a:buNone/>
            </a:pPr>
            <a:r>
              <a:rPr lang="en-US" sz="1100" i="1" dirty="0">
                <a:solidFill>
                  <a:srgbClr val="5A6472"/>
                </a:solidFill>
                <a:latin typeface="Calibri" pitchFamily="34" charset="0"/>
                <a:cs typeface="Amiri" pitchFamily="2" charset="-78"/>
              </a:rPr>
              <a:t>i-ʿā-dat at-tad-wīr</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again</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إِعَادَةٌ</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turning</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التَّدْوِيرُ</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nisba</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الطَّاقَةُ </a:t>
            </a:r>
            <a:pPr rtl="1" algn="r" indent="0" marL="0">
              <a:buNone/>
            </a:pPr>
            <a:r>
              <a:rPr lang="ar-SA" altLang="en-US" sz="3000" b="1" dirty="0">
                <a:solidFill>
                  <a:srgbClr val="7B3FA0"/>
                </a:solidFill>
                <a:latin typeface="Amiri" pitchFamily="2" charset="-78"/>
                <a:ea typeface="Amiri" pitchFamily="2" charset="-78"/>
                <a:cs typeface="Amiri" pitchFamily="2" charset="-78"/>
              </a:rPr>
              <a:t>الشَّمْسِ</a:t>
            </a:r>
            <a:pPr rtl="1" algn="r" indent="0" marL="0">
              <a:buNone/>
            </a:pPr>
            <a:r>
              <a:rPr lang="ar-SA" altLang="en-US" sz="3000" b="1" dirty="0">
                <a:solidFill>
                  <a:srgbClr val="D6336C"/>
                </a:solidFill>
                <a:latin typeface="Amiri" pitchFamily="2" charset="-78"/>
                <a:ea typeface="Amiri" pitchFamily="2" charset="-78"/>
                <a:cs typeface="Amiri" pitchFamily="2" charset="-78"/>
              </a:rPr>
              <a:t>يَّةُ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solar energy</a:t>
            </a:r>
            <a:endParaRPr lang="en-US" sz="1350" dirty="0"/>
          </a:p>
          <a:p>
            <a:pPr indent="0" marL="0">
              <a:buNone/>
            </a:pPr>
            <a:r>
              <a:rPr lang="en-US" sz="1100" i="1" dirty="0">
                <a:solidFill>
                  <a:srgbClr val="5A6472"/>
                </a:solidFill>
                <a:latin typeface="Calibri" pitchFamily="34" charset="0"/>
                <a:cs typeface="Amiri" pitchFamily="2" charset="-78"/>
              </a:rPr>
              <a:t>aṭ-ṭā-qa sh-sham-siy-ya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energy</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طَاقَةٌ</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sun</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شَمْسٌ</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طَاقَةُ الرِّيَاحِ</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wind energy</a:t>
            </a:r>
            <a:endParaRPr lang="en-US" sz="1350" dirty="0"/>
          </a:p>
          <a:p>
            <a:pPr indent="0" marL="0">
              <a:buNone/>
            </a:pPr>
            <a:r>
              <a:rPr lang="en-US" sz="1100" i="1" dirty="0">
                <a:solidFill>
                  <a:srgbClr val="5A6472"/>
                </a:solidFill>
                <a:latin typeface="Calibri" pitchFamily="34" charset="0"/>
                <a:cs typeface="Amiri" pitchFamily="2" charset="-78"/>
              </a:rPr>
              <a:t>ṭā-qat ar-ri-yāḥ</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energy</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طَاقَةٌ</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winds</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الرِّيَاحُ</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التَّشْجِيرُ</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tree planting</a:t>
            </a:r>
            <a:endParaRPr lang="en-US" sz="1350" dirty="0"/>
          </a:p>
          <a:p>
            <a:pPr indent="0" marL="0">
              <a:buNone/>
            </a:pPr>
            <a:r>
              <a:rPr lang="en-US" sz="1100" i="1" dirty="0">
                <a:solidFill>
                  <a:srgbClr val="5A6472"/>
                </a:solidFill>
                <a:latin typeface="Calibri" pitchFamily="34" charset="0"/>
                <a:cs typeface="Amiri" pitchFamily="2" charset="-78"/>
              </a:rPr>
              <a:t>at-tash-jīr</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tree</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شَجَرَةٌ</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planting trees</a:t>
            </a:r>
            <a:endParaRPr lang="en-US" sz="700" dirty="0"/>
          </a:p>
        </p:txBody>
      </p:sp>
      <p:sp>
        <p:nvSpPr>
          <p:cNvPr id="74" name="Text 7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التَّشْجِيرُ</a:t>
            </a:r>
            <a:endParaRPr lang="ar-SA" sz="135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8" name="Shape 75"/>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تَرْشِيدُ المِيَاهِ</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saving water</a:t>
            </a:r>
            <a:endParaRPr lang="en-US" sz="1350" dirty="0"/>
          </a:p>
          <a:p>
            <a:pPr indent="0" marL="0">
              <a:buNone/>
            </a:pPr>
            <a:r>
              <a:rPr lang="en-US" sz="1100" i="1" dirty="0">
                <a:solidFill>
                  <a:srgbClr val="5A6472"/>
                </a:solidFill>
                <a:latin typeface="Calibri" pitchFamily="34" charset="0"/>
                <a:cs typeface="Amiri" pitchFamily="2" charset="-78"/>
              </a:rPr>
              <a:t>tar-shīd al-mi-yāh</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wise use</a:t>
            </a:r>
            <a:endParaRPr lang="en-US" sz="700" dirty="0"/>
          </a:p>
        </p:txBody>
      </p:sp>
      <p:sp>
        <p:nvSpPr>
          <p:cNvPr id="86" name="Text 83"/>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تَرْشِيدٌ</a:t>
            </a:r>
            <a:endParaRPr lang="ar-SA" sz="135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 water</a:t>
            </a:r>
            <a:endParaRPr lang="en-US" sz="700" dirty="0"/>
          </a:p>
        </p:txBody>
      </p:sp>
      <p:sp>
        <p:nvSpPr>
          <p:cNvPr id="89" name="Text 86"/>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المِيَاهُ</a:t>
            </a:r>
            <a:endParaRPr lang="ar-SA" sz="135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3" name="Shape 90"/>
          <p:cNvSpPr/>
          <p:nvPr/>
        </p:nvSpPr>
        <p:spPr>
          <a:xfrm>
            <a:off x="960120" y="4279392"/>
            <a:ext cx="1269187"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adjective</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7" name="Text 94"/>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النَّقْلُ </a:t>
            </a:r>
            <a:pPr rtl="1" algn="r" indent="0" marL="0">
              <a:buNone/>
            </a:pPr>
            <a:r>
              <a:rPr lang="ar-SA" altLang="en-US" sz="3000" b="1" dirty="0">
                <a:solidFill>
                  <a:srgbClr val="7B3FA0"/>
                </a:solidFill>
                <a:latin typeface="Amiri" pitchFamily="2" charset="-78"/>
                <a:ea typeface="Amiri" pitchFamily="2" charset="-78"/>
                <a:cs typeface="Amiri" pitchFamily="2" charset="-78"/>
              </a:rPr>
              <a:t>العَامُّ</a:t>
            </a:r>
            <a:endParaRPr lang="ar-SA" sz="3000" dirty="0"/>
          </a:p>
        </p:txBody>
      </p:sp>
      <p:sp>
        <p:nvSpPr>
          <p:cNvPr id="98" name="Text 95"/>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public transport</a:t>
            </a:r>
            <a:endParaRPr lang="en-US" sz="1350" dirty="0"/>
          </a:p>
          <a:p>
            <a:pPr indent="0" marL="0">
              <a:buNone/>
            </a:pPr>
            <a:r>
              <a:rPr lang="en-US" sz="1100" i="1" dirty="0">
                <a:solidFill>
                  <a:srgbClr val="5A6472"/>
                </a:solidFill>
                <a:latin typeface="Calibri" pitchFamily="34" charset="0"/>
                <a:cs typeface="Amiri" pitchFamily="2" charset="-78"/>
              </a:rPr>
              <a:t>an-naql al-ʿāmm</a:t>
            </a:r>
            <a:endParaRPr lang="en-US" sz="13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Environmental solutions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الحُلُولُ البِيئِيَّةُ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 (game)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الدَّرَّاجَةُ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bicycle</a:t>
            </a:r>
            <a:endParaRPr lang="en-US" sz="1350" dirty="0"/>
          </a:p>
          <a:p>
            <a:pPr indent="0" marL="0">
              <a:buNone/>
            </a:pPr>
            <a:r>
              <a:rPr lang="en-US" sz="1100" i="1" dirty="0">
                <a:solidFill>
                  <a:srgbClr val="5A6472"/>
                </a:solidFill>
                <a:latin typeface="Calibri" pitchFamily="34" charset="0"/>
                <a:cs typeface="Amiri" pitchFamily="2" charset="-78"/>
              </a:rPr>
              <a:t>ad-dar-rā-ja · pl. dar-rā-jāt</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دَرَّاجَةٌ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دَرَّاجَاتٌ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Shape 30"/>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phrase (game)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نُطْفِئُ الأَضْوَاءَ</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switch off the lights</a:t>
            </a:r>
            <a:endParaRPr lang="en-US" sz="1350" dirty="0"/>
          </a:p>
          <a:p>
            <a:pPr indent="0" marL="0">
              <a:buNone/>
            </a:pPr>
            <a:r>
              <a:rPr lang="en-US" sz="1100" i="1" dirty="0">
                <a:solidFill>
                  <a:srgbClr val="5A6472"/>
                </a:solidFill>
                <a:latin typeface="Calibri" pitchFamily="34" charset="0"/>
                <a:cs typeface="Amiri" pitchFamily="2" charset="-78"/>
              </a:rPr>
              <a:t>nuṭ-fiʾ al-aḍ-wāʾ</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light</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ضَوْءٌ</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lights</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أَضْوَاءٌ</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8" name="Shape 45"/>
          <p:cNvSpPr/>
          <p:nvPr/>
        </p:nvSpPr>
        <p:spPr>
          <a:xfrm>
            <a:off x="960120" y="1938528"/>
            <a:ext cx="1269187"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adjective</a:t>
            </a:r>
            <a:endParaRPr lang="en-US" sz="800" dirty="0"/>
          </a:p>
        </p:txBody>
      </p:sp>
      <p:sp>
        <p:nvSpPr>
          <p:cNvPr id="50" name="Text 4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الطَّاقَةُ المُتَجَدِّدَةُ</a:t>
            </a:r>
            <a:endParaRPr lang="ar-SA" sz="3000" dirty="0"/>
          </a:p>
        </p:txBody>
      </p:sp>
      <p:sp>
        <p:nvSpPr>
          <p:cNvPr id="51" name="Text 4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renewable energy</a:t>
            </a:r>
            <a:endParaRPr lang="en-US" sz="1350" dirty="0"/>
          </a:p>
          <a:p>
            <a:pPr indent="0" marL="0">
              <a:buNone/>
            </a:pPr>
            <a:r>
              <a:rPr lang="en-US" sz="1100" i="1" dirty="0">
                <a:solidFill>
                  <a:srgbClr val="5A6472"/>
                </a:solidFill>
                <a:latin typeface="Calibri" pitchFamily="34" charset="0"/>
                <a:cs typeface="Amiri" pitchFamily="2" charset="-78"/>
              </a:rPr>
              <a:t>aṭ-ṭā-qa l-mu-ta-jad-di-da</a:t>
            </a:r>
            <a:endParaRPr lang="en-US" sz="1350" dirty="0"/>
          </a:p>
        </p:txBody>
      </p:sp>
      <p:sp>
        <p:nvSpPr>
          <p:cNvPr id="52" name="Shape 4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8211312"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5" name="Shape 5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a:t>
            </a:r>
            <a:endParaRPr lang="en-US" sz="800" dirty="0"/>
          </a:p>
        </p:txBody>
      </p:sp>
      <p:sp>
        <p:nvSpPr>
          <p:cNvPr id="57" name="Text 5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تَقْلِيلُ الاسْتِهْلَاكِ</a:t>
            </a:r>
            <a:endParaRPr lang="ar-SA" sz="3000" dirty="0"/>
          </a:p>
        </p:txBody>
      </p:sp>
      <p:sp>
        <p:nvSpPr>
          <p:cNvPr id="58" name="Text 5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reducing consumption</a:t>
            </a:r>
            <a:endParaRPr lang="en-US" sz="1350" dirty="0"/>
          </a:p>
          <a:p>
            <a:pPr indent="0" marL="0">
              <a:buNone/>
            </a:pPr>
            <a:r>
              <a:rPr lang="en-US" sz="1100" i="1" dirty="0">
                <a:solidFill>
                  <a:srgbClr val="5A6472"/>
                </a:solidFill>
                <a:latin typeface="Calibri" pitchFamily="34" charset="0"/>
                <a:cs typeface="Amiri" pitchFamily="2" charset="-78"/>
              </a:rPr>
              <a:t>taq-līl al-is-tih-lāk</a:t>
            </a:r>
            <a:endParaRPr lang="en-US" sz="135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2" name="Shape 59"/>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63" name="Text 60"/>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nisba</a:t>
            </a:r>
            <a:endParaRPr lang="en-US" sz="800" dirty="0"/>
          </a:p>
        </p:txBody>
      </p:sp>
      <p:sp>
        <p:nvSpPr>
          <p:cNvPr id="64" name="Text 6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التَّوْعِيَةُ </a:t>
            </a:r>
            <a:pPr rtl="1" algn="r" indent="0" marL="0">
              <a:buNone/>
            </a:pPr>
            <a:r>
              <a:rPr lang="ar-SA" altLang="en-US" sz="3000" b="1" dirty="0">
                <a:solidFill>
                  <a:srgbClr val="7B3FA0"/>
                </a:solidFill>
                <a:latin typeface="Amiri" pitchFamily="2" charset="-78"/>
                <a:ea typeface="Amiri" pitchFamily="2" charset="-78"/>
                <a:cs typeface="Amiri" pitchFamily="2" charset="-78"/>
              </a:rPr>
              <a:t>البِيئِ</a:t>
            </a:r>
            <a:pPr rtl="1" algn="r" indent="0" marL="0">
              <a:buNone/>
            </a:pPr>
            <a:r>
              <a:rPr lang="ar-SA" altLang="en-US" sz="3000" b="1" dirty="0">
                <a:solidFill>
                  <a:srgbClr val="D6336C"/>
                </a:solidFill>
                <a:latin typeface="Amiri" pitchFamily="2" charset="-78"/>
                <a:ea typeface="Amiri" pitchFamily="2" charset="-78"/>
                <a:cs typeface="Amiri" pitchFamily="2" charset="-78"/>
              </a:rPr>
              <a:t>يَّةُ</a:t>
            </a:r>
            <a:endParaRPr lang="ar-SA" sz="3000" dirty="0"/>
          </a:p>
        </p:txBody>
      </p:sp>
      <p:sp>
        <p:nvSpPr>
          <p:cNvPr id="65" name="Text 6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environmental awareness</a:t>
            </a:r>
            <a:endParaRPr lang="en-US" sz="1350" dirty="0"/>
          </a:p>
          <a:p>
            <a:pPr indent="0" marL="0">
              <a:buNone/>
            </a:pPr>
            <a:r>
              <a:rPr lang="en-US" sz="1100" i="1" dirty="0">
                <a:solidFill>
                  <a:srgbClr val="5A6472"/>
                </a:solidFill>
                <a:latin typeface="Calibri" pitchFamily="34" charset="0"/>
                <a:cs typeface="Amiri" pitchFamily="2" charset="-78"/>
              </a:rPr>
              <a:t>at-taw-ʿi-ya l-bī-ʾiy-ya</a:t>
            </a:r>
            <a:endParaRPr lang="en-US" sz="1350" dirty="0"/>
          </a:p>
        </p:txBody>
      </p:sp>
      <p:sp>
        <p:nvSpPr>
          <p:cNvPr id="66" name="Shape 6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566928"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69" name="Shape 66"/>
          <p:cNvSpPr/>
          <p:nvPr/>
        </p:nvSpPr>
        <p:spPr>
          <a:xfrm>
            <a:off x="960120" y="4279392"/>
            <a:ext cx="1269187" cy="256032"/>
          </a:xfrm>
          <a:prstGeom prst="roundRect">
            <a:avLst>
              <a:gd name="adj" fmla="val 50000"/>
            </a:avLst>
          </a:prstGeom>
          <a:solidFill>
            <a:srgbClr val="EFE7D2"/>
          </a:solidFill>
          <a:ln w="12700">
            <a:solidFill>
              <a:srgbClr val="EFE7D2"/>
            </a:solidFill>
            <a:prstDash val="solid"/>
          </a:ln>
        </p:spPr>
      </p:sp>
      <p:sp>
        <p:nvSpPr>
          <p:cNvPr id="70" name="Text 67"/>
          <p:cNvSpPr txBox="1"/>
          <p:nvPr/>
        </p:nvSpPr>
        <p:spPr>
          <a:xfrm>
            <a:off x="960120"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adjective</a:t>
            </a:r>
            <a:endParaRPr lang="en-US" sz="800" dirty="0"/>
          </a:p>
        </p:txBody>
      </p:sp>
      <p:sp>
        <p:nvSpPr>
          <p:cNvPr id="71" name="Text 6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التَّنْمِيَةُ المُسْتَدَامَةُ</a:t>
            </a:r>
            <a:endParaRPr lang="ar-SA" sz="3000" dirty="0"/>
          </a:p>
        </p:txBody>
      </p:sp>
      <p:sp>
        <p:nvSpPr>
          <p:cNvPr id="72" name="Text 6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sustainable development</a:t>
            </a:r>
            <a:endParaRPr lang="en-US" sz="1350" dirty="0"/>
          </a:p>
          <a:p>
            <a:pPr indent="0" marL="0">
              <a:buNone/>
            </a:pPr>
            <a:r>
              <a:rPr lang="en-US" sz="1100" i="1" dirty="0">
                <a:solidFill>
                  <a:srgbClr val="5A6472"/>
                </a:solidFill>
                <a:latin typeface="Calibri" pitchFamily="34" charset="0"/>
                <a:cs typeface="Amiri" pitchFamily="2" charset="-78"/>
              </a:rPr>
              <a:t>at-tan-mi-ya l-mus-ta-dā-ma</a:t>
            </a:r>
            <a:endParaRPr lang="en-US" sz="13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“WE” VERBS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“We” verbs — before and after </a:t>
            </a:r>
            <a:pPr algn="l" indent="0" marL="0">
              <a:buNone/>
            </a:pPr>
            <a:r>
              <a:rPr lang="ar-SA" altLang="en-US" sz="3600" b="1" dirty="0">
                <a:solidFill>
                  <a:srgbClr val="1B3B6F"/>
                </a:solidFill>
                <a:latin typeface="Amiri" pitchFamily="2" charset="-78"/>
                <a:ea typeface="Amiri" pitchFamily="2" charset="-78"/>
                <a:cs typeface="Amiri" pitchFamily="2" charset="-78"/>
              </a:rPr>
              <a:t>أَنْ</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أَفْعَالٌ لِـ «نَحْنُ»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8738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 verb (website)</a:t>
            </a:r>
            <a:endParaRPr lang="en-US" sz="1100" dirty="0"/>
          </a:p>
        </p:txBody>
      </p:sp>
      <p:sp>
        <p:nvSpPr>
          <p:cNvPr id="17" name="Text 14"/>
          <p:cNvSpPr txBox="1"/>
          <p:nvPr/>
        </p:nvSpPr>
        <p:spPr>
          <a:xfrm>
            <a:off x="640994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8" name="Text 15"/>
          <p:cNvSpPr txBox="1"/>
          <p:nvPr/>
        </p:nvSpPr>
        <p:spPr>
          <a:xfrm>
            <a:off x="348386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After </a:t>
            </a:r>
            <a:pPr algn="ctr" indent="0" marL="0">
              <a:buNone/>
            </a:pPr>
            <a:r>
              <a:rPr lang="ar-SA" altLang="en-US" sz="1450" b="1" dirty="0">
                <a:solidFill>
                  <a:srgbClr val="FFFFFF"/>
                </a:solidFill>
                <a:latin typeface="Amiri" pitchFamily="2" charset="-78"/>
                <a:ea typeface="Amiri" pitchFamily="2" charset="-78"/>
                <a:cs typeface="Amiri" pitchFamily="2" charset="-78"/>
              </a:rPr>
              <a:t>أَنْ / لِكَيْ</a:t>
            </a:r>
            <a:endParaRPr lang="en-US" sz="1100" dirty="0"/>
          </a:p>
        </p:txBody>
      </p:sp>
      <p:sp>
        <p:nvSpPr>
          <p:cNvPr id="19" name="Text 16"/>
          <p:cNvSpPr txBox="1"/>
          <p:nvPr/>
        </p:nvSpPr>
        <p:spPr>
          <a:xfrm>
            <a:off x="53035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Note</a:t>
            </a:r>
            <a:endParaRPr lang="en-US" sz="1100" dirty="0"/>
          </a:p>
        </p:txBody>
      </p:sp>
      <p:sp>
        <p:nvSpPr>
          <p:cNvPr id="20" name="Shape 17"/>
          <p:cNvSpPr/>
          <p:nvPr/>
        </p:nvSpPr>
        <p:spPr>
          <a:xfrm>
            <a:off x="457200" y="2267712"/>
            <a:ext cx="11274552" cy="457200"/>
          </a:xfrm>
          <a:prstGeom prst="roundRect">
            <a:avLst>
              <a:gd name="adj" fmla="val 10000"/>
            </a:avLst>
          </a:prstGeom>
          <a:solidFill>
            <a:srgbClr val="FFFFFF"/>
          </a:solidFill>
          <a:ln w="9525">
            <a:solidFill>
              <a:srgbClr val="D8D0BF"/>
            </a:solidFill>
            <a:prstDash val="solid"/>
          </a:ln>
        </p:spPr>
      </p:sp>
      <p:sp>
        <p:nvSpPr>
          <p:cNvPr id="21" name="Text 18"/>
          <p:cNvSpPr txBox="1"/>
          <p:nvPr/>
        </p:nvSpPr>
        <p:spPr>
          <a:xfrm>
            <a:off x="8805672" y="2286000"/>
            <a:ext cx="283464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نُقَلِّلُ مِنْ</a:t>
            </a:r>
            <a:endParaRPr lang="ar-SA" sz="1300" dirty="0"/>
          </a:p>
        </p:txBody>
      </p:sp>
      <p:sp>
        <p:nvSpPr>
          <p:cNvPr id="22" name="Text 19"/>
          <p:cNvSpPr txBox="1"/>
          <p:nvPr/>
        </p:nvSpPr>
        <p:spPr>
          <a:xfrm>
            <a:off x="8759952" y="2542032"/>
            <a:ext cx="292608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nu-qal-li-lu min</a:t>
            </a:r>
            <a:endParaRPr lang="en-US" sz="950" dirty="0"/>
          </a:p>
        </p:txBody>
      </p:sp>
      <p:sp>
        <p:nvSpPr>
          <p:cNvPr id="23" name="Text 20"/>
          <p:cNvSpPr txBox="1"/>
          <p:nvPr/>
        </p:nvSpPr>
        <p:spPr>
          <a:xfrm>
            <a:off x="6446520" y="2267712"/>
            <a:ext cx="21945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reduce</a:t>
            </a:r>
            <a:endParaRPr lang="en-US" sz="1100" dirty="0"/>
          </a:p>
        </p:txBody>
      </p:sp>
      <p:sp>
        <p:nvSpPr>
          <p:cNvPr id="24" name="Text 21"/>
          <p:cNvSpPr txBox="1"/>
          <p:nvPr/>
        </p:nvSpPr>
        <p:spPr>
          <a:xfrm>
            <a:off x="3502152" y="2267712"/>
            <a:ext cx="2743200" cy="4572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أَنْ</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D6336C"/>
                </a:solidFill>
                <a:latin typeface="Amiri" pitchFamily="2" charset="-78"/>
                <a:ea typeface="Amiri" pitchFamily="2" charset="-78"/>
                <a:cs typeface="Amiri" pitchFamily="2" charset="-78"/>
              </a:rPr>
              <a:t>نُقَلِّلَ</a:t>
            </a:r>
            <a:endParaRPr lang="ar-SA" sz="2100" dirty="0"/>
          </a:p>
        </p:txBody>
      </p:sp>
      <p:sp>
        <p:nvSpPr>
          <p:cNvPr id="25" name="Text 22"/>
          <p:cNvSpPr txBox="1"/>
          <p:nvPr/>
        </p:nvSpPr>
        <p:spPr>
          <a:xfrm>
            <a:off x="566928" y="2267712"/>
            <a:ext cx="27706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-u → -a (ḍamma → fatḥa)</a:t>
            </a:r>
            <a:endParaRPr lang="en-US" sz="1100" dirty="0"/>
          </a:p>
        </p:txBody>
      </p:sp>
      <p:sp>
        <p:nvSpPr>
          <p:cNvPr id="26" name="Shape 23"/>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2779776"/>
            <a:ext cx="11274552" cy="457200"/>
          </a:xfrm>
          <a:prstGeom prst="roundRect">
            <a:avLst>
              <a:gd name="adj" fmla="val 10000"/>
            </a:avLst>
          </a:prstGeom>
          <a:solidFill>
            <a:srgbClr val="F4F1EA"/>
          </a:solidFill>
          <a:ln w="9525">
            <a:solidFill>
              <a:srgbClr val="D8D0BF"/>
            </a:solidFill>
            <a:prstDash val="solid"/>
          </a:ln>
        </p:spPr>
      </p:sp>
      <p:sp>
        <p:nvSpPr>
          <p:cNvPr id="29" name="Text 26"/>
          <p:cNvSpPr txBox="1"/>
          <p:nvPr/>
        </p:nvSpPr>
        <p:spPr>
          <a:xfrm>
            <a:off x="8805672" y="2798064"/>
            <a:ext cx="283464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نُوَفِّرُ</a:t>
            </a:r>
            <a:endParaRPr lang="ar-SA" sz="1300" dirty="0"/>
          </a:p>
        </p:txBody>
      </p:sp>
      <p:sp>
        <p:nvSpPr>
          <p:cNvPr id="30" name="Text 27"/>
          <p:cNvSpPr txBox="1"/>
          <p:nvPr/>
        </p:nvSpPr>
        <p:spPr>
          <a:xfrm>
            <a:off x="8759952" y="3054096"/>
            <a:ext cx="292608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nu-waf-fi-ru</a:t>
            </a:r>
            <a:endParaRPr lang="en-US" sz="950" dirty="0"/>
          </a:p>
        </p:txBody>
      </p:sp>
      <p:sp>
        <p:nvSpPr>
          <p:cNvPr id="31" name="Text 28"/>
          <p:cNvSpPr txBox="1"/>
          <p:nvPr/>
        </p:nvSpPr>
        <p:spPr>
          <a:xfrm>
            <a:off x="6446520" y="2779776"/>
            <a:ext cx="21945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save, conserve</a:t>
            </a:r>
            <a:endParaRPr lang="en-US" sz="1100" dirty="0"/>
          </a:p>
        </p:txBody>
      </p:sp>
      <p:sp>
        <p:nvSpPr>
          <p:cNvPr id="32" name="Text 29"/>
          <p:cNvSpPr txBox="1"/>
          <p:nvPr/>
        </p:nvSpPr>
        <p:spPr>
          <a:xfrm>
            <a:off x="3502152" y="2779776"/>
            <a:ext cx="2743200" cy="4572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أَنْ</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D6336C"/>
                </a:solidFill>
                <a:latin typeface="Amiri" pitchFamily="2" charset="-78"/>
                <a:ea typeface="Amiri" pitchFamily="2" charset="-78"/>
                <a:cs typeface="Amiri" pitchFamily="2" charset="-78"/>
              </a:rPr>
              <a:t>نُوَفِّرَ</a:t>
            </a:r>
            <a:endParaRPr lang="ar-SA" sz="2100" dirty="0"/>
          </a:p>
        </p:txBody>
      </p:sp>
      <p:sp>
        <p:nvSpPr>
          <p:cNvPr id="33" name="Text 30"/>
          <p:cNvSpPr txBox="1"/>
          <p:nvPr/>
        </p:nvSpPr>
        <p:spPr>
          <a:xfrm>
            <a:off x="566928" y="2779776"/>
            <a:ext cx="27706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-u → -a (ḍamma → fatḥa)</a:t>
            </a:r>
            <a:endParaRPr lang="en-US" sz="1100" dirty="0"/>
          </a:p>
        </p:txBody>
      </p:sp>
      <p:sp>
        <p:nvSpPr>
          <p:cNvPr id="34" name="Shape 31"/>
          <p:cNvSpPr/>
          <p:nvPr/>
        </p:nvSpPr>
        <p:spPr>
          <a:xfrm>
            <a:off x="11091672" y="2825496"/>
            <a:ext cx="548640" cy="182880"/>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11091672" y="282549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6" name="Shape 33"/>
          <p:cNvSpPr/>
          <p:nvPr/>
        </p:nvSpPr>
        <p:spPr>
          <a:xfrm>
            <a:off x="457200" y="3291840"/>
            <a:ext cx="11274552" cy="457200"/>
          </a:xfrm>
          <a:prstGeom prst="roundRect">
            <a:avLst>
              <a:gd name="adj" fmla="val 10000"/>
            </a:avLst>
          </a:prstGeom>
          <a:solidFill>
            <a:srgbClr val="FFFFFF"/>
          </a:solidFill>
          <a:ln w="9525">
            <a:solidFill>
              <a:srgbClr val="D8D0BF"/>
            </a:solidFill>
            <a:prstDash val="solid"/>
          </a:ln>
        </p:spPr>
      </p:sp>
      <p:sp>
        <p:nvSpPr>
          <p:cNvPr id="37" name="Text 34"/>
          <p:cNvSpPr txBox="1"/>
          <p:nvPr/>
        </p:nvSpPr>
        <p:spPr>
          <a:xfrm>
            <a:off x="8805672" y="3310128"/>
            <a:ext cx="283464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نَزْرَعُ</a:t>
            </a:r>
            <a:endParaRPr lang="ar-SA" sz="1300" dirty="0"/>
          </a:p>
        </p:txBody>
      </p:sp>
      <p:sp>
        <p:nvSpPr>
          <p:cNvPr id="38" name="Text 35"/>
          <p:cNvSpPr txBox="1"/>
          <p:nvPr/>
        </p:nvSpPr>
        <p:spPr>
          <a:xfrm>
            <a:off x="8759952" y="3566160"/>
            <a:ext cx="292608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naz-ra-ʿu</a:t>
            </a:r>
            <a:endParaRPr lang="en-US" sz="950" dirty="0"/>
          </a:p>
        </p:txBody>
      </p:sp>
      <p:sp>
        <p:nvSpPr>
          <p:cNvPr id="39" name="Text 36"/>
          <p:cNvSpPr txBox="1"/>
          <p:nvPr/>
        </p:nvSpPr>
        <p:spPr>
          <a:xfrm>
            <a:off x="6446520" y="3291840"/>
            <a:ext cx="21945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plant</a:t>
            </a:r>
            <a:endParaRPr lang="en-US" sz="1100" dirty="0"/>
          </a:p>
        </p:txBody>
      </p:sp>
      <p:sp>
        <p:nvSpPr>
          <p:cNvPr id="40" name="Text 37"/>
          <p:cNvSpPr txBox="1"/>
          <p:nvPr/>
        </p:nvSpPr>
        <p:spPr>
          <a:xfrm>
            <a:off x="3502152" y="3291840"/>
            <a:ext cx="2743200" cy="4572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أَنْ</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D6336C"/>
                </a:solidFill>
                <a:latin typeface="Amiri" pitchFamily="2" charset="-78"/>
                <a:ea typeface="Amiri" pitchFamily="2" charset="-78"/>
                <a:cs typeface="Amiri" pitchFamily="2" charset="-78"/>
              </a:rPr>
              <a:t>نَزْرَعَ</a:t>
            </a:r>
            <a:endParaRPr lang="ar-SA" sz="2100" dirty="0"/>
          </a:p>
        </p:txBody>
      </p:sp>
      <p:sp>
        <p:nvSpPr>
          <p:cNvPr id="41" name="Text 38"/>
          <p:cNvSpPr txBox="1"/>
          <p:nvPr/>
        </p:nvSpPr>
        <p:spPr>
          <a:xfrm>
            <a:off x="566928" y="3291840"/>
            <a:ext cx="27706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-u → -a (ḍamma → fatḥa)</a:t>
            </a:r>
            <a:endParaRPr lang="en-US" sz="1100" dirty="0"/>
          </a:p>
        </p:txBody>
      </p:sp>
      <p:sp>
        <p:nvSpPr>
          <p:cNvPr id="42" name="Shape 39"/>
          <p:cNvSpPr/>
          <p:nvPr/>
        </p:nvSpPr>
        <p:spPr>
          <a:xfrm>
            <a:off x="11091672" y="3337560"/>
            <a:ext cx="548640" cy="182880"/>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1091672" y="333756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4" name="Shape 41"/>
          <p:cNvSpPr/>
          <p:nvPr/>
        </p:nvSpPr>
        <p:spPr>
          <a:xfrm>
            <a:off x="457200" y="3803904"/>
            <a:ext cx="11274552" cy="457200"/>
          </a:xfrm>
          <a:prstGeom prst="roundRect">
            <a:avLst>
              <a:gd name="adj" fmla="val 10000"/>
            </a:avLst>
          </a:prstGeom>
          <a:solidFill>
            <a:srgbClr val="F4F1EA"/>
          </a:solidFill>
          <a:ln w="9525">
            <a:solidFill>
              <a:srgbClr val="D8D0BF"/>
            </a:solidFill>
            <a:prstDash val="solid"/>
          </a:ln>
        </p:spPr>
      </p:sp>
      <p:sp>
        <p:nvSpPr>
          <p:cNvPr id="45" name="Text 42"/>
          <p:cNvSpPr txBox="1"/>
          <p:nvPr/>
        </p:nvSpPr>
        <p:spPr>
          <a:xfrm>
            <a:off x="8805672" y="3822192"/>
            <a:ext cx="283464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نُعِيدُ التَّدْوِيرَ</a:t>
            </a:r>
            <a:endParaRPr lang="ar-SA" sz="1300" dirty="0"/>
          </a:p>
        </p:txBody>
      </p:sp>
      <p:sp>
        <p:nvSpPr>
          <p:cNvPr id="46" name="Text 43"/>
          <p:cNvSpPr txBox="1"/>
          <p:nvPr/>
        </p:nvSpPr>
        <p:spPr>
          <a:xfrm>
            <a:off x="8759952" y="4078224"/>
            <a:ext cx="292608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nu-ʿī-du t-tad-wīr</a:t>
            </a:r>
            <a:endParaRPr lang="en-US" sz="950" dirty="0"/>
          </a:p>
        </p:txBody>
      </p:sp>
      <p:sp>
        <p:nvSpPr>
          <p:cNvPr id="47" name="Text 44"/>
          <p:cNvSpPr txBox="1"/>
          <p:nvPr/>
        </p:nvSpPr>
        <p:spPr>
          <a:xfrm>
            <a:off x="6446520" y="3803904"/>
            <a:ext cx="21945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recycle</a:t>
            </a:r>
            <a:endParaRPr lang="en-US" sz="1100" dirty="0"/>
          </a:p>
        </p:txBody>
      </p:sp>
      <p:sp>
        <p:nvSpPr>
          <p:cNvPr id="48" name="Text 45"/>
          <p:cNvSpPr txBox="1"/>
          <p:nvPr/>
        </p:nvSpPr>
        <p:spPr>
          <a:xfrm>
            <a:off x="3502152" y="3803904"/>
            <a:ext cx="2743200" cy="4572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أَنْ</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D6336C"/>
                </a:solidFill>
                <a:latin typeface="Amiri" pitchFamily="2" charset="-78"/>
                <a:ea typeface="Amiri" pitchFamily="2" charset="-78"/>
                <a:cs typeface="Amiri" pitchFamily="2" charset="-78"/>
              </a:rPr>
              <a:t>نُعِيدَ</a:t>
            </a:r>
            <a:endParaRPr lang="ar-SA" sz="2100" dirty="0"/>
          </a:p>
        </p:txBody>
      </p:sp>
      <p:sp>
        <p:nvSpPr>
          <p:cNvPr id="49" name="Text 46"/>
          <p:cNvSpPr txBox="1"/>
          <p:nvPr/>
        </p:nvSpPr>
        <p:spPr>
          <a:xfrm>
            <a:off x="566928" y="3803904"/>
            <a:ext cx="27706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-u → -a (ḍamma → fatḥa)</a:t>
            </a:r>
            <a:endParaRPr lang="en-US" sz="1100" dirty="0"/>
          </a:p>
        </p:txBody>
      </p:sp>
      <p:sp>
        <p:nvSpPr>
          <p:cNvPr id="50" name="Shape 47"/>
          <p:cNvSpPr/>
          <p:nvPr/>
        </p:nvSpPr>
        <p:spPr>
          <a:xfrm>
            <a:off x="11091672" y="3849624"/>
            <a:ext cx="548640" cy="182880"/>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1091672" y="384962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2" name="Shape 49"/>
          <p:cNvSpPr/>
          <p:nvPr/>
        </p:nvSpPr>
        <p:spPr>
          <a:xfrm>
            <a:off x="457200" y="4315968"/>
            <a:ext cx="11274552" cy="457200"/>
          </a:xfrm>
          <a:prstGeom prst="roundRect">
            <a:avLst>
              <a:gd name="adj" fmla="val 10000"/>
            </a:avLst>
          </a:prstGeom>
          <a:solidFill>
            <a:srgbClr val="FFFFFF"/>
          </a:solidFill>
          <a:ln w="9525">
            <a:solidFill>
              <a:srgbClr val="D8D0BF"/>
            </a:solidFill>
            <a:prstDash val="solid"/>
          </a:ln>
        </p:spPr>
      </p:sp>
      <p:sp>
        <p:nvSpPr>
          <p:cNvPr id="53" name="Text 50"/>
          <p:cNvSpPr txBox="1"/>
          <p:nvPr/>
        </p:nvSpPr>
        <p:spPr>
          <a:xfrm>
            <a:off x="8805672" y="4334256"/>
            <a:ext cx="283464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نَسْتَخْدِمُ</a:t>
            </a:r>
            <a:endParaRPr lang="ar-SA" sz="1300" dirty="0"/>
          </a:p>
        </p:txBody>
      </p:sp>
      <p:sp>
        <p:nvSpPr>
          <p:cNvPr id="54" name="Text 51"/>
          <p:cNvSpPr txBox="1"/>
          <p:nvPr/>
        </p:nvSpPr>
        <p:spPr>
          <a:xfrm>
            <a:off x="8759952" y="4590288"/>
            <a:ext cx="292608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nas-takh-di-mu</a:t>
            </a:r>
            <a:endParaRPr lang="en-US" sz="950" dirty="0"/>
          </a:p>
        </p:txBody>
      </p:sp>
      <p:sp>
        <p:nvSpPr>
          <p:cNvPr id="55" name="Text 52"/>
          <p:cNvSpPr txBox="1"/>
          <p:nvPr/>
        </p:nvSpPr>
        <p:spPr>
          <a:xfrm>
            <a:off x="6446520" y="4315968"/>
            <a:ext cx="21945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use</a:t>
            </a:r>
            <a:endParaRPr lang="en-US" sz="1100" dirty="0"/>
          </a:p>
        </p:txBody>
      </p:sp>
      <p:sp>
        <p:nvSpPr>
          <p:cNvPr id="56" name="Text 53"/>
          <p:cNvSpPr txBox="1"/>
          <p:nvPr/>
        </p:nvSpPr>
        <p:spPr>
          <a:xfrm>
            <a:off x="3502152" y="4315968"/>
            <a:ext cx="2743200" cy="4572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أَنْ</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D6336C"/>
                </a:solidFill>
                <a:latin typeface="Amiri" pitchFamily="2" charset="-78"/>
                <a:ea typeface="Amiri" pitchFamily="2" charset="-78"/>
                <a:cs typeface="Amiri" pitchFamily="2" charset="-78"/>
              </a:rPr>
              <a:t>نَسْتَخْدِمَ</a:t>
            </a:r>
            <a:endParaRPr lang="ar-SA" sz="2100" dirty="0"/>
          </a:p>
        </p:txBody>
      </p:sp>
      <p:sp>
        <p:nvSpPr>
          <p:cNvPr id="57" name="Text 54"/>
          <p:cNvSpPr txBox="1"/>
          <p:nvPr/>
        </p:nvSpPr>
        <p:spPr>
          <a:xfrm>
            <a:off x="566928" y="4315968"/>
            <a:ext cx="27706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-u → -a (ḍamma → fatḥa)</a:t>
            </a:r>
            <a:endParaRPr lang="en-US" sz="1100" dirty="0"/>
          </a:p>
        </p:txBody>
      </p:sp>
      <p:sp>
        <p:nvSpPr>
          <p:cNvPr id="58" name="Shape 55"/>
          <p:cNvSpPr/>
          <p:nvPr/>
        </p:nvSpPr>
        <p:spPr>
          <a:xfrm>
            <a:off x="457200" y="4828032"/>
            <a:ext cx="11274552" cy="457200"/>
          </a:xfrm>
          <a:prstGeom prst="roundRect">
            <a:avLst>
              <a:gd name="adj" fmla="val 10000"/>
            </a:avLst>
          </a:prstGeom>
          <a:solidFill>
            <a:srgbClr val="F4F1EA"/>
          </a:solidFill>
          <a:ln w="9525">
            <a:solidFill>
              <a:srgbClr val="D8D0BF"/>
            </a:solidFill>
            <a:prstDash val="solid"/>
          </a:ln>
        </p:spPr>
      </p:sp>
      <p:sp>
        <p:nvSpPr>
          <p:cNvPr id="59" name="Text 56"/>
          <p:cNvSpPr txBox="1"/>
          <p:nvPr/>
        </p:nvSpPr>
        <p:spPr>
          <a:xfrm>
            <a:off x="8805672" y="4846320"/>
            <a:ext cx="283464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نَسْتَثْمِرُ فِي</a:t>
            </a:r>
            <a:endParaRPr lang="ar-SA" sz="1300" dirty="0"/>
          </a:p>
        </p:txBody>
      </p:sp>
      <p:sp>
        <p:nvSpPr>
          <p:cNvPr id="60" name="Text 57"/>
          <p:cNvSpPr txBox="1"/>
          <p:nvPr/>
        </p:nvSpPr>
        <p:spPr>
          <a:xfrm>
            <a:off x="8759952" y="5102352"/>
            <a:ext cx="292608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nas-tath-mi-ru fī</a:t>
            </a:r>
            <a:endParaRPr lang="en-US" sz="950" dirty="0"/>
          </a:p>
        </p:txBody>
      </p:sp>
      <p:sp>
        <p:nvSpPr>
          <p:cNvPr id="61" name="Text 58"/>
          <p:cNvSpPr txBox="1"/>
          <p:nvPr/>
        </p:nvSpPr>
        <p:spPr>
          <a:xfrm>
            <a:off x="6446520" y="4828032"/>
            <a:ext cx="21945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invest in</a:t>
            </a:r>
            <a:endParaRPr lang="en-US" sz="1100" dirty="0"/>
          </a:p>
        </p:txBody>
      </p:sp>
      <p:sp>
        <p:nvSpPr>
          <p:cNvPr id="62" name="Text 59"/>
          <p:cNvSpPr txBox="1"/>
          <p:nvPr/>
        </p:nvSpPr>
        <p:spPr>
          <a:xfrm>
            <a:off x="3502152" y="4828032"/>
            <a:ext cx="2743200" cy="4572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أَنْ</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D6336C"/>
                </a:solidFill>
                <a:latin typeface="Amiri" pitchFamily="2" charset="-78"/>
                <a:ea typeface="Amiri" pitchFamily="2" charset="-78"/>
                <a:cs typeface="Amiri" pitchFamily="2" charset="-78"/>
              </a:rPr>
              <a:t>نَسْتَثْمِرَ</a:t>
            </a:r>
            <a:endParaRPr lang="ar-SA" sz="2100" dirty="0"/>
          </a:p>
        </p:txBody>
      </p:sp>
      <p:sp>
        <p:nvSpPr>
          <p:cNvPr id="63" name="Text 60"/>
          <p:cNvSpPr txBox="1"/>
          <p:nvPr/>
        </p:nvSpPr>
        <p:spPr>
          <a:xfrm>
            <a:off x="566928" y="4828032"/>
            <a:ext cx="27706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keep </a:t>
            </a:r>
            <a:pPr algn="l" indent="0" marL="0">
              <a:buNone/>
            </a:pPr>
            <a:r>
              <a:rPr lang="ar-SA" altLang="en-US" sz="1450" dirty="0">
                <a:solidFill>
                  <a:srgbClr val="5A6472"/>
                </a:solidFill>
                <a:latin typeface="Amiri" pitchFamily="2" charset="-78"/>
                <a:ea typeface="Amiri" pitchFamily="2" charset="-78"/>
                <a:cs typeface="Amiri" pitchFamily="2" charset="-78"/>
              </a:rPr>
              <a:t>فِي</a:t>
            </a:r>
            <a:pPr algn="l" indent="0" marL="0">
              <a:buNone/>
            </a:pPr>
            <a:r>
              <a:rPr lang="en-US" sz="1100" i="1" dirty="0">
                <a:solidFill>
                  <a:srgbClr val="5A6472"/>
                </a:solidFill>
                <a:latin typeface="Calibri" pitchFamily="34" charset="0"/>
                <a:cs typeface="Amiri" pitchFamily="2" charset="-78"/>
              </a:rPr>
              <a:t> after it</a:t>
            </a:r>
            <a:endParaRPr lang="en-US" sz="1100" dirty="0"/>
          </a:p>
        </p:txBody>
      </p:sp>
      <p:sp>
        <p:nvSpPr>
          <p:cNvPr id="64" name="Shape 61"/>
          <p:cNvSpPr/>
          <p:nvPr/>
        </p:nvSpPr>
        <p:spPr>
          <a:xfrm>
            <a:off x="457200" y="5340096"/>
            <a:ext cx="11274552" cy="457200"/>
          </a:xfrm>
          <a:prstGeom prst="roundRect">
            <a:avLst>
              <a:gd name="adj" fmla="val 10000"/>
            </a:avLst>
          </a:prstGeom>
          <a:solidFill>
            <a:srgbClr val="FFFFFF"/>
          </a:solidFill>
          <a:ln w="9525">
            <a:solidFill>
              <a:srgbClr val="D8D0BF"/>
            </a:solidFill>
            <a:prstDash val="solid"/>
          </a:ln>
        </p:spPr>
      </p:sp>
      <p:sp>
        <p:nvSpPr>
          <p:cNvPr id="65" name="Text 62"/>
          <p:cNvSpPr txBox="1"/>
          <p:nvPr/>
        </p:nvSpPr>
        <p:spPr>
          <a:xfrm>
            <a:off x="8805672" y="5358384"/>
            <a:ext cx="283464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نَتَخَلَّصُ مِنْ</a:t>
            </a:r>
            <a:endParaRPr lang="ar-SA" sz="1300" dirty="0"/>
          </a:p>
        </p:txBody>
      </p:sp>
      <p:sp>
        <p:nvSpPr>
          <p:cNvPr id="66" name="Text 63"/>
          <p:cNvSpPr txBox="1"/>
          <p:nvPr/>
        </p:nvSpPr>
        <p:spPr>
          <a:xfrm>
            <a:off x="8759952" y="5614416"/>
            <a:ext cx="292608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na-ta-khal-la-ṣu min</a:t>
            </a:r>
            <a:endParaRPr lang="en-US" sz="950" dirty="0"/>
          </a:p>
        </p:txBody>
      </p:sp>
      <p:sp>
        <p:nvSpPr>
          <p:cNvPr id="67" name="Text 64"/>
          <p:cNvSpPr txBox="1"/>
          <p:nvPr/>
        </p:nvSpPr>
        <p:spPr>
          <a:xfrm>
            <a:off x="6446520" y="5340096"/>
            <a:ext cx="21945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get rid of</a:t>
            </a:r>
            <a:endParaRPr lang="en-US" sz="1100" dirty="0"/>
          </a:p>
        </p:txBody>
      </p:sp>
      <p:sp>
        <p:nvSpPr>
          <p:cNvPr id="68" name="Text 65"/>
          <p:cNvSpPr txBox="1"/>
          <p:nvPr/>
        </p:nvSpPr>
        <p:spPr>
          <a:xfrm>
            <a:off x="3502152" y="5340096"/>
            <a:ext cx="2743200" cy="4572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أَنْ</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D6336C"/>
                </a:solidFill>
                <a:latin typeface="Amiri" pitchFamily="2" charset="-78"/>
                <a:ea typeface="Amiri" pitchFamily="2" charset="-78"/>
                <a:cs typeface="Amiri" pitchFamily="2" charset="-78"/>
              </a:rPr>
              <a:t>نَتَخَلَّصَ</a:t>
            </a:r>
            <a:endParaRPr lang="ar-SA" sz="2100" dirty="0"/>
          </a:p>
        </p:txBody>
      </p:sp>
      <p:sp>
        <p:nvSpPr>
          <p:cNvPr id="69" name="Text 66"/>
          <p:cNvSpPr txBox="1"/>
          <p:nvPr/>
        </p:nvSpPr>
        <p:spPr>
          <a:xfrm>
            <a:off x="566928" y="5340096"/>
            <a:ext cx="27706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keep </a:t>
            </a:r>
            <a:pPr algn="l" indent="0" marL="0">
              <a:buNone/>
            </a:pPr>
            <a:r>
              <a:rPr lang="ar-SA" altLang="en-US" sz="1450" dirty="0">
                <a:solidFill>
                  <a:srgbClr val="5A6472"/>
                </a:solidFill>
                <a:latin typeface="Amiri" pitchFamily="2" charset="-78"/>
                <a:ea typeface="Amiri" pitchFamily="2" charset="-78"/>
                <a:cs typeface="Amiri" pitchFamily="2" charset="-78"/>
              </a:rPr>
              <a:t>مِنْ</a:t>
            </a:r>
            <a:pPr algn="l" indent="0" marL="0">
              <a:buNone/>
            </a:pPr>
            <a:r>
              <a:rPr lang="en-US" sz="1100" i="1" dirty="0">
                <a:solidFill>
                  <a:srgbClr val="5A6472"/>
                </a:solidFill>
                <a:latin typeface="Calibri" pitchFamily="34" charset="0"/>
                <a:cs typeface="Amiri" pitchFamily="2" charset="-78"/>
              </a:rPr>
              <a:t> after it</a:t>
            </a:r>
            <a:endParaRPr lang="en-US" sz="1100" dirty="0"/>
          </a:p>
        </p:txBody>
      </p:sp>
      <p:sp>
        <p:nvSpPr>
          <p:cNvPr id="70" name="Shape 67"/>
          <p:cNvSpPr/>
          <p:nvPr/>
        </p:nvSpPr>
        <p:spPr>
          <a:xfrm>
            <a:off x="457200" y="5852160"/>
            <a:ext cx="11274552" cy="457200"/>
          </a:xfrm>
          <a:prstGeom prst="roundRect">
            <a:avLst>
              <a:gd name="adj" fmla="val 10000"/>
            </a:avLst>
          </a:prstGeom>
          <a:solidFill>
            <a:srgbClr val="F4F1EA"/>
          </a:solidFill>
          <a:ln w="9525">
            <a:solidFill>
              <a:srgbClr val="D8D0BF"/>
            </a:solidFill>
            <a:prstDash val="solid"/>
          </a:ln>
        </p:spPr>
      </p:sp>
      <p:sp>
        <p:nvSpPr>
          <p:cNvPr id="71" name="Text 68"/>
          <p:cNvSpPr txBox="1"/>
          <p:nvPr/>
        </p:nvSpPr>
        <p:spPr>
          <a:xfrm>
            <a:off x="8805672" y="5870448"/>
            <a:ext cx="283464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نَتَبَنَّى</a:t>
            </a:r>
            <a:endParaRPr lang="ar-SA" sz="1300" dirty="0"/>
          </a:p>
        </p:txBody>
      </p:sp>
      <p:sp>
        <p:nvSpPr>
          <p:cNvPr id="72" name="Text 69"/>
          <p:cNvSpPr txBox="1"/>
          <p:nvPr/>
        </p:nvSpPr>
        <p:spPr>
          <a:xfrm>
            <a:off x="8759952" y="6126480"/>
            <a:ext cx="292608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na-ta-ban-nā</a:t>
            </a:r>
            <a:endParaRPr lang="en-US" sz="950" dirty="0"/>
          </a:p>
        </p:txBody>
      </p:sp>
      <p:sp>
        <p:nvSpPr>
          <p:cNvPr id="73" name="Text 70"/>
          <p:cNvSpPr txBox="1"/>
          <p:nvPr/>
        </p:nvSpPr>
        <p:spPr>
          <a:xfrm>
            <a:off x="6446520" y="5852160"/>
            <a:ext cx="21945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adopt</a:t>
            </a:r>
            <a:endParaRPr lang="en-US" sz="1100" dirty="0"/>
          </a:p>
        </p:txBody>
      </p:sp>
      <p:sp>
        <p:nvSpPr>
          <p:cNvPr id="74" name="Text 71"/>
          <p:cNvSpPr txBox="1"/>
          <p:nvPr/>
        </p:nvSpPr>
        <p:spPr>
          <a:xfrm>
            <a:off x="3502152" y="5852160"/>
            <a:ext cx="2743200" cy="4572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أَنْ</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D6336C"/>
                </a:solidFill>
                <a:latin typeface="Amiri" pitchFamily="2" charset="-78"/>
                <a:ea typeface="Amiri" pitchFamily="2" charset="-78"/>
                <a:cs typeface="Amiri" pitchFamily="2" charset="-78"/>
              </a:rPr>
              <a:t>نَتَبَنَّى</a:t>
            </a:r>
            <a:endParaRPr lang="ar-SA" sz="2100" dirty="0"/>
          </a:p>
        </p:txBody>
      </p:sp>
      <p:sp>
        <p:nvSpPr>
          <p:cNvPr id="75" name="Text 72"/>
          <p:cNvSpPr txBox="1"/>
          <p:nvPr/>
        </p:nvSpPr>
        <p:spPr>
          <a:xfrm>
            <a:off x="566928" y="5852160"/>
            <a:ext cx="27706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ends in </a:t>
            </a:r>
            <a:pPr algn="l" indent="0" marL="0">
              <a:buNone/>
            </a:pPr>
            <a:r>
              <a:rPr lang="ar-SA" altLang="en-US" sz="1450" dirty="0">
                <a:solidFill>
                  <a:srgbClr val="5A6472"/>
                </a:solidFill>
                <a:latin typeface="Amiri" pitchFamily="2" charset="-78"/>
                <a:ea typeface="Amiri" pitchFamily="2" charset="-78"/>
                <a:cs typeface="Amiri" pitchFamily="2" charset="-78"/>
              </a:rPr>
              <a:t>ى</a:t>
            </a:r>
            <a:pPr algn="l" indent="0" marL="0">
              <a:buNone/>
            </a:pPr>
            <a:r>
              <a:rPr lang="en-US" sz="1100" i="1" dirty="0">
                <a:solidFill>
                  <a:srgbClr val="5A6472"/>
                </a:solidFill>
                <a:latin typeface="Calibri" pitchFamily="34" charset="0"/>
                <a:cs typeface="Amiri" pitchFamily="2" charset="-78"/>
              </a:rPr>
              <a:t> — no visible change</a:t>
            </a:r>
            <a:endParaRPr lang="en-US" sz="110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4 · ADVICE, OBLIGATION AND PURPOSE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Advice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النَّصِيحَةُ وَالوَاجِبُ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 verb (ـَ)</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ea typeface="Amiri" pitchFamily="2" charset="-78"/>
                <a:cs typeface="Amiri" pitchFamily="2" charset="-78"/>
              </a:rPr>
              <a:t>يَنْبَغِي أَنْ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should</a:t>
            </a:r>
            <a:endParaRPr lang="en-US" sz="1350" dirty="0"/>
          </a:p>
          <a:p>
            <a:pPr indent="0" marL="0">
              <a:buNone/>
            </a:pPr>
            <a:r>
              <a:rPr lang="en-US" sz="1100" i="1" dirty="0">
                <a:solidFill>
                  <a:srgbClr val="5A6472"/>
                </a:solidFill>
                <a:latin typeface="Calibri" pitchFamily="34" charset="0"/>
                <a:cs typeface="Amiri" pitchFamily="2" charset="-78"/>
              </a:rPr>
              <a:t>yan-ba-ghī an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 verb (ـَ)</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ea typeface="Amiri" pitchFamily="2" charset="-78"/>
                <a:cs typeface="Amiri" pitchFamily="2" charset="-78"/>
              </a:rPr>
              <a:t>يَجِبُ أَنْ</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must</a:t>
            </a:r>
            <a:endParaRPr lang="en-US" sz="1350" dirty="0"/>
          </a:p>
          <a:p>
            <a:pPr indent="0" marL="0">
              <a:buNone/>
            </a:pPr>
            <a:r>
              <a:rPr lang="en-US" sz="1100" i="1" dirty="0">
                <a:solidFill>
                  <a:srgbClr val="5A6472"/>
                </a:solidFill>
                <a:latin typeface="Calibri" pitchFamily="34" charset="0"/>
                <a:cs typeface="Amiri" pitchFamily="2" charset="-78"/>
              </a:rPr>
              <a:t>ya-ji-bu an</a:t>
            </a:r>
            <a:endParaRPr lang="en-US" sz="1350" dirty="0"/>
          </a:p>
        </p:txBody>
      </p:sp>
      <p:sp>
        <p:nvSpPr>
          <p:cNvPr id="33" name="Text 30"/>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Name who: </a:t>
            </a:r>
            <a:pPr algn="l" indent="0" marL="0">
              <a:buNone/>
            </a:pPr>
            <a:r>
              <a:rPr lang="ar-SA" altLang="en-US" sz="1300" dirty="0">
                <a:solidFill>
                  <a:srgbClr val="8A6D1E"/>
                </a:solidFill>
                <a:latin typeface="Amiri" pitchFamily="2" charset="-78"/>
                <a:ea typeface="Amiri" pitchFamily="2" charset="-78"/>
                <a:cs typeface="Amiri" pitchFamily="2" charset="-78"/>
              </a:rPr>
              <a:t>يَجِبُ عَلَى … أَنْ</a:t>
            </a:r>
            <a:endParaRPr lang="en-US" sz="10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7" name="Shape 34"/>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 verb (ـَ)</a:t>
            </a:r>
            <a:endParaRPr lang="en-US" sz="800" dirty="0"/>
          </a:p>
        </p:txBody>
      </p:sp>
      <p:sp>
        <p:nvSpPr>
          <p:cNvPr id="39" name="Shape 36"/>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ea typeface="Amiri" pitchFamily="2" charset="-78"/>
                <a:cs typeface="Amiri" pitchFamily="2" charset="-78"/>
              </a:rPr>
              <a:t>يُمْكِنُ أَنْ</a:t>
            </a:r>
            <a:endParaRPr lang="ar-SA" sz="3000" dirty="0"/>
          </a:p>
        </p:txBody>
      </p:sp>
      <p:sp>
        <p:nvSpPr>
          <p:cNvPr id="42" name="Text 3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possible to, (we) can</a:t>
            </a:r>
            <a:endParaRPr lang="en-US" sz="1350" dirty="0"/>
          </a:p>
          <a:p>
            <a:pPr indent="0" marL="0">
              <a:buNone/>
            </a:pPr>
            <a:r>
              <a:rPr lang="en-US" sz="1100" i="1" dirty="0">
                <a:solidFill>
                  <a:srgbClr val="5A6472"/>
                </a:solidFill>
                <a:latin typeface="Calibri" pitchFamily="34" charset="0"/>
                <a:cs typeface="Amiri" pitchFamily="2" charset="-78"/>
              </a:rPr>
              <a:t>yum-ki-nu an</a:t>
            </a:r>
            <a:endParaRPr lang="en-US" sz="1350" dirty="0"/>
          </a:p>
        </p:txBody>
      </p:sp>
      <p:sp>
        <p:nvSpPr>
          <p:cNvPr id="43" name="Text 40"/>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Urdu: </a:t>
            </a:r>
            <a:pPr algn="l" indent="0" marL="0">
              <a:buNone/>
            </a:pPr>
            <a:r>
              <a:rPr lang="ar-SA" altLang="en-US" sz="1300" dirty="0">
                <a:solidFill>
                  <a:srgbClr val="8A6D1E"/>
                </a:solidFill>
                <a:latin typeface="Amiri" pitchFamily="2" charset="-78"/>
                <a:ea typeface="Amiri" pitchFamily="2" charset="-78"/>
                <a:cs typeface="Amiri" pitchFamily="2" charset="-78"/>
              </a:rPr>
              <a:t>ممکن</a:t>
            </a:r>
            <a:endParaRPr lang="en-US" sz="10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7" name="Shape 44"/>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 verb (ـَ)</a:t>
            </a:r>
            <a:endParaRPr lang="en-US" sz="8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ea typeface="Amiri" pitchFamily="2" charset="-78"/>
                <a:cs typeface="Amiri" pitchFamily="2" charset="-78"/>
              </a:rPr>
              <a:t>لِكَيْ</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order to, so that</a:t>
            </a:r>
            <a:endParaRPr lang="en-US" sz="1350" dirty="0"/>
          </a:p>
          <a:p>
            <a:pPr indent="0" marL="0">
              <a:buNone/>
            </a:pPr>
            <a:r>
              <a:rPr lang="en-US" sz="1100" i="1" dirty="0">
                <a:solidFill>
                  <a:srgbClr val="5A6472"/>
                </a:solidFill>
                <a:latin typeface="Calibri" pitchFamily="34" charset="0"/>
                <a:cs typeface="Amiri" pitchFamily="2" charset="-78"/>
              </a:rPr>
              <a:t>li-kay</a:t>
            </a:r>
            <a:endParaRPr lang="en-US" sz="1350" dirty="0"/>
          </a:p>
        </p:txBody>
      </p:sp>
      <p:sp>
        <p:nvSpPr>
          <p:cNvPr id="51" name="Text 48"/>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Purpose — TC-L02.</a:t>
            </a:r>
            <a:endParaRPr lang="en-US" sz="1000" dirty="0"/>
          </a:p>
        </p:txBody>
      </p:sp>
      <p:sp>
        <p:nvSpPr>
          <p:cNvPr id="52" name="Shape 4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4389120"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5" name="Shape 52"/>
          <p:cNvSpPr/>
          <p:nvPr/>
        </p:nvSpPr>
        <p:spPr>
          <a:xfrm>
            <a:off x="4782312" y="4279392"/>
            <a:ext cx="958291"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4782312" y="4279392"/>
            <a:ext cx="958291"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 verb (ـَ)</a:t>
            </a:r>
            <a:endParaRPr lang="en-US" sz="800" dirty="0"/>
          </a:p>
        </p:txBody>
      </p:sp>
      <p:sp>
        <p:nvSpPr>
          <p:cNvPr id="57" name="Text 5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ea typeface="Amiri" pitchFamily="2" charset="-78"/>
                <a:cs typeface="Amiri" pitchFamily="2" charset="-78"/>
              </a:rPr>
              <a:t>مِنَ الضَّرُورِيِّ أَنْ</a:t>
            </a:r>
            <a:endParaRPr lang="ar-SA" sz="3000" dirty="0"/>
          </a:p>
        </p:txBody>
      </p:sp>
      <p:sp>
        <p:nvSpPr>
          <p:cNvPr id="58" name="Text 5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necessary to</a:t>
            </a:r>
            <a:endParaRPr lang="en-US" sz="1350" dirty="0"/>
          </a:p>
          <a:p>
            <a:pPr indent="0" marL="0">
              <a:buNone/>
            </a:pPr>
            <a:r>
              <a:rPr lang="en-US" sz="1100" i="1" dirty="0">
                <a:solidFill>
                  <a:srgbClr val="5A6472"/>
                </a:solidFill>
                <a:latin typeface="Calibri" pitchFamily="34" charset="0"/>
                <a:cs typeface="Amiri" pitchFamily="2" charset="-78"/>
              </a:rPr>
              <a:t>mi-na ḍ-ḍa-rū-riy-yi an</a:t>
            </a:r>
            <a:endParaRPr lang="en-US" sz="1350" dirty="0"/>
          </a:p>
        </p:txBody>
      </p:sp>
      <p:sp>
        <p:nvSpPr>
          <p:cNvPr id="59" name="Text 56"/>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Urdu: </a:t>
            </a:r>
            <a:pPr algn="l" indent="0" marL="0">
              <a:buNone/>
            </a:pPr>
            <a:r>
              <a:rPr lang="ar-SA" altLang="en-US" sz="1300" dirty="0">
                <a:solidFill>
                  <a:srgbClr val="8A6D1E"/>
                </a:solidFill>
                <a:latin typeface="Amiri" pitchFamily="2" charset="-78"/>
                <a:ea typeface="Amiri" pitchFamily="2" charset="-78"/>
                <a:cs typeface="Amiri" pitchFamily="2" charset="-78"/>
              </a:rPr>
              <a:t>ضروری</a:t>
            </a:r>
            <a:endParaRPr lang="en-US" sz="1000" dirty="0"/>
          </a:p>
        </p:txBody>
      </p:sp>
      <p:sp>
        <p:nvSpPr>
          <p:cNvPr id="60" name="Shape 5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66928"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3" name="Shape 60"/>
          <p:cNvSpPr/>
          <p:nvPr/>
        </p:nvSpPr>
        <p:spPr>
          <a:xfrm>
            <a:off x="960120" y="4279392"/>
            <a:ext cx="958291"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960120" y="4279392"/>
            <a:ext cx="958291"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 verb (ـَ)</a:t>
            </a:r>
            <a:endParaRPr lang="en-US" sz="800" dirty="0"/>
          </a:p>
        </p:txBody>
      </p:sp>
      <p:sp>
        <p:nvSpPr>
          <p:cNvPr id="65" name="Text 6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ea typeface="Amiri" pitchFamily="2" charset="-78"/>
                <a:cs typeface="Amiri" pitchFamily="2" charset="-78"/>
              </a:rPr>
              <a:t>مِنَ الأَفْضَلِ أَنْ</a:t>
            </a:r>
            <a:endParaRPr lang="ar-SA" sz="3000" dirty="0"/>
          </a:p>
        </p:txBody>
      </p:sp>
      <p:sp>
        <p:nvSpPr>
          <p:cNvPr id="66" name="Text 6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better to</a:t>
            </a:r>
            <a:endParaRPr lang="en-US" sz="1350" dirty="0"/>
          </a:p>
          <a:p>
            <a:pPr indent="0" marL="0">
              <a:buNone/>
            </a:pPr>
            <a:r>
              <a:rPr lang="en-US" sz="1100" i="1" dirty="0">
                <a:solidFill>
                  <a:srgbClr val="5A6472"/>
                </a:solidFill>
                <a:latin typeface="Calibri" pitchFamily="34" charset="0"/>
                <a:cs typeface="Amiri" pitchFamily="2" charset="-78"/>
              </a:rPr>
              <a:t>mi-na l-af-ḍa-li an</a:t>
            </a:r>
            <a:endParaRPr lang="en-US" sz="1350" dirty="0"/>
          </a:p>
        </p:txBody>
      </p:sp>
      <p:sp>
        <p:nvSpPr>
          <p:cNvPr id="67" name="Text 64"/>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Website game.</a:t>
            </a:r>
            <a:endParaRPr lang="en-US" sz="100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ADVICE + A “WE” VERB</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Give advice in three steps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اُنْصَحْ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28800"/>
            <a:ext cx="11274552" cy="2331720"/>
          </a:xfrm>
          <a:prstGeom prst="roundRect">
            <a:avLst>
              <a:gd name="adj" fmla="val 313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371600" y="1828800"/>
            <a:ext cx="9445752" cy="1572768"/>
          </a:xfrm>
          <a:prstGeom prst="rect">
            <a:avLst/>
          </a:prstGeom>
          <a:noFill/>
          <a:ln/>
        </p:spPr>
        <p:txBody>
          <a:bodyPr wrap="square" lIns="0" tIns="0" rIns="0" bIns="0" rtlCol="0" anchor="ctr"/>
          <a:lstStyle/>
          <a:p>
            <a:pPr rtl="1" algn="ctr" indent="0" marL="0">
              <a:buNone/>
            </a:pPr>
            <a:r>
              <a:rPr lang="ar-SA" altLang="en-US" sz="7200" b="1" dirty="0">
                <a:solidFill>
                  <a:srgbClr val="0E7C86"/>
                </a:solidFill>
                <a:latin typeface="Amiri" pitchFamily="2" charset="-78"/>
                <a:ea typeface="Amiri" pitchFamily="2" charset="-78"/>
                <a:cs typeface="Amiri" pitchFamily="2" charset="-78"/>
              </a:rPr>
              <a:t>يَنْبَغِي أَنْ</a:t>
            </a:r>
            <a:pPr rtl="1" algn="ctr" indent="0" marL="0">
              <a:buNone/>
            </a:pPr>
            <a:r>
              <a:rPr lang="ar-SA" altLang="en-US" sz="7200" b="1" dirty="0">
                <a:solidFill>
                  <a:srgbClr val="1B3B6F"/>
                </a:solidFill>
                <a:latin typeface="Amiri" pitchFamily="2" charset="-78"/>
                <a:cs typeface="Amiri" pitchFamily="2" charset="-78"/>
              </a:rPr>
              <a:t> </a:t>
            </a:r>
            <a:pPr rtl="1" algn="ctr" indent="0" marL="0">
              <a:buNone/>
            </a:pPr>
            <a:r>
              <a:rPr lang="ar-SA" altLang="en-US" sz="7200" b="1" dirty="0">
                <a:solidFill>
                  <a:srgbClr val="1D5FBF"/>
                </a:solidFill>
                <a:latin typeface="Amiri" pitchFamily="2" charset="-78"/>
                <a:ea typeface="Amiri" pitchFamily="2" charset="-78"/>
                <a:cs typeface="Amiri" pitchFamily="2" charset="-78"/>
              </a:rPr>
              <a:t>نُ</a:t>
            </a:r>
            <a:pPr rtl="1" algn="ctr" indent="0" marL="0">
              <a:buNone/>
            </a:pPr>
            <a:r>
              <a:rPr lang="ar-SA" altLang="en-US" sz="7200" b="1" dirty="0">
                <a:solidFill>
                  <a:srgbClr val="D6336C"/>
                </a:solidFill>
                <a:latin typeface="Amiri" pitchFamily="2" charset="-78"/>
                <a:ea typeface="Amiri" pitchFamily="2" charset="-78"/>
                <a:cs typeface="Amiri" pitchFamily="2" charset="-78"/>
              </a:rPr>
              <a:t>قَلِّلَ</a:t>
            </a:r>
            <a:endParaRPr lang="ar-SA" sz="7200" dirty="0"/>
          </a:p>
        </p:txBody>
      </p:sp>
      <p:sp>
        <p:nvSpPr>
          <p:cNvPr id="17" name="Text 14"/>
          <p:cNvSpPr txBox="1"/>
          <p:nvPr/>
        </p:nvSpPr>
        <p:spPr>
          <a:xfrm>
            <a:off x="457200" y="3675888"/>
            <a:ext cx="11274552" cy="365760"/>
          </a:xfrm>
          <a:prstGeom prst="rect">
            <a:avLst/>
          </a:prstGeom>
          <a:noFill/>
          <a:ln/>
        </p:spPr>
        <p:txBody>
          <a:bodyPr wrap="square" lIns="0" tIns="0" rIns="0" bIns="0" rtlCol="0" anchor="ctr"/>
          <a:lstStyle/>
          <a:p>
            <a:pPr algn="ctr" indent="0" marL="0">
              <a:buNone/>
            </a:pPr>
            <a:r>
              <a:rPr lang="en-US" sz="1500" i="1" dirty="0">
                <a:solidFill>
                  <a:srgbClr val="5A6472"/>
                </a:solidFill>
                <a:latin typeface="Calibri" pitchFamily="34" charset="0"/>
                <a:cs typeface="Amiri" pitchFamily="2" charset="-78"/>
              </a:rPr>
              <a:t>yan-ba-ghī an nu-qal-li-la · we should reduce</a:t>
            </a:r>
            <a:endParaRPr lang="en-US" sz="1500" dirty="0"/>
          </a:p>
        </p:txBody>
      </p:sp>
      <p:sp>
        <p:nvSpPr>
          <p:cNvPr id="18" name="Shape 15"/>
          <p:cNvSpPr/>
          <p:nvPr/>
        </p:nvSpPr>
        <p:spPr>
          <a:xfrm>
            <a:off x="8095488" y="4370832"/>
            <a:ext cx="3636264" cy="1783080"/>
          </a:xfrm>
          <a:prstGeom prst="roundRect">
            <a:avLst>
              <a:gd name="adj" fmla="val 4103"/>
            </a:avLst>
          </a:prstGeom>
          <a:solidFill>
            <a:srgbClr val="FFFFFF"/>
          </a:solidFill>
          <a:ln w="19050">
            <a:solidFill>
              <a:srgbClr val="0E7C86"/>
            </a:solidFill>
            <a:prstDash val="solid"/>
          </a:ln>
          <a:effectLst>
            <a:outerShdw sx="100000" sy="100000" kx="0" ky="0" algn="bl" rotWithShape="0" blurRad="50800" dist="19050" dir="5400000">
              <a:srgbClr val="000000">
                <a:alpha val="10000"/>
              </a:srgbClr>
            </a:outerShdw>
          </a:effectLst>
        </p:spPr>
      </p:sp>
      <p:sp>
        <p:nvSpPr>
          <p:cNvPr id="19" name="Text 16"/>
          <p:cNvSpPr txBox="1"/>
          <p:nvPr/>
        </p:nvSpPr>
        <p:spPr>
          <a:xfrm>
            <a:off x="8278368"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1</a:t>
            </a:r>
            <a:endParaRPr lang="en-US" sz="3000" dirty="0"/>
          </a:p>
        </p:txBody>
      </p:sp>
      <p:sp>
        <p:nvSpPr>
          <p:cNvPr id="20" name="Text 17"/>
          <p:cNvSpPr txBox="1"/>
          <p:nvPr/>
        </p:nvSpPr>
        <p:spPr>
          <a:xfrm>
            <a:off x="8827008"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0E7C86"/>
                </a:solidFill>
                <a:latin typeface="Amiri" pitchFamily="2" charset="-78"/>
                <a:ea typeface="Amiri" pitchFamily="2" charset="-78"/>
                <a:cs typeface="Amiri" pitchFamily="2" charset="-78"/>
              </a:rPr>
              <a:t>يَنْبَغِي أَنْ</a:t>
            </a:r>
            <a:endParaRPr lang="ar-SA" sz="3400" dirty="0"/>
          </a:p>
        </p:txBody>
      </p:sp>
      <p:sp>
        <p:nvSpPr>
          <p:cNvPr id="21" name="Text 18"/>
          <p:cNvSpPr txBox="1"/>
          <p:nvPr/>
        </p:nvSpPr>
        <p:spPr>
          <a:xfrm>
            <a:off x="8278368" y="5120640"/>
            <a:ext cx="3270504" cy="310896"/>
          </a:xfrm>
          <a:prstGeom prst="rect">
            <a:avLst/>
          </a:prstGeom>
          <a:noFill/>
          <a:ln/>
        </p:spPr>
        <p:txBody>
          <a:bodyPr wrap="square" lIns="0" tIns="0" rIns="0" bIns="0" rtlCol="0" anchor="ctr"/>
          <a:lstStyle/>
          <a:p>
            <a:pPr algn="l" indent="0" marL="0">
              <a:buNone/>
            </a:pPr>
            <a:r>
              <a:rPr lang="en-US" sz="1600" b="1" dirty="0">
                <a:solidFill>
                  <a:srgbClr val="0E7C86"/>
                </a:solidFill>
                <a:latin typeface="Calibri" pitchFamily="34" charset="0"/>
                <a:cs typeface="Amiri" pitchFamily="2" charset="-78"/>
              </a:rPr>
              <a:t>ADVICE word</a:t>
            </a:r>
            <a:endParaRPr lang="en-US" sz="1600" dirty="0"/>
          </a:p>
        </p:txBody>
      </p:sp>
      <p:sp>
        <p:nvSpPr>
          <p:cNvPr id="22" name="Text 19"/>
          <p:cNvSpPr txBox="1"/>
          <p:nvPr/>
        </p:nvSpPr>
        <p:spPr>
          <a:xfrm>
            <a:off x="8278368" y="5440680"/>
            <a:ext cx="3270504" cy="658368"/>
          </a:xfrm>
          <a:prstGeom prst="rect">
            <a:avLst/>
          </a:prstGeom>
          <a:noFill/>
          <a:ln/>
        </p:spPr>
        <p:txBody>
          <a:bodyPr wrap="square" lIns="0" tIns="0" rIns="0" bIns="0" rtlCol="0" anchor="t"/>
          <a:lstStyle/>
          <a:p>
            <a:pPr algn="l" indent="0" marL="0">
              <a:buNone/>
            </a:pPr>
            <a:r>
              <a:rPr lang="ar-SA" altLang="en-US" sz="1500" dirty="0">
                <a:solidFill>
                  <a:srgbClr val="5A6472"/>
                </a:solidFill>
                <a:latin typeface="Amiri" pitchFamily="2" charset="-78"/>
                <a:ea typeface="Amiri" pitchFamily="2" charset="-78"/>
                <a:cs typeface="Amiri" pitchFamily="2" charset="-78"/>
              </a:rPr>
              <a:t>يَنْبَغِي أَنْ</a:t>
            </a:r>
            <a:pPr algn="l" indent="0" marL="0">
              <a:buNone/>
            </a:pPr>
            <a:r>
              <a:rPr lang="en-US" sz="1150" dirty="0">
                <a:solidFill>
                  <a:srgbClr val="5A6472"/>
                </a:solidFill>
                <a:latin typeface="Calibri" pitchFamily="34" charset="0"/>
                <a:cs typeface="Amiri" pitchFamily="2" charset="-78"/>
              </a:rPr>
              <a:t> = should · </a:t>
            </a:r>
            <a:pPr algn="l" indent="0" marL="0">
              <a:buNone/>
            </a:pPr>
            <a:r>
              <a:rPr lang="ar-SA" altLang="en-US" sz="1500" dirty="0">
                <a:solidFill>
                  <a:srgbClr val="5A6472"/>
                </a:solidFill>
                <a:latin typeface="Amiri" pitchFamily="2" charset="-78"/>
                <a:ea typeface="Amiri" pitchFamily="2" charset="-78"/>
                <a:cs typeface="Amiri" pitchFamily="2" charset="-78"/>
              </a:rPr>
              <a:t>يَجِبُ أَنْ</a:t>
            </a:r>
            <a:pPr algn="l" indent="0" marL="0">
              <a:buNone/>
            </a:pPr>
            <a:r>
              <a:rPr lang="en-US" sz="1150" dirty="0">
                <a:solidFill>
                  <a:srgbClr val="5A6472"/>
                </a:solidFill>
                <a:latin typeface="Calibri" pitchFamily="34" charset="0"/>
                <a:cs typeface="Amiri" pitchFamily="2" charset="-78"/>
              </a:rPr>
              <a:t> = must · </a:t>
            </a:r>
            <a:pPr algn="l" indent="0" marL="0">
              <a:buNone/>
            </a:pPr>
            <a:r>
              <a:rPr lang="ar-SA" altLang="en-US" sz="1500" dirty="0">
                <a:solidFill>
                  <a:srgbClr val="5A6472"/>
                </a:solidFill>
                <a:latin typeface="Amiri" pitchFamily="2" charset="-78"/>
                <a:ea typeface="Amiri" pitchFamily="2" charset="-78"/>
                <a:cs typeface="Amiri" pitchFamily="2" charset="-78"/>
              </a:rPr>
              <a:t>يُمْكِنُ أَنْ</a:t>
            </a:r>
            <a:pPr algn="l" indent="0" marL="0">
              <a:buNone/>
            </a:pPr>
            <a:r>
              <a:rPr lang="en-US" sz="1150" dirty="0">
                <a:solidFill>
                  <a:srgbClr val="5A6472"/>
                </a:solidFill>
                <a:latin typeface="Calibri" pitchFamily="34" charset="0"/>
                <a:cs typeface="Amiri" pitchFamily="2" charset="-78"/>
              </a:rPr>
              <a:t> = can.</a:t>
            </a:r>
            <a:endParaRPr lang="en-US" sz="1150" dirty="0"/>
          </a:p>
        </p:txBody>
      </p:sp>
      <p:sp>
        <p:nvSpPr>
          <p:cNvPr id="23" name="Shape 20"/>
          <p:cNvSpPr/>
          <p:nvPr/>
        </p:nvSpPr>
        <p:spPr>
          <a:xfrm>
            <a:off x="4276344" y="4370832"/>
            <a:ext cx="3636264" cy="1783080"/>
          </a:xfrm>
          <a:prstGeom prst="roundRect">
            <a:avLst>
              <a:gd name="adj" fmla="val 4103"/>
            </a:avLst>
          </a:prstGeom>
          <a:solidFill>
            <a:srgbClr val="FFFFFF"/>
          </a:solidFill>
          <a:ln w="19050">
            <a:solidFill>
              <a:srgbClr val="1D5F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4459224"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2</a:t>
            </a:r>
            <a:endParaRPr lang="en-US" sz="3000" dirty="0"/>
          </a:p>
        </p:txBody>
      </p:sp>
      <p:sp>
        <p:nvSpPr>
          <p:cNvPr id="25" name="Text 22"/>
          <p:cNvSpPr txBox="1"/>
          <p:nvPr/>
        </p:nvSpPr>
        <p:spPr>
          <a:xfrm>
            <a:off x="5007864"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1D5FBF"/>
                </a:solidFill>
                <a:latin typeface="Amiri" pitchFamily="2" charset="-78"/>
                <a:ea typeface="Amiri" pitchFamily="2" charset="-78"/>
                <a:cs typeface="Amiri" pitchFamily="2" charset="-78"/>
              </a:rPr>
              <a:t>نُـ</a:t>
            </a:r>
            <a:endParaRPr lang="ar-SA" sz="3400" dirty="0"/>
          </a:p>
        </p:txBody>
      </p:sp>
      <p:sp>
        <p:nvSpPr>
          <p:cNvPr id="26" name="Text 23"/>
          <p:cNvSpPr txBox="1"/>
          <p:nvPr/>
        </p:nvSpPr>
        <p:spPr>
          <a:xfrm>
            <a:off x="4459224" y="5120640"/>
            <a:ext cx="3270504" cy="310896"/>
          </a:xfrm>
          <a:prstGeom prst="rect">
            <a:avLst/>
          </a:prstGeom>
          <a:noFill/>
          <a:ln/>
        </p:spPr>
        <p:txBody>
          <a:bodyPr wrap="square" lIns="0" tIns="0" rIns="0" bIns="0" rtlCol="0" anchor="ctr"/>
          <a:lstStyle/>
          <a:p>
            <a:pPr algn="l" indent="0" marL="0">
              <a:buNone/>
            </a:pPr>
            <a:r>
              <a:rPr lang="en-US" sz="1600" b="1" dirty="0">
                <a:solidFill>
                  <a:srgbClr val="1D5FBF"/>
                </a:solidFill>
                <a:latin typeface="Calibri" pitchFamily="34" charset="0"/>
                <a:cs typeface="Amiri" pitchFamily="2" charset="-78"/>
              </a:rPr>
              <a:t>WHO? </a:t>
            </a:r>
            <a:pPr algn="l" indent="0" marL="0">
              <a:buNone/>
            </a:pPr>
            <a:r>
              <a:rPr lang="ar-SA" altLang="en-US" sz="2100" b="1" dirty="0">
                <a:solidFill>
                  <a:srgbClr val="1D5FBF"/>
                </a:solidFill>
                <a:latin typeface="Amiri" pitchFamily="2" charset="-78"/>
                <a:ea typeface="Amiri" pitchFamily="2" charset="-78"/>
                <a:cs typeface="Amiri" pitchFamily="2" charset="-78"/>
              </a:rPr>
              <a:t>نُـ / نَـ</a:t>
            </a:r>
            <a:pPr algn="l" indent="0" marL="0">
              <a:buNone/>
            </a:pPr>
            <a:r>
              <a:rPr lang="en-US" sz="1600" b="1" dirty="0">
                <a:solidFill>
                  <a:srgbClr val="1D5FBF"/>
                </a:solidFill>
                <a:latin typeface="Calibri" pitchFamily="34" charset="0"/>
                <a:cs typeface="Amiri" pitchFamily="2" charset="-78"/>
              </a:rPr>
              <a:t> = we</a:t>
            </a:r>
            <a:endParaRPr lang="en-US" sz="1600" dirty="0"/>
          </a:p>
        </p:txBody>
      </p:sp>
      <p:sp>
        <p:nvSpPr>
          <p:cNvPr id="27" name="Text 24"/>
          <p:cNvSpPr txBox="1"/>
          <p:nvPr/>
        </p:nvSpPr>
        <p:spPr>
          <a:xfrm>
            <a:off x="4459224"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cs typeface="Amiri" pitchFamily="2" charset="-78"/>
              </a:rPr>
              <a:t>The verb starts with </a:t>
            </a:r>
            <a:pPr algn="l" indent="0" marL="0">
              <a:buNone/>
            </a:pPr>
            <a:r>
              <a:rPr lang="ar-SA" altLang="en-US" sz="1500" dirty="0">
                <a:solidFill>
                  <a:srgbClr val="5A6472"/>
                </a:solidFill>
                <a:latin typeface="Amiri" pitchFamily="2" charset="-78"/>
                <a:ea typeface="Amiri" pitchFamily="2" charset="-78"/>
                <a:cs typeface="Amiri" pitchFamily="2" charset="-78"/>
              </a:rPr>
              <a:t>نُـ</a:t>
            </a:r>
            <a:pPr algn="l" indent="0" marL="0">
              <a:buNone/>
            </a:pPr>
            <a:r>
              <a:rPr lang="en-US" sz="1150" dirty="0">
                <a:solidFill>
                  <a:srgbClr val="5A6472"/>
                </a:solidFill>
                <a:latin typeface="Calibri" pitchFamily="34" charset="0"/>
                <a:cs typeface="Amiri" pitchFamily="2" charset="-78"/>
              </a:rPr>
              <a:t> or </a:t>
            </a:r>
            <a:pPr algn="l" indent="0" marL="0">
              <a:buNone/>
            </a:pPr>
            <a:r>
              <a:rPr lang="ar-SA" altLang="en-US" sz="1500" dirty="0">
                <a:solidFill>
                  <a:srgbClr val="5A6472"/>
                </a:solidFill>
                <a:latin typeface="Amiri" pitchFamily="2" charset="-78"/>
                <a:ea typeface="Amiri" pitchFamily="2" charset="-78"/>
                <a:cs typeface="Amiri" pitchFamily="2" charset="-78"/>
              </a:rPr>
              <a:t>نَـ</a:t>
            </a:r>
            <a:pPr algn="l" indent="0" marL="0">
              <a:buNone/>
            </a:pPr>
            <a:r>
              <a:rPr lang="en-US" sz="1150" dirty="0">
                <a:solidFill>
                  <a:srgbClr val="5A6472"/>
                </a:solidFill>
                <a:latin typeface="Calibri" pitchFamily="34" charset="0"/>
                <a:cs typeface="Amiri" pitchFamily="2" charset="-78"/>
              </a:rPr>
              <a:t>: we (TC verb code).</a:t>
            </a:r>
            <a:endParaRPr lang="en-US" sz="1150" dirty="0"/>
          </a:p>
        </p:txBody>
      </p:sp>
      <p:sp>
        <p:nvSpPr>
          <p:cNvPr id="28" name="Shape 25"/>
          <p:cNvSpPr/>
          <p:nvPr/>
        </p:nvSpPr>
        <p:spPr>
          <a:xfrm>
            <a:off x="457200" y="4370832"/>
            <a:ext cx="3636264" cy="1783080"/>
          </a:xfrm>
          <a:prstGeom prst="roundRect">
            <a:avLst>
              <a:gd name="adj" fmla="val 4103"/>
            </a:avLst>
          </a:prstGeom>
          <a:solidFill>
            <a:srgbClr val="FFFFFF"/>
          </a:solidFill>
          <a:ln w="19050">
            <a:solidFill>
              <a:srgbClr val="D6336C"/>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640080"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3</a:t>
            </a:r>
            <a:endParaRPr lang="en-US" sz="3000" dirty="0"/>
          </a:p>
        </p:txBody>
      </p:sp>
      <p:sp>
        <p:nvSpPr>
          <p:cNvPr id="30" name="Text 27"/>
          <p:cNvSpPr txBox="1"/>
          <p:nvPr/>
        </p:nvSpPr>
        <p:spPr>
          <a:xfrm>
            <a:off x="1188720"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D6336C"/>
                </a:solidFill>
                <a:latin typeface="Amiri" pitchFamily="2" charset="-78"/>
                <a:ea typeface="Amiri" pitchFamily="2" charset="-78"/>
                <a:cs typeface="Amiri" pitchFamily="2" charset="-78"/>
              </a:rPr>
              <a:t>ـَ</a:t>
            </a:r>
            <a:endParaRPr lang="ar-SA" sz="3400" dirty="0"/>
          </a:p>
        </p:txBody>
      </p:sp>
      <p:sp>
        <p:nvSpPr>
          <p:cNvPr id="31" name="Text 28"/>
          <p:cNvSpPr txBox="1"/>
          <p:nvPr/>
        </p:nvSpPr>
        <p:spPr>
          <a:xfrm>
            <a:off x="640080" y="5120640"/>
            <a:ext cx="3270504" cy="310896"/>
          </a:xfrm>
          <a:prstGeom prst="rect">
            <a:avLst/>
          </a:prstGeom>
          <a:noFill/>
          <a:ln/>
        </p:spPr>
        <p:txBody>
          <a:bodyPr wrap="square" lIns="0" tIns="0" rIns="0" bIns="0" rtlCol="0" anchor="ctr"/>
          <a:lstStyle/>
          <a:p>
            <a:pPr algn="l" indent="0" marL="0">
              <a:buNone/>
            </a:pPr>
            <a:r>
              <a:rPr lang="en-US" sz="1600" b="1" dirty="0">
                <a:solidFill>
                  <a:srgbClr val="D6336C"/>
                </a:solidFill>
                <a:latin typeface="Calibri" pitchFamily="34" charset="0"/>
                <a:cs typeface="Amiri" pitchFamily="2" charset="-78"/>
              </a:rPr>
              <a:t>ENDING: -u → -a</a:t>
            </a:r>
            <a:endParaRPr lang="en-US" sz="1600" dirty="0"/>
          </a:p>
        </p:txBody>
      </p:sp>
      <p:sp>
        <p:nvSpPr>
          <p:cNvPr id="32" name="Text 29"/>
          <p:cNvSpPr txBox="1"/>
          <p:nvPr/>
        </p:nvSpPr>
        <p:spPr>
          <a:xfrm>
            <a:off x="640080"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cs typeface="Amiri" pitchFamily="2" charset="-78"/>
              </a:rPr>
              <a:t>After </a:t>
            </a:r>
            <a:pPr algn="l" indent="0" marL="0">
              <a:buNone/>
            </a:pPr>
            <a:r>
              <a:rPr lang="ar-SA" altLang="en-US" sz="1500" dirty="0">
                <a:solidFill>
                  <a:srgbClr val="5A6472"/>
                </a:solidFill>
                <a:latin typeface="Amiri" pitchFamily="2" charset="-78"/>
                <a:ea typeface="Amiri" pitchFamily="2" charset="-78"/>
                <a:cs typeface="Amiri" pitchFamily="2" charset="-78"/>
              </a:rPr>
              <a:t>أَنْ</a:t>
            </a:r>
            <a:pPr algn="l" indent="0" marL="0">
              <a:buNone/>
            </a:pPr>
            <a:r>
              <a:rPr lang="en-US" sz="1150" dirty="0">
                <a:solidFill>
                  <a:srgbClr val="5A6472"/>
                </a:solidFill>
                <a:latin typeface="Calibri" pitchFamily="34" charset="0"/>
                <a:cs typeface="Amiri" pitchFamily="2" charset="-78"/>
              </a:rPr>
              <a:t> the last vowel becomes a fatḥa: </a:t>
            </a:r>
            <a:pPr algn="l" indent="0" marL="0">
              <a:buNone/>
            </a:pPr>
            <a:r>
              <a:rPr lang="ar-SA" altLang="en-US" sz="1500" dirty="0">
                <a:solidFill>
                  <a:srgbClr val="5A6472"/>
                </a:solidFill>
                <a:latin typeface="Amiri" pitchFamily="2" charset="-78"/>
                <a:ea typeface="Amiri" pitchFamily="2" charset="-78"/>
                <a:cs typeface="Amiri" pitchFamily="2" charset="-78"/>
              </a:rPr>
              <a:t>نُقَلِّلُ</a:t>
            </a:r>
            <a:pPr algn="l" indent="0" marL="0">
              <a:buNone/>
            </a:pPr>
            <a:r>
              <a:rPr lang="en-US" sz="1150" dirty="0">
                <a:solidFill>
                  <a:srgbClr val="5A6472"/>
                </a:solidFill>
                <a:latin typeface="Calibri" pitchFamily="34" charset="0"/>
                <a:cs typeface="Amiri" pitchFamily="2" charset="-78"/>
              </a:rPr>
              <a:t> → </a:t>
            </a:r>
            <a:pPr algn="l" indent="0" marL="0">
              <a:buNone/>
            </a:pPr>
            <a:r>
              <a:rPr lang="ar-SA" altLang="en-US" sz="1500" dirty="0">
                <a:solidFill>
                  <a:srgbClr val="5A6472"/>
                </a:solidFill>
                <a:latin typeface="Amiri" pitchFamily="2" charset="-78"/>
                <a:ea typeface="Amiri" pitchFamily="2" charset="-78"/>
                <a:cs typeface="Amiri" pitchFamily="2" charset="-78"/>
              </a:rPr>
              <a:t>نُقَلِّلَ</a:t>
            </a:r>
            <a:pPr algn="l" indent="0" marL="0">
              <a:buNone/>
            </a:pPr>
            <a:r>
              <a:rPr lang="en-US" sz="1150" dirty="0">
                <a:solidFill>
                  <a:srgbClr val="5A6472"/>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ONE ENDING AFTER FIVE ADVICE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Advice words + a verb ending in fatḥa</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بَعْدَ أَنْ وَلِكَيْ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10512"/>
            <a:ext cx="11274552" cy="420624"/>
          </a:xfrm>
          <a:prstGeom prst="rect">
            <a:avLst/>
          </a:prstGeom>
          <a:solidFill>
            <a:srgbClr val="1B3B6F"/>
          </a:solidFill>
          <a:ln w="12700">
            <a:solidFill>
              <a:srgbClr val="1B3B6F"/>
            </a:solidFill>
            <a:prstDash val="solid"/>
          </a:ln>
        </p:spPr>
      </p:sp>
      <p:sp>
        <p:nvSpPr>
          <p:cNvPr id="16" name="Text 13"/>
          <p:cNvSpPr txBox="1"/>
          <p:nvPr/>
        </p:nvSpPr>
        <p:spPr>
          <a:xfrm>
            <a:off x="9674352" y="1810512"/>
            <a:ext cx="19202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Advice word</a:t>
            </a:r>
            <a:endParaRPr lang="en-US" sz="1200" dirty="0"/>
          </a:p>
        </p:txBody>
      </p:sp>
      <p:sp>
        <p:nvSpPr>
          <p:cNvPr id="17" name="Text 14"/>
          <p:cNvSpPr txBox="1"/>
          <p:nvPr/>
        </p:nvSpPr>
        <p:spPr>
          <a:xfrm>
            <a:off x="6565392" y="1810512"/>
            <a:ext cx="28346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Verb after it</a:t>
            </a:r>
            <a:endParaRPr lang="en-US" sz="1200" dirty="0"/>
          </a:p>
        </p:txBody>
      </p:sp>
      <p:sp>
        <p:nvSpPr>
          <p:cNvPr id="18" name="Text 15"/>
          <p:cNvSpPr txBox="1"/>
          <p:nvPr/>
        </p:nvSpPr>
        <p:spPr>
          <a:xfrm>
            <a:off x="594360" y="1810512"/>
            <a:ext cx="5696712"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Website sentence</a:t>
            </a:r>
            <a:endParaRPr lang="en-US" sz="1200" dirty="0"/>
          </a:p>
        </p:txBody>
      </p:sp>
      <p:sp>
        <p:nvSpPr>
          <p:cNvPr id="19" name="Shape 16"/>
          <p:cNvSpPr/>
          <p:nvPr/>
        </p:nvSpPr>
        <p:spPr>
          <a:xfrm>
            <a:off x="457200" y="2322576"/>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085832" y="232257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يَنْبَغِي أَنْ</a:t>
            </a:r>
            <a:endParaRPr lang="ar-SA" sz="2400" dirty="0"/>
          </a:p>
        </p:txBody>
      </p:sp>
      <p:sp>
        <p:nvSpPr>
          <p:cNvPr id="21" name="Text 18"/>
          <p:cNvSpPr txBox="1"/>
          <p:nvPr/>
        </p:nvSpPr>
        <p:spPr>
          <a:xfrm>
            <a:off x="9509760" y="232257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should</a:t>
            </a:r>
            <a:endParaRPr lang="en-US" sz="1150" dirty="0"/>
          </a:p>
        </p:txBody>
      </p:sp>
      <p:sp>
        <p:nvSpPr>
          <p:cNvPr id="22" name="Text 19"/>
          <p:cNvSpPr txBox="1"/>
          <p:nvPr/>
        </p:nvSpPr>
        <p:spPr>
          <a:xfrm>
            <a:off x="6565392" y="232257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D6336C"/>
                </a:solidFill>
                <a:latin typeface="Amiri" pitchFamily="2" charset="-78"/>
                <a:ea typeface="Amiri" pitchFamily="2" charset="-78"/>
                <a:cs typeface="Amiri" pitchFamily="2" charset="-78"/>
              </a:rPr>
              <a:t>نُقَلِّلَ</a:t>
            </a:r>
            <a:endParaRPr lang="ar-SA" sz="3000" dirty="0"/>
          </a:p>
        </p:txBody>
      </p:sp>
      <p:sp>
        <p:nvSpPr>
          <p:cNvPr id="23" name="Text 20"/>
          <p:cNvSpPr txBox="1"/>
          <p:nvPr/>
        </p:nvSpPr>
        <p:spPr>
          <a:xfrm>
            <a:off x="594360" y="234086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يَنْبَغِي أَنْ </a:t>
            </a:r>
            <a:pPr rtl="1" algn="r" indent="0" marL="0">
              <a:buNone/>
            </a:pPr>
            <a:r>
              <a:rPr lang="ar-SA" altLang="en-US" sz="2000" dirty="0">
                <a:solidFill>
                  <a:srgbClr val="D6336C"/>
                </a:solidFill>
                <a:latin typeface="Amiri" pitchFamily="2" charset="-78"/>
                <a:ea typeface="Amiri" pitchFamily="2" charset="-78"/>
                <a:cs typeface="Amiri" pitchFamily="2" charset="-78"/>
              </a:rPr>
              <a:t>نُقَلِّلَ</a:t>
            </a:r>
            <a:pPr rtl="1" algn="r" indent="0" marL="0">
              <a:buNone/>
            </a:pPr>
            <a:r>
              <a:rPr lang="ar-SA" altLang="en-US" sz="2000" dirty="0">
                <a:solidFill>
                  <a:srgbClr val="1F2A37"/>
                </a:solidFill>
                <a:latin typeface="Amiri" pitchFamily="2" charset="-78"/>
                <a:ea typeface="Amiri" pitchFamily="2" charset="-78"/>
                <a:cs typeface="Amiri" pitchFamily="2" charset="-78"/>
              </a:rPr>
              <a:t> اسْتِخْدَامَ البِلَاسْتِيكِ.</a:t>
            </a:r>
            <a:endParaRPr lang="ar-SA" sz="2000" dirty="0"/>
          </a:p>
        </p:txBody>
      </p:sp>
      <p:sp>
        <p:nvSpPr>
          <p:cNvPr id="24" name="Text 21"/>
          <p:cNvSpPr txBox="1"/>
          <p:nvPr/>
        </p:nvSpPr>
        <p:spPr>
          <a:xfrm>
            <a:off x="594360" y="274685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We should reduce plastic use.</a:t>
            </a:r>
            <a:endParaRPr lang="en-US" sz="1100" dirty="0"/>
          </a:p>
        </p:txBody>
      </p:sp>
      <p:sp>
        <p:nvSpPr>
          <p:cNvPr id="25" name="Shape 22"/>
          <p:cNvSpPr/>
          <p:nvPr/>
        </p:nvSpPr>
        <p:spPr>
          <a:xfrm>
            <a:off x="457200" y="314553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085832" y="314553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يَجِبُ أَنْ</a:t>
            </a:r>
            <a:endParaRPr lang="ar-SA" sz="2400" dirty="0"/>
          </a:p>
        </p:txBody>
      </p:sp>
      <p:sp>
        <p:nvSpPr>
          <p:cNvPr id="27" name="Text 24"/>
          <p:cNvSpPr txBox="1"/>
          <p:nvPr/>
        </p:nvSpPr>
        <p:spPr>
          <a:xfrm>
            <a:off x="9509760" y="314553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must</a:t>
            </a:r>
            <a:endParaRPr lang="en-US" sz="1150" dirty="0"/>
          </a:p>
        </p:txBody>
      </p:sp>
      <p:sp>
        <p:nvSpPr>
          <p:cNvPr id="28" name="Text 25"/>
          <p:cNvSpPr txBox="1"/>
          <p:nvPr/>
        </p:nvSpPr>
        <p:spPr>
          <a:xfrm>
            <a:off x="6565392" y="314553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D6336C"/>
                </a:solidFill>
                <a:latin typeface="Amiri" pitchFamily="2" charset="-78"/>
                <a:ea typeface="Amiri" pitchFamily="2" charset="-78"/>
                <a:cs typeface="Amiri" pitchFamily="2" charset="-78"/>
              </a:rPr>
              <a:t>نُعِيدَ</a:t>
            </a:r>
            <a:endParaRPr lang="ar-SA" sz="3000" dirty="0"/>
          </a:p>
        </p:txBody>
      </p:sp>
      <p:sp>
        <p:nvSpPr>
          <p:cNvPr id="29" name="Text 26"/>
          <p:cNvSpPr txBox="1"/>
          <p:nvPr/>
        </p:nvSpPr>
        <p:spPr>
          <a:xfrm>
            <a:off x="594360" y="316382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يَجِبُ أَنْ </a:t>
            </a:r>
            <a:pPr rtl="1" algn="r" indent="0" marL="0">
              <a:buNone/>
            </a:pPr>
            <a:r>
              <a:rPr lang="ar-SA" altLang="en-US" sz="2000" dirty="0">
                <a:solidFill>
                  <a:srgbClr val="D6336C"/>
                </a:solidFill>
                <a:latin typeface="Amiri" pitchFamily="2" charset="-78"/>
                <a:ea typeface="Amiri" pitchFamily="2" charset="-78"/>
                <a:cs typeface="Amiri" pitchFamily="2" charset="-78"/>
              </a:rPr>
              <a:t>نُعِيدَ</a:t>
            </a:r>
            <a:pPr rtl="1" algn="r" indent="0" marL="0">
              <a:buNone/>
            </a:pPr>
            <a:r>
              <a:rPr lang="ar-SA" altLang="en-US" sz="2000" dirty="0">
                <a:solidFill>
                  <a:srgbClr val="1F2A37"/>
                </a:solidFill>
                <a:latin typeface="Amiri" pitchFamily="2" charset="-78"/>
                <a:ea typeface="Amiri" pitchFamily="2" charset="-78"/>
                <a:cs typeface="Amiri" pitchFamily="2" charset="-78"/>
              </a:rPr>
              <a:t> تَدْوِيرَ النُّفَايَاتِ.</a:t>
            </a:r>
            <a:endParaRPr lang="ar-SA" sz="2000" dirty="0"/>
          </a:p>
        </p:txBody>
      </p:sp>
      <p:sp>
        <p:nvSpPr>
          <p:cNvPr id="30" name="Text 27"/>
          <p:cNvSpPr txBox="1"/>
          <p:nvPr/>
        </p:nvSpPr>
        <p:spPr>
          <a:xfrm>
            <a:off x="594360" y="356981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We must recycle waste. (website game)</a:t>
            </a:r>
            <a:endParaRPr lang="en-US" sz="1100" dirty="0"/>
          </a:p>
        </p:txBody>
      </p:sp>
      <p:sp>
        <p:nvSpPr>
          <p:cNvPr id="31" name="Shape 28"/>
          <p:cNvSpPr/>
          <p:nvPr/>
        </p:nvSpPr>
        <p:spPr>
          <a:xfrm>
            <a:off x="457200" y="3968496"/>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085832" y="396849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يُمْكِنُ أَنْ</a:t>
            </a:r>
            <a:endParaRPr lang="ar-SA" sz="2400" dirty="0"/>
          </a:p>
        </p:txBody>
      </p:sp>
      <p:sp>
        <p:nvSpPr>
          <p:cNvPr id="33" name="Text 30"/>
          <p:cNvSpPr txBox="1"/>
          <p:nvPr/>
        </p:nvSpPr>
        <p:spPr>
          <a:xfrm>
            <a:off x="9509760" y="396849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can</a:t>
            </a:r>
            <a:endParaRPr lang="en-US" sz="1150" dirty="0"/>
          </a:p>
        </p:txBody>
      </p:sp>
      <p:sp>
        <p:nvSpPr>
          <p:cNvPr id="34" name="Text 31"/>
          <p:cNvSpPr txBox="1"/>
          <p:nvPr/>
        </p:nvSpPr>
        <p:spPr>
          <a:xfrm>
            <a:off x="6565392" y="396849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D6336C"/>
                </a:solidFill>
                <a:latin typeface="Amiri" pitchFamily="2" charset="-78"/>
                <a:ea typeface="Amiri" pitchFamily="2" charset="-78"/>
                <a:cs typeface="Amiri" pitchFamily="2" charset="-78"/>
              </a:rPr>
              <a:t>نَسْتَخْدِمَ</a:t>
            </a:r>
            <a:endParaRPr lang="ar-SA" sz="3000" dirty="0"/>
          </a:p>
        </p:txBody>
      </p:sp>
      <p:sp>
        <p:nvSpPr>
          <p:cNvPr id="35" name="Text 32"/>
          <p:cNvSpPr txBox="1"/>
          <p:nvPr/>
        </p:nvSpPr>
        <p:spPr>
          <a:xfrm>
            <a:off x="594360" y="398678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يُمْكِنُ أَنْ </a:t>
            </a:r>
            <a:pPr rtl="1" algn="r" indent="0" marL="0">
              <a:buNone/>
            </a:pPr>
            <a:r>
              <a:rPr lang="ar-SA" altLang="en-US" sz="2000" dirty="0">
                <a:solidFill>
                  <a:srgbClr val="D6336C"/>
                </a:solidFill>
                <a:latin typeface="Amiri" pitchFamily="2" charset="-78"/>
                <a:ea typeface="Amiri" pitchFamily="2" charset="-78"/>
                <a:cs typeface="Amiri" pitchFamily="2" charset="-78"/>
              </a:rPr>
              <a:t>نَسْتَخْدِمَ</a:t>
            </a:r>
            <a:pPr rtl="1" algn="r" indent="0" marL="0">
              <a:buNone/>
            </a:pPr>
            <a:r>
              <a:rPr lang="ar-SA" altLang="en-US" sz="2000" dirty="0">
                <a:solidFill>
                  <a:srgbClr val="1F2A37"/>
                </a:solidFill>
                <a:latin typeface="Amiri" pitchFamily="2" charset="-78"/>
                <a:ea typeface="Amiri" pitchFamily="2" charset="-78"/>
                <a:cs typeface="Amiri" pitchFamily="2" charset="-78"/>
              </a:rPr>
              <a:t> الطَّاقَةَ الشَّمْسِيَّةَ.</a:t>
            </a:r>
            <a:endParaRPr lang="ar-SA" sz="2000" dirty="0"/>
          </a:p>
        </p:txBody>
      </p:sp>
      <p:sp>
        <p:nvSpPr>
          <p:cNvPr id="36" name="Text 33"/>
          <p:cNvSpPr txBox="1"/>
          <p:nvPr/>
        </p:nvSpPr>
        <p:spPr>
          <a:xfrm>
            <a:off x="594360" y="439277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We can use solar energy.</a:t>
            </a:r>
            <a:endParaRPr lang="en-US" sz="1100" dirty="0"/>
          </a:p>
        </p:txBody>
      </p:sp>
      <p:sp>
        <p:nvSpPr>
          <p:cNvPr id="37" name="Shape 34"/>
          <p:cNvSpPr/>
          <p:nvPr/>
        </p:nvSpPr>
        <p:spPr>
          <a:xfrm>
            <a:off x="457200" y="4791456"/>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085832" y="479145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لِكَيْ</a:t>
            </a:r>
            <a:endParaRPr lang="ar-SA" sz="2400" dirty="0"/>
          </a:p>
        </p:txBody>
      </p:sp>
      <p:sp>
        <p:nvSpPr>
          <p:cNvPr id="39" name="Text 36"/>
          <p:cNvSpPr txBox="1"/>
          <p:nvPr/>
        </p:nvSpPr>
        <p:spPr>
          <a:xfrm>
            <a:off x="9509760" y="479145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so that</a:t>
            </a:r>
            <a:endParaRPr lang="en-US" sz="1150" dirty="0"/>
          </a:p>
        </p:txBody>
      </p:sp>
      <p:sp>
        <p:nvSpPr>
          <p:cNvPr id="40" name="Text 37"/>
          <p:cNvSpPr txBox="1"/>
          <p:nvPr/>
        </p:nvSpPr>
        <p:spPr>
          <a:xfrm>
            <a:off x="6565392" y="479145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D6336C"/>
                </a:solidFill>
                <a:latin typeface="Amiri" pitchFamily="2" charset="-78"/>
                <a:ea typeface="Amiri" pitchFamily="2" charset="-78"/>
                <a:cs typeface="Amiri" pitchFamily="2" charset="-78"/>
              </a:rPr>
              <a:t>نُقَلِّلَ</a:t>
            </a:r>
            <a:endParaRPr lang="ar-SA" sz="3000" dirty="0"/>
          </a:p>
        </p:txBody>
      </p:sp>
      <p:sp>
        <p:nvSpPr>
          <p:cNvPr id="41" name="Text 38"/>
          <p:cNvSpPr txBox="1"/>
          <p:nvPr/>
        </p:nvSpPr>
        <p:spPr>
          <a:xfrm>
            <a:off x="594360" y="480974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نَسْتَخْدِمُ النَّقْلَ العَامَّ لِكَيْ </a:t>
            </a:r>
            <a:pPr rtl="1" algn="r" indent="0" marL="0">
              <a:buNone/>
            </a:pPr>
            <a:r>
              <a:rPr lang="ar-SA" altLang="en-US" sz="2000" dirty="0">
                <a:solidFill>
                  <a:srgbClr val="D6336C"/>
                </a:solidFill>
                <a:latin typeface="Amiri" pitchFamily="2" charset="-78"/>
                <a:ea typeface="Amiri" pitchFamily="2" charset="-78"/>
                <a:cs typeface="Amiri" pitchFamily="2" charset="-78"/>
              </a:rPr>
              <a:t>نُقَلِّلَ</a:t>
            </a:r>
            <a:pPr rtl="1" algn="r" indent="0" marL="0">
              <a:buNone/>
            </a:pPr>
            <a:r>
              <a:rPr lang="ar-SA" altLang="en-US" sz="2000" dirty="0">
                <a:solidFill>
                  <a:srgbClr val="1F2A37"/>
                </a:solidFill>
                <a:latin typeface="Amiri" pitchFamily="2" charset="-78"/>
                <a:ea typeface="Amiri" pitchFamily="2" charset="-78"/>
                <a:cs typeface="Amiri" pitchFamily="2" charset="-78"/>
              </a:rPr>
              <a:t> الانْبِعَاثَاتِ.</a:t>
            </a:r>
            <a:endParaRPr lang="ar-SA" sz="2000" dirty="0"/>
          </a:p>
        </p:txBody>
      </p:sp>
      <p:sp>
        <p:nvSpPr>
          <p:cNvPr id="42" name="Text 39"/>
          <p:cNvSpPr txBox="1"/>
          <p:nvPr/>
        </p:nvSpPr>
        <p:spPr>
          <a:xfrm>
            <a:off x="594360" y="521573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We use public transport to reduce emissions.</a:t>
            </a:r>
            <a:endParaRPr lang="en-US" sz="1100" dirty="0"/>
          </a:p>
        </p:txBody>
      </p:sp>
      <p:sp>
        <p:nvSpPr>
          <p:cNvPr id="43" name="Shape 40"/>
          <p:cNvSpPr/>
          <p:nvPr/>
        </p:nvSpPr>
        <p:spPr>
          <a:xfrm>
            <a:off x="457200" y="5614416"/>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10085832" y="561441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مِنَ الأَفْضَلِ أَنْ</a:t>
            </a:r>
            <a:endParaRPr lang="ar-SA" sz="2400" dirty="0"/>
          </a:p>
        </p:txBody>
      </p:sp>
      <p:sp>
        <p:nvSpPr>
          <p:cNvPr id="45" name="Text 42"/>
          <p:cNvSpPr txBox="1"/>
          <p:nvPr/>
        </p:nvSpPr>
        <p:spPr>
          <a:xfrm>
            <a:off x="9509760" y="561441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it is better to</a:t>
            </a:r>
            <a:endParaRPr lang="en-US" sz="1150" dirty="0"/>
          </a:p>
        </p:txBody>
      </p:sp>
      <p:sp>
        <p:nvSpPr>
          <p:cNvPr id="46" name="Text 43"/>
          <p:cNvSpPr txBox="1"/>
          <p:nvPr/>
        </p:nvSpPr>
        <p:spPr>
          <a:xfrm>
            <a:off x="6565392" y="561441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D6336C"/>
                </a:solidFill>
                <a:latin typeface="Amiri" pitchFamily="2" charset="-78"/>
                <a:ea typeface="Amiri" pitchFamily="2" charset="-78"/>
                <a:cs typeface="Amiri" pitchFamily="2" charset="-78"/>
              </a:rPr>
              <a:t>نَسْتَعْمِلَ</a:t>
            </a:r>
            <a:endParaRPr lang="ar-SA" sz="3000" dirty="0"/>
          </a:p>
        </p:txBody>
      </p:sp>
      <p:sp>
        <p:nvSpPr>
          <p:cNvPr id="47" name="Text 44"/>
          <p:cNvSpPr txBox="1"/>
          <p:nvPr/>
        </p:nvSpPr>
        <p:spPr>
          <a:xfrm>
            <a:off x="594360" y="563270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مِنَ الأَفْضَلِ أَنْ </a:t>
            </a:r>
            <a:pPr rtl="1" algn="r" indent="0" marL="0">
              <a:buNone/>
            </a:pPr>
            <a:r>
              <a:rPr lang="ar-SA" altLang="en-US" sz="2000" dirty="0">
                <a:solidFill>
                  <a:srgbClr val="D6336C"/>
                </a:solidFill>
                <a:latin typeface="Amiri" pitchFamily="2" charset="-78"/>
                <a:ea typeface="Amiri" pitchFamily="2" charset="-78"/>
                <a:cs typeface="Amiri" pitchFamily="2" charset="-78"/>
              </a:rPr>
              <a:t>نَسْتَعْمِلَ</a:t>
            </a:r>
            <a:pPr rtl="1" algn="r" indent="0" marL="0">
              <a:buNone/>
            </a:pPr>
            <a:r>
              <a:rPr lang="ar-SA" altLang="en-US" sz="2000" dirty="0">
                <a:solidFill>
                  <a:srgbClr val="1F2A37"/>
                </a:solidFill>
                <a:latin typeface="Amiri" pitchFamily="2" charset="-78"/>
                <a:ea typeface="Amiri" pitchFamily="2" charset="-78"/>
                <a:cs typeface="Amiri" pitchFamily="2" charset="-78"/>
              </a:rPr>
              <a:t> الدَّرَّاجَةَ.</a:t>
            </a:r>
            <a:endParaRPr lang="ar-SA" sz="2000" dirty="0"/>
          </a:p>
        </p:txBody>
      </p:sp>
      <p:sp>
        <p:nvSpPr>
          <p:cNvPr id="48" name="Text 45"/>
          <p:cNvSpPr txBox="1"/>
          <p:nvPr/>
        </p:nvSpPr>
        <p:spPr>
          <a:xfrm>
            <a:off x="594360" y="603869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It is better to use a bicycle. (website game)</a:t>
            </a:r>
            <a:endParaRPr lang="en-US" sz="11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cs typeface="Amiri" pitchFamily="2" charset="-78"/>
              </a:rPr>
              <a:t>GRAMMAR FOCUS · PART 3 · WEBSITE RULE “OBLIGATION FOR A PERSON OR GROUP”</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must act? Responsibility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المَسْؤُولُ؟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cs typeface="Amiri" pitchFamily="2" charset="-78"/>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يَجِبُ عَلَى</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must / can (key word)</a:t>
            </a:r>
            <a:endParaRPr lang="en-US" sz="900" dirty="0"/>
          </a:p>
        </p:txBody>
      </p:sp>
      <p:sp>
        <p:nvSpPr>
          <p:cNvPr id="19" name="Shape 16"/>
          <p:cNvSpPr/>
          <p:nvPr/>
        </p:nvSpPr>
        <p:spPr>
          <a:xfrm>
            <a:off x="6336792" y="1810512"/>
            <a:ext cx="2642616" cy="566928"/>
          </a:xfrm>
          <a:prstGeom prst="roundRect">
            <a:avLst>
              <a:gd name="adj" fmla="val 9677"/>
            </a:avLst>
          </a:prstGeom>
          <a:solidFill>
            <a:srgbClr val="1D5FBF"/>
          </a:solidFill>
          <a:ln w="12700">
            <a:solidFill>
              <a:srgbClr val="1D5FBF"/>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مَنْ؟</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who is responsible</a:t>
            </a:r>
            <a:endParaRPr lang="en-US" sz="900" dirty="0"/>
          </a:p>
        </p:txBody>
      </p:sp>
      <p:sp>
        <p:nvSpPr>
          <p:cNvPr id="22" name="Shape 19"/>
          <p:cNvSpPr/>
          <p:nvPr/>
        </p:nvSpPr>
        <p:spPr>
          <a:xfrm>
            <a:off x="3584448" y="1810512"/>
            <a:ext cx="2642616" cy="566928"/>
          </a:xfrm>
          <a:prstGeom prst="roundRect">
            <a:avLst>
              <a:gd name="adj" fmla="val 9677"/>
            </a:avLst>
          </a:prstGeom>
          <a:solidFill>
            <a:srgbClr val="D6336C"/>
          </a:solidFill>
          <a:ln w="12700">
            <a:solidFill>
              <a:srgbClr val="D6336C"/>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أَنْ + فِعْلٌ</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an + action (ends in -a)</a:t>
            </a:r>
            <a:endParaRPr lang="en-US" sz="900" dirty="0"/>
          </a:p>
        </p:txBody>
      </p:sp>
      <p:sp>
        <p:nvSpPr>
          <p:cNvPr id="25" name="Text 22"/>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government must invest in energy.</a:t>
            </a:r>
            <a:endParaRPr lang="en-US" sz="1200" dirty="0"/>
          </a:p>
        </p:txBody>
      </p:sp>
      <p:sp>
        <p:nvSpPr>
          <p:cNvPr id="26" name="Shape 23"/>
          <p:cNvSpPr/>
          <p:nvPr/>
        </p:nvSpPr>
        <p:spPr>
          <a:xfrm>
            <a:off x="9089136" y="2487168"/>
            <a:ext cx="2642616" cy="768096"/>
          </a:xfrm>
          <a:prstGeom prst="roundRect">
            <a:avLst>
              <a:gd name="adj" fmla="val 7143"/>
            </a:avLst>
          </a:prstGeom>
          <a:solidFill>
            <a:srgbClr val="E3F2F3"/>
          </a:solidFill>
          <a:ln w="9525">
            <a:solidFill>
              <a:srgbClr val="E3F2F3"/>
            </a:solidFill>
            <a:prstDash val="solid"/>
          </a:ln>
        </p:spPr>
      </p:sp>
      <p:sp>
        <p:nvSpPr>
          <p:cNvPr id="27" name="Text 24"/>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يَجِبُ عَلَى</a:t>
            </a:r>
            <a:endParaRPr lang="ar-SA" sz="2400" dirty="0"/>
          </a:p>
        </p:txBody>
      </p:sp>
      <p:sp>
        <p:nvSpPr>
          <p:cNvPr id="28" name="Shape 25"/>
          <p:cNvSpPr/>
          <p:nvPr/>
        </p:nvSpPr>
        <p:spPr>
          <a:xfrm>
            <a:off x="6336792" y="2487168"/>
            <a:ext cx="2642616" cy="768096"/>
          </a:xfrm>
          <a:prstGeom prst="roundRect">
            <a:avLst>
              <a:gd name="adj" fmla="val 7143"/>
            </a:avLst>
          </a:prstGeom>
          <a:solidFill>
            <a:srgbClr val="EEF3FA"/>
          </a:solidFill>
          <a:ln w="9525">
            <a:solidFill>
              <a:srgbClr val="EEF3FA"/>
            </a:solidFill>
            <a:prstDash val="solid"/>
          </a:ln>
        </p:spPr>
      </p:sp>
      <p:sp>
        <p:nvSpPr>
          <p:cNvPr id="29" name="Text 26"/>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الحُكُومَةِ</a:t>
            </a:r>
            <a:endParaRPr lang="ar-SA" sz="2400" dirty="0"/>
          </a:p>
        </p:txBody>
      </p:sp>
      <p:sp>
        <p:nvSpPr>
          <p:cNvPr id="30" name="Shape 27"/>
          <p:cNvSpPr/>
          <p:nvPr/>
        </p:nvSpPr>
        <p:spPr>
          <a:xfrm>
            <a:off x="3584448" y="2487168"/>
            <a:ext cx="2642616" cy="768096"/>
          </a:xfrm>
          <a:prstGeom prst="roundRect">
            <a:avLst>
              <a:gd name="adj" fmla="val 7143"/>
            </a:avLst>
          </a:prstGeom>
          <a:solidFill>
            <a:srgbClr val="FBEAEA"/>
          </a:solidFill>
          <a:ln w="9525">
            <a:solidFill>
              <a:srgbClr val="FBEAEA"/>
            </a:solidFill>
            <a:prstDash val="solid"/>
          </a:ln>
        </p:spPr>
      </p:sp>
      <p:sp>
        <p:nvSpPr>
          <p:cNvPr id="31" name="Text 28"/>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 </a:t>
            </a:r>
            <a:pPr rtl="1" algn="ctr" indent="0" marL="0">
              <a:buNone/>
            </a:pPr>
            <a:r>
              <a:rPr lang="ar-SA" altLang="en-US" sz="2400" b="1" dirty="0">
                <a:solidFill>
                  <a:srgbClr val="D6336C"/>
                </a:solidFill>
                <a:latin typeface="Amiri" pitchFamily="2" charset="-78"/>
                <a:ea typeface="Amiri" pitchFamily="2" charset="-78"/>
                <a:cs typeface="Amiri" pitchFamily="2" charset="-78"/>
              </a:rPr>
              <a:t>تَسْتَثْمِرَ</a:t>
            </a:r>
            <a:pPr rtl="1" algn="ctr" indent="0" marL="0">
              <a:buNone/>
            </a:pPr>
            <a:r>
              <a:rPr lang="ar-SA" altLang="en-US" sz="2400" b="1" dirty="0">
                <a:solidFill>
                  <a:srgbClr val="1B3B6F"/>
                </a:solidFill>
                <a:latin typeface="Amiri" pitchFamily="2" charset="-78"/>
                <a:ea typeface="Amiri" pitchFamily="2" charset="-78"/>
                <a:cs typeface="Amiri" pitchFamily="2" charset="-78"/>
              </a:rPr>
              <a:t> فِي الطَّاقَةِ.</a:t>
            </a:r>
            <a:endParaRPr lang="ar-SA" sz="2400" dirty="0"/>
          </a:p>
        </p:txBody>
      </p:sp>
      <p:sp>
        <p:nvSpPr>
          <p:cNvPr id="32" name="Text 29"/>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Schools must recycle paper.</a:t>
            </a:r>
            <a:endParaRPr lang="en-US" sz="1200" dirty="0"/>
          </a:p>
        </p:txBody>
      </p:sp>
      <p:sp>
        <p:nvSpPr>
          <p:cNvPr id="33" name="Shape 30"/>
          <p:cNvSpPr/>
          <p:nvPr/>
        </p:nvSpPr>
        <p:spPr>
          <a:xfrm>
            <a:off x="9089136" y="3364992"/>
            <a:ext cx="2642616" cy="768096"/>
          </a:xfrm>
          <a:prstGeom prst="roundRect">
            <a:avLst>
              <a:gd name="adj" fmla="val 7143"/>
            </a:avLst>
          </a:prstGeom>
          <a:solidFill>
            <a:srgbClr val="E3F2F3"/>
          </a:solidFill>
          <a:ln w="9525">
            <a:solidFill>
              <a:srgbClr val="E3F2F3"/>
            </a:solidFill>
            <a:prstDash val="solid"/>
          </a:ln>
        </p:spPr>
      </p:sp>
      <p:sp>
        <p:nvSpPr>
          <p:cNvPr id="34" name="Text 31"/>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يَجِبُ عَلَى</a:t>
            </a:r>
            <a:endParaRPr lang="ar-SA" sz="2400" dirty="0"/>
          </a:p>
        </p:txBody>
      </p:sp>
      <p:sp>
        <p:nvSpPr>
          <p:cNvPr id="35" name="Shape 32"/>
          <p:cNvSpPr/>
          <p:nvPr/>
        </p:nvSpPr>
        <p:spPr>
          <a:xfrm>
            <a:off x="6336792" y="3364992"/>
            <a:ext cx="2642616" cy="768096"/>
          </a:xfrm>
          <a:prstGeom prst="roundRect">
            <a:avLst>
              <a:gd name="adj" fmla="val 7143"/>
            </a:avLst>
          </a:prstGeom>
          <a:solidFill>
            <a:srgbClr val="EEF3FA"/>
          </a:solidFill>
          <a:ln w="9525">
            <a:solidFill>
              <a:srgbClr val="EEF3FA"/>
            </a:solidFill>
            <a:prstDash val="solid"/>
          </a:ln>
        </p:spPr>
      </p:sp>
      <p:sp>
        <p:nvSpPr>
          <p:cNvPr id="36" name="Text 33"/>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المَدَارِسِ</a:t>
            </a:r>
            <a:endParaRPr lang="ar-SA" sz="2400" dirty="0"/>
          </a:p>
        </p:txBody>
      </p:sp>
      <p:sp>
        <p:nvSpPr>
          <p:cNvPr id="37" name="Shape 34"/>
          <p:cNvSpPr/>
          <p:nvPr/>
        </p:nvSpPr>
        <p:spPr>
          <a:xfrm>
            <a:off x="3584448" y="3364992"/>
            <a:ext cx="2642616" cy="768096"/>
          </a:xfrm>
          <a:prstGeom prst="roundRect">
            <a:avLst>
              <a:gd name="adj" fmla="val 7143"/>
            </a:avLst>
          </a:prstGeom>
          <a:solidFill>
            <a:srgbClr val="FBEAEA"/>
          </a:solidFill>
          <a:ln w="9525">
            <a:solidFill>
              <a:srgbClr val="FBEAEA"/>
            </a:solidFill>
            <a:prstDash val="solid"/>
          </a:ln>
        </p:spPr>
      </p:sp>
      <p:sp>
        <p:nvSpPr>
          <p:cNvPr id="38" name="Text 35"/>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 </a:t>
            </a:r>
            <a:pPr rtl="1" algn="ctr" indent="0" marL="0">
              <a:buNone/>
            </a:pPr>
            <a:r>
              <a:rPr lang="ar-SA" altLang="en-US" sz="2400" b="1" dirty="0">
                <a:solidFill>
                  <a:srgbClr val="D6336C"/>
                </a:solidFill>
                <a:latin typeface="Amiri" pitchFamily="2" charset="-78"/>
                <a:ea typeface="Amiri" pitchFamily="2" charset="-78"/>
                <a:cs typeface="Amiri" pitchFamily="2" charset="-78"/>
              </a:rPr>
              <a:t>تُعِيدَ</a:t>
            </a:r>
            <a:pPr rtl="1" algn="ctr" indent="0" marL="0">
              <a:buNone/>
            </a:pPr>
            <a:r>
              <a:rPr lang="ar-SA" altLang="en-US" sz="2400" b="1" dirty="0">
                <a:solidFill>
                  <a:srgbClr val="1B3B6F"/>
                </a:solidFill>
                <a:latin typeface="Amiri" pitchFamily="2" charset="-78"/>
                <a:ea typeface="Amiri" pitchFamily="2" charset="-78"/>
                <a:cs typeface="Amiri" pitchFamily="2" charset="-78"/>
              </a:rPr>
              <a:t> تَدْوِيرَ الوَرَقِ.</a:t>
            </a:r>
            <a:endParaRPr lang="ar-SA" sz="2400" dirty="0"/>
          </a:p>
        </p:txBody>
      </p:sp>
      <p:sp>
        <p:nvSpPr>
          <p:cNvPr id="39" name="Text 36"/>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Students must separate paper from plastic.</a:t>
            </a:r>
            <a:endParaRPr lang="en-US" sz="1200" dirty="0"/>
          </a:p>
        </p:txBody>
      </p:sp>
      <p:sp>
        <p:nvSpPr>
          <p:cNvPr id="40" name="Shape 37"/>
          <p:cNvSpPr/>
          <p:nvPr/>
        </p:nvSpPr>
        <p:spPr>
          <a:xfrm>
            <a:off x="9089136" y="4242816"/>
            <a:ext cx="2642616" cy="768096"/>
          </a:xfrm>
          <a:prstGeom prst="roundRect">
            <a:avLst>
              <a:gd name="adj" fmla="val 7143"/>
            </a:avLst>
          </a:prstGeom>
          <a:solidFill>
            <a:srgbClr val="E3F2F3"/>
          </a:solidFill>
          <a:ln w="9525">
            <a:solidFill>
              <a:srgbClr val="E3F2F3"/>
            </a:solidFill>
            <a:prstDash val="solid"/>
          </a:ln>
        </p:spPr>
      </p:sp>
      <p:sp>
        <p:nvSpPr>
          <p:cNvPr id="41" name="Text 38"/>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يَجِبُ عَلَى</a:t>
            </a:r>
            <a:endParaRPr lang="ar-SA" sz="2400" dirty="0"/>
          </a:p>
        </p:txBody>
      </p:sp>
      <p:sp>
        <p:nvSpPr>
          <p:cNvPr id="42" name="Shape 39"/>
          <p:cNvSpPr/>
          <p:nvPr/>
        </p:nvSpPr>
        <p:spPr>
          <a:xfrm>
            <a:off x="6336792" y="4242816"/>
            <a:ext cx="2642616" cy="768096"/>
          </a:xfrm>
          <a:prstGeom prst="roundRect">
            <a:avLst>
              <a:gd name="adj" fmla="val 7143"/>
            </a:avLst>
          </a:prstGeom>
          <a:solidFill>
            <a:srgbClr val="EEF3FA"/>
          </a:solidFill>
          <a:ln w="9525">
            <a:solidFill>
              <a:srgbClr val="EEF3FA"/>
            </a:solidFill>
            <a:prstDash val="solid"/>
          </a:ln>
        </p:spPr>
      </p:sp>
      <p:sp>
        <p:nvSpPr>
          <p:cNvPr id="43" name="Text 40"/>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الطُّلَّابِ</a:t>
            </a:r>
            <a:endParaRPr lang="ar-SA" sz="2400" dirty="0"/>
          </a:p>
        </p:txBody>
      </p:sp>
      <p:sp>
        <p:nvSpPr>
          <p:cNvPr id="44" name="Shape 41"/>
          <p:cNvSpPr/>
          <p:nvPr/>
        </p:nvSpPr>
        <p:spPr>
          <a:xfrm>
            <a:off x="3584448" y="4242816"/>
            <a:ext cx="2642616" cy="768096"/>
          </a:xfrm>
          <a:prstGeom prst="roundRect">
            <a:avLst>
              <a:gd name="adj" fmla="val 7143"/>
            </a:avLst>
          </a:prstGeom>
          <a:solidFill>
            <a:srgbClr val="FBEAEA"/>
          </a:solidFill>
          <a:ln w="9525">
            <a:solidFill>
              <a:srgbClr val="FBEAEA"/>
            </a:solidFill>
            <a:prstDash val="solid"/>
          </a:ln>
        </p:spPr>
      </p:sp>
      <p:sp>
        <p:nvSpPr>
          <p:cNvPr id="45" name="Text 42"/>
          <p:cNvSpPr txBox="1"/>
          <p:nvPr/>
        </p:nvSpPr>
        <p:spPr>
          <a:xfrm>
            <a:off x="3657600" y="4242816"/>
            <a:ext cx="2496312" cy="768096"/>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أَنْ </a:t>
            </a:r>
            <a:pPr rtl="1" algn="ctr" indent="0" marL="0">
              <a:lnSpc>
                <a:spcPct val="120000"/>
              </a:lnSpc>
              <a:buNone/>
            </a:pPr>
            <a:r>
              <a:rPr lang="ar-SA" altLang="en-US" sz="1700" b="1" dirty="0">
                <a:solidFill>
                  <a:srgbClr val="D6336C"/>
                </a:solidFill>
                <a:latin typeface="Amiri" pitchFamily="2" charset="-78"/>
                <a:ea typeface="Amiri" pitchFamily="2" charset="-78"/>
                <a:cs typeface="Amiri" pitchFamily="2" charset="-78"/>
              </a:rPr>
              <a:t>يَفْصِلُوا</a:t>
            </a:r>
            <a:pPr rtl="1" algn="ct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 الوَرَقَ عَنِ البِلَاسْتِيكِ.</a:t>
            </a:r>
            <a:endParaRPr lang="ar-SA" sz="1700" dirty="0"/>
          </a:p>
        </p:txBody>
      </p:sp>
      <p:sp>
        <p:nvSpPr>
          <p:cNvPr id="46" name="Text 43"/>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Families can save water.</a:t>
            </a:r>
            <a:endParaRPr lang="en-US" sz="1200" dirty="0"/>
          </a:p>
        </p:txBody>
      </p:sp>
      <p:sp>
        <p:nvSpPr>
          <p:cNvPr id="47" name="Shape 44"/>
          <p:cNvSpPr/>
          <p:nvPr/>
        </p:nvSpPr>
        <p:spPr>
          <a:xfrm>
            <a:off x="9089136" y="5120640"/>
            <a:ext cx="2642616" cy="768096"/>
          </a:xfrm>
          <a:prstGeom prst="roundRect">
            <a:avLst>
              <a:gd name="adj" fmla="val 7143"/>
            </a:avLst>
          </a:prstGeom>
          <a:solidFill>
            <a:srgbClr val="E3F2F3"/>
          </a:solidFill>
          <a:ln w="9525">
            <a:solidFill>
              <a:srgbClr val="E3F2F3"/>
            </a:solidFill>
            <a:prstDash val="solid"/>
          </a:ln>
        </p:spPr>
      </p:sp>
      <p:sp>
        <p:nvSpPr>
          <p:cNvPr id="48" name="Text 45"/>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يُمْكِنُ</a:t>
            </a:r>
            <a:endParaRPr lang="ar-SA" sz="2400" dirty="0"/>
          </a:p>
        </p:txBody>
      </p:sp>
      <p:sp>
        <p:nvSpPr>
          <p:cNvPr id="49" name="Shape 46"/>
          <p:cNvSpPr/>
          <p:nvPr/>
        </p:nvSpPr>
        <p:spPr>
          <a:xfrm>
            <a:off x="6336792" y="5120640"/>
            <a:ext cx="2642616" cy="768096"/>
          </a:xfrm>
          <a:prstGeom prst="roundRect">
            <a:avLst>
              <a:gd name="adj" fmla="val 7143"/>
            </a:avLst>
          </a:prstGeom>
          <a:solidFill>
            <a:srgbClr val="EEF3FA"/>
          </a:solidFill>
          <a:ln w="9525">
            <a:solidFill>
              <a:srgbClr val="EEF3FA"/>
            </a:solidFill>
            <a:prstDash val="solid"/>
          </a:ln>
        </p:spPr>
      </p:sp>
      <p:sp>
        <p:nvSpPr>
          <p:cNvPr id="50" name="Text 47"/>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لِلأُسَرِ</a:t>
            </a:r>
            <a:endParaRPr lang="ar-SA" sz="2400" dirty="0"/>
          </a:p>
        </p:txBody>
      </p:sp>
      <p:sp>
        <p:nvSpPr>
          <p:cNvPr id="51" name="Shape 48"/>
          <p:cNvSpPr/>
          <p:nvPr/>
        </p:nvSpPr>
        <p:spPr>
          <a:xfrm>
            <a:off x="3584448" y="5120640"/>
            <a:ext cx="2642616" cy="768096"/>
          </a:xfrm>
          <a:prstGeom prst="roundRect">
            <a:avLst>
              <a:gd name="adj" fmla="val 7143"/>
            </a:avLst>
          </a:prstGeom>
          <a:solidFill>
            <a:srgbClr val="FBEAEA"/>
          </a:solidFill>
          <a:ln w="9525">
            <a:solidFill>
              <a:srgbClr val="FBEAEA"/>
            </a:solidFill>
            <a:prstDash val="solid"/>
          </a:ln>
        </p:spPr>
      </p:sp>
      <p:sp>
        <p:nvSpPr>
          <p:cNvPr id="52" name="Text 49"/>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 </a:t>
            </a:r>
            <a:pPr rtl="1" algn="ctr" indent="0" marL="0">
              <a:buNone/>
            </a:pPr>
            <a:r>
              <a:rPr lang="ar-SA" altLang="en-US" sz="2400" b="1" dirty="0">
                <a:solidFill>
                  <a:srgbClr val="D6336C"/>
                </a:solidFill>
                <a:latin typeface="Amiri" pitchFamily="2" charset="-78"/>
                <a:ea typeface="Amiri" pitchFamily="2" charset="-78"/>
                <a:cs typeface="Amiri" pitchFamily="2" charset="-78"/>
              </a:rPr>
              <a:t>تُرَشِّدَ</a:t>
            </a:r>
            <a:pPr rtl="1" algn="ctr" indent="0" marL="0">
              <a:buNone/>
            </a:pPr>
            <a:r>
              <a:rPr lang="ar-SA" altLang="en-US" sz="2400" b="1" dirty="0">
                <a:solidFill>
                  <a:srgbClr val="1B3B6F"/>
                </a:solidFill>
                <a:latin typeface="Amiri" pitchFamily="2" charset="-78"/>
                <a:ea typeface="Amiri" pitchFamily="2" charset="-78"/>
                <a:cs typeface="Amiri" pitchFamily="2" charset="-78"/>
              </a:rPr>
              <a:t> المَاءَ.</a:t>
            </a:r>
            <a:endParaRPr lang="ar-SA" sz="2400" dirty="0"/>
          </a:p>
        </p:txBody>
      </p:sp>
      <p:sp>
        <p:nvSpPr>
          <p:cNvPr id="53" name="Text 50"/>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cs typeface="Amiri" pitchFamily="2" charset="-78"/>
              </a:rPr>
              <a:t>Name who is responsible after </a:t>
            </a:r>
            <a:pPr algn="l" indent="0" marL="0">
              <a:buNone/>
            </a:pPr>
            <a:r>
              <a:rPr lang="ar-SA" altLang="en-US" sz="1550" b="1" dirty="0">
                <a:solidFill>
                  <a:srgbClr val="8A6D1E"/>
                </a:solidFill>
                <a:latin typeface="Amiri" pitchFamily="2" charset="-78"/>
                <a:ea typeface="Amiri" pitchFamily="2" charset="-78"/>
                <a:cs typeface="Amiri" pitchFamily="2" charset="-78"/>
              </a:rPr>
              <a:t>عَلَى</a:t>
            </a:r>
            <a:pPr algn="l" indent="0" marL="0">
              <a:buNone/>
            </a:pPr>
            <a:r>
              <a:rPr lang="en-US" sz="1200" b="1" dirty="0">
                <a:solidFill>
                  <a:srgbClr val="8A6D1E"/>
                </a:solidFill>
                <a:latin typeface="Calibri" pitchFamily="34" charset="0"/>
                <a:cs typeface="Amiri" pitchFamily="2" charset="-78"/>
              </a:rPr>
              <a:t>: </a:t>
            </a:r>
            <a:pPr algn="l" indent="0" marL="0">
              <a:buNone/>
            </a:pPr>
            <a:r>
              <a:rPr lang="ar-SA" altLang="en-US" sz="1550" b="1" dirty="0">
                <a:solidFill>
                  <a:srgbClr val="8A6D1E"/>
                </a:solidFill>
                <a:latin typeface="Amiri" pitchFamily="2" charset="-78"/>
                <a:ea typeface="Amiri" pitchFamily="2" charset="-78"/>
                <a:cs typeface="Amiri" pitchFamily="2" charset="-78"/>
              </a:rPr>
              <a:t>يَجِبُ عَلَى</a:t>
            </a:r>
            <a:pPr algn="l" indent="0" marL="0">
              <a:buNone/>
            </a:pPr>
            <a:r>
              <a:rPr lang="en-US" sz="1200" b="1" dirty="0">
                <a:solidFill>
                  <a:srgbClr val="8A6D1E"/>
                </a:solidFill>
                <a:latin typeface="Calibri" pitchFamily="34" charset="0"/>
                <a:cs typeface="Amiri" pitchFamily="2" charset="-78"/>
              </a:rPr>
              <a:t> + person / group + </a:t>
            </a:r>
            <a:pPr algn="l" indent="0" marL="0">
              <a:buNone/>
            </a:pPr>
            <a:r>
              <a:rPr lang="ar-SA" altLang="en-US" sz="1550" b="1" dirty="0">
                <a:solidFill>
                  <a:srgbClr val="8A6D1E"/>
                </a:solidFill>
                <a:latin typeface="Amiri" pitchFamily="2" charset="-78"/>
                <a:ea typeface="Amiri" pitchFamily="2" charset="-78"/>
                <a:cs typeface="Amiri" pitchFamily="2" charset="-78"/>
              </a:rPr>
              <a:t>أَنْ</a:t>
            </a:r>
            <a:pPr algn="l" indent="0" marL="0">
              <a:buNone/>
            </a:pPr>
            <a:r>
              <a:rPr lang="en-US" sz="1200" b="1" dirty="0">
                <a:solidFill>
                  <a:srgbClr val="8A6D1E"/>
                </a:solidFill>
                <a:latin typeface="Calibri" pitchFamily="34" charset="0"/>
                <a:cs typeface="Amiri" pitchFamily="2" charset="-78"/>
              </a:rPr>
              <a:t> + verb (</a:t>
            </a:r>
            <a:pPr algn="l" indent="0" marL="0">
              <a:buNone/>
            </a:pPr>
            <a:r>
              <a:rPr lang="ar-SA" altLang="en-US" sz="1550" b="1" dirty="0">
                <a:solidFill>
                  <a:srgbClr val="8A6D1E"/>
                </a:solidFill>
                <a:latin typeface="Amiri" pitchFamily="2" charset="-78"/>
                <a:ea typeface="Amiri" pitchFamily="2" charset="-78"/>
                <a:cs typeface="Amiri" pitchFamily="2" charset="-78"/>
              </a:rPr>
              <a:t>ـَ</a:t>
            </a:r>
            <a:pPr algn="l" indent="0" marL="0">
              <a:buNone/>
            </a:pPr>
            <a:r>
              <a:rPr lang="en-US" sz="1200" b="1" dirty="0">
                <a:solidFill>
                  <a:srgbClr val="8A6D1E"/>
                </a:solidFill>
                <a:latin typeface="Calibri" pitchFamily="34" charset="0"/>
                <a:cs typeface="Amiri" pitchFamily="2" charset="-78"/>
              </a:rPr>
              <a:t>)</a:t>
            </a:r>
            <a:endParaRPr lang="en-US" sz="12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4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Fatḥa or no </a:t>
            </a:r>
            <a:pPr algn="l" indent="0" marL="0">
              <a:buNone/>
            </a:pPr>
            <a:r>
              <a:rPr lang="ar-SA" altLang="en-US" sz="3650" b="1" dirty="0">
                <a:solidFill>
                  <a:srgbClr val="1B3B6F"/>
                </a:solidFill>
                <a:latin typeface="Amiri" pitchFamily="2" charset="-78"/>
                <a:ea typeface="Amiri" pitchFamily="2" charset="-78"/>
                <a:cs typeface="Amiri" pitchFamily="2" charset="-78"/>
              </a:rPr>
              <a:t>ن</a:t>
            </a:r>
            <a:pPr algn="l" indent="0" marL="0">
              <a:buNone/>
            </a:pPr>
            <a:r>
              <a:rPr lang="en-US" sz="2800" b="1" dirty="0">
                <a:solidFill>
                  <a:srgbClr val="1B3B6F"/>
                </a:solidFill>
                <a:latin typeface="Cambria" pitchFamily="34" charset="0"/>
                <a:cs typeface="Amiri" pitchFamily="2" charset="-78"/>
              </a:rPr>
              <a:t>? And “if”</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المَنْصُوبُ وَالشَّرْطُ</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7" name="Shape 14"/>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32648" y="1920240"/>
            <a:ext cx="1508760" cy="274320"/>
          </a:xfrm>
          <a:prstGeom prst="roundRect">
            <a:avLst>
              <a:gd name="adj" fmla="val 50000"/>
            </a:avLst>
          </a:prstGeom>
          <a:solidFill>
            <a:srgbClr val="1B3B6F"/>
          </a:solidFill>
          <a:ln w="12700">
            <a:solidFill>
              <a:srgbClr val="1B3B6F"/>
            </a:solidFill>
            <a:prstDash val="solid"/>
          </a:ln>
        </p:spPr>
      </p:sp>
      <p:sp>
        <p:nvSpPr>
          <p:cNvPr id="19" name="Text 16"/>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MOST VERBS · fatḥa</a:t>
            </a:r>
            <a:endParaRPr lang="en-US" sz="850" dirty="0"/>
          </a:p>
        </p:txBody>
      </p:sp>
      <p:sp>
        <p:nvSpPr>
          <p:cNvPr id="20" name="Text 17"/>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أَنْ نُقَلِّلَ</a:t>
            </a:r>
            <a:endParaRPr lang="ar-SA" sz="1600" dirty="0"/>
          </a:p>
        </p:txBody>
      </p:sp>
      <p:sp>
        <p:nvSpPr>
          <p:cNvPr id="21" name="Text 18"/>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يَنْبَغِي أَنْ نُقَلِّلَ النُّفَايَاتِ</a:t>
            </a:r>
            <a:endParaRPr lang="ar-SA" sz="3000" dirty="0"/>
          </a:p>
        </p:txBody>
      </p:sp>
      <p:sp>
        <p:nvSpPr>
          <p:cNvPr id="22" name="Text 19"/>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We should reduce waste.</a:t>
            </a:r>
            <a:endParaRPr lang="en-US" sz="1200" dirty="0"/>
          </a:p>
        </p:txBody>
      </p:sp>
      <p:sp>
        <p:nvSpPr>
          <p:cNvPr id="23" name="Shape 20"/>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4" name="Text 21"/>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Most verbs: final </a:t>
            </a:r>
            <a:pPr algn="l" indent="0" marL="0">
              <a:buNone/>
            </a:pPr>
            <a:r>
              <a:rPr lang="ar-SA" altLang="en-US" sz="1450" dirty="0">
                <a:solidFill>
                  <a:srgbClr val="1F2A37"/>
                </a:solidFill>
                <a:latin typeface="Amiri" pitchFamily="2" charset="-78"/>
                <a:ea typeface="Amiri" pitchFamily="2" charset="-78"/>
                <a:cs typeface="Amiri" pitchFamily="2" charset="-78"/>
              </a:rPr>
              <a:t>ـُ</a:t>
            </a:r>
            <a:pPr algn="l" indent="0" marL="0">
              <a:buNone/>
            </a:pPr>
            <a:r>
              <a:rPr lang="en-US" sz="1100" dirty="0">
                <a:solidFill>
                  <a:srgbClr val="1F2A37"/>
                </a:solidFill>
                <a:latin typeface="Calibri" pitchFamily="34" charset="0"/>
                <a:cs typeface="Amiri" pitchFamily="2" charset="-78"/>
              </a:rPr>
              <a:t> → </a:t>
            </a:r>
            <a:pPr algn="l" indent="0" marL="0">
              <a:buNone/>
            </a:pPr>
            <a:r>
              <a:rPr lang="ar-SA" altLang="en-US" sz="1450" dirty="0">
                <a:solidFill>
                  <a:srgbClr val="1F2A37"/>
                </a:solidFill>
                <a:latin typeface="Amiri" pitchFamily="2" charset="-78"/>
                <a:ea typeface="Amiri" pitchFamily="2" charset="-78"/>
                <a:cs typeface="Amiri" pitchFamily="2" charset="-78"/>
              </a:rPr>
              <a:t>ـَ</a:t>
            </a:r>
            <a:pPr algn="l" indent="0" marL="0">
              <a:buNone/>
            </a:pPr>
            <a:r>
              <a:rPr lang="en-US" sz="1100" dirty="0">
                <a:solidFill>
                  <a:srgbClr val="1F2A37"/>
                </a:solidFill>
                <a:latin typeface="Calibri" pitchFamily="34" charset="0"/>
                <a:cs typeface="Amiri" pitchFamily="2" charset="-78"/>
              </a:rPr>
              <a:t>. They do NOT lose a </a:t>
            </a:r>
            <a:pPr algn="l" indent="0" marL="0">
              <a:buNone/>
            </a:pPr>
            <a:r>
              <a:rPr lang="ar-SA" altLang="en-US" sz="1450" dirty="0">
                <a:solidFill>
                  <a:srgbClr val="1F2A37"/>
                </a:solidFill>
                <a:latin typeface="Amiri" pitchFamily="2" charset="-78"/>
                <a:ea typeface="Amiri" pitchFamily="2" charset="-78"/>
                <a:cs typeface="Amiri" pitchFamily="2" charset="-78"/>
              </a:rPr>
              <a:t>ن</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25" name="Shape 22"/>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13504" y="1920240"/>
            <a:ext cx="15773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ar-SA" sz="850" b="1" spc="100" kern="0" dirty="0">
                <a:solidFill>
                  <a:srgbClr val="FFFFFF"/>
                </a:solidFill>
                <a:latin typeface="Calibri" pitchFamily="34" charset="0"/>
                <a:ea typeface="Amiri" pitchFamily="2" charset="-78"/>
                <a:cs typeface="Amiri" pitchFamily="2" charset="-78"/>
              </a:rPr>
              <a:t>FIVE VERBS · drop ن</a:t>
            </a:r>
            <a:endParaRPr lang="en-US" sz="850" dirty="0"/>
          </a:p>
        </p:txBody>
      </p:sp>
      <p:sp>
        <p:nvSpPr>
          <p:cNvPr id="28" name="Text 25"/>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أَنْ يُعِيدُوا</a:t>
            </a:r>
            <a:endParaRPr lang="ar-SA" sz="1600" dirty="0"/>
          </a:p>
        </p:txBody>
      </p:sp>
      <p:sp>
        <p:nvSpPr>
          <p:cNvPr id="29" name="Text 26"/>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يَجِبُ عَلَى النَّاسِ أَنْ يُعِيدُوا التَّدْوِيرَ</a:t>
            </a:r>
            <a:endParaRPr lang="ar-SA" sz="2100" dirty="0"/>
          </a:p>
        </p:txBody>
      </p:sp>
      <p:sp>
        <p:nvSpPr>
          <p:cNvPr id="30" name="Text 27"/>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People must recycle.</a:t>
            </a:r>
            <a:endParaRPr lang="en-US" sz="1200" dirty="0"/>
          </a:p>
        </p:txBody>
      </p:sp>
      <p:sp>
        <p:nvSpPr>
          <p:cNvPr id="31" name="Shape 28"/>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2" name="Text 29"/>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Only the five verbs lose their </a:t>
            </a:r>
            <a:pPr algn="l" indent="0" marL="0">
              <a:buNone/>
            </a:pPr>
            <a:r>
              <a:rPr lang="ar-SA" altLang="en-US" sz="1450" dirty="0">
                <a:solidFill>
                  <a:srgbClr val="1F2A37"/>
                </a:solidFill>
                <a:latin typeface="Amiri" pitchFamily="2" charset="-78"/>
                <a:ea typeface="Amiri" pitchFamily="2" charset="-78"/>
                <a:cs typeface="Amiri" pitchFamily="2" charset="-78"/>
              </a:rPr>
              <a:t>ن</a:t>
            </a:r>
            <a:pPr algn="l" indent="0" marL="0">
              <a:buNone/>
            </a:pPr>
            <a:r>
              <a:rPr lang="en-US" sz="1100" dirty="0">
                <a:solidFill>
                  <a:srgbClr val="1F2A37"/>
                </a:solidFill>
                <a:latin typeface="Calibri" pitchFamily="34" charset="0"/>
                <a:cs typeface="Amiri" pitchFamily="2" charset="-78"/>
              </a:rPr>
              <a:t>: </a:t>
            </a:r>
            <a:pPr algn="l" indent="0" marL="0">
              <a:buNone/>
            </a:pPr>
            <a:r>
              <a:rPr lang="ar-SA" altLang="en-US" sz="1450" dirty="0">
                <a:solidFill>
                  <a:srgbClr val="1F2A37"/>
                </a:solidFill>
                <a:latin typeface="Amiri" pitchFamily="2" charset="-78"/>
                <a:ea typeface="Amiri" pitchFamily="2" charset="-78"/>
                <a:cs typeface="Amiri" pitchFamily="2" charset="-78"/>
              </a:rPr>
              <a:t>يُعِيدُونَ</a:t>
            </a:r>
            <a:pPr algn="l" indent="0" marL="0">
              <a:buNone/>
            </a:pPr>
            <a:r>
              <a:rPr lang="en-US" sz="1100" dirty="0">
                <a:solidFill>
                  <a:srgbClr val="1F2A37"/>
                </a:solidFill>
                <a:latin typeface="Calibri" pitchFamily="34" charset="0"/>
                <a:cs typeface="Amiri" pitchFamily="2" charset="-78"/>
              </a:rPr>
              <a:t> → </a:t>
            </a:r>
            <a:pPr algn="l" indent="0" marL="0">
              <a:buNone/>
            </a:pPr>
            <a:r>
              <a:rPr lang="ar-SA" altLang="en-US" sz="1450" dirty="0">
                <a:solidFill>
                  <a:srgbClr val="1F2A37"/>
                </a:solidFill>
                <a:latin typeface="Amiri" pitchFamily="2" charset="-78"/>
                <a:ea typeface="Amiri" pitchFamily="2" charset="-78"/>
                <a:cs typeface="Amiri" pitchFamily="2" charset="-78"/>
              </a:rPr>
              <a:t>أَنْ يُعِيدُوا</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3" name="Shape 30"/>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94360" y="1920240"/>
            <a:ext cx="1645920" cy="274320"/>
          </a:xfrm>
          <a:prstGeom prst="roundRect">
            <a:avLst>
              <a:gd name="adj" fmla="val 50000"/>
            </a:avLst>
          </a:prstGeom>
          <a:solidFill>
            <a:srgbClr val="B83227"/>
          </a:solidFill>
          <a:ln w="12700">
            <a:solidFill>
              <a:srgbClr val="B83227"/>
            </a:solidFill>
            <a:prstDash val="solid"/>
          </a:ln>
        </p:spPr>
      </p:sp>
      <p:sp>
        <p:nvSpPr>
          <p:cNvPr id="35" name="Text 32"/>
          <p:cNvSpPr txBox="1"/>
          <p:nvPr/>
        </p:nvSpPr>
        <p:spPr>
          <a:xfrm>
            <a:off x="594360"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IF · TYPE 1 (TC-L02)</a:t>
            </a:r>
            <a:endParaRPr lang="en-US" sz="850" dirty="0"/>
          </a:p>
        </p:txBody>
      </p:sp>
      <p:sp>
        <p:nvSpPr>
          <p:cNvPr id="36" name="Text 33"/>
          <p:cNvSpPr txBox="1"/>
          <p:nvPr/>
        </p:nvSpPr>
        <p:spPr>
          <a:xfrm>
            <a:off x="2286000"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إِذَا … سَـ</a:t>
            </a:r>
            <a:endParaRPr lang="ar-SA" sz="1600" dirty="0"/>
          </a:p>
        </p:txBody>
      </p:sp>
      <p:sp>
        <p:nvSpPr>
          <p:cNvPr id="37" name="Text 34"/>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إِذَا أَعَدْنَا التَّدْوِيرَ، سَنُقَلِّلُ النُّفَايَاتِ</a:t>
            </a:r>
            <a:endParaRPr lang="ar-SA" sz="2100" dirty="0"/>
          </a:p>
        </p:txBody>
      </p:sp>
      <p:sp>
        <p:nvSpPr>
          <p:cNvPr id="38" name="Text 35"/>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we recycle, we will reduce waste.</a:t>
            </a:r>
            <a:endParaRPr lang="en-US" sz="1200" dirty="0"/>
          </a:p>
        </p:txBody>
      </p:sp>
      <p:sp>
        <p:nvSpPr>
          <p:cNvPr id="39" name="Shape 36"/>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40" name="Text 37"/>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Topic C focus: a real result with </a:t>
            </a:r>
            <a:pPr algn="l" indent="0" marL="0">
              <a:buNone/>
            </a:pPr>
            <a:r>
              <a:rPr lang="ar-SA" altLang="en-US" sz="1450" dirty="0">
                <a:solidFill>
                  <a:srgbClr val="1F2A37"/>
                </a:solidFill>
                <a:latin typeface="Amiri" pitchFamily="2" charset="-78"/>
                <a:ea typeface="Amiri" pitchFamily="2" charset="-78"/>
                <a:cs typeface="Amiri" pitchFamily="2" charset="-78"/>
              </a:rPr>
              <a:t>إِذَا</a:t>
            </a:r>
            <a:pPr algn="l" indent="0" marL="0">
              <a:buNone/>
            </a:pPr>
            <a:r>
              <a:rPr lang="en-US" sz="1100" dirty="0">
                <a:solidFill>
                  <a:srgbClr val="1F2A37"/>
                </a:solidFill>
                <a:latin typeface="Calibri" pitchFamily="34" charset="0"/>
                <a:cs typeface="Amiri" pitchFamily="2" charset="-78"/>
              </a:rPr>
              <a:t> + past → </a:t>
            </a:r>
            <a:pPr algn="l" indent="0" marL="0">
              <a:buNone/>
            </a:pPr>
            <a:r>
              <a:rPr lang="ar-SA" altLang="en-US" sz="1450" dirty="0">
                <a:solidFill>
                  <a:srgbClr val="1F2A37"/>
                </a:solidFill>
                <a:latin typeface="Amiri" pitchFamily="2" charset="-78"/>
                <a:ea typeface="Amiri" pitchFamily="2" charset="-78"/>
                <a:cs typeface="Amiri" pitchFamily="2" charset="-78"/>
              </a:rPr>
              <a:t>سَـ</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41" name="Shape 38"/>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3" name="Text 40"/>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Do not say that every subjunctive verb “loses nūn”.</a:t>
            </a:r>
            <a:endParaRPr lang="en-US" sz="1150" dirty="0"/>
          </a:p>
        </p:txBody>
      </p:sp>
      <p:sp>
        <p:nvSpPr>
          <p:cNvPr id="44" name="Text 41"/>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أَنْ نُقَلِّلَ</a:t>
            </a:r>
            <a:endParaRPr lang="ar-SA" sz="2600" dirty="0"/>
          </a:p>
        </p:txBody>
      </p:sp>
      <p:sp>
        <p:nvSpPr>
          <p:cNvPr id="45" name="Text 42"/>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6" name="Text 43"/>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أَنْ نُقَلِّلُ</a:t>
            </a:r>
            <a:endParaRPr lang="ar-SA" sz="2600" dirty="0"/>
          </a:p>
        </p:txBody>
      </p:sp>
      <p:sp>
        <p:nvSpPr>
          <p:cNvPr id="47" name="Shape 44"/>
          <p:cNvSpPr/>
          <p:nvPr/>
        </p:nvSpPr>
        <p:spPr>
          <a:xfrm>
            <a:off x="8138160" y="5669280"/>
            <a:ext cx="1371600" cy="0"/>
          </a:xfrm>
          <a:prstGeom prst="line">
            <a:avLst/>
          </a:prstGeom>
          <a:noFill/>
          <a:ln w="25400">
            <a:solidFill>
              <a:srgbClr val="B83227"/>
            </a:solidFill>
            <a:prstDash val="solid"/>
          </a:ln>
        </p:spPr>
      </p:sp>
      <p:sp>
        <p:nvSpPr>
          <p:cNvPr id="48" name="Text 45"/>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أَنْ يُعِيدُوا</a:t>
            </a:r>
            <a:endParaRPr lang="ar-SA" sz="2600" dirty="0"/>
          </a:p>
        </p:txBody>
      </p:sp>
      <p:sp>
        <p:nvSpPr>
          <p:cNvPr id="49" name="Text 46"/>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50" name="Text 47"/>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أَنْ يُعِيدُونَ</a:t>
            </a:r>
            <a:endParaRPr lang="ar-SA" sz="2600" dirty="0"/>
          </a:p>
        </p:txBody>
      </p:sp>
      <p:sp>
        <p:nvSpPr>
          <p:cNvPr id="51" name="Shape 48"/>
          <p:cNvSpPr/>
          <p:nvPr/>
        </p:nvSpPr>
        <p:spPr>
          <a:xfrm>
            <a:off x="4434840" y="5669280"/>
            <a:ext cx="1371600" cy="0"/>
          </a:xfrm>
          <a:prstGeom prst="line">
            <a:avLst/>
          </a:prstGeom>
          <a:noFill/>
          <a:ln w="25400">
            <a:solidFill>
              <a:srgbClr val="B83227"/>
            </a:solidFill>
            <a:prstDash val="solid"/>
          </a:ln>
        </p:spPr>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5 · WEBSITE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The four website rules with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Advice with </a:t>
            </a:r>
            <a:pPr algn="l" indent="0" marL="0">
              <a:buNone/>
            </a:pPr>
            <a:r>
              <a:rPr lang="ar-SA" altLang="en-US" sz="1650" b="1" dirty="0">
                <a:solidFill>
                  <a:srgbClr val="1B3B6F"/>
                </a:solidFill>
                <a:latin typeface="Amiri" pitchFamily="2" charset="-78"/>
                <a:ea typeface="Amiri" pitchFamily="2" charset="-78"/>
                <a:cs typeface="Amiri" pitchFamily="2" charset="-78"/>
              </a:rPr>
              <a:t>يَنْبَغِي أَنْ</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يَنْبَغِي أَنْ</a:t>
            </a:r>
            <a:pPr algn="l" indent="0" marL="0">
              <a:buNone/>
            </a:pPr>
            <a:r>
              <a:rPr lang="en-US" sz="1050" dirty="0">
                <a:solidFill>
                  <a:srgbClr val="5A6472"/>
                </a:solidFill>
                <a:latin typeface="Calibri" pitchFamily="34" charset="0"/>
                <a:cs typeface="Amiri" pitchFamily="2" charset="-78"/>
              </a:rPr>
              <a:t> + subjunctive present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يَنْبَغِي أَنْ نُقَلِّلَ اسْتِخْدَامَ البِلَاسْتِيكِ.</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Obligation for a person or group</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يَجِبُ عَلَى</a:t>
            </a:r>
            <a:pPr algn="l" indent="0" marL="0">
              <a:buNone/>
            </a:pPr>
            <a:r>
              <a:rPr lang="en-US" sz="1050" dirty="0">
                <a:solidFill>
                  <a:srgbClr val="5A6472"/>
                </a:solidFill>
                <a:latin typeface="Calibri" pitchFamily="34" charset="0"/>
                <a:cs typeface="Amiri" pitchFamily="2" charset="-78"/>
              </a:rPr>
              <a:t> + noun + </a:t>
            </a:r>
            <a:pPr algn="l" indent="0" marL="0">
              <a:buNone/>
            </a:pPr>
            <a:r>
              <a:rPr lang="ar-SA" altLang="en-US" sz="1350" dirty="0">
                <a:solidFill>
                  <a:srgbClr val="5A6472"/>
                </a:solidFill>
                <a:latin typeface="Amiri" pitchFamily="2" charset="-78"/>
                <a:ea typeface="Amiri" pitchFamily="2" charset="-78"/>
                <a:cs typeface="Amiri" pitchFamily="2" charset="-78"/>
              </a:rPr>
              <a:t>أَنْ</a:t>
            </a:r>
            <a:pPr algn="l" indent="0" marL="0">
              <a:buNone/>
            </a:pPr>
            <a:r>
              <a:rPr lang="en-US" sz="1050" dirty="0">
                <a:solidFill>
                  <a:srgbClr val="5A6472"/>
                </a:solidFill>
                <a:latin typeface="Calibri" pitchFamily="34" charset="0"/>
                <a:cs typeface="Amiri" pitchFamily="2" charset="-78"/>
              </a:rPr>
              <a:t> + subjunctive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يَجِبُ عَلَى الحُكُومَةِ أَنْ تَسْتَثْمِرَ فِي الطَّاقَةِ المُتَجَدِّدَةِ.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Purpose with </a:t>
            </a:r>
            <a:pPr algn="l" indent="0" marL="0">
              <a:buNone/>
            </a:pPr>
            <a:r>
              <a:rPr lang="ar-SA" altLang="en-US" sz="1650" b="1" dirty="0">
                <a:solidFill>
                  <a:srgbClr val="1B3B6F"/>
                </a:solidFill>
                <a:latin typeface="Amiri" pitchFamily="2" charset="-78"/>
                <a:ea typeface="Amiri" pitchFamily="2" charset="-78"/>
                <a:cs typeface="Amiri" pitchFamily="2" charset="-78"/>
              </a:rPr>
              <a:t>لِكَيْ</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action + </a:t>
            </a:r>
            <a:pPr algn="l" indent="0" marL="0">
              <a:buNone/>
            </a:pPr>
            <a:r>
              <a:rPr lang="ar-SA" altLang="en-US" sz="1350" dirty="0">
                <a:solidFill>
                  <a:srgbClr val="5A6472"/>
                </a:solidFill>
                <a:latin typeface="Amiri" pitchFamily="2" charset="-78"/>
                <a:ea typeface="Amiri" pitchFamily="2" charset="-78"/>
                <a:cs typeface="Amiri" pitchFamily="2" charset="-78"/>
              </a:rPr>
              <a:t>لِكَيْ</a:t>
            </a:r>
            <a:pPr algn="l" indent="0" marL="0">
              <a:buNone/>
            </a:pPr>
            <a:r>
              <a:rPr lang="en-US" sz="1050" dirty="0">
                <a:solidFill>
                  <a:srgbClr val="5A6472"/>
                </a:solidFill>
                <a:latin typeface="Calibri" pitchFamily="34" charset="0"/>
                <a:cs typeface="Amiri" pitchFamily="2" charset="-78"/>
              </a:rPr>
              <a:t> + subjunctive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نَسْتَخْدِمُ النَّقْلَ العَامَّ لِكَيْ نُقَلِّلَ الانْبِعَاثَاتِ.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The five verbs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أَنْ</a:t>
            </a:r>
            <a:pPr algn="l" indent="0" marL="0">
              <a:buNone/>
            </a:pPr>
            <a:r>
              <a:rPr lang="en-US" sz="1050" dirty="0">
                <a:solidFill>
                  <a:srgbClr val="5A6472"/>
                </a:solidFill>
                <a:latin typeface="Calibri" pitchFamily="34" charset="0"/>
                <a:cs typeface="Amiri" pitchFamily="2" charset="-78"/>
              </a:rPr>
              <a:t> + one of the five verbs → nūn is omitted</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يَجِبُ عَلَى النَّاسِ أَنْ يُعِيدُوا التَّدْوِيرَ.</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advice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يَنْبَغِي أَنْ نُقَلِّلُ اسْتِخْدَامَ البِلَاسْتِيكِ.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يَنْبَغِي نُقَلِّلَ اسْتِخْدَامَ البِلَاسْتِيكِ.</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يَنْبَغِي أَنْ نُقَلِّلَ اسْتِخْدَامَ البِلَاسْتِيكِ.</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obligation.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عَلَى الحُكُومَةِ أَنْ تَحْمِيَ الغَابَاتِ.</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الحُكُومَةُ تَحْمِي الغَابَاتِ.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عَلَى الحُكُومَةِ تَحْمِيُ الغَابَاتِ.</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purpose sentence.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نَزْرَعُ الأَشْجَارَ لِكَيْ نُحَسِّنُ جَوْدَةَ الهَوَاءِ.</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نَزْرَعُ الأَشْجَارَ لِكَيْ نُحَسِّنَ جَوْدَةَ الهَوَاءِ.</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نَزْرَعُ الأَشْجَارَ لِكَيْ تَحْسِينُ الهَوَاءِ.</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أَنْ نَسْتَخْدِمَ الطَّاقَةَ الشَّمْسِيَّةَ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يُمْكِنُ</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يُؤَدِّي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يَتَّسِمُ</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advice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يَنْبَغِي أَنْ نُقَلِّلُ اسْتِخْدَامَ البِلَاسْتِيكِ.</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يَنْبَغِي نُقَلِّلَ اسْتِخْدَامَ البِلَاسْتِيكِ.</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يَنْبَغِي أَنْ نُقَلِّلَ اسْتِخْدَامَ البِلَاسْتِيكِ.</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ea typeface="Amiri" pitchFamily="2" charset="-78"/>
                <a:cs typeface="Amiri" pitchFamily="2" charset="-78"/>
              </a:rPr>
              <a:t>نُقَلِّلُ</a:t>
            </a:r>
            <a:pPr algn="l" indent="0" marL="0">
              <a:buNone/>
            </a:pPr>
            <a:r>
              <a:rPr lang="en-US" sz="1050" i="1" dirty="0">
                <a:solidFill>
                  <a:srgbClr val="8A6D1E"/>
                </a:solidFill>
                <a:latin typeface="Calibri" pitchFamily="34" charset="0"/>
                <a:cs typeface="Amiri" pitchFamily="2" charset="-78"/>
              </a:rPr>
              <a:t> becomes </a:t>
            </a:r>
            <a:pPr algn="l" indent="0" marL="0">
              <a:buNone/>
            </a:pPr>
            <a:r>
              <a:rPr lang="ar-SA" altLang="en-US" sz="1350" dirty="0">
                <a:solidFill>
                  <a:srgbClr val="8A6D1E"/>
                </a:solidFill>
                <a:latin typeface="Amiri" pitchFamily="2" charset="-78"/>
                <a:ea typeface="Amiri" pitchFamily="2" charset="-78"/>
                <a:cs typeface="Amiri" pitchFamily="2" charset="-78"/>
              </a:rPr>
              <a:t>نُقَلِّلَ</a:t>
            </a:r>
            <a:pPr algn="l" indent="0" marL="0">
              <a:buNone/>
            </a:pPr>
            <a:r>
              <a:rPr lang="en-US" sz="1050" i="1" dirty="0">
                <a:solidFill>
                  <a:srgbClr val="8A6D1E"/>
                </a:solidFill>
                <a:latin typeface="Calibri" pitchFamily="34" charset="0"/>
                <a:cs typeface="Amiri" pitchFamily="2" charset="-78"/>
              </a:rPr>
              <a:t> with final fatḥa.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obligation.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يَجِبُ عَلَى الحُكُومَةِ أَنْ تَحْمِيَ الغَابَاتِ.</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يَجِبُ الحُكُومَةُ تَحْمِي الغَابَاتِ.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يَجِبُ عَلَى الحُكُومَةِ تَحْمِيُ الغَابَاتِ.</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pattern is </a:t>
            </a:r>
            <a:pPr algn="l" indent="0" marL="0">
              <a:buNone/>
            </a:pPr>
            <a:r>
              <a:rPr lang="ar-SA" altLang="en-US" sz="1350" dirty="0">
                <a:solidFill>
                  <a:srgbClr val="8A6D1E"/>
                </a:solidFill>
                <a:latin typeface="Amiri" pitchFamily="2" charset="-78"/>
                <a:ea typeface="Amiri" pitchFamily="2" charset="-78"/>
                <a:cs typeface="Amiri" pitchFamily="2" charset="-78"/>
              </a:rPr>
              <a:t>يجب على</a:t>
            </a:r>
            <a:pPr algn="l" indent="0" marL="0">
              <a:buNone/>
            </a:pPr>
            <a:r>
              <a:rPr lang="en-US" sz="1050" i="1" dirty="0">
                <a:solidFill>
                  <a:srgbClr val="8A6D1E"/>
                </a:solidFill>
                <a:latin typeface="Calibri" pitchFamily="34" charset="0"/>
                <a:cs typeface="Amiri" pitchFamily="2" charset="-78"/>
              </a:rPr>
              <a:t> + noun +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 subjunctive.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purpose sentence.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نَزْرَعُ الأَشْجَارَ لِكَيْ نُحَسِّنُ جَوْدَةَ الهَوَاءِ.</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نَزْرَعُ الأَشْجَارَ لِكَيْ نُحَسِّنَ جَوْدَةَ الهَوَاءِ.</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نَزْرَعُ الأَشْجَارَ لِكَيْ تَحْسِينُ الهَوَاءِ.</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the sound-ending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نحسنَ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أَنْ نَسْتَخْدِمَ الطَّاقَةَ الشَّمْسِيَّةَ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يُمْكِنُ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يُؤَدِّي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يَتَّسِمُ</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يمكن أن</a:t>
            </a:r>
            <a:pPr algn="l" indent="0" marL="0">
              <a:buNone/>
            </a:pPr>
            <a:r>
              <a:rPr lang="en-US" sz="1050" i="1" dirty="0">
                <a:solidFill>
                  <a:srgbClr val="8A6D1E"/>
                </a:solidFill>
                <a:latin typeface="Calibri" pitchFamily="34" charset="0"/>
                <a:cs typeface="Amiri" pitchFamily="2" charset="-78"/>
              </a:rPr>
              <a:t> means it is possible to.</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propose a solution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Name the problem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تَزْدَادُ النُّفَايَاتُ</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problem first (TC-L04). </a:t>
            </a:r>
            <a:pPr algn="l" indent="0" marL="0">
              <a:buNone/>
            </a:pPr>
            <a:r>
              <a:rPr lang="ar-SA" altLang="en-US" sz="1500" dirty="0">
                <a:solidFill>
                  <a:srgbClr val="1F2A37"/>
                </a:solidFill>
                <a:latin typeface="Amiri" pitchFamily="2" charset="-78"/>
                <a:ea typeface="Amiri" pitchFamily="2" charset="-78"/>
                <a:cs typeface="Amiri" pitchFamily="2" charset="-78"/>
              </a:rPr>
              <a:t>تَزْدَادُ</a:t>
            </a:r>
            <a:pPr algn="l" indent="0" marL="0">
              <a:buNone/>
            </a:pPr>
            <a:r>
              <a:rPr lang="en-US" sz="1150" dirty="0">
                <a:solidFill>
                  <a:srgbClr val="1F2A37"/>
                </a:solidFill>
                <a:latin typeface="Calibri" pitchFamily="34" charset="0"/>
                <a:cs typeface="Amiri" pitchFamily="2" charset="-78"/>
              </a:rPr>
              <a:t> = is increasing.</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Give advice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0E7C86"/>
                </a:solidFill>
                <a:latin typeface="Amiri" pitchFamily="2" charset="-78"/>
                <a:ea typeface="Amiri" pitchFamily="2" charset="-78"/>
                <a:cs typeface="Amiri" pitchFamily="2" charset="-78"/>
              </a:rPr>
              <a:t>يَنْبَغِي أَنْ</a:t>
            </a:r>
            <a:pPr rtl="1" algn="ctr" indent="0" marL="0">
              <a:buNone/>
            </a:pPr>
            <a:r>
              <a:rPr lang="ar-SA" altLang="en-US" sz="2300" b="1" dirty="0">
                <a:solidFill>
                  <a:srgbClr val="1B3B6F"/>
                </a:solidFill>
                <a:latin typeface="Amiri" pitchFamily="2" charset="-78"/>
                <a:cs typeface="Amiri" pitchFamily="2" charset="-78"/>
              </a:rPr>
              <a:t> </a:t>
            </a:r>
            <a:pPr rtl="1" algn="ctr" indent="0" marL="0">
              <a:buNone/>
            </a:pPr>
            <a:r>
              <a:rPr lang="ar-SA" altLang="en-US" sz="2300" b="1" dirty="0">
                <a:solidFill>
                  <a:srgbClr val="D6336C"/>
                </a:solidFill>
                <a:latin typeface="Amiri" pitchFamily="2" charset="-78"/>
                <a:ea typeface="Amiri" pitchFamily="2" charset="-78"/>
                <a:cs typeface="Amiri" pitchFamily="2" charset="-78"/>
              </a:rPr>
              <a:t>نُعِيدَ</a:t>
            </a:r>
            <a:pPr rtl="1" algn="ctr" indent="0" marL="0">
              <a:buNone/>
            </a:pPr>
            <a:r>
              <a:rPr lang="ar-SA" altLang="en-US" sz="2300" b="1" dirty="0">
                <a:solidFill>
                  <a:srgbClr val="1B3B6F"/>
                </a:solidFill>
                <a:latin typeface="Amiri" pitchFamily="2" charset="-78"/>
                <a:ea typeface="Amiri" pitchFamily="2" charset="-78"/>
                <a:cs typeface="Amiri" pitchFamily="2" charset="-78"/>
              </a:rPr>
              <a:t> التَّدْوِيرَ</a:t>
            </a:r>
            <a:endParaRPr lang="ar-SA" sz="23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Advice word + we-verb with fatḥa: </a:t>
            </a:r>
            <a:pPr algn="l" indent="0" marL="0">
              <a:buNone/>
            </a:pPr>
            <a:r>
              <a:rPr lang="ar-SA" altLang="en-US" sz="1500" dirty="0">
                <a:solidFill>
                  <a:srgbClr val="1F2A37"/>
                </a:solidFill>
                <a:latin typeface="Amiri" pitchFamily="2" charset="-78"/>
                <a:ea typeface="Amiri" pitchFamily="2" charset="-78"/>
                <a:cs typeface="Amiri" pitchFamily="2" charset="-78"/>
              </a:rPr>
              <a:t>نُعِيدُ</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نُعِيدَ</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Who is responsible?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يَجِبُ عَلَى</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المَدْرَسَةِ أَنْ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تَضَعَ</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حَاوِيَاتٍ</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عَلَى</a:t>
            </a:r>
            <a:pPr algn="l" indent="0" marL="0">
              <a:buNone/>
            </a:pPr>
            <a:r>
              <a:rPr lang="en-US" sz="1150" dirty="0">
                <a:solidFill>
                  <a:srgbClr val="1F2A37"/>
                </a:solidFill>
                <a:latin typeface="Calibri" pitchFamily="34" charset="0"/>
                <a:cs typeface="Amiri" pitchFamily="2" charset="-78"/>
              </a:rPr>
              <a:t> + who. </a:t>
            </a:r>
            <a:pPr algn="l" indent="0" marL="0">
              <a:buNone/>
            </a:pPr>
            <a:r>
              <a:rPr lang="ar-SA" altLang="en-US" sz="1500" dirty="0">
                <a:solidFill>
                  <a:srgbClr val="1F2A37"/>
                </a:solidFill>
                <a:latin typeface="Amiri" pitchFamily="2" charset="-78"/>
                <a:ea typeface="Amiri" pitchFamily="2" charset="-78"/>
                <a:cs typeface="Amiri" pitchFamily="2" charset="-78"/>
              </a:rPr>
              <a:t>تَضَعَ</a:t>
            </a:r>
            <a:pPr algn="l" indent="0" marL="0">
              <a:buNone/>
            </a:pPr>
            <a:r>
              <a:rPr lang="en-US" sz="1150" dirty="0">
                <a:solidFill>
                  <a:srgbClr val="1F2A37"/>
                </a:solidFill>
                <a:latin typeface="Calibri" pitchFamily="34" charset="0"/>
                <a:cs typeface="Amiri" pitchFamily="2" charset="-78"/>
              </a:rPr>
              <a:t>: she-verb for </a:t>
            </a:r>
            <a:pPr algn="l" indent="0" marL="0">
              <a:buNone/>
            </a:pPr>
            <a:r>
              <a:rPr lang="ar-SA" altLang="en-US" sz="1500" dirty="0">
                <a:solidFill>
                  <a:srgbClr val="1F2A37"/>
                </a:solidFill>
                <a:latin typeface="Amiri" pitchFamily="2" charset="-78"/>
                <a:ea typeface="Amiri" pitchFamily="2" charset="-78"/>
                <a:cs typeface="Amiri" pitchFamily="2" charset="-78"/>
              </a:rPr>
              <a:t>المَدْرَسَة</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Why? The purpose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ea typeface="Amiri" pitchFamily="2" charset="-78"/>
                <a:cs typeface="Amiri" pitchFamily="2" charset="-78"/>
              </a:rPr>
              <a:t>لِكَيْ</a:t>
            </a:r>
            <a:pPr rtl="1" algn="ctr" indent="0" marL="0">
              <a:buNone/>
            </a:pPr>
            <a:r>
              <a:rPr lang="ar-SA" altLang="en-US" sz="2800" b="1" dirty="0">
                <a:solidFill>
                  <a:srgbClr val="1B3B6F"/>
                </a:solidFill>
                <a:latin typeface="Amiri" pitchFamily="2" charset="-78"/>
                <a:cs typeface="Amiri" pitchFamily="2" charset="-78"/>
              </a:rPr>
              <a:t> </a:t>
            </a:r>
            <a:pPr rtl="1" algn="ctr" indent="0" marL="0">
              <a:buNone/>
            </a:pPr>
            <a:r>
              <a:rPr lang="ar-SA" altLang="en-US" sz="2800" b="1" dirty="0">
                <a:solidFill>
                  <a:srgbClr val="D6336C"/>
                </a:solidFill>
                <a:latin typeface="Amiri" pitchFamily="2" charset="-78"/>
                <a:ea typeface="Amiri" pitchFamily="2" charset="-78"/>
                <a:cs typeface="Amiri" pitchFamily="2" charset="-78"/>
              </a:rPr>
              <a:t>نُقَلِّلَ</a:t>
            </a:r>
            <a:pPr rtl="1" algn="ctr" indent="0" marL="0">
              <a:buNone/>
            </a:pPr>
            <a:r>
              <a:rPr lang="ar-SA" altLang="en-US" sz="2800" b="1" dirty="0">
                <a:solidFill>
                  <a:srgbClr val="1B3B6F"/>
                </a:solidFill>
                <a:latin typeface="Amiri" pitchFamily="2" charset="-78"/>
                <a:ea typeface="Amiri" pitchFamily="2" charset="-78"/>
                <a:cs typeface="Amiri" pitchFamily="2" charset="-78"/>
              </a:rPr>
              <a:t> النُّفَايَاتِ</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لِكَيْ</a:t>
            </a:r>
            <a:pPr algn="l" indent="0" marL="0">
              <a:buNone/>
            </a:pPr>
            <a:r>
              <a:rPr lang="en-US" sz="1150" dirty="0">
                <a:solidFill>
                  <a:srgbClr val="1F2A37"/>
                </a:solidFill>
                <a:latin typeface="Calibri" pitchFamily="34" charset="0"/>
                <a:cs typeface="Amiri" pitchFamily="2" charset="-78"/>
              </a:rPr>
              <a:t> + fatḥa again.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ADVICE WORD</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VERB ENDS -a</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300" b="1" dirty="0">
                <a:solidFill>
                  <a:srgbClr val="1B3B6F"/>
                </a:solidFill>
                <a:latin typeface="Amiri" pitchFamily="2" charset="-78"/>
                <a:ea typeface="Amiri" pitchFamily="2" charset="-78"/>
                <a:cs typeface="Amiri" pitchFamily="2" charset="-78"/>
              </a:rPr>
              <a:t>تَزْدَادُ النُّفَايَاتُ، لِذٰلِكَ </a:t>
            </a:r>
            <a:pPr rtl="1" algn="r" indent="0" marL="0">
              <a:buNone/>
            </a:pPr>
            <a:r>
              <a:rPr lang="ar-SA" altLang="en-US" sz="2300" b="1" dirty="0">
                <a:solidFill>
                  <a:srgbClr val="0E7C86"/>
                </a:solidFill>
                <a:latin typeface="Amiri" pitchFamily="2" charset="-78"/>
                <a:ea typeface="Amiri" pitchFamily="2" charset="-78"/>
                <a:cs typeface="Amiri" pitchFamily="2" charset="-78"/>
              </a:rPr>
              <a:t>يَنْبَغِي أَنْ</a:t>
            </a:r>
            <a:pPr rtl="1" algn="r" indent="0" marL="0">
              <a:buNone/>
            </a:pPr>
            <a:r>
              <a:rPr lang="ar-SA" altLang="en-US" sz="2300" b="1" dirty="0">
                <a:solidFill>
                  <a:srgbClr val="1B3B6F"/>
                </a:solidFill>
                <a:latin typeface="Amiri" pitchFamily="2" charset="-78"/>
                <a:cs typeface="Amiri" pitchFamily="2" charset="-78"/>
              </a:rPr>
              <a:t> </a:t>
            </a:r>
            <a:pPr rtl="1" algn="r" indent="0" marL="0">
              <a:buNone/>
            </a:pPr>
            <a:r>
              <a:rPr lang="ar-SA" altLang="en-US" sz="2300" b="1" dirty="0">
                <a:solidFill>
                  <a:srgbClr val="D6336C"/>
                </a:solidFill>
                <a:latin typeface="Amiri" pitchFamily="2" charset="-78"/>
                <a:ea typeface="Amiri" pitchFamily="2" charset="-78"/>
                <a:cs typeface="Amiri" pitchFamily="2" charset="-78"/>
              </a:rPr>
              <a:t>نُعِيدَ</a:t>
            </a:r>
            <a:pPr rtl="1" algn="r" indent="0" marL="0">
              <a:buNone/>
            </a:pPr>
            <a:r>
              <a:rPr lang="ar-SA" altLang="en-US" sz="2300" b="1" dirty="0">
                <a:solidFill>
                  <a:srgbClr val="1B3B6F"/>
                </a:solidFill>
                <a:latin typeface="Amiri" pitchFamily="2" charset="-78"/>
                <a:ea typeface="Amiri" pitchFamily="2" charset="-78"/>
                <a:cs typeface="Amiri" pitchFamily="2" charset="-78"/>
              </a:rPr>
              <a:t> التَّدْوِيرَ. </a:t>
            </a:r>
            <a:pPr rtl="1" algn="r" indent="0" marL="0">
              <a:buNone/>
            </a:pPr>
            <a:r>
              <a:rPr lang="ar-SA" altLang="en-US" sz="2300" b="1" dirty="0">
                <a:solidFill>
                  <a:srgbClr val="0E7C86"/>
                </a:solidFill>
                <a:latin typeface="Amiri" pitchFamily="2" charset="-78"/>
                <a:ea typeface="Amiri" pitchFamily="2" charset="-78"/>
                <a:cs typeface="Amiri" pitchFamily="2" charset="-78"/>
              </a:rPr>
              <a:t>يَجِبُ عَلَى</a:t>
            </a:r>
            <a:pPr rtl="1" algn="r" indent="0" marL="0">
              <a:buNone/>
            </a:pPr>
            <a:r>
              <a:rPr lang="ar-SA" altLang="en-US" sz="2300" b="1" dirty="0">
                <a:solidFill>
                  <a:srgbClr val="1B3B6F"/>
                </a:solidFill>
                <a:latin typeface="Amiri" pitchFamily="2" charset="-78"/>
                <a:ea typeface="Amiri" pitchFamily="2" charset="-78"/>
                <a:cs typeface="Amiri" pitchFamily="2" charset="-78"/>
              </a:rPr>
              <a:t> المَدْرَسَةِ أَنْ </a:t>
            </a:r>
            <a:pPr rtl="1" algn="r" indent="0" marL="0">
              <a:buNone/>
            </a:pPr>
            <a:r>
              <a:rPr lang="ar-SA" altLang="en-US" sz="2300" b="1" dirty="0">
                <a:solidFill>
                  <a:srgbClr val="D6336C"/>
                </a:solidFill>
                <a:latin typeface="Amiri" pitchFamily="2" charset="-78"/>
                <a:ea typeface="Amiri" pitchFamily="2" charset="-78"/>
                <a:cs typeface="Amiri" pitchFamily="2" charset="-78"/>
              </a:rPr>
              <a:t>تَضَعَ</a:t>
            </a:r>
            <a:pPr rtl="1" algn="r" indent="0" marL="0">
              <a:buNone/>
            </a:pPr>
            <a:r>
              <a:rPr lang="ar-SA" altLang="en-US" sz="2300" b="1" dirty="0">
                <a:solidFill>
                  <a:srgbClr val="1B3B6F"/>
                </a:solidFill>
                <a:latin typeface="Amiri" pitchFamily="2" charset="-78"/>
                <a:ea typeface="Amiri" pitchFamily="2" charset="-78"/>
                <a:cs typeface="Amiri" pitchFamily="2" charset="-78"/>
              </a:rPr>
              <a:t> حَاوِيَاتٍ </a:t>
            </a:r>
            <a:pPr rtl="1" algn="r" indent="0" marL="0">
              <a:buNone/>
            </a:pPr>
            <a:r>
              <a:rPr lang="ar-SA" altLang="en-US" sz="2300" b="1" dirty="0">
                <a:solidFill>
                  <a:srgbClr val="0E7C86"/>
                </a:solidFill>
                <a:latin typeface="Amiri" pitchFamily="2" charset="-78"/>
                <a:ea typeface="Amiri" pitchFamily="2" charset="-78"/>
                <a:cs typeface="Amiri" pitchFamily="2" charset="-78"/>
              </a:rPr>
              <a:t>لِكَيْ</a:t>
            </a:r>
            <a:pPr rtl="1" algn="r" indent="0" marL="0">
              <a:buNone/>
            </a:pPr>
            <a:r>
              <a:rPr lang="ar-SA" altLang="en-US" sz="2300" b="1" dirty="0">
                <a:solidFill>
                  <a:srgbClr val="1B3B6F"/>
                </a:solidFill>
                <a:latin typeface="Amiri" pitchFamily="2" charset="-78"/>
                <a:cs typeface="Amiri" pitchFamily="2" charset="-78"/>
              </a:rPr>
              <a:t> </a:t>
            </a:r>
            <a:pPr rtl="1" algn="r" indent="0" marL="0">
              <a:buNone/>
            </a:pPr>
            <a:r>
              <a:rPr lang="ar-SA" altLang="en-US" sz="2300" b="1" dirty="0">
                <a:solidFill>
                  <a:srgbClr val="D6336C"/>
                </a:solidFill>
                <a:latin typeface="Amiri" pitchFamily="2" charset="-78"/>
                <a:ea typeface="Amiri" pitchFamily="2" charset="-78"/>
                <a:cs typeface="Amiri" pitchFamily="2" charset="-78"/>
              </a:rPr>
              <a:t>نُقَلِّلَ</a:t>
            </a:r>
            <a:pPr rtl="1" algn="r" indent="0" marL="0">
              <a:buNone/>
            </a:pPr>
            <a:r>
              <a:rPr lang="ar-SA" altLang="en-US" sz="2300" b="1" dirty="0">
                <a:solidFill>
                  <a:srgbClr val="1B3B6F"/>
                </a:solidFill>
                <a:latin typeface="Amiri" pitchFamily="2" charset="-78"/>
                <a:ea typeface="Amiri" pitchFamily="2" charset="-78"/>
                <a:cs typeface="Amiri" pitchFamily="2" charset="-78"/>
              </a:rPr>
              <a:t> النُّفَايَاتِ.</a:t>
            </a:r>
            <a:endParaRPr lang="ar-SA" sz="23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Waste is increasing, so we should recycle. The school must put out bins so that we reduce waste.</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يَجِبُ أَنْ نُعِيدَ تَدْوِيرَ النُّفَايَاتِ.</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must recycle waste.</a:t>
            </a:r>
            <a:endParaRPr lang="en-US" sz="1250" dirty="0"/>
          </a:p>
          <a:p>
            <a:pPr indent="0" marL="0">
              <a:buNone/>
            </a:pPr>
            <a:r>
              <a:rPr lang="en-US" sz="1050" i="1" dirty="0">
                <a:solidFill>
                  <a:srgbClr val="8A6D1E"/>
                </a:solidFill>
                <a:latin typeface="Calibri" pitchFamily="34" charset="0"/>
                <a:cs typeface="Amiri" pitchFamily="2" charset="-78"/>
              </a:rPr>
              <a:t>Website game — a Core sentence.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يَنْبَغِي أَنْ نُقَلِّلَ اسْتِخْدَامَ البِلَاسْتِيكِ.</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should reduce plastic use.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After أَنْ: نُقَلِّلَ (fatḥa).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يَجِبُ عَلَى الحُكُومَةِ أَنْ تَسْتَثْمِرَ فِي الطَّاقَةِ المُتَجَدِّدَةِ.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government must invest in renewable energy.</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Name who is responsible after عَلَى.</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نَسْتَخْدِمُ النَّقْلَ العَامَّ لِكَيْ نُقَلِّلَ الانْبِعَاثَاتِ.</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use public transport to reduce emissions.</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لِكَيْ explains the purpose.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 WEBSITE GAME “CHOOSE THE SOLUTION”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Match the picture to the solution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الْحَلَّ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recycling</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bicycle, not car</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lights OFF</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 الأَفْضَلِ أَنْ نَسْتَعْمِلَ الدَّرَّاجَةَ بَدَلًا مِنَ السَّيَّارَةِ لِلرِّحْلَاتِ الْقَصِيرَةِ.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يَنْبَغِي أَنْ نُطْفِئَ الأَضْوَاءَ عِنْدَمَا لَا نَحْتَاجُ إِلَيْهَا.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يَجِبُ أَنْ نُعِيدَ تَدْوِيرَ النُّفَايَاتِ.</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الْحَلَّ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recycling</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يَجِبُ أَنْ نُعِيدَ تَدْوِيرَ النُّفَايَاتِ.</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We must recycle waste.</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bicycle, not car</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1B3B6F"/>
                </a:solidFill>
                <a:latin typeface="Amiri" pitchFamily="2" charset="-78"/>
                <a:ea typeface="Amiri" pitchFamily="2" charset="-78"/>
                <a:cs typeface="Amiri" pitchFamily="2" charset="-78"/>
              </a:rPr>
              <a:t>مِنَ الأَفْضَلِ أَنْ نَسْتَعْمِلَ الدَّرَّاجَةَ بَدَلًا مِنَ السَّيَّارَةِ لِلرِّحْلَاتِ الْقَصِيرَةِ.</a:t>
            </a:r>
            <a:endParaRPr lang="ar-SA" sz="205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It is better to use a bicycle instead of the car for short journeys.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lights OFF</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يَنْبَغِي أَنْ نُطْفِئَ الأَضْوَاءَ عِنْدَمَا لَا نَحْتَاجُ إِلَيْهَا.</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We should switch off the lights when we do not need them.</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the solution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We should reduce plastic use.</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يَنْبَغِي أَنْ</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يُؤَدِّي إِلَى</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نُقَلِّلُ</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نُقَلِّلَ</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اسْتِخْدَامَ البِلَاسْتِيكِ.</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بِسَبَبِ البِلَاسْتِيكِ.</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government must invest in solar energy.</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يَجِبُ الحُكُومَةُ</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يَجِبُ عَلَى الحُكُومَةِ</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تَسْتَثْمِرَ</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تَسْتَثْمِرُ</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الطَّاقَةِ الشَّمْسِيَّةِ.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إِلَى الطَّاقَةِ الشَّمْسِيَّةِ.</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We plant trees to improve the air.</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نَزْرَعُ الأَشْجَارَ</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تُقْطَعُ الأَشْجَارُ</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بِسَبَبِ</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لِكَيْ</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نُحَسِّنُ جَوْدَةَ الهَوَاءِ.</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نُحَسِّنَ جَوْدَةَ الهَوَاءِ.</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We should reduce plastic use.</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B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a:t>
            </a:r>
            <a:pPr algn="l" indent="0" marL="0">
              <a:buNone/>
            </a:pPr>
            <a:r>
              <a:rPr lang="ar-SA" altLang="en-US" sz="1350" dirty="0">
                <a:solidFill>
                  <a:srgbClr val="5A6472"/>
                </a:solidFill>
                <a:latin typeface="Amiri" pitchFamily="2" charset="-78"/>
                <a:ea typeface="Amiri" pitchFamily="2" charset="-78"/>
                <a:cs typeface="Amiri" pitchFamily="2" charset="-78"/>
              </a:rPr>
              <a:t>أَنْ</a:t>
            </a:r>
            <a:pPr algn="l" indent="0" marL="0">
              <a:buNone/>
            </a:pPr>
            <a:r>
              <a:rPr lang="en-US" sz="1050" i="1" dirty="0">
                <a:solidFill>
                  <a:srgbClr val="5A6472"/>
                </a:solidFill>
                <a:latin typeface="Calibri" pitchFamily="34" charset="0"/>
                <a:cs typeface="Amiri" pitchFamily="2" charset="-78"/>
              </a:rPr>
              <a:t>: </a:t>
            </a:r>
            <a:pPr algn="l" indent="0" marL="0">
              <a:buNone/>
            </a:pPr>
            <a:r>
              <a:rPr lang="ar-SA" altLang="en-US" sz="1350" dirty="0">
                <a:solidFill>
                  <a:srgbClr val="5A6472"/>
                </a:solidFill>
                <a:latin typeface="Amiri" pitchFamily="2" charset="-78"/>
                <a:ea typeface="Amiri" pitchFamily="2" charset="-78"/>
                <a:cs typeface="Amiri" pitchFamily="2" charset="-78"/>
              </a:rPr>
              <a:t>نُقَلِّلَ</a:t>
            </a:r>
            <a:pPr algn="l" indent="0" marL="0">
              <a:buNone/>
            </a:pPr>
            <a:r>
              <a:rPr lang="en-US" sz="1050" i="1" dirty="0">
                <a:solidFill>
                  <a:srgbClr val="5A6472"/>
                </a:solidFill>
                <a:latin typeface="Calibri" pitchFamily="34" charset="0"/>
                <a:cs typeface="Amiri" pitchFamily="2" charset="-78"/>
              </a:rPr>
              <a:t> (fatḥa).</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يَنْبَغِي أَنْ نُقَلِّلَ اسْتِخْدَامَ البِلَاسْتِيكِ.</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government must invest in solar energy.</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B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يَجِبُ عَلَى</a:t>
            </a:r>
            <a:pPr algn="l" indent="0" marL="0">
              <a:buNone/>
            </a:pPr>
            <a:r>
              <a:rPr lang="en-US" sz="1050" i="1" dirty="0">
                <a:solidFill>
                  <a:srgbClr val="5A6472"/>
                </a:solidFill>
                <a:latin typeface="Calibri" pitchFamily="34" charset="0"/>
                <a:cs typeface="Amiri" pitchFamily="2" charset="-78"/>
              </a:rPr>
              <a:t> + who + </a:t>
            </a:r>
            <a:pPr algn="l" indent="0" marL="0">
              <a:buNone/>
            </a:pPr>
            <a:r>
              <a:rPr lang="ar-SA" altLang="en-US" sz="1350" dirty="0">
                <a:solidFill>
                  <a:srgbClr val="5A6472"/>
                </a:solidFill>
                <a:latin typeface="Amiri" pitchFamily="2" charset="-78"/>
                <a:ea typeface="Amiri" pitchFamily="2" charset="-78"/>
                <a:cs typeface="Amiri" pitchFamily="2" charset="-78"/>
              </a:rPr>
              <a:t>أَنْ</a:t>
            </a:r>
            <a:pPr algn="l" indent="0" marL="0">
              <a:buNone/>
            </a:pPr>
            <a:r>
              <a:rPr lang="en-US" sz="1050" i="1" dirty="0">
                <a:solidFill>
                  <a:srgbClr val="5A6472"/>
                </a:solidFill>
                <a:latin typeface="Calibri" pitchFamily="34" charset="0"/>
                <a:cs typeface="Amiri" pitchFamily="2" charset="-78"/>
              </a:rPr>
              <a:t> + verb; </a:t>
            </a:r>
            <a:pPr algn="l" indent="0" marL="0">
              <a:buNone/>
            </a:pPr>
            <a:r>
              <a:rPr lang="ar-SA" altLang="en-US" sz="1350" dirty="0">
                <a:solidFill>
                  <a:srgbClr val="5A6472"/>
                </a:solidFill>
                <a:latin typeface="Amiri" pitchFamily="2" charset="-78"/>
                <a:ea typeface="Amiri" pitchFamily="2" charset="-78"/>
                <a:cs typeface="Amiri" pitchFamily="2" charset="-78"/>
              </a:rPr>
              <a:t>تَسْتَثْمِرُ فِي</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يَجِبُ عَلَى الحُكُومَةِ أَنْ تَسْتَثْمِرَ فِي الطَّاقَةِ الشَّمْسِيَّةِ.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We plant trees to improve the air.</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B · B</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Purpose: </a:t>
            </a:r>
            <a:pPr algn="l" indent="0" marL="0">
              <a:buNone/>
            </a:pPr>
            <a:r>
              <a:rPr lang="ar-SA" altLang="en-US" sz="1350" dirty="0">
                <a:solidFill>
                  <a:srgbClr val="5A6472"/>
                </a:solidFill>
                <a:latin typeface="Amiri" pitchFamily="2" charset="-78"/>
                <a:ea typeface="Amiri" pitchFamily="2" charset="-78"/>
                <a:cs typeface="Amiri" pitchFamily="2" charset="-78"/>
              </a:rPr>
              <a:t>لِكَيْ</a:t>
            </a:r>
            <a:pPr algn="l" indent="0" marL="0">
              <a:buNone/>
            </a:pPr>
            <a:r>
              <a:rPr lang="en-US" sz="1050" i="1" dirty="0">
                <a:solidFill>
                  <a:srgbClr val="5A6472"/>
                </a:solidFill>
                <a:latin typeface="Calibri" pitchFamily="34" charset="0"/>
                <a:cs typeface="Amiri" pitchFamily="2" charset="-78"/>
              </a:rPr>
              <a:t> + fatḥa (</a:t>
            </a:r>
            <a:pPr algn="l" indent="0" marL="0">
              <a:buNone/>
            </a:pPr>
            <a:r>
              <a:rPr lang="ar-SA" altLang="en-US" sz="1350" dirty="0">
                <a:solidFill>
                  <a:srgbClr val="5A6472"/>
                </a:solidFill>
                <a:latin typeface="Amiri" pitchFamily="2" charset="-78"/>
                <a:ea typeface="Amiri" pitchFamily="2" charset="-78"/>
                <a:cs typeface="Amiri" pitchFamily="2" charset="-78"/>
              </a:rPr>
              <a:t>نُحَسِّنَ</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نَزْرَعُ الأَشْجَارَ لِكَيْ نُحَسِّنَ جَوْدَةَ الهَوَاءِ.</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Solution, action or advice?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7" name="Shape 14"/>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نَزْرَعُ</a:t>
            </a:r>
            <a:endParaRPr lang="ar-SA" sz="1800" dirty="0"/>
          </a:p>
        </p:txBody>
      </p:sp>
      <p:sp>
        <p:nvSpPr>
          <p:cNvPr id="19" name="Shape 16"/>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إِعَادَةُ التَّدْوِيرِ</a:t>
            </a:r>
            <a:endParaRPr lang="ar-SA" sz="1800" dirty="0"/>
          </a:p>
        </p:txBody>
      </p:sp>
      <p:sp>
        <p:nvSpPr>
          <p:cNvPr id="21" name="Shape 18"/>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يَنْبَغِي أَنْ</a:t>
            </a:r>
            <a:endParaRPr lang="ar-SA" sz="1800" dirty="0"/>
          </a:p>
        </p:txBody>
      </p:sp>
      <p:sp>
        <p:nvSpPr>
          <p:cNvPr id="23" name="Shape 20"/>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نُوَفِّرُ</a:t>
            </a:r>
            <a:endParaRPr lang="ar-SA" sz="1800" dirty="0"/>
          </a:p>
        </p:txBody>
      </p:sp>
      <p:sp>
        <p:nvSpPr>
          <p:cNvPr id="25" name="Shape 22"/>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الطَّاقَةُ الشَّمْسِيَّةُ</a:t>
            </a:r>
            <a:endParaRPr lang="ar-SA" sz="1800" dirty="0"/>
          </a:p>
        </p:txBody>
      </p:sp>
      <p:sp>
        <p:nvSpPr>
          <p:cNvPr id="27" name="Shape 24"/>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يُمْكِنُ أَنْ</a:t>
            </a:r>
            <a:endParaRPr lang="ar-SA" sz="1800" dirty="0"/>
          </a:p>
        </p:txBody>
      </p:sp>
      <p:sp>
        <p:nvSpPr>
          <p:cNvPr id="29" name="Shape 26"/>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نُقَلِّلُ مِنْ</a:t>
            </a:r>
            <a:endParaRPr lang="ar-SA" sz="1800" dirty="0"/>
          </a:p>
        </p:txBody>
      </p:sp>
      <p:sp>
        <p:nvSpPr>
          <p:cNvPr id="31" name="Shape 28"/>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عَلَى ... أَنْ</a:t>
            </a:r>
            <a:endParaRPr lang="ar-SA" sz="1800" dirty="0"/>
          </a:p>
        </p:txBody>
      </p:sp>
      <p:sp>
        <p:nvSpPr>
          <p:cNvPr id="33" name="Shape 30"/>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الطَّاقَةُ المُتَجَدِّدَةُ</a:t>
            </a:r>
            <a:endParaRPr lang="ar-SA" sz="1800" dirty="0"/>
          </a:p>
        </p:txBody>
      </p:sp>
      <p:sp>
        <p:nvSpPr>
          <p:cNvPr id="35" name="Shape 32"/>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Environmental solutions</a:t>
            </a:r>
            <a:endParaRPr lang="en-US" sz="950" dirty="0"/>
          </a:p>
        </p:txBody>
      </p:sp>
      <p:sp>
        <p:nvSpPr>
          <p:cNvPr id="38" name="Shape 35"/>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Action verbs</a:t>
            </a:r>
            <a:endParaRPr lang="en-US" sz="950" dirty="0"/>
          </a:p>
        </p:txBody>
      </p:sp>
      <p:sp>
        <p:nvSpPr>
          <p:cNvPr id="41" name="Shape 38"/>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2" name="Shape 39"/>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3" name="Text 40"/>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Advice, obligation and purpose</a:t>
            </a:r>
            <a:endParaRPr lang="en-US" sz="9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7" name="Shape 14"/>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8" name="Shape 15"/>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9" name="Text 16"/>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Environmental solutions</a:t>
            </a:r>
            <a:endParaRPr lang="en-US" sz="950" dirty="0"/>
          </a:p>
        </p:txBody>
      </p:sp>
      <p:sp>
        <p:nvSpPr>
          <p:cNvPr id="20" name="Shape 17"/>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إِعَادَةُ التَّدْوِيرِ</a:t>
            </a:r>
            <a:endParaRPr lang="ar-SA" sz="1800" dirty="0"/>
          </a:p>
        </p:txBody>
      </p:sp>
      <p:sp>
        <p:nvSpPr>
          <p:cNvPr id="22" name="Shape 19"/>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الطَّاقَةُ الشَّمْسِيَّةُ</a:t>
            </a:r>
            <a:endParaRPr lang="ar-SA" sz="1800" dirty="0"/>
          </a:p>
        </p:txBody>
      </p:sp>
      <p:sp>
        <p:nvSpPr>
          <p:cNvPr id="24" name="Shape 21"/>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الطَّاقَةُ المُتَجَدِّدَةُ</a:t>
            </a:r>
            <a:endParaRPr lang="ar-SA" sz="1800" dirty="0"/>
          </a:p>
        </p:txBody>
      </p:sp>
      <p:sp>
        <p:nvSpPr>
          <p:cNvPr id="26" name="Shape 23"/>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7" name="Shape 24"/>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Action verbs</a:t>
            </a:r>
            <a:endParaRPr lang="en-US" sz="950" dirty="0"/>
          </a:p>
        </p:txBody>
      </p:sp>
      <p:sp>
        <p:nvSpPr>
          <p:cNvPr id="29" name="Shape 26"/>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نَزْرَعُ</a:t>
            </a:r>
            <a:endParaRPr lang="ar-SA" sz="1800" dirty="0"/>
          </a:p>
        </p:txBody>
      </p:sp>
      <p:sp>
        <p:nvSpPr>
          <p:cNvPr id="31" name="Shape 28"/>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نُوَفِّرُ</a:t>
            </a:r>
            <a:endParaRPr lang="ar-SA" sz="1800" dirty="0"/>
          </a:p>
        </p:txBody>
      </p:sp>
      <p:sp>
        <p:nvSpPr>
          <p:cNvPr id="33" name="Shape 30"/>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نُقَلِّلُ مِنْ</a:t>
            </a:r>
            <a:endParaRPr lang="ar-SA" sz="1800" dirty="0"/>
          </a:p>
        </p:txBody>
      </p:sp>
      <p:sp>
        <p:nvSpPr>
          <p:cNvPr id="35" name="Shape 32"/>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6" name="Shape 33"/>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Advice, obligation and purpose</a:t>
            </a:r>
            <a:endParaRPr lang="en-US" sz="950" dirty="0"/>
          </a:p>
        </p:txBody>
      </p:sp>
      <p:sp>
        <p:nvSpPr>
          <p:cNvPr id="38" name="Shape 35"/>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يَنْبَغِي أَنْ</a:t>
            </a:r>
            <a:endParaRPr lang="ar-SA" sz="1800" dirty="0"/>
          </a:p>
        </p:txBody>
      </p:sp>
      <p:sp>
        <p:nvSpPr>
          <p:cNvPr id="40" name="Shape 37"/>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يُمْكِنُ أَنْ</a:t>
            </a:r>
            <a:endParaRPr lang="ar-SA" sz="1800" dirty="0"/>
          </a:p>
        </p:txBody>
      </p:sp>
      <p:sp>
        <p:nvSpPr>
          <p:cNvPr id="42" name="Shape 39"/>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3" name="Text 40"/>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عَلَى ... أَنْ</a:t>
            </a:r>
            <a:endParaRPr lang="ar-SA"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WEBSITE QUIZ QUESTIONS 2, 5, 7, 8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explanation of </a:t>
            </a:r>
            <a:pPr algn="l" indent="0" marL="0">
              <a:buNone/>
            </a:pPr>
            <a:r>
              <a:rPr lang="ar-SA" altLang="en-US" sz="1650" b="1" dirty="0">
                <a:solidFill>
                  <a:srgbClr val="1B3B6F"/>
                </a:solidFill>
                <a:latin typeface="Amiri" pitchFamily="2" charset="-78"/>
                <a:ea typeface="Amiri" pitchFamily="2" charset="-78"/>
                <a:cs typeface="Amiri" pitchFamily="2" charset="-78"/>
              </a:rPr>
              <a:t>نُقَلِّلَ</a:t>
            </a:r>
            <a:pPr algn="l" indent="0" marL="0">
              <a:buNone/>
            </a:pPr>
            <a:r>
              <a:rPr lang="en-US" sz="1250" b="1" dirty="0">
                <a:solidFill>
                  <a:srgbClr val="1B3B6F"/>
                </a:solidFill>
                <a:latin typeface="Calibri" pitchFamily="34" charset="0"/>
                <a:cs typeface="Amiri" pitchFamily="2" charset="-78"/>
              </a:rPr>
              <a:t> is accurate?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past-tense verb.</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one of the five verbs and loses a final nūn.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sound-ending present verb marked with fatḥa after </a:t>
            </a:r>
            <a:pPr algn="l" indent="0" marL="0">
              <a:buNone/>
            </a:pPr>
            <a:r>
              <a:rPr lang="ar-SA" altLang="en-US" sz="1650" dirty="0">
                <a:solidFill>
                  <a:srgbClr val="1F2A37"/>
                </a:solidFill>
                <a:latin typeface="Amiri" pitchFamily="2" charset="-78"/>
                <a:ea typeface="Amiri" pitchFamily="2" charset="-78"/>
                <a:cs typeface="Amiri" pitchFamily="2" charset="-78"/>
              </a:rPr>
              <a:t>أَنْ</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five-verb form is correct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 يُعِيدُوْنَ التَّدْوِيرَ</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 يُعِيدُوا التَّدْوِيرَ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 يُعِيدُونَ التَّدْوِيرَ</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 plural addressee.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عَلَيْكُمْ أَنْ تُقَلِّلُونَ النُّفَايَاتِ.</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عَلَيْكُمْ أَنْ تُقَلِّلُوا النُّفَايَاتِ.</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عَلَيْكُمْ تُقَلِّلُوا النُّفَايَاتِ.</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clearly states purpose rather than cause?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يُؤَدِّي الجَفَافُ إِلَى نُقْصَانِ المَاءِ.</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نُرَشِّدُ المَاءَ بِسَبَبِ الجَفَافِ.</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نُرَشِّدُ المَاءَ لِكَيْ نَحْمِيَ المَوَارِدَ.</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explanation of </a:t>
            </a:r>
            <a:pPr algn="l" indent="0" marL="0">
              <a:buNone/>
            </a:pPr>
            <a:r>
              <a:rPr lang="ar-SA" altLang="en-US" sz="1650" b="1" dirty="0">
                <a:solidFill>
                  <a:srgbClr val="1B3B6F"/>
                </a:solidFill>
                <a:latin typeface="Amiri" pitchFamily="2" charset="-78"/>
                <a:ea typeface="Amiri" pitchFamily="2" charset="-78"/>
                <a:cs typeface="Amiri" pitchFamily="2" charset="-78"/>
              </a:rPr>
              <a:t>نُقَلِّلَ</a:t>
            </a:r>
            <a:pPr algn="l" indent="0" marL="0">
              <a:buNone/>
            </a:pPr>
            <a:r>
              <a:rPr lang="en-US" sz="1250" b="1" dirty="0">
                <a:solidFill>
                  <a:srgbClr val="1B3B6F"/>
                </a:solidFill>
                <a:latin typeface="Calibri" pitchFamily="34" charset="0"/>
                <a:cs typeface="Amiri" pitchFamily="2" charset="-78"/>
              </a:rPr>
              <a:t> is accurate?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past-tense verb.</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one of the five verbs and loses a final nūn.</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a sound-ending present verb marked with fatḥa after </a:t>
            </a:r>
            <a:pPr algn="l" indent="0" marL="0">
              <a:buNone/>
            </a:pPr>
            <a:r>
              <a:rPr lang="ar-SA" altLang="en-US" sz="1650" b="1" dirty="0">
                <a:solidFill>
                  <a:srgbClr val="1F2A37"/>
                </a:solidFill>
                <a:latin typeface="Amiri" pitchFamily="2" charset="-78"/>
                <a:ea typeface="Amiri" pitchFamily="2" charset="-78"/>
                <a:cs typeface="Amiri" pitchFamily="2" charset="-78"/>
              </a:rPr>
              <a:t>أَنْ</a:t>
            </a:r>
            <a:pPr algn="l" indent="0" marL="0">
              <a:buNone/>
            </a:pPr>
            <a:r>
              <a:rPr lang="en-US" sz="1250" b="1" dirty="0">
                <a:solidFill>
                  <a:srgbClr val="1F2A37"/>
                </a:solidFill>
                <a:latin typeface="Calibri" pitchFamily="34" charset="0"/>
                <a:cs typeface="Amiri" pitchFamily="2" charset="-78"/>
              </a:rPr>
              <a:t>.</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نقلل</a:t>
            </a:r>
            <a:pPr algn="l" indent="0" marL="0">
              <a:buNone/>
            </a:pPr>
            <a:r>
              <a:rPr lang="en-US" sz="1050" i="1" dirty="0">
                <a:solidFill>
                  <a:srgbClr val="8A6D1E"/>
                </a:solidFill>
                <a:latin typeface="Calibri" pitchFamily="34" charset="0"/>
                <a:cs typeface="Amiri" pitchFamily="2" charset="-78"/>
              </a:rPr>
              <a:t> is not one of the five verbs; it simply takes the visible subjunctive fatḥa.</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five-verb form is correct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 يُعِيدُوْنَ التَّدْوِيرَ</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 يُعِيدُوا التَّدْوِيرَ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 يُعِيدُونَ التَّدْوِيرَ</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nūn is omitted from </a:t>
            </a:r>
            <a:pPr algn="l" indent="0" marL="0">
              <a:buNone/>
            </a:pPr>
            <a:r>
              <a:rPr lang="ar-SA" altLang="en-US" sz="1350" dirty="0">
                <a:solidFill>
                  <a:srgbClr val="8A6D1E"/>
                </a:solidFill>
                <a:latin typeface="Amiri" pitchFamily="2" charset="-78"/>
                <a:ea typeface="Amiri" pitchFamily="2" charset="-78"/>
                <a:cs typeface="Amiri" pitchFamily="2" charset="-78"/>
              </a:rPr>
              <a:t>يعيدون</a:t>
            </a:r>
            <a:pPr algn="l" indent="0" marL="0">
              <a:buNone/>
            </a:pPr>
            <a:r>
              <a:rPr lang="en-US" sz="1050" i="1" dirty="0">
                <a:solidFill>
                  <a:srgbClr val="8A6D1E"/>
                </a:solidFill>
                <a:latin typeface="Calibri" pitchFamily="34" charset="0"/>
                <a:cs typeface="Amiri" pitchFamily="2" charset="-78"/>
              </a:rPr>
              <a:t> 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 plural addressee.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يَجِبُ عَلَيْكُمْ أَنْ تُقَلِّلُونَ النُّفَايَاتِ.</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يَجِبُ عَلَيْكُمْ أَنْ تُقَلِّلُوا النُّفَايَاتِ.</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يَجِبُ عَلَيْكُمْ تُقَلِّلُوا النُّفَايَاتِ.</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تقللون</a:t>
            </a:r>
            <a:pPr algn="l" indent="0" marL="0">
              <a:buNone/>
            </a:pPr>
            <a:r>
              <a:rPr lang="en-US" sz="1050" i="1" dirty="0">
                <a:solidFill>
                  <a:srgbClr val="8A6D1E"/>
                </a:solidFill>
                <a:latin typeface="Calibri" pitchFamily="34" charset="0"/>
                <a:cs typeface="Amiri" pitchFamily="2" charset="-78"/>
              </a:rPr>
              <a:t> is one of the five verbs; 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it becomes </a:t>
            </a:r>
            <a:pPr algn="l" indent="0" marL="0">
              <a:buNone/>
            </a:pPr>
            <a:r>
              <a:rPr lang="ar-SA" altLang="en-US" sz="1350" dirty="0">
                <a:solidFill>
                  <a:srgbClr val="8A6D1E"/>
                </a:solidFill>
                <a:latin typeface="Amiri" pitchFamily="2" charset="-78"/>
                <a:ea typeface="Amiri" pitchFamily="2" charset="-78"/>
                <a:cs typeface="Amiri" pitchFamily="2" charset="-78"/>
              </a:rPr>
              <a:t>تقللوا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clearly states purpose rather than cause?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يُؤَدِّي الجَفَافُ إِلَى نُقْصَانِ المَاءِ.</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نُرَشِّدُ المَاءَ بِسَبَبِ الجَفَافِ.</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نُرَشِّدُ المَاءَ لِكَيْ نَحْمِيَ المَوَارِدَ.</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introduces the intended purpose.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يَنْبَغِي أَنْ نُقَلِّلُ النُّفَايَاتِ.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Look at the last vowel of the verb after </a:t>
            </a:r>
            <a:pPr algn="l" indent="0" marL="0">
              <a:buNone/>
            </a:pPr>
            <a:r>
              <a:rPr lang="ar-SA" altLang="en-US" sz="1700" dirty="0">
                <a:solidFill>
                  <a:srgbClr val="5A6472"/>
                </a:solidFill>
                <a:latin typeface="Amiri" pitchFamily="2" charset="-78"/>
                <a:ea typeface="Amiri" pitchFamily="2" charset="-78"/>
                <a:cs typeface="Amiri" pitchFamily="2" charset="-78"/>
              </a:rPr>
              <a:t>أَنْ</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يَجِبُ عَلَى النَّاسِ أَنْ يُعِيدُونَ التَّدْوِيرَ.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a:t>
            </a:r>
            <a:pPr algn="l" indent="0" marL="0">
              <a:buNone/>
            </a:pPr>
            <a:r>
              <a:rPr lang="ar-SA" altLang="en-US" sz="1700" dirty="0">
                <a:solidFill>
                  <a:srgbClr val="5A6472"/>
                </a:solidFill>
                <a:latin typeface="Amiri" pitchFamily="2" charset="-78"/>
                <a:ea typeface="Amiri" pitchFamily="2" charset="-78"/>
                <a:cs typeface="Amiri" pitchFamily="2" charset="-78"/>
              </a:rPr>
              <a:t>يُعِيدُونَ</a:t>
            </a:r>
            <a:pPr algn="l" indent="0" marL="0">
              <a:buNone/>
            </a:pPr>
            <a:r>
              <a:rPr lang="en-US" sz="1300" i="1" dirty="0">
                <a:solidFill>
                  <a:srgbClr val="5A6472"/>
                </a:solidFill>
                <a:latin typeface="Calibri" pitchFamily="34" charset="0"/>
                <a:cs typeface="Amiri" pitchFamily="2" charset="-78"/>
              </a:rPr>
              <a:t> is one of the five verbs — what happens after </a:t>
            </a:r>
            <a:pPr algn="l" indent="0" marL="0">
              <a:buNone/>
            </a:pPr>
            <a:r>
              <a:rPr lang="ar-SA" altLang="en-US" sz="1700" dirty="0">
                <a:solidFill>
                  <a:srgbClr val="5A6472"/>
                </a:solidFill>
                <a:latin typeface="Amiri" pitchFamily="2" charset="-78"/>
                <a:ea typeface="Amiri" pitchFamily="2" charset="-78"/>
                <a:cs typeface="Amiri" pitchFamily="2" charset="-78"/>
              </a:rPr>
              <a:t>أَنْ</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نَسْتَخْدِمُ الطَّاقَةَ الشَّمْسِيَّةَ لِكَيْ نُقَلِّلُ الانْبِعَاثَاتِ.</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Look at the last vowel of the verb after </a:t>
            </a:r>
            <a:pPr algn="l" indent="0" marL="0">
              <a:buNone/>
            </a:pPr>
            <a:r>
              <a:rPr lang="ar-SA" altLang="en-US" sz="1700" dirty="0">
                <a:solidFill>
                  <a:srgbClr val="5A6472"/>
                </a:solidFill>
                <a:latin typeface="Amiri" pitchFamily="2" charset="-78"/>
                <a:ea typeface="Amiri" pitchFamily="2" charset="-78"/>
                <a:cs typeface="Amiri" pitchFamily="2" charset="-78"/>
              </a:rPr>
              <a:t>لِكَيْ</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يَنْبَغِي أَنْ نُقَلِّلُ النُّفَايَاتِ.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يَنْبَغِي أَنْ نُقَلِّلَ النُّفَايَاتِ.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نُقَلِّلُ</a:t>
            </a:r>
            <a:pPr algn="l" indent="0" marL="0">
              <a:buNone/>
            </a:pPr>
            <a:r>
              <a:rPr lang="en-US" sz="1150" b="1" dirty="0">
                <a:solidFill>
                  <a:srgbClr val="1B3B6F"/>
                </a:solidFill>
                <a:latin typeface="Calibri" pitchFamily="34" charset="0"/>
                <a:cs typeface="Amiri" pitchFamily="2" charset="-78"/>
              </a:rPr>
              <a:t> is a sound-ending verb; after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it takes fatḥa.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يَجِبُ عَلَى النَّاسِ أَنْ يُعِيدُونَ التَّدْوِيرَ.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يَجِبُ عَلَى النَّاسِ أَنْ يُعِيدُوا التَّدْوِيرَ.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يعيدون</a:t>
            </a:r>
            <a:pPr algn="l" indent="0" marL="0">
              <a:buNone/>
            </a:pPr>
            <a:r>
              <a:rPr lang="en-US" sz="1150" b="1" dirty="0">
                <a:solidFill>
                  <a:srgbClr val="1B3B6F"/>
                </a:solidFill>
                <a:latin typeface="Calibri" pitchFamily="34" charset="0"/>
                <a:cs typeface="Amiri" pitchFamily="2" charset="-78"/>
              </a:rPr>
              <a:t> is one of the five verbs, so its nūn is omitted after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نَسْتَخْدِمُ الطَّاقَةَ الشَّمْسِيَّةَ لِكَيْ نُقَلِّلُ الانْبِعَاثَاتِ.</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نَسْتَخْدِمُ الطَّاقَةَ الشَّمْسِيَّةَ لِكَيْ نُقَلِّلَ الانْبِعَاثَاتِ.</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لكي</a:t>
            </a:r>
            <a:pPr algn="l" indent="0" marL="0">
              <a:buNone/>
            </a:pPr>
            <a:r>
              <a:rPr lang="en-US" sz="1150" b="1" dirty="0">
                <a:solidFill>
                  <a:srgbClr val="1B3B6F"/>
                </a:solidFill>
                <a:latin typeface="Calibri" pitchFamily="34" charset="0"/>
                <a:cs typeface="Amiri" pitchFamily="2" charset="-78"/>
              </a:rPr>
              <a:t> is followed by the subjunctive.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Listening: practical environmental solutions</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people reduce?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Plastic use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Tree planting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Public transport</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schools recycle?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Food</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Fuel</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Paper</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governments invest in?</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plastic packaging</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Fossil-fuel cars only</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Solar and wind energy</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can conserve water?</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Families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factories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Tourists only</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should families conserve water?</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pollute rivers</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protect natural resources</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increase waste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structure assigns obligation to a named group?</a:t>
            </a:r>
            <a:endParaRPr lang="en-US" sz="120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عَلَى ... أَنْ</a:t>
            </a:r>
            <a:endParaRPr lang="ar-SA" sz="20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يَتَّسِمُ بِـ</a:t>
            </a:r>
            <a:endParaRPr lang="ar-SA" sz="20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يُؤَدِّي إِلَى</a:t>
            </a:r>
            <a:endParaRPr lang="ar-SA" sz="20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 — listen for </a:t>
            </a:r>
            <a:pPr algn="l" indent="0" marL="0">
              <a:buNone/>
            </a:pPr>
            <a:r>
              <a:rPr lang="ar-SA" altLang="en-US" sz="1650" dirty="0">
                <a:solidFill>
                  <a:srgbClr val="1E6B52"/>
                </a:solidFill>
                <a:latin typeface="Amiri" pitchFamily="2" charset="-78"/>
                <a:ea typeface="Amiri" pitchFamily="2" charset="-78"/>
                <a:cs typeface="Amiri" pitchFamily="2" charset="-78"/>
              </a:rPr>
              <a:t>البِلَاسْتِيك</a:t>
            </a:r>
            <a:pPr algn="l" indent="0" marL="0">
              <a:buNone/>
            </a:pPr>
            <a:r>
              <a:rPr lang="en-US" sz="1250" dirty="0">
                <a:solidFill>
                  <a:srgbClr val="1E6B52"/>
                </a:solidFill>
                <a:latin typeface="Calibri" pitchFamily="34" charset="0"/>
                <a:cs typeface="Amiri" pitchFamily="2" charset="-78"/>
              </a:rPr>
              <a:t>, </a:t>
            </a:r>
            <a:pPr algn="l" indent="0" marL="0">
              <a:buNone/>
            </a:pPr>
            <a:r>
              <a:rPr lang="ar-SA" altLang="en-US" sz="1650" dirty="0">
                <a:solidFill>
                  <a:srgbClr val="1E6B52"/>
                </a:solidFill>
                <a:latin typeface="Amiri" pitchFamily="2" charset="-78"/>
                <a:ea typeface="Amiri" pitchFamily="2" charset="-78"/>
                <a:cs typeface="Amiri" pitchFamily="2" charset="-78"/>
              </a:rPr>
              <a:t>الوَرَق</a:t>
            </a:r>
            <a:pPr algn="l" indent="0" marL="0">
              <a:buNone/>
            </a:pPr>
            <a:r>
              <a:rPr lang="en-US" sz="1250" dirty="0">
                <a:solidFill>
                  <a:srgbClr val="1E6B52"/>
                </a:solidFill>
                <a:latin typeface="Calibri" pitchFamily="34" charset="0"/>
                <a:cs typeface="Amiri" pitchFamily="2" charset="-78"/>
              </a:rPr>
              <a:t> (paper) and </a:t>
            </a:r>
            <a:pPr algn="l" indent="0" marL="0">
              <a:buNone/>
            </a:pPr>
            <a:r>
              <a:rPr lang="ar-SA" altLang="en-US" sz="1650" dirty="0">
                <a:solidFill>
                  <a:srgbClr val="1E6B52"/>
                </a:solidFill>
                <a:latin typeface="Amiri" pitchFamily="2" charset="-78"/>
                <a:ea typeface="Amiri" pitchFamily="2" charset="-78"/>
                <a:cs typeface="Amiri" pitchFamily="2" charset="-78"/>
              </a:rPr>
              <a:t>الأُسَر</a:t>
            </a:r>
            <a:pPr algn="l" indent="0" marL="0">
              <a:buNone/>
            </a:pPr>
            <a:r>
              <a:rPr lang="en-US" sz="1250" dirty="0">
                <a:solidFill>
                  <a:srgbClr val="1E6B52"/>
                </a:solidFill>
                <a:latin typeface="Calibri" pitchFamily="34" charset="0"/>
                <a:cs typeface="Amiri" pitchFamily="2" charset="-78"/>
              </a:rPr>
              <a:t> (families).</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هُنَاكَ حُلُولٌ عَمَلِيَّةٌ لِحِمَايَةِ البِيئَةِ.</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are practical solutions to protect the environment.</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يَنْبَغِي أَنْ نُقَلِّلَ اسْتِخْدَامَ البِلَاسْتِيكِ، وَيَجِبُ عَلَى المَدَارِسِ أَنْ تُعِيدَ تَدْوِيرَ الوَرَقِ.</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should reduce plastic use, and schools must recycle paper.</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كَمَا يَجِبُ عَلَى الحُكُومَاتِ أَنْ تَسْتَثْمِرَ فِي الطَّاقَةِ الشَّمْسِيَّةِ وَطَاقَةِ الرِّيَاحِ.</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Governments must also invest in solar and wind energy.</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وَيُمْكِنُ لِلأُسَرِ أَنْ تُرَشِّدَ المَاءَ لِكَيْ تَحْمِيَ المَوَارِدَ الطَّبِيعِيَّةَ.</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families can save water in order to protect natural resources.</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people reduce?</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Plastic use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Tree planting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Public transport</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تقليل استخدام البلاستيك.</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schools recycle?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Food</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Fuel</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Paper</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تعيد تدوير الورق.</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governments invest in?</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More plastic packaging</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Fossil-fuel cars only</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Solar and wind energy</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الطاقة الشمسية وطاقة الرياح.</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can conserve water?</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Families</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factories</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Tourists only</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يمكن للأسر.</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should families conserve water?</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pollute rivers</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To protect natural resources</a:t>
            </a:r>
            <a:endParaRPr lang="en-US" sz="11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increase waste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لكي تحمي الموارد الطبيعية.</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structure assigns obligation to a named group?</a:t>
            </a:r>
            <a:endParaRPr lang="en-US" sz="120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يَجِبُ عَلَى ... أَنْ</a:t>
            </a:r>
            <a:endParaRPr lang="ar-SA" sz="170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يَتَّسِمُ بِـ</a:t>
            </a:r>
            <a:endParaRPr lang="ar-SA" sz="170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يُؤَدِّي إِلَى</a:t>
            </a:r>
            <a:endParaRPr lang="ar-SA" sz="170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يجب على</a:t>
            </a:r>
            <a:pPr algn="l" indent="0" marL="0">
              <a:buNone/>
            </a:pPr>
            <a:r>
              <a:rPr lang="en-US" sz="1050" i="1" dirty="0">
                <a:solidFill>
                  <a:srgbClr val="8A6D1E"/>
                </a:solidFill>
                <a:latin typeface="Calibri" pitchFamily="34" charset="0"/>
                <a:cs typeface="Amiri" pitchFamily="2" charset="-78"/>
              </a:rPr>
              <a:t> identifies who is responsible.</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 — listen for </a:t>
            </a:r>
            <a:pPr algn="l" indent="0" marL="0">
              <a:buNone/>
            </a:pPr>
            <a:r>
              <a:rPr lang="ar-SA" altLang="en-US" sz="1650" dirty="0">
                <a:solidFill>
                  <a:srgbClr val="1E6B52"/>
                </a:solidFill>
                <a:latin typeface="Amiri" pitchFamily="2" charset="-78"/>
                <a:ea typeface="Amiri" pitchFamily="2" charset="-78"/>
                <a:cs typeface="Amiri" pitchFamily="2" charset="-78"/>
              </a:rPr>
              <a:t>البِلَاسْتِيك</a:t>
            </a:r>
            <a:pPr algn="l" indent="0" marL="0">
              <a:buNone/>
            </a:pPr>
            <a:r>
              <a:rPr lang="en-US" sz="1250" dirty="0">
                <a:solidFill>
                  <a:srgbClr val="1E6B52"/>
                </a:solidFill>
                <a:latin typeface="Calibri" pitchFamily="34" charset="0"/>
                <a:cs typeface="Amiri" pitchFamily="2" charset="-78"/>
              </a:rPr>
              <a:t>, </a:t>
            </a:r>
            <a:pPr algn="l" indent="0" marL="0">
              <a:buNone/>
            </a:pPr>
            <a:r>
              <a:rPr lang="ar-SA" altLang="en-US" sz="1650" dirty="0">
                <a:solidFill>
                  <a:srgbClr val="1E6B52"/>
                </a:solidFill>
                <a:latin typeface="Amiri" pitchFamily="2" charset="-78"/>
                <a:ea typeface="Amiri" pitchFamily="2" charset="-78"/>
                <a:cs typeface="Amiri" pitchFamily="2" charset="-78"/>
              </a:rPr>
              <a:t>الوَرَق</a:t>
            </a:r>
            <a:pPr algn="l" indent="0" marL="0">
              <a:buNone/>
            </a:pPr>
            <a:r>
              <a:rPr lang="en-US" sz="1250" dirty="0">
                <a:solidFill>
                  <a:srgbClr val="1E6B52"/>
                </a:solidFill>
                <a:latin typeface="Calibri" pitchFamily="34" charset="0"/>
                <a:cs typeface="Amiri" pitchFamily="2" charset="-78"/>
              </a:rPr>
              <a:t> (paper) and </a:t>
            </a:r>
            <a:pPr algn="l" indent="0" marL="0">
              <a:buNone/>
            </a:pPr>
            <a:r>
              <a:rPr lang="ar-SA" altLang="en-US" sz="1650" dirty="0">
                <a:solidFill>
                  <a:srgbClr val="1E6B52"/>
                </a:solidFill>
                <a:latin typeface="Amiri" pitchFamily="2" charset="-78"/>
                <a:ea typeface="Amiri" pitchFamily="2" charset="-78"/>
                <a:cs typeface="Amiri" pitchFamily="2" charset="-78"/>
              </a:rPr>
              <a:t>الأُسَر</a:t>
            </a:r>
            <a:pPr algn="l" indent="0" marL="0">
              <a:buNone/>
            </a:pPr>
            <a:r>
              <a:rPr lang="en-US" sz="1250" dirty="0">
                <a:solidFill>
                  <a:srgbClr val="1E6B52"/>
                </a:solidFill>
                <a:latin typeface="Calibri" pitchFamily="34" charset="0"/>
                <a:cs typeface="Amiri" pitchFamily="2" charset="-78"/>
              </a:rPr>
              <a:t> (families).</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Speaking: recommend and justify solutions</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تَسْتَطِيعُ أَنْ تَفْعَلَ لِحِمَايَةِ البِيئَةِ؟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يَنْبَغِي أَنْ نَفْعَلَ؟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يَجِبُ عَلَى الحُكُومَةِ أَنْ تَفْعَلَ؟</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 حَلٍّ أَكْثَرُ فَعَالِيَّةً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يَنْبَغِي أَنْ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يَجِبُ عَلَى ___ أَنْ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___ لِكَيْ ___ ، لٰكِنَّ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اقْتَرَحَ / اقْتَرَحَتْ 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يَجِبُ عَلَى المَدْرَسَةِ أَنْ تَفْعَلَ؟</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must the school do?</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يَجِبُ عَلَى المَدْرَسَةِ أَنْ تَضَعَ حَاوِيَاتٍ لِإِعَادَةِ التَّدْوِيرِ، وَأَنْ تُنَظِّمَ حَمْلَةً لِكَيْ تُقَلِّلَ النُّفَايَاتِ.</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Developed answer</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Frames + word bank (next slide): يَنْبَغِي أَنْ / يَجِبُ أَنْ + a “we” verb from the table, ending in ـَ.</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Name who is responsible (يَجِبُ عَلَى …) and give one purpose with لِكَيْ.</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writing task: propose solutions to one problem; include individuals AND government, and one limitation.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عَلَى الحُكُومَةِ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government must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عَلَى الطُّلَّابِ 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Students must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لِكَيْ نُـ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so that we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الضَّرُورِيِّ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necessary to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المَدَى الطَّوِيلِ،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long term,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أَنْ نُعِيدَ تَدْوِيرَ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must recycle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يَنْبَغِي أَنْ نُوَفِّرَ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should save water.</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يُمْكِنُ أَنْ نَسْتَخْدِمَ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can use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الأَفْضَلِ أَنْ نَسْتَعْمِلَ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better to use a bicycle.</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نَزْرَعُ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plant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إِعَادَةُ التَّدْوِيرِ  ·  الطَّاقَةُ الشَّمْسِيَّةُ  ·  طَاقَةُ الرِّيَاحِ  ·  النَّقْلُ العَامُّ  ·  الدَّرَّاجَةَ  ·  المَاءَ  ·  الأَشْجَارَ  ·  البِلَاسْتِيكَ  ·  نُقَلِّلَ  ·  نُوَفِّرَ  ·  نَزْرَعَ  ·  نُعِيدَ  ·  نَسْتَخْدِمَ</a:t>
            </a:r>
            <a:endParaRPr lang="ar-SA" sz="15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120–140 Arabic words proposing solutions to one environmental problem.</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Describe the problem briefly.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ea typeface="Amiri" pitchFamily="2" charset="-78"/>
                <a:cs typeface="Amiri" pitchFamily="2" charset="-78"/>
              </a:rPr>
              <a:t>ينبغي أن</a:t>
            </a:r>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ea typeface="Amiri" pitchFamily="2" charset="-78"/>
                <a:cs typeface="Amiri" pitchFamily="2" charset="-78"/>
              </a:rPr>
              <a:t>يجب على</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أن</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ea typeface="Amiri" pitchFamily="2" charset="-78"/>
                <a:cs typeface="Amiri" pitchFamily="2" charset="-78"/>
              </a:rPr>
              <a:t>لكي</a:t>
            </a:r>
            <a:pPr algn="l" indent="0" marL="0">
              <a:buNone/>
            </a:pPr>
            <a:r>
              <a:rPr lang="en-US" sz="1200" dirty="0">
                <a:solidFill>
                  <a:srgbClr val="1F2A37"/>
                </a:solidFill>
                <a:latin typeface="Calibri" pitchFamily="34" charset="0"/>
                <a:cs typeface="Amiri" pitchFamily="2" charset="-78"/>
              </a:rPr>
              <a:t>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responsibility for individuals and government.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Evaluate one limitation and conclude.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تُعَانِي مَدْرَسَتُنَا مِنْ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our school suffers from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لِحَلِّ هٰذِهِ المُشْكِلَةِ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to solve this problem</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الَّتِي تُسْتَعْمَلُ مَرَّةً وَاحِدَةً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which are used only once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عَلَاوَةً عَلَى ذٰلِكَ</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addition to that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الضَّرُورِيِّ أَنْ نَنْشُرَ الوَعْيَ البِيئِيَّ</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is necessary to spread environmental awareness</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الخُطُوَاتُ عَمَلِيَّةٌ وَقَابِلَةٌ لِلتَّطْبِيقِ</a:t>
            </a:r>
            <a:endParaRPr lang="ar-SA" sz="18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these steps are practical and achievable</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2" charset="-78"/>
                <a:ea typeface="Amiri" pitchFamily="2" charset="-78"/>
                <a:cs typeface="Amiri" pitchFamily="2" charset="-78"/>
              </a:rPr>
              <a:t>تُعَانِي مَدْرَسَتُنَا مِنْ زِيَادَةِ النُّفَايَاتِ البِلَاسْتِيكِيَّةِ. لِحَلِّ هٰذِهِ المُشْكِلَةِ، يَنْبَغِي أَنْ نُقَلِّلَ اسْتِخْدَامَ الأَكْوَابِ وَالأَكْيَاسِ الَّتِي تُسْتَعْمَلُ مَرَّةً وَاحِدَةً. وَيَجِبُ عَلَى الطُّلَّابِ أَنْ يُعِيدُوا التَّدْوِيرَ، كَمَا يَجِبُ عَلَى الإِدَارَةِ أَنْ تُوَفِّرَ حَاوِيَاتٍ مُنَاسِبَةً. وَيُمْكِنُ أَنْ نَسْتَخْدِمَ زُجَاجَاتٍ قَابِلَةً لِإِعَادَةِ الاسْتِخْدَامِ لِكَيْ نُقَلِّلَ كَمِّيَّةَ البِلَاسْتِيكِ. عَلَاوَةً عَلَى ذٰلِكَ، مِنَ الضَّرُورِيِّ أَنْ نَنْشُرَ الوَعْيَ البِيئِيَّ. فِي رَأْيِي، هٰذِهِ الخُطُوَاتُ عَمَلِيَّةٌ وَقَابِلَةٌ لِلتَّطْبِيقِ.</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Our school suffers from an increase in plastic waste. To solve this problem, we should reduce the use of cups and bags that are used only once. Students must recycle, and the administration must provide suitable bins. We can use reusable bottles so that we reduce the amount of plastic. In addition, it is necessary to spread environmental awareness. In my opinion, these steps are practical and achievable.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يَنْبَغِي أَنْ + verb (ـَ)</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يَجِبُ عَلَى … أَنْ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لِكَيْ + purpose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opinion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name environmental solutions (</a:t>
            </a:r>
            <a:pPr algn="l" indent="0" marL="0">
              <a:buNone/>
            </a:pPr>
            <a:r>
              <a:rPr lang="ar-SA" altLang="en-US" sz="1700" dirty="0">
                <a:solidFill>
                  <a:srgbClr val="1F2A37"/>
                </a:solidFill>
                <a:latin typeface="Amiri" pitchFamily="2" charset="-78"/>
                <a:ea typeface="Amiri" pitchFamily="2" charset="-78"/>
                <a:cs typeface="Amiri" pitchFamily="2" charset="-78"/>
              </a:rPr>
              <a:t>إِعَادَةُ التَّدْوِيرِ، الطَّاقَةُ الشَّمْسِيَّةُ</a:t>
            </a:r>
            <a:pPr algn="l" indent="0" marL="0">
              <a:buNone/>
            </a:pPr>
            <a:r>
              <a:rPr lang="en-US" sz="1300" dirty="0">
                <a:solidFill>
                  <a:srgbClr val="1F2A37"/>
                </a:solidFill>
                <a:latin typeface="Calibri" pitchFamily="34" charset="0"/>
                <a:cs typeface="Amiri" pitchFamily="2" charset="-78"/>
              </a:rPr>
              <a:t> …).</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give advice with a fatḥa after </a:t>
            </a:r>
            <a:pPr algn="l" indent="0" marL="0">
              <a:buNone/>
            </a:pPr>
            <a:r>
              <a:rPr lang="ar-SA" altLang="en-US" sz="1700" dirty="0">
                <a:solidFill>
                  <a:srgbClr val="1F2A37"/>
                </a:solidFill>
                <a:latin typeface="Amiri" pitchFamily="2" charset="-78"/>
                <a:ea typeface="Amiri" pitchFamily="2" charset="-78"/>
                <a:cs typeface="Amiri" pitchFamily="2" charset="-78"/>
              </a:rPr>
              <a:t>أَنْ</a:t>
            </a:r>
            <a:pPr algn="l" indent="0" marL="0">
              <a:buNone/>
            </a:pPr>
            <a:r>
              <a:rPr lang="en-US" sz="1300" dirty="0">
                <a:solidFill>
                  <a:srgbClr val="1F2A37"/>
                </a:solidFill>
                <a:latin typeface="Calibri" pitchFamily="34" charset="0"/>
                <a:cs typeface="Amiri" pitchFamily="2" charset="-78"/>
              </a:rPr>
              <a:t>: </a:t>
            </a:r>
            <a:pPr algn="l" indent="0" marL="0">
              <a:buNone/>
            </a:pPr>
            <a:r>
              <a:rPr lang="ar-SA" altLang="en-US" sz="1700" dirty="0">
                <a:solidFill>
                  <a:srgbClr val="1F2A37"/>
                </a:solidFill>
                <a:latin typeface="Amiri" pitchFamily="2" charset="-78"/>
                <a:ea typeface="Amiri" pitchFamily="2" charset="-78"/>
                <a:cs typeface="Amiri" pitchFamily="2" charset="-78"/>
              </a:rPr>
              <a:t>يَنْبَغِي أَنْ نُقَلِّلَ</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say who is responsible: </a:t>
            </a:r>
            <a:pPr algn="l" indent="0" marL="0">
              <a:buNone/>
            </a:pPr>
            <a:r>
              <a:rPr lang="ar-SA" altLang="en-US" sz="1700" dirty="0">
                <a:solidFill>
                  <a:srgbClr val="1F2A37"/>
                </a:solidFill>
                <a:latin typeface="Amiri" pitchFamily="2" charset="-78"/>
                <a:ea typeface="Amiri" pitchFamily="2" charset="-78"/>
                <a:cs typeface="Amiri" pitchFamily="2" charset="-78"/>
              </a:rPr>
              <a:t>يَجِبُ عَلَى الحُكُومَةِ أَنْ</a:t>
            </a:r>
            <a:pPr algn="l" indent="0" marL="0">
              <a:buNone/>
            </a:pPr>
            <a:r>
              <a:rPr lang="en-US" sz="1300" dirty="0">
                <a:solidFill>
                  <a:srgbClr val="1F2A37"/>
                </a:solidFill>
                <a:latin typeface="Calibri" pitchFamily="34" charset="0"/>
                <a:cs typeface="Amiri" pitchFamily="2" charset="-78"/>
              </a:rPr>
              <a:t> …</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support an answer with exact Arabic evidence.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know only the five verbs lose </a:t>
            </a:r>
            <a:pPr algn="l" indent="0" marL="0">
              <a:buNone/>
            </a:pPr>
            <a:r>
              <a:rPr lang="ar-SA" altLang="en-US" sz="1700" dirty="0">
                <a:solidFill>
                  <a:srgbClr val="1F2A37"/>
                </a:solidFill>
                <a:latin typeface="Amiri" pitchFamily="2" charset="-78"/>
                <a:ea typeface="Amiri" pitchFamily="2" charset="-78"/>
                <a:cs typeface="Amiri" pitchFamily="2" charset="-78"/>
              </a:rPr>
              <a:t>ن</a:t>
            </a:r>
            <a:pPr algn="l" indent="0" marL="0">
              <a:buNone/>
            </a:pPr>
            <a:r>
              <a:rPr lang="en-US" sz="1300" dirty="0">
                <a:solidFill>
                  <a:srgbClr val="1F2A37"/>
                </a:solidFill>
                <a:latin typeface="Calibri" pitchFamily="34" charset="0"/>
                <a:cs typeface="Amiri" pitchFamily="2" charset="-78"/>
              </a:rPr>
              <a:t> after </a:t>
            </a:r>
            <a:pPr algn="l" indent="0" marL="0">
              <a:buNone/>
            </a:pPr>
            <a:r>
              <a:rPr lang="ar-SA" altLang="en-US" sz="1700" dirty="0">
                <a:solidFill>
                  <a:srgbClr val="1F2A37"/>
                </a:solidFill>
                <a:latin typeface="Amiri" pitchFamily="2" charset="-78"/>
                <a:ea typeface="Amiri" pitchFamily="2" charset="-78"/>
                <a:cs typeface="Amiri" pitchFamily="2" charset="-78"/>
              </a:rPr>
              <a:t>أَنْ</a:t>
            </a:r>
            <a:pPr algn="l" indent="0" marL="0">
              <a:buNone/>
            </a:pPr>
            <a:r>
              <a:rPr lang="en-US" sz="1300" dirty="0">
                <a:solidFill>
                  <a:srgbClr val="1F2A37"/>
                </a:solidFill>
                <a:latin typeface="Calibri" pitchFamily="34" charset="0"/>
                <a:cs typeface="Amiri" pitchFamily="2" charset="-78"/>
              </a:rPr>
              <a:t>: </a:t>
            </a:r>
            <a:pPr algn="l" indent="0" marL="0">
              <a:buNone/>
            </a:pPr>
            <a:r>
              <a:rPr lang="ar-SA" altLang="en-US" sz="1700" dirty="0">
                <a:solidFill>
                  <a:srgbClr val="1F2A37"/>
                </a:solidFill>
                <a:latin typeface="Amiri" pitchFamily="2" charset="-78"/>
                <a:ea typeface="Amiri" pitchFamily="2" charset="-78"/>
                <a:cs typeface="Amiri" pitchFamily="2" charset="-78"/>
              </a:rPr>
              <a:t>أَنْ يُعِيدُوا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subjunctive form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نُقَلِّلَ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نُقَلِّلُ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نُقَلِّلْ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expresses purpose?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نَزْرَعُ الأَشْجَارَ بِسَبَبِ الهَوَاءِ.</a:t>
            </a:r>
            <a:endParaRPr lang="ar-SA" sz="200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نَزْرَعُ الأَشْجَارَ لِكَيْ نُحَسِّنَ الهَوَاءَ.</a:t>
            </a:r>
            <a:endParaRPr lang="ar-SA" sz="200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نَزْرَعُ الأَشْجَارَ نَتِيجَةً لِلهَوَاءِ.</a:t>
            </a:r>
            <a:endParaRPr lang="ar-SA" sz="200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pattern names a responsible group?</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عَلَى الحُكُومَةِ أَنْ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المُتَوَقَّعِ أَنْ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يَتَّسِمُ بِـ</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subjunctive form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نُقَلِّلَ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نُقَلِّلُ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نُقَلِّلْ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sound-ending verb takes fatḥa 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expresses purpose?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2" charset="-78"/>
                <a:ea typeface="Amiri" pitchFamily="2" charset="-78"/>
                <a:cs typeface="Amiri" pitchFamily="2" charset="-78"/>
              </a:rPr>
              <a:t>نَزْرَعُ الأَشْجَارَ بِسَبَبِ الهَوَاءِ.</a:t>
            </a:r>
            <a:endParaRPr lang="ar-SA" sz="200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نَزْرَعُ الأَشْجَارَ لِكَيْ نُحَسِّنَ الهَوَاءَ.</a:t>
            </a:r>
            <a:endParaRPr lang="ar-SA" sz="200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2" charset="-78"/>
                <a:ea typeface="Amiri" pitchFamily="2" charset="-78"/>
                <a:cs typeface="Amiri" pitchFamily="2" charset="-78"/>
              </a:rPr>
              <a:t>نَزْرَعُ الأَشْجَارَ نَتِيجَةً لِلهَوَاءِ.</a:t>
            </a:r>
            <a:endParaRPr lang="ar-SA" sz="200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introduces purpose.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pattern names a responsible group?</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يَجِبُ عَلَى الحُكُومَةِ أَنْ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مِنَ المُتَوَقَّعِ أَنْ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يَتَّسِمُ بِـ</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يجب على</a:t>
            </a:r>
            <a:pPr algn="l" indent="0" marL="0">
              <a:buNone/>
            </a:pPr>
            <a:r>
              <a:rPr lang="en-US" sz="1050" i="1" dirty="0">
                <a:solidFill>
                  <a:srgbClr val="8A6D1E"/>
                </a:solidFill>
                <a:latin typeface="Calibri" pitchFamily="34" charset="0"/>
                <a:cs typeface="Amiri" pitchFamily="2" charset="-78"/>
              </a:rPr>
              <a:t> names who has the obligation.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school recycling plan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لِحَلِّ مُشْكِلَةِ النُّفَايَاتِ فِي المَدْرَسَةِ، يَنْبَغِي أَنْ نُقَلِّلَ الأَغْلِفَةَ البِلَاسْتِيكِيَّةَ، وَأَنْ نَضَعَ حَاوِيَاتٍ لِإِعَادَةِ التَّدْوِيرِ. وَيَجِبُ عَلَى الطُّلَّابِ أَنْ يَفْصِلُوا الوَرَقَ عَنِ البِلَاسْتِيكِ، كَمَا يَجِبُ عَلَى الإِدَارَةِ أَنْ تُنَظِّمَ حَمْلَةَ تَوْعِيَةٍ. وَيُمْكِنُ أَنْ نَسْتَخْدِمَ زُجَاجَاتٍ قَابِلَةً لِإِعَادَةِ الاسْتِخْدَامِ لِكَيْ نُقَلِّلَ كَمِّيَّةَ النُّفَايَاتِ.</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لِحَلِّ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 solve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الأَغْلِفَةُ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packaging</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حَاوِيَاتٌ</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bins, containers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يَفْصِلُوا</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(they) separate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الإِدَارَةُ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(school) administration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تُنَظِّمَ</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organise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حَمْلَةُ تَوْعِيَةٍ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 awareness campaign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زُجَاجَاتٌ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bottles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2" charset="-78"/>
                <a:ea typeface="Amiri" pitchFamily="2" charset="-78"/>
                <a:cs typeface="Amiri" pitchFamily="2" charset="-78"/>
              </a:rPr>
              <a:t>قَابِلَةٌ لِإِعَادَةِ الاسْتِخْدَامِ</a:t>
            </a:r>
            <a:endParaRPr lang="ar-SA" sz="135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reusable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كَمِّيَّةٌ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amount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problem is the plan designed to solve?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Low exam results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School waste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Cold classrooms</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be reduced?</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Awareness campaigns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Paper recycling</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Plastic packaging</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students do?</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Separate paper from plastic</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Throw everything together</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Buy more packaging</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the administration organise?</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sports match</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awareness campaign</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weather forecast</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reusable item is suggested?</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Bottles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Disposable cups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Plastic bags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purpose of reusable bottles?</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increase water use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make recycling impossible</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reduce the amount of waste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problem is the plan designed to solve?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Low exam results</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School waste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Cold classrooms</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opening names </a:t>
            </a:r>
            <a:pPr algn="l" indent="0" marL="0">
              <a:buNone/>
            </a:pPr>
            <a:r>
              <a:rPr lang="ar-SA" altLang="en-US" sz="1350" dirty="0">
                <a:solidFill>
                  <a:srgbClr val="8A6D1E"/>
                </a:solidFill>
                <a:latin typeface="Amiri" pitchFamily="2" charset="-78"/>
                <a:ea typeface="Amiri" pitchFamily="2" charset="-78"/>
                <a:cs typeface="Amiri" pitchFamily="2" charset="-78"/>
              </a:rPr>
              <a:t>مشكلة النفايات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be reduced?</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Awareness campaigns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Paper recycling</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Plastic packaging</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الأغلفة البلاستيكية.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students do?</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Separate paper from plastic</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Throw everything together</a:t>
            </a:r>
            <a:endParaRPr lang="en-US" sz="120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Buy more packaging</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أن يفصلوا الورق عن البلاستيك.</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the administration organise?</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sports match</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awareness campaign</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weather forecast</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حملة توعية.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reusable item is suggested?</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Bottles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Disposable cups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Plastic bags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زجاجات قابلة لإعادة الاستخدام.</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purpose of reusable bottles?</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increase water use</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To make recycling impossible</a:t>
            </a:r>
            <a:endParaRPr lang="en-US" sz="11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To reduce the amount of waste</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لكي نقلل كمية النفايات.</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TC-L06: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TC-L06 · The Digital World and Communication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هَاتِفٌ</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phone</a:t>
            </a:r>
            <a:pPr indent="0" marL="0">
              <a:buNone/>
            </a:pPr>
            <a:r>
              <a:rPr lang="ar-SA" sz="1000" i="1" dirty="0">
                <a:solidFill>
                  <a:srgbClr val="5A6472"/>
                </a:solidFill>
                <a:latin typeface="Calibri" pitchFamily="34" charset="0"/>
                <a:ea typeface="Amiri" pitchFamily="2" charset="-78"/>
                <a:cs typeface="Amiri" pitchFamily="2" charset="-78"/>
              </a:rPr>
              <a:t>  pl. هَوَاتِفُ</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تَطْبِيقٌ</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app</a:t>
            </a:r>
            <a:pPr indent="0" marL="0">
              <a:buNone/>
            </a:pPr>
            <a:r>
              <a:rPr lang="ar-SA" sz="1000" i="1" dirty="0">
                <a:solidFill>
                  <a:srgbClr val="5A6472"/>
                </a:solidFill>
                <a:latin typeface="Calibri" pitchFamily="34" charset="0"/>
                <a:ea typeface="Amiri" pitchFamily="2" charset="-78"/>
                <a:cs typeface="Amiri" pitchFamily="2" charset="-78"/>
              </a:rPr>
              <a:t>  pl. تَطْبِيقَاتٌ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مَوْقِعٌ إِلِكْتُرُونِيٌّ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website</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يُرْسِلُ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sends</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كَلِمَةُ المُرُورِ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password</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one Arabic sentence: which app do you use most, and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أَيَّ تَطْبِيقٍ تَسْتَعْمِلُ كَثِيرًا؟ وَلِمَاذَا؟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TC-L05 · play “Choose the Solution”, then the vocabulary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5 pieces of advice for your school with </a:t>
            </a:r>
            <a:pPr algn="l" indent="0" marL="0">
              <a:buNone/>
            </a:pPr>
            <a:r>
              <a:rPr lang="ar-SA" altLang="en-US" sz="1550" dirty="0">
                <a:solidFill>
                  <a:srgbClr val="1F2A37"/>
                </a:solidFill>
                <a:latin typeface="Amiri" pitchFamily="2" charset="-78"/>
                <a:ea typeface="Amiri" pitchFamily="2" charset="-78"/>
                <a:cs typeface="Amiri" pitchFamily="2" charset="-78"/>
              </a:rPr>
              <a:t>يَنْبَغِي أَنْ / يَجِبُ عَلَى … أَنْ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TC-L05 · the application mission and the reading “A school recycling plan” (6 questions).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TC-L05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cs typeface="Amiri" pitchFamily="2" charset="-78"/>
              </a:rPr>
              <a:t>TC-L06 · The Digital World and Communication</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العَالَمُ الرَّقْمِيُّ وَالتَّوَاصُلُ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TC-L05 · Environmental Solutions and Responsibility</dc:title>
  <dc:subject>PptxGenJS Presentation</dc:subject>
  <dc:creator>Al Madina Online School · Arabic Department</dc:creator>
  <cp:lastModifiedBy>Al Madina Online School · Arabic Department</cp:lastModifiedBy>
  <cp:revision>1</cp:revision>
  <dcterms:created xsi:type="dcterms:W3CDTF">2026-10-11T06:43:59Z</dcterms:created>
  <dcterms:modified xsi:type="dcterms:W3CDTF">2026-10-11T06:43:59Z</dcterms:modified>
</cp:coreProperties>
</file>