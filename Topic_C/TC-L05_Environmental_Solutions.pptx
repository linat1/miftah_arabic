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5 (TC-L05). The website lesson reuses D4-L04 (Environmental Solutions — What Can Be Done?) with the Topic C focus “Propose, justify and evaluate practical environmental action” (grammar: advice; subjunctive after أن/لكي; conditionals). The picture match is the website lesson game “Choose the Solution”; the “solution council” ranking task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D4-L04 is B1 language. CORE: solution words + ONE pattern: يَنْبَغِي أَنْ / يَجِبُ أَنْ + a “we” verb whose last vowel changes to fatḥa (نُقَلِّلُ → نُقَلِّلَ). The three website game sentences are the Core models. DEVELOP: responsibility (يَجِبُ عَلَى الحُكُومَةِ أَنْ …) and purpose (لِكَيْ). STRETCH: the “five verbs” (أَنْ يُعِيدُوا) and a conditional (إِذَا … سَـ).
• A “before and after أَنْ” verb table with transliteration; picture match with icons; read-along listening with English.
• Urdu bridge words (ضروری، طاقت، حل، حکومت، ممکن).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TC-L04 and TC-L03.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After أَنْ (and لِكَيْ) the verb’s last vowel changes to a fatḥa: نُقَلِّلُ → أَنْ نُقَلِّلَ.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ضروری (necessary — مِنَ الضَّرُورِيِّ أَنْ), طاقت (power — الطَّاقَةُ الشَّمْسِيَّةُ), حل (solution — الحُلُولُ), حکومت (government), ممکن (possible — يُمْكِنُ أَنْ).
Groups 1–4 are the website D4-L04 vocabulary; Group 2 also adds الدَّرَّاجَةُ and نُطْفِئُ الأَضْوَاءَ from the website lesson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Environmental solutions (website D4-L04). Hear → Say → See → Use.
The small boxes break each phrase into two words with English. Links: الشَّمْسِيَّةُ = nisba of شَمْس (TC-L01 ending); الرِّيَاح (TC-L03); شَجَرَة (TC-L04 prep word) → التَّشْجِيرُ (planting trees).
Gesture: circular arrows for recycling; sun; blow; plant a seed; turn off a tap; bus steering 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more solutions (website D4-L04 + website lesson game). Core: الدَّرَّاجَةُ and نُطْفِئُ الأَضْوَاءَ (both in the picture match). Develop / Stretch: all six.
Link: البِيئِيَّةُ = nisba of بِيئَة (TC-L02).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Action verbs (website D4-L04), all in the “we” form (نَـ / نُـ = we — the WHO letter from the verb code).
The third column shows the same verb after أَنْ or لِكَيْ: the last vowel changes from ḍamma to fatḥa (website rule: “A sound-ending present verb changes its final ḍamma to fatḥa after أَنْ: نُقَلِّلُ → نُقَلِّلَ. It does not ‘lose a nūn’.”).
Core: the four CORE rows — say both forms aloud: nu-qal-li-LU → an nu-qal-li-LA.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Advice, obligation and purpose (website D4-L04; مِنَ الأَفْضَلِ أَنْ from the website game; also on the website: عَلَى المَدَى الطَّوِيلِ = in the long term).
Every card ends in أَنْ or لِكَيْ — so the NEXT verb always takes a fatḥa. Core: cards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“Advice with يَنْبَغِي أَنْ”: يَنْبَغِي أَنْ + subjunctive present. A sound-ending present verb changes its final ḍamma to fatḥa after أَنْ.
Think aloud: “Three steps: the advice word, then WHO (نُـ = we), then the ending changes to a fatḥa because of أَنْ.”
Pink here marks the part of the verb whose ENDING changes — say the last syllable louder: nu-qal-li-LA.
Core rule for today: after أَنْ → end the verb with “-a”.
Misconception (website mistake): يَنْبَغِي أَنْ نُقَلِّلُ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same ending after five advice words (2 min). Sentences: website grammar quiz, pattern, website game (rows 2 and 5, shortened in row 5).
Read each row; students repeat only the advice word + the pink verb, stressing the final “-a”.
Develop: in row 4 notice that نَسْتَخْدِمُ (before لِكَيْ) keeps its ḍamma — only the verb AFTER أَنْ / لِكَيْ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“Obligation for a person or group”: يَجِبُ عَلَى + noun + أَنْ + subjunctive. Name the responsible person or group after عَلَى.
Sentences: website pattern (government), listening script (schools, families) and reading text (students).
The verb agrees with WHO: الحُكُومَة / المَدَارِس / الأُسَر → تَـ; الطُّلَّاب (people, plural) → يَفْصِلُوا (a “five verb”: the ن disappears — Stretch).
Topic C application “Solution council”: responsibility is the key to ranking solutions (individuals vs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“The five verbs after أَنْ” (only the five verbs lose their final nūn: يُعِيدُونَ → أَنْ يُعِيدُوا; ordinary forms such as نُقَلِّلُ do not contain that nūn) + the Topic C “conditionals” focus (card 3 is teacher-made, recycling the TC-L02 Type 1 rule).
Website common error: “Do not say that every subjunctive verb “loses nūn”. Only the five verbs lose their nūn. A form such as نُقَلِّلَ is marked by final fatḥa.”
FLEX — Stretch focus. Develop may try card 3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proposal into their books.
Step 1 — “The problem: تَزْدَادُ النُّفَايَاتُ. لِذٰلِكَ = so.”
Step 2 — “Advice: يَنْبَغِي أَنْ + نُعِيدُ → نُعِيدَ.”
Step 3 — “Who? يَجِبُ عَلَى المَدْرَسَةِ أَنْ تَضَعَ حَاوِيَاتٍ — the school is ‘she’, so تَضَعَ.”
Step 4 — “Why? لِكَيْ نُقَلِّلَ النُّفَايَاتِ.”
Built from website language: mission (تَزْدَادُ النُّفَايَاتُ، لِذٰلِكَ يَجِبُ أَنْ نُعِيدَ التَّدْوِيرَ), speaking model (يَجِبُ عَلَى المَدْرَسَةِ أَنْ تَضَعَ حَاوِيَاتٍ … لِكَيْ تُقَلِّلَ النُّفَايَاتِ).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patterns. Students copy TWO that are useful for them.
• Core: copy 1 and 2 and change the solution. • Develop: copy 3 with a different group (المَدَارِسُ، الأُسَرُ). • Stretch: copy 4 and add a limitation (لٰكِنَّ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(“Choose the Solution”)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نُعِيدَ تَدْوِيرَ (recycle), الدَّرَّاجَةَ … السَّيَّارَةِ (bicycle … car), الأَضْوَاءَ (lights). All three use أَنْ + a verb with fatḥa: find them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(“Choose the Solution”)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نُعِيدَ تَدْوِيرَ (recycle), الدَّرَّاجَةَ … السَّيَّارَةِ (bicycle … car), الأَضْوَاءَ (lights). All three use أَنْ + a verb with fatḥa: find them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(pattern, quiz, final check).
Students choose ONE box per column (start from Column 1 on the right) and type the letters, e.g. “1: A B A”. ↔ Rehearse 30s first.
Core: sentence 1. Develop: sentences 2–3. Stretch: explain every wrong option.
Website “Advanced application — Solution council”: after the builder, groups rank three solutions to one problem in the chat and defend the top choice with a reason (يَجِبُ عَلَى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(pattern, quiz, final check).
Students choose ONE box per column (start from Column 1 on the right) and type the letters, e.g. “1: A B A”. ↔ Rehearse 30s first.
Core: sentence 1. Develop: sentences 2–3. Stretch: explain every wrong option.
Website “Advanced application — Solution council”: after the builder, groups rank three solutions to one problem in the chat and defend the top choice with a reason (يَجِبُ عَلَى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نَـ / نُـ is a “we” action verb; a tile ending in أَنْ is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نَـ / نُـ is a “we” action verb; a tile ending in أَنْ is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6.
Listen 1: just listen. Listen 2: note answers. Then chat the letters.
Support: after the second listening, show the read-along slide (Arabic + English, line by line) for Core students.
SCRIPT (read aloud):
هُنَاكَ حُلُولٌ عَمَلِيَّةٌ لِحِمَايَةِ البِيئَةِ. يَنْبَغِي أَنْ نُقَلِّلَ اسْتِخْدَامَ البِلَاسْتِيكِ، وَيَجِبُ عَلَى المَدَارِسِ أَنْ تُعِيدَ تَدْوِيرَ الوَرَقِ. كَمَا يَجِبُ عَلَى الحُكُومَاتِ أَنْ تَسْتَثْمِرَ فِي الطَّاقَةِ الشَّمْسِيَّةِ وَطَاقَةِ الرِّيَاحِ. وَيُمْكِنُ لِلأُسَرِ أَنْ تُرَشِّدَ المَاءَ لِكَيْ تَحْمِيَ المَوَارِدَ الطَّبِيعِيَّةَ.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can you do to protect the environment?” — answered with the Core stem, e.g. يَنْبَغِي أَنْ نُوَفِّرَ المَاءَ.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proposing solutions to one environmental problem.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يَنْبَغِي أَنْ نُقَلِّلَ · يَجِبُ عَلَى الطُّلَّابِ أَنْ يُعِيدُوا (a five verb!) · لِكَيْ نُقَلِّلَ · فِي رَأْيِي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(TC-L06 · The Digital World and Communication) will spend class time USING this language, so students prepare it tonight — short, simple, easy to access (school guidance: “Simple, Short, Interesting, Relevant, Easy to access”). The five words come from the website D4-L05 vocabulary and the website lesson game “Digital Life”.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Environmental Solutions and Responsibility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الحُلُولُ البِيئِيَّةُ وَالمَسْؤُولِيَّةُ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Propose, justify and evaluate practical environmental action: give advice (</a:t>
            </a:r>
            <a:pPr algn="l" indent="0" marL="0">
              <a:buNone/>
            </a:pPr>
            <a:r>
              <a:rPr lang="ar-SA" altLang="en-US" sz="1800" dirty="0">
                <a:solidFill>
                  <a:srgbClr val="C6D2E6"/>
                </a:solidFill>
                <a:latin typeface="Amiri" pitchFamily="2" charset="-78"/>
                <a:cs typeface="Amiri" pitchFamily="2" charset="-78"/>
              </a:rPr>
              <a:t>يَنْبَغِي أَنْ نُقَلِّلَ</a:t>
            </a:r>
            <a:pPr algn="l" indent="0" marL="0">
              <a:buNone/>
            </a:pPr>
            <a:r>
              <a:rPr lang="en-US" sz="1400" dirty="0">
                <a:solidFill>
                  <a:srgbClr val="C6D2E6"/>
                </a:solidFill>
                <a:latin typeface="Calibri" pitchFamily="34" charset="0"/>
                <a:cs typeface="Amiri" pitchFamily="2" charset="-78"/>
              </a:rPr>
              <a:t>), say who is responsible (</a:t>
            </a:r>
            <a:pPr algn="l" indent="0" marL="0">
              <a:buNone/>
            </a:pPr>
            <a:r>
              <a:rPr lang="ar-SA" altLang="en-US" sz="1800" dirty="0">
                <a:solidFill>
                  <a:srgbClr val="C6D2E6"/>
                </a:solidFill>
                <a:latin typeface="Amiri" pitchFamily="2" charset="-78"/>
                <a:cs typeface="Amiri" pitchFamily="2" charset="-78"/>
              </a:rPr>
              <a:t>يَجِبُ عَلَى الحُكُومَةِ أَنْ</a:t>
            </a:r>
            <a:pPr algn="l" indent="0" marL="0">
              <a:buNone/>
            </a:pPr>
            <a:r>
              <a:rPr lang="en-US" sz="1400" dirty="0">
                <a:solidFill>
                  <a:srgbClr val="C6D2E6"/>
                </a:solidFill>
                <a:latin typeface="Calibri" pitchFamily="34" charset="0"/>
                <a:cs typeface="Amiri" pitchFamily="2" charset="-78"/>
              </a:rPr>
              <a:t> …) and explain the purpose (</a:t>
            </a:r>
            <a:pPr algn="l" indent="0" marL="0">
              <a:buNone/>
            </a:pPr>
            <a:r>
              <a:rPr lang="ar-SA" altLang="en-US" sz="1800" dirty="0">
                <a:solidFill>
                  <a:srgbClr val="C6D2E6"/>
                </a:solidFill>
                <a:latin typeface="Amiri" pitchFamily="2" charset="-78"/>
                <a:cs typeface="Amiri" pitchFamily="2" charset="-78"/>
              </a:rPr>
              <a:t>لِكَيْ</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TC-L05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Solution words, then advice, “must” and purpose.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build, rank solutions,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“recycling”?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النَّقْلُ العَامُّ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إِعَادَةُ التَّدْوِيرِ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تَلَوُّثُ الهَوَاءِ</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نَزْرَعُ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plant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save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throw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 التَّلَوُّثُ فِي أَمْرَاضٍ.</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 التَّلَوُّثُ بِأَمْرَاضٍ.</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 التَّلَوُّثُ إِلَى أَمْرَاضٍ.</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بِسَبَبِ النُّفَايَاتِ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leads to waste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without waste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of the waste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تَسْقُطُ الثُّلُوجُ فِي الشِّتَاءِ.</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يَسْقُطُ الثُّلُوجُ فِي الشِّتَاءِ.</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الثُّلُوجُ يَسْقُطَ فِي الشِّتَاءِ.</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“recycling”?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النَّقْلُ العَامُّ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إِعَادَةُ التَّدْوِيرِ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تَلَوُّثُ الهَوَاءِ</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cs typeface="Amiri" pitchFamily="2" charset="-78"/>
              </a:rPr>
              <a:t>إِعَادَةُ التَّدْوِيرِ</a:t>
            </a:r>
            <a:pPr algn="l" indent="0" marL="0">
              <a:buNone/>
            </a:pPr>
            <a:r>
              <a:rPr lang="en-US" sz="1050" i="1" dirty="0">
                <a:solidFill>
                  <a:srgbClr val="8A6D1E"/>
                </a:solidFill>
                <a:latin typeface="Calibri" pitchFamily="34" charset="0"/>
                <a:cs typeface="Amiri" pitchFamily="2" charset="-78"/>
              </a:rPr>
              <a:t> = recycling · </a:t>
            </a:r>
            <a:pPr algn="l" indent="0" marL="0">
              <a:buNone/>
            </a:pPr>
            <a:r>
              <a:rPr lang="ar-SA" altLang="en-US" sz="1350" dirty="0">
                <a:solidFill>
                  <a:srgbClr val="8A6D1E"/>
                </a:solidFill>
                <a:latin typeface="Amiri" pitchFamily="2" charset="-78"/>
                <a:cs typeface="Amiri" pitchFamily="2" charset="-78"/>
              </a:rPr>
              <a:t>النَّقْلُ العَامُّ</a:t>
            </a:r>
            <a:pPr algn="l" indent="0" marL="0">
              <a:buNone/>
            </a:pPr>
            <a:r>
              <a:rPr lang="en-US" sz="1050" i="1" dirty="0">
                <a:solidFill>
                  <a:srgbClr val="8A6D1E"/>
                </a:solidFill>
                <a:latin typeface="Calibri" pitchFamily="34" charset="0"/>
                <a:cs typeface="Amiri" pitchFamily="2" charset="-78"/>
              </a:rPr>
              <a:t> = public transport.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نَزْرَعُ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 plant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save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throw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cs typeface="Amiri" pitchFamily="2" charset="-78"/>
              </a:rPr>
              <a:t>نَزْرَعُ</a:t>
            </a:r>
            <a:pPr algn="l" indent="0" marL="0">
              <a:buNone/>
            </a:pPr>
            <a:r>
              <a:rPr lang="en-US" sz="1050" i="1" dirty="0">
                <a:solidFill>
                  <a:srgbClr val="8A6D1E"/>
                </a:solidFill>
                <a:latin typeface="Calibri" pitchFamily="34" charset="0"/>
                <a:cs typeface="Amiri" pitchFamily="2" charset="-78"/>
              </a:rPr>
              <a:t> = we plant · </a:t>
            </a:r>
            <a:pPr algn="l" indent="0" marL="0">
              <a:buNone/>
            </a:pPr>
            <a:r>
              <a:rPr lang="ar-SA" altLang="en-US" sz="1350" dirty="0">
                <a:solidFill>
                  <a:srgbClr val="8A6D1E"/>
                </a:solidFill>
                <a:latin typeface="Amiri" pitchFamily="2" charset="-78"/>
                <a:cs typeface="Amiri" pitchFamily="2" charset="-78"/>
              </a:rPr>
              <a:t>نُوَفِّرُ</a:t>
            </a:r>
            <a:pPr algn="l" indent="0" marL="0">
              <a:buNone/>
            </a:pPr>
            <a:r>
              <a:rPr lang="en-US" sz="1050" i="1" dirty="0">
                <a:solidFill>
                  <a:srgbClr val="8A6D1E"/>
                </a:solidFill>
                <a:latin typeface="Calibri" pitchFamily="34" charset="0"/>
                <a:cs typeface="Amiri" pitchFamily="2" charset="-78"/>
              </a:rPr>
              <a:t> = we save.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يُؤَدِّي التَّلَوُّثُ فِي أَمْرَاضٍ.</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يُؤَدِّي التَّلَوُّثُ بِأَمْرَاضٍ.</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يُؤَدِّي التَّلَوُّثُ إِلَى أَمْرَاضٍ.</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TC-L04: always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cs typeface="Amiri" pitchFamily="2" charset="-78"/>
              </a:rPr>
              <a:t>يُؤَدِّي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بِسَبَبِ النُّفَايَاتِ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leads to waste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without waste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because of the waste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TC-L04: </a:t>
            </a:r>
            <a:pPr algn="l" indent="0" marL="0">
              <a:buNone/>
            </a:pPr>
            <a:r>
              <a:rPr lang="ar-SA" altLang="en-US" sz="1350" dirty="0">
                <a:solidFill>
                  <a:srgbClr val="8A6D1E"/>
                </a:solidFill>
                <a:latin typeface="Amiri" pitchFamily="2" charset="-78"/>
                <a:cs typeface="Amiri" pitchFamily="2" charset="-78"/>
              </a:rPr>
              <a:t>بِسَبَبِ</a:t>
            </a:r>
            <a:pPr algn="l" indent="0" marL="0">
              <a:buNone/>
            </a:pPr>
            <a:r>
              <a:rPr lang="en-US" sz="1050" i="1" dirty="0">
                <a:solidFill>
                  <a:srgbClr val="8A6D1E"/>
                </a:solidFill>
                <a:latin typeface="Calibri" pitchFamily="34" charset="0"/>
                <a:cs typeface="Amiri" pitchFamily="2" charset="-78"/>
              </a:rPr>
              <a:t> + noun = because of …</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تَسْقُطُ الثُّلُوجُ فِي الشِّتَاءِ.</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يَسْقُطُ الثُّلُوجُ فِي الشِّتَاءِ.</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الثُّلُوجُ يَسْقُطَ فِي الشِّتَاءِ.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TC-L03: feminine weather word →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After </a:t>
            </a:r>
            <a:pPr algn="l" indent="0" marL="0">
              <a:buNone/>
            </a:pPr>
            <a:r>
              <a:rPr lang="ar-SA" altLang="en-US" sz="1700" b="1" dirty="0">
                <a:solidFill>
                  <a:srgbClr val="1F2A37"/>
                </a:solidFill>
                <a:latin typeface="Amiri" pitchFamily="2" charset="-78"/>
                <a:cs typeface="Amiri" pitchFamily="2" charset="-78"/>
              </a:rPr>
              <a:t>أَنْ</a:t>
            </a:r>
            <a:pPr algn="l" indent="0" marL="0">
              <a:buNone/>
            </a:pPr>
            <a:r>
              <a:rPr lang="en-US" sz="1300" b="1" dirty="0">
                <a:solidFill>
                  <a:srgbClr val="1F2A37"/>
                </a:solidFill>
                <a:latin typeface="Calibri" pitchFamily="34" charset="0"/>
                <a:cs typeface="Amiri" pitchFamily="2" charset="-78"/>
              </a:rPr>
              <a:t> (and </a:t>
            </a:r>
            <a:pPr algn="l" indent="0" marL="0">
              <a:buNone/>
            </a:pPr>
            <a:r>
              <a:rPr lang="ar-SA" altLang="en-US" sz="1700" b="1" dirty="0">
                <a:solidFill>
                  <a:srgbClr val="1F2A37"/>
                </a:solidFill>
                <a:latin typeface="Amiri" pitchFamily="2" charset="-78"/>
                <a:cs typeface="Amiri" pitchFamily="2" charset="-78"/>
              </a:rPr>
              <a:t>لِكَيْ</a:t>
            </a:r>
            <a:pPr algn="l" indent="0" marL="0">
              <a:buNone/>
            </a:pPr>
            <a:r>
              <a:rPr lang="en-US" sz="1300" b="1" dirty="0">
                <a:solidFill>
                  <a:srgbClr val="1F2A37"/>
                </a:solidFill>
                <a:latin typeface="Calibri" pitchFamily="34" charset="0"/>
                <a:cs typeface="Amiri" pitchFamily="2" charset="-78"/>
              </a:rPr>
              <a:t>) the verb’s last vowel changes to a fatḥa: </a:t>
            </a:r>
            <a:pPr algn="l" indent="0" marL="0">
              <a:buNone/>
            </a:pPr>
            <a:r>
              <a:rPr lang="ar-SA" altLang="en-US" sz="1700" b="1" dirty="0">
                <a:solidFill>
                  <a:srgbClr val="1F2A37"/>
                </a:solidFill>
                <a:latin typeface="Amiri" pitchFamily="2" charset="-78"/>
                <a:cs typeface="Amiri" pitchFamily="2" charset="-78"/>
              </a:rPr>
              <a:t>نُقَلِّلُ</a:t>
            </a:r>
            <a:pPr algn="l" indent="0" marL="0">
              <a:buNone/>
            </a:pPr>
            <a:r>
              <a:rPr lang="en-US" sz="1300" b="1" dirty="0">
                <a:solidFill>
                  <a:srgbClr val="1F2A37"/>
                </a:solidFill>
                <a:latin typeface="Calibri" pitchFamily="34" charset="0"/>
                <a:cs typeface="Amiri" pitchFamily="2" charset="-78"/>
              </a:rPr>
              <a:t> → </a:t>
            </a:r>
            <a:pPr algn="l" indent="0" marL="0">
              <a:buNone/>
            </a:pPr>
            <a:r>
              <a:rPr lang="ar-SA" altLang="en-US" sz="1700" b="1" dirty="0">
                <a:solidFill>
                  <a:srgbClr val="1F2A37"/>
                </a:solidFill>
                <a:latin typeface="Amiri" pitchFamily="2" charset="-78"/>
                <a:cs typeface="Amiri" pitchFamily="2" charset="-78"/>
              </a:rPr>
              <a:t>أَنْ نُقَلِّلَ</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نُقَلِّلُ  ←  يَنْبَغِي أَنْ </a:t>
            </a:r>
            <a:pPr rtl="1" algn="ctr" indent="0" marL="0">
              <a:buNone/>
            </a:pPr>
            <a:r>
              <a:rPr lang="ar-SA" altLang="en-US" sz="2400" b="1" dirty="0">
                <a:solidFill>
                  <a:srgbClr val="D6336C"/>
                </a:solidFill>
                <a:latin typeface="Amiri" pitchFamily="2" charset="-78"/>
                <a:cs typeface="Amiri" pitchFamily="2" charset="-78"/>
              </a:rPr>
              <a:t>نُقَلِّلَ</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6 environmental solutions.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advice: </a:t>
            </a:r>
            <a:pPr algn="l" indent="0" marL="0">
              <a:buNone/>
            </a:pPr>
            <a:r>
              <a:rPr lang="ar-SA" altLang="en-US" sz="1700" b="1" dirty="0">
                <a:solidFill>
                  <a:srgbClr val="2E8B57"/>
                </a:solidFill>
                <a:latin typeface="Amiri" pitchFamily="2" charset="-78"/>
                <a:cs typeface="Amiri" pitchFamily="2" charset="-78"/>
              </a:rPr>
              <a:t>يَنْبَغِي أَنْ نُقَلِّلَ</a:t>
            </a:r>
            <a:pPr algn="l" indent="0" marL="0">
              <a:buNone/>
            </a:pPr>
            <a:r>
              <a:rPr lang="en-US" sz="1300" b="1" dirty="0">
                <a:solidFill>
                  <a:srgbClr val="2E8B57"/>
                </a:solidFill>
                <a:latin typeface="Calibri" pitchFamily="34" charset="0"/>
                <a:cs typeface="Amiri" pitchFamily="2" charset="-78"/>
              </a:rPr>
              <a:t> … (fatḥa after </a:t>
            </a:r>
            <a:pPr algn="l" indent="0" marL="0">
              <a:buNone/>
            </a:pPr>
            <a:r>
              <a:rPr lang="ar-SA" altLang="en-US" sz="1700" b="1" dirty="0">
                <a:solidFill>
                  <a:srgbClr val="2E8B57"/>
                </a:solidFill>
                <a:latin typeface="Amiri" pitchFamily="2" charset="-78"/>
                <a:cs typeface="Amiri" pitchFamily="2" charset="-78"/>
              </a:rPr>
              <a:t>أَنْ</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who is responsible: </a:t>
            </a:r>
            <a:pPr algn="l" indent="0" marL="0">
              <a:buNone/>
            </a:pPr>
            <a:r>
              <a:rPr lang="ar-SA" altLang="en-US" sz="1700" b="1" dirty="0">
                <a:solidFill>
                  <a:srgbClr val="C9780A"/>
                </a:solidFill>
                <a:latin typeface="Amiri" pitchFamily="2" charset="-78"/>
                <a:cs typeface="Amiri" pitchFamily="2" charset="-78"/>
              </a:rPr>
              <a:t>يَجِبُ عَلَى الحُكُومَةِ أَنْ</a:t>
            </a:r>
            <a:pPr algn="l" indent="0" marL="0">
              <a:buNone/>
            </a:pPr>
            <a:r>
              <a:rPr lang="en-US" sz="1300" b="1" dirty="0">
                <a:solidFill>
                  <a:srgbClr val="C9780A"/>
                </a:solidFill>
                <a:latin typeface="Calibri" pitchFamily="34" charset="0"/>
                <a:cs typeface="Amiri" pitchFamily="2" charset="-78"/>
              </a:rPr>
              <a:t>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purpose with </a:t>
            </a:r>
            <a:pPr algn="l" indent="0" marL="0">
              <a:buNone/>
            </a:pPr>
            <a:r>
              <a:rPr lang="ar-SA" altLang="en-US" sz="1700" b="1" dirty="0">
                <a:solidFill>
                  <a:srgbClr val="C9780A"/>
                </a:solidFill>
                <a:latin typeface="Amiri" pitchFamily="2" charset="-78"/>
                <a:cs typeface="Amiri" pitchFamily="2" charset="-78"/>
              </a:rPr>
              <a:t>لِكَيْ</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the five verbs after </a:t>
            </a:r>
            <a:pPr algn="l" indent="0" marL="0">
              <a:buNone/>
            </a:pPr>
            <a:r>
              <a:rPr lang="ar-SA" altLang="en-US" sz="1700" b="1" dirty="0">
                <a:solidFill>
                  <a:srgbClr val="B83227"/>
                </a:solidFill>
                <a:latin typeface="Amiri" pitchFamily="2" charset="-78"/>
                <a:cs typeface="Amiri" pitchFamily="2" charset="-78"/>
              </a:rPr>
              <a:t>أَنْ</a:t>
            </a:r>
            <a:pPr algn="l" indent="0" marL="0">
              <a:buNone/>
            </a:pPr>
            <a:r>
              <a:rPr lang="en-US" sz="1300" b="1" dirty="0">
                <a:solidFill>
                  <a:srgbClr val="B83227"/>
                </a:solidFill>
                <a:latin typeface="Calibri" pitchFamily="34" charset="0"/>
                <a:cs typeface="Amiri" pitchFamily="2" charset="-78"/>
              </a:rPr>
              <a:t>: </a:t>
            </a:r>
            <a:pPr algn="l" indent="0" marL="0">
              <a:buNone/>
            </a:pPr>
            <a:r>
              <a:rPr lang="ar-SA" altLang="en-US" sz="1700" b="1" dirty="0">
                <a:solidFill>
                  <a:srgbClr val="B83227"/>
                </a:solidFill>
                <a:latin typeface="Amiri" pitchFamily="2" charset="-78"/>
                <a:cs typeface="Amiri" pitchFamily="2" charset="-78"/>
              </a:rPr>
              <a:t>أَنْ يُعِيدُوا</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rank solutions and evaluate one limitation.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Solutions · 6</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More solutions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“We” verbs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Advice and purpose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ضَرُورِيٌّ</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‎ضروری‎ </a:t>
            </a:r>
            <a:pPr indent="0" marL="0">
              <a:buNone/>
            </a:pPr>
            <a:r>
              <a:rPr lang="en-US" sz="950" b="1" dirty="0">
                <a:solidFill>
                  <a:srgbClr val="2E8B57"/>
                </a:solidFill>
                <a:latin typeface="Calibri" pitchFamily="34" charset="0"/>
                <a:cs typeface="Amiri" pitchFamily="2" charset="-78"/>
              </a:rPr>
              <a:t> zarūrī · necessary</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طَاقَةٌ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‎طاقت‎ </a:t>
            </a:r>
            <a:pPr indent="0" marL="0">
              <a:buNone/>
            </a:pPr>
            <a:r>
              <a:rPr lang="en-US" sz="950" b="1" dirty="0">
                <a:solidFill>
                  <a:srgbClr val="2E8B57"/>
                </a:solidFill>
                <a:latin typeface="Calibri" pitchFamily="34" charset="0"/>
                <a:cs typeface="Amiri" pitchFamily="2" charset="-78"/>
              </a:rPr>
              <a:t> tāqat · energy, power</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حَلٌّ</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‎حل‎ </a:t>
            </a:r>
            <a:pPr indent="0" marL="0">
              <a:buNone/>
            </a:pPr>
            <a:r>
              <a:rPr lang="en-US" sz="950" b="1" dirty="0">
                <a:solidFill>
                  <a:srgbClr val="2E8B57"/>
                </a:solidFill>
                <a:latin typeface="Calibri" pitchFamily="34" charset="0"/>
                <a:cs typeface="Amiri" pitchFamily="2" charset="-78"/>
              </a:rPr>
              <a:t> ḥal · solution</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حُكُومَةٌ</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‎حکومت‎ </a:t>
            </a:r>
            <a:pPr indent="0" marL="0">
              <a:buNone/>
            </a:pPr>
            <a:r>
              <a:rPr lang="en-US" sz="950" b="1" dirty="0">
                <a:solidFill>
                  <a:srgbClr val="2E8B57"/>
                </a:solidFill>
                <a:latin typeface="Calibri" pitchFamily="34" charset="0"/>
                <a:cs typeface="Amiri" pitchFamily="2" charset="-78"/>
              </a:rPr>
              <a:t> ḥukūmat · government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يُمْكِنُ</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‎ممکن‎ </a:t>
            </a:r>
            <a:pPr indent="0" marL="0">
              <a:buNone/>
            </a:pPr>
            <a:r>
              <a:rPr lang="en-US" sz="950" b="1" dirty="0">
                <a:solidFill>
                  <a:srgbClr val="2E8B57"/>
                </a:solidFill>
                <a:latin typeface="Calibri" pitchFamily="34" charset="0"/>
                <a:cs typeface="Amiri" pitchFamily="2" charset="-78"/>
              </a:rPr>
              <a:t> mumkin · possible</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solutions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الحُلُولُ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إِعَادَةُ التَّدْوِيرِ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recycling</a:t>
            </a:r>
            <a:endParaRPr lang="en-US" sz="1350" dirty="0"/>
          </a:p>
          <a:p>
            <a:pPr indent="0" marL="0">
              <a:buNone/>
            </a:pPr>
            <a:r>
              <a:rPr lang="en-US" sz="1100" i="1" dirty="0">
                <a:solidFill>
                  <a:srgbClr val="5A6472"/>
                </a:solidFill>
                <a:latin typeface="Calibri" pitchFamily="34" charset="0"/>
                <a:cs typeface="Amiri" pitchFamily="2" charset="-78"/>
              </a:rPr>
              <a:t>i-ʿā-dat at-tad-wīr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again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إِعَادَةٌ</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turning</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التَّدْوِيرُ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الطَّاقَةُ </a:t>
            </a:r>
            <a:pPr rtl="1" algn="r" indent="0" marL="0">
              <a:buNone/>
            </a:pPr>
            <a:r>
              <a:rPr lang="ar-SA" altLang="en-US" sz="3000" b="1" dirty="0">
                <a:solidFill>
                  <a:srgbClr val="7B3FA0"/>
                </a:solidFill>
                <a:latin typeface="Amiri" pitchFamily="2" charset="-78"/>
                <a:cs typeface="Amiri" pitchFamily="2" charset="-78"/>
              </a:rPr>
              <a:t>الشَّمْسِ</a:t>
            </a:r>
            <a:pPr rtl="1" algn="r" indent="0" marL="0">
              <a:buNone/>
            </a:pPr>
            <a:r>
              <a:rPr lang="ar-SA" altLang="en-US" sz="3000" b="1" dirty="0">
                <a:solidFill>
                  <a:srgbClr val="D6336C"/>
                </a:solidFill>
                <a:latin typeface="Amiri" pitchFamily="2" charset="-78"/>
                <a:cs typeface="Amiri" pitchFamily="2" charset="-78"/>
              </a:rPr>
              <a:t>يَّةُ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solar energy</a:t>
            </a:r>
            <a:endParaRPr lang="en-US" sz="1350" dirty="0"/>
          </a:p>
          <a:p>
            <a:pPr indent="0" marL="0">
              <a:buNone/>
            </a:pPr>
            <a:r>
              <a:rPr lang="en-US" sz="1100" i="1" dirty="0">
                <a:solidFill>
                  <a:srgbClr val="5A6472"/>
                </a:solidFill>
                <a:latin typeface="Calibri" pitchFamily="34" charset="0"/>
                <a:cs typeface="Amiri" pitchFamily="2" charset="-78"/>
              </a:rPr>
              <a:t>aṭ-ṭā-qa sh-sham-siy-ya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energy</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طَاقَةٌ</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sun</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شَمْسٌ</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طَاقَةُ الرِّيَاحِ</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 energy</a:t>
            </a:r>
            <a:endParaRPr lang="en-US" sz="1350" dirty="0"/>
          </a:p>
          <a:p>
            <a:pPr indent="0" marL="0">
              <a:buNone/>
            </a:pPr>
            <a:r>
              <a:rPr lang="en-US" sz="1100" i="1" dirty="0">
                <a:solidFill>
                  <a:srgbClr val="5A6472"/>
                </a:solidFill>
                <a:latin typeface="Calibri" pitchFamily="34" charset="0"/>
                <a:cs typeface="Amiri" pitchFamily="2" charset="-78"/>
              </a:rPr>
              <a:t>ṭā-qat ar-ri-yāḥ</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energy</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طَاقَةٌ</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winds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الرِّيَاحُ</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التَّشْجِيرُ</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tree planting</a:t>
            </a:r>
            <a:endParaRPr lang="en-US" sz="1350" dirty="0"/>
          </a:p>
          <a:p>
            <a:pPr indent="0" marL="0">
              <a:buNone/>
            </a:pPr>
            <a:r>
              <a:rPr lang="en-US" sz="1100" i="1" dirty="0">
                <a:solidFill>
                  <a:srgbClr val="5A6472"/>
                </a:solidFill>
                <a:latin typeface="Calibri" pitchFamily="34" charset="0"/>
                <a:cs typeface="Amiri" pitchFamily="2" charset="-78"/>
              </a:rPr>
              <a:t>at-tash-jīr</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tree</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شَجَرَةٌ</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planting trees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التَّشْجِيرُ</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تَرْشِيدُ المِيَاهِ</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saving water</a:t>
            </a:r>
            <a:endParaRPr lang="en-US" sz="1350" dirty="0"/>
          </a:p>
          <a:p>
            <a:pPr indent="0" marL="0">
              <a:buNone/>
            </a:pPr>
            <a:r>
              <a:rPr lang="en-US" sz="1100" i="1" dirty="0">
                <a:solidFill>
                  <a:srgbClr val="5A6472"/>
                </a:solidFill>
                <a:latin typeface="Calibri" pitchFamily="34" charset="0"/>
                <a:cs typeface="Amiri" pitchFamily="2" charset="-78"/>
              </a:rPr>
              <a:t>tar-shīd al-mi-yāh</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wise use</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تَرْشِيدٌ</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water</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المِيَاهُ</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النَّقْلُ </a:t>
            </a:r>
            <a:pPr rtl="1" algn="r" indent="0" marL="0">
              <a:buNone/>
            </a:pPr>
            <a:r>
              <a:rPr lang="ar-SA" altLang="en-US" sz="3000" b="1" dirty="0">
                <a:solidFill>
                  <a:srgbClr val="7B3FA0"/>
                </a:solidFill>
                <a:latin typeface="Amiri" pitchFamily="2" charset="-78"/>
                <a:cs typeface="Amiri" pitchFamily="2" charset="-78"/>
              </a:rPr>
              <a:t>العَامُّ</a:t>
            </a:r>
            <a:endParaRPr lang="ar-SA" sz="3000" dirty="0"/>
          </a:p>
        </p:txBody>
      </p:sp>
      <p:sp>
        <p:nvSpPr>
          <p:cNvPr id="98" name="Text 9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transport</a:t>
            </a:r>
            <a:endParaRPr lang="en-US" sz="1350" dirty="0"/>
          </a:p>
          <a:p>
            <a:pPr indent="0" marL="0">
              <a:buNone/>
            </a:pPr>
            <a:r>
              <a:rPr lang="en-US" sz="1100" i="1" dirty="0">
                <a:solidFill>
                  <a:srgbClr val="5A6472"/>
                </a:solidFill>
                <a:latin typeface="Calibri" pitchFamily="34" charset="0"/>
                <a:cs typeface="Amiri" pitchFamily="2" charset="-78"/>
              </a:rPr>
              <a:t>an-naql al-ʿāmm</a:t>
            </a:r>
            <a:endParaRPr lang="en-US" sz="13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solutions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الحُلُولُ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 (game)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الدَّرَّاجَةُ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bicycle</a:t>
            </a:r>
            <a:endParaRPr lang="en-US" sz="1350" dirty="0"/>
          </a:p>
          <a:p>
            <a:pPr indent="0" marL="0">
              <a:buNone/>
            </a:pPr>
            <a:r>
              <a:rPr lang="en-US" sz="1100" i="1" dirty="0">
                <a:solidFill>
                  <a:srgbClr val="5A6472"/>
                </a:solidFill>
                <a:latin typeface="Calibri" pitchFamily="34" charset="0"/>
                <a:cs typeface="Amiri" pitchFamily="2" charset="-78"/>
              </a:rPr>
              <a:t>ad-dar-rā-ja · pl. dar-rā-jāt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دَرَّاجَةٌ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دَرَّاجَاتٌ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 (game)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نُطْفِئُ الأَضْوَاءَ</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switch off the lights</a:t>
            </a:r>
            <a:endParaRPr lang="en-US" sz="1350" dirty="0"/>
          </a:p>
          <a:p>
            <a:pPr indent="0" marL="0">
              <a:buNone/>
            </a:pPr>
            <a:r>
              <a:rPr lang="en-US" sz="1100" i="1" dirty="0">
                <a:solidFill>
                  <a:srgbClr val="5A6472"/>
                </a:solidFill>
                <a:latin typeface="Calibri" pitchFamily="34" charset="0"/>
                <a:cs typeface="Amiri" pitchFamily="2" charset="-78"/>
              </a:rPr>
              <a:t>nuṭ-fiʾ al-aḍ-wāʾ</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light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ضَوْءٌ</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lights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أَضْوَاءٌ</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الطَّاقَةُ المُتَجَدِّدَةُ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renewable energy</a:t>
            </a:r>
            <a:endParaRPr lang="en-US" sz="1350" dirty="0"/>
          </a:p>
          <a:p>
            <a:pPr indent="0" marL="0">
              <a:buNone/>
            </a:pPr>
            <a:r>
              <a:rPr lang="en-US" sz="1100" i="1" dirty="0">
                <a:solidFill>
                  <a:srgbClr val="5A6472"/>
                </a:solidFill>
                <a:latin typeface="Calibri" pitchFamily="34" charset="0"/>
                <a:cs typeface="Amiri" pitchFamily="2" charset="-78"/>
              </a:rPr>
              <a:t>aṭ-ṭā-qa l-mu-ta-jad-di-da</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5" name="Shape 5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تَقْلِيلُ الاسْتِهْلَاكِ</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reducing consumption</a:t>
            </a:r>
            <a:endParaRPr lang="en-US" sz="1350" dirty="0"/>
          </a:p>
          <a:p>
            <a:pPr indent="0" marL="0">
              <a:buNone/>
            </a:pPr>
            <a:r>
              <a:rPr lang="en-US" sz="1100" i="1" dirty="0">
                <a:solidFill>
                  <a:srgbClr val="5A6472"/>
                </a:solidFill>
                <a:latin typeface="Calibri" pitchFamily="34" charset="0"/>
                <a:cs typeface="Amiri" pitchFamily="2" charset="-78"/>
              </a:rPr>
              <a:t>taq-līl al-is-tih-lāk</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2" name="Shape 59"/>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التَّوْعِيَةُ </a:t>
            </a:r>
            <a:pPr rtl="1" algn="r" indent="0" marL="0">
              <a:buNone/>
            </a:pPr>
            <a:r>
              <a:rPr lang="ar-SA" altLang="en-US" sz="3000" b="1" dirty="0">
                <a:solidFill>
                  <a:srgbClr val="7B3FA0"/>
                </a:solidFill>
                <a:latin typeface="Amiri" pitchFamily="2" charset="-78"/>
                <a:cs typeface="Amiri" pitchFamily="2" charset="-78"/>
              </a:rPr>
              <a:t>البِيئِ</a:t>
            </a:r>
            <a:pPr rtl="1" algn="r" indent="0" marL="0">
              <a:buNone/>
            </a:pPr>
            <a:r>
              <a:rPr lang="ar-SA" altLang="en-US" sz="3000" b="1" dirty="0">
                <a:solidFill>
                  <a:srgbClr val="D6336C"/>
                </a:solidFill>
                <a:latin typeface="Amiri" pitchFamily="2" charset="-78"/>
                <a:cs typeface="Amiri" pitchFamily="2" charset="-78"/>
              </a:rPr>
              <a:t>يَّةُ</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environmental awareness</a:t>
            </a:r>
            <a:endParaRPr lang="en-US" sz="1350" dirty="0"/>
          </a:p>
          <a:p>
            <a:pPr indent="0" marL="0">
              <a:buNone/>
            </a:pPr>
            <a:r>
              <a:rPr lang="en-US" sz="1100" i="1" dirty="0">
                <a:solidFill>
                  <a:srgbClr val="5A6472"/>
                </a:solidFill>
                <a:latin typeface="Calibri" pitchFamily="34" charset="0"/>
                <a:cs typeface="Amiri" pitchFamily="2" charset="-78"/>
              </a:rPr>
              <a:t>at-taw-ʿi-ya l-bī-ʾiy-ya</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التَّنْمِيَةُ المُسْتَدَامَةُ</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sustainable development</a:t>
            </a:r>
            <a:endParaRPr lang="en-US" sz="1350" dirty="0"/>
          </a:p>
          <a:p>
            <a:pPr indent="0" marL="0">
              <a:buNone/>
            </a:pPr>
            <a:r>
              <a:rPr lang="en-US" sz="1100" i="1" dirty="0">
                <a:solidFill>
                  <a:srgbClr val="5A6472"/>
                </a:solidFill>
                <a:latin typeface="Calibri" pitchFamily="34" charset="0"/>
                <a:cs typeface="Amiri" pitchFamily="2" charset="-78"/>
              </a:rPr>
              <a:t>at-tan-mi-ya l-mus-ta-dā-ma</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“WE” VERBS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“We” verbs — before and after </a:t>
            </a:r>
            <a:pPr algn="l" indent="0" marL="0">
              <a:buNone/>
            </a:pPr>
            <a:r>
              <a:rPr lang="ar-SA" altLang="en-US" sz="3600" b="1" dirty="0">
                <a:solidFill>
                  <a:srgbClr val="1B3B6F"/>
                </a:solidFill>
                <a:latin typeface="Amiri" pitchFamily="2" charset="-78"/>
                <a:cs typeface="Amiri" pitchFamily="2" charset="-78"/>
              </a:rPr>
              <a:t>أَنْ</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لِـ «نَحْنُ»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 verb (website)</a:t>
            </a:r>
            <a:endParaRPr lang="en-US" sz="1100" dirty="0"/>
          </a:p>
        </p:txBody>
      </p:sp>
      <p:sp>
        <p:nvSpPr>
          <p:cNvPr id="17" name="Text 14"/>
          <p:cNvSpPr txBox="1"/>
          <p:nvPr/>
        </p:nvSpPr>
        <p:spPr>
          <a:xfrm>
            <a:off x="64099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348386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t>
            </a:r>
            <a:pPr algn="ctr" indent="0" marL="0">
              <a:buNone/>
            </a:pPr>
            <a:r>
              <a:rPr lang="ar-SA" altLang="en-US" sz="1450" b="1" dirty="0">
                <a:solidFill>
                  <a:srgbClr val="FFFFFF"/>
                </a:solidFill>
                <a:latin typeface="Amiri" pitchFamily="2" charset="-78"/>
                <a:cs typeface="Amiri" pitchFamily="2" charset="-78"/>
              </a:rPr>
              <a:t>أَنْ / لِكَيْ</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20" name="Shape 17"/>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1" name="Text 18"/>
          <p:cNvSpPr txBox="1"/>
          <p:nvPr/>
        </p:nvSpPr>
        <p:spPr>
          <a:xfrm>
            <a:off x="8805672" y="2286000"/>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نُقَلِّلُ مِنْ</a:t>
            </a:r>
            <a:endParaRPr lang="ar-SA" sz="1300" dirty="0"/>
          </a:p>
        </p:txBody>
      </p:sp>
      <p:sp>
        <p:nvSpPr>
          <p:cNvPr id="22" name="Text 19"/>
          <p:cNvSpPr txBox="1"/>
          <p:nvPr/>
        </p:nvSpPr>
        <p:spPr>
          <a:xfrm>
            <a:off x="8759952" y="2542032"/>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nu-qal-li-lu min</a:t>
            </a:r>
            <a:endParaRPr lang="en-US" sz="950" dirty="0"/>
          </a:p>
        </p:txBody>
      </p:sp>
      <p:sp>
        <p:nvSpPr>
          <p:cNvPr id="23" name="Text 20"/>
          <p:cNvSpPr txBox="1"/>
          <p:nvPr/>
        </p:nvSpPr>
        <p:spPr>
          <a:xfrm>
            <a:off x="6446520" y="2267712"/>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reduce</a:t>
            </a:r>
            <a:endParaRPr lang="en-US" sz="1100" dirty="0"/>
          </a:p>
        </p:txBody>
      </p:sp>
      <p:sp>
        <p:nvSpPr>
          <p:cNvPr id="24" name="Text 21"/>
          <p:cNvSpPr txBox="1"/>
          <p:nvPr/>
        </p:nvSpPr>
        <p:spPr>
          <a:xfrm>
            <a:off x="3502152" y="2267712"/>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أَنْ</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D6336C"/>
                </a:solidFill>
                <a:latin typeface="Amiri" pitchFamily="2" charset="-78"/>
                <a:cs typeface="Amiri" pitchFamily="2" charset="-78"/>
              </a:rPr>
              <a:t>نُقَلِّلَ</a:t>
            </a:r>
            <a:endParaRPr lang="ar-SA" sz="2100" dirty="0"/>
          </a:p>
        </p:txBody>
      </p:sp>
      <p:sp>
        <p:nvSpPr>
          <p:cNvPr id="25" name="Text 22"/>
          <p:cNvSpPr txBox="1"/>
          <p:nvPr/>
        </p:nvSpPr>
        <p:spPr>
          <a:xfrm>
            <a:off x="566928" y="2267712"/>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-u → -a (ḍamma → fatḥa)</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9" name="Text 26"/>
          <p:cNvSpPr txBox="1"/>
          <p:nvPr/>
        </p:nvSpPr>
        <p:spPr>
          <a:xfrm>
            <a:off x="8805672" y="2798064"/>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نُوَفِّرُ</a:t>
            </a:r>
            <a:endParaRPr lang="ar-SA" sz="1300" dirty="0"/>
          </a:p>
        </p:txBody>
      </p:sp>
      <p:sp>
        <p:nvSpPr>
          <p:cNvPr id="30" name="Text 27"/>
          <p:cNvSpPr txBox="1"/>
          <p:nvPr/>
        </p:nvSpPr>
        <p:spPr>
          <a:xfrm>
            <a:off x="8759952" y="3054096"/>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nu-waf-fi-ru</a:t>
            </a:r>
            <a:endParaRPr lang="en-US" sz="950" dirty="0"/>
          </a:p>
        </p:txBody>
      </p:sp>
      <p:sp>
        <p:nvSpPr>
          <p:cNvPr id="31" name="Text 28"/>
          <p:cNvSpPr txBox="1"/>
          <p:nvPr/>
        </p:nvSpPr>
        <p:spPr>
          <a:xfrm>
            <a:off x="6446520" y="2779776"/>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save, conserve</a:t>
            </a:r>
            <a:endParaRPr lang="en-US" sz="1100" dirty="0"/>
          </a:p>
        </p:txBody>
      </p:sp>
      <p:sp>
        <p:nvSpPr>
          <p:cNvPr id="32" name="Text 29"/>
          <p:cNvSpPr txBox="1"/>
          <p:nvPr/>
        </p:nvSpPr>
        <p:spPr>
          <a:xfrm>
            <a:off x="3502152" y="2779776"/>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أَنْ</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D6336C"/>
                </a:solidFill>
                <a:latin typeface="Amiri" pitchFamily="2" charset="-78"/>
                <a:cs typeface="Amiri" pitchFamily="2" charset="-78"/>
              </a:rPr>
              <a:t>نُوَفِّرَ</a:t>
            </a:r>
            <a:endParaRPr lang="ar-SA" sz="2100" dirty="0"/>
          </a:p>
        </p:txBody>
      </p:sp>
      <p:sp>
        <p:nvSpPr>
          <p:cNvPr id="33" name="Text 30"/>
          <p:cNvSpPr txBox="1"/>
          <p:nvPr/>
        </p:nvSpPr>
        <p:spPr>
          <a:xfrm>
            <a:off x="566928" y="2779776"/>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-u → -a (ḍamma → fatḥa)</a:t>
            </a:r>
            <a:endParaRPr lang="en-US" sz="1100" dirty="0"/>
          </a:p>
        </p:txBody>
      </p:sp>
      <p:sp>
        <p:nvSpPr>
          <p:cNvPr id="34" name="Shape 31"/>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7" name="Text 34"/>
          <p:cNvSpPr txBox="1"/>
          <p:nvPr/>
        </p:nvSpPr>
        <p:spPr>
          <a:xfrm>
            <a:off x="8805672" y="3310128"/>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نَزْرَعُ</a:t>
            </a:r>
            <a:endParaRPr lang="ar-SA" sz="1300" dirty="0"/>
          </a:p>
        </p:txBody>
      </p:sp>
      <p:sp>
        <p:nvSpPr>
          <p:cNvPr id="38" name="Text 35"/>
          <p:cNvSpPr txBox="1"/>
          <p:nvPr/>
        </p:nvSpPr>
        <p:spPr>
          <a:xfrm>
            <a:off x="8759952" y="3566160"/>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naz-ra-ʿu</a:t>
            </a:r>
            <a:endParaRPr lang="en-US" sz="950" dirty="0"/>
          </a:p>
        </p:txBody>
      </p:sp>
      <p:sp>
        <p:nvSpPr>
          <p:cNvPr id="39" name="Text 36"/>
          <p:cNvSpPr txBox="1"/>
          <p:nvPr/>
        </p:nvSpPr>
        <p:spPr>
          <a:xfrm>
            <a:off x="6446520" y="3291840"/>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plant</a:t>
            </a:r>
            <a:endParaRPr lang="en-US" sz="1100" dirty="0"/>
          </a:p>
        </p:txBody>
      </p:sp>
      <p:sp>
        <p:nvSpPr>
          <p:cNvPr id="40" name="Text 37"/>
          <p:cNvSpPr txBox="1"/>
          <p:nvPr/>
        </p:nvSpPr>
        <p:spPr>
          <a:xfrm>
            <a:off x="3502152" y="3291840"/>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أَنْ</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D6336C"/>
                </a:solidFill>
                <a:latin typeface="Amiri" pitchFamily="2" charset="-78"/>
                <a:cs typeface="Amiri" pitchFamily="2" charset="-78"/>
              </a:rPr>
              <a:t>نَزْرَعَ</a:t>
            </a:r>
            <a:endParaRPr lang="ar-SA" sz="2100" dirty="0"/>
          </a:p>
        </p:txBody>
      </p:sp>
      <p:sp>
        <p:nvSpPr>
          <p:cNvPr id="41" name="Text 38"/>
          <p:cNvSpPr txBox="1"/>
          <p:nvPr/>
        </p:nvSpPr>
        <p:spPr>
          <a:xfrm>
            <a:off x="566928" y="3291840"/>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-u → -a (ḍamma → fatḥa)</a:t>
            </a:r>
            <a:endParaRPr lang="en-US" sz="1100" dirty="0"/>
          </a:p>
        </p:txBody>
      </p:sp>
      <p:sp>
        <p:nvSpPr>
          <p:cNvPr id="42" name="Shape 39"/>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4" name="Shape 41"/>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5" name="Text 42"/>
          <p:cNvSpPr txBox="1"/>
          <p:nvPr/>
        </p:nvSpPr>
        <p:spPr>
          <a:xfrm>
            <a:off x="8805672" y="3822192"/>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نُعِيدُ التَّدْوِيرَ</a:t>
            </a:r>
            <a:endParaRPr lang="ar-SA" sz="1300" dirty="0"/>
          </a:p>
        </p:txBody>
      </p:sp>
      <p:sp>
        <p:nvSpPr>
          <p:cNvPr id="46" name="Text 43"/>
          <p:cNvSpPr txBox="1"/>
          <p:nvPr/>
        </p:nvSpPr>
        <p:spPr>
          <a:xfrm>
            <a:off x="8759952" y="4078224"/>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nu-ʿī-du t-tad-wīr</a:t>
            </a:r>
            <a:endParaRPr lang="en-US" sz="950" dirty="0"/>
          </a:p>
        </p:txBody>
      </p:sp>
      <p:sp>
        <p:nvSpPr>
          <p:cNvPr id="47" name="Text 44"/>
          <p:cNvSpPr txBox="1"/>
          <p:nvPr/>
        </p:nvSpPr>
        <p:spPr>
          <a:xfrm>
            <a:off x="6446520" y="3803904"/>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recycle</a:t>
            </a:r>
            <a:endParaRPr lang="en-US" sz="1100" dirty="0"/>
          </a:p>
        </p:txBody>
      </p:sp>
      <p:sp>
        <p:nvSpPr>
          <p:cNvPr id="48" name="Text 45"/>
          <p:cNvSpPr txBox="1"/>
          <p:nvPr/>
        </p:nvSpPr>
        <p:spPr>
          <a:xfrm>
            <a:off x="3502152" y="3803904"/>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أَنْ</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D6336C"/>
                </a:solidFill>
                <a:latin typeface="Amiri" pitchFamily="2" charset="-78"/>
                <a:cs typeface="Amiri" pitchFamily="2" charset="-78"/>
              </a:rPr>
              <a:t>نُعِيدَ</a:t>
            </a:r>
            <a:endParaRPr lang="ar-SA" sz="2100" dirty="0"/>
          </a:p>
        </p:txBody>
      </p:sp>
      <p:sp>
        <p:nvSpPr>
          <p:cNvPr id="49" name="Text 46"/>
          <p:cNvSpPr txBox="1"/>
          <p:nvPr/>
        </p:nvSpPr>
        <p:spPr>
          <a:xfrm>
            <a:off x="566928" y="3803904"/>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-u → -a (ḍamma → fatḥa)</a:t>
            </a:r>
            <a:endParaRPr lang="en-US" sz="1100" dirty="0"/>
          </a:p>
        </p:txBody>
      </p:sp>
      <p:sp>
        <p:nvSpPr>
          <p:cNvPr id="50" name="Shape 47"/>
          <p:cNvSpPr/>
          <p:nvPr/>
        </p:nvSpPr>
        <p:spPr>
          <a:xfrm>
            <a:off x="11091672" y="3849624"/>
            <a:ext cx="548640" cy="182880"/>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1091672" y="384962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2" name="Shape 49"/>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53" name="Text 50"/>
          <p:cNvSpPr txBox="1"/>
          <p:nvPr/>
        </p:nvSpPr>
        <p:spPr>
          <a:xfrm>
            <a:off x="8805672" y="4334256"/>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نَسْتَخْدِمُ</a:t>
            </a:r>
            <a:endParaRPr lang="ar-SA" sz="1300" dirty="0"/>
          </a:p>
        </p:txBody>
      </p:sp>
      <p:sp>
        <p:nvSpPr>
          <p:cNvPr id="54" name="Text 51"/>
          <p:cNvSpPr txBox="1"/>
          <p:nvPr/>
        </p:nvSpPr>
        <p:spPr>
          <a:xfrm>
            <a:off x="8759952" y="4590288"/>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nas-takh-di-mu</a:t>
            </a:r>
            <a:endParaRPr lang="en-US" sz="950" dirty="0"/>
          </a:p>
        </p:txBody>
      </p:sp>
      <p:sp>
        <p:nvSpPr>
          <p:cNvPr id="55" name="Text 52"/>
          <p:cNvSpPr txBox="1"/>
          <p:nvPr/>
        </p:nvSpPr>
        <p:spPr>
          <a:xfrm>
            <a:off x="6446520" y="4315968"/>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use</a:t>
            </a:r>
            <a:endParaRPr lang="en-US" sz="1100" dirty="0"/>
          </a:p>
        </p:txBody>
      </p:sp>
      <p:sp>
        <p:nvSpPr>
          <p:cNvPr id="56" name="Text 53"/>
          <p:cNvSpPr txBox="1"/>
          <p:nvPr/>
        </p:nvSpPr>
        <p:spPr>
          <a:xfrm>
            <a:off x="3502152" y="4315968"/>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أَنْ</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D6336C"/>
                </a:solidFill>
                <a:latin typeface="Amiri" pitchFamily="2" charset="-78"/>
                <a:cs typeface="Amiri" pitchFamily="2" charset="-78"/>
              </a:rPr>
              <a:t>نَسْتَخْدِمَ</a:t>
            </a:r>
            <a:endParaRPr lang="ar-SA" sz="2100" dirty="0"/>
          </a:p>
        </p:txBody>
      </p:sp>
      <p:sp>
        <p:nvSpPr>
          <p:cNvPr id="57" name="Text 54"/>
          <p:cNvSpPr txBox="1"/>
          <p:nvPr/>
        </p:nvSpPr>
        <p:spPr>
          <a:xfrm>
            <a:off x="566928" y="4315968"/>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-u → -a (ḍamma → fatḥa)</a:t>
            </a:r>
            <a:endParaRPr lang="en-US" sz="1100" dirty="0"/>
          </a:p>
        </p:txBody>
      </p:sp>
      <p:sp>
        <p:nvSpPr>
          <p:cNvPr id="58" name="Shape 55"/>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9" name="Text 56"/>
          <p:cNvSpPr txBox="1"/>
          <p:nvPr/>
        </p:nvSpPr>
        <p:spPr>
          <a:xfrm>
            <a:off x="8805672" y="4846320"/>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نَسْتَثْمِرُ فِي</a:t>
            </a:r>
            <a:endParaRPr lang="ar-SA" sz="1300" dirty="0"/>
          </a:p>
        </p:txBody>
      </p:sp>
      <p:sp>
        <p:nvSpPr>
          <p:cNvPr id="60" name="Text 57"/>
          <p:cNvSpPr txBox="1"/>
          <p:nvPr/>
        </p:nvSpPr>
        <p:spPr>
          <a:xfrm>
            <a:off x="8759952" y="5102352"/>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nas-tath-mi-ru fī</a:t>
            </a:r>
            <a:endParaRPr lang="en-US" sz="950" dirty="0"/>
          </a:p>
        </p:txBody>
      </p:sp>
      <p:sp>
        <p:nvSpPr>
          <p:cNvPr id="61" name="Text 58"/>
          <p:cNvSpPr txBox="1"/>
          <p:nvPr/>
        </p:nvSpPr>
        <p:spPr>
          <a:xfrm>
            <a:off x="6446520" y="4828032"/>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invest in</a:t>
            </a:r>
            <a:endParaRPr lang="en-US" sz="1100" dirty="0"/>
          </a:p>
        </p:txBody>
      </p:sp>
      <p:sp>
        <p:nvSpPr>
          <p:cNvPr id="62" name="Text 59"/>
          <p:cNvSpPr txBox="1"/>
          <p:nvPr/>
        </p:nvSpPr>
        <p:spPr>
          <a:xfrm>
            <a:off x="3502152" y="4828032"/>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أَنْ</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D6336C"/>
                </a:solidFill>
                <a:latin typeface="Amiri" pitchFamily="2" charset="-78"/>
                <a:cs typeface="Amiri" pitchFamily="2" charset="-78"/>
              </a:rPr>
              <a:t>نَسْتَثْمِرَ</a:t>
            </a:r>
            <a:endParaRPr lang="ar-SA" sz="2100" dirty="0"/>
          </a:p>
        </p:txBody>
      </p:sp>
      <p:sp>
        <p:nvSpPr>
          <p:cNvPr id="63" name="Text 60"/>
          <p:cNvSpPr txBox="1"/>
          <p:nvPr/>
        </p:nvSpPr>
        <p:spPr>
          <a:xfrm>
            <a:off x="566928" y="4828032"/>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keep </a:t>
            </a:r>
            <a:pPr algn="l" indent="0" marL="0">
              <a:buNone/>
            </a:pPr>
            <a:r>
              <a:rPr lang="ar-SA" altLang="en-US" sz="1450" dirty="0">
                <a:solidFill>
                  <a:srgbClr val="5A6472"/>
                </a:solidFill>
                <a:latin typeface="Amiri" pitchFamily="2" charset="-78"/>
                <a:cs typeface="Amiri" pitchFamily="2" charset="-78"/>
              </a:rPr>
              <a:t>فِي</a:t>
            </a:r>
            <a:pPr algn="l" indent="0" marL="0">
              <a:buNone/>
            </a:pPr>
            <a:r>
              <a:rPr lang="en-US" sz="1100" i="1" dirty="0">
                <a:solidFill>
                  <a:srgbClr val="5A6472"/>
                </a:solidFill>
                <a:latin typeface="Calibri" pitchFamily="34" charset="0"/>
                <a:cs typeface="Amiri" pitchFamily="2" charset="-78"/>
              </a:rPr>
              <a:t> after it</a:t>
            </a:r>
            <a:endParaRPr lang="en-US" sz="1100" dirty="0"/>
          </a:p>
        </p:txBody>
      </p:sp>
      <p:sp>
        <p:nvSpPr>
          <p:cNvPr id="64" name="Shape 61"/>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65" name="Text 62"/>
          <p:cNvSpPr txBox="1"/>
          <p:nvPr/>
        </p:nvSpPr>
        <p:spPr>
          <a:xfrm>
            <a:off x="8805672" y="5358384"/>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نَتَخَلَّصُ مِنْ</a:t>
            </a:r>
            <a:endParaRPr lang="ar-SA" sz="1300" dirty="0"/>
          </a:p>
        </p:txBody>
      </p:sp>
      <p:sp>
        <p:nvSpPr>
          <p:cNvPr id="66" name="Text 63"/>
          <p:cNvSpPr txBox="1"/>
          <p:nvPr/>
        </p:nvSpPr>
        <p:spPr>
          <a:xfrm>
            <a:off x="8759952" y="5614416"/>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na-ta-khal-la-ṣu min</a:t>
            </a:r>
            <a:endParaRPr lang="en-US" sz="950" dirty="0"/>
          </a:p>
        </p:txBody>
      </p:sp>
      <p:sp>
        <p:nvSpPr>
          <p:cNvPr id="67" name="Text 64"/>
          <p:cNvSpPr txBox="1"/>
          <p:nvPr/>
        </p:nvSpPr>
        <p:spPr>
          <a:xfrm>
            <a:off x="6446520" y="5340096"/>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get rid of</a:t>
            </a:r>
            <a:endParaRPr lang="en-US" sz="1100" dirty="0"/>
          </a:p>
        </p:txBody>
      </p:sp>
      <p:sp>
        <p:nvSpPr>
          <p:cNvPr id="68" name="Text 65"/>
          <p:cNvSpPr txBox="1"/>
          <p:nvPr/>
        </p:nvSpPr>
        <p:spPr>
          <a:xfrm>
            <a:off x="3502152" y="5340096"/>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أَنْ</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D6336C"/>
                </a:solidFill>
                <a:latin typeface="Amiri" pitchFamily="2" charset="-78"/>
                <a:cs typeface="Amiri" pitchFamily="2" charset="-78"/>
              </a:rPr>
              <a:t>نَتَخَلَّصَ</a:t>
            </a:r>
            <a:endParaRPr lang="ar-SA" sz="2100" dirty="0"/>
          </a:p>
        </p:txBody>
      </p:sp>
      <p:sp>
        <p:nvSpPr>
          <p:cNvPr id="69" name="Text 66"/>
          <p:cNvSpPr txBox="1"/>
          <p:nvPr/>
        </p:nvSpPr>
        <p:spPr>
          <a:xfrm>
            <a:off x="566928" y="5340096"/>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keep </a:t>
            </a:r>
            <a:pPr algn="l" indent="0" marL="0">
              <a:buNone/>
            </a:pPr>
            <a:r>
              <a:rPr lang="ar-SA" altLang="en-US" sz="1450" dirty="0">
                <a:solidFill>
                  <a:srgbClr val="5A6472"/>
                </a:solidFill>
                <a:latin typeface="Amiri" pitchFamily="2" charset="-78"/>
                <a:cs typeface="Amiri" pitchFamily="2" charset="-78"/>
              </a:rPr>
              <a:t>مِنْ</a:t>
            </a:r>
            <a:pPr algn="l" indent="0" marL="0">
              <a:buNone/>
            </a:pPr>
            <a:r>
              <a:rPr lang="en-US" sz="1100" i="1" dirty="0">
                <a:solidFill>
                  <a:srgbClr val="5A6472"/>
                </a:solidFill>
                <a:latin typeface="Calibri" pitchFamily="34" charset="0"/>
                <a:cs typeface="Amiri" pitchFamily="2" charset="-78"/>
              </a:rPr>
              <a:t> after it</a:t>
            </a:r>
            <a:endParaRPr lang="en-US" sz="1100" dirty="0"/>
          </a:p>
        </p:txBody>
      </p:sp>
      <p:sp>
        <p:nvSpPr>
          <p:cNvPr id="70" name="Shape 6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71" name="Text 68"/>
          <p:cNvSpPr txBox="1"/>
          <p:nvPr/>
        </p:nvSpPr>
        <p:spPr>
          <a:xfrm>
            <a:off x="8805672" y="5870448"/>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نَتَبَنَّى</a:t>
            </a:r>
            <a:endParaRPr lang="ar-SA" sz="1300" dirty="0"/>
          </a:p>
        </p:txBody>
      </p:sp>
      <p:sp>
        <p:nvSpPr>
          <p:cNvPr id="72" name="Text 69"/>
          <p:cNvSpPr txBox="1"/>
          <p:nvPr/>
        </p:nvSpPr>
        <p:spPr>
          <a:xfrm>
            <a:off x="8759952" y="6126480"/>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na-ta-ban-nā</a:t>
            </a:r>
            <a:endParaRPr lang="en-US" sz="950" dirty="0"/>
          </a:p>
        </p:txBody>
      </p:sp>
      <p:sp>
        <p:nvSpPr>
          <p:cNvPr id="73" name="Text 70"/>
          <p:cNvSpPr txBox="1"/>
          <p:nvPr/>
        </p:nvSpPr>
        <p:spPr>
          <a:xfrm>
            <a:off x="6446520" y="5852160"/>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adopt</a:t>
            </a:r>
            <a:endParaRPr lang="en-US" sz="1100" dirty="0"/>
          </a:p>
        </p:txBody>
      </p:sp>
      <p:sp>
        <p:nvSpPr>
          <p:cNvPr id="74" name="Text 71"/>
          <p:cNvSpPr txBox="1"/>
          <p:nvPr/>
        </p:nvSpPr>
        <p:spPr>
          <a:xfrm>
            <a:off x="3502152" y="5852160"/>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أَنْ</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D6336C"/>
                </a:solidFill>
                <a:latin typeface="Amiri" pitchFamily="2" charset="-78"/>
                <a:cs typeface="Amiri" pitchFamily="2" charset="-78"/>
              </a:rPr>
              <a:t>نَتَبَنَّى</a:t>
            </a:r>
            <a:endParaRPr lang="ar-SA" sz="2100" dirty="0"/>
          </a:p>
        </p:txBody>
      </p:sp>
      <p:sp>
        <p:nvSpPr>
          <p:cNvPr id="75" name="Text 72"/>
          <p:cNvSpPr txBox="1"/>
          <p:nvPr/>
        </p:nvSpPr>
        <p:spPr>
          <a:xfrm>
            <a:off x="566928" y="5852160"/>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ends in </a:t>
            </a:r>
            <a:pPr algn="l" indent="0" marL="0">
              <a:buNone/>
            </a:pPr>
            <a:r>
              <a:rPr lang="ar-SA" altLang="en-US" sz="1450" dirty="0">
                <a:solidFill>
                  <a:srgbClr val="5A6472"/>
                </a:solidFill>
                <a:latin typeface="Amiri" pitchFamily="2" charset="-78"/>
                <a:cs typeface="Amiri" pitchFamily="2" charset="-78"/>
              </a:rPr>
              <a:t>ى</a:t>
            </a:r>
            <a:pPr algn="l" indent="0" marL="0">
              <a:buNone/>
            </a:pPr>
            <a:r>
              <a:rPr lang="en-US" sz="1100" i="1" dirty="0">
                <a:solidFill>
                  <a:srgbClr val="5A6472"/>
                </a:solidFill>
                <a:latin typeface="Calibri" pitchFamily="34" charset="0"/>
                <a:cs typeface="Amiri" pitchFamily="2" charset="-78"/>
              </a:rPr>
              <a:t> — no visible change</a:t>
            </a:r>
            <a:endParaRPr lang="en-US" sz="11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ADVICE, OBLIGATION AND PURPOSE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النَّصِيحَةُ وَالوَاجِبُ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verb (ـَ)</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cs typeface="Amiri" pitchFamily="2" charset="-78"/>
              </a:rPr>
              <a:t>يَنْبَغِي 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should</a:t>
            </a:r>
            <a:endParaRPr lang="en-US" sz="1350" dirty="0"/>
          </a:p>
          <a:p>
            <a:pPr indent="0" marL="0">
              <a:buNone/>
            </a:pPr>
            <a:r>
              <a:rPr lang="en-US" sz="1100" i="1" dirty="0">
                <a:solidFill>
                  <a:srgbClr val="5A6472"/>
                </a:solidFill>
                <a:latin typeface="Calibri" pitchFamily="34" charset="0"/>
                <a:cs typeface="Amiri" pitchFamily="2" charset="-78"/>
              </a:rPr>
              <a:t>yan-ba-ghī 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verb (ـَ)</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cs typeface="Amiri" pitchFamily="2" charset="-78"/>
              </a:rPr>
              <a:t>يَجِبُ أَنْ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must</a:t>
            </a:r>
            <a:endParaRPr lang="en-US" sz="1350" dirty="0"/>
          </a:p>
          <a:p>
            <a:pPr indent="0" marL="0">
              <a:buNone/>
            </a:pPr>
            <a:r>
              <a:rPr lang="en-US" sz="1100" i="1" dirty="0">
                <a:solidFill>
                  <a:srgbClr val="5A6472"/>
                </a:solidFill>
                <a:latin typeface="Calibri" pitchFamily="34" charset="0"/>
                <a:cs typeface="Amiri" pitchFamily="2" charset="-78"/>
              </a:rPr>
              <a:t>ya-ji-bu an</a:t>
            </a:r>
            <a:endParaRPr lang="en-US" sz="1350" dirty="0"/>
          </a:p>
        </p:txBody>
      </p:sp>
      <p:sp>
        <p:nvSpPr>
          <p:cNvPr id="33" name="Text 30"/>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Name who: </a:t>
            </a:r>
            <a:pPr algn="l" indent="0" marL="0">
              <a:buNone/>
            </a:pPr>
            <a:r>
              <a:rPr lang="ar-SA" altLang="en-US" sz="1300" dirty="0">
                <a:solidFill>
                  <a:srgbClr val="8A6D1E"/>
                </a:solidFill>
                <a:latin typeface="Amiri" pitchFamily="2" charset="-78"/>
                <a:cs typeface="Amiri" pitchFamily="2" charset="-78"/>
              </a:rPr>
              <a:t>يَجِبُ عَلَى … أَنْ</a:t>
            </a:r>
            <a:endParaRPr lang="en-US" sz="10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verb (ـَ)</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cs typeface="Amiri" pitchFamily="2" charset="-78"/>
              </a:rPr>
              <a:t>يُمْكِنُ أَنْ</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possible to, (we) can</a:t>
            </a:r>
            <a:endParaRPr lang="en-US" sz="1350" dirty="0"/>
          </a:p>
          <a:p>
            <a:pPr indent="0" marL="0">
              <a:buNone/>
            </a:pPr>
            <a:r>
              <a:rPr lang="en-US" sz="1100" i="1" dirty="0">
                <a:solidFill>
                  <a:srgbClr val="5A6472"/>
                </a:solidFill>
                <a:latin typeface="Calibri" pitchFamily="34" charset="0"/>
                <a:cs typeface="Amiri" pitchFamily="2" charset="-78"/>
              </a:rPr>
              <a:t>yum-ki-nu an</a:t>
            </a:r>
            <a:endParaRPr lang="en-US" sz="1350" dirty="0"/>
          </a:p>
        </p:txBody>
      </p:sp>
      <p:sp>
        <p:nvSpPr>
          <p:cNvPr id="43" name="Text 40"/>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Urdu: </a:t>
            </a:r>
            <a:pPr algn="l" indent="0" marL="0">
              <a:buNone/>
            </a:pPr>
            <a:r>
              <a:rPr lang="ar-SA" altLang="en-US" sz="1300" dirty="0">
                <a:solidFill>
                  <a:srgbClr val="8A6D1E"/>
                </a:solidFill>
                <a:latin typeface="Amiri" pitchFamily="2" charset="-78"/>
                <a:cs typeface="Amiri" pitchFamily="2" charset="-78"/>
              </a:rPr>
              <a:t>ممکن</a:t>
            </a:r>
            <a:endParaRPr lang="en-US" sz="10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verb (ـَ)</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cs typeface="Amiri" pitchFamily="2" charset="-78"/>
              </a:rPr>
              <a:t>لِكَيْ</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 so that</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51" name="Text 4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Purpose — TC-L02.</a:t>
            </a:r>
            <a:endParaRPr lang="en-US" sz="10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5" name="Shape 52"/>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verb (ـَ)</a:t>
            </a:r>
            <a:endParaRPr lang="en-US" sz="8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cs typeface="Amiri" pitchFamily="2" charset="-78"/>
              </a:rPr>
              <a:t>مِنَ الضَّرُورِيِّ أَنْ</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necessary to</a:t>
            </a:r>
            <a:endParaRPr lang="en-US" sz="1350" dirty="0"/>
          </a:p>
          <a:p>
            <a:pPr indent="0" marL="0">
              <a:buNone/>
            </a:pPr>
            <a:r>
              <a:rPr lang="en-US" sz="1100" i="1" dirty="0">
                <a:solidFill>
                  <a:srgbClr val="5A6472"/>
                </a:solidFill>
                <a:latin typeface="Calibri" pitchFamily="34" charset="0"/>
                <a:cs typeface="Amiri" pitchFamily="2" charset="-78"/>
              </a:rPr>
              <a:t>mi-na ḍ-ḍa-rū-riy-yi an</a:t>
            </a:r>
            <a:endParaRPr lang="en-US" sz="1350" dirty="0"/>
          </a:p>
        </p:txBody>
      </p:sp>
      <p:sp>
        <p:nvSpPr>
          <p:cNvPr id="59" name="Text 5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Urdu: </a:t>
            </a:r>
            <a:pPr algn="l" indent="0" marL="0">
              <a:buNone/>
            </a:pPr>
            <a:r>
              <a:rPr lang="ar-SA" altLang="en-US" sz="1300" dirty="0">
                <a:solidFill>
                  <a:srgbClr val="8A6D1E"/>
                </a:solidFill>
                <a:latin typeface="Amiri" pitchFamily="2" charset="-78"/>
                <a:cs typeface="Amiri" pitchFamily="2" charset="-78"/>
              </a:rPr>
              <a:t>ضروری</a:t>
            </a:r>
            <a:endParaRPr lang="en-US" sz="100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verb (ـَ)</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cs typeface="Amiri" pitchFamily="2" charset="-78"/>
              </a:rPr>
              <a:t>مِنَ الأَفْضَلِ أَنْ</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better to</a:t>
            </a:r>
            <a:endParaRPr lang="en-US" sz="1350" dirty="0"/>
          </a:p>
          <a:p>
            <a:pPr indent="0" marL="0">
              <a:buNone/>
            </a:pPr>
            <a:r>
              <a:rPr lang="en-US" sz="1100" i="1" dirty="0">
                <a:solidFill>
                  <a:srgbClr val="5A6472"/>
                </a:solidFill>
                <a:latin typeface="Calibri" pitchFamily="34" charset="0"/>
                <a:cs typeface="Amiri" pitchFamily="2" charset="-78"/>
              </a:rPr>
              <a:t>mi-na l-af-ḍa-li an</a:t>
            </a:r>
            <a:endParaRPr lang="en-US" sz="1350" dirty="0"/>
          </a:p>
        </p:txBody>
      </p:sp>
      <p:sp>
        <p:nvSpPr>
          <p:cNvPr id="67" name="Text 64"/>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Website game.</a:t>
            </a:r>
            <a:endParaRPr lang="en-US" sz="10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ADVICE + A “WE” VERB</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advice in three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اُنْصَحْ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0E7C86"/>
                </a:solidFill>
                <a:latin typeface="Amiri" pitchFamily="2" charset="-78"/>
                <a:cs typeface="Amiri" pitchFamily="2" charset="-78"/>
              </a:rPr>
              <a:t>يَنْبَغِي أَنْ</a:t>
            </a:r>
            <a:pPr rtl="1" algn="ctr" indent="0" marL="0">
              <a:buNone/>
            </a:pPr>
            <a:r>
              <a:rPr lang="ar-SA" altLang="en-US" sz="7200" b="1" dirty="0">
                <a:solidFill>
                  <a:srgbClr val="1B3B6F"/>
                </a:solidFill>
                <a:latin typeface="Amiri" pitchFamily="2" charset="-78"/>
                <a:cs typeface="Amiri" pitchFamily="2" charset="-78"/>
              </a:rPr>
              <a:t> </a:t>
            </a:r>
            <a:pPr rtl="1" algn="ctr" indent="0" marL="0">
              <a:buNone/>
            </a:pPr>
            <a:r>
              <a:rPr lang="ar-SA" altLang="en-US" sz="7200" b="1" dirty="0">
                <a:solidFill>
                  <a:srgbClr val="1D5FBF"/>
                </a:solidFill>
                <a:latin typeface="Amiri" pitchFamily="2" charset="-78"/>
                <a:cs typeface="Amiri" pitchFamily="2" charset="-78"/>
              </a:rPr>
              <a:t>نُ</a:t>
            </a:r>
            <a:pPr rtl="1" algn="ctr" indent="0" marL="0">
              <a:buNone/>
            </a:pPr>
            <a:r>
              <a:rPr lang="ar-SA" altLang="en-US" sz="7200" b="1" dirty="0">
                <a:solidFill>
                  <a:srgbClr val="D6336C"/>
                </a:solidFill>
                <a:latin typeface="Amiri" pitchFamily="2" charset="-78"/>
                <a:cs typeface="Amiri" pitchFamily="2" charset="-78"/>
              </a:rPr>
              <a:t>قَلِّلَ</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yan-ba-ghī an nu-qal-li-la · we should reduce</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2" charset="-78"/>
                <a:cs typeface="Amiri" pitchFamily="2" charset="-78"/>
              </a:rPr>
              <a:t>يَنْبَغِي أَنْ</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cs typeface="Amiri" pitchFamily="2" charset="-78"/>
              </a:rPr>
              <a:t>ADVICE word</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2" charset="-78"/>
                <a:cs typeface="Amiri" pitchFamily="2" charset="-78"/>
              </a:rPr>
              <a:t>يَنْبَغِي أَنْ</a:t>
            </a:r>
            <a:pPr algn="l" indent="0" marL="0">
              <a:buNone/>
            </a:pPr>
            <a:r>
              <a:rPr lang="en-US" sz="1150" dirty="0">
                <a:solidFill>
                  <a:srgbClr val="5A6472"/>
                </a:solidFill>
                <a:latin typeface="Calibri" pitchFamily="34" charset="0"/>
                <a:cs typeface="Amiri" pitchFamily="2" charset="-78"/>
              </a:rPr>
              <a:t> = should · </a:t>
            </a:r>
            <a:pPr algn="l" indent="0" marL="0">
              <a:buNone/>
            </a:pPr>
            <a:r>
              <a:rPr lang="ar-SA" altLang="en-US" sz="1500" dirty="0">
                <a:solidFill>
                  <a:srgbClr val="5A6472"/>
                </a:solidFill>
                <a:latin typeface="Amiri" pitchFamily="2" charset="-78"/>
                <a:cs typeface="Amiri" pitchFamily="2" charset="-78"/>
              </a:rPr>
              <a:t>يَجِبُ أَنْ</a:t>
            </a:r>
            <a:pPr algn="l" indent="0" marL="0">
              <a:buNone/>
            </a:pPr>
            <a:r>
              <a:rPr lang="en-US" sz="1150" dirty="0">
                <a:solidFill>
                  <a:srgbClr val="5A6472"/>
                </a:solidFill>
                <a:latin typeface="Calibri" pitchFamily="34" charset="0"/>
                <a:cs typeface="Amiri" pitchFamily="2" charset="-78"/>
              </a:rPr>
              <a:t> = must · </a:t>
            </a:r>
            <a:pPr algn="l" indent="0" marL="0">
              <a:buNone/>
            </a:pPr>
            <a:r>
              <a:rPr lang="ar-SA" altLang="en-US" sz="1500" dirty="0">
                <a:solidFill>
                  <a:srgbClr val="5A6472"/>
                </a:solidFill>
                <a:latin typeface="Amiri" pitchFamily="2" charset="-78"/>
                <a:cs typeface="Amiri" pitchFamily="2" charset="-78"/>
              </a:rPr>
              <a:t>يُمْكِنُ أَنْ</a:t>
            </a:r>
            <a:pPr algn="l" indent="0" marL="0">
              <a:buNone/>
            </a:pPr>
            <a:r>
              <a:rPr lang="en-US" sz="1150" dirty="0">
                <a:solidFill>
                  <a:srgbClr val="5A6472"/>
                </a:solidFill>
                <a:latin typeface="Calibri" pitchFamily="34" charset="0"/>
                <a:cs typeface="Amiri" pitchFamily="2" charset="-78"/>
              </a:rPr>
              <a:t> = can.</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2" charset="-78"/>
                <a:cs typeface="Amiri" pitchFamily="2" charset="-78"/>
              </a:rPr>
              <a:t>نُـ</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cs typeface="Amiri" pitchFamily="2" charset="-78"/>
              </a:rPr>
              <a:t>WHO? </a:t>
            </a:r>
            <a:pPr algn="l" indent="0" marL="0">
              <a:buNone/>
            </a:pPr>
            <a:r>
              <a:rPr lang="ar-SA" altLang="en-US" sz="2100" b="1" dirty="0">
                <a:solidFill>
                  <a:srgbClr val="1D5FBF"/>
                </a:solidFill>
                <a:latin typeface="Amiri" pitchFamily="2" charset="-78"/>
                <a:cs typeface="Amiri" pitchFamily="2" charset="-78"/>
              </a:rPr>
              <a:t>نُـ / نَـ</a:t>
            </a:r>
            <a:pPr algn="l" indent="0" marL="0">
              <a:buNone/>
            </a:pPr>
            <a:r>
              <a:rPr lang="en-US" sz="1600" b="1" dirty="0">
                <a:solidFill>
                  <a:srgbClr val="1D5FBF"/>
                </a:solidFill>
                <a:latin typeface="Calibri" pitchFamily="34" charset="0"/>
                <a:cs typeface="Amiri" pitchFamily="2" charset="-78"/>
              </a:rPr>
              <a:t> = we</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The verb starts with </a:t>
            </a:r>
            <a:pPr algn="l" indent="0" marL="0">
              <a:buNone/>
            </a:pPr>
            <a:r>
              <a:rPr lang="ar-SA" altLang="en-US" sz="1500" dirty="0">
                <a:solidFill>
                  <a:srgbClr val="5A6472"/>
                </a:solidFill>
                <a:latin typeface="Amiri" pitchFamily="2" charset="-78"/>
                <a:cs typeface="Amiri" pitchFamily="2" charset="-78"/>
              </a:rPr>
              <a:t>نُـ</a:t>
            </a:r>
            <a:pPr algn="l" indent="0" marL="0">
              <a:buNone/>
            </a:pPr>
            <a:r>
              <a:rPr lang="en-US" sz="1150" dirty="0">
                <a:solidFill>
                  <a:srgbClr val="5A6472"/>
                </a:solidFill>
                <a:latin typeface="Calibri" pitchFamily="34" charset="0"/>
                <a:cs typeface="Amiri" pitchFamily="2" charset="-78"/>
              </a:rPr>
              <a:t> or </a:t>
            </a:r>
            <a:pPr algn="l" indent="0" marL="0">
              <a:buNone/>
            </a:pPr>
            <a:r>
              <a:rPr lang="ar-SA" altLang="en-US" sz="1500" dirty="0">
                <a:solidFill>
                  <a:srgbClr val="5A6472"/>
                </a:solidFill>
                <a:latin typeface="Amiri" pitchFamily="2" charset="-78"/>
                <a:cs typeface="Amiri" pitchFamily="2" charset="-78"/>
              </a:rPr>
              <a:t>نَـ</a:t>
            </a:r>
            <a:pPr algn="l" indent="0" marL="0">
              <a:buNone/>
            </a:pPr>
            <a:r>
              <a:rPr lang="en-US" sz="1150" dirty="0">
                <a:solidFill>
                  <a:srgbClr val="5A6472"/>
                </a:solidFill>
                <a:latin typeface="Calibri" pitchFamily="34" charset="0"/>
                <a:cs typeface="Amiri" pitchFamily="2" charset="-78"/>
              </a:rPr>
              <a:t>: we (TC verb code).</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2" charset="-78"/>
                <a:cs typeface="Amiri" pitchFamily="2" charset="-78"/>
              </a:rPr>
              <a:t>ـَ</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cs typeface="Amiri" pitchFamily="2" charset="-78"/>
              </a:rPr>
              <a:t>ENDING: -u → -a</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After </a:t>
            </a:r>
            <a:pPr algn="l" indent="0" marL="0">
              <a:buNone/>
            </a:pPr>
            <a:r>
              <a:rPr lang="ar-SA" altLang="en-US" sz="1500" dirty="0">
                <a:solidFill>
                  <a:srgbClr val="5A6472"/>
                </a:solidFill>
                <a:latin typeface="Amiri" pitchFamily="2" charset="-78"/>
                <a:cs typeface="Amiri" pitchFamily="2" charset="-78"/>
              </a:rPr>
              <a:t>أَنْ</a:t>
            </a:r>
            <a:pPr algn="l" indent="0" marL="0">
              <a:buNone/>
            </a:pPr>
            <a:r>
              <a:rPr lang="en-US" sz="1150" dirty="0">
                <a:solidFill>
                  <a:srgbClr val="5A6472"/>
                </a:solidFill>
                <a:latin typeface="Calibri" pitchFamily="34" charset="0"/>
                <a:cs typeface="Amiri" pitchFamily="2" charset="-78"/>
              </a:rPr>
              <a:t> the last vowel becomes a fatḥa: </a:t>
            </a:r>
            <a:pPr algn="l" indent="0" marL="0">
              <a:buNone/>
            </a:pPr>
            <a:r>
              <a:rPr lang="ar-SA" altLang="en-US" sz="1500" dirty="0">
                <a:solidFill>
                  <a:srgbClr val="5A6472"/>
                </a:solidFill>
                <a:latin typeface="Amiri" pitchFamily="2" charset="-78"/>
                <a:cs typeface="Amiri" pitchFamily="2" charset="-78"/>
              </a:rPr>
              <a:t>نُقَلِّلُ</a:t>
            </a:r>
            <a:pPr algn="l" indent="0" marL="0">
              <a:buNone/>
            </a:pPr>
            <a:r>
              <a:rPr lang="en-US" sz="1150"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cs typeface="Amiri" pitchFamily="2" charset="-78"/>
              </a:rPr>
              <a:t>نُقَلِّلَ</a:t>
            </a:r>
            <a:pPr algn="l" indent="0" marL="0">
              <a:buNone/>
            </a:pPr>
            <a:r>
              <a:rPr lang="en-US" sz="1150" dirty="0">
                <a:solidFill>
                  <a:srgbClr val="5A6472"/>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ONE ENDING AFTER FIVE ADVICE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Advice words + a verb ending in fatḥa</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بَعْدَ أَنْ وَلِكَيْ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Advice word</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Verb after it</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يَنْبَغِي أَنْ</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should</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2" charset="-78"/>
                <a:cs typeface="Amiri" pitchFamily="2" charset="-78"/>
              </a:rPr>
              <a:t>نُقَلِّلَ</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يَنْبَغِي أَنْ </a:t>
            </a:r>
            <a:pPr rtl="1" algn="r" indent="0" marL="0">
              <a:buNone/>
            </a:pPr>
            <a:r>
              <a:rPr lang="ar-SA" altLang="en-US" sz="2000" dirty="0">
                <a:solidFill>
                  <a:srgbClr val="D6336C"/>
                </a:solidFill>
                <a:latin typeface="Amiri" pitchFamily="2" charset="-78"/>
                <a:cs typeface="Amiri" pitchFamily="2" charset="-78"/>
              </a:rPr>
              <a:t>نُقَلِّلَ</a:t>
            </a:r>
            <a:pPr rtl="1" algn="r" indent="0" marL="0">
              <a:buNone/>
            </a:pPr>
            <a:r>
              <a:rPr lang="ar-SA" altLang="en-US" sz="2000" dirty="0">
                <a:solidFill>
                  <a:srgbClr val="1F2A37"/>
                </a:solidFill>
                <a:latin typeface="Amiri" pitchFamily="2" charset="-78"/>
                <a:cs typeface="Amiri" pitchFamily="2" charset="-78"/>
              </a:rPr>
              <a:t> اسْتِخْدَامَ البِلَاسْتِيكِ.</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We should reduce plastic use.</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يَجِبُ أَنْ</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must</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2" charset="-78"/>
                <a:cs typeface="Amiri" pitchFamily="2" charset="-78"/>
              </a:rPr>
              <a:t>نُعِيدَ</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يَجِبُ أَنْ </a:t>
            </a:r>
            <a:pPr rtl="1" algn="r" indent="0" marL="0">
              <a:buNone/>
            </a:pPr>
            <a:r>
              <a:rPr lang="ar-SA" altLang="en-US" sz="2000" dirty="0">
                <a:solidFill>
                  <a:srgbClr val="D6336C"/>
                </a:solidFill>
                <a:latin typeface="Amiri" pitchFamily="2" charset="-78"/>
                <a:cs typeface="Amiri" pitchFamily="2" charset="-78"/>
              </a:rPr>
              <a:t>نُعِيدَ</a:t>
            </a:r>
            <a:pPr rtl="1" algn="r" indent="0" marL="0">
              <a:buNone/>
            </a:pPr>
            <a:r>
              <a:rPr lang="ar-SA" altLang="en-US" sz="2000" dirty="0">
                <a:solidFill>
                  <a:srgbClr val="1F2A37"/>
                </a:solidFill>
                <a:latin typeface="Amiri" pitchFamily="2" charset="-78"/>
                <a:cs typeface="Amiri" pitchFamily="2" charset="-78"/>
              </a:rPr>
              <a:t> تَدْوِيرَ النُّفَايَاتِ.</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We must recycle waste. (website game)</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يُمْكِنُ أَنْ</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can</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2" charset="-78"/>
                <a:cs typeface="Amiri" pitchFamily="2" charset="-78"/>
              </a:rPr>
              <a:t>نَسْتَخْدِمَ</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يُمْكِنُ أَنْ </a:t>
            </a:r>
            <a:pPr rtl="1" algn="r" indent="0" marL="0">
              <a:buNone/>
            </a:pPr>
            <a:r>
              <a:rPr lang="ar-SA" altLang="en-US" sz="2000" dirty="0">
                <a:solidFill>
                  <a:srgbClr val="D6336C"/>
                </a:solidFill>
                <a:latin typeface="Amiri" pitchFamily="2" charset="-78"/>
                <a:cs typeface="Amiri" pitchFamily="2" charset="-78"/>
              </a:rPr>
              <a:t>نَسْتَخْدِمَ</a:t>
            </a:r>
            <a:pPr rtl="1" algn="r" indent="0" marL="0">
              <a:buNone/>
            </a:pPr>
            <a:r>
              <a:rPr lang="ar-SA" altLang="en-US" sz="2000" dirty="0">
                <a:solidFill>
                  <a:srgbClr val="1F2A37"/>
                </a:solidFill>
                <a:latin typeface="Amiri" pitchFamily="2" charset="-78"/>
                <a:cs typeface="Amiri" pitchFamily="2" charset="-78"/>
              </a:rPr>
              <a:t> الطَّاقَةَ الشَّمْسِيَّةَ.</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We can use solar energy.</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لِكَيْ</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so that</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2" charset="-78"/>
                <a:cs typeface="Amiri" pitchFamily="2" charset="-78"/>
              </a:rPr>
              <a:t>نُقَلِّلَ</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نَسْتَخْدِمُ النَّقْلَ العَامَّ لِكَيْ </a:t>
            </a:r>
            <a:pPr rtl="1" algn="r" indent="0" marL="0">
              <a:buNone/>
            </a:pPr>
            <a:r>
              <a:rPr lang="ar-SA" altLang="en-US" sz="2000" dirty="0">
                <a:solidFill>
                  <a:srgbClr val="D6336C"/>
                </a:solidFill>
                <a:latin typeface="Amiri" pitchFamily="2" charset="-78"/>
                <a:cs typeface="Amiri" pitchFamily="2" charset="-78"/>
              </a:rPr>
              <a:t>نُقَلِّلَ</a:t>
            </a:r>
            <a:pPr rtl="1" algn="r" indent="0" marL="0">
              <a:buNone/>
            </a:pPr>
            <a:r>
              <a:rPr lang="ar-SA" altLang="en-US" sz="2000" dirty="0">
                <a:solidFill>
                  <a:srgbClr val="1F2A37"/>
                </a:solidFill>
                <a:latin typeface="Amiri" pitchFamily="2" charset="-78"/>
                <a:cs typeface="Amiri" pitchFamily="2" charset="-78"/>
              </a:rPr>
              <a:t> الانْبِعَاثَاتِ.</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We use public transport to reduce emissions.</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مِنَ الأَفْضَلِ أَنْ</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it is better to</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2" charset="-78"/>
                <a:cs typeface="Amiri" pitchFamily="2" charset="-78"/>
              </a:rPr>
              <a:t>نَسْتَعْمِلَ</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مِنَ الأَفْضَلِ أَنْ </a:t>
            </a:r>
            <a:pPr rtl="1" algn="r" indent="0" marL="0">
              <a:buNone/>
            </a:pPr>
            <a:r>
              <a:rPr lang="ar-SA" altLang="en-US" sz="2000" dirty="0">
                <a:solidFill>
                  <a:srgbClr val="D6336C"/>
                </a:solidFill>
                <a:latin typeface="Amiri" pitchFamily="2" charset="-78"/>
                <a:cs typeface="Amiri" pitchFamily="2" charset="-78"/>
              </a:rPr>
              <a:t>نَسْتَعْمِلَ</a:t>
            </a:r>
            <a:pPr rtl="1" algn="r" indent="0" marL="0">
              <a:buNone/>
            </a:pPr>
            <a:r>
              <a:rPr lang="ar-SA" altLang="en-US" sz="2000" dirty="0">
                <a:solidFill>
                  <a:srgbClr val="1F2A37"/>
                </a:solidFill>
                <a:latin typeface="Amiri" pitchFamily="2" charset="-78"/>
                <a:cs typeface="Amiri" pitchFamily="2" charset="-78"/>
              </a:rPr>
              <a:t> الدَّرَّاجَةَ.</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It is better to use a bicycle. (website game)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3 · WEBSITE RULE “OBLIGATION FOR A PERSON OR GROUP”</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must act? Responsibility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المَسْؤُولُ؟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يَجِبُ عَلَى</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must / can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D5FBF"/>
          </a:solidFill>
          <a:ln w="12700">
            <a:solidFill>
              <a:srgbClr val="1D5FB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مَنْ؟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who is responsible</a:t>
            </a:r>
            <a:endParaRPr lang="en-US" sz="900" dirty="0"/>
          </a:p>
        </p:txBody>
      </p:sp>
      <p:sp>
        <p:nvSpPr>
          <p:cNvPr id="22" name="Shape 19"/>
          <p:cNvSpPr/>
          <p:nvPr/>
        </p:nvSpPr>
        <p:spPr>
          <a:xfrm>
            <a:off x="3584448" y="1810512"/>
            <a:ext cx="2642616" cy="566928"/>
          </a:xfrm>
          <a:prstGeom prst="roundRect">
            <a:avLst>
              <a:gd name="adj" fmla="val 9677"/>
            </a:avLst>
          </a:prstGeom>
          <a:solidFill>
            <a:srgbClr val="D6336C"/>
          </a:solidFill>
          <a:ln w="12700">
            <a:solidFill>
              <a:srgbClr val="D6336C"/>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أَنْ + فِعْلٌ</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an + action (ends in -a)</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government must invest in energy.</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يَجِبُ عَلَى</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الحُكُومَةِ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BEAEA"/>
          </a:solidFill>
          <a:ln w="9525">
            <a:solidFill>
              <a:srgbClr val="FBEAEA"/>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 </a:t>
            </a:r>
            <a:pPr rtl="1" algn="ctr" indent="0" marL="0">
              <a:buNone/>
            </a:pPr>
            <a:r>
              <a:rPr lang="ar-SA" altLang="en-US" sz="2400" b="1" dirty="0">
                <a:solidFill>
                  <a:srgbClr val="D6336C"/>
                </a:solidFill>
                <a:latin typeface="Amiri" pitchFamily="2" charset="-78"/>
                <a:cs typeface="Amiri" pitchFamily="2" charset="-78"/>
              </a:rPr>
              <a:t>تَسْتَثْمِرَ</a:t>
            </a:r>
            <a:pPr rtl="1" algn="ctr" indent="0" marL="0">
              <a:buNone/>
            </a:pPr>
            <a:r>
              <a:rPr lang="ar-SA" altLang="en-US" sz="2400" b="1" dirty="0">
                <a:solidFill>
                  <a:srgbClr val="1B3B6F"/>
                </a:solidFill>
                <a:latin typeface="Amiri" pitchFamily="2" charset="-78"/>
                <a:cs typeface="Amiri" pitchFamily="2" charset="-78"/>
              </a:rPr>
              <a:t> فِي الطَّاقَةِ.</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Schools must recycle paper.</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يَجِبُ عَلَى</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المَدَارِسِ</a:t>
            </a:r>
            <a:endParaRPr lang="ar-SA" sz="2400" dirty="0"/>
          </a:p>
        </p:txBody>
      </p:sp>
      <p:sp>
        <p:nvSpPr>
          <p:cNvPr id="37" name="Shape 34"/>
          <p:cNvSpPr/>
          <p:nvPr/>
        </p:nvSpPr>
        <p:spPr>
          <a:xfrm>
            <a:off x="3584448" y="3364992"/>
            <a:ext cx="2642616" cy="768096"/>
          </a:xfrm>
          <a:prstGeom prst="roundRect">
            <a:avLst>
              <a:gd name="adj" fmla="val 7143"/>
            </a:avLst>
          </a:prstGeom>
          <a:solidFill>
            <a:srgbClr val="FBEAEA"/>
          </a:solidFill>
          <a:ln w="9525">
            <a:solidFill>
              <a:srgbClr val="FBEAEA"/>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 </a:t>
            </a:r>
            <a:pPr rtl="1" algn="ctr" indent="0" marL="0">
              <a:buNone/>
            </a:pPr>
            <a:r>
              <a:rPr lang="ar-SA" altLang="en-US" sz="2400" b="1" dirty="0">
                <a:solidFill>
                  <a:srgbClr val="D6336C"/>
                </a:solidFill>
                <a:latin typeface="Amiri" pitchFamily="2" charset="-78"/>
                <a:cs typeface="Amiri" pitchFamily="2" charset="-78"/>
              </a:rPr>
              <a:t>تُعِيدَ</a:t>
            </a:r>
            <a:pPr rtl="1" algn="ctr" indent="0" marL="0">
              <a:buNone/>
            </a:pPr>
            <a:r>
              <a:rPr lang="ar-SA" altLang="en-US" sz="2400" b="1" dirty="0">
                <a:solidFill>
                  <a:srgbClr val="1B3B6F"/>
                </a:solidFill>
                <a:latin typeface="Amiri" pitchFamily="2" charset="-78"/>
                <a:cs typeface="Amiri" pitchFamily="2" charset="-78"/>
              </a:rPr>
              <a:t> تَدْوِيرَ الوَرَقِ.</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Students must separate paper from plastic.</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يَجِبُ عَلَى</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الطُّلَّابِ</a:t>
            </a:r>
            <a:endParaRPr lang="ar-SA" sz="2400" dirty="0"/>
          </a:p>
        </p:txBody>
      </p:sp>
      <p:sp>
        <p:nvSpPr>
          <p:cNvPr id="44" name="Shape 41"/>
          <p:cNvSpPr/>
          <p:nvPr/>
        </p:nvSpPr>
        <p:spPr>
          <a:xfrm>
            <a:off x="3584448" y="4242816"/>
            <a:ext cx="2642616" cy="768096"/>
          </a:xfrm>
          <a:prstGeom prst="roundRect">
            <a:avLst>
              <a:gd name="adj" fmla="val 7143"/>
            </a:avLst>
          </a:prstGeom>
          <a:solidFill>
            <a:srgbClr val="FBEAEA"/>
          </a:solidFill>
          <a:ln w="9525">
            <a:solidFill>
              <a:srgbClr val="FBEAEA"/>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cs typeface="Amiri" pitchFamily="2" charset="-78"/>
              </a:rPr>
              <a:t>أَنْ </a:t>
            </a:r>
            <a:pPr rtl="1" algn="ctr" indent="0" marL="0">
              <a:lnSpc>
                <a:spcPct val="120000"/>
              </a:lnSpc>
              <a:buNone/>
            </a:pPr>
            <a:r>
              <a:rPr lang="ar-SA" altLang="en-US" sz="1700" b="1" dirty="0">
                <a:solidFill>
                  <a:srgbClr val="D6336C"/>
                </a:solidFill>
                <a:latin typeface="Amiri" pitchFamily="2" charset="-78"/>
                <a:cs typeface="Amiri" pitchFamily="2" charset="-78"/>
              </a:rPr>
              <a:t>يَفْصِلُوا</a:t>
            </a:r>
            <a:pPr rtl="1" algn="ctr" indent="0" marL="0">
              <a:lnSpc>
                <a:spcPct val="120000"/>
              </a:lnSpc>
              <a:buNone/>
            </a:pPr>
            <a:r>
              <a:rPr lang="ar-SA" altLang="en-US" sz="1700" b="1" dirty="0">
                <a:solidFill>
                  <a:srgbClr val="1B3B6F"/>
                </a:solidFill>
                <a:latin typeface="Amiri" pitchFamily="2" charset="-78"/>
                <a:cs typeface="Amiri" pitchFamily="2" charset="-78"/>
              </a:rPr>
              <a:t> الوَرَقَ عَنِ البِلَاسْتِيكِ.</a:t>
            </a:r>
            <a:endParaRPr lang="ar-SA" sz="17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Families can save water.</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يُمْكِنُ</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لِلأُسَرِ</a:t>
            </a:r>
            <a:endParaRPr lang="ar-SA" sz="2400" dirty="0"/>
          </a:p>
        </p:txBody>
      </p:sp>
      <p:sp>
        <p:nvSpPr>
          <p:cNvPr id="51" name="Shape 48"/>
          <p:cNvSpPr/>
          <p:nvPr/>
        </p:nvSpPr>
        <p:spPr>
          <a:xfrm>
            <a:off x="3584448" y="5120640"/>
            <a:ext cx="2642616" cy="768096"/>
          </a:xfrm>
          <a:prstGeom prst="roundRect">
            <a:avLst>
              <a:gd name="adj" fmla="val 7143"/>
            </a:avLst>
          </a:prstGeom>
          <a:solidFill>
            <a:srgbClr val="FBEAEA"/>
          </a:solidFill>
          <a:ln w="9525">
            <a:solidFill>
              <a:srgbClr val="FBEAEA"/>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 </a:t>
            </a:r>
            <a:pPr rtl="1" algn="ctr" indent="0" marL="0">
              <a:buNone/>
            </a:pPr>
            <a:r>
              <a:rPr lang="ar-SA" altLang="en-US" sz="2400" b="1" dirty="0">
                <a:solidFill>
                  <a:srgbClr val="D6336C"/>
                </a:solidFill>
                <a:latin typeface="Amiri" pitchFamily="2" charset="-78"/>
                <a:cs typeface="Amiri" pitchFamily="2" charset="-78"/>
              </a:rPr>
              <a:t>تُرَشِّدَ</a:t>
            </a:r>
            <a:pPr rtl="1" algn="ctr" indent="0" marL="0">
              <a:buNone/>
            </a:pPr>
            <a:r>
              <a:rPr lang="ar-SA" altLang="en-US" sz="2400" b="1" dirty="0">
                <a:solidFill>
                  <a:srgbClr val="1B3B6F"/>
                </a:solidFill>
                <a:latin typeface="Amiri" pitchFamily="2" charset="-78"/>
                <a:cs typeface="Amiri" pitchFamily="2" charset="-78"/>
              </a:rPr>
              <a:t> المَاءَ.</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Name who is responsible after </a:t>
            </a:r>
            <a:pPr algn="l" indent="0" marL="0">
              <a:buNone/>
            </a:pPr>
            <a:r>
              <a:rPr lang="ar-SA" altLang="en-US" sz="1550" b="1" dirty="0">
                <a:solidFill>
                  <a:srgbClr val="8A6D1E"/>
                </a:solidFill>
                <a:latin typeface="Amiri" pitchFamily="2" charset="-78"/>
                <a:cs typeface="Amiri" pitchFamily="2" charset="-78"/>
              </a:rPr>
              <a:t>عَلَى</a:t>
            </a:r>
            <a:pPr algn="l" indent="0" marL="0">
              <a:buNone/>
            </a:pPr>
            <a:r>
              <a:rPr lang="en-US" sz="1200" b="1" dirty="0">
                <a:solidFill>
                  <a:srgbClr val="8A6D1E"/>
                </a:solidFill>
                <a:latin typeface="Calibri" pitchFamily="34" charset="0"/>
                <a:cs typeface="Amiri" pitchFamily="2" charset="-78"/>
              </a:rPr>
              <a:t>: </a:t>
            </a:r>
            <a:pPr algn="l" indent="0" marL="0">
              <a:buNone/>
            </a:pPr>
            <a:r>
              <a:rPr lang="ar-SA" altLang="en-US" sz="1550" b="1" dirty="0">
                <a:solidFill>
                  <a:srgbClr val="8A6D1E"/>
                </a:solidFill>
                <a:latin typeface="Amiri" pitchFamily="2" charset="-78"/>
                <a:cs typeface="Amiri" pitchFamily="2" charset="-78"/>
              </a:rPr>
              <a:t>يَجِبُ عَلَى</a:t>
            </a:r>
            <a:pPr algn="l" indent="0" marL="0">
              <a:buNone/>
            </a:pPr>
            <a:r>
              <a:rPr lang="en-US" sz="1200" b="1" dirty="0">
                <a:solidFill>
                  <a:srgbClr val="8A6D1E"/>
                </a:solidFill>
                <a:latin typeface="Calibri" pitchFamily="34" charset="0"/>
                <a:cs typeface="Amiri" pitchFamily="2" charset="-78"/>
              </a:rPr>
              <a:t> + person / group + </a:t>
            </a:r>
            <a:pPr algn="l" indent="0" marL="0">
              <a:buNone/>
            </a:pPr>
            <a:r>
              <a:rPr lang="ar-SA" altLang="en-US" sz="1550" b="1" dirty="0">
                <a:solidFill>
                  <a:srgbClr val="8A6D1E"/>
                </a:solidFill>
                <a:latin typeface="Amiri" pitchFamily="2" charset="-78"/>
                <a:cs typeface="Amiri" pitchFamily="2" charset="-78"/>
              </a:rPr>
              <a:t>أَنْ</a:t>
            </a:r>
            <a:pPr algn="l" indent="0" marL="0">
              <a:buNone/>
            </a:pPr>
            <a:r>
              <a:rPr lang="en-US" sz="1200" b="1" dirty="0">
                <a:solidFill>
                  <a:srgbClr val="8A6D1E"/>
                </a:solidFill>
                <a:latin typeface="Calibri" pitchFamily="34" charset="0"/>
                <a:cs typeface="Amiri" pitchFamily="2" charset="-78"/>
              </a:rPr>
              <a:t> + verb (</a:t>
            </a:r>
            <a:pPr algn="l" indent="0" marL="0">
              <a:buNone/>
            </a:pPr>
            <a:r>
              <a:rPr lang="ar-SA" altLang="en-US" sz="1550" b="1" dirty="0">
                <a:solidFill>
                  <a:srgbClr val="8A6D1E"/>
                </a:solidFill>
                <a:latin typeface="Amiri" pitchFamily="2" charset="-78"/>
                <a:cs typeface="Amiri" pitchFamily="2" charset="-78"/>
              </a:rPr>
              <a:t>ـَ</a:t>
            </a:r>
            <a:pPr algn="l" indent="0" marL="0">
              <a:buNone/>
            </a:pPr>
            <a:r>
              <a:rPr lang="en-US" sz="1200" b="1" dirty="0">
                <a:solidFill>
                  <a:srgbClr val="8A6D1E"/>
                </a:solidFill>
                <a:latin typeface="Calibri" pitchFamily="34" charset="0"/>
                <a:cs typeface="Amiri" pitchFamily="2" charset="-78"/>
              </a:rPr>
              <a:t>)</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Fatḥa or no </a:t>
            </a:r>
            <a:pPr algn="l" indent="0" marL="0">
              <a:buNone/>
            </a:pPr>
            <a:r>
              <a:rPr lang="ar-SA" altLang="en-US" sz="3650" b="1" dirty="0">
                <a:solidFill>
                  <a:srgbClr val="1B3B6F"/>
                </a:solidFill>
                <a:latin typeface="Amiri" pitchFamily="2" charset="-78"/>
                <a:cs typeface="Amiri" pitchFamily="2" charset="-78"/>
              </a:rPr>
              <a:t>ن</a:t>
            </a:r>
            <a:pPr algn="l" indent="0" marL="0">
              <a:buNone/>
            </a:pPr>
            <a:r>
              <a:rPr lang="en-US" sz="2800" b="1" dirty="0">
                <a:solidFill>
                  <a:srgbClr val="1B3B6F"/>
                </a:solidFill>
                <a:latin typeface="Cambria" pitchFamily="34" charset="0"/>
                <a:cs typeface="Amiri" pitchFamily="2" charset="-78"/>
              </a:rPr>
              <a:t>? And “if”</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المَنْصُوبُ وَالشَّرْطُ</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150876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MOST VERBS · fatḥa</a:t>
            </a:r>
            <a:endParaRPr lang="en-US" sz="850" dirty="0"/>
          </a:p>
        </p:txBody>
      </p:sp>
      <p:sp>
        <p:nvSpPr>
          <p:cNvPr id="20" name="Text 17"/>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أَنْ نُقَلِّلَ</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يَنْبَغِي أَنْ نُقَلِّلَ النُّفَايَاتِ</a:t>
            </a:r>
            <a:endParaRPr lang="ar-SA" sz="30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should reduce waste.</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Most verbs: final </a:t>
            </a:r>
            <a:pPr algn="l" indent="0" marL="0">
              <a:buNone/>
            </a:pPr>
            <a:r>
              <a:rPr lang="ar-SA" altLang="en-US" sz="1450" dirty="0">
                <a:solidFill>
                  <a:srgbClr val="1F2A37"/>
                </a:solidFill>
                <a:latin typeface="Amiri" pitchFamily="2" charset="-78"/>
                <a:cs typeface="Amiri" pitchFamily="2" charset="-78"/>
              </a:rPr>
              <a:t>ـُ</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cs typeface="Amiri" pitchFamily="2" charset="-78"/>
              </a:rPr>
              <a:t>ـَ</a:t>
            </a:r>
            <a:pPr algn="l" indent="0" marL="0">
              <a:buNone/>
            </a:pPr>
            <a:r>
              <a:rPr lang="en-US" sz="1100" dirty="0">
                <a:solidFill>
                  <a:srgbClr val="1F2A37"/>
                </a:solidFill>
                <a:latin typeface="Calibri" pitchFamily="34" charset="0"/>
                <a:cs typeface="Amiri" pitchFamily="2" charset="-78"/>
              </a:rPr>
              <a:t>. They do NOT lose a </a:t>
            </a:r>
            <a:pPr algn="l" indent="0" marL="0">
              <a:buNone/>
            </a:pPr>
            <a:r>
              <a:rPr lang="ar-SA" altLang="en-US" sz="1450" dirty="0">
                <a:solidFill>
                  <a:srgbClr val="1F2A37"/>
                </a:solidFill>
                <a:latin typeface="Amiri" pitchFamily="2" charset="-78"/>
                <a:cs typeface="Amiri" pitchFamily="2" charset="-78"/>
              </a:rPr>
              <a:t>ن</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FIVE VERBS · drop ن</a:t>
            </a:r>
            <a:endParaRPr lang="en-US" sz="850" dirty="0"/>
          </a:p>
        </p:txBody>
      </p:sp>
      <p:sp>
        <p:nvSpPr>
          <p:cNvPr id="28" name="Text 25"/>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أَنْ يُعِيدُوا</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يَجِبُ عَلَى النَّاسِ أَنْ يُعِيدُوا التَّدْوِيرَ</a:t>
            </a:r>
            <a:endParaRPr lang="ar-SA" sz="210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People must recycle.</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Only the five verbs lose their </a:t>
            </a:r>
            <a:pPr algn="l" indent="0" marL="0">
              <a:buNone/>
            </a:pPr>
            <a:r>
              <a:rPr lang="ar-SA" altLang="en-US" sz="1450" dirty="0">
                <a:solidFill>
                  <a:srgbClr val="1F2A37"/>
                </a:solidFill>
                <a:latin typeface="Amiri" pitchFamily="2" charset="-78"/>
                <a:cs typeface="Amiri" pitchFamily="2" charset="-78"/>
              </a:rPr>
              <a:t>ن</a:t>
            </a:r>
            <a:pPr algn="l" indent="0" marL="0">
              <a:buNone/>
            </a:pPr>
            <a:r>
              <a:rPr lang="en-US" sz="1100" dirty="0">
                <a:solidFill>
                  <a:srgbClr val="1F2A37"/>
                </a:solidFill>
                <a:latin typeface="Calibri" pitchFamily="34" charset="0"/>
                <a:cs typeface="Amiri" pitchFamily="2" charset="-78"/>
              </a:rPr>
              <a:t>: </a:t>
            </a:r>
            <a:pPr algn="l" indent="0" marL="0">
              <a:buNone/>
            </a:pPr>
            <a:r>
              <a:rPr lang="ar-SA" altLang="en-US" sz="1450" dirty="0">
                <a:solidFill>
                  <a:srgbClr val="1F2A37"/>
                </a:solidFill>
                <a:latin typeface="Amiri" pitchFamily="2" charset="-78"/>
                <a:cs typeface="Amiri" pitchFamily="2" charset="-78"/>
              </a:rPr>
              <a:t>يُعِيدُونَ</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cs typeface="Amiri" pitchFamily="2" charset="-78"/>
              </a:rPr>
              <a:t>أَنْ يُعِيدُوا</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1645920" cy="274320"/>
          </a:xfrm>
          <a:prstGeom prst="roundRect">
            <a:avLst>
              <a:gd name="adj" fmla="val 50000"/>
            </a:avLst>
          </a:prstGeom>
          <a:solidFill>
            <a:srgbClr val="B83227"/>
          </a:solidFill>
          <a:ln w="12700">
            <a:solidFill>
              <a:srgbClr val="B83227"/>
            </a:solidFill>
            <a:prstDash val="solid"/>
          </a:ln>
        </p:spPr>
      </p:sp>
      <p:sp>
        <p:nvSpPr>
          <p:cNvPr id="35" name="Text 32"/>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IF · TYPE 1 (TC-L02)</a:t>
            </a:r>
            <a:endParaRPr lang="en-US" sz="850" dirty="0"/>
          </a:p>
        </p:txBody>
      </p:sp>
      <p:sp>
        <p:nvSpPr>
          <p:cNvPr id="36" name="Text 33"/>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سَـ</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إِذَا أَعَدْنَا التَّدْوِيرَ، سَنُقَلِّلُ النُّفَايَاتِ</a:t>
            </a:r>
            <a:endParaRPr lang="ar-SA" sz="21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we recycle, we will reduce waste.</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Topic C focus: a real result with </a:t>
            </a:r>
            <a:pPr algn="l" indent="0" marL="0">
              <a:buNone/>
            </a:pPr>
            <a:r>
              <a:rPr lang="ar-SA" altLang="en-US" sz="1450" dirty="0">
                <a:solidFill>
                  <a:srgbClr val="1F2A37"/>
                </a:solidFill>
                <a:latin typeface="Amiri" pitchFamily="2" charset="-78"/>
                <a:cs typeface="Amiri" pitchFamily="2" charset="-78"/>
              </a:rPr>
              <a:t>إِذَا</a:t>
            </a:r>
            <a:pPr algn="l" indent="0" marL="0">
              <a:buNone/>
            </a:pPr>
            <a:r>
              <a:rPr lang="en-US" sz="1100" dirty="0">
                <a:solidFill>
                  <a:srgbClr val="1F2A37"/>
                </a:solidFill>
                <a:latin typeface="Calibri" pitchFamily="34" charset="0"/>
                <a:cs typeface="Amiri" pitchFamily="2" charset="-78"/>
              </a:rPr>
              <a:t> + past → </a:t>
            </a:r>
            <a:pPr algn="l" indent="0" marL="0">
              <a:buNone/>
            </a:pPr>
            <a:r>
              <a:rPr lang="ar-SA" altLang="en-US" sz="1450" dirty="0">
                <a:solidFill>
                  <a:srgbClr val="1F2A37"/>
                </a:solidFill>
                <a:latin typeface="Amiri" pitchFamily="2" charset="-78"/>
                <a:cs typeface="Amiri" pitchFamily="2" charset="-78"/>
              </a:rPr>
              <a:t>سَـ</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Do not say that every subjunctive verb “loses nūn”.</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 نُقَلِّلَ</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أَنْ نُقَلِّلُ</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 يُعِيدُوا</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أَنْ يُعِيدُونَ</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Advice with </a:t>
            </a:r>
            <a:pPr algn="l" indent="0" marL="0">
              <a:buNone/>
            </a:pPr>
            <a:r>
              <a:rPr lang="ar-SA" altLang="en-US" sz="1650" b="1" dirty="0">
                <a:solidFill>
                  <a:srgbClr val="1B3B6F"/>
                </a:solidFill>
                <a:latin typeface="Amiri" pitchFamily="2" charset="-78"/>
                <a:cs typeface="Amiri" pitchFamily="2" charset="-78"/>
              </a:rPr>
              <a:t>يَنْبَغِي أَنْ</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يَنْبَغِي أَنْ</a:t>
            </a:r>
            <a:pPr algn="l" indent="0" marL="0">
              <a:buNone/>
            </a:pPr>
            <a:r>
              <a:rPr lang="en-US" sz="1050" dirty="0">
                <a:solidFill>
                  <a:srgbClr val="5A6472"/>
                </a:solidFill>
                <a:latin typeface="Calibri" pitchFamily="34" charset="0"/>
                <a:cs typeface="Amiri" pitchFamily="2" charset="-78"/>
              </a:rPr>
              <a:t> + subjunctive present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يَنْبَغِي أَنْ نُقَلِّلَ اسْتِخْدَامَ البِلَاسْتِيكِ.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Obligation for a person or group</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يَجِبُ عَلَى</a:t>
            </a:r>
            <a:pPr algn="l" indent="0" marL="0">
              <a:buNone/>
            </a:pPr>
            <a:r>
              <a:rPr lang="en-US" sz="1050" dirty="0">
                <a:solidFill>
                  <a:srgbClr val="5A6472"/>
                </a:solidFill>
                <a:latin typeface="Calibri" pitchFamily="34" charset="0"/>
                <a:cs typeface="Amiri" pitchFamily="2" charset="-78"/>
              </a:rPr>
              <a:t> + noun + </a:t>
            </a:r>
            <a:pPr algn="l" indent="0" marL="0">
              <a:buNone/>
            </a:pPr>
            <a:r>
              <a:rPr lang="ar-SA" altLang="en-US" sz="1350" dirty="0">
                <a:solidFill>
                  <a:srgbClr val="5A6472"/>
                </a:solidFill>
                <a:latin typeface="Amiri" pitchFamily="2" charset="-78"/>
                <a:cs typeface="Amiri" pitchFamily="2" charset="-78"/>
              </a:rPr>
              <a:t>أَنْ</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يَجِبُ عَلَى الحُكُومَةِ أَنْ تَسْتَثْمِرَ فِي الطَّاقَةِ المُتَجَدِّدَةِ.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Purpose with </a:t>
            </a:r>
            <a:pPr algn="l" indent="0" marL="0">
              <a:buNone/>
            </a:pPr>
            <a:r>
              <a:rPr lang="ar-SA" altLang="en-US" sz="1650" b="1" dirty="0">
                <a:solidFill>
                  <a:srgbClr val="1B3B6F"/>
                </a:solidFill>
                <a:latin typeface="Amiri" pitchFamily="2" charset="-78"/>
                <a:cs typeface="Amiri" pitchFamily="2" charset="-78"/>
              </a:rPr>
              <a:t>لِكَيْ</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action + </a:t>
            </a:r>
            <a:pPr algn="l" indent="0" marL="0">
              <a:buNone/>
            </a:pPr>
            <a:r>
              <a:rPr lang="ar-SA" altLang="en-US" sz="1350" dirty="0">
                <a:solidFill>
                  <a:srgbClr val="5A6472"/>
                </a:solidFill>
                <a:latin typeface="Amiri" pitchFamily="2" charset="-78"/>
                <a:cs typeface="Amiri" pitchFamily="2" charset="-78"/>
              </a:rPr>
              <a:t>لِكَيْ</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نَسْتَخْدِمُ النَّقْلَ العَامَّ لِكَيْ نُقَلِّلَ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The five verbs after </a:t>
            </a:r>
            <a:pPr algn="l" indent="0" marL="0">
              <a:buNone/>
            </a:pPr>
            <a:r>
              <a:rPr lang="ar-SA" altLang="en-US" sz="1650" b="1" dirty="0">
                <a:solidFill>
                  <a:srgbClr val="1B3B6F"/>
                </a:solidFill>
                <a:latin typeface="Amiri" pitchFamily="2" charset="-78"/>
                <a:cs typeface="Amiri" pitchFamily="2" charset="-78"/>
              </a:rPr>
              <a:t>أَنْ</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أَنْ</a:t>
            </a:r>
            <a:pPr algn="l" indent="0" marL="0">
              <a:buNone/>
            </a:pPr>
            <a:r>
              <a:rPr lang="en-US" sz="1050" dirty="0">
                <a:solidFill>
                  <a:srgbClr val="5A6472"/>
                </a:solidFill>
                <a:latin typeface="Calibri" pitchFamily="34" charset="0"/>
                <a:cs typeface="Amiri" pitchFamily="2" charset="-78"/>
              </a:rPr>
              <a:t> + one of the five verbs → nūn is omitted</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يَجِبُ عَلَى النَّاسِ أَنْ يُعِيدُوا التَّدْوِيرَ.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advice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نُقَلِّلُ اسْتِخْدَامَ البِلَاسْتِيكِ.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نُقَلِّلَ اسْتِخْدَامَ البِلَاسْتِيكِ.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نُقَلِّلَ اسْتِخْدَامَ البِلَاسْتِيكِ.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obligation.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عَلَى الحُكُومَةِ أَنْ تَحْمِيَ الغَابَاتِ.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الحُكُومَةُ تَحْمِي الغَابَاتِ.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عَلَى الحُكُومَةِ تَحْمِيُ الغَابَاتِ.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purpose sentence.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نَزْرَعُ الأَشْجَارَ لِكَيْ نُحَسِّنُ جَوْدَةَ الهَوَاءِ.</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نَزْرَعُ الأَشْجَارَ لِكَيْ نُحَسِّنَ جَوْدَةَ الهَوَاءِ.</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نَزْرَعُ الأَشْجَارَ لِكَيْ تَحْسِينُ الهَوَاءِ.</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أَنْ نَسْتَخْدِمَ الطَّاقَةَ الشَّمْسِيَّةَ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يُمْكِنُ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advice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 نُقَلِّلُ اسْتِخْدَامَ البِلَاسْتِيكِ.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نُقَلِّلَ اسْتِخْدَامَ البِلَاسْتِيكِ.</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يَنْبَغِي أَنْ نُقَلِّلَ اسْتِخْدَامَ البِلَاسْتِيكِ.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نُقَلِّلُ</a:t>
            </a:r>
            <a:pPr algn="l" indent="0" marL="0">
              <a:buNone/>
            </a:pPr>
            <a:r>
              <a:rPr lang="en-US" sz="1050" i="1" dirty="0">
                <a:solidFill>
                  <a:srgbClr val="8A6D1E"/>
                </a:solidFill>
                <a:latin typeface="Calibri" pitchFamily="34" charset="0"/>
                <a:cs typeface="Amiri" pitchFamily="2" charset="-78"/>
              </a:rPr>
              <a:t> becomes </a:t>
            </a:r>
            <a:pPr algn="l" indent="0" marL="0">
              <a:buNone/>
            </a:pPr>
            <a:r>
              <a:rPr lang="ar-SA" altLang="en-US" sz="1350" dirty="0">
                <a:solidFill>
                  <a:srgbClr val="8A6D1E"/>
                </a:solidFill>
                <a:latin typeface="Amiri" pitchFamily="2" charset="-78"/>
                <a:cs typeface="Amiri" pitchFamily="2" charset="-78"/>
              </a:rPr>
              <a:t>نُقَلِّلَ</a:t>
            </a:r>
            <a:pPr algn="l" indent="0" marL="0">
              <a:buNone/>
            </a:pPr>
            <a:r>
              <a:rPr lang="en-US" sz="1050" i="1" dirty="0">
                <a:solidFill>
                  <a:srgbClr val="8A6D1E"/>
                </a:solidFill>
                <a:latin typeface="Calibri" pitchFamily="34" charset="0"/>
                <a:cs typeface="Amiri" pitchFamily="2" charset="-78"/>
              </a:rPr>
              <a:t> with final fatḥa.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obligation.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عَلَى الحُكُومَةِ أَنْ تَحْمِيَ الغَابَاتِ.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الحُكُومَةُ تَحْمِي الغَابَاتِ.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عَلَى الحُكُومَةِ تَحْمِيُ الغَابَاتِ.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pattern is </a:t>
            </a:r>
            <a:pPr algn="l" indent="0" marL="0">
              <a:buNone/>
            </a:pPr>
            <a:r>
              <a:rPr lang="ar-SA" altLang="en-US" sz="1350" dirty="0">
                <a:solidFill>
                  <a:srgbClr val="8A6D1E"/>
                </a:solidFill>
                <a:latin typeface="Amiri" pitchFamily="2" charset="-78"/>
                <a:cs typeface="Amiri" pitchFamily="2" charset="-78"/>
              </a:rPr>
              <a:t>يجب على</a:t>
            </a:r>
            <a:pPr algn="l" indent="0" marL="0">
              <a:buNone/>
            </a:pPr>
            <a:r>
              <a:rPr lang="en-US" sz="1050" i="1" dirty="0">
                <a:solidFill>
                  <a:srgbClr val="8A6D1E"/>
                </a:solidFill>
                <a:latin typeface="Calibri" pitchFamily="34" charset="0"/>
                <a:cs typeface="Amiri" pitchFamily="2" charset="-78"/>
              </a:rPr>
              <a:t> + noun +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subjunctive.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purpose sentence.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نَزْرَعُ الأَشْجَارَ لِكَيْ نُحَسِّنُ جَوْدَةَ الهَوَاءِ.</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نَزْرَعُ الأَشْجَارَ لِكَيْ نُحَسِّنَ جَوْدَةَ الهَوَاءِ.</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نَزْرَعُ الأَشْجَارَ لِكَيْ تَحْسِينُ الهَوَاءِ.</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sound-ending verb is subjunctive: </a:t>
            </a:r>
            <a:pPr algn="l" indent="0" marL="0">
              <a:buNone/>
            </a:pPr>
            <a:r>
              <a:rPr lang="ar-SA" altLang="en-US" sz="1350" dirty="0">
                <a:solidFill>
                  <a:srgbClr val="8A6D1E"/>
                </a:solidFill>
                <a:latin typeface="Amiri" pitchFamily="2" charset="-78"/>
                <a:cs typeface="Amiri" pitchFamily="2" charset="-78"/>
              </a:rPr>
              <a:t>نحسنَ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أَنْ نَسْتَخْدِمَ الطَّاقَةَ الشَّمْسِيَّةَ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يُمْكِنُ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يُؤَدِّي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يَتَّسِمُ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يمكن أن</a:t>
            </a:r>
            <a:pPr algn="l" indent="0" marL="0">
              <a:buNone/>
            </a:pPr>
            <a:r>
              <a:rPr lang="en-US" sz="1050" i="1" dirty="0">
                <a:solidFill>
                  <a:srgbClr val="8A6D1E"/>
                </a:solidFill>
                <a:latin typeface="Calibri" pitchFamily="34" charset="0"/>
                <a:cs typeface="Amiri" pitchFamily="2" charset="-78"/>
              </a:rPr>
              <a:t> means it is possible to.</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propose a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 the 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تَزْدَادُ النُّفَايَاتُ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problem first (TC-L04). </a:t>
            </a:r>
            <a:pPr algn="l" indent="0" marL="0">
              <a:buNone/>
            </a:pPr>
            <a:r>
              <a:rPr lang="ar-SA" altLang="en-US" sz="1500" dirty="0">
                <a:solidFill>
                  <a:srgbClr val="1F2A37"/>
                </a:solidFill>
                <a:latin typeface="Amiri" pitchFamily="2" charset="-78"/>
                <a:cs typeface="Amiri" pitchFamily="2" charset="-78"/>
              </a:rPr>
              <a:t>تَزْدَادُ</a:t>
            </a:r>
            <a:pPr algn="l" indent="0" marL="0">
              <a:buNone/>
            </a:pPr>
            <a:r>
              <a:rPr lang="en-US" sz="1150" dirty="0">
                <a:solidFill>
                  <a:srgbClr val="1F2A37"/>
                </a:solidFill>
                <a:latin typeface="Calibri" pitchFamily="34" charset="0"/>
                <a:cs typeface="Amiri" pitchFamily="2" charset="-78"/>
              </a:rPr>
              <a:t> = is increasing.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Give advice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0E7C86"/>
                </a:solidFill>
                <a:latin typeface="Amiri" pitchFamily="2" charset="-78"/>
                <a:cs typeface="Amiri" pitchFamily="2" charset="-78"/>
              </a:rPr>
              <a:t>يَنْبَغِي أَنْ</a:t>
            </a:r>
            <a:pPr rtl="1" algn="ctr" indent="0" marL="0">
              <a:buNone/>
            </a:pPr>
            <a:r>
              <a:rPr lang="ar-SA" altLang="en-US" sz="2300" b="1" dirty="0">
                <a:solidFill>
                  <a:srgbClr val="1B3B6F"/>
                </a:solidFill>
                <a:latin typeface="Amiri" pitchFamily="2" charset="-78"/>
                <a:cs typeface="Amiri" pitchFamily="2" charset="-78"/>
              </a:rPr>
              <a:t> </a:t>
            </a:r>
            <a:pPr rtl="1" algn="ctr" indent="0" marL="0">
              <a:buNone/>
            </a:pPr>
            <a:r>
              <a:rPr lang="ar-SA" altLang="en-US" sz="2300" b="1" dirty="0">
                <a:solidFill>
                  <a:srgbClr val="D6336C"/>
                </a:solidFill>
                <a:latin typeface="Amiri" pitchFamily="2" charset="-78"/>
                <a:cs typeface="Amiri" pitchFamily="2" charset="-78"/>
              </a:rPr>
              <a:t>نُعِيدَ</a:t>
            </a:r>
            <a:pPr rtl="1" algn="ctr" indent="0" marL="0">
              <a:buNone/>
            </a:pPr>
            <a:r>
              <a:rPr lang="ar-SA" altLang="en-US" sz="2300" b="1" dirty="0">
                <a:solidFill>
                  <a:srgbClr val="1B3B6F"/>
                </a:solidFill>
                <a:latin typeface="Amiri" pitchFamily="2" charset="-78"/>
                <a:cs typeface="Amiri" pitchFamily="2" charset="-78"/>
              </a:rPr>
              <a:t> التَّدْوِيرَ</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Advice word + we-verb with fatḥa: </a:t>
            </a:r>
            <a:pPr algn="l" indent="0" marL="0">
              <a:buNone/>
            </a:pPr>
            <a:r>
              <a:rPr lang="ar-SA" altLang="en-US" sz="1500" dirty="0">
                <a:solidFill>
                  <a:srgbClr val="1F2A37"/>
                </a:solidFill>
                <a:latin typeface="Amiri" pitchFamily="2" charset="-78"/>
                <a:cs typeface="Amiri" pitchFamily="2" charset="-78"/>
              </a:rPr>
              <a:t>نُعِيدُ</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cs typeface="Amiri" pitchFamily="2" charset="-78"/>
              </a:rPr>
              <a:t>نُعِيدَ</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Who is responsible?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يَجِبُ عَلَى</a:t>
            </a:r>
            <a:pPr rtl="1" algn="ctr" indent="0" marL="0">
              <a:lnSpc>
                <a:spcPct val="120000"/>
              </a:lnSpc>
              <a:buNone/>
            </a:pPr>
            <a:r>
              <a:rPr lang="ar-SA" altLang="en-US" sz="1750" b="1" dirty="0">
                <a:solidFill>
                  <a:srgbClr val="1B3B6F"/>
                </a:solidFill>
                <a:latin typeface="Amiri" pitchFamily="2" charset="-78"/>
                <a:cs typeface="Amiri" pitchFamily="2" charset="-78"/>
              </a:rPr>
              <a:t> المَدْرَسَةِ أَنْ </a:t>
            </a:r>
            <a:pPr rtl="1" algn="ctr" indent="0" marL="0">
              <a:lnSpc>
                <a:spcPct val="120000"/>
              </a:lnSpc>
              <a:buNone/>
            </a:pPr>
            <a:r>
              <a:rPr lang="ar-SA" altLang="en-US" sz="1750" b="1" dirty="0">
                <a:solidFill>
                  <a:srgbClr val="D6336C"/>
                </a:solidFill>
                <a:latin typeface="Amiri" pitchFamily="2" charset="-78"/>
                <a:cs typeface="Amiri" pitchFamily="2" charset="-78"/>
              </a:rPr>
              <a:t>تَضَعَ</a:t>
            </a:r>
            <a:pPr rtl="1" algn="ctr" indent="0" marL="0">
              <a:lnSpc>
                <a:spcPct val="120000"/>
              </a:lnSpc>
              <a:buNone/>
            </a:pPr>
            <a:r>
              <a:rPr lang="ar-SA" altLang="en-US" sz="1750" b="1" dirty="0">
                <a:solidFill>
                  <a:srgbClr val="1B3B6F"/>
                </a:solidFill>
                <a:latin typeface="Amiri" pitchFamily="2" charset="-78"/>
                <a:cs typeface="Amiri" pitchFamily="2" charset="-78"/>
              </a:rPr>
              <a:t> حَاوِيَاتٍ</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cs typeface="Amiri" pitchFamily="2" charset="-78"/>
              </a:rPr>
              <a:t>عَلَى</a:t>
            </a:r>
            <a:pPr algn="l" indent="0" marL="0">
              <a:buNone/>
            </a:pPr>
            <a:r>
              <a:rPr lang="en-US" sz="1150" dirty="0">
                <a:solidFill>
                  <a:srgbClr val="1F2A37"/>
                </a:solidFill>
                <a:latin typeface="Calibri" pitchFamily="34" charset="0"/>
                <a:cs typeface="Amiri" pitchFamily="2" charset="-78"/>
              </a:rPr>
              <a:t> + who. </a:t>
            </a:r>
            <a:pPr algn="l" indent="0" marL="0">
              <a:buNone/>
            </a:pPr>
            <a:r>
              <a:rPr lang="ar-SA" altLang="en-US" sz="1500" dirty="0">
                <a:solidFill>
                  <a:srgbClr val="1F2A37"/>
                </a:solidFill>
                <a:latin typeface="Amiri" pitchFamily="2" charset="-78"/>
                <a:cs typeface="Amiri" pitchFamily="2" charset="-78"/>
              </a:rPr>
              <a:t>تَضَعَ</a:t>
            </a:r>
            <a:pPr algn="l" indent="0" marL="0">
              <a:buNone/>
            </a:pPr>
            <a:r>
              <a:rPr lang="en-US" sz="1150" dirty="0">
                <a:solidFill>
                  <a:srgbClr val="1F2A37"/>
                </a:solidFill>
                <a:latin typeface="Calibri" pitchFamily="34" charset="0"/>
                <a:cs typeface="Amiri" pitchFamily="2" charset="-78"/>
              </a:rPr>
              <a:t>: she-verb for </a:t>
            </a:r>
            <a:pPr algn="l" indent="0" marL="0">
              <a:buNone/>
            </a:pPr>
            <a:r>
              <a:rPr lang="ar-SA" altLang="en-US" sz="1500" dirty="0">
                <a:solidFill>
                  <a:srgbClr val="1F2A37"/>
                </a:solidFill>
                <a:latin typeface="Amiri" pitchFamily="2" charset="-78"/>
                <a:cs typeface="Amiri" pitchFamily="2" charset="-78"/>
              </a:rPr>
              <a:t>المَدْرَسَة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Why? The purpose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لِكَيْ</a:t>
            </a:r>
            <a:pPr rtl="1" algn="ctr" indent="0" marL="0">
              <a:buNone/>
            </a:pPr>
            <a:r>
              <a:rPr lang="ar-SA" altLang="en-US" sz="2800" b="1" dirty="0">
                <a:solidFill>
                  <a:srgbClr val="1B3B6F"/>
                </a:solidFill>
                <a:latin typeface="Amiri" pitchFamily="2" charset="-78"/>
                <a:cs typeface="Amiri" pitchFamily="2" charset="-78"/>
              </a:rPr>
              <a:t> </a:t>
            </a:r>
            <a:pPr rtl="1" algn="ctr" indent="0" marL="0">
              <a:buNone/>
            </a:pPr>
            <a:r>
              <a:rPr lang="ar-SA" altLang="en-US" sz="2800" b="1" dirty="0">
                <a:solidFill>
                  <a:srgbClr val="D6336C"/>
                </a:solidFill>
                <a:latin typeface="Amiri" pitchFamily="2" charset="-78"/>
                <a:cs typeface="Amiri" pitchFamily="2" charset="-78"/>
              </a:rPr>
              <a:t>نُقَلِّلَ</a:t>
            </a:r>
            <a:pPr rtl="1" algn="ctr" indent="0" marL="0">
              <a:buNone/>
            </a:pPr>
            <a:r>
              <a:rPr lang="ar-SA" altLang="en-US" sz="2800" b="1" dirty="0">
                <a:solidFill>
                  <a:srgbClr val="1B3B6F"/>
                </a:solidFill>
                <a:latin typeface="Amiri" pitchFamily="2" charset="-78"/>
                <a:cs typeface="Amiri" pitchFamily="2" charset="-78"/>
              </a:rPr>
              <a:t> النُّفَايَاتِ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 + fatḥa again.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ADVICE WORD</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 ENDS -a</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300" b="1" dirty="0">
                <a:solidFill>
                  <a:srgbClr val="1B3B6F"/>
                </a:solidFill>
                <a:latin typeface="Amiri" pitchFamily="2" charset="-78"/>
                <a:cs typeface="Amiri" pitchFamily="2" charset="-78"/>
              </a:rPr>
              <a:t>تَزْدَادُ النُّفَايَاتُ، لِذٰلِكَ </a:t>
            </a:r>
            <a:pPr rtl="1" algn="r" indent="0" marL="0">
              <a:buNone/>
            </a:pPr>
            <a:r>
              <a:rPr lang="ar-SA" altLang="en-US" sz="2300" b="1" dirty="0">
                <a:solidFill>
                  <a:srgbClr val="0E7C86"/>
                </a:solidFill>
                <a:latin typeface="Amiri" pitchFamily="2" charset="-78"/>
                <a:cs typeface="Amiri" pitchFamily="2" charset="-78"/>
              </a:rPr>
              <a:t>يَنْبَغِي أَنْ</a:t>
            </a:r>
            <a:pPr rtl="1" algn="r" indent="0" marL="0">
              <a:buNone/>
            </a:pPr>
            <a:r>
              <a:rPr lang="ar-SA" altLang="en-US" sz="2300" b="1" dirty="0">
                <a:solidFill>
                  <a:srgbClr val="1B3B6F"/>
                </a:solidFill>
                <a:latin typeface="Amiri" pitchFamily="2" charset="-78"/>
                <a:cs typeface="Amiri" pitchFamily="2" charset="-78"/>
              </a:rPr>
              <a:t> </a:t>
            </a:r>
            <a:pPr rtl="1" algn="r" indent="0" marL="0">
              <a:buNone/>
            </a:pPr>
            <a:r>
              <a:rPr lang="ar-SA" altLang="en-US" sz="2300" b="1" dirty="0">
                <a:solidFill>
                  <a:srgbClr val="D6336C"/>
                </a:solidFill>
                <a:latin typeface="Amiri" pitchFamily="2" charset="-78"/>
                <a:cs typeface="Amiri" pitchFamily="2" charset="-78"/>
              </a:rPr>
              <a:t>نُعِيدَ</a:t>
            </a:r>
            <a:pPr rtl="1" algn="r" indent="0" marL="0">
              <a:buNone/>
            </a:pPr>
            <a:r>
              <a:rPr lang="ar-SA" altLang="en-US" sz="2300" b="1" dirty="0">
                <a:solidFill>
                  <a:srgbClr val="1B3B6F"/>
                </a:solidFill>
                <a:latin typeface="Amiri" pitchFamily="2" charset="-78"/>
                <a:cs typeface="Amiri" pitchFamily="2" charset="-78"/>
              </a:rPr>
              <a:t> التَّدْوِيرَ. </a:t>
            </a:r>
            <a:pPr rtl="1" algn="r" indent="0" marL="0">
              <a:buNone/>
            </a:pPr>
            <a:r>
              <a:rPr lang="ar-SA" altLang="en-US" sz="2300" b="1" dirty="0">
                <a:solidFill>
                  <a:srgbClr val="0E7C86"/>
                </a:solidFill>
                <a:latin typeface="Amiri" pitchFamily="2" charset="-78"/>
                <a:cs typeface="Amiri" pitchFamily="2" charset="-78"/>
              </a:rPr>
              <a:t>يَجِبُ عَلَى</a:t>
            </a:r>
            <a:pPr rtl="1" algn="r" indent="0" marL="0">
              <a:buNone/>
            </a:pPr>
            <a:r>
              <a:rPr lang="ar-SA" altLang="en-US" sz="2300" b="1" dirty="0">
                <a:solidFill>
                  <a:srgbClr val="1B3B6F"/>
                </a:solidFill>
                <a:latin typeface="Amiri" pitchFamily="2" charset="-78"/>
                <a:cs typeface="Amiri" pitchFamily="2" charset="-78"/>
              </a:rPr>
              <a:t> المَدْرَسَةِ أَنْ </a:t>
            </a:r>
            <a:pPr rtl="1" algn="r" indent="0" marL="0">
              <a:buNone/>
            </a:pPr>
            <a:r>
              <a:rPr lang="ar-SA" altLang="en-US" sz="2300" b="1" dirty="0">
                <a:solidFill>
                  <a:srgbClr val="D6336C"/>
                </a:solidFill>
                <a:latin typeface="Amiri" pitchFamily="2" charset="-78"/>
                <a:cs typeface="Amiri" pitchFamily="2" charset="-78"/>
              </a:rPr>
              <a:t>تَضَعَ</a:t>
            </a:r>
            <a:pPr rtl="1" algn="r" indent="0" marL="0">
              <a:buNone/>
            </a:pPr>
            <a:r>
              <a:rPr lang="ar-SA" altLang="en-US" sz="2300" b="1" dirty="0">
                <a:solidFill>
                  <a:srgbClr val="1B3B6F"/>
                </a:solidFill>
                <a:latin typeface="Amiri" pitchFamily="2" charset="-78"/>
                <a:cs typeface="Amiri" pitchFamily="2" charset="-78"/>
              </a:rPr>
              <a:t> حَاوِيَاتٍ </a:t>
            </a:r>
            <a:pPr rtl="1" algn="r" indent="0" marL="0">
              <a:buNone/>
            </a:pPr>
            <a:r>
              <a:rPr lang="ar-SA" altLang="en-US" sz="2300" b="1" dirty="0">
                <a:solidFill>
                  <a:srgbClr val="0E7C86"/>
                </a:solidFill>
                <a:latin typeface="Amiri" pitchFamily="2" charset="-78"/>
                <a:cs typeface="Amiri" pitchFamily="2" charset="-78"/>
              </a:rPr>
              <a:t>لِكَيْ</a:t>
            </a:r>
            <a:pPr rtl="1" algn="r" indent="0" marL="0">
              <a:buNone/>
            </a:pPr>
            <a:r>
              <a:rPr lang="ar-SA" altLang="en-US" sz="2300" b="1" dirty="0">
                <a:solidFill>
                  <a:srgbClr val="1B3B6F"/>
                </a:solidFill>
                <a:latin typeface="Amiri" pitchFamily="2" charset="-78"/>
                <a:cs typeface="Amiri" pitchFamily="2" charset="-78"/>
              </a:rPr>
              <a:t> </a:t>
            </a:r>
            <a:pPr rtl="1" algn="r" indent="0" marL="0">
              <a:buNone/>
            </a:pPr>
            <a:r>
              <a:rPr lang="ar-SA" altLang="en-US" sz="2300" b="1" dirty="0">
                <a:solidFill>
                  <a:srgbClr val="D6336C"/>
                </a:solidFill>
                <a:latin typeface="Amiri" pitchFamily="2" charset="-78"/>
                <a:cs typeface="Amiri" pitchFamily="2" charset="-78"/>
              </a:rPr>
              <a:t>نُقَلِّلَ</a:t>
            </a:r>
            <a:pPr rtl="1" algn="r" indent="0" marL="0">
              <a:buNone/>
            </a:pPr>
            <a:r>
              <a:rPr lang="ar-SA" altLang="en-US" sz="2300" b="1" dirty="0">
                <a:solidFill>
                  <a:srgbClr val="1B3B6F"/>
                </a:solidFill>
                <a:latin typeface="Amiri" pitchFamily="2" charset="-78"/>
                <a:cs typeface="Amiri" pitchFamily="2" charset="-78"/>
              </a:rPr>
              <a:t> النُّفَايَاتِ.</a:t>
            </a:r>
            <a:endParaRPr lang="ar-SA" sz="23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Waste is increasing, so we should recycle. The school must put out bins so that we reduce waste.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يَجِبُ أَنْ نُعِيدَ تَدْوِيرَ النُّفَايَاتِ.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must recycle waste.</a:t>
            </a:r>
            <a:endParaRPr lang="en-US" sz="1250" dirty="0"/>
          </a:p>
          <a:p>
            <a:pPr indent="0" marL="0">
              <a:buNone/>
            </a:pPr>
            <a:r>
              <a:rPr lang="en-US" sz="1050" i="1" dirty="0">
                <a:solidFill>
                  <a:srgbClr val="8A6D1E"/>
                </a:solidFill>
                <a:latin typeface="Calibri" pitchFamily="34" charset="0"/>
                <a:cs typeface="Amiri" pitchFamily="2" charset="-78"/>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يَنْبَغِي أَنْ نُقَلِّلَ اسْتِخْدَامَ البِلَاسْتِيكِ.</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should reduce plastic use.</a:t>
            </a:r>
            <a:endParaRPr lang="en-US" sz="1250" dirty="0"/>
          </a:p>
          <a:p>
            <a:pPr indent="0" marL="0">
              <a:buNone/>
            </a:pPr>
            <a:r>
              <a:rPr lang="en-US" sz="1050" i="1" dirty="0">
                <a:solidFill>
                  <a:srgbClr val="8A6D1E"/>
                </a:solidFill>
                <a:latin typeface="Calibri" pitchFamily="34" charset="0"/>
                <a:cs typeface="Amiri" pitchFamily="2" charset="-78"/>
              </a:rPr>
              <a:t>After أَنْ: نُقَلِّلَ (fatḥa).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يَجِبُ عَلَى الحُكُومَةِ أَنْ تَسْتَثْمِرَ فِي الطَّاقَةِ المُتَجَدِّدَةِ.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government must invest in renewable energy.</a:t>
            </a:r>
            <a:endParaRPr lang="en-US" sz="1250" dirty="0"/>
          </a:p>
          <a:p>
            <a:pPr indent="0" marL="0">
              <a:buNone/>
            </a:pPr>
            <a:r>
              <a:rPr lang="en-US" sz="1050" i="1" dirty="0">
                <a:solidFill>
                  <a:srgbClr val="8A6D1E"/>
                </a:solidFill>
                <a:latin typeface="Calibri" pitchFamily="34" charset="0"/>
                <a:cs typeface="Amiri" pitchFamily="2" charset="-78"/>
              </a:rPr>
              <a:t>Name who is responsible after عَلَى.</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نَسْتَخْدِمُ النَّقْلَ العَامَّ لِكَيْ نُقَلِّلَ الانْبِعَاثَاتِ.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use public transport to reduce emissions.</a:t>
            </a:r>
            <a:endParaRPr lang="en-US" sz="1250" dirty="0"/>
          </a:p>
          <a:p>
            <a:pPr indent="0" marL="0">
              <a:buNone/>
            </a:pPr>
            <a:r>
              <a:rPr lang="en-US" sz="1050" i="1" dirty="0">
                <a:solidFill>
                  <a:srgbClr val="8A6D1E"/>
                </a:solidFill>
                <a:latin typeface="Calibri" pitchFamily="34" charset="0"/>
                <a:cs typeface="Amiri" pitchFamily="2" charset="-78"/>
              </a:rPr>
              <a:t>لِكَيْ explains the purpose.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“CHOOSE THE SOLUTION”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 the picture to the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الْحَلَّ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recycling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bicycle, not car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lights OFF</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الأَفْضَلِ أَنْ نَسْتَعْمِلَ الدَّرَّاجَةَ بَدَلًا مِنَ السَّيَّارَةِ لِلرِّحْلَاتِ الْقَصِيرَةِ.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يَنْبَغِي أَنْ نُطْفِئَ الأَضْوَاءَ عِنْدَمَا لَا نَحْتَاجُ إِلَيْهَا.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يَجِبُ أَنْ نُعِيدَ تَدْوِيرَ النُّفَايَاتِ.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الْحَلَّ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recycling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يَجِبُ أَنْ نُعِيدَ تَدْوِيرَ النُّفَايَاتِ.</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recycle waste.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bicycle, not car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cs typeface="Amiri" pitchFamily="2" charset="-78"/>
              </a:rPr>
              <a:t>مِنَ الأَفْضَلِ أَنْ نَسْتَعْمِلَ الدَّرَّاجَةَ بَدَلًا مِنَ السَّيَّارَةِ لِلرِّحْلَاتِ الْقَصِيرَةِ.</a:t>
            </a:r>
            <a:endParaRPr lang="ar-SA" sz="205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better to use a bicycle instead of the car for short journeys.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lights OFF</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يَنْبَغِي أَنْ نُطْفِئَ الأَضْوَاءَ عِنْدَمَا لَا نَحْتَاجُ إِلَيْهَا.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should switch off the lights when we do not need them.</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should reduce plastic use.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يَنْبَغِي أَنْ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يُؤَدِّي إِلَى</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نُقَلِّلُ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نُقَلِّلَ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اسْتِخْدَامَ البِلَاسْتِيكِ.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بِسَبَبِ البِلَاسْتِيكِ.</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government must invest in solar energy.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يَجِبُ الحُكُومَةُ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يَجِبُ عَلَى الحُكُومَةِ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أَنْ تَسْتَثْمِرَ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تَسْتَثْمِرُ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فِي الطَّاقَةِ الشَّمْسِيَّةِ.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إِلَى الطَّاقَةِ الشَّمْسِيَّةِ.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plant trees to improve the air.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نَزْرَعُ الأَشْجَارَ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تُقْطَعُ الأَشْجَارُ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بِسَبَبِ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لِكَيْ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نُحَسِّنُ جَوْدَةَ الهَوَاءِ.</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نُحَسِّنَ جَوْدَةَ الهَوَاءِ.</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should reduce plastic use.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a:t>
            </a:r>
            <a:pPr algn="l" indent="0" marL="0">
              <a:buNone/>
            </a:pPr>
            <a:r>
              <a:rPr lang="ar-SA" altLang="en-US" sz="1350" dirty="0">
                <a:solidFill>
                  <a:srgbClr val="5A6472"/>
                </a:solidFill>
                <a:latin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cs typeface="Amiri" pitchFamily="2" charset="-78"/>
              </a:rPr>
              <a:t>نُقَلِّلَ</a:t>
            </a:r>
            <a:pPr algn="l" indent="0" marL="0">
              <a:buNone/>
            </a:pPr>
            <a:r>
              <a:rPr lang="en-US" sz="1050" i="1" dirty="0">
                <a:solidFill>
                  <a:srgbClr val="5A6472"/>
                </a:solidFill>
                <a:latin typeface="Calibri" pitchFamily="34" charset="0"/>
                <a:cs typeface="Amiri" pitchFamily="2" charset="-78"/>
              </a:rPr>
              <a:t> (fatḥa).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cs typeface="Amiri" pitchFamily="2" charset="-78"/>
              </a:rPr>
              <a:t>يَنْبَغِي أَنْ نُقَلِّلَ اسْتِخْدَامَ البِلَاسْتِيكِ.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government must invest in solar energy.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يَجِبُ عَلَى</a:t>
            </a:r>
            <a:pPr algn="l" indent="0" marL="0">
              <a:buNone/>
            </a:pPr>
            <a:r>
              <a:rPr lang="en-US" sz="1050" i="1" dirty="0">
                <a:solidFill>
                  <a:srgbClr val="5A6472"/>
                </a:solidFill>
                <a:latin typeface="Calibri" pitchFamily="34" charset="0"/>
                <a:cs typeface="Amiri" pitchFamily="2" charset="-78"/>
              </a:rPr>
              <a:t> + who + </a:t>
            </a:r>
            <a:pPr algn="l" indent="0" marL="0">
              <a:buNone/>
            </a:pPr>
            <a:r>
              <a:rPr lang="ar-SA" altLang="en-US" sz="1350" dirty="0">
                <a:solidFill>
                  <a:srgbClr val="5A6472"/>
                </a:solidFill>
                <a:latin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verb; </a:t>
            </a:r>
            <a:pPr algn="l" indent="0" marL="0">
              <a:buNone/>
            </a:pPr>
            <a:r>
              <a:rPr lang="ar-SA" altLang="en-US" sz="1350" dirty="0">
                <a:solidFill>
                  <a:srgbClr val="5A6472"/>
                </a:solidFill>
                <a:latin typeface="Amiri" pitchFamily="2" charset="-78"/>
                <a:cs typeface="Amiri" pitchFamily="2" charset="-78"/>
              </a:rPr>
              <a:t>تَسْتَثْمِرُ 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cs typeface="Amiri" pitchFamily="2" charset="-78"/>
              </a:rPr>
              <a:t>يَجِبُ عَلَى الحُكُومَةِ أَنْ تَسْتَثْمِرَ فِي الطَّاقَةِ الشَّمْسِيَّةِ.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plant trees to improve the air.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Purpose: </a:t>
            </a:r>
            <a:pPr algn="l" indent="0" marL="0">
              <a:buNone/>
            </a:pPr>
            <a:r>
              <a:rPr lang="ar-SA" altLang="en-US" sz="1350" dirty="0">
                <a:solidFill>
                  <a:srgbClr val="5A6472"/>
                </a:solidFill>
                <a:latin typeface="Amiri" pitchFamily="2" charset="-78"/>
                <a:cs typeface="Amiri" pitchFamily="2" charset="-78"/>
              </a:rPr>
              <a:t>لِكَيْ</a:t>
            </a:r>
            <a:pPr algn="l" indent="0" marL="0">
              <a:buNone/>
            </a:pPr>
            <a:r>
              <a:rPr lang="en-US" sz="1050" i="1" dirty="0">
                <a:solidFill>
                  <a:srgbClr val="5A6472"/>
                </a:solidFill>
                <a:latin typeface="Calibri" pitchFamily="34" charset="0"/>
                <a:cs typeface="Amiri" pitchFamily="2" charset="-78"/>
              </a:rPr>
              <a:t> + fatḥa (</a:t>
            </a:r>
            <a:pPr algn="l" indent="0" marL="0">
              <a:buNone/>
            </a:pPr>
            <a:r>
              <a:rPr lang="ar-SA" altLang="en-US" sz="1350" dirty="0">
                <a:solidFill>
                  <a:srgbClr val="5A6472"/>
                </a:solidFill>
                <a:latin typeface="Amiri" pitchFamily="2" charset="-78"/>
                <a:cs typeface="Amiri" pitchFamily="2" charset="-78"/>
              </a:rPr>
              <a:t>نُحَسِّنَ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cs typeface="Amiri" pitchFamily="2" charset="-78"/>
              </a:rPr>
              <a:t>نَزْرَعُ الأَشْجَارَ لِكَيْ نُحَسِّنَ جَوْدَةَ الهَوَاءِ.</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Solution, action or advice?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نَزْرَعُ</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إِعَادَةُ التَّدْوِيرِ</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نُوَفِّرُ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الطَّاقَةُ الشَّمْسِيَّةُ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يُمْكِنُ أَنْ</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نُقَلِّلُ مِنْ</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يَجِبُ عَلَى ... أَنْ</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الطَّاقَةُ المُتَجَدِّدَةُ</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Environmental solutions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Action verbs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Advice, obligation and purpose</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Environmental solutions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إِعَادَةُ التَّدْوِيرِ</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الطَّاقَةُ الشَّمْسِيَّةُ</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الطَّاقَةُ المُتَجَدِّدَةُ</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Action verbs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نَزْرَعُ</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نُوَفِّرُ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نُقَلِّلُ مِنْ</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Advice, obligation and purpose</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يُمْكِنُ أَنْ</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يَجِبُ عَلَى ... أَنْ</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QUIZ QUESTIONS 2, 5,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explanation of </a:t>
            </a:r>
            <a:pPr algn="l" indent="0" marL="0">
              <a:buNone/>
            </a:pPr>
            <a:r>
              <a:rPr lang="ar-SA" altLang="en-US" sz="1650" b="1" dirty="0">
                <a:solidFill>
                  <a:srgbClr val="1B3B6F"/>
                </a:solidFill>
                <a:latin typeface="Amiri" pitchFamily="2" charset="-78"/>
                <a:cs typeface="Amiri" pitchFamily="2" charset="-78"/>
              </a:rPr>
              <a:t>نُقَلِّلَ</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past-tense verb.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one of the five verbs and loses a final nūn.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sound-ending present verb marked with fatḥa after </a:t>
            </a:r>
            <a:pPr algn="l" indent="0" marL="0">
              <a:buNone/>
            </a:pPr>
            <a:r>
              <a:rPr lang="ar-SA" altLang="en-US" sz="1650" dirty="0">
                <a:solidFill>
                  <a:srgbClr val="1F2A37"/>
                </a:solidFill>
                <a:latin typeface="Amiri" pitchFamily="2" charset="-78"/>
                <a:cs typeface="Amiri" pitchFamily="2" charset="-78"/>
              </a:rPr>
              <a:t>أَنْ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five-verb form is correct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 يُعِيدُوْنَ التَّدْوِيرَ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 يُعِيدُوا التَّدْوِيرَ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 يُعِيدُونَ التَّدْوِيرَ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 plural addressee.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عَلَيْكُمْ أَنْ تُقَلِّلُونَ النُّفَايَاتِ.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عَلَيْكُمْ أَنْ تُقَلِّلُوا النُّفَايَاتِ.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عَلَيْكُمْ تُقَلِّلُوا النُّفَايَاتِ.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clearly states purpose rather than cause?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 الجَفَافُ إِلَى نُقْصَانِ المَاءِ.</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نُرَشِّدُ المَاءَ بِسَبَبِ الجَفَافِ.</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نُرَشِّدُ المَاءَ لِكَيْ نَحْمِيَ المَوَارِدَ.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explanation of </a:t>
            </a:r>
            <a:pPr algn="l" indent="0" marL="0">
              <a:buNone/>
            </a:pPr>
            <a:r>
              <a:rPr lang="ar-SA" altLang="en-US" sz="1650" b="1" dirty="0">
                <a:solidFill>
                  <a:srgbClr val="1B3B6F"/>
                </a:solidFill>
                <a:latin typeface="Amiri" pitchFamily="2" charset="-78"/>
                <a:cs typeface="Amiri" pitchFamily="2" charset="-78"/>
              </a:rPr>
              <a:t>نُقَلِّلَ</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past-tense verb.</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one of the five verbs and loses a final nūn.</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a sound-ending present verb marked with fatḥa after </a:t>
            </a:r>
            <a:pPr algn="l" indent="0" marL="0">
              <a:buNone/>
            </a:pPr>
            <a:r>
              <a:rPr lang="ar-SA" altLang="en-US" sz="1650" b="1" dirty="0">
                <a:solidFill>
                  <a:srgbClr val="1F2A37"/>
                </a:solidFill>
                <a:latin typeface="Amiri" pitchFamily="2" charset="-78"/>
                <a:cs typeface="Amiri" pitchFamily="2" charset="-78"/>
              </a:rPr>
              <a:t>أَنْ</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نقلل</a:t>
            </a:r>
            <a:pPr algn="l" indent="0" marL="0">
              <a:buNone/>
            </a:pPr>
            <a:r>
              <a:rPr lang="en-US" sz="1050" i="1" dirty="0">
                <a:solidFill>
                  <a:srgbClr val="8A6D1E"/>
                </a:solidFill>
                <a:latin typeface="Calibri" pitchFamily="34" charset="0"/>
                <a:cs typeface="Amiri" pitchFamily="2" charset="-78"/>
              </a:rPr>
              <a:t> is not one of the five verbs; it simply takes the visible subjunctive fatḥa.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five-verb form is correct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 يُعِيدُوْنَ التَّدْوِيرَ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 يُعِيدُوا التَّدْوِيرَ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 يُعِيدُونَ التَّدْوِيرَ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is omitted from </a:t>
            </a:r>
            <a:pPr algn="l" indent="0" marL="0">
              <a:buNone/>
            </a:pPr>
            <a:r>
              <a:rPr lang="ar-SA" altLang="en-US" sz="1350" dirty="0">
                <a:solidFill>
                  <a:srgbClr val="8A6D1E"/>
                </a:solidFill>
                <a:latin typeface="Amiri" pitchFamily="2" charset="-78"/>
                <a:cs typeface="Amiri" pitchFamily="2" charset="-78"/>
              </a:rPr>
              <a:t>يعيدون</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 plural addressee.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عَلَيْكُمْ أَنْ تُقَلِّلُونَ النُّفَايَاتِ.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عَلَيْكُمْ أَنْ تُقَلِّلُوا النُّفَايَاتِ.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عَلَيْكُمْ تُقَلِّلُوا النُّفَايَاتِ.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تقللون</a:t>
            </a:r>
            <a:pPr algn="l" indent="0" marL="0">
              <a:buNone/>
            </a:pPr>
            <a:r>
              <a:rPr lang="en-US" sz="1050" i="1" dirty="0">
                <a:solidFill>
                  <a:srgbClr val="8A6D1E"/>
                </a:solidFill>
                <a:latin typeface="Calibri" pitchFamily="34" charset="0"/>
                <a:cs typeface="Amiri" pitchFamily="2" charset="-78"/>
              </a:rPr>
              <a:t> is one of the five verbs;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it becomes </a:t>
            </a:r>
            <a:pPr algn="l" indent="0" marL="0">
              <a:buNone/>
            </a:pPr>
            <a:r>
              <a:rPr lang="ar-SA" altLang="en-US" sz="1350" dirty="0">
                <a:solidFill>
                  <a:srgbClr val="8A6D1E"/>
                </a:solidFill>
                <a:latin typeface="Amiri" pitchFamily="2" charset="-78"/>
                <a:cs typeface="Amiri" pitchFamily="2" charset="-78"/>
              </a:rPr>
              <a:t>تقللوا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clearly states purpose rather than cause?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يُؤَدِّي الجَفَافُ إِلَى نُقْصَانِ المَاءِ.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نُرَشِّدُ المَاءَ بِسَبَبِ الجَفَافِ.</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نُرَشِّدُ المَاءَ لِكَيْ نَحْمِيَ المَوَارِدَ.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introduces the intended purpose.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يَنْبَغِي أَنْ نُقَلِّلُ النُّفَايَاتِ.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Look at the last vowel of the verb after </a:t>
            </a:r>
            <a:pPr algn="l" indent="0" marL="0">
              <a:buNone/>
            </a:pPr>
            <a:r>
              <a:rPr lang="ar-SA" altLang="en-US" sz="1700" dirty="0">
                <a:solidFill>
                  <a:srgbClr val="5A6472"/>
                </a:solidFill>
                <a:latin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يَجِبُ عَلَى النَّاسِ أَنْ يُعِيدُونَ التَّدْوِيرَ.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a:t>
            </a:r>
            <a:pPr algn="l" indent="0" marL="0">
              <a:buNone/>
            </a:pPr>
            <a:r>
              <a:rPr lang="ar-SA" altLang="en-US" sz="1700" dirty="0">
                <a:solidFill>
                  <a:srgbClr val="5A6472"/>
                </a:solidFill>
                <a:latin typeface="Amiri" pitchFamily="2" charset="-78"/>
                <a:cs typeface="Amiri" pitchFamily="2" charset="-78"/>
              </a:rPr>
              <a:t>يُعِيدُونَ</a:t>
            </a:r>
            <a:pPr algn="l" indent="0" marL="0">
              <a:buNone/>
            </a:pPr>
            <a:r>
              <a:rPr lang="en-US" sz="1300" i="1" dirty="0">
                <a:solidFill>
                  <a:srgbClr val="5A6472"/>
                </a:solidFill>
                <a:latin typeface="Calibri" pitchFamily="34" charset="0"/>
                <a:cs typeface="Amiri" pitchFamily="2" charset="-78"/>
              </a:rPr>
              <a:t> is one of the five verbs — what happens after </a:t>
            </a:r>
            <a:pPr algn="l" indent="0" marL="0">
              <a:buNone/>
            </a:pPr>
            <a:r>
              <a:rPr lang="ar-SA" altLang="en-US" sz="1700" dirty="0">
                <a:solidFill>
                  <a:srgbClr val="5A6472"/>
                </a:solidFill>
                <a:latin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نَسْتَخْدِمُ الطَّاقَةَ الشَّمْسِيَّةَ لِكَيْ نُقَلِّلُ الانْبِعَاثَاتِ.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Look at the last vowel of the verb after </a:t>
            </a:r>
            <a:pPr algn="l" indent="0" marL="0">
              <a:buNone/>
            </a:pPr>
            <a:r>
              <a:rPr lang="ar-SA" altLang="en-US" sz="1700" dirty="0">
                <a:solidFill>
                  <a:srgbClr val="5A6472"/>
                </a:solidFill>
                <a:latin typeface="Amiri" pitchFamily="2" charset="-78"/>
                <a:cs typeface="Amiri" pitchFamily="2" charset="-78"/>
              </a:rPr>
              <a:t>لِكَيْ</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يَنْبَغِي أَنْ نُقَلِّلُ النُّفَايَاتِ.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يَنْبَغِي أَنْ نُقَلِّلَ النُّفَايَاتِ.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نُقَلِّلُ</a:t>
            </a:r>
            <a:pPr algn="l" indent="0" marL="0">
              <a:buNone/>
            </a:pPr>
            <a:r>
              <a:rPr lang="en-US" sz="1150" b="1" dirty="0">
                <a:solidFill>
                  <a:srgbClr val="1B3B6F"/>
                </a:solidFill>
                <a:latin typeface="Calibri" pitchFamily="34" charset="0"/>
                <a:cs typeface="Amiri" pitchFamily="2" charset="-78"/>
              </a:rPr>
              <a:t> is a sound-ending verb; 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it takes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يَجِبُ عَلَى النَّاسِ أَنْ يُعِيدُونَ التَّدْوِيرَ.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يَجِبُ عَلَى النَّاسِ أَنْ يُعِيدُوا التَّدْوِيرَ.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يعيدون</a:t>
            </a:r>
            <a:pPr algn="l" indent="0" marL="0">
              <a:buNone/>
            </a:pPr>
            <a:r>
              <a:rPr lang="en-US" sz="1150" b="1" dirty="0">
                <a:solidFill>
                  <a:srgbClr val="1B3B6F"/>
                </a:solidFill>
                <a:latin typeface="Calibri" pitchFamily="34" charset="0"/>
                <a:cs typeface="Amiri" pitchFamily="2" charset="-78"/>
              </a:rPr>
              <a:t> is one of the five verbs, so its nūn is omitted 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نَسْتَخْدِمُ الطَّاقَةَ الشَّمْسِيَّةَ لِكَيْ نُقَلِّلُ الانْبِعَاثَاتِ.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نَسْتَخْدِمُ الطَّاقَةَ الشَّمْسِيَّةَ لِكَيْ نُقَلِّلَ الانْبِعَاثَاتِ.</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is followed by the subjunctive.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practical environmental solutions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people reduce?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Tree planting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Public transport</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schools recycle?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Food</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Fuel</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Paper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governments invest in?</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plastic packaging</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Fossil-fuel cars only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and wind energy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can conserve water?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Families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factories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Tourists only</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families conserve water?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pollute rivers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protect natural resources</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waste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structure assigns obligation to a named group?</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عَلَى ... أَنْ</a:t>
            </a:r>
            <a:endParaRPr lang="ar-SA" sz="20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بِـ</a:t>
            </a:r>
            <a:endParaRPr lang="ar-SA" sz="20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 إِلَى</a:t>
            </a:r>
            <a:endParaRPr lang="ar-SA" sz="20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 — listen for </a:t>
            </a:r>
            <a:pPr algn="l" indent="0" marL="0">
              <a:buNone/>
            </a:pPr>
            <a:r>
              <a:rPr lang="ar-SA" altLang="en-US" sz="1650" dirty="0">
                <a:solidFill>
                  <a:srgbClr val="1E6B52"/>
                </a:solidFill>
                <a:latin typeface="Amiri" pitchFamily="2" charset="-78"/>
                <a:cs typeface="Amiri" pitchFamily="2" charset="-78"/>
              </a:rPr>
              <a:t>البِلَاسْتِيك</a:t>
            </a:r>
            <a:pPr algn="l" indent="0" marL="0">
              <a:buNone/>
            </a:pPr>
            <a:r>
              <a:rPr lang="en-US" sz="1250" dirty="0">
                <a:solidFill>
                  <a:srgbClr val="1E6B52"/>
                </a:solidFill>
                <a:latin typeface="Calibri" pitchFamily="34" charset="0"/>
                <a:cs typeface="Amiri" pitchFamily="2" charset="-78"/>
              </a:rPr>
              <a:t>, </a:t>
            </a:r>
            <a:pPr algn="l" indent="0" marL="0">
              <a:buNone/>
            </a:pPr>
            <a:r>
              <a:rPr lang="ar-SA" altLang="en-US" sz="1650" dirty="0">
                <a:solidFill>
                  <a:srgbClr val="1E6B52"/>
                </a:solidFill>
                <a:latin typeface="Amiri" pitchFamily="2" charset="-78"/>
                <a:cs typeface="Amiri" pitchFamily="2" charset="-78"/>
              </a:rPr>
              <a:t>الوَرَق</a:t>
            </a:r>
            <a:pPr algn="l" indent="0" marL="0">
              <a:buNone/>
            </a:pPr>
            <a:r>
              <a:rPr lang="en-US" sz="1250" dirty="0">
                <a:solidFill>
                  <a:srgbClr val="1E6B52"/>
                </a:solidFill>
                <a:latin typeface="Calibri" pitchFamily="34" charset="0"/>
                <a:cs typeface="Amiri" pitchFamily="2" charset="-78"/>
              </a:rPr>
              <a:t> (paper) and </a:t>
            </a:r>
            <a:pPr algn="l" indent="0" marL="0">
              <a:buNone/>
            </a:pPr>
            <a:r>
              <a:rPr lang="ar-SA" altLang="en-US" sz="1650" dirty="0">
                <a:solidFill>
                  <a:srgbClr val="1E6B52"/>
                </a:solidFill>
                <a:latin typeface="Amiri" pitchFamily="2" charset="-78"/>
                <a:cs typeface="Amiri" pitchFamily="2" charset="-78"/>
              </a:rPr>
              <a:t>الأُسَر</a:t>
            </a:r>
            <a:pPr algn="l" indent="0" marL="0">
              <a:buNone/>
            </a:pPr>
            <a:r>
              <a:rPr lang="en-US" sz="1250" dirty="0">
                <a:solidFill>
                  <a:srgbClr val="1E6B52"/>
                </a:solidFill>
                <a:latin typeface="Calibri" pitchFamily="34" charset="0"/>
                <a:cs typeface="Amiri" pitchFamily="2" charset="-78"/>
              </a:rPr>
              <a:t> (families).</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هُنَاكَ حُلُولٌ عَمَلِيَّةٌ لِحِمَايَةِ البِيئَةِ.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practical solutions to protect the environment.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cs typeface="Amiri" pitchFamily="2" charset="-78"/>
              </a:rPr>
              <a:t>يَنْبَغِي أَنْ نُقَلِّلَ اسْتِخْدَامَ البِلَاسْتِيكِ، وَيَجِبُ عَلَى المَدَارِسِ أَنْ تُعِيدَ تَدْوِيرَ الوَرَقِ.</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should reduce plastic use, and schools must recycle paper.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كَمَا يَجِبُ عَلَى الحُكُومَاتِ أَنْ تَسْتَثْمِرَ فِي الطَّاقَةِ الشَّمْسِيَّةِ وَطَاقَةِ الرِّيَاحِ.</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must also invest in solar and wind energy.</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وَيُمْكِنُ لِلأُسَرِ أَنْ تُرَشِّدَ المَاءَ لِكَيْ تَحْمِيَ المَوَارِدَ الطَّبِيعِيَّةَ.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families can save water in order to protect natural resources.</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people reduce?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Plastic use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Tree planting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Public transport</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تقليل استخدام البلاستيك.</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schools recycle?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Food</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Fuel</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Paper</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تعيد تدوير الورق.</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governments invest in?</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plastic packaging</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Fossil-fuel cars only</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Solar and wind energy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الطاقة الشمسية وطاقة الرياح.</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can conserve water?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Families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factories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Tourists only</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يمكن للأسر.</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families conserve water?</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pollute rivers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protect natural resources</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waste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تحمي الموارد الطبيعية.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structure assigns obligation to a named group?</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عَلَى ... أَنْ</a:t>
            </a:r>
            <a:endParaRPr lang="ar-SA" sz="170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يَتَّسِمُ بِـ</a:t>
            </a:r>
            <a:endParaRPr lang="ar-SA" sz="17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يُؤَدِّي إِلَى</a:t>
            </a:r>
            <a:endParaRPr lang="ar-SA" sz="170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يجب على</a:t>
            </a:r>
            <a:pPr algn="l" indent="0" marL="0">
              <a:buNone/>
            </a:pPr>
            <a:r>
              <a:rPr lang="en-US" sz="1050" i="1" dirty="0">
                <a:solidFill>
                  <a:srgbClr val="8A6D1E"/>
                </a:solidFill>
                <a:latin typeface="Calibri" pitchFamily="34" charset="0"/>
                <a:cs typeface="Amiri" pitchFamily="2" charset="-78"/>
              </a:rPr>
              <a:t> identifies who is responsible.</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 — listen for </a:t>
            </a:r>
            <a:pPr algn="l" indent="0" marL="0">
              <a:buNone/>
            </a:pPr>
            <a:r>
              <a:rPr lang="ar-SA" altLang="en-US" sz="1650" dirty="0">
                <a:solidFill>
                  <a:srgbClr val="1E6B52"/>
                </a:solidFill>
                <a:latin typeface="Amiri" pitchFamily="2" charset="-78"/>
                <a:cs typeface="Amiri" pitchFamily="2" charset="-78"/>
              </a:rPr>
              <a:t>البِلَاسْتِيك</a:t>
            </a:r>
            <a:pPr algn="l" indent="0" marL="0">
              <a:buNone/>
            </a:pPr>
            <a:r>
              <a:rPr lang="en-US" sz="1250" dirty="0">
                <a:solidFill>
                  <a:srgbClr val="1E6B52"/>
                </a:solidFill>
                <a:latin typeface="Calibri" pitchFamily="34" charset="0"/>
                <a:cs typeface="Amiri" pitchFamily="2" charset="-78"/>
              </a:rPr>
              <a:t>, </a:t>
            </a:r>
            <a:pPr algn="l" indent="0" marL="0">
              <a:buNone/>
            </a:pPr>
            <a:r>
              <a:rPr lang="ar-SA" altLang="en-US" sz="1650" dirty="0">
                <a:solidFill>
                  <a:srgbClr val="1E6B52"/>
                </a:solidFill>
                <a:latin typeface="Amiri" pitchFamily="2" charset="-78"/>
                <a:cs typeface="Amiri" pitchFamily="2" charset="-78"/>
              </a:rPr>
              <a:t>الوَرَق</a:t>
            </a:r>
            <a:pPr algn="l" indent="0" marL="0">
              <a:buNone/>
            </a:pPr>
            <a:r>
              <a:rPr lang="en-US" sz="1250" dirty="0">
                <a:solidFill>
                  <a:srgbClr val="1E6B52"/>
                </a:solidFill>
                <a:latin typeface="Calibri" pitchFamily="34" charset="0"/>
                <a:cs typeface="Amiri" pitchFamily="2" charset="-78"/>
              </a:rPr>
              <a:t> (paper) and </a:t>
            </a:r>
            <a:pPr algn="l" indent="0" marL="0">
              <a:buNone/>
            </a:pPr>
            <a:r>
              <a:rPr lang="ar-SA" altLang="en-US" sz="1650" dirty="0">
                <a:solidFill>
                  <a:srgbClr val="1E6B52"/>
                </a:solidFill>
                <a:latin typeface="Amiri" pitchFamily="2" charset="-78"/>
                <a:cs typeface="Amiri" pitchFamily="2" charset="-78"/>
              </a:rPr>
              <a:t>الأُسَر</a:t>
            </a:r>
            <a:pPr algn="l" indent="0" marL="0">
              <a:buNone/>
            </a:pPr>
            <a:r>
              <a:rPr lang="en-US" sz="1250" dirty="0">
                <a:solidFill>
                  <a:srgbClr val="1E6B52"/>
                </a:solidFill>
                <a:latin typeface="Calibri" pitchFamily="34" charset="0"/>
                <a:cs typeface="Amiri" pitchFamily="2" charset="-78"/>
              </a:rPr>
              <a:t> (families).</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recommend and justify solutions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تَسْتَطِيعُ أَنْ تَفْعَلَ لِحِمَايَةِ البِيئَةِ؟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يَنْبَغِي أَنْ نَفْعَلَ؟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يَجِبُ عَلَى الحُكُومَةِ أَنْ تَفْعَلَ؟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حَلٍّ أَكْثَرُ فَعَالِيَّةً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يَنْبَغِي 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يَجِبُ عَلَى ___ 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___ لِكَيْ ___ ، لٰكِنَّ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اقْتَرَحَ / اقْتَرَحَتْ 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يَجِبُ عَلَى المَدْرَسَةِ أَنْ تَفْعَلَ؟</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must the school do?</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يَجِبُ عَلَى المَدْرَسَةِ أَنْ تَضَعَ حَاوِيَاتٍ لِإِعَادَةِ التَّدْوِيرِ، وَأَنْ تُنَظِّمَ حَمْلَةً لِكَيْ تُقَلِّلَ النُّفَايَاتِ.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Frames + word bank (next slide): يَنْبَغِي أَنْ / يَجِبُ أَنْ + a “we” verb from the table, ending in ـَ.</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Name who is responsible (يَجِبُ عَلَى …) and give one purpose with لِكَيْ.</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writing task: propose solutions to one problem; include individuals AND government, and one limitation.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عَلَى الحُكُومَةِ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government must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عَلَى الطُّلَّابِ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Students must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لِكَيْ نُـ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so that we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الضَّرُورِيِّ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necessary to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المَدَى الطَّوِيلِ،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long term,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أَنْ نُعِيدَ تَدْوِيرَ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recycle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يَنْبَغِي أَنْ نُوَفِّرَ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should save water.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يُمْكِنُ أَنْ نَسْتَخْدِمَ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can use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الأَفْضَلِ أَنْ نَسْتَعْمِلَ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better to use a bicycle.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نَزْرَعُ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plant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إِعَادَةُ التَّدْوِيرِ  ·  الطَّاقَةُ الشَّمْسِيَّةُ  ·  طَاقَةُ الرِّيَاحِ  ·  النَّقْلُ العَامُّ  ·  الدَّرَّاجَةَ  ·  المَاءَ  ·  الأَشْجَارَ  ·  البِلَاسْتِيكَ  ·  نُقَلِّلَ  ·  نُوَفِّرَ  ·  نَزْرَعَ  ·  نُعِيدَ  ·  نَسْتَخْدِمَ</a:t>
            </a:r>
            <a:endParaRPr lang="ar-SA" sz="15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120–140 Arabic words proposing solutions to one environmental problem.</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Describe the problem briefly.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ينبغي أن</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يجب على</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cs typeface="Amiri" pitchFamily="2" charset="-78"/>
              </a:rPr>
              <a:t>أن</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لكي</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responsibility for individuals and government.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Evaluate one limitation and conclude.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تُعَانِي مَدْرَسَتُنَا مِنْ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our school suffers from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لِحَلِّ هٰذِهِ المُشْكِلَةِ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solve this problem</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الَّتِي تُسْتَعْمَلُ مَرَّةً وَاحِدَةً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which are used only once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عَلَاوَةً عَلَى ذٰلِكَ</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addition to that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الضَّرُورِيِّ أَنْ نَنْشُرَ الوَعْيَ البِيئِيَّ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necessary to spread environmental awareness</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الخُطُوَاتُ عَمَلِيَّةٌ وَقَابِلَةٌ لِلتَّطْبِيقِ</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these steps are practical and achievable</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cs typeface="Amiri" pitchFamily="2" charset="-78"/>
              </a:rPr>
              <a:t>تُعَانِي مَدْرَسَتُنَا مِنْ زِيَادَةِ النُّفَايَاتِ البِلَاسْتِيكِيَّةِ. لِحَلِّ هٰذِهِ المُشْكِلَةِ، يَنْبَغِي أَنْ نُقَلِّلَ اسْتِخْدَامَ الأَكْوَابِ وَالأَكْيَاسِ الَّتِي تُسْتَعْمَلُ مَرَّةً وَاحِدَةً. وَيَجِبُ عَلَى الطُّلَّابِ أَنْ يُعِيدُوا التَّدْوِيرَ، كَمَا يَجِبُ عَلَى الإِدَارَةِ أَنْ تُوَفِّرَ حَاوِيَاتٍ مُنَاسِبَةً. وَيُمْكِنُ أَنْ نَسْتَخْدِمَ زُجَاجَاتٍ قَابِلَةً لِإِعَادَةِ الاسْتِخْدَامِ لِكَيْ نُقَلِّلَ كَمِّيَّةَ البِلَاسْتِيكِ. عَلَاوَةً عَلَى ذٰلِكَ، مِنَ الضَّرُورِيِّ أَنْ نَنْشُرَ الوَعْيَ البِيئِيَّ. فِي رَأْيِي، هٰذِهِ الخُطُوَاتُ عَمَلِيَّةٌ وَقَابِلَةٌ لِلتَّطْبِيقِ.</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Our school suffers from an increase in plastic waste. To solve this problem, we should reduce the use of cups and bags that are used only once. Students must recycle, and the administration must provide suitable bins. We can use reusable bottles so that we reduce the amount of plastic. In addition, it is necessary to spread environmental awareness. In my opinion, these steps are practical and achievable.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يَنْبَغِي أَنْ + verb (ـَ)</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يَجِبُ عَلَى …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لِكَيْ + purpose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environmental solutions (</a:t>
            </a:r>
            <a:pPr algn="l" indent="0" marL="0">
              <a:buNone/>
            </a:pPr>
            <a:r>
              <a:rPr lang="ar-SA" altLang="en-US" sz="1700" dirty="0">
                <a:solidFill>
                  <a:srgbClr val="1F2A37"/>
                </a:solidFill>
                <a:latin typeface="Amiri" pitchFamily="2" charset="-78"/>
                <a:cs typeface="Amiri" pitchFamily="2" charset="-78"/>
              </a:rPr>
              <a:t>إِعَادَةُ التَّدْوِيرِ، الطَّاقَةُ الشَّمْسِيَّةُ</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advice with a fatḥa after </a:t>
            </a:r>
            <a:pPr algn="l" indent="0" marL="0">
              <a:buNone/>
            </a:pPr>
            <a:r>
              <a:rPr lang="ar-SA" altLang="en-US" sz="1700" dirty="0">
                <a:solidFill>
                  <a:srgbClr val="1F2A37"/>
                </a:solidFill>
                <a:latin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cs typeface="Amiri" pitchFamily="2" charset="-78"/>
              </a:rPr>
              <a:t>يَنْبَغِي أَنْ نُقَلِّلَ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who is responsible: </a:t>
            </a:r>
            <a:pPr algn="l" indent="0" marL="0">
              <a:buNone/>
            </a:pPr>
            <a:r>
              <a:rPr lang="ar-SA" altLang="en-US" sz="1700" dirty="0">
                <a:solidFill>
                  <a:srgbClr val="1F2A37"/>
                </a:solidFill>
                <a:latin typeface="Amiri" pitchFamily="2" charset="-78"/>
                <a:cs typeface="Amiri" pitchFamily="2" charset="-78"/>
              </a:rPr>
              <a:t>يَجِبُ عَلَى الحُكُومَةِ أَنْ</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know only the five verbs lose </a:t>
            </a:r>
            <a:pPr algn="l" indent="0" marL="0">
              <a:buNone/>
            </a:pPr>
            <a:r>
              <a:rPr lang="ar-SA" altLang="en-US" sz="1700" dirty="0">
                <a:solidFill>
                  <a:srgbClr val="1F2A37"/>
                </a:solidFill>
                <a:latin typeface="Amiri" pitchFamily="2" charset="-78"/>
                <a:cs typeface="Amiri" pitchFamily="2" charset="-78"/>
              </a:rPr>
              <a:t>ن</a:t>
            </a:r>
            <a:pPr algn="l" indent="0" marL="0">
              <a:buNone/>
            </a:pPr>
            <a:r>
              <a:rPr lang="en-US" sz="1300" dirty="0">
                <a:solidFill>
                  <a:srgbClr val="1F2A37"/>
                </a:solidFill>
                <a:latin typeface="Calibri" pitchFamily="34" charset="0"/>
                <a:cs typeface="Amiri" pitchFamily="2" charset="-78"/>
              </a:rPr>
              <a:t> after </a:t>
            </a:r>
            <a:pPr algn="l" indent="0" marL="0">
              <a:buNone/>
            </a:pPr>
            <a:r>
              <a:rPr lang="ar-SA" altLang="en-US" sz="1700" dirty="0">
                <a:solidFill>
                  <a:srgbClr val="1F2A37"/>
                </a:solidFill>
                <a:latin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cs typeface="Amiri" pitchFamily="2" charset="-78"/>
              </a:rPr>
              <a:t>أَنْ يُعِيدُوا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subjunctive form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نُقَلِّلَ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نُقَلِّلُ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نُقَلِّلْ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expresses purpose?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نَزْرَعُ الأَشْجَارَ بِسَبَبِ الهَوَاءِ.</a:t>
            </a:r>
            <a:endParaRPr lang="ar-SA" sz="20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نَزْرَعُ الأَشْجَارَ لِكَيْ نُحَسِّنَ الهَوَاءَ.</a:t>
            </a:r>
            <a:endParaRPr lang="ar-SA" sz="20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نَزْرَعُ الأَشْجَارَ نَتِيجَةً لِلهَوَاءِ.</a:t>
            </a:r>
            <a:endParaRPr lang="ar-SA" sz="200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pattern names a responsible group?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عَلَى الحُكُومَةِ 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المُتَوَقَّعِ أَنْ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بِـ</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subjunctive form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نُقَلِّلَ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نُقَلِّلُ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نُقَلِّلْ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sound-ending verb takes fatḥa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expresses purpose?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نَزْرَعُ الأَشْجَارَ بِسَبَبِ الهَوَاءِ.</a:t>
            </a:r>
            <a:endParaRPr lang="ar-SA" sz="200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نَزْرَعُ الأَشْجَارَ لِكَيْ نُحَسِّنَ الهَوَاءَ.</a:t>
            </a:r>
            <a:endParaRPr lang="ar-SA" sz="200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نَزْرَعُ الأَشْجَارَ نَتِيجَةً لِلهَوَاءِ.</a:t>
            </a:r>
            <a:endParaRPr lang="ar-SA" sz="200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introduces purpose.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pattern names a responsible group?</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يَجِبُ عَلَى الحُكُومَةِ أَنْ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مِنَ المُتَوَقَّعِ أَنْ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يَتَّسِمُ بِـ</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يجب على</a:t>
            </a:r>
            <a:pPr algn="l" indent="0" marL="0">
              <a:buNone/>
            </a:pPr>
            <a:r>
              <a:rPr lang="en-US" sz="1050" i="1" dirty="0">
                <a:solidFill>
                  <a:srgbClr val="8A6D1E"/>
                </a:solidFill>
                <a:latin typeface="Calibri" pitchFamily="34" charset="0"/>
                <a:cs typeface="Amiri" pitchFamily="2" charset="-78"/>
              </a:rPr>
              <a:t> names who has the obligation.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school recycling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لِحَلِّ مُشْكِلَةِ النُّفَايَاتِ فِي المَدْرَسَةِ، يَنْبَغِي أَنْ نُقَلِّلَ الأَغْلِفَةَ البِلَاسْتِيكِيَّةَ، وَأَنْ نَضَعَ حَاوِيَاتٍ لِإِعَادَةِ التَّدْوِيرِ. وَيَجِبُ عَلَى الطُّلَّابِ أَنْ يَفْصِلُوا الوَرَقَ عَنِ البِلَاسْتِيكِ، كَمَا يَجِبُ عَلَى الإِدَارَةِ أَنْ تُنَظِّمَ حَمْلَةَ تَوْعِيَةٍ. وَيُمْكِنُ أَنْ نَسْتَخْدِمَ زُجَاجَاتٍ قَابِلَةً لِإِعَادَةِ الاسْتِخْدَامِ لِكَيْ نُقَلِّلَ كَمِّيَّةَ النُّفَايَاتِ.</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لِحَلِّ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solve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الأَغْلِفَةُ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packaging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حَاوِيَاتٌ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bins, containers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يَفْصِلُوا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separate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الإِدَارَةُ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(school) administration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تُنَظِّمَ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organise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حَمْلَةُ تَوْعِيَةٍ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awareness campaign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زُجَاجَاتٌ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bottles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cs typeface="Amiri" pitchFamily="2" charset="-78"/>
              </a:rPr>
              <a:t>قَابِلَةٌ لِإِعَادَةِ الاسْتِخْدَامِ</a:t>
            </a:r>
            <a:endParaRPr lang="ar-SA" sz="135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reusable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كَمِّيَّةٌ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amount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is the plan designed to solve?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Low exam results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waste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 classrooms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be reduced?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Awareness campaigns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Paper recycling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packaging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do?</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Separate paper from plastic</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Throw everything together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more packaging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the administration organise?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match</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awareness campaign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weather forecast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reusable item is suggested?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Bottles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Disposable cups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bags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reusable bottles?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water use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make recycling impossible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reduce the amount of waste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is the plan designed to solve?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Low exam results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School waste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Cold classrooms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names </a:t>
            </a:r>
            <a:pPr algn="l" indent="0" marL="0">
              <a:buNone/>
            </a:pPr>
            <a:r>
              <a:rPr lang="ar-SA" altLang="en-US" sz="1350" dirty="0">
                <a:solidFill>
                  <a:srgbClr val="8A6D1E"/>
                </a:solidFill>
                <a:latin typeface="Amiri" pitchFamily="2" charset="-78"/>
                <a:cs typeface="Amiri" pitchFamily="2" charset="-78"/>
              </a:rPr>
              <a:t>مشكلة النفايات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be reduced?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Awareness campaigns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Paper recycling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Plastic packaging</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الأغلفة البلاستيكية.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do?</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Separate paper from plastic</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Throw everything together</a:t>
            </a:r>
            <a:endParaRPr lang="en-US" sz="120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 more packaging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 يفصلوا الورق عن البلاستيك.</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the administration organise?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match</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awareness campaign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weather forecast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حملة توعية.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reusable item is suggested?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Bottles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Disposable cups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Plastic bags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زجاجات قابلة لإعادة الاستخدام.</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reusable bottles?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water use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To make recycling impossible</a:t>
            </a:r>
            <a:endParaRPr lang="en-US" sz="11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reduce the amount of waste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نقلل كمية النفايات.</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TC-L06 · The Digital World and Communication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هَاتِفٌ</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phone</a:t>
            </a:r>
            <a:pPr indent="0" marL="0">
              <a:buNone/>
            </a:pPr>
            <a:r>
              <a:rPr lang="en-US" sz="1000" i="1" dirty="0">
                <a:solidFill>
                  <a:srgbClr val="5A6472"/>
                </a:solidFill>
                <a:latin typeface="Calibri" pitchFamily="34" charset="0"/>
                <a:cs typeface="Amiri" pitchFamily="2" charset="-78"/>
              </a:rPr>
              <a:t>  pl. هَوَاتِفُ</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تَطْبِيقٌ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app</a:t>
            </a:r>
            <a:pPr indent="0" marL="0">
              <a:buNone/>
            </a:pPr>
            <a:r>
              <a:rPr lang="en-US" sz="1000" i="1" dirty="0">
                <a:solidFill>
                  <a:srgbClr val="5A6472"/>
                </a:solidFill>
                <a:latin typeface="Calibri" pitchFamily="34" charset="0"/>
                <a:cs typeface="Amiri" pitchFamily="2" charset="-78"/>
              </a:rPr>
              <a:t>  pl. تَطْبِيقَاتٌ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مَوْقِعٌ إِلِكْتُرُونِيٌّ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website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يُرْسِلُ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sends</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كَلِمَةُ المُرُورِ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password</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which app do you use most,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أَيَّ تَطْبِيقٍ تَسْتَعْمِلُ كَثِيرًا؟ وَلِمَاذَا؟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TC-L05 · play “Choose the Solution”,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5 pieces of advice for your school with </a:t>
            </a:r>
            <a:pPr algn="l" indent="0" marL="0">
              <a:buNone/>
            </a:pPr>
            <a:r>
              <a:rPr lang="ar-SA" altLang="en-US" sz="1550" dirty="0">
                <a:solidFill>
                  <a:srgbClr val="1F2A37"/>
                </a:solidFill>
                <a:latin typeface="Amiri" pitchFamily="2" charset="-78"/>
                <a:cs typeface="Amiri" pitchFamily="2" charset="-78"/>
              </a:rPr>
              <a:t>يَنْبَغِي أَنْ / يَجِبُ عَلَى …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TC-L05 · the application mission and the reading “A school recycling plan”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TC-L06 · The Digital World and Communication</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العَالَمُ الرَّقْمِيُّ وَالتَّوَاصُلُ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TC-L05 · Environmental Solutions and Responsibility</dc:title>
  <dc:subject>PptxGenJS Presentation</dc:subject>
  <dc:creator>Al Madina Online School · Arabic Department</dc:creator>
  <cp:lastModifiedBy>Al Madina Online School · Arabic Department</cp:lastModifiedBy>
  <cp:revision>1</cp:revision>
  <dcterms:created xsi:type="dcterms:W3CDTF">2026-10-11T06:43:59Z</dcterms:created>
  <dcterms:modified xsi:type="dcterms:W3CDTF">2026-10-11T06:43:59Z</dcterms:modified>
</cp:coreProperties>
</file>