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Advanced Topics › Topic C › Lesson 7 (TC-L07). The website lesson reuses P3-L02 (Planning a Trip — Booking, Itineraries and Travel Documents) with the Topic C focus “Interpret messages, forms, webpages and instructions critically” (grammar: imperatives; passive; relative pronouns). The picture match is the website lesson game “Document Detective”; the “digital document sort” is the website’s advanced application challenge. The booking-confirmation document is teacher-made using only website vocabulary.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P3-L02 is B1+ language. CORE: travel-document words + the two website verbs in the present and future (أَحْجِزُ / سَأَحْجِزُ · أُقِيمُ فِي / سَأُقِيمُ فِي) + reading a short booking confirmation for key facts. DEVELOP: the past and past perfect (حَجَزْتُ · كُنْتُ قَدْ حَجَزْتُ), instructions on forms (imperatives) and الَّذِي / الَّتِي. STRETCH: the website’s two conditional types.
• Tense table with colour (blue = WHO, teal = time marker), transliteration, picture match, a “document detective” reading with a glossary, and a read-along listening with English.
• Urdu bridge words (سفر، مسافر، جدول، وزن، مدت).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(Flipped Learning follow-up). Questions 3–5 retrieve TC-L06 and TC-L05.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The same verb shows TIME: before (حَجَزْتُ), now (أَحْجِزُ), later (سَأَحْجِزُ).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Core statements carry the Topic C focus for this lesson (interpret messages, forms and instructions). The website objectives on the left are the P3-L02 objectives.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سفر (journey — جَوَازُ سَفَرٍ “permit for travel”), مسافر (traveller), جدول (table — جَدْوَلُ رِحْلَةٍ = itinerary), وزن (weight — وَزْنُ الأَمْتِعَةِ), مدت (period — مُدَّةُ الرِّحْلَةِ).
Groups 1–4 are the website P3-L02 vocabulary (تَذْكِرَة from the website reading); Group 5 turns website verbs into instructions (imperatives — Topic C grammar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Booking and documents (website P3-L02; تَذْكِرَةُ الطَّائِرَةِ from the website reading). Hear → Say → See → Use.
Gesture: hold up a passport (open hands like a small book), stamp it (visa), tear a ticket, tick a box (booking).
Website game: هٰذَا جَوَازُ سَفَرٍ = This is a passport.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at the airport (website P3-L02). Develop / Stretch; Core students listen and repeat. All but one are iḍāfa phrases (TC-L02).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Accommodation (website P3-L02). Website teaching point: “Use يُقِيمُ فِي for staying at a hotel — it is the formal choice, not يَسْكُنُ.”
Also on the website: فُنْدُقٌ بِخَمْسِ نُجُومٍ (a five-star hotel).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the website table “The 2028 verbs across tenses” (present, past, future, past perfect of يَحْجِزُ and يُقِيمُ فِي), with website examples from the grammar rules and listening.
Colour: blue = WHO. In the present and future WHO is at the START (أَـ / أُـ = I); in the past WHO moves to the END (ـتُ = I). Teal = the time marker (سَـ = will · كُنْتُ قَدْ = had).
• CORE: rows 1–2 (now and later). • DEVELOP: add row 3. • STRETCH: all four.
Website teaching point: “Present أَحْجِزُ، past حَجَزْتُ، future سَأَحْجِزُ، past perfect كُنْتُ قَدْ حَجَزْتُ.”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instructions (imperatives), the Topic C grammar focus for reading forms and messages. These are teacher-made from website verbs: يَحْجِزُ، يُجَدِّدُ (أُجَدِّدُ جَوَازَ سَفَرِي), يُسَجِّلُ الوُصُولَ, يَشْتَرِي (أَشْتَرِي تَأْمِينَ سَفَرٍ), and the common instruction verbs أَحْضِرْ / اِقْرَأْ.
Rule of thumb for Core: an instruction has NO person letter at the start and a sukūn at the end — “Do it!”. Examples on forms: أَحْضِرْ جَوَازَ سَفَرِكَ · اِحْجِزْ مُبَكِّرًا · سَجِّلِ الوُصُولَ إِلِكْتْرُونِيًّا.
Stretch: notice the vowel before the root: اِحْجِزْ / اِقْرَأْ / اِشْتَرِ (i-) vs أَحْضِرْ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3 — reading documents. Card 1 is the website rule “يُقِيمُ فِي” (website example). Cards 2–3 are the Topic C focus (imperatives; passive) as it appears in real messages — teacher-made examples used in today’s booking confirmation.
Website common error: “Dropping the فِي after يُقِيمُ, or using a present verb after إِذَا / لَوْ. يُقِيمُ takes فِي, and both conditionals take a past-form verb in the condition.”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4 — relative pronouns (Topic C grammar focus; FLEX — Develop / Stretch). Teacher-made phrases from website language: listening (جَدَّدْتُ جَوَازَ سَفَرِي · التَّأْشِيرَةُ فَقَدْ حَصَلْتُ عَلَيْهَا إِلِكْتْرُونِيًّا) and the website game (تُؤَكِّدُ الرِّسَالَةُ … المَوْعِدَ).
Stretch: notice the “it” pronoun at the end (ـهُ / عَلَيْهَا) — TC-L06 pronoun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Stretch or homework): present/past/future, past perfect, Type 1 (إِذَا حَجَزْتَ … سَـ) and Type 2 (لَوْ حَجَزْتُ … لَـ) with يُقِيمُ فِي. Website overview: “يَحْجِزُ and يُقِيمُ conjugated across the present, past, future, past perfect and both conditional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6 and 7.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teacher models with a think-aloud; students watch, then COPY the plan into their books.
Step 1 — “Later → سَـ: سَأَحْجِزُ رِحْلَةً إِلَى مَرَّاكُشَ.”
Step 2 — “Before → past: جَدَّدْتُ. In the past the ‘I’ is at the END: ـتُ.”
Step 3 — “Stay → سَأُقِيمُ فِي — never without فِي.”
Step 4 — “An instruction for a friend: اِحْجِزْ مُبَكِّرًا! — no person letter, just ‘Do it!’.”
Built from website language: grammar example (سَأَحْجِزُ رِحْلَةً إِلَى مَرَّاكُشَ), listening (جَدَّدْتُ جَوَازَ سَفَرِي · سَأُقِيمُ فِي رِيَاضٍ تَقْلِيدِيٍّ فِي المَدِينَةِ القَدِيمَةِ), reading (أَنْصَحُ دَائِمًا بِالحَجْزِ المُبَكِّرِ).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lesson game and patterns. Students copy TWO that are useful for them.
• Core: copy 1 and 2 (change the document / the place). • Develop: copy 3 with a different time. • Stretch: copy 4 and add a Type 1 conditional (website pattern: إِذَا حَجَزْتَ مُبَكِّرًا، سَتَحْصُلُ عَلَى سِعْرٍ أَرْخَصَ).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(“Document Detective”)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جَوَازُ سَفَرٍ (passport), الرِّسَالَةُ … السَّاعَةِ العَاشِرَةِ (message … ten o’clock), المَبْلَغُ الإِجْمَالِيُّ (the total amount). Stretch: read the full number in sentence 3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(“Document Detective”)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جَوَازُ سَفَرٍ (passport), الرِّسَالَةُ … السَّاعَةِ العَاشِرَةِ (message … ten o’clock), المَبْلَغُ الإِجْمَالِيُّ (the total amount). Stretch: read the full number in sentence 3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 DETECTIVE (2 min reading) — Topic C focus “Interpret messages, forms, webpages and instructions critically”, and the website application “Digital document sort … extract the key fact needed for a realistic task”.
The document is teacher-made using only website vocabulary (P3-L02 words + the website game). Read it aloud once while students follow. SEND: cover the text and uncover one line at a time; Core students use the glossary.
Point out the three “document” structures: تَمَّ حَجْزُ (has been booked), the instructions أَحْضِرْ / سَجِّلْ, and the future سَتُقِيمُ فِي.
Translation for the teacher: Booking confirmation. Thank you! Your trip to Marrakesh has been booked. Departure time: Saturday, 10 a.m. Gate: 12 · Economy class. Baggage weight: 20 kg only. You will stay in a five-star hotel near the old city. Important: bring your passport and visa, and check in online before the trip.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 DETECTIVE questions (teacher-made). Students type five letters in the chat. Core: questions 1, 2 and 5 with the key-word clues. Stretch: explain what تَمَّ حَجْزُ means and why it is useful in official messages.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For each answer, a student reads the exact line from the document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sentence builder (3 min). Teacher-made from website sentences (grammar quiz, mission, the booking confirmation).
Students choose ONE box per column (start from Column 1 on the right) and type the letters, e.g. “1: B A A”. ↔ Rehearse 30s first.
Core: sentences 1 and 3. Develop / Stretch: sentence 2 and explain the wrong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sentence builder (3 min). Teacher-made from website sentences (grammar quiz, mission, the booking confirmation).
Students choose ONE box per column (start from Column 1 on the right) and type the letters, e.g. “1: B A A”. ↔ Rehearse 30s first.
Core: sentences 1 and 3. Develop / Stretch: sentence 2 and explain the wrong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(FLEX, 2 min). Clue for Core: سَـ at the start = future; ـتُ at the end = past; أَـ / أُـ / يَـ at the start =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(FLEX, 2 min). Clue for Core: سَـ at the start = future; ـتُ at the end = past; أَـ / أُـ / يَـ at the start =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3, 4, 5,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1–3. Develop / Stretch: all 5.
Listen 1: just listen. Listen 2: note answers. Then chat the letters.
Support: after the second listening, show the read-along slide (Arabic + English, line by line) for Core students.
SCRIPT (read aloud):
يَقُولُ المُسَافِرُ: كُنْتُ قَدْ حَجَزْتُ رِحْلَتِي إِلَى مَرَّاكُشَ قَبْلَ شَهْرَيْنِ، وَكُنْتُ قَدْ جَدَّدْتُ جَوَازَ سَفَرِي. أَحْجِزُ دَائِمًا تَذَاكِرِي مُبَكِّرًا لِأَحْصُلَ عَلَى الدَّرَجَةِ الاِقْتِصَادِيَّةِ بِسِعْرٍ مُنَاسِبٍ. سَأُقِيمُ فِي رِيَاضٍ تَقْلِيدِيٍّ فِي المَدِينَةِ القَدِيمَةِ. وَأَشَارَ دَلِيلُ السَّفَرِ إِلَى أَنَّهُ إِذَا وَصَلْتُ مُبَكِّرًا، سَأَزُورُ سُوقَ الجُدَيْدَةِ قَبْلَ الزِّحَامِ. أَمَّا التَّأْشِيرَةُ فَقَدْ حَصَلْتُ عَلَيْهَا إِلِكْتْرُونِيًّا. وَلَوْ حَجَزْتُ فِي فُنْدُقٍ حَدِيثٍ خَارِجَ المَدِينَةِ، لَفَقَدْتُ سِحْرَ الأَحْيَاءِ القَدِيمَةِ. سَأَحْمِلُ حَقِيبَةً وَاحِدَةً فَقَطْ لِأَتَجَنَّبَ رُسُومَ الأَمْتِعَةِ الزَّائِدَةِ.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وَلَوْ حَجَزْتَ فِي مَكَانٍ آخَرَ؟ (Type 2)
B: لَوْ حَجَزْتُ فِي فُنْدُقٍ حَدِيثٍ، لَفَقَدْتُ سِحْرَ المَدِينَةِ القَدِيمَةِ. (Type 2 counterfactual)
Core prompt (teacher-made; it is the preparation question): “Which documents do you need to travel?” — answered with the Core stem, e.g. أَحْتَاجُ إِلَى جَوَازِ سَفَرٍ وَتَذْكِرَةٍ.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Write يَحْجِزُ and يُقِيمُ in the present, past and future. · Develop — Add a past perfect and a Type 1 conditional. · Stretch — Write a full itinerary day using four structures, including a Type 2 counterfactual.
Website writing task (Stretch): Write a day-by-day itinerary of one hundred to one hundred and ten words for a trip to an Arab city. Open with a past perfect (كُنْتُ قَدْ حَجَزْتُ), use يُقِيمُ فِي, at least one Type 1 conditional, a reported recommendation, and one Type 2 counterfactual.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Core students find the future verbs with سَـ and the places after فِي; Stretch find both conditionals.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(TC-L08 · Buildings, Services and Urban Areas) will spend class time USING this language, so students prepare it tonight — short, simple, easy to access (school guidance: “Simple, Short, Interesting, Relevant, Easy to access”). The five words come from the website lesson game “Town Map” and the Topic C “Towns, Buildings, Services &amp; Shopping” bank.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YEAR 8  ·  ADVANCED TOPIC C  ·  WEEK 3  ·  LESSON 1 OF 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TC-L07</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ea typeface="Cambria" pitchFamily="34" charset="-122"/>
                <a:cs typeface="Cambria" pitchFamily="34" charset="-120"/>
              </a:rPr>
              <a:t>Documents, Texts and Digital Information</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الوَثَائِقُ وَالنُّصُوصُ وَالمَعْلُومَاتُ الرَّقْمِيَّةُ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Interpret messages, forms and instructions: travel documents, booking and staying in every tense (</a:t>
            </a:r>
            <a:pPr algn="l" indent="0" marL="0">
              <a:buNone/>
            </a:pPr>
            <a:r>
              <a:rPr lang="ar-SA" altLang="en-US" sz="1800" dirty="0">
                <a:solidFill>
                  <a:srgbClr val="C6D2E6"/>
                </a:solidFill>
                <a:latin typeface="Amiri" pitchFamily="34" charset="0"/>
                <a:ea typeface="Amiri" pitchFamily="34" charset="-122"/>
                <a:cs typeface="Amiri" pitchFamily="34" charset="-120"/>
              </a:rPr>
              <a:t>أَحْجِزُ</a:t>
            </a:r>
            <a:pPr algn="l" indent="0" marL="0">
              <a:buNone/>
            </a:pPr>
            <a:r>
              <a:rPr lang="en-US" sz="1400" dirty="0">
                <a:solidFill>
                  <a:srgbClr val="C6D2E6"/>
                </a:solidFill>
                <a:latin typeface="Calibri" pitchFamily="34" charset="0"/>
                <a:ea typeface="Calibri" pitchFamily="34" charset="-122"/>
                <a:cs typeface="Calibri" pitchFamily="34" charset="-120"/>
              </a:rPr>
              <a:t> · </a:t>
            </a:r>
            <a:pPr algn="l" indent="0" marL="0">
              <a:buNone/>
            </a:pPr>
            <a:r>
              <a:rPr lang="ar-SA" altLang="en-US" sz="1800" dirty="0">
                <a:solidFill>
                  <a:srgbClr val="C6D2E6"/>
                </a:solidFill>
                <a:latin typeface="Amiri" pitchFamily="34" charset="0"/>
                <a:ea typeface="Amiri" pitchFamily="34" charset="-122"/>
                <a:cs typeface="Amiri" pitchFamily="34" charset="-120"/>
              </a:rPr>
              <a:t>حَجَزْتُ</a:t>
            </a:r>
            <a:pPr algn="l" indent="0" marL="0">
              <a:buNone/>
            </a:pPr>
            <a:r>
              <a:rPr lang="en-US" sz="1400" dirty="0">
                <a:solidFill>
                  <a:srgbClr val="C6D2E6"/>
                </a:solidFill>
                <a:latin typeface="Calibri" pitchFamily="34" charset="0"/>
                <a:ea typeface="Calibri" pitchFamily="34" charset="-122"/>
                <a:cs typeface="Calibri" pitchFamily="34" charset="-120"/>
              </a:rPr>
              <a:t> · </a:t>
            </a:r>
            <a:pPr algn="l" indent="0" marL="0">
              <a:buNone/>
            </a:pPr>
            <a:r>
              <a:rPr lang="ar-SA" altLang="en-US" sz="1800" dirty="0">
                <a:solidFill>
                  <a:srgbClr val="C6D2E6"/>
                </a:solidFill>
                <a:latin typeface="Amiri" pitchFamily="34" charset="0"/>
                <a:ea typeface="Amiri" pitchFamily="34" charset="-122"/>
                <a:cs typeface="Amiri" pitchFamily="34" charset="-120"/>
              </a:rPr>
              <a:t>سَأَحْجِزُ</a:t>
            </a:r>
            <a:pPr algn="l" indent="0" marL="0">
              <a:buNone/>
            </a:pPr>
            <a:r>
              <a:rPr lang="en-US" sz="1400" dirty="0">
                <a:solidFill>
                  <a:srgbClr val="C6D2E6"/>
                </a:solidFill>
                <a:latin typeface="Calibri" pitchFamily="34" charset="0"/>
                <a:ea typeface="Calibri" pitchFamily="34" charset="-122"/>
                <a:cs typeface="Calibri" pitchFamily="34" charset="-120"/>
              </a:rPr>
              <a:t> · </a:t>
            </a:r>
            <a:pPr algn="l" indent="0" marL="0">
              <a:buNone/>
            </a:pPr>
            <a:r>
              <a:rPr lang="ar-SA" altLang="en-US" sz="1800" dirty="0">
                <a:solidFill>
                  <a:srgbClr val="C6D2E6"/>
                </a:solidFill>
                <a:latin typeface="Amiri" pitchFamily="34" charset="0"/>
                <a:ea typeface="Amiri" pitchFamily="34" charset="-122"/>
                <a:cs typeface="Amiri" pitchFamily="34" charset="-120"/>
              </a:rPr>
              <a:t>أُقِيمُ فِي</a:t>
            </a:r>
            <a:pPr algn="l" indent="0" marL="0">
              <a:buNone/>
            </a:pPr>
            <a:r>
              <a:rPr lang="en-US" sz="1400" dirty="0">
                <a:solidFill>
                  <a:srgbClr val="C6D2E6"/>
                </a:solidFill>
                <a:latin typeface="Calibri" pitchFamily="34" charset="0"/>
                <a:ea typeface="Calibri" pitchFamily="34" charset="-122"/>
                <a:cs typeface="Calibri" pitchFamily="34" charset="-120"/>
              </a:rPr>
              <a:t>) and the instructions found on forms (</a:t>
            </a:r>
            <a:pPr algn="l" indent="0" marL="0">
              <a:buNone/>
            </a:pPr>
            <a:r>
              <a:rPr lang="ar-SA" altLang="en-US" sz="1800" dirty="0">
                <a:solidFill>
                  <a:srgbClr val="C6D2E6"/>
                </a:solidFill>
                <a:latin typeface="Amiri" pitchFamily="34" charset="0"/>
                <a:ea typeface="Amiri" pitchFamily="34" charset="-122"/>
                <a:cs typeface="Amiri" pitchFamily="34" charset="-120"/>
              </a:rPr>
              <a:t>أَحْضِرْ</a:t>
            </a:r>
            <a:pPr algn="l" indent="0" marL="0">
              <a:buNone/>
            </a:pPr>
            <a:r>
              <a:rPr lang="en-US" sz="1400" dirty="0">
                <a:solidFill>
                  <a:srgbClr val="C6D2E6"/>
                </a:solidFill>
                <a:latin typeface="Calibri" pitchFamily="34" charset="0"/>
                <a:ea typeface="Calibri" pitchFamily="34" charset="-122"/>
                <a:cs typeface="Calibri" pitchFamily="34" charset="-120"/>
              </a:rPr>
              <a:t> · </a:t>
            </a:r>
            <a:pPr algn="l" indent="0" marL="0">
              <a:buNone/>
            </a:pPr>
            <a:r>
              <a:rPr lang="ar-SA" altLang="en-US" sz="1800" dirty="0">
                <a:solidFill>
                  <a:srgbClr val="C6D2E6"/>
                </a:solidFill>
                <a:latin typeface="Amiri" pitchFamily="34" charset="0"/>
                <a:ea typeface="Amiri" pitchFamily="34" charset="-122"/>
                <a:cs typeface="Amiri" pitchFamily="34" charset="-120"/>
              </a:rPr>
              <a:t>سَجِّلْ</a:t>
            </a:r>
            <a:pPr algn="l" indent="0" marL="0">
              <a:buNone/>
            </a:pPr>
            <a:r>
              <a:rPr lang="en-US" sz="1400" dirty="0">
                <a:solidFill>
                  <a:srgbClr val="C6D2E6"/>
                </a:solidFill>
                <a:latin typeface="Calibri" pitchFamily="34" charset="0"/>
                <a:ea typeface="Calibri" pitchFamily="34" charset="-122"/>
                <a:cs typeface="Calibri" pitchFamily="34" charset="-120"/>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TC-L07 · Week 3, lesson 1</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Advanced Topics › C › Lesson 7</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48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Document words, then book / stay in every tense.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Picture match, read a document, build,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at home for TC-L08.</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48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means “passport”?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تَذْكِرَةٌ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جَوَازُ سَفَرٍ</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حَجْزٌ</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مَوْعِدٌ</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appointment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message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ticket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phrase.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أَتَفَاعَلُ عَلَى المُعَلِّمِ</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أَتَفَاعَلُ عَنِ المُعَلِّمِ</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أَتَفَاعَلُ مَعَ المُعَلِّمِ</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“we must”?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بِسَبَبِ</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مِنْ نَاحِيَةٍ</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يَجِبُ أَنْ</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أُرْسِلُ</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send</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he sends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we send</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48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means “passport”?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تَذْكِرَةٌ</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جَوَازُ سَفَرٍ</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حَجْزٌ</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a:t>
            </a:r>
            <a:pPr algn="l" indent="0" marL="0">
              <a:buNone/>
            </a:pPr>
            <a:r>
              <a:rPr lang="ar-SA" altLang="en-US" sz="1350" dirty="0">
                <a:solidFill>
                  <a:srgbClr val="8A6D1E"/>
                </a:solidFill>
                <a:latin typeface="Amiri" pitchFamily="34" charset="0"/>
                <a:ea typeface="Amiri" pitchFamily="34" charset="-122"/>
                <a:cs typeface="Amiri" pitchFamily="34" charset="-120"/>
              </a:rPr>
              <a:t>جَوَازُ سَفَرٍ</a:t>
            </a:r>
            <a:pPr algn="l" indent="0" marL="0">
              <a:buNone/>
            </a:pPr>
            <a:r>
              <a:rPr lang="en-US" sz="1050" i="1" dirty="0">
                <a:solidFill>
                  <a:srgbClr val="8A6D1E"/>
                </a:solidFill>
                <a:latin typeface="Calibri" pitchFamily="34" charset="0"/>
                <a:ea typeface="Calibri" pitchFamily="34" charset="-122"/>
                <a:cs typeface="Calibri" pitchFamily="34" charset="-120"/>
              </a:rPr>
              <a:t> = passport · </a:t>
            </a:r>
            <a:pPr algn="l" indent="0" marL="0">
              <a:buNone/>
            </a:pPr>
            <a:r>
              <a:rPr lang="ar-SA" altLang="en-US" sz="1350" dirty="0">
                <a:solidFill>
                  <a:srgbClr val="8A6D1E"/>
                </a:solidFill>
                <a:latin typeface="Amiri" pitchFamily="34" charset="0"/>
                <a:ea typeface="Amiri" pitchFamily="34" charset="-122"/>
                <a:cs typeface="Amiri" pitchFamily="34" charset="-120"/>
              </a:rPr>
              <a:t>تَذْكِرَةٌ</a:t>
            </a:r>
            <a:pPr algn="l" indent="0" marL="0">
              <a:buNone/>
            </a:pPr>
            <a:r>
              <a:rPr lang="en-US" sz="1050" i="1" dirty="0">
                <a:solidFill>
                  <a:srgbClr val="8A6D1E"/>
                </a:solidFill>
                <a:latin typeface="Calibri" pitchFamily="34" charset="0"/>
                <a:ea typeface="Calibri" pitchFamily="34" charset="-122"/>
                <a:cs typeface="Calibri" pitchFamily="34" charset="-120"/>
              </a:rPr>
              <a:t> = ticket · </a:t>
            </a:r>
            <a:pPr algn="l" indent="0" marL="0">
              <a:buNone/>
            </a:pPr>
            <a:r>
              <a:rPr lang="ar-SA" altLang="en-US" sz="1350" dirty="0">
                <a:solidFill>
                  <a:srgbClr val="8A6D1E"/>
                </a:solidFill>
                <a:latin typeface="Amiri" pitchFamily="34" charset="0"/>
                <a:ea typeface="Amiri" pitchFamily="34" charset="-122"/>
                <a:cs typeface="Amiri" pitchFamily="34" charset="-120"/>
              </a:rPr>
              <a:t>حَجْزٌ</a:t>
            </a:r>
            <a:pPr algn="l" indent="0" marL="0">
              <a:buNone/>
            </a:pPr>
            <a:r>
              <a:rPr lang="en-US" sz="1050" i="1" dirty="0">
                <a:solidFill>
                  <a:srgbClr val="8A6D1E"/>
                </a:solidFill>
                <a:latin typeface="Calibri" pitchFamily="34" charset="0"/>
                <a:ea typeface="Calibri" pitchFamily="34" charset="-122"/>
                <a:cs typeface="Calibri" pitchFamily="34" charset="-120"/>
              </a:rPr>
              <a:t> = booking.</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مَوْعِدٌ</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appointment</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message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ticket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a:t>
            </a:r>
            <a:pPr algn="l" indent="0" marL="0">
              <a:buNone/>
            </a:pPr>
            <a:r>
              <a:rPr lang="ar-SA" altLang="en-US" sz="1350" dirty="0">
                <a:solidFill>
                  <a:srgbClr val="8A6D1E"/>
                </a:solidFill>
                <a:latin typeface="Amiri" pitchFamily="34" charset="0"/>
                <a:ea typeface="Amiri" pitchFamily="34" charset="-122"/>
                <a:cs typeface="Amiri" pitchFamily="34" charset="-120"/>
              </a:rPr>
              <a:t>مَوْعِدٌ</a:t>
            </a:r>
            <a:pPr algn="l" indent="0" marL="0">
              <a:buNone/>
            </a:pPr>
            <a:r>
              <a:rPr lang="en-US" sz="1050" i="1" dirty="0">
                <a:solidFill>
                  <a:srgbClr val="8A6D1E"/>
                </a:solidFill>
                <a:latin typeface="Calibri" pitchFamily="34" charset="0"/>
                <a:ea typeface="Calibri" pitchFamily="34" charset="-122"/>
                <a:cs typeface="Calibri" pitchFamily="34" charset="-120"/>
              </a:rPr>
              <a:t> = appointment, time.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phrase.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أَتَفَاعَلُ عَلَى المُعَلِّمِ</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أَتَفَاعَلُ عَنِ المُعَلِّمِ</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أَتَفَاعَلُ مَعَ المُعَلِّمِ</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TC-L06: </a:t>
            </a:r>
            <a:pPr algn="l" indent="0" marL="0">
              <a:buNone/>
            </a:pPr>
            <a:r>
              <a:rPr lang="ar-SA" altLang="en-US" sz="1350" dirty="0">
                <a:solidFill>
                  <a:srgbClr val="8A6D1E"/>
                </a:solidFill>
                <a:latin typeface="Amiri" pitchFamily="34" charset="0"/>
                <a:ea typeface="Amiri" pitchFamily="34" charset="-122"/>
                <a:cs typeface="Amiri" pitchFamily="34" charset="-120"/>
              </a:rPr>
              <a:t>يَتَفَاعَلُ</a:t>
            </a:r>
            <a:pPr algn="l" indent="0" marL="0">
              <a:buNone/>
            </a:pPr>
            <a:r>
              <a:rPr lang="en-US" sz="1050" i="1" dirty="0">
                <a:solidFill>
                  <a:srgbClr val="8A6D1E"/>
                </a:solidFill>
                <a:latin typeface="Calibri" pitchFamily="34" charset="0"/>
                <a:ea typeface="Calibri" pitchFamily="34" charset="-122"/>
                <a:cs typeface="Calibri" pitchFamily="34" charset="-120"/>
              </a:rPr>
              <a:t> always with </a:t>
            </a:r>
            <a:pPr algn="l" indent="0" marL="0">
              <a:buNone/>
            </a:pPr>
            <a:r>
              <a:rPr lang="ar-SA" altLang="en-US" sz="1350" dirty="0">
                <a:solidFill>
                  <a:srgbClr val="8A6D1E"/>
                </a:solidFill>
                <a:latin typeface="Amiri" pitchFamily="34" charset="0"/>
                <a:ea typeface="Amiri" pitchFamily="34" charset="-122"/>
                <a:cs typeface="Amiri" pitchFamily="34" charset="-120"/>
              </a:rPr>
              <a:t>مَعَ</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“we must”?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بِسَبَبِ</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مِنْ نَاحِيَةٍ</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يَجِبُ أَنْ</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TC-L05: </a:t>
            </a:r>
            <a:pPr algn="l" indent="0" marL="0">
              <a:buNone/>
            </a:pPr>
            <a:r>
              <a:rPr lang="ar-SA" altLang="en-US" sz="1350" dirty="0">
                <a:solidFill>
                  <a:srgbClr val="8A6D1E"/>
                </a:solidFill>
                <a:latin typeface="Amiri" pitchFamily="34" charset="0"/>
                <a:ea typeface="Amiri" pitchFamily="34" charset="-122"/>
                <a:cs typeface="Amiri" pitchFamily="34" charset="-120"/>
              </a:rPr>
              <a:t>يَجِبُ أَنْ</a:t>
            </a:r>
            <a:pPr algn="l" indent="0" marL="0">
              <a:buNone/>
            </a:pPr>
            <a:r>
              <a:rPr lang="en-US" sz="1050" i="1" dirty="0">
                <a:solidFill>
                  <a:srgbClr val="8A6D1E"/>
                </a:solidFill>
                <a:latin typeface="Calibri" pitchFamily="34" charset="0"/>
                <a:ea typeface="Calibri" pitchFamily="34" charset="-122"/>
                <a:cs typeface="Calibri" pitchFamily="34" charset="-120"/>
              </a:rPr>
              <a:t> + verb (fatḥa).</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أُرْسِلُ</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 send</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he sends</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we send</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TC-L06: </a:t>
            </a:r>
            <a:pPr algn="l" indent="0" marL="0">
              <a:buNone/>
            </a:pPr>
            <a:r>
              <a:rPr lang="ar-SA" altLang="en-US" sz="1350" dirty="0">
                <a:solidFill>
                  <a:srgbClr val="8A6D1E"/>
                </a:solidFill>
                <a:latin typeface="Amiri" pitchFamily="34" charset="0"/>
                <a:ea typeface="Amiri" pitchFamily="34" charset="-122"/>
                <a:cs typeface="Amiri" pitchFamily="34" charset="-120"/>
              </a:rPr>
              <a:t>أُـ</a:t>
            </a:r>
            <a:pPr algn="l" indent="0" marL="0">
              <a:buNone/>
            </a:pPr>
            <a:r>
              <a:rPr lang="en-US" sz="1050" i="1" dirty="0">
                <a:solidFill>
                  <a:srgbClr val="8A6D1E"/>
                </a:solidFill>
                <a:latin typeface="Calibri" pitchFamily="34" charset="0"/>
                <a:ea typeface="Calibri" pitchFamily="34" charset="-122"/>
                <a:cs typeface="Calibri" pitchFamily="34" charset="-120"/>
              </a:rPr>
              <a:t> = I.</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The same verb shows TIME: before (</a:t>
            </a:r>
            <a:pPr algn="l" indent="0" marL="0">
              <a:buNone/>
            </a:pPr>
            <a:r>
              <a:rPr lang="ar-SA" altLang="en-US" sz="1700" b="1" dirty="0">
                <a:solidFill>
                  <a:srgbClr val="1F2A37"/>
                </a:solidFill>
                <a:latin typeface="Amiri" pitchFamily="34" charset="0"/>
                <a:ea typeface="Amiri" pitchFamily="34" charset="-122"/>
                <a:cs typeface="Amiri" pitchFamily="34" charset="-120"/>
              </a:rPr>
              <a:t>حَجَزْتُ</a:t>
            </a:r>
            <a:pPr algn="l" indent="0" marL="0">
              <a:buNone/>
            </a:pPr>
            <a:r>
              <a:rPr lang="en-US" sz="1300" b="1" dirty="0">
                <a:solidFill>
                  <a:srgbClr val="1F2A37"/>
                </a:solidFill>
                <a:latin typeface="Calibri" pitchFamily="34" charset="0"/>
                <a:ea typeface="Calibri" pitchFamily="34" charset="-122"/>
                <a:cs typeface="Calibri" pitchFamily="34" charset="-120"/>
              </a:rPr>
              <a:t>), now (</a:t>
            </a:r>
            <a:pPr algn="l" indent="0" marL="0">
              <a:buNone/>
            </a:pPr>
            <a:r>
              <a:rPr lang="ar-SA" altLang="en-US" sz="1700" b="1" dirty="0">
                <a:solidFill>
                  <a:srgbClr val="1F2A37"/>
                </a:solidFill>
                <a:latin typeface="Amiri" pitchFamily="34" charset="0"/>
                <a:ea typeface="Amiri" pitchFamily="34" charset="-122"/>
                <a:cs typeface="Amiri" pitchFamily="34" charset="-120"/>
              </a:rPr>
              <a:t>أَحْجِزُ</a:t>
            </a:r>
            <a:pPr algn="l" indent="0" marL="0">
              <a:buNone/>
            </a:pPr>
            <a:r>
              <a:rPr lang="en-US" sz="1300" b="1" dirty="0">
                <a:solidFill>
                  <a:srgbClr val="1F2A37"/>
                </a:solidFill>
                <a:latin typeface="Calibri" pitchFamily="34" charset="0"/>
                <a:ea typeface="Calibri" pitchFamily="34" charset="-122"/>
                <a:cs typeface="Calibri" pitchFamily="34" charset="-120"/>
              </a:rPr>
              <a:t>), later (</a:t>
            </a:r>
            <a:pPr algn="l" indent="0" marL="0">
              <a:buNone/>
            </a:pPr>
            <a:r>
              <a:rPr lang="ar-SA" altLang="en-US" sz="1700" b="1" dirty="0">
                <a:solidFill>
                  <a:srgbClr val="1F2A37"/>
                </a:solidFill>
                <a:latin typeface="Amiri" pitchFamily="34" charset="0"/>
                <a:ea typeface="Amiri" pitchFamily="34" charset="-122"/>
                <a:cs typeface="Amiri" pitchFamily="34" charset="-120"/>
              </a:rPr>
              <a:t>سَأَحْجِزُ</a:t>
            </a:r>
            <a:pPr algn="l" indent="0" marL="0">
              <a:buNone/>
            </a:pPr>
            <a:r>
              <a:rPr lang="en-US" sz="1300" b="1" dirty="0">
                <a:solidFill>
                  <a:srgbClr val="1F2A37"/>
                </a:solidFill>
                <a:latin typeface="Calibri" pitchFamily="34" charset="0"/>
                <a:ea typeface="Calibri" pitchFamily="34" charset="-122"/>
                <a:cs typeface="Calibri" pitchFamily="34" charset="-120"/>
              </a:rPr>
              <a: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حَجَزْ</a:t>
            </a:r>
            <a:pPr rtl="1" algn="ctr" indent="0" marL="0">
              <a:buNone/>
            </a:pPr>
            <a:r>
              <a:rPr lang="ar-SA" altLang="en-US" sz="2400" b="1" dirty="0">
                <a:solidFill>
                  <a:srgbClr val="1D5FBF"/>
                </a:solidFill>
                <a:latin typeface="Amiri" pitchFamily="34" charset="0"/>
                <a:ea typeface="Amiri" pitchFamily="34" charset="-122"/>
                <a:cs typeface="Amiri" pitchFamily="34" charset="-120"/>
              </a:rPr>
              <a:t>تُ</a:t>
            </a:r>
            <a:pPr rtl="1" algn="ctr" indent="0" marL="0">
              <a:buNone/>
            </a:pPr>
            <a:r>
              <a:rPr lang="ar-SA" altLang="en-US" sz="2400" b="1" dirty="0">
                <a:solidFill>
                  <a:srgbClr val="1B3B6F"/>
                </a:solidFill>
                <a:latin typeface="Amiri" pitchFamily="34" charset="0"/>
                <a:ea typeface="Amiri" pitchFamily="34" charset="-122"/>
                <a:cs typeface="Amiri" pitchFamily="34" charset="-120"/>
              </a:rPr>
              <a:t>  ·  </a:t>
            </a:r>
            <a:pPr rtl="1" algn="ctr" indent="0" marL="0">
              <a:buNone/>
            </a:pPr>
            <a:r>
              <a:rPr lang="ar-SA" altLang="en-US" sz="2400" b="1" dirty="0">
                <a:solidFill>
                  <a:srgbClr val="1D5FBF"/>
                </a:solidFill>
                <a:latin typeface="Amiri" pitchFamily="34" charset="0"/>
                <a:ea typeface="Amiri" pitchFamily="34" charset="-122"/>
                <a:cs typeface="Amiri" pitchFamily="34" charset="-120"/>
              </a:rPr>
              <a:t>أَ</a:t>
            </a:r>
            <a:pPr rtl="1" algn="ctr" indent="0" marL="0">
              <a:buNone/>
            </a:pPr>
            <a:r>
              <a:rPr lang="ar-SA" altLang="en-US" sz="2400" b="1" dirty="0">
                <a:solidFill>
                  <a:srgbClr val="1B3B6F"/>
                </a:solidFill>
                <a:latin typeface="Amiri" pitchFamily="34" charset="0"/>
                <a:ea typeface="Amiri" pitchFamily="34" charset="-122"/>
                <a:cs typeface="Amiri" pitchFamily="34" charset="-120"/>
              </a:rPr>
              <a:t>حْجِزُ  ·  </a:t>
            </a:r>
            <a:pPr rtl="1" algn="ctr" indent="0" marL="0">
              <a:buNone/>
            </a:pPr>
            <a:r>
              <a:rPr lang="ar-SA" altLang="en-US" sz="2400" b="1" dirty="0">
                <a:solidFill>
                  <a:srgbClr val="0E7C86"/>
                </a:solidFill>
                <a:latin typeface="Amiri" pitchFamily="34" charset="0"/>
                <a:ea typeface="Amiri" pitchFamily="34" charset="-122"/>
                <a:cs typeface="Amiri" pitchFamily="34" charset="-120"/>
              </a:rPr>
              <a:t>سَ</a:t>
            </a:r>
            <a:pPr rtl="1" algn="ctr" indent="0" marL="0">
              <a:buNone/>
            </a:pPr>
            <a:r>
              <a:rPr lang="ar-SA" altLang="en-US" sz="2400" b="1" dirty="0">
                <a:solidFill>
                  <a:srgbClr val="1B3B6F"/>
                </a:solidFill>
                <a:latin typeface="Amiri" pitchFamily="34" charset="0"/>
                <a:ea typeface="Amiri" pitchFamily="34" charset="-122"/>
                <a:cs typeface="Amiri" pitchFamily="34" charset="-120"/>
              </a:rPr>
              <a:t>أَحْجِزُ</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48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1 OF 3 THIS WEEK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Name booking, document and airport vocabulary.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Use </a:t>
            </a:r>
            <a:pPr algn="l" indent="0" marL="0">
              <a:buNone/>
            </a:pPr>
            <a:r>
              <a:rPr lang="ar-SA" altLang="en-US" sz="1700" dirty="0">
                <a:solidFill>
                  <a:srgbClr val="1F2A37"/>
                </a:solidFill>
                <a:latin typeface="Amiri" pitchFamily="34" charset="0"/>
                <a:ea typeface="Amiri" pitchFamily="34" charset="-122"/>
                <a:cs typeface="Amiri" pitchFamily="34" charset="-120"/>
              </a:rPr>
              <a:t>يَحْجِزُ</a:t>
            </a:r>
            <a:pPr algn="l" indent="0" marL="0">
              <a:buNone/>
            </a:pPr>
            <a:r>
              <a:rPr lang="en-US" sz="1300" dirty="0">
                <a:solidFill>
                  <a:srgbClr val="1F2A37"/>
                </a:solidFill>
                <a:latin typeface="Calibri" pitchFamily="34" charset="0"/>
                <a:ea typeface="Calibri" pitchFamily="34" charset="-122"/>
                <a:cs typeface="Calibri" pitchFamily="34" charset="-120"/>
              </a:rPr>
              <a:t> and </a:t>
            </a:r>
            <a:pPr algn="l" indent="0" marL="0">
              <a:buNone/>
            </a:pPr>
            <a:r>
              <a:rPr lang="ar-SA" altLang="en-US" sz="1700" dirty="0">
                <a:solidFill>
                  <a:srgbClr val="1F2A37"/>
                </a:solidFill>
                <a:latin typeface="Amiri" pitchFamily="34" charset="0"/>
                <a:ea typeface="Amiri" pitchFamily="34" charset="-122"/>
                <a:cs typeface="Amiri" pitchFamily="34" charset="-120"/>
              </a:rPr>
              <a:t>يُقِيمُ</a:t>
            </a:r>
            <a:pPr algn="l" indent="0" marL="0">
              <a:buNone/>
            </a:pPr>
            <a:r>
              <a:rPr lang="en-US" sz="1300" dirty="0">
                <a:solidFill>
                  <a:srgbClr val="1F2A37"/>
                </a:solidFill>
                <a:latin typeface="Calibri" pitchFamily="34" charset="0"/>
                <a:ea typeface="Calibri" pitchFamily="34" charset="-122"/>
                <a:cs typeface="Calibri" pitchFamily="34" charset="-120"/>
              </a:rPr>
              <a:t> in the present, past, future and past perfect.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Use them in both conditional types.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Write a day-by-day itinerary integrating the structures.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name 6 travel documents and read a booking message for key facts.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say </a:t>
            </a:r>
            <a:pPr algn="l" indent="0" marL="0">
              <a:buNone/>
            </a:pPr>
            <a:r>
              <a:rPr lang="ar-SA" altLang="en-US" sz="1700" b="1" dirty="0">
                <a:solidFill>
                  <a:srgbClr val="2E8B57"/>
                </a:solidFill>
                <a:latin typeface="Amiri" pitchFamily="34" charset="0"/>
                <a:ea typeface="Amiri" pitchFamily="34" charset="-122"/>
                <a:cs typeface="Amiri" pitchFamily="34" charset="-120"/>
              </a:rPr>
              <a:t>أَحْجِزُ / سَأَحْجِزُ</a:t>
            </a:r>
            <a:pPr algn="l" indent="0" marL="0">
              <a:buNone/>
            </a:pPr>
            <a:r>
              <a:rPr lang="en-US" sz="1300" b="1" dirty="0">
                <a:solidFill>
                  <a:srgbClr val="2E8B57"/>
                </a:solidFill>
                <a:latin typeface="Calibri" pitchFamily="34" charset="0"/>
                <a:ea typeface="Calibri" pitchFamily="34" charset="-122"/>
                <a:cs typeface="Calibri" pitchFamily="34" charset="-120"/>
              </a:rPr>
              <a:t> and </a:t>
            </a:r>
            <a:pPr algn="l" indent="0" marL="0">
              <a:buNone/>
            </a:pPr>
            <a:r>
              <a:rPr lang="ar-SA" altLang="en-US" sz="1700" b="1" dirty="0">
                <a:solidFill>
                  <a:srgbClr val="2E8B57"/>
                </a:solidFill>
                <a:latin typeface="Amiri" pitchFamily="34" charset="0"/>
                <a:ea typeface="Amiri" pitchFamily="34" charset="-122"/>
                <a:cs typeface="Amiri" pitchFamily="34" charset="-120"/>
              </a:rPr>
              <a:t>أُقِيمُ فِي / سَأُقِيمُ فِي</a:t>
            </a:r>
            <a:pPr algn="l" indent="0" marL="0">
              <a:buNone/>
            </a:pPr>
            <a:r>
              <a:rPr lang="en-US" sz="1300" b="1" dirty="0">
                <a:solidFill>
                  <a:srgbClr val="2E8B57"/>
                </a:solidFill>
                <a:latin typeface="Calibri" pitchFamily="34" charset="0"/>
                <a:ea typeface="Calibri" pitchFamily="34" charset="-122"/>
                <a:cs typeface="Calibri" pitchFamily="34" charset="-120"/>
              </a:rPr>
              <a: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use the past and past perfect: </a:t>
            </a:r>
            <a:pPr algn="l" indent="0" marL="0">
              <a:buNone/>
            </a:pPr>
            <a:r>
              <a:rPr lang="ar-SA" altLang="en-US" sz="1700" b="1" dirty="0">
                <a:solidFill>
                  <a:srgbClr val="C9780A"/>
                </a:solidFill>
                <a:latin typeface="Amiri" pitchFamily="34" charset="0"/>
                <a:ea typeface="Amiri" pitchFamily="34" charset="-122"/>
                <a:cs typeface="Amiri" pitchFamily="34" charset="-120"/>
              </a:rPr>
              <a:t>حَجَزْتُ</a:t>
            </a:r>
            <a:pPr algn="l" indent="0" marL="0">
              <a:buNone/>
            </a:pPr>
            <a:r>
              <a:rPr lang="en-US" sz="1300" b="1" dirty="0">
                <a:solidFill>
                  <a:srgbClr val="C9780A"/>
                </a:solidFill>
                <a:latin typeface="Calibri" pitchFamily="34" charset="0"/>
                <a:ea typeface="Calibri" pitchFamily="34" charset="-122"/>
                <a:cs typeface="Calibri" pitchFamily="34" charset="-120"/>
              </a:rPr>
              <a:t> · </a:t>
            </a:r>
            <a:pPr algn="l" indent="0" marL="0">
              <a:buNone/>
            </a:pPr>
            <a:r>
              <a:rPr lang="ar-SA" altLang="en-US" sz="1700" b="1" dirty="0">
                <a:solidFill>
                  <a:srgbClr val="C9780A"/>
                </a:solidFill>
                <a:latin typeface="Amiri" pitchFamily="34" charset="0"/>
                <a:ea typeface="Amiri" pitchFamily="34" charset="-122"/>
                <a:cs typeface="Amiri" pitchFamily="34" charset="-120"/>
              </a:rPr>
              <a:t>كُنْتُ قَدْ حَجَزْتُ</a:t>
            </a:r>
            <a:pPr algn="l" indent="0" marL="0">
              <a:buNone/>
            </a:pPr>
            <a:r>
              <a:rPr lang="en-US" sz="1300" b="1" dirty="0">
                <a:solidFill>
                  <a:srgbClr val="C9780A"/>
                </a:solidFill>
                <a:latin typeface="Calibri" pitchFamily="34" charset="0"/>
                <a:ea typeface="Calibri" pitchFamily="34" charset="-122"/>
                <a:cs typeface="Calibri" pitchFamily="34" charset="-120"/>
              </a:rPr>
              <a: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understand instructions on a form: </a:t>
            </a:r>
            <a:pPr algn="l" indent="0" marL="0">
              <a:buNone/>
            </a:pPr>
            <a:r>
              <a:rPr lang="ar-SA" altLang="en-US" sz="1700" b="1" dirty="0">
                <a:solidFill>
                  <a:srgbClr val="C9780A"/>
                </a:solidFill>
                <a:latin typeface="Amiri" pitchFamily="34" charset="0"/>
                <a:ea typeface="Amiri" pitchFamily="34" charset="-122"/>
                <a:cs typeface="Amiri" pitchFamily="34" charset="-120"/>
              </a:rPr>
              <a:t>أَحْضِرْ</a:t>
            </a:r>
            <a:pPr algn="l" indent="0" marL="0">
              <a:buNone/>
            </a:pPr>
            <a:r>
              <a:rPr lang="en-US" sz="1300" b="1" dirty="0">
                <a:solidFill>
                  <a:srgbClr val="C9780A"/>
                </a:solidFill>
                <a:latin typeface="Calibri" pitchFamily="34" charset="0"/>
                <a:ea typeface="Calibri" pitchFamily="34" charset="-122"/>
                <a:cs typeface="Calibri" pitchFamily="34" charset="-120"/>
              </a:rPr>
              <a:t> · </a:t>
            </a:r>
            <a:pPr algn="l" indent="0" marL="0">
              <a:buNone/>
            </a:pPr>
            <a:r>
              <a:rPr lang="ar-SA" altLang="en-US" sz="1700" b="1" dirty="0">
                <a:solidFill>
                  <a:srgbClr val="C9780A"/>
                </a:solidFill>
                <a:latin typeface="Amiri" pitchFamily="34" charset="0"/>
                <a:ea typeface="Amiri" pitchFamily="34" charset="-122"/>
                <a:cs typeface="Amiri" pitchFamily="34" charset="-120"/>
              </a:rPr>
              <a:t>سَجِّلْ</a:t>
            </a:r>
            <a:pPr algn="l" indent="0" marL="0">
              <a:buNone/>
            </a:pPr>
            <a:r>
              <a:rPr lang="en-US" sz="1300" b="1" dirty="0">
                <a:solidFill>
                  <a:srgbClr val="C9780A"/>
                </a:solidFill>
                <a:latin typeface="Calibri" pitchFamily="34" charset="0"/>
                <a:ea typeface="Calibri" pitchFamily="34" charset="-122"/>
                <a:cs typeface="Calibri" pitchFamily="34" charset="-120"/>
              </a:rPr>
              <a: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use both conditionals with </a:t>
            </a:r>
            <a:pPr algn="l" indent="0" marL="0">
              <a:buNone/>
            </a:pPr>
            <a:r>
              <a:rPr lang="ar-SA" altLang="en-US" sz="1700" b="1" dirty="0">
                <a:solidFill>
                  <a:srgbClr val="B83227"/>
                </a:solidFill>
                <a:latin typeface="Amiri" pitchFamily="34" charset="0"/>
                <a:ea typeface="Amiri" pitchFamily="34" charset="-122"/>
                <a:cs typeface="Amiri" pitchFamily="34" charset="-120"/>
              </a:rPr>
              <a:t>يَحْجِزُ</a:t>
            </a:r>
            <a:pPr algn="l" indent="0" marL="0">
              <a:buNone/>
            </a:pPr>
            <a:r>
              <a:rPr lang="en-US" sz="1300" b="1" dirty="0">
                <a:solidFill>
                  <a:srgbClr val="B83227"/>
                </a:solidFill>
                <a:latin typeface="Calibri" pitchFamily="34" charset="0"/>
                <a:ea typeface="Calibri" pitchFamily="34" charset="-122"/>
                <a:cs typeface="Calibri" pitchFamily="34" charset="-120"/>
              </a:rPr>
              <a: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write a 100–110-word itinerary.</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48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ea typeface="Calibri" pitchFamily="34" charset="-122"/>
                <a:cs typeface="Calibri" pitchFamily="34" charset="-120"/>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34" charset="0"/>
                <a:ea typeface="Amiri" pitchFamily="34" charset="-122"/>
                <a:cs typeface="Amiri" pitchFamily="34" charset="-120"/>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ea typeface="Calibri" pitchFamily="34" charset="-122"/>
                <a:cs typeface="Calibri" pitchFamily="34" charset="-120"/>
              </a:rPr>
              <a:t>32 words from the website in 5 groups. Learn the CORE words first. Hear it → say it → see it → use it.</a:t>
            </a:r>
            <a:endParaRPr lang="en-US" sz="1600" dirty="0"/>
          </a:p>
        </p:txBody>
      </p:sp>
      <p:sp>
        <p:nvSpPr>
          <p:cNvPr id="8" name="Shape 6"/>
          <p:cNvSpPr/>
          <p:nvPr/>
        </p:nvSpPr>
        <p:spPr>
          <a:xfrm>
            <a:off x="457200" y="4572000"/>
            <a:ext cx="14630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1</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Documents · 6</a:t>
            </a:r>
            <a:endParaRPr lang="en-US" sz="900" dirty="0"/>
          </a:p>
        </p:txBody>
      </p:sp>
      <p:sp>
        <p:nvSpPr>
          <p:cNvPr id="10" name="Shape 8"/>
          <p:cNvSpPr/>
          <p:nvPr/>
        </p:nvSpPr>
        <p:spPr>
          <a:xfrm>
            <a:off x="2057400" y="4572000"/>
            <a:ext cx="14630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21945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2</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At the airport · 6</a:t>
            </a:r>
            <a:endParaRPr lang="en-US" sz="900" dirty="0"/>
          </a:p>
        </p:txBody>
      </p:sp>
      <p:sp>
        <p:nvSpPr>
          <p:cNvPr id="12" name="Shape 10"/>
          <p:cNvSpPr/>
          <p:nvPr/>
        </p:nvSpPr>
        <p:spPr>
          <a:xfrm>
            <a:off x="3657600" y="4572000"/>
            <a:ext cx="14630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37947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3</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Staying · 6</a:t>
            </a:r>
            <a:endParaRPr lang="en-US" sz="900" dirty="0"/>
          </a:p>
        </p:txBody>
      </p:sp>
      <p:sp>
        <p:nvSpPr>
          <p:cNvPr id="14" name="Shape 12"/>
          <p:cNvSpPr/>
          <p:nvPr/>
        </p:nvSpPr>
        <p:spPr>
          <a:xfrm>
            <a:off x="5257800" y="4572000"/>
            <a:ext cx="1463040" cy="960120"/>
          </a:xfrm>
          <a:prstGeom prst="roundRect">
            <a:avLst>
              <a:gd name="adj" fmla="val 7619"/>
            </a:avLst>
          </a:prstGeom>
          <a:solidFill>
            <a:srgbClr val="16335F"/>
          </a:solidFill>
          <a:ln w="12700">
            <a:solidFill>
              <a:srgbClr val="2A4B7C"/>
            </a:solidFill>
            <a:prstDash val="solid"/>
          </a:ln>
        </p:spPr>
      </p:sp>
      <p:sp>
        <p:nvSpPr>
          <p:cNvPr id="15" name="Text 13"/>
          <p:cNvSpPr txBox="1"/>
          <p:nvPr/>
        </p:nvSpPr>
        <p:spPr>
          <a:xfrm>
            <a:off x="53949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4</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Two verbs, four times · 8</a:t>
            </a:r>
            <a:endParaRPr lang="en-US" sz="900" dirty="0"/>
          </a:p>
        </p:txBody>
      </p:sp>
      <p:sp>
        <p:nvSpPr>
          <p:cNvPr id="16" name="Shape 14"/>
          <p:cNvSpPr/>
          <p:nvPr/>
        </p:nvSpPr>
        <p:spPr>
          <a:xfrm>
            <a:off x="6858000" y="4572000"/>
            <a:ext cx="1463040" cy="960120"/>
          </a:xfrm>
          <a:prstGeom prst="roundRect">
            <a:avLst>
              <a:gd name="adj" fmla="val 7619"/>
            </a:avLst>
          </a:prstGeom>
          <a:solidFill>
            <a:srgbClr val="16335F"/>
          </a:solidFill>
          <a:ln w="12700">
            <a:solidFill>
              <a:srgbClr val="2A4B7C"/>
            </a:solidFill>
            <a:prstDash val="solid"/>
          </a:ln>
        </p:spPr>
      </p:sp>
      <p:sp>
        <p:nvSpPr>
          <p:cNvPr id="17" name="Text 15"/>
          <p:cNvSpPr txBox="1"/>
          <p:nvPr/>
        </p:nvSpPr>
        <p:spPr>
          <a:xfrm>
            <a:off x="69951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5</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Instructions · 6</a:t>
            </a:r>
            <a:endParaRPr lang="en-US" sz="900" dirty="0"/>
          </a:p>
        </p:txBody>
      </p:sp>
      <p:sp>
        <p:nvSpPr>
          <p:cNvPr id="18" name="Shape 16"/>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9" name="Text 17"/>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ea typeface="Calibri" pitchFamily="34" charset="-122"/>
                <a:cs typeface="Calibri" pitchFamily="34" charset="-120"/>
              </a:rPr>
              <a:t>BRIDGE FROM URDU</a:t>
            </a:r>
            <a:endParaRPr lang="en-US" sz="1000" dirty="0"/>
          </a:p>
        </p:txBody>
      </p:sp>
      <p:sp>
        <p:nvSpPr>
          <p:cNvPr id="20" name="Text 18"/>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سَفَرٌ</a:t>
            </a:r>
            <a:endParaRPr lang="ar-SA" sz="1900" dirty="0"/>
          </a:p>
        </p:txBody>
      </p:sp>
      <p:sp>
        <p:nvSpPr>
          <p:cNvPr id="21" name="Text 19"/>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‎سفر‎ </a:t>
            </a:r>
            <a:pPr indent="0" marL="0">
              <a:buNone/>
            </a:pPr>
            <a:r>
              <a:rPr lang="en-US" sz="950" b="1" dirty="0">
                <a:solidFill>
                  <a:srgbClr val="2E8B57"/>
                </a:solidFill>
                <a:latin typeface="Calibri" pitchFamily="34" charset="0"/>
                <a:ea typeface="Calibri" pitchFamily="34" charset="-122"/>
                <a:cs typeface="Calibri" pitchFamily="34" charset="-120"/>
              </a:rPr>
              <a:t> safar · travel</a:t>
            </a:r>
            <a:endParaRPr lang="en-US" sz="1400" dirty="0"/>
          </a:p>
        </p:txBody>
      </p:sp>
      <p:sp>
        <p:nvSpPr>
          <p:cNvPr id="22" name="Text 20"/>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مُسَافِرٌ</a:t>
            </a:r>
            <a:endParaRPr lang="ar-SA" sz="1900" dirty="0"/>
          </a:p>
        </p:txBody>
      </p:sp>
      <p:sp>
        <p:nvSpPr>
          <p:cNvPr id="23" name="Text 21"/>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‎مسافر‎ </a:t>
            </a:r>
            <a:pPr indent="0" marL="0">
              <a:buNone/>
            </a:pPr>
            <a:r>
              <a:rPr lang="en-US" sz="950" b="1" dirty="0">
                <a:solidFill>
                  <a:srgbClr val="2E8B57"/>
                </a:solidFill>
                <a:latin typeface="Calibri" pitchFamily="34" charset="0"/>
                <a:ea typeface="Calibri" pitchFamily="34" charset="-122"/>
                <a:cs typeface="Calibri" pitchFamily="34" charset="-120"/>
              </a:rPr>
              <a:t> musāfir · traveller</a:t>
            </a:r>
            <a:endParaRPr lang="en-US" sz="1400" dirty="0"/>
          </a:p>
        </p:txBody>
      </p:sp>
      <p:sp>
        <p:nvSpPr>
          <p:cNvPr id="24" name="Text 22"/>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جَدْوَلٌ</a:t>
            </a:r>
            <a:endParaRPr lang="ar-SA" sz="1900" dirty="0"/>
          </a:p>
        </p:txBody>
      </p:sp>
      <p:sp>
        <p:nvSpPr>
          <p:cNvPr id="25" name="Text 23"/>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‎جدول‎ </a:t>
            </a:r>
            <a:pPr indent="0" marL="0">
              <a:buNone/>
            </a:pPr>
            <a:r>
              <a:rPr lang="en-US" sz="950" b="1" dirty="0">
                <a:solidFill>
                  <a:srgbClr val="2E8B57"/>
                </a:solidFill>
                <a:latin typeface="Calibri" pitchFamily="34" charset="0"/>
                <a:ea typeface="Calibri" pitchFamily="34" charset="-122"/>
                <a:cs typeface="Calibri" pitchFamily="34" charset="-120"/>
              </a:rPr>
              <a:t> jadwal · table, schedule</a:t>
            </a:r>
            <a:endParaRPr lang="en-US" sz="1400" dirty="0"/>
          </a:p>
        </p:txBody>
      </p:sp>
      <p:sp>
        <p:nvSpPr>
          <p:cNvPr id="26" name="Text 24"/>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وَزْنٌ</a:t>
            </a:r>
            <a:endParaRPr lang="ar-SA" sz="1900" dirty="0"/>
          </a:p>
        </p:txBody>
      </p:sp>
      <p:sp>
        <p:nvSpPr>
          <p:cNvPr id="27" name="Text 25"/>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‎وزن‎ </a:t>
            </a:r>
            <a:pPr indent="0" marL="0">
              <a:buNone/>
            </a:pPr>
            <a:r>
              <a:rPr lang="en-US" sz="950" b="1" dirty="0">
                <a:solidFill>
                  <a:srgbClr val="2E8B57"/>
                </a:solidFill>
                <a:latin typeface="Calibri" pitchFamily="34" charset="0"/>
                <a:ea typeface="Calibri" pitchFamily="34" charset="-122"/>
                <a:cs typeface="Calibri" pitchFamily="34" charset="-120"/>
              </a:rPr>
              <a:t> wazn · weight</a:t>
            </a:r>
            <a:endParaRPr lang="en-US" sz="1400" dirty="0"/>
          </a:p>
        </p:txBody>
      </p:sp>
      <p:sp>
        <p:nvSpPr>
          <p:cNvPr id="28" name="Text 26"/>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مُدَّةٌ</a:t>
            </a:r>
            <a:endParaRPr lang="ar-SA" sz="1900" dirty="0"/>
          </a:p>
        </p:txBody>
      </p:sp>
      <p:sp>
        <p:nvSpPr>
          <p:cNvPr id="29" name="Text 27"/>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‎مدت‎ </a:t>
            </a:r>
            <a:pPr indent="0" marL="0">
              <a:buNone/>
            </a:pPr>
            <a:r>
              <a:rPr lang="en-US" sz="950" b="1" dirty="0">
                <a:solidFill>
                  <a:srgbClr val="2E8B57"/>
                </a:solidFill>
                <a:latin typeface="Calibri" pitchFamily="34" charset="0"/>
                <a:ea typeface="Calibri" pitchFamily="34" charset="-122"/>
                <a:cs typeface="Calibri" pitchFamily="34" charset="-120"/>
              </a:rPr>
              <a:t> muddat · duration</a:t>
            </a:r>
            <a:endParaRPr lang="en-US" sz="1400" dirty="0"/>
          </a:p>
        </p:txBody>
      </p:sp>
      <p:sp>
        <p:nvSpPr>
          <p:cNvPr id="31" name="Text 2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48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Travel documents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وَثَائِقُ السَّفَرِ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iḍāfa</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جَوَازُ سَفَرٍ</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passport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ja-wā-zu sa-far</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permit</a:t>
            </a:r>
            <a:endParaRPr lang="en-US" sz="700" dirty="0"/>
          </a:p>
        </p:txBody>
      </p:sp>
      <p:sp>
        <p:nvSpPr>
          <p:cNvPr id="26" name="Text 23"/>
          <p:cNvSpPr txBox="1"/>
          <p:nvPr/>
        </p:nvSpPr>
        <p:spPr>
          <a:xfrm>
            <a:off x="100126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جَوَازٌ</a:t>
            </a:r>
            <a:endParaRPr lang="ar-SA" sz="135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travel</a:t>
            </a:r>
            <a:endParaRPr lang="en-US" sz="700" dirty="0"/>
          </a:p>
        </p:txBody>
      </p:sp>
      <p:sp>
        <p:nvSpPr>
          <p:cNvPr id="29" name="Text 26"/>
          <p:cNvSpPr txBox="1"/>
          <p:nvPr/>
        </p:nvSpPr>
        <p:spPr>
          <a:xfrm>
            <a:off x="8284464"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سَفَرٌ</a:t>
            </a:r>
            <a:endParaRPr lang="ar-SA" sz="135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33" name="Shape 30"/>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تَأْشِيرَةٌ</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visa</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taʾ-shī-ra · pl. taʾ-shī-rāt</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تَأْشِيرَةٌ</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تَأْشِيرَاتٌ</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48" name="Shape 45"/>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تَذْكِرَةٌ</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ticket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tadh-ki-ra · pl. ta-dhā-kir</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تَذْكِرَةٌ</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تَذَاكِرُ</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63" name="Shape 60"/>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67" name="Text 6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حَجْزٌ</a:t>
            </a:r>
            <a:endParaRPr lang="ar-SA" sz="3000" dirty="0"/>
          </a:p>
        </p:txBody>
      </p:sp>
      <p:sp>
        <p:nvSpPr>
          <p:cNvPr id="68" name="Text 6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 booking</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ḥajz</a:t>
            </a:r>
            <a:endParaRPr lang="en-US" sz="1350" dirty="0"/>
          </a:p>
        </p:txBody>
      </p:sp>
      <p:sp>
        <p:nvSpPr>
          <p:cNvPr id="69" name="Text 66"/>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Verb: </a:t>
            </a:r>
            <a:pPr algn="l" indent="0" marL="0">
              <a:buNone/>
            </a:pPr>
            <a:r>
              <a:rPr lang="ar-SA" altLang="en-US" sz="1300" dirty="0">
                <a:solidFill>
                  <a:srgbClr val="8A6D1E"/>
                </a:solidFill>
                <a:latin typeface="Amiri" pitchFamily="34" charset="0"/>
                <a:ea typeface="Amiri" pitchFamily="34" charset="-122"/>
                <a:cs typeface="Amiri" pitchFamily="34" charset="-120"/>
              </a:rPr>
              <a:t>يَحْجِزُ</a:t>
            </a:r>
            <a:pPr algn="l" indent="0" marL="0">
              <a:buNone/>
            </a:pPr>
            <a:r>
              <a:rPr lang="en-US" sz="1000" i="1" dirty="0">
                <a:solidFill>
                  <a:srgbClr val="8A6D1E"/>
                </a:solidFill>
                <a:latin typeface="Calibri" pitchFamily="34" charset="0"/>
                <a:ea typeface="Calibri" pitchFamily="34" charset="-122"/>
                <a:cs typeface="Calibri" pitchFamily="34" charset="-120"/>
              </a:rPr>
              <a:t> = books.</a:t>
            </a:r>
            <a:endParaRPr lang="en-US" sz="1000" dirty="0"/>
          </a:p>
        </p:txBody>
      </p:sp>
      <p:sp>
        <p:nvSpPr>
          <p:cNvPr id="70" name="Shape 67"/>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389120" y="4261104"/>
            <a:ext cx="310896" cy="310896"/>
          </a:xfrm>
          <a:prstGeom prst="ellipse">
            <a:avLst/>
          </a:prstGeom>
          <a:solidFill>
            <a:srgbClr val="F4F1EA"/>
          </a:solidFill>
          <a:ln w="12700">
            <a:solidFill>
              <a:srgbClr val="F4F1EA"/>
            </a:solidFill>
            <a:prstDash val="solid"/>
          </a:ln>
        </p:spPr>
      </p:sp>
      <p:sp>
        <p:nvSpPr>
          <p:cNvPr id="72" name="Text 69"/>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73" name="Shape 70"/>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4" name="Text 71"/>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iḍāfa</a:t>
            </a:r>
            <a:endParaRPr lang="en-US" sz="800" dirty="0"/>
          </a:p>
        </p:txBody>
      </p:sp>
      <p:sp>
        <p:nvSpPr>
          <p:cNvPr id="75" name="Shape 72"/>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6" name="Text 73"/>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77" name="Text 74"/>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تَأْمِينُ سَفَرٍ</a:t>
            </a:r>
            <a:endParaRPr lang="ar-SA" sz="3000" dirty="0"/>
          </a:p>
        </p:txBody>
      </p:sp>
      <p:sp>
        <p:nvSpPr>
          <p:cNvPr id="78" name="Text 75"/>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travel insurance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taʾ-mī-nu sa-far</a:t>
            </a:r>
            <a:endParaRPr lang="en-US" sz="1350" dirty="0"/>
          </a:p>
        </p:txBody>
      </p:sp>
      <p:sp>
        <p:nvSpPr>
          <p:cNvPr id="79" name="Shape 76"/>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0" name="Shape 77"/>
          <p:cNvSpPr/>
          <p:nvPr/>
        </p:nvSpPr>
        <p:spPr>
          <a:xfrm>
            <a:off x="566928" y="4261104"/>
            <a:ext cx="310896" cy="310896"/>
          </a:xfrm>
          <a:prstGeom prst="ellipse">
            <a:avLst/>
          </a:prstGeom>
          <a:solidFill>
            <a:srgbClr val="F4F1EA"/>
          </a:solidFill>
          <a:ln w="12700">
            <a:solidFill>
              <a:srgbClr val="F4F1EA"/>
            </a:solidFill>
            <a:prstDash val="solid"/>
          </a:ln>
        </p:spPr>
      </p:sp>
      <p:sp>
        <p:nvSpPr>
          <p:cNvPr id="81" name="Text 78"/>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82" name="Shape 79"/>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83" name="Text 80"/>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iḍāfa</a:t>
            </a:r>
            <a:endParaRPr lang="en-US" sz="800" dirty="0"/>
          </a:p>
        </p:txBody>
      </p:sp>
      <p:sp>
        <p:nvSpPr>
          <p:cNvPr id="84" name="Shape 81"/>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5" name="Text 82"/>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86" name="Text 83"/>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جَدْوَلُ رِحْلَةٍ</a:t>
            </a:r>
            <a:endParaRPr lang="ar-SA" sz="3000" dirty="0"/>
          </a:p>
        </p:txBody>
      </p:sp>
      <p:sp>
        <p:nvSpPr>
          <p:cNvPr id="87" name="Text 84"/>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itinerary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jad-wa-lu riḥ-la</a:t>
            </a:r>
            <a:endParaRPr lang="en-US" sz="1350" dirty="0"/>
          </a:p>
        </p:txBody>
      </p:sp>
      <p:sp>
        <p:nvSpPr>
          <p:cNvPr id="88" name="Shape 85"/>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89" name="Text 86"/>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table</a:t>
            </a:r>
            <a:endParaRPr lang="en-US" sz="700" dirty="0"/>
          </a:p>
        </p:txBody>
      </p:sp>
      <p:sp>
        <p:nvSpPr>
          <p:cNvPr id="90" name="Text 87"/>
          <p:cNvSpPr txBox="1"/>
          <p:nvPr/>
        </p:nvSpPr>
        <p:spPr>
          <a:xfrm>
            <a:off x="2368296"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جَدْوَلٌ</a:t>
            </a:r>
            <a:endParaRPr lang="ar-SA" sz="1350" dirty="0"/>
          </a:p>
        </p:txBody>
      </p:sp>
      <p:sp>
        <p:nvSpPr>
          <p:cNvPr id="91" name="Shape 88"/>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92" name="Text 89"/>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trip</a:t>
            </a:r>
            <a:endParaRPr lang="en-US" sz="700" dirty="0"/>
          </a:p>
        </p:txBody>
      </p:sp>
      <p:sp>
        <p:nvSpPr>
          <p:cNvPr id="93" name="Text 90"/>
          <p:cNvSpPr txBox="1"/>
          <p:nvPr/>
        </p:nvSpPr>
        <p:spPr>
          <a:xfrm>
            <a:off x="6400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رِحْلَةٌ</a:t>
            </a:r>
            <a:endParaRPr lang="ar-SA" sz="13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48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2 · DEVELOP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At the airport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فِي المَطَارِ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7</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iḍāfa</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تَسْجِيلُ الوُصُولِ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check-in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tas-jī-lu l-wu-ṣūl</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8</a:t>
            </a:r>
            <a:endParaRPr lang="en-US" sz="1000" dirty="0"/>
          </a:p>
        </p:txBody>
      </p:sp>
      <p:sp>
        <p:nvSpPr>
          <p:cNvPr id="25" name="Shape 22"/>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البَوَّابَةُ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the gate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al-baw-wā-ba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9</a:t>
            </a:r>
            <a:endParaRPr lang="en-US" sz="1000" dirty="0"/>
          </a:p>
        </p:txBody>
      </p:sp>
      <p:sp>
        <p:nvSpPr>
          <p:cNvPr id="32" name="Shape 29"/>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iḍāfa</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وَزْنُ الأَمْتِعَةِ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baggage weight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waz-nu l-am-ti-ʿa</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10</a:t>
            </a:r>
            <a:endParaRPr lang="en-US" sz="1000" dirty="0"/>
          </a:p>
        </p:txBody>
      </p:sp>
      <p:sp>
        <p:nvSpPr>
          <p:cNvPr id="39" name="Shape 36"/>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40" name="Text 37"/>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iḍāfa</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صَالَةُ المُغَادَرَةِ</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the departure lounge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ṣā-la-tu l-mu-ghā-da-ra</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11</a:t>
            </a:r>
            <a:endParaRPr lang="en-US" sz="1000" dirty="0"/>
          </a:p>
        </p:txBody>
      </p:sp>
      <p:sp>
        <p:nvSpPr>
          <p:cNvPr id="46" name="Shape 43"/>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iḍāfa</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صَالَةُ الوُصُولِ</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the arrivals hall</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ṣā-la-tu l-wu-ṣūl</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12</a:t>
            </a:r>
            <a:endParaRPr lang="en-US" sz="1000" dirty="0"/>
          </a:p>
        </p:txBody>
      </p:sp>
      <p:sp>
        <p:nvSpPr>
          <p:cNvPr id="53" name="Shape 50"/>
          <p:cNvSpPr/>
          <p:nvPr/>
        </p:nvSpPr>
        <p:spPr>
          <a:xfrm>
            <a:off x="960120" y="4279392"/>
            <a:ext cx="1020470" cy="256032"/>
          </a:xfrm>
          <a:prstGeom prst="roundRect">
            <a:avLst>
              <a:gd name="adj" fmla="val 50000"/>
            </a:avLst>
          </a:prstGeom>
          <a:solidFill>
            <a:srgbClr val="EFE7D2"/>
          </a:solidFill>
          <a:ln w="12700">
            <a:solidFill>
              <a:srgbClr val="EFE7D2"/>
            </a:solidFill>
            <a:prstDash val="solid"/>
          </a:ln>
        </p:spPr>
      </p:sp>
      <p:sp>
        <p:nvSpPr>
          <p:cNvPr id="54" name="Text 51"/>
          <p:cNvSpPr txBox="1"/>
          <p:nvPr/>
        </p:nvSpPr>
        <p:spPr>
          <a:xfrm>
            <a:off x="960120"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nisba</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الدَّرَجَةُ </a:t>
            </a:r>
            <a:pPr rtl="1" algn="r" indent="0" marL="0">
              <a:buNone/>
            </a:pPr>
            <a:r>
              <a:rPr lang="ar-SA" altLang="en-US" sz="3000" b="1" dirty="0">
                <a:solidFill>
                  <a:srgbClr val="7B3FA0"/>
                </a:solidFill>
                <a:latin typeface="Amiri" pitchFamily="34" charset="0"/>
                <a:ea typeface="Amiri" pitchFamily="34" charset="-122"/>
                <a:cs typeface="Amiri" pitchFamily="34" charset="-120"/>
              </a:rPr>
              <a:t>الاِقْتِصَادِ</a:t>
            </a:r>
            <a:pPr rtl="1" algn="r" indent="0" marL="0">
              <a:buNone/>
            </a:pPr>
            <a:r>
              <a:rPr lang="ar-SA" altLang="en-US" sz="3000" b="1" dirty="0">
                <a:solidFill>
                  <a:srgbClr val="D6336C"/>
                </a:solidFill>
                <a:latin typeface="Amiri" pitchFamily="34" charset="0"/>
                <a:ea typeface="Amiri" pitchFamily="34" charset="-122"/>
                <a:cs typeface="Amiri" pitchFamily="34" charset="-120"/>
              </a:rPr>
              <a:t>يَّةُ</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economy class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ad-da-ra-ja l-iq-ti-ṣā-diy-ya</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48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Staying somewhere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الإِقَامَةُ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verb + فِي</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يُقِيمُ </a:t>
            </a:r>
            <a:pPr rtl="1" algn="r" indent="0" marL="0">
              <a:buNone/>
            </a:pPr>
            <a:r>
              <a:rPr lang="ar-SA" altLang="en-US" sz="3000" b="1" dirty="0">
                <a:solidFill>
                  <a:srgbClr val="0E7C86"/>
                </a:solidFill>
                <a:latin typeface="Amiri" pitchFamily="34" charset="0"/>
                <a:ea typeface="Amiri" pitchFamily="34" charset="-122"/>
                <a:cs typeface="Amiri" pitchFamily="34" charset="-120"/>
              </a:rPr>
              <a:t>فِي</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stays at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yu-qī-mu fī</a:t>
            </a:r>
            <a:endParaRPr lang="en-US" sz="1350" dirty="0"/>
          </a:p>
        </p:txBody>
      </p:sp>
      <p:sp>
        <p:nvSpPr>
          <p:cNvPr id="24" name="Text 21"/>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Fixed with </a:t>
            </a:r>
            <a:pPr algn="l" indent="0" marL="0">
              <a:buNone/>
            </a:pPr>
            <a:r>
              <a:rPr lang="ar-SA" altLang="en-US" sz="1300" dirty="0">
                <a:solidFill>
                  <a:srgbClr val="8A6D1E"/>
                </a:solidFill>
                <a:latin typeface="Amiri" pitchFamily="34" charset="0"/>
                <a:ea typeface="Amiri" pitchFamily="34" charset="-122"/>
                <a:cs typeface="Amiri" pitchFamily="34" charset="-120"/>
              </a:rPr>
              <a:t>فِي</a:t>
            </a:r>
            <a:pPr algn="l" indent="0" marL="0">
              <a:buNone/>
            </a:pPr>
            <a:r>
              <a:rPr lang="en-US" sz="1000" i="1" dirty="0">
                <a:solidFill>
                  <a:srgbClr val="8A6D1E"/>
                </a:solidFill>
                <a:latin typeface="Calibri" pitchFamily="34" charset="0"/>
                <a:ea typeface="Calibri" pitchFamily="34" charset="-122"/>
                <a:cs typeface="Calibri" pitchFamily="34" charset="-120"/>
              </a:rPr>
              <a:t> (website).</a:t>
            </a:r>
            <a:endParaRPr lang="en-US" sz="10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28" name="Shape 25"/>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2" name="Text 29"/>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فُنْدُقٌ</a:t>
            </a:r>
            <a:endParaRPr lang="ar-SA" sz="3000" dirty="0"/>
          </a:p>
        </p:txBody>
      </p:sp>
      <p:sp>
        <p:nvSpPr>
          <p:cNvPr id="33" name="Text 30"/>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hotel</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fun-duq · pl. fa-nā-diq</a:t>
            </a:r>
            <a:endParaRPr lang="en-US" sz="1350" dirty="0"/>
          </a:p>
        </p:txBody>
      </p:sp>
      <p:sp>
        <p:nvSpPr>
          <p:cNvPr id="34" name="Shape 31"/>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36" name="Text 33"/>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فُنْدُقٌ</a:t>
            </a:r>
            <a:endParaRPr lang="ar-SA" sz="1500" dirty="0"/>
          </a:p>
        </p:txBody>
      </p:sp>
      <p:sp>
        <p:nvSpPr>
          <p:cNvPr id="37" name="Shape 34"/>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39" name="Text 36"/>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فَنَادِقُ</a:t>
            </a:r>
            <a:endParaRPr lang="ar-SA" sz="150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43" name="Shape 40"/>
          <p:cNvSpPr/>
          <p:nvPr/>
        </p:nvSpPr>
        <p:spPr>
          <a:xfrm>
            <a:off x="960120" y="1938528"/>
            <a:ext cx="1269187" cy="256032"/>
          </a:xfrm>
          <a:prstGeom prst="roundRect">
            <a:avLst>
              <a:gd name="adj" fmla="val 50000"/>
            </a:avLst>
          </a:prstGeom>
          <a:solidFill>
            <a:srgbClr val="EFE7D2"/>
          </a:solidFill>
          <a:ln w="12700">
            <a:solidFill>
              <a:srgbClr val="EFE7D2"/>
            </a:solidFill>
            <a:prstDash val="solid"/>
          </a:ln>
        </p:spPr>
      </p:sp>
      <p:sp>
        <p:nvSpPr>
          <p:cNvPr id="44" name="Text 41"/>
          <p:cNvSpPr txBox="1"/>
          <p:nvPr/>
        </p:nvSpPr>
        <p:spPr>
          <a:xfrm>
            <a:off x="960120"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adjective</a:t>
            </a:r>
            <a:endParaRPr lang="en-US" sz="800" dirty="0"/>
          </a:p>
        </p:txBody>
      </p:sp>
      <p:sp>
        <p:nvSpPr>
          <p:cNvPr id="45" name="Text 42"/>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شَقَّةٌ مَفْرُوشَةٌ</a:t>
            </a:r>
            <a:endParaRPr lang="ar-SA" sz="3000" dirty="0"/>
          </a:p>
        </p:txBody>
      </p:sp>
      <p:sp>
        <p:nvSpPr>
          <p:cNvPr id="46" name="Text 43"/>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 furnished apartment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shaq-qa maf-rū-sha</a:t>
            </a:r>
            <a:endParaRPr lang="en-US" sz="1350" dirty="0"/>
          </a:p>
        </p:txBody>
      </p:sp>
      <p:sp>
        <p:nvSpPr>
          <p:cNvPr id="47" name="Shape 44"/>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8" name="Text 45"/>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49" name="Text 46"/>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شَقَّةٌ</a:t>
            </a:r>
            <a:endParaRPr lang="ar-SA" sz="1500" dirty="0"/>
          </a:p>
        </p:txBody>
      </p:sp>
      <p:sp>
        <p:nvSpPr>
          <p:cNvPr id="50" name="Shape 47"/>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52" name="Text 49"/>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شُقَقٌ</a:t>
            </a:r>
            <a:endParaRPr lang="ar-SA" sz="1500" dirty="0"/>
          </a:p>
        </p:txBody>
      </p:sp>
      <p:sp>
        <p:nvSpPr>
          <p:cNvPr id="53" name="Shape 5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4" name="Shape 51"/>
          <p:cNvSpPr/>
          <p:nvPr/>
        </p:nvSpPr>
        <p:spPr>
          <a:xfrm>
            <a:off x="8211312" y="4261104"/>
            <a:ext cx="310896" cy="310896"/>
          </a:xfrm>
          <a:prstGeom prst="ellipse">
            <a:avLst/>
          </a:prstGeom>
          <a:solidFill>
            <a:srgbClr val="F4F1EA"/>
          </a:solidFill>
          <a:ln w="12700">
            <a:solidFill>
              <a:srgbClr val="F4F1EA"/>
            </a:solidFill>
            <a:prstDash val="solid"/>
          </a:ln>
        </p:spPr>
      </p:sp>
      <p:sp>
        <p:nvSpPr>
          <p:cNvPr id="55" name="Text 5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56" name="Shape 53"/>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57" name="Text 54"/>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nisba</a:t>
            </a:r>
            <a:endParaRPr lang="en-US" sz="800" dirty="0"/>
          </a:p>
        </p:txBody>
      </p:sp>
      <p:sp>
        <p:nvSpPr>
          <p:cNvPr id="58" name="Text 5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رِيَاضٌ </a:t>
            </a:r>
            <a:pPr rtl="1" algn="r" indent="0" marL="0">
              <a:buNone/>
            </a:pPr>
            <a:r>
              <a:rPr lang="ar-SA" altLang="en-US" sz="3000" b="1" dirty="0">
                <a:solidFill>
                  <a:srgbClr val="7B3FA0"/>
                </a:solidFill>
                <a:latin typeface="Amiri" pitchFamily="34" charset="0"/>
                <a:ea typeface="Amiri" pitchFamily="34" charset="-122"/>
                <a:cs typeface="Amiri" pitchFamily="34" charset="-120"/>
              </a:rPr>
              <a:t>تَقْلِيدِ</a:t>
            </a:r>
            <a:pPr rtl="1" algn="r" indent="0" marL="0">
              <a:buNone/>
            </a:pPr>
            <a:r>
              <a:rPr lang="ar-SA" altLang="en-US" sz="3000" b="1" dirty="0">
                <a:solidFill>
                  <a:srgbClr val="D6336C"/>
                </a:solidFill>
                <a:latin typeface="Amiri" pitchFamily="34" charset="0"/>
                <a:ea typeface="Amiri" pitchFamily="34" charset="-122"/>
                <a:cs typeface="Amiri" pitchFamily="34" charset="-120"/>
              </a:rPr>
              <a:t>يٌّ</a:t>
            </a:r>
            <a:endParaRPr lang="ar-SA" sz="3000" dirty="0"/>
          </a:p>
        </p:txBody>
      </p:sp>
      <p:sp>
        <p:nvSpPr>
          <p:cNvPr id="59" name="Text 5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 traditional riad (house)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ri-yāḍ taq-lī-diyy</a:t>
            </a:r>
            <a:endParaRPr lang="en-US" sz="1350" dirty="0"/>
          </a:p>
        </p:txBody>
      </p:sp>
      <p:sp>
        <p:nvSpPr>
          <p:cNvPr id="60" name="Text 57"/>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A Moroccan courtyard house (listening).</a:t>
            </a:r>
            <a:endParaRPr lang="en-US" sz="1000" dirty="0"/>
          </a:p>
        </p:txBody>
      </p:sp>
      <p:sp>
        <p:nvSpPr>
          <p:cNvPr id="61" name="Shape 5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4389120"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64" name="Shape 61"/>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65" name="Text 62"/>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iḍāfa</a:t>
            </a:r>
            <a:endParaRPr lang="en-US" sz="800" dirty="0"/>
          </a:p>
        </p:txBody>
      </p:sp>
      <p:sp>
        <p:nvSpPr>
          <p:cNvPr id="66" name="Text 6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مَوْعِدُ القِيَامِ</a:t>
            </a:r>
            <a:endParaRPr lang="ar-SA" sz="3000" dirty="0"/>
          </a:p>
        </p:txBody>
      </p:sp>
      <p:sp>
        <p:nvSpPr>
          <p:cNvPr id="67" name="Text 6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the departure time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maw-ʿi-du l-qi-yām</a:t>
            </a:r>
            <a:endParaRPr lang="en-US" sz="1350" dirty="0"/>
          </a:p>
        </p:txBody>
      </p:sp>
      <p:sp>
        <p:nvSpPr>
          <p:cNvPr id="68" name="Shape 6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566928" y="4261104"/>
            <a:ext cx="310896" cy="310896"/>
          </a:xfrm>
          <a:prstGeom prst="ellipse">
            <a:avLst/>
          </a:prstGeom>
          <a:solidFill>
            <a:srgbClr val="F4F1EA"/>
          </a:solidFill>
          <a:ln w="12700">
            <a:solidFill>
              <a:srgbClr val="F4F1EA"/>
            </a:solidFill>
            <a:prstDash val="solid"/>
          </a:ln>
        </p:spPr>
      </p:sp>
      <p:sp>
        <p:nvSpPr>
          <p:cNvPr id="70" name="Text 6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71" name="Shape 68"/>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72" name="Text 69"/>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iḍāfa</a:t>
            </a:r>
            <a:endParaRPr lang="en-US" sz="800" dirty="0"/>
          </a:p>
        </p:txBody>
      </p:sp>
      <p:sp>
        <p:nvSpPr>
          <p:cNvPr id="73" name="Text 7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مُدَّةُ الرِّحْلَةِ</a:t>
            </a:r>
            <a:endParaRPr lang="ar-SA" sz="3000" dirty="0"/>
          </a:p>
        </p:txBody>
      </p:sp>
      <p:sp>
        <p:nvSpPr>
          <p:cNvPr id="74" name="Text 7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the journey duration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mud-da-tu r-riḥ-la</a:t>
            </a:r>
            <a:endParaRPr lang="en-US" sz="13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48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4 · GRAMMAR PART 1 ·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Two verbs, four times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فِعْلَانِ فِي أَرْبَعَةِ أَزْمِنَةٍ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610344"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Time</a:t>
            </a:r>
            <a:endParaRPr lang="en-US" sz="1100" dirty="0"/>
          </a:p>
        </p:txBody>
      </p:sp>
      <p:sp>
        <p:nvSpPr>
          <p:cNvPr id="17" name="Text 14"/>
          <p:cNvSpPr txBox="1"/>
          <p:nvPr/>
        </p:nvSpPr>
        <p:spPr>
          <a:xfrm>
            <a:off x="6867144" y="1810512"/>
            <a:ext cx="2596896" cy="384048"/>
          </a:xfrm>
          <a:prstGeom prst="rect">
            <a:avLst/>
          </a:prstGeom>
          <a:noFill/>
          <a:ln/>
        </p:spPr>
        <p:txBody>
          <a:bodyPr wrap="square" lIns="0" tIns="0" rIns="0" bIns="0" rtlCol="0" anchor="ctr"/>
          <a:lstStyle/>
          <a:p>
            <a:pPr algn="ctr" indent="0" marL="0">
              <a:buNone/>
            </a:pPr>
            <a:r>
              <a:rPr lang="ar-SA" altLang="en-US" sz="1450" b="1" dirty="0">
                <a:solidFill>
                  <a:srgbClr val="FFFFFF"/>
                </a:solidFill>
                <a:latin typeface="Amiri" pitchFamily="34" charset="0"/>
                <a:ea typeface="Amiri" pitchFamily="34" charset="-122"/>
                <a:cs typeface="Amiri" pitchFamily="34" charset="-120"/>
              </a:rPr>
              <a:t>يَحْجِزُ</a:t>
            </a:r>
            <a:pPr algn="ctr" indent="0" marL="0">
              <a:buNone/>
            </a:pPr>
            <a:r>
              <a:rPr lang="en-US" sz="1100" b="1" dirty="0">
                <a:solidFill>
                  <a:srgbClr val="FFFFFF"/>
                </a:solidFill>
                <a:latin typeface="Calibri" pitchFamily="34" charset="0"/>
                <a:ea typeface="Calibri" pitchFamily="34" charset="-122"/>
                <a:cs typeface="Calibri" pitchFamily="34" charset="-120"/>
              </a:rPr>
              <a:t> · book</a:t>
            </a:r>
            <a:endParaRPr lang="en-US" sz="1100" dirty="0"/>
          </a:p>
        </p:txBody>
      </p:sp>
      <p:sp>
        <p:nvSpPr>
          <p:cNvPr id="18" name="Text 15"/>
          <p:cNvSpPr txBox="1"/>
          <p:nvPr/>
        </p:nvSpPr>
        <p:spPr>
          <a:xfrm>
            <a:off x="4123944" y="1810512"/>
            <a:ext cx="2596896" cy="384048"/>
          </a:xfrm>
          <a:prstGeom prst="rect">
            <a:avLst/>
          </a:prstGeom>
          <a:noFill/>
          <a:ln/>
        </p:spPr>
        <p:txBody>
          <a:bodyPr wrap="square" lIns="0" tIns="0" rIns="0" bIns="0" rtlCol="0" anchor="ctr"/>
          <a:lstStyle/>
          <a:p>
            <a:pPr algn="ctr" indent="0" marL="0">
              <a:buNone/>
            </a:pPr>
            <a:r>
              <a:rPr lang="ar-SA" altLang="en-US" sz="1450" b="1" dirty="0">
                <a:solidFill>
                  <a:srgbClr val="FFFFFF"/>
                </a:solidFill>
                <a:latin typeface="Amiri" pitchFamily="34" charset="0"/>
                <a:ea typeface="Amiri" pitchFamily="34" charset="-122"/>
                <a:cs typeface="Amiri" pitchFamily="34" charset="-120"/>
              </a:rPr>
              <a:t>يُقِيمُ فِي</a:t>
            </a:r>
            <a:pPr algn="ctr" indent="0" marL="0">
              <a:buNone/>
            </a:pPr>
            <a:r>
              <a:rPr lang="en-US" sz="1100" b="1" dirty="0">
                <a:solidFill>
                  <a:srgbClr val="FFFFFF"/>
                </a:solidFill>
                <a:latin typeface="Calibri" pitchFamily="34" charset="0"/>
                <a:ea typeface="Calibri" pitchFamily="34" charset="-122"/>
                <a:cs typeface="Calibri" pitchFamily="34" charset="-120"/>
              </a:rPr>
              <a:t> · stay at</a:t>
            </a:r>
            <a:endParaRPr lang="en-US" sz="1100" dirty="0"/>
          </a:p>
        </p:txBody>
      </p:sp>
      <p:sp>
        <p:nvSpPr>
          <p:cNvPr id="19" name="Text 16"/>
          <p:cNvSpPr txBox="1"/>
          <p:nvPr/>
        </p:nvSpPr>
        <p:spPr>
          <a:xfrm>
            <a:off x="530352" y="1810512"/>
            <a:ext cx="3447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Website example</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9646920" y="2267712"/>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now (present)</a:t>
            </a:r>
            <a:endParaRPr lang="en-US" sz="1100" dirty="0"/>
          </a:p>
        </p:txBody>
      </p:sp>
      <p:sp>
        <p:nvSpPr>
          <p:cNvPr id="22" name="Text 19"/>
          <p:cNvSpPr txBox="1"/>
          <p:nvPr/>
        </p:nvSpPr>
        <p:spPr>
          <a:xfrm>
            <a:off x="6885432" y="2286000"/>
            <a:ext cx="256032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34" charset="0"/>
                <a:ea typeface="Amiri" pitchFamily="34" charset="-122"/>
                <a:cs typeface="Amiri" pitchFamily="34" charset="-120"/>
              </a:rPr>
              <a:t>أَ</a:t>
            </a:r>
            <a:pPr rtl="1" algn="ctr" indent="0" marL="0">
              <a:buNone/>
            </a:pPr>
            <a:r>
              <a:rPr lang="ar-SA" altLang="en-US" sz="2100" b="1" dirty="0">
                <a:solidFill>
                  <a:srgbClr val="7B3FA0"/>
                </a:solidFill>
                <a:latin typeface="Amiri" pitchFamily="34" charset="0"/>
                <a:ea typeface="Amiri" pitchFamily="34" charset="-122"/>
                <a:cs typeface="Amiri" pitchFamily="34" charset="-120"/>
              </a:rPr>
              <a:t>حْجِزُ</a:t>
            </a:r>
            <a:endParaRPr lang="ar-SA" sz="2100" dirty="0"/>
          </a:p>
        </p:txBody>
      </p:sp>
      <p:sp>
        <p:nvSpPr>
          <p:cNvPr id="23" name="Text 20"/>
          <p:cNvSpPr txBox="1"/>
          <p:nvPr/>
        </p:nvSpPr>
        <p:spPr>
          <a:xfrm>
            <a:off x="6839712" y="2706624"/>
            <a:ext cx="26517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aḥ-ji-zu · I book</a:t>
            </a:r>
            <a:endParaRPr lang="en-US" sz="950" dirty="0"/>
          </a:p>
        </p:txBody>
      </p:sp>
      <p:sp>
        <p:nvSpPr>
          <p:cNvPr id="24" name="Text 21"/>
          <p:cNvSpPr txBox="1"/>
          <p:nvPr/>
        </p:nvSpPr>
        <p:spPr>
          <a:xfrm>
            <a:off x="4142232" y="2286000"/>
            <a:ext cx="256032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34" charset="0"/>
                <a:ea typeface="Amiri" pitchFamily="34" charset="-122"/>
                <a:cs typeface="Amiri" pitchFamily="34" charset="-120"/>
              </a:rPr>
              <a:t>أُ</a:t>
            </a:r>
            <a:pPr rtl="1" algn="ctr" indent="0" marL="0">
              <a:buNone/>
            </a:pPr>
            <a:r>
              <a:rPr lang="ar-SA" altLang="en-US" sz="2100" b="1" dirty="0">
                <a:solidFill>
                  <a:srgbClr val="7B3FA0"/>
                </a:solidFill>
                <a:latin typeface="Amiri" pitchFamily="34" charset="0"/>
                <a:ea typeface="Amiri" pitchFamily="34" charset="-122"/>
                <a:cs typeface="Amiri" pitchFamily="34" charset="-120"/>
              </a:rPr>
              <a:t>قِيمُ</a:t>
            </a:r>
            <a:pPr rtl="1" algn="ctr" indent="0" marL="0">
              <a:buNone/>
            </a:pPr>
            <a:r>
              <a:rPr lang="ar-SA" altLang="en-US" sz="2100" b="1" dirty="0">
                <a:solidFill>
                  <a:srgbClr val="1B3B6F"/>
                </a:solidFill>
                <a:latin typeface="Amiri" pitchFamily="34" charset="0"/>
                <a:ea typeface="Amiri" pitchFamily="34" charset="-122"/>
                <a:cs typeface="Amiri" pitchFamily="34" charset="-120"/>
              </a:rPr>
              <a:t> فِي</a:t>
            </a:r>
            <a:endParaRPr lang="ar-SA" sz="2100" dirty="0"/>
          </a:p>
        </p:txBody>
      </p:sp>
      <p:sp>
        <p:nvSpPr>
          <p:cNvPr id="25" name="Text 22"/>
          <p:cNvSpPr txBox="1"/>
          <p:nvPr/>
        </p:nvSpPr>
        <p:spPr>
          <a:xfrm>
            <a:off x="4096512" y="2706624"/>
            <a:ext cx="26517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u-qī-mu fī · I stay</a:t>
            </a:r>
            <a:endParaRPr lang="en-US" sz="950" dirty="0"/>
          </a:p>
        </p:txBody>
      </p:sp>
      <p:sp>
        <p:nvSpPr>
          <p:cNvPr id="26" name="Text 23"/>
          <p:cNvSpPr txBox="1"/>
          <p:nvPr/>
        </p:nvSpPr>
        <p:spPr>
          <a:xfrm>
            <a:off x="548640" y="2267712"/>
            <a:ext cx="3410712"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34" charset="0"/>
                <a:ea typeface="Amiri" pitchFamily="34" charset="-122"/>
                <a:cs typeface="Amiri" pitchFamily="34" charset="-120"/>
              </a:rPr>
              <a:t>أَحْجِزُ تَذَاكِرِي مُبَكِّرًا</a:t>
            </a:r>
            <a:endParaRPr lang="ar-SA" sz="17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9" name="Shape 26"/>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0" name="Text 27"/>
          <p:cNvSpPr txBox="1"/>
          <p:nvPr/>
        </p:nvSpPr>
        <p:spPr>
          <a:xfrm>
            <a:off x="9646920" y="3054096"/>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later (future)</a:t>
            </a:r>
            <a:endParaRPr lang="en-US" sz="1100" dirty="0"/>
          </a:p>
        </p:txBody>
      </p:sp>
      <p:sp>
        <p:nvSpPr>
          <p:cNvPr id="31" name="Text 28"/>
          <p:cNvSpPr txBox="1"/>
          <p:nvPr/>
        </p:nvSpPr>
        <p:spPr>
          <a:xfrm>
            <a:off x="6885432" y="3072384"/>
            <a:ext cx="256032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34" charset="0"/>
                <a:ea typeface="Amiri" pitchFamily="34" charset="-122"/>
                <a:cs typeface="Amiri" pitchFamily="34" charset="-120"/>
              </a:rPr>
              <a:t>سَ</a:t>
            </a:r>
            <a:pPr rtl="1" algn="ctr" indent="0" marL="0">
              <a:buNone/>
            </a:pPr>
            <a:r>
              <a:rPr lang="ar-SA" altLang="en-US" sz="2100" b="1" dirty="0">
                <a:solidFill>
                  <a:srgbClr val="1D5FBF"/>
                </a:solidFill>
                <a:latin typeface="Amiri" pitchFamily="34" charset="0"/>
                <a:ea typeface="Amiri" pitchFamily="34" charset="-122"/>
                <a:cs typeface="Amiri" pitchFamily="34" charset="-120"/>
              </a:rPr>
              <a:t>أَ</a:t>
            </a:r>
            <a:pPr rtl="1" algn="ctr" indent="0" marL="0">
              <a:buNone/>
            </a:pPr>
            <a:r>
              <a:rPr lang="ar-SA" altLang="en-US" sz="2100" b="1" dirty="0">
                <a:solidFill>
                  <a:srgbClr val="7B3FA0"/>
                </a:solidFill>
                <a:latin typeface="Amiri" pitchFamily="34" charset="0"/>
                <a:ea typeface="Amiri" pitchFamily="34" charset="-122"/>
                <a:cs typeface="Amiri" pitchFamily="34" charset="-120"/>
              </a:rPr>
              <a:t>حْجِزُ</a:t>
            </a:r>
            <a:endParaRPr lang="ar-SA" sz="2100" dirty="0"/>
          </a:p>
        </p:txBody>
      </p:sp>
      <p:sp>
        <p:nvSpPr>
          <p:cNvPr id="32" name="Text 29"/>
          <p:cNvSpPr txBox="1"/>
          <p:nvPr/>
        </p:nvSpPr>
        <p:spPr>
          <a:xfrm>
            <a:off x="6839712" y="3493008"/>
            <a:ext cx="26517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sa-ʾaḥ-ji-zu · I will book</a:t>
            </a:r>
            <a:endParaRPr lang="en-US" sz="950" dirty="0"/>
          </a:p>
        </p:txBody>
      </p:sp>
      <p:sp>
        <p:nvSpPr>
          <p:cNvPr id="33" name="Text 30"/>
          <p:cNvSpPr txBox="1"/>
          <p:nvPr/>
        </p:nvSpPr>
        <p:spPr>
          <a:xfrm>
            <a:off x="4142232" y="3072384"/>
            <a:ext cx="256032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34" charset="0"/>
                <a:ea typeface="Amiri" pitchFamily="34" charset="-122"/>
                <a:cs typeface="Amiri" pitchFamily="34" charset="-120"/>
              </a:rPr>
              <a:t>سَ</a:t>
            </a:r>
            <a:pPr rtl="1" algn="ctr" indent="0" marL="0">
              <a:buNone/>
            </a:pPr>
            <a:r>
              <a:rPr lang="ar-SA" altLang="en-US" sz="2100" b="1" dirty="0">
                <a:solidFill>
                  <a:srgbClr val="1D5FBF"/>
                </a:solidFill>
                <a:latin typeface="Amiri" pitchFamily="34" charset="0"/>
                <a:ea typeface="Amiri" pitchFamily="34" charset="-122"/>
                <a:cs typeface="Amiri" pitchFamily="34" charset="-120"/>
              </a:rPr>
              <a:t>أُ</a:t>
            </a:r>
            <a:pPr rtl="1" algn="ctr" indent="0" marL="0">
              <a:buNone/>
            </a:pPr>
            <a:r>
              <a:rPr lang="ar-SA" altLang="en-US" sz="2100" b="1" dirty="0">
                <a:solidFill>
                  <a:srgbClr val="7B3FA0"/>
                </a:solidFill>
                <a:latin typeface="Amiri" pitchFamily="34" charset="0"/>
                <a:ea typeface="Amiri" pitchFamily="34" charset="-122"/>
                <a:cs typeface="Amiri" pitchFamily="34" charset="-120"/>
              </a:rPr>
              <a:t>قِيمُ</a:t>
            </a:r>
            <a:pPr rtl="1" algn="ctr" indent="0" marL="0">
              <a:buNone/>
            </a:pPr>
            <a:r>
              <a:rPr lang="ar-SA" altLang="en-US" sz="2100" b="1" dirty="0">
                <a:solidFill>
                  <a:srgbClr val="1B3B6F"/>
                </a:solidFill>
                <a:latin typeface="Amiri" pitchFamily="34" charset="0"/>
                <a:ea typeface="Amiri" pitchFamily="34" charset="-122"/>
                <a:cs typeface="Amiri" pitchFamily="34" charset="-120"/>
              </a:rPr>
              <a:t> فِي</a:t>
            </a:r>
            <a:endParaRPr lang="ar-SA" sz="2100" dirty="0"/>
          </a:p>
        </p:txBody>
      </p:sp>
      <p:sp>
        <p:nvSpPr>
          <p:cNvPr id="34" name="Text 31"/>
          <p:cNvSpPr txBox="1"/>
          <p:nvPr/>
        </p:nvSpPr>
        <p:spPr>
          <a:xfrm>
            <a:off x="4096512" y="3493008"/>
            <a:ext cx="26517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sa-ʾu-qī-mu fī</a:t>
            </a:r>
            <a:endParaRPr lang="en-US" sz="950" dirty="0"/>
          </a:p>
        </p:txBody>
      </p:sp>
      <p:sp>
        <p:nvSpPr>
          <p:cNvPr id="35" name="Text 32"/>
          <p:cNvSpPr txBox="1"/>
          <p:nvPr/>
        </p:nvSpPr>
        <p:spPr>
          <a:xfrm>
            <a:off x="548640" y="3054096"/>
            <a:ext cx="3410712"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34" charset="0"/>
                <a:ea typeface="Amiri" pitchFamily="34" charset="-122"/>
                <a:cs typeface="Amiri" pitchFamily="34" charset="-120"/>
              </a:rPr>
              <a:t>سَأَحْجِزُ رِحْلَةً إِلَى مَرَّاكُشَ</a:t>
            </a:r>
            <a:endParaRPr lang="ar-SA" sz="1700" dirty="0"/>
          </a:p>
        </p:txBody>
      </p:sp>
      <p:sp>
        <p:nvSpPr>
          <p:cNvPr id="36" name="Shape 33"/>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8" name="Shape 35"/>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9" name="Text 36"/>
          <p:cNvSpPr txBox="1"/>
          <p:nvPr/>
        </p:nvSpPr>
        <p:spPr>
          <a:xfrm>
            <a:off x="9646920" y="3840480"/>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before (past)</a:t>
            </a:r>
            <a:endParaRPr lang="en-US" sz="1100" dirty="0"/>
          </a:p>
        </p:txBody>
      </p:sp>
      <p:sp>
        <p:nvSpPr>
          <p:cNvPr id="40" name="Text 37"/>
          <p:cNvSpPr txBox="1"/>
          <p:nvPr/>
        </p:nvSpPr>
        <p:spPr>
          <a:xfrm>
            <a:off x="6885432" y="3858768"/>
            <a:ext cx="2560320" cy="453542"/>
          </a:xfrm>
          <a:prstGeom prst="rect">
            <a:avLst/>
          </a:prstGeom>
          <a:noFill/>
          <a:ln/>
        </p:spPr>
        <p:txBody>
          <a:bodyPr wrap="square" lIns="0" tIns="0" rIns="0" bIns="0" rtlCol="0" anchor="ctr"/>
          <a:lstStyle/>
          <a:p>
            <a:pPr rtl="1" algn="ctr" indent="0" marL="0">
              <a:buNone/>
            </a:pPr>
            <a:r>
              <a:rPr lang="ar-SA" altLang="en-US" sz="2100" b="1" dirty="0">
                <a:solidFill>
                  <a:srgbClr val="7B3FA0"/>
                </a:solidFill>
                <a:latin typeface="Amiri" pitchFamily="34" charset="0"/>
                <a:ea typeface="Amiri" pitchFamily="34" charset="-122"/>
                <a:cs typeface="Amiri" pitchFamily="34" charset="-120"/>
              </a:rPr>
              <a:t>حَجَزْ</a:t>
            </a:r>
            <a:pPr rtl="1" algn="ctr" indent="0" marL="0">
              <a:buNone/>
            </a:pPr>
            <a:r>
              <a:rPr lang="ar-SA" altLang="en-US" sz="2100" b="1" dirty="0">
                <a:solidFill>
                  <a:srgbClr val="1D5FBF"/>
                </a:solidFill>
                <a:latin typeface="Amiri" pitchFamily="34" charset="0"/>
                <a:ea typeface="Amiri" pitchFamily="34" charset="-122"/>
                <a:cs typeface="Amiri" pitchFamily="34" charset="-120"/>
              </a:rPr>
              <a:t>تُ</a:t>
            </a:r>
            <a:endParaRPr lang="ar-SA" sz="2100" dirty="0"/>
          </a:p>
        </p:txBody>
      </p:sp>
      <p:sp>
        <p:nvSpPr>
          <p:cNvPr id="41" name="Text 38"/>
          <p:cNvSpPr txBox="1"/>
          <p:nvPr/>
        </p:nvSpPr>
        <p:spPr>
          <a:xfrm>
            <a:off x="6839712" y="4279392"/>
            <a:ext cx="26517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ḥa-jaz-tu · I booked</a:t>
            </a:r>
            <a:endParaRPr lang="en-US" sz="950" dirty="0"/>
          </a:p>
        </p:txBody>
      </p:sp>
      <p:sp>
        <p:nvSpPr>
          <p:cNvPr id="42" name="Text 39"/>
          <p:cNvSpPr txBox="1"/>
          <p:nvPr/>
        </p:nvSpPr>
        <p:spPr>
          <a:xfrm>
            <a:off x="4142232" y="3858768"/>
            <a:ext cx="2560320" cy="453542"/>
          </a:xfrm>
          <a:prstGeom prst="rect">
            <a:avLst/>
          </a:prstGeom>
          <a:noFill/>
          <a:ln/>
        </p:spPr>
        <p:txBody>
          <a:bodyPr wrap="square" lIns="0" tIns="0" rIns="0" bIns="0" rtlCol="0" anchor="ctr"/>
          <a:lstStyle/>
          <a:p>
            <a:pPr rtl="1" algn="ctr" indent="0" marL="0">
              <a:buNone/>
            </a:pPr>
            <a:r>
              <a:rPr lang="ar-SA" altLang="en-US" sz="2100" b="1" dirty="0">
                <a:solidFill>
                  <a:srgbClr val="7B3FA0"/>
                </a:solidFill>
                <a:latin typeface="Amiri" pitchFamily="34" charset="0"/>
                <a:ea typeface="Amiri" pitchFamily="34" charset="-122"/>
                <a:cs typeface="Amiri" pitchFamily="34" charset="-120"/>
              </a:rPr>
              <a:t>أَقَمْ</a:t>
            </a:r>
            <a:pPr rtl="1" algn="ctr" indent="0" marL="0">
              <a:buNone/>
            </a:pPr>
            <a:r>
              <a:rPr lang="ar-SA" altLang="en-US" sz="2100" b="1" dirty="0">
                <a:solidFill>
                  <a:srgbClr val="1D5FBF"/>
                </a:solidFill>
                <a:latin typeface="Amiri" pitchFamily="34" charset="0"/>
                <a:ea typeface="Amiri" pitchFamily="34" charset="-122"/>
                <a:cs typeface="Amiri" pitchFamily="34" charset="-120"/>
              </a:rPr>
              <a:t>تُ</a:t>
            </a:r>
            <a:pPr rtl="1" algn="ctr" indent="0" marL="0">
              <a:buNone/>
            </a:pPr>
            <a:r>
              <a:rPr lang="ar-SA" altLang="en-US" sz="2100" b="1" dirty="0">
                <a:solidFill>
                  <a:srgbClr val="1B3B6F"/>
                </a:solidFill>
                <a:latin typeface="Amiri" pitchFamily="34" charset="0"/>
                <a:ea typeface="Amiri" pitchFamily="34" charset="-122"/>
                <a:cs typeface="Amiri" pitchFamily="34" charset="-120"/>
              </a:rPr>
              <a:t> فِي</a:t>
            </a:r>
            <a:endParaRPr lang="ar-SA" sz="2100" dirty="0"/>
          </a:p>
        </p:txBody>
      </p:sp>
      <p:sp>
        <p:nvSpPr>
          <p:cNvPr id="43" name="Text 40"/>
          <p:cNvSpPr txBox="1"/>
          <p:nvPr/>
        </p:nvSpPr>
        <p:spPr>
          <a:xfrm>
            <a:off x="4096512" y="4279392"/>
            <a:ext cx="26517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a-qam-tu fī · I stayed</a:t>
            </a:r>
            <a:endParaRPr lang="en-US" sz="950" dirty="0"/>
          </a:p>
        </p:txBody>
      </p:sp>
      <p:sp>
        <p:nvSpPr>
          <p:cNvPr id="44" name="Text 41"/>
          <p:cNvSpPr txBox="1"/>
          <p:nvPr/>
        </p:nvSpPr>
        <p:spPr>
          <a:xfrm>
            <a:off x="548640" y="3840480"/>
            <a:ext cx="3410712"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34" charset="0"/>
                <a:ea typeface="Amiri" pitchFamily="34" charset="-122"/>
                <a:cs typeface="Amiri" pitchFamily="34" charset="-120"/>
              </a:rPr>
              <a:t>حَجَزْتُ الفُنْدُقَ قَبْلَ شَهْرٍ</a:t>
            </a:r>
            <a:endParaRPr lang="ar-SA" sz="1700" dirty="0"/>
          </a:p>
        </p:txBody>
      </p:sp>
      <p:sp>
        <p:nvSpPr>
          <p:cNvPr id="45" name="Shape 4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6" name="Text 43"/>
          <p:cNvSpPr txBox="1"/>
          <p:nvPr/>
        </p:nvSpPr>
        <p:spPr>
          <a:xfrm>
            <a:off x="9646920" y="4626864"/>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had (past perfect)</a:t>
            </a:r>
            <a:endParaRPr lang="en-US" sz="1100" dirty="0"/>
          </a:p>
        </p:txBody>
      </p:sp>
      <p:sp>
        <p:nvSpPr>
          <p:cNvPr id="47" name="Text 44"/>
          <p:cNvSpPr txBox="1"/>
          <p:nvPr/>
        </p:nvSpPr>
        <p:spPr>
          <a:xfrm>
            <a:off x="6885432" y="4645152"/>
            <a:ext cx="256032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34" charset="0"/>
                <a:ea typeface="Amiri" pitchFamily="34" charset="-122"/>
                <a:cs typeface="Amiri" pitchFamily="34" charset="-120"/>
              </a:rPr>
              <a:t>كُنْتُ قَدْ</a:t>
            </a:r>
            <a:pPr rtl="1" algn="ctr" indent="0" marL="0">
              <a:buNone/>
            </a:pPr>
            <a:r>
              <a:rPr lang="ar-SA" altLang="en-US" sz="2100" b="1" dirty="0">
                <a:solidFill>
                  <a:srgbClr val="1B3B6F"/>
                </a:solidFill>
                <a:latin typeface="Amiri" pitchFamily="34" charset="0"/>
                <a:ea typeface="Amiri" pitchFamily="34" charset="-122"/>
                <a:cs typeface="Amiri" pitchFamily="34" charset="-120"/>
              </a:rPr>
              <a:t> حَجَزْتُ</a:t>
            </a:r>
            <a:endParaRPr lang="ar-SA" sz="2100" dirty="0"/>
          </a:p>
        </p:txBody>
      </p:sp>
      <p:sp>
        <p:nvSpPr>
          <p:cNvPr id="48" name="Text 45"/>
          <p:cNvSpPr txBox="1"/>
          <p:nvPr/>
        </p:nvSpPr>
        <p:spPr>
          <a:xfrm>
            <a:off x="6839712" y="5065776"/>
            <a:ext cx="26517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kun-tu qad ḥa-jaz-tu</a:t>
            </a:r>
            <a:endParaRPr lang="en-US" sz="950" dirty="0"/>
          </a:p>
        </p:txBody>
      </p:sp>
      <p:sp>
        <p:nvSpPr>
          <p:cNvPr id="49" name="Text 46"/>
          <p:cNvSpPr txBox="1"/>
          <p:nvPr/>
        </p:nvSpPr>
        <p:spPr>
          <a:xfrm>
            <a:off x="4142232" y="4645152"/>
            <a:ext cx="256032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34" charset="0"/>
                <a:ea typeface="Amiri" pitchFamily="34" charset="-122"/>
                <a:cs typeface="Amiri" pitchFamily="34" charset="-120"/>
              </a:rPr>
              <a:t>كُنْتُ قَدْ</a:t>
            </a:r>
            <a:pPr rtl="1" algn="ctr" indent="0" marL="0">
              <a:buNone/>
            </a:pPr>
            <a:r>
              <a:rPr lang="ar-SA" altLang="en-US" sz="2100" b="1" dirty="0">
                <a:solidFill>
                  <a:srgbClr val="1B3B6F"/>
                </a:solidFill>
                <a:latin typeface="Amiri" pitchFamily="34" charset="0"/>
                <a:ea typeface="Amiri" pitchFamily="34" charset="-122"/>
                <a:cs typeface="Amiri" pitchFamily="34" charset="-120"/>
              </a:rPr>
              <a:t> أَقَمْتُ فِي</a:t>
            </a:r>
            <a:endParaRPr lang="ar-SA" sz="2100" dirty="0"/>
          </a:p>
        </p:txBody>
      </p:sp>
      <p:sp>
        <p:nvSpPr>
          <p:cNvPr id="50" name="Text 47"/>
          <p:cNvSpPr txBox="1"/>
          <p:nvPr/>
        </p:nvSpPr>
        <p:spPr>
          <a:xfrm>
            <a:off x="4096512" y="5065776"/>
            <a:ext cx="26517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kun-tu qad a-qam-tu fī</a:t>
            </a:r>
            <a:endParaRPr lang="en-US" sz="950" dirty="0"/>
          </a:p>
        </p:txBody>
      </p:sp>
      <p:sp>
        <p:nvSpPr>
          <p:cNvPr id="51" name="Text 48"/>
          <p:cNvSpPr txBox="1"/>
          <p:nvPr/>
        </p:nvSpPr>
        <p:spPr>
          <a:xfrm>
            <a:off x="548640" y="4626864"/>
            <a:ext cx="3410712"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34" charset="0"/>
                <a:ea typeface="Amiri" pitchFamily="34" charset="-122"/>
                <a:cs typeface="Amiri" pitchFamily="34" charset="-120"/>
              </a:rPr>
              <a:t>كُنْتُ قَدْ حَجَزْتُ رِحْلَتِي قَبْلَ شَهْرَيْنِ</a:t>
            </a:r>
            <a:endParaRPr lang="ar-SA" sz="170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48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5 · GRAMMAR PART 2 · IMPERATIVE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Instructions: “Do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فِعْلُ الأَمْرِ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958291"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instruction</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اِحْجِزْ</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Book!</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iḥ-jiz</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he …</a:t>
            </a:r>
            <a:endParaRPr lang="en-US" sz="700" dirty="0"/>
          </a:p>
        </p:txBody>
      </p:sp>
      <p:sp>
        <p:nvSpPr>
          <p:cNvPr id="26" name="Text 23"/>
          <p:cNvSpPr txBox="1"/>
          <p:nvPr/>
        </p:nvSpPr>
        <p:spPr>
          <a:xfrm>
            <a:off x="100126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يَحْجِزُ</a:t>
            </a:r>
            <a:endParaRPr lang="ar-SA" sz="135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do it!</a:t>
            </a:r>
            <a:endParaRPr lang="en-US" sz="700" dirty="0"/>
          </a:p>
        </p:txBody>
      </p:sp>
      <p:sp>
        <p:nvSpPr>
          <p:cNvPr id="29" name="Text 26"/>
          <p:cNvSpPr txBox="1"/>
          <p:nvPr/>
        </p:nvSpPr>
        <p:spPr>
          <a:xfrm>
            <a:off x="8284464"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اِحْجِزْ</a:t>
            </a:r>
            <a:endParaRPr lang="ar-SA" sz="135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33" name="Shape 30"/>
          <p:cNvSpPr/>
          <p:nvPr/>
        </p:nvSpPr>
        <p:spPr>
          <a:xfrm>
            <a:off x="4782312" y="1938528"/>
            <a:ext cx="958291"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instruction</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أَحْضِرْ</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Bring!</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aḥ-ḍir</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he …</a:t>
            </a:r>
            <a:endParaRPr lang="en-US" sz="700" dirty="0"/>
          </a:p>
        </p:txBody>
      </p:sp>
      <p:sp>
        <p:nvSpPr>
          <p:cNvPr id="41" name="Text 38"/>
          <p:cNvSpPr txBox="1"/>
          <p:nvPr/>
        </p:nvSpPr>
        <p:spPr>
          <a:xfrm>
            <a:off x="6190488"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يُحْضِرُ</a:t>
            </a:r>
            <a:endParaRPr lang="ar-SA" sz="135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do it!</a:t>
            </a:r>
            <a:endParaRPr lang="en-US" sz="700" dirty="0"/>
          </a:p>
        </p:txBody>
      </p:sp>
      <p:sp>
        <p:nvSpPr>
          <p:cNvPr id="44" name="Text 41"/>
          <p:cNvSpPr txBox="1"/>
          <p:nvPr/>
        </p:nvSpPr>
        <p:spPr>
          <a:xfrm>
            <a:off x="4462272"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أَحْضِرْ</a:t>
            </a:r>
            <a:endParaRPr lang="ar-SA" sz="135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48" name="Shape 45"/>
          <p:cNvSpPr/>
          <p:nvPr/>
        </p:nvSpPr>
        <p:spPr>
          <a:xfrm>
            <a:off x="960120" y="1938528"/>
            <a:ext cx="958291"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instruction</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سَجِّلْ</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Register! Check in!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saj-jil</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he …</a:t>
            </a:r>
            <a:endParaRPr lang="en-US" sz="700" dirty="0"/>
          </a:p>
        </p:txBody>
      </p:sp>
      <p:sp>
        <p:nvSpPr>
          <p:cNvPr id="56" name="Text 53"/>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يُسَجِّلُ</a:t>
            </a:r>
            <a:endParaRPr lang="ar-SA" sz="135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do it!</a:t>
            </a:r>
            <a:endParaRPr lang="en-US" sz="700" dirty="0"/>
          </a:p>
        </p:txBody>
      </p:sp>
      <p:sp>
        <p:nvSpPr>
          <p:cNvPr id="59" name="Text 56"/>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سَجِّلْ</a:t>
            </a:r>
            <a:endParaRPr lang="ar-SA" sz="135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63" name="Shape 60"/>
          <p:cNvSpPr/>
          <p:nvPr/>
        </p:nvSpPr>
        <p:spPr>
          <a:xfrm>
            <a:off x="8604504" y="4279392"/>
            <a:ext cx="958291"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instruction</a:t>
            </a:r>
            <a:endParaRPr lang="en-US" sz="800" dirty="0"/>
          </a:p>
        </p:txBody>
      </p:sp>
      <p:sp>
        <p:nvSpPr>
          <p:cNvPr id="65" name="Text 62"/>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جَدِّدْ</a:t>
            </a:r>
            <a:endParaRPr lang="ar-SA" sz="3000" dirty="0"/>
          </a:p>
        </p:txBody>
      </p:sp>
      <p:sp>
        <p:nvSpPr>
          <p:cNvPr id="66" name="Text 63"/>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Renew!</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jad-did</a:t>
            </a:r>
            <a:endParaRPr lang="en-US" sz="1350" dirty="0"/>
          </a:p>
        </p:txBody>
      </p:sp>
      <p:sp>
        <p:nvSpPr>
          <p:cNvPr id="67" name="Shape 64"/>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8" name="Text 65"/>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he …</a:t>
            </a:r>
            <a:endParaRPr lang="en-US" sz="700" dirty="0"/>
          </a:p>
        </p:txBody>
      </p:sp>
      <p:sp>
        <p:nvSpPr>
          <p:cNvPr id="69" name="Text 66"/>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يُجَدِّدُ</a:t>
            </a:r>
            <a:endParaRPr lang="ar-SA" sz="1350" dirty="0"/>
          </a:p>
        </p:txBody>
      </p:sp>
      <p:sp>
        <p:nvSpPr>
          <p:cNvPr id="70" name="Shape 67"/>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1" name="Text 68"/>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do it!</a:t>
            </a:r>
            <a:endParaRPr lang="en-US" sz="700" dirty="0"/>
          </a:p>
        </p:txBody>
      </p:sp>
      <p:sp>
        <p:nvSpPr>
          <p:cNvPr id="72" name="Text 69"/>
          <p:cNvSpPr txBox="1"/>
          <p:nvPr/>
        </p:nvSpPr>
        <p:spPr>
          <a:xfrm>
            <a:off x="8284464"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جَدِّدْ</a:t>
            </a:r>
            <a:endParaRPr lang="ar-SA" sz="1350" dirty="0"/>
          </a:p>
        </p:txBody>
      </p:sp>
      <p:sp>
        <p:nvSpPr>
          <p:cNvPr id="73" name="Shape 7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4" name="Shape 71"/>
          <p:cNvSpPr/>
          <p:nvPr/>
        </p:nvSpPr>
        <p:spPr>
          <a:xfrm>
            <a:off x="4389120" y="4261104"/>
            <a:ext cx="310896" cy="310896"/>
          </a:xfrm>
          <a:prstGeom prst="ellipse">
            <a:avLst/>
          </a:prstGeom>
          <a:solidFill>
            <a:srgbClr val="F4F1EA"/>
          </a:solidFill>
          <a:ln w="12700">
            <a:solidFill>
              <a:srgbClr val="F4F1EA"/>
            </a:solidFill>
            <a:prstDash val="solid"/>
          </a:ln>
        </p:spPr>
      </p:sp>
      <p:sp>
        <p:nvSpPr>
          <p:cNvPr id="75" name="Text 7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76" name="Shape 73"/>
          <p:cNvSpPr/>
          <p:nvPr/>
        </p:nvSpPr>
        <p:spPr>
          <a:xfrm>
            <a:off x="4782312" y="4279392"/>
            <a:ext cx="958291" cy="256032"/>
          </a:xfrm>
          <a:prstGeom prst="roundRect">
            <a:avLst>
              <a:gd name="adj" fmla="val 50000"/>
            </a:avLst>
          </a:prstGeom>
          <a:solidFill>
            <a:srgbClr val="EFE7D2"/>
          </a:solidFill>
          <a:ln w="12700">
            <a:solidFill>
              <a:srgbClr val="EFE7D2"/>
            </a:solidFill>
            <a:prstDash val="solid"/>
          </a:ln>
        </p:spPr>
      </p:sp>
      <p:sp>
        <p:nvSpPr>
          <p:cNvPr id="77" name="Text 74"/>
          <p:cNvSpPr txBox="1"/>
          <p:nvPr/>
        </p:nvSpPr>
        <p:spPr>
          <a:xfrm>
            <a:off x="4782312"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instruction</a:t>
            </a:r>
            <a:endParaRPr lang="en-US" sz="800" dirty="0"/>
          </a:p>
        </p:txBody>
      </p:sp>
      <p:sp>
        <p:nvSpPr>
          <p:cNvPr id="78" name="Text 75"/>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اِشْتَرِ</a:t>
            </a:r>
            <a:endParaRPr lang="ar-SA" sz="3000" dirty="0"/>
          </a:p>
        </p:txBody>
      </p:sp>
      <p:sp>
        <p:nvSpPr>
          <p:cNvPr id="79" name="Text 76"/>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Buy!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ish-ta-ri</a:t>
            </a:r>
            <a:endParaRPr lang="en-US" sz="1350" dirty="0"/>
          </a:p>
        </p:txBody>
      </p:sp>
      <p:sp>
        <p:nvSpPr>
          <p:cNvPr id="80" name="Shape 77"/>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1" name="Text 78"/>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he …</a:t>
            </a:r>
            <a:endParaRPr lang="en-US" sz="700" dirty="0"/>
          </a:p>
        </p:txBody>
      </p:sp>
      <p:sp>
        <p:nvSpPr>
          <p:cNvPr id="82" name="Text 79"/>
          <p:cNvSpPr txBox="1"/>
          <p:nvPr/>
        </p:nvSpPr>
        <p:spPr>
          <a:xfrm>
            <a:off x="6190488"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يَشْتَرِي</a:t>
            </a:r>
            <a:endParaRPr lang="ar-SA" sz="1350" dirty="0"/>
          </a:p>
        </p:txBody>
      </p:sp>
      <p:sp>
        <p:nvSpPr>
          <p:cNvPr id="83" name="Shape 80"/>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4" name="Text 81"/>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do it!</a:t>
            </a:r>
            <a:endParaRPr lang="en-US" sz="700" dirty="0"/>
          </a:p>
        </p:txBody>
      </p:sp>
      <p:sp>
        <p:nvSpPr>
          <p:cNvPr id="85" name="Text 82"/>
          <p:cNvSpPr txBox="1"/>
          <p:nvPr/>
        </p:nvSpPr>
        <p:spPr>
          <a:xfrm>
            <a:off x="4462272"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اِشْتَرِ</a:t>
            </a:r>
            <a:endParaRPr lang="ar-SA" sz="1350" dirty="0"/>
          </a:p>
        </p:txBody>
      </p:sp>
      <p:sp>
        <p:nvSpPr>
          <p:cNvPr id="86" name="Shape 8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7" name="Shape 84"/>
          <p:cNvSpPr/>
          <p:nvPr/>
        </p:nvSpPr>
        <p:spPr>
          <a:xfrm>
            <a:off x="566928" y="4261104"/>
            <a:ext cx="310896" cy="310896"/>
          </a:xfrm>
          <a:prstGeom prst="ellipse">
            <a:avLst/>
          </a:prstGeom>
          <a:solidFill>
            <a:srgbClr val="F4F1EA"/>
          </a:solidFill>
          <a:ln w="12700">
            <a:solidFill>
              <a:srgbClr val="F4F1EA"/>
            </a:solidFill>
            <a:prstDash val="solid"/>
          </a:ln>
        </p:spPr>
      </p:sp>
      <p:sp>
        <p:nvSpPr>
          <p:cNvPr id="88" name="Text 8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89" name="Shape 86"/>
          <p:cNvSpPr/>
          <p:nvPr/>
        </p:nvSpPr>
        <p:spPr>
          <a:xfrm>
            <a:off x="960120" y="4279392"/>
            <a:ext cx="958291" cy="256032"/>
          </a:xfrm>
          <a:prstGeom prst="roundRect">
            <a:avLst>
              <a:gd name="adj" fmla="val 50000"/>
            </a:avLst>
          </a:prstGeom>
          <a:solidFill>
            <a:srgbClr val="EFE7D2"/>
          </a:solidFill>
          <a:ln w="12700">
            <a:solidFill>
              <a:srgbClr val="EFE7D2"/>
            </a:solidFill>
            <a:prstDash val="solid"/>
          </a:ln>
        </p:spPr>
      </p:sp>
      <p:sp>
        <p:nvSpPr>
          <p:cNvPr id="90" name="Text 87"/>
          <p:cNvSpPr txBox="1"/>
          <p:nvPr/>
        </p:nvSpPr>
        <p:spPr>
          <a:xfrm>
            <a:off x="960120"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instruction</a:t>
            </a:r>
            <a:endParaRPr lang="en-US" sz="800" dirty="0"/>
          </a:p>
        </p:txBody>
      </p:sp>
      <p:sp>
        <p:nvSpPr>
          <p:cNvPr id="91" name="Text 88"/>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اِقْرَأْ</a:t>
            </a:r>
            <a:endParaRPr lang="ar-SA" sz="3000" dirty="0"/>
          </a:p>
        </p:txBody>
      </p:sp>
      <p:sp>
        <p:nvSpPr>
          <p:cNvPr id="92" name="Text 89"/>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Read!</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iq-raʾ</a:t>
            </a:r>
            <a:endParaRPr lang="en-US" sz="1350" dirty="0"/>
          </a:p>
        </p:txBody>
      </p:sp>
      <p:sp>
        <p:nvSpPr>
          <p:cNvPr id="93" name="Shape 90"/>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4" name="Text 91"/>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he …</a:t>
            </a:r>
            <a:endParaRPr lang="en-US" sz="700" dirty="0"/>
          </a:p>
        </p:txBody>
      </p:sp>
      <p:sp>
        <p:nvSpPr>
          <p:cNvPr id="95" name="Text 92"/>
          <p:cNvSpPr txBox="1"/>
          <p:nvPr/>
        </p:nvSpPr>
        <p:spPr>
          <a:xfrm>
            <a:off x="2368296"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يَقْرَأُ</a:t>
            </a:r>
            <a:endParaRPr lang="ar-SA" sz="1350" dirty="0"/>
          </a:p>
        </p:txBody>
      </p:sp>
      <p:sp>
        <p:nvSpPr>
          <p:cNvPr id="96" name="Shape 93"/>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97" name="Text 94"/>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do it!</a:t>
            </a:r>
            <a:endParaRPr lang="en-US" sz="700" dirty="0"/>
          </a:p>
        </p:txBody>
      </p:sp>
      <p:sp>
        <p:nvSpPr>
          <p:cNvPr id="98" name="Text 95"/>
          <p:cNvSpPr txBox="1"/>
          <p:nvPr/>
        </p:nvSpPr>
        <p:spPr>
          <a:xfrm>
            <a:off x="6400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اِقْرَأْ</a:t>
            </a:r>
            <a:endParaRPr lang="ar-SA" sz="1350" dirty="0"/>
          </a:p>
        </p:txBody>
      </p:sp>
      <p:sp>
        <p:nvSpPr>
          <p:cNvPr id="99" name="Text 9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48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3 · READING DOCUMENTS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Stay at · do it · it has been done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لُغَةُ الوَثَائِقِ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165860" cy="274320"/>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8232648" y="1920240"/>
            <a:ext cx="11658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STAY AT · فِي</a:t>
            </a:r>
            <a:endParaRPr lang="en-US" sz="850" dirty="0"/>
          </a:p>
        </p:txBody>
      </p:sp>
      <p:sp>
        <p:nvSpPr>
          <p:cNvPr id="18" name="Text 15"/>
          <p:cNvSpPr txBox="1"/>
          <p:nvPr/>
        </p:nvSpPr>
        <p:spPr>
          <a:xfrm>
            <a:off x="9444228" y="1874520"/>
            <a:ext cx="21503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يُقِيمُ فِي</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450" b="1" dirty="0">
                <a:solidFill>
                  <a:srgbClr val="1B3B6F"/>
                </a:solidFill>
                <a:latin typeface="Amiri" pitchFamily="34" charset="0"/>
                <a:ea typeface="Amiri" pitchFamily="34" charset="-122"/>
                <a:cs typeface="Amiri" pitchFamily="34" charset="-120"/>
              </a:rPr>
              <a:t>أُقِيمُ فِي فُنْدُقٍ قَرِيبٍ مِنَ الشَّاطِئِ</a:t>
            </a:r>
            <a:endParaRPr lang="ar-SA" sz="24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I stay at a hotel near the beach.</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34" charset="0"/>
                <a:ea typeface="Amiri" pitchFamily="34" charset="-122"/>
                <a:cs typeface="Amiri" pitchFamily="34" charset="-120"/>
              </a:rPr>
              <a:t>يُقِيمُ</a:t>
            </a:r>
            <a:pPr algn="l" indent="0" marL="0">
              <a:buNone/>
            </a:pPr>
            <a:r>
              <a:rPr lang="en-US" sz="1100" dirty="0">
                <a:solidFill>
                  <a:srgbClr val="1F2A37"/>
                </a:solidFill>
                <a:latin typeface="Calibri" pitchFamily="34" charset="0"/>
                <a:ea typeface="Calibri" pitchFamily="34" charset="-122"/>
                <a:cs typeface="Calibri" pitchFamily="34" charset="-120"/>
              </a:rPr>
              <a:t> always takes </a:t>
            </a:r>
            <a:pPr algn="l" indent="0" marL="0">
              <a:buNone/>
            </a:pPr>
            <a:r>
              <a:rPr lang="ar-SA" altLang="en-US" sz="1450" dirty="0">
                <a:solidFill>
                  <a:srgbClr val="1F2A37"/>
                </a:solidFill>
                <a:latin typeface="Amiri" pitchFamily="34" charset="0"/>
                <a:ea typeface="Amiri" pitchFamily="34" charset="-122"/>
                <a:cs typeface="Amiri" pitchFamily="34" charset="-120"/>
              </a:rPr>
              <a:t>فِي</a:t>
            </a:r>
            <a:pPr algn="l" indent="0" marL="0">
              <a:buNone/>
            </a:pPr>
            <a:r>
              <a:rPr lang="en-US" sz="1100" dirty="0">
                <a:solidFill>
                  <a:srgbClr val="1F2A37"/>
                </a:solidFill>
                <a:latin typeface="Calibri" pitchFamily="34" charset="0"/>
                <a:ea typeface="Calibri" pitchFamily="34" charset="-122"/>
                <a:cs typeface="Calibri" pitchFamily="34" charset="-120"/>
              </a:rPr>
              <a:t> before the place (website rule).</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920240" cy="274320"/>
          </a:xfrm>
          <a:prstGeom prst="roundRect">
            <a:avLst>
              <a:gd name="adj" fmla="val 50000"/>
            </a:avLst>
          </a:prstGeom>
          <a:solidFill>
            <a:srgbClr val="0E7C86"/>
          </a:solidFill>
          <a:ln w="12700">
            <a:solidFill>
              <a:srgbClr val="0E7C86"/>
            </a:solidFill>
            <a:prstDash val="solid"/>
          </a:ln>
        </p:spPr>
      </p:sp>
      <p:sp>
        <p:nvSpPr>
          <p:cNvPr id="25" name="Text 22"/>
          <p:cNvSpPr txBox="1"/>
          <p:nvPr/>
        </p:nvSpPr>
        <p:spPr>
          <a:xfrm>
            <a:off x="4413504" y="1920240"/>
            <a:ext cx="19202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INSTRUCTION · imperative</a:t>
            </a:r>
            <a:endParaRPr lang="en-US" sz="850" dirty="0"/>
          </a:p>
        </p:txBody>
      </p:sp>
      <p:sp>
        <p:nvSpPr>
          <p:cNvPr id="26" name="Text 23"/>
          <p:cNvSpPr txBox="1"/>
          <p:nvPr/>
        </p:nvSpPr>
        <p:spPr>
          <a:xfrm>
            <a:off x="6379464" y="1874520"/>
            <a:ext cx="13959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أَحْضِرْ</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أَحْضِرْ جَوَازَ سَفَرِكَ</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Bring your passport.</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Forms and messages give instructions: </a:t>
            </a:r>
            <a:pPr algn="l" indent="0" marL="0">
              <a:buNone/>
            </a:pPr>
            <a:r>
              <a:rPr lang="ar-SA" altLang="en-US" sz="1450" dirty="0">
                <a:solidFill>
                  <a:srgbClr val="1F2A37"/>
                </a:solidFill>
                <a:latin typeface="Amiri" pitchFamily="34" charset="0"/>
                <a:ea typeface="Amiri" pitchFamily="34" charset="-122"/>
                <a:cs typeface="Amiri" pitchFamily="34" charset="-120"/>
              </a:rPr>
              <a:t>أَحْضِرْ</a:t>
            </a:r>
            <a:pPr algn="l" indent="0" marL="0">
              <a:buNone/>
            </a:pPr>
            <a:r>
              <a:rPr lang="en-US" sz="1100" dirty="0">
                <a:solidFill>
                  <a:srgbClr val="1F2A37"/>
                </a:solidFill>
                <a:latin typeface="Calibri" pitchFamily="34" charset="0"/>
                <a:ea typeface="Calibri" pitchFamily="34" charset="-122"/>
                <a:cs typeface="Calibri" pitchFamily="34" charset="-120"/>
              </a:rPr>
              <a:t> · </a:t>
            </a:r>
            <a:pPr algn="l" indent="0" marL="0">
              <a:buNone/>
            </a:pPr>
            <a:r>
              <a:rPr lang="ar-SA" altLang="en-US" sz="1450" dirty="0">
                <a:solidFill>
                  <a:srgbClr val="1F2A37"/>
                </a:solidFill>
                <a:latin typeface="Amiri" pitchFamily="34" charset="0"/>
                <a:ea typeface="Amiri" pitchFamily="34" charset="-122"/>
                <a:cs typeface="Amiri" pitchFamily="34" charset="-120"/>
              </a:rPr>
              <a:t>سَجِّلْ</a:t>
            </a:r>
            <a:pPr algn="l" indent="0" marL="0">
              <a:buNone/>
            </a:pPr>
            <a:r>
              <a:rPr lang="en-US" sz="1100" dirty="0">
                <a:solidFill>
                  <a:srgbClr val="1F2A37"/>
                </a:solidFill>
                <a:latin typeface="Calibri" pitchFamily="34" charset="0"/>
                <a:ea typeface="Calibri" pitchFamily="34" charset="-122"/>
                <a:cs typeface="Calibri" pitchFamily="34" charset="-120"/>
              </a:rPr>
              <a:t> · </a:t>
            </a:r>
            <a:pPr algn="l" indent="0" marL="0">
              <a:buNone/>
            </a:pPr>
            <a:r>
              <a:rPr lang="ar-SA" altLang="en-US" sz="1450" dirty="0">
                <a:solidFill>
                  <a:srgbClr val="1F2A37"/>
                </a:solidFill>
                <a:latin typeface="Amiri" pitchFamily="34" charset="0"/>
                <a:ea typeface="Amiri" pitchFamily="34" charset="-122"/>
                <a:cs typeface="Amiri" pitchFamily="34" charset="-120"/>
              </a:rPr>
              <a:t>اِحْجِزْ</a:t>
            </a:r>
            <a:pPr algn="l"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77340" cy="274320"/>
          </a:xfrm>
          <a:prstGeom prst="roundRect">
            <a:avLst>
              <a:gd name="adj" fmla="val 50000"/>
            </a:avLst>
          </a:prstGeom>
          <a:solidFill>
            <a:srgbClr val="7B3FA0"/>
          </a:solidFill>
          <a:ln w="12700">
            <a:solidFill>
              <a:srgbClr val="7B3FA0"/>
            </a:solidFill>
            <a:prstDash val="solid"/>
          </a:ln>
        </p:spPr>
      </p:sp>
      <p:sp>
        <p:nvSpPr>
          <p:cNvPr id="33" name="Text 30"/>
          <p:cNvSpPr txBox="1"/>
          <p:nvPr/>
        </p:nvSpPr>
        <p:spPr>
          <a:xfrm>
            <a:off x="594360"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DONE · تَمَّ + noun</a:t>
            </a:r>
            <a:endParaRPr lang="en-US" sz="850" dirty="0"/>
          </a:p>
        </p:txBody>
      </p:sp>
      <p:sp>
        <p:nvSpPr>
          <p:cNvPr id="34" name="Text 31"/>
          <p:cNvSpPr txBox="1"/>
          <p:nvPr/>
        </p:nvSpPr>
        <p:spPr>
          <a:xfrm>
            <a:off x="2217420"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تَمَّ</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تَمَّ حَجْزُ رِحْلَتِكَ</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Your trip has been booked.</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In messages, </a:t>
            </a:r>
            <a:pPr algn="l" indent="0" marL="0">
              <a:buNone/>
            </a:pPr>
            <a:r>
              <a:rPr lang="ar-SA" altLang="en-US" sz="1450" dirty="0">
                <a:solidFill>
                  <a:srgbClr val="1F2A37"/>
                </a:solidFill>
                <a:latin typeface="Amiri" pitchFamily="34" charset="0"/>
                <a:ea typeface="Amiri" pitchFamily="34" charset="-122"/>
                <a:cs typeface="Amiri" pitchFamily="34" charset="-120"/>
              </a:rPr>
              <a:t>تَمَّ</a:t>
            </a:r>
            <a:pPr algn="l" indent="0" marL="0">
              <a:buNone/>
            </a:pPr>
            <a:r>
              <a:rPr lang="en-US" sz="1100" dirty="0">
                <a:solidFill>
                  <a:srgbClr val="1F2A37"/>
                </a:solidFill>
                <a:latin typeface="Calibri" pitchFamily="34" charset="0"/>
                <a:ea typeface="Calibri" pitchFamily="34" charset="-122"/>
                <a:cs typeface="Calibri" pitchFamily="34" charset="-120"/>
              </a:rPr>
              <a:t> + a verbal noun = “has been done” (passive meaning).</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ea typeface="Calibri" pitchFamily="34" charset="-122"/>
                <a:cs typeface="Calibri" pitchFamily="34" charset="-120"/>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ea typeface="Calibri" pitchFamily="34" charset="-122"/>
                <a:cs typeface="Calibri" pitchFamily="34" charset="-120"/>
              </a:rPr>
              <a:t>The website’s common mistakes: dropping </a:t>
            </a:r>
            <a:pPr algn="l" indent="0" marL="0">
              <a:buNone/>
            </a:pPr>
            <a:r>
              <a:rPr lang="ar-SA" altLang="en-US" sz="1500" dirty="0">
                <a:solidFill>
                  <a:srgbClr val="1F2A37"/>
                </a:solidFill>
                <a:latin typeface="Amiri" pitchFamily="34" charset="0"/>
                <a:ea typeface="Amiri" pitchFamily="34" charset="-122"/>
                <a:cs typeface="Amiri" pitchFamily="34" charset="-120"/>
              </a:rPr>
              <a:t>فِي</a:t>
            </a:r>
            <a:pPr algn="l" indent="0" marL="0">
              <a:buNone/>
            </a:pPr>
            <a:r>
              <a:rPr lang="en-US" sz="1150" dirty="0">
                <a:solidFill>
                  <a:srgbClr val="1F2A37"/>
                </a:solidFill>
                <a:latin typeface="Calibri" pitchFamily="34" charset="0"/>
                <a:ea typeface="Calibri" pitchFamily="34" charset="-122"/>
                <a:cs typeface="Calibri" pitchFamily="34" charset="-120"/>
              </a:rPr>
              <a:t> after </a:t>
            </a:r>
            <a:pPr algn="l" indent="0" marL="0">
              <a:buNone/>
            </a:pPr>
            <a:r>
              <a:rPr lang="ar-SA" altLang="en-US" sz="1500" dirty="0">
                <a:solidFill>
                  <a:srgbClr val="1F2A37"/>
                </a:solidFill>
                <a:latin typeface="Amiri" pitchFamily="34" charset="0"/>
                <a:ea typeface="Amiri" pitchFamily="34" charset="-122"/>
                <a:cs typeface="Amiri" pitchFamily="34" charset="-120"/>
              </a:rPr>
              <a:t>يُقِيمُ</a:t>
            </a:r>
            <a:pPr algn="l" indent="0" marL="0">
              <a:buNone/>
            </a:pPr>
            <a:r>
              <a:rPr lang="en-US" sz="1150" dirty="0">
                <a:solidFill>
                  <a:srgbClr val="1F2A37"/>
                </a:solidFill>
                <a:latin typeface="Calibri" pitchFamily="34" charset="0"/>
                <a:ea typeface="Calibri" pitchFamily="34" charset="-122"/>
                <a:cs typeface="Calibri" pitchFamily="34" charset="-120"/>
              </a:rPr>
              <a:t>, and a present verb after </a:t>
            </a:r>
            <a:pPr algn="l" indent="0" marL="0">
              <a:buNone/>
            </a:pPr>
            <a:r>
              <a:rPr lang="ar-SA" altLang="en-US" sz="1500" dirty="0">
                <a:solidFill>
                  <a:srgbClr val="1F2A37"/>
                </a:solidFill>
                <a:latin typeface="Amiri" pitchFamily="34" charset="0"/>
                <a:ea typeface="Amiri" pitchFamily="34" charset="-122"/>
                <a:cs typeface="Amiri" pitchFamily="34" charset="-120"/>
              </a:rPr>
              <a:t>إِذَا</a:t>
            </a:r>
            <a:pPr algn="l" indent="0" marL="0">
              <a:buNone/>
            </a:pPr>
            <a:r>
              <a:rPr lang="en-US" sz="1150" dirty="0">
                <a:solidFill>
                  <a:srgbClr val="1F2A37"/>
                </a:solidFill>
                <a:latin typeface="Calibri" pitchFamily="34" charset="0"/>
                <a:ea typeface="Calibri" pitchFamily="34" charset="-122"/>
                <a:cs typeface="Calibri" pitchFamily="34" charset="-120"/>
              </a:rPr>
              <a:t>.</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أُقِيمُ فِي فُنْدُقٍ</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34" charset="0"/>
                <a:ea typeface="Amiri" pitchFamily="34" charset="-122"/>
                <a:cs typeface="Amiri" pitchFamily="34" charset="-120"/>
              </a:rPr>
              <a:t>أُقِيمُ فُنْدُقًا</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626364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إِذَا حَجَزْتَ</a:t>
            </a:r>
            <a:endParaRPr lang="ar-SA" sz="2600" dirty="0"/>
          </a:p>
        </p:txBody>
      </p:sp>
      <p:sp>
        <p:nvSpPr>
          <p:cNvPr id="47" name="Text 44"/>
          <p:cNvSpPr txBox="1"/>
          <p:nvPr/>
        </p:nvSpPr>
        <p:spPr>
          <a:xfrm>
            <a:off x="589788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8" name="Text 45"/>
          <p:cNvSpPr txBox="1"/>
          <p:nvPr/>
        </p:nvSpPr>
        <p:spPr>
          <a:xfrm>
            <a:off x="429768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34" charset="0"/>
                <a:ea typeface="Amiri" pitchFamily="34" charset="-122"/>
                <a:cs typeface="Amiri" pitchFamily="34" charset="-120"/>
              </a:rPr>
              <a:t>إِذَا تَحْجِزُ</a:t>
            </a:r>
            <a:endParaRPr lang="ar-SA" sz="2600" dirty="0"/>
          </a:p>
        </p:txBody>
      </p:sp>
      <p:sp>
        <p:nvSpPr>
          <p:cNvPr id="49" name="Shape 46"/>
          <p:cNvSpPr/>
          <p:nvPr/>
        </p:nvSpPr>
        <p:spPr>
          <a:xfrm>
            <a:off x="4434840" y="5669280"/>
            <a:ext cx="1371600" cy="0"/>
          </a:xfrm>
          <a:prstGeom prst="line">
            <a:avLst/>
          </a:prstGeom>
          <a:noFill/>
          <a:ln w="25400">
            <a:solidFill>
              <a:srgbClr val="B83227"/>
            </a:solidFill>
            <a:prstDash val="solid"/>
          </a:ln>
        </p:spPr>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48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4 · FLEX · RELATIVE PRONOUNS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The … that …: </a:t>
            </a:r>
            <a:pPr algn="l" indent="0" marL="0">
              <a:buNone/>
            </a:pPr>
            <a:r>
              <a:rPr lang="ar-SA" altLang="en-US" sz="3650" b="1" dirty="0">
                <a:solidFill>
                  <a:srgbClr val="1B3B6F"/>
                </a:solidFill>
                <a:latin typeface="Amiri" pitchFamily="34" charset="0"/>
                <a:ea typeface="Amiri" pitchFamily="34" charset="-122"/>
                <a:cs typeface="Amiri" pitchFamily="34" charset="-120"/>
              </a:rPr>
              <a:t>الَّذِي / الَّتِي</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الاِسْمُ المَوْصُولُ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7" name="Text 14"/>
          <p:cNvSpPr txBox="1"/>
          <p:nvPr/>
        </p:nvSpPr>
        <p:spPr>
          <a:xfrm>
            <a:off x="457200" y="1828800"/>
            <a:ext cx="3017520" cy="566928"/>
          </a:xfrm>
          <a:prstGeom prst="rect">
            <a:avLst/>
          </a:prstGeom>
          <a:noFill/>
          <a:ln/>
        </p:spPr>
        <p:txBody>
          <a:bodyPr wrap="square" lIns="0" tIns="0" rIns="0" bIns="0" rtlCol="0" anchor="ctr"/>
          <a:lstStyle/>
          <a:p>
            <a:pPr algn="l" indent="0" marL="0">
              <a:buNone/>
            </a:pPr>
            <a:r>
              <a:rPr lang="en-US" sz="1100" b="1" dirty="0">
                <a:solidFill>
                  <a:srgbClr val="5A6472"/>
                </a:solidFill>
                <a:latin typeface="Calibri" pitchFamily="34" charset="0"/>
                <a:ea typeface="Calibri" pitchFamily="34" charset="-122"/>
                <a:cs typeface="Calibri" pitchFamily="34" charset="-120"/>
              </a:rPr>
              <a:t>English meaning</a:t>
            </a:r>
            <a:endParaRPr lang="en-US" sz="1100" dirty="0"/>
          </a:p>
        </p:txBody>
      </p:sp>
      <p:sp>
        <p:nvSpPr>
          <p:cNvPr id="18" name="Shape 15"/>
          <p:cNvSpPr/>
          <p:nvPr/>
        </p:nvSpPr>
        <p:spPr>
          <a:xfrm>
            <a:off x="9089136" y="1810512"/>
            <a:ext cx="2642616" cy="566928"/>
          </a:xfrm>
          <a:prstGeom prst="roundRect">
            <a:avLst>
              <a:gd name="adj" fmla="val 9677"/>
            </a:avLst>
          </a:prstGeom>
          <a:solidFill>
            <a:srgbClr val="1B3B6F"/>
          </a:solidFill>
          <a:ln w="12700">
            <a:solidFill>
              <a:srgbClr val="1B3B6F"/>
            </a:solidFill>
            <a:prstDash val="solid"/>
          </a:ln>
        </p:spPr>
      </p:sp>
      <p:sp>
        <p:nvSpPr>
          <p:cNvPr id="19" name="Text 16"/>
          <p:cNvSpPr txBox="1"/>
          <p:nvPr/>
        </p:nvSpPr>
        <p:spPr>
          <a:xfrm>
            <a:off x="9089136"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الاِسْمُ</a:t>
            </a:r>
            <a:endParaRPr lang="ar-SA" sz="1850" dirty="0"/>
          </a:p>
        </p:txBody>
      </p:sp>
      <p:sp>
        <p:nvSpPr>
          <p:cNvPr id="20" name="Text 17"/>
          <p:cNvSpPr txBox="1"/>
          <p:nvPr/>
        </p:nvSpPr>
        <p:spPr>
          <a:xfrm>
            <a:off x="9089136"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the thing</a:t>
            </a:r>
            <a:endParaRPr lang="en-US" sz="900" dirty="0"/>
          </a:p>
        </p:txBody>
      </p:sp>
      <p:sp>
        <p:nvSpPr>
          <p:cNvPr id="21" name="Shape 18"/>
          <p:cNvSpPr/>
          <p:nvPr/>
        </p:nvSpPr>
        <p:spPr>
          <a:xfrm>
            <a:off x="6336792" y="1810512"/>
            <a:ext cx="2642616" cy="566928"/>
          </a:xfrm>
          <a:prstGeom prst="roundRect">
            <a:avLst>
              <a:gd name="adj" fmla="val 9677"/>
            </a:avLst>
          </a:prstGeom>
          <a:solidFill>
            <a:srgbClr val="0E7C86"/>
          </a:solidFill>
          <a:ln w="12700">
            <a:solidFill>
              <a:srgbClr val="0E7C86"/>
            </a:solidFill>
            <a:prstDash val="solid"/>
          </a:ln>
        </p:spPr>
      </p:sp>
      <p:sp>
        <p:nvSpPr>
          <p:cNvPr id="22" name="Text 19"/>
          <p:cNvSpPr txBox="1"/>
          <p:nvPr/>
        </p:nvSpPr>
        <p:spPr>
          <a:xfrm>
            <a:off x="6336792"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الَّذِي / الَّتِي</a:t>
            </a:r>
            <a:endParaRPr lang="ar-SA" sz="1850" dirty="0"/>
          </a:p>
        </p:txBody>
      </p:sp>
      <p:sp>
        <p:nvSpPr>
          <p:cNvPr id="23" name="Text 20"/>
          <p:cNvSpPr txBox="1"/>
          <p:nvPr/>
        </p:nvSpPr>
        <p:spPr>
          <a:xfrm>
            <a:off x="6336792"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that / which (key word)</a:t>
            </a:r>
            <a:endParaRPr lang="en-US" sz="900" dirty="0"/>
          </a:p>
        </p:txBody>
      </p:sp>
      <p:sp>
        <p:nvSpPr>
          <p:cNvPr id="24" name="Shape 21"/>
          <p:cNvSpPr/>
          <p:nvPr/>
        </p:nvSpPr>
        <p:spPr>
          <a:xfrm>
            <a:off x="3584448" y="1810512"/>
            <a:ext cx="2642616" cy="566928"/>
          </a:xfrm>
          <a:prstGeom prst="roundRect">
            <a:avLst>
              <a:gd name="adj" fmla="val 9677"/>
            </a:avLst>
          </a:prstGeom>
          <a:solidFill>
            <a:srgbClr val="8A6D1E"/>
          </a:solidFill>
          <a:ln w="12700">
            <a:solidFill>
              <a:srgbClr val="8A6D1E"/>
            </a:solidFill>
            <a:prstDash val="solid"/>
          </a:ln>
        </p:spPr>
      </p:sp>
      <p:sp>
        <p:nvSpPr>
          <p:cNvPr id="25" name="Text 22"/>
          <p:cNvSpPr txBox="1"/>
          <p:nvPr/>
        </p:nvSpPr>
        <p:spPr>
          <a:xfrm>
            <a:off x="3584448"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التَّفْصِيلُ</a:t>
            </a:r>
            <a:endParaRPr lang="ar-SA" sz="1850" dirty="0"/>
          </a:p>
        </p:txBody>
      </p:sp>
      <p:sp>
        <p:nvSpPr>
          <p:cNvPr id="26" name="Text 23"/>
          <p:cNvSpPr txBox="1"/>
          <p:nvPr/>
        </p:nvSpPr>
        <p:spPr>
          <a:xfrm>
            <a:off x="3584448"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more information</a:t>
            </a:r>
            <a:endParaRPr lang="en-US" sz="900" dirty="0"/>
          </a:p>
        </p:txBody>
      </p:sp>
      <p:sp>
        <p:nvSpPr>
          <p:cNvPr id="27" name="Text 24"/>
          <p:cNvSpPr txBox="1"/>
          <p:nvPr/>
        </p:nvSpPr>
        <p:spPr>
          <a:xfrm>
            <a:off x="457200" y="2487168"/>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the hotel that I booked</a:t>
            </a:r>
            <a:endParaRPr lang="en-US" sz="1200" dirty="0"/>
          </a:p>
        </p:txBody>
      </p:sp>
      <p:sp>
        <p:nvSpPr>
          <p:cNvPr id="28" name="Shape 25"/>
          <p:cNvSpPr/>
          <p:nvPr/>
        </p:nvSpPr>
        <p:spPr>
          <a:xfrm>
            <a:off x="9089136" y="2487168"/>
            <a:ext cx="2642616" cy="768096"/>
          </a:xfrm>
          <a:prstGeom prst="roundRect">
            <a:avLst>
              <a:gd name="adj" fmla="val 7143"/>
            </a:avLst>
          </a:prstGeom>
          <a:solidFill>
            <a:srgbClr val="EEF3FA"/>
          </a:solidFill>
          <a:ln w="9525">
            <a:solidFill>
              <a:srgbClr val="EEF3FA"/>
            </a:solidFill>
            <a:prstDash val="solid"/>
          </a:ln>
        </p:spPr>
      </p:sp>
      <p:sp>
        <p:nvSpPr>
          <p:cNvPr id="29" name="Text 26"/>
          <p:cNvSpPr txBox="1"/>
          <p:nvPr/>
        </p:nvSpPr>
        <p:spPr>
          <a:xfrm>
            <a:off x="9162288"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الفُنْدُقُ</a:t>
            </a:r>
            <a:endParaRPr lang="ar-SA" sz="2400" dirty="0"/>
          </a:p>
        </p:txBody>
      </p:sp>
      <p:sp>
        <p:nvSpPr>
          <p:cNvPr id="30" name="Shape 27"/>
          <p:cNvSpPr/>
          <p:nvPr/>
        </p:nvSpPr>
        <p:spPr>
          <a:xfrm>
            <a:off x="6336792" y="2487168"/>
            <a:ext cx="2642616" cy="768096"/>
          </a:xfrm>
          <a:prstGeom prst="roundRect">
            <a:avLst>
              <a:gd name="adj" fmla="val 7143"/>
            </a:avLst>
          </a:prstGeom>
          <a:solidFill>
            <a:srgbClr val="E3F2F3"/>
          </a:solidFill>
          <a:ln w="9525">
            <a:solidFill>
              <a:srgbClr val="E3F2F3"/>
            </a:solidFill>
            <a:prstDash val="solid"/>
          </a:ln>
        </p:spPr>
      </p:sp>
      <p:sp>
        <p:nvSpPr>
          <p:cNvPr id="31" name="Text 28"/>
          <p:cNvSpPr txBox="1"/>
          <p:nvPr/>
        </p:nvSpPr>
        <p:spPr>
          <a:xfrm>
            <a:off x="6409944"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الَّذِي</a:t>
            </a:r>
            <a:endParaRPr lang="ar-SA" sz="2400" dirty="0"/>
          </a:p>
        </p:txBody>
      </p:sp>
      <p:sp>
        <p:nvSpPr>
          <p:cNvPr id="32" name="Shape 29"/>
          <p:cNvSpPr/>
          <p:nvPr/>
        </p:nvSpPr>
        <p:spPr>
          <a:xfrm>
            <a:off x="3584448" y="2487168"/>
            <a:ext cx="2642616" cy="768096"/>
          </a:xfrm>
          <a:prstGeom prst="roundRect">
            <a:avLst>
              <a:gd name="adj" fmla="val 7143"/>
            </a:avLst>
          </a:prstGeom>
          <a:solidFill>
            <a:srgbClr val="F8F0DC"/>
          </a:solidFill>
          <a:ln w="9525">
            <a:solidFill>
              <a:srgbClr val="F8F0DC"/>
            </a:solidFill>
            <a:prstDash val="solid"/>
          </a:ln>
        </p:spPr>
      </p:sp>
      <p:sp>
        <p:nvSpPr>
          <p:cNvPr id="33" name="Text 30"/>
          <p:cNvSpPr txBox="1"/>
          <p:nvPr/>
        </p:nvSpPr>
        <p:spPr>
          <a:xfrm>
            <a:off x="3657600"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حَجَزْتُهُ</a:t>
            </a:r>
            <a:endParaRPr lang="ar-SA" sz="2400" dirty="0"/>
          </a:p>
        </p:txBody>
      </p:sp>
      <p:sp>
        <p:nvSpPr>
          <p:cNvPr id="34" name="Text 31"/>
          <p:cNvSpPr txBox="1"/>
          <p:nvPr/>
        </p:nvSpPr>
        <p:spPr>
          <a:xfrm>
            <a:off x="457200" y="3364992"/>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the passport that I renewed</a:t>
            </a:r>
            <a:endParaRPr lang="en-US" sz="1200" dirty="0"/>
          </a:p>
        </p:txBody>
      </p:sp>
      <p:sp>
        <p:nvSpPr>
          <p:cNvPr id="35" name="Shape 32"/>
          <p:cNvSpPr/>
          <p:nvPr/>
        </p:nvSpPr>
        <p:spPr>
          <a:xfrm>
            <a:off x="9089136" y="3364992"/>
            <a:ext cx="2642616" cy="768096"/>
          </a:xfrm>
          <a:prstGeom prst="roundRect">
            <a:avLst>
              <a:gd name="adj" fmla="val 7143"/>
            </a:avLst>
          </a:prstGeom>
          <a:solidFill>
            <a:srgbClr val="EEF3FA"/>
          </a:solidFill>
          <a:ln w="9525">
            <a:solidFill>
              <a:srgbClr val="EEF3FA"/>
            </a:solidFill>
            <a:prstDash val="solid"/>
          </a:ln>
        </p:spPr>
      </p:sp>
      <p:sp>
        <p:nvSpPr>
          <p:cNvPr id="36" name="Text 33"/>
          <p:cNvSpPr txBox="1"/>
          <p:nvPr/>
        </p:nvSpPr>
        <p:spPr>
          <a:xfrm>
            <a:off x="9162288"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الجَوَازُ</a:t>
            </a:r>
            <a:endParaRPr lang="ar-SA" sz="2400" dirty="0"/>
          </a:p>
        </p:txBody>
      </p:sp>
      <p:sp>
        <p:nvSpPr>
          <p:cNvPr id="37" name="Shape 34"/>
          <p:cNvSpPr/>
          <p:nvPr/>
        </p:nvSpPr>
        <p:spPr>
          <a:xfrm>
            <a:off x="6336792" y="3364992"/>
            <a:ext cx="2642616" cy="768096"/>
          </a:xfrm>
          <a:prstGeom prst="roundRect">
            <a:avLst>
              <a:gd name="adj" fmla="val 7143"/>
            </a:avLst>
          </a:prstGeom>
          <a:solidFill>
            <a:srgbClr val="E3F2F3"/>
          </a:solidFill>
          <a:ln w="9525">
            <a:solidFill>
              <a:srgbClr val="E3F2F3"/>
            </a:solidFill>
            <a:prstDash val="solid"/>
          </a:ln>
        </p:spPr>
      </p:sp>
      <p:sp>
        <p:nvSpPr>
          <p:cNvPr id="38" name="Text 35"/>
          <p:cNvSpPr txBox="1"/>
          <p:nvPr/>
        </p:nvSpPr>
        <p:spPr>
          <a:xfrm>
            <a:off x="6409944"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الَّذِي</a:t>
            </a:r>
            <a:endParaRPr lang="ar-SA" sz="2400" dirty="0"/>
          </a:p>
        </p:txBody>
      </p:sp>
      <p:sp>
        <p:nvSpPr>
          <p:cNvPr id="39" name="Shape 36"/>
          <p:cNvSpPr/>
          <p:nvPr/>
        </p:nvSpPr>
        <p:spPr>
          <a:xfrm>
            <a:off x="3584448" y="3364992"/>
            <a:ext cx="2642616" cy="768096"/>
          </a:xfrm>
          <a:prstGeom prst="roundRect">
            <a:avLst>
              <a:gd name="adj" fmla="val 7143"/>
            </a:avLst>
          </a:prstGeom>
          <a:solidFill>
            <a:srgbClr val="F8F0DC"/>
          </a:solidFill>
          <a:ln w="9525">
            <a:solidFill>
              <a:srgbClr val="F8F0DC"/>
            </a:solidFill>
            <a:prstDash val="solid"/>
          </a:ln>
        </p:spPr>
      </p:sp>
      <p:sp>
        <p:nvSpPr>
          <p:cNvPr id="40" name="Text 37"/>
          <p:cNvSpPr txBox="1"/>
          <p:nvPr/>
        </p:nvSpPr>
        <p:spPr>
          <a:xfrm>
            <a:off x="3657600"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جَدَّدْتُهُ</a:t>
            </a:r>
            <a:endParaRPr lang="ar-SA" sz="2400" dirty="0"/>
          </a:p>
        </p:txBody>
      </p:sp>
      <p:sp>
        <p:nvSpPr>
          <p:cNvPr id="41" name="Text 38"/>
          <p:cNvSpPr txBox="1"/>
          <p:nvPr/>
        </p:nvSpPr>
        <p:spPr>
          <a:xfrm>
            <a:off x="457200" y="4242816"/>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the visa that I got online</a:t>
            </a:r>
            <a:endParaRPr lang="en-US" sz="1200" dirty="0"/>
          </a:p>
        </p:txBody>
      </p:sp>
      <p:sp>
        <p:nvSpPr>
          <p:cNvPr id="42" name="Shape 39"/>
          <p:cNvSpPr/>
          <p:nvPr/>
        </p:nvSpPr>
        <p:spPr>
          <a:xfrm>
            <a:off x="9089136" y="4242816"/>
            <a:ext cx="2642616" cy="768096"/>
          </a:xfrm>
          <a:prstGeom prst="roundRect">
            <a:avLst>
              <a:gd name="adj" fmla="val 7143"/>
            </a:avLst>
          </a:prstGeom>
          <a:solidFill>
            <a:srgbClr val="EEF3FA"/>
          </a:solidFill>
          <a:ln w="9525">
            <a:solidFill>
              <a:srgbClr val="EEF3FA"/>
            </a:solidFill>
            <a:prstDash val="solid"/>
          </a:ln>
        </p:spPr>
      </p:sp>
      <p:sp>
        <p:nvSpPr>
          <p:cNvPr id="43" name="Text 40"/>
          <p:cNvSpPr txBox="1"/>
          <p:nvPr/>
        </p:nvSpPr>
        <p:spPr>
          <a:xfrm>
            <a:off x="9162288"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التَّأْشِيرَةُ</a:t>
            </a:r>
            <a:endParaRPr lang="ar-SA" sz="2400" dirty="0"/>
          </a:p>
        </p:txBody>
      </p:sp>
      <p:sp>
        <p:nvSpPr>
          <p:cNvPr id="44" name="Shape 41"/>
          <p:cNvSpPr/>
          <p:nvPr/>
        </p:nvSpPr>
        <p:spPr>
          <a:xfrm>
            <a:off x="6336792" y="4242816"/>
            <a:ext cx="2642616" cy="768096"/>
          </a:xfrm>
          <a:prstGeom prst="roundRect">
            <a:avLst>
              <a:gd name="adj" fmla="val 7143"/>
            </a:avLst>
          </a:prstGeom>
          <a:solidFill>
            <a:srgbClr val="E3F2F3"/>
          </a:solidFill>
          <a:ln w="9525">
            <a:solidFill>
              <a:srgbClr val="E3F2F3"/>
            </a:solidFill>
            <a:prstDash val="solid"/>
          </a:ln>
        </p:spPr>
      </p:sp>
      <p:sp>
        <p:nvSpPr>
          <p:cNvPr id="45" name="Text 42"/>
          <p:cNvSpPr txBox="1"/>
          <p:nvPr/>
        </p:nvSpPr>
        <p:spPr>
          <a:xfrm>
            <a:off x="6409944"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الَّتِي</a:t>
            </a:r>
            <a:endParaRPr lang="ar-SA" sz="2400" dirty="0"/>
          </a:p>
        </p:txBody>
      </p:sp>
      <p:sp>
        <p:nvSpPr>
          <p:cNvPr id="46" name="Shape 43"/>
          <p:cNvSpPr/>
          <p:nvPr/>
        </p:nvSpPr>
        <p:spPr>
          <a:xfrm>
            <a:off x="3584448" y="4242816"/>
            <a:ext cx="2642616" cy="768096"/>
          </a:xfrm>
          <a:prstGeom prst="roundRect">
            <a:avLst>
              <a:gd name="adj" fmla="val 7143"/>
            </a:avLst>
          </a:prstGeom>
          <a:solidFill>
            <a:srgbClr val="F8F0DC"/>
          </a:solidFill>
          <a:ln w="9525">
            <a:solidFill>
              <a:srgbClr val="F8F0DC"/>
            </a:solidFill>
            <a:prstDash val="solid"/>
          </a:ln>
        </p:spPr>
      </p:sp>
      <p:sp>
        <p:nvSpPr>
          <p:cNvPr id="47" name="Text 44"/>
          <p:cNvSpPr txBox="1"/>
          <p:nvPr/>
        </p:nvSpPr>
        <p:spPr>
          <a:xfrm>
            <a:off x="3657600"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حَصَلْتُ عَلَيْهَا إِلِكْتْرُونِيًّا</a:t>
            </a:r>
            <a:endParaRPr lang="ar-SA" sz="2400" dirty="0"/>
          </a:p>
        </p:txBody>
      </p:sp>
      <p:sp>
        <p:nvSpPr>
          <p:cNvPr id="48" name="Text 45"/>
          <p:cNvSpPr txBox="1"/>
          <p:nvPr/>
        </p:nvSpPr>
        <p:spPr>
          <a:xfrm>
            <a:off x="457200" y="5120640"/>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the message that confirms the time</a:t>
            </a:r>
            <a:endParaRPr lang="en-US" sz="1200" dirty="0"/>
          </a:p>
        </p:txBody>
      </p:sp>
      <p:sp>
        <p:nvSpPr>
          <p:cNvPr id="49" name="Shape 46"/>
          <p:cNvSpPr/>
          <p:nvPr/>
        </p:nvSpPr>
        <p:spPr>
          <a:xfrm>
            <a:off x="9089136" y="5120640"/>
            <a:ext cx="2642616" cy="768096"/>
          </a:xfrm>
          <a:prstGeom prst="roundRect">
            <a:avLst>
              <a:gd name="adj" fmla="val 7143"/>
            </a:avLst>
          </a:prstGeom>
          <a:solidFill>
            <a:srgbClr val="EEF3FA"/>
          </a:solidFill>
          <a:ln w="9525">
            <a:solidFill>
              <a:srgbClr val="EEF3FA"/>
            </a:solidFill>
            <a:prstDash val="solid"/>
          </a:ln>
        </p:spPr>
      </p:sp>
      <p:sp>
        <p:nvSpPr>
          <p:cNvPr id="50" name="Text 47"/>
          <p:cNvSpPr txBox="1"/>
          <p:nvPr/>
        </p:nvSpPr>
        <p:spPr>
          <a:xfrm>
            <a:off x="9162288"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الرِّسَالَةُ</a:t>
            </a:r>
            <a:endParaRPr lang="ar-SA" sz="2400" dirty="0"/>
          </a:p>
        </p:txBody>
      </p:sp>
      <p:sp>
        <p:nvSpPr>
          <p:cNvPr id="51" name="Shape 48"/>
          <p:cNvSpPr/>
          <p:nvPr/>
        </p:nvSpPr>
        <p:spPr>
          <a:xfrm>
            <a:off x="6336792" y="5120640"/>
            <a:ext cx="2642616" cy="768096"/>
          </a:xfrm>
          <a:prstGeom prst="roundRect">
            <a:avLst>
              <a:gd name="adj" fmla="val 7143"/>
            </a:avLst>
          </a:prstGeom>
          <a:solidFill>
            <a:srgbClr val="E3F2F3"/>
          </a:solidFill>
          <a:ln w="9525">
            <a:solidFill>
              <a:srgbClr val="E3F2F3"/>
            </a:solidFill>
            <a:prstDash val="solid"/>
          </a:ln>
        </p:spPr>
      </p:sp>
      <p:sp>
        <p:nvSpPr>
          <p:cNvPr id="52" name="Text 49"/>
          <p:cNvSpPr txBox="1"/>
          <p:nvPr/>
        </p:nvSpPr>
        <p:spPr>
          <a:xfrm>
            <a:off x="6409944"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الَّتِي</a:t>
            </a:r>
            <a:endParaRPr lang="ar-SA" sz="2400" dirty="0"/>
          </a:p>
        </p:txBody>
      </p:sp>
      <p:sp>
        <p:nvSpPr>
          <p:cNvPr id="53" name="Shape 50"/>
          <p:cNvSpPr/>
          <p:nvPr/>
        </p:nvSpPr>
        <p:spPr>
          <a:xfrm>
            <a:off x="3584448" y="5120640"/>
            <a:ext cx="2642616" cy="768096"/>
          </a:xfrm>
          <a:prstGeom prst="roundRect">
            <a:avLst>
              <a:gd name="adj" fmla="val 7143"/>
            </a:avLst>
          </a:prstGeom>
          <a:solidFill>
            <a:srgbClr val="F8F0DC"/>
          </a:solidFill>
          <a:ln w="9525">
            <a:solidFill>
              <a:srgbClr val="F8F0DC"/>
            </a:solidFill>
            <a:prstDash val="solid"/>
          </a:ln>
        </p:spPr>
      </p:sp>
      <p:sp>
        <p:nvSpPr>
          <p:cNvPr id="54" name="Text 51"/>
          <p:cNvSpPr txBox="1"/>
          <p:nvPr/>
        </p:nvSpPr>
        <p:spPr>
          <a:xfrm>
            <a:off x="3657600"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تُؤَكِّدُ المَوْعِدَ</a:t>
            </a:r>
            <a:endParaRPr lang="ar-SA" sz="2400" dirty="0"/>
          </a:p>
        </p:txBody>
      </p:sp>
      <p:sp>
        <p:nvSpPr>
          <p:cNvPr id="55" name="Text 52"/>
          <p:cNvSpPr txBox="1"/>
          <p:nvPr/>
        </p:nvSpPr>
        <p:spPr>
          <a:xfrm>
            <a:off x="457200" y="5989320"/>
            <a:ext cx="11274552" cy="320040"/>
          </a:xfrm>
          <a:prstGeom prst="rect">
            <a:avLst/>
          </a:prstGeom>
          <a:noFill/>
          <a:ln/>
        </p:spPr>
        <p:txBody>
          <a:bodyPr wrap="square" lIns="0" tIns="0" rIns="0" bIns="0" rtlCol="0" anchor="ctr"/>
          <a:lstStyle/>
          <a:p>
            <a:pPr algn="l" indent="0" marL="0">
              <a:buNone/>
            </a:pPr>
            <a:r>
              <a:rPr lang="en-US" sz="1200" b="1" dirty="0">
                <a:solidFill>
                  <a:srgbClr val="8A6D1E"/>
                </a:solidFill>
                <a:latin typeface="Calibri" pitchFamily="34" charset="0"/>
                <a:ea typeface="Calibri" pitchFamily="34" charset="-122"/>
                <a:cs typeface="Calibri" pitchFamily="34" charset="-120"/>
              </a:rPr>
              <a:t>Use </a:t>
            </a:r>
            <a:pPr algn="l" indent="0" marL="0">
              <a:buNone/>
            </a:pPr>
            <a:r>
              <a:rPr lang="ar-SA" altLang="en-US" sz="1550" b="1" dirty="0">
                <a:solidFill>
                  <a:srgbClr val="8A6D1E"/>
                </a:solidFill>
                <a:latin typeface="Amiri" pitchFamily="34" charset="0"/>
                <a:ea typeface="Amiri" pitchFamily="34" charset="-122"/>
                <a:cs typeface="Amiri" pitchFamily="34" charset="-120"/>
              </a:rPr>
              <a:t>الَّذِي</a:t>
            </a:r>
            <a:pPr algn="l" indent="0" marL="0">
              <a:buNone/>
            </a:pPr>
            <a:r>
              <a:rPr lang="en-US" sz="1200" b="1" dirty="0">
                <a:solidFill>
                  <a:srgbClr val="8A6D1E"/>
                </a:solidFill>
                <a:latin typeface="Calibri" pitchFamily="34" charset="0"/>
                <a:ea typeface="Calibri" pitchFamily="34" charset="-122"/>
                <a:cs typeface="Calibri" pitchFamily="34" charset="-120"/>
              </a:rPr>
              <a:t> after a masculine noun and </a:t>
            </a:r>
            <a:pPr algn="l" indent="0" marL="0">
              <a:buNone/>
            </a:pPr>
            <a:r>
              <a:rPr lang="ar-SA" altLang="en-US" sz="1550" b="1" dirty="0">
                <a:solidFill>
                  <a:srgbClr val="8A6D1E"/>
                </a:solidFill>
                <a:latin typeface="Amiri" pitchFamily="34" charset="0"/>
                <a:ea typeface="Amiri" pitchFamily="34" charset="-122"/>
                <a:cs typeface="Amiri" pitchFamily="34" charset="-120"/>
              </a:rPr>
              <a:t>الَّتِي</a:t>
            </a:r>
            <a:pPr algn="l" indent="0" marL="0">
              <a:buNone/>
            </a:pPr>
            <a:r>
              <a:rPr lang="en-US" sz="1200" b="1" dirty="0">
                <a:solidFill>
                  <a:srgbClr val="8A6D1E"/>
                </a:solidFill>
                <a:latin typeface="Calibri" pitchFamily="34" charset="0"/>
                <a:ea typeface="Calibri" pitchFamily="34" charset="-122"/>
                <a:cs typeface="Calibri" pitchFamily="34" charset="-120"/>
              </a:rPr>
              <a:t> after a feminine noun (</a:t>
            </a:r>
            <a:pPr algn="l" indent="0" marL="0">
              <a:buNone/>
            </a:pPr>
            <a:r>
              <a:rPr lang="ar-SA" altLang="en-US" sz="1550" b="1" dirty="0">
                <a:solidFill>
                  <a:srgbClr val="8A6D1E"/>
                </a:solidFill>
                <a:latin typeface="Amiri" pitchFamily="34" charset="0"/>
                <a:ea typeface="Amiri" pitchFamily="34" charset="-122"/>
                <a:cs typeface="Amiri" pitchFamily="34" charset="-120"/>
              </a:rPr>
              <a:t>ـة</a:t>
            </a:r>
            <a:pPr algn="l" indent="0" marL="0">
              <a:buNone/>
            </a:pPr>
            <a:r>
              <a:rPr lang="en-US" sz="1200" b="1" dirty="0">
                <a:solidFill>
                  <a:srgbClr val="8A6D1E"/>
                </a:solidFill>
                <a:latin typeface="Calibri" pitchFamily="34" charset="0"/>
                <a:ea typeface="Calibri" pitchFamily="34" charset="-122"/>
                <a:cs typeface="Calibri" pitchFamily="34" charset="-120"/>
              </a:rPr>
              <a:t>). </a:t>
            </a:r>
            <a:pPr algn="l" indent="0" marL="0">
              <a:buNone/>
            </a:pPr>
            <a:r>
              <a:rPr lang="ar-SA" altLang="en-US" sz="1550" b="1" dirty="0">
                <a:solidFill>
                  <a:srgbClr val="8A6D1E"/>
                </a:solidFill>
                <a:latin typeface="Amiri" pitchFamily="34" charset="0"/>
                <a:ea typeface="Amiri" pitchFamily="34" charset="-122"/>
                <a:cs typeface="Amiri" pitchFamily="34" charset="-120"/>
              </a:rPr>
              <a:t>ـهُ / ـهَا</a:t>
            </a:r>
            <a:pPr algn="l" indent="0" marL="0">
              <a:buNone/>
            </a:pPr>
            <a:r>
              <a:rPr lang="en-US" sz="1200" b="1" dirty="0">
                <a:solidFill>
                  <a:srgbClr val="8A6D1E"/>
                </a:solidFill>
                <a:latin typeface="Calibri" pitchFamily="34" charset="0"/>
                <a:ea typeface="Calibri" pitchFamily="34" charset="-122"/>
                <a:cs typeface="Calibri" pitchFamily="34" charset="-120"/>
              </a:rPr>
              <a:t> = it.</a:t>
            </a:r>
            <a:endParaRPr lang="en-US" sz="120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48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5 · WEBSITE EXAMPLES · FLEX ·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ea typeface="Cambria" pitchFamily="34" charset="-122"/>
                <a:cs typeface="Cambria" pitchFamily="34" charset="-120"/>
              </a:rPr>
              <a:t>The four website rules with examples</a:t>
            </a:r>
            <a:endParaRPr lang="en-US" sz="25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أَمْثِلَةُ القَوَاعِدِ</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1. Present, past, future</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34" charset="0"/>
                <a:ea typeface="Amiri" pitchFamily="34" charset="-122"/>
                <a:cs typeface="Amiri" pitchFamily="34" charset="-120"/>
              </a:rPr>
              <a:t>أَحْجِزُ · حَجَزْتُ · سَأَحْجِزُ</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أَحْجِزُ تَذَاكِرِي مُبَكِّرًا   ·   سَأَحْجِزُ رِحْلَةً إِلَى مَرَّاكُشَ</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2. Past perfect</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34" charset="0"/>
                <a:ea typeface="Amiri" pitchFamily="34" charset="-122"/>
                <a:cs typeface="Amiri" pitchFamily="34" charset="-120"/>
              </a:rPr>
              <a:t>كُنْتُ قَدْ حَجَزْتُ</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كُنْتُ قَدْ حَجَزْتُ المَطْعَمَ قَبْلَ أَنْ نَصِلَ</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3. Type 1 conditional</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34" charset="0"/>
                <a:ea typeface="Amiri" pitchFamily="34" charset="-122"/>
                <a:cs typeface="Amiri" pitchFamily="34" charset="-120"/>
              </a:rPr>
              <a:t>إِذَا حَجَزْتَ … سَـ</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إِذَا حَجَزْتَ مُبَكِّرًا، سَتَحْصُلُ عَلَى سِعْرٍ أَرْخَصَ</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4. Type 2 and </a:t>
            </a:r>
            <a:pPr algn="l" indent="0" marL="0">
              <a:buNone/>
            </a:pPr>
            <a:r>
              <a:rPr lang="ar-SA" altLang="en-US" sz="1650" b="1" dirty="0">
                <a:solidFill>
                  <a:srgbClr val="1B3B6F"/>
                </a:solidFill>
                <a:latin typeface="Amiri" pitchFamily="34" charset="0"/>
                <a:ea typeface="Amiri" pitchFamily="34" charset="-122"/>
                <a:cs typeface="Amiri" pitchFamily="34" charset="-120"/>
              </a:rPr>
              <a:t>يُقِيمُ فِي</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34" charset="0"/>
                <a:ea typeface="Amiri" pitchFamily="34" charset="-122"/>
                <a:cs typeface="Amiri" pitchFamily="34" charset="-120"/>
              </a:rPr>
              <a:t>لَوْ حَجَزْتُ … لَـ · يُقِيمُ فِي</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لَوْ حَجَزْتُ فِي فُنْدُقٍ آخَرَ، لَكَانَ أَفْضَلَ   ·   أُقِيمُ فِي فُنْدُقٍ قَرِيبٍ مِنَ الشَّاطِئِ</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48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the present: ___ </a:t>
            </a:r>
            <a:pPr algn="l" indent="0" marL="0">
              <a:buNone/>
            </a:pPr>
            <a:r>
              <a:rPr lang="ar-SA" altLang="en-US" sz="1650" b="1" dirty="0">
                <a:solidFill>
                  <a:srgbClr val="1B3B6F"/>
                </a:solidFill>
                <a:latin typeface="Amiri" pitchFamily="34" charset="0"/>
                <a:ea typeface="Amiri" pitchFamily="34" charset="-122"/>
                <a:cs typeface="Amiri" pitchFamily="34" charset="-120"/>
              </a:rPr>
              <a:t>تَذَاكِرِي مُبَكِّرًا دَائِمًا</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حَجَزْتُ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سَأَحْجِزُ</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أَحْجِزُ</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the future: ___ </a:t>
            </a:r>
            <a:pPr algn="l" indent="0" marL="0">
              <a:buNone/>
            </a:pPr>
            <a:r>
              <a:rPr lang="ar-SA" altLang="en-US" sz="1650" b="1" dirty="0">
                <a:solidFill>
                  <a:srgbClr val="1B3B6F"/>
                </a:solidFill>
                <a:latin typeface="Amiri" pitchFamily="34" charset="0"/>
                <a:ea typeface="Amiri" pitchFamily="34" charset="-122"/>
                <a:cs typeface="Amiri" pitchFamily="34" charset="-120"/>
              </a:rPr>
              <a:t>رِحْلَةً إِلَى مَرَّاكُشَ الصَّيْفَ القَادِمَ</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سَأَحْجِزُ</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حَجَزْتُ</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أَحْجِزُ</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45" name="Text 42"/>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أُقِيمُ ___ فُنْدُقٍ قَرِيبٍ مِنَ الشَّاطِئِ.</a:t>
            </a:r>
            <a:endParaRPr lang="ar-SA" sz="150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عَلَى</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فِي</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بِـ</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the correct past of </a:t>
            </a:r>
            <a:pPr algn="l" indent="0" marL="0">
              <a:buNone/>
            </a:pPr>
            <a:r>
              <a:rPr lang="ar-SA" altLang="en-US" sz="1650" b="1" dirty="0">
                <a:solidFill>
                  <a:srgbClr val="1B3B6F"/>
                </a:solidFill>
                <a:latin typeface="Amiri" pitchFamily="34" charset="0"/>
                <a:ea typeface="Amiri" pitchFamily="34" charset="-122"/>
                <a:cs typeface="Amiri" pitchFamily="34" charset="-120"/>
              </a:rPr>
              <a:t>يُقِيمُ</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أَقَمْتُ فِي شَقَّةٍ مَفْرُوشَةٍ.</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أُقِيمُ فِي شَقَّةٍ مَفْرُوشَةٍ أَمْسِ.</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سَأُقِيمُ فِي شَقَّةٍ أَمْسِ.</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48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the present: ___ </a:t>
            </a:r>
            <a:pPr algn="l" indent="0" marL="0">
              <a:buNone/>
            </a:pPr>
            <a:r>
              <a:rPr lang="ar-SA" altLang="en-US" sz="1650" b="1" dirty="0">
                <a:solidFill>
                  <a:srgbClr val="1B3B6F"/>
                </a:solidFill>
                <a:latin typeface="Amiri" pitchFamily="34" charset="0"/>
                <a:ea typeface="Amiri" pitchFamily="34" charset="-122"/>
                <a:cs typeface="Amiri" pitchFamily="34" charset="-120"/>
              </a:rPr>
              <a:t>تَذَاكِرِي مُبَكِّرًا دَائِمًا</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حَجَزْتُ</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سَأَحْجِزُ</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أَحْجِزُ</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present first person is </a:t>
            </a:r>
            <a:pPr algn="l" indent="0" marL="0">
              <a:buNone/>
            </a:pPr>
            <a:r>
              <a:rPr lang="ar-SA" altLang="en-US" sz="1350" dirty="0">
                <a:solidFill>
                  <a:srgbClr val="8A6D1E"/>
                </a:solidFill>
                <a:latin typeface="Amiri" pitchFamily="34" charset="0"/>
                <a:ea typeface="Amiri" pitchFamily="34" charset="-122"/>
                <a:cs typeface="Amiri" pitchFamily="34" charset="-120"/>
              </a:rPr>
              <a:t>أَحْجِزُ</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the future: ___ </a:t>
            </a:r>
            <a:pPr algn="l" indent="0" marL="0">
              <a:buNone/>
            </a:pPr>
            <a:r>
              <a:rPr lang="ar-SA" altLang="en-US" sz="1650" b="1" dirty="0">
                <a:solidFill>
                  <a:srgbClr val="1B3B6F"/>
                </a:solidFill>
                <a:latin typeface="Amiri" pitchFamily="34" charset="0"/>
                <a:ea typeface="Amiri" pitchFamily="34" charset="-122"/>
                <a:cs typeface="Amiri" pitchFamily="34" charset="-120"/>
              </a:rPr>
              <a:t>رِحْلَةً إِلَى مَرَّاكُشَ الصَّيْفَ القَادِمَ</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سَأَحْجِزُ</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حَجَزْتُ</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أَحْجِزُ</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future takes </a:t>
            </a:r>
            <a:pPr algn="l" indent="0" marL="0">
              <a:buNone/>
            </a:pPr>
            <a:r>
              <a:rPr lang="ar-SA" altLang="en-US" sz="1350" dirty="0">
                <a:solidFill>
                  <a:srgbClr val="8A6D1E"/>
                </a:solidFill>
                <a:latin typeface="Amiri" pitchFamily="34" charset="0"/>
                <a:ea typeface="Amiri" pitchFamily="34" charset="-122"/>
                <a:cs typeface="Amiri" pitchFamily="34" charset="-120"/>
              </a:rPr>
              <a:t>سَـ</a:t>
            </a:r>
            <a:pPr algn="l" indent="0" marL="0">
              <a:buNone/>
            </a:pPr>
            <a:r>
              <a:rPr lang="en-US" sz="1050" i="1" dirty="0">
                <a:solidFill>
                  <a:srgbClr val="8A6D1E"/>
                </a:solidFill>
                <a:latin typeface="Calibri" pitchFamily="34" charset="0"/>
                <a:ea typeface="Calibri" pitchFamily="34" charset="-122"/>
                <a:cs typeface="Calibri" pitchFamily="34" charset="-120"/>
              </a:rPr>
              <a:t>: </a:t>
            </a:r>
            <a:pPr algn="l" indent="0" marL="0">
              <a:buNone/>
            </a:pPr>
            <a:r>
              <a:rPr lang="ar-SA" altLang="en-US" sz="1350" dirty="0">
                <a:solidFill>
                  <a:srgbClr val="8A6D1E"/>
                </a:solidFill>
                <a:latin typeface="Amiri" pitchFamily="34" charset="0"/>
                <a:ea typeface="Amiri" pitchFamily="34" charset="-122"/>
                <a:cs typeface="Amiri" pitchFamily="34" charset="-120"/>
              </a:rPr>
              <a:t>سَأَحْجِزُ</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49" name="Text 46"/>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أُقِيمُ ___ فُنْدُقٍ قَرِيبٍ مِنَ الشَّاطِئِ.</a:t>
            </a:r>
            <a:endParaRPr lang="ar-SA" sz="150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عَلَى</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فِي</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بِـ</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يُقِيمُ</a:t>
            </a:r>
            <a:pPr algn="l" indent="0" marL="0">
              <a:buNone/>
            </a:pPr>
            <a:r>
              <a:rPr lang="en-US" sz="1050" i="1" dirty="0">
                <a:solidFill>
                  <a:srgbClr val="8A6D1E"/>
                </a:solidFill>
                <a:latin typeface="Calibri" pitchFamily="34" charset="0"/>
                <a:ea typeface="Calibri" pitchFamily="34" charset="-122"/>
                <a:cs typeface="Calibri" pitchFamily="34" charset="-120"/>
              </a:rPr>
              <a:t> is fixed with </a:t>
            </a:r>
            <a:pPr algn="l" indent="0" marL="0">
              <a:buNone/>
            </a:pPr>
            <a:r>
              <a:rPr lang="ar-SA" altLang="en-US" sz="1350" dirty="0">
                <a:solidFill>
                  <a:srgbClr val="8A6D1E"/>
                </a:solidFill>
                <a:latin typeface="Amiri" pitchFamily="34" charset="0"/>
                <a:ea typeface="Amiri" pitchFamily="34" charset="-122"/>
                <a:cs typeface="Amiri" pitchFamily="34" charset="-120"/>
              </a:rPr>
              <a:t>فِي</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the correct past of </a:t>
            </a:r>
            <a:pPr algn="l" indent="0" marL="0">
              <a:buNone/>
            </a:pPr>
            <a:r>
              <a:rPr lang="ar-SA" altLang="en-US" sz="1650" b="1" dirty="0">
                <a:solidFill>
                  <a:srgbClr val="1B3B6F"/>
                </a:solidFill>
                <a:latin typeface="Amiri" pitchFamily="34" charset="0"/>
                <a:ea typeface="Amiri" pitchFamily="34" charset="-122"/>
                <a:cs typeface="Amiri" pitchFamily="34" charset="-120"/>
              </a:rPr>
              <a:t>يُقِيمُ</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أَقَمْتُ فِي شَقَّةٍ مَفْرُوشَةٍ.</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أُقِيمُ فِي شَقَّةٍ مَفْرُوشَةٍ أَمْسِ.</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سَأُقِيمُ فِي شَقَّةٍ أَمْسِ.</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past is </a:t>
            </a:r>
            <a:pPr algn="l" indent="0" marL="0">
              <a:buNone/>
            </a:pPr>
            <a:r>
              <a:rPr lang="ar-SA" altLang="en-US" sz="1350" dirty="0">
                <a:solidFill>
                  <a:srgbClr val="8A6D1E"/>
                </a:solidFill>
                <a:latin typeface="Amiri" pitchFamily="34" charset="0"/>
                <a:ea typeface="Amiri" pitchFamily="34" charset="-122"/>
                <a:cs typeface="Amiri" pitchFamily="34" charset="-120"/>
              </a:rPr>
              <a:t>أَقَمْتُ فِي</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48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Watch me plan a trip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Where? (later)</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سَ</a:t>
            </a:r>
            <a:pPr rtl="1" algn="ctr" indent="0" marL="0">
              <a:buNone/>
            </a:pPr>
            <a:r>
              <a:rPr lang="ar-SA" altLang="en-US" sz="2400" b="1" dirty="0">
                <a:solidFill>
                  <a:srgbClr val="1B3B6F"/>
                </a:solidFill>
                <a:latin typeface="Amiri" pitchFamily="34" charset="0"/>
                <a:ea typeface="Amiri" pitchFamily="34" charset="-122"/>
                <a:cs typeface="Amiri" pitchFamily="34" charset="-120"/>
              </a:rPr>
              <a:t>أَحْجِزُ رِحْلَةً إِلَى مَرَّاكُشَ</a:t>
            </a:r>
            <a:endParaRPr lang="ar-SA" sz="24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سَـ</a:t>
            </a:r>
            <a:pPr algn="l" indent="0" marL="0">
              <a:buNone/>
            </a:pPr>
            <a:r>
              <a:rPr lang="en-US" sz="1150" dirty="0">
                <a:solidFill>
                  <a:srgbClr val="1F2A37"/>
                </a:solidFill>
                <a:latin typeface="Calibri" pitchFamily="34" charset="0"/>
                <a:ea typeface="Calibri" pitchFamily="34" charset="-122"/>
                <a:cs typeface="Calibri" pitchFamily="34" charset="-120"/>
              </a:rPr>
              <a:t> = will. A website sentence.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Documents (before)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جَدَّدْ</a:t>
            </a:r>
            <a:pPr rtl="1" algn="ctr" indent="0" marL="0">
              <a:buNone/>
            </a:pPr>
            <a:r>
              <a:rPr lang="ar-SA" altLang="en-US" sz="2800" b="1" dirty="0">
                <a:solidFill>
                  <a:srgbClr val="1D5FBF"/>
                </a:solidFill>
                <a:latin typeface="Amiri" pitchFamily="34" charset="0"/>
                <a:ea typeface="Amiri" pitchFamily="34" charset="-122"/>
                <a:cs typeface="Amiri" pitchFamily="34" charset="-120"/>
              </a:rPr>
              <a:t>تُ</a:t>
            </a:r>
            <a:pPr rtl="1" algn="ctr" indent="0" marL="0">
              <a:buNone/>
            </a:pPr>
            <a:r>
              <a:rPr lang="ar-SA" altLang="en-US" sz="2800" b="1" dirty="0">
                <a:solidFill>
                  <a:srgbClr val="1B3B6F"/>
                </a:solidFill>
                <a:latin typeface="Amiri" pitchFamily="34" charset="0"/>
                <a:ea typeface="Amiri" pitchFamily="34" charset="-122"/>
                <a:cs typeface="Amiri" pitchFamily="34" charset="-120"/>
              </a:rPr>
              <a:t> جَوَازَ سَفَرِي</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Past: </a:t>
            </a:r>
            <a:pPr algn="l" indent="0" marL="0">
              <a:buNone/>
            </a:pPr>
            <a:r>
              <a:rPr lang="ar-SA" altLang="en-US" sz="1500" dirty="0">
                <a:solidFill>
                  <a:srgbClr val="1F2A37"/>
                </a:solidFill>
                <a:latin typeface="Amiri" pitchFamily="34" charset="0"/>
                <a:ea typeface="Amiri" pitchFamily="34" charset="-122"/>
                <a:cs typeface="Amiri" pitchFamily="34" charset="-120"/>
              </a:rPr>
              <a:t>ـتُ</a:t>
            </a:r>
            <a:pPr algn="l" indent="0" marL="0">
              <a:buNone/>
            </a:pPr>
            <a:r>
              <a:rPr lang="en-US" sz="1150" dirty="0">
                <a:solidFill>
                  <a:srgbClr val="1F2A37"/>
                </a:solidFill>
                <a:latin typeface="Calibri" pitchFamily="34" charset="0"/>
                <a:ea typeface="Calibri" pitchFamily="34" charset="-122"/>
                <a:cs typeface="Calibri" pitchFamily="34" charset="-120"/>
              </a:rPr>
              <a:t> at the END = I.</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Where will I stay?</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سَأُقِيمُ </a:t>
            </a:r>
            <a:pPr rtl="1" algn="ctr" indent="0" marL="0">
              <a:buNone/>
            </a:pPr>
            <a:r>
              <a:rPr lang="ar-SA" altLang="en-US" sz="2400" b="1" dirty="0">
                <a:solidFill>
                  <a:srgbClr val="0E7C86"/>
                </a:solidFill>
                <a:latin typeface="Amiri" pitchFamily="34" charset="0"/>
                <a:ea typeface="Amiri" pitchFamily="34" charset="-122"/>
                <a:cs typeface="Amiri" pitchFamily="34" charset="-120"/>
              </a:rPr>
              <a:t>فِي</a:t>
            </a:r>
            <a:pPr rtl="1" algn="ctr" indent="0" marL="0">
              <a:buNone/>
            </a:pPr>
            <a:r>
              <a:rPr lang="ar-SA" altLang="en-US" sz="2400" b="1" dirty="0">
                <a:solidFill>
                  <a:srgbClr val="1B3B6F"/>
                </a:solidFill>
                <a:latin typeface="Amiri" pitchFamily="34" charset="0"/>
                <a:ea typeface="Amiri" pitchFamily="34" charset="-122"/>
                <a:cs typeface="Amiri" pitchFamily="34" charset="-120"/>
              </a:rPr>
              <a:t> رِيَاضٍ تَقْلِيدِيٍّ</a:t>
            </a:r>
            <a:endParaRPr lang="ar-SA" sz="24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يُقِيمُ</a:t>
            </a:r>
            <a:pPr algn="l" indent="0" marL="0">
              <a:buNone/>
            </a:pPr>
            <a:r>
              <a:rPr lang="en-US" sz="1150" dirty="0">
                <a:solidFill>
                  <a:srgbClr val="1F2A37"/>
                </a:solidFill>
                <a:latin typeface="Calibri" pitchFamily="34" charset="0"/>
                <a:ea typeface="Calibri" pitchFamily="34" charset="-122"/>
                <a:cs typeface="Calibri" pitchFamily="34" charset="-120"/>
              </a:rPr>
              <a:t> always + </a:t>
            </a:r>
            <a:pPr algn="l" indent="0" marL="0">
              <a:buNone/>
            </a:pPr>
            <a:r>
              <a:rPr lang="ar-SA" altLang="en-US" sz="1500" dirty="0">
                <a:solidFill>
                  <a:srgbClr val="1F2A37"/>
                </a:solidFill>
                <a:latin typeface="Amiri" pitchFamily="34" charset="0"/>
                <a:ea typeface="Amiri" pitchFamily="34" charset="-122"/>
                <a:cs typeface="Amiri" pitchFamily="34" charset="-120"/>
              </a:rPr>
              <a:t>فِي</a:t>
            </a:r>
            <a:pPr algn="l" indent="0" marL="0">
              <a:buNone/>
            </a:pPr>
            <a:r>
              <a:rPr lang="en-US" sz="1150" dirty="0">
                <a:solidFill>
                  <a:srgbClr val="1F2A37"/>
                </a:solidFill>
                <a:latin typeface="Calibri" pitchFamily="34" charset="0"/>
                <a:ea typeface="Calibri" pitchFamily="34" charset="-122"/>
                <a:cs typeface="Calibri" pitchFamily="34" charset="-120"/>
              </a:rPr>
              <a: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Advice (instruction)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0E7C86"/>
                </a:solidFill>
                <a:latin typeface="Amiri" pitchFamily="34" charset="0"/>
                <a:ea typeface="Amiri" pitchFamily="34" charset="-122"/>
                <a:cs typeface="Amiri" pitchFamily="34" charset="-120"/>
              </a:rPr>
              <a:t>اِحْجِزْ</a:t>
            </a:r>
            <a:pPr rtl="1" algn="ctr" indent="0" marL="0">
              <a:buNone/>
            </a:pPr>
            <a:r>
              <a:rPr lang="ar-SA" altLang="en-US" sz="2800" b="1" dirty="0">
                <a:solidFill>
                  <a:srgbClr val="1B3B6F"/>
                </a:solidFill>
                <a:latin typeface="Amiri" pitchFamily="34" charset="0"/>
                <a:ea typeface="Amiri" pitchFamily="34" charset="-122"/>
                <a:cs typeface="Amiri" pitchFamily="34" charset="-120"/>
              </a:rPr>
              <a:t> مُبَكِّرًا!</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An instruction: “Book early!”</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ea typeface="Calibri" pitchFamily="34" charset="-122"/>
                <a:cs typeface="Calibri" pitchFamily="34" charset="-120"/>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WHO</a:t>
            </a:r>
            <a:endParaRPr lang="en-US" sz="800" dirty="0"/>
          </a:p>
        </p:txBody>
      </p:sp>
      <p:sp>
        <p:nvSpPr>
          <p:cNvPr id="47" name="Shape 43"/>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TIME / KEY WORD</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150" b="1" dirty="0">
                <a:solidFill>
                  <a:srgbClr val="0E7C86"/>
                </a:solidFill>
                <a:latin typeface="Amiri" pitchFamily="34" charset="0"/>
                <a:ea typeface="Amiri" pitchFamily="34" charset="-122"/>
                <a:cs typeface="Amiri" pitchFamily="34" charset="-120"/>
              </a:rPr>
              <a:t>سَ</a:t>
            </a:r>
            <a:pPr rtl="1" algn="r" indent="0" marL="0">
              <a:buNone/>
            </a:pPr>
            <a:r>
              <a:rPr lang="ar-SA" altLang="en-US" sz="2150" b="1" dirty="0">
                <a:solidFill>
                  <a:srgbClr val="1B3B6F"/>
                </a:solidFill>
                <a:latin typeface="Amiri" pitchFamily="34" charset="0"/>
                <a:ea typeface="Amiri" pitchFamily="34" charset="-122"/>
                <a:cs typeface="Amiri" pitchFamily="34" charset="-120"/>
              </a:rPr>
              <a:t>أَحْجِزُ رِحْلَةً إِلَى مَرَّاكُشَ. جَدَّدْ</a:t>
            </a:r>
            <a:pPr rtl="1" algn="r" indent="0" marL="0">
              <a:buNone/>
            </a:pPr>
            <a:r>
              <a:rPr lang="ar-SA" altLang="en-US" sz="2150" b="1" dirty="0">
                <a:solidFill>
                  <a:srgbClr val="1D5FBF"/>
                </a:solidFill>
                <a:latin typeface="Amiri" pitchFamily="34" charset="0"/>
                <a:ea typeface="Amiri" pitchFamily="34" charset="-122"/>
                <a:cs typeface="Amiri" pitchFamily="34" charset="-120"/>
              </a:rPr>
              <a:t>تُ</a:t>
            </a:r>
            <a:pPr rtl="1" algn="r" indent="0" marL="0">
              <a:buNone/>
            </a:pPr>
            <a:r>
              <a:rPr lang="ar-SA" altLang="en-US" sz="2150" b="1" dirty="0">
                <a:solidFill>
                  <a:srgbClr val="1B3B6F"/>
                </a:solidFill>
                <a:latin typeface="Amiri" pitchFamily="34" charset="0"/>
                <a:ea typeface="Amiri" pitchFamily="34" charset="-122"/>
                <a:cs typeface="Amiri" pitchFamily="34" charset="-120"/>
              </a:rPr>
              <a:t> جَوَازَ سَفَرِي، وَسَأُقِيمُ </a:t>
            </a:r>
            <a:pPr rtl="1" algn="r" indent="0" marL="0">
              <a:buNone/>
            </a:pPr>
            <a:r>
              <a:rPr lang="ar-SA" altLang="en-US" sz="2150" b="1" dirty="0">
                <a:solidFill>
                  <a:srgbClr val="0E7C86"/>
                </a:solidFill>
                <a:latin typeface="Amiri" pitchFamily="34" charset="0"/>
                <a:ea typeface="Amiri" pitchFamily="34" charset="-122"/>
                <a:cs typeface="Amiri" pitchFamily="34" charset="-120"/>
              </a:rPr>
              <a:t>فِي</a:t>
            </a:r>
            <a:pPr rtl="1" algn="r" indent="0" marL="0">
              <a:buNone/>
            </a:pPr>
            <a:r>
              <a:rPr lang="ar-SA" altLang="en-US" sz="2150" b="1" dirty="0">
                <a:solidFill>
                  <a:srgbClr val="1B3B6F"/>
                </a:solidFill>
                <a:latin typeface="Amiri" pitchFamily="34" charset="0"/>
                <a:ea typeface="Amiri" pitchFamily="34" charset="-122"/>
                <a:cs typeface="Amiri" pitchFamily="34" charset="-120"/>
              </a:rPr>
              <a:t> رِيَاضٍ تَقْلِيدِيٍّ فِي المَدِينَةِ القَدِيمَةِ. نَصِيحَتِي: </a:t>
            </a:r>
            <a:pPr rtl="1" algn="r" indent="0" marL="0">
              <a:buNone/>
            </a:pPr>
            <a:r>
              <a:rPr lang="ar-SA" altLang="en-US" sz="2150" b="1" dirty="0">
                <a:solidFill>
                  <a:srgbClr val="0E7C86"/>
                </a:solidFill>
                <a:latin typeface="Amiri" pitchFamily="34" charset="0"/>
                <a:ea typeface="Amiri" pitchFamily="34" charset="-122"/>
                <a:cs typeface="Amiri" pitchFamily="34" charset="-120"/>
              </a:rPr>
              <a:t>اِحْجِزْ</a:t>
            </a:r>
            <a:pPr rtl="1" algn="r" indent="0" marL="0">
              <a:buNone/>
            </a:pPr>
            <a:r>
              <a:rPr lang="ar-SA" altLang="en-US" sz="2150" b="1" dirty="0">
                <a:solidFill>
                  <a:srgbClr val="1B3B6F"/>
                </a:solidFill>
                <a:latin typeface="Amiri" pitchFamily="34" charset="0"/>
                <a:ea typeface="Amiri" pitchFamily="34" charset="-122"/>
                <a:cs typeface="Amiri" pitchFamily="34" charset="-120"/>
              </a:rPr>
              <a:t> مُبَكِّرًا!</a:t>
            </a:r>
            <a:endParaRPr lang="ar-SA" sz="215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ea typeface="Calibri" pitchFamily="34" charset="-122"/>
                <a:cs typeface="Calibri" pitchFamily="34" charset="-120"/>
              </a:rPr>
              <a:t>I will book a trip to Marrakesh. I renewed my passport, and I will stay in a traditional riad in the old city. My advice: book early!</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48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Four 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هٰذَا جَوَازُ سَفَرٍ.</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This is a passport.</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Website game — a Core sentence.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أُقِيمُ فِي رِيَاضٍ تَقْلِيدِيٍّ فِي المَدِينَةِ القَدِيمَةِ.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I stay in a traditional riad in the old city.</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يُقِيمُ فِي before accommodation.</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تُؤَكِّدُ الرِّسَالَةُ أَنَّ الْمَوْعِدَ فِي السَّاعَةِ الْعَاشِرَةِ.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The message confirms that the appointment is at ten o’clock.</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Website game — read a message for the time.</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كُنْتُ قَدْ حَجَزْتُ رِحْلَتِي قَبْلَ شَهْرَيْنِ.</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I had booked my trip two months earlier.</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Past perfect of يَحْجِزُ.</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48</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 WEBSITE GAME “DOCUMENT DETECTIVE”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ea typeface="Cambria" pitchFamily="34" charset="-122"/>
                <a:cs typeface="Cambria" pitchFamily="34" charset="-120"/>
              </a:rPr>
              <a:t>Match the picture to the sentence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مُحَقِّقُ الْوَثَائِقِ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ar-SA" altLang="en-US" sz="1450" dirty="0">
                <a:solidFill>
                  <a:srgbClr val="5A6472"/>
                </a:solidFill>
                <a:latin typeface="Amiri" pitchFamily="34" charset="0"/>
                <a:ea typeface="Amiri" pitchFamily="34" charset="-122"/>
                <a:cs typeface="Amiri" pitchFamily="34" charset="-120"/>
              </a:rPr>
              <a:t>جواز سفر</a:t>
            </a:r>
            <a:endParaRPr lang="en-US" sz="1100" dirty="0"/>
          </a:p>
        </p:txBody>
      </p:sp>
      <p:sp>
        <p:nvSpPr>
          <p:cNvPr id="21" name="Shape 17"/>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4404360" y="1938528"/>
            <a:ext cx="365760" cy="365760"/>
          </a:xfrm>
          <a:prstGeom prst="ellipse">
            <a:avLst/>
          </a:prstGeom>
          <a:solidFill>
            <a:srgbClr val="1B3B6F"/>
          </a:solidFill>
          <a:ln w="12700">
            <a:solidFill>
              <a:srgbClr val="1B3B6F"/>
            </a:solidFill>
            <a:prstDash val="solid"/>
          </a:ln>
        </p:spPr>
      </p:sp>
      <p:sp>
        <p:nvSpPr>
          <p:cNvPr id="23" name="Text 19"/>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4" name="Shape 20"/>
          <p:cNvSpPr/>
          <p:nvPr/>
        </p:nvSpPr>
        <p:spPr>
          <a:xfrm>
            <a:off x="4992624" y="2066544"/>
            <a:ext cx="1014984" cy="1014984"/>
          </a:xfrm>
          <a:prstGeom prst="ellipse">
            <a:avLst/>
          </a:prstGeom>
          <a:solidFill>
            <a:srgbClr val="F4F1EA"/>
          </a:solidFill>
          <a:ln w="12700">
            <a:solidFill>
              <a:srgbClr val="F4F1EA"/>
            </a:solidFill>
            <a:prstDash val="solid"/>
          </a:ln>
        </p:spPr>
      </p:sp>
      <p:pic>
        <p:nvPicPr>
          <p:cNvPr id="25" name="Image 1" descr="preencoded.png">    </p:cNvPr>
          <p:cNvPicPr>
            <a:picLocks noChangeAspect="1"/>
          </p:cNvPicPr>
          <p:nvPr/>
        </p:nvPicPr>
        <p:blipFill>
          <a:blip r:embed="rId2"/>
          <a:stretch>
            <a:fillRect/>
          </a:stretch>
        </p:blipFill>
        <p:spPr>
          <a:xfrm>
            <a:off x="5175504" y="2249424"/>
            <a:ext cx="649224" cy="649224"/>
          </a:xfrm>
          <a:prstGeom prst="rect">
            <a:avLst/>
          </a:prstGeom>
        </p:spPr>
      </p:pic>
      <p:sp>
        <p:nvSpPr>
          <p:cNvPr id="26" name="Shape 21"/>
          <p:cNvSpPr/>
          <p:nvPr/>
        </p:nvSpPr>
        <p:spPr>
          <a:xfrm>
            <a:off x="618134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6364224" y="2249424"/>
            <a:ext cx="649224" cy="649224"/>
          </a:xfrm>
          <a:prstGeom prst="rect">
            <a:avLst/>
          </a:prstGeom>
        </p:spPr>
      </p:pic>
      <p:sp>
        <p:nvSpPr>
          <p:cNvPr id="28" name="Text 22"/>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10:00</a:t>
            </a:r>
            <a:endParaRPr lang="en-US" sz="1100" dirty="0"/>
          </a:p>
        </p:txBody>
      </p:sp>
      <p:sp>
        <p:nvSpPr>
          <p:cNvPr id="29" name="Shape 23"/>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4"/>
          <p:cNvSpPr/>
          <p:nvPr/>
        </p:nvSpPr>
        <p:spPr>
          <a:xfrm>
            <a:off x="585216" y="1938528"/>
            <a:ext cx="365760" cy="365760"/>
          </a:xfrm>
          <a:prstGeom prst="ellipse">
            <a:avLst/>
          </a:prstGeom>
          <a:solidFill>
            <a:srgbClr val="1B3B6F"/>
          </a:solidFill>
          <a:ln w="12700">
            <a:solidFill>
              <a:srgbClr val="1B3B6F"/>
            </a:solidFill>
            <a:prstDash val="solid"/>
          </a:ln>
        </p:spPr>
      </p:sp>
      <p:sp>
        <p:nvSpPr>
          <p:cNvPr id="31" name="Text 25"/>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2" name="Shape 26"/>
          <p:cNvSpPr/>
          <p:nvPr/>
        </p:nvSpPr>
        <p:spPr>
          <a:xfrm>
            <a:off x="1767840" y="2066544"/>
            <a:ext cx="1014984" cy="1014984"/>
          </a:xfrm>
          <a:prstGeom prst="ellipse">
            <a:avLst/>
          </a:prstGeom>
          <a:solidFill>
            <a:srgbClr val="F4F1EA"/>
          </a:solidFill>
          <a:ln w="12700">
            <a:solidFill>
              <a:srgbClr val="F4F1EA"/>
            </a:solidFill>
            <a:prstDash val="solid"/>
          </a:ln>
        </p:spPr>
      </p:sp>
      <p:pic>
        <p:nvPicPr>
          <p:cNvPr id="33" name="Image 3" descr="preencoded.png">    </p:cNvPr>
          <p:cNvPicPr>
            <a:picLocks noChangeAspect="1"/>
          </p:cNvPicPr>
          <p:nvPr/>
        </p:nvPicPr>
        <p:blipFill>
          <a:blip r:embed="rId4"/>
          <a:stretch>
            <a:fillRect/>
          </a:stretch>
        </p:blipFill>
        <p:spPr>
          <a:xfrm>
            <a:off x="1950720" y="2249424"/>
            <a:ext cx="649224" cy="649224"/>
          </a:xfrm>
          <a:prstGeom prst="rect">
            <a:avLst/>
          </a:prstGeom>
        </p:spPr>
      </p:pic>
      <p:sp>
        <p:nvSpPr>
          <p:cNvPr id="34" name="Text 27"/>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£24.50</a:t>
            </a:r>
            <a:endParaRPr lang="en-US" sz="1100" dirty="0"/>
          </a:p>
        </p:txBody>
      </p:sp>
      <p:sp>
        <p:nvSpPr>
          <p:cNvPr id="35" name="Shape 28"/>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6" name="Shape 29"/>
          <p:cNvSpPr/>
          <p:nvPr/>
        </p:nvSpPr>
        <p:spPr>
          <a:xfrm>
            <a:off x="11247120" y="3831336"/>
            <a:ext cx="292608" cy="292608"/>
          </a:xfrm>
          <a:prstGeom prst="ellipse">
            <a:avLst/>
          </a:prstGeom>
          <a:solidFill>
            <a:srgbClr val="2F6FB0"/>
          </a:solidFill>
          <a:ln w="12700">
            <a:solidFill>
              <a:srgbClr val="2F6FB0"/>
            </a:solidFill>
            <a:prstDash val="solid"/>
          </a:ln>
        </p:spPr>
      </p:sp>
      <p:sp>
        <p:nvSpPr>
          <p:cNvPr id="37" name="Text 30"/>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38" name="Text 31"/>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تُؤَكِّدُ الرِّسَالَةُ أَنَّ الْمَوْعِدَ فِي السَّاعَةِ الْعَاشِرَةِ.</a:t>
            </a:r>
            <a:endParaRPr lang="ar-SA" sz="2000" dirty="0"/>
          </a:p>
        </p:txBody>
      </p:sp>
      <p:sp>
        <p:nvSpPr>
          <p:cNvPr id="39" name="Shape 32"/>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0" name="Shape 33"/>
          <p:cNvSpPr/>
          <p:nvPr/>
        </p:nvSpPr>
        <p:spPr>
          <a:xfrm>
            <a:off x="11247120" y="4398264"/>
            <a:ext cx="292608" cy="292608"/>
          </a:xfrm>
          <a:prstGeom prst="ellipse">
            <a:avLst/>
          </a:prstGeom>
          <a:solidFill>
            <a:srgbClr val="2F6FB0"/>
          </a:solidFill>
          <a:ln w="12700">
            <a:solidFill>
              <a:srgbClr val="2F6FB0"/>
            </a:solidFill>
            <a:prstDash val="solid"/>
          </a:ln>
        </p:spPr>
      </p:sp>
      <p:sp>
        <p:nvSpPr>
          <p:cNvPr id="41" name="Text 34"/>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42" name="Text 35"/>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اَلْمَبْلَغُ الإِجْمَالِيُّ أَرْبَعَةٌ وَعِشْرُونَ جُنَيْهًا وَخَمْسُونَ بِنْسًا.</a:t>
            </a:r>
            <a:endParaRPr lang="ar-SA" sz="2000" dirty="0"/>
          </a:p>
        </p:txBody>
      </p:sp>
      <p:sp>
        <p:nvSpPr>
          <p:cNvPr id="43" name="Shape 36"/>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4" name="Shape 37"/>
          <p:cNvSpPr/>
          <p:nvPr/>
        </p:nvSpPr>
        <p:spPr>
          <a:xfrm>
            <a:off x="11247120" y="4965192"/>
            <a:ext cx="292608" cy="292608"/>
          </a:xfrm>
          <a:prstGeom prst="ellipse">
            <a:avLst/>
          </a:prstGeom>
          <a:solidFill>
            <a:srgbClr val="2F6FB0"/>
          </a:solidFill>
          <a:ln w="12700">
            <a:solidFill>
              <a:srgbClr val="2F6FB0"/>
            </a:solidFill>
            <a:prstDash val="solid"/>
          </a:ln>
        </p:spPr>
      </p:sp>
      <p:sp>
        <p:nvSpPr>
          <p:cNvPr id="45" name="Text 38"/>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t>
            </a:r>
            <a:endParaRPr lang="en-US" sz="1000" dirty="0"/>
          </a:p>
        </p:txBody>
      </p:sp>
      <p:sp>
        <p:nvSpPr>
          <p:cNvPr id="46" name="Text 39"/>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هٰذَا جَوَازُ سَفَرٍ.</a:t>
            </a:r>
            <a:endParaRPr lang="ar-SA" sz="2000" dirty="0"/>
          </a:p>
        </p:txBody>
      </p:sp>
      <p:sp>
        <p:nvSpPr>
          <p:cNvPr id="47" name="Text 40"/>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ea typeface="Calibri" pitchFamily="34" charset="-122"/>
                <a:cs typeface="Calibri" pitchFamily="34" charset="-120"/>
              </a:rPr>
              <a:t>Match each picture to a sentence. Type in the chat: 1_  2_  3_</a:t>
            </a:r>
            <a:endParaRPr lang="en-US" sz="1250" dirty="0"/>
          </a:p>
        </p:txBody>
      </p:sp>
      <p:sp>
        <p:nvSpPr>
          <p:cNvPr id="48" name="Text 41"/>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Core: find ONE key word you know in each sentence first.</a:t>
            </a:r>
            <a:endParaRPr lang="en-US" sz="1150" dirty="0"/>
          </a:p>
        </p:txBody>
      </p:sp>
      <p:sp>
        <p:nvSpPr>
          <p:cNvPr id="49"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48</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مُحَقِّقُ الْوَثَائِقِ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ar-SA" altLang="en-US" sz="1450" dirty="0">
                <a:solidFill>
                  <a:srgbClr val="5A6472"/>
                </a:solidFill>
                <a:latin typeface="Amiri" pitchFamily="34" charset="0"/>
                <a:ea typeface="Amiri" pitchFamily="34" charset="-122"/>
                <a:cs typeface="Amiri" pitchFamily="34" charset="-120"/>
              </a:rPr>
              <a:t>جواز سفر</a:t>
            </a:r>
            <a:endParaRPr lang="en-US" sz="1100" dirty="0"/>
          </a:p>
        </p:txBody>
      </p:sp>
      <p:sp>
        <p:nvSpPr>
          <p:cNvPr id="21" name="Shape 17"/>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11256264" y="3785616"/>
            <a:ext cx="329184" cy="329184"/>
          </a:xfrm>
          <a:prstGeom prst="ellipse">
            <a:avLst/>
          </a:prstGeom>
          <a:solidFill>
            <a:srgbClr val="2E8B57"/>
          </a:solidFill>
          <a:ln w="12700">
            <a:solidFill>
              <a:srgbClr val="2E8B57"/>
            </a:solidFill>
            <a:prstDash val="solid"/>
          </a:ln>
        </p:spPr>
      </p:sp>
      <p:sp>
        <p:nvSpPr>
          <p:cNvPr id="23" name="Text 19"/>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24" name="Text 20"/>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هٰذَا جَوَازُ سَفَرٍ.</a:t>
            </a:r>
            <a:endParaRPr lang="ar-SA" sz="2200" dirty="0"/>
          </a:p>
        </p:txBody>
      </p:sp>
      <p:sp>
        <p:nvSpPr>
          <p:cNvPr id="25" name="Text 21"/>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This is a passport.</a:t>
            </a:r>
            <a:endParaRPr lang="en-US" sz="1200" dirty="0"/>
          </a:p>
        </p:txBody>
      </p:sp>
      <p:sp>
        <p:nvSpPr>
          <p:cNvPr id="26" name="Shape 22"/>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Shape 23"/>
          <p:cNvSpPr/>
          <p:nvPr/>
        </p:nvSpPr>
        <p:spPr>
          <a:xfrm>
            <a:off x="4404360" y="1938528"/>
            <a:ext cx="365760" cy="365760"/>
          </a:xfrm>
          <a:prstGeom prst="ellipse">
            <a:avLst/>
          </a:prstGeom>
          <a:solidFill>
            <a:srgbClr val="1B3B6F"/>
          </a:solidFill>
          <a:ln w="12700">
            <a:solidFill>
              <a:srgbClr val="1B3B6F"/>
            </a:solidFill>
            <a:prstDash val="solid"/>
          </a:ln>
        </p:spPr>
      </p:sp>
      <p:sp>
        <p:nvSpPr>
          <p:cNvPr id="28" name="Text 24"/>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9" name="Shape 25"/>
          <p:cNvSpPr/>
          <p:nvPr/>
        </p:nvSpPr>
        <p:spPr>
          <a:xfrm>
            <a:off x="4992624" y="2066544"/>
            <a:ext cx="1014984" cy="1014984"/>
          </a:xfrm>
          <a:prstGeom prst="ellipse">
            <a:avLst/>
          </a:prstGeom>
          <a:solidFill>
            <a:srgbClr val="F4F1EA"/>
          </a:solidFill>
          <a:ln w="12700">
            <a:solidFill>
              <a:srgbClr val="F4F1EA"/>
            </a:solidFill>
            <a:prstDash val="solid"/>
          </a:ln>
        </p:spPr>
      </p:sp>
      <p:pic>
        <p:nvPicPr>
          <p:cNvPr id="30" name="Image 1" descr="preencoded.png">    </p:cNvPr>
          <p:cNvPicPr>
            <a:picLocks noChangeAspect="1"/>
          </p:cNvPicPr>
          <p:nvPr/>
        </p:nvPicPr>
        <p:blipFill>
          <a:blip r:embed="rId2"/>
          <a:stretch>
            <a:fillRect/>
          </a:stretch>
        </p:blipFill>
        <p:spPr>
          <a:xfrm>
            <a:off x="5175504" y="2249424"/>
            <a:ext cx="649224" cy="649224"/>
          </a:xfrm>
          <a:prstGeom prst="rect">
            <a:avLst/>
          </a:prstGeom>
        </p:spPr>
      </p:pic>
      <p:sp>
        <p:nvSpPr>
          <p:cNvPr id="31" name="Shape 26"/>
          <p:cNvSpPr/>
          <p:nvPr/>
        </p:nvSpPr>
        <p:spPr>
          <a:xfrm>
            <a:off x="618134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6364224" y="2249424"/>
            <a:ext cx="649224" cy="649224"/>
          </a:xfrm>
          <a:prstGeom prst="rect">
            <a:avLst/>
          </a:prstGeom>
        </p:spPr>
      </p:pic>
      <p:sp>
        <p:nvSpPr>
          <p:cNvPr id="33" name="Text 27"/>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10:00</a:t>
            </a:r>
            <a:endParaRPr lang="en-US" sz="1100" dirty="0"/>
          </a:p>
        </p:txBody>
      </p:sp>
      <p:sp>
        <p:nvSpPr>
          <p:cNvPr id="34" name="Shape 28"/>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5" name="Shape 29"/>
          <p:cNvSpPr/>
          <p:nvPr/>
        </p:nvSpPr>
        <p:spPr>
          <a:xfrm>
            <a:off x="7437120" y="3785616"/>
            <a:ext cx="329184" cy="329184"/>
          </a:xfrm>
          <a:prstGeom prst="ellipse">
            <a:avLst/>
          </a:prstGeom>
          <a:solidFill>
            <a:srgbClr val="2E8B57"/>
          </a:solidFill>
          <a:ln w="12700">
            <a:solidFill>
              <a:srgbClr val="2E8B57"/>
            </a:solidFill>
            <a:prstDash val="solid"/>
          </a:ln>
        </p:spPr>
      </p:sp>
      <p:sp>
        <p:nvSpPr>
          <p:cNvPr id="36" name="Text 30"/>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37" name="Text 31"/>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تُؤَكِّدُ الرِّسَالَةُ أَنَّ الْمَوْعِدَ فِي السَّاعَةِ الْعَاشِرَةِ.</a:t>
            </a:r>
            <a:endParaRPr lang="ar-SA" sz="2200" dirty="0"/>
          </a:p>
        </p:txBody>
      </p:sp>
      <p:sp>
        <p:nvSpPr>
          <p:cNvPr id="38" name="Text 32"/>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The message confirms that the appointment is at ten o’clock.</a:t>
            </a:r>
            <a:endParaRPr lang="en-US" sz="1200" dirty="0"/>
          </a:p>
        </p:txBody>
      </p:sp>
      <p:sp>
        <p:nvSpPr>
          <p:cNvPr id="39" name="Shape 33"/>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4"/>
          <p:cNvSpPr/>
          <p:nvPr/>
        </p:nvSpPr>
        <p:spPr>
          <a:xfrm>
            <a:off x="585216" y="1938528"/>
            <a:ext cx="365760" cy="365760"/>
          </a:xfrm>
          <a:prstGeom prst="ellipse">
            <a:avLst/>
          </a:prstGeom>
          <a:solidFill>
            <a:srgbClr val="1B3B6F"/>
          </a:solidFill>
          <a:ln w="12700">
            <a:solidFill>
              <a:srgbClr val="1B3B6F"/>
            </a:solidFill>
            <a:prstDash val="solid"/>
          </a:ln>
        </p:spPr>
      </p:sp>
      <p:sp>
        <p:nvSpPr>
          <p:cNvPr id="41" name="Text 35"/>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2" name="Shape 36"/>
          <p:cNvSpPr/>
          <p:nvPr/>
        </p:nvSpPr>
        <p:spPr>
          <a:xfrm>
            <a:off x="1767840" y="2066544"/>
            <a:ext cx="1014984" cy="1014984"/>
          </a:xfrm>
          <a:prstGeom prst="ellipse">
            <a:avLst/>
          </a:prstGeom>
          <a:solidFill>
            <a:srgbClr val="F4F1EA"/>
          </a:solidFill>
          <a:ln w="12700">
            <a:solidFill>
              <a:srgbClr val="F4F1EA"/>
            </a:solidFill>
            <a:prstDash val="solid"/>
          </a:ln>
        </p:spPr>
      </p:sp>
      <p:pic>
        <p:nvPicPr>
          <p:cNvPr id="43" name="Image 3" descr="preencoded.png">    </p:cNvPr>
          <p:cNvPicPr>
            <a:picLocks noChangeAspect="1"/>
          </p:cNvPicPr>
          <p:nvPr/>
        </p:nvPicPr>
        <p:blipFill>
          <a:blip r:embed="rId4"/>
          <a:stretch>
            <a:fillRect/>
          </a:stretch>
        </p:blipFill>
        <p:spPr>
          <a:xfrm>
            <a:off x="1950720" y="2249424"/>
            <a:ext cx="649224" cy="649224"/>
          </a:xfrm>
          <a:prstGeom prst="rect">
            <a:avLst/>
          </a:prstGeom>
        </p:spPr>
      </p:pic>
      <p:sp>
        <p:nvSpPr>
          <p:cNvPr id="44" name="Text 37"/>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£24.50</a:t>
            </a:r>
            <a:endParaRPr lang="en-US" sz="1100" dirty="0"/>
          </a:p>
        </p:txBody>
      </p:sp>
      <p:sp>
        <p:nvSpPr>
          <p:cNvPr id="45" name="Shape 38"/>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6" name="Shape 39"/>
          <p:cNvSpPr/>
          <p:nvPr/>
        </p:nvSpPr>
        <p:spPr>
          <a:xfrm>
            <a:off x="3617976" y="3785616"/>
            <a:ext cx="329184" cy="329184"/>
          </a:xfrm>
          <a:prstGeom prst="ellipse">
            <a:avLst/>
          </a:prstGeom>
          <a:solidFill>
            <a:srgbClr val="2E8B57"/>
          </a:solidFill>
          <a:ln w="12700">
            <a:solidFill>
              <a:srgbClr val="2E8B57"/>
            </a:solidFill>
            <a:prstDash val="solid"/>
          </a:ln>
        </p:spPr>
      </p:sp>
      <p:sp>
        <p:nvSpPr>
          <p:cNvPr id="47" name="Text 40"/>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48" name="Text 41"/>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اَلْمَبْلَغُ الإِجْمَالِيُّ أَرْبَعَةٌ وَعِشْرُونَ جُنَيْهًا وَخَمْسُونَ بِنْسًا.</a:t>
            </a:r>
            <a:endParaRPr lang="ar-SA" sz="2200" dirty="0"/>
          </a:p>
        </p:txBody>
      </p:sp>
      <p:sp>
        <p:nvSpPr>
          <p:cNvPr id="49" name="Text 42"/>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The total amount is twenty-four pounds and fifty pence.</a:t>
            </a:r>
            <a:endParaRPr lang="en-US" sz="1200" dirty="0"/>
          </a:p>
        </p:txBody>
      </p:sp>
      <p:sp>
        <p:nvSpPr>
          <p:cNvPr id="50"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48</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DOCUMENT DETECTIVE (TOPIC C FOCUS)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 a booking confirmation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مُحَقِّقُ الوَثَائِقِ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56816"/>
            <a:ext cx="7616952" cy="564315"/>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رِسَالَةُ تَأْكِيدِ الحَجْزِ</a:t>
            </a:r>
            <a:endParaRPr lang="ar-SA" sz="2200" dirty="0"/>
          </a:p>
        </p:txBody>
      </p:sp>
      <p:sp>
        <p:nvSpPr>
          <p:cNvPr id="17" name="Shape 14"/>
          <p:cNvSpPr/>
          <p:nvPr/>
        </p:nvSpPr>
        <p:spPr>
          <a:xfrm>
            <a:off x="685800" y="2539419"/>
            <a:ext cx="7616952" cy="0"/>
          </a:xfrm>
          <a:prstGeom prst="line">
            <a:avLst/>
          </a:prstGeom>
          <a:noFill/>
          <a:ln w="9525">
            <a:solidFill>
              <a:srgbClr val="E4DCCB"/>
            </a:solidFill>
            <a:prstDash val="dash"/>
          </a:ln>
        </p:spPr>
      </p:sp>
      <p:sp>
        <p:nvSpPr>
          <p:cNvPr id="18" name="Text 15"/>
          <p:cNvSpPr txBox="1"/>
          <p:nvPr/>
        </p:nvSpPr>
        <p:spPr>
          <a:xfrm>
            <a:off x="685800" y="2557707"/>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شُكْرًا لَكَ! تَمَّ حَجْزُ رِحْلَتِكَ إِلَى مَرَّاكُشَ.</a:t>
            </a:r>
            <a:endParaRPr lang="ar-SA" sz="2000" dirty="0"/>
          </a:p>
        </p:txBody>
      </p:sp>
      <p:sp>
        <p:nvSpPr>
          <p:cNvPr id="19" name="Shape 16"/>
          <p:cNvSpPr/>
          <p:nvPr/>
        </p:nvSpPr>
        <p:spPr>
          <a:xfrm>
            <a:off x="685800" y="3140311"/>
            <a:ext cx="7616952" cy="0"/>
          </a:xfrm>
          <a:prstGeom prst="line">
            <a:avLst/>
          </a:prstGeom>
          <a:noFill/>
          <a:ln w="9525">
            <a:solidFill>
              <a:srgbClr val="E4DCCB"/>
            </a:solidFill>
            <a:prstDash val="dash"/>
          </a:ln>
        </p:spPr>
      </p:sp>
      <p:sp>
        <p:nvSpPr>
          <p:cNvPr id="20" name="Text 17"/>
          <p:cNvSpPr txBox="1"/>
          <p:nvPr/>
        </p:nvSpPr>
        <p:spPr>
          <a:xfrm>
            <a:off x="685800" y="3158599"/>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مَوْعِدُ القِيَامِ: يَوْمَ السَّبْتِ، السَّاعَةَ العَاشِرَةَ صَبَاحًا.</a:t>
            </a:r>
            <a:endParaRPr lang="ar-SA" sz="2000" dirty="0"/>
          </a:p>
        </p:txBody>
      </p:sp>
      <p:sp>
        <p:nvSpPr>
          <p:cNvPr id="21" name="Shape 18"/>
          <p:cNvSpPr/>
          <p:nvPr/>
        </p:nvSpPr>
        <p:spPr>
          <a:xfrm>
            <a:off x="685800" y="3741202"/>
            <a:ext cx="7616952" cy="0"/>
          </a:xfrm>
          <a:prstGeom prst="line">
            <a:avLst/>
          </a:prstGeom>
          <a:noFill/>
          <a:ln w="9525">
            <a:solidFill>
              <a:srgbClr val="E4DCCB"/>
            </a:solidFill>
            <a:prstDash val="dash"/>
          </a:ln>
        </p:spPr>
      </p:sp>
      <p:sp>
        <p:nvSpPr>
          <p:cNvPr id="22" name="Text 19"/>
          <p:cNvSpPr txBox="1"/>
          <p:nvPr/>
        </p:nvSpPr>
        <p:spPr>
          <a:xfrm>
            <a:off x="685800" y="3759490"/>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البَوَّابَةُ: ١٢  ·  الدَّرَجَةُ الاِقْتِصَادِيَّةُ.</a:t>
            </a:r>
            <a:endParaRPr lang="ar-SA" sz="2000" dirty="0"/>
          </a:p>
        </p:txBody>
      </p:sp>
      <p:sp>
        <p:nvSpPr>
          <p:cNvPr id="23" name="Shape 20"/>
          <p:cNvSpPr/>
          <p:nvPr/>
        </p:nvSpPr>
        <p:spPr>
          <a:xfrm>
            <a:off x="685800" y="4342094"/>
            <a:ext cx="7616952" cy="0"/>
          </a:xfrm>
          <a:prstGeom prst="line">
            <a:avLst/>
          </a:prstGeom>
          <a:noFill/>
          <a:ln w="9525">
            <a:solidFill>
              <a:srgbClr val="E4DCCB"/>
            </a:solidFill>
            <a:prstDash val="dash"/>
          </a:ln>
        </p:spPr>
      </p:sp>
      <p:sp>
        <p:nvSpPr>
          <p:cNvPr id="24" name="Text 21"/>
          <p:cNvSpPr txBox="1"/>
          <p:nvPr/>
        </p:nvSpPr>
        <p:spPr>
          <a:xfrm>
            <a:off x="685800" y="4360382"/>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وَزْنُ الأَمْتِعَةِ: ٢٠ كِيلُوغْرَامًا فَقَطْ.</a:t>
            </a:r>
            <a:endParaRPr lang="ar-SA" sz="2000" dirty="0"/>
          </a:p>
        </p:txBody>
      </p:sp>
      <p:sp>
        <p:nvSpPr>
          <p:cNvPr id="25" name="Shape 22"/>
          <p:cNvSpPr/>
          <p:nvPr/>
        </p:nvSpPr>
        <p:spPr>
          <a:xfrm>
            <a:off x="685800" y="4942985"/>
            <a:ext cx="7616952" cy="0"/>
          </a:xfrm>
          <a:prstGeom prst="line">
            <a:avLst/>
          </a:prstGeom>
          <a:noFill/>
          <a:ln w="9525">
            <a:solidFill>
              <a:srgbClr val="E4DCCB"/>
            </a:solidFill>
            <a:prstDash val="dash"/>
          </a:ln>
        </p:spPr>
      </p:sp>
      <p:sp>
        <p:nvSpPr>
          <p:cNvPr id="26" name="Text 23"/>
          <p:cNvSpPr txBox="1"/>
          <p:nvPr/>
        </p:nvSpPr>
        <p:spPr>
          <a:xfrm>
            <a:off x="685800" y="4961273"/>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سَتُقِيمُ فِي فُنْدُقٍ بِخَمْسِ نُجُومٍ قُرْبَ المَدِينَةِ القَدِيمَةِ.</a:t>
            </a:r>
            <a:endParaRPr lang="ar-SA" sz="2000" dirty="0"/>
          </a:p>
        </p:txBody>
      </p:sp>
      <p:sp>
        <p:nvSpPr>
          <p:cNvPr id="27" name="Shape 24"/>
          <p:cNvSpPr/>
          <p:nvPr/>
        </p:nvSpPr>
        <p:spPr>
          <a:xfrm>
            <a:off x="685800" y="5543877"/>
            <a:ext cx="7616952" cy="0"/>
          </a:xfrm>
          <a:prstGeom prst="line">
            <a:avLst/>
          </a:prstGeom>
          <a:noFill/>
          <a:ln w="9525">
            <a:solidFill>
              <a:srgbClr val="E4DCCB"/>
            </a:solidFill>
            <a:prstDash val="dash"/>
          </a:ln>
        </p:spPr>
      </p:sp>
      <p:sp>
        <p:nvSpPr>
          <p:cNvPr id="28" name="Text 25"/>
          <p:cNvSpPr txBox="1"/>
          <p:nvPr/>
        </p:nvSpPr>
        <p:spPr>
          <a:xfrm>
            <a:off x="685800" y="5562165"/>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مُهِمٌّ: أَحْضِرْ جَوَازَ سَفَرِكَ وَالتَّأْشِيرَةَ، وَسَجِّلِ الوُصُولَ إِلِكْتْرُونِيًّا قَبْلَ الرِّحْلَةِ.</a:t>
            </a:r>
            <a:endParaRPr lang="ar-SA" sz="2000" dirty="0"/>
          </a:p>
        </p:txBody>
      </p:sp>
      <p:sp>
        <p:nvSpPr>
          <p:cNvPr id="29" name="Shape 2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KEY WORDS</a:t>
            </a:r>
            <a:endParaRPr lang="en-US" sz="1000" dirty="0"/>
          </a:p>
        </p:txBody>
      </p:sp>
      <p:sp>
        <p:nvSpPr>
          <p:cNvPr id="31" name="Text 2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تَأْكِيدُ الحَجْزِ</a:t>
            </a:r>
            <a:endParaRPr lang="ar-SA" sz="1600" dirty="0"/>
          </a:p>
        </p:txBody>
      </p:sp>
      <p:sp>
        <p:nvSpPr>
          <p:cNvPr id="32" name="Text 2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booking confirmation</a:t>
            </a:r>
            <a:endParaRPr lang="en-US" sz="1050" dirty="0"/>
          </a:p>
        </p:txBody>
      </p:sp>
      <p:sp>
        <p:nvSpPr>
          <p:cNvPr id="33" name="Text 3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تَمَّ حَجْزُ …</a:t>
            </a:r>
            <a:endParaRPr lang="ar-SA" sz="1600" dirty="0"/>
          </a:p>
        </p:txBody>
      </p:sp>
      <p:sp>
        <p:nvSpPr>
          <p:cNvPr id="34" name="Text 3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 has been booked</a:t>
            </a:r>
            <a:endParaRPr lang="en-US" sz="1050" dirty="0"/>
          </a:p>
        </p:txBody>
      </p:sp>
      <p:sp>
        <p:nvSpPr>
          <p:cNvPr id="35" name="Text 3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مَوْعِدُ القِيَامِ</a:t>
            </a:r>
            <a:endParaRPr lang="ar-SA" sz="1600" dirty="0"/>
          </a:p>
        </p:txBody>
      </p:sp>
      <p:sp>
        <p:nvSpPr>
          <p:cNvPr id="36" name="Text 3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departure time</a:t>
            </a:r>
            <a:endParaRPr lang="en-US" sz="1050" dirty="0"/>
          </a:p>
        </p:txBody>
      </p:sp>
      <p:sp>
        <p:nvSpPr>
          <p:cNvPr id="37" name="Text 3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يَوْمَ السَّبْتِ</a:t>
            </a:r>
            <a:endParaRPr lang="ar-SA" sz="1600" dirty="0"/>
          </a:p>
        </p:txBody>
      </p:sp>
      <p:sp>
        <p:nvSpPr>
          <p:cNvPr id="38" name="Text 3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on Saturday</a:t>
            </a:r>
            <a:endParaRPr lang="en-US" sz="1050" dirty="0"/>
          </a:p>
        </p:txBody>
      </p:sp>
      <p:sp>
        <p:nvSpPr>
          <p:cNvPr id="39" name="Text 3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البَوَّابَةُ</a:t>
            </a:r>
            <a:endParaRPr lang="ar-SA" sz="1600" dirty="0"/>
          </a:p>
        </p:txBody>
      </p:sp>
      <p:sp>
        <p:nvSpPr>
          <p:cNvPr id="40" name="Text 3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gate</a:t>
            </a:r>
            <a:endParaRPr lang="en-US" sz="1050" dirty="0"/>
          </a:p>
        </p:txBody>
      </p:sp>
      <p:sp>
        <p:nvSpPr>
          <p:cNvPr id="41" name="Text 3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وَزْنُ الأَمْتِعَةِ</a:t>
            </a:r>
            <a:endParaRPr lang="ar-SA" sz="1600" dirty="0"/>
          </a:p>
        </p:txBody>
      </p:sp>
      <p:sp>
        <p:nvSpPr>
          <p:cNvPr id="42" name="Text 3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baggage weight</a:t>
            </a:r>
            <a:endParaRPr lang="en-US" sz="1050" dirty="0"/>
          </a:p>
        </p:txBody>
      </p:sp>
      <p:sp>
        <p:nvSpPr>
          <p:cNvPr id="43" name="Text 4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سَتُقِيمُ فِي</a:t>
            </a:r>
            <a:endParaRPr lang="ar-SA" sz="1600" dirty="0"/>
          </a:p>
        </p:txBody>
      </p:sp>
      <p:sp>
        <p:nvSpPr>
          <p:cNvPr id="44" name="Text 4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you will stay at</a:t>
            </a:r>
            <a:endParaRPr lang="en-US" sz="1050" dirty="0"/>
          </a:p>
        </p:txBody>
      </p:sp>
      <p:sp>
        <p:nvSpPr>
          <p:cNvPr id="45" name="Text 4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مُهِمٌّ</a:t>
            </a:r>
            <a:endParaRPr lang="ar-SA" sz="1600" dirty="0"/>
          </a:p>
        </p:txBody>
      </p:sp>
      <p:sp>
        <p:nvSpPr>
          <p:cNvPr id="46" name="Text 4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important</a:t>
            </a:r>
            <a:endParaRPr lang="en-US" sz="1050" dirty="0"/>
          </a:p>
        </p:txBody>
      </p:sp>
      <p:sp>
        <p:nvSpPr>
          <p:cNvPr id="47" name="Text 4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أَحْضِرْ</a:t>
            </a:r>
            <a:endParaRPr lang="ar-SA" sz="1600" dirty="0"/>
          </a:p>
        </p:txBody>
      </p:sp>
      <p:sp>
        <p:nvSpPr>
          <p:cNvPr id="48" name="Text 4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bring!</a:t>
            </a:r>
            <a:endParaRPr lang="en-US" sz="1050" dirty="0"/>
          </a:p>
        </p:txBody>
      </p:sp>
      <p:sp>
        <p:nvSpPr>
          <p:cNvPr id="49" name="Text 4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سَجِّلِ الوُصُولَ</a:t>
            </a:r>
            <a:endParaRPr lang="ar-SA" sz="1600" dirty="0"/>
          </a:p>
        </p:txBody>
      </p:sp>
      <p:sp>
        <p:nvSpPr>
          <p:cNvPr id="50" name="Text 4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check in!</a:t>
            </a:r>
            <a:endParaRPr lang="en-US" sz="10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48</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DOCUMENT DETECTIVE ·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Find the key facts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اِسْتَخْرِجِ المَعْلُومَاتِ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When does the flight leave?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Sunday, 10 p.m.</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Saturday, 12 noon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Saturday, 10 a.m.</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gate?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20</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10</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12</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much baggage can you take?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20 kg</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12 kg</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5 kg</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will you stay?</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furnished apartment</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five-star hotel near the old city</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traditional riad</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must you bring?</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Your passport and visa</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Your ticket and insurance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Nothing</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Find the KEY WORD first.</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When?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مَوْعِدُ</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Gate?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البَوَّابَةُ</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Baggage?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الأَمْتِعَةُ</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Bring?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أَحْضِرْ</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48</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DOCUMENT DETECTIVE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Key facts: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When does the flight leave?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Sunday, 10 p.m.</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Saturday, 12 noon</a:t>
            </a:r>
            <a:endParaRPr lang="en-US" sz="125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Saturday, 10 a.m.</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مَوْعِدُ القِيَامِ: يَوْمَ السَّبْتِ، السَّاعَةَ العَاشِرَةَ صَبَاحًا.</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gate?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20</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10</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12</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البَوَّابَةُ: ١٢</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much baggage can you take?</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20 kg</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12 kg</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5 kg</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وَزْنُ الأَمْتِعَةِ: ٢٠ كِيلُوغْرَامًا فَقَطْ.</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will you stay?</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furnished apartment</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 five-star hotel near the old city</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traditional riad</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سَتُقِيمُ فِي فُنْدُقٍ بِخَمْسِ نُجُومٍ قُرْبَ المَدِينَةِ القَدِيمَةِ.</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must you bring?</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Your passport and visa</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Your ticket and insurance</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Nothing</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أَحْضِرْ جَوَازَ سَفَرِكَ وَالتَّأْشِيرَةَ.</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Find the KEY WORD first.</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When?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مَوْعِدُ</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Gate?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البَوَّابَةُ</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Baggage?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الأَمْتِعَةُ</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Bring?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أَحْضِرْ</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48</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GUIDED PRACTICE · SENTENCE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Build the sentence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I will stay in a hotel.</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أُقِيمُ</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سَأُقِيمُ</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فِي</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عَلَى</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فُنْدُقٍ.</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فُنْدُقًا.</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I booked the hotel a month ago.</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أَحْجِزُ</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حَجَزْتُ</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الفُنْدُقَ</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التَّأْشِيرَةَ</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بَعْدَ شَهْرٍ.</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قَبْلَ شَهْرٍ.</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Bring your passport and visa!</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أَحْضِرْ</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يُحْضِرُ</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جَدْوَلَ رِحْلَتِكَ</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جَوَازَ سَفَرِكَ</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وَالتَّأْشِيرَةَ!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وَالبَوَّابَةَ!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48</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SENTENCE BUILDER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تَحَقَّقْ مِنْ جُمَلِكَ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I will stay in a hotel.</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B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Future </a:t>
            </a:r>
            <a:pPr algn="l" indent="0" marL="0">
              <a:buNone/>
            </a:pPr>
            <a:r>
              <a:rPr lang="ar-SA" altLang="en-US" sz="1350" dirty="0">
                <a:solidFill>
                  <a:srgbClr val="5A6472"/>
                </a:solidFill>
                <a:latin typeface="Amiri" pitchFamily="34" charset="0"/>
                <a:ea typeface="Amiri" pitchFamily="34" charset="-122"/>
                <a:cs typeface="Amiri" pitchFamily="34" charset="-120"/>
              </a:rPr>
              <a:t>سَـ</a:t>
            </a:r>
            <a:pPr algn="l" indent="0" marL="0">
              <a:buNone/>
            </a:pPr>
            <a:r>
              <a:rPr lang="en-US" sz="1050" i="1" dirty="0">
                <a:solidFill>
                  <a:srgbClr val="5A6472"/>
                </a:solidFill>
                <a:latin typeface="Calibri" pitchFamily="34" charset="0"/>
                <a:ea typeface="Calibri" pitchFamily="34" charset="-122"/>
                <a:cs typeface="Calibri" pitchFamily="34" charset="-120"/>
              </a:rPr>
              <a:t>; </a:t>
            </a:r>
            <a:pPr algn="l" indent="0" marL="0">
              <a:buNone/>
            </a:pPr>
            <a:r>
              <a:rPr lang="ar-SA" altLang="en-US" sz="1350" dirty="0">
                <a:solidFill>
                  <a:srgbClr val="5A6472"/>
                </a:solidFill>
                <a:latin typeface="Amiri" pitchFamily="34" charset="0"/>
                <a:ea typeface="Amiri" pitchFamily="34" charset="-122"/>
                <a:cs typeface="Amiri" pitchFamily="34" charset="-120"/>
              </a:rPr>
              <a:t>يُقِيمُ فِي</a:t>
            </a:r>
            <a:pPr algn="l" indent="0" marL="0">
              <a:buNone/>
            </a:pPr>
            <a:r>
              <a:rPr lang="en-US" sz="1050" i="1" dirty="0">
                <a:solidFill>
                  <a:srgbClr val="5A6472"/>
                </a:solidFill>
                <a:latin typeface="Calibri" pitchFamily="34" charset="0"/>
                <a:ea typeface="Calibri" pitchFamily="34" charset="-122"/>
                <a:cs typeface="Calibri" pitchFamily="34" charset="-120"/>
              </a:rPr>
              <a:t> + place.</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سَأُقِيمُ فِي فُنْدُقٍ.</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I booked the hotel a month ago.</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B · A · B</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Past: </a:t>
            </a:r>
            <a:pPr algn="l" indent="0" marL="0">
              <a:buNone/>
            </a:pPr>
            <a:r>
              <a:rPr lang="ar-SA" altLang="en-US" sz="1350" dirty="0">
                <a:solidFill>
                  <a:srgbClr val="5A6472"/>
                </a:solidFill>
                <a:latin typeface="Amiri" pitchFamily="34" charset="0"/>
                <a:ea typeface="Amiri" pitchFamily="34" charset="-122"/>
                <a:cs typeface="Amiri" pitchFamily="34" charset="-120"/>
              </a:rPr>
              <a:t>حَجَزْتُ</a:t>
            </a:r>
            <a:pPr algn="l" indent="0" marL="0">
              <a:buNone/>
            </a:pPr>
            <a:r>
              <a:rPr lang="en-US" sz="1050" i="1" dirty="0">
                <a:solidFill>
                  <a:srgbClr val="5A6472"/>
                </a:solidFill>
                <a:latin typeface="Calibri" pitchFamily="34" charset="0"/>
                <a:ea typeface="Calibri" pitchFamily="34" charset="-122"/>
                <a:cs typeface="Calibri" pitchFamily="34" charset="-120"/>
              </a:rPr>
              <a:t> (</a:t>
            </a:r>
            <a:pPr algn="l" indent="0" marL="0">
              <a:buNone/>
            </a:pPr>
            <a:r>
              <a:rPr lang="ar-SA" altLang="en-US" sz="1350" dirty="0">
                <a:solidFill>
                  <a:srgbClr val="5A6472"/>
                </a:solidFill>
                <a:latin typeface="Amiri" pitchFamily="34" charset="0"/>
                <a:ea typeface="Amiri" pitchFamily="34" charset="-122"/>
                <a:cs typeface="Amiri" pitchFamily="34" charset="-120"/>
              </a:rPr>
              <a:t>ـتُ</a:t>
            </a:r>
            <a:pPr algn="l" indent="0" marL="0">
              <a:buNone/>
            </a:pPr>
            <a:r>
              <a:rPr lang="en-US" sz="1050" i="1" dirty="0">
                <a:solidFill>
                  <a:srgbClr val="5A6472"/>
                </a:solidFill>
                <a:latin typeface="Calibri" pitchFamily="34" charset="0"/>
                <a:ea typeface="Calibri" pitchFamily="34" charset="-122"/>
                <a:cs typeface="Calibri" pitchFamily="34" charset="-120"/>
              </a:rPr>
              <a:t> = I); </a:t>
            </a:r>
            <a:pPr algn="l" indent="0" marL="0">
              <a:buNone/>
            </a:pPr>
            <a:r>
              <a:rPr lang="ar-SA" altLang="en-US" sz="1350" dirty="0">
                <a:solidFill>
                  <a:srgbClr val="5A6472"/>
                </a:solidFill>
                <a:latin typeface="Amiri" pitchFamily="34" charset="0"/>
                <a:ea typeface="Amiri" pitchFamily="34" charset="-122"/>
                <a:cs typeface="Amiri" pitchFamily="34" charset="-120"/>
              </a:rPr>
              <a:t>قَبْلَ</a:t>
            </a:r>
            <a:pPr algn="l" indent="0" marL="0">
              <a:buNone/>
            </a:pPr>
            <a:r>
              <a:rPr lang="en-US" sz="1050" i="1" dirty="0">
                <a:solidFill>
                  <a:srgbClr val="5A6472"/>
                </a:solidFill>
                <a:latin typeface="Calibri" pitchFamily="34" charset="0"/>
                <a:ea typeface="Calibri" pitchFamily="34" charset="-122"/>
                <a:cs typeface="Calibri" pitchFamily="34" charset="-120"/>
              </a:rPr>
              <a:t> = ago, before.</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حَجَزْتُ الفُنْدُقَ قَبْلَ شَهْرٍ.</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Bring your passport and visa!</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A · B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An instruction: </a:t>
            </a:r>
            <a:pPr algn="l" indent="0" marL="0">
              <a:buNone/>
            </a:pPr>
            <a:r>
              <a:rPr lang="ar-SA" altLang="en-US" sz="1350" dirty="0">
                <a:solidFill>
                  <a:srgbClr val="5A6472"/>
                </a:solidFill>
                <a:latin typeface="Amiri" pitchFamily="34" charset="0"/>
                <a:ea typeface="Amiri" pitchFamily="34" charset="-122"/>
                <a:cs typeface="Amiri" pitchFamily="34" charset="-120"/>
              </a:rPr>
              <a:t>أَحْضِرْ</a:t>
            </a:r>
            <a:pPr algn="l" indent="0" marL="0">
              <a:buNone/>
            </a:pPr>
            <a:r>
              <a:rPr lang="en-US" sz="1050" i="1" dirty="0">
                <a:solidFill>
                  <a:srgbClr val="5A6472"/>
                </a:solidFill>
                <a:latin typeface="Calibri" pitchFamily="34" charset="0"/>
                <a:ea typeface="Calibri" pitchFamily="34" charset="-122"/>
                <a:cs typeface="Calibri" pitchFamily="34" charset="-120"/>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أَحْضِرْ جَوَازَ سَفَرِكَ وَالتَّأْشِيرَةَ!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26 / 48</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SORTER</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Present, past or future?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صَنِّفْ</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7" name="Shape 14"/>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سَأَحْجِزُ</a:t>
            </a:r>
            <a:endParaRPr lang="ar-SA" sz="1800" dirty="0"/>
          </a:p>
        </p:txBody>
      </p:sp>
      <p:sp>
        <p:nvSpPr>
          <p:cNvPr id="19" name="Shape 16"/>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أَحْجِزُ</a:t>
            </a:r>
            <a:endParaRPr lang="ar-SA" sz="1800" dirty="0"/>
          </a:p>
        </p:txBody>
      </p:sp>
      <p:sp>
        <p:nvSpPr>
          <p:cNvPr id="21" name="Shape 18"/>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حَجَزْتُ</a:t>
            </a:r>
            <a:endParaRPr lang="ar-SA" sz="1800" dirty="0"/>
          </a:p>
        </p:txBody>
      </p:sp>
      <p:sp>
        <p:nvSpPr>
          <p:cNvPr id="23" name="Shape 20"/>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أُقِيمُ فِي</a:t>
            </a:r>
            <a:endParaRPr lang="ar-SA" sz="1800" dirty="0"/>
          </a:p>
        </p:txBody>
      </p:sp>
      <p:sp>
        <p:nvSpPr>
          <p:cNvPr id="25" name="Shape 22"/>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كُنْتُ قَدْ حَجَزْتُ</a:t>
            </a:r>
            <a:endParaRPr lang="ar-SA" sz="1800" dirty="0"/>
          </a:p>
        </p:txBody>
      </p:sp>
      <p:sp>
        <p:nvSpPr>
          <p:cNvPr id="27" name="Shape 24"/>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إِذَا حَجَزْتَ سَتَحْصُلُ</a:t>
            </a:r>
            <a:endParaRPr lang="ar-SA" sz="1800" dirty="0"/>
          </a:p>
        </p:txBody>
      </p:sp>
      <p:sp>
        <p:nvSpPr>
          <p:cNvPr id="29" name="Shape 26"/>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يَحْجِزُ</a:t>
            </a:r>
            <a:endParaRPr lang="ar-SA" sz="1800" dirty="0"/>
          </a:p>
        </p:txBody>
      </p:sp>
      <p:sp>
        <p:nvSpPr>
          <p:cNvPr id="31" name="Shape 28"/>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أَقَمْتُ فِي</a:t>
            </a:r>
            <a:endParaRPr lang="ar-SA" sz="1800" dirty="0"/>
          </a:p>
        </p:txBody>
      </p:sp>
      <p:sp>
        <p:nvSpPr>
          <p:cNvPr id="33" name="Shape 30"/>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لَوْ حَجَزْتُ لَكَانَ</a:t>
            </a:r>
            <a:endParaRPr lang="ar-SA" sz="1800" dirty="0"/>
          </a:p>
        </p:txBody>
      </p:sp>
      <p:sp>
        <p:nvSpPr>
          <p:cNvPr id="35" name="Shape 32"/>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6" name="Shape 33"/>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7" name="Text 34"/>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Present</a:t>
            </a:r>
            <a:endParaRPr lang="en-US" sz="950" dirty="0"/>
          </a:p>
        </p:txBody>
      </p:sp>
      <p:sp>
        <p:nvSpPr>
          <p:cNvPr id="38" name="Shape 35"/>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9" name="Shape 36"/>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40" name="Text 37"/>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Past / past perfect</a:t>
            </a:r>
            <a:endParaRPr lang="en-US" sz="950" dirty="0"/>
          </a:p>
        </p:txBody>
      </p:sp>
      <p:sp>
        <p:nvSpPr>
          <p:cNvPr id="41" name="Shape 38"/>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2" name="Shape 39"/>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3" name="Text 40"/>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Future / conditional</a:t>
            </a:r>
            <a:endParaRPr lang="en-US" sz="9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27 / 48</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SORTER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Sorted</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7" name="Shape 14"/>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8" name="Shape 15"/>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9" name="Text 16"/>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Present</a:t>
            </a:r>
            <a:endParaRPr lang="en-US" sz="950" dirty="0"/>
          </a:p>
        </p:txBody>
      </p:sp>
      <p:sp>
        <p:nvSpPr>
          <p:cNvPr id="20" name="Shape 17"/>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أَحْجِزُ</a:t>
            </a:r>
            <a:endParaRPr lang="ar-SA" sz="1800" dirty="0"/>
          </a:p>
        </p:txBody>
      </p:sp>
      <p:sp>
        <p:nvSpPr>
          <p:cNvPr id="22" name="Shape 19"/>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أُقِيمُ فِي</a:t>
            </a:r>
            <a:endParaRPr lang="ar-SA" sz="1800" dirty="0"/>
          </a:p>
        </p:txBody>
      </p:sp>
      <p:sp>
        <p:nvSpPr>
          <p:cNvPr id="24" name="Shape 21"/>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يَحْجِزُ</a:t>
            </a:r>
            <a:endParaRPr lang="ar-SA" sz="1800" dirty="0"/>
          </a:p>
        </p:txBody>
      </p:sp>
      <p:sp>
        <p:nvSpPr>
          <p:cNvPr id="26" name="Shape 23"/>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7" name="Shape 24"/>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Past / past perfect</a:t>
            </a:r>
            <a:endParaRPr lang="en-US" sz="950" dirty="0"/>
          </a:p>
        </p:txBody>
      </p:sp>
      <p:sp>
        <p:nvSpPr>
          <p:cNvPr id="29" name="Shape 26"/>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حَجَزْتُ</a:t>
            </a:r>
            <a:endParaRPr lang="ar-SA" sz="1800" dirty="0"/>
          </a:p>
        </p:txBody>
      </p:sp>
      <p:sp>
        <p:nvSpPr>
          <p:cNvPr id="31" name="Shape 28"/>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كُنْتُ قَدْ حَجَزْتُ</a:t>
            </a:r>
            <a:endParaRPr lang="ar-SA" sz="1800" dirty="0"/>
          </a:p>
        </p:txBody>
      </p:sp>
      <p:sp>
        <p:nvSpPr>
          <p:cNvPr id="33" name="Shape 30"/>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أَقَمْتُ فِي</a:t>
            </a:r>
            <a:endParaRPr lang="ar-SA" sz="1800" dirty="0"/>
          </a:p>
        </p:txBody>
      </p:sp>
      <p:sp>
        <p:nvSpPr>
          <p:cNvPr id="35" name="Shape 32"/>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6" name="Shape 33"/>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7" name="Text 34"/>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Future / conditional</a:t>
            </a:r>
            <a:endParaRPr lang="en-US" sz="950" dirty="0"/>
          </a:p>
        </p:txBody>
      </p:sp>
      <p:sp>
        <p:nvSpPr>
          <p:cNvPr id="38" name="Shape 35"/>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سَأَحْجِزُ</a:t>
            </a:r>
            <a:endParaRPr lang="ar-SA" sz="1800" dirty="0"/>
          </a:p>
        </p:txBody>
      </p:sp>
      <p:sp>
        <p:nvSpPr>
          <p:cNvPr id="40" name="Shape 37"/>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إِذَا حَجَزْتَ سَتَحْصُلُ</a:t>
            </a:r>
            <a:endParaRPr lang="ar-SA" sz="1800" dirty="0"/>
          </a:p>
        </p:txBody>
      </p:sp>
      <p:sp>
        <p:nvSpPr>
          <p:cNvPr id="42" name="Shape 39"/>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3" name="Text 40"/>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لَوْ حَجَزْتُ لَكَانَ</a:t>
            </a:r>
            <a:endParaRPr lang="ar-SA"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28 / 48</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GUIDED PRACTICE · WEBSITE QUIZ 3, 4, 5,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the past perfect: ___ </a:t>
            </a:r>
            <a:pPr algn="l" indent="0" marL="0">
              <a:buNone/>
            </a:pPr>
            <a:r>
              <a:rPr lang="ar-SA" altLang="en-US" sz="1650" b="1" dirty="0">
                <a:solidFill>
                  <a:srgbClr val="1B3B6F"/>
                </a:solidFill>
                <a:latin typeface="Amiri" pitchFamily="34" charset="0"/>
                <a:ea typeface="Amiri" pitchFamily="34" charset="-122"/>
                <a:cs typeface="Amiri" pitchFamily="34" charset="-120"/>
              </a:rPr>
              <a:t>حَجَزْتُ المَطْعَمَ قَبْلَ أَنْ نَصِلَ</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سَـ</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إِذَا</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كُنْتُ قَدْ</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 the Type 1:</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34" charset="0"/>
                <a:ea typeface="Amiri" pitchFamily="34" charset="-122"/>
                <a:cs typeface="Amiri" pitchFamily="34" charset="-120"/>
              </a:rPr>
              <a:t>إِذَا ___ مُبَكِّرًا، سَتَحْصُلُ عَلَى سِعْرٍ أَرْخَصَ.</a:t>
            </a:r>
            <a:endParaRPr lang="ar-SA" sz="145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تَحْجِزُ</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حَجَزْتَ</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سَتَحْجِزُ</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7" name="Text 44"/>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 the Type 2:</a:t>
            </a:r>
            <a:endParaRPr lang="en-US" sz="1200" dirty="0"/>
          </a:p>
        </p:txBody>
      </p:sp>
      <p:sp>
        <p:nvSpPr>
          <p:cNvPr id="48" name="Text 45"/>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لَوْ حَجَزْتُ فِي فُنْدُقٍ آخَرَ، ___ أَفْضَلَ.</a:t>
            </a:r>
            <a:endParaRPr lang="ar-SA" sz="1500" dirty="0"/>
          </a:p>
        </p:txBody>
      </p:sp>
      <p:sp>
        <p:nvSpPr>
          <p:cNvPr id="49" name="Shape 46"/>
          <p:cNvSpPr/>
          <p:nvPr/>
        </p:nvSpPr>
        <p:spPr>
          <a:xfrm>
            <a:off x="640080" y="48737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سَيَكُونُ</a:t>
            </a:r>
            <a:endParaRPr lang="ar-SA" sz="2050" dirty="0"/>
          </a:p>
        </p:txBody>
      </p:sp>
      <p:sp>
        <p:nvSpPr>
          <p:cNvPr id="52" name="Shape 49"/>
          <p:cNvSpPr/>
          <p:nvPr/>
        </p:nvSpPr>
        <p:spPr>
          <a:xfrm>
            <a:off x="640080" y="53309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لَكَانَ</a:t>
            </a:r>
            <a:endParaRPr lang="ar-SA" sz="2050" dirty="0"/>
          </a:p>
        </p:txBody>
      </p:sp>
      <p:sp>
        <p:nvSpPr>
          <p:cNvPr id="55" name="Shape 52"/>
          <p:cNvSpPr/>
          <p:nvPr/>
        </p:nvSpPr>
        <p:spPr>
          <a:xfrm>
            <a:off x="640080" y="57881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7" name="Text 54"/>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يَكُونُ</a:t>
            </a:r>
            <a:endParaRPr lang="ar-SA" sz="2050" dirty="0"/>
          </a:p>
        </p:txBody>
      </p:sp>
      <p:sp>
        <p:nvSpPr>
          <p:cNvPr id="58" name="Shape 55"/>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6313932" y="4288536"/>
            <a:ext cx="310896" cy="310896"/>
          </a:xfrm>
          <a:prstGeom prst="ellipse">
            <a:avLst/>
          </a:prstGeom>
          <a:solidFill>
            <a:srgbClr val="1B3B6F"/>
          </a:solidFill>
          <a:ln w="12700">
            <a:solidFill>
              <a:srgbClr val="1B3B6F"/>
            </a:solidFill>
            <a:prstDash val="solid"/>
          </a:ln>
        </p:spPr>
      </p:sp>
      <p:sp>
        <p:nvSpPr>
          <p:cNvPr id="60" name="Text 57"/>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1" name="Text 58"/>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packs three structures?</a:t>
            </a:r>
            <a:endParaRPr lang="en-US" sz="1250" dirty="0"/>
          </a:p>
        </p:txBody>
      </p:sp>
      <p:sp>
        <p:nvSpPr>
          <p:cNvPr id="62" name="Shape 59"/>
          <p:cNvSpPr/>
          <p:nvPr/>
        </p:nvSpPr>
        <p:spPr>
          <a:xfrm>
            <a:off x="6368796"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4" name="Text 61"/>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34" charset="0"/>
                <a:ea typeface="Amiri" pitchFamily="34" charset="-122"/>
                <a:cs typeface="Amiri" pitchFamily="34" charset="-120"/>
              </a:rPr>
              <a:t>حَجَزْتُ فُنْدُقًا جَمِيلًا.</a:t>
            </a:r>
            <a:endParaRPr lang="ar-SA" sz="1300" dirty="0"/>
          </a:p>
        </p:txBody>
      </p:sp>
      <p:sp>
        <p:nvSpPr>
          <p:cNvPr id="65" name="Shape 62"/>
          <p:cNvSpPr/>
          <p:nvPr/>
        </p:nvSpPr>
        <p:spPr>
          <a:xfrm>
            <a:off x="6368796"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7" name="Text 64"/>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34" charset="0"/>
                <a:ea typeface="Amiri" pitchFamily="34" charset="-122"/>
                <a:cs typeface="Amiri" pitchFamily="34" charset="-120"/>
              </a:rPr>
              <a:t>أُحِبُّ السَّفَرَ.</a:t>
            </a:r>
            <a:endParaRPr lang="ar-SA" sz="1300" dirty="0"/>
          </a:p>
        </p:txBody>
      </p:sp>
      <p:sp>
        <p:nvSpPr>
          <p:cNvPr id="68" name="Shape 65"/>
          <p:cNvSpPr/>
          <p:nvPr/>
        </p:nvSpPr>
        <p:spPr>
          <a:xfrm>
            <a:off x="6368796"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0" name="Text 67"/>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34" charset="0"/>
                <a:ea typeface="Amiri" pitchFamily="34" charset="-122"/>
                <a:cs typeface="Amiri" pitchFamily="34" charset="-120"/>
              </a:rPr>
              <a:t>كُنْتُ قَدْ حَجَزْتُ فُنْدُقِي، وَأَشَارَ المُنَظِّمُ إِلَى أَنَّهُ إِذَا وَصَلْنَا مُبَكِّرًا سَنَحْصُلُ عَلَى تَرْقِيَةٍ.</a:t>
            </a:r>
            <a:endParaRPr lang="ar-SA" sz="130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29 / 48</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the past perfect: ___ </a:t>
            </a:r>
            <a:pPr algn="l" indent="0" marL="0">
              <a:buNone/>
            </a:pPr>
            <a:r>
              <a:rPr lang="ar-SA" altLang="en-US" sz="1650" b="1" dirty="0">
                <a:solidFill>
                  <a:srgbClr val="1B3B6F"/>
                </a:solidFill>
                <a:latin typeface="Amiri" pitchFamily="34" charset="0"/>
                <a:ea typeface="Amiri" pitchFamily="34" charset="-122"/>
                <a:cs typeface="Amiri" pitchFamily="34" charset="-120"/>
              </a:rPr>
              <a:t>حَجَزْتُ المَطْعَمَ قَبْلَ أَنْ نَصِلَ</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سَـ</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إِذَا</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كُنْتُ قَدْ</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past perfect is </a:t>
            </a:r>
            <a:pPr algn="l" indent="0" marL="0">
              <a:buNone/>
            </a:pPr>
            <a:r>
              <a:rPr lang="ar-SA" altLang="en-US" sz="1350" dirty="0">
                <a:solidFill>
                  <a:srgbClr val="8A6D1E"/>
                </a:solidFill>
                <a:latin typeface="Amiri" pitchFamily="34" charset="0"/>
                <a:ea typeface="Amiri" pitchFamily="34" charset="-122"/>
                <a:cs typeface="Amiri" pitchFamily="34" charset="-120"/>
              </a:rPr>
              <a:t>كُنْتُ قَدْ حَجَزْتُ</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5" name="Text 32"/>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 the Type 1:</a:t>
            </a:r>
            <a:endParaRPr lang="en-US" sz="1200" dirty="0"/>
          </a:p>
        </p:txBody>
      </p:sp>
      <p:sp>
        <p:nvSpPr>
          <p:cNvPr id="36" name="Text 33"/>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34" charset="0"/>
                <a:ea typeface="Amiri" pitchFamily="34" charset="-122"/>
                <a:cs typeface="Amiri" pitchFamily="34" charset="-120"/>
              </a:rPr>
              <a:t>إِذَا ___ مُبَكِّرًا، سَتَحْصُلُ عَلَى سِعْرٍ أَرْخَصَ.</a:t>
            </a:r>
            <a:endParaRPr lang="ar-SA" sz="145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تَحْجِزُ</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حَجَزْتَ</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سَتَحْجِزُ</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إِذَا</a:t>
            </a:r>
            <a:pPr algn="l" indent="0" marL="0">
              <a:buNone/>
            </a:pPr>
            <a:r>
              <a:rPr lang="en-US" sz="1050" i="1" dirty="0">
                <a:solidFill>
                  <a:srgbClr val="8A6D1E"/>
                </a:solidFill>
                <a:latin typeface="Calibri" pitchFamily="34" charset="0"/>
                <a:ea typeface="Calibri" pitchFamily="34" charset="-122"/>
                <a:cs typeface="Calibri" pitchFamily="34" charset="-120"/>
              </a:rPr>
              <a:t> takes a past-form verb.</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1" name="Text 48"/>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 the Type 2:</a:t>
            </a:r>
            <a:endParaRPr lang="en-US" sz="1200" dirty="0"/>
          </a:p>
        </p:txBody>
      </p:sp>
      <p:sp>
        <p:nvSpPr>
          <p:cNvPr id="52" name="Text 49"/>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لَوْ حَجَزْتُ فِي فُنْدُقٍ آخَرَ، ___ أَفْضَلَ.</a:t>
            </a:r>
            <a:endParaRPr lang="ar-SA" sz="1500" dirty="0"/>
          </a:p>
        </p:txBody>
      </p:sp>
      <p:sp>
        <p:nvSpPr>
          <p:cNvPr id="53" name="Shape 50"/>
          <p:cNvSpPr/>
          <p:nvPr/>
        </p:nvSpPr>
        <p:spPr>
          <a:xfrm>
            <a:off x="640080" y="4831080"/>
            <a:ext cx="256032" cy="256032"/>
          </a:xfrm>
          <a:prstGeom prst="ellipse">
            <a:avLst/>
          </a:prstGeom>
          <a:solidFill>
            <a:srgbClr val="C9CED6"/>
          </a:solidFill>
          <a:ln w="12700">
            <a:solidFill>
              <a:srgbClr val="C9CED6"/>
            </a:solidFill>
            <a:prstDash val="solid"/>
          </a:ln>
        </p:spPr>
      </p:sp>
      <p:sp>
        <p:nvSpPr>
          <p:cNvPr id="54" name="Text 51"/>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5" name="Text 52"/>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سَيَكُونُ</a:t>
            </a:r>
            <a:endParaRPr lang="ar-SA" sz="1700" dirty="0"/>
          </a:p>
        </p:txBody>
      </p:sp>
      <p:sp>
        <p:nvSpPr>
          <p:cNvPr id="56" name="Shape 53"/>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640080" y="5202936"/>
            <a:ext cx="256032" cy="256032"/>
          </a:xfrm>
          <a:prstGeom prst="ellipse">
            <a:avLst/>
          </a:prstGeom>
          <a:solidFill>
            <a:srgbClr val="2E8B57"/>
          </a:solidFill>
          <a:ln w="12700">
            <a:solidFill>
              <a:srgbClr val="2E8B57"/>
            </a:solidFill>
            <a:prstDash val="solid"/>
          </a:ln>
        </p:spPr>
      </p:sp>
      <p:sp>
        <p:nvSpPr>
          <p:cNvPr id="58" name="Text 5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9" name="Text 56"/>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لَكَانَ</a:t>
            </a:r>
            <a:endParaRPr lang="ar-SA" sz="1700" dirty="0"/>
          </a:p>
        </p:txBody>
      </p:sp>
      <p:sp>
        <p:nvSpPr>
          <p:cNvPr id="60" name="Shape 57"/>
          <p:cNvSpPr/>
          <p:nvPr/>
        </p:nvSpPr>
        <p:spPr>
          <a:xfrm>
            <a:off x="640080" y="5574792"/>
            <a:ext cx="256032" cy="256032"/>
          </a:xfrm>
          <a:prstGeom prst="ellipse">
            <a:avLst/>
          </a:prstGeom>
          <a:solidFill>
            <a:srgbClr val="C9CED6"/>
          </a:solidFill>
          <a:ln w="12700">
            <a:solidFill>
              <a:srgbClr val="C9CED6"/>
            </a:solidFill>
            <a:prstDash val="solid"/>
          </a:ln>
        </p:spPr>
      </p:sp>
      <p:sp>
        <p:nvSpPr>
          <p:cNvPr id="61" name="Text 58"/>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2" name="Text 59"/>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يَكُونُ</a:t>
            </a:r>
            <a:endParaRPr lang="ar-SA" sz="1700" dirty="0"/>
          </a:p>
        </p:txBody>
      </p:sp>
      <p:sp>
        <p:nvSpPr>
          <p:cNvPr id="63" name="Text 60"/>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 Type 2 result takes the </a:t>
            </a:r>
            <a:pPr algn="l" indent="0" marL="0">
              <a:buNone/>
            </a:pPr>
            <a:r>
              <a:rPr lang="ar-SA" altLang="en-US" sz="1350" dirty="0">
                <a:solidFill>
                  <a:srgbClr val="8A6D1E"/>
                </a:solidFill>
                <a:latin typeface="Amiri" pitchFamily="34" charset="0"/>
                <a:ea typeface="Amiri" pitchFamily="34" charset="-122"/>
                <a:cs typeface="Amiri" pitchFamily="34" charset="-120"/>
              </a:rPr>
              <a:t>لَـ</a:t>
            </a:r>
            <a:pPr algn="l" indent="0" marL="0">
              <a:buNone/>
            </a:pPr>
            <a:r>
              <a:rPr lang="en-US" sz="1050" i="1" dirty="0">
                <a:solidFill>
                  <a:srgbClr val="8A6D1E"/>
                </a:solidFill>
                <a:latin typeface="Calibri" pitchFamily="34" charset="0"/>
                <a:ea typeface="Calibri" pitchFamily="34" charset="-122"/>
                <a:cs typeface="Calibri" pitchFamily="34" charset="-120"/>
              </a:rPr>
              <a:t> prefix on a past verb.</a:t>
            </a:r>
            <a:endParaRPr lang="en-US" sz="1050" dirty="0"/>
          </a:p>
        </p:txBody>
      </p:sp>
      <p:sp>
        <p:nvSpPr>
          <p:cNvPr id="64" name="Shape 6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2"/>
          <p:cNvSpPr/>
          <p:nvPr/>
        </p:nvSpPr>
        <p:spPr>
          <a:xfrm>
            <a:off x="6313932" y="4288536"/>
            <a:ext cx="310896" cy="310896"/>
          </a:xfrm>
          <a:prstGeom prst="ellipse">
            <a:avLst/>
          </a:prstGeom>
          <a:solidFill>
            <a:srgbClr val="1B3B6F"/>
          </a:solidFill>
          <a:ln w="12700">
            <a:solidFill>
              <a:srgbClr val="1B3B6F"/>
            </a:solidFill>
            <a:prstDash val="solid"/>
          </a:ln>
        </p:spPr>
      </p:sp>
      <p:sp>
        <p:nvSpPr>
          <p:cNvPr id="66" name="Text 6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7" name="Text 6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packs three structures?</a:t>
            </a:r>
            <a:endParaRPr lang="en-US" sz="1250" dirty="0"/>
          </a:p>
        </p:txBody>
      </p:sp>
      <p:sp>
        <p:nvSpPr>
          <p:cNvPr id="68" name="Shape 65"/>
          <p:cNvSpPr/>
          <p:nvPr/>
        </p:nvSpPr>
        <p:spPr>
          <a:xfrm>
            <a:off x="6368796" y="4831080"/>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0" name="Text 67"/>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300" dirty="0">
                <a:solidFill>
                  <a:srgbClr val="9AA1AB"/>
                </a:solidFill>
                <a:latin typeface="Amiri" pitchFamily="34" charset="0"/>
                <a:ea typeface="Amiri" pitchFamily="34" charset="-122"/>
                <a:cs typeface="Amiri" pitchFamily="34" charset="-120"/>
              </a:rPr>
              <a:t>حَجَزْتُ فُنْدُقًا جَمِيلًا.</a:t>
            </a:r>
            <a:endParaRPr lang="ar-SA" sz="1300" dirty="0"/>
          </a:p>
        </p:txBody>
      </p:sp>
      <p:sp>
        <p:nvSpPr>
          <p:cNvPr id="71" name="Shape 68"/>
          <p:cNvSpPr/>
          <p:nvPr/>
        </p:nvSpPr>
        <p:spPr>
          <a:xfrm>
            <a:off x="6368796"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3" name="Text 70"/>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300" dirty="0">
                <a:solidFill>
                  <a:srgbClr val="9AA1AB"/>
                </a:solidFill>
                <a:latin typeface="Amiri" pitchFamily="34" charset="0"/>
                <a:ea typeface="Amiri" pitchFamily="34" charset="-122"/>
                <a:cs typeface="Amiri" pitchFamily="34" charset="-120"/>
              </a:rPr>
              <a:t>أُحِبُّ السَّفَرَ.</a:t>
            </a:r>
            <a:endParaRPr lang="ar-SA" sz="1300" dirty="0"/>
          </a:p>
        </p:txBody>
      </p:sp>
      <p:sp>
        <p:nvSpPr>
          <p:cNvPr id="74" name="Shape 71"/>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5" name="Shape 72"/>
          <p:cNvSpPr/>
          <p:nvPr/>
        </p:nvSpPr>
        <p:spPr>
          <a:xfrm>
            <a:off x="6368796" y="5574792"/>
            <a:ext cx="256032" cy="256032"/>
          </a:xfrm>
          <a:prstGeom prst="ellipse">
            <a:avLst/>
          </a:prstGeom>
          <a:solidFill>
            <a:srgbClr val="2E8B57"/>
          </a:solidFill>
          <a:ln w="12700">
            <a:solidFill>
              <a:srgbClr val="2E8B57"/>
            </a:solidFill>
            <a:prstDash val="solid"/>
          </a:ln>
        </p:spPr>
      </p:sp>
      <p:sp>
        <p:nvSpPr>
          <p:cNvPr id="76" name="Text 73"/>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7" name="Text 74"/>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34" charset="0"/>
                <a:ea typeface="Amiri" pitchFamily="34" charset="-122"/>
                <a:cs typeface="Amiri" pitchFamily="34" charset="-120"/>
              </a:rPr>
              <a:t>كُنْتُ قَدْ حَجَزْتُ فُنْدُقِي، وَأَشَارَ المُنَظِّمُ إِلَى أَنَّهُ إِذَا وَصَلْنَا مُبَكِّرًا سَنَحْصُلُ عَلَى تَرْقِيَةٍ.</a:t>
            </a:r>
            <a:endParaRPr lang="ar-SA" sz="1300" dirty="0"/>
          </a:p>
        </p:txBody>
      </p:sp>
      <p:sp>
        <p:nvSpPr>
          <p:cNvPr id="78" name="Text 75"/>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Past perfect + reported speech + Type 1 conditional in one sentence.</a:t>
            </a:r>
            <a:endParaRPr lang="en-US" sz="10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30 / 48</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أُقِيمُ فُنْدُقًا بِخَمْسِ نُجُومٍ.</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Which small word must come after </a:t>
            </a:r>
            <a:pPr algn="l" indent="0" marL="0">
              <a:buNone/>
            </a:pPr>
            <a:r>
              <a:rPr lang="ar-SA" altLang="en-US" sz="1700" dirty="0">
                <a:solidFill>
                  <a:srgbClr val="5A6472"/>
                </a:solidFill>
                <a:latin typeface="Amiri" pitchFamily="34" charset="0"/>
                <a:ea typeface="Amiri" pitchFamily="34" charset="-122"/>
                <a:cs typeface="Amiri" pitchFamily="34" charset="-120"/>
              </a:rPr>
              <a:t>أُقِيمُ</a:t>
            </a:r>
            <a:pPr algn="l" indent="0" marL="0">
              <a:buNone/>
            </a:pPr>
            <a:r>
              <a:rPr lang="en-US" sz="1300" i="1" dirty="0">
                <a:solidFill>
                  <a:srgbClr val="5A6472"/>
                </a:solidFill>
                <a:latin typeface="Calibri" pitchFamily="34" charset="0"/>
                <a:ea typeface="Calibri" pitchFamily="34" charset="-122"/>
                <a:cs typeface="Calibri" pitchFamily="34" charset="-120"/>
              </a:rPr>
              <a: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إِذَا تَحْجِزُ مُبَكِّرًا، سَتَحْصُلُ عَلَى سِعْرٍ أَرْخَصَ.</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After </a:t>
            </a:r>
            <a:pPr algn="l" indent="0" marL="0">
              <a:buNone/>
            </a:pPr>
            <a:r>
              <a:rPr lang="ar-SA" altLang="en-US" sz="1700" dirty="0">
                <a:solidFill>
                  <a:srgbClr val="5A6472"/>
                </a:solidFill>
                <a:latin typeface="Amiri" pitchFamily="34" charset="0"/>
                <a:ea typeface="Amiri" pitchFamily="34" charset="-122"/>
                <a:cs typeface="Amiri" pitchFamily="34" charset="-120"/>
              </a:rPr>
              <a:t>إِذَا</a:t>
            </a:r>
            <a:pPr algn="l" indent="0" marL="0">
              <a:buNone/>
            </a:pPr>
            <a:r>
              <a:rPr lang="en-US" sz="1300" i="1" dirty="0">
                <a:solidFill>
                  <a:srgbClr val="5A6472"/>
                </a:solidFill>
                <a:latin typeface="Calibri" pitchFamily="34" charset="0"/>
                <a:ea typeface="Calibri" pitchFamily="34" charset="-122"/>
                <a:cs typeface="Calibri" pitchFamily="34" charset="-120"/>
              </a:rPr>
              <a:t>, do we use the past or the present?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لَوْ حَجَزْتُ فِي فُنْدُقٍ آخَرَ، سَيَكُونُ أَفْضَلَ.</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After </a:t>
            </a:r>
            <a:pPr algn="l" indent="0" marL="0">
              <a:buNone/>
            </a:pPr>
            <a:r>
              <a:rPr lang="ar-SA" altLang="en-US" sz="1700" dirty="0">
                <a:solidFill>
                  <a:srgbClr val="5A6472"/>
                </a:solidFill>
                <a:latin typeface="Amiri" pitchFamily="34" charset="0"/>
                <a:ea typeface="Amiri" pitchFamily="34" charset="-122"/>
                <a:cs typeface="Amiri" pitchFamily="34" charset="-120"/>
              </a:rPr>
              <a:t>لَوْ</a:t>
            </a:r>
            <a:pPr algn="l" indent="0" marL="0">
              <a:buNone/>
            </a:pPr>
            <a:r>
              <a:rPr lang="en-US" sz="1300" i="1" dirty="0">
                <a:solidFill>
                  <a:srgbClr val="5A6472"/>
                </a:solidFill>
                <a:latin typeface="Calibri" pitchFamily="34" charset="0"/>
                <a:ea typeface="Calibri" pitchFamily="34" charset="-122"/>
                <a:cs typeface="Calibri" pitchFamily="34" charset="-120"/>
              </a:rPr>
              <a:t>, which result word: </a:t>
            </a:r>
            <a:pPr algn="l" indent="0" marL="0">
              <a:buNone/>
            </a:pPr>
            <a:r>
              <a:rPr lang="ar-SA" altLang="en-US" sz="1700" dirty="0">
                <a:solidFill>
                  <a:srgbClr val="5A6472"/>
                </a:solidFill>
                <a:latin typeface="Amiri" pitchFamily="34" charset="0"/>
                <a:ea typeface="Amiri" pitchFamily="34" charset="-122"/>
                <a:cs typeface="Amiri" pitchFamily="34" charset="-120"/>
              </a:rPr>
              <a:t>سَـ</a:t>
            </a:r>
            <a:pPr algn="l" indent="0" marL="0">
              <a:buNone/>
            </a:pPr>
            <a:r>
              <a:rPr lang="en-US" sz="1300" i="1" dirty="0">
                <a:solidFill>
                  <a:srgbClr val="5A6472"/>
                </a:solidFill>
                <a:latin typeface="Calibri" pitchFamily="34" charset="0"/>
                <a:ea typeface="Calibri" pitchFamily="34" charset="-122"/>
                <a:cs typeface="Calibri" pitchFamily="34" charset="-120"/>
              </a:rPr>
              <a:t> or </a:t>
            </a:r>
            <a:pPr algn="l" indent="0" marL="0">
              <a:buNone/>
            </a:pPr>
            <a:r>
              <a:rPr lang="ar-SA" altLang="en-US" sz="1700" dirty="0">
                <a:solidFill>
                  <a:srgbClr val="5A6472"/>
                </a:solidFill>
                <a:latin typeface="Amiri" pitchFamily="34" charset="0"/>
                <a:ea typeface="Amiri" pitchFamily="34" charset="-122"/>
                <a:cs typeface="Amiri" pitchFamily="34" charset="-120"/>
              </a:rPr>
              <a:t>لَـ</a:t>
            </a:r>
            <a:pPr algn="l" indent="0" marL="0">
              <a:buNone/>
            </a:pPr>
            <a:r>
              <a:rPr lang="en-US" sz="1300" i="1" dirty="0">
                <a:solidFill>
                  <a:srgbClr val="5A6472"/>
                </a:solidFill>
                <a:latin typeface="Calibri" pitchFamily="34" charset="0"/>
                <a:ea typeface="Calibri" pitchFamily="34" charset="-122"/>
                <a:cs typeface="Calibri" pitchFamily="34" charset="-120"/>
              </a:rPr>
              <a: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31 / 48</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أُقِيمُ فُنْدُقًا بِخَمْسِ نُجُومٍ.</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أُقِيمُ فِي فُنْدُقٍ بِخَمْسِ نُجُومٍ.</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34" charset="0"/>
                <a:ea typeface="Amiri" pitchFamily="34" charset="-122"/>
                <a:cs typeface="Amiri" pitchFamily="34" charset="-120"/>
              </a:rPr>
              <a:t>يُقِيمُ</a:t>
            </a:r>
            <a:pPr algn="l" indent="0" marL="0">
              <a:buNone/>
            </a:pPr>
            <a:r>
              <a:rPr lang="en-US" sz="1150" b="1" dirty="0">
                <a:solidFill>
                  <a:srgbClr val="1B3B6F"/>
                </a:solidFill>
                <a:latin typeface="Calibri" pitchFamily="34" charset="0"/>
                <a:ea typeface="Calibri" pitchFamily="34" charset="-122"/>
                <a:cs typeface="Calibri" pitchFamily="34" charset="-120"/>
              </a:rPr>
              <a:t> is fixed with </a:t>
            </a:r>
            <a:pPr algn="l" indent="0" marL="0">
              <a:buNone/>
            </a:pPr>
            <a:r>
              <a:rPr lang="ar-SA" altLang="en-US" sz="1500" b="1" dirty="0">
                <a:solidFill>
                  <a:srgbClr val="1B3B6F"/>
                </a:solidFill>
                <a:latin typeface="Amiri" pitchFamily="34" charset="0"/>
                <a:ea typeface="Amiri" pitchFamily="34" charset="-122"/>
                <a:cs typeface="Amiri" pitchFamily="34" charset="-120"/>
              </a:rPr>
              <a:t>فِي</a:t>
            </a:r>
            <a:pPr algn="l" indent="0" marL="0">
              <a:buNone/>
            </a:pPr>
            <a:r>
              <a:rPr lang="en-US" sz="1150" b="1" dirty="0">
                <a:solidFill>
                  <a:srgbClr val="1B3B6F"/>
                </a:solidFill>
                <a:latin typeface="Calibri" pitchFamily="34" charset="0"/>
                <a:ea typeface="Calibri" pitchFamily="34" charset="-122"/>
                <a:cs typeface="Calibri" pitchFamily="34" charset="-120"/>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34" charset="0"/>
                <a:ea typeface="Amiri" pitchFamily="34" charset="-122"/>
                <a:cs typeface="Amiri" pitchFamily="34" charset="-120"/>
              </a:rPr>
              <a:t>إِذَا تَحْجِزُ مُبَكِّرًا، سَتَحْصُلُ عَلَى سِعْرٍ أَرْخَصَ.</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إِذَا حَجَزْتَ مُبَكِّرًا، سَتَحْصُلُ عَلَى سِعْرٍ أَرْخَصَ.</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34" charset="0"/>
                <a:ea typeface="Amiri" pitchFamily="34" charset="-122"/>
                <a:cs typeface="Amiri" pitchFamily="34" charset="-120"/>
              </a:rPr>
              <a:t>إِذَا</a:t>
            </a:r>
            <a:pPr algn="l" indent="0" marL="0">
              <a:buNone/>
            </a:pPr>
            <a:r>
              <a:rPr lang="en-US" sz="1150" b="1" dirty="0">
                <a:solidFill>
                  <a:srgbClr val="1B3B6F"/>
                </a:solidFill>
                <a:latin typeface="Calibri" pitchFamily="34" charset="0"/>
                <a:ea typeface="Calibri" pitchFamily="34" charset="-122"/>
                <a:cs typeface="Calibri" pitchFamily="34" charset="-120"/>
              </a:rPr>
              <a:t> takes a past-form verb.</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لَوْ حَجَزْتُ فِي فُنْدُقٍ آخَرَ، سَيَكُونُ أَفْضَلَ.</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لَوْ حَجَزْتُ فِي فُنْدُقٍ آخَرَ، لَكَانَ أَفْضَلَ.</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A Type 2 result takes </a:t>
            </a:r>
            <a:pPr algn="l" indent="0" marL="0">
              <a:buNone/>
            </a:pPr>
            <a:r>
              <a:rPr lang="ar-SA" altLang="en-US" sz="1500" b="1" dirty="0">
                <a:solidFill>
                  <a:srgbClr val="1B3B6F"/>
                </a:solidFill>
                <a:latin typeface="Amiri" pitchFamily="34" charset="0"/>
                <a:ea typeface="Amiri" pitchFamily="34" charset="-122"/>
                <a:cs typeface="Amiri" pitchFamily="34" charset="-120"/>
              </a:rPr>
              <a:t>لَـ</a:t>
            </a:r>
            <a:pPr algn="l" indent="0" marL="0">
              <a:buNone/>
            </a:pPr>
            <a:r>
              <a:rPr lang="en-US" sz="1150" b="1" dirty="0">
                <a:solidFill>
                  <a:srgbClr val="1B3B6F"/>
                </a:solidFill>
                <a:latin typeface="Calibri" pitchFamily="34" charset="0"/>
                <a:ea typeface="Calibri" pitchFamily="34" charset="-122"/>
                <a:cs typeface="Calibri" pitchFamily="34" charset="-120"/>
              </a:rPr>
              <a:t>, not </a:t>
            </a:r>
            <a:pPr algn="l" indent="0" marL="0">
              <a:buNone/>
            </a:pPr>
            <a:r>
              <a:rPr lang="ar-SA" altLang="en-US" sz="1500" b="1" dirty="0">
                <a:solidFill>
                  <a:srgbClr val="1B3B6F"/>
                </a:solidFill>
                <a:latin typeface="Amiri" pitchFamily="34" charset="0"/>
                <a:ea typeface="Amiri" pitchFamily="34" charset="-122"/>
                <a:cs typeface="Amiri" pitchFamily="34" charset="-120"/>
              </a:rPr>
              <a:t>سَـ</a:t>
            </a:r>
            <a:pPr algn="l" indent="0" marL="0">
              <a:buNone/>
            </a:pPr>
            <a:r>
              <a:rPr lang="en-US" sz="1150" b="1" dirty="0">
                <a:solidFill>
                  <a:srgbClr val="1B3B6F"/>
                </a:solidFill>
                <a:latin typeface="Calibri" pitchFamily="34" charset="0"/>
                <a:ea typeface="Calibri" pitchFamily="34" charset="-122"/>
                <a:cs typeface="Calibri" pitchFamily="34" charset="-120"/>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32 / 48</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ea typeface="Cambria" pitchFamily="34" charset="-122"/>
                <a:cs typeface="Cambria" pitchFamily="34" charset="-120"/>
              </a:rPr>
              <a:t>Listening: planning a trip to Marrakesh</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had the traveller done two months earlier?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Booked the trip and renewed the passport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Nothing</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Cancelled the trip</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Why does the traveller book early?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To pay more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To travel first class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To get economy class at a good price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will the traveller stay?</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a modern hotel outside the city</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With relatives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a traditional riad in the old city</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did the travel guide indicate (Type 1)?</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If they arrive early, they will visit the souk before the crowds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That the souk is closed</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That travel is unsafe</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counterfactual about a modern hotel (Type 2)?</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would have been better</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They would have lost the charm of the old quarters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Nothing would change</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 Core: questions 1–3 — listen for </a:t>
            </a:r>
            <a:pPr algn="l" indent="0" marL="0">
              <a:buNone/>
            </a:pPr>
            <a:r>
              <a:rPr lang="ar-SA" altLang="en-US" sz="1650" dirty="0">
                <a:solidFill>
                  <a:srgbClr val="1E6B52"/>
                </a:solidFill>
                <a:latin typeface="Amiri" pitchFamily="34" charset="0"/>
                <a:ea typeface="Amiri" pitchFamily="34" charset="-122"/>
                <a:cs typeface="Amiri" pitchFamily="34" charset="-120"/>
              </a:rPr>
              <a:t>قَبْلَ شَهْرَيْنِ</a:t>
            </a:r>
            <a:pPr algn="l" indent="0" marL="0">
              <a:buNone/>
            </a:pPr>
            <a:r>
              <a:rPr lang="en-US" sz="1250" dirty="0">
                <a:solidFill>
                  <a:srgbClr val="1E6B52"/>
                </a:solidFill>
                <a:latin typeface="Calibri" pitchFamily="34" charset="0"/>
                <a:ea typeface="Calibri" pitchFamily="34" charset="-122"/>
                <a:cs typeface="Calibri" pitchFamily="34" charset="-120"/>
              </a:rPr>
              <a:t> (two months ago), </a:t>
            </a:r>
            <a:pPr algn="l" indent="0" marL="0">
              <a:buNone/>
            </a:pPr>
            <a:r>
              <a:rPr lang="ar-SA" altLang="en-US" sz="1650" dirty="0">
                <a:solidFill>
                  <a:srgbClr val="1E6B52"/>
                </a:solidFill>
                <a:latin typeface="Amiri" pitchFamily="34" charset="0"/>
                <a:ea typeface="Amiri" pitchFamily="34" charset="-122"/>
                <a:cs typeface="Amiri" pitchFamily="34" charset="-120"/>
              </a:rPr>
              <a:t>مُبَكِّرًا</a:t>
            </a:r>
            <a:pPr algn="l" indent="0" marL="0">
              <a:buNone/>
            </a:pPr>
            <a:r>
              <a:rPr lang="en-US" sz="1250" dirty="0">
                <a:solidFill>
                  <a:srgbClr val="1E6B52"/>
                </a:solidFill>
                <a:latin typeface="Calibri" pitchFamily="34" charset="0"/>
                <a:ea typeface="Calibri" pitchFamily="34" charset="-122"/>
                <a:cs typeface="Calibri" pitchFamily="34" charset="-120"/>
              </a:rPr>
              <a:t> (early) and </a:t>
            </a:r>
            <a:pPr algn="l" indent="0" marL="0">
              <a:buNone/>
            </a:pPr>
            <a:r>
              <a:rPr lang="ar-SA" altLang="en-US" sz="1650" dirty="0">
                <a:solidFill>
                  <a:srgbClr val="1E6B52"/>
                </a:solidFill>
                <a:latin typeface="Amiri" pitchFamily="34" charset="0"/>
                <a:ea typeface="Amiri" pitchFamily="34" charset="-122"/>
                <a:cs typeface="Amiri" pitchFamily="34" charset="-120"/>
              </a:rPr>
              <a:t>رِيَاضٍ تَقْلِيدِيٍّ</a:t>
            </a:r>
            <a:pPr algn="l" indent="0" marL="0">
              <a:buNone/>
            </a:pPr>
            <a:r>
              <a:rPr lang="en-US" sz="1250" dirty="0">
                <a:solidFill>
                  <a:srgbClr val="1E6B52"/>
                </a:solidFill>
                <a:latin typeface="Calibri" pitchFamily="34" charset="0"/>
                <a:ea typeface="Calibri" pitchFamily="34" charset="-122"/>
                <a:cs typeface="Calibri" pitchFamily="34" charset="-120"/>
              </a:rPr>
              <a:t> (a traditional riad).</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33 / 48</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10512"/>
            <a:ext cx="11274552" cy="579991"/>
          </a:xfrm>
          <a:prstGeom prst="roundRect">
            <a:avLst>
              <a:gd name="adj" fmla="val 7883"/>
            </a:avLst>
          </a:prstGeom>
          <a:solidFill>
            <a:srgbClr val="FFFFFF"/>
          </a:solidFill>
          <a:ln w="9525">
            <a:solidFill>
              <a:srgbClr val="D8D0BF"/>
            </a:solidFill>
            <a:prstDash val="solid"/>
          </a:ln>
        </p:spPr>
      </p:sp>
      <p:sp>
        <p:nvSpPr>
          <p:cNvPr id="16" name="Text 13"/>
          <p:cNvSpPr txBox="1"/>
          <p:nvPr/>
        </p:nvSpPr>
        <p:spPr>
          <a:xfrm>
            <a:off x="4937760" y="1828800"/>
            <a:ext cx="6675120" cy="543415"/>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يَقُولُ المُسَافِرُ: كُنْتُ قَدْ حَجَزْتُ رِحْلَتِي إِلَى مَرَّاكُشَ قَبْلَ شَهْرَيْنِ، وَكُنْتُ قَدْ جَدَّدْتُ جَوَازَ سَفَرِي.</a:t>
            </a:r>
            <a:endParaRPr lang="ar-SA" sz="1700" dirty="0"/>
          </a:p>
        </p:txBody>
      </p:sp>
      <p:sp>
        <p:nvSpPr>
          <p:cNvPr id="17" name="Text 14"/>
          <p:cNvSpPr txBox="1"/>
          <p:nvPr/>
        </p:nvSpPr>
        <p:spPr>
          <a:xfrm>
            <a:off x="640080" y="1828800"/>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traveller says: I had booked my trip to Marrakesh two months ago, and I had renewed my passport.</a:t>
            </a:r>
            <a:endParaRPr lang="en-US" sz="1250" dirty="0"/>
          </a:p>
        </p:txBody>
      </p:sp>
      <p:sp>
        <p:nvSpPr>
          <p:cNvPr id="18" name="Shape 15"/>
          <p:cNvSpPr/>
          <p:nvPr/>
        </p:nvSpPr>
        <p:spPr>
          <a:xfrm>
            <a:off x="457200" y="2463655"/>
            <a:ext cx="11274552" cy="579991"/>
          </a:xfrm>
          <a:prstGeom prst="roundRect">
            <a:avLst>
              <a:gd name="adj" fmla="val 7883"/>
            </a:avLst>
          </a:prstGeom>
          <a:solidFill>
            <a:srgbClr val="F4F1EA"/>
          </a:solidFill>
          <a:ln w="9525">
            <a:solidFill>
              <a:srgbClr val="D8D0BF"/>
            </a:solidFill>
            <a:prstDash val="solid"/>
          </a:ln>
        </p:spPr>
      </p:sp>
      <p:sp>
        <p:nvSpPr>
          <p:cNvPr id="19" name="Text 16"/>
          <p:cNvSpPr txBox="1"/>
          <p:nvPr/>
        </p:nvSpPr>
        <p:spPr>
          <a:xfrm>
            <a:off x="4937760" y="2481943"/>
            <a:ext cx="6675120" cy="543415"/>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أَحْجِزُ دَائِمًا تَذَاكِرِي مُبَكِّرًا لِأَحْصُلَ عَلَى الدَّرَجَةِ الاِقْتِصَادِيَّةِ بِسِعْرٍ مُنَاسِبٍ.</a:t>
            </a:r>
            <a:endParaRPr lang="ar-SA" sz="2000" dirty="0"/>
          </a:p>
        </p:txBody>
      </p:sp>
      <p:sp>
        <p:nvSpPr>
          <p:cNvPr id="20" name="Text 17"/>
          <p:cNvSpPr txBox="1"/>
          <p:nvPr/>
        </p:nvSpPr>
        <p:spPr>
          <a:xfrm>
            <a:off x="640080" y="2481943"/>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always book my tickets early to get economy class at a good price.</a:t>
            </a:r>
            <a:endParaRPr lang="en-US" sz="1250" dirty="0"/>
          </a:p>
        </p:txBody>
      </p:sp>
      <p:sp>
        <p:nvSpPr>
          <p:cNvPr id="21" name="Shape 18"/>
          <p:cNvSpPr/>
          <p:nvPr/>
        </p:nvSpPr>
        <p:spPr>
          <a:xfrm>
            <a:off x="457200" y="3116798"/>
            <a:ext cx="11274552" cy="579991"/>
          </a:xfrm>
          <a:prstGeom prst="roundRect">
            <a:avLst>
              <a:gd name="adj" fmla="val 7883"/>
            </a:avLst>
          </a:prstGeom>
          <a:solidFill>
            <a:srgbClr val="FFFFFF"/>
          </a:solidFill>
          <a:ln w="9525">
            <a:solidFill>
              <a:srgbClr val="D8D0BF"/>
            </a:solidFill>
            <a:prstDash val="solid"/>
          </a:ln>
        </p:spPr>
      </p:sp>
      <p:sp>
        <p:nvSpPr>
          <p:cNvPr id="22" name="Text 19"/>
          <p:cNvSpPr txBox="1"/>
          <p:nvPr/>
        </p:nvSpPr>
        <p:spPr>
          <a:xfrm>
            <a:off x="4937760" y="3135086"/>
            <a:ext cx="6675120" cy="543415"/>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سَأُقِيمُ فِي رِيَاضٍ تَقْلِيدِيٍّ فِي المَدِينَةِ القَدِيمَةِ.</a:t>
            </a:r>
            <a:endParaRPr lang="ar-SA" sz="2000" dirty="0"/>
          </a:p>
        </p:txBody>
      </p:sp>
      <p:sp>
        <p:nvSpPr>
          <p:cNvPr id="23" name="Text 20"/>
          <p:cNvSpPr txBox="1"/>
          <p:nvPr/>
        </p:nvSpPr>
        <p:spPr>
          <a:xfrm>
            <a:off x="640080" y="3135086"/>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will stay in a traditional riad in the old city.</a:t>
            </a:r>
            <a:endParaRPr lang="en-US" sz="1250" dirty="0"/>
          </a:p>
        </p:txBody>
      </p:sp>
      <p:sp>
        <p:nvSpPr>
          <p:cNvPr id="24" name="Shape 21"/>
          <p:cNvSpPr/>
          <p:nvPr/>
        </p:nvSpPr>
        <p:spPr>
          <a:xfrm>
            <a:off x="457200" y="3769941"/>
            <a:ext cx="11274552" cy="579991"/>
          </a:xfrm>
          <a:prstGeom prst="roundRect">
            <a:avLst>
              <a:gd name="adj" fmla="val 7883"/>
            </a:avLst>
          </a:prstGeom>
          <a:solidFill>
            <a:srgbClr val="F4F1EA"/>
          </a:solidFill>
          <a:ln w="9525">
            <a:solidFill>
              <a:srgbClr val="D8D0BF"/>
            </a:solidFill>
            <a:prstDash val="solid"/>
          </a:ln>
        </p:spPr>
      </p:sp>
      <p:sp>
        <p:nvSpPr>
          <p:cNvPr id="25" name="Text 22"/>
          <p:cNvSpPr txBox="1"/>
          <p:nvPr/>
        </p:nvSpPr>
        <p:spPr>
          <a:xfrm>
            <a:off x="4937760" y="3788229"/>
            <a:ext cx="6675120" cy="543415"/>
          </a:xfrm>
          <a:prstGeom prst="rect">
            <a:avLst/>
          </a:prstGeom>
          <a:noFill/>
          <a:ln/>
        </p:spPr>
        <p:txBody>
          <a:bodyPr wrap="square" lIns="0" tIns="0" rIns="0" bIns="0" rtlCol="0" anchor="ctr"/>
          <a:lstStyle/>
          <a:p>
            <a:pPr rtl="1" algn="r" indent="0" marL="0">
              <a:buNone/>
            </a:pPr>
            <a:r>
              <a:rPr lang="ar-SA" altLang="en-US" sz="1850" b="1" dirty="0">
                <a:solidFill>
                  <a:srgbClr val="1B3B6F"/>
                </a:solidFill>
                <a:latin typeface="Amiri" pitchFamily="34" charset="0"/>
                <a:ea typeface="Amiri" pitchFamily="34" charset="-122"/>
                <a:cs typeface="Amiri" pitchFamily="34" charset="-120"/>
              </a:rPr>
              <a:t>وَأَشَارَ دَلِيلُ السَّفَرِ إِلَى أَنَّهُ إِذَا وَصَلْتُ مُبَكِّرًا، سَأَزُورُ سُوقَ الجُدَيْدَةِ قَبْلَ الزِّحَامِ.</a:t>
            </a:r>
            <a:endParaRPr lang="ar-SA" sz="1850" dirty="0"/>
          </a:p>
        </p:txBody>
      </p:sp>
      <p:sp>
        <p:nvSpPr>
          <p:cNvPr id="26" name="Text 23"/>
          <p:cNvSpPr txBox="1"/>
          <p:nvPr/>
        </p:nvSpPr>
        <p:spPr>
          <a:xfrm>
            <a:off x="640080" y="3788229"/>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travel guide said that if I arrive early, I will visit the market before the crowds.</a:t>
            </a:r>
            <a:endParaRPr lang="en-US" sz="1250" dirty="0"/>
          </a:p>
        </p:txBody>
      </p:sp>
      <p:sp>
        <p:nvSpPr>
          <p:cNvPr id="27" name="Shape 24"/>
          <p:cNvSpPr/>
          <p:nvPr/>
        </p:nvSpPr>
        <p:spPr>
          <a:xfrm>
            <a:off x="457200" y="4423083"/>
            <a:ext cx="11274552" cy="579991"/>
          </a:xfrm>
          <a:prstGeom prst="roundRect">
            <a:avLst>
              <a:gd name="adj" fmla="val 7883"/>
            </a:avLst>
          </a:prstGeom>
          <a:solidFill>
            <a:srgbClr val="FFFFFF"/>
          </a:solidFill>
          <a:ln w="9525">
            <a:solidFill>
              <a:srgbClr val="D8D0BF"/>
            </a:solidFill>
            <a:prstDash val="solid"/>
          </a:ln>
        </p:spPr>
      </p:sp>
      <p:sp>
        <p:nvSpPr>
          <p:cNvPr id="28" name="Text 25"/>
          <p:cNvSpPr txBox="1"/>
          <p:nvPr/>
        </p:nvSpPr>
        <p:spPr>
          <a:xfrm>
            <a:off x="4937760" y="4441371"/>
            <a:ext cx="6675120" cy="543415"/>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أَمَّا التَّأْشِيرَةُ فَقَدْ حَصَلْتُ عَلَيْهَا إِلِكْتْرُونِيًّا.</a:t>
            </a:r>
            <a:endParaRPr lang="ar-SA" sz="2000" dirty="0"/>
          </a:p>
        </p:txBody>
      </p:sp>
      <p:sp>
        <p:nvSpPr>
          <p:cNvPr id="29" name="Text 26"/>
          <p:cNvSpPr txBox="1"/>
          <p:nvPr/>
        </p:nvSpPr>
        <p:spPr>
          <a:xfrm>
            <a:off x="640080" y="4441371"/>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As for the visa, I got it online.</a:t>
            </a:r>
            <a:endParaRPr lang="en-US" sz="1250" dirty="0"/>
          </a:p>
        </p:txBody>
      </p:sp>
      <p:sp>
        <p:nvSpPr>
          <p:cNvPr id="30" name="Shape 27"/>
          <p:cNvSpPr/>
          <p:nvPr/>
        </p:nvSpPr>
        <p:spPr>
          <a:xfrm>
            <a:off x="457200" y="5076226"/>
            <a:ext cx="11274552" cy="579991"/>
          </a:xfrm>
          <a:prstGeom prst="roundRect">
            <a:avLst>
              <a:gd name="adj" fmla="val 7883"/>
            </a:avLst>
          </a:prstGeom>
          <a:solidFill>
            <a:srgbClr val="F4F1EA"/>
          </a:solidFill>
          <a:ln w="9525">
            <a:solidFill>
              <a:srgbClr val="D8D0BF"/>
            </a:solidFill>
            <a:prstDash val="solid"/>
          </a:ln>
        </p:spPr>
      </p:sp>
      <p:sp>
        <p:nvSpPr>
          <p:cNvPr id="31" name="Text 28"/>
          <p:cNvSpPr txBox="1"/>
          <p:nvPr/>
        </p:nvSpPr>
        <p:spPr>
          <a:xfrm>
            <a:off x="4937760" y="5094514"/>
            <a:ext cx="6675120" cy="543415"/>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وَلَوْ حَجَزْتُ فِي فُنْدُقٍ حَدِيثٍ خَارِجَ المَدِينَةِ، لَفَقَدْتُ سِحْرَ الأَحْيَاءِ القَدِيمَةِ.</a:t>
            </a:r>
            <a:endParaRPr lang="ar-SA" sz="2000" dirty="0"/>
          </a:p>
        </p:txBody>
      </p:sp>
      <p:sp>
        <p:nvSpPr>
          <p:cNvPr id="32" name="Text 29"/>
          <p:cNvSpPr txBox="1"/>
          <p:nvPr/>
        </p:nvSpPr>
        <p:spPr>
          <a:xfrm>
            <a:off x="640080" y="5094514"/>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Had I booked a modern hotel outside the city, I would have lost the charm of the old quarters.</a:t>
            </a:r>
            <a:endParaRPr lang="en-US" sz="1250" dirty="0"/>
          </a:p>
        </p:txBody>
      </p:sp>
      <p:sp>
        <p:nvSpPr>
          <p:cNvPr id="33" name="Shape 30"/>
          <p:cNvSpPr/>
          <p:nvPr/>
        </p:nvSpPr>
        <p:spPr>
          <a:xfrm>
            <a:off x="457200" y="5729369"/>
            <a:ext cx="11274552" cy="579991"/>
          </a:xfrm>
          <a:prstGeom prst="roundRect">
            <a:avLst>
              <a:gd name="adj" fmla="val 7883"/>
            </a:avLst>
          </a:prstGeom>
          <a:solidFill>
            <a:srgbClr val="FFFFFF"/>
          </a:solidFill>
          <a:ln w="9525">
            <a:solidFill>
              <a:srgbClr val="D8D0BF"/>
            </a:solidFill>
            <a:prstDash val="solid"/>
          </a:ln>
        </p:spPr>
      </p:sp>
      <p:sp>
        <p:nvSpPr>
          <p:cNvPr id="34" name="Text 31"/>
          <p:cNvSpPr txBox="1"/>
          <p:nvPr/>
        </p:nvSpPr>
        <p:spPr>
          <a:xfrm>
            <a:off x="4937760" y="5747657"/>
            <a:ext cx="6675120" cy="543415"/>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سَأَحْمِلُ حَقِيبَةً وَاحِدَةً فَقَطْ لِأَتَجَنَّبَ رُسُومَ الأَمْتِعَةِ الزَّائِدَةِ.</a:t>
            </a:r>
            <a:endParaRPr lang="ar-SA" sz="2000" dirty="0"/>
          </a:p>
        </p:txBody>
      </p:sp>
      <p:sp>
        <p:nvSpPr>
          <p:cNvPr id="35" name="Text 32"/>
          <p:cNvSpPr txBox="1"/>
          <p:nvPr/>
        </p:nvSpPr>
        <p:spPr>
          <a:xfrm>
            <a:off x="640080" y="5747657"/>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will carry only one bag to avoid extra baggage fees.</a:t>
            </a:r>
            <a:endParaRPr lang="en-US" sz="12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34 / 48</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had the traveller done two months earlier?</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Booked the trip and renewed the passport</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Nothing</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Cancelled the trip</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كُنْتُ قَدْ حَجَزْتُ رِحْلَتِي … وَكُنْتُ قَدْ جَدَّدْتُ جَوَازَ سَفَرِي.</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Why does the traveller book early?</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To pay more</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To travel first class</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To get economy class at a good price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050" dirty="0">
                <a:solidFill>
                  <a:srgbClr val="8A6D1E"/>
                </a:solidFill>
                <a:latin typeface="Amiri" pitchFamily="34" charset="0"/>
                <a:ea typeface="Amiri" pitchFamily="34" charset="-122"/>
                <a:cs typeface="Amiri" pitchFamily="34" charset="-120"/>
              </a:rPr>
              <a:t>أَحْجِزُ دَائِمًا تَذَاكِرِي مُبَكِّرًا لِأَحْصُلَ عَلَى الدَّرَجَةِ الاِقْتِصَادِيَّةِ بِسِعْرٍ مُنَاسِبٍ.</a:t>
            </a:r>
            <a:endParaRPr lang="ar-SA"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will the traveller stay?</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In a modern hotel outside the city</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With relatives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In a traditional riad in the old city</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سَأُقِيمُ فِي رِيَاضٍ تَقْلِيدِيٍّ فِي المَدِينَةِ القَدِيمَةِ.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did the travel guide indicate (Type 1)?</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If they arrive early, they will visit the souk before the crowds</a:t>
            </a:r>
            <a:endParaRPr lang="en-US" sz="11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That the souk is closed</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That travel is unsafe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إِذَا وَصَلْتُ مُبَكِّرًا، سَأَزُورُ سُوقَ الجُدَيْدَةِ قَبْلَ الزِّحَامِ.</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counterfactual about a modern hotel (Type 2)?</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would have been better</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They would have lost the charm of the old quarters</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Nothing would change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050" dirty="0">
                <a:solidFill>
                  <a:srgbClr val="8A6D1E"/>
                </a:solidFill>
                <a:latin typeface="Amiri" pitchFamily="34" charset="0"/>
                <a:ea typeface="Amiri" pitchFamily="34" charset="-122"/>
                <a:cs typeface="Amiri" pitchFamily="34" charset="-120"/>
              </a:rPr>
              <a:t>لَوْ حَجَزْتُ فِي فُنْدُقٍ حَدِيثٍ خَارِجَ المَدِينَةِ، لَفَقَدْتُ سِحْرَ الأَحْيَاءِ القَدِيمَةِ.</a:t>
            </a:r>
            <a:endParaRPr lang="ar-SA"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 Core: questions 1–3 — listen for </a:t>
            </a:r>
            <a:pPr algn="l" indent="0" marL="0">
              <a:buNone/>
            </a:pPr>
            <a:r>
              <a:rPr lang="ar-SA" altLang="en-US" sz="1650" dirty="0">
                <a:solidFill>
                  <a:srgbClr val="1E6B52"/>
                </a:solidFill>
                <a:latin typeface="Amiri" pitchFamily="34" charset="0"/>
                <a:ea typeface="Amiri" pitchFamily="34" charset="-122"/>
                <a:cs typeface="Amiri" pitchFamily="34" charset="-120"/>
              </a:rPr>
              <a:t>قَبْلَ شَهْرَيْنِ</a:t>
            </a:r>
            <a:pPr algn="l" indent="0" marL="0">
              <a:buNone/>
            </a:pPr>
            <a:r>
              <a:rPr lang="en-US" sz="1250" dirty="0">
                <a:solidFill>
                  <a:srgbClr val="1E6B52"/>
                </a:solidFill>
                <a:latin typeface="Calibri" pitchFamily="34" charset="0"/>
                <a:ea typeface="Calibri" pitchFamily="34" charset="-122"/>
                <a:cs typeface="Calibri" pitchFamily="34" charset="-120"/>
              </a:rPr>
              <a:t> (two months ago), </a:t>
            </a:r>
            <a:pPr algn="l" indent="0" marL="0">
              <a:buNone/>
            </a:pPr>
            <a:r>
              <a:rPr lang="ar-SA" altLang="en-US" sz="1650" dirty="0">
                <a:solidFill>
                  <a:srgbClr val="1E6B52"/>
                </a:solidFill>
                <a:latin typeface="Amiri" pitchFamily="34" charset="0"/>
                <a:ea typeface="Amiri" pitchFamily="34" charset="-122"/>
                <a:cs typeface="Amiri" pitchFamily="34" charset="-120"/>
              </a:rPr>
              <a:t>مُبَكِّرًا</a:t>
            </a:r>
            <a:pPr algn="l" indent="0" marL="0">
              <a:buNone/>
            </a:pPr>
            <a:r>
              <a:rPr lang="en-US" sz="1250" dirty="0">
                <a:solidFill>
                  <a:srgbClr val="1E6B52"/>
                </a:solidFill>
                <a:latin typeface="Calibri" pitchFamily="34" charset="0"/>
                <a:ea typeface="Calibri" pitchFamily="34" charset="-122"/>
                <a:cs typeface="Calibri" pitchFamily="34" charset="-120"/>
              </a:rPr>
              <a:t> (early) and </a:t>
            </a:r>
            <a:pPr algn="l" indent="0" marL="0">
              <a:buNone/>
            </a:pPr>
            <a:r>
              <a:rPr lang="ar-SA" altLang="en-US" sz="1650" dirty="0">
                <a:solidFill>
                  <a:srgbClr val="1E6B52"/>
                </a:solidFill>
                <a:latin typeface="Amiri" pitchFamily="34" charset="0"/>
                <a:ea typeface="Amiri" pitchFamily="34" charset="-122"/>
                <a:cs typeface="Amiri" pitchFamily="34" charset="-120"/>
              </a:rPr>
              <a:t>رِيَاضٍ تَقْلِيدِيٍّ</a:t>
            </a:r>
            <a:pPr algn="l" indent="0" marL="0">
              <a:buNone/>
            </a:pPr>
            <a:r>
              <a:rPr lang="en-US" sz="1250" dirty="0">
                <a:solidFill>
                  <a:srgbClr val="1E6B52"/>
                </a:solidFill>
                <a:latin typeface="Calibri" pitchFamily="34" charset="0"/>
                <a:ea typeface="Calibri" pitchFamily="34" charset="-122"/>
                <a:cs typeface="Calibri" pitchFamily="34" charset="-120"/>
              </a:rPr>
              <a:t> (a traditional riad).</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35 / 48</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ea typeface="Cambria" pitchFamily="34" charset="-122"/>
                <a:cs typeface="Cambria" pitchFamily="34" charset="-120"/>
              </a:rPr>
              <a:t>Speaking: talk through your trip plan</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الوَثَائِقُ الَّتِي تَحْتَاجُهَا لِلسَّفَرِ؟</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مَتَى حَجَزْتَ رِحْلَتَكَ، وَأَيْنَ سَتُقِيمُ؟</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مَاذَا سَيَحْدُثُ إِذَا سَجَّلْتَ الوُصُولَ إِلِكْتْرُونِيًّا؟</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لَوْ حَجَزْتَ فِي مَكَانٍ آخَرَ، مَاذَا كَانَ سَيَخْتَلِفُ؟</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34" charset="0"/>
                <a:ea typeface="Amiri" pitchFamily="34" charset="-122"/>
                <a:cs typeface="Amiri" pitchFamily="34" charset="-120"/>
              </a:rPr>
              <a:t>أَحْتَاجُ إِلَى ___ وَ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حَجَزْتُ ___ ، وَسَأُقِيمُ فِي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إِذَا ___ ، سَـ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سَيُقِيمُ / سَتُقِيمُ فِي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مَتَى حَجَزْتَ رِحْلَتَكَ، وَأَيْنَ سَتُقِيمُ؟</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When did you book your trip, and where will you stay?</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كُنْتُ قَدْ حَجَزْتُ رِحْلَتِي قَبْلَ شَهْرَيْنِ، وَسَأُقِيمُ فِي رِيَاضٍ تَقْلِيدِيٍّ.</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Past perfect + future </a:t>
            </a:r>
            <a:pPr algn="l" indent="0" marL="0">
              <a:buNone/>
            </a:pPr>
            <a:r>
              <a:rPr lang="ar-SA" altLang="en-US" sz="1250" dirty="0">
                <a:solidFill>
                  <a:srgbClr val="5A6472"/>
                </a:solidFill>
                <a:latin typeface="Amiri" pitchFamily="34" charset="0"/>
                <a:ea typeface="Amiri" pitchFamily="34" charset="-122"/>
                <a:cs typeface="Amiri" pitchFamily="34" charset="-120"/>
              </a:rPr>
              <a:t>يُقِيمُ فِي</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36 / 48</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ea typeface="Cambria" pitchFamily="34" charset="-122"/>
                <a:cs typeface="Cambria" pitchFamily="34" charset="-120"/>
              </a:rPr>
              <a:t>4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Write </a:t>
            </a:r>
            <a:pPr algn="l" indent="0" marL="0">
              <a:buNone/>
            </a:pPr>
            <a:r>
              <a:rPr lang="ar-SA" altLang="en-US" sz="1800" b="1" dirty="0">
                <a:solidFill>
                  <a:srgbClr val="1F2A37"/>
                </a:solidFill>
                <a:latin typeface="Amiri" pitchFamily="34" charset="0"/>
                <a:ea typeface="Amiri" pitchFamily="34" charset="-122"/>
                <a:cs typeface="Amiri" pitchFamily="34" charset="-120"/>
              </a:rPr>
              <a:t>يَحْجِزُ</a:t>
            </a:r>
            <a:pPr algn="l" indent="0" marL="0">
              <a:buNone/>
            </a:pPr>
            <a:r>
              <a:rPr lang="en-US" sz="1400" b="1" dirty="0">
                <a:solidFill>
                  <a:srgbClr val="1F2A37"/>
                </a:solidFill>
                <a:latin typeface="Calibri" pitchFamily="34" charset="0"/>
                <a:ea typeface="Calibri" pitchFamily="34" charset="-122"/>
                <a:cs typeface="Calibri" pitchFamily="34" charset="-120"/>
              </a:rPr>
              <a:t> and </a:t>
            </a:r>
            <a:pPr algn="l" indent="0" marL="0">
              <a:buNone/>
            </a:pPr>
            <a:r>
              <a:rPr lang="ar-SA" altLang="en-US" sz="1800" b="1" dirty="0">
                <a:solidFill>
                  <a:srgbClr val="1F2A37"/>
                </a:solidFill>
                <a:latin typeface="Amiri" pitchFamily="34" charset="0"/>
                <a:ea typeface="Amiri" pitchFamily="34" charset="-122"/>
                <a:cs typeface="Amiri" pitchFamily="34" charset="-120"/>
              </a:rPr>
              <a:t>يُقِيمُ</a:t>
            </a:r>
            <a:pPr algn="l" indent="0" marL="0">
              <a:buNone/>
            </a:pPr>
            <a:r>
              <a:rPr lang="en-US" sz="1400" b="1" dirty="0">
                <a:solidFill>
                  <a:srgbClr val="1F2A37"/>
                </a:solidFill>
                <a:latin typeface="Calibri" pitchFamily="34" charset="0"/>
                <a:ea typeface="Calibri" pitchFamily="34" charset="-122"/>
                <a:cs typeface="Calibri" pitchFamily="34" charset="-120"/>
              </a:rPr>
              <a:t> in the present, past and future.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Use the frames and word bank on the next slide. Say when you book, where you will stay and which documents you need.</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ea typeface="Cambria" pitchFamily="34" charset="-122"/>
                <a:cs typeface="Cambria" pitchFamily="34" charset="-120"/>
              </a:rPr>
              <a:t>6–8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Add a past perfect and a Type 1 conditional.</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Add a past perfect and one “if” sentence, then give a friend one instruction, such as “Book early!”</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ea typeface="Cambria" pitchFamily="34" charset="-122"/>
                <a:cs typeface="Cambria" pitchFamily="34" charset="-120"/>
              </a:rPr>
              <a:t>100–110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Write a full itinerary day using four structures, including a Type 2 counterfactual.</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Website writing task: a day-by-day itinerary opening with كُنْتُ قَدْ حَجَزْتُ; checklist and phrase bank on the Stretch slide.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37 / 48</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كُنْتُ قَدْ حَجَزْتُ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had booked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إِذَا حَجَزْتَ مُبَكِّرًا، سَـ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If you book early,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أَحْضِرْ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Bring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الفُنْدُقُ الَّذِي حَجَزْتُهُ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The hotel that I booked is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أَشَارَ الدَّلِيلُ إِلَى أَنَّ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The guide said that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أَحْجِزُ ______ مُبَكِّرًا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book my ticket early.</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حَجَزْتُ ______ قَبْلَ شَهْرٍ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booked … a month ago.</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سَأَحْجِزُ رِحْلَةً إِلَى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will book a trip to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سَأُقِيمُ فِي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will stay in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أَحْتَاجُ إِلَى جَوَازِ سَفَرٍ وَ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need a passport and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جَوَازُ سَفَرٍ  ·  تَأْشِيرَةٌ  ·  تَذْكِرَةٌ  ·  تَأْمِينُ سَفَرٍ  ·  فُنْدُقٍ  ·  شَقَّةٍ مَفْرُوشَةٍ  ·  رِيَاضٍ  ·  مَرَّاكُشَ  ·  عُمَانَ  ·  مُبَكِّرًا  ·  قَبْلَ شَهْرٍ  ·  الصَّيْفَ القَادِمَ</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38 / 48</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00" b="1" dirty="0">
                <a:solidFill>
                  <a:srgbClr val="1F2A37"/>
                </a:solidFill>
                <a:latin typeface="Calibri" pitchFamily="34" charset="0"/>
                <a:ea typeface="Calibri" pitchFamily="34" charset="-122"/>
                <a:cs typeface="Calibri" pitchFamily="34" charset="-120"/>
              </a:rPr>
              <a:t>Write a day-by-day itinerary of one hundred to one hundred and ten words for a trip to an Arab city. Open with a past perfect (</a:t>
            </a:r>
            <a:pPr algn="l" indent="0" marL="0">
              <a:buNone/>
            </a:pPr>
            <a:r>
              <a:rPr lang="ar-SA" altLang="en-US" sz="1700" b="1" dirty="0">
                <a:solidFill>
                  <a:srgbClr val="1F2A37"/>
                </a:solidFill>
                <a:latin typeface="Amiri" pitchFamily="34" charset="0"/>
                <a:ea typeface="Amiri" pitchFamily="34" charset="-122"/>
                <a:cs typeface="Amiri" pitchFamily="34" charset="-120"/>
              </a:rPr>
              <a:t>كُنْتُ قَدْ حَجَزْتُ</a:t>
            </a:r>
            <a:pPr algn="l" indent="0" marL="0">
              <a:buNone/>
            </a:pPr>
            <a:r>
              <a:rPr lang="en-US" sz="1300" b="1" dirty="0">
                <a:solidFill>
                  <a:srgbClr val="1F2A37"/>
                </a:solidFill>
                <a:latin typeface="Calibri" pitchFamily="34" charset="0"/>
                <a:ea typeface="Calibri" pitchFamily="34" charset="-122"/>
                <a:cs typeface="Calibri" pitchFamily="34" charset="-120"/>
              </a:rPr>
              <a:t>), use </a:t>
            </a:r>
            <a:pPr algn="l" indent="0" marL="0">
              <a:buNone/>
            </a:pPr>
            <a:r>
              <a:rPr lang="ar-SA" altLang="en-US" sz="1700" b="1" dirty="0">
                <a:solidFill>
                  <a:srgbClr val="1F2A37"/>
                </a:solidFill>
                <a:latin typeface="Amiri" pitchFamily="34" charset="0"/>
                <a:ea typeface="Amiri" pitchFamily="34" charset="-122"/>
                <a:cs typeface="Amiri" pitchFamily="34" charset="-120"/>
              </a:rPr>
              <a:t>يُقِيمُ فِي</a:t>
            </a:r>
            <a:pPr algn="l" indent="0" marL="0">
              <a:buNone/>
            </a:pPr>
            <a:r>
              <a:rPr lang="en-US" sz="1300" b="1" dirty="0">
                <a:solidFill>
                  <a:srgbClr val="1F2A37"/>
                </a:solidFill>
                <a:latin typeface="Calibri" pitchFamily="34" charset="0"/>
                <a:ea typeface="Calibri" pitchFamily="34" charset="-122"/>
                <a:cs typeface="Calibri" pitchFamily="34" charset="-120"/>
              </a:rPr>
              <a:t>, at least one Type 1 conditional, a reported recommendation, and one Type 2 counterfactual.</a:t>
            </a:r>
            <a:endParaRPr lang="en-US" sz="13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A past-perfect opening with </a:t>
            </a:r>
            <a:pPr algn="l" indent="0" marL="0">
              <a:buNone/>
            </a:pPr>
            <a:r>
              <a:rPr lang="ar-SA" altLang="en-US" sz="1550" dirty="0">
                <a:solidFill>
                  <a:srgbClr val="1F2A37"/>
                </a:solidFill>
                <a:latin typeface="Amiri" pitchFamily="34" charset="0"/>
                <a:ea typeface="Amiri" pitchFamily="34" charset="-122"/>
                <a:cs typeface="Amiri" pitchFamily="34" charset="-120"/>
              </a:rPr>
              <a:t>يَحْجِزُ</a:t>
            </a:r>
            <a:pPr algn="l" indent="0" marL="0">
              <a:buNone/>
            </a:pPr>
            <a:r>
              <a:rPr lang="en-US" sz="1200" dirty="0">
                <a:solidFill>
                  <a:srgbClr val="1F2A37"/>
                </a:solidFill>
                <a:latin typeface="Calibri" pitchFamily="34" charset="0"/>
                <a:ea typeface="Calibri" pitchFamily="34" charset="-122"/>
                <a:cs typeface="Calibri" pitchFamily="34" charset="-120"/>
              </a:rPr>
              <a:t> (</a:t>
            </a:r>
            <a:pPr algn="l" indent="0" marL="0">
              <a:buNone/>
            </a:pPr>
            <a:r>
              <a:rPr lang="ar-SA" altLang="en-US" sz="1550" dirty="0">
                <a:solidFill>
                  <a:srgbClr val="1F2A37"/>
                </a:solidFill>
                <a:latin typeface="Amiri" pitchFamily="34" charset="0"/>
                <a:ea typeface="Amiri" pitchFamily="34" charset="-122"/>
                <a:cs typeface="Amiri" pitchFamily="34" charset="-120"/>
              </a:rPr>
              <a:t>كُنْتُ قَدْ حَجَزْتُ</a:t>
            </a:r>
            <a:pPr algn="l"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a:t>
            </a:r>
            <a:pPr algn="l" indent="0" marL="0">
              <a:buNone/>
            </a:pPr>
            <a:r>
              <a:rPr lang="ar-SA" altLang="en-US" sz="1550" dirty="0">
                <a:solidFill>
                  <a:srgbClr val="1F2A37"/>
                </a:solidFill>
                <a:latin typeface="Amiri" pitchFamily="34" charset="0"/>
                <a:ea typeface="Amiri" pitchFamily="34" charset="-122"/>
                <a:cs typeface="Amiri" pitchFamily="34" charset="-120"/>
              </a:rPr>
              <a:t>يُقِيمُ فِي</a:t>
            </a:r>
            <a:pPr algn="l" indent="0" marL="0">
              <a:buNone/>
            </a:pPr>
            <a:r>
              <a:rPr lang="en-US" sz="1200" dirty="0">
                <a:solidFill>
                  <a:srgbClr val="1F2A37"/>
                </a:solidFill>
                <a:latin typeface="Calibri" pitchFamily="34" charset="0"/>
                <a:ea typeface="Calibri" pitchFamily="34" charset="-122"/>
                <a:cs typeface="Calibri" pitchFamily="34" charset="-120"/>
              </a:rPr>
              <a:t> before the accommodation.</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A Type 1 conditional and a reported recommendation.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One Type 2 counterfactual.</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ea typeface="Calibri" pitchFamily="34" charset="-122"/>
                <a:cs typeface="Calibri" pitchFamily="34" charset="-120"/>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اليَوْمُ الأَوَّلُ: …</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Day one: …</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كُنْتُ قَدْ حَجَزْتُ … قَبْلَ …</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I had booked … before …</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وَأَشَارَ دَلِيلُ السَّفَرِ إِلَى أَنَّهُ …</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the travel guide indicated that …</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إِذَا كَانَ الطَّقْسُ جَيِّدًا، سَـ …</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if the weather is good, I will …</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وَلَوْ كُنْتُ قَدْ حَجَزْتُ … لَحَصَلْتُ عَلَى …</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had I booked …, I would have got …</a:t>
            </a:r>
            <a:endParaRPr lang="en-US" sz="1050" dirty="0"/>
          </a:p>
        </p:txBody>
      </p:sp>
      <p:sp>
        <p:nvSpPr>
          <p:cNvPr id="35" name="Text 32"/>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لِذٰلِكَ أَنْصَحُ بِـ …</a:t>
            </a:r>
            <a:endParaRPr lang="ar-SA" sz="1800" dirty="0"/>
          </a:p>
        </p:txBody>
      </p:sp>
      <p:sp>
        <p:nvSpPr>
          <p:cNvPr id="36" name="Text 33"/>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so I recommend …</a:t>
            </a:r>
            <a:endParaRPr lang="en-US" sz="10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39 / 48</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34" charset="0"/>
                <a:ea typeface="Amiri" pitchFamily="34" charset="-122"/>
                <a:cs typeface="Amiri" pitchFamily="34" charset="-120"/>
              </a:rPr>
              <a:t>اليَوْمُ الأَوَّلُ: كُنْتُ قَدْ حَجَزْتُ رِحْلَتِي إِلَى الدَّارِ البَيْضَاءِ قَبْلَ شَهْرَيْنِ، وَكُنْتُ قَدْ جَدَّدْتُ جَوَازَ سَفَرِي. سَأَصِلُ إِلَى المَطَارِ صَبَاحًا، وَسَأُقِيمُ فِي رِيَاضٍ تَقْلِيدِيٍّ فِي المَدِينَةِ القَدِيمَةِ. وَأَشَارَ دَلِيلُ السَّفَرِ إِلَى أَنَّهُ إِذَا وَصَلْتُ مُبَكِّرًا، سَأَزُورُ السُّوقَ قَبْلَ الزِّحَامِ. اليَوْمُ الثَّانِي: سَأَحْجِزُ جَوْلَةً إِلَى الجِبَالِ، وَإِذَا كَانَ الطَّقْسُ جَيِّدًا، سَأَتَنَزَّهُ طَوَالَ اليَوْمِ. اليَوْمُ الثَّالِثُ: سَأُقِيمُ لَيْلَةً أَخِيرَةً قُرْبَ الشَّاطِئِ. وَلَوْ كُنْتُ قَدْ حَجَزْتُ قَبْلَ العُطْلَةِ الرَّسْمِيَّةِ، لَحَصَلْتُ عَلَى سِعْرٍ أَرْخَصَ. لِذٰلِكَ أَنْصَحُ بِالحَجْزِ المُبَكِّرِ دَائِمًا.</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ea typeface="Calibri" pitchFamily="34" charset="-122"/>
                <a:cs typeface="Calibri" pitchFamily="34" charset="-120"/>
              </a:rPr>
              <a:t>Day one: I had booked my trip to Casablanca two months ago, and I had renewed my passport. I will arrive at the airport in the morning, and I will stay in a traditional riad in the old city. The travel guide said that if I arrive early, I will visit the market before the crowds. Day two: I will book a trip to the mountains, and if the weather is good, I will walk all day. Day three: I will stay one last night near the beach. Had I booked before the public holiday, I would have got a cheaper price. So I always recommend booking early.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كُنْتُ قَدْ حَجَزْتُ</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يُقِيمُ فِي</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إِذَا … سَـ</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لَوْ … لَـ</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40 / 48</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name travel documents: </a:t>
            </a:r>
            <a:pPr algn="l" indent="0" marL="0">
              <a:buNone/>
            </a:pPr>
            <a:r>
              <a:rPr lang="ar-SA" altLang="en-US" sz="1700" dirty="0">
                <a:solidFill>
                  <a:srgbClr val="1F2A37"/>
                </a:solidFill>
                <a:latin typeface="Amiri" pitchFamily="34" charset="0"/>
                <a:ea typeface="Amiri" pitchFamily="34" charset="-122"/>
                <a:cs typeface="Amiri" pitchFamily="34" charset="-120"/>
              </a:rPr>
              <a:t>جَوَازُ سَفَرٍ، تَأْشِيرَةٌ، تَذْكِرَةٌ</a:t>
            </a:r>
            <a:pPr algn="l" indent="0" marL="0">
              <a:buNone/>
            </a:pPr>
            <a:r>
              <a:rPr lang="en-US" sz="1300" dirty="0">
                <a:solidFill>
                  <a:srgbClr val="1F2A37"/>
                </a:solidFill>
                <a:latin typeface="Calibri" pitchFamily="34" charset="0"/>
                <a:ea typeface="Calibri" pitchFamily="34" charset="-122"/>
                <a:cs typeface="Calibri" pitchFamily="34" charset="-120"/>
              </a:rPr>
              <a:t> …</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say </a:t>
            </a:r>
            <a:pPr algn="l" indent="0" marL="0">
              <a:buNone/>
            </a:pPr>
            <a:r>
              <a:rPr lang="ar-SA" altLang="en-US" sz="1700" dirty="0">
                <a:solidFill>
                  <a:srgbClr val="1F2A37"/>
                </a:solidFill>
                <a:latin typeface="Amiri" pitchFamily="34" charset="0"/>
                <a:ea typeface="Amiri" pitchFamily="34" charset="-122"/>
                <a:cs typeface="Amiri" pitchFamily="34" charset="-120"/>
              </a:rPr>
              <a:t>أَحْجِزُ / سَأَحْجِزُ</a:t>
            </a:r>
            <a:pPr algn="l" indent="0" marL="0">
              <a:buNone/>
            </a:pPr>
            <a:r>
              <a:rPr lang="en-US" sz="1300" dirty="0">
                <a:solidFill>
                  <a:srgbClr val="1F2A37"/>
                </a:solidFill>
                <a:latin typeface="Calibri" pitchFamily="34" charset="0"/>
                <a:ea typeface="Calibri" pitchFamily="34" charset="-122"/>
                <a:cs typeface="Calibri" pitchFamily="34" charset="-120"/>
              </a:rPr>
              <a:t> and </a:t>
            </a:r>
            <a:pPr algn="l" indent="0" marL="0">
              <a:buNone/>
            </a:pPr>
            <a:r>
              <a:rPr lang="ar-SA" altLang="en-US" sz="1700" dirty="0">
                <a:solidFill>
                  <a:srgbClr val="1F2A37"/>
                </a:solidFill>
                <a:latin typeface="Amiri" pitchFamily="34" charset="0"/>
                <a:ea typeface="Amiri" pitchFamily="34" charset="-122"/>
                <a:cs typeface="Amiri" pitchFamily="34" charset="-120"/>
              </a:rPr>
              <a:t>سَأُقِيمُ فِي</a:t>
            </a:r>
            <a:pPr algn="l" indent="0" marL="0">
              <a:buNone/>
            </a:pPr>
            <a:r>
              <a:rPr lang="en-US" sz="1300" dirty="0">
                <a:solidFill>
                  <a:srgbClr val="1F2A37"/>
                </a:solidFill>
                <a:latin typeface="Calibri" pitchFamily="34" charset="0"/>
                <a:ea typeface="Calibri" pitchFamily="34" charset="-122"/>
                <a:cs typeface="Calibri" pitchFamily="34" charset="-120"/>
              </a:rPr>
              <a:t> … and find key facts in a message.</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follow </a:t>
            </a:r>
            <a:pPr algn="l" indent="0" marL="0">
              <a:buNone/>
            </a:pPr>
            <a:r>
              <a:rPr lang="ar-SA" altLang="en-US" sz="1700" dirty="0">
                <a:solidFill>
                  <a:srgbClr val="1F2A37"/>
                </a:solidFill>
                <a:latin typeface="Amiri" pitchFamily="34" charset="0"/>
                <a:ea typeface="Amiri" pitchFamily="34" charset="-122"/>
                <a:cs typeface="Amiri" pitchFamily="34" charset="-120"/>
              </a:rPr>
              <a:t>يُقِيمُ</a:t>
            </a:r>
            <a:pPr algn="l" indent="0" marL="0">
              <a:buNone/>
            </a:pPr>
            <a:r>
              <a:rPr lang="en-US" sz="1300" dirty="0">
                <a:solidFill>
                  <a:srgbClr val="1F2A37"/>
                </a:solidFill>
                <a:latin typeface="Calibri" pitchFamily="34" charset="0"/>
                <a:ea typeface="Calibri" pitchFamily="34" charset="-122"/>
                <a:cs typeface="Calibri" pitchFamily="34" charset="-120"/>
              </a:rPr>
              <a:t> with </a:t>
            </a:r>
            <a:pPr algn="l" indent="0" marL="0">
              <a:buNone/>
            </a:pPr>
            <a:r>
              <a:rPr lang="ar-SA" altLang="en-US" sz="1700" dirty="0">
                <a:solidFill>
                  <a:srgbClr val="1F2A37"/>
                </a:solidFill>
                <a:latin typeface="Amiri" pitchFamily="34" charset="0"/>
                <a:ea typeface="Amiri" pitchFamily="34" charset="-122"/>
                <a:cs typeface="Amiri" pitchFamily="34" charset="-120"/>
              </a:rPr>
              <a:t>فِي</a:t>
            </a:r>
            <a:pPr algn="l" indent="0" marL="0">
              <a:buNone/>
            </a:pPr>
            <a:r>
              <a:rPr lang="en-US" sz="1300" dirty="0">
                <a:solidFill>
                  <a:srgbClr val="1F2A37"/>
                </a:solidFill>
                <a:latin typeface="Calibri" pitchFamily="34" charset="0"/>
                <a:ea typeface="Calibri" pitchFamily="34" charset="-122"/>
                <a:cs typeface="Calibri" pitchFamily="34" charset="-120"/>
              </a:rPr>
              <a:t> before accommodation.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understand instructions on a form: </a:t>
            </a:r>
            <a:pPr algn="l" indent="0" marL="0">
              <a:buNone/>
            </a:pPr>
            <a:r>
              <a:rPr lang="ar-SA" altLang="en-US" sz="1700" dirty="0">
                <a:solidFill>
                  <a:srgbClr val="1F2A37"/>
                </a:solidFill>
                <a:latin typeface="Amiri" pitchFamily="34" charset="0"/>
                <a:ea typeface="Amiri" pitchFamily="34" charset="-122"/>
                <a:cs typeface="Amiri" pitchFamily="34" charset="-120"/>
              </a:rPr>
              <a:t>أَحْضِرْ، سَجِّلْ، اِحْجِزْ</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open an itinerary day with a past perfect (</a:t>
            </a:r>
            <a:pPr algn="l" indent="0" marL="0">
              <a:buNone/>
            </a:pPr>
            <a:r>
              <a:rPr lang="ar-SA" altLang="en-US" sz="1700" dirty="0">
                <a:solidFill>
                  <a:srgbClr val="1F2A37"/>
                </a:solidFill>
                <a:latin typeface="Amiri" pitchFamily="34" charset="0"/>
                <a:ea typeface="Amiri" pitchFamily="34" charset="-122"/>
                <a:cs typeface="Amiri" pitchFamily="34" charset="-120"/>
              </a:rPr>
              <a:t>كُنْتُ قَدْ حَجَزْتُ</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41 / 48</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the future: ___ </a:t>
            </a:r>
            <a:pPr algn="l" indent="0" marL="0">
              <a:buNone/>
            </a:pPr>
            <a:r>
              <a:rPr lang="ar-SA" altLang="en-US" sz="1650" b="1" dirty="0">
                <a:solidFill>
                  <a:srgbClr val="1B3B6F"/>
                </a:solidFill>
                <a:latin typeface="Amiri" pitchFamily="34" charset="0"/>
                <a:ea typeface="Amiri" pitchFamily="34" charset="-122"/>
                <a:cs typeface="Amiri" pitchFamily="34" charset="-120"/>
              </a:rPr>
              <a:t>رِحْلَةً إِلَى عُمَانَ الصَّيْفَ القَادِمَ</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سَأَحْجِزُ</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حَجَزْتُ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أَحْجِزُ</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32" name="Text 29"/>
          <p:cNvSpPr txBox="1"/>
          <p:nvPr/>
        </p:nvSpPr>
        <p:spPr>
          <a:xfrm>
            <a:off x="6225845" y="1883664"/>
            <a:ext cx="1577035" cy="475488"/>
          </a:xfrm>
          <a:prstGeom prst="rect">
            <a:avLst/>
          </a:prstGeom>
          <a:noFill/>
          <a:ln/>
        </p:spPr>
        <p:txBody>
          <a:bodyPr wrap="square" lIns="0" tIns="0" rIns="0" bIns="0" rtlCol="0" anchor="ctr"/>
          <a:lstStyle/>
          <a:p>
            <a:pPr rtl="1" algn="r" indent="0" marL="0">
              <a:lnSpc>
                <a:spcPct val="120000"/>
              </a:lnSpc>
              <a:buNone/>
            </a:pPr>
            <a:r>
              <a:rPr lang="ar-SA" altLang="en-US" sz="1050" b="1" dirty="0">
                <a:solidFill>
                  <a:srgbClr val="1F2A37"/>
                </a:solidFill>
                <a:latin typeface="Amiri" pitchFamily="34" charset="0"/>
                <a:ea typeface="Amiri" pitchFamily="34" charset="-122"/>
                <a:cs typeface="Amiri" pitchFamily="34" charset="-120"/>
              </a:rPr>
              <a:t>أُقِيمُ ___ فُنْدُقٍ قَرِيبٍ مِنَ الشَّاطِئِ.</a:t>
            </a:r>
            <a:endParaRPr lang="ar-SA" sz="105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عَلَى</a:t>
            </a:r>
            <a:endParaRPr lang="ar-SA" sz="20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فِي</a:t>
            </a:r>
            <a:endParaRPr lang="ar-SA" sz="20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بِـ</a:t>
            </a:r>
            <a:endParaRPr lang="ar-SA" sz="2050" dirty="0"/>
          </a:p>
        </p:txBody>
      </p:sp>
      <p:sp>
        <p:nvSpPr>
          <p:cNvPr id="42" name="Shape 39"/>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5" name="Text 42"/>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 the Type 1:</a:t>
            </a:r>
            <a:endParaRPr lang="en-US" sz="1200" dirty="0"/>
          </a:p>
        </p:txBody>
      </p:sp>
      <p:sp>
        <p:nvSpPr>
          <p:cNvPr id="46" name="Text 43"/>
          <p:cNvSpPr txBox="1"/>
          <p:nvPr/>
        </p:nvSpPr>
        <p:spPr>
          <a:xfrm>
            <a:off x="10044989" y="1883664"/>
            <a:ext cx="1577035"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34" charset="0"/>
                <a:ea typeface="Amiri" pitchFamily="34" charset="-122"/>
                <a:cs typeface="Amiri" pitchFamily="34" charset="-120"/>
              </a:rPr>
              <a:t>إِذَا ___ مُبَكِّرًا، سَتَحْصُلُ عَلَى سِعْرٍ أَرْخَصَ.</a:t>
            </a:r>
            <a:endParaRPr lang="ar-SA" sz="100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حَجَزْتَ</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تَحْجِزُ</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سَتَحْجِزُ</a:t>
            </a:r>
            <a:endParaRPr lang="ar-SA" sz="2050" dirty="0"/>
          </a:p>
        </p:txBody>
      </p:sp>
      <p:sp>
        <p:nvSpPr>
          <p:cNvPr id="56" name="Shape 53"/>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7" name="Text 54"/>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ea typeface="Calibri" pitchFamily="34" charset="-122"/>
                <a:cs typeface="Calibri" pitchFamily="34" charset="-120"/>
              </a:rPr>
              <a:t>ON YOUR OWN · 2 MINUTES</a:t>
            </a:r>
            <a:endParaRPr lang="en-US" sz="1200" dirty="0"/>
          </a:p>
        </p:txBody>
      </p:sp>
      <p:sp>
        <p:nvSpPr>
          <p:cNvPr id="58" name="Text 55"/>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Answer silently. When the timer ends, type your three letters in the chat: 1_ 2_ 3_. The other end-of-lesson questions are on the website.</a:t>
            </a:r>
            <a:endParaRPr lang="en-US" sz="1250" dirty="0"/>
          </a:p>
        </p:txBody>
      </p:sp>
      <p:sp>
        <p:nvSpPr>
          <p:cNvPr id="59" name="Text 5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42 / 48</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the future: ___ </a:t>
            </a:r>
            <a:pPr algn="l" indent="0" marL="0">
              <a:buNone/>
            </a:pPr>
            <a:r>
              <a:rPr lang="ar-SA" altLang="en-US" sz="1650" b="1" dirty="0">
                <a:solidFill>
                  <a:srgbClr val="1B3B6F"/>
                </a:solidFill>
                <a:latin typeface="Amiri" pitchFamily="34" charset="0"/>
                <a:ea typeface="Amiri" pitchFamily="34" charset="-122"/>
                <a:cs typeface="Amiri" pitchFamily="34" charset="-120"/>
              </a:rPr>
              <a:t>رِحْلَةً إِلَى عُمَانَ الصَّيْفَ القَادِمَ</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سَأَحْجِزُ</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حَجَزْتُ</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أَحْجِزُ</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future takes </a:t>
            </a:r>
            <a:pPr algn="l" indent="0" marL="0">
              <a:buNone/>
            </a:pPr>
            <a:r>
              <a:rPr lang="ar-SA" altLang="en-US" sz="1350" dirty="0">
                <a:solidFill>
                  <a:srgbClr val="8A6D1E"/>
                </a:solidFill>
                <a:latin typeface="Amiri" pitchFamily="34" charset="0"/>
                <a:ea typeface="Amiri" pitchFamily="34" charset="-122"/>
                <a:cs typeface="Amiri" pitchFamily="34" charset="-120"/>
              </a:rPr>
              <a:t>سَـ</a:t>
            </a:r>
            <a:pPr algn="l" indent="0" marL="0">
              <a:buNone/>
            </a:pPr>
            <a:r>
              <a:rPr lang="en-US" sz="1050" i="1" dirty="0">
                <a:solidFill>
                  <a:srgbClr val="8A6D1E"/>
                </a:solidFill>
                <a:latin typeface="Calibri" pitchFamily="34" charset="0"/>
                <a:ea typeface="Calibri" pitchFamily="34" charset="-122"/>
                <a:cs typeface="Calibri" pitchFamily="34" charset="-120"/>
              </a:rPr>
              <a:t>: </a:t>
            </a:r>
            <a:pPr algn="l" indent="0" marL="0">
              <a:buNone/>
            </a:pPr>
            <a:r>
              <a:rPr lang="ar-SA" altLang="en-US" sz="1350" dirty="0">
                <a:solidFill>
                  <a:srgbClr val="8A6D1E"/>
                </a:solidFill>
                <a:latin typeface="Amiri" pitchFamily="34" charset="0"/>
                <a:ea typeface="Amiri" pitchFamily="34" charset="-122"/>
                <a:cs typeface="Amiri" pitchFamily="34" charset="-120"/>
              </a:rPr>
              <a:t>سَأَحْجِزُ</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34" name="Text 31"/>
          <p:cNvSpPr txBox="1"/>
          <p:nvPr/>
        </p:nvSpPr>
        <p:spPr>
          <a:xfrm>
            <a:off x="6225845" y="1883664"/>
            <a:ext cx="1577035" cy="475488"/>
          </a:xfrm>
          <a:prstGeom prst="rect">
            <a:avLst/>
          </a:prstGeom>
          <a:noFill/>
          <a:ln/>
        </p:spPr>
        <p:txBody>
          <a:bodyPr wrap="square" lIns="0" tIns="0" rIns="0" bIns="0" rtlCol="0" anchor="ctr"/>
          <a:lstStyle/>
          <a:p>
            <a:pPr rtl="1" algn="r" indent="0" marL="0">
              <a:lnSpc>
                <a:spcPct val="120000"/>
              </a:lnSpc>
              <a:buNone/>
            </a:pPr>
            <a:r>
              <a:rPr lang="ar-SA" altLang="en-US" sz="1050" b="1" dirty="0">
                <a:solidFill>
                  <a:srgbClr val="1F2A37"/>
                </a:solidFill>
                <a:latin typeface="Amiri" pitchFamily="34" charset="0"/>
                <a:ea typeface="Amiri" pitchFamily="34" charset="-122"/>
                <a:cs typeface="Amiri" pitchFamily="34" charset="-120"/>
              </a:rPr>
              <a:t>أُقِيمُ ___ فُنْدُقٍ قَرِيبٍ مِنَ الشَّاطِئِ.</a:t>
            </a:r>
            <a:endParaRPr lang="ar-SA" sz="1050" dirty="0"/>
          </a:p>
        </p:txBody>
      </p:sp>
      <p:sp>
        <p:nvSpPr>
          <p:cNvPr id="35" name="Shape 32"/>
          <p:cNvSpPr/>
          <p:nvPr/>
        </p:nvSpPr>
        <p:spPr>
          <a:xfrm>
            <a:off x="4459224" y="2532888"/>
            <a:ext cx="256032" cy="256032"/>
          </a:xfrm>
          <a:prstGeom prst="ellipse">
            <a:avLst/>
          </a:prstGeom>
          <a:solidFill>
            <a:srgbClr val="C9CED6"/>
          </a:solidFill>
          <a:ln w="12700">
            <a:solidFill>
              <a:srgbClr val="C9CED6"/>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عَلَى</a:t>
            </a:r>
            <a:endParaRPr lang="ar-SA" sz="2050" dirty="0"/>
          </a:p>
        </p:txBody>
      </p:sp>
      <p:sp>
        <p:nvSpPr>
          <p:cNvPr id="38" name="Shape 35"/>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9" name="Shape 36"/>
          <p:cNvSpPr/>
          <p:nvPr/>
        </p:nvSpPr>
        <p:spPr>
          <a:xfrm>
            <a:off x="4459224" y="2990088"/>
            <a:ext cx="256032" cy="256032"/>
          </a:xfrm>
          <a:prstGeom prst="ellipse">
            <a:avLst/>
          </a:prstGeom>
          <a:solidFill>
            <a:srgbClr val="2E8B57"/>
          </a:solidFill>
          <a:ln w="12700">
            <a:solidFill>
              <a:srgbClr val="2E8B57"/>
            </a:solidFill>
            <a:prstDash val="solid"/>
          </a:ln>
        </p:spPr>
      </p:sp>
      <p:sp>
        <p:nvSpPr>
          <p:cNvPr id="40" name="Text 37"/>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فِي</a:t>
            </a:r>
            <a:endParaRPr lang="ar-SA" sz="2050" dirty="0"/>
          </a:p>
        </p:txBody>
      </p:sp>
      <p:sp>
        <p:nvSpPr>
          <p:cNvPr id="42" name="Shape 39"/>
          <p:cNvSpPr/>
          <p:nvPr/>
        </p:nvSpPr>
        <p:spPr>
          <a:xfrm>
            <a:off x="4459224" y="344728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4" name="Text 41"/>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بِـ</a:t>
            </a:r>
            <a:endParaRPr lang="ar-SA" sz="2050" dirty="0"/>
          </a:p>
        </p:txBody>
      </p:sp>
      <p:sp>
        <p:nvSpPr>
          <p:cNvPr id="45" name="Text 42"/>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يُقِيمُ</a:t>
            </a:r>
            <a:pPr algn="l" indent="0" marL="0">
              <a:buNone/>
            </a:pPr>
            <a:r>
              <a:rPr lang="en-US" sz="1050" i="1" dirty="0">
                <a:solidFill>
                  <a:srgbClr val="8A6D1E"/>
                </a:solidFill>
                <a:latin typeface="Calibri" pitchFamily="34" charset="0"/>
                <a:ea typeface="Calibri" pitchFamily="34" charset="-122"/>
                <a:cs typeface="Calibri" pitchFamily="34" charset="-120"/>
              </a:rPr>
              <a:t> is fixed with </a:t>
            </a:r>
            <a:pPr algn="l" indent="0" marL="0">
              <a:buNone/>
            </a:pPr>
            <a:r>
              <a:rPr lang="ar-SA" altLang="en-US" sz="1350" dirty="0">
                <a:solidFill>
                  <a:srgbClr val="8A6D1E"/>
                </a:solidFill>
                <a:latin typeface="Amiri" pitchFamily="34" charset="0"/>
                <a:ea typeface="Amiri" pitchFamily="34" charset="-122"/>
                <a:cs typeface="Amiri" pitchFamily="34" charset="-120"/>
              </a:rPr>
              <a:t>فِي</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6" name="Shape 43"/>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9" name="Text 46"/>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 the Type 1:</a:t>
            </a:r>
            <a:endParaRPr lang="en-US" sz="1200" dirty="0"/>
          </a:p>
        </p:txBody>
      </p:sp>
      <p:sp>
        <p:nvSpPr>
          <p:cNvPr id="50" name="Text 47"/>
          <p:cNvSpPr txBox="1"/>
          <p:nvPr/>
        </p:nvSpPr>
        <p:spPr>
          <a:xfrm>
            <a:off x="10044989" y="1883664"/>
            <a:ext cx="1577035"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34" charset="0"/>
                <a:ea typeface="Amiri" pitchFamily="34" charset="-122"/>
                <a:cs typeface="Amiri" pitchFamily="34" charset="-120"/>
              </a:rPr>
              <a:t>إِذَا ___ مُبَكِّرًا، سَتَحْصُلُ عَلَى سِعْرٍ أَرْخَصَ.</a:t>
            </a:r>
            <a:endParaRPr lang="ar-SA" sz="1000" dirty="0"/>
          </a:p>
        </p:txBody>
      </p:sp>
      <p:sp>
        <p:nvSpPr>
          <p:cNvPr id="51" name="Shape 48"/>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532888"/>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حَجَزْتَ</a:t>
            </a:r>
            <a:endParaRPr lang="ar-SA" sz="2050" dirty="0"/>
          </a:p>
        </p:txBody>
      </p:sp>
      <p:sp>
        <p:nvSpPr>
          <p:cNvPr id="55" name="Shape 52"/>
          <p:cNvSpPr/>
          <p:nvPr/>
        </p:nvSpPr>
        <p:spPr>
          <a:xfrm>
            <a:off x="8278368" y="2990088"/>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تَحْجِزُ</a:t>
            </a:r>
            <a:endParaRPr lang="ar-SA" sz="2050" dirty="0"/>
          </a:p>
        </p:txBody>
      </p:sp>
      <p:sp>
        <p:nvSpPr>
          <p:cNvPr id="58" name="Shape 55"/>
          <p:cNvSpPr/>
          <p:nvPr/>
        </p:nvSpPr>
        <p:spPr>
          <a:xfrm>
            <a:off x="8278368" y="344728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سَتَحْجِزُ</a:t>
            </a:r>
            <a:endParaRPr lang="ar-SA" sz="2050" dirty="0"/>
          </a:p>
        </p:txBody>
      </p:sp>
      <p:sp>
        <p:nvSpPr>
          <p:cNvPr id="61" name="Text 58"/>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إِذَا</a:t>
            </a:r>
            <a:pPr algn="l" indent="0" marL="0">
              <a:buNone/>
            </a:pPr>
            <a:r>
              <a:rPr lang="en-US" sz="1050" i="1" dirty="0">
                <a:solidFill>
                  <a:srgbClr val="8A6D1E"/>
                </a:solidFill>
                <a:latin typeface="Calibri" pitchFamily="34" charset="0"/>
                <a:ea typeface="Calibri" pitchFamily="34" charset="-122"/>
                <a:cs typeface="Calibri" pitchFamily="34" charset="-120"/>
              </a:rPr>
              <a:t> takes a past-form verb.</a:t>
            </a:r>
            <a:endParaRPr lang="en-US" sz="1050" dirty="0"/>
          </a:p>
        </p:txBody>
      </p:sp>
      <p:sp>
        <p:nvSpPr>
          <p:cNvPr id="62" name="Shape 59"/>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3" name="Text 60"/>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ea typeface="Calibri" pitchFamily="34" charset="-122"/>
                <a:cs typeface="Calibri" pitchFamily="34" charset="-120"/>
              </a:rPr>
              <a:t>SCORE</a:t>
            </a:r>
            <a:endParaRPr lang="en-US" sz="1200" dirty="0"/>
          </a:p>
        </p:txBody>
      </p:sp>
      <p:sp>
        <p:nvSpPr>
          <p:cNvPr id="64" name="Text 61"/>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 → aim for Stretch next lesson  ·  2/3 → Develop  ·  0–1 → Core route and a quick check-in during the next Do Now.</a:t>
            </a:r>
            <a:endParaRPr lang="en-US" sz="125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43 / 48</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a traveller's plan</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500" dirty="0">
                <a:solidFill>
                  <a:srgbClr val="1F2A37"/>
                </a:solidFill>
                <a:latin typeface="Amiri" pitchFamily="34" charset="0"/>
                <a:ea typeface="Amiri" pitchFamily="34" charset="-122"/>
                <a:cs typeface="Amiri" pitchFamily="34" charset="-120"/>
              </a:rPr>
              <a:t>عِنْدَمَا أُخَطِّطُ لِرِحْلَةٍ، أَبْدَأُ بِالأَسَاسِيَّاتِ. أَحْجِزُ تَذْكِرَةَ الطَّائِرَةِ مُبَكِّرًا، وَأُجَدِّدُ جَوَازَ سَفَرِي، وَأَشْتَرِي تَأْمِينَ سَفَرٍ. فِي رِحْلَتِي الأَخِيرَةِ، كُنْتُ قَدْ حَجَزْتُ الفُنْدُقَ قَبْلَ شَهْرٍ، وَأَقَمْتُ فِي شَقَّةٍ مَفْرُوشَةٍ قَرِيبَةٍ مِنَ المَرْكَزِ. وَأَشَارَ المُنَظِّمُ إِلَى أَنَّهُ إِذَا سَجَّلْتُ الوُصُولَ إِلِكْتْرُونِيًّا، سَأُوَفِّرُ وَقْتًا فِي المَطَارِ. أَمَّا هٰذِهِ السَّنَةَ فَسَأَحْجِزُ رِحْلَةً إِلَى عُمَانَ، وَسَأُقِيمُ فِي نُزُلٍ جَبَلِيٍّ. وَلَوْ كُنْتُ قَدْ حَجَزْتُ قَبْلَ العُطْلَةِ الرَّسْمِيَّةِ، لَحَصَلْتُ عَلَى سِعْرٍ أَرْخَصَ. لِذٰلِكَ أَنْصَحُ دَائِمًا بِالحَجْزِ المُبَكِّرِ.</a:t>
            </a:r>
            <a:endParaRPr lang="ar-SA" sz="25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KEY WORDS</a:t>
            </a:r>
            <a:endParaRPr lang="en-US" sz="1000" dirty="0"/>
          </a:p>
        </p:txBody>
      </p:sp>
      <p:sp>
        <p:nvSpPr>
          <p:cNvPr id="21" name="Text 18"/>
          <p:cNvSpPr txBox="1"/>
          <p:nvPr/>
        </p:nvSpPr>
        <p:spPr>
          <a:xfrm>
            <a:off x="10102291" y="221284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أُخَطِّطُ لِـ</a:t>
            </a:r>
            <a:endParaRPr lang="ar-SA" sz="1600" dirty="0"/>
          </a:p>
        </p:txBody>
      </p:sp>
      <p:sp>
        <p:nvSpPr>
          <p:cNvPr id="22" name="Text 19"/>
          <p:cNvSpPr txBox="1"/>
          <p:nvPr/>
        </p:nvSpPr>
        <p:spPr>
          <a:xfrm>
            <a:off x="8851392" y="221284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I plan (for)</a:t>
            </a:r>
            <a:endParaRPr lang="en-US" sz="1050" dirty="0"/>
          </a:p>
        </p:txBody>
      </p:sp>
      <p:sp>
        <p:nvSpPr>
          <p:cNvPr id="23" name="Text 20"/>
          <p:cNvSpPr txBox="1"/>
          <p:nvPr/>
        </p:nvSpPr>
        <p:spPr>
          <a:xfrm>
            <a:off x="10102291" y="257860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الأَسَاسِيَّاتُ</a:t>
            </a:r>
            <a:endParaRPr lang="ar-SA" sz="1600" dirty="0"/>
          </a:p>
        </p:txBody>
      </p:sp>
      <p:sp>
        <p:nvSpPr>
          <p:cNvPr id="24" name="Text 21"/>
          <p:cNvSpPr txBox="1"/>
          <p:nvPr/>
        </p:nvSpPr>
        <p:spPr>
          <a:xfrm>
            <a:off x="8851392" y="257860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basics</a:t>
            </a:r>
            <a:endParaRPr lang="en-US" sz="1050" dirty="0"/>
          </a:p>
        </p:txBody>
      </p:sp>
      <p:sp>
        <p:nvSpPr>
          <p:cNvPr id="25" name="Text 22"/>
          <p:cNvSpPr txBox="1"/>
          <p:nvPr/>
        </p:nvSpPr>
        <p:spPr>
          <a:xfrm>
            <a:off x="10102291" y="294436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الطَّائِرَةُ</a:t>
            </a:r>
            <a:endParaRPr lang="ar-SA" sz="1600" dirty="0"/>
          </a:p>
        </p:txBody>
      </p:sp>
      <p:sp>
        <p:nvSpPr>
          <p:cNvPr id="26" name="Text 23"/>
          <p:cNvSpPr txBox="1"/>
          <p:nvPr/>
        </p:nvSpPr>
        <p:spPr>
          <a:xfrm>
            <a:off x="8851392" y="294436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plane</a:t>
            </a:r>
            <a:endParaRPr lang="en-US" sz="1050" dirty="0"/>
          </a:p>
        </p:txBody>
      </p:sp>
      <p:sp>
        <p:nvSpPr>
          <p:cNvPr id="27" name="Text 24"/>
          <p:cNvSpPr txBox="1"/>
          <p:nvPr/>
        </p:nvSpPr>
        <p:spPr>
          <a:xfrm>
            <a:off x="10102291" y="331012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أُجَدِّدُ</a:t>
            </a:r>
            <a:endParaRPr lang="ar-SA" sz="1600" dirty="0"/>
          </a:p>
        </p:txBody>
      </p:sp>
      <p:sp>
        <p:nvSpPr>
          <p:cNvPr id="28" name="Text 25"/>
          <p:cNvSpPr txBox="1"/>
          <p:nvPr/>
        </p:nvSpPr>
        <p:spPr>
          <a:xfrm>
            <a:off x="8851392" y="331012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I renew</a:t>
            </a:r>
            <a:endParaRPr lang="en-US" sz="1050" dirty="0"/>
          </a:p>
        </p:txBody>
      </p:sp>
      <p:sp>
        <p:nvSpPr>
          <p:cNvPr id="29" name="Text 26"/>
          <p:cNvSpPr txBox="1"/>
          <p:nvPr/>
        </p:nvSpPr>
        <p:spPr>
          <a:xfrm>
            <a:off x="10102291" y="367588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أَشْتَرِي</a:t>
            </a:r>
            <a:endParaRPr lang="ar-SA" sz="1600" dirty="0"/>
          </a:p>
        </p:txBody>
      </p:sp>
      <p:sp>
        <p:nvSpPr>
          <p:cNvPr id="30" name="Text 27"/>
          <p:cNvSpPr txBox="1"/>
          <p:nvPr/>
        </p:nvSpPr>
        <p:spPr>
          <a:xfrm>
            <a:off x="8851392" y="367588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I buy</a:t>
            </a:r>
            <a:endParaRPr lang="en-US" sz="1050" dirty="0"/>
          </a:p>
        </p:txBody>
      </p:sp>
      <p:sp>
        <p:nvSpPr>
          <p:cNvPr id="31" name="Text 28"/>
          <p:cNvSpPr txBox="1"/>
          <p:nvPr/>
        </p:nvSpPr>
        <p:spPr>
          <a:xfrm>
            <a:off x="10102291" y="404164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الأَخِيرَةُ</a:t>
            </a:r>
            <a:endParaRPr lang="ar-SA" sz="1600" dirty="0"/>
          </a:p>
        </p:txBody>
      </p:sp>
      <p:sp>
        <p:nvSpPr>
          <p:cNvPr id="32" name="Text 29"/>
          <p:cNvSpPr txBox="1"/>
          <p:nvPr/>
        </p:nvSpPr>
        <p:spPr>
          <a:xfrm>
            <a:off x="8851392" y="404164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last</a:t>
            </a:r>
            <a:endParaRPr lang="en-US" sz="1050" dirty="0"/>
          </a:p>
        </p:txBody>
      </p:sp>
      <p:sp>
        <p:nvSpPr>
          <p:cNvPr id="33" name="Text 30"/>
          <p:cNvSpPr txBox="1"/>
          <p:nvPr/>
        </p:nvSpPr>
        <p:spPr>
          <a:xfrm>
            <a:off x="10102291" y="440740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المَرْكَزُ</a:t>
            </a:r>
            <a:endParaRPr lang="ar-SA" sz="1600" dirty="0"/>
          </a:p>
        </p:txBody>
      </p:sp>
      <p:sp>
        <p:nvSpPr>
          <p:cNvPr id="34" name="Text 31"/>
          <p:cNvSpPr txBox="1"/>
          <p:nvPr/>
        </p:nvSpPr>
        <p:spPr>
          <a:xfrm>
            <a:off x="8851392" y="440740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centre</a:t>
            </a:r>
            <a:endParaRPr lang="en-US" sz="1050" dirty="0"/>
          </a:p>
        </p:txBody>
      </p:sp>
      <p:sp>
        <p:nvSpPr>
          <p:cNvPr id="35" name="Text 32"/>
          <p:cNvSpPr txBox="1"/>
          <p:nvPr/>
        </p:nvSpPr>
        <p:spPr>
          <a:xfrm>
            <a:off x="10102291" y="477316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المُنَظِّمُ</a:t>
            </a:r>
            <a:endParaRPr lang="ar-SA" sz="1600" dirty="0"/>
          </a:p>
        </p:txBody>
      </p:sp>
      <p:sp>
        <p:nvSpPr>
          <p:cNvPr id="36" name="Text 33"/>
          <p:cNvSpPr txBox="1"/>
          <p:nvPr/>
        </p:nvSpPr>
        <p:spPr>
          <a:xfrm>
            <a:off x="8851392" y="477316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organiser</a:t>
            </a:r>
            <a:endParaRPr lang="en-US" sz="1050" dirty="0"/>
          </a:p>
        </p:txBody>
      </p:sp>
      <p:sp>
        <p:nvSpPr>
          <p:cNvPr id="37" name="Text 34"/>
          <p:cNvSpPr txBox="1"/>
          <p:nvPr/>
        </p:nvSpPr>
        <p:spPr>
          <a:xfrm>
            <a:off x="10102291" y="513892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سَجَّلْتُ الوُصُولَ</a:t>
            </a:r>
            <a:endParaRPr lang="ar-SA" sz="1600" dirty="0"/>
          </a:p>
        </p:txBody>
      </p:sp>
      <p:sp>
        <p:nvSpPr>
          <p:cNvPr id="38" name="Text 35"/>
          <p:cNvSpPr txBox="1"/>
          <p:nvPr/>
        </p:nvSpPr>
        <p:spPr>
          <a:xfrm>
            <a:off x="8851392" y="513892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I checked in</a:t>
            </a:r>
            <a:endParaRPr lang="en-US" sz="1050" dirty="0"/>
          </a:p>
        </p:txBody>
      </p:sp>
      <p:sp>
        <p:nvSpPr>
          <p:cNvPr id="39" name="Text 36"/>
          <p:cNvSpPr txBox="1"/>
          <p:nvPr/>
        </p:nvSpPr>
        <p:spPr>
          <a:xfrm>
            <a:off x="10102291" y="550468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نُزُلٌ جَبَلِيٌّ</a:t>
            </a:r>
            <a:endParaRPr lang="ar-SA" sz="1600" dirty="0"/>
          </a:p>
        </p:txBody>
      </p:sp>
      <p:sp>
        <p:nvSpPr>
          <p:cNvPr id="40" name="Text 37"/>
          <p:cNvSpPr txBox="1"/>
          <p:nvPr/>
        </p:nvSpPr>
        <p:spPr>
          <a:xfrm>
            <a:off x="8851392" y="550468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a mountain lodge</a:t>
            </a:r>
            <a:endParaRPr lang="en-US" sz="1050" dirty="0"/>
          </a:p>
        </p:txBody>
      </p:sp>
      <p:sp>
        <p:nvSpPr>
          <p:cNvPr id="41" name="Text 38"/>
          <p:cNvSpPr txBox="1"/>
          <p:nvPr/>
        </p:nvSpPr>
        <p:spPr>
          <a:xfrm>
            <a:off x="10102291" y="587044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العُطْلَةُ الرَّسْمِيَّةُ</a:t>
            </a:r>
            <a:endParaRPr lang="ar-SA" sz="1600" dirty="0"/>
          </a:p>
        </p:txBody>
      </p:sp>
      <p:sp>
        <p:nvSpPr>
          <p:cNvPr id="42" name="Text 39"/>
          <p:cNvSpPr txBox="1"/>
          <p:nvPr/>
        </p:nvSpPr>
        <p:spPr>
          <a:xfrm>
            <a:off x="8851392" y="587044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public holiday</a:t>
            </a:r>
            <a:endParaRPr lang="en-US" sz="10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44 / 48</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traveller do first when planning?</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Packs a bag</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Books the flight, renews the passport, buys insurance</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Nothing</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did the traveller stay last trip?</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five-star hotel</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With relatives</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furnished apartment near the centre</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did the organiser indicate (Type 1)?</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Online check-in saves time at the airport</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airport is closed</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Check-in is impossible</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this year's plan?</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Stay home</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Book a trip to Oman and stay in a mountain lodge</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Cancel travel</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counterfactual about booking earlier (Type 2)?</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They would have got a cheaper price</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price would have risen</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Nothing would change</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45 / 48</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traveller do first when planning?</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Packs a bag</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Books the flight, renews the passport, buys insurance</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Nothing</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100" dirty="0">
                <a:solidFill>
                  <a:srgbClr val="8A6D1E"/>
                </a:solidFill>
                <a:latin typeface="Amiri" pitchFamily="34" charset="0"/>
                <a:ea typeface="Amiri" pitchFamily="34" charset="-122"/>
                <a:cs typeface="Amiri" pitchFamily="34" charset="-120"/>
              </a:rPr>
              <a:t>أَحْجِزُ تَذْكِرَةَ الطَّائِرَةِ مُبَكِّرًا، وَأُجَدِّدُ جَوَازَ سَفَرِي، وَأَشْتَرِي تَأْمِينَ سَفَرٍ.</a:t>
            </a:r>
            <a:endParaRPr lang="ar-SA" sz="110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did the traveller stay last trip?</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five-star hotel</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With relatives</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ea typeface="Calibri" pitchFamily="34" charset="-122"/>
                <a:cs typeface="Calibri" pitchFamily="34" charset="-120"/>
              </a:rPr>
              <a:t>A furnished apartment near the centre</a:t>
            </a:r>
            <a:endParaRPr lang="en-US" sz="120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وَأَقَمْتُ فِي شَقَّةٍ مَفْرُوشَةٍ قَرِيبَةٍ مِنَ المَرْكَزِ.</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did the organiser indicate (Type 1)?</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Online check-in saves time at the airport</a:t>
            </a:r>
            <a:endParaRPr lang="en-US" sz="11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airport is closed</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Check-in is impossible</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إِذَا سَجَّلْتُ الوُصُولَ إِلِكْتْرُونِيًّا، سَأُوَفِّرُ وَقْتًا فِي المَطَارِ.</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this year's plan?</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Stay home</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Book a trip to Oman and stay in a mountain lodge</a:t>
            </a:r>
            <a:endParaRPr lang="en-US" sz="11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Cancel travel</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سَأَحْجِزُ رِحْلَةً إِلَى عُمَانَ، وَسَأُقِيمُ فِي نُزُلٍ جَبَلِيٍّ.</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counterfactual about booking earlier (Type 2)?</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They would have got a cheaper price</a:t>
            </a:r>
            <a:endParaRPr lang="en-US" sz="12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price would have risen</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Nothing would change</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200" dirty="0">
                <a:solidFill>
                  <a:srgbClr val="8A6D1E"/>
                </a:solidFill>
                <a:latin typeface="Amiri" pitchFamily="34" charset="0"/>
                <a:ea typeface="Amiri" pitchFamily="34" charset="-122"/>
                <a:cs typeface="Amiri" pitchFamily="34" charset="-120"/>
              </a:rPr>
              <a:t>لَوْ كُنْتُ قَدْ حَجَزْتُ قَبْلَ العُطْلَةِ الرَّسْمِيَّةِ، لَحَصَلْتُ عَلَى سِعْرٍ أَرْخَصَ.</a:t>
            </a:r>
            <a:endParaRPr lang="ar-SA" sz="120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46 / 48</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TC-L08: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TC-L08 · Buildings, Services and Urban Areas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مُسْتَشْفًى</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hospital</a:t>
            </a:r>
            <a:pPr indent="0" marL="0">
              <a:buNone/>
            </a:pPr>
            <a:r>
              <a:rPr lang="en-US" sz="1000" i="1" dirty="0">
                <a:solidFill>
                  <a:srgbClr val="5A6472"/>
                </a:solidFill>
                <a:latin typeface="Calibri" pitchFamily="34" charset="0"/>
                <a:ea typeface="Calibri" pitchFamily="34" charset="-122"/>
                <a:cs typeface="Calibri" pitchFamily="34" charset="-120"/>
              </a:rPr>
              <a:t>  pl. مُسْتَشْفَيَاتٌ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بَنْكٌ</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bank</a:t>
            </a:r>
            <a:pPr indent="0" marL="0">
              <a:buNone/>
            </a:pPr>
            <a:r>
              <a:rPr lang="en-US" sz="1000" i="1" dirty="0">
                <a:solidFill>
                  <a:srgbClr val="5A6472"/>
                </a:solidFill>
                <a:latin typeface="Calibri" pitchFamily="34" charset="0"/>
                <a:ea typeface="Calibri" pitchFamily="34" charset="-122"/>
                <a:cs typeface="Calibri" pitchFamily="34" charset="-120"/>
              </a:rPr>
              <a:t>  pl. بُنُوكٌ</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مَكْتَبَةٌ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library</a:t>
            </a:r>
            <a:pPr indent="0" marL="0">
              <a:buNone/>
            </a:pPr>
            <a:r>
              <a:rPr lang="en-US" sz="1000" i="1" dirty="0">
                <a:solidFill>
                  <a:srgbClr val="5A6472"/>
                </a:solidFill>
                <a:latin typeface="Calibri" pitchFamily="34" charset="0"/>
                <a:ea typeface="Calibri" pitchFamily="34" charset="-122"/>
                <a:cs typeface="Calibri" pitchFamily="34" charset="-120"/>
              </a:rPr>
              <a:t>  pl. مَكْتَبَاتٌ</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مَقْهًى</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café</a:t>
            </a:r>
            <a:pPr indent="0" marL="0">
              <a:buNone/>
            </a:pPr>
            <a:r>
              <a:rPr lang="en-US" sz="1000" i="1" dirty="0">
                <a:solidFill>
                  <a:srgbClr val="5A6472"/>
                </a:solidFill>
                <a:latin typeface="Calibri" pitchFamily="34" charset="0"/>
                <a:ea typeface="Calibri" pitchFamily="34" charset="-122"/>
                <a:cs typeface="Calibri" pitchFamily="34" charset="-120"/>
              </a:rPr>
              <a:t>  pl. مَقَاهٍ</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مَحَطَّةُ القِطَارِ</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train station</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Write one Arabic sentence: which places are there in your town?</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مَاذَا يُوجَدُ فِي مَدِينَتِكَ؟</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TC-L07 · play “Document Detective”, then the vocabulary mission.</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Write a message to a friend with three instructions for a trip: </a:t>
            </a:r>
            <a:pPr algn="l" indent="0" marL="0">
              <a:buNone/>
            </a:pPr>
            <a:r>
              <a:rPr lang="ar-SA" altLang="en-US" sz="1550" dirty="0">
                <a:solidFill>
                  <a:srgbClr val="1F2A37"/>
                </a:solidFill>
                <a:latin typeface="Amiri" pitchFamily="34" charset="0"/>
                <a:ea typeface="Amiri" pitchFamily="34" charset="-122"/>
                <a:cs typeface="Amiri" pitchFamily="34" charset="-120"/>
              </a:rPr>
              <a:t>اِحْجِزْ</a:t>
            </a:r>
            <a:pPr algn="l" indent="0" marL="0">
              <a:buNone/>
            </a:pPr>
            <a:r>
              <a:rPr lang="en-US" sz="1200" dirty="0">
                <a:solidFill>
                  <a:srgbClr val="1F2A37"/>
                </a:solidFill>
                <a:latin typeface="Calibri" pitchFamily="34" charset="0"/>
                <a:ea typeface="Calibri" pitchFamily="34" charset="-122"/>
                <a:cs typeface="Calibri" pitchFamily="34" charset="-120"/>
              </a:rPr>
              <a:t> · </a:t>
            </a:r>
            <a:pPr algn="l" indent="0" marL="0">
              <a:buNone/>
            </a:pPr>
            <a:r>
              <a:rPr lang="ar-SA" altLang="en-US" sz="1550" dirty="0">
                <a:solidFill>
                  <a:srgbClr val="1F2A37"/>
                </a:solidFill>
                <a:latin typeface="Amiri" pitchFamily="34" charset="0"/>
                <a:ea typeface="Amiri" pitchFamily="34" charset="-122"/>
                <a:cs typeface="Amiri" pitchFamily="34" charset="-120"/>
              </a:rPr>
              <a:t>أَحْضِرْ</a:t>
            </a:r>
            <a:pPr algn="l" indent="0" marL="0">
              <a:buNone/>
            </a:pPr>
            <a:r>
              <a:rPr lang="en-US" sz="1200" dirty="0">
                <a:solidFill>
                  <a:srgbClr val="1F2A37"/>
                </a:solidFill>
                <a:latin typeface="Calibri" pitchFamily="34" charset="0"/>
                <a:ea typeface="Calibri" pitchFamily="34" charset="-122"/>
                <a:cs typeface="Calibri" pitchFamily="34" charset="-120"/>
              </a:rPr>
              <a:t> · </a:t>
            </a:r>
            <a:pPr algn="l" indent="0" marL="0">
              <a:buNone/>
            </a:pPr>
            <a:r>
              <a:rPr lang="ar-SA" altLang="en-US" sz="1550" dirty="0">
                <a:solidFill>
                  <a:srgbClr val="1F2A37"/>
                </a:solidFill>
                <a:latin typeface="Amiri" pitchFamily="34" charset="0"/>
                <a:ea typeface="Amiri" pitchFamily="34" charset="-122"/>
                <a:cs typeface="Amiri" pitchFamily="34" charset="-120"/>
              </a:rPr>
              <a:t>سَجِّلْ</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TC-L07 · “Booking Mission” (14 rounds) and the reading “A traveller’s plan”.</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47 / 48</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TC-L07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TC-L08 · Buildings, Services and Urban Areas</a:t>
            </a:r>
            <a:endParaRPr lang="en-US" sz="22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المَبَانِي وَالخَدَمَاتُ وَالمَنَاطِقُ الحَضَرِيَّةُ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5 words + 1 sentence before next lesson.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TC-L07 · Documents, Texts and Digital Information</dc:title>
  <dc:subject>PptxGenJS Presentation</dc:subject>
  <dc:creator>Al Madina Online School · Arabic Department</dc:creator>
  <cp:lastModifiedBy>Al Madina Online School · Arabic Department</cp:lastModifiedBy>
  <cp:revision>1</cp:revision>
  <dcterms:created xsi:type="dcterms:W3CDTF">2026-09-27T08:24:10Z</dcterms:created>
  <dcterms:modified xsi:type="dcterms:W3CDTF">2026-09-27T08:24:10Z</dcterms:modified>
</cp:coreProperties>
</file>