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7 (TC-L07). The website lesson reuses P3-L02 (Planning a Trip — Booking, Itineraries and Travel Documents) with the Topic C focus “Interpret messages, forms, webpages and instructions critically” (grammar: imperatives; passive; relative pronouns). The picture match is the website lesson game “Document Detective”; the “digital document sort” is the website’s advanced application challenge. The booking-confirmation document is teacher-made using only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P3-L02 is B1+ language. CORE: travel-document words + the two website verbs in the present and future (أَحْجِزُ / سَأَحْجِزُ · أُقِيمُ فِي / سَأُقِيمُ فِي) + reading a short booking confirmation for key facts. DEVELOP: the past and past perfect (حَجَزْتُ · كُنْتُ قَدْ حَجَزْتُ), instructions on forms (imperatives) and الَّذِي / الَّتِي. STRETCH: the website’s two conditional types.
• Tense table with colour (blue = WHO, teal = time marker), transliteration, picture match, a “document detective” reading with a glossary, and a read-along listening with English.
• Urdu bridge words (سفر، مسافر، جدول، وزن، مدت).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TC-L06 and TC-L05.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verb shows TIME: before (حَجَزْتُ), now (أَحْجِزُ), later (سَأَحْجِزُ).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(interpret messages, forms and instructions). The website objectives on the left are the P3-L02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(journey — جَوَازُ سَفَرٍ “permit for travel”), مسافر (traveller), جدول (table — جَدْوَلُ رِحْلَةٍ = itinerary), وزن (weight — وَزْنُ الأَمْتِعَةِ), مدت (period — مُدَّةُ الرِّحْلَةِ).
Groups 1–4 are the website P3-L02 vocabulary (تَذْكِرَة from the website reading); Group 5 turns website verbs into instructions (imperatives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Booking and documents (website P3-L02; تَذْكِرَةُ الطَّائِرَةِ from the website reading). Hear → Say → See → Use.
Gesture: hold up a passport (open hands like a small book), stamp it (visa), tear a ticket, tick a box (booking).
Website game: هٰذَا جَوَازُ سَفَرٍ = This is a passport.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at the airport (website P3-L02). Develop / Stretch; Core students listen and repeat. All but one are iḍāfa phrases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Accommodation (website P3-L02). Website teaching point: “Use يُقِيمُ فِي for staying at a hotel — it is the formal choice, not يَسْكُنُ.”
Also on the website: فُنْدُقٌ بِخَمْسِ نُجُومٍ (a five-star hotel).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“The 2028 verbs across tenses” (present, past, future, past perfect of يَحْجِزُ and يُقِيمُ فِي), with website examples from the grammar rules and listening.
Colour: blue = WHO. In the present and future WHO is at the START (أَـ / أُـ = I); in the past WHO moves to the END (ـتُ = I). Teal = the time marker (سَـ = will · كُنْتُ قَدْ = had).
• CORE: rows 1–2 (now and later). • DEVELOP: add row 3. • STRETCH: all four.
Website teaching point: “Present أَحْجِزُ، past حَجَزْتُ، future سَأَحْجِزُ، past perfect كُنْتُ قَدْ حَجَزْتُ.”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instructions (imperatives), the Topic C grammar focus for reading forms and messages. These are teacher-made from website verbs: يَحْجِزُ، يُجَدِّدُ (أُجَدِّدُ جَوَازَ سَفَرِي), يُسَجِّلُ الوُصُولَ, يَشْتَرِي (أَشْتَرِي تَأْمِينَ سَفَرٍ), and the common instruction verbs أَحْضِرْ / اِقْرَأْ.
Rule of thumb for Core: an instruction has NO person letter at the start and a sukūn at the end — “Do it!”. Examples on forms: أَحْضِرْ جَوَازَ سَفَرِكَ · اِحْجِزْ مُبَكِّرًا · سَجِّلِ الوُصُولَ إِلِكْتْرُونِيًّا.
Stretch: notice the vowel before the root: اِحْجِزْ / اِقْرَأْ / اِشْتَرِ (i-) vs أَحْضِرْ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reading documents. Card 1 is the website rule “يُقِيمُ فِي” (website example). Cards 2–3 are the Topic C focus (imperatives; passive) as it appears in real messages — teacher-made examples used in today’s booking confirmation.
Website common error: “Dropping the فِي after يُقِيمُ, or using a present verb after إِذَا / لَوْ. يُقِيمُ takes فِي, and both conditionals take a past-form verb in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relative pronouns (Topic C grammar focus; FLEX — Develop / Stretch). Teacher-made phrases from website language: listening (جَدَّدْتُ جَوَازَ سَفَرِي · التَّأْشِيرَةُ فَقَدْ حَصَلْتُ عَلَيْهَا إِلِكْتْرُونِيًّا) and the website game (تُؤَكِّدُ الرِّسَالَةُ … المَوْعِدَ).
Stretch: notice the “it” pronoun at the end (ـهُ / عَلَيْهَا) — TC-L06 pronoun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present/past/future, past perfect, Type 1 (إِذَا حَجَزْتَ … سَـ) and Type 2 (لَوْ حَجَزْتُ … لَـ) with يُقِيمُ فِي. Website overview: “يَحْجِزُ and يُقِيمُ conjugated across the present, past, future, past perfect and both conditional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plan into their books.
Step 1 — “Later → سَـ: سَأَحْجِزُ رِحْلَةً إِلَى مَرَّاكُشَ.”
Step 2 — “Before → past: جَدَّدْتُ. In the past the ‘I’ is at the END: ـتُ.”
Step 3 — “Stay → سَأُقِيمُ فِي — never without فِي.”
Step 4 — “An instruction for a friend: اِحْجِزْ مُبَكِّرًا! — no person letter, just ‘Do it!’.”
Built from website language: grammar example (سَأَحْجِزُ رِحْلَةً إِلَى مَرَّاكُشَ), listening (جَدَّدْتُ جَوَازَ سَفَرِي · سَأُقِيمُ فِي رِيَاضٍ تَقْلِيدِيٍّ فِي المَدِينَةِ القَدِيمَةِ), reading (أَنْصَحُ دَائِمًا بِالحَجْزِ المُبَكِّرِ).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(change the document / the place). • Develop: copy 3 with a different time. • Stretch: copy 4 and add a Type 1 conditional (website pattern: إِذَا حَجَزْتَ مُبَكِّرًا، سَتَحْصُلُ عَلَى سِعْرٍ أَرْخَصَ).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DETECTIVE (2 min reading) — Topic C focus “Interpret messages, forms, webpages and instructions critically”, and the website application “Digital document sort … extract the key fact needed for a realistic task”.
The document is teacher-made using only website vocabulary (P3-L02 words + the website game). Read it aloud once while students follow. SEND: cover the text and uncover one line at a time; Core students use the glossary.
Point out the three “document” structures: تَمَّ حَجْزُ (has been booked), the instructions أَحْضِرْ / سَجِّلْ, and the future سَتُقِيمُ فِي.
Translation for the teacher: Booking confirmation. Thank you! Your trip to Marrakesh has been booked. Departure time: Saturday, 10 a.m. Gate: 12 · Economy class. Baggage weight: 20 kg only. You will stay in a five-star hotel near the old city. Important: bring your passport and visa, and check in online before the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DETECTIVE questions (teacher-made). Students type five letters in the chat. Core: questions 1, 2 and 5 with the key-word clues. Stretch: explain what تَمَّ حَجْزُ means and why it is useful in official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document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3, 4,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يَقُولُ المُسَافِرُ: كُنْتُ قَدْ حَجَزْتُ رِحْلَتِي إِلَى مَرَّاكُشَ قَبْلَ شَهْرَيْنِ، وَكُنْتُ قَدْ جَدَّدْتُ جَوَازَ سَفَرِي. أَحْجِزُ دَائِمًا تَذَاكِرِي مُبَكِّرًا لِأَحْصُلَ عَلَى الدَّرَجَةِ الاِقْتِصَادِيَّةِ بِسِعْرٍ مُنَاسِبٍ. سَأُقِيمُ فِي رِيَاضٍ تَقْلِيدِيٍّ فِي المَدِينَةِ القَدِيمَةِ. وَأَشَارَ دَلِيلُ السَّفَرِ إِلَى أَنَّهُ إِذَا وَصَلْتُ مُبَكِّرًا، سَأَزُورُ سُوقَ الجُدَيْدَةِ قَبْلَ الزِّحَامِ. أَمَّا التَّأْشِيرَةُ فَقَدْ حَصَلْتُ عَلَيْهَا إِلِكْتْرُونِيًّا. وَلَوْ حَجَزْتُ فِي فُنْدُقٍ حَدِيثٍ خَارِجَ المَدِينَةِ، لَفَقَدْتُ سِحْرَ الأَحْيَاءِ القَدِيمَةِ. سَأَحْمِلُ حَقِيبَةً وَاحِدَةً فَقَطْ لِأَتَجَنَّبَ رُسُومَ الأَمْتِعَةِ الزَّائِدَةِ.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حَجَزْتَ فِي مَكَانٍ آخَرَ؟ (Type 2)
B: لَوْ حَجَزْتُ فِي فُنْدُقٍ حَدِيثٍ، لَفَقَدْتُ سِحْرَ المَدِينَةِ القَدِيمَةِ. (Type 2 counterfactual)
Core prompt (teacher-made; it is the preparation question): “Which documents do you need to travel?” — answered with the Core stem, e.g. أَحْتَاجُ إِلَى جَوَازِ سَفَرٍ وَتَذْكِرَةٍ.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يَحْجِزُ and يُقِيمُ in the present, past and future. · Develop — Add a past perfect and a Type 1 conditional. · Stretch — Write a full itinerary day using four structures, including a Type 2 counterfactual.
Website writing task (Stretch): Write a day-by-day itinerary of one hundred to one hundred and ten words for a trip to an Arab city. Open with a past perfect (كُنْتُ قَدْ حَجَزْتُ), use يُقِيمُ فِي, at least one Type 1 conditional, a reported recommendation, and one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future verbs with سَـ and the places after فِي; Stretch find both conditionals.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(TC-L08 · Buildings, Services and Urban Areas) will spend class time USING this language, so students prepare it tonight — short, simple, easy to access (school guidance: “Simple, Short, Interesting, Relevant, Easy to access”). The five words come from the website lesson game “Town Map” and the Topic C “Towns, Buildings, Services &amp; Shopping”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3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Documents, Texts and Digital Information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الوَثَائِقُ وَالنُّصُوصُ وَالمَعْلُومَاتُ الرَّقْمِيَّةُ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Interpret messages, forms and instructions: travel documents, booking and staying in every tense (</a:t>
            </a:r>
            <a:pPr algn="l" indent="0" marL="0">
              <a:buNone/>
            </a:pPr>
            <a:r>
              <a:rPr lang="ar-SA" altLang="en-US" sz="1800" dirty="0">
                <a:solidFill>
                  <a:srgbClr val="C6D2E6"/>
                </a:solidFill>
                <a:latin typeface="Amiri" pitchFamily="34" charset="0"/>
                <a:ea typeface="Amiri" pitchFamily="34" charset="-122"/>
                <a:cs typeface="Amiri" pitchFamily="34" charset="-120"/>
              </a:rPr>
              <a:t>أَحْجِزُ</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حَجَزْتُ</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سَأَحْجِزُ</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أُقِيمُ فِي</a:t>
            </a:r>
            <a:pPr algn="l" indent="0" marL="0">
              <a:buNone/>
            </a:pPr>
            <a:r>
              <a:rPr lang="en-US" sz="1400" dirty="0">
                <a:solidFill>
                  <a:srgbClr val="C6D2E6"/>
                </a:solidFill>
                <a:latin typeface="Calibri" pitchFamily="34" charset="0"/>
                <a:ea typeface="Calibri" pitchFamily="34" charset="-122"/>
                <a:cs typeface="Calibri" pitchFamily="34" charset="-120"/>
              </a:rPr>
              <a:t>) and the instructions found on forms (</a:t>
            </a:r>
            <a:pPr algn="l" indent="0" marL="0">
              <a:buNone/>
            </a:pPr>
            <a:r>
              <a:rPr lang="ar-SA" altLang="en-US" sz="1800" dirty="0">
                <a:solidFill>
                  <a:srgbClr val="C6D2E6"/>
                </a:solidFill>
                <a:latin typeface="Amiri" pitchFamily="34" charset="0"/>
                <a:ea typeface="Amiri" pitchFamily="34" charset="-122"/>
                <a:cs typeface="Amiri" pitchFamily="34" charset="-120"/>
              </a:rPr>
              <a:t>أَحْضِرْ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سَجِّلْ</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TC-L07 · Week 3,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Document words, then book / stay in every tense.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read a document,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“passport”?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جَوَازُ سَفَرٍ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ticket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أَتَفَاعَلُ عَلَى المُعَلِّمِ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أَتَفَاعَلُ عَنِ المُعَلِّمِ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أَتَفَاعَلُ مَعَ المُعَلِّمِ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 must”?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send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sends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send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“passport”?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تَذْكِرَةٌ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جَوَازُ سَفَرٍ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جَوَازُ سَفَرٍ</a:t>
            </a:r>
            <a:pPr algn="l" indent="0" marL="0">
              <a:buNone/>
            </a:pPr>
            <a:r>
              <a:rPr lang="en-US" sz="1050" i="1" dirty="0">
                <a:solidFill>
                  <a:srgbClr val="8A6D1E"/>
                </a:solidFill>
                <a:latin typeface="Calibri" pitchFamily="34" charset="0"/>
                <a:ea typeface="Calibri" pitchFamily="34" charset="-122"/>
                <a:cs typeface="Calibri" pitchFamily="34" charset="-120"/>
              </a:rPr>
              <a:t> = passport · </a:t>
            </a:r>
            <a:pPr algn="l" indent="0" marL="0">
              <a:buNone/>
            </a:pPr>
            <a:r>
              <a:rPr lang="ar-SA" altLang="en-US" sz="1350" dirty="0">
                <a:solidFill>
                  <a:srgbClr val="8A6D1E"/>
                </a:solidFill>
                <a:latin typeface="Amiri" pitchFamily="34" charset="0"/>
                <a:ea typeface="Amiri" pitchFamily="34" charset="-122"/>
                <a:cs typeface="Amiri" pitchFamily="34" charset="-120"/>
              </a:rPr>
              <a:t>تَذْكِرَةٌ</a:t>
            </a:r>
            <a:pPr algn="l" indent="0" marL="0">
              <a:buNone/>
            </a:pPr>
            <a:r>
              <a:rPr lang="en-US" sz="1050" i="1" dirty="0">
                <a:solidFill>
                  <a:srgbClr val="8A6D1E"/>
                </a:solidFill>
                <a:latin typeface="Calibri" pitchFamily="34" charset="0"/>
                <a:ea typeface="Calibri" pitchFamily="34" charset="-122"/>
                <a:cs typeface="Calibri" pitchFamily="34" charset="-120"/>
              </a:rPr>
              <a:t> = ticket · </a:t>
            </a:r>
            <a:pPr algn="l" indent="0" marL="0">
              <a:buNone/>
            </a:pPr>
            <a:r>
              <a:rPr lang="ar-SA" altLang="en-US" sz="1350" dirty="0">
                <a:solidFill>
                  <a:srgbClr val="8A6D1E"/>
                </a:solidFill>
                <a:latin typeface="Amiri" pitchFamily="34" charset="0"/>
                <a:ea typeface="Amiri" pitchFamily="34" charset="-122"/>
                <a:cs typeface="Amiri" pitchFamily="34" charset="-120"/>
              </a:rPr>
              <a:t>حَجْزٌ</a:t>
            </a:r>
            <a:pPr algn="l" indent="0" marL="0">
              <a:buNone/>
            </a:pPr>
            <a:r>
              <a:rPr lang="en-US" sz="1050" i="1" dirty="0">
                <a:solidFill>
                  <a:srgbClr val="8A6D1E"/>
                </a:solidFill>
                <a:latin typeface="Calibri" pitchFamily="34" charset="0"/>
                <a:ea typeface="Calibri" pitchFamily="34" charset="-122"/>
                <a:cs typeface="Calibri" pitchFamily="34" charset="-120"/>
              </a:rPr>
              <a:t> = booking.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appointment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ticket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مَوْعِدٌ</a:t>
            </a:r>
            <a:pPr algn="l" indent="0" marL="0">
              <a:buNone/>
            </a:pPr>
            <a:r>
              <a:rPr lang="en-US" sz="1050" i="1" dirty="0">
                <a:solidFill>
                  <a:srgbClr val="8A6D1E"/>
                </a:solidFill>
                <a:latin typeface="Calibri" pitchFamily="34" charset="0"/>
                <a:ea typeface="Calibri" pitchFamily="34" charset="-122"/>
                <a:cs typeface="Calibri" pitchFamily="34" charset="-120"/>
              </a:rPr>
              <a:t> = appointment, time.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أَتَفَاعَلُ عَلَى المُعَلِّمِ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أَتَفَاعَلُ عَنِ المُعَلِّمِ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أَتَفَاعَلُ مَعَ المُعَلِّمِ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a:t>
            </a:r>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always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 must”?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TC-L05: </a:t>
            </a:r>
            <a:pPr algn="l" indent="0" marL="0">
              <a:buNone/>
            </a:pPr>
            <a:r>
              <a:rPr lang="ar-SA" altLang="en-US" sz="1350" dirty="0">
                <a:solidFill>
                  <a:srgbClr val="8A6D1E"/>
                </a:solidFill>
                <a:latin typeface="Amiri" pitchFamily="34" charset="0"/>
                <a:ea typeface="Amiri" pitchFamily="34" charset="-122"/>
                <a:cs typeface="Amiri" pitchFamily="34" charset="-120"/>
              </a:rPr>
              <a:t>يَجِبُ أَنْ</a:t>
            </a:r>
            <a:pPr algn="l" indent="0" marL="0">
              <a:buNone/>
            </a:pPr>
            <a:r>
              <a:rPr lang="en-US" sz="1050" i="1" dirty="0">
                <a:solidFill>
                  <a:srgbClr val="8A6D1E"/>
                </a:solidFill>
                <a:latin typeface="Calibri" pitchFamily="34" charset="0"/>
                <a:ea typeface="Calibri" pitchFamily="34" charset="-122"/>
                <a:cs typeface="Calibri" pitchFamily="34" charset="-120"/>
              </a:rPr>
              <a:t> + verb (fatḥa).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send</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sends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send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same verb shows TIME: before (</a:t>
            </a:r>
            <a:pPr algn="l" indent="0" marL="0">
              <a:buNone/>
            </a:pPr>
            <a:r>
              <a:rPr lang="ar-SA" altLang="en-US" sz="1700" b="1" dirty="0">
                <a:solidFill>
                  <a:srgbClr val="1F2A37"/>
                </a:solidFill>
                <a:latin typeface="Amiri" pitchFamily="34" charset="0"/>
                <a:ea typeface="Amiri" pitchFamily="34" charset="-122"/>
                <a:cs typeface="Amiri" pitchFamily="34" charset="-120"/>
              </a:rPr>
              <a:t>حَجَزْتُ</a:t>
            </a:r>
            <a:pPr algn="l" indent="0" marL="0">
              <a:buNone/>
            </a:pPr>
            <a:r>
              <a:rPr lang="en-US" sz="1300" b="1" dirty="0">
                <a:solidFill>
                  <a:srgbClr val="1F2A37"/>
                </a:solidFill>
                <a:latin typeface="Calibri" pitchFamily="34" charset="0"/>
                <a:ea typeface="Calibri" pitchFamily="34" charset="-122"/>
                <a:cs typeface="Calibri" pitchFamily="34" charset="-120"/>
              </a:rPr>
              <a:t>), now (</a:t>
            </a:r>
            <a:pPr algn="l" indent="0" marL="0">
              <a:buNone/>
            </a:pPr>
            <a:r>
              <a:rPr lang="ar-SA" altLang="en-US" sz="1700" b="1" dirty="0">
                <a:solidFill>
                  <a:srgbClr val="1F2A37"/>
                </a:solidFill>
                <a:latin typeface="Amiri" pitchFamily="34" charset="0"/>
                <a:ea typeface="Amiri" pitchFamily="34" charset="-122"/>
                <a:cs typeface="Amiri" pitchFamily="34" charset="-120"/>
              </a:rPr>
              <a:t>أَحْجِزُ</a:t>
            </a:r>
            <a:pPr algn="l" indent="0" marL="0">
              <a:buNone/>
            </a:pPr>
            <a:r>
              <a:rPr lang="en-US" sz="1300" b="1" dirty="0">
                <a:solidFill>
                  <a:srgbClr val="1F2A37"/>
                </a:solidFill>
                <a:latin typeface="Calibri" pitchFamily="34" charset="0"/>
                <a:ea typeface="Calibri" pitchFamily="34" charset="-122"/>
                <a:cs typeface="Calibri" pitchFamily="34" charset="-120"/>
              </a:rPr>
              <a:t>), later (</a:t>
            </a:r>
            <a:pPr algn="l" indent="0" marL="0">
              <a:buNone/>
            </a:pPr>
            <a:r>
              <a:rPr lang="ar-SA" altLang="en-US" sz="1700" b="1" dirty="0">
                <a:solidFill>
                  <a:srgbClr val="1F2A37"/>
                </a:solidFill>
                <a:latin typeface="Amiri" pitchFamily="34" charset="0"/>
                <a:ea typeface="Amiri" pitchFamily="34" charset="-122"/>
                <a:cs typeface="Amiri" pitchFamily="34" charset="-120"/>
              </a:rPr>
              <a:t>سَأَحْجِزُ</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حَجَزْ</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حْجِزُ  ·  </a:t>
            </a:r>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أَحْجِزُ</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booking, document and airport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يَحْجِزُ</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يُقِيمُ</a:t>
            </a:r>
            <a:pPr algn="l" indent="0" marL="0">
              <a:buNone/>
            </a:pPr>
            <a:r>
              <a:rPr lang="en-US" sz="1300" dirty="0">
                <a:solidFill>
                  <a:srgbClr val="1F2A37"/>
                </a:solidFill>
                <a:latin typeface="Calibri" pitchFamily="34" charset="0"/>
                <a:ea typeface="Calibri" pitchFamily="34" charset="-122"/>
                <a:cs typeface="Calibri" pitchFamily="34" charset="-120"/>
              </a:rPr>
              <a:t> in the present, past, future and past perfect.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them in both conditional types.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day-by-day itinerary integrating the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travel documents and read a booking message for key facts.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t>
            </a:r>
            <a:pPr algn="l" indent="0" marL="0">
              <a:buNone/>
            </a:pPr>
            <a:r>
              <a:rPr lang="ar-SA" altLang="en-US" sz="1700" b="1" dirty="0">
                <a:solidFill>
                  <a:srgbClr val="2E8B57"/>
                </a:solidFill>
                <a:latin typeface="Amiri" pitchFamily="34" charset="0"/>
                <a:ea typeface="Amiri" pitchFamily="34" charset="-122"/>
                <a:cs typeface="Amiri" pitchFamily="34" charset="-120"/>
              </a:rPr>
              <a:t>أَحْجِزُ / سَأَحْجِزُ</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أُقِيمُ فِي / سَأُقِيمُ فِي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past and past perfect: </a:t>
            </a:r>
            <a:pPr algn="l" indent="0" marL="0">
              <a:buNone/>
            </a:pPr>
            <a:r>
              <a:rPr lang="ar-SA" altLang="en-US" sz="1700" b="1" dirty="0">
                <a:solidFill>
                  <a:srgbClr val="C9780A"/>
                </a:solidFill>
                <a:latin typeface="Amiri" pitchFamily="34" charset="0"/>
                <a:ea typeface="Amiri" pitchFamily="34" charset="-122"/>
                <a:cs typeface="Amiri" pitchFamily="34" charset="-120"/>
              </a:rPr>
              <a:t>حَجَزْتُ</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كُنْتُ قَدْ حَجَزْتُ</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understand instructions on a form: </a:t>
            </a:r>
            <a:pPr algn="l" indent="0" marL="0">
              <a:buNone/>
            </a:pPr>
            <a:r>
              <a:rPr lang="ar-SA" altLang="en-US" sz="1700" b="1" dirty="0">
                <a:solidFill>
                  <a:srgbClr val="C9780A"/>
                </a:solidFill>
                <a:latin typeface="Amiri" pitchFamily="34" charset="0"/>
                <a:ea typeface="Amiri" pitchFamily="34" charset="-122"/>
                <a:cs typeface="Amiri" pitchFamily="34" charset="-120"/>
              </a:rPr>
              <a:t>أَحْضِرْ</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سَجِّلْ</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both conditionals with </a:t>
            </a:r>
            <a:pPr algn="l" indent="0" marL="0">
              <a:buNone/>
            </a:pPr>
            <a:r>
              <a:rPr lang="ar-SA" altLang="en-US" sz="1700" b="1" dirty="0">
                <a:solidFill>
                  <a:srgbClr val="B83227"/>
                </a:solidFill>
                <a:latin typeface="Amiri" pitchFamily="34" charset="0"/>
                <a:ea typeface="Amiri" pitchFamily="34" charset="-122"/>
                <a:cs typeface="Amiri" pitchFamily="34" charset="-120"/>
              </a:rPr>
              <a:t>يَحْجِزُ</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100–110-word itinerary.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Documents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At the airport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Staying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Two verbs, four times · 8</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Instructions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مُسَافِرٌ</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‎مسافر‎ </a:t>
            </a:r>
            <a:pPr indent="0" marL="0">
              <a:buNone/>
            </a:pPr>
            <a:r>
              <a:rPr lang="en-US" sz="950" b="1" dirty="0">
                <a:solidFill>
                  <a:srgbClr val="2E8B57"/>
                </a:solidFill>
                <a:latin typeface="Calibri" pitchFamily="34" charset="0"/>
                <a:ea typeface="Calibri" pitchFamily="34" charset="-122"/>
                <a:cs typeface="Calibri" pitchFamily="34" charset="-120"/>
              </a:rPr>
              <a:t> musāfir · traveller</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جَدْوَلٌ</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‎جدول‎ </a:t>
            </a:r>
            <a:pPr indent="0" marL="0">
              <a:buNone/>
            </a:pPr>
            <a:r>
              <a:rPr lang="en-US" sz="950" b="1" dirty="0">
                <a:solidFill>
                  <a:srgbClr val="2E8B57"/>
                </a:solidFill>
                <a:latin typeface="Calibri" pitchFamily="34" charset="0"/>
                <a:ea typeface="Calibri" pitchFamily="34" charset="-122"/>
                <a:cs typeface="Calibri" pitchFamily="34" charset="-120"/>
              </a:rPr>
              <a:t> jadwal · table, schedule</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وَزْنٌ</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‎وزن‎ </a:t>
            </a:r>
            <a:pPr indent="0" marL="0">
              <a:buNone/>
            </a:pPr>
            <a:r>
              <a:rPr lang="en-US" sz="950" b="1" dirty="0">
                <a:solidFill>
                  <a:srgbClr val="2E8B57"/>
                </a:solidFill>
                <a:latin typeface="Calibri" pitchFamily="34" charset="0"/>
                <a:ea typeface="Calibri" pitchFamily="34" charset="-122"/>
                <a:cs typeface="Calibri" pitchFamily="34" charset="-120"/>
              </a:rPr>
              <a:t> wazn · weight</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duration</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documents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وَثَائِقُ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جَوَازُ سَفَرٍ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ja-wā-zu sa-far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permit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جَوَازٌ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travel</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سَفَرٌ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تَأْشِيرَةٌ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taʾ-shī-ra · pl. taʾ-shī-rāt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تَأْشِيرَةٌ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تَأْشِيرَاتٌ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 · pl. ta-dhā-kir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تَذْكِرَةٌ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تَذَاكِرُ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حَجْزٌ</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booking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ḥajz</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Verb: </a:t>
            </a:r>
            <a:pPr algn="l" indent="0" marL="0">
              <a:buNone/>
            </a:pPr>
            <a:r>
              <a:rPr lang="ar-SA" altLang="en-US" sz="1300" dirty="0">
                <a:solidFill>
                  <a:srgbClr val="8A6D1E"/>
                </a:solidFill>
                <a:latin typeface="Amiri" pitchFamily="34" charset="0"/>
                <a:ea typeface="Amiri" pitchFamily="34" charset="-122"/>
                <a:cs typeface="Amiri" pitchFamily="34" charset="-120"/>
              </a:rPr>
              <a:t>يَحْجِزُ</a:t>
            </a:r>
            <a:pPr algn="l" indent="0" marL="0">
              <a:buNone/>
            </a:pPr>
            <a:r>
              <a:rPr lang="en-US" sz="1000" i="1" dirty="0">
                <a:solidFill>
                  <a:srgbClr val="8A6D1E"/>
                </a:solidFill>
                <a:latin typeface="Calibri" pitchFamily="34" charset="0"/>
                <a:ea typeface="Calibri" pitchFamily="34" charset="-122"/>
                <a:cs typeface="Calibri" pitchFamily="34" charset="-120"/>
              </a:rPr>
              <a:t> = books.</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تَأْمِينُ سَفَرٍ</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 insurance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taʾ-mī-nu sa-far</a:t>
            </a:r>
            <a:endParaRPr lang="en-US"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84" name="Shape 8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جَدْوَلُ رِحْلَةٍ</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itinerary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jad-wa-lu riḥ-la</a:t>
            </a:r>
            <a:endParaRPr lang="en-US" sz="1350" dirty="0"/>
          </a:p>
        </p:txBody>
      </p:sp>
      <p:sp>
        <p:nvSpPr>
          <p:cNvPr id="88" name="Shape 8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table</a:t>
            </a:r>
            <a:endParaRPr lang="en-US" sz="700" dirty="0"/>
          </a:p>
        </p:txBody>
      </p:sp>
      <p:sp>
        <p:nvSpPr>
          <p:cNvPr id="90" name="Text 87"/>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جَدْوَلٌ</a:t>
            </a:r>
            <a:endParaRPr lang="ar-SA" sz="1350" dirty="0"/>
          </a:p>
        </p:txBody>
      </p:sp>
      <p:sp>
        <p:nvSpPr>
          <p:cNvPr id="91" name="Shape 8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trip</a:t>
            </a:r>
            <a:endParaRPr lang="en-US" sz="700" dirty="0"/>
          </a:p>
        </p:txBody>
      </p:sp>
      <p:sp>
        <p:nvSpPr>
          <p:cNvPr id="93" name="Text 9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رِحْلَةٌ</a:t>
            </a:r>
            <a:endParaRPr lang="ar-SA" sz="1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the airport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المَطَارِ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تَسْجِيلُ الوُصُولِ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check-in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tas-jī-lu l-wu-ṣūl</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البَوَّابَةُ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al-baw-wā-ba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وَزْنُ الأَمْتِعَةِ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baggage weight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waz-nu l-am-ti-ʿa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Shape 3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صَالَةُ المُغَادَرَةِ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departure lounge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ṣā-la-tu l-mu-ghā-da-ra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6" name="Shape 4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صَالَةُ الوُصُولِ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arrivals hall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ṣā-la-tu l-wu-ṣūl</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3" name="Shape 50"/>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الدَّرَجَةُ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الاِقْتِصَادِ</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economy class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ad-da-ra-ja l-iq-ti-ṣā-diy-ya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Staying somewhere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الإِقَامَةُ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فِي</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يُقِيمُ </a:t>
            </a:r>
            <a:pPr rtl="1" algn="r" indent="0" marL="0">
              <a:buNone/>
            </a:pPr>
            <a:r>
              <a:rPr lang="ar-SA" altLang="en-US" sz="3000" b="1" dirty="0">
                <a:solidFill>
                  <a:srgbClr val="0E7C86"/>
                </a:solidFill>
                <a:latin typeface="Amiri" pitchFamily="34" charset="0"/>
                <a:ea typeface="Amiri" pitchFamily="34" charset="-122"/>
                <a:cs typeface="Amiri" pitchFamily="34" charset="-120"/>
              </a:rPr>
              <a:t>فِي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stays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yu-qī-mu fī</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Fixed with </a:t>
            </a:r>
            <a:pPr algn="l" indent="0" marL="0">
              <a:buNone/>
            </a:pPr>
            <a:r>
              <a:rPr lang="ar-SA" altLang="en-US" sz="1300" dirty="0">
                <a:solidFill>
                  <a:srgbClr val="8A6D1E"/>
                </a:solidFill>
                <a:latin typeface="Amiri" pitchFamily="34" charset="0"/>
                <a:ea typeface="Amiri" pitchFamily="34" charset="-122"/>
                <a:cs typeface="Amiri" pitchFamily="34" charset="-120"/>
              </a:rPr>
              <a:t>فِي</a:t>
            </a:r>
            <a:pPr algn="l" indent="0" marL="0">
              <a:buNone/>
            </a:pPr>
            <a:r>
              <a:rPr lang="en-US" sz="1000" i="1" dirty="0">
                <a:solidFill>
                  <a:srgbClr val="8A6D1E"/>
                </a:solidFill>
                <a:latin typeface="Calibri" pitchFamily="34" charset="0"/>
                <a:ea typeface="Calibri" pitchFamily="34" charset="-122"/>
                <a:cs typeface="Calibri" pitchFamily="34" charset="-120"/>
              </a:rPr>
              <a:t> (website).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فُنْدُقٌ</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fun-duq · pl. fa-nā-diq</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فُنْدُقٌ</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فَنَادِقُ</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شَقَّةٌ مَفْرُوشَةٌ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furnished apartment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shaq-qa maf-rū-sha</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شَقَّةٌ</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شُقَقٌ</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6" name="Shape 53"/>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رِيَاضٌ </a:t>
            </a:r>
            <a:pPr rtl="1" algn="r" indent="0" marL="0">
              <a:buNone/>
            </a:pPr>
            <a:r>
              <a:rPr lang="ar-SA" altLang="en-US" sz="3000" b="1" dirty="0">
                <a:solidFill>
                  <a:srgbClr val="7B3FA0"/>
                </a:solidFill>
                <a:latin typeface="Amiri" pitchFamily="34" charset="0"/>
                <a:ea typeface="Amiri" pitchFamily="34" charset="-122"/>
                <a:cs typeface="Amiri" pitchFamily="34" charset="-120"/>
              </a:rPr>
              <a:t>تَقْلِيدِ</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traditional riad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ri-yāḍ taq-lī-diyy</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Moroccan courtyard house (listening).</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القِيَامِ</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departure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l-qi-yām</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 الرِّحْلَةِ</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journey 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 r-riḥ-la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GRAMMAR PART 1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verbs, four times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فِعْلَانِ فِي أَرْبَعَةِ 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68671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يَحْجِزُ</a:t>
            </a:r>
            <a:pPr algn="ctr" indent="0" marL="0">
              <a:buNone/>
            </a:pPr>
            <a:r>
              <a:rPr lang="en-US" sz="1100" b="1" dirty="0">
                <a:solidFill>
                  <a:srgbClr val="FFFFFF"/>
                </a:solidFill>
                <a:latin typeface="Calibri" pitchFamily="34" charset="0"/>
                <a:ea typeface="Calibri" pitchFamily="34" charset="-122"/>
                <a:cs typeface="Calibri" pitchFamily="34" charset="-120"/>
              </a:rPr>
              <a:t> · book</a:t>
            </a:r>
            <a:endParaRPr lang="en-US" sz="1100" dirty="0"/>
          </a:p>
        </p:txBody>
      </p:sp>
      <p:sp>
        <p:nvSpPr>
          <p:cNvPr id="18" name="Text 15"/>
          <p:cNvSpPr txBox="1"/>
          <p:nvPr/>
        </p:nvSpPr>
        <p:spPr>
          <a:xfrm>
            <a:off x="41239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يُقِيمُ فِي</a:t>
            </a:r>
            <a:pPr algn="ctr" indent="0" marL="0">
              <a:buNone/>
            </a:pPr>
            <a:r>
              <a:rPr lang="en-US" sz="1100" b="1" dirty="0">
                <a:solidFill>
                  <a:srgbClr val="FFFFFF"/>
                </a:solidFill>
                <a:latin typeface="Calibri" pitchFamily="34" charset="0"/>
                <a:ea typeface="Calibri" pitchFamily="34" charset="-122"/>
                <a:cs typeface="Calibri" pitchFamily="34" charset="-120"/>
              </a:rPr>
              <a:t> · stay at</a:t>
            </a:r>
            <a:endParaRPr lang="en-US" sz="1100" dirty="0"/>
          </a:p>
        </p:txBody>
      </p:sp>
      <p:sp>
        <p:nvSpPr>
          <p:cNvPr id="19" name="Text 16"/>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(present)</a:t>
            </a:r>
            <a:endParaRPr lang="en-US" sz="1100" dirty="0"/>
          </a:p>
        </p:txBody>
      </p:sp>
      <p:sp>
        <p:nvSpPr>
          <p:cNvPr id="22" name="Text 19"/>
          <p:cNvSpPr txBox="1"/>
          <p:nvPr/>
        </p:nvSpPr>
        <p:spPr>
          <a:xfrm>
            <a:off x="68854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حْجِزُ</a:t>
            </a:r>
            <a:endParaRPr lang="ar-SA" sz="2100" dirty="0"/>
          </a:p>
        </p:txBody>
      </p:sp>
      <p:sp>
        <p:nvSpPr>
          <p:cNvPr id="23" name="Text 20"/>
          <p:cNvSpPr txBox="1"/>
          <p:nvPr/>
        </p:nvSpPr>
        <p:spPr>
          <a:xfrm>
            <a:off x="68397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aḥ-ji-zu · I book</a:t>
            </a:r>
            <a:endParaRPr lang="en-US" sz="950" dirty="0"/>
          </a:p>
        </p:txBody>
      </p:sp>
      <p:sp>
        <p:nvSpPr>
          <p:cNvPr id="24" name="Text 21"/>
          <p:cNvSpPr txBox="1"/>
          <p:nvPr/>
        </p:nvSpPr>
        <p:spPr>
          <a:xfrm>
            <a:off x="41422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قِيمُ</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a:t>
            </a:r>
            <a:endParaRPr lang="ar-SA" sz="2100" dirty="0"/>
          </a:p>
        </p:txBody>
      </p:sp>
      <p:sp>
        <p:nvSpPr>
          <p:cNvPr id="25" name="Text 22"/>
          <p:cNvSpPr txBox="1"/>
          <p:nvPr/>
        </p:nvSpPr>
        <p:spPr>
          <a:xfrm>
            <a:off x="40965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u-qī-mu fī · I stay</a:t>
            </a:r>
            <a:endParaRPr lang="en-US" sz="950" dirty="0"/>
          </a:p>
        </p:txBody>
      </p:sp>
      <p:sp>
        <p:nvSpPr>
          <p:cNvPr id="26" name="Text 23"/>
          <p:cNvSpPr txBox="1"/>
          <p:nvPr/>
        </p:nvSpPr>
        <p:spPr>
          <a:xfrm>
            <a:off x="548640" y="2267712"/>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أَحْجِزُ تَذَاكِرِي مُبَكِّرًا</a:t>
            </a:r>
            <a:endParaRPr lang="ar-SA" sz="17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later (future)</a:t>
            </a:r>
            <a:endParaRPr lang="en-US" sz="1100" dirty="0"/>
          </a:p>
        </p:txBody>
      </p:sp>
      <p:sp>
        <p:nvSpPr>
          <p:cNvPr id="31" name="Text 28"/>
          <p:cNvSpPr txBox="1"/>
          <p:nvPr/>
        </p:nvSpPr>
        <p:spPr>
          <a:xfrm>
            <a:off x="68854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حْجِزُ</a:t>
            </a:r>
            <a:endParaRPr lang="ar-SA" sz="2100" dirty="0"/>
          </a:p>
        </p:txBody>
      </p:sp>
      <p:sp>
        <p:nvSpPr>
          <p:cNvPr id="32" name="Text 29"/>
          <p:cNvSpPr txBox="1"/>
          <p:nvPr/>
        </p:nvSpPr>
        <p:spPr>
          <a:xfrm>
            <a:off x="68397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sa-ʾaḥ-ji-zu · I will book</a:t>
            </a:r>
            <a:endParaRPr lang="en-US" sz="950" dirty="0"/>
          </a:p>
        </p:txBody>
      </p:sp>
      <p:sp>
        <p:nvSpPr>
          <p:cNvPr id="33" name="Text 30"/>
          <p:cNvSpPr txBox="1"/>
          <p:nvPr/>
        </p:nvSpPr>
        <p:spPr>
          <a:xfrm>
            <a:off x="41422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قِيمُ</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a:t>
            </a:r>
            <a:endParaRPr lang="ar-SA" sz="2100" dirty="0"/>
          </a:p>
        </p:txBody>
      </p:sp>
      <p:sp>
        <p:nvSpPr>
          <p:cNvPr id="34" name="Text 31"/>
          <p:cNvSpPr txBox="1"/>
          <p:nvPr/>
        </p:nvSpPr>
        <p:spPr>
          <a:xfrm>
            <a:off x="40965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sa-ʾu-qī-mu fī</a:t>
            </a:r>
            <a:endParaRPr lang="en-US" sz="950" dirty="0"/>
          </a:p>
        </p:txBody>
      </p:sp>
      <p:sp>
        <p:nvSpPr>
          <p:cNvPr id="35" name="Text 32"/>
          <p:cNvSpPr txBox="1"/>
          <p:nvPr/>
        </p:nvSpPr>
        <p:spPr>
          <a:xfrm>
            <a:off x="548640" y="3054096"/>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سَأَحْجِزُ رِحْلَةً إِلَى مَرَّاكُشَ</a:t>
            </a:r>
            <a:endParaRPr lang="ar-SA" sz="1700" dirty="0"/>
          </a:p>
        </p:txBody>
      </p:sp>
      <p:sp>
        <p:nvSpPr>
          <p:cNvPr id="36" name="Shape 3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9" name="Text 36"/>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(past)</a:t>
            </a:r>
            <a:endParaRPr lang="en-US" sz="1100" dirty="0"/>
          </a:p>
        </p:txBody>
      </p:sp>
      <p:sp>
        <p:nvSpPr>
          <p:cNvPr id="40" name="Text 37"/>
          <p:cNvSpPr txBox="1"/>
          <p:nvPr/>
        </p:nvSpPr>
        <p:spPr>
          <a:xfrm>
            <a:off x="68854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حَجَزْ</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endParaRPr lang="ar-SA" sz="2100" dirty="0"/>
          </a:p>
        </p:txBody>
      </p:sp>
      <p:sp>
        <p:nvSpPr>
          <p:cNvPr id="41" name="Text 38"/>
          <p:cNvSpPr txBox="1"/>
          <p:nvPr/>
        </p:nvSpPr>
        <p:spPr>
          <a:xfrm>
            <a:off x="68397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ḥa-jaz-tu · I booked</a:t>
            </a:r>
            <a:endParaRPr lang="en-US" sz="950" dirty="0"/>
          </a:p>
        </p:txBody>
      </p:sp>
      <p:sp>
        <p:nvSpPr>
          <p:cNvPr id="42" name="Text 39"/>
          <p:cNvSpPr txBox="1"/>
          <p:nvPr/>
        </p:nvSpPr>
        <p:spPr>
          <a:xfrm>
            <a:off x="41422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أَقَمْ</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a:t>
            </a:r>
            <a:endParaRPr lang="ar-SA" sz="2100" dirty="0"/>
          </a:p>
        </p:txBody>
      </p:sp>
      <p:sp>
        <p:nvSpPr>
          <p:cNvPr id="43" name="Text 40"/>
          <p:cNvSpPr txBox="1"/>
          <p:nvPr/>
        </p:nvSpPr>
        <p:spPr>
          <a:xfrm>
            <a:off x="40965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a-qam-tu fī · I stayed</a:t>
            </a:r>
            <a:endParaRPr lang="en-US" sz="950" dirty="0"/>
          </a:p>
        </p:txBody>
      </p:sp>
      <p:sp>
        <p:nvSpPr>
          <p:cNvPr id="44" name="Text 41"/>
          <p:cNvSpPr txBox="1"/>
          <p:nvPr/>
        </p:nvSpPr>
        <p:spPr>
          <a:xfrm>
            <a:off x="548640" y="3840480"/>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حَجَزْتُ الفُنْدُقَ قَبْلَ شَهْرٍ</a:t>
            </a:r>
            <a:endParaRPr lang="ar-SA" sz="170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had (past perfect)</a:t>
            </a:r>
            <a:endParaRPr lang="en-US" sz="1100" dirty="0"/>
          </a:p>
        </p:txBody>
      </p:sp>
      <p:sp>
        <p:nvSpPr>
          <p:cNvPr id="47" name="Text 44"/>
          <p:cNvSpPr txBox="1"/>
          <p:nvPr/>
        </p:nvSpPr>
        <p:spPr>
          <a:xfrm>
            <a:off x="68854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كُنْتُ قَدْ</a:t>
            </a:r>
            <a:pPr rtl="1" algn="ctr" indent="0" marL="0">
              <a:buNone/>
            </a:pPr>
            <a:r>
              <a:rPr lang="ar-SA" altLang="en-US" sz="2100" b="1" dirty="0">
                <a:solidFill>
                  <a:srgbClr val="1B3B6F"/>
                </a:solidFill>
                <a:latin typeface="Amiri" pitchFamily="34" charset="0"/>
                <a:ea typeface="Amiri" pitchFamily="34" charset="-122"/>
                <a:cs typeface="Amiri" pitchFamily="34" charset="-120"/>
              </a:rPr>
              <a:t> حَجَزْتُ</a:t>
            </a:r>
            <a:endParaRPr lang="ar-SA" sz="2100" dirty="0"/>
          </a:p>
        </p:txBody>
      </p:sp>
      <p:sp>
        <p:nvSpPr>
          <p:cNvPr id="48" name="Text 45"/>
          <p:cNvSpPr txBox="1"/>
          <p:nvPr/>
        </p:nvSpPr>
        <p:spPr>
          <a:xfrm>
            <a:off x="68397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kun-tu qad ḥa-jaz-tu</a:t>
            </a:r>
            <a:endParaRPr lang="en-US" sz="950" dirty="0"/>
          </a:p>
        </p:txBody>
      </p:sp>
      <p:sp>
        <p:nvSpPr>
          <p:cNvPr id="49" name="Text 46"/>
          <p:cNvSpPr txBox="1"/>
          <p:nvPr/>
        </p:nvSpPr>
        <p:spPr>
          <a:xfrm>
            <a:off x="41422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كُنْتُ قَدْ</a:t>
            </a:r>
            <a:pPr rtl="1" algn="ctr" indent="0" marL="0">
              <a:buNone/>
            </a:pPr>
            <a:r>
              <a:rPr lang="ar-SA" altLang="en-US" sz="2100" b="1" dirty="0">
                <a:solidFill>
                  <a:srgbClr val="1B3B6F"/>
                </a:solidFill>
                <a:latin typeface="Amiri" pitchFamily="34" charset="0"/>
                <a:ea typeface="Amiri" pitchFamily="34" charset="-122"/>
                <a:cs typeface="Amiri" pitchFamily="34" charset="-120"/>
              </a:rPr>
              <a:t> أَقَمْتُ فِي</a:t>
            </a:r>
            <a:endParaRPr lang="ar-SA" sz="2100" dirty="0"/>
          </a:p>
        </p:txBody>
      </p:sp>
      <p:sp>
        <p:nvSpPr>
          <p:cNvPr id="50" name="Text 47"/>
          <p:cNvSpPr txBox="1"/>
          <p:nvPr/>
        </p:nvSpPr>
        <p:spPr>
          <a:xfrm>
            <a:off x="40965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kun-tu qad a-qam-tu fī</a:t>
            </a:r>
            <a:endParaRPr lang="en-US" sz="950" dirty="0"/>
          </a:p>
        </p:txBody>
      </p:sp>
      <p:sp>
        <p:nvSpPr>
          <p:cNvPr id="51" name="Text 48"/>
          <p:cNvSpPr txBox="1"/>
          <p:nvPr/>
        </p:nvSpPr>
        <p:spPr>
          <a:xfrm>
            <a:off x="548640" y="4626864"/>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كُنْتُ قَدْ حَجَزْتُ رِحْلَتِي قَبْلَ شَهْرَيْنِ</a:t>
            </a:r>
            <a:endParaRPr lang="ar-SA" sz="17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GRAMMAR PART 2 · IMPERATIVE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Instructions: “Do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اِحْجِزْ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iḥ-jiz</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يَحْجِزُ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اِحْجِزْ</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أَحْضِرْ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aḥ-ḍir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يُحْضِرُ</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أَحْضِرْ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سَجِّلْ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Register! Check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saj-jil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يُسَجِّلُ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سَجِّلْ</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جَدِّدْ</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jad-did</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69" name="Text 66"/>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يُجَدِّدُ</a:t>
            </a:r>
            <a:endParaRPr lang="ar-SA" sz="135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72" name="Text 6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جَدِّدْ</a:t>
            </a:r>
            <a:endParaRPr lang="ar-SA"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6" name="Shape 73"/>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اِشْتَرِ</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ish-ta-ri</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82" name="Text 79"/>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يَشْتَرِي</a:t>
            </a:r>
            <a:endParaRPr lang="ar-SA" sz="135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85" name="Text 8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اِشْتَرِ</a:t>
            </a:r>
            <a:endParaRPr lang="ar-SA"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9" name="Shape 86"/>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اِقْرَأْ</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iq-raʾ</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95" name="Text 92"/>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يَقْرَأُ</a:t>
            </a:r>
            <a:endParaRPr lang="ar-SA" sz="135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98" name="Text 9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اِقْرَأْ</a:t>
            </a:r>
            <a:endParaRPr lang="ar-SA"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READING DOCUMENTS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Stay at · do it · it has been done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STAY AT · فِي</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يُقِيمُ 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أُقِيمُ فِي فُنْدُقٍ قَرِيبٍ مِنَ الشَّاطِئِ</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stay at a hotel near the beach.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يُقِيمُ</a:t>
            </a:r>
            <a:pPr algn="l" indent="0" marL="0">
              <a:buNone/>
            </a:pPr>
            <a:r>
              <a:rPr lang="en-US" sz="1100" dirty="0">
                <a:solidFill>
                  <a:srgbClr val="1F2A37"/>
                </a:solidFill>
                <a:latin typeface="Calibri" pitchFamily="34" charset="0"/>
                <a:ea typeface="Calibri" pitchFamily="34" charset="-122"/>
                <a:cs typeface="Calibri" pitchFamily="34" charset="-120"/>
              </a:rPr>
              <a:t> always takes </a:t>
            </a:r>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before the place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INSTRUCTION · imperative</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أَحْضِرْ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أَحْضِرْ جَوَازَ سَفَرِكَ</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Bring your passport.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Forms and messages give instructions: </a:t>
            </a:r>
            <a:pPr algn="l" indent="0" marL="0">
              <a:buNone/>
            </a:pPr>
            <a:r>
              <a:rPr lang="ar-SA" altLang="en-US" sz="1450" dirty="0">
                <a:solidFill>
                  <a:srgbClr val="1F2A37"/>
                </a:solidFill>
                <a:latin typeface="Amiri" pitchFamily="34" charset="0"/>
                <a:ea typeface="Amiri" pitchFamily="34" charset="-122"/>
                <a:cs typeface="Amiri" pitchFamily="34" charset="-120"/>
              </a:rPr>
              <a:t>أَحْضِرْ</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سَجِّلْ</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اِحْجِزْ</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DONE · تَمَّ + noun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تَمَّ</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تَمَّ حَجْزُ رِحْلَتِكَ</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Your trip has been booked.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In messages, </a:t>
            </a:r>
            <a:pPr algn="l" indent="0" marL="0">
              <a:buNone/>
            </a:pPr>
            <a:r>
              <a:rPr lang="ar-SA" altLang="en-US" sz="1450" dirty="0">
                <a:solidFill>
                  <a:srgbClr val="1F2A37"/>
                </a:solidFill>
                <a:latin typeface="Amiri" pitchFamily="34" charset="0"/>
                <a:ea typeface="Amiri" pitchFamily="34" charset="-122"/>
                <a:cs typeface="Amiri" pitchFamily="34" charset="-120"/>
              </a:rPr>
              <a:t>تَمَّ</a:t>
            </a:r>
            <a:pPr algn="l" indent="0" marL="0">
              <a:buNone/>
            </a:pPr>
            <a:r>
              <a:rPr lang="en-US" sz="1100" dirty="0">
                <a:solidFill>
                  <a:srgbClr val="1F2A37"/>
                </a:solidFill>
                <a:latin typeface="Calibri" pitchFamily="34" charset="0"/>
                <a:ea typeface="Calibri" pitchFamily="34" charset="-122"/>
                <a:cs typeface="Calibri" pitchFamily="34" charset="-120"/>
              </a:rPr>
              <a:t> + a verbal noun = “has been done” (passive meaning).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dropping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after </a:t>
            </a:r>
            <a:pPr algn="l" indent="0" marL="0">
              <a:buNone/>
            </a:pPr>
            <a:r>
              <a:rPr lang="ar-SA" altLang="en-US" sz="1500" dirty="0">
                <a:solidFill>
                  <a:srgbClr val="1F2A37"/>
                </a:solidFill>
                <a:latin typeface="Amiri" pitchFamily="34" charset="0"/>
                <a:ea typeface="Amiri" pitchFamily="34" charset="-122"/>
                <a:cs typeface="Amiri" pitchFamily="34" charset="-120"/>
              </a:rPr>
              <a:t>يُقِيمُ</a:t>
            </a:r>
            <a:pPr algn="l" indent="0" marL="0">
              <a:buNone/>
            </a:pPr>
            <a:r>
              <a:rPr lang="en-US" sz="1150" dirty="0">
                <a:solidFill>
                  <a:srgbClr val="1F2A37"/>
                </a:solidFill>
                <a:latin typeface="Calibri" pitchFamily="34" charset="0"/>
                <a:ea typeface="Calibri" pitchFamily="34" charset="-122"/>
                <a:cs typeface="Calibri" pitchFamily="34" charset="-120"/>
              </a:rPr>
              <a:t>, and a present verb after </a:t>
            </a:r>
            <a:pPr algn="l" indent="0" marL="0">
              <a:buNone/>
            </a:pPr>
            <a:r>
              <a:rPr lang="ar-SA" altLang="en-US" sz="1500" dirty="0">
                <a:solidFill>
                  <a:srgbClr val="1F2A37"/>
                </a:solidFill>
                <a:latin typeface="Amiri" pitchFamily="34" charset="0"/>
                <a:ea typeface="Amiri" pitchFamily="34" charset="-122"/>
                <a:cs typeface="Amiri" pitchFamily="34" charset="-120"/>
              </a:rPr>
              <a:t>إِذَا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أُقِيمُ فِي فُنْدُقٍ</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أُقِيمُ فُنْدُقًا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إِذَا حَجَزْتَ</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إِذَا تَحْجِزُ</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RELATIVE PRONOUNS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 that …: </a:t>
            </a:r>
            <a:pPr algn="l" indent="0" marL="0">
              <a:buNone/>
            </a:pPr>
            <a:r>
              <a:rPr lang="ar-SA" altLang="en-US" sz="3650" b="1" dirty="0">
                <a:solidFill>
                  <a:srgbClr val="1B3B6F"/>
                </a:solidFill>
                <a:latin typeface="Amiri" pitchFamily="34" charset="0"/>
                <a:ea typeface="Amiri" pitchFamily="34" charset="-122"/>
                <a:cs typeface="Amiri" pitchFamily="34" charset="-120"/>
              </a:rPr>
              <a:t>الَّذِي / الَّتِي</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الاِسْمُ المَوْصُولُ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Text 14"/>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8" name="Shape 15"/>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9" name="Text 16"/>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الاِسْمُ</a:t>
            </a:r>
            <a:endParaRPr lang="ar-SA" sz="1850" dirty="0"/>
          </a:p>
        </p:txBody>
      </p:sp>
      <p:sp>
        <p:nvSpPr>
          <p:cNvPr id="20" name="Text 17"/>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the thing</a:t>
            </a:r>
            <a:endParaRPr lang="en-US" sz="900" dirty="0"/>
          </a:p>
        </p:txBody>
      </p:sp>
      <p:sp>
        <p:nvSpPr>
          <p:cNvPr id="21" name="Shape 18"/>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الَّذِي / الَّتِي</a:t>
            </a:r>
            <a:endParaRPr lang="ar-SA" sz="1850" dirty="0"/>
          </a:p>
        </p:txBody>
      </p:sp>
      <p:sp>
        <p:nvSpPr>
          <p:cNvPr id="23" name="Text 20"/>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that / which (key word)</a:t>
            </a:r>
            <a:endParaRPr lang="en-US" sz="900" dirty="0"/>
          </a:p>
        </p:txBody>
      </p:sp>
      <p:sp>
        <p:nvSpPr>
          <p:cNvPr id="24" name="Shape 21"/>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5" name="Text 22"/>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التَّفْصِيلُ</a:t>
            </a:r>
            <a:endParaRPr lang="ar-SA" sz="1850" dirty="0"/>
          </a:p>
        </p:txBody>
      </p:sp>
      <p:sp>
        <p:nvSpPr>
          <p:cNvPr id="26" name="Text 23"/>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more information</a:t>
            </a:r>
            <a:endParaRPr lang="en-US" sz="900" dirty="0"/>
          </a:p>
        </p:txBody>
      </p:sp>
      <p:sp>
        <p:nvSpPr>
          <p:cNvPr id="27" name="Text 24"/>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hotel that I booked</a:t>
            </a:r>
            <a:endParaRPr lang="en-US" sz="1200" dirty="0"/>
          </a:p>
        </p:txBody>
      </p:sp>
      <p:sp>
        <p:nvSpPr>
          <p:cNvPr id="28" name="Shape 25"/>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الفُنْدُقُ</a:t>
            </a:r>
            <a:endParaRPr lang="ar-SA" sz="2400" dirty="0"/>
          </a:p>
        </p:txBody>
      </p:sp>
      <p:sp>
        <p:nvSpPr>
          <p:cNvPr id="30" name="Shape 27"/>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31" name="Text 28"/>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الَّذِي</a:t>
            </a:r>
            <a:endParaRPr lang="ar-SA" sz="2400" dirty="0"/>
          </a:p>
        </p:txBody>
      </p:sp>
      <p:sp>
        <p:nvSpPr>
          <p:cNvPr id="32" name="Shape 29"/>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3" name="Text 30"/>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حَجَزْتُهُ</a:t>
            </a:r>
            <a:endParaRPr lang="ar-SA" sz="2400" dirty="0"/>
          </a:p>
        </p:txBody>
      </p:sp>
      <p:sp>
        <p:nvSpPr>
          <p:cNvPr id="34" name="Text 31"/>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passport that I renewed</a:t>
            </a:r>
            <a:endParaRPr lang="en-US" sz="1200" dirty="0"/>
          </a:p>
        </p:txBody>
      </p:sp>
      <p:sp>
        <p:nvSpPr>
          <p:cNvPr id="35" name="Shape 32"/>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الجَوَازُ</a:t>
            </a:r>
            <a:endParaRPr lang="ar-SA" sz="2400" dirty="0"/>
          </a:p>
        </p:txBody>
      </p:sp>
      <p:sp>
        <p:nvSpPr>
          <p:cNvPr id="37" name="Shape 34"/>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8" name="Text 35"/>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الَّذِي</a:t>
            </a:r>
            <a:endParaRPr lang="ar-SA" sz="2400" dirty="0"/>
          </a:p>
        </p:txBody>
      </p:sp>
      <p:sp>
        <p:nvSpPr>
          <p:cNvPr id="39" name="Shape 36"/>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40" name="Text 37"/>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جَدَّدْتُهُ</a:t>
            </a:r>
            <a:endParaRPr lang="ar-SA" sz="2400" dirty="0"/>
          </a:p>
        </p:txBody>
      </p:sp>
      <p:sp>
        <p:nvSpPr>
          <p:cNvPr id="41" name="Text 38"/>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visa that I got online</a:t>
            </a:r>
            <a:endParaRPr lang="en-US" sz="1200" dirty="0"/>
          </a:p>
        </p:txBody>
      </p:sp>
      <p:sp>
        <p:nvSpPr>
          <p:cNvPr id="42" name="Shape 39"/>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التَّأْشِيرَةُ</a:t>
            </a:r>
            <a:endParaRPr lang="ar-SA" sz="2400" dirty="0"/>
          </a:p>
        </p:txBody>
      </p:sp>
      <p:sp>
        <p:nvSpPr>
          <p:cNvPr id="44" name="Shape 41"/>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5" name="Text 42"/>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الَّتِي</a:t>
            </a:r>
            <a:endParaRPr lang="ar-SA" sz="2400" dirty="0"/>
          </a:p>
        </p:txBody>
      </p:sp>
      <p:sp>
        <p:nvSpPr>
          <p:cNvPr id="46" name="Shape 43"/>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7" name="Text 44"/>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حَصَلْتُ عَلَيْهَا إِلِكْتْرُونِيًّا</a:t>
            </a:r>
            <a:endParaRPr lang="ar-SA" sz="2400" dirty="0"/>
          </a:p>
        </p:txBody>
      </p:sp>
      <p:sp>
        <p:nvSpPr>
          <p:cNvPr id="48" name="Text 45"/>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message that confirms the time</a:t>
            </a:r>
            <a:endParaRPr lang="en-US" sz="1200" dirty="0"/>
          </a:p>
        </p:txBody>
      </p:sp>
      <p:sp>
        <p:nvSpPr>
          <p:cNvPr id="49" name="Shape 46"/>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الرِّسَالَةُ</a:t>
            </a:r>
            <a:endParaRPr lang="ar-SA" sz="2400" dirty="0"/>
          </a:p>
        </p:txBody>
      </p:sp>
      <p:sp>
        <p:nvSpPr>
          <p:cNvPr id="51" name="Shape 48"/>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2" name="Text 49"/>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الَّتِي</a:t>
            </a:r>
            <a:endParaRPr lang="ar-SA" sz="2400" dirty="0"/>
          </a:p>
        </p:txBody>
      </p:sp>
      <p:sp>
        <p:nvSpPr>
          <p:cNvPr id="53" name="Shape 50"/>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4" name="Text 51"/>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تُؤَكِّدُ المَوْعِدَ</a:t>
            </a:r>
            <a:endParaRPr lang="ar-SA" sz="2400" dirty="0"/>
          </a:p>
        </p:txBody>
      </p:sp>
      <p:sp>
        <p:nvSpPr>
          <p:cNvPr id="55" name="Text 52"/>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Use </a:t>
            </a:r>
            <a:pPr algn="l" indent="0" marL="0">
              <a:buNone/>
            </a:pPr>
            <a:r>
              <a:rPr lang="ar-SA" altLang="en-US" sz="1550" b="1" dirty="0">
                <a:solidFill>
                  <a:srgbClr val="8A6D1E"/>
                </a:solidFill>
                <a:latin typeface="Amiri" pitchFamily="34" charset="0"/>
                <a:ea typeface="Amiri" pitchFamily="34" charset="-122"/>
                <a:cs typeface="Amiri" pitchFamily="34" charset="-120"/>
              </a:rPr>
              <a:t>الَّذِي</a:t>
            </a:r>
            <a:pPr algn="l" indent="0" marL="0">
              <a:buNone/>
            </a:pPr>
            <a:r>
              <a:rPr lang="en-US" sz="1200" b="1" dirty="0">
                <a:solidFill>
                  <a:srgbClr val="8A6D1E"/>
                </a:solidFill>
                <a:latin typeface="Calibri" pitchFamily="34" charset="0"/>
                <a:ea typeface="Calibri" pitchFamily="34" charset="-122"/>
                <a:cs typeface="Calibri" pitchFamily="34" charset="-120"/>
              </a:rPr>
              <a:t> after a masculine noun and </a:t>
            </a:r>
            <a:pPr algn="l" indent="0" marL="0">
              <a:buNone/>
            </a:pPr>
            <a:r>
              <a:rPr lang="ar-SA" altLang="en-US" sz="1550" b="1" dirty="0">
                <a:solidFill>
                  <a:srgbClr val="8A6D1E"/>
                </a:solidFill>
                <a:latin typeface="Amiri" pitchFamily="34" charset="0"/>
                <a:ea typeface="Amiri" pitchFamily="34" charset="-122"/>
                <a:cs typeface="Amiri" pitchFamily="34" charset="-120"/>
              </a:rPr>
              <a:t>الَّتِي</a:t>
            </a:r>
            <a:pPr algn="l" indent="0" marL="0">
              <a:buNone/>
            </a:pPr>
            <a:r>
              <a:rPr lang="en-US" sz="1200" b="1" dirty="0">
                <a:solidFill>
                  <a:srgbClr val="8A6D1E"/>
                </a:solidFill>
                <a:latin typeface="Calibri" pitchFamily="34" charset="0"/>
                <a:ea typeface="Calibri" pitchFamily="34" charset="-122"/>
                <a:cs typeface="Calibri" pitchFamily="34" charset="-120"/>
              </a:rPr>
              <a:t> after a feminine noun (</a:t>
            </a:r>
            <a:pPr algn="l" indent="0" marL="0">
              <a:buNone/>
            </a:pPr>
            <a:r>
              <a:rPr lang="ar-SA" altLang="en-US" sz="1550" b="1" dirty="0">
                <a:solidFill>
                  <a:srgbClr val="8A6D1E"/>
                </a:solidFill>
                <a:latin typeface="Amiri" pitchFamily="34" charset="0"/>
                <a:ea typeface="Amiri" pitchFamily="34" charset="-122"/>
                <a:cs typeface="Amiri" pitchFamily="34" charset="-120"/>
              </a:rPr>
              <a:t>ـة</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ـهُ / ـهَا</a:t>
            </a:r>
            <a:pPr algn="l" indent="0" marL="0">
              <a:buNone/>
            </a:pPr>
            <a:r>
              <a:rPr lang="en-US" sz="1200" b="1" dirty="0">
                <a:solidFill>
                  <a:srgbClr val="8A6D1E"/>
                </a:solidFill>
                <a:latin typeface="Calibri" pitchFamily="34" charset="0"/>
                <a:ea typeface="Calibri" pitchFamily="34" charset="-122"/>
                <a:cs typeface="Calibri" pitchFamily="34" charset="-120"/>
              </a:rPr>
              <a:t> = it.</a:t>
            </a:r>
            <a:endParaRPr lang="en-US" sz="12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Present, past,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أَحْجِزُ · حَجَزْتُ · سَأَحْجِزُ</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أَحْجِزُ تَذَاكِرِي مُبَكِّرًا   ·   سَأَحْجِزُ رِحْلَةً إِلَى مَرَّاكُشَ</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كُنْتُ قَدْ حَجَزْتُ</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حَجَزْتُ المَطْعَمَ قَبْلَ أَنْ نَصِلَ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Type 1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إِذَا حَجَزْتَ … سَـ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حَجَزْتَ مُبَكِّرًا، سَتَحْصُلُ عَلَى سِعْرٍ أَرْخَصَ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Type 2 and </a:t>
            </a:r>
            <a:pPr algn="l" indent="0" marL="0">
              <a:buNone/>
            </a:pPr>
            <a:r>
              <a:rPr lang="ar-SA" altLang="en-US" sz="1650" b="1" dirty="0">
                <a:solidFill>
                  <a:srgbClr val="1B3B6F"/>
                </a:solidFill>
                <a:latin typeface="Amiri" pitchFamily="34" charset="0"/>
                <a:ea typeface="Amiri" pitchFamily="34" charset="-122"/>
                <a:cs typeface="Amiri" pitchFamily="34" charset="-120"/>
              </a:rPr>
              <a:t>يُقِيمُ 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لَوْ حَجَزْتُ … لَـ · يُقِيمُ فِي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حَجَزْتُ فِي فُنْدُقٍ آخَرَ، لَكَانَ أَفْضَلَ   ·   أُقِيمُ فِي فُنْدُقٍ قَرِيبٍ مِنَ الشَّاطِئِ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present: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أُقِيمُ ___ فُنْدُقٍ قَرِيبٍ مِنَ الشَّاطِئِ.</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أَقَمْتُ فِي شَقَّةٍ مَفْرُوشَةٍ.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أُقِيمُ فِي شَقَّةٍ مَفْرُوشَةٍ أَمْسِ.</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سَأُقِيمُ فِي شَقَّةٍ أَمْسِ.</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present: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سَأَحْجِزُ</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أَحْجِزُ</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first person is </a:t>
            </a:r>
            <a:pPr algn="l" indent="0" marL="0">
              <a:buNone/>
            </a:pPr>
            <a:r>
              <a:rPr lang="ar-SA" altLang="en-US" sz="1350" dirty="0">
                <a:solidFill>
                  <a:srgbClr val="8A6D1E"/>
                </a:solidFill>
                <a:latin typeface="Amiri" pitchFamily="34" charset="0"/>
                <a:ea typeface="Amiri" pitchFamily="34" charset="-122"/>
                <a:cs typeface="Amiri" pitchFamily="34" charset="-120"/>
              </a:rPr>
              <a:t>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سَأَحْجِزُ</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future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سَأَحْجِزُ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أُقِيمُ ___ فُنْدُقٍ قَرِيبٍ مِنَ الشَّاطِئِ.</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أَقَمْتُ فِي شَقَّةٍ مَفْرُوشَةٍ.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أُقِيمُ فِي شَقَّةٍ مَفْرُوشَةٍ أَمْسِ.</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سَأُقِيمُ فِي شَقَّةٍ أَمْسِ.</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is </a:t>
            </a:r>
            <a:pPr algn="l" indent="0" marL="0">
              <a:buNone/>
            </a:pPr>
            <a:r>
              <a:rPr lang="ar-SA" altLang="en-US" sz="1350" dirty="0">
                <a:solidFill>
                  <a:srgbClr val="8A6D1E"/>
                </a:solidFill>
                <a:latin typeface="Amiri" pitchFamily="34" charset="0"/>
                <a:ea typeface="Amiri" pitchFamily="34" charset="-122"/>
                <a:cs typeface="Amiri" pitchFamily="34" charset="-120"/>
              </a:rPr>
              <a:t>أَقَمْتُ 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a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(later)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أَحْجِزُ رِحْلَةً إِلَى مَرَّاكُشَ</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سَـ</a:t>
            </a:r>
            <a:pPr algn="l" indent="0" marL="0">
              <a:buNone/>
            </a:pPr>
            <a:r>
              <a:rPr lang="en-US" sz="1150" dirty="0">
                <a:solidFill>
                  <a:srgbClr val="1F2A37"/>
                </a:solidFill>
                <a:latin typeface="Calibri" pitchFamily="34" charset="0"/>
                <a:ea typeface="Calibri" pitchFamily="34" charset="-122"/>
                <a:cs typeface="Calibri" pitchFamily="34" charset="-120"/>
              </a:rPr>
              <a:t> = will. A website sentence.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Documents (before)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جَدَّدْ</a:t>
            </a:r>
            <a:pPr rtl="1" algn="ctr" indent="0" marL="0">
              <a:buNone/>
            </a:pPr>
            <a:r>
              <a:rPr lang="ar-SA" altLang="en-US" sz="2800" b="1" dirty="0">
                <a:solidFill>
                  <a:srgbClr val="1D5FBF"/>
                </a:solidFill>
                <a:latin typeface="Amiri" pitchFamily="34" charset="0"/>
                <a:ea typeface="Amiri" pitchFamily="34" charset="-122"/>
                <a:cs typeface="Amiri" pitchFamily="34" charset="-120"/>
              </a:rPr>
              <a:t>تُ</a:t>
            </a:r>
            <a:pPr rtl="1" algn="ctr" indent="0" marL="0">
              <a:buNone/>
            </a:pPr>
            <a:r>
              <a:rPr lang="ar-SA" altLang="en-US" sz="2800" b="1" dirty="0">
                <a:solidFill>
                  <a:srgbClr val="1B3B6F"/>
                </a:solidFill>
                <a:latin typeface="Amiri" pitchFamily="34" charset="0"/>
                <a:ea typeface="Amiri" pitchFamily="34" charset="-122"/>
                <a:cs typeface="Amiri" pitchFamily="34" charset="-120"/>
              </a:rPr>
              <a:t> جَوَازَ سَفَرِي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a:t>
            </a:r>
            <a:pPr algn="l" indent="0" marL="0">
              <a:buNone/>
            </a:pPr>
            <a:r>
              <a:rPr lang="ar-SA" altLang="en-US" sz="1500" dirty="0">
                <a:solidFill>
                  <a:srgbClr val="1F2A37"/>
                </a:solidFill>
                <a:latin typeface="Amiri" pitchFamily="34" charset="0"/>
                <a:ea typeface="Amiri" pitchFamily="34" charset="-122"/>
                <a:cs typeface="Amiri" pitchFamily="34" charset="-120"/>
              </a:rPr>
              <a:t>ـتُ</a:t>
            </a:r>
            <a:pPr algn="l" indent="0" marL="0">
              <a:buNone/>
            </a:pPr>
            <a:r>
              <a:rPr lang="en-US" sz="1150" dirty="0">
                <a:solidFill>
                  <a:srgbClr val="1F2A37"/>
                </a:solidFill>
                <a:latin typeface="Calibri" pitchFamily="34" charset="0"/>
                <a:ea typeface="Calibri" pitchFamily="34" charset="-122"/>
                <a:cs typeface="Calibri" pitchFamily="34" charset="-120"/>
              </a:rPr>
              <a:t> at the END =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will I stay?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سَأُقِيمُ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رِيَاضٍ تَقْلِيدِيٍّ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يُقِيمُ</a:t>
            </a:r>
            <a:pPr algn="l" indent="0" marL="0">
              <a:buNone/>
            </a:pPr>
            <a:r>
              <a:rPr lang="en-US" sz="1150" dirty="0">
                <a:solidFill>
                  <a:srgbClr val="1F2A37"/>
                </a:solidFill>
                <a:latin typeface="Calibri" pitchFamily="34" charset="0"/>
                <a:ea typeface="Calibri" pitchFamily="34" charset="-122"/>
                <a:cs typeface="Calibri" pitchFamily="34" charset="-120"/>
              </a:rPr>
              <a:t> always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Advice (instruction)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اِحْجِزْ</a:t>
            </a:r>
            <a:pPr rtl="1" algn="ctr" indent="0" marL="0">
              <a:buNone/>
            </a:pPr>
            <a:r>
              <a:rPr lang="ar-SA" altLang="en-US" sz="2800" b="1" dirty="0">
                <a:solidFill>
                  <a:srgbClr val="1B3B6F"/>
                </a:solidFill>
                <a:latin typeface="Amiri" pitchFamily="34" charset="0"/>
                <a:ea typeface="Amiri" pitchFamily="34" charset="-122"/>
                <a:cs typeface="Amiri" pitchFamily="34" charset="-120"/>
              </a:rPr>
              <a:t> مُبَكِّرًا!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instruction: “Book early!”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 / KEY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50" b="1" dirty="0">
                <a:solidFill>
                  <a:srgbClr val="0E7C86"/>
                </a:solidFill>
                <a:latin typeface="Amiri" pitchFamily="34" charset="0"/>
                <a:ea typeface="Amiri" pitchFamily="34" charset="-122"/>
                <a:cs typeface="Amiri" pitchFamily="34" charset="-120"/>
              </a:rPr>
              <a:t>سَ</a:t>
            </a:r>
            <a:pPr rtl="1" algn="r" indent="0" marL="0">
              <a:buNone/>
            </a:pPr>
            <a:r>
              <a:rPr lang="ar-SA" altLang="en-US" sz="2150" b="1" dirty="0">
                <a:solidFill>
                  <a:srgbClr val="1B3B6F"/>
                </a:solidFill>
                <a:latin typeface="Amiri" pitchFamily="34" charset="0"/>
                <a:ea typeface="Amiri" pitchFamily="34" charset="-122"/>
                <a:cs typeface="Amiri" pitchFamily="34" charset="-120"/>
              </a:rPr>
              <a:t>أَحْجِزُ رِحْلَةً إِلَى مَرَّاكُشَ. جَدَّدْ</a:t>
            </a:r>
            <a:pPr rtl="1" algn="r" indent="0" marL="0">
              <a:buNone/>
            </a:pPr>
            <a:r>
              <a:rPr lang="ar-SA" altLang="en-US" sz="2150" b="1" dirty="0">
                <a:solidFill>
                  <a:srgbClr val="1D5FBF"/>
                </a:solidFill>
                <a:latin typeface="Amiri" pitchFamily="34" charset="0"/>
                <a:ea typeface="Amiri" pitchFamily="34" charset="-122"/>
                <a:cs typeface="Amiri" pitchFamily="34" charset="-120"/>
              </a:rPr>
              <a:t>تُ</a:t>
            </a:r>
            <a:pPr rtl="1" algn="r" indent="0" marL="0">
              <a:buNone/>
            </a:pPr>
            <a:r>
              <a:rPr lang="ar-SA" altLang="en-US" sz="2150" b="1" dirty="0">
                <a:solidFill>
                  <a:srgbClr val="1B3B6F"/>
                </a:solidFill>
                <a:latin typeface="Amiri" pitchFamily="34" charset="0"/>
                <a:ea typeface="Amiri" pitchFamily="34" charset="-122"/>
                <a:cs typeface="Amiri" pitchFamily="34" charset="-120"/>
              </a:rPr>
              <a:t> جَوَازَ سَفَرِي، وَسَأُقِيمُ </a:t>
            </a:r>
            <a:pPr rtl="1" algn="r" indent="0" marL="0">
              <a:buNone/>
            </a:pPr>
            <a:r>
              <a:rPr lang="ar-SA" altLang="en-US" sz="2150" b="1" dirty="0">
                <a:solidFill>
                  <a:srgbClr val="0E7C86"/>
                </a:solidFill>
                <a:latin typeface="Amiri" pitchFamily="34" charset="0"/>
                <a:ea typeface="Amiri" pitchFamily="34" charset="-122"/>
                <a:cs typeface="Amiri" pitchFamily="34" charset="-120"/>
              </a:rPr>
              <a:t>فِي</a:t>
            </a:r>
            <a:pPr rtl="1" algn="r" indent="0" marL="0">
              <a:buNone/>
            </a:pPr>
            <a:r>
              <a:rPr lang="ar-SA" altLang="en-US" sz="2150" b="1" dirty="0">
                <a:solidFill>
                  <a:srgbClr val="1B3B6F"/>
                </a:solidFill>
                <a:latin typeface="Amiri" pitchFamily="34" charset="0"/>
                <a:ea typeface="Amiri" pitchFamily="34" charset="-122"/>
                <a:cs typeface="Amiri" pitchFamily="34" charset="-120"/>
              </a:rPr>
              <a:t> رِيَاضٍ تَقْلِيدِيٍّ فِي المَدِينَةِ القَدِيمَةِ. نَصِيحَتِي: </a:t>
            </a:r>
            <a:pPr rtl="1" algn="r" indent="0" marL="0">
              <a:buNone/>
            </a:pPr>
            <a:r>
              <a:rPr lang="ar-SA" altLang="en-US" sz="2150" b="1" dirty="0">
                <a:solidFill>
                  <a:srgbClr val="0E7C86"/>
                </a:solidFill>
                <a:latin typeface="Amiri" pitchFamily="34" charset="0"/>
                <a:ea typeface="Amiri" pitchFamily="34" charset="-122"/>
                <a:cs typeface="Amiri" pitchFamily="34" charset="-120"/>
              </a:rPr>
              <a:t>اِحْجِزْ</a:t>
            </a:r>
            <a:pPr rtl="1" algn="r" indent="0" marL="0">
              <a:buNone/>
            </a:pPr>
            <a:r>
              <a:rPr lang="ar-SA" altLang="en-US" sz="2150" b="1" dirty="0">
                <a:solidFill>
                  <a:srgbClr val="1B3B6F"/>
                </a:solidFill>
                <a:latin typeface="Amiri" pitchFamily="34" charset="0"/>
                <a:ea typeface="Amiri" pitchFamily="34" charset="-122"/>
                <a:cs typeface="Amiri" pitchFamily="34" charset="-120"/>
              </a:rPr>
              <a:t> مُبَكِّرًا!</a:t>
            </a:r>
            <a:endParaRPr lang="ar-SA" sz="21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will book a trip to Marrakesh. I renewed my passport, and I will stay in a traditional riad in the old city. My advice: book early!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جَوَازُ سَفَرٍ.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passport.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أُقِيمُ فِي رِيَاضٍ تَقْلِيدِيٍّ فِي المَدِينَةِ القَدِيمَةِ.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stay in a traditional riad in the old 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يُقِيمُ فِي before accommodation.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تُؤَكِّدُ الرِّسَالَةُ أَنَّ الْمَوْعِدَ فِي السَّاعَةِ الْعَاشِرَةِ.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message confirms that the appointment is at ten o’clock.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read a message for the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حَجَزْتُ رِحْلَتِي قَبْلَ شَهْرَيْنِ.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booked my trip two months earlier.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perfect of يَحْجِزُ.</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“DOCUMENT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34" charset="0"/>
                <a:ea typeface="Amiri" pitchFamily="34" charset="-122"/>
                <a:cs typeface="Amiri" pitchFamily="34" charset="-120"/>
              </a:rPr>
              <a:t>جواز سفر</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10:00</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£24.50</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تُؤَكِّدُ الرِّسَالَةُ أَنَّ الْمَوْعِدَ فِي السَّاعَةِ الْعَاشِرَةِ.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اَلْمَبْلَغُ الإِجْمَالِيُّ أَرْبَعَةٌ وَعِشْرُونَ جُنَيْهًا وَخَمْسُونَ بِنْسًا.</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جَوَازُ سَفَرٍ.</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34" charset="0"/>
                <a:ea typeface="Amiri" pitchFamily="34" charset="-122"/>
                <a:cs typeface="Amiri" pitchFamily="34" charset="-120"/>
              </a:rPr>
              <a:t>جواز سفر</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جَوَازُ سَفَرٍ.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passport.</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10:00</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تُؤَكِّدُ الرِّسَالَةُ أَنَّ الْمَوْعِدَ فِي السَّاعَةِ الْعَاشِرَةِ.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message confirms that the appointment is at ten o’clock.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£24.50</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اَلْمَبْلَغُ الإِجْمَالِيُّ أَرْبَعَةٌ وَعِشْرُونَ جُنَيْهًا وَخَمْسُونَ بِنْسًا.</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total amount is twenty-four pounds and fifty pence.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DOCUMENT DETECTIVE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a booking confirmation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رِسَالَةُ تَأْكِيدِ الحَجْزِ</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شُكْرًا لَكَ! تَمَّ حَجْزُ رِحْلَتِكَ إِلَى مَرَّاكُشَ.</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مَوْعِدُ القِيَامِ: يَوْمَ السَّبْتِ، السَّاعَةَ العَاشِرَةَ صَبَاحًا.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البَوَّابَةُ: ١٢  ·  الدَّرَجَةُ الاِقْتِصَادِيَّةُ.</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وَزْنُ الأَمْتِعَةِ: ٢٠ كِيلُوغْرَامًا فَقَطْ.</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سَتُقِيمُ فِي فُنْدُقٍ بِخَمْسِ نُجُومٍ قُرْبَ المَدِينَةِ القَدِيمَةِ.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مُهِمٌّ: أَحْضِرْ جَوَازَ سَفَرِكَ وَالتَّأْشِيرَةَ، وَسَجِّلِ الوُصُولَ إِلِكْتْرُونِيًّا قَبْلَ الرِّحْلَةِ.</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تَأْكِيدُ الحَجْزِ</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booking confirmation</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 حَجْزُ …</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 has been booked</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مَوْعِدُ القِيَامِ</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departure time</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السَّبْتِ</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Saturday</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البَوَّابَةُ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gate</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وَزْنُ الأَمْتِعَةِ</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baggage weight</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سَتُقِيمُ فِي</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will stay at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مُهِمٌّ</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important</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أَحْضِرْ</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bring!</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سَجِّلِ الوُصُولَ</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check in!</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DOCUMENT DETECTIVE ·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key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flight leave?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Sunday, 10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12 noon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10 a.m.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baggage can you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kg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kg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you stay?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furnished apartment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five-star hotel near the old city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traditional riad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bring?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passport and visa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ticket and insurance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When?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مَوْعِدُ</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Gate?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البَوَّابَةُ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Baggage?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الأَمْتِعَةُ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Bring?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أَحْضِرْ</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DOCUMENT DETECTIVE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Key facts: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flight leave?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Sunday, 10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 12 noon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Saturday, 10 a.m.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مَوْعِدُ القِيَامِ: يَوْمَ السَّبْتِ، السَّاعَةَ العَاشِرَةَ صَبَاحًا.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gate?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البَوَّابَةُ: ١٢</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baggage can you take?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kg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kg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وَزْنُ الأَمْتِعَةِ: ٢٠ كِيلُوغْرَامًا فَقَطْ.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you stay?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furnished apartment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five-star hotel near the old city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traditional riad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سَتُقِيمُ فِي فُنْدُقٍ بِخَمْسِ نُجُومٍ قُرْبَ المَدِينَةِ القَدِيمَةِ.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bring?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Your passport and visa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Your ticket and insurance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أَحْضِرْ جَوَازَ سَفَرِكَ وَالتَّأْشِيرَةَ.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When?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مَوْعِدُ</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Gate?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البَوَّابَةُ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Baggage?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الأَمْتِعَةُ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Bring?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أَحْضِرْ</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will stay in a hotel.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أُقِيمُ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سَأُقِيمُ</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فُنْدُقٍ.</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فُنْدُقًا.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booked the hotel a month ago.</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أَحْجِزُ</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حَجَزْتُ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الفُنْدُقَ</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التَّأْشِيرَةَ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بَعْدَ شَهْرٍ.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قَبْلَ شَهْرٍ.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Bring your passport and visa!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أَحْضِرْ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يُحْضِرُ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جَدْوَلَ رِحْلَتِكَ</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جَوَازَ سَفَرِكَ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وَالتَّأْشِيرَةَ!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وَالبَوَّابَةَ!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will stay in a hotel.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Future </a:t>
            </a:r>
            <a:pPr algn="l" indent="0" marL="0">
              <a:buNone/>
            </a:pPr>
            <a:r>
              <a:rPr lang="ar-SA" altLang="en-US" sz="1350" dirty="0">
                <a:solidFill>
                  <a:srgbClr val="5A6472"/>
                </a:solidFill>
                <a:latin typeface="Amiri" pitchFamily="34" charset="0"/>
                <a:ea typeface="Amiri" pitchFamily="34" charset="-122"/>
                <a:cs typeface="Amiri" pitchFamily="34" charset="-120"/>
              </a:rPr>
              <a:t>سَـ</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يُقِيمُ فِي</a:t>
            </a:r>
            <a:pPr algn="l" indent="0" marL="0">
              <a:buNone/>
            </a:pPr>
            <a:r>
              <a:rPr lang="en-US" sz="1050" i="1" dirty="0">
                <a:solidFill>
                  <a:srgbClr val="5A6472"/>
                </a:solidFill>
                <a:latin typeface="Calibri" pitchFamily="34" charset="0"/>
                <a:ea typeface="Calibri" pitchFamily="34" charset="-122"/>
                <a:cs typeface="Calibri" pitchFamily="34" charset="-120"/>
              </a:rPr>
              <a:t> + place.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سَأُقِيمُ فِي فُنْدُقٍ.</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booked the hotel a month ago.</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Past: </a:t>
            </a:r>
            <a:pPr algn="l" indent="0" marL="0">
              <a:buNone/>
            </a:pPr>
            <a:r>
              <a:rPr lang="ar-SA" altLang="en-US" sz="1350" dirty="0">
                <a:solidFill>
                  <a:srgbClr val="5A6472"/>
                </a:solidFill>
                <a:latin typeface="Amiri" pitchFamily="34" charset="0"/>
                <a:ea typeface="Amiri" pitchFamily="34" charset="-122"/>
                <a:cs typeface="Amiri" pitchFamily="34" charset="-120"/>
              </a:rPr>
              <a:t>حَجَزْتُ</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ـتُ</a:t>
            </a:r>
            <a:pPr algn="l" indent="0" marL="0">
              <a:buNone/>
            </a:pPr>
            <a:r>
              <a:rPr lang="en-US" sz="1050" i="1" dirty="0">
                <a:solidFill>
                  <a:srgbClr val="5A6472"/>
                </a:solidFill>
                <a:latin typeface="Calibri" pitchFamily="34" charset="0"/>
                <a:ea typeface="Calibri" pitchFamily="34" charset="-122"/>
                <a:cs typeface="Calibri" pitchFamily="34" charset="-120"/>
              </a:rPr>
              <a:t> = I); </a:t>
            </a:r>
            <a:pPr algn="l" indent="0" marL="0">
              <a:buNone/>
            </a:pPr>
            <a:r>
              <a:rPr lang="ar-SA" altLang="en-US" sz="1350" dirty="0">
                <a:solidFill>
                  <a:srgbClr val="5A6472"/>
                </a:solidFill>
                <a:latin typeface="Amiri" pitchFamily="34" charset="0"/>
                <a:ea typeface="Amiri" pitchFamily="34" charset="-122"/>
                <a:cs typeface="Amiri" pitchFamily="34" charset="-120"/>
              </a:rPr>
              <a:t>قَبْلَ</a:t>
            </a:r>
            <a:pPr algn="l" indent="0" marL="0">
              <a:buNone/>
            </a:pPr>
            <a:r>
              <a:rPr lang="en-US" sz="1050" i="1" dirty="0">
                <a:solidFill>
                  <a:srgbClr val="5A6472"/>
                </a:solidFill>
                <a:latin typeface="Calibri" pitchFamily="34" charset="0"/>
                <a:ea typeface="Calibri" pitchFamily="34" charset="-122"/>
                <a:cs typeface="Calibri" pitchFamily="34" charset="-120"/>
              </a:rPr>
              <a:t> = ago, before.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حَجَزْتُ الفُنْدُقَ قَبْلَ شَهْرٍ.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Bring your passport and visa!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 instruction: </a:t>
            </a:r>
            <a:pPr algn="l" indent="0" marL="0">
              <a:buNone/>
            </a:pPr>
            <a:r>
              <a:rPr lang="ar-SA" altLang="en-US" sz="1350" dirty="0">
                <a:solidFill>
                  <a:srgbClr val="5A6472"/>
                </a:solidFill>
                <a:latin typeface="Amiri" pitchFamily="34" charset="0"/>
                <a:ea typeface="Amiri" pitchFamily="34" charset="-122"/>
                <a:cs typeface="Amiri" pitchFamily="34" charset="-120"/>
              </a:rPr>
              <a:t>أَحْضِرْ</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أَحْضِرْ جَوَازَ سَفَرِكَ وَالتَّأْشِيرَةَ!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past or future?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أَحْجِزُ</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أُقِيمُ فِي</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سَتَحْصُلُ</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يَحْجِزُ</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أَقَمْتُ فِي</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لَكَانَ</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 past perfect</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 conditional</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أَحْجِزُ</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أُقِيمُ فِي</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يَحْجِزُ</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 past perfect</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أَقَمْتُ فِي</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 conditional</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سَتَحْصُلُ</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لَكَانَ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3, 4,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___ مُبَكِّرًا، سَتَحْصُلُ عَلَى سِعْرٍ أَرْخَصَ.</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تَحْجِزُ</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سَتَحْجِزُ</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فِي فُنْدُقٍ آخَرَ، ___ أَفْضَلَ.</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three structures?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حَجَزْتُ فُنْدُقًا جَمِيلًا.</a:t>
            </a:r>
            <a:endParaRPr lang="ar-SA" sz="13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أُحِبُّ السَّفَرَ.</a:t>
            </a:r>
            <a:endParaRPr lang="ar-SA" sz="13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كُنْتُ قَدْ حَجَزْتُ فُنْدُقِي، وَأَشَارَ المُنَظِّمُ إِلَى أَنَّهُ إِذَا وَصَلْنَا مُبَكِّرًا سَنَحْصُلُ عَلَى تَرْقِيَةٍ.</a:t>
            </a:r>
            <a:endParaRPr lang="ar-SA" sz="13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is </a:t>
            </a:r>
            <a:pPr algn="l" indent="0" marL="0">
              <a:buNone/>
            </a:pPr>
            <a:r>
              <a:rPr lang="ar-SA" altLang="en-US" sz="1350" dirty="0">
                <a:solidFill>
                  <a:srgbClr val="8A6D1E"/>
                </a:solidFill>
                <a:latin typeface="Amiri" pitchFamily="34" charset="0"/>
                <a:ea typeface="Amiri" pitchFamily="34" charset="-122"/>
                <a:cs typeface="Amiri" pitchFamily="34" charset="-120"/>
              </a:rPr>
              <a:t>كُنْتُ قَدْ حَجَزْتُ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___ مُبَكِّرًا، سَتَحْصُلُ عَلَى سِعْرٍ أَرْخَصَ.</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تَحْجِزُ</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حَجَزْتَ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سَتَحْجِزُ</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فِي فُنْدُقٍ آخَرَ، ___ أَفْضَلَ.</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 on a past verb.</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three structures?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حَجَزْتُ فُنْدُقًا جَمِيلًا.</a:t>
            </a:r>
            <a:endParaRPr lang="ar-SA" sz="13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أُحِبُّ السَّفَرَ.</a:t>
            </a:r>
            <a:endParaRPr lang="ar-SA" sz="13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كُنْتُ قَدْ حَجَزْتُ فُنْدُقِي، وَأَشَارَ المُنَظِّمُ إِلَى أَنَّهُ إِذَا وَصَلْنَا مُبَكِّرًا سَنَحْصُلُ عَلَى تَرْقِيَةٍ.</a:t>
            </a:r>
            <a:endParaRPr lang="ar-SA" sz="13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perfect + reported speech + Type 1 conditional in one sentence.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أُقِيمُ فُنْدُقًا بِخَمْسِ نُجُومٍ.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small word must come after </a:t>
            </a:r>
            <a:pPr algn="l" indent="0" marL="0">
              <a:buNone/>
            </a:pPr>
            <a:r>
              <a:rPr lang="ar-SA" altLang="en-US" sz="1700" dirty="0">
                <a:solidFill>
                  <a:srgbClr val="5A6472"/>
                </a:solidFill>
                <a:latin typeface="Amiri" pitchFamily="34" charset="0"/>
                <a:ea typeface="Amiri" pitchFamily="34" charset="-122"/>
                <a:cs typeface="Amiri" pitchFamily="34" charset="-120"/>
              </a:rPr>
              <a:t>أُقِيمُ</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تَحْجِزُ مُبَكِّرًا، سَتَحْصُلُ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إِذَا</a:t>
            </a:r>
            <a:pPr algn="l" indent="0" marL="0">
              <a:buNone/>
            </a:pPr>
            <a:r>
              <a:rPr lang="en-US" sz="1300" i="1" dirty="0">
                <a:solidFill>
                  <a:srgbClr val="5A6472"/>
                </a:solidFill>
                <a:latin typeface="Calibri" pitchFamily="34" charset="0"/>
                <a:ea typeface="Calibri" pitchFamily="34" charset="-122"/>
                <a:cs typeface="Calibri" pitchFamily="34" charset="-120"/>
              </a:rPr>
              <a:t>, do we use the past or the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حَجَزْتُ فِي فُنْدُقٍ آخَرَ، سَيَكُونُ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لَوْ</a:t>
            </a:r>
            <a:pPr algn="l" indent="0" marL="0">
              <a:buNone/>
            </a:pPr>
            <a:r>
              <a:rPr lang="en-US" sz="1300" i="1" dirty="0">
                <a:solidFill>
                  <a:srgbClr val="5A6472"/>
                </a:solidFill>
                <a:latin typeface="Calibri" pitchFamily="34" charset="0"/>
                <a:ea typeface="Calibri" pitchFamily="34" charset="-122"/>
                <a:cs typeface="Calibri" pitchFamily="34" charset="-120"/>
              </a:rPr>
              <a:t>, which result word: </a:t>
            </a:r>
            <a:pPr algn="l" indent="0" marL="0">
              <a:buNone/>
            </a:pPr>
            <a:r>
              <a:rPr lang="ar-SA" altLang="en-US" sz="1700" dirty="0">
                <a:solidFill>
                  <a:srgbClr val="5A6472"/>
                </a:solidFill>
                <a:latin typeface="Amiri" pitchFamily="34" charset="0"/>
                <a:ea typeface="Amiri" pitchFamily="34" charset="-122"/>
                <a:cs typeface="Amiri" pitchFamily="34" charset="-120"/>
              </a:rPr>
              <a:t>سَـ</a:t>
            </a:r>
            <a:pPr algn="l" indent="0" marL="0">
              <a:buNone/>
            </a:pPr>
            <a:r>
              <a:rPr lang="en-US" sz="1300" i="1" dirty="0">
                <a:solidFill>
                  <a:srgbClr val="5A6472"/>
                </a:solidFill>
                <a:latin typeface="Calibri" pitchFamily="34" charset="0"/>
                <a:ea typeface="Calibri" pitchFamily="34" charset="-122"/>
                <a:cs typeface="Calibri" pitchFamily="34" charset="-120"/>
              </a:rPr>
              <a:t> or </a:t>
            </a:r>
            <a:pPr algn="l" indent="0" marL="0">
              <a:buNone/>
            </a:pPr>
            <a:r>
              <a:rPr lang="ar-SA" altLang="en-US" sz="1700" dirty="0">
                <a:solidFill>
                  <a:srgbClr val="5A6472"/>
                </a:solidFill>
                <a:latin typeface="Amiri" pitchFamily="34" charset="0"/>
                <a:ea typeface="Amiri" pitchFamily="34" charset="-122"/>
                <a:cs typeface="Amiri" pitchFamily="34" charset="-120"/>
              </a:rPr>
              <a:t>لَـ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أُقِيمُ فُنْدُقًا بِخَمْسِ نُجُومٍ.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أُقِيمُ فِي فُنْدُقٍ بِخَمْسِ نُجُومٍ.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يُقِيمُ</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تَحْجِزُ مُبَكِّرًا، سَتَحْصُلُ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حَجَزْتَ مُبَكِّرًا، سَتَحْصُلُ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a past-form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حَجَزْتُ فِي فُنْدُقٍ آخَرَ، سَيَكُونُ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حَجَزْتُ فِي فُنْدُقٍ آخَرَ، لَكَانَ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Listening: planning a trip to Marrakesh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two months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Booked the trip and renewed the passport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traveller book early?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pay more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 first class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get economy class at a good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the traveller stay?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modern hotel outside the city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travel guide indicate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arrive early, they will visit the souk before the crowds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souk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a modern hotel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would have been better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have lost the charm of the old quarters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قَبْلَ شَهْرَيْنِ</a:t>
            </a:r>
            <a:pPr algn="l" indent="0" marL="0">
              <a:buNone/>
            </a:pPr>
            <a:r>
              <a:rPr lang="en-US" sz="1250" dirty="0">
                <a:solidFill>
                  <a:srgbClr val="1E6B52"/>
                </a:solidFill>
                <a:latin typeface="Calibri" pitchFamily="34" charset="0"/>
                <a:ea typeface="Calibri" pitchFamily="34" charset="-122"/>
                <a:cs typeface="Calibri" pitchFamily="34" charset="-120"/>
              </a:rPr>
              <a:t> (two months ago), </a:t>
            </a:r>
            <a:pPr algn="l" indent="0" marL="0">
              <a:buNone/>
            </a:pPr>
            <a:r>
              <a:rPr lang="ar-SA" altLang="en-US" sz="1650" dirty="0">
                <a:solidFill>
                  <a:srgbClr val="1E6B52"/>
                </a:solidFill>
                <a:latin typeface="Amiri" pitchFamily="34" charset="0"/>
                <a:ea typeface="Amiri" pitchFamily="34" charset="-122"/>
                <a:cs typeface="Amiri" pitchFamily="34" charset="-120"/>
              </a:rPr>
              <a:t>مُبَكِّرًا</a:t>
            </a:r>
            <a:pPr algn="l" indent="0" marL="0">
              <a:buNone/>
            </a:pPr>
            <a:r>
              <a:rPr lang="en-US" sz="1250" dirty="0">
                <a:solidFill>
                  <a:srgbClr val="1E6B52"/>
                </a:solidFill>
                <a:latin typeface="Calibri" pitchFamily="34" charset="0"/>
                <a:ea typeface="Calibri" pitchFamily="34" charset="-122"/>
                <a:cs typeface="Calibri" pitchFamily="34" charset="-120"/>
              </a:rPr>
              <a:t> (early) and </a:t>
            </a:r>
            <a:pPr algn="l" indent="0" marL="0">
              <a:buNone/>
            </a:pPr>
            <a:r>
              <a:rPr lang="ar-SA" altLang="en-US" sz="1650" dirty="0">
                <a:solidFill>
                  <a:srgbClr val="1E6B52"/>
                </a:solidFill>
                <a:latin typeface="Amiri" pitchFamily="34" charset="0"/>
                <a:ea typeface="Amiri" pitchFamily="34" charset="-122"/>
                <a:cs typeface="Amiri" pitchFamily="34" charset="-120"/>
              </a:rPr>
              <a:t>رِيَاضٍ تَقْلِيدِيٍّ</a:t>
            </a:r>
            <a:pPr algn="l" indent="0" marL="0">
              <a:buNone/>
            </a:pPr>
            <a:r>
              <a:rPr lang="en-US" sz="1250" dirty="0">
                <a:solidFill>
                  <a:srgbClr val="1E6B52"/>
                </a:solidFill>
                <a:latin typeface="Calibri" pitchFamily="34" charset="0"/>
                <a:ea typeface="Calibri" pitchFamily="34" charset="-122"/>
                <a:cs typeface="Calibri" pitchFamily="34" charset="-120"/>
              </a:rPr>
              <a:t> (a traditional riad).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يَقُولُ المُسَافِرُ: كُنْتُ قَدْ حَجَزْتُ رِحْلَتِي إِلَى مَرَّاكُشَ قَبْلَ شَهْرَيْنِ، وَكُنْتُ قَدْ جَدَّدْتُ جَوَازَ سَفَرِي.</a:t>
            </a:r>
            <a:endParaRPr lang="ar-SA" sz="17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traveller says: I had booked my trip to Marrakesh two months ago, and I had renewed my passport.</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أَحْجِزُ دَائِمًا تَذَاكِرِي مُبَكِّرًا لِأَحْصُلَ عَلَى الدَّرَجَةِ الاِقْتِصَادِيَّةِ بِسِعْرٍ مُنَاسِبٍ.</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always book my tickets early to get economy class at a good price.</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سَأُقِيمُ فِي رِيَاضٍ تَقْلِيدِيٍّ فِي المَدِينَةِ القَدِيمَةِ.</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stay in a traditional riad in the old city.</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وَأَشَارَ دَلِيلُ السَّفَرِ إِلَى أَنَّهُ إِذَا وَصَلْتُ مُبَكِّرًا، سَأَزُورُ سُوقَ الجُدَيْدَةِ قَبْلَ الزِّحَامِ.</a:t>
            </a:r>
            <a:endParaRPr lang="ar-SA" sz="185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 guide said that if I arrive early, I will visit the market before the crowds.</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التَّأْشِيرَةُ فَقَدْ حَصَلْتُ عَلَيْهَا إِلِكْتْرُونِيًّا.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visa, I got it online.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حَجَزْتُ فِي فُنْدُقٍ حَدِيثٍ خَارِجَ المَدِينَةِ، لَفَقَدْتُ سِحْرَ الأَحْيَاءِ القَدِيمَةِ.</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 booked a modern hotel outside the city, I would have lost the charm of the old quarters.</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سَأَحْمِلُ حَقِيبَةً وَاحِدَةً فَقَطْ لِأَتَجَنَّبَ رُسُومَ الأَمْتِعَةِ الزَّائِدَةِ.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carry only one bag to avoid extra baggage fees.</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two months earlier?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Booked the trip and renewed the passport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حَجَزْتُ رِحْلَتِي … وَكُنْتُ قَدْ جَدَّدْتُ جَوَازَ سَفَرِي.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traveller book early?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pay more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 first class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get economy class at a good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أَحْجِزُ دَائِمًا تَذَاكِرِي مُبَكِّرًا لِأَحْصُلَ عَلَى الدَّرَجَةِ الاِقْتِصَادِيَّةِ بِسِعْرٍ مُنَاسِبٍ.</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the traveller stay?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modern hotel outside the city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سَأُقِيمُ فِي رِيَاضٍ تَقْلِيدِيٍّ فِي المَدِينَةِ القَدِيمَةِ.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travel guide indicate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they arrive early, they will visit the souk before the crowds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souk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وَصَلْتُ مُبَكِّرًا، سَأَزُورُ سُوقَ الجُدَيْدَةِ قَبْلَ الزِّحَامِ.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a modern hotel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would have been better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would have lost the charm of the old quarters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لَوْ حَجَزْتُ فِي فُنْدُقٍ حَدِيثٍ خَارِجَ المَدِينَةِ، لَفَقَدْتُ سِحْرَ الأَحْيَاءِ القَدِيمَةِ.</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قَبْلَ شَهْرَيْنِ</a:t>
            </a:r>
            <a:pPr algn="l" indent="0" marL="0">
              <a:buNone/>
            </a:pPr>
            <a:r>
              <a:rPr lang="en-US" sz="1250" dirty="0">
                <a:solidFill>
                  <a:srgbClr val="1E6B52"/>
                </a:solidFill>
                <a:latin typeface="Calibri" pitchFamily="34" charset="0"/>
                <a:ea typeface="Calibri" pitchFamily="34" charset="-122"/>
                <a:cs typeface="Calibri" pitchFamily="34" charset="-120"/>
              </a:rPr>
              <a:t> (two months ago), </a:t>
            </a:r>
            <a:pPr algn="l" indent="0" marL="0">
              <a:buNone/>
            </a:pPr>
            <a:r>
              <a:rPr lang="ar-SA" altLang="en-US" sz="1650" dirty="0">
                <a:solidFill>
                  <a:srgbClr val="1E6B52"/>
                </a:solidFill>
                <a:latin typeface="Amiri" pitchFamily="34" charset="0"/>
                <a:ea typeface="Amiri" pitchFamily="34" charset="-122"/>
                <a:cs typeface="Amiri" pitchFamily="34" charset="-120"/>
              </a:rPr>
              <a:t>مُبَكِّرًا</a:t>
            </a:r>
            <a:pPr algn="l" indent="0" marL="0">
              <a:buNone/>
            </a:pPr>
            <a:r>
              <a:rPr lang="en-US" sz="1250" dirty="0">
                <a:solidFill>
                  <a:srgbClr val="1E6B52"/>
                </a:solidFill>
                <a:latin typeface="Calibri" pitchFamily="34" charset="0"/>
                <a:ea typeface="Calibri" pitchFamily="34" charset="-122"/>
                <a:cs typeface="Calibri" pitchFamily="34" charset="-120"/>
              </a:rPr>
              <a:t> (early) and </a:t>
            </a:r>
            <a:pPr algn="l" indent="0" marL="0">
              <a:buNone/>
            </a:pPr>
            <a:r>
              <a:rPr lang="ar-SA" altLang="en-US" sz="1650" dirty="0">
                <a:solidFill>
                  <a:srgbClr val="1E6B52"/>
                </a:solidFill>
                <a:latin typeface="Amiri" pitchFamily="34" charset="0"/>
                <a:ea typeface="Amiri" pitchFamily="34" charset="-122"/>
                <a:cs typeface="Amiri" pitchFamily="34" charset="-120"/>
              </a:rPr>
              <a:t>رِيَاضٍ تَقْلِيدِيٍّ</a:t>
            </a:r>
            <a:pPr algn="l" indent="0" marL="0">
              <a:buNone/>
            </a:pPr>
            <a:r>
              <a:rPr lang="en-US" sz="1250" dirty="0">
                <a:solidFill>
                  <a:srgbClr val="1E6B52"/>
                </a:solidFill>
                <a:latin typeface="Calibri" pitchFamily="34" charset="0"/>
                <a:ea typeface="Calibri" pitchFamily="34" charset="-122"/>
                <a:cs typeface="Calibri" pitchFamily="34" charset="-120"/>
              </a:rPr>
              <a:t> (a traditional riad).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talk through your trip plan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الوَثَائِقُ الَّتِي تَحْتَاجُهَا لِلسَّفَرِ؟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حَجَزْتَ رِحْلَتَكَ، وَأَيْنَ سَتُقِيمُ؟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سَجَّلْتَ الوُصُولَ إِلِكْتْرُونِيًّا؟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حَجَزْتَ فِي مَكَانٍ آخَرَ، مَاذَا كَانَ سَيَخْتَلِفُ؟</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أَحْتَاجُ إِلَى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حَجَزْتُ ___ ، وَسَأُقِيمُ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سَيُقِيمُ / سَتُقِيمُ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حَجَزْتَ رِحْلَتَكَ، وَأَيْنَ سَتُقِيمُ؟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did you book your trip, and where will you stay?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حَجَزْتُ رِحْلَتِي قَبْلَ شَهْرَيْنِ، وَسَأُقِيمُ فِي رِيَاضٍ تَقْلِيدِيٍّ.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Past perfect + future </a:t>
            </a:r>
            <a:pPr algn="l" indent="0" marL="0">
              <a:buNone/>
            </a:pPr>
            <a:r>
              <a:rPr lang="ar-SA" altLang="en-US" sz="1250" dirty="0">
                <a:solidFill>
                  <a:srgbClr val="5A6472"/>
                </a:solidFill>
                <a:latin typeface="Amiri" pitchFamily="34" charset="0"/>
                <a:ea typeface="Amiri" pitchFamily="34" charset="-122"/>
                <a:cs typeface="Amiri" pitchFamily="34" charset="-120"/>
              </a:rPr>
              <a:t>يُقِيمُ فِي</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t>
            </a:r>
            <a:pPr algn="l" indent="0" marL="0">
              <a:buNone/>
            </a:pPr>
            <a:r>
              <a:rPr lang="ar-SA" altLang="en-US" sz="1800" b="1" dirty="0">
                <a:solidFill>
                  <a:srgbClr val="1F2A37"/>
                </a:solidFill>
                <a:latin typeface="Amiri" pitchFamily="34" charset="0"/>
                <a:ea typeface="Amiri" pitchFamily="34" charset="-122"/>
                <a:cs typeface="Amiri" pitchFamily="34" charset="-120"/>
              </a:rPr>
              <a:t>يَحْجِزُ</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يُقِيمُ</a:t>
            </a:r>
            <a:pPr algn="l" indent="0" marL="0">
              <a:buNone/>
            </a:pPr>
            <a:r>
              <a:rPr lang="en-US" sz="1400" b="1" dirty="0">
                <a:solidFill>
                  <a:srgbClr val="1F2A37"/>
                </a:solidFill>
                <a:latin typeface="Calibri" pitchFamily="34" charset="0"/>
                <a:ea typeface="Calibri" pitchFamily="34" charset="-122"/>
                <a:cs typeface="Calibri" pitchFamily="34" charset="-120"/>
              </a:rPr>
              <a:t> in the present, past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on the next slide. Say when you book, where you will stay and which documents you need.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perfect and a Type 1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past perfect and one “if” sentence, then give a friend one instruction, such as “Book early!”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itinerary day using four structures, including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a day-by-day itinerary opening with كُنْتُ قَدْ حَجَزْتُ;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حَجَزْتُ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booked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سَـ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book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Bring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الفُنْدُقُ الَّذِي حَجَزْتُهُ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hotel that I booked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الدَّلِيلُ إِلَى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guide said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أَحْجِزُ ______ مُبَكِّرًا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book my ticket early.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حَجَزْتُ ______ قَبْلَ شَهْرٍ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booked … a month ago.</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سَأَحْجِزُ رِحْلَةً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book a trip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سَأُقِيمُ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stay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أَحْتَاجُ إِلَى جَوَازِ سَفَرٍ 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need a passport and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جَوَازُ سَفَرٍ  ·  تَأْشِيرَةٌ  ·  تَذْكِرَةٌ  ·  تَأْمِينُ سَفَرٍ  ·  فُنْدُقٍ  ·  شَقَّةٍ مَفْرُوشَةٍ  ·  رِيَاضٍ  ·  مَرَّاكُشَ  ·  عُمَانَ  ·  مُبَكِّرًا  ·  قَبْلَ شَهْرٍ  ·  الصَّيْفَ القَادِمَ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a day-by-day itinerary of one hundred to one hundred and ten words for a trip to an Arab city. Open with a past perfect (</a:t>
            </a:r>
            <a:pPr algn="l" indent="0" marL="0">
              <a:buNone/>
            </a:pPr>
            <a:r>
              <a:rPr lang="ar-SA" altLang="en-US" sz="1700" b="1" dirty="0">
                <a:solidFill>
                  <a:srgbClr val="1F2A37"/>
                </a:solidFill>
                <a:latin typeface="Amiri" pitchFamily="34" charset="0"/>
                <a:ea typeface="Amiri" pitchFamily="34" charset="-122"/>
                <a:cs typeface="Amiri" pitchFamily="34" charset="-120"/>
              </a:rPr>
              <a:t>كُنْتُ قَدْ حَجَزْتُ</a:t>
            </a:r>
            <a:pPr algn="l" indent="0" marL="0">
              <a:buNone/>
            </a:pPr>
            <a:r>
              <a:rPr lang="en-US" sz="1300" b="1" dirty="0">
                <a:solidFill>
                  <a:srgbClr val="1F2A37"/>
                </a:solidFill>
                <a:latin typeface="Calibri" pitchFamily="34" charset="0"/>
                <a:ea typeface="Calibri" pitchFamily="34" charset="-122"/>
                <a:cs typeface="Calibri" pitchFamily="34" charset="-120"/>
              </a:rPr>
              <a:t>), use </a:t>
            </a:r>
            <a:pPr algn="l" indent="0" marL="0">
              <a:buNone/>
            </a:pPr>
            <a:r>
              <a:rPr lang="ar-SA" altLang="en-US" sz="1700" b="1" dirty="0">
                <a:solidFill>
                  <a:srgbClr val="1F2A37"/>
                </a:solidFill>
                <a:latin typeface="Amiri" pitchFamily="34" charset="0"/>
                <a:ea typeface="Amiri" pitchFamily="34" charset="-122"/>
                <a:cs typeface="Amiri" pitchFamily="34" charset="-120"/>
              </a:rPr>
              <a:t>يُقِيمُ فِي</a:t>
            </a:r>
            <a:pPr algn="l" indent="0" marL="0">
              <a:buNone/>
            </a:pPr>
            <a:r>
              <a:rPr lang="en-US" sz="1300" b="1" dirty="0">
                <a:solidFill>
                  <a:srgbClr val="1F2A37"/>
                </a:solidFill>
                <a:latin typeface="Calibri" pitchFamily="34" charset="0"/>
                <a:ea typeface="Calibri" pitchFamily="34" charset="-122"/>
                <a:cs typeface="Calibri" pitchFamily="34" charset="-120"/>
              </a:rPr>
              <a:t>, at least one Type 1 conditional, a reported recommendation, and one Type 2 counterfactual.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opening with </a:t>
            </a:r>
            <a:pPr algn="l" indent="0" marL="0">
              <a:buNone/>
            </a:pPr>
            <a:r>
              <a:rPr lang="ar-SA" altLang="en-US" sz="1550" dirty="0">
                <a:solidFill>
                  <a:srgbClr val="1F2A37"/>
                </a:solidFill>
                <a:latin typeface="Amiri" pitchFamily="34" charset="0"/>
                <a:ea typeface="Amiri" pitchFamily="34" charset="-122"/>
                <a:cs typeface="Amiri" pitchFamily="34" charset="-120"/>
              </a:rPr>
              <a:t>يَحْجِزُ</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كُنْتُ قَدْ حَجَزْتُ</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يُقِيمُ فِي</a:t>
            </a:r>
            <a:pPr algn="l" indent="0" marL="0">
              <a:buNone/>
            </a:pPr>
            <a:r>
              <a:rPr lang="en-US" sz="1200" dirty="0">
                <a:solidFill>
                  <a:srgbClr val="1F2A37"/>
                </a:solidFill>
                <a:latin typeface="Calibri" pitchFamily="34" charset="0"/>
                <a:ea typeface="Calibri" pitchFamily="34" charset="-122"/>
                <a:cs typeface="Calibri" pitchFamily="34" charset="-120"/>
              </a:rPr>
              <a:t> before the accommodation.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conditional and a reported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اليَوْمُ الأَوَّلُ: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Day one: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حَجَزْتُ … قَبْلَ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had booked … before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وَأَشَارَ دَلِيلُ السَّفَرِ إِلَى أَنَّهُ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travel guide indicated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الطَّقْسُ جَيِّدًا، سَـ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the weather is good, I will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وَلَوْ كُنْتُ قَدْ حَجَزْتُ … لَحَصَلْتُ عَلَى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had I booked …, I would have got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أَنْصَحُ بِـ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recommend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اليَوْمُ الأَوَّلُ: كُنْتُ قَدْ حَجَزْتُ رِحْلَتِي إِلَى الدَّارِ البَيْضَاءِ قَبْلَ شَهْرَيْنِ، وَكُنْتُ قَدْ جَدَّدْتُ جَوَازَ سَفَرِي. سَأَصِلُ إِلَى المَطَارِ صَبَاحًا، وَسَأُقِيمُ فِي رِيَاضٍ تَقْلِيدِيٍّ فِي المَدِينَةِ القَدِيمَةِ. وَأَشَارَ دَلِيلُ السَّفَرِ إِلَى أَنَّهُ إِذَا وَصَلْتُ مُبَكِّرًا، سَأَزُورُ السُّوقَ قَبْلَ الزِّحَامِ. اليَوْمُ الثَّانِي: سَأَحْجِزُ جَوْلَةً إِلَى الجِبَالِ، وَإِذَا كَانَ الطَّقْسُ جَيِّدًا، سَأَتَنَزَّهُ طَوَالَ اليَوْمِ. اليَوْمُ الثَّالِثُ: سَأُقِيمُ لَيْلَةً أَخِيرَةً قُرْبَ الشَّاطِئِ. وَلَوْ كُنْتُ قَدْ حَجَزْتُ قَبْلَ العُطْلَةِ الرَّسْمِيَّةِ، لَحَصَلْتُ عَلَى سِعْرٍ أَرْخَصَ. لِذٰلِكَ أَنْصَحُ بِالحَجْزِ المُبَكِّرِ دَائِمًا.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Day one: I had booked my trip to Casablanca two months ago, and I had renewed my passport. I will arrive at the airport in the morning, and I will stay in a traditional riad in the old city. The travel guide said that if I arrive early, I will visit the market before the crowds. Day two: I will book a trip to the mountains, and if the weather is good, I will walk all day. Day three: I will stay one last night near the beach. Had I booked before the public holiday, I would have got a cheaper price. So I always recommend booking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كُنْتُ قَدْ حَجَزْتُ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يُقِيمُ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 سَـ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لَوْ … لَـ</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travel documents: </a:t>
            </a:r>
            <a:pPr algn="l" indent="0" marL="0">
              <a:buNone/>
            </a:pPr>
            <a:r>
              <a:rPr lang="ar-SA" altLang="en-US" sz="1700" dirty="0">
                <a:solidFill>
                  <a:srgbClr val="1F2A37"/>
                </a:solidFill>
                <a:latin typeface="Amiri" pitchFamily="34" charset="0"/>
                <a:ea typeface="Amiri" pitchFamily="34" charset="-122"/>
                <a:cs typeface="Amiri" pitchFamily="34" charset="-120"/>
              </a:rPr>
              <a:t>جَوَازُ سَفَرٍ، تَأْشِيرَةٌ، تَذْكِرَةٌ</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a:t>
            </a:r>
            <a:pPr algn="l" indent="0" marL="0">
              <a:buNone/>
            </a:pPr>
            <a:r>
              <a:rPr lang="ar-SA" altLang="en-US" sz="1700" dirty="0">
                <a:solidFill>
                  <a:srgbClr val="1F2A37"/>
                </a:solidFill>
                <a:latin typeface="Amiri" pitchFamily="34" charset="0"/>
                <a:ea typeface="Amiri" pitchFamily="34" charset="-122"/>
                <a:cs typeface="Amiri" pitchFamily="34" charset="-120"/>
              </a:rPr>
              <a:t>أَحْجِزُ / سَأَحْجِزُ</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سَأُقِيمُ فِي</a:t>
            </a:r>
            <a:pPr algn="l" indent="0" marL="0">
              <a:buNone/>
            </a:pPr>
            <a:r>
              <a:rPr lang="en-US" sz="1300" dirty="0">
                <a:solidFill>
                  <a:srgbClr val="1F2A37"/>
                </a:solidFill>
                <a:latin typeface="Calibri" pitchFamily="34" charset="0"/>
                <a:ea typeface="Calibri" pitchFamily="34" charset="-122"/>
                <a:cs typeface="Calibri" pitchFamily="34" charset="-120"/>
              </a:rPr>
              <a:t> … and find key facts in a message.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follow </a:t>
            </a:r>
            <a:pPr algn="l" indent="0" marL="0">
              <a:buNone/>
            </a:pPr>
            <a:r>
              <a:rPr lang="ar-SA" altLang="en-US" sz="1700" dirty="0">
                <a:solidFill>
                  <a:srgbClr val="1F2A37"/>
                </a:solidFill>
                <a:latin typeface="Amiri" pitchFamily="34" charset="0"/>
                <a:ea typeface="Amiri" pitchFamily="34" charset="-122"/>
                <a:cs typeface="Amiri" pitchFamily="34" charset="-120"/>
              </a:rPr>
              <a:t>يُقِيمُ</a:t>
            </a:r>
            <a:pPr algn="l" indent="0" marL="0">
              <a:buNone/>
            </a:pPr>
            <a:r>
              <a:rPr lang="en-US" sz="1300" dirty="0">
                <a:solidFill>
                  <a:srgbClr val="1F2A37"/>
                </a:solidFill>
                <a:latin typeface="Calibri" pitchFamily="34" charset="0"/>
                <a:ea typeface="Calibri" pitchFamily="34" charset="-122"/>
                <a:cs typeface="Calibri" pitchFamily="34" charset="-120"/>
              </a:rPr>
              <a:t> with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before accommodation.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understand instructions on a form: </a:t>
            </a:r>
            <a:pPr algn="l" indent="0" marL="0">
              <a:buNone/>
            </a:pPr>
            <a:r>
              <a:rPr lang="ar-SA" altLang="en-US" sz="1700" dirty="0">
                <a:solidFill>
                  <a:srgbClr val="1F2A37"/>
                </a:solidFill>
                <a:latin typeface="Amiri" pitchFamily="34" charset="0"/>
                <a:ea typeface="Amiri" pitchFamily="34" charset="-122"/>
                <a:cs typeface="Amiri" pitchFamily="34" charset="-120"/>
              </a:rPr>
              <a:t>أَحْضِرْ، سَجِّلْ، اِحْجِزْ</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open an itinerary day with a past perfect (</a:t>
            </a:r>
            <a:pPr algn="l" indent="0" marL="0">
              <a:buNone/>
            </a:pPr>
            <a:r>
              <a:rPr lang="ar-SA" altLang="en-US" sz="1700" dirty="0">
                <a:solidFill>
                  <a:srgbClr val="1F2A37"/>
                </a:solidFill>
                <a:latin typeface="Amiri" pitchFamily="34" charset="0"/>
                <a:ea typeface="Amiri" pitchFamily="34" charset="-122"/>
                <a:cs typeface="Amiri" pitchFamily="34" charset="-120"/>
              </a:rPr>
              <a:t>كُنْتُ قَدْ حَجَزْتُ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عُمَانَ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أُقِيمُ ___ فُنْدُقٍ قَرِيبٍ مِنَ الشَّاطِئِ.</a:t>
            </a:r>
            <a:endParaRPr lang="ar-SA" sz="10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إِذَا ___ مُبَكِّرًا، سَتَحْصُلُ عَلَى سِعْرٍ أَرْخَصَ.</a:t>
            </a:r>
            <a:endParaRPr lang="ar-SA" sz="10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تَحْجِزُ</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سَتَحْجِزُ</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عُمَانَ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سَأَحْجِزُ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حَجَزْتُ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أَحْجِزُ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future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سَأَحْجِزُ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أُقِيمُ ___ فُنْدُقٍ قَرِيبٍ مِنَ الشَّاطِئِ.</a:t>
            </a:r>
            <a:endParaRPr lang="ar-SA" sz="10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إِذَا ___ مُبَكِّرًا، سَتَحْصُلُ عَلَى سِعْرٍ أَرْخَصَ.</a:t>
            </a:r>
            <a:endParaRPr lang="ar-SA" sz="10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حَجَزْتَ</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تَحْجِزُ</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سَتَحْجِزُ</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traveller's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عِنْدَمَا أُخَطِّطُ لِرِحْلَةٍ، أَبْدَأُ بِالأَسَاسِيَّاتِ. أَحْجِزُ تَذْكِرَةَ الطَّائِرَةِ مُبَكِّرًا، وَأُجَدِّدُ جَوَازَ سَفَرِي، وَأَشْتَرِي تَأْمِينَ سَفَرٍ. فِي رِحْلَتِي الأَخِيرَةِ، كُنْتُ قَدْ حَجَزْتُ الفُنْدُقَ قَبْلَ شَهْرٍ، وَأَقَمْتُ فِي شَقَّةٍ مَفْرُوشَةٍ قَرِيبَةٍ مِنَ المَرْكَزِ. وَأَشَارَ المُنَظِّمُ إِلَى أَنَّهُ إِذَا سَجَّلْتُ الوُصُولَ إِلِكْتْرُونِيًّا، سَأُوَفِّرُ وَقْتًا فِي المَطَارِ. أَمَّا هٰذِهِ السَّنَةَ فَسَأَحْجِزُ رِحْلَةً إِلَى عُمَانَ، وَسَأُقِيمُ فِي نُزُلٍ جَبَلِيٍّ. وَلَوْ كُنْتُ قَدْ حَجَزْتُ قَبْلَ العُطْلَةِ الرَّسْمِيَّةِ، لَحَصَلْتُ عَلَى سِعْرٍ أَرْخَصَ. لِذٰلِكَ أَنْصَحُ دَائِمًا بِالحَجْزِ المُبَكِّرِ.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أُخَطِّطُ لِـ</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plan (for)</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الأَسَاسِيَّاتُ</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basics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الطَّائِرَةُ</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plane</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أُجَدِّدُ</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renew</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أَشْتَرِي</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buy</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الأَخِيرَةُ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last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المَرْكَزُ</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centre</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المُنَظِّمُ</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organiser</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سَجَّلْتُ الوُصُولَ</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checked in</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نُزُلٌ جَبَلِيٌّ</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mountain lodge</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العُطْلَةُ الرَّسْمِيَّةُ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public holiday</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traveller do first when planning?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Packs a bag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 the flight, renews the passport, buys insurance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 last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five-star hotel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furnished apartment near the centre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organiser indicate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 check-in saves time at the airport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 is closed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Check-in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year's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 home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 a trip to Oman and stay in a mountain lodge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 travel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booking earlier (Type 2)?</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have got a cheaper price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 would have risen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traveller do first when planning?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Packs a bag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Books the flight, renews the passport, buys insurance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أَحْجِزُ تَذْكِرَةَ الطَّائِرَةِ مُبَكِّرًا، وَأُجَدِّدُ جَوَازَ سَفَرِي، وَأَشْتَرِي تَأْمِينَ سَفَرٍ.</a:t>
            </a:r>
            <a:endParaRPr lang="ar-SA" sz="11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 last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five-star hotel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furnished apartment near the centre</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وَأَقَمْتُ فِي شَقَّةٍ مَفْرُوشَةٍ قَرِيبَةٍ مِنَ المَرْكَزِ.</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organiser indicate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Online check-in saves time at the airport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airport is closed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Check-in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سَجَّلْتُ الوُصُولَ إِلِكْتْرُونِيًّا، سَأُوَفِّرُ وَقْتًا فِي المَطَارِ.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year's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 home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 a trip to Oman and stay in a mountain lodge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 travel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سَأَحْجِزُ رِحْلَةً إِلَى عُمَانَ، وَسَأُقِيمُ فِي نُزُلٍ جَبَلِيٍّ.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booking earlier (Type 2)?</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would have got a cheaper price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price would have risen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كُنْتُ قَدْ حَجَزْتُ قَبْلَ العُطْلَةِ الرَّسْمِيَّةِ، لَحَصَلْتُ عَلَى سِعْرٍ أَرْخَصَ.</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3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TC-L08 · Buildings, Services and Urban Areas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hospital</a:t>
            </a:r>
            <a:pPr indent="0" marL="0">
              <a:buNone/>
            </a:pPr>
            <a:r>
              <a:rPr lang="en-US" sz="1000" i="1" dirty="0">
                <a:solidFill>
                  <a:srgbClr val="5A6472"/>
                </a:solidFill>
                <a:latin typeface="Calibri" pitchFamily="34" charset="0"/>
                <a:ea typeface="Calibri" pitchFamily="34" charset="-122"/>
                <a:cs typeface="Calibri" pitchFamily="34" charset="-120"/>
              </a:rPr>
              <a:t>  pl. مُسْتَشْفَيَاتٌ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بَنْكٌ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bank</a:t>
            </a:r>
            <a:pPr indent="0" marL="0">
              <a:buNone/>
            </a:pPr>
            <a:r>
              <a:rPr lang="en-US" sz="1000" i="1" dirty="0">
                <a:solidFill>
                  <a:srgbClr val="5A6472"/>
                </a:solidFill>
                <a:latin typeface="Calibri" pitchFamily="34" charset="0"/>
                <a:ea typeface="Calibri" pitchFamily="34" charset="-122"/>
                <a:cs typeface="Calibri" pitchFamily="34" charset="-120"/>
              </a:rPr>
              <a:t>  pl. بُنُوكٌ</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مَكْتَبَةٌ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library</a:t>
            </a:r>
            <a:pPr indent="0" marL="0">
              <a:buNone/>
            </a:pPr>
            <a:r>
              <a:rPr lang="en-US" sz="1000" i="1" dirty="0">
                <a:solidFill>
                  <a:srgbClr val="5A6472"/>
                </a:solidFill>
                <a:latin typeface="Calibri" pitchFamily="34" charset="0"/>
                <a:ea typeface="Calibri" pitchFamily="34" charset="-122"/>
                <a:cs typeface="Calibri" pitchFamily="34" charset="-120"/>
              </a:rPr>
              <a:t>  pl. مَكْتَبَاتٌ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مَقْهًى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café</a:t>
            </a:r>
            <a:pPr indent="0" marL="0">
              <a:buNone/>
            </a:pPr>
            <a:r>
              <a:rPr lang="en-US" sz="1000" i="1" dirty="0">
                <a:solidFill>
                  <a:srgbClr val="5A6472"/>
                </a:solidFill>
                <a:latin typeface="Calibri" pitchFamily="34" charset="0"/>
                <a:ea typeface="Calibri" pitchFamily="34" charset="-122"/>
                <a:cs typeface="Calibri" pitchFamily="34" charset="-120"/>
              </a:rPr>
              <a:t>  pl. مَقَاهٍ</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مَحَطَّةُ القِطَارِ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train station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places are there in your town?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يُوجَدُ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TC-L07 · play “Document Detective”,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message to a friend with three instructions for a trip: </a:t>
            </a:r>
            <a:pPr algn="l" indent="0" marL="0">
              <a:buNone/>
            </a:pPr>
            <a:r>
              <a:rPr lang="ar-SA" altLang="en-US" sz="1550" dirty="0">
                <a:solidFill>
                  <a:srgbClr val="1F2A37"/>
                </a:solidFill>
                <a:latin typeface="Amiri" pitchFamily="34" charset="0"/>
                <a:ea typeface="Amiri" pitchFamily="34" charset="-122"/>
                <a:cs typeface="Amiri" pitchFamily="34" charset="-120"/>
              </a:rPr>
              <a:t>اِحْجِزْ</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أَحْضِرْ</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سَجِّلْ</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TC-L07 · “Booking Mission” (14 rounds) and the reading “A traveller’s plan”.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TC-L08 · Buildings, Services and Urban Areas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المَبَانِي وَالخَدَمَاتُ وَالمَنَاطِقُ الحَضَرِيَّةُ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TC-L07 · Documents, Texts and Digital Information</dc:title>
  <dc:subject>PptxGenJS Presentation</dc:subject>
  <dc:creator>Al Madina Online School · Arabic Department</dc:creator>
  <cp:lastModifiedBy>Al Madina Online School · Arabic Department</cp:lastModifiedBy>
  <cp:revision>1</cp:revision>
  <dcterms:created xsi:type="dcterms:W3CDTF">2026-09-27T08:28:22Z</dcterms:created>
  <dcterms:modified xsi:type="dcterms:W3CDTF">2026-09-27T08:28:22Z</dcterms:modified>
</cp:coreProperties>
</file>