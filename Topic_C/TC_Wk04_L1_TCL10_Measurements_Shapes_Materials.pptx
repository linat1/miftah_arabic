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10 (TC-L10). The website lesson reuses F6-L07 (The Built Environment: Buildings, Materials and Urban Life) with the Topic C focus “Describe size, form, composition, use and suitability precisely” (grammar: measurement expressions; agreement; passive participles). Core vocabulary also comes from the Topic C Measurements and Materials banks; the picture match is the website lesson game “Measure &amp; Material”; the product card is teacher-made for the website application “Shape and material lab”.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F6-L07 is accessible (A2–B1). CORE: everyday materials + shapes + size words + “it is made of” (مَصْنُوعٌ / مَصْنُوعَةٌ مِنْ) + one measurement (طُولُهُ …). DEVELOP: the website’s building materials, مَبْنِيٌّ / مَبْنِيَّةٌ agreement and يَتَمَيَّزُ بِـ. STRETCH: بَيْنَمَا contrasts and judging suitability (مُنَاسِبٌ لِـ … لِأَنَّ).
• Colour: pink = the ending that agrees (مَصْنُوعٌ / مَصْنُوعَةٌ), m./f. adjective forms on every material card, a product card to read, a read-along listening with English and a “guess my object” speaking game.
• Urdu bridge words (شکل، وزن، مربع، مادہ، تاریخی).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the words prepared at home (Flipped Learning follow-up). Questions 3–5 retrieve TC-L09 and TC-L08 — the masculine / feminine agreement that runs through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Today the ending tells you about the thing: made of … changes with masculine and feminine, just like ثَمَنُهُ /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(size, form, composition, use and suitability; measurement expressions, agreement, passive participles). The website objectives on the left are the F6-L07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شکل (shape — the same word), وزن (weight — TC-L07 وَزْنُ الأَمْتِعَةِ), مربع (a square — Urdu maths), مادہ (matter — Arabic مَادَّةٌ = material), تاریخی (historic — تَارِيخٌ = history, date).
Groups 1–3 are the Topic C Materials and Measurements banks; Groups 4–5 are the website F6-L07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materials (Topic C Materials bank). Hear → Say → See → Use. Hold up or point to real objects around you on camera: a wooden table, a glass, a metal pen, a plastic bottle, paper.
The small boxes show the ADJECTIVE made from each material with ـِيٌّ (m.) / ـِيَّةٌ (f.) — the nisba ending from TC-L02: بَابٌ خَشَبِيٌّ (a wooden door), زُجَاجَةٌ بِلَاسْتِيكِيَّةٌ (a plastic bottle).
Stretch: the website listening says أَبْوَابُهَا الخَشَبِيَّةُ = its wooden doors (plural of things →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shapes and sizes (Topic C Measurements bank). Draw the shapes in the air: a circle, a square, a rectangle; hands wide apart (long), close together (short), arms open (huge).
Bank example: الفِيلُ كَبِيرٌ وَالفَأْرُ صَغِيرٌ = The elephant is big and the mouse is small. Every adjective adds ـة for a feminine thing: طَاوِلَةٌ مُسْتَطِيلَةٌ · صَحْنٌ دَائِرِيٌّ.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measurement expressions (Topic C grammar focus). Pattern: MEASURE + “its” + NUMBER + UNIT. The pink ending is the same attached pronoun as TC-L09 (ثَمَنُهُ / ثَمَنُهَا): ـهُ for a masculine object, ـهَا for a feminine object.
Units (Topic C bank): مِتْرٌ (metre), سَنْتِيمِتْرٌ (cm), كِيلُومِتْرٌ (km), غِرَامٌ (gram), كِيلُوغْرَامٌ (kg), لِتْرٌ (litre).
Two of anything: add ـَانِ → مِتْرَانِ (two metres), كِيلُوغْرَامَانِ (two kilos) — no number word needed!
Core: rows 1–3 (length, width, weight). Rows 4–5 are the website game sentences (Develop /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passive participles and agreement (Topic C grammar focus), built on the website table “Subject · Participle · Example”.
Purple = the participle (a describing word made from a verb: يَصْنَعُ → مَصْنُوعٌ “made”; يَبْنِي → مَبْنِيٌّ “built”). Pink = the ـة it adds for a feminine thing — and for plurals of THINGS (المَبَانِي … مَبْنِيَّةٌ, website). Teal = مِنْ, which never changes.
Core: rows 1–2 (objects, مَصْنُوعٌ / مَصْنُوعَةٌ). Develop: rows 3–4 (buildings, the website’s مَبْنِيٌّ / مَبْنِيَّةٌ).
Website common error: “Do not write العِمَارَةُ مَبْنِيٌّ. The feminine noun requires مَبْنِيَّةٌ.”
Remember TC-L08: مَبْنِيٌّ always takes مِنْ, never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use and suitability (Topic C focus “composition, use and suitability”). Cards 1–2 are teacher-made; card 3 is the website rule and pattern.
Useful describing words for suitability: قَوِيٌّ (strong), خَفِيفٌ (light), ثَقِيلٌ (heavy), رَخِيصٌ (cheap — TC-L09), جَمِيلٌ (beautiful), فَسِيحٌ (spacious — website).
Website teaching point: “Materials are introduced as language for description, not as isolated science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contrast (FLEX — Develop / Stretch). Rows 1–3 are website examples (quiz, pattern and speaking model); row 4 is from the website listening.
Website rule: “Each side should contain a complete idea that creates a meaningful contrast.” Website teaching point: “Cultural comparison should notice diversity within the Arab world and avoid presenting one building style as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“Describe what a building is made of with مَبْنِيٌّ مِنْ. The passive participle agrees with the building noun. Use بَيْنَمَا to compare genuinely different urban and rural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questions 1–2 teacher-made (Topic C grammar focus); questions 3–4 are website grammar quiz questions 1–2.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ideally holding or pointing to a real table or desk on camera. Students COPY the description into their books.
Step 1 — “طَاوِلَةٌ ends in ـة, so the shape adjective adds ـة: مُسْتَطِيلَةٌ.”
Step 2 — “Its length: طُولُهَا — ـهَا because it’s the table. Two metres: just مِتْرَانِ.”
Step 3 — “Made of: مَصْنُوعَةٌ مِنَ الخَشَبِ — pink ـة again.”
Step 4 — “Why is wood good? لِأَنَّهُ قَوِيٌّ — because it is strong.”
Teacher-made from the Topic C banks and the website game (طُولُهُ مِتْرَانِ وَهُوَ مَصْنُوعٌ مِنَ الخَشَبِ).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the website patterns. Students copy TWO that are useful for them.
• Core: copy 1 and 2 and change the material (البَيْتُ مَبْنِيٌّ مِنَ الطُّوبِ …). • Develop: copy 3 about a place you know. • Stretch: copy 4 and write your own بَيْنَمَا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(“Measure &amp; Material”)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مِتْرَانِ + الخَشَبِ (two metres, wood), دَائِرِيُّ (round) + سَنْتِيمِتْرَاتٍ (cm), سِعَةُ … لِتْرٌ (capacity … litre). Stretch: explain طُولُهُ vs طُولُهَا in the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(“Measure &amp; Material”)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مِتْرَانِ + الخَشَبِ (two metres, wood), دَائِرِيُّ (round) + سَنْتِيمِتْرَاتٍ (cm), سِعَةُ … لِتْرٌ (capacity … litre). Stretch: explain طُولُهُ vs طُولُهَا in the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PRODUCT CARD (2 min) — Topic C focus “Describe size, form, composition, use and suitability precisely”, set out like a real online product listing. Teacher-made from the Topic C banks and website F6-L07 vocabulary.
Read it aloud once while students follow. SEND: cover the text and uncover one line at a time; Core students use the glossary.
Notice: each line is one of today’s five questions — shape, size, weight, material, use. لَا تَضَعْ = a negative instruction (TC-L07 imperatives).
Translation for the teacher: Product card: study desk. Shape: rectangular. Length: 120 cm · Width: 60 cm. Weight: 15 kg. Material: the desk is made of wood, and the legs of metal. Use: suitable for studying in a small room. Warning: do not put the desk near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CARD questions (teacher-made). Students type five letters in the chat. Core: questions 1, 4 and 5 with the key-word clues. Stretch: is this desk suitable for a big family room? Answer with مُنَاسِبٌ لِـ … لِأَنَّ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card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Rows 1–2 teacher-made (Topic C grammar focus: agreement, participles, measurements); row 3 from the website quiz.
Students choose ONE box per column (start from Column 1 on the right) and type the letters, e.g. “1: A B B”.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Rows 1–2 teacher-made (Topic C grammar focus: agreement, participles, measurements); row 3 from the website quiz.
Students choose ONE box per column (start from Column 1 on the right) and type the letters, e.g. “1: A B B”. ↔ Rehearse 30s first.
Core: sentences 1 and 2. Develop / Stretch: sentence 3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“Material or building?” (2 min, all students). New website words: عِمَارَةٌ (apartment block), نَاطِحَةُ سَحَابٍ (skyscraper — “cloud-scraper”!), مَنْزِلٌ مُسْتَقِلٌّ (detached house), مَبْنًى تَارِيخِيٌّ (historic building), خَرَسَانَةٌ (concrete), طِينٌ (clay, mud).
Then: each student makes ONE sentence joining a building and a material with مَبْنِيٌّ / مَبْنِيَّةٌ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“Material or building?” (2 min, all students). New website words: عِمَارَةٌ (apartment block), نَاطِحَةُ سَحَابٍ (skyscraper — “cloud-scraper”!), مَنْزِلٌ مُسْتَقِلٌّ (detached house), مَبْنًى تَارِيخِيٌّ (historic building), خَرَسَانَةٌ (concrete), طِينٌ (clay, mud).
Then: each student makes ONE sentence joining a building and a material with مَبْنِيٌّ / مَبْنِيَّةٌ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4. Develop / Stretch: all 5.
Listen 1: just listen. Listen 2: note answers. Then chat the letters.
Support: after the second listening, show the read-along slide (Arabic + English, line by line) for Core students.
SCRIPT (read aloud):
فِي الحَيِّ القَدِيمِ بُيُوتٌ تَقْلِيدِيَّةٌ مَبْنِيَّةٌ مِنَ الحَجَرِ وَالطِّينِ. تَتَمَيَّزُ البُيُوتُ بِأَبْوَابِهَا الخَشَبِيَّةِ وَسَاحَاتِهَا الدَّاخِلِيَّةِ. أَمَّا فِي الحَيِّ الجَدِيدِ فَتُوجَدُ عِمَارَاتٌ مُعَاصِرَةٌ مَبْنِيَّةٌ مِنَ الخَرَسَانَةِ وَالزُّجَاجِ. الحَيُّ الجَدِيدُ مُكْتَنِزٌ، بَيْنَمَا الحَيُّ القَدِيمُ أَكْثَرُ هُدُوءًا.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كَيْفَ يَخْتَلِفُ عَنِ العِمَارَةِ الحَدِيثَةِ؟ (How does it differ from the modern block?)
B: البَيْتُ تَقْلِيدِيٌّ وَفَسِيحٌ، بَيْنَمَا العِمَارَةُ مُعَاصِرَةٌ وَمُكْتَنِزَةٌ. (The house is traditional and spacious, whereas the block is contemporary and compact.)
SHAPE AND MATERIAL LAB (website application): “Describe objects by measurement, shape and material. Partners identify the object, then improve the description with a precise property or comparison.”
Game: A describes an object in the room WITHOUT naming it (shape + material + one measurement); B guesses: هَلْ هُوَ … ؟ Then B adds one more precise detail. Core prompt 1 is teacher-made for this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Match four buildings to their materials. · Develop — Write an accurate comparison using agreement and بَيْنَمَا. · Stretch — Analyse how a contemporary building can respect architectural heritage and propose one design feature.
Website writing task (Stretch): Compare an old building and a modern building in 80–100 Arabic words.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materials after مِنَ; Stretch find the contrast and explain why الأَوَّلَ / الثَّانِيَ refer to the two buildings.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(TC-L11 · Topic C Integrated Communication Workshop) will spend class time USING this language, so students prepare it tonight — short, simple, easy to access (school guidance: “Simple, Short, Interesting, Relevant, Easy to access”). The five phrases come from the website lesson (D4-L11 “Speaking and self-correction” vocabulary) — you will use them in next lesson’s workshop.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4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ea typeface="Cambria" pitchFamily="34" charset="-122"/>
                <a:cs typeface="Cambria" pitchFamily="34" charset="-120"/>
              </a:rPr>
              <a:t>Measurements, Shapes and Materials</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القِيَاسَاتُ وَالأَشْكَالُ وَالمَوَادُّ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Describe an object or a building precisely: its shape, its size (</a:t>
            </a:r>
            <a:pPr algn="l" indent="0" marL="0">
              <a:buNone/>
            </a:pPr>
            <a:r>
              <a:rPr lang="ar-SA" altLang="en-US" sz="1800" dirty="0">
                <a:solidFill>
                  <a:srgbClr val="C6D2E6"/>
                </a:solidFill>
                <a:latin typeface="Amiri" pitchFamily="34" charset="0"/>
                <a:ea typeface="Amiri" pitchFamily="34" charset="-122"/>
                <a:cs typeface="Amiri" pitchFamily="34" charset="-120"/>
              </a:rPr>
              <a:t>طُولُهُ مِتْرَانِ</a:t>
            </a:r>
            <a:pPr algn="l" indent="0" marL="0">
              <a:buNone/>
            </a:pPr>
            <a:r>
              <a:rPr lang="en-US" sz="1400" dirty="0">
                <a:solidFill>
                  <a:srgbClr val="C6D2E6"/>
                </a:solidFill>
                <a:latin typeface="Calibri" pitchFamily="34" charset="0"/>
                <a:ea typeface="Calibri" pitchFamily="34" charset="-122"/>
                <a:cs typeface="Calibri" pitchFamily="34" charset="-120"/>
              </a:rPr>
              <a:t>), what it is made of (</a:t>
            </a:r>
            <a:pPr algn="l" indent="0" marL="0">
              <a:buNone/>
            </a:pPr>
            <a:r>
              <a:rPr lang="ar-SA" altLang="en-US" sz="1800" dirty="0">
                <a:solidFill>
                  <a:srgbClr val="C6D2E6"/>
                </a:solidFill>
                <a:latin typeface="Amiri" pitchFamily="34" charset="0"/>
                <a:ea typeface="Amiri" pitchFamily="34" charset="-122"/>
                <a:cs typeface="Amiri" pitchFamily="34" charset="-120"/>
              </a:rPr>
              <a:t>مَصْنُوعٌ مِنْ</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مَبْنِيٌّ مِنْ</a:t>
            </a:r>
            <a:pPr algn="l" indent="0" marL="0">
              <a:buNone/>
            </a:pPr>
            <a:r>
              <a:rPr lang="en-US" sz="1400" dirty="0">
                <a:solidFill>
                  <a:srgbClr val="C6D2E6"/>
                </a:solidFill>
                <a:latin typeface="Calibri" pitchFamily="34" charset="0"/>
                <a:ea typeface="Calibri" pitchFamily="34" charset="-122"/>
                <a:cs typeface="Calibri" pitchFamily="34" charset="-120"/>
              </a:rPr>
              <a:t>), what it is for and why it is suitable.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TC-L10 · Week 4,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Materials, shapes, sizes, “made of”.</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product card,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طُوبٌ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metal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brick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concrete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“metre”?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مِتْرٌ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طُولٌ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لِتْرٌ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This is a bag. How much is 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حَقِيبَةٌ. كَمْ ثَمَنُهُ؟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حَقِيبَةٌ. كَمْ ثَمَنُهُ؟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حَقِيبَةٌ. كَمْ ثَمَنُهَا؟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أَغْلَى 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أَكْبَرُ 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أَرْخَصُ مِنْ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مَكْتَبَةٌ فِي مَدِينَتِي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يُوجَدُ</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تُوجَدِينَ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طُوبٌ</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metal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brick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concrete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طُوبٌ</a:t>
            </a:r>
            <a:pPr algn="l" indent="0" marL="0">
              <a:buNone/>
            </a:pPr>
            <a:r>
              <a:rPr lang="en-US" sz="1050" i="1" dirty="0">
                <a:solidFill>
                  <a:srgbClr val="8A6D1E"/>
                </a:solidFill>
                <a:latin typeface="Calibri" pitchFamily="34" charset="0"/>
                <a:ea typeface="Calibri" pitchFamily="34" charset="-122"/>
                <a:cs typeface="Calibri" pitchFamily="34" charset="-120"/>
              </a:rPr>
              <a:t> = brick · </a:t>
            </a:r>
            <a:pPr algn="l" indent="0" marL="0">
              <a:buNone/>
            </a:pPr>
            <a:r>
              <a:rPr lang="ar-SA" altLang="en-US" sz="1350" dirty="0">
                <a:solidFill>
                  <a:srgbClr val="8A6D1E"/>
                </a:solidFill>
                <a:latin typeface="Amiri" pitchFamily="34" charset="0"/>
                <a:ea typeface="Amiri" pitchFamily="34" charset="-122"/>
                <a:cs typeface="Amiri" pitchFamily="34" charset="-120"/>
              </a:rPr>
              <a:t>مَعْدِنٌ</a:t>
            </a:r>
            <a:pPr algn="l" indent="0" marL="0">
              <a:buNone/>
            </a:pPr>
            <a:r>
              <a:rPr lang="en-US" sz="1050" i="1" dirty="0">
                <a:solidFill>
                  <a:srgbClr val="8A6D1E"/>
                </a:solidFill>
                <a:latin typeface="Calibri" pitchFamily="34" charset="0"/>
                <a:ea typeface="Calibri" pitchFamily="34" charset="-122"/>
                <a:cs typeface="Calibri" pitchFamily="34" charset="-120"/>
              </a:rPr>
              <a:t> = metal · </a:t>
            </a:r>
            <a:pPr algn="l" indent="0" marL="0">
              <a:buNone/>
            </a:pPr>
            <a:r>
              <a:rPr lang="ar-SA" altLang="en-US" sz="1350" dirty="0">
                <a:solidFill>
                  <a:srgbClr val="8A6D1E"/>
                </a:solidFill>
                <a:latin typeface="Amiri" pitchFamily="34" charset="0"/>
                <a:ea typeface="Amiri" pitchFamily="34" charset="-122"/>
                <a:cs typeface="Amiri" pitchFamily="34" charset="-120"/>
              </a:rPr>
              <a:t>خَرَسَانَةٌ</a:t>
            </a:r>
            <a:pPr algn="l" indent="0" marL="0">
              <a:buNone/>
            </a:pPr>
            <a:r>
              <a:rPr lang="en-US" sz="1050" i="1" dirty="0">
                <a:solidFill>
                  <a:srgbClr val="8A6D1E"/>
                </a:solidFill>
                <a:latin typeface="Calibri" pitchFamily="34" charset="0"/>
                <a:ea typeface="Calibri" pitchFamily="34" charset="-122"/>
                <a:cs typeface="Calibri" pitchFamily="34" charset="-120"/>
              </a:rPr>
              <a:t> = concrete.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“metre”?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مِتْرٌ</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طُولٌ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لِتْرٌ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مِتْرٌ</a:t>
            </a:r>
            <a:pPr algn="l" indent="0" marL="0">
              <a:buNone/>
            </a:pPr>
            <a:r>
              <a:rPr lang="en-US" sz="1050" i="1" dirty="0">
                <a:solidFill>
                  <a:srgbClr val="8A6D1E"/>
                </a:solidFill>
                <a:latin typeface="Calibri" pitchFamily="34" charset="0"/>
                <a:ea typeface="Calibri" pitchFamily="34" charset="-122"/>
                <a:cs typeface="Calibri" pitchFamily="34" charset="-120"/>
              </a:rPr>
              <a:t> = metre · </a:t>
            </a:r>
            <a:pPr algn="l" indent="0" marL="0">
              <a:buNone/>
            </a:pPr>
            <a:r>
              <a:rPr lang="ar-SA" altLang="en-US" sz="1350" dirty="0">
                <a:solidFill>
                  <a:srgbClr val="8A6D1E"/>
                </a:solidFill>
                <a:latin typeface="Amiri" pitchFamily="34" charset="0"/>
                <a:ea typeface="Amiri" pitchFamily="34" charset="-122"/>
                <a:cs typeface="Amiri" pitchFamily="34" charset="-120"/>
              </a:rPr>
              <a:t>طُولٌ</a:t>
            </a:r>
            <a:pPr algn="l" indent="0" marL="0">
              <a:buNone/>
            </a:pPr>
            <a:r>
              <a:rPr lang="en-US" sz="1050" i="1" dirty="0">
                <a:solidFill>
                  <a:srgbClr val="8A6D1E"/>
                </a:solidFill>
                <a:latin typeface="Calibri" pitchFamily="34" charset="0"/>
                <a:ea typeface="Calibri" pitchFamily="34" charset="-122"/>
                <a:cs typeface="Calibri" pitchFamily="34" charset="-120"/>
              </a:rPr>
              <a:t> = length.</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This is a bag. How much is 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حَقِيبَةٌ. كَمْ ثَمَنُهُ؟</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 حَقِيبَةٌ. كَمْ ثَمَنُهُ؟</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هٰذِهِ حَقِيبَةٌ. كَمْ ثَمَنُهَا؟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TC-L09: feminine → </a:t>
            </a:r>
            <a:pPr algn="l" indent="0" marL="0">
              <a:buNone/>
            </a:pPr>
            <a:r>
              <a:rPr lang="ar-SA" altLang="en-US" sz="1350" dirty="0">
                <a:solidFill>
                  <a:srgbClr val="8A6D1E"/>
                </a:solidFill>
                <a:latin typeface="Amiri" pitchFamily="34" charset="0"/>
                <a:ea typeface="Amiri" pitchFamily="34" charset="-122"/>
                <a:cs typeface="Amiri" pitchFamily="34" charset="-120"/>
              </a:rPr>
              <a:t>هٰذِهِ … ثَمَنُهَا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“cheaper than”?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أَغْلَى 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أَكْبَرُ 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أَرْخَصُ مِنْ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TC-L09: </a:t>
            </a:r>
            <a:pPr algn="l" indent="0" marL="0">
              <a:buNone/>
            </a:pPr>
            <a:r>
              <a:rPr lang="ar-SA" altLang="en-US" sz="1350" dirty="0">
                <a:solidFill>
                  <a:srgbClr val="8A6D1E"/>
                </a:solidFill>
                <a:latin typeface="Amiri" pitchFamily="34" charset="0"/>
                <a:ea typeface="Amiri" pitchFamily="34" charset="-122"/>
                <a:cs typeface="Amiri" pitchFamily="34" charset="-120"/>
              </a:rPr>
              <a:t>أَرْخَصُ مِنْ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مَكْتَبَةٌ فِي مَدِينَتِي</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تُوجَدُ</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يُوجَدُ</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تُوجَدِينَ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TC-L08: feminine → </a:t>
            </a:r>
            <a:pPr algn="l" indent="0" marL="0">
              <a:buNone/>
            </a:pPr>
            <a:r>
              <a:rPr lang="ar-SA" altLang="en-US" sz="1350" dirty="0">
                <a:solidFill>
                  <a:srgbClr val="8A6D1E"/>
                </a:solidFill>
                <a:latin typeface="Amiri" pitchFamily="34" charset="0"/>
                <a:ea typeface="Amiri" pitchFamily="34" charset="-122"/>
                <a:cs typeface="Amiri" pitchFamily="34" charset="-120"/>
              </a:rPr>
              <a:t>تُوجَدُ</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Today the ending tells you about the thing: made of … changes with masculine and feminine, just like </a:t>
            </a:r>
            <a:pPr algn="l" indent="0" marL="0">
              <a:buNone/>
            </a:pPr>
            <a:r>
              <a:rPr lang="ar-SA" altLang="en-US" sz="1700" b="1" dirty="0">
                <a:solidFill>
                  <a:srgbClr val="1F2A37"/>
                </a:solidFill>
                <a:latin typeface="Amiri" pitchFamily="34" charset="0"/>
                <a:ea typeface="Amiri" pitchFamily="34" charset="-122"/>
                <a:cs typeface="Amiri" pitchFamily="34" charset="-120"/>
              </a:rPr>
              <a:t>ثَمَنُهُ / ثَمَنُهَا</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الكُرْسِيُّ مَصْنُوعٌ  ·  الطَّاوِلَةُ مَصْنُوعَ</a:t>
            </a:r>
            <a:pPr rtl="1" algn="ctr" indent="0" marL="0">
              <a:lnSpc>
                <a:spcPct val="120000"/>
              </a:lnSpc>
              <a:buNone/>
            </a:pPr>
            <a:r>
              <a:rPr lang="ar-SA" altLang="en-US" sz="2200" b="1" dirty="0">
                <a:solidFill>
                  <a:srgbClr val="D6336C"/>
                </a:solidFill>
                <a:latin typeface="Amiri" pitchFamily="34" charset="0"/>
                <a:ea typeface="Amiri" pitchFamily="34" charset="-122"/>
                <a:cs typeface="Amiri" pitchFamily="34" charset="-120"/>
              </a:rPr>
              <a:t>ةٌ</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key building materials and settlement types.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Make </a:t>
            </a:r>
            <a:pPr algn="l" indent="0" marL="0">
              <a:buNone/>
            </a:pPr>
            <a:r>
              <a:rPr lang="ar-SA" altLang="en-US" sz="1700" dirty="0">
                <a:solidFill>
                  <a:srgbClr val="1F2A37"/>
                </a:solidFill>
                <a:latin typeface="Amiri" pitchFamily="34" charset="0"/>
                <a:ea typeface="Amiri" pitchFamily="34" charset="-122"/>
                <a:cs typeface="Amiri" pitchFamily="34" charset="-120"/>
              </a:rPr>
              <a:t>مَبْنِيٌّ / مَبْنِيَّةٌ</a:t>
            </a:r>
            <a:pPr algn="l" indent="0" marL="0">
              <a:buNone/>
            </a:pPr>
            <a:r>
              <a:rPr lang="en-US" sz="1300" dirty="0">
                <a:solidFill>
                  <a:srgbClr val="1F2A37"/>
                </a:solidFill>
                <a:latin typeface="Calibri" pitchFamily="34" charset="0"/>
                <a:ea typeface="Calibri" pitchFamily="34" charset="-122"/>
                <a:cs typeface="Calibri" pitchFamily="34" charset="-120"/>
              </a:rPr>
              <a:t> agree with the building.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a:t>
            </a:r>
            <a:pPr algn="l" indent="0" marL="0">
              <a:buNone/>
            </a:pPr>
            <a:r>
              <a:rPr lang="ar-SA" altLang="en-US" sz="1700" dirty="0">
                <a:solidFill>
                  <a:srgbClr val="1F2A37"/>
                </a:solidFill>
                <a:latin typeface="Amiri" pitchFamily="34" charset="0"/>
                <a:ea typeface="Amiri" pitchFamily="34" charset="-122"/>
                <a:cs typeface="Amiri" pitchFamily="34" charset="-120"/>
              </a:rPr>
              <a:t>يَتَمَيَّزُ / تَتَمَيَّزُ بِـ</a:t>
            </a:r>
            <a:pPr algn="l" indent="0" marL="0">
              <a:buNone/>
            </a:pPr>
            <a:r>
              <a:rPr lang="en-US" sz="1300" dirty="0">
                <a:solidFill>
                  <a:srgbClr val="1F2A37"/>
                </a:solidFill>
                <a:latin typeface="Calibri" pitchFamily="34" charset="0"/>
                <a:ea typeface="Calibri" pitchFamily="34" charset="-122"/>
                <a:cs typeface="Calibri" pitchFamily="34" charset="-120"/>
              </a:rPr>
              <a:t>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Compare urban and rural built environments with </a:t>
            </a:r>
            <a:pPr algn="l" indent="0" marL="0">
              <a:buNone/>
            </a:pPr>
            <a:r>
              <a:rPr lang="ar-SA" altLang="en-US" sz="1700" dirty="0">
                <a:solidFill>
                  <a:srgbClr val="1F2A37"/>
                </a:solidFill>
                <a:latin typeface="Amiri" pitchFamily="34" charset="0"/>
                <a:ea typeface="Amiri" pitchFamily="34" charset="-122"/>
                <a:cs typeface="Amiri" pitchFamily="34" charset="-120"/>
              </a:rPr>
              <a:t>بَيْنَمَا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materials and 6 shape and size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200" b="1" dirty="0">
                <a:solidFill>
                  <a:srgbClr val="2E8B57"/>
                </a:solidFill>
                <a:latin typeface="Calibri" pitchFamily="34" charset="0"/>
                <a:ea typeface="Calibri" pitchFamily="34" charset="-122"/>
                <a:cs typeface="Calibri" pitchFamily="34" charset="-120"/>
              </a:rPr>
              <a:t>☐  I can say what an object is made of and give one measurement (</a:t>
            </a:r>
            <a:pPr algn="l" indent="0" marL="0">
              <a:buNone/>
            </a:pPr>
            <a:r>
              <a:rPr lang="ar-SA" altLang="en-US" sz="1550" b="1" dirty="0">
                <a:solidFill>
                  <a:srgbClr val="2E8B57"/>
                </a:solidFill>
                <a:latin typeface="Amiri" pitchFamily="34" charset="0"/>
                <a:ea typeface="Amiri" pitchFamily="34" charset="-122"/>
                <a:cs typeface="Amiri" pitchFamily="34" charset="-120"/>
              </a:rPr>
              <a:t>طُولُهُ مِتْرَانِ</a:t>
            </a:r>
            <a:pPr algn="l" indent="0" marL="0">
              <a:buNone/>
            </a:pPr>
            <a:r>
              <a:rPr lang="en-US" sz="1200" b="1" dirty="0">
                <a:solidFill>
                  <a:srgbClr val="2E8B57"/>
                </a:solidFill>
                <a:latin typeface="Calibri" pitchFamily="34" charset="0"/>
                <a:ea typeface="Calibri" pitchFamily="34" charset="-122"/>
                <a:cs typeface="Calibri" pitchFamily="34" charset="-120"/>
              </a:rPr>
              <a:t>).</a:t>
            </a:r>
            <a:endParaRPr lang="en-US" sz="12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a:t>
            </a:r>
            <a:pPr algn="l" indent="0" marL="0">
              <a:buNone/>
            </a:pPr>
            <a:r>
              <a:rPr lang="ar-SA" altLang="en-US" sz="1700" b="1" dirty="0">
                <a:solidFill>
                  <a:srgbClr val="C9780A"/>
                </a:solidFill>
                <a:latin typeface="Amiri" pitchFamily="34" charset="0"/>
                <a:ea typeface="Amiri" pitchFamily="34" charset="-122"/>
                <a:cs typeface="Amiri" pitchFamily="34" charset="-120"/>
              </a:rPr>
              <a:t>مَبْنِيٌّ / مَبْنِيَّةٌ مِنْ</a:t>
            </a:r>
            <a:pPr algn="l" indent="0" marL="0">
              <a:buNone/>
            </a:pPr>
            <a:r>
              <a:rPr lang="en-US" sz="1300" b="1" dirty="0">
                <a:solidFill>
                  <a:srgbClr val="C9780A"/>
                </a:solidFill>
                <a:latin typeface="Calibri" pitchFamily="34" charset="0"/>
                <a:ea typeface="Calibri" pitchFamily="34" charset="-122"/>
                <a:cs typeface="Calibri" pitchFamily="34" charset="-120"/>
              </a:rPr>
              <a:t> with the right ending.</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what an object is for and why it is suitable.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contrast two buildings with </a:t>
            </a:r>
            <a:pPr algn="l" indent="0" marL="0">
              <a:buNone/>
            </a:pPr>
            <a:r>
              <a:rPr lang="ar-SA" altLang="en-US" sz="1700" b="1" dirty="0">
                <a:solidFill>
                  <a:srgbClr val="B83227"/>
                </a:solidFill>
                <a:latin typeface="Amiri" pitchFamily="34" charset="0"/>
                <a:ea typeface="Amiri" pitchFamily="34" charset="-122"/>
                <a:cs typeface="Amiri" pitchFamily="34" charset="-120"/>
              </a:rPr>
              <a:t>بَيْنَمَا</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an 80–100-word comparison of an old and a modern building.</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34 words in 5 groups (Topic C banks + website F6-L07).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Materials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Shape and size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Measuring · 6</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Building materials · 6</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Buildings · 6</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شَكْلٌ</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‎شکل‎ </a:t>
            </a:r>
            <a:pPr indent="0" marL="0">
              <a:buNone/>
            </a:pPr>
            <a:r>
              <a:rPr lang="en-US" sz="950" b="1" dirty="0">
                <a:solidFill>
                  <a:srgbClr val="2E8B57"/>
                </a:solidFill>
                <a:latin typeface="Calibri" pitchFamily="34" charset="0"/>
                <a:ea typeface="Calibri" pitchFamily="34" charset="-122"/>
                <a:cs typeface="Calibri" pitchFamily="34" charset="-120"/>
              </a:rPr>
              <a:t> shakl · shape, form</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وَزْنٌ</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‎وزن‎ </a:t>
            </a:r>
            <a:pPr indent="0" marL="0">
              <a:buNone/>
            </a:pPr>
            <a:r>
              <a:rPr lang="en-US" sz="950" b="1" dirty="0">
                <a:solidFill>
                  <a:srgbClr val="2E8B57"/>
                </a:solidFill>
                <a:latin typeface="Calibri" pitchFamily="34" charset="0"/>
                <a:ea typeface="Calibri" pitchFamily="34" charset="-122"/>
                <a:cs typeface="Calibri" pitchFamily="34" charset="-120"/>
              </a:rPr>
              <a:t> wazn · weight</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مُرَبَّعٌ</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‎مربع‎ </a:t>
            </a:r>
            <a:pPr indent="0" marL="0">
              <a:buNone/>
            </a:pPr>
            <a:r>
              <a:rPr lang="en-US" sz="950" b="1" dirty="0">
                <a:solidFill>
                  <a:srgbClr val="2E8B57"/>
                </a:solidFill>
                <a:latin typeface="Calibri" pitchFamily="34" charset="0"/>
                <a:ea typeface="Calibri" pitchFamily="34" charset="-122"/>
                <a:cs typeface="Calibri" pitchFamily="34" charset="-120"/>
              </a:rPr>
              <a:t> murabbaʿ · square</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مَادَّةٌ</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‎مادہ‎ </a:t>
            </a:r>
            <a:pPr indent="0" marL="0">
              <a:buNone/>
            </a:pPr>
            <a:r>
              <a:rPr lang="en-US" sz="950" b="1" dirty="0">
                <a:solidFill>
                  <a:srgbClr val="2E8B57"/>
                </a:solidFill>
                <a:latin typeface="Calibri" pitchFamily="34" charset="0"/>
                <a:ea typeface="Calibri" pitchFamily="34" charset="-122"/>
                <a:cs typeface="Calibri" pitchFamily="34" charset="-120"/>
              </a:rPr>
              <a:t> māddah · material, matter</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تَارِيخِيٌّ</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‎تاریخی‎ </a:t>
            </a:r>
            <a:pPr indent="0" marL="0">
              <a:buNone/>
            </a:pPr>
            <a:r>
              <a:rPr lang="en-US" sz="950" b="1" dirty="0">
                <a:solidFill>
                  <a:srgbClr val="2E8B57"/>
                </a:solidFill>
                <a:latin typeface="Calibri" pitchFamily="34" charset="0"/>
                <a:ea typeface="Calibri" pitchFamily="34" charset="-122"/>
                <a:cs typeface="Calibri" pitchFamily="34" charset="-120"/>
              </a:rPr>
              <a:t> tārīkhī · historic</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 · TOPIC C MATERIALS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is it made of?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المَوَادُّ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خَشَبٌ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wood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kha-shab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خَشَبِيٌّ</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خَشَبِيَّةٌ</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حَجَرٌ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stone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ḥa-jar · pl. ḥi-jā-ra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حَجَرِيٌّ</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حَجَرِيَّةٌ</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زُجَاجٌ</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glass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zu-jāj</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زُجَاجِيٌّ</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زُجَاجِيَّةٌ</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مَعْدِنٌ</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metal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maʿ-din · pl. ma-ʿā-din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مَعْدِنِيٌّ</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مَعْدِنِيَّةٌ</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بِلَاسْتِيكٌ</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plastic</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bi-lās-tīk</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بِلَاسْتِيكِيٌّ</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بِلَاسْتِيكِيَّةٌ</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material</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وَرَقٌ</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paper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wa-raq</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m. adj.</a:t>
            </a:r>
            <a:endParaRPr lang="en-US" sz="700" dirty="0"/>
          </a:p>
        </p:txBody>
      </p:sp>
      <p:sp>
        <p:nvSpPr>
          <p:cNvPr id="101" name="Text 98"/>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وَرَقِيٌّ</a:t>
            </a:r>
            <a:endParaRPr lang="ar-SA" sz="135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f. adj.</a:t>
            </a:r>
            <a:endParaRPr lang="en-US" sz="700" dirty="0"/>
          </a:p>
        </p:txBody>
      </p:sp>
      <p:sp>
        <p:nvSpPr>
          <p:cNvPr id="104" name="Text 101"/>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وَرَقِيَّةٌ</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TOPIC C MEASUREMENTS BANK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Shape and size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الشَّكْلُ وَالحَجْمُ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shape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دَائِرِيٌّ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round, circular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dā-ʾi-riyy</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دَائِرِيٌّ</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دَائِرِيَّةٌ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shape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مُرَبَّعٌ</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square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mu-rab-baʿ</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مُرَبَّعٌ</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مُرَبَّعَةٌ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shape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مُسْتَطِيلٌ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rectangular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mus-ta-ṭīl</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مُسْتَطِيلٌ</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مُسْتَطِيلَةٌ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size</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طَوِيلٌ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long, tall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ṭa-wīl</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طَوِيلٌ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طَوِيلَةٌ</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size</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قَصِيرٌ</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short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qa-ṣīr</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قَصِيرٌ</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قَصِيرَةٌ</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size</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ضَخْمٌ</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huge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ḍakhm</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m.</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ضَخْمٌ</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f.</a:t>
            </a:r>
            <a:endParaRPr lang="en-US" sz="750" dirty="0"/>
          </a:p>
        </p:txBody>
      </p:sp>
      <p:sp>
        <p:nvSpPr>
          <p:cNvPr id="102" name="Text 99"/>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ضَخْمَةٌ</a:t>
            </a:r>
            <a:endParaRPr lang="ar-SA" sz="150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3 · GRAMMAR PART 1 · MEASUREMENT EXPRESSIONS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Its length is two metres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طُولُهُ مِتْرَانِ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067544"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Measure</a:t>
            </a:r>
            <a:endParaRPr lang="en-US" sz="1100" dirty="0"/>
          </a:p>
        </p:txBody>
      </p:sp>
      <p:sp>
        <p:nvSpPr>
          <p:cNvPr id="17" name="Text 14"/>
          <p:cNvSpPr txBox="1"/>
          <p:nvPr/>
        </p:nvSpPr>
        <p:spPr>
          <a:xfrm>
            <a:off x="805586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word</a:t>
            </a:r>
            <a:endParaRPr lang="en-US" sz="1100" dirty="0"/>
          </a:p>
        </p:txBody>
      </p:sp>
      <p:sp>
        <p:nvSpPr>
          <p:cNvPr id="18" name="Text 15"/>
          <p:cNvSpPr txBox="1"/>
          <p:nvPr/>
        </p:nvSpPr>
        <p:spPr>
          <a:xfrm>
            <a:off x="576986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its … (m. thing)</a:t>
            </a:r>
            <a:endParaRPr lang="en-US" sz="1100" dirty="0"/>
          </a:p>
        </p:txBody>
      </p:sp>
      <p:sp>
        <p:nvSpPr>
          <p:cNvPr id="19" name="Text 16"/>
          <p:cNvSpPr txBox="1"/>
          <p:nvPr/>
        </p:nvSpPr>
        <p:spPr>
          <a:xfrm>
            <a:off x="348386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its … (f. thing)</a:t>
            </a:r>
            <a:endParaRPr lang="en-US" sz="1100" dirty="0"/>
          </a:p>
        </p:txBody>
      </p:sp>
      <p:sp>
        <p:nvSpPr>
          <p:cNvPr id="20" name="Text 17"/>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10104120" y="2267712"/>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length</a:t>
            </a:r>
            <a:endParaRPr lang="en-US" sz="1100" dirty="0"/>
          </a:p>
        </p:txBody>
      </p:sp>
      <p:sp>
        <p:nvSpPr>
          <p:cNvPr id="23" name="Text 20"/>
          <p:cNvSpPr txBox="1"/>
          <p:nvPr/>
        </p:nvSpPr>
        <p:spPr>
          <a:xfrm>
            <a:off x="8074152" y="2286000"/>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الطُّولُ</a:t>
            </a:r>
            <a:endParaRPr lang="ar-SA" sz="2100" dirty="0"/>
          </a:p>
        </p:txBody>
      </p:sp>
      <p:sp>
        <p:nvSpPr>
          <p:cNvPr id="24" name="Text 21"/>
          <p:cNvSpPr txBox="1"/>
          <p:nvPr/>
        </p:nvSpPr>
        <p:spPr>
          <a:xfrm>
            <a:off x="802843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aṭ-ṭūl</a:t>
            </a:r>
            <a:endParaRPr lang="en-US" sz="950" dirty="0"/>
          </a:p>
        </p:txBody>
      </p:sp>
      <p:sp>
        <p:nvSpPr>
          <p:cNvPr id="25" name="Text 22"/>
          <p:cNvSpPr txBox="1"/>
          <p:nvPr/>
        </p:nvSpPr>
        <p:spPr>
          <a:xfrm>
            <a:off x="578815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طُولُ</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26" name="Text 23"/>
          <p:cNvSpPr txBox="1"/>
          <p:nvPr/>
        </p:nvSpPr>
        <p:spPr>
          <a:xfrm>
            <a:off x="574243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ṭū-lu-hu</a:t>
            </a:r>
            <a:endParaRPr lang="en-US" sz="950" dirty="0"/>
          </a:p>
        </p:txBody>
      </p:sp>
      <p:sp>
        <p:nvSpPr>
          <p:cNvPr id="27" name="Text 24"/>
          <p:cNvSpPr txBox="1"/>
          <p:nvPr/>
        </p:nvSpPr>
        <p:spPr>
          <a:xfrm>
            <a:off x="350215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طُولُ</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28" name="Text 25"/>
          <p:cNvSpPr txBox="1"/>
          <p:nvPr/>
        </p:nvSpPr>
        <p:spPr>
          <a:xfrm>
            <a:off x="345643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ṭū-lu-hā</a:t>
            </a:r>
            <a:endParaRPr lang="en-US" sz="950" dirty="0"/>
          </a:p>
        </p:txBody>
      </p:sp>
      <p:sp>
        <p:nvSpPr>
          <p:cNvPr id="29" name="Text 26"/>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طُولُهُ مِتْرَانِ</a:t>
            </a:r>
            <a:pPr algn="l" indent="0" marL="0">
              <a:buNone/>
            </a:pPr>
            <a:r>
              <a:rPr lang="en-US" sz="1100" dirty="0">
                <a:solidFill>
                  <a:srgbClr val="5A6472"/>
                </a:solidFill>
                <a:latin typeface="Calibri" pitchFamily="34" charset="0"/>
                <a:ea typeface="Calibri" pitchFamily="34" charset="-122"/>
                <a:cs typeface="Calibri" pitchFamily="34" charset="-120"/>
              </a:rPr>
              <a:t> (game)</a:t>
            </a:r>
            <a:endParaRPr lang="en-US" sz="1100" dirty="0"/>
          </a:p>
        </p:txBody>
      </p:sp>
      <p:sp>
        <p:nvSpPr>
          <p:cNvPr id="30" name="Shape 27"/>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2" name="Shape 29"/>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3" name="Text 30"/>
          <p:cNvSpPr txBox="1"/>
          <p:nvPr/>
        </p:nvSpPr>
        <p:spPr>
          <a:xfrm>
            <a:off x="10104120" y="3054096"/>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width</a:t>
            </a:r>
            <a:endParaRPr lang="en-US" sz="1100" dirty="0"/>
          </a:p>
        </p:txBody>
      </p:sp>
      <p:sp>
        <p:nvSpPr>
          <p:cNvPr id="34" name="Text 31"/>
          <p:cNvSpPr txBox="1"/>
          <p:nvPr/>
        </p:nvSpPr>
        <p:spPr>
          <a:xfrm>
            <a:off x="8074152" y="3072384"/>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العَرْضُ</a:t>
            </a:r>
            <a:endParaRPr lang="ar-SA" sz="2100" dirty="0"/>
          </a:p>
        </p:txBody>
      </p:sp>
      <p:sp>
        <p:nvSpPr>
          <p:cNvPr id="35" name="Text 32"/>
          <p:cNvSpPr txBox="1"/>
          <p:nvPr/>
        </p:nvSpPr>
        <p:spPr>
          <a:xfrm>
            <a:off x="802843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al-ʿarḍ</a:t>
            </a:r>
            <a:endParaRPr lang="en-US" sz="950" dirty="0"/>
          </a:p>
        </p:txBody>
      </p:sp>
      <p:sp>
        <p:nvSpPr>
          <p:cNvPr id="36" name="Text 33"/>
          <p:cNvSpPr txBox="1"/>
          <p:nvPr/>
        </p:nvSpPr>
        <p:spPr>
          <a:xfrm>
            <a:off x="578815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عَرْضُ</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37" name="Text 34"/>
          <p:cNvSpPr txBox="1"/>
          <p:nvPr/>
        </p:nvSpPr>
        <p:spPr>
          <a:xfrm>
            <a:off x="574243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ʿar-ḍu-hu</a:t>
            </a:r>
            <a:endParaRPr lang="en-US" sz="950" dirty="0"/>
          </a:p>
        </p:txBody>
      </p:sp>
      <p:sp>
        <p:nvSpPr>
          <p:cNvPr id="38" name="Text 35"/>
          <p:cNvSpPr txBox="1"/>
          <p:nvPr/>
        </p:nvSpPr>
        <p:spPr>
          <a:xfrm>
            <a:off x="350215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عَرْضُ</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39" name="Text 36"/>
          <p:cNvSpPr txBox="1"/>
          <p:nvPr/>
        </p:nvSpPr>
        <p:spPr>
          <a:xfrm>
            <a:off x="345643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ʿar-ḍu-hā</a:t>
            </a:r>
            <a:endParaRPr lang="en-US" sz="950" dirty="0"/>
          </a:p>
        </p:txBody>
      </p:sp>
      <p:sp>
        <p:nvSpPr>
          <p:cNvPr id="40" name="Text 37"/>
          <p:cNvSpPr txBox="1"/>
          <p:nvPr/>
        </p:nvSpPr>
        <p:spPr>
          <a:xfrm>
            <a:off x="548640" y="3054096"/>
            <a:ext cx="277063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عَرْضُهَا مِتْرٌ وَاحِدٌ</a:t>
            </a:r>
            <a:endParaRPr lang="ar-SA" sz="1800" dirty="0"/>
          </a:p>
        </p:txBody>
      </p:sp>
      <p:sp>
        <p:nvSpPr>
          <p:cNvPr id="41" name="Shape 3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104120" y="3840480"/>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weight</a:t>
            </a:r>
            <a:endParaRPr lang="en-US" sz="1100" dirty="0"/>
          </a:p>
        </p:txBody>
      </p:sp>
      <p:sp>
        <p:nvSpPr>
          <p:cNvPr id="45" name="Text 42"/>
          <p:cNvSpPr txBox="1"/>
          <p:nvPr/>
        </p:nvSpPr>
        <p:spPr>
          <a:xfrm>
            <a:off x="8074152" y="3858768"/>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الوَزْنُ</a:t>
            </a:r>
            <a:endParaRPr lang="ar-SA" sz="2100" dirty="0"/>
          </a:p>
        </p:txBody>
      </p:sp>
      <p:sp>
        <p:nvSpPr>
          <p:cNvPr id="46" name="Text 43"/>
          <p:cNvSpPr txBox="1"/>
          <p:nvPr/>
        </p:nvSpPr>
        <p:spPr>
          <a:xfrm>
            <a:off x="802843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al-wazn</a:t>
            </a:r>
            <a:endParaRPr lang="en-US" sz="950" dirty="0"/>
          </a:p>
        </p:txBody>
      </p:sp>
      <p:sp>
        <p:nvSpPr>
          <p:cNvPr id="47" name="Text 44"/>
          <p:cNvSpPr txBox="1"/>
          <p:nvPr/>
        </p:nvSpPr>
        <p:spPr>
          <a:xfrm>
            <a:off x="578815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وَزْنُ</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48" name="Text 45"/>
          <p:cNvSpPr txBox="1"/>
          <p:nvPr/>
        </p:nvSpPr>
        <p:spPr>
          <a:xfrm>
            <a:off x="574243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waz-nu-hu</a:t>
            </a:r>
            <a:endParaRPr lang="en-US" sz="950" dirty="0"/>
          </a:p>
        </p:txBody>
      </p:sp>
      <p:sp>
        <p:nvSpPr>
          <p:cNvPr id="49" name="Text 46"/>
          <p:cNvSpPr txBox="1"/>
          <p:nvPr/>
        </p:nvSpPr>
        <p:spPr>
          <a:xfrm>
            <a:off x="350215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وَزْنُ</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50" name="Text 47"/>
          <p:cNvSpPr txBox="1"/>
          <p:nvPr/>
        </p:nvSpPr>
        <p:spPr>
          <a:xfrm>
            <a:off x="345643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waz-nu-hā</a:t>
            </a:r>
            <a:endParaRPr lang="en-US" sz="950" dirty="0"/>
          </a:p>
        </p:txBody>
      </p:sp>
      <p:sp>
        <p:nvSpPr>
          <p:cNvPr id="51" name="Text 48"/>
          <p:cNvSpPr txBox="1"/>
          <p:nvPr/>
        </p:nvSpPr>
        <p:spPr>
          <a:xfrm>
            <a:off x="548640" y="3840480"/>
            <a:ext cx="277063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وَزْنُهُ كِيلُوغْرَامَانِ</a:t>
            </a:r>
            <a:endParaRPr lang="ar-SA" sz="1800" dirty="0"/>
          </a:p>
        </p:txBody>
      </p:sp>
      <p:sp>
        <p:nvSpPr>
          <p:cNvPr id="52" name="Shape 4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54" name="Shape 5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55" name="Text 52"/>
          <p:cNvSpPr txBox="1"/>
          <p:nvPr/>
        </p:nvSpPr>
        <p:spPr>
          <a:xfrm>
            <a:off x="10104120" y="4626864"/>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capacity</a:t>
            </a:r>
            <a:endParaRPr lang="en-US" sz="1100" dirty="0"/>
          </a:p>
        </p:txBody>
      </p:sp>
      <p:sp>
        <p:nvSpPr>
          <p:cNvPr id="56" name="Text 53"/>
          <p:cNvSpPr txBox="1"/>
          <p:nvPr/>
        </p:nvSpPr>
        <p:spPr>
          <a:xfrm>
            <a:off x="8074152" y="4645152"/>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السِّعَةُ</a:t>
            </a:r>
            <a:endParaRPr lang="ar-SA" sz="2100" dirty="0"/>
          </a:p>
        </p:txBody>
      </p:sp>
      <p:sp>
        <p:nvSpPr>
          <p:cNvPr id="57" name="Text 54"/>
          <p:cNvSpPr txBox="1"/>
          <p:nvPr/>
        </p:nvSpPr>
        <p:spPr>
          <a:xfrm>
            <a:off x="8028432" y="5065776"/>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as-si-ʿa</a:t>
            </a:r>
            <a:endParaRPr lang="en-US" sz="950" dirty="0"/>
          </a:p>
        </p:txBody>
      </p:sp>
      <p:sp>
        <p:nvSpPr>
          <p:cNvPr id="58" name="Text 55"/>
          <p:cNvSpPr txBox="1"/>
          <p:nvPr/>
        </p:nvSpPr>
        <p:spPr>
          <a:xfrm>
            <a:off x="5788152" y="4645152"/>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سِعَتُ</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59" name="Text 56"/>
          <p:cNvSpPr txBox="1"/>
          <p:nvPr/>
        </p:nvSpPr>
        <p:spPr>
          <a:xfrm>
            <a:off x="5742432" y="5065776"/>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si-ʿa-tu-hu</a:t>
            </a:r>
            <a:endParaRPr lang="en-US" sz="950" dirty="0"/>
          </a:p>
        </p:txBody>
      </p:sp>
      <p:sp>
        <p:nvSpPr>
          <p:cNvPr id="60" name="Text 57"/>
          <p:cNvSpPr txBox="1"/>
          <p:nvPr/>
        </p:nvSpPr>
        <p:spPr>
          <a:xfrm>
            <a:off x="3502152" y="4645152"/>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سِعَتُ</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61" name="Text 58"/>
          <p:cNvSpPr txBox="1"/>
          <p:nvPr/>
        </p:nvSpPr>
        <p:spPr>
          <a:xfrm>
            <a:off x="3456432" y="5065776"/>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si-ʿa-tu-hā</a:t>
            </a:r>
            <a:endParaRPr lang="en-US" sz="950" dirty="0"/>
          </a:p>
        </p:txBody>
      </p:sp>
      <p:sp>
        <p:nvSpPr>
          <p:cNvPr id="62" name="Text 59"/>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سِعَةُ الزُّجَاجَةِ لِتْرٌ</a:t>
            </a:r>
            <a:pPr algn="l" indent="0" marL="0">
              <a:buNone/>
            </a:pPr>
            <a:r>
              <a:rPr lang="en-US" sz="1100" dirty="0">
                <a:solidFill>
                  <a:srgbClr val="5A6472"/>
                </a:solidFill>
                <a:latin typeface="Calibri" pitchFamily="34" charset="0"/>
                <a:ea typeface="Calibri" pitchFamily="34" charset="-122"/>
                <a:cs typeface="Calibri" pitchFamily="34" charset="-120"/>
              </a:rPr>
              <a:t> (game)</a:t>
            </a:r>
            <a:endParaRPr lang="en-US" sz="1100" dirty="0"/>
          </a:p>
        </p:txBody>
      </p:sp>
      <p:sp>
        <p:nvSpPr>
          <p:cNvPr id="63" name="Shape 6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64" name="Text 61"/>
          <p:cNvSpPr txBox="1"/>
          <p:nvPr/>
        </p:nvSpPr>
        <p:spPr>
          <a:xfrm>
            <a:off x="10104120" y="5413248"/>
            <a:ext cx="15544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diameter</a:t>
            </a:r>
            <a:endParaRPr lang="en-US" sz="1100" dirty="0"/>
          </a:p>
        </p:txBody>
      </p:sp>
      <p:sp>
        <p:nvSpPr>
          <p:cNvPr id="65" name="Text 62"/>
          <p:cNvSpPr txBox="1"/>
          <p:nvPr/>
        </p:nvSpPr>
        <p:spPr>
          <a:xfrm>
            <a:off x="8074152" y="5431536"/>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القُطْرُ</a:t>
            </a:r>
            <a:endParaRPr lang="ar-SA" sz="2100" dirty="0"/>
          </a:p>
        </p:txBody>
      </p:sp>
      <p:sp>
        <p:nvSpPr>
          <p:cNvPr id="66" name="Text 63"/>
          <p:cNvSpPr txBox="1"/>
          <p:nvPr/>
        </p:nvSpPr>
        <p:spPr>
          <a:xfrm>
            <a:off x="8028432" y="5852160"/>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al-quṭr</a:t>
            </a:r>
            <a:endParaRPr lang="en-US" sz="950" dirty="0"/>
          </a:p>
        </p:txBody>
      </p:sp>
      <p:sp>
        <p:nvSpPr>
          <p:cNvPr id="67" name="Text 64"/>
          <p:cNvSpPr txBox="1"/>
          <p:nvPr/>
        </p:nvSpPr>
        <p:spPr>
          <a:xfrm>
            <a:off x="5788152" y="5431536"/>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قُطْرُ</a:t>
            </a:r>
            <a:pPr rtl="1" algn="ctr" indent="0" marL="0">
              <a:buNone/>
            </a:pPr>
            <a:r>
              <a:rPr lang="ar-SA" altLang="en-US" sz="2100" b="1" dirty="0">
                <a:solidFill>
                  <a:srgbClr val="D6336C"/>
                </a:solidFill>
                <a:latin typeface="Amiri" pitchFamily="34" charset="0"/>
                <a:ea typeface="Amiri" pitchFamily="34" charset="-122"/>
                <a:cs typeface="Amiri" pitchFamily="34" charset="-120"/>
              </a:rPr>
              <a:t>هُ</a:t>
            </a:r>
            <a:endParaRPr lang="ar-SA" sz="2100" dirty="0"/>
          </a:p>
        </p:txBody>
      </p:sp>
      <p:sp>
        <p:nvSpPr>
          <p:cNvPr id="68" name="Text 65"/>
          <p:cNvSpPr txBox="1"/>
          <p:nvPr/>
        </p:nvSpPr>
        <p:spPr>
          <a:xfrm>
            <a:off x="5742432" y="5852160"/>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quṭ-ru-hu</a:t>
            </a:r>
            <a:endParaRPr lang="en-US" sz="950" dirty="0"/>
          </a:p>
        </p:txBody>
      </p:sp>
      <p:sp>
        <p:nvSpPr>
          <p:cNvPr id="69" name="Text 66"/>
          <p:cNvSpPr txBox="1"/>
          <p:nvPr/>
        </p:nvSpPr>
        <p:spPr>
          <a:xfrm>
            <a:off x="3502152" y="5431536"/>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قُطْرُ</a:t>
            </a:r>
            <a:pPr rtl="1" algn="ctr" indent="0" marL="0">
              <a:buNone/>
            </a:pPr>
            <a:r>
              <a:rPr lang="ar-SA" altLang="en-US" sz="2100" b="1" dirty="0">
                <a:solidFill>
                  <a:srgbClr val="D6336C"/>
                </a:solidFill>
                <a:latin typeface="Amiri" pitchFamily="34" charset="0"/>
                <a:ea typeface="Amiri" pitchFamily="34" charset="-122"/>
                <a:cs typeface="Amiri" pitchFamily="34" charset="-120"/>
              </a:rPr>
              <a:t>هَا</a:t>
            </a:r>
            <a:endParaRPr lang="ar-SA" sz="2100" dirty="0"/>
          </a:p>
        </p:txBody>
      </p:sp>
      <p:sp>
        <p:nvSpPr>
          <p:cNvPr id="70" name="Text 67"/>
          <p:cNvSpPr txBox="1"/>
          <p:nvPr/>
        </p:nvSpPr>
        <p:spPr>
          <a:xfrm>
            <a:off x="3456432" y="5852160"/>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quṭ-ru-hā</a:t>
            </a:r>
            <a:endParaRPr lang="en-US" sz="950" dirty="0"/>
          </a:p>
        </p:txBody>
      </p:sp>
      <p:sp>
        <p:nvSpPr>
          <p:cNvPr id="71" name="Text 68"/>
          <p:cNvSpPr txBox="1"/>
          <p:nvPr/>
        </p:nvSpPr>
        <p:spPr>
          <a:xfrm>
            <a:off x="566928" y="5413248"/>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قُطْرُهُ عَشَرَةُ سَنْتِيمِتْرَاتٍ</a:t>
            </a:r>
            <a:pPr algn="l" indent="0" marL="0">
              <a:buNone/>
            </a:pPr>
            <a:r>
              <a:rPr lang="en-US" sz="1100" dirty="0">
                <a:solidFill>
                  <a:srgbClr val="5A6472"/>
                </a:solidFill>
                <a:latin typeface="Calibri" pitchFamily="34" charset="0"/>
                <a:ea typeface="Calibri" pitchFamily="34" charset="-122"/>
                <a:cs typeface="Calibri" pitchFamily="34" charset="-120"/>
              </a:rPr>
              <a:t> (game)</a:t>
            </a:r>
            <a:endParaRPr lang="en-US" sz="11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B3B6F"/>
                </a:solidFill>
                <a:latin typeface="Calibri" pitchFamily="34" charset="0"/>
                <a:ea typeface="Calibri" pitchFamily="34" charset="-122"/>
                <a:cs typeface="Calibri" pitchFamily="34" charset="-120"/>
              </a:rPr>
              <a:t>GRAMMAR FOCUS · PART 2 · PASSIVE PARTICIPLES + AGREEMENT · WEBSITE TABLE</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Made of … / built of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مَصْنُوعٌ مِنْ · مَبْنِيٌّ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thing</a:t>
            </a:r>
            <a:endParaRPr lang="en-US" sz="1100" dirty="0"/>
          </a:p>
        </p:txBody>
      </p:sp>
      <p:sp>
        <p:nvSpPr>
          <p:cNvPr id="17" name="Text 14"/>
          <p:cNvSpPr txBox="1"/>
          <p:nvPr/>
        </p:nvSpPr>
        <p:spPr>
          <a:xfrm>
            <a:off x="5129784" y="1810512"/>
            <a:ext cx="4334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Masculine thing</a:t>
            </a:r>
            <a:endParaRPr lang="en-US" sz="1100" dirty="0"/>
          </a:p>
        </p:txBody>
      </p:sp>
      <p:sp>
        <p:nvSpPr>
          <p:cNvPr id="18" name="Text 15"/>
          <p:cNvSpPr txBox="1"/>
          <p:nvPr/>
        </p:nvSpPr>
        <p:spPr>
          <a:xfrm>
            <a:off x="530352" y="1810512"/>
            <a:ext cx="4453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Feminine thing (or plural of things)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 object: made of</a:t>
            </a:r>
            <a:endParaRPr lang="en-US" sz="1100" dirty="0"/>
          </a:p>
        </p:txBody>
      </p:sp>
      <p:sp>
        <p:nvSpPr>
          <p:cNvPr id="21" name="Text 18"/>
          <p:cNvSpPr txBox="1"/>
          <p:nvPr/>
        </p:nvSpPr>
        <p:spPr>
          <a:xfrm>
            <a:off x="5148072" y="2286000"/>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الكُرْسِيُّ </a:t>
            </a:r>
            <a:pPr rtl="1" algn="ctr" indent="0" marL="0">
              <a:buNone/>
            </a:pPr>
            <a:r>
              <a:rPr lang="ar-SA" altLang="en-US" sz="21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الخَشَبِ</a:t>
            </a:r>
            <a:endParaRPr lang="ar-SA" sz="2100" dirty="0"/>
          </a:p>
        </p:txBody>
      </p:sp>
      <p:sp>
        <p:nvSpPr>
          <p:cNvPr id="22" name="Text 19"/>
          <p:cNvSpPr txBox="1"/>
          <p:nvPr/>
        </p:nvSpPr>
        <p:spPr>
          <a:xfrm>
            <a:off x="5102352" y="2706624"/>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chair is made of wood</a:t>
            </a:r>
            <a:endParaRPr lang="en-US" sz="950" dirty="0"/>
          </a:p>
        </p:txBody>
      </p:sp>
      <p:sp>
        <p:nvSpPr>
          <p:cNvPr id="23" name="Text 20"/>
          <p:cNvSpPr txBox="1"/>
          <p:nvPr/>
        </p:nvSpPr>
        <p:spPr>
          <a:xfrm>
            <a:off x="548640" y="2286000"/>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الطَّاوِلَةُ </a:t>
            </a:r>
            <a:pPr rtl="1" algn="ctr" indent="0" marL="0">
              <a:buNone/>
            </a:pPr>
            <a:r>
              <a:rPr lang="ar-SA" altLang="en-US" sz="21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الخَشَبِ</a:t>
            </a:r>
            <a:endParaRPr lang="ar-SA" sz="2100" dirty="0"/>
          </a:p>
        </p:txBody>
      </p:sp>
      <p:sp>
        <p:nvSpPr>
          <p:cNvPr id="24" name="Text 21"/>
          <p:cNvSpPr txBox="1"/>
          <p:nvPr/>
        </p:nvSpPr>
        <p:spPr>
          <a:xfrm>
            <a:off x="502920" y="2706624"/>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table is made of wood</a:t>
            </a:r>
            <a:endParaRPr lang="en-US" sz="95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 object: made of</a:t>
            </a:r>
            <a:endParaRPr lang="en-US" sz="1100" dirty="0"/>
          </a:p>
        </p:txBody>
      </p:sp>
      <p:sp>
        <p:nvSpPr>
          <p:cNvPr id="29" name="Text 26"/>
          <p:cNvSpPr txBox="1"/>
          <p:nvPr/>
        </p:nvSpPr>
        <p:spPr>
          <a:xfrm>
            <a:off x="5148072" y="3072384"/>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القَلَمُ </a:t>
            </a:r>
            <a:pPr rtl="1" algn="ctr" indent="0" marL="0">
              <a:buNone/>
            </a:pPr>
            <a:r>
              <a:rPr lang="ar-SA" altLang="en-US" sz="21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المَعْدِنِ</a:t>
            </a:r>
            <a:endParaRPr lang="ar-SA" sz="2100" dirty="0"/>
          </a:p>
        </p:txBody>
      </p:sp>
      <p:sp>
        <p:nvSpPr>
          <p:cNvPr id="30" name="Text 27"/>
          <p:cNvSpPr txBox="1"/>
          <p:nvPr/>
        </p:nvSpPr>
        <p:spPr>
          <a:xfrm>
            <a:off x="5102352" y="3493008"/>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pen is made of metal</a:t>
            </a:r>
            <a:endParaRPr lang="en-US" sz="950" dirty="0"/>
          </a:p>
        </p:txBody>
      </p:sp>
      <p:sp>
        <p:nvSpPr>
          <p:cNvPr id="31" name="Text 28"/>
          <p:cNvSpPr txBox="1"/>
          <p:nvPr/>
        </p:nvSpPr>
        <p:spPr>
          <a:xfrm>
            <a:off x="548640" y="3072384"/>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الزُّجَاجَةُ </a:t>
            </a:r>
            <a:pPr rtl="1" algn="ctr" indent="0" marL="0">
              <a:buNone/>
            </a:pPr>
            <a:r>
              <a:rPr lang="ar-SA" altLang="en-US" sz="21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البِلَاسْتِيكِ</a:t>
            </a:r>
            <a:endParaRPr lang="ar-SA" sz="2100" dirty="0"/>
          </a:p>
        </p:txBody>
      </p:sp>
      <p:sp>
        <p:nvSpPr>
          <p:cNvPr id="32" name="Text 29"/>
          <p:cNvSpPr txBox="1"/>
          <p:nvPr/>
        </p:nvSpPr>
        <p:spPr>
          <a:xfrm>
            <a:off x="502920" y="3493008"/>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bottle is made of plastic</a:t>
            </a:r>
            <a:endParaRPr lang="en-US" sz="95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building: built of</a:t>
            </a:r>
            <a:endParaRPr lang="en-US" sz="1100" dirty="0"/>
          </a:p>
        </p:txBody>
      </p:sp>
      <p:sp>
        <p:nvSpPr>
          <p:cNvPr id="37" name="Text 34"/>
          <p:cNvSpPr txBox="1"/>
          <p:nvPr/>
        </p:nvSpPr>
        <p:spPr>
          <a:xfrm>
            <a:off x="5148072" y="3858768"/>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البَيْتُ </a:t>
            </a:r>
            <a:pPr rtl="1" algn="ctr" indent="0" marL="0">
              <a:buNone/>
            </a:pPr>
            <a:r>
              <a:rPr lang="ar-SA" altLang="en-US" sz="2100" b="1" dirty="0">
                <a:solidFill>
                  <a:srgbClr val="7B3FA0"/>
                </a:solidFill>
                <a:latin typeface="Amiri" pitchFamily="34" charset="0"/>
                <a:ea typeface="Amiri" pitchFamily="34" charset="-122"/>
                <a:cs typeface="Amiri" pitchFamily="34" charset="-120"/>
              </a:rPr>
              <a:t>مَبْنِيٌّ</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الحَجَرِ</a:t>
            </a:r>
            <a:endParaRPr lang="ar-SA" sz="2100" dirty="0"/>
          </a:p>
        </p:txBody>
      </p:sp>
      <p:sp>
        <p:nvSpPr>
          <p:cNvPr id="38" name="Text 35"/>
          <p:cNvSpPr txBox="1"/>
          <p:nvPr/>
        </p:nvSpPr>
        <p:spPr>
          <a:xfrm>
            <a:off x="5102352" y="4279392"/>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house is built of stone (website)</a:t>
            </a:r>
            <a:endParaRPr lang="en-US" sz="950" dirty="0"/>
          </a:p>
        </p:txBody>
      </p:sp>
      <p:sp>
        <p:nvSpPr>
          <p:cNvPr id="39" name="Text 36"/>
          <p:cNvSpPr txBox="1"/>
          <p:nvPr/>
        </p:nvSpPr>
        <p:spPr>
          <a:xfrm>
            <a:off x="548640" y="3858768"/>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المَدْرَسَةُ </a:t>
            </a:r>
            <a:pPr rtl="1" algn="ctr" indent="0" marL="0">
              <a:buNone/>
            </a:pPr>
            <a:r>
              <a:rPr lang="ar-SA" altLang="en-US" sz="2100" b="1" dirty="0">
                <a:solidFill>
                  <a:srgbClr val="7B3FA0"/>
                </a:solidFill>
                <a:latin typeface="Amiri" pitchFamily="34" charset="0"/>
                <a:ea typeface="Amiri" pitchFamily="34" charset="-122"/>
                <a:cs typeface="Amiri" pitchFamily="34" charset="-120"/>
              </a:rPr>
              <a:t>مَبْنِيَّ</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الطُّوبِ</a:t>
            </a:r>
            <a:endParaRPr lang="ar-SA" sz="2100" dirty="0"/>
          </a:p>
        </p:txBody>
      </p:sp>
      <p:sp>
        <p:nvSpPr>
          <p:cNvPr id="40" name="Text 37"/>
          <p:cNvSpPr txBox="1"/>
          <p:nvPr/>
        </p:nvSpPr>
        <p:spPr>
          <a:xfrm>
            <a:off x="502920" y="4279392"/>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school is built of brick (website)</a:t>
            </a:r>
            <a:endParaRPr lang="en-US" sz="9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plural of things</a:t>
            </a:r>
            <a:endParaRPr lang="en-US" sz="1100" dirty="0"/>
          </a:p>
        </p:txBody>
      </p:sp>
      <p:sp>
        <p:nvSpPr>
          <p:cNvPr id="43" name="Text 40"/>
          <p:cNvSpPr txBox="1"/>
          <p:nvPr/>
        </p:nvSpPr>
        <p:spPr>
          <a:xfrm>
            <a:off x="5148072" y="4645152"/>
            <a:ext cx="429768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الجِسْرُ </a:t>
            </a:r>
            <a:pPr rtl="1" algn="ctr" indent="0" marL="0">
              <a:buNone/>
            </a:pPr>
            <a:r>
              <a:rPr lang="ar-SA" altLang="en-US" sz="2100" b="1" dirty="0">
                <a:solidFill>
                  <a:srgbClr val="7B3FA0"/>
                </a:solidFill>
                <a:latin typeface="Amiri" pitchFamily="34" charset="0"/>
                <a:ea typeface="Amiri" pitchFamily="34" charset="-122"/>
                <a:cs typeface="Amiri" pitchFamily="34" charset="-120"/>
              </a:rPr>
              <a:t>مَبْنِيٌّ</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المَعْدِنِ</a:t>
            </a:r>
            <a:endParaRPr lang="ar-SA" sz="2100" dirty="0"/>
          </a:p>
        </p:txBody>
      </p:sp>
      <p:sp>
        <p:nvSpPr>
          <p:cNvPr id="44" name="Text 41"/>
          <p:cNvSpPr txBox="1"/>
          <p:nvPr/>
        </p:nvSpPr>
        <p:spPr>
          <a:xfrm>
            <a:off x="5102352" y="5065776"/>
            <a:ext cx="43891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bridge is built of metal (website)</a:t>
            </a:r>
            <a:endParaRPr lang="en-US" sz="950" dirty="0"/>
          </a:p>
        </p:txBody>
      </p:sp>
      <p:sp>
        <p:nvSpPr>
          <p:cNvPr id="45" name="Text 42"/>
          <p:cNvSpPr txBox="1"/>
          <p:nvPr/>
        </p:nvSpPr>
        <p:spPr>
          <a:xfrm>
            <a:off x="548640" y="4645152"/>
            <a:ext cx="4416552"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المَبَانِي </a:t>
            </a:r>
            <a:pPr rtl="1" algn="ctr" indent="0" marL="0">
              <a:buNone/>
            </a:pPr>
            <a:r>
              <a:rPr lang="ar-SA" altLang="en-US" sz="2100" b="1" dirty="0">
                <a:solidFill>
                  <a:srgbClr val="7B3FA0"/>
                </a:solidFill>
                <a:latin typeface="Amiri" pitchFamily="34" charset="0"/>
                <a:ea typeface="Amiri" pitchFamily="34" charset="-122"/>
                <a:cs typeface="Amiri" pitchFamily="34" charset="-120"/>
              </a:rPr>
              <a:t>مَبْنِيَّ</a:t>
            </a:r>
            <a:pPr rtl="1" algn="ctr" indent="0" marL="0">
              <a:buNone/>
            </a:pPr>
            <a:r>
              <a:rPr lang="ar-SA" altLang="en-US" sz="2100" b="1" dirty="0">
                <a:solidFill>
                  <a:srgbClr val="D6336C"/>
                </a:solidFill>
                <a:latin typeface="Amiri" pitchFamily="34" charset="0"/>
                <a:ea typeface="Amiri" pitchFamily="34" charset="-122"/>
                <a:cs typeface="Amiri" pitchFamily="34" charset="-120"/>
              </a:rPr>
              <a:t>ةٌ</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مِنَ</a:t>
            </a:r>
            <a:pPr rtl="1" algn="ctr" indent="0" marL="0">
              <a:buNone/>
            </a:pPr>
            <a:r>
              <a:rPr lang="ar-SA" altLang="en-US" sz="2100" b="1" dirty="0">
                <a:solidFill>
                  <a:srgbClr val="1B3B6F"/>
                </a:solidFill>
                <a:latin typeface="Amiri" pitchFamily="34" charset="0"/>
                <a:ea typeface="Amiri" pitchFamily="34" charset="-122"/>
                <a:cs typeface="Amiri" pitchFamily="34" charset="-120"/>
              </a:rPr>
              <a:t> الخَرَسَانَةِ</a:t>
            </a:r>
            <a:endParaRPr lang="ar-SA" sz="2100" dirty="0"/>
          </a:p>
        </p:txBody>
      </p:sp>
      <p:sp>
        <p:nvSpPr>
          <p:cNvPr id="46" name="Text 43"/>
          <p:cNvSpPr txBox="1"/>
          <p:nvPr/>
        </p:nvSpPr>
        <p:spPr>
          <a:xfrm>
            <a:off x="502920" y="5065776"/>
            <a:ext cx="4507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the buildings are built of concrete (website)</a:t>
            </a:r>
            <a:endParaRPr lang="en-US" sz="9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3 · USE AND SUITABILITY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is it for? Is it suitable?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الاِسْتِعْمَالُ وَالمُلَاءَمَةُ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 · USED FOR</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نَسْتَعْمِلُهُ لِـ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نَسْتَعْمِلُ الزُّجَاجَةَ لِلْمَاءِ</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We use the bottle for water.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لِـ</a:t>
            </a:r>
            <a:pPr algn="l" indent="0" marL="0">
              <a:buNone/>
            </a:pPr>
            <a:r>
              <a:rPr lang="en-US" sz="1100" dirty="0">
                <a:solidFill>
                  <a:srgbClr val="1F2A37"/>
                </a:solidFill>
                <a:latin typeface="Calibri" pitchFamily="34" charset="0"/>
                <a:ea typeface="Calibri" pitchFamily="34" charset="-122"/>
                <a:cs typeface="Calibri" pitchFamily="34" charset="-120"/>
              </a:rPr>
              <a:t> + the = </a:t>
            </a:r>
            <a:pPr algn="l" indent="0" marL="0">
              <a:buNone/>
            </a:pPr>
            <a:r>
              <a:rPr lang="ar-SA" altLang="en-US" sz="1450" dirty="0">
                <a:solidFill>
                  <a:srgbClr val="1F2A37"/>
                </a:solidFill>
                <a:latin typeface="Amiri" pitchFamily="34" charset="0"/>
                <a:ea typeface="Amiri" pitchFamily="34" charset="-122"/>
                <a:cs typeface="Amiri" pitchFamily="34" charset="-120"/>
              </a:rPr>
              <a:t>لِلْـ</a:t>
            </a:r>
            <a:pPr algn="l" indent="0" marL="0">
              <a:buNone/>
            </a:pPr>
            <a:r>
              <a:rPr lang="en-US" sz="1100" dirty="0">
                <a:solidFill>
                  <a:srgbClr val="1F2A37"/>
                </a:solidFill>
                <a:latin typeface="Calibri" pitchFamily="34" charset="0"/>
                <a:ea typeface="Calibri" pitchFamily="34" charset="-122"/>
                <a:cs typeface="Calibri" pitchFamily="34" charset="-120"/>
              </a:rPr>
              <a:t>: </a:t>
            </a:r>
            <a:pPr algn="l" indent="0" marL="0">
              <a:buNone/>
            </a:pPr>
            <a:r>
              <a:rPr lang="ar-SA" altLang="en-US" sz="1450" dirty="0">
                <a:solidFill>
                  <a:srgbClr val="1F2A37"/>
                </a:solidFill>
                <a:latin typeface="Amiri" pitchFamily="34" charset="0"/>
                <a:ea typeface="Amiri" pitchFamily="34" charset="-122"/>
                <a:cs typeface="Amiri" pitchFamily="34" charset="-120"/>
              </a:rPr>
              <a:t>لِلْمَاءِ</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لِلدِّرَاسَةِ</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SUITABLE FOR</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مُنَاسِبٌ لِـ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الخَشَبُ مُنَاسِبٌ لِلْأَثَاثِ لِأَنَّهُ قَوِيٌّ</a:t>
            </a:r>
            <a:endParaRPr lang="ar-SA" sz="24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Wood is suitable for furniture because it is strong.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مُنَاسِبٌ / مُنَاسِبَةٌ</a:t>
            </a:r>
            <a:pPr algn="l" indent="0" marL="0">
              <a:buNone/>
            </a:pPr>
            <a:r>
              <a:rPr lang="en-US" sz="1100" dirty="0">
                <a:solidFill>
                  <a:srgbClr val="1F2A37"/>
                </a:solidFill>
                <a:latin typeface="Calibri" pitchFamily="34" charset="0"/>
                <a:ea typeface="Calibri" pitchFamily="34" charset="-122"/>
                <a:cs typeface="Calibri" pitchFamily="34" charset="-120"/>
              </a:rPr>
              <a:t> agrees too; add a reason with </a:t>
            </a:r>
            <a:pPr algn="l" indent="0" marL="0">
              <a:buNone/>
            </a:pPr>
            <a:r>
              <a:rPr lang="ar-SA" altLang="en-US" sz="1450" dirty="0">
                <a:solidFill>
                  <a:srgbClr val="1F2A37"/>
                </a:solidFill>
                <a:latin typeface="Amiri" pitchFamily="34" charset="0"/>
                <a:ea typeface="Amiri" pitchFamily="34" charset="-122"/>
                <a:cs typeface="Amiri" pitchFamily="34" charset="-120"/>
              </a:rPr>
              <a:t>لِأَنَّ</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KNOWN FOR</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يَتَمَيَّزُ / تَتَمَيَّزُ بِـ</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تَتَمَيَّزُ القَرْيَةُ بِبُيُوتِهَا التَّقْلِيدِيَّةِ</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village is known for its traditional houses.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Feminine subject → </a:t>
            </a:r>
            <a:pPr algn="l" indent="0" marL="0">
              <a:buNone/>
            </a:pPr>
            <a:r>
              <a:rPr lang="ar-SA" altLang="en-US" sz="1450" dirty="0">
                <a:solidFill>
                  <a:srgbClr val="1F2A37"/>
                </a:solidFill>
                <a:latin typeface="Amiri" pitchFamily="34" charset="0"/>
                <a:ea typeface="Amiri" pitchFamily="34" charset="-122"/>
                <a:cs typeface="Amiri" pitchFamily="34" charset="-120"/>
              </a:rPr>
              <a:t>تَتَمَيَّزُ</a:t>
            </a:r>
            <a:pPr algn="l" indent="0" marL="0">
              <a:buNone/>
            </a:pPr>
            <a:r>
              <a:rPr lang="en-US" sz="1100" dirty="0">
                <a:solidFill>
                  <a:srgbClr val="1F2A37"/>
                </a:solidFill>
                <a:latin typeface="Calibri" pitchFamily="34" charset="0"/>
                <a:ea typeface="Calibri" pitchFamily="34" charset="-122"/>
                <a:cs typeface="Calibri" pitchFamily="34" charset="-120"/>
              </a:rPr>
              <a:t>; the feature always after </a:t>
            </a:r>
            <a:pPr algn="l" indent="0" marL="0">
              <a:buNone/>
            </a:pPr>
            <a:r>
              <a:rPr lang="ar-SA" altLang="en-US" sz="1450" dirty="0">
                <a:solidFill>
                  <a:srgbClr val="1F2A37"/>
                </a:solidFill>
                <a:latin typeface="Amiri" pitchFamily="34" charset="0"/>
                <a:ea typeface="Amiri" pitchFamily="34" charset="-122"/>
                <a:cs typeface="Amiri" pitchFamily="34" charset="-120"/>
              </a:rPr>
              <a:t>بِـ</a:t>
            </a:r>
            <a:pPr algn="l" indent="0" marL="0">
              <a:buNone/>
            </a:pPr>
            <a:r>
              <a:rPr lang="en-US" sz="1100" dirty="0">
                <a:solidFill>
                  <a:srgbClr val="1F2A37"/>
                </a:solidFill>
                <a:latin typeface="Calibri" pitchFamily="34" charset="0"/>
                <a:ea typeface="Calibri" pitchFamily="34" charset="-122"/>
                <a:cs typeface="Calibri" pitchFamily="34" charset="-120"/>
              </a:rPr>
              <a:t> (website).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the verb or the participle not agreeing with a feminine noun.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34" charset="0"/>
                <a:ea typeface="Amiri" pitchFamily="34" charset="-122"/>
                <a:cs typeface="Amiri" pitchFamily="34" charset="-120"/>
              </a:rPr>
              <a:t>العِمَارَةُ مَبْنِيَّةٌ</a:t>
            </a:r>
            <a:endParaRPr lang="ar-SA" sz="25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العِمَارَةُ مَبْنِيٌّ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تَتَمَيَّزُ القَرْيَةُ</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يَتَمَيَّزُ القَرْيَةُ</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FLEX · CONTRAST (WEBSITE)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Old and new: whereas …</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بَيْنَمَا</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Text 14"/>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8" name="Shape 15"/>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9" name="Text 16"/>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الفِكْرَةُ الأُولَى</a:t>
            </a:r>
            <a:endParaRPr lang="ar-SA" sz="1850" dirty="0"/>
          </a:p>
        </p:txBody>
      </p:sp>
      <p:sp>
        <p:nvSpPr>
          <p:cNvPr id="20" name="Text 17"/>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idea 1 (complete)</a:t>
            </a:r>
            <a:endParaRPr lang="en-US" sz="900" dirty="0"/>
          </a:p>
        </p:txBody>
      </p:sp>
      <p:sp>
        <p:nvSpPr>
          <p:cNvPr id="21" name="Shape 18"/>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2" name="Text 19"/>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بَيْنَمَا</a:t>
            </a:r>
            <a:endParaRPr lang="ar-SA" sz="1850" dirty="0"/>
          </a:p>
        </p:txBody>
      </p:sp>
      <p:sp>
        <p:nvSpPr>
          <p:cNvPr id="23" name="Text 20"/>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whereas (key word)</a:t>
            </a:r>
            <a:endParaRPr lang="en-US" sz="900" dirty="0"/>
          </a:p>
        </p:txBody>
      </p:sp>
      <p:sp>
        <p:nvSpPr>
          <p:cNvPr id="24" name="Shape 21"/>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5" name="Text 22"/>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الفِكْرَةُ الثَّانِيَةُ</a:t>
            </a:r>
            <a:endParaRPr lang="ar-SA" sz="1850" dirty="0"/>
          </a:p>
        </p:txBody>
      </p:sp>
      <p:sp>
        <p:nvSpPr>
          <p:cNvPr id="26" name="Text 23"/>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idea 2 (complete, different)</a:t>
            </a:r>
            <a:endParaRPr lang="en-US" sz="900" dirty="0"/>
          </a:p>
        </p:txBody>
      </p:sp>
      <p:sp>
        <p:nvSpPr>
          <p:cNvPr id="27" name="Text 24"/>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city is crowded, whereas the village is quiet.</a:t>
            </a:r>
            <a:endParaRPr lang="en-US" sz="1200" dirty="0"/>
          </a:p>
        </p:txBody>
      </p:sp>
      <p:sp>
        <p:nvSpPr>
          <p:cNvPr id="28" name="Shape 25"/>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المَدِينَةُ مُكْتَظَّةٌ،</a:t>
            </a:r>
            <a:endParaRPr lang="ar-SA" sz="2400" dirty="0"/>
          </a:p>
        </p:txBody>
      </p:sp>
      <p:sp>
        <p:nvSpPr>
          <p:cNvPr id="30" name="Shape 27"/>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31" name="Text 28"/>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32" name="Shape 29"/>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3" name="Text 30"/>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القَرْيَةُ هَادِئَةٌ</a:t>
            </a:r>
            <a:endParaRPr lang="ar-SA" sz="2400" dirty="0"/>
          </a:p>
        </p:txBody>
      </p:sp>
      <p:sp>
        <p:nvSpPr>
          <p:cNvPr id="34" name="Text 31"/>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city is dense, whereas the countryside is spacious.</a:t>
            </a:r>
            <a:endParaRPr lang="en-US" sz="1200" dirty="0"/>
          </a:p>
        </p:txBody>
      </p:sp>
      <p:sp>
        <p:nvSpPr>
          <p:cNvPr id="35" name="Shape 32"/>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المَدِينَةُ مُكْتَظَّةٌ،</a:t>
            </a:r>
            <a:endParaRPr lang="ar-SA" sz="2400" dirty="0"/>
          </a:p>
        </p:txBody>
      </p:sp>
      <p:sp>
        <p:nvSpPr>
          <p:cNvPr id="37" name="Shape 34"/>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8" name="Text 35"/>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39" name="Shape 36"/>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40" name="Text 37"/>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الرِّيفُ فَسِيحٌ</a:t>
            </a:r>
            <a:endParaRPr lang="ar-SA" sz="2400" dirty="0"/>
          </a:p>
        </p:txBody>
      </p:sp>
      <p:sp>
        <p:nvSpPr>
          <p:cNvPr id="41" name="Text 38"/>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house is traditional, whereas the block is modern.</a:t>
            </a:r>
            <a:endParaRPr lang="en-US" sz="1200" dirty="0"/>
          </a:p>
        </p:txBody>
      </p:sp>
      <p:sp>
        <p:nvSpPr>
          <p:cNvPr id="42" name="Shape 39"/>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البَيْتُ تَقْلِيدِيٌّ،</a:t>
            </a:r>
            <a:endParaRPr lang="ar-SA" sz="2400" dirty="0"/>
          </a:p>
        </p:txBody>
      </p:sp>
      <p:sp>
        <p:nvSpPr>
          <p:cNvPr id="44" name="Shape 41"/>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5" name="Text 42"/>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46" name="Shape 43"/>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7" name="Text 44"/>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العِمَارَةُ مُعَاصِرَةٌ</a:t>
            </a:r>
            <a:endParaRPr lang="ar-SA" sz="2400" dirty="0"/>
          </a:p>
        </p:txBody>
      </p:sp>
      <p:sp>
        <p:nvSpPr>
          <p:cNvPr id="48" name="Text 45"/>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old district is built of stone, whereas the new one is built of glass.</a:t>
            </a:r>
            <a:endParaRPr lang="en-US" sz="1200" dirty="0"/>
          </a:p>
        </p:txBody>
      </p:sp>
      <p:sp>
        <p:nvSpPr>
          <p:cNvPr id="49" name="Shape 46"/>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34" charset="0"/>
                <a:ea typeface="Amiri" pitchFamily="34" charset="-122"/>
                <a:cs typeface="Amiri" pitchFamily="34" charset="-120"/>
              </a:rPr>
              <a:t>الحَيُّ القَدِيمُ مَبْنِيٌّ مِنَ الحَجَرِ،</a:t>
            </a:r>
            <a:endParaRPr lang="ar-SA" sz="1850" dirty="0"/>
          </a:p>
        </p:txBody>
      </p:sp>
      <p:sp>
        <p:nvSpPr>
          <p:cNvPr id="51" name="Shape 48"/>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2" name="Text 49"/>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بَيْنَمَا</a:t>
            </a:r>
            <a:endParaRPr lang="ar-SA" sz="2400" dirty="0"/>
          </a:p>
        </p:txBody>
      </p:sp>
      <p:sp>
        <p:nvSpPr>
          <p:cNvPr id="53" name="Shape 50"/>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4" name="Text 51"/>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34" charset="0"/>
                <a:ea typeface="Amiri" pitchFamily="34" charset="-122"/>
                <a:cs typeface="Amiri" pitchFamily="34" charset="-120"/>
              </a:rPr>
              <a:t>الجَدِيدُ مَبْنِيٌّ مِنَ الزُّجَاجِ</a:t>
            </a:r>
            <a:endParaRPr lang="ar-SA" sz="2350" dirty="0"/>
          </a:p>
        </p:txBody>
      </p:sp>
      <p:sp>
        <p:nvSpPr>
          <p:cNvPr id="55" name="Text 52"/>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Both sides must be complete ideas that really contrast (website rule).</a:t>
            </a:r>
            <a:endParaRPr lang="en-US" sz="12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Describe a masculine building material</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اِسْمٌ مُذَكَّرٌ + مَبْنِيٌّ مِنْ + مَادَّةٍ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البَيْتُ مَبْنِيٌّ مِنَ الحَجَرِ.   ·   الجِسْرُ مَبْنِيٌّ مِنَ المَعْدِنِ.</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Describe a feminine building material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اِسْمٌ مُؤَنَّثٌ + مَبْنِيَّةٌ مِنْ + مَادَّةٍ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المَدْرَسَةُ مَبْنِيَّةٌ مِنَ الطُّوبِ.   ·   العِمَارَةُ مَبْنِيَّةٌ مِنَ الخَرَسَانَةِ وَالزُّجَاجِ.</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Describe architectural identity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يَتَمَيَّزُ / تَتَمَيَّزُ بِـ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يَتَمَيَّزُ المَسْجِدُ بِمِئْذَنَتِهِ التَّارِيخِيَّةِ.   ·   تَتَمَيَّزُ القَرْيَةُ بِبُيُوتِهَا الطِّينِيَّةِ.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Contrast city and countryside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 بَيْنَمَا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تَكْثُرُ نَاطِحَاتُ السَّحَابِ فِي المَدِينَةِ، بَيْنَمَا تَكْثُرُ البُيُوتُ الفَسِيحَةُ فِي الرِّيفِ.   ·   المَدِينَةُ مُكْتَظَّةٌ، بَيْنَمَا القَرْيَةُ هَادِئَةٌ.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الطَّاوِلَةُ ___ مِنَ الخَشَبِ.</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مَصْنُوعَانِ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مَصْنُوعَةٌ</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“Its length is two metres”?</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طُولُهُ مِتْرَانِ.</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وَزْنُهُ مِتْرَانِ.</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عَرْضُهُ لِتْرَانِ.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البَيْتُ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الحَجَرِ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مَبْنِيَّةٌ</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مَبْنِيَّاتٌ</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المَدْرَسَةُ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الطُّوبِ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مَبْنِيَّانِ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الطَّاوِلَةُ ___ مِنَ الخَشَبِ.</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مَصْنُوعَانِ</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مَصْنُوعَةٌ</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الطَّاوِلَةُ</a:t>
            </a:r>
            <a:pPr algn="l" indent="0" marL="0">
              <a:buNone/>
            </a:pPr>
            <a:r>
              <a:rPr lang="en-US" sz="1050" i="1" dirty="0">
                <a:solidFill>
                  <a:srgbClr val="8A6D1E"/>
                </a:solidFill>
                <a:latin typeface="Calibri" pitchFamily="34" charset="0"/>
                <a:ea typeface="Calibri" pitchFamily="34" charset="-122"/>
                <a:cs typeface="Calibri" pitchFamily="34" charset="-120"/>
              </a:rPr>
              <a:t> is feminine → </a:t>
            </a:r>
            <a:pPr algn="l" indent="0" marL="0">
              <a:buNone/>
            </a:pPr>
            <a:r>
              <a:rPr lang="ar-SA" altLang="en-US" sz="1350" dirty="0">
                <a:solidFill>
                  <a:srgbClr val="8A6D1E"/>
                </a:solidFill>
                <a:latin typeface="Amiri" pitchFamily="34" charset="0"/>
                <a:ea typeface="Amiri" pitchFamily="34" charset="-122"/>
                <a:cs typeface="Amiri" pitchFamily="34" charset="-120"/>
              </a:rPr>
              <a:t>مَصْنُوعَةٌ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“Its length is two metres”?</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طُولُهُ مِتْرَانِ.</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وَزْنُهُ مِتْرَانِ.</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عَرْضُهُ لِتْرَانِ.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طُولٌ</a:t>
            </a:r>
            <a:pPr algn="l" indent="0" marL="0">
              <a:buNone/>
            </a:pPr>
            <a:r>
              <a:rPr lang="en-US" sz="1050" i="1" dirty="0">
                <a:solidFill>
                  <a:srgbClr val="8A6D1E"/>
                </a:solidFill>
                <a:latin typeface="Calibri" pitchFamily="34" charset="0"/>
                <a:ea typeface="Calibri" pitchFamily="34" charset="-122"/>
                <a:cs typeface="Calibri" pitchFamily="34" charset="-120"/>
              </a:rPr>
              <a:t> = length; </a:t>
            </a:r>
            <a:pPr algn="l" indent="0" marL="0">
              <a:buNone/>
            </a:pPr>
            <a:r>
              <a:rPr lang="ar-SA" altLang="en-US" sz="1350" dirty="0">
                <a:solidFill>
                  <a:srgbClr val="8A6D1E"/>
                </a:solidFill>
                <a:latin typeface="Amiri" pitchFamily="34" charset="0"/>
                <a:ea typeface="Amiri" pitchFamily="34" charset="-122"/>
                <a:cs typeface="Amiri" pitchFamily="34" charset="-120"/>
              </a:rPr>
              <a:t>مِتْرَانِ</a:t>
            </a:r>
            <a:pPr algn="l" indent="0" marL="0">
              <a:buNone/>
            </a:pPr>
            <a:r>
              <a:rPr lang="en-US" sz="1050" i="1" dirty="0">
                <a:solidFill>
                  <a:srgbClr val="8A6D1E"/>
                </a:solidFill>
                <a:latin typeface="Calibri" pitchFamily="34" charset="0"/>
                <a:ea typeface="Calibri" pitchFamily="34" charset="-122"/>
                <a:cs typeface="Calibri" pitchFamily="34" charset="-120"/>
              </a:rPr>
              <a:t> = two metres (website game).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البَيْتُ</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الحَجَرِ</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مَبْنِيَّةٌ</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مَبْنِيٌّ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مَبْنِيَّاتٌ</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بَيْتٌ</a:t>
            </a:r>
            <a:pPr algn="l" indent="0" marL="0">
              <a:buNone/>
            </a:pPr>
            <a:r>
              <a:rPr lang="en-US" sz="1050" i="1" dirty="0">
                <a:solidFill>
                  <a:srgbClr val="8A6D1E"/>
                </a:solidFill>
                <a:latin typeface="Calibri" pitchFamily="34" charset="0"/>
                <a:ea typeface="Calibri" pitchFamily="34" charset="-122"/>
                <a:cs typeface="Calibri" pitchFamily="34" charset="-120"/>
              </a:rPr>
              <a:t> is masculine.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المَدْرَسَةُ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الطُّوبِ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مَبْنِيَّةٌ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مَبْنِيٌّ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مَبْنِيَّانِ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مَدْرَسَةٌ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describe my desk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and shape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هٰذِهِ طَاوِلَةٌ مُسْتَطِيلَ</a:t>
            </a:r>
            <a:pPr rtl="1" algn="ctr" indent="0" marL="0">
              <a:buNone/>
            </a:pPr>
            <a:r>
              <a:rPr lang="ar-SA" altLang="en-US" sz="2800" b="1" dirty="0">
                <a:solidFill>
                  <a:srgbClr val="D6336C"/>
                </a:solidFill>
                <a:latin typeface="Amiri" pitchFamily="34" charset="0"/>
                <a:ea typeface="Amiri" pitchFamily="34" charset="-122"/>
                <a:cs typeface="Amiri" pitchFamily="34" charset="-120"/>
              </a:rPr>
              <a:t>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طَاوِلَةٌ</a:t>
            </a:r>
            <a:pPr algn="l" indent="0" marL="0">
              <a:buNone/>
            </a:pPr>
            <a:r>
              <a:rPr lang="en-US" sz="1150" dirty="0">
                <a:solidFill>
                  <a:srgbClr val="1F2A37"/>
                </a:solidFill>
                <a:latin typeface="Calibri" pitchFamily="34" charset="0"/>
                <a:ea typeface="Calibri" pitchFamily="34" charset="-122"/>
                <a:cs typeface="Calibri" pitchFamily="34" charset="-120"/>
              </a:rPr>
              <a:t> is feminine → </a:t>
            </a:r>
            <a:pPr algn="l" indent="0" marL="0">
              <a:buNone/>
            </a:pPr>
            <a:r>
              <a:rPr lang="ar-SA" altLang="en-US" sz="1500" dirty="0">
                <a:solidFill>
                  <a:srgbClr val="1F2A37"/>
                </a:solidFill>
                <a:latin typeface="Amiri" pitchFamily="34" charset="0"/>
                <a:ea typeface="Amiri" pitchFamily="34" charset="-122"/>
                <a:cs typeface="Amiri" pitchFamily="34" charset="-120"/>
              </a:rPr>
              <a:t>مُسْتَطِيلَةٌ</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Size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طُولُ</a:t>
            </a:r>
            <a:pPr rtl="1" algn="ctr" indent="0" marL="0">
              <a:buNone/>
            </a:pPr>
            <a:r>
              <a:rPr lang="ar-SA" altLang="en-US" sz="2800" b="1" dirty="0">
                <a:solidFill>
                  <a:srgbClr val="D6336C"/>
                </a:solidFill>
                <a:latin typeface="Amiri" pitchFamily="34" charset="0"/>
                <a:ea typeface="Amiri" pitchFamily="34" charset="-122"/>
                <a:cs typeface="Amiri" pitchFamily="34" charset="-120"/>
              </a:rPr>
              <a:t>هَا</a:t>
            </a:r>
            <a:pPr rtl="1" algn="ctr" indent="0" marL="0">
              <a:buNone/>
            </a:pPr>
            <a:r>
              <a:rPr lang="ar-SA" altLang="en-US" sz="2800" b="1" dirty="0">
                <a:solidFill>
                  <a:srgbClr val="1B3B6F"/>
                </a:solidFill>
                <a:latin typeface="Amiri" pitchFamily="34" charset="0"/>
                <a:ea typeface="Amiri" pitchFamily="34" charset="-122"/>
                <a:cs typeface="Amiri" pitchFamily="34" charset="-120"/>
              </a:rPr>
              <a:t> مِتْرَانِ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ـهَا</a:t>
            </a:r>
            <a:pPr algn="l" indent="0" marL="0">
              <a:buNone/>
            </a:pPr>
            <a:r>
              <a:rPr lang="en-US" sz="1150" dirty="0">
                <a:solidFill>
                  <a:srgbClr val="1F2A37"/>
                </a:solidFill>
                <a:latin typeface="Calibri" pitchFamily="34" charset="0"/>
                <a:ea typeface="Calibri" pitchFamily="34" charset="-122"/>
                <a:cs typeface="Calibri" pitchFamily="34" charset="-120"/>
              </a:rPr>
              <a:t> = its (the table, f.).</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Made of</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34" charset="0"/>
                <a:ea typeface="Amiri" pitchFamily="34" charset="-122"/>
                <a:cs typeface="Amiri" pitchFamily="34" charset="-120"/>
              </a:rPr>
              <a:t>هِيَ </a:t>
            </a:r>
            <a:pPr rtl="1" algn="ctr" indent="0" marL="0">
              <a:buNone/>
            </a:pPr>
            <a:r>
              <a:rPr lang="ar-SA" altLang="en-US" sz="2700" b="1" dirty="0">
                <a:solidFill>
                  <a:srgbClr val="7B3FA0"/>
                </a:solidFill>
                <a:latin typeface="Amiri" pitchFamily="34" charset="0"/>
                <a:ea typeface="Amiri" pitchFamily="34" charset="-122"/>
                <a:cs typeface="Amiri" pitchFamily="34" charset="-120"/>
              </a:rPr>
              <a:t>مَصْنُوعَ</a:t>
            </a:r>
            <a:pPr rtl="1" algn="ctr" indent="0" marL="0">
              <a:buNone/>
            </a:pPr>
            <a:r>
              <a:rPr lang="ar-SA" altLang="en-US" sz="2700" b="1" dirty="0">
                <a:solidFill>
                  <a:srgbClr val="D6336C"/>
                </a:solidFill>
                <a:latin typeface="Amiri" pitchFamily="34" charset="0"/>
                <a:ea typeface="Amiri" pitchFamily="34" charset="-122"/>
                <a:cs typeface="Amiri" pitchFamily="34" charset="-120"/>
              </a:rPr>
              <a:t>ةٌ</a:t>
            </a:r>
            <a:pPr rtl="1" algn="ctr" indent="0" marL="0">
              <a:buNone/>
            </a:pPr>
            <a:r>
              <a:rPr lang="ar-SA" altLang="en-US" sz="2700" b="1" dirty="0">
                <a:solidFill>
                  <a:srgbClr val="1B3B6F"/>
                </a:solidFill>
                <a:latin typeface="Amiri" pitchFamily="34" charset="0"/>
                <a:ea typeface="Amiri" pitchFamily="34" charset="-122"/>
                <a:cs typeface="Amiri" pitchFamily="34" charset="-120"/>
              </a:rPr>
              <a:t> </a:t>
            </a:r>
            <a:pPr rtl="1" algn="ctr" indent="0" marL="0">
              <a:buNone/>
            </a:pPr>
            <a:r>
              <a:rPr lang="ar-SA" altLang="en-US" sz="2700" b="1" dirty="0">
                <a:solidFill>
                  <a:srgbClr val="0E7C86"/>
                </a:solidFill>
                <a:latin typeface="Amiri" pitchFamily="34" charset="0"/>
                <a:ea typeface="Amiri" pitchFamily="34" charset="-122"/>
                <a:cs typeface="Amiri" pitchFamily="34" charset="-120"/>
              </a:rPr>
              <a:t>مِنَ</a:t>
            </a:r>
            <a:pPr rtl="1" algn="ctr" indent="0" marL="0">
              <a:buNone/>
            </a:pPr>
            <a:r>
              <a:rPr lang="ar-SA" altLang="en-US" sz="2700" b="1" dirty="0">
                <a:solidFill>
                  <a:srgbClr val="1B3B6F"/>
                </a:solidFill>
                <a:latin typeface="Amiri" pitchFamily="34" charset="0"/>
                <a:ea typeface="Amiri" pitchFamily="34" charset="-122"/>
                <a:cs typeface="Amiri" pitchFamily="34" charset="-120"/>
              </a:rPr>
              <a:t> الخَشَبِ</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Feminine → </a:t>
            </a:r>
            <a:pPr algn="l" indent="0" marL="0">
              <a:buNone/>
            </a:pPr>
            <a:r>
              <a:rPr lang="ar-SA" altLang="en-US" sz="1500" dirty="0">
                <a:solidFill>
                  <a:srgbClr val="1F2A37"/>
                </a:solidFill>
                <a:latin typeface="Amiri" pitchFamily="34" charset="0"/>
                <a:ea typeface="Amiri" pitchFamily="34" charset="-122"/>
                <a:cs typeface="Amiri" pitchFamily="34" charset="-120"/>
              </a:rPr>
              <a:t>مَصْنُوعَةٌ</a:t>
            </a:r>
            <a:pPr algn="l" indent="0" marL="0">
              <a:buNone/>
            </a:pPr>
            <a:r>
              <a:rPr lang="en-US" sz="1150" dirty="0">
                <a:solidFill>
                  <a:srgbClr val="1F2A37"/>
                </a:solidFill>
                <a:latin typeface="Calibri" pitchFamily="34" charset="0"/>
                <a:ea typeface="Calibri" pitchFamily="34" charset="-122"/>
                <a:cs typeface="Calibri" pitchFamily="34" charset="-120"/>
              </a:rPr>
              <a:t> + </a:t>
            </a:r>
            <a:pPr algn="l" indent="0" marL="0">
              <a:buNone/>
            </a:pPr>
            <a:r>
              <a:rPr lang="ar-SA" altLang="en-US" sz="1500" dirty="0">
                <a:solidFill>
                  <a:srgbClr val="1F2A37"/>
                </a:solidFill>
                <a:latin typeface="Amiri" pitchFamily="34" charset="0"/>
                <a:ea typeface="Amiri" pitchFamily="34" charset="-122"/>
                <a:cs typeface="Amiri" pitchFamily="34" charset="-120"/>
              </a:rPr>
              <a:t>مِنَ</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Suitable because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الخَشَبُ مُنَاسِبٌ </a:t>
            </a:r>
            <a:pPr rtl="1" algn="ctr" indent="0" marL="0">
              <a:buNone/>
            </a:pPr>
            <a:r>
              <a:rPr lang="ar-SA" altLang="en-US" sz="2400" b="1" dirty="0">
                <a:solidFill>
                  <a:srgbClr val="0E7C86"/>
                </a:solidFill>
                <a:latin typeface="Amiri" pitchFamily="34" charset="0"/>
                <a:ea typeface="Amiri" pitchFamily="34" charset="-122"/>
                <a:cs typeface="Amiri" pitchFamily="34" charset="-120"/>
              </a:rPr>
              <a:t>لِأَنَّهُ</a:t>
            </a:r>
            <a:pPr rtl="1" algn="ctr" indent="0" marL="0">
              <a:buNone/>
            </a:pPr>
            <a:r>
              <a:rPr lang="ar-SA" altLang="en-US" sz="2400" b="1" dirty="0">
                <a:solidFill>
                  <a:srgbClr val="1B3B6F"/>
                </a:solidFill>
                <a:latin typeface="Amiri" pitchFamily="34" charset="0"/>
                <a:ea typeface="Amiri" pitchFamily="34" charset="-122"/>
                <a:cs typeface="Amiri" pitchFamily="34" charset="-120"/>
              </a:rPr>
              <a:t> قَوِيٌّ</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 reason: </a:t>
            </a:r>
            <a:pPr algn="l" indent="0" marL="0">
              <a:buNone/>
            </a:pPr>
            <a:r>
              <a:rPr lang="ar-SA" altLang="en-US" sz="1500" dirty="0">
                <a:solidFill>
                  <a:srgbClr val="1F2A37"/>
                </a:solidFill>
                <a:latin typeface="Amiri" pitchFamily="34" charset="0"/>
                <a:ea typeface="Amiri" pitchFamily="34" charset="-122"/>
                <a:cs typeface="Amiri" pitchFamily="34" charset="-120"/>
              </a:rPr>
              <a:t>لِأَنَّهُ</a:t>
            </a:r>
            <a:pPr algn="l" indent="0" marL="0">
              <a:buNone/>
            </a:pPr>
            <a:r>
              <a:rPr lang="en-US" sz="1150" dirty="0">
                <a:solidFill>
                  <a:srgbClr val="1F2A37"/>
                </a:solidFill>
                <a:latin typeface="Calibri" pitchFamily="34" charset="0"/>
                <a:ea typeface="Calibri" pitchFamily="34" charset="-122"/>
                <a:cs typeface="Calibri" pitchFamily="34" charset="-120"/>
              </a:rPr>
              <a:t>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PARTICIPLE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KEY WORD</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طَاوِلَةٌ مُسْتَطِيلَ</a:t>
            </a:r>
            <a:pPr rtl="1" algn="r" indent="0" marL="0">
              <a:buNone/>
            </a:pPr>
            <a:r>
              <a:rPr lang="ar-SA" altLang="en-US" sz="2000" b="1" dirty="0">
                <a:solidFill>
                  <a:srgbClr val="D6336C"/>
                </a:solidFill>
                <a:latin typeface="Amiri" pitchFamily="34" charset="0"/>
                <a:ea typeface="Amiri" pitchFamily="34" charset="-122"/>
                <a:cs typeface="Amiri" pitchFamily="34" charset="-120"/>
              </a:rPr>
              <a:t>ةٌ</a:t>
            </a:r>
            <a:pPr rtl="1" algn="r" indent="0" marL="0">
              <a:buNone/>
            </a:pPr>
            <a:r>
              <a:rPr lang="ar-SA" altLang="en-US" sz="2000" b="1" dirty="0">
                <a:solidFill>
                  <a:srgbClr val="1B3B6F"/>
                </a:solidFill>
                <a:latin typeface="Amiri" pitchFamily="34" charset="0"/>
                <a:ea typeface="Amiri" pitchFamily="34" charset="-122"/>
                <a:cs typeface="Amiri" pitchFamily="34" charset="-120"/>
              </a:rPr>
              <a:t>. طُولُ</a:t>
            </a:r>
            <a:pPr rtl="1" algn="r" indent="0" marL="0">
              <a:buNone/>
            </a:pPr>
            <a:r>
              <a:rPr lang="ar-SA" altLang="en-US" sz="2000" b="1" dirty="0">
                <a:solidFill>
                  <a:srgbClr val="D6336C"/>
                </a:solidFill>
                <a:latin typeface="Amiri" pitchFamily="34" charset="0"/>
                <a:ea typeface="Amiri" pitchFamily="34" charset="-122"/>
                <a:cs typeface="Amiri" pitchFamily="34" charset="-120"/>
              </a:rPr>
              <a:t>هَا</a:t>
            </a:r>
            <a:pPr rtl="1" algn="r" indent="0" marL="0">
              <a:buNone/>
            </a:pPr>
            <a:r>
              <a:rPr lang="ar-SA" altLang="en-US" sz="2000" b="1" dirty="0">
                <a:solidFill>
                  <a:srgbClr val="1B3B6F"/>
                </a:solidFill>
                <a:latin typeface="Amiri" pitchFamily="34" charset="0"/>
                <a:ea typeface="Amiri" pitchFamily="34" charset="-122"/>
                <a:cs typeface="Amiri" pitchFamily="34" charset="-120"/>
              </a:rPr>
              <a:t> مِتْرَانِ، وَعَرْضُ</a:t>
            </a:r>
            <a:pPr rtl="1" algn="r" indent="0" marL="0">
              <a:buNone/>
            </a:pPr>
            <a:r>
              <a:rPr lang="ar-SA" altLang="en-US" sz="2000" b="1" dirty="0">
                <a:solidFill>
                  <a:srgbClr val="D6336C"/>
                </a:solidFill>
                <a:latin typeface="Amiri" pitchFamily="34" charset="0"/>
                <a:ea typeface="Amiri" pitchFamily="34" charset="-122"/>
                <a:cs typeface="Amiri" pitchFamily="34" charset="-120"/>
              </a:rPr>
              <a:t>هَا</a:t>
            </a:r>
            <a:pPr rtl="1" algn="r" indent="0" marL="0">
              <a:buNone/>
            </a:pPr>
            <a:r>
              <a:rPr lang="ar-SA" altLang="en-US" sz="2000" b="1" dirty="0">
                <a:solidFill>
                  <a:srgbClr val="1B3B6F"/>
                </a:solidFill>
                <a:latin typeface="Amiri" pitchFamily="34" charset="0"/>
                <a:ea typeface="Amiri" pitchFamily="34" charset="-122"/>
                <a:cs typeface="Amiri" pitchFamily="34" charset="-120"/>
              </a:rPr>
              <a:t> مِتْرٌ وَاحِدٌ. هِيَ </a:t>
            </a:r>
            <a:pPr rtl="1" algn="r" indent="0" marL="0">
              <a:buNone/>
            </a:pPr>
            <a:r>
              <a:rPr lang="ar-SA" altLang="en-US" sz="2000" b="1" dirty="0">
                <a:solidFill>
                  <a:srgbClr val="7B3FA0"/>
                </a:solidFill>
                <a:latin typeface="Amiri" pitchFamily="34" charset="0"/>
                <a:ea typeface="Amiri" pitchFamily="34" charset="-122"/>
                <a:cs typeface="Amiri" pitchFamily="34" charset="-120"/>
              </a:rPr>
              <a:t>مَصْنُوعَ</a:t>
            </a:r>
            <a:pPr rtl="1" algn="r" indent="0" marL="0">
              <a:buNone/>
            </a:pPr>
            <a:r>
              <a:rPr lang="ar-SA" altLang="en-US" sz="2000" b="1" dirty="0">
                <a:solidFill>
                  <a:srgbClr val="D6336C"/>
                </a:solidFill>
                <a:latin typeface="Amiri" pitchFamily="34" charset="0"/>
                <a:ea typeface="Amiri" pitchFamily="34" charset="-122"/>
                <a:cs typeface="Amiri" pitchFamily="34" charset="-120"/>
              </a:rPr>
              <a:t>ةٌ</a:t>
            </a:r>
            <a:pPr rtl="1" algn="r" indent="0" marL="0">
              <a:buNone/>
            </a:pPr>
            <a:r>
              <a:rPr lang="ar-SA" altLang="en-US" sz="2000" b="1" dirty="0">
                <a:solidFill>
                  <a:srgbClr val="1B3B6F"/>
                </a:solidFill>
                <a:latin typeface="Amiri" pitchFamily="34" charset="0"/>
                <a:ea typeface="Amiri" pitchFamily="34" charset="-122"/>
                <a:cs typeface="Amiri" pitchFamily="34" charset="-120"/>
              </a:rPr>
              <a:t> </a:t>
            </a:r>
            <a:pPr rtl="1" algn="r" indent="0" marL="0">
              <a:buNone/>
            </a:pPr>
            <a:r>
              <a:rPr lang="ar-SA" altLang="en-US" sz="2000" b="1" dirty="0">
                <a:solidFill>
                  <a:srgbClr val="0E7C86"/>
                </a:solidFill>
                <a:latin typeface="Amiri" pitchFamily="34" charset="0"/>
                <a:ea typeface="Amiri" pitchFamily="34" charset="-122"/>
                <a:cs typeface="Amiri" pitchFamily="34" charset="-120"/>
              </a:rPr>
              <a:t>مِنَ</a:t>
            </a:r>
            <a:pPr rtl="1" algn="r" indent="0" marL="0">
              <a:buNone/>
            </a:pPr>
            <a:r>
              <a:rPr lang="ar-SA" altLang="en-US" sz="2000" b="1" dirty="0">
                <a:solidFill>
                  <a:srgbClr val="1B3B6F"/>
                </a:solidFill>
                <a:latin typeface="Amiri" pitchFamily="34" charset="0"/>
                <a:ea typeface="Amiri" pitchFamily="34" charset="-122"/>
                <a:cs typeface="Amiri" pitchFamily="34" charset="-120"/>
              </a:rPr>
              <a:t> الخَشَبِ، وَالخَشَبُ مُنَاسِبٌ لِلدِّرَاسَةِ </a:t>
            </a:r>
            <a:pPr rtl="1" algn="r" indent="0" marL="0">
              <a:buNone/>
            </a:pPr>
            <a:r>
              <a:rPr lang="ar-SA" altLang="en-US" sz="2000" b="1" dirty="0">
                <a:solidFill>
                  <a:srgbClr val="0E7C86"/>
                </a:solidFill>
                <a:latin typeface="Amiri" pitchFamily="34" charset="0"/>
                <a:ea typeface="Amiri" pitchFamily="34" charset="-122"/>
                <a:cs typeface="Amiri" pitchFamily="34" charset="-120"/>
              </a:rPr>
              <a:t>لِأَنَّهُ</a:t>
            </a:r>
            <a:pPr rtl="1" algn="r" indent="0" marL="0">
              <a:buNone/>
            </a:pPr>
            <a:r>
              <a:rPr lang="ar-SA" altLang="en-US" sz="2000" b="1" dirty="0">
                <a:solidFill>
                  <a:srgbClr val="1B3B6F"/>
                </a:solidFill>
                <a:latin typeface="Amiri" pitchFamily="34" charset="0"/>
                <a:ea typeface="Amiri" pitchFamily="34" charset="-122"/>
                <a:cs typeface="Amiri" pitchFamily="34" charset="-120"/>
              </a:rPr>
              <a:t> قَوِيٌّ وَجَمِيلٌ.</a:t>
            </a:r>
            <a:endParaRPr lang="ar-SA" sz="20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This is a rectangular table. Its length is two metres and its width is one metre. It is made of wood, and wood is suitable for studying because it is strong and beautiful.</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البَيْتُ مَبْنِيٌّ مِنَ الحَجَرِ.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house is built of stone.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Masculine building → مَبْنِيٌّ.</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المَدْرَسَةُ مَبْنِيَّةٌ مِنَ الطُّوبِ.</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school is built of brick.</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Feminine building → مَبْنِيَّةٌ.</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تَتَمَيَّزُ القَرْيَةُ بِبُيُوتِهَا التَّقْلِيدِيَّةِ.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village is distinguished by its traditional houses.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Feminine subject → تَتَمَيَّزُ.</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المَدِينَةُ مُكْتَظَّةٌ، بَيْنَمَا الرِّيفُ فَسِيحٌ.</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city is dense, whereas the countryside is spacious.</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Use complete contrasting clauses.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“MEASURE &amp; MATERIAL”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الْقِيَاسُ وَالْمَادَّةُ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 m · wood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10 cm</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 L</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سِعَةُ الزُّجَاجَةِ لِتْرٌ وَاحِدٌ.</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طُولُهُ مِتْرَانِ وَهُوَ مَصْنُوعٌ مِنَ الْخَشَبِ.</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 دَائِرِيُّ الشَّكْلِ وَقُطْرُهُ عَشَرَةُ سَنْتِيمِتْرَاتٍ.</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الْقِيَاسُ وَالْمَادَّةُ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 m · wood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طُولُهُ مِتْرَانِ وَهُوَ مَصْنُوعٌ مِنَ الْخَشَبِ.</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Its length is two metres and it is made of wood.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10 cm</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هُوَ دَائِرِيُّ الشَّكْلِ وَقُطْرُهُ عَشَرَةُ سَنْتِيمِتْرَاتٍ.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It is round and its diameter is ten centimetres.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 L</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سِعَةُ الزُّجَاجَةِ لِتْرٌ وَاحِدٌ.</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capacity of the bottle is one litre.</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 A PRODUCT CARD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Product card: a study desk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بِطَاقَةُ المُنْتَجِ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بِطَاقَةُ المُنْتَجِ: مَكْتَبُ دِرَاسَةٍ</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الشَّكْلُ: مُسْتَطِيلٌ</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الطُّولُ: مِئَةٌ وَعِشْرُونَ سَنْتِيمِتْرًا · العَرْضُ: سِتُّونَ سَنْتِيمِتْرًا</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الوَزْنُ: خَمْسَةَ عَشَرَ كِيلُوغْرَامًا</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المَادَّةُ: المَكْتَبُ مَصْنُوعٌ مِنَ الخَشَبِ، وَالأَرْجُلُ مِنَ المَعْدِنِ.</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الاِسْتِعْمَالُ: مُنَاسِبٌ لِلدِّرَاسَةِ فِي غُرْفَةٍ صَغِيرَةٍ.</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تَنْبِيهٌ: لَا تَضَعِ المَكْتَبَ قُرْبَ المَاءِ.</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بِطَاقَةُ المُنْتَجِ</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product card</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مَكْتَبُ دِرَاسَةٍ</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study desk</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الشَّكْلُ</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shape</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الطُّولُ</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length</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العَرْضُ</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width</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الوَزْنُ</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weight</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الأَرْجُلُ</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legs</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الاِسْتِعْمَالُ</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use</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تَنْبِيهٌ</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warning</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لَا تَضَعْ</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don’t put</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PRODUCT CARD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Find the facts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shape is the desk?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Rectangular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Round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Square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is it?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60 cm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 cm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120 cm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heavy is 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 kg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 kg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50 kg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legs made of?</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Metal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Plastic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must you NOT put it?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small room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Near a window</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Near water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shape?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الشَّكْل</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long?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الطُّول</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heavy?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الوَزْن</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made of?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مِنَ</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PRODUCT CARD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Product card: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shape is the desk?</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Rectangular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Round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Square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الشَّكْلُ: مُسْتَطِيلٌ.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is it?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60 cm</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15 cm</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120 cm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الطُّولُ: مِئَةٌ وَعِشْرُونَ سَنْتِيمِتْرًا.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heavy is 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12 kg</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15 kg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50 kg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الوَزْنُ: خَمْسَةَ عَشَرَ كِيلُوغْرَامًا.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legs made of?</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Wood</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Metal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Plastic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وَالأَرْجُلُ مِنَ المَعْدِنِ.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must you NOT put it?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small room</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Near a window</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Near water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تَضَعِ المَكْتَبَ قُرْبَ المَاءِ.</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shape?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الشَّكْل</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long?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الطُّول</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heavy?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الوَزْن</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made of?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مِنَ</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table is made of wood.</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الطَّاوِلَةُ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الكُرْسِيُّ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مَصْنُوعٌ</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مَصْنُوعَةٌ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بِالخَشَبِ.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مِنَ الخَشَبِ.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Its (the bottle’s) capacity is one litre.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سِعَتُهَا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سِعَتُهُ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لِتْرٌ</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مِتْرٌ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وَاحِدٌ.</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وَاحِدَةٌ.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city is crowded, whereas the village is quiet.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المَدِينَةُ مُكْتَظَّةٌ،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القَرْيَةُ مُكْتَظَّةٌ،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لِأَنَّ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بَيْنَمَا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المَدِينَةُ مُكْتَظَّةٌ.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القَرْيَةُ هَادِئَةٌ.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table is made of wood.</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B</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Feminine </a:t>
            </a:r>
            <a:pPr algn="l" indent="0" marL="0">
              <a:buNone/>
            </a:pPr>
            <a:r>
              <a:rPr lang="ar-SA" altLang="en-US" sz="1350" dirty="0">
                <a:solidFill>
                  <a:srgbClr val="5A6472"/>
                </a:solidFill>
                <a:latin typeface="Amiri" pitchFamily="34" charset="0"/>
                <a:ea typeface="Amiri" pitchFamily="34" charset="-122"/>
                <a:cs typeface="Amiri" pitchFamily="34" charset="-120"/>
              </a:rPr>
              <a:t>الطَّاوِلَةُ</a:t>
            </a:r>
            <a:pPr algn="l" indent="0" marL="0">
              <a:buNone/>
            </a:pPr>
            <a:r>
              <a:rPr lang="en-US" sz="1050" i="1" dirty="0">
                <a:solidFill>
                  <a:srgbClr val="5A6472"/>
                </a:solidFill>
                <a:latin typeface="Calibri" pitchFamily="34" charset="0"/>
                <a:ea typeface="Calibri" pitchFamily="34" charset="-122"/>
                <a:cs typeface="Calibri" pitchFamily="34" charset="-120"/>
              </a:rPr>
              <a:t> → </a:t>
            </a:r>
            <a:pPr algn="l" indent="0" marL="0">
              <a:buNone/>
            </a:pPr>
            <a:r>
              <a:rPr lang="ar-SA" altLang="en-US" sz="1350" dirty="0">
                <a:solidFill>
                  <a:srgbClr val="5A6472"/>
                </a:solidFill>
                <a:latin typeface="Amiri" pitchFamily="34" charset="0"/>
                <a:ea typeface="Amiri" pitchFamily="34" charset="-122"/>
                <a:cs typeface="Amiri" pitchFamily="34" charset="-120"/>
              </a:rPr>
              <a:t>مَصْنُوعَةٌ</a:t>
            </a:r>
            <a:pPr algn="l" indent="0" marL="0">
              <a:buNone/>
            </a:pPr>
            <a:r>
              <a:rPr lang="en-US" sz="1050" i="1" dirty="0">
                <a:solidFill>
                  <a:srgbClr val="5A6472"/>
                </a:solidFill>
                <a:latin typeface="Calibri" pitchFamily="34" charset="0"/>
                <a:ea typeface="Calibri" pitchFamily="34" charset="-122"/>
                <a:cs typeface="Calibri" pitchFamily="34" charset="-120"/>
              </a:rPr>
              <a:t>; always </a:t>
            </a:r>
            <a:pPr algn="l" indent="0" marL="0">
              <a:buNone/>
            </a:pPr>
            <a:r>
              <a:rPr lang="ar-SA" altLang="en-US" sz="1350" dirty="0">
                <a:solidFill>
                  <a:srgbClr val="5A6472"/>
                </a:solidFill>
                <a:latin typeface="Amiri" pitchFamily="34" charset="0"/>
                <a:ea typeface="Amiri" pitchFamily="34" charset="-122"/>
                <a:cs typeface="Amiri" pitchFamily="34" charset="-120"/>
              </a:rPr>
              <a:t>مِنْ</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الطَّاوِلَةُ مَصْنُوعَةٌ مِنَ الخَشَبِ.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Its (the bottle’s) capacity is one litre.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الزُّجَاجَةُ</a:t>
            </a:r>
            <a:pPr algn="l" indent="0" marL="0">
              <a:buNone/>
            </a:pPr>
            <a:r>
              <a:rPr lang="en-US" sz="1050" i="1" dirty="0">
                <a:solidFill>
                  <a:srgbClr val="5A6472"/>
                </a:solidFill>
                <a:latin typeface="Calibri" pitchFamily="34" charset="0"/>
                <a:ea typeface="Calibri" pitchFamily="34" charset="-122"/>
                <a:cs typeface="Calibri" pitchFamily="34" charset="-120"/>
              </a:rPr>
              <a:t> is feminine → </a:t>
            </a:r>
            <a:pPr algn="l" indent="0" marL="0">
              <a:buNone/>
            </a:pPr>
            <a:r>
              <a:rPr lang="ar-SA" altLang="en-US" sz="1350" dirty="0">
                <a:solidFill>
                  <a:srgbClr val="5A6472"/>
                </a:solidFill>
                <a:latin typeface="Amiri" pitchFamily="34" charset="0"/>
                <a:ea typeface="Amiri" pitchFamily="34" charset="-122"/>
                <a:cs typeface="Amiri" pitchFamily="34" charset="-120"/>
              </a:rPr>
              <a:t>سِعَتُهَا</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لِتْرٌ</a:t>
            </a:r>
            <a:pPr algn="l" indent="0" marL="0">
              <a:buNone/>
            </a:pPr>
            <a:r>
              <a:rPr lang="en-US" sz="1050" i="1" dirty="0">
                <a:solidFill>
                  <a:srgbClr val="5A6472"/>
                </a:solidFill>
                <a:latin typeface="Calibri" pitchFamily="34" charset="0"/>
                <a:ea typeface="Calibri" pitchFamily="34" charset="-122"/>
                <a:cs typeface="Calibri" pitchFamily="34" charset="-120"/>
              </a:rPr>
              <a:t> is masculine → </a:t>
            </a:r>
            <a:pPr algn="l" indent="0" marL="0">
              <a:buNone/>
            </a:pPr>
            <a:r>
              <a:rPr lang="ar-SA" altLang="en-US" sz="1350" dirty="0">
                <a:solidFill>
                  <a:srgbClr val="5A6472"/>
                </a:solidFill>
                <a:latin typeface="Amiri" pitchFamily="34" charset="0"/>
                <a:ea typeface="Amiri" pitchFamily="34" charset="-122"/>
                <a:cs typeface="Amiri" pitchFamily="34" charset="-120"/>
              </a:rPr>
              <a:t>وَاحِدٌ</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سِعَتُهَا لِتْرٌ وَاحِدٌ.</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city is crowded, whereas the village is quiet.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بَيْنَمَا</a:t>
            </a:r>
            <a:pPr algn="l" indent="0" marL="0">
              <a:buNone/>
            </a:pPr>
            <a:r>
              <a:rPr lang="en-US" sz="1050" i="1" dirty="0">
                <a:solidFill>
                  <a:srgbClr val="5A6472"/>
                </a:solidFill>
                <a:latin typeface="Calibri" pitchFamily="34" charset="0"/>
                <a:ea typeface="Calibri" pitchFamily="34" charset="-122"/>
                <a:cs typeface="Calibri" pitchFamily="34" charset="-120"/>
              </a:rPr>
              <a:t> + a complete, different idea (website).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المَدِينَةُ مُكْتَظَّةٌ، بَيْنَمَا القَرْيَةُ هَادِئَةٌ.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Material or building?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مَادَّةٌ أَمْ مَبْنًى؟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حَجَرٌ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عِمَارَةٌ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زُجَاجٌ</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نَاطِحَةُ سَحَابٍ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خَرَسَانَةٌ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مَنْزِلٌ مُسْتَقِلٌّ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طِينٌ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مَبْنًى تَارِيخِيٌّ</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Material</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Building</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Material</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حَجَرٌ</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زُجَاجٌ</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خَرَسَانَةٌ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طِينٌ</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Building</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عِمَارَةٌ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نَاطِحَةُ سَحَابٍ</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مَنْزِلٌ مُسْتَقِلٌّ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مَبْنًى تَارِيخِيٌّ</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القَرْيَةُ بِبُيُوتِهَا التَّقْلِيدِيَّةِ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يَتَمَيَّزُ</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تَمَيَّزْ</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تَتَمَيَّزُ</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means “whereas”?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meaningful contrast.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المَدِينَةُ مُكْتَظَّةٌ، بَيْنَمَا المَدِينَةُ مُكْتَظَّةٌ.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المَدِينَةُ مُكْتَظَّةٌ، بَيْنَمَا القَرْيَةُ هَادِئَةٌ.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المَدِينَةُ لِأَنَّ القَرْيَةَ.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architectural heritage?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مَوَاصَلَاتٌ عَامَّةٌ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رِحْلَةٌ مُبَاشِرَةٌ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تُرَاثٌ مِعْمَارِيٌّ</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___ </a:t>
            </a:r>
            <a:pPr algn="l" indent="0" marL="0">
              <a:buNone/>
            </a:pPr>
            <a:r>
              <a:rPr lang="ar-SA" altLang="en-US" sz="1650" b="1" dirty="0">
                <a:solidFill>
                  <a:srgbClr val="1B3B6F"/>
                </a:solidFill>
                <a:latin typeface="Amiri" pitchFamily="34" charset="0"/>
                <a:ea typeface="Amiri" pitchFamily="34" charset="-122"/>
                <a:cs typeface="Amiri" pitchFamily="34" charset="-120"/>
              </a:rPr>
              <a:t>القَرْيَةُ بِبُيُوتِهَا التَّقْلِيدِيَّةِ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يَتَمَيَّزُ</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تَمَيَّزْ</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تَتَمَيَّزُ</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القَرْيَةُ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means “whereas”?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لِأَنَّ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بَيْنَمَا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ثُمَّ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بَيْنَمَا</a:t>
            </a:r>
            <a:pPr algn="l" indent="0" marL="0">
              <a:buNone/>
            </a:pPr>
            <a:r>
              <a:rPr lang="en-US" sz="1050" i="1" dirty="0">
                <a:solidFill>
                  <a:srgbClr val="8A6D1E"/>
                </a:solidFill>
                <a:latin typeface="Calibri" pitchFamily="34" charset="0"/>
                <a:ea typeface="Calibri" pitchFamily="34" charset="-122"/>
                <a:cs typeface="Calibri" pitchFamily="34" charset="-120"/>
              </a:rPr>
              <a:t> creates contrast.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meaningful contrast.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المَدِينَةُ مُكْتَظَّةٌ، بَيْنَمَا المَدِينَةُ مُكْتَظَّةٌ.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المَدِينَةُ مُكْتَظَّةٌ، بَيْنَمَا القَرْيَةُ هَادِئَةٌ.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المَدِينَةُ لِأَنَّ القَرْيَةَ.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two clauses contrast urban and rural life.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architectural heritage?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مَوَاصَلَاتٌ عَامَّةٌ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رِحْلَةٌ مُبَاشِرَةٌ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تُرَاثٌ مِعْمَارِيٌّ</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تُرَاثٌ مِعْمَارِيٌّ</a:t>
            </a:r>
            <a:pPr algn="l" indent="0" marL="0">
              <a:buNone/>
            </a:pPr>
            <a:r>
              <a:rPr lang="en-US" sz="1050" i="1" dirty="0">
                <a:solidFill>
                  <a:srgbClr val="8A6D1E"/>
                </a:solidFill>
                <a:latin typeface="Calibri" pitchFamily="34" charset="0"/>
                <a:ea typeface="Calibri" pitchFamily="34" charset="-122"/>
                <a:cs typeface="Calibri" pitchFamily="34" charset="-120"/>
              </a:rPr>
              <a:t> means architectural heritage.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العِمَارَةُ مَبْنِيٌّ مِنَ الخَرَسَانَةِ.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العِمَارَةُ</a:t>
            </a:r>
            <a:pPr algn="l" indent="0" marL="0">
              <a:buNone/>
            </a:pPr>
            <a:r>
              <a:rPr lang="en-US" sz="1300" i="1" dirty="0">
                <a:solidFill>
                  <a:srgbClr val="5A6472"/>
                </a:solidFill>
                <a:latin typeface="Calibri" pitchFamily="34" charset="0"/>
                <a:ea typeface="Calibri" pitchFamily="34" charset="-122"/>
                <a:cs typeface="Calibri" pitchFamily="34" charset="-120"/>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يَتَمَيَّزُ القَرْيَةُ بِالتُّرَاثِ.</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a:t>
            </a:r>
            <a:pPr algn="l" indent="0" marL="0">
              <a:buNone/>
            </a:pPr>
            <a:r>
              <a:rPr lang="ar-SA" altLang="en-US" sz="1700" dirty="0">
                <a:solidFill>
                  <a:srgbClr val="5A6472"/>
                </a:solidFill>
                <a:latin typeface="Amiri" pitchFamily="34" charset="0"/>
                <a:ea typeface="Amiri" pitchFamily="34" charset="-122"/>
                <a:cs typeface="Amiri" pitchFamily="34" charset="-120"/>
              </a:rPr>
              <a:t>القَرْيَةُ</a:t>
            </a:r>
            <a:pPr algn="l" indent="0" marL="0">
              <a:buNone/>
            </a:pPr>
            <a:r>
              <a:rPr lang="en-US" sz="1300" i="1" dirty="0">
                <a:solidFill>
                  <a:srgbClr val="5A6472"/>
                </a:solidFill>
                <a:latin typeface="Calibri" pitchFamily="34" charset="0"/>
                <a:ea typeface="Calibri" pitchFamily="34" charset="-122"/>
                <a:cs typeface="Calibri" pitchFamily="34" charset="-120"/>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المَدِينَةُ مُكْتَظَّةٌ بَيْنَمَا مُكْتَظَّةٌ.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Is the second idea really different?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العِمَارَةُ مَبْنِيٌّ مِنَ الخَرَسَانَةِ.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العِمَارَةُ مَبْنِيَّةٌ مِنَ الخَرَسَانَةِ.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participle agrees with the feminine building.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يَتَمَيَّزُ القَرْيَةُ بِالتُّرَاثِ.</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تَتَمَيَّزُ القَرْيَةُ بِالتُّرَاثِ.</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verb agrees with feminine </a:t>
            </a:r>
            <a:pPr algn="l" indent="0" marL="0">
              <a:buNone/>
            </a:pPr>
            <a:r>
              <a:rPr lang="ar-SA" altLang="en-US" sz="1500" b="1" dirty="0">
                <a:solidFill>
                  <a:srgbClr val="1B3B6F"/>
                </a:solidFill>
                <a:latin typeface="Amiri" pitchFamily="34" charset="0"/>
                <a:ea typeface="Amiri" pitchFamily="34" charset="-122"/>
                <a:cs typeface="Amiri" pitchFamily="34" charset="-120"/>
              </a:rPr>
              <a:t>القَرْيَةُ</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المَدِينَةُ مُكْتَظَّةٌ بَيْنَمَا مُكْتَظَّةٌ.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المَدِينَةُ مُكْتَظَّةٌ، بَيْنَمَا القَرْيَةُ هَادِئَةٌ.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بَيْنَمَا</a:t>
            </a:r>
            <a:pPr algn="l" indent="0" marL="0">
              <a:buNone/>
            </a:pPr>
            <a:r>
              <a:rPr lang="en-US" sz="1150" b="1" dirty="0">
                <a:solidFill>
                  <a:srgbClr val="1B3B6F"/>
                </a:solidFill>
                <a:latin typeface="Calibri" pitchFamily="34" charset="0"/>
                <a:ea typeface="Calibri" pitchFamily="34" charset="-122"/>
                <a:cs typeface="Calibri" pitchFamily="34" charset="-120"/>
              </a:rPr>
              <a:t> needs two complete contrasting ideas.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Architecture in two neighbourhoods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traditional houses built of?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 and metal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distinguishes the traditional houses?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tall towers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large stations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wooden doors and inner courtyards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in the new neighbourhood?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mud houses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village market only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contemporary apartment blocks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materials are used there?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concrete and glass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sand and rock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neighbourhood is quieter?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new one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old one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both the same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3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الحَجَرِ وَالطِّينِ</a:t>
            </a:r>
            <a:pPr algn="l" indent="0" marL="0">
              <a:buNone/>
            </a:pPr>
            <a:r>
              <a:rPr lang="en-US" sz="1250" dirty="0">
                <a:solidFill>
                  <a:srgbClr val="1E6B52"/>
                </a:solidFill>
                <a:latin typeface="Calibri" pitchFamily="34" charset="0"/>
                <a:ea typeface="Calibri" pitchFamily="34" charset="-122"/>
                <a:cs typeface="Calibri" pitchFamily="34" charset="-120"/>
              </a:rPr>
              <a:t> (stone and clay), </a:t>
            </a:r>
            <a:pPr algn="l" indent="0" marL="0">
              <a:buNone/>
            </a:pPr>
            <a:r>
              <a:rPr lang="ar-SA" altLang="en-US" sz="1650" dirty="0">
                <a:solidFill>
                  <a:srgbClr val="1E6B52"/>
                </a:solidFill>
                <a:latin typeface="Amiri" pitchFamily="34" charset="0"/>
                <a:ea typeface="Amiri" pitchFamily="34" charset="-122"/>
                <a:cs typeface="Amiri" pitchFamily="34" charset="-120"/>
              </a:rPr>
              <a:t>عِمَارَاتٌ</a:t>
            </a:r>
            <a:pPr algn="l" indent="0" marL="0">
              <a:buNone/>
            </a:pPr>
            <a:r>
              <a:rPr lang="en-US" sz="1250" dirty="0">
                <a:solidFill>
                  <a:srgbClr val="1E6B52"/>
                </a:solidFill>
                <a:latin typeface="Calibri" pitchFamily="34" charset="0"/>
                <a:ea typeface="Calibri" pitchFamily="34" charset="-122"/>
                <a:cs typeface="Calibri" pitchFamily="34" charset="-120"/>
              </a:rPr>
              <a:t> (blocks) and </a:t>
            </a:r>
            <a:pPr algn="l" indent="0" marL="0">
              <a:buNone/>
            </a:pPr>
            <a:r>
              <a:rPr lang="ar-SA" altLang="en-US" sz="1650" dirty="0">
                <a:solidFill>
                  <a:srgbClr val="1E6B52"/>
                </a:solidFill>
                <a:latin typeface="Amiri" pitchFamily="34" charset="0"/>
                <a:ea typeface="Amiri" pitchFamily="34" charset="-122"/>
                <a:cs typeface="Amiri" pitchFamily="34" charset="-120"/>
              </a:rPr>
              <a:t>الخَرَسَانَةِ وَالزُّجَاجِ</a:t>
            </a:r>
            <a:pPr algn="l" indent="0" marL="0">
              <a:buNone/>
            </a:pPr>
            <a:r>
              <a:rPr lang="en-US" sz="1250" dirty="0">
                <a:solidFill>
                  <a:srgbClr val="1E6B52"/>
                </a:solidFill>
                <a:latin typeface="Calibri" pitchFamily="34" charset="0"/>
                <a:ea typeface="Calibri" pitchFamily="34" charset="-122"/>
                <a:cs typeface="Calibri" pitchFamily="34" charset="-120"/>
              </a:rPr>
              <a:t> (concrete and glass).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الحَيِّ القَدِيمِ بُيُوتٌ تَقْلِيدِيَّةٌ مَبْنِيَّةٌ مِنَ الحَجَرِ وَالطِّينِ.</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the old district there are traditional houses built of stone and clay.</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تَتَمَيَّزُ البُيُوتُ بِأَبْوَابِهَا الخَشَبِيَّةِ وَسَاحَاتِهَا الدَّاخِلِيَّةِ.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houses are known for their wooden doors and inner courtyards.</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أَمَّا فِي الحَيِّ الجَدِيدِ فَتُوجَدُ عِمَارَاتٌ مُعَاصِرَةٌ مَبْنِيَّةٌ مِنَ الخَرَسَانَةِ وَالزُّجَاجِ.</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for the new district, there are modern blocks built of concrete and glass.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الحَيُّ الجَدِيدُ مُكْتَنِزٌ، بَيْنَمَا الحَيُّ القَدِيمُ أَكْثَرُ هُدُوءًا.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new district is dense, whereas the old district is quieter.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traditional houses built of?</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stone and clay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 and metal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wood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مِنَ الحَجَرِ وَالطِّينِ.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distinguishes the traditional houses?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tall towers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large stations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wooden doors and inner courtyards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أَبْوَابِهَا الخَشَبِيَّةِ وَسَاحَاتِهَا.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in the new neighbourhood?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mud houses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village market only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contemporary apartment blocks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عِمَارَاتٌ مُعَاصِرَةٌ.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materials are used there?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concrete and glass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stone and clay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sand and rock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مِنَ الخَرَسَانَةِ وَالزُّجَاجِ.</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neighbourhood is quieter?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new one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old one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both the same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الحَيُّ القَدِيمُ أَكْثَرُ هُدُوءًا.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3 and 4 — listen for </a:t>
            </a:r>
            <a:pPr algn="l" indent="0" marL="0">
              <a:buNone/>
            </a:pPr>
            <a:r>
              <a:rPr lang="ar-SA" altLang="en-US" sz="1650" dirty="0">
                <a:solidFill>
                  <a:srgbClr val="1E6B52"/>
                </a:solidFill>
                <a:latin typeface="Amiri" pitchFamily="34" charset="0"/>
                <a:ea typeface="Amiri" pitchFamily="34" charset="-122"/>
                <a:cs typeface="Amiri" pitchFamily="34" charset="-120"/>
              </a:rPr>
              <a:t>الحَجَرِ وَالطِّينِ</a:t>
            </a:r>
            <a:pPr algn="l" indent="0" marL="0">
              <a:buNone/>
            </a:pPr>
            <a:r>
              <a:rPr lang="en-US" sz="1250" dirty="0">
                <a:solidFill>
                  <a:srgbClr val="1E6B52"/>
                </a:solidFill>
                <a:latin typeface="Calibri" pitchFamily="34" charset="0"/>
                <a:ea typeface="Calibri" pitchFamily="34" charset="-122"/>
                <a:cs typeface="Calibri" pitchFamily="34" charset="-120"/>
              </a:rPr>
              <a:t> (stone and clay), </a:t>
            </a:r>
            <a:pPr algn="l" indent="0" marL="0">
              <a:buNone/>
            </a:pPr>
            <a:r>
              <a:rPr lang="ar-SA" altLang="en-US" sz="1650" dirty="0">
                <a:solidFill>
                  <a:srgbClr val="1E6B52"/>
                </a:solidFill>
                <a:latin typeface="Amiri" pitchFamily="34" charset="0"/>
                <a:ea typeface="Amiri" pitchFamily="34" charset="-122"/>
                <a:cs typeface="Amiri" pitchFamily="34" charset="-120"/>
              </a:rPr>
              <a:t>عِمَارَاتٌ</a:t>
            </a:r>
            <a:pPr algn="l" indent="0" marL="0">
              <a:buNone/>
            </a:pPr>
            <a:r>
              <a:rPr lang="en-US" sz="1250" dirty="0">
                <a:solidFill>
                  <a:srgbClr val="1E6B52"/>
                </a:solidFill>
                <a:latin typeface="Calibri" pitchFamily="34" charset="0"/>
                <a:ea typeface="Calibri" pitchFamily="34" charset="-122"/>
                <a:cs typeface="Calibri" pitchFamily="34" charset="-120"/>
              </a:rPr>
              <a:t> (blocks) and </a:t>
            </a:r>
            <a:pPr algn="l" indent="0" marL="0">
              <a:buNone/>
            </a:pPr>
            <a:r>
              <a:rPr lang="ar-SA" altLang="en-US" sz="1650" dirty="0">
                <a:solidFill>
                  <a:srgbClr val="1E6B52"/>
                </a:solidFill>
                <a:latin typeface="Amiri" pitchFamily="34" charset="0"/>
                <a:ea typeface="Amiri" pitchFamily="34" charset="-122"/>
                <a:cs typeface="Amiri" pitchFamily="34" charset="-120"/>
              </a:rPr>
              <a:t>الخَرَسَانَةِ وَالزُّجَاجِ</a:t>
            </a:r>
            <a:pPr algn="l" indent="0" marL="0">
              <a:buNone/>
            </a:pPr>
            <a:r>
              <a:rPr lang="en-US" sz="1250" dirty="0">
                <a:solidFill>
                  <a:srgbClr val="1E6B52"/>
                </a:solidFill>
                <a:latin typeface="Calibri" pitchFamily="34" charset="0"/>
                <a:ea typeface="Calibri" pitchFamily="34" charset="-122"/>
                <a:cs typeface="Calibri" pitchFamily="34" charset="-120"/>
              </a:rPr>
              <a:t> (concrete and glass).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Architecture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هٰذَا الشَّيْءُ؟ صِفْ شَكْلَهُ وَمَادَّتَهُ.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مِمَّ بُنِيَ هٰذَا المَبْنَى؟</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الفَرْقُ بَيْنَ الحَيِّ القَدِيمِ وَالجَدِيدِ؟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نَوْعٍ مِنَ العُمْرَانِ تُفَضِّلُ؟ وَلِمَاذَا؟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هُوَ مَصْنُوعٌ / هِيَ مَصْنُوعَةٌ مِنَ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طُولُهُ / طُولُهَا ___ ، وَشَكْلُهُ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___ ، بَيْنَمَا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يَقُولُ / تَقُولُ إِنَّ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مِمَّ بُنِيَ هٰذَا البَيْتُ؟</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this house built from?</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هُوَ مَبْنِيٌّ مِنَ الحَجَرِ وَالخَشَبِ.</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It is built of stone and wood.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Describe one object at home: what it is, its shape, one measurement and what it is made of.</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on the next slide — copy the I do model and change the words.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an accurate comparison using agreement and </a:t>
            </a:r>
            <a:pPr algn="l" indent="0" marL="0">
              <a:buNone/>
            </a:pPr>
            <a:r>
              <a:rPr lang="ar-SA" altLang="en-US" sz="1800" b="1" dirty="0">
                <a:solidFill>
                  <a:srgbClr val="1F2A37"/>
                </a:solidFill>
                <a:latin typeface="Amiri" pitchFamily="34" charset="0"/>
                <a:ea typeface="Amiri" pitchFamily="34" charset="-122"/>
                <a:cs typeface="Amiri" pitchFamily="34" charset="-120"/>
              </a:rPr>
              <a:t>بَيْنَمَا</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Describe two buildings with the right ending (built of …), one feature (known for …) and one contrast (whereas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80–100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Analyse how a contemporary building can respect architectural heritage and propose one design feature.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compare an old and a modern building;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مَبْنِيٌّ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 (m.) is built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مَبْنِيَّةٌ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 (f.) is built of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يَتَمَيَّزُ / تَتَمَيَّزُ بِـ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known for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مُنَاسِبٌ لِـ ______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is suitable for … because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 بَيْنَمَا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whereas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هٰذَا ______ / هٰذِهِ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(m.) is a … / This (f.) is a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شَكْلُهُ / شَكْلُهَا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Its shape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طُولُهُ / طُولُهَا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Its length is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 مَصْنُوعٌ مِنَ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(m.) is made of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هِيَ مَصْنُوعَةٌ مِنَ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It (f.) is made of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خَشَبٌ  ·  حَجَرٌ  ·  زُجَاجٌ  ·  مَعْدِنٌ  ·  بِلَاسْتِيكٌ  ·  طُوبٌ  ·  مُسْتَطِيلٌ  ·  دَائِرِيٌّ  ·  مِتْرَانِ  ·  كِيلُوغْرَامٌ  ·  قَوِيٌّ  ·  خَفِيفٌ</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Compare an old building and a modern building in 80–100 Arabic words.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Name at least four materials.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a:r>
            <a:pPr algn="l" indent="0" marL="0">
              <a:buNone/>
            </a:pPr>
            <a:r>
              <a:rPr lang="ar-SA" altLang="en-US" sz="1550" dirty="0">
                <a:solidFill>
                  <a:srgbClr val="1F2A37"/>
                </a:solidFill>
                <a:latin typeface="Amiri" pitchFamily="34" charset="0"/>
                <a:ea typeface="Amiri" pitchFamily="34" charset="-122"/>
                <a:cs typeface="Amiri" pitchFamily="34" charset="-120"/>
              </a:rPr>
              <a:t>مَبْنِيٌّ / مَبْنِيَّةٌ</a:t>
            </a:r>
            <a:pPr algn="l" indent="0" marL="0">
              <a:buNone/>
            </a:pPr>
            <a:r>
              <a:rPr lang="en-US" sz="1200" dirty="0">
                <a:solidFill>
                  <a:srgbClr val="1F2A37"/>
                </a:solidFill>
                <a:latin typeface="Calibri" pitchFamily="34" charset="0"/>
                <a:ea typeface="Calibri" pitchFamily="34" charset="-122"/>
                <a:cs typeface="Calibri" pitchFamily="34" charset="-120"/>
              </a:rPr>
              <a:t>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t>
            </a:r>
            <a:pPr algn="l" indent="0" marL="0">
              <a:buNone/>
            </a:pPr>
            <a:r>
              <a:rPr lang="ar-SA" altLang="en-US" sz="1550" dirty="0">
                <a:solidFill>
                  <a:srgbClr val="1F2A37"/>
                </a:solidFill>
                <a:latin typeface="Amiri" pitchFamily="34" charset="0"/>
                <a:ea typeface="Amiri" pitchFamily="34" charset="-122"/>
                <a:cs typeface="Amiri" pitchFamily="34" charset="-120"/>
              </a:rPr>
              <a:t>يَتَمَيَّزُ / تَتَمَيَّزُ بِـ</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Create a meaningful contrast with </a:t>
            </a:r>
            <a:pPr algn="l" indent="0" marL="0">
              <a:buNone/>
            </a:pPr>
            <a:r>
              <a:rPr lang="ar-SA" altLang="en-US" sz="1550" dirty="0">
                <a:solidFill>
                  <a:srgbClr val="1F2A37"/>
                </a:solidFill>
                <a:latin typeface="Amiri" pitchFamily="34" charset="0"/>
                <a:ea typeface="Amiri" pitchFamily="34" charset="-122"/>
                <a:cs typeface="Amiri" pitchFamily="34" charset="-120"/>
              </a:rPr>
              <a:t>بَيْنَمَا</a:t>
            </a:r>
            <a:pPr algn="l" indent="0" marL="0">
              <a:buNone/>
            </a:pPr>
            <a:r>
              <a:rPr lang="en-US" sz="1200" dirty="0">
                <a:solidFill>
                  <a:srgbClr val="1F2A37"/>
                </a:solidFill>
                <a:latin typeface="Calibri" pitchFamily="34" charset="0"/>
                <a:ea typeface="Calibri" pitchFamily="34" charset="-122"/>
                <a:cs typeface="Calibri" pitchFamily="34" charset="-120"/>
              </a:rPr>
              <a:t> and give an opinion.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فِي مَدِينَتِي مَسْجِدٌ تَارِيخِيٌّ وَمَرْكَزٌ ثَقَافِيٌّ حَدِيثٌ</a:t>
            </a:r>
            <a:endParaRPr lang="ar-SA" sz="16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in my city there is a historic mosque and a modern cultural centre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المَسْجِدُ مَبْنِيٌّ مِنَ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mosque is built of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وَيَتَمَيَّزُ بِقُبَّتِهِ وَأَبْوَابِهِ الخَشَبِيَّةِ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and it is known for its dome and wooden doors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أَمَّا المَرْكَزُ فَـ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as for the centre,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 هَادِئٌ وَتَقْلِيدِيٌّ، بَيْنَمَا … مُعَاصِرٌ</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is calm and traditional, whereas … is modern</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أُحِبُّ المَبْنَيَيْنِ لِأَنَّ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 like both buildings because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فِي مَدِينَتِي مَسْجِدٌ تَارِيخِيٌّ وَمَرْكَزٌ ثَقَافِيٌّ حَدِيثٌ. المَسْجِدُ مَبْنِيٌّ مِنَ الحَجَرِ، وَيَتَمَيَّزُ بِقُبَّتِهِ وَأَبْوَابِهِ الخَشَبِيَّةِ. أَمَّا المَرْكَزُ فَهُوَ مَبْنِيٌّ مِنَ الزُّجَاجِ وَالمَعْدِنِ، وَفِيهِ قَاعَاتٌ فَسِيحَةٌ. المَسْجِدُ هَادِئٌ وَتَقْلِيدِيٌّ، بَيْنَمَا المَرْكَزُ نَشِيطٌ وَمُعَاصِرٌ. أُحِبُّ المَبْنَيَيْنِ لِأَنَّ الأَوَّلَ يَحْمِي التُّرَاثَ وَالثَّانِيَ يُقَدِّمُ خِدْمَاتٍ جَدِيدَةً.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In my city there is a historic mosque and a modern cultural centre. The mosque is built of stone, and it is known for its dome and its wooden doors. As for the centre, it is built of glass and metal, and it has spacious halls. The mosque is calm and traditional, whereas the centre is lively and modern. I like both buildings, because the first protects our heritage and the second offers new services.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مَبْنِيٌّ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يَتَمَيَّزُ بِـ</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أَمَّا … فَـ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بَيْنَمَا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6 materials and 6 shape or size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what an object is made of and give its length (</a:t>
            </a:r>
            <a:pPr algn="l" indent="0" marL="0">
              <a:buNone/>
            </a:pPr>
            <a:r>
              <a:rPr lang="ar-SA" altLang="en-US" sz="1700" dirty="0">
                <a:solidFill>
                  <a:srgbClr val="1F2A37"/>
                </a:solidFill>
                <a:latin typeface="Amiri" pitchFamily="34" charset="0"/>
                <a:ea typeface="Amiri" pitchFamily="34" charset="-122"/>
                <a:cs typeface="Amiri" pitchFamily="34" charset="-120"/>
              </a:rPr>
              <a:t>طُولُهُ / طُولُهَا</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describe four buildings accurately.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what something is for and why it is suitable (</a:t>
            </a:r>
            <a:pPr algn="l" indent="0" marL="0">
              <a:buNone/>
            </a:pPr>
            <a:r>
              <a:rPr lang="ar-SA" altLang="en-US" sz="1700" dirty="0">
                <a:solidFill>
                  <a:srgbClr val="1F2A37"/>
                </a:solidFill>
                <a:latin typeface="Amiri" pitchFamily="34" charset="0"/>
                <a:ea typeface="Amiri" pitchFamily="34" charset="-122"/>
                <a:cs typeface="Amiri" pitchFamily="34" charset="-120"/>
              </a:rPr>
              <a:t>مُنَاسِبٌ لِـ … لِأَنَّ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contrast urban and rural life.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stone?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زُجَاجٌ</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خَشَبٌ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العِمَارَةُ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الخَرَسَانَةِ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مَبْنِيَّانِ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contrasts two settings?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بَيْنَمَا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لِذٰلِكَ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ثُمَّ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means stone?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حَجَرٌ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زُجَاجٌ</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خَشَبٌ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حَجَرٌ</a:t>
            </a:r>
            <a:pPr algn="l" indent="0" marL="0">
              <a:buNone/>
            </a:pPr>
            <a:r>
              <a:rPr lang="en-US" sz="1050" i="1" dirty="0">
                <a:solidFill>
                  <a:srgbClr val="8A6D1E"/>
                </a:solidFill>
                <a:latin typeface="Calibri" pitchFamily="34" charset="0"/>
                <a:ea typeface="Calibri" pitchFamily="34" charset="-122"/>
                <a:cs typeface="Calibri" pitchFamily="34" charset="-120"/>
              </a:rPr>
              <a:t> means stone.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a:t>
            </a:r>
            <a:pPr algn="l" indent="0" marL="0">
              <a:buNone/>
            </a:pPr>
            <a:r>
              <a:rPr lang="ar-SA" altLang="en-US" sz="1650" b="1" dirty="0">
                <a:solidFill>
                  <a:srgbClr val="1B3B6F"/>
                </a:solidFill>
                <a:latin typeface="Amiri" pitchFamily="34" charset="0"/>
                <a:ea typeface="Amiri" pitchFamily="34" charset="-122"/>
                <a:cs typeface="Amiri" pitchFamily="34" charset="-120"/>
              </a:rPr>
              <a:t>العِمَارَةُ</a:t>
            </a:r>
            <a:pPr algn="l" indent="0" marL="0">
              <a:buNone/>
            </a:pPr>
            <a:r>
              <a:rPr lang="en-US" sz="1250" b="1" dirty="0">
                <a:solidFill>
                  <a:srgbClr val="1B3B6F"/>
                </a:solidFill>
                <a:latin typeface="Calibri" pitchFamily="34" charset="0"/>
                <a:ea typeface="Calibri" pitchFamily="34" charset="-122"/>
                <a:cs typeface="Calibri" pitchFamily="34" charset="-120"/>
              </a:rPr>
              <a:t> ___ </a:t>
            </a:r>
            <a:pPr algn="l" indent="0" marL="0">
              <a:buNone/>
            </a:pPr>
            <a:r>
              <a:rPr lang="ar-SA" altLang="en-US" sz="1650" b="1" dirty="0">
                <a:solidFill>
                  <a:srgbClr val="1B3B6F"/>
                </a:solidFill>
                <a:latin typeface="Amiri" pitchFamily="34" charset="0"/>
                <a:ea typeface="Amiri" pitchFamily="34" charset="-122"/>
                <a:cs typeface="Amiri" pitchFamily="34" charset="-120"/>
              </a:rPr>
              <a:t>مِنَ الخَرَسَانَةِ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مَبْنِيٌّ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مَبْنِيَّةٌ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مَبْنِيَّانِ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العِمَارَةُ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connector contrasts two settings?</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بَيْنَمَا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لِذٰلِكَ</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ثُمَّ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بَيْنَمَا</a:t>
            </a:r>
            <a:pPr algn="l" indent="0" marL="0">
              <a:buNone/>
            </a:pPr>
            <a:r>
              <a:rPr lang="en-US" sz="1050" i="1" dirty="0">
                <a:solidFill>
                  <a:srgbClr val="8A6D1E"/>
                </a:solidFill>
                <a:latin typeface="Calibri" pitchFamily="34" charset="0"/>
                <a:ea typeface="Calibri" pitchFamily="34" charset="-122"/>
                <a:cs typeface="Calibri" pitchFamily="34" charset="-120"/>
              </a:rPr>
              <a:t> means whereas.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Old and new architecture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تَجْمَعُ مَدِينَةُ الرِّوَاقِ بَيْنَ التُّرَاثِ وَالعُمْرَانِ المُعَاصِرِ. فِي القَلْعَةِ القَدِيمَةِ مَبَانٍ مَبْنِيَّةٌ مِنَ الحَجَرِ، وَتَتَمَيَّزُ بِنَوَافِذِهَا الصَّغِيرَةِ وَأَقْوَاسِهَا. بِالقُرْبِ مِنْهَا مَرْكَزٌ ثَقَافِيٌّ حَدِيثٌ مَبْنِيٌّ مِنَ الزُّجَاجِ وَالمَعْدِنِ. يَحْتَرِمُ تَصْمِيمُهُ المِعْمَارَ القَدِيمَ، بَيْنَمَا يُوَفِّرُ مَسَاحَاتٍ فَسِيحَةً لِلزُّوَّارِ. لِذٰلِكَ يَرَى السُّكَّانُ أَنَّ المَشْرُوعَ يَحْمِي التُّرَاثَ وَيُطَوِّرُ المَدِينَةَ.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تَجْمَعُ بَيْنَ</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combines</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العُمْرَانُ المُعَاصِرُ</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modern development</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القَلْعَةُ</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castle</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نَوَافِذُهَا</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windows</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أَقْوَاسُهَا</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its arches</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مَرْكَزٌ ثَقَافِيٌّ</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cultural centre</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يَحْتَرِمُ</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respects</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يُوَفِّرُ</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provides</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الزُّوَّارُ</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visitors</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يَحْمِي</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protects</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يُطَوِّرُ</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develops</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city combine?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rural and coastal life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heritage and contemporary development</a:t>
            </a:r>
            <a:endParaRPr lang="en-US" sz="120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transport and shopping</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old buildings made of?</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metal</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stone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features do they have?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small windows and arches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large glass doors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platforms</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cultural centre made of?</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brick and clay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glass and metal</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wood and sand</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design respect?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old architecture</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railway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market</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residents’ view?</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destroys the old city.</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should be closed.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protects heritage and develops the city.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city combine?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rural and coastal life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heritage and contemporary development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transport and shopping</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بَيْنَ التُّرَاثِ وَالعُمْرَانِ المُعَاصِرِ.</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are the old buildings made of?</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glass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metal</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stone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مَبْنِيَّةٌ مِنَ الحَجَرِ.</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features do they have?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small windows and arches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large glass doors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platforms</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نَوَافِذِهَا الصَّغِيرَةِ وَأَقْوَاسِهَا.</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cultural centre made of?</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brick and clay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glass and metal</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wood and sand</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مِنَ الزُّجَاجِ وَالمَعْدِنِ.</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design respect?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old architecture</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railway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market</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يَحْتَرِمُ ... المِعْمَارَ القَدِيمَ.</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residents’ view?</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destroys the old city.</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should be closed.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protects heritage and develops the city.</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sentence gives this positive balanced view.</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TC-L10 · Measure, Shape, Material</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4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TC-L11 · Topic C Integrated Communication Workshop</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وَجْهَةِ نَظَرِي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from my point of view</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بِعِبَارَةٍ أُخْرَى</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in other words</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سَأُعْطِي مِثَالًا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 will give an example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أَقْصِدُ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what I mean is</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إِلَى حَدٍّ مَا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to some extent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Topic C topic interests you most,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34" charset="0"/>
                <a:ea typeface="Amiri" pitchFamily="34" charset="-122"/>
                <a:cs typeface="Amiri" pitchFamily="34" charset="-120"/>
              </a:rPr>
              <a:t>أَيُّ مَوْضُوعٍ فِي المِحْوَرِ ج يُهِمُّكَ أَكْثَرَ؟ وَلِمَاذَا؟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TC-L10 · play “Measure &amp; Material”,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Photograph (or draw) three objects at home and write two sentences for each: shape or size + material.</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TC-L10 · the reading “Old and new architecture”, then write your own 80–100-word comparison.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ea typeface="Cambria" pitchFamily="34" charset="-122"/>
                <a:cs typeface="Cambria" pitchFamily="34" charset="-120"/>
              </a:rPr>
              <a:t>TC-L11 · Topic C Integrated Communication Workshop</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وَرْشَةُ التَّوَاصُلِ المُتَكَامِلِ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TC-L10 · Measurements, Shapes and Materials</dc:title>
  <dc:subject>PptxGenJS Presentation</dc:subject>
  <dc:creator>Al Madina Online School · Arabic Department</dc:creator>
  <cp:lastModifiedBy>Al Madina Online School · Arabic Department</cp:lastModifiedBy>
  <cp:revision>1</cp:revision>
  <dcterms:created xsi:type="dcterms:W3CDTF">2026-09-27T09:04:18Z</dcterms:created>
  <dcterms:modified xsi:type="dcterms:W3CDTF">2026-09-27T09:04:18Z</dcterms:modified>
</cp:coreProperties>
</file>