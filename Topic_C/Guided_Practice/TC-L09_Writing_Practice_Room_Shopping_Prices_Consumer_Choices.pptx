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9 (Shopping, prices and consumer choices, TC-L09)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(78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Shopping, Prices and Consumer Choices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التَّسَوُّقُ وَالأَسْعَارُ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order form, decoding a new Q2 task (a complaint email to a shop),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TC-L09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Online order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الطَّلَبِ عَلَى الإِنْتَرْنِتِ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قَمِيصٌ · حَقِيبَةٌ</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Product</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المُنْتَجُ</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صَغِيرٌ · وَسَطٌ · كَبِيرٌ</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Size</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المَقَاسُ</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36408" y="4110228"/>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with the product: </a:t>
            </a:r>
            <a:pPr algn="l" indent="0" marL="0">
              <a:buNone/>
            </a:pPr>
            <a:r>
              <a:rPr lang="ar-SA" altLang="en-US" sz="1450" dirty="0">
                <a:solidFill>
                  <a:srgbClr val="5A6472"/>
                </a:solidFill>
                <a:latin typeface="Amiri" pitchFamily="2" charset="-78"/>
                <a:ea typeface="Amiri" pitchFamily="2" charset="-78"/>
                <a:cs typeface="Amiri" pitchFamily="2" charset="-78"/>
              </a:rPr>
              <a:t>أَزْرَقُ / زَرْقَاءُ</a:t>
            </a:r>
            <a:endParaRPr lang="en-US" sz="11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بِالبِطَاقَةِ</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Payment method</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طَرِيقَةُ الدَّفْعِ</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أَشْتَرِيهِ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are buying it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تَشْتَرِي هٰذَا المُنْتَجَ؟</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 complaint to a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شَكْوَى إِلَى مَحَلٍّ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bought something that has a problem. Write an email in Arabic to the shop of about 80–90 words. You must include: • what you bought, when, and the price • what the problem is • what happened when you tried to use it • what you want the shop to do, and why.</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مِنْ مَحَلِّكُمْ … بِخَمْسِينَ جُنَيْهًا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 from your shop for £50</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المُشْكِلَةُ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problem is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 ، اكْتَشَفْتُ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 I discovered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تُبَدِّلُوا / تُرْجِعُوا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like you to exchange / refund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شَكْوَى إِلَى المَحَلِّ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اشْتَرَيْتَ؟ وَمَتَى؟ وَبِكَمْ؟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عِنْدَمَا اسْتَعْمَلْتَهُ؟</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مِنَ المَحَلِّ؟ وَلِمَاذَا؟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 complaint to the shop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FORMAL complaint → </a:t>
            </a:r>
            <a:pPr algn="l" indent="0" marL="0">
              <a:buNone/>
            </a:pPr>
            <a:r>
              <a:rPr lang="ar-SA" altLang="en-US" sz="1450" dirty="0">
                <a:solidFill>
                  <a:srgbClr val="5A6472"/>
                </a:solidFill>
                <a:latin typeface="Amiri" pitchFamily="2" charset="-78"/>
                <a:ea typeface="Amiri" pitchFamily="2" charset="-78"/>
                <a:cs typeface="Amiri" pitchFamily="2" charset="-78"/>
              </a:rPr>
              <a:t>السَّادَةُ … المُحْتَرَمُونَ</a:t>
            </a:r>
            <a:pPr algn="l" indent="0" marL="0">
              <a:buNone/>
            </a:pPr>
            <a:r>
              <a:rPr lang="en-US" sz="1100" dirty="0">
                <a:solidFill>
                  <a:srgbClr val="5A6472"/>
                </a:solidFill>
                <a:latin typeface="Calibri" pitchFamily="34" charset="0"/>
                <a:cs typeface="Amiri" pitchFamily="2" charset="-78"/>
              </a:rPr>
              <a:t> and a polite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شَكْوَى إِلَى المَحَلِّ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when, how much</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مَتَى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بِكَمْ</a:t>
            </a:r>
            <a:pPr algn="l" indent="0" marL="0">
              <a:buNone/>
            </a:pPr>
            <a:r>
              <a:rPr lang="en-US" sz="1100" dirty="0">
                <a:solidFill>
                  <a:srgbClr val="5A6472"/>
                </a:solidFill>
                <a:latin typeface="Calibri" pitchFamily="34" charset="0"/>
                <a:cs typeface="Amiri" pitchFamily="2" charset="-78"/>
              </a:rPr>
              <a:t> → PAST + date + price (bi- + number: </a:t>
            </a:r>
            <a:pPr algn="l" indent="0" marL="0">
              <a:buNone/>
            </a:pPr>
            <a:r>
              <a:rPr lang="ar-SA" altLang="en-US" sz="1450" dirty="0">
                <a:solidFill>
                  <a:srgbClr val="5A6472"/>
                </a:solidFill>
                <a:latin typeface="Amiri" pitchFamily="2" charset="-78"/>
                <a:ea typeface="Amiri" pitchFamily="2" charset="-78"/>
                <a:cs typeface="Amiri" pitchFamily="2" charset="-78"/>
              </a:rPr>
              <a:t>بِخَمْسِينَ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اشْتَرَيْتَ؟ وَمَتَى؟ وَبِكَمْ؟</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problem</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المُشْكِلَةُ</a:t>
            </a:r>
            <a:pPr algn="l" indent="0" marL="0">
              <a:buNone/>
            </a:pPr>
            <a:r>
              <a:rPr lang="en-US" sz="1100" dirty="0">
                <a:solidFill>
                  <a:srgbClr val="5A6472"/>
                </a:solidFill>
                <a:latin typeface="Calibri" pitchFamily="34" charset="0"/>
                <a:cs typeface="Amiri" pitchFamily="2" charset="-78"/>
              </a:rPr>
              <a:t> → PRESENT description (</a:t>
            </a:r>
            <a:pPr algn="l" indent="0" marL="0">
              <a:buNone/>
            </a:pPr>
            <a:r>
              <a:rPr lang="ar-SA" altLang="en-US" sz="1450" dirty="0">
                <a:solidFill>
                  <a:srgbClr val="5A6472"/>
                </a:solidFill>
                <a:latin typeface="Amiri" pitchFamily="2" charset="-78"/>
                <a:ea typeface="Amiri" pitchFamily="2" charset="-78"/>
                <a:cs typeface="Amiri" pitchFamily="2" charset="-78"/>
              </a:rPr>
              <a:t>مَكْسُورٌ</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مَعِيبٌ</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لَا يَعْمَلُ</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when you used it</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حَدَثَ</a:t>
            </a:r>
            <a:pPr algn="l" indent="0" marL="0">
              <a:buNone/>
            </a:pPr>
            <a:r>
              <a:rPr lang="en-US" sz="1100" dirty="0">
                <a:solidFill>
                  <a:srgbClr val="5A6472"/>
                </a:solidFill>
                <a:latin typeface="Calibri" pitchFamily="34" charset="0"/>
                <a:cs typeface="Amiri" pitchFamily="2" charset="-78"/>
              </a:rPr>
              <a:t> → PAST, in order</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حَدَثَ عِنْدَمَا اسْتَعْمَلْتَهُ؟</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want and why</a:t>
            </a:r>
            <a:endParaRPr lang="en-US" sz="1100" dirty="0"/>
          </a:p>
        </p:txBody>
      </p:sp>
      <p:sp>
        <p:nvSpPr>
          <p:cNvPr id="42" name="Text 39"/>
          <p:cNvSpPr txBox="1"/>
          <p:nvPr/>
        </p:nvSpPr>
        <p:spPr>
          <a:xfrm>
            <a:off x="5623560" y="5215738"/>
            <a:ext cx="2926080" cy="68214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مَاذَا تُرِيدُ · لِمَاذَا → أُرِيدُ أَنْ + لِأَنَّ</a:t>
            </a:r>
            <a:endParaRPr lang="ar-SA" sz="175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تُرِيدُ مِنَ المَحَلِّ؟ وَلِمَاذَا؟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اشْتَرَيْتُ حِذَاءً.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bought shoes.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اشْتَرَيْتُ حِذَاءً رِيَاضِيًّا أَبْيَضَ بِخَمْسِينَ جُنَيْهًا.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I bought white trainers for £50.</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 فِي التَّخْفِيضَاتِ، لِذٰلِكَ كَانَ أَرْخَصَ بِعِشْرِينَ جُنَيْهًا مِنَ السِّعْرِ العَادِيِّ.</a:t>
            </a:r>
            <a:endParaRPr lang="ar-SA" sz="21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in the sales, so it was £20 cheaper than the normal price.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500" b="1" dirty="0">
                <a:solidFill>
                  <a:srgbClr val="1B3B6F"/>
                </a:solidFill>
                <a:latin typeface="Amiri" pitchFamily="2" charset="-78"/>
                <a:ea typeface="Amiri" pitchFamily="2" charset="-78"/>
                <a:cs typeface="Amiri" pitchFamily="2" charset="-78"/>
              </a:rPr>
              <a:t>… لٰكِنَّ المَقَاسَ كَانَ صَغِيرًا، فَأَرْجَعْتُهُ، وَبَدَّلْتُهُ بِمَقَاسٍ أَكْبَرَ.</a:t>
            </a:r>
            <a:endParaRPr lang="ar-SA" sz="25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but the size was small, so I took it back and exchanged it for a bigger size.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much is this bag?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الحَقِيبَةِ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حَقِيبَةٌ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shirt is cheaper than that one.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القَمِيصُ</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القَمِيصُ</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رَخِيصَةٌ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ذٰلِكَ</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ذٰلِكَ</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paid twenty pounds.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دَفَعْتُ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أَدْفَعُ</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عِشْرِينَ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عِشْرُونَ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much is this bag?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كَمْ ثَمَنُ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 (feminine) + </a:t>
            </a:r>
            <a:pPr algn="l" indent="0" marL="0">
              <a:buNone/>
            </a:pPr>
            <a:r>
              <a:rPr lang="ar-SA" altLang="en-US" sz="1350" dirty="0">
                <a:solidFill>
                  <a:srgbClr val="5A6472"/>
                </a:solidFill>
                <a:latin typeface="Amiri" pitchFamily="2" charset="-78"/>
                <a:ea typeface="Amiri" pitchFamily="2" charset="-78"/>
                <a:cs typeface="Amiri" pitchFamily="2" charset="-78"/>
              </a:rPr>
              <a:t>الحَقِيبَةِ</a:t>
            </a:r>
            <a:pPr algn="l" indent="0" marL="0">
              <a:buNone/>
            </a:pPr>
            <a:r>
              <a:rPr lang="en-US" sz="1050" i="1" dirty="0">
                <a:solidFill>
                  <a:srgbClr val="5A6472"/>
                </a:solidFill>
                <a:latin typeface="Calibri" pitchFamily="34" charset="0"/>
                <a:cs typeface="Amiri" pitchFamily="2" charset="-78"/>
              </a:rPr>
              <a:t> (genitive in iḍāfa).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كَمْ ثَمَنُ هٰذِهِ الحَقِيبَةِ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shirt is cheaper than that one.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قَمِيصٌ</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 comparative </a:t>
            </a:r>
            <a:pPr algn="l" indent="0" marL="0">
              <a:buNone/>
            </a:pPr>
            <a:r>
              <a:rPr lang="ar-SA" altLang="en-US" sz="1350" dirty="0">
                <a:solidFill>
                  <a:srgbClr val="5A6472"/>
                </a:solidFill>
                <a:latin typeface="Amiri" pitchFamily="2" charset="-78"/>
                <a:ea typeface="Amiri" pitchFamily="2" charset="-78"/>
                <a:cs typeface="Amiri" pitchFamily="2" charset="-78"/>
              </a:rPr>
              <a:t>أَرْخَصُ</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هٰذَا القَمِيصُ أَرْخَصُ مِنْ ذٰلِكَ</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paid twenty pounds.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Object → </a:t>
            </a:r>
            <a:pPr algn="l" indent="0" marL="0">
              <a:buNone/>
            </a:pPr>
            <a:r>
              <a:rPr lang="ar-SA" altLang="en-US" sz="1350" dirty="0">
                <a:solidFill>
                  <a:srgbClr val="5A6472"/>
                </a:solidFill>
                <a:latin typeface="Amiri" pitchFamily="2" charset="-78"/>
                <a:ea typeface="Amiri" pitchFamily="2" charset="-78"/>
                <a:cs typeface="Amiri" pitchFamily="2" charset="-78"/>
              </a:rPr>
              <a:t>عِشْرِينَ</a:t>
            </a:r>
            <a:pPr algn="l" indent="0" marL="0">
              <a:buNone/>
            </a:pPr>
            <a:r>
              <a:rPr lang="en-US" sz="1050" i="1" dirty="0">
                <a:solidFill>
                  <a:srgbClr val="5A6472"/>
                </a:solidFill>
                <a:latin typeface="Calibri" pitchFamily="34" charset="0"/>
                <a:cs typeface="Amiri" pitchFamily="2" charset="-78"/>
              </a:rPr>
              <a:t>; 11–99 + singular accusative: </a:t>
            </a:r>
            <a:pPr algn="l" indent="0" marL="0">
              <a:buNone/>
            </a:pPr>
            <a:r>
              <a:rPr lang="ar-SA" altLang="en-US" sz="1350" dirty="0">
                <a:solidFill>
                  <a:srgbClr val="5A6472"/>
                </a:solidFill>
                <a:latin typeface="Amiri" pitchFamily="2" charset="-78"/>
                <a:ea typeface="Amiri" pitchFamily="2" charset="-78"/>
                <a:cs typeface="Amiri" pitchFamily="2" charset="-78"/>
              </a:rPr>
              <a:t>جُنَيْهًا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دَفَعْتُ عِشْرِينَ جُنَيْهًا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اشْتَرَيْتُ ______ هَدِيَّةً لِ ______ ، وَكَانَ ثَمَنُهُ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bought … as a present for …, and it cost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لِلْأَسَفِ ______ ، بِالإِضَافَةِ إِلَى أَنَّ ______ .</a:t>
            </a:r>
            <a:endParaRPr lang="ar-SA" sz="17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Unfortunately …, in addition to the fact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اليَوْمِ الأَوَّلِ ______ ، لِذٰلِكَ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On the first day …, so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أَرْجُو أَنْ ______ ،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Please …,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السَّادَةُ فِي مَحَلِّ ______ المُحْتَرَمُونَ،</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 shop,</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اشْتَرَيْتُ مِنْ مَحَلِّكُمْ ______ يَوْمَ ______ ، وَكَانَ ثَمَنُهُ ______ جُنَيْهًا.</a:t>
            </a:r>
            <a:endParaRPr lang="ar-SA" sz="11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bought … from your shop on …, and it cost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المُشْكِلَةُ أَنَّ ______ مَكْسُورٌ / لَا يَعْمَلُ.</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problem is that … is broken / doesn’t work.</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______ ،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When I …,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______ ، لِأَنَّ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would like …, because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اشْتَرَيْتُ  ·  بِخَمْسِينَ جُنَيْهًا  ·  مَكْسُورٌ · مَعِيبٌ  ·  لَا يَعْمَلُ  ·  الإِيصَالُ  ·  أُبَدِّلُ  ·  تُرْجِعُوا المَالَ  ·  أَرْجُو أَنْ</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الحَقِيبَةُ غَالِيَةٌ.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حَقِيبَةٌ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اشْتَرَيْتُ القَمِيصَ بِعَشْرُ جُنَيْهَاتٍ.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the little word bi- (for).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الهَاتِفُ مَكْسُورَةٌ.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الحَقِيبَةُ غَالِيَةٌ.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الحَقِيبَةُ غَالِيَةٌ.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اشْتَرَيْتُ القَمِيصَ بِعَشْرُ جُنَيْهَاتٍ.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اشْتَرَيْتُ القَمِيصَ بِعَشَرَةِ جُنَيْهَاتٍ.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bi- → genitive; 3–10 take the opposite gender: </a:t>
            </a:r>
            <a:pPr algn="l" indent="0" marL="0">
              <a:buNone/>
            </a:pPr>
            <a:r>
              <a:rPr lang="ar-SA" altLang="en-US" sz="1500" b="1" dirty="0">
                <a:solidFill>
                  <a:srgbClr val="1B3B6F"/>
                </a:solidFill>
                <a:latin typeface="Amiri" pitchFamily="2" charset="-78"/>
                <a:ea typeface="Amiri" pitchFamily="2" charset="-78"/>
                <a:cs typeface="Amiri" pitchFamily="2" charset="-78"/>
              </a:rPr>
              <a:t>عَشَرَةِ جُنَيْهَاتٍ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الهَاتِفُ مَكْسُورَةٌ.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الهَاتِفُ مَكْسُورٌ.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هَاتِفٌ</a:t>
            </a:r>
            <a:pPr algn="l" indent="0" marL="0">
              <a:buNone/>
            </a:pPr>
            <a:r>
              <a:rPr lang="en-US" sz="1150" b="1" dirty="0">
                <a:solidFill>
                  <a:srgbClr val="1B3B6F"/>
                </a:solidFill>
                <a:latin typeface="Calibri" pitchFamily="34" charset="0"/>
                <a:cs typeface="Amiri" pitchFamily="2" charset="-78"/>
              </a:rPr>
              <a:t> is masculine → </a:t>
            </a:r>
            <a:pPr algn="l" indent="0" marL="0">
              <a:buNone/>
            </a:pPr>
            <a:r>
              <a:rPr lang="ar-SA" altLang="en-US" sz="1500" b="1" dirty="0">
                <a:solidFill>
                  <a:srgbClr val="1B3B6F"/>
                </a:solidFill>
                <a:latin typeface="Amiri" pitchFamily="2" charset="-78"/>
                <a:ea typeface="Amiri" pitchFamily="2" charset="-78"/>
                <a:cs typeface="Amiri" pitchFamily="2" charset="-78"/>
              </a:rPr>
              <a:t>مَكْسُورٌ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قَبْلَ العِيدِ ذَهَبْتُ مَعَ جَدَّتِي إِلَى سُوقِ المَدِينَةِ.</a:t>
            </a:r>
            <a:endParaRPr lang="ar-SA" sz="23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Before Eid I went with my grandmother to the city market.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اشْتَرَيْنَا ثِيَابًا وَحَلْوَى، وَفَاصَلَتْ جَدَّتِي كَثِيرًا.</a:t>
            </a:r>
            <a:endParaRPr lang="ar-SA" sz="23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bought clothes and sweets, and grandma bargained a lot.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أَتَذَكَّرُهَا لِأَنَّ جَدَّتِي عَلَّمَتْنِي كَيْفَ أُفَاصِلُ.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 remember it because grandma taught me how to bargain.</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يَوْمًا مُمْتِعًا جِدًّا.</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It was a very enjoyable day.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shopping trip to remember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تَسَوُّقٍ لَا أَنْسَاهَا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“Shopping: then and now”. Today write ONLY the past paragraph: a shopping trip you remember — where, with whom, what you bought and for how much, what went well or badly,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مَعَ …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with …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 بِعِشْرِينَ جُنَيْهًا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 for £20</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أَغْلَى / أَرْخَصَ مِمَّا تَوَقَّعْتُ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more expensive / cheaper than I expected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فَاصَلْتُ · أَرْجَعْتُ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bargained · I returned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بِالسَّعَادَةِ / بِالنَّدَمِ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happy / regretful</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السَّادَةُ فِي مَحَلِّ النُّورِ لِلْإِلِكْتْرُونِيَّاتِ المُحْتَرَمُونَ،</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فِي الأُسْبُوعِ المَاضِي، اشْتَرَيْتُ مِنْ مَحَلِّكُمْ سَاعَةً ذَكِيَّةً سَوْدَاءَ هَدِيَّةً لِأَخِي، وَكَانَ ثَمَنُهَا تِسْعِينَ جُنَيْهًا، وَهٰذَا غَالٍ بِالنِّسْبَةِ لِي. لِلْأَسَفِ، الشَّاشَةُ مَكْسُورَةٌ قَلِيلًا، بِالإِضَافَةِ إِلَى أَنَّ البَطَّارِيَّةَ لَا تَعْمَلُ أَكْثَرَ مِنْ سَاعَةٍ. فِي يَوْمِ عِيدِ مِيلَادِهِ، فَتَحَ أَخِي العُلْبَةَ بِسَعَادَةٍ، لٰكِنَّ السَّاعَةَ تَوَقَّفَتْ بَعْدَ دَقَائِقَ قَلِيلَةٍ، فَحَزِنَ كَثِيرًا. أَرْجُو أَنْ تُرْجِعُوا لِي المَالَ كَامِلًا، لِأَنِّي لَا أُرِيدُ سَاعَةً أُخْرَى مِنَ النَّوْعِ نَفْسِهِ، وَعِنْدِي الإِيصَالُ وَالعُلْبَةُ الأَصْلِيَّةُ مَعَ الشَّاحِنِ.</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مَعَ الشُّكْرِ،</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سَارَةُ حُسَيْنٌ</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Al-Nour Electronics, last week I bought a black smartwatch from your shop as a present for my brother; it cost £90, which is expensive for me. Unfortunately, the screen is slightly broken, and in addition the battery doesn’t last more than an hour. On his birthday my brother opened the box happily, but the watch stopped after a few minutes, and he was very sad. Please give me a full refund, because I don’t want another watch of the same kind; I have the receipt and the original box with the charger. With thanks, Sara Hussain.”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وَكَانَ ثَمَنُهَا تِسْعِينَ جُنَيْهًا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الشَّاشَةُ مَكْسُورَةٌ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بِالإِضَافَةِ إِلَى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أَرْجُو أَنْ تُرْجِعُوا لِي المَالَ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عِيدِ الفِطْرِ المَاضِي، ذَهَبْتُ مَعَ جَدَّتِي إِلَى سُوقِ خَانِ الخَلِيلِيِّ فِي القَاهِرَةِ. كَانَ السُّوقُ مُزْدَحِمًا جِدًّا، وَكَانَتْ رَائِحَةُ التَّوَابِلِ فِي كُلِّ مَكَانٍ. أَعْجَبَنِي فَانُوسٌ نُحَاسِيٌّ جَمِيلٌ، وَكَانَ ثَمَنُهُ أَرْبَعَمِئَةِ جُنَيْهٍ، لٰكِنَّ جَدَّتِي فَاصَلَتِ البَائِعَ عَشْرَ دَقَائِقَ، فَاشْتَرَيْنَاهُ بِنِصْفِ الثَّمَنِ! بَعْدَ ذٰلِكَ شَرِبْنَا عَصِيرَ القَصَبِ فِي مَقْهًى قَدِيمٍ. أَتَذَكَّرُ هٰذَا اليَوْمَ لِأَنَّ جَدَّتِي عَلَّمَتْنِي أَنْ أَكُونَ صَبُورًا، وَالفَانُوسُ مَازَالَ فِي غُرْفَتِي.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before last Eid al-Fitr I went with my grandmother to the Khan el-Khalili market in Cairo · D: the market was very crowded and the smell of spices was everywhere; I loved a beautiful copper lantern costing 400 pounds, but grandma bargained with the seller for ten minutes and we bought it for half price! Then we drank sugar-cane juice in an old café · R/F: I remember this day because grandma taught me to be patient, and the lantern is still in my room.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السُّوقُ مُزْدَحِمًا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وَكَانَ ثَمَنُهُ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فَاشْتَرَيْنَاهُ بِنِصْفِ الثَّمَنِ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أَتَذَكَّرُ هٰذَا اليَوْمَ لِأَنَّ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TC-L10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TC-L09 · Writing Practice Room — Shopping, Prices and Consumer Choices</dc:title>
  <dc:subject>PptxGenJS Presentation</dc:subject>
  <dc:creator>Al Madina Online School · Arabic Department</dc:creator>
  <cp:lastModifiedBy>Al Madina Online School · Arabic Department</cp:lastModifiedBy>
  <cp:revision>1</cp:revision>
  <dcterms:created xsi:type="dcterms:W3CDTF">2026-10-25T15:00:46Z</dcterms:created>
  <dcterms:modified xsi:type="dcterms:W3CDTF">2026-10-25T15:00:46Z</dcterms:modified>
</cp:coreProperties>
</file>