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WRITING PRACTICE ROOM AT A GLANCE — 55–60 minutes; short launch in the main room, then writing pairs in breakout rooms (each student writes their OWN text; the buddy checks), back together to compare.
0–2 Welcome · 2–5 How the room works · ROOMS: Step 1 Q1 warm-up (4) · Step 2 Decode the Q2 task (6) · Step 3 Upgrade sentences (6) · Step 4 Write Q2 + buddy swap (14) · Step 5 Spot and fix + buddy check (6) · Step 6 One Q3 paragraph (10) · back together: Check yourself (5) · Self-check + close (2).
PURPOSE: students learn a REPEATABLE PROCESS for Paper 4 (decode → plan → write → check) and write independently, with support that fades.
CONTENT: Advanced Topic C · The World Around Us, Lesson 11 (Integrated communication workshop — the world around us, TC-L11) — new writing tasks (not the Exam Practice workshop tasks).
WHERE TO WRITE: a page in the class notebook / a shared document (each student their own), or paper + a photo to the teacher. Buddies read each other’s page in Step 4 and Step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THE ROOM WORKS (2 min). Show where students write. Then open the rooms.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(4 min). Personal answers, so no single model: the buddy checks meaning and spelling. Core: boxes 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(2 min). Missing a bullet is the most common way to lose marks in Q2 — decoding stops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 read the task. Then decode it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(3 min). Students decode in pairs; Core students may use the English on the task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answers (1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 (2 min). Each line adds ONE thing. Students will do the same with their own sentences in Step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3 (4 min). Read the English, then choose the correct part from each column (start on the RIGHT, column 1). Buddies agree before checking the answer slide. Watch the agreement and the verb after أَنْ.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3 (4 min). Read the English, then choose the correct part from each column (start on the RIGHT, column 1). Buddies agree before checking the answer slide. Watch the agreement and the verb after أَنْ.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4 support. Core: use the Core frames for every bullet. Develop: use the Develop frames only if stuck. Stretch: no frames — add a contrast and a future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4 (14 min). Teacher visits each room and reads ONE paragraph per student: one correction, one praise.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(3 min). Pairs agree on each correction before the answer slide. Then they look for the SAME mistakes in their own Q2.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(3 min). Pairs agree on each correction before the answer slide. Then they look for the SAME mistakes in their own Q2.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(3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(2 min). One paragraph done well is the building block of Q3: four paragraphs like this = a full Q3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(8 min). Core: 3–4 sentences using the bank. Develop: the full formula. Stretch: the formula + a contrast and a future link. Homework: write the other three paragraphs.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(79 words). CHECK YOURSELF (3 min, main room or rooms). Find the four bullets. Then each student copies ONE phrase from the model into their own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(61 words). CHECK YOURSELF (2 min). Students label T, D, R and F in the model, then in their own paragraph.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ADVANCED TOPIC C · GUIDED PRACTICE  ·  TC-L11</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TC-L11</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Writing Practice Room — Integrated Communication Workshop</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غُرْفَةُ الكِتَابَةِ — وَرْشَةُ التَّوَاصُلِ المُتَكَامِلِ</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200" dirty="0">
                <a:solidFill>
                  <a:srgbClr val="C6D2E6"/>
                </a:solidFill>
                <a:latin typeface="Calibri" pitchFamily="34" charset="0"/>
                <a:cs typeface="Amiri" pitchFamily="2" charset="-78"/>
              </a:rPr>
              <a:t>Students practise the writing process in breakout rooms with an integrated Topic C task: a Q1 warm-up form, decoding a new Q2 task (a blog post about how your area has changed), upgrading sentences, writing with a buddy, spotting and fixing errors, and one Q3 paragraph with the T-D-R-F formula.</a:t>
            </a:r>
            <a:endParaRPr lang="en-US" sz="12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TC-L11 · Advanced Topic C · The World Around Us · guided practice</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Topic C · A1+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Advanced Topics › Topic C › TC-L11</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TC-L11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practice room · TC-L11</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23</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TC-L11 · Writing practice room</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ROOM PLAN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Six steps to a strong answer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خُطُوَاتُ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practice room · TC-L11</a:t>
            </a:r>
            <a:endParaRPr lang="en-US" sz="850" dirty="0"/>
          </a:p>
        </p:txBody>
      </p:sp>
      <p:sp>
        <p:nvSpPr>
          <p:cNvPr id="15" name="Shape 12"/>
          <p:cNvSpPr/>
          <p:nvPr/>
        </p:nvSpPr>
        <p:spPr>
          <a:xfrm>
            <a:off x="457200"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552956" cy="566928"/>
          </a:xfrm>
          <a:prstGeom prst="roundRect">
            <a:avLst>
              <a:gd name="adj" fmla="val 9677"/>
            </a:avLst>
          </a:prstGeom>
          <a:solidFill>
            <a:srgbClr val="2F6FB0"/>
          </a:solidFill>
          <a:ln w="12700">
            <a:solidFill>
              <a:srgbClr val="2F6FB0"/>
            </a:solidFill>
            <a:prstDash val="solid"/>
          </a:ln>
        </p:spPr>
      </p:sp>
      <p:sp>
        <p:nvSpPr>
          <p:cNvPr id="17" name="Text 14"/>
          <p:cNvSpPr txBox="1"/>
          <p:nvPr/>
        </p:nvSpPr>
        <p:spPr>
          <a:xfrm>
            <a:off x="603504"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18" name="Text 15"/>
          <p:cNvSpPr txBox="1"/>
          <p:nvPr/>
        </p:nvSpPr>
        <p:spPr>
          <a:xfrm>
            <a:off x="603504"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19" name="Shape 16"/>
          <p:cNvSpPr/>
          <p:nvPr/>
        </p:nvSpPr>
        <p:spPr>
          <a:xfrm>
            <a:off x="1142238"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14223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1: Q1 form warm-up.</a:t>
            </a:r>
            <a:endParaRPr lang="en-US" sz="1200" dirty="0"/>
          </a:p>
        </p:txBody>
      </p:sp>
      <p:sp>
        <p:nvSpPr>
          <p:cNvPr id="22" name="Text 19"/>
          <p:cNvSpPr txBox="1"/>
          <p:nvPr/>
        </p:nvSpPr>
        <p:spPr>
          <a:xfrm>
            <a:off x="548640"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الاسْتِمَارَةُ</a:t>
            </a:r>
            <a:endParaRPr lang="ar-SA" sz="1500" dirty="0"/>
          </a:p>
        </p:txBody>
      </p:sp>
      <p:sp>
        <p:nvSpPr>
          <p:cNvPr id="23" name="Shape 20"/>
          <p:cNvSpPr/>
          <p:nvPr/>
        </p:nvSpPr>
        <p:spPr>
          <a:xfrm>
            <a:off x="2357628"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467356" y="1938528"/>
            <a:ext cx="1552956" cy="566928"/>
          </a:xfrm>
          <a:prstGeom prst="roundRect">
            <a:avLst>
              <a:gd name="adj" fmla="val 9677"/>
            </a:avLst>
          </a:prstGeom>
          <a:solidFill>
            <a:srgbClr val="2F6FB0"/>
          </a:solidFill>
          <a:ln w="12700">
            <a:solidFill>
              <a:srgbClr val="2F6FB0"/>
            </a:solidFill>
            <a:prstDash val="solid"/>
          </a:ln>
        </p:spPr>
      </p:sp>
      <p:sp>
        <p:nvSpPr>
          <p:cNvPr id="25" name="Text 22"/>
          <p:cNvSpPr txBox="1"/>
          <p:nvPr/>
        </p:nvSpPr>
        <p:spPr>
          <a:xfrm>
            <a:off x="2503932"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26" name="Text 23"/>
          <p:cNvSpPr txBox="1"/>
          <p:nvPr/>
        </p:nvSpPr>
        <p:spPr>
          <a:xfrm>
            <a:off x="2503932"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6 min</a:t>
            </a:r>
            <a:endParaRPr lang="en-US" sz="1000" dirty="0"/>
          </a:p>
        </p:txBody>
      </p:sp>
      <p:sp>
        <p:nvSpPr>
          <p:cNvPr id="27" name="Shape 24"/>
          <p:cNvSpPr/>
          <p:nvPr/>
        </p:nvSpPr>
        <p:spPr>
          <a:xfrm>
            <a:off x="3042666"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04266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485644"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2: decode the question.</a:t>
            </a:r>
            <a:endParaRPr lang="en-US" sz="1200" dirty="0"/>
          </a:p>
        </p:txBody>
      </p:sp>
      <p:sp>
        <p:nvSpPr>
          <p:cNvPr id="30" name="Text 27"/>
          <p:cNvSpPr txBox="1"/>
          <p:nvPr/>
        </p:nvSpPr>
        <p:spPr>
          <a:xfrm>
            <a:off x="2449068"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افْهَمِ السُّؤَالَ</a:t>
            </a:r>
            <a:endParaRPr lang="ar-SA" sz="1500" dirty="0"/>
          </a:p>
        </p:txBody>
      </p:sp>
      <p:sp>
        <p:nvSpPr>
          <p:cNvPr id="31" name="Shape 28"/>
          <p:cNvSpPr/>
          <p:nvPr/>
        </p:nvSpPr>
        <p:spPr>
          <a:xfrm>
            <a:off x="4258056"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4367784" y="1938528"/>
            <a:ext cx="1552956" cy="566928"/>
          </a:xfrm>
          <a:prstGeom prst="roundRect">
            <a:avLst>
              <a:gd name="adj" fmla="val 9677"/>
            </a:avLst>
          </a:prstGeom>
          <a:solidFill>
            <a:srgbClr val="2F6FB0"/>
          </a:solidFill>
          <a:ln w="12700">
            <a:solidFill>
              <a:srgbClr val="2F6FB0"/>
            </a:solidFill>
            <a:prstDash val="solid"/>
          </a:ln>
        </p:spPr>
      </p:sp>
      <p:sp>
        <p:nvSpPr>
          <p:cNvPr id="33" name="Text 30"/>
          <p:cNvSpPr txBox="1"/>
          <p:nvPr/>
        </p:nvSpPr>
        <p:spPr>
          <a:xfrm>
            <a:off x="4404360"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34" name="Text 31"/>
          <p:cNvSpPr txBox="1"/>
          <p:nvPr/>
        </p:nvSpPr>
        <p:spPr>
          <a:xfrm>
            <a:off x="4404360"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6 min</a:t>
            </a:r>
            <a:endParaRPr lang="en-US" sz="1000" dirty="0"/>
          </a:p>
        </p:txBody>
      </p:sp>
      <p:sp>
        <p:nvSpPr>
          <p:cNvPr id="35" name="Shape 32"/>
          <p:cNvSpPr/>
          <p:nvPr/>
        </p:nvSpPr>
        <p:spPr>
          <a:xfrm>
            <a:off x="4943094"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9430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4386072"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3: upgrade your sentences.</a:t>
            </a:r>
            <a:endParaRPr lang="en-US" sz="1200" dirty="0"/>
          </a:p>
        </p:txBody>
      </p:sp>
      <p:sp>
        <p:nvSpPr>
          <p:cNvPr id="38" name="Text 35"/>
          <p:cNvSpPr txBox="1"/>
          <p:nvPr/>
        </p:nvSpPr>
        <p:spPr>
          <a:xfrm>
            <a:off x="4349496"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حَسِّنْ جُمَلَكَ</a:t>
            </a:r>
            <a:endParaRPr lang="ar-SA" sz="1500" dirty="0"/>
          </a:p>
        </p:txBody>
      </p:sp>
      <p:sp>
        <p:nvSpPr>
          <p:cNvPr id="39" name="Shape 36"/>
          <p:cNvSpPr/>
          <p:nvPr/>
        </p:nvSpPr>
        <p:spPr>
          <a:xfrm>
            <a:off x="6158484"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6268212" y="1938528"/>
            <a:ext cx="1552956"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6304788"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6304788"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43" name="Shape 40"/>
          <p:cNvSpPr/>
          <p:nvPr/>
        </p:nvSpPr>
        <p:spPr>
          <a:xfrm>
            <a:off x="68435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68435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6286500"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4: write Q2, then swap with your buddy.</a:t>
            </a:r>
            <a:endParaRPr lang="en-US" sz="1200" dirty="0"/>
          </a:p>
        </p:txBody>
      </p:sp>
      <p:sp>
        <p:nvSpPr>
          <p:cNvPr id="46" name="Text 43"/>
          <p:cNvSpPr txBox="1"/>
          <p:nvPr/>
        </p:nvSpPr>
        <p:spPr>
          <a:xfrm>
            <a:off x="6249924"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اكْتُبْ</a:t>
            </a:r>
            <a:endParaRPr lang="ar-SA" sz="1500" dirty="0"/>
          </a:p>
        </p:txBody>
      </p:sp>
      <p:sp>
        <p:nvSpPr>
          <p:cNvPr id="47" name="Shape 44"/>
          <p:cNvSpPr/>
          <p:nvPr/>
        </p:nvSpPr>
        <p:spPr>
          <a:xfrm>
            <a:off x="8058912"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168640" y="1938528"/>
            <a:ext cx="155295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8205216"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8205216"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6 min</a:t>
            </a:r>
            <a:endParaRPr lang="en-US" sz="1000" dirty="0"/>
          </a:p>
        </p:txBody>
      </p:sp>
      <p:sp>
        <p:nvSpPr>
          <p:cNvPr id="51" name="Shape 48"/>
          <p:cNvSpPr/>
          <p:nvPr/>
        </p:nvSpPr>
        <p:spPr>
          <a:xfrm>
            <a:off x="8743950"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874395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8186928"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5: spot and fix · buddy check.</a:t>
            </a:r>
            <a:endParaRPr lang="en-US" sz="1200" dirty="0"/>
          </a:p>
        </p:txBody>
      </p:sp>
      <p:sp>
        <p:nvSpPr>
          <p:cNvPr id="54" name="Text 51"/>
          <p:cNvSpPr txBox="1"/>
          <p:nvPr/>
        </p:nvSpPr>
        <p:spPr>
          <a:xfrm>
            <a:off x="8150352"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صَحِّحْ</a:t>
            </a:r>
            <a:endParaRPr lang="ar-SA" sz="1500" dirty="0"/>
          </a:p>
        </p:txBody>
      </p:sp>
      <p:sp>
        <p:nvSpPr>
          <p:cNvPr id="55" name="Shape 52"/>
          <p:cNvSpPr/>
          <p:nvPr/>
        </p:nvSpPr>
        <p:spPr>
          <a:xfrm>
            <a:off x="9959340"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10069068" y="1938528"/>
            <a:ext cx="1552956" cy="566928"/>
          </a:xfrm>
          <a:prstGeom prst="roundRect">
            <a:avLst>
              <a:gd name="adj" fmla="val 9677"/>
            </a:avLst>
          </a:prstGeom>
          <a:solidFill>
            <a:srgbClr val="1E6B52"/>
          </a:solidFill>
          <a:ln w="12700">
            <a:solidFill>
              <a:srgbClr val="1E6B52"/>
            </a:solidFill>
            <a:prstDash val="solid"/>
          </a:ln>
        </p:spPr>
      </p:sp>
      <p:sp>
        <p:nvSpPr>
          <p:cNvPr id="57" name="Text 54"/>
          <p:cNvSpPr txBox="1"/>
          <p:nvPr/>
        </p:nvSpPr>
        <p:spPr>
          <a:xfrm>
            <a:off x="10105644"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8" name="Text 55"/>
          <p:cNvSpPr txBox="1"/>
          <p:nvPr/>
        </p:nvSpPr>
        <p:spPr>
          <a:xfrm>
            <a:off x="10105644"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10 min</a:t>
            </a:r>
            <a:endParaRPr lang="en-US" sz="1000" dirty="0"/>
          </a:p>
        </p:txBody>
      </p:sp>
      <p:sp>
        <p:nvSpPr>
          <p:cNvPr id="59" name="Shape 56"/>
          <p:cNvSpPr/>
          <p:nvPr/>
        </p:nvSpPr>
        <p:spPr>
          <a:xfrm>
            <a:off x="10644378"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1064437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10087356"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6: one Q3 paragraph.</a:t>
            </a:r>
            <a:endParaRPr lang="en-US" sz="1200" dirty="0"/>
          </a:p>
        </p:txBody>
      </p:sp>
      <p:sp>
        <p:nvSpPr>
          <p:cNvPr id="62" name="Text 59"/>
          <p:cNvSpPr txBox="1"/>
          <p:nvPr/>
        </p:nvSpPr>
        <p:spPr>
          <a:xfrm>
            <a:off x="10050780"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فِقْرَةٌ</a:t>
            </a:r>
            <a:endParaRPr lang="ar-SA" sz="1500" dirty="0"/>
          </a:p>
        </p:txBody>
      </p:sp>
      <p:sp>
        <p:nvSpPr>
          <p:cNvPr id="63" name="Shape 60"/>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64" name="Text 61"/>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HOW THE ROOM RUNS</a:t>
            </a:r>
            <a:endParaRPr lang="en-US" sz="1000" dirty="0"/>
          </a:p>
        </p:txBody>
      </p:sp>
      <p:sp>
        <p:nvSpPr>
          <p:cNvPr id="65" name="Text 62"/>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Everyone writes their own answer. Your buddy reads it and checks it with the checklist. The models come at the very end — try first!</a:t>
            </a:r>
            <a:endParaRPr lang="en-US" sz="1250" dirty="0"/>
          </a:p>
        </p:txBody>
      </p:sp>
      <p:sp>
        <p:nvSpPr>
          <p:cNvPr id="66" name="Text 6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23</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TC-L11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BEFORE THE ROOMS · HOW YOUR WRITING ROOM WORKS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alone, check together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كَيْفَ نَعْمَلُ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practice room · TC-L11</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HOW IT WORKS</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Rooms of two or three. Each person writes their OWN answer on their own page.</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LEADER keeps the time for each step and moves the room on.</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BUDDY — after each writing step, swap pages and check with the checklist (Step 5).</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Try every step BEFORE you look at a model. The models are at the end.</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PROCESS YOU WILL USE IN THE EXAM</a:t>
            </a:r>
            <a:endParaRPr lang="en-US" sz="1000" dirty="0"/>
          </a:p>
        </p:txBody>
      </p:sp>
      <p:sp>
        <p:nvSpPr>
          <p:cNvPr id="31" name="Text 28"/>
          <p:cNvSpPr txBox="1"/>
          <p:nvPr/>
        </p:nvSpPr>
        <p:spPr>
          <a:xfrm>
            <a:off x="6949440" y="2194560"/>
            <a:ext cx="4645152" cy="1141903"/>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افْهَمْ ← خَطِّطْ ← اكْتُبْ ← رَاجِعْ</a:t>
            </a:r>
            <a:endParaRPr lang="ar-SA" sz="2800" dirty="0"/>
          </a:p>
        </p:txBody>
      </p:sp>
      <p:sp>
        <p:nvSpPr>
          <p:cNvPr id="32" name="Text 29"/>
          <p:cNvSpPr txBox="1"/>
          <p:nvPr/>
        </p:nvSpPr>
        <p:spPr>
          <a:xfrm>
            <a:off x="6949440" y="3336463"/>
            <a:ext cx="4645152" cy="815645"/>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decode → plan → write → check</a:t>
            </a:r>
            <a:endParaRPr lang="en-US" sz="1100" dirty="0"/>
          </a:p>
        </p:txBody>
      </p:sp>
      <p:sp>
        <p:nvSpPr>
          <p:cNvPr id="33" name="Shape 30"/>
          <p:cNvSpPr/>
          <p:nvPr/>
        </p:nvSpPr>
        <p:spPr>
          <a:xfrm>
            <a:off x="6995160" y="4215384"/>
            <a:ext cx="4553712" cy="0"/>
          </a:xfrm>
          <a:prstGeom prst="line">
            <a:avLst/>
          </a:prstGeom>
          <a:noFill/>
          <a:ln w="9525">
            <a:solidFill>
              <a:srgbClr val="E4DCCB"/>
            </a:solidFill>
            <a:prstDash val="dash"/>
          </a:ln>
        </p:spPr>
      </p:sp>
      <p:sp>
        <p:nvSpPr>
          <p:cNvPr id="34" name="Text 31"/>
          <p:cNvSpPr txBox="1"/>
          <p:nvPr/>
        </p:nvSpPr>
        <p:spPr>
          <a:xfrm>
            <a:off x="6949440" y="4233672"/>
            <a:ext cx="4645152" cy="1141903"/>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نُقْطَةٌ وَاحِدَةٌ = فِقْرَةٌ وَاحِدَةٌ</a:t>
            </a:r>
            <a:endParaRPr lang="ar-SA" sz="2800" dirty="0"/>
          </a:p>
        </p:txBody>
      </p:sp>
      <p:sp>
        <p:nvSpPr>
          <p:cNvPr id="35" name="Text 32"/>
          <p:cNvSpPr txBox="1"/>
          <p:nvPr/>
        </p:nvSpPr>
        <p:spPr>
          <a:xfrm>
            <a:off x="6949440" y="5375575"/>
            <a:ext cx="4645152" cy="815645"/>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one bullet point = one paragraph</a:t>
            </a:r>
            <a:endParaRPr lang="en-US" sz="11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23</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TC-L11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STEP 1 · Q1 WARM-UP · 4 MINUTES · A SHORT ANSWER IN EACH BOX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Youth survey: my area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اسْتِبْيَانُ الشَّبَابِ: مِنْطَقَتِي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practice room · TC-L11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799832" y="1810512"/>
            <a:ext cx="38587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Tip</a:t>
            </a:r>
            <a:endParaRPr lang="en-US" sz="1100" dirty="0"/>
          </a:p>
        </p:txBody>
      </p:sp>
      <p:sp>
        <p:nvSpPr>
          <p:cNvPr id="17" name="Text 14"/>
          <p:cNvSpPr txBox="1"/>
          <p:nvPr/>
        </p:nvSpPr>
        <p:spPr>
          <a:xfrm>
            <a:off x="4873752" y="1810512"/>
            <a:ext cx="27797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What to write</a:t>
            </a:r>
            <a:endParaRPr lang="en-US" sz="1100" dirty="0"/>
          </a:p>
        </p:txBody>
      </p:sp>
      <p:sp>
        <p:nvSpPr>
          <p:cNvPr id="18" name="Text 15"/>
          <p:cNvSpPr txBox="1"/>
          <p:nvPr/>
        </p:nvSpPr>
        <p:spPr>
          <a:xfrm>
            <a:off x="1033272" y="1810512"/>
            <a:ext cx="36941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form</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1" name="Text 18"/>
          <p:cNvSpPr txBox="1"/>
          <p:nvPr/>
        </p:nvSpPr>
        <p:spPr>
          <a:xfrm>
            <a:off x="7818120" y="2267712"/>
            <a:ext cx="3822192"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نُوتِنْغْهَامُ</a:t>
            </a:r>
            <a:endParaRPr lang="ar-SA" sz="2000" dirty="0"/>
          </a:p>
        </p:txBody>
      </p:sp>
      <p:sp>
        <p:nvSpPr>
          <p:cNvPr id="22" name="Text 19"/>
          <p:cNvSpPr txBox="1"/>
          <p:nvPr/>
        </p:nvSpPr>
        <p:spPr>
          <a:xfrm>
            <a:off x="4910328" y="2267712"/>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Town</a:t>
            </a:r>
            <a:endParaRPr lang="en-US" sz="1100" dirty="0"/>
          </a:p>
        </p:txBody>
      </p:sp>
      <p:sp>
        <p:nvSpPr>
          <p:cNvPr id="23" name="Text 20"/>
          <p:cNvSpPr txBox="1"/>
          <p:nvPr/>
        </p:nvSpPr>
        <p:spPr>
          <a:xfrm>
            <a:off x="1051560" y="2267712"/>
            <a:ext cx="365760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المَدِينَةُ</a:t>
            </a:r>
            <a:endParaRPr lang="ar-SA" sz="1700" dirty="0"/>
          </a:p>
        </p:txBody>
      </p:sp>
      <p:sp>
        <p:nvSpPr>
          <p:cNvPr id="24" name="Text 21"/>
          <p:cNvSpPr txBox="1"/>
          <p:nvPr/>
        </p:nvSpPr>
        <p:spPr>
          <a:xfrm>
            <a:off x="566928" y="2267712"/>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8" name="Text 25"/>
          <p:cNvSpPr txBox="1"/>
          <p:nvPr/>
        </p:nvSpPr>
        <p:spPr>
          <a:xfrm>
            <a:off x="7818120" y="2881884"/>
            <a:ext cx="3822192"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فِي وَسَطِ إِنْجِلْتِرَا</a:t>
            </a:r>
            <a:endParaRPr lang="ar-SA" sz="2000" dirty="0"/>
          </a:p>
        </p:txBody>
      </p:sp>
      <p:sp>
        <p:nvSpPr>
          <p:cNvPr id="29" name="Text 26"/>
          <p:cNvSpPr txBox="1"/>
          <p:nvPr/>
        </p:nvSpPr>
        <p:spPr>
          <a:xfrm>
            <a:off x="4910328" y="2881884"/>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Where it is</a:t>
            </a:r>
            <a:endParaRPr lang="en-US" sz="1100" dirty="0"/>
          </a:p>
        </p:txBody>
      </p:sp>
      <p:sp>
        <p:nvSpPr>
          <p:cNvPr id="30" name="Text 27"/>
          <p:cNvSpPr txBox="1"/>
          <p:nvPr/>
        </p:nvSpPr>
        <p:spPr>
          <a:xfrm>
            <a:off x="1051560" y="2881884"/>
            <a:ext cx="365760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أَيْنَ تَقَعُ؟</a:t>
            </a:r>
            <a:endParaRPr lang="ar-SA" sz="1700" dirty="0"/>
          </a:p>
        </p:txBody>
      </p:sp>
      <p:sp>
        <p:nvSpPr>
          <p:cNvPr id="31" name="Text 28"/>
          <p:cNvSpPr txBox="1"/>
          <p:nvPr/>
        </p:nvSpPr>
        <p:spPr>
          <a:xfrm>
            <a:off x="566928" y="2881884"/>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5" name="Text 32"/>
          <p:cNvSpPr txBox="1"/>
          <p:nvPr/>
        </p:nvSpPr>
        <p:spPr>
          <a:xfrm>
            <a:off x="7818120" y="3496056"/>
            <a:ext cx="3822192"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مُمْطِرٌ · مُعْتَدِلٌ</a:t>
            </a:r>
            <a:endParaRPr lang="ar-SA" sz="2000" dirty="0"/>
          </a:p>
        </p:txBody>
      </p:sp>
      <p:sp>
        <p:nvSpPr>
          <p:cNvPr id="36" name="Text 33"/>
          <p:cNvSpPr txBox="1"/>
          <p:nvPr/>
        </p:nvSpPr>
        <p:spPr>
          <a:xfrm>
            <a:off x="4910328" y="3496056"/>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Usual weather</a:t>
            </a:r>
            <a:endParaRPr lang="en-US" sz="1100" dirty="0"/>
          </a:p>
        </p:txBody>
      </p:sp>
      <p:sp>
        <p:nvSpPr>
          <p:cNvPr id="37" name="Text 34"/>
          <p:cNvSpPr txBox="1"/>
          <p:nvPr/>
        </p:nvSpPr>
        <p:spPr>
          <a:xfrm>
            <a:off x="1051560" y="3496056"/>
            <a:ext cx="365760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الطَّقْسُ عَادَةً</a:t>
            </a:r>
            <a:endParaRPr lang="ar-SA" sz="1700" dirty="0"/>
          </a:p>
        </p:txBody>
      </p:sp>
      <p:sp>
        <p:nvSpPr>
          <p:cNvPr id="38" name="Text 35"/>
          <p:cNvSpPr txBox="1"/>
          <p:nvPr/>
        </p:nvSpPr>
        <p:spPr>
          <a:xfrm>
            <a:off x="566928" y="3496056"/>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42" name="Text 39"/>
          <p:cNvSpPr txBox="1"/>
          <p:nvPr/>
        </p:nvSpPr>
        <p:spPr>
          <a:xfrm>
            <a:off x="7818120" y="4110228"/>
            <a:ext cx="3822192"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المَكْتَبَةُ العَامَّةُ</a:t>
            </a:r>
            <a:endParaRPr lang="ar-SA" sz="2000" dirty="0"/>
          </a:p>
        </p:txBody>
      </p:sp>
      <p:sp>
        <p:nvSpPr>
          <p:cNvPr id="43" name="Text 40"/>
          <p:cNvSpPr txBox="1"/>
          <p:nvPr/>
        </p:nvSpPr>
        <p:spPr>
          <a:xfrm>
            <a:off x="4910328" y="4110228"/>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 excellent service</a:t>
            </a:r>
            <a:endParaRPr lang="en-US" sz="1100" dirty="0"/>
          </a:p>
        </p:txBody>
      </p:sp>
      <p:sp>
        <p:nvSpPr>
          <p:cNvPr id="44" name="Text 41"/>
          <p:cNvSpPr txBox="1"/>
          <p:nvPr/>
        </p:nvSpPr>
        <p:spPr>
          <a:xfrm>
            <a:off x="1051560" y="4110228"/>
            <a:ext cx="365760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خِدْمَةٌ مُمْتَازَةٌ</a:t>
            </a:r>
            <a:endParaRPr lang="ar-SA" sz="1700" dirty="0"/>
          </a:p>
        </p:txBody>
      </p:sp>
      <p:sp>
        <p:nvSpPr>
          <p:cNvPr id="45" name="Text 42"/>
          <p:cNvSpPr txBox="1"/>
          <p:nvPr/>
        </p:nvSpPr>
        <p:spPr>
          <a:xfrm>
            <a:off x="566928" y="4110228"/>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6" name="Shape 43"/>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8" name="Shape 45"/>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9" name="Text 46"/>
          <p:cNvSpPr txBox="1"/>
          <p:nvPr/>
        </p:nvSpPr>
        <p:spPr>
          <a:xfrm>
            <a:off x="7818120" y="4724400"/>
            <a:ext cx="3822192"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النُّفَايَاتُ</a:t>
            </a:r>
            <a:endParaRPr lang="ar-SA" sz="2000" dirty="0"/>
          </a:p>
        </p:txBody>
      </p:sp>
      <p:sp>
        <p:nvSpPr>
          <p:cNvPr id="50" name="Text 47"/>
          <p:cNvSpPr txBox="1"/>
          <p:nvPr/>
        </p:nvSpPr>
        <p:spPr>
          <a:xfrm>
            <a:off x="4910328" y="4724400"/>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 environmental problem</a:t>
            </a:r>
            <a:endParaRPr lang="en-US" sz="1100" dirty="0"/>
          </a:p>
        </p:txBody>
      </p:sp>
      <p:sp>
        <p:nvSpPr>
          <p:cNvPr id="51" name="Text 48"/>
          <p:cNvSpPr txBox="1"/>
          <p:nvPr/>
        </p:nvSpPr>
        <p:spPr>
          <a:xfrm>
            <a:off x="1051560" y="4724400"/>
            <a:ext cx="365760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مُشْكِلَةٌ بِيئِيَّةٌ</a:t>
            </a:r>
            <a:endParaRPr lang="ar-SA" sz="1700" dirty="0"/>
          </a:p>
        </p:txBody>
      </p:sp>
      <p:sp>
        <p:nvSpPr>
          <p:cNvPr id="52" name="Text 49"/>
          <p:cNvSpPr txBox="1"/>
          <p:nvPr/>
        </p:nvSpPr>
        <p:spPr>
          <a:xfrm>
            <a:off x="566928" y="4724400"/>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3" name="Shape 50"/>
          <p:cNvSpPr/>
          <p:nvPr/>
        </p:nvSpPr>
        <p:spPr>
          <a:xfrm>
            <a:off x="11091672" y="4770120"/>
            <a:ext cx="548640" cy="182880"/>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11091672" y="477012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5" name="Shape 52"/>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56" name="Text 53"/>
          <p:cNvSpPr txBox="1"/>
          <p:nvPr/>
        </p:nvSpPr>
        <p:spPr>
          <a:xfrm>
            <a:off x="7818120" y="5338572"/>
            <a:ext cx="3822192"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لَوْ كُنْتُ مَسْؤُولًا لَبَنَيْتُ …</a:t>
            </a:r>
            <a:endParaRPr lang="ar-SA" sz="2000" dirty="0"/>
          </a:p>
        </p:txBody>
      </p:sp>
      <p:sp>
        <p:nvSpPr>
          <p:cNvPr id="57" name="Text 54"/>
          <p:cNvSpPr txBox="1"/>
          <p:nvPr/>
        </p:nvSpPr>
        <p:spPr>
          <a:xfrm>
            <a:off x="4910328" y="5338572"/>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ONE sentence: what you would change if you were in charge</a:t>
            </a:r>
            <a:endParaRPr lang="en-US" sz="1100" dirty="0"/>
          </a:p>
        </p:txBody>
      </p:sp>
      <p:sp>
        <p:nvSpPr>
          <p:cNvPr id="58" name="Text 55"/>
          <p:cNvSpPr txBox="1"/>
          <p:nvPr/>
        </p:nvSpPr>
        <p:spPr>
          <a:xfrm>
            <a:off x="1051560" y="5338572"/>
            <a:ext cx="365760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جُمْلَةٌ: مَاذَا تُغَيِّرُ لَوْ كُنْتَ مَسْؤُولًا؟</a:t>
            </a:r>
            <a:endParaRPr lang="ar-SA" sz="1700" dirty="0"/>
          </a:p>
        </p:txBody>
      </p:sp>
      <p:sp>
        <p:nvSpPr>
          <p:cNvPr id="59" name="Text 56"/>
          <p:cNvSpPr txBox="1"/>
          <p:nvPr/>
        </p:nvSpPr>
        <p:spPr>
          <a:xfrm>
            <a:off x="566928" y="5338572"/>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6</a:t>
            </a:r>
            <a:endParaRPr lang="en-US" sz="1100" dirty="0"/>
          </a:p>
        </p:txBody>
      </p:sp>
      <p:sp>
        <p:nvSpPr>
          <p:cNvPr id="60" name="Text 57"/>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Write a word or a short phrase — about yourself. Buddy check: does each answer match exactly what the box asks?</a:t>
            </a:r>
            <a:endParaRPr lang="en-US" sz="1150" dirty="0"/>
          </a:p>
        </p:txBody>
      </p:sp>
      <p:sp>
        <p:nvSpPr>
          <p:cNvPr id="61" name="Text 5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23</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TC-L11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2 · DECODE THE QUESTION BEFORE YOU WRITE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Four moves to decode a question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افْهَمِ السُّؤَالَ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practice room · TC-L11</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DECODE IN TWO MINUTES</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WHAT do I write (an email, a message, a blog) and to WHOM (a friend → informal)?</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NUMBER the bullet points 1–4. Each one = one short paragraph.</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UNDERLINE the question word in each bullet and decide the TENSE it needs.</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Write ONE idea (in English or Arabic) next to each bullet. That is your plan.</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VERB IN THE BULLET TELLS YOU THE TENSE</a:t>
            </a:r>
            <a:endParaRPr lang="en-US" sz="1000" dirty="0"/>
          </a:p>
        </p:txBody>
      </p:sp>
      <p:sp>
        <p:nvSpPr>
          <p:cNvPr id="31" name="Text 28"/>
          <p:cNvSpPr txBox="1"/>
          <p:nvPr/>
        </p:nvSpPr>
        <p:spPr>
          <a:xfrm>
            <a:off x="6949440" y="2194560"/>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مَاذَا فَعَلْتَ؟ ← فَعَلْتُ (المَاضِي)</a:t>
            </a:r>
            <a:endParaRPr lang="ar-SA" sz="2650" dirty="0"/>
          </a:p>
        </p:txBody>
      </p:sp>
      <p:sp>
        <p:nvSpPr>
          <p:cNvPr id="32" name="Text 29"/>
          <p:cNvSpPr txBox="1"/>
          <p:nvPr/>
        </p:nvSpPr>
        <p:spPr>
          <a:xfrm>
            <a:off x="6949440" y="2765511"/>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what did you do? → past</a:t>
            </a:r>
            <a:endParaRPr lang="en-US" sz="1100" dirty="0"/>
          </a:p>
        </p:txBody>
      </p:sp>
      <p:sp>
        <p:nvSpPr>
          <p:cNvPr id="33" name="Shape 30"/>
          <p:cNvSpPr/>
          <p:nvPr/>
        </p:nvSpPr>
        <p:spPr>
          <a:xfrm>
            <a:off x="6995160" y="3195828"/>
            <a:ext cx="4553712" cy="0"/>
          </a:xfrm>
          <a:prstGeom prst="line">
            <a:avLst/>
          </a:prstGeom>
          <a:noFill/>
          <a:ln w="9525">
            <a:solidFill>
              <a:srgbClr val="E4DCCB"/>
            </a:solidFill>
            <a:prstDash val="dash"/>
          </a:ln>
        </p:spPr>
      </p:sp>
      <p:sp>
        <p:nvSpPr>
          <p:cNvPr id="34" name="Text 31"/>
          <p:cNvSpPr txBox="1"/>
          <p:nvPr/>
        </p:nvSpPr>
        <p:spPr>
          <a:xfrm>
            <a:off x="6949440" y="3214116"/>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مَاذَا تَفْعَلُ عَادَةً؟ ← أَفْعَلُ (الحَاضِرُ)</a:t>
            </a:r>
            <a:endParaRPr lang="ar-SA" sz="2650" dirty="0"/>
          </a:p>
        </p:txBody>
      </p:sp>
      <p:sp>
        <p:nvSpPr>
          <p:cNvPr id="35" name="Text 32"/>
          <p:cNvSpPr txBox="1"/>
          <p:nvPr/>
        </p:nvSpPr>
        <p:spPr>
          <a:xfrm>
            <a:off x="6949440" y="3785067"/>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what do you usually do? → present</a:t>
            </a:r>
            <a:endParaRPr lang="en-US" sz="1100" dirty="0"/>
          </a:p>
        </p:txBody>
      </p:sp>
      <p:sp>
        <p:nvSpPr>
          <p:cNvPr id="36" name="Shape 33"/>
          <p:cNvSpPr/>
          <p:nvPr/>
        </p:nvSpPr>
        <p:spPr>
          <a:xfrm>
            <a:off x="6995160" y="4215384"/>
            <a:ext cx="4553712" cy="0"/>
          </a:xfrm>
          <a:prstGeom prst="line">
            <a:avLst/>
          </a:prstGeom>
          <a:noFill/>
          <a:ln w="9525">
            <a:solidFill>
              <a:srgbClr val="E4DCCB"/>
            </a:solidFill>
            <a:prstDash val="dash"/>
          </a:ln>
        </p:spPr>
      </p:sp>
      <p:sp>
        <p:nvSpPr>
          <p:cNvPr id="37" name="Text 34"/>
          <p:cNvSpPr txBox="1"/>
          <p:nvPr/>
        </p:nvSpPr>
        <p:spPr>
          <a:xfrm>
            <a:off x="6949440" y="4233672"/>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مَاذَا سَتَفْعَلُ؟ ← سَأَفْعَلُ (المُسْتَقْبَلُ)</a:t>
            </a:r>
            <a:endParaRPr lang="ar-SA" sz="2650" dirty="0"/>
          </a:p>
        </p:txBody>
      </p:sp>
      <p:sp>
        <p:nvSpPr>
          <p:cNvPr id="38" name="Text 35"/>
          <p:cNvSpPr txBox="1"/>
          <p:nvPr/>
        </p:nvSpPr>
        <p:spPr>
          <a:xfrm>
            <a:off x="6949440" y="4804623"/>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what will you do? → future</a:t>
            </a:r>
            <a:endParaRPr lang="en-US" sz="1100" dirty="0"/>
          </a:p>
        </p:txBody>
      </p:sp>
      <p:sp>
        <p:nvSpPr>
          <p:cNvPr id="39" name="Shape 36"/>
          <p:cNvSpPr/>
          <p:nvPr/>
        </p:nvSpPr>
        <p:spPr>
          <a:xfrm>
            <a:off x="6995160" y="5234940"/>
            <a:ext cx="4553712" cy="0"/>
          </a:xfrm>
          <a:prstGeom prst="line">
            <a:avLst/>
          </a:prstGeom>
          <a:noFill/>
          <a:ln w="9525">
            <a:solidFill>
              <a:srgbClr val="E4DCCB"/>
            </a:solidFill>
            <a:prstDash val="dash"/>
          </a:ln>
        </p:spPr>
      </p:sp>
      <p:sp>
        <p:nvSpPr>
          <p:cNvPr id="40" name="Text 37"/>
          <p:cNvSpPr txBox="1"/>
          <p:nvPr/>
        </p:nvSpPr>
        <p:spPr>
          <a:xfrm>
            <a:off x="6949440" y="5253228"/>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مَا رَأْيُكَ؟ ← فِي رَأْيِي … لِأَنَّ …</a:t>
            </a:r>
            <a:endParaRPr lang="ar-SA" sz="2650" dirty="0"/>
          </a:p>
        </p:txBody>
      </p:sp>
      <p:sp>
        <p:nvSpPr>
          <p:cNvPr id="41" name="Text 38"/>
          <p:cNvSpPr txBox="1"/>
          <p:nvPr/>
        </p:nvSpPr>
        <p:spPr>
          <a:xfrm>
            <a:off x="6949440" y="5824179"/>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your opinion? → in my opinion … because …</a:t>
            </a:r>
            <a:endParaRPr lang="en-US" sz="11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23</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TC-L11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2 · TODAY’S QUESTION 2 · ABOUT 80–90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00" b="1" dirty="0">
                <a:solidFill>
                  <a:srgbClr val="1B3B6F"/>
                </a:solidFill>
                <a:latin typeface="Cambria" pitchFamily="34" charset="0"/>
                <a:cs typeface="Amiri" pitchFamily="2" charset="-78"/>
              </a:rPr>
              <a:t>Question 2: my area — then and now</a:t>
            </a:r>
            <a:endParaRPr lang="en-US" sz="27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مِنْطَقَتِي بَيْنَ الأَمْسِ وَاليَوْمِ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practice room · TC-L11</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906524"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1906524"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Q2 · DIRECTED WRITING</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200" b="1" dirty="0">
                <a:solidFill>
                  <a:srgbClr val="1F2A37"/>
                </a:solidFill>
                <a:latin typeface="Calibri" pitchFamily="34" charset="0"/>
                <a:cs typeface="Amiri" pitchFamily="2" charset="-78"/>
              </a:rPr>
              <a:t>Write a blog post in Arabic of about 80–90 words about how your area has changed. You must include: • where your area is and what it is like now • how it was in the past • one advantage and one disadvantage of the changes • what you would like to change in the future, and why.</a:t>
            </a:r>
            <a:endParaRPr lang="en-US" sz="120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All four bullet points, in order.</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greeting and a closing.</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The right tense for each bullet.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At least one reason with </a:t>
            </a:r>
            <a:pPr algn="l" indent="0" marL="0">
              <a:buNone/>
            </a:pPr>
            <a:r>
              <a:rPr lang="ar-SA" altLang="en-US" sz="1550" dirty="0">
                <a:solidFill>
                  <a:srgbClr val="1F2A37"/>
                </a:solidFill>
                <a:latin typeface="Amiri" pitchFamily="2" charset="-78"/>
                <a:ea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About 80–90 words.</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تَقَعُ مِنْطَقَتِي فِي … ، وَهِيَ الآنَ …</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my area is in …, and now it is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المَاضِي كَانَتْ … وَكُنَّا …</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in the past it was … and we used to …</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مِنْ نَاحِيَةٍ … ، وَمِنْ نَاحِيَةٍ أُخْرَى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on one hand …, on the other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لَوْ كُنْتُ مَسْؤُولًا، لَزَرَعْتُ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if I were in charge, I would plant …</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23</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TC-L11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2 · YOUR TURN · DECODE EACH BULLET (IN YOUR BOOK)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cs typeface="Amiri" pitchFamily="2" charset="-78"/>
              </a:rPr>
              <a:t>Decode it: question word · tense · my idea</a:t>
            </a:r>
            <a:endParaRPr lang="en-US" sz="22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حَلِّلِ السُّؤَالَ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practice room · TC-L11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897112" y="1810512"/>
            <a:ext cx="2761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My idea</a:t>
            </a:r>
            <a:endParaRPr lang="en-US" sz="1100" dirty="0"/>
          </a:p>
        </p:txBody>
      </p:sp>
      <p:sp>
        <p:nvSpPr>
          <p:cNvPr id="17" name="Text 14"/>
          <p:cNvSpPr txBox="1"/>
          <p:nvPr/>
        </p:nvSpPr>
        <p:spPr>
          <a:xfrm>
            <a:off x="615391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Question word + tense</a:t>
            </a:r>
            <a:endParaRPr lang="en-US" sz="1100" dirty="0"/>
          </a:p>
        </p:txBody>
      </p:sp>
      <p:sp>
        <p:nvSpPr>
          <p:cNvPr id="18" name="Text 15"/>
          <p:cNvSpPr txBox="1"/>
          <p:nvPr/>
        </p:nvSpPr>
        <p:spPr>
          <a:xfrm>
            <a:off x="1033272" y="1810512"/>
            <a:ext cx="49743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bullet in Arabic</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933688" y="2267712"/>
            <a:ext cx="27249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2" name="Text 19"/>
          <p:cNvSpPr txBox="1"/>
          <p:nvPr/>
        </p:nvSpPr>
        <p:spPr>
          <a:xfrm>
            <a:off x="6190488" y="2267712"/>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3" name="Text 20"/>
          <p:cNvSpPr txBox="1"/>
          <p:nvPr/>
        </p:nvSpPr>
        <p:spPr>
          <a:xfrm>
            <a:off x="1051560" y="2267712"/>
            <a:ext cx="493776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اكْتُبْ مُدَوَّنَةً عَنْ تَغَيُّرِ مِنْطَقَتِكَ (٨٠–٩٠ كَلِمَةً).</a:t>
            </a:r>
            <a:endParaRPr lang="ar-SA" sz="1700" dirty="0"/>
          </a:p>
        </p:txBody>
      </p:sp>
      <p:sp>
        <p:nvSpPr>
          <p:cNvPr id="24" name="Text 21"/>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task</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933688" y="3004718"/>
            <a:ext cx="27249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9" name="Text 26"/>
          <p:cNvSpPr txBox="1"/>
          <p:nvPr/>
        </p:nvSpPr>
        <p:spPr>
          <a:xfrm>
            <a:off x="6190488" y="3004718"/>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0" name="Text 27"/>
          <p:cNvSpPr txBox="1"/>
          <p:nvPr/>
        </p:nvSpPr>
        <p:spPr>
          <a:xfrm>
            <a:off x="1051560" y="3004718"/>
            <a:ext cx="493776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أَيْنَ تَقَعُ مِنْطَقَتُكَ؟ وَكَيْفَ هِيَ الآنَ؟</a:t>
            </a:r>
            <a:endParaRPr lang="ar-SA" sz="1700" dirty="0"/>
          </a:p>
        </p:txBody>
      </p:sp>
      <p:sp>
        <p:nvSpPr>
          <p:cNvPr id="31" name="Text 28"/>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933688" y="3741725"/>
            <a:ext cx="27249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6" name="Text 33"/>
          <p:cNvSpPr txBox="1"/>
          <p:nvPr/>
        </p:nvSpPr>
        <p:spPr>
          <a:xfrm>
            <a:off x="6190488" y="3741725"/>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7" name="Text 34"/>
          <p:cNvSpPr txBox="1"/>
          <p:nvPr/>
        </p:nvSpPr>
        <p:spPr>
          <a:xfrm>
            <a:off x="1051560" y="3741725"/>
            <a:ext cx="493776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كَيْفَ كَانَتْ فِي المَاضِي؟</a:t>
            </a:r>
            <a:endParaRPr lang="ar-SA" sz="1700" dirty="0"/>
          </a:p>
        </p:txBody>
      </p:sp>
      <p:sp>
        <p:nvSpPr>
          <p:cNvPr id="38" name="Text 35"/>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933688" y="4478731"/>
            <a:ext cx="27249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1" name="Text 38"/>
          <p:cNvSpPr txBox="1"/>
          <p:nvPr/>
        </p:nvSpPr>
        <p:spPr>
          <a:xfrm>
            <a:off x="6190488" y="4478731"/>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2" name="Text 39"/>
          <p:cNvSpPr txBox="1"/>
          <p:nvPr/>
        </p:nvSpPr>
        <p:spPr>
          <a:xfrm>
            <a:off x="1051560" y="4478731"/>
            <a:ext cx="493776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فَائِدَةٌ وَعَيْبٌ لِلتَّغْيِيرَاتِ.</a:t>
            </a:r>
            <a:endParaRPr lang="ar-SA" sz="1700" dirty="0"/>
          </a:p>
        </p:txBody>
      </p:sp>
      <p:sp>
        <p:nvSpPr>
          <p:cNvPr id="43" name="Text 40"/>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933688" y="5215738"/>
            <a:ext cx="27249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6" name="Text 43"/>
          <p:cNvSpPr txBox="1"/>
          <p:nvPr/>
        </p:nvSpPr>
        <p:spPr>
          <a:xfrm>
            <a:off x="6190488" y="5215738"/>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7" name="Text 44"/>
          <p:cNvSpPr txBox="1"/>
          <p:nvPr/>
        </p:nvSpPr>
        <p:spPr>
          <a:xfrm>
            <a:off x="1051560" y="5215738"/>
            <a:ext cx="493776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مَاذَا تُرِيدُ أَنْ تُغَيِّرَ؟ وَلِمَاذَا؟</a:t>
            </a:r>
            <a:endParaRPr lang="ar-SA" sz="1700" dirty="0"/>
          </a:p>
        </p:txBody>
      </p:sp>
      <p:sp>
        <p:nvSpPr>
          <p:cNvPr id="48" name="Text 45"/>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Copy the two empty columns into your book and fill them in. Then check with your buddy on the next slide.</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23</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TC-L11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2 · CHECK YOUR DECODING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Decoded: what each bullet needs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تَحَقَّقْ</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practice room · TC-L11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14232" y="1810512"/>
            <a:ext cx="29443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English</a:t>
            </a:r>
            <a:endParaRPr lang="en-US" sz="1100" dirty="0"/>
          </a:p>
        </p:txBody>
      </p:sp>
      <p:sp>
        <p:nvSpPr>
          <p:cNvPr id="17" name="Text 14"/>
          <p:cNvSpPr txBox="1"/>
          <p:nvPr/>
        </p:nvSpPr>
        <p:spPr>
          <a:xfrm>
            <a:off x="5605272" y="1810512"/>
            <a:ext cx="29626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Question word + tense</a:t>
            </a:r>
            <a:endParaRPr lang="en-US" sz="1100" dirty="0"/>
          </a:p>
        </p:txBody>
      </p:sp>
      <p:sp>
        <p:nvSpPr>
          <p:cNvPr id="18" name="Text 15"/>
          <p:cNvSpPr txBox="1"/>
          <p:nvPr/>
        </p:nvSpPr>
        <p:spPr>
          <a:xfrm>
            <a:off x="1033272" y="1810512"/>
            <a:ext cx="44256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bullet in Arabic</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50808" y="2267712"/>
            <a:ext cx="29077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Write a blog post about how your area has changed (80–90 words).</a:t>
            </a:r>
            <a:endParaRPr lang="en-US" sz="1100" dirty="0"/>
          </a:p>
        </p:txBody>
      </p:sp>
      <p:sp>
        <p:nvSpPr>
          <p:cNvPr id="22" name="Text 19"/>
          <p:cNvSpPr txBox="1"/>
          <p:nvPr/>
        </p:nvSpPr>
        <p:spPr>
          <a:xfrm>
            <a:off x="5641848" y="2267712"/>
            <a:ext cx="29260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BLOG POST → a title, chatty tone, speak to readers</a:t>
            </a:r>
            <a:endParaRPr lang="en-US" sz="1100" dirty="0"/>
          </a:p>
        </p:txBody>
      </p:sp>
      <p:sp>
        <p:nvSpPr>
          <p:cNvPr id="23" name="Text 20"/>
          <p:cNvSpPr txBox="1"/>
          <p:nvPr/>
        </p:nvSpPr>
        <p:spPr>
          <a:xfrm>
            <a:off x="1051560" y="2267712"/>
            <a:ext cx="43891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اكْتُبْ مُدَوَّنَةً عَنْ تَغَيُّرِ مِنْطَقَتِكَ (٨٠–٩٠ كَلِمَةً).</a:t>
            </a:r>
            <a:endParaRPr lang="ar-SA" sz="1600" dirty="0"/>
          </a:p>
        </p:txBody>
      </p:sp>
      <p:sp>
        <p:nvSpPr>
          <p:cNvPr id="24" name="Text 21"/>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task</a:t>
            </a:r>
            <a:endParaRPr lang="en-US" sz="1100" dirty="0"/>
          </a:p>
        </p:txBody>
      </p:sp>
      <p:sp>
        <p:nvSpPr>
          <p:cNvPr id="25" name="Shape 22"/>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6" name="Text 23"/>
          <p:cNvSpPr txBox="1"/>
          <p:nvPr/>
        </p:nvSpPr>
        <p:spPr>
          <a:xfrm>
            <a:off x="8750808" y="3004718"/>
            <a:ext cx="29077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Where it is; what it’s like now</a:t>
            </a:r>
            <a:endParaRPr lang="en-US" sz="1100" dirty="0"/>
          </a:p>
        </p:txBody>
      </p:sp>
      <p:sp>
        <p:nvSpPr>
          <p:cNvPr id="27" name="Text 24"/>
          <p:cNvSpPr txBox="1"/>
          <p:nvPr/>
        </p:nvSpPr>
        <p:spPr>
          <a:xfrm>
            <a:off x="5641848" y="3004718"/>
            <a:ext cx="2926080" cy="682142"/>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2" charset="-78"/>
                <a:ea typeface="Amiri" pitchFamily="2" charset="-78"/>
                <a:cs typeface="Amiri" pitchFamily="2" charset="-78"/>
              </a:rPr>
              <a:t>أَيْنَ</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كَيْفَ هِيَ الآنَ</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تَقَعُ</a:t>
            </a:r>
            <a:pPr algn="l" indent="0" marL="0">
              <a:buNone/>
            </a:pPr>
            <a:r>
              <a:rPr lang="en-US" sz="1100" dirty="0">
                <a:solidFill>
                  <a:srgbClr val="5A6472"/>
                </a:solidFill>
                <a:latin typeface="Calibri" pitchFamily="34" charset="0"/>
                <a:cs typeface="Amiri" pitchFamily="2" charset="-78"/>
              </a:rPr>
              <a:t> + PRESENT description (</a:t>
            </a:r>
            <a:pPr algn="l" indent="0" marL="0">
              <a:buNone/>
            </a:pPr>
            <a:r>
              <a:rPr lang="ar-SA" altLang="en-US" sz="1450" dirty="0">
                <a:solidFill>
                  <a:srgbClr val="5A6472"/>
                </a:solidFill>
                <a:latin typeface="Amiri" pitchFamily="2" charset="-78"/>
                <a:ea typeface="Amiri" pitchFamily="2" charset="-78"/>
                <a:cs typeface="Amiri" pitchFamily="2" charset="-78"/>
              </a:rPr>
              <a:t>يُوجَدُ</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تُوجَدُ</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28" name="Text 25"/>
          <p:cNvSpPr txBox="1"/>
          <p:nvPr/>
        </p:nvSpPr>
        <p:spPr>
          <a:xfrm>
            <a:off x="1051560" y="3004718"/>
            <a:ext cx="43891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أَيْنَ تَقَعُ مِنْطَقَتُكَ؟ وَكَيْفَ هِيَ الآنَ؟</a:t>
            </a:r>
            <a:endParaRPr lang="ar-SA" sz="1600" dirty="0"/>
          </a:p>
        </p:txBody>
      </p:sp>
      <p:sp>
        <p:nvSpPr>
          <p:cNvPr id="29" name="Text 26"/>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30" name="Shape 27"/>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1" name="Text 28"/>
          <p:cNvSpPr txBox="1"/>
          <p:nvPr/>
        </p:nvSpPr>
        <p:spPr>
          <a:xfrm>
            <a:off x="8750808" y="3741725"/>
            <a:ext cx="29077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 it was in the past</a:t>
            </a:r>
            <a:endParaRPr lang="en-US" sz="1100" dirty="0"/>
          </a:p>
        </p:txBody>
      </p:sp>
      <p:sp>
        <p:nvSpPr>
          <p:cNvPr id="32" name="Text 29"/>
          <p:cNvSpPr txBox="1"/>
          <p:nvPr/>
        </p:nvSpPr>
        <p:spPr>
          <a:xfrm>
            <a:off x="5641848" y="3741725"/>
            <a:ext cx="2926080" cy="682142"/>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2" charset="-78"/>
                <a:ea typeface="Amiri" pitchFamily="2" charset="-78"/>
                <a:cs typeface="Amiri" pitchFamily="2" charset="-78"/>
              </a:rPr>
              <a:t>كَيْفَ كَانَتْ</a:t>
            </a:r>
            <a:pPr algn="l" indent="0" marL="0">
              <a:buNone/>
            </a:pPr>
            <a:r>
              <a:rPr lang="en-US" sz="1100" dirty="0">
                <a:solidFill>
                  <a:srgbClr val="5A6472"/>
                </a:solidFill>
                <a:latin typeface="Calibri" pitchFamily="34" charset="0"/>
                <a:cs typeface="Amiri" pitchFamily="2" charset="-78"/>
              </a:rPr>
              <a:t> → PAST: </a:t>
            </a:r>
            <a:pPr algn="l" indent="0" marL="0">
              <a:buNone/>
            </a:pPr>
            <a:r>
              <a:rPr lang="ar-SA" altLang="en-US" sz="1450" dirty="0">
                <a:solidFill>
                  <a:srgbClr val="5A6472"/>
                </a:solidFill>
                <a:latin typeface="Amiri" pitchFamily="2" charset="-78"/>
                <a:ea typeface="Amiri" pitchFamily="2" charset="-78"/>
                <a:cs typeface="Amiri" pitchFamily="2" charset="-78"/>
              </a:rPr>
              <a:t>كَانَ / كَانَتْ</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كُنَّا</a:t>
            </a:r>
            <a:pPr algn="l" indent="0" marL="0">
              <a:buNone/>
            </a:pPr>
            <a:r>
              <a:rPr lang="en-US" sz="1100" dirty="0">
                <a:solidFill>
                  <a:srgbClr val="5A6472"/>
                </a:solidFill>
                <a:latin typeface="Calibri" pitchFamily="34" charset="0"/>
                <a:cs typeface="Amiri" pitchFamily="2" charset="-78"/>
              </a:rPr>
              <a:t> + present (used to)</a:t>
            </a:r>
            <a:endParaRPr lang="en-US" sz="1100" dirty="0"/>
          </a:p>
        </p:txBody>
      </p:sp>
      <p:sp>
        <p:nvSpPr>
          <p:cNvPr id="33" name="Text 30"/>
          <p:cNvSpPr txBox="1"/>
          <p:nvPr/>
        </p:nvSpPr>
        <p:spPr>
          <a:xfrm>
            <a:off x="1051560" y="3741725"/>
            <a:ext cx="43891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كَيْفَ كَانَتْ فِي المَاضِي؟</a:t>
            </a:r>
            <a:endParaRPr lang="ar-SA" sz="1600" dirty="0"/>
          </a:p>
        </p:txBody>
      </p:sp>
      <p:sp>
        <p:nvSpPr>
          <p:cNvPr id="34" name="Text 31"/>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6" name="Text 33"/>
          <p:cNvSpPr txBox="1"/>
          <p:nvPr/>
        </p:nvSpPr>
        <p:spPr>
          <a:xfrm>
            <a:off x="8750808" y="4478731"/>
            <a:ext cx="29077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One advantage, one disadvantage</a:t>
            </a:r>
            <a:endParaRPr lang="en-US" sz="1100" dirty="0"/>
          </a:p>
        </p:txBody>
      </p:sp>
      <p:sp>
        <p:nvSpPr>
          <p:cNvPr id="37" name="Text 34"/>
          <p:cNvSpPr txBox="1"/>
          <p:nvPr/>
        </p:nvSpPr>
        <p:spPr>
          <a:xfrm>
            <a:off x="5623560" y="4478731"/>
            <a:ext cx="2926080" cy="682142"/>
          </a:xfrm>
          <a:prstGeom prst="rect">
            <a:avLst/>
          </a:prstGeom>
          <a:noFill/>
          <a:ln/>
        </p:spPr>
        <p:txBody>
          <a:bodyPr wrap="square" lIns="0" tIns="0" rIns="0" bIns="0" rtlCol="0" anchor="ctr"/>
          <a:lstStyle/>
          <a:p>
            <a:pPr rtl="1" algn="ctr" indent="0" marL="0">
              <a:lnSpc>
                <a:spcPct val="120000"/>
              </a:lnSpc>
              <a:buNone/>
            </a:pPr>
            <a:r>
              <a:rPr lang="ar-SA" altLang="en-US" sz="1500" b="1" dirty="0">
                <a:solidFill>
                  <a:srgbClr val="1B3B6F"/>
                </a:solidFill>
                <a:latin typeface="Amiri" pitchFamily="2" charset="-78"/>
                <a:ea typeface="Amiri" pitchFamily="2" charset="-78"/>
                <a:cs typeface="Amiri" pitchFamily="2" charset="-78"/>
              </a:rPr>
              <a:t>فَائِدَةٌ وَعَيْبٌ → مِنْ نَاحِيَةٍ … وَمِنْ نَاحِيَةٍ أُخْرَى</a:t>
            </a:r>
            <a:endParaRPr lang="ar-SA" sz="1500" dirty="0"/>
          </a:p>
        </p:txBody>
      </p:sp>
      <p:sp>
        <p:nvSpPr>
          <p:cNvPr id="38" name="Text 35"/>
          <p:cNvSpPr txBox="1"/>
          <p:nvPr/>
        </p:nvSpPr>
        <p:spPr>
          <a:xfrm>
            <a:off x="1051560" y="4478731"/>
            <a:ext cx="43891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فَائِدَةٌ وَعَيْبٌ لِلتَّغْيِيرَاتِ.</a:t>
            </a:r>
            <a:endParaRPr lang="ar-SA" sz="1600" dirty="0"/>
          </a:p>
        </p:txBody>
      </p:sp>
      <p:sp>
        <p:nvSpPr>
          <p:cNvPr id="39" name="Text 36"/>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0" name="Shape 37"/>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1" name="Text 38"/>
          <p:cNvSpPr txBox="1"/>
          <p:nvPr/>
        </p:nvSpPr>
        <p:spPr>
          <a:xfrm>
            <a:off x="8750808" y="5215738"/>
            <a:ext cx="29077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you’d change; why</a:t>
            </a:r>
            <a:endParaRPr lang="en-US" sz="1100" dirty="0"/>
          </a:p>
        </p:txBody>
      </p:sp>
      <p:sp>
        <p:nvSpPr>
          <p:cNvPr id="42" name="Text 39"/>
          <p:cNvSpPr txBox="1"/>
          <p:nvPr/>
        </p:nvSpPr>
        <p:spPr>
          <a:xfrm>
            <a:off x="5641848" y="5215738"/>
            <a:ext cx="2926080" cy="682142"/>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2" charset="-78"/>
                <a:ea typeface="Amiri" pitchFamily="2" charset="-78"/>
                <a:cs typeface="Amiri" pitchFamily="2" charset="-78"/>
              </a:rPr>
              <a:t>مَاذَا تُرِيدُ أَنْ تُغَيِّرَ</a:t>
            </a:r>
            <a:pPr algn="l" indent="0" marL="0">
              <a:buNone/>
            </a:pPr>
            <a:r>
              <a:rPr lang="en-US" sz="1100" dirty="0">
                <a:solidFill>
                  <a:srgbClr val="5A6472"/>
                </a:solidFill>
                <a:latin typeface="Calibri" pitchFamily="34" charset="0"/>
                <a:cs typeface="Amiri" pitchFamily="2" charset="-78"/>
              </a:rPr>
              <a:t> → FUTURE / wish + </a:t>
            </a:r>
            <a:pPr algn="l" indent="0" marL="0">
              <a:buNone/>
            </a:pPr>
            <a:r>
              <a:rPr lang="ar-SA" altLang="en-US" sz="1450" dirty="0">
                <a:solidFill>
                  <a:srgbClr val="5A6472"/>
                </a:solidFill>
                <a:latin typeface="Amiri" pitchFamily="2" charset="-78"/>
                <a:ea typeface="Amiri" pitchFamily="2" charset="-78"/>
                <a:cs typeface="Amiri" pitchFamily="2" charset="-78"/>
              </a:rPr>
              <a:t>لَوْ كُنْتُ</a:t>
            </a:r>
            <a:pPr algn="l" indent="0" marL="0">
              <a:buNone/>
            </a:pPr>
            <a:r>
              <a:rPr lang="en-US" sz="1100" dirty="0">
                <a:solidFill>
                  <a:srgbClr val="5A6472"/>
                </a:solidFill>
                <a:latin typeface="Calibri" pitchFamily="34" charset="0"/>
                <a:cs typeface="Amiri" pitchFamily="2" charset="-78"/>
              </a:rPr>
              <a:t> … (la- + past) + </a:t>
            </a:r>
            <a:pPr algn="l" indent="0" marL="0">
              <a:buNone/>
            </a:pPr>
            <a:r>
              <a:rPr lang="ar-SA" altLang="en-US" sz="1450" dirty="0">
                <a:solidFill>
                  <a:srgbClr val="5A6472"/>
                </a:solidFill>
                <a:latin typeface="Amiri" pitchFamily="2" charset="-78"/>
                <a:ea typeface="Amiri" pitchFamily="2" charset="-78"/>
                <a:cs typeface="Amiri" pitchFamily="2" charset="-78"/>
              </a:rPr>
              <a:t>لِأَنَّ</a:t>
            </a:r>
            <a:endParaRPr lang="en-US" sz="1100" dirty="0"/>
          </a:p>
        </p:txBody>
      </p:sp>
      <p:sp>
        <p:nvSpPr>
          <p:cNvPr id="43" name="Text 40"/>
          <p:cNvSpPr txBox="1"/>
          <p:nvPr/>
        </p:nvSpPr>
        <p:spPr>
          <a:xfrm>
            <a:off x="1051560" y="5215738"/>
            <a:ext cx="43891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مَاذَا تُرِيدُ أَنْ تُغَيِّرَ؟ وَلِمَاذَا؟</a:t>
            </a:r>
            <a:endParaRPr lang="ar-SA" sz="1600" dirty="0"/>
          </a:p>
        </p:txBody>
      </p:sp>
      <p:sp>
        <p:nvSpPr>
          <p:cNvPr id="44" name="Text 41"/>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5" name="Text 4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Did you get the tense right for every bullet? Fix your plan before you write.</a:t>
            </a:r>
            <a:endParaRPr lang="en-US" sz="1150" dirty="0"/>
          </a:p>
        </p:txBody>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23</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TC-L11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3 · UPGRADE A SENTENCE · WATCH IT GROW</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From a simple sentence to a strong one</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حَسِّنِ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practice room · TC-L11</a:t>
            </a:r>
            <a:endParaRPr lang="en-US" sz="850" dirty="0"/>
          </a:p>
        </p:txBody>
      </p:sp>
      <p:sp>
        <p:nvSpPr>
          <p:cNvPr id="15" name="Shape 12"/>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123694"/>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12369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مَدِينَتِي جَمِيلَةٌ.</a:t>
            </a:r>
            <a:endParaRPr lang="ar-SA" sz="2600" dirty="0"/>
          </a:p>
        </p:txBody>
      </p:sp>
      <p:sp>
        <p:nvSpPr>
          <p:cNvPr id="19" name="Text 16"/>
          <p:cNvSpPr txBox="1"/>
          <p:nvPr/>
        </p:nvSpPr>
        <p:spPr>
          <a:xfrm>
            <a:off x="685800" y="1856232"/>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Simple</a:t>
            </a:r>
            <a:endParaRPr lang="en-US" sz="1250" dirty="0"/>
          </a:p>
          <a:p>
            <a:pPr indent="0" marL="0">
              <a:buNone/>
            </a:pPr>
            <a:r>
              <a:rPr lang="en-US" sz="1050" i="1" dirty="0">
                <a:solidFill>
                  <a:srgbClr val="8A6D1E"/>
                </a:solidFill>
                <a:latin typeface="Calibri" pitchFamily="34" charset="0"/>
                <a:cs typeface="Amiri" pitchFamily="2" charset="-78"/>
              </a:rPr>
              <a:t>My town is beautiful.</a:t>
            </a:r>
            <a:endParaRPr lang="en-US" sz="1250" dirty="0"/>
          </a:p>
        </p:txBody>
      </p:sp>
      <p:sp>
        <p:nvSpPr>
          <p:cNvPr id="20" name="Shape 17"/>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280410"/>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28041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003804"/>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مَدِينَتِي جَمِيلَةٌ، لِأَنَّهَا تَقَعُ بَيْنَ الجِبَالِ وَالبَحْرِ.</a:t>
            </a:r>
            <a:endParaRPr lang="ar-SA" sz="2600" dirty="0"/>
          </a:p>
        </p:txBody>
      </p:sp>
      <p:sp>
        <p:nvSpPr>
          <p:cNvPr id="24" name="Text 21"/>
          <p:cNvSpPr txBox="1"/>
          <p:nvPr/>
        </p:nvSpPr>
        <p:spPr>
          <a:xfrm>
            <a:off x="685800" y="3012948"/>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 detail (time, frequency, how much)</a:t>
            </a:r>
            <a:endParaRPr lang="en-US" sz="1250" dirty="0"/>
          </a:p>
          <a:p>
            <a:pPr indent="0" marL="0">
              <a:buNone/>
            </a:pPr>
            <a:r>
              <a:rPr lang="en-US" sz="1050" i="1" dirty="0">
                <a:solidFill>
                  <a:srgbClr val="8A6D1E"/>
                </a:solidFill>
                <a:latin typeface="Calibri" pitchFamily="34" charset="0"/>
                <a:cs typeface="Amiri" pitchFamily="2" charset="-78"/>
              </a:rPr>
              <a:t>… because it lies between the mountains and the sea.</a:t>
            </a:r>
            <a:endParaRPr lang="en-US" sz="125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443712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443712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160520"/>
            <a:ext cx="6492240" cy="955548"/>
          </a:xfrm>
          <a:prstGeom prst="rect">
            <a:avLst/>
          </a:prstGeom>
          <a:noFill/>
          <a:ln/>
        </p:spPr>
        <p:txBody>
          <a:bodyPr wrap="square" lIns="0" tIns="0" rIns="0" bIns="0" rtlCol="0" anchor="ctr"/>
          <a:lstStyle/>
          <a:p>
            <a:pPr rtl="1" algn="r" indent="0" marL="0">
              <a:lnSpc>
                <a:spcPct val="120000"/>
              </a:lnSpc>
              <a:buNone/>
            </a:pPr>
            <a:r>
              <a:rPr lang="ar-SA" altLang="en-US" sz="1850" b="1" dirty="0">
                <a:solidFill>
                  <a:srgbClr val="1B3B6F"/>
                </a:solidFill>
                <a:latin typeface="Amiri" pitchFamily="2" charset="-78"/>
                <a:ea typeface="Amiri" pitchFamily="2" charset="-78"/>
                <a:cs typeface="Amiri" pitchFamily="2" charset="-78"/>
              </a:rPr>
              <a:t>… بِالإِضَافَةِ إِلَى ذٰلِكَ، فِيهَا خِدْمَاتٌ مُمْتَازَةٌ؛ وَمَعَ ذٰلِكَ، الشِّتَاءُ فِيهَا بَارِدٌ وَمُمْطِرٌ جِدًّا.</a:t>
            </a:r>
            <a:endParaRPr lang="ar-SA" sz="1850" dirty="0"/>
          </a:p>
        </p:txBody>
      </p:sp>
      <p:sp>
        <p:nvSpPr>
          <p:cNvPr id="29" name="Text 26"/>
          <p:cNvSpPr txBox="1"/>
          <p:nvPr/>
        </p:nvSpPr>
        <p:spPr>
          <a:xfrm>
            <a:off x="685800" y="4169664"/>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 a reason</a:t>
            </a:r>
            <a:endParaRPr lang="en-US" sz="1250" dirty="0"/>
          </a:p>
          <a:p>
            <a:pPr indent="0" marL="0">
              <a:buNone/>
            </a:pPr>
            <a:r>
              <a:rPr lang="en-US" sz="1050" i="1" dirty="0">
                <a:solidFill>
                  <a:srgbClr val="8A6D1E"/>
                </a:solidFill>
                <a:latin typeface="Calibri" pitchFamily="34" charset="0"/>
                <a:cs typeface="Amiri" pitchFamily="2" charset="-78"/>
              </a:rPr>
              <a:t>… in addition it has excellent services; even so, winter there is very cold and wet.</a:t>
            </a:r>
            <a:endParaRPr lang="en-US" sz="1250" dirty="0"/>
          </a:p>
        </p:txBody>
      </p:sp>
      <p:sp>
        <p:nvSpPr>
          <p:cNvPr id="30" name="Shape 27"/>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11201400" y="5593842"/>
            <a:ext cx="402336" cy="402336"/>
          </a:xfrm>
          <a:prstGeom prst="ellipse">
            <a:avLst/>
          </a:prstGeom>
          <a:solidFill>
            <a:srgbClr val="1B3B6F"/>
          </a:solidFill>
          <a:ln w="12700">
            <a:solidFill>
              <a:srgbClr val="1B3B6F"/>
            </a:solidFill>
            <a:prstDash val="solid"/>
          </a:ln>
        </p:spPr>
      </p:sp>
      <p:sp>
        <p:nvSpPr>
          <p:cNvPr id="32" name="Text 29"/>
          <p:cNvSpPr txBox="1"/>
          <p:nvPr/>
        </p:nvSpPr>
        <p:spPr>
          <a:xfrm>
            <a:off x="11201400" y="559384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4</a:t>
            </a:r>
            <a:endParaRPr lang="en-US" sz="1300" dirty="0"/>
          </a:p>
        </p:txBody>
      </p:sp>
      <p:sp>
        <p:nvSpPr>
          <p:cNvPr id="33" name="Text 30"/>
          <p:cNvSpPr txBox="1"/>
          <p:nvPr/>
        </p:nvSpPr>
        <p:spPr>
          <a:xfrm>
            <a:off x="4572000" y="5317236"/>
            <a:ext cx="6492240" cy="955548"/>
          </a:xfrm>
          <a:prstGeom prst="rect">
            <a:avLst/>
          </a:prstGeom>
          <a:noFill/>
          <a:ln/>
        </p:spPr>
        <p:txBody>
          <a:bodyPr wrap="square" lIns="0" tIns="0" rIns="0" bIns="0" rtlCol="0" anchor="ctr"/>
          <a:lstStyle/>
          <a:p>
            <a:pPr rtl="1" algn="r" indent="0" marL="0">
              <a:lnSpc>
                <a:spcPct val="120000"/>
              </a:lnSpc>
              <a:buNone/>
            </a:pPr>
            <a:r>
              <a:rPr lang="ar-SA" altLang="en-US" sz="1850" b="1" dirty="0">
                <a:solidFill>
                  <a:srgbClr val="1B3B6F"/>
                </a:solidFill>
                <a:latin typeface="Amiri" pitchFamily="2" charset="-78"/>
                <a:ea typeface="Amiri" pitchFamily="2" charset="-78"/>
                <a:cs typeface="Amiri" pitchFamily="2" charset="-78"/>
              </a:rPr>
              <a:t>… كُنْتُ أَكْرَهُ المَطَرَ، أَمَّا الآنَ فَأُحِبُّ أَنْ أَمْشِيَ تَحْتَهُ، لِأَنَّهُ يَجْعَلُ كُلَّ شَيْءٍ أَخْضَرَ.</a:t>
            </a:r>
            <a:endParaRPr lang="ar-SA" sz="1850" dirty="0"/>
          </a:p>
        </p:txBody>
      </p:sp>
      <p:sp>
        <p:nvSpPr>
          <p:cNvPr id="34" name="Text 31"/>
          <p:cNvSpPr txBox="1"/>
          <p:nvPr/>
        </p:nvSpPr>
        <p:spPr>
          <a:xfrm>
            <a:off x="685800" y="5326380"/>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 an opinion or a contrast</a:t>
            </a:r>
            <a:endParaRPr lang="en-US" sz="1250" dirty="0"/>
          </a:p>
          <a:p>
            <a:pPr indent="0" marL="0">
              <a:buNone/>
            </a:pPr>
            <a:r>
              <a:rPr lang="en-US" sz="1050" i="1" dirty="0">
                <a:solidFill>
                  <a:srgbClr val="8A6D1E"/>
                </a:solidFill>
                <a:latin typeface="Calibri" pitchFamily="34" charset="0"/>
                <a:cs typeface="Amiri" pitchFamily="2" charset="-78"/>
              </a:rPr>
              <a:t>… I used to hate the rain, but now I like walking in it, because it makes everything green.</a:t>
            </a:r>
            <a:endParaRPr lang="en-US" sz="12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23</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TC-L11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3 · YOUR TURN · BUILD THREE STRONG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Sentence builder: choose A or B in each column</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practice room · TC-L11</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We used to play in the park.</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كُنَّا</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كُنَّا لَعِبْنَا</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نَلْعَبُ</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لَعِبْنَا</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فِي الحَدِيقَةِ</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الحَدِيقَةَ فِي</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If I were rich, I would travel.</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لَوْ كُنْتُ</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إِذَا أَكُونُ</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غَنِيًّا</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غَنِيٌّ</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لَسَافَرْتُ</a:t>
            </a:r>
            <a:endParaRPr lang="ar-SA"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أُسَافِرُ</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Even so, I love my city.</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مَعَ ذٰلِكَ</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لِذٰلِكَ</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أُحِبُّ</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أَحْبَبْتُ</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مَدِينَتِي</a:t>
            </a:r>
            <a:endParaRPr lang="ar-SA"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مَدِينَةٌ</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23</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TC-L11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3 · CHECK YOUR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builder: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practice room · TC-L11</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We used to play in the park.</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“Used to” = </a:t>
            </a:r>
            <a:pPr algn="l" indent="0" marL="0">
              <a:buNone/>
            </a:pPr>
            <a:r>
              <a:rPr lang="ar-SA" altLang="en-US" sz="1350" dirty="0">
                <a:solidFill>
                  <a:srgbClr val="5A6472"/>
                </a:solidFill>
                <a:latin typeface="Amiri" pitchFamily="2" charset="-78"/>
                <a:ea typeface="Amiri" pitchFamily="2" charset="-78"/>
                <a:cs typeface="Amiri" pitchFamily="2" charset="-78"/>
              </a:rPr>
              <a:t>كَانَ</a:t>
            </a:r>
            <a:pPr algn="l" indent="0" marL="0">
              <a:buNone/>
            </a:pPr>
            <a:r>
              <a:rPr lang="en-US" sz="1050" i="1" dirty="0">
                <a:solidFill>
                  <a:srgbClr val="5A6472"/>
                </a:solidFill>
                <a:latin typeface="Calibri" pitchFamily="34" charset="0"/>
                <a:cs typeface="Amiri" pitchFamily="2" charset="-78"/>
              </a:rPr>
              <a:t> (past) + PRESENT verb: </a:t>
            </a:r>
            <a:pPr algn="l" indent="0" marL="0">
              <a:buNone/>
            </a:pPr>
            <a:r>
              <a:rPr lang="ar-SA" altLang="en-US" sz="1350" dirty="0">
                <a:solidFill>
                  <a:srgbClr val="5A6472"/>
                </a:solidFill>
                <a:latin typeface="Amiri" pitchFamily="2" charset="-78"/>
                <a:ea typeface="Amiri" pitchFamily="2" charset="-78"/>
                <a:cs typeface="Amiri" pitchFamily="2" charset="-78"/>
              </a:rPr>
              <a:t>كُنَّا نَلْعَبُ</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كُنَّا نَلْعَبُ فِي الحَدِيقَةِ</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If I were rich, I would travel.</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لَوْ</a:t>
            </a:r>
            <a:pPr algn="l" indent="0" marL="0">
              <a:buNone/>
            </a:pPr>
            <a:r>
              <a:rPr lang="en-US" sz="1050" i="1" dirty="0">
                <a:solidFill>
                  <a:srgbClr val="5A6472"/>
                </a:solidFill>
                <a:latin typeface="Calibri" pitchFamily="34" charset="0"/>
                <a:cs typeface="Amiri" pitchFamily="2" charset="-78"/>
              </a:rPr>
              <a:t> + past, then la- + past; after </a:t>
            </a:r>
            <a:pPr algn="l" indent="0" marL="0">
              <a:buNone/>
            </a:pPr>
            <a:r>
              <a:rPr lang="ar-SA" altLang="en-US" sz="1350" dirty="0">
                <a:solidFill>
                  <a:srgbClr val="5A6472"/>
                </a:solidFill>
                <a:latin typeface="Amiri" pitchFamily="2" charset="-78"/>
                <a:ea typeface="Amiri" pitchFamily="2" charset="-78"/>
                <a:cs typeface="Amiri" pitchFamily="2" charset="-78"/>
              </a:rPr>
              <a:t>كُنْتُ</a:t>
            </a:r>
            <a:pPr algn="l" indent="0" marL="0">
              <a:buNone/>
            </a:pPr>
            <a:r>
              <a:rPr lang="en-US" sz="1050" i="1" dirty="0">
                <a:solidFill>
                  <a:srgbClr val="5A6472"/>
                </a:solidFill>
                <a:latin typeface="Calibri" pitchFamily="34" charset="0"/>
                <a:cs typeface="Amiri" pitchFamily="2" charset="-78"/>
              </a:rPr>
              <a:t> → accusative </a:t>
            </a:r>
            <a:pPr algn="l" indent="0" marL="0">
              <a:buNone/>
            </a:pPr>
            <a:r>
              <a:rPr lang="ar-SA" altLang="en-US" sz="1350" dirty="0">
                <a:solidFill>
                  <a:srgbClr val="5A6472"/>
                </a:solidFill>
                <a:latin typeface="Amiri" pitchFamily="2" charset="-78"/>
                <a:ea typeface="Amiri" pitchFamily="2" charset="-78"/>
                <a:cs typeface="Amiri" pitchFamily="2" charset="-78"/>
              </a:rPr>
              <a:t>غَنِيًّا</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لَوْ كُنْتُ غَنِيًّا لَسَافَرْتُ</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Even so, I love my city.</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“Even so” = </a:t>
            </a:r>
            <a:pPr algn="l" indent="0" marL="0">
              <a:buNone/>
            </a:pPr>
            <a:r>
              <a:rPr lang="ar-SA" altLang="en-US" sz="1350" dirty="0">
                <a:solidFill>
                  <a:srgbClr val="5A6472"/>
                </a:solidFill>
                <a:latin typeface="Amiri" pitchFamily="2" charset="-78"/>
                <a:ea typeface="Amiri" pitchFamily="2" charset="-78"/>
                <a:cs typeface="Amiri" pitchFamily="2" charset="-78"/>
              </a:rPr>
              <a:t>مَعَ ذٰلِكَ</a:t>
            </a:r>
            <a:pPr algn="l" indent="0" marL="0">
              <a:buNone/>
            </a:pPr>
            <a:r>
              <a:rPr lang="en-US" sz="1050" i="1" dirty="0">
                <a:solidFill>
                  <a:srgbClr val="5A6472"/>
                </a:solidFill>
                <a:latin typeface="Calibri" pitchFamily="34" charset="0"/>
                <a:cs typeface="Amiri" pitchFamily="2" charset="-78"/>
              </a:rPr>
              <a:t>; “so / therefore” = </a:t>
            </a:r>
            <a:pPr algn="l" indent="0" marL="0">
              <a:buNone/>
            </a:pPr>
            <a:r>
              <a:rPr lang="ar-SA" altLang="en-US" sz="1350" dirty="0">
                <a:solidFill>
                  <a:srgbClr val="5A6472"/>
                </a:solidFill>
                <a:latin typeface="Amiri" pitchFamily="2" charset="-78"/>
                <a:ea typeface="Amiri" pitchFamily="2" charset="-78"/>
                <a:cs typeface="Amiri" pitchFamily="2" charset="-78"/>
              </a:rPr>
              <a:t>لِذٰلِكَ</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مَعَ ذٰلِكَ أُحِبُّ مَدِينَتِي</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23</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TC-L11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4 · WRITE QUESTION 2 · FRAMES IF YOU NEED THEM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Your frames for Question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practice room · TC-L11</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أَصْبَحَتْ مِنْطَقَتِي ______ ، بِسَبَبِ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1 · My area has become …, because of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lnSpc>
                <a:spcPct val="120000"/>
              </a:lnSpc>
              <a:buNone/>
            </a:pPr>
            <a:r>
              <a:rPr lang="ar-SA" altLang="en-US" sz="1150" b="1" dirty="0">
                <a:solidFill>
                  <a:srgbClr val="1B3B6F"/>
                </a:solidFill>
                <a:latin typeface="Amiri" pitchFamily="2" charset="-78"/>
                <a:ea typeface="Amiri" pitchFamily="2" charset="-78"/>
                <a:cs typeface="Amiri" pitchFamily="2" charset="-78"/>
              </a:rPr>
              <a:t>عِنْدَمَا كُنْتُ صَغِيرًا، كَانَتْ هُنَاكَ ______ ، وَلَمْ يَكُنْ هُنَاكَ ______ .</a:t>
            </a:r>
            <a:endParaRPr lang="ar-SA" sz="115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2 · When I was little there was …, and there was no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مِنْ نَاحِيَةٍ ______ ، وَمِنْ نَاحِيَةٍ أُخْرَى ______ .</a:t>
            </a:r>
            <a:endParaRPr lang="ar-SA" sz="16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3 · On one hand …, on the other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550" b="1" dirty="0">
                <a:solidFill>
                  <a:srgbClr val="1B3B6F"/>
                </a:solidFill>
                <a:latin typeface="Amiri" pitchFamily="2" charset="-78"/>
                <a:ea typeface="Amiri" pitchFamily="2" charset="-78"/>
                <a:cs typeface="Amiri" pitchFamily="2" charset="-78"/>
              </a:rPr>
              <a:t>لَوْ كُنْتُ مَسْؤُولًا، لَبَنَيْتُ ______ ، لِكَيْ ______ .</a:t>
            </a:r>
            <a:endParaRPr lang="ar-SA" sz="155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4 · If I were in charge, I would build …, so that …</a:t>
            </a:r>
            <a:endParaRPr lang="en-US" sz="1050" dirty="0"/>
          </a:p>
        </p:txBody>
      </p:sp>
      <p:sp>
        <p:nvSpPr>
          <p:cNvPr id="26" name="Shape 23"/>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9" name="Text 26"/>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مِنْطَقَتِي بَيْنَ الأَمْسِ وَاليَوْمِ</a:t>
            </a:r>
            <a:endParaRPr lang="ar-SA" sz="1800" dirty="0"/>
          </a:p>
        </p:txBody>
      </p:sp>
      <p:sp>
        <p:nvSpPr>
          <p:cNvPr id="30" name="Text 27"/>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Title: My area — then and now</a:t>
            </a:r>
            <a:endParaRPr lang="en-US" sz="1050" dirty="0"/>
          </a:p>
        </p:txBody>
      </p:sp>
      <p:sp>
        <p:nvSpPr>
          <p:cNvPr id="31" name="Text 28"/>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550" b="1" dirty="0">
                <a:solidFill>
                  <a:srgbClr val="1B3B6F"/>
                </a:solidFill>
                <a:latin typeface="Amiri" pitchFamily="2" charset="-78"/>
                <a:ea typeface="Amiri" pitchFamily="2" charset="-78"/>
                <a:cs typeface="Amiri" pitchFamily="2" charset="-78"/>
              </a:rPr>
              <a:t>تَقَعُ مِنْطَقَتِي فِي ______ ، وَفِيهَا الآنَ ______ .</a:t>
            </a:r>
            <a:endParaRPr lang="ar-SA" sz="1550" dirty="0"/>
          </a:p>
        </p:txBody>
      </p:sp>
      <p:sp>
        <p:nvSpPr>
          <p:cNvPr id="32" name="Text 29"/>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1 · My area is in …, and now it has …</a:t>
            </a:r>
            <a:endParaRPr lang="en-US" sz="1050" dirty="0"/>
          </a:p>
        </p:txBody>
      </p:sp>
      <p:sp>
        <p:nvSpPr>
          <p:cNvPr id="33" name="Text 30"/>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المَاضِي كَانَتْ ______ ، وَكُنَّا ______ .</a:t>
            </a:r>
            <a:endParaRPr lang="ar-SA" sz="1800" dirty="0"/>
          </a:p>
        </p:txBody>
      </p:sp>
      <p:sp>
        <p:nvSpPr>
          <p:cNvPr id="34" name="Text 31"/>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2 · In the past it was …, and we used to …</a:t>
            </a:r>
            <a:endParaRPr lang="en-US" sz="1050" dirty="0"/>
          </a:p>
        </p:txBody>
      </p:sp>
      <p:sp>
        <p:nvSpPr>
          <p:cNvPr id="35" name="Text 32"/>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التَّغْيِيرُ جَيِّدٌ لِأَنَّ ______ ، لٰكِنَّ ______ .</a:t>
            </a:r>
            <a:endParaRPr lang="ar-SA" sz="1800" dirty="0"/>
          </a:p>
        </p:txBody>
      </p:sp>
      <p:sp>
        <p:nvSpPr>
          <p:cNvPr id="36" name="Text 33"/>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3 · The change is good because …, but …</a:t>
            </a:r>
            <a:endParaRPr lang="en-US" sz="1050" dirty="0"/>
          </a:p>
        </p:txBody>
      </p:sp>
      <p:sp>
        <p:nvSpPr>
          <p:cNvPr id="37" name="Text 34"/>
          <p:cNvSpPr txBox="1"/>
          <p:nvPr/>
        </p:nvSpPr>
        <p:spPr>
          <a:xfrm>
            <a:off x="8202168"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أُرِيدُ أَنْ ______ ، لِأَنَّ ______ .</a:t>
            </a:r>
            <a:endParaRPr lang="ar-SA" sz="1800" dirty="0"/>
          </a:p>
        </p:txBody>
      </p:sp>
      <p:sp>
        <p:nvSpPr>
          <p:cNvPr id="38" name="Text 35"/>
          <p:cNvSpPr txBox="1"/>
          <p:nvPr/>
        </p:nvSpPr>
        <p:spPr>
          <a:xfrm>
            <a:off x="6327648"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4 · I want to …, because …</a:t>
            </a:r>
            <a:endParaRPr lang="en-US" sz="1050" dirty="0"/>
          </a:p>
        </p:txBody>
      </p:sp>
      <p:sp>
        <p:nvSpPr>
          <p:cNvPr id="39" name="Shape 36"/>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41" name="Text 38"/>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أَوَّلًا · ثَانِيًا  ·  بِالإِضَافَةِ إِلَى ذٰلِكَ  ·  مَعَ ذٰلِكَ  ·  مِنْ نَاحِيَةٍ … وَمِنْ نَاحِيَةٍ أُخْرَى  ·  كُنَّا نَلْعَبُ  ·  أَصْبَحَ · أَصْبَحَتْ  ·  بِسَبَبِ  ·  لَوْ كُنْتُ … لَبَنَيْتُ</a:t>
            </a:r>
            <a:endParaRPr lang="ar-SA" sz="16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23</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TC-L11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4 · WRITE, THEN SWAP · 14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Question 2 — bullet by bullet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اكْتُبْ ثُمَّ بَادِلْ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practice room · TC-L11</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4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Two rounds of writing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Round 1 (6 min): write bullets 1 and 2. SWAP: your buddy reads and ticks “bullet covered?”. Round 2 (6 min): write bullets 3 and 4 and your closing. SWAP again.</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Start with a greeting; end with a closing and a question.</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One short paragraph per bullet — tick it off your plan.</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Use at least one upgrade from Step 3 in every paragraph.</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Count your words: about 80–90.</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Use the Core frames. Aim for 60–70 words, every bullet covered.</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Develop frames only if stuck. Add a reason and a time word to every bullet. 80–90 words.</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No frames. Add a contrast (</a:t>
            </a:r>
            <a:pPr algn="l" indent="0" marL="0">
              <a:buNone/>
            </a:pPr>
            <a:r>
              <a:rPr lang="ar-SA" altLang="en-US" sz="1500" dirty="0">
                <a:solidFill>
                  <a:srgbClr val="1F2A37"/>
                </a:solidFill>
                <a:latin typeface="Amiri" pitchFamily="2" charset="-78"/>
                <a:ea typeface="Amiri" pitchFamily="2" charset="-78"/>
                <a:cs typeface="Amiri" pitchFamily="2" charset="-78"/>
              </a:rPr>
              <a:t>لٰكِنَّ</a:t>
            </a:r>
            <a:pPr algn="l" indent="0" marL="0">
              <a:buNone/>
            </a:pPr>
            <a:r>
              <a:rPr lang="en-US" sz="1150" dirty="0">
                <a:solidFill>
                  <a:srgbClr val="1F2A37"/>
                </a:solidFill>
                <a:latin typeface="Calibri" pitchFamily="34" charset="0"/>
                <a:cs typeface="Amiri" pitchFamily="2" charset="-78"/>
              </a:rPr>
              <a:t>) and a future plan. Up to 90 words, with no errors.</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أَوَّلًا · ثُمَّ · بَعْدَ ذٰلِكَ</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first · then · after that</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لِأَنَّ · لِذٰلِكَ</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because · so</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لٰكِنَّ · وَلٰكِنْ</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but</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فِي رَأْيِي</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in my opinion</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23</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TC-L11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5 · SPOT AND FIX · MISTAKES STUDENTS OFTEN MAKE IN THIS TOPIC</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Find the mistake, fix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practice room · TC-L11</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عِنْدَمَا كُنْتُ صَغِيرًا كُنْتُ لَعِبْتُ فِي الشَّارِعِ.</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“Used to” = past + which tense?</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لَوْ كُنْتُ رَئِيسًا، أَبْنِي مَسْبَحًا.</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The second half of </a:t>
            </a:r>
            <a:pPr algn="l" indent="0" marL="0">
              <a:buNone/>
            </a:pPr>
            <a:r>
              <a:rPr lang="ar-SA" altLang="en-US" sz="1700" dirty="0">
                <a:solidFill>
                  <a:srgbClr val="5A6472"/>
                </a:solidFill>
                <a:latin typeface="Amiri" pitchFamily="2" charset="-78"/>
                <a:ea typeface="Amiri" pitchFamily="2" charset="-78"/>
                <a:cs typeface="Amiri" pitchFamily="2" charset="-78"/>
              </a:rPr>
              <a:t>لَوْ</a:t>
            </a:r>
            <a:pPr algn="l" indent="0" marL="0">
              <a:buNone/>
            </a:pPr>
            <a:r>
              <a:rPr lang="en-US" sz="1300" i="1" dirty="0">
                <a:solidFill>
                  <a:srgbClr val="5A6472"/>
                </a:solidFill>
                <a:latin typeface="Calibri" pitchFamily="34" charset="0"/>
                <a:cs typeface="Amiri" pitchFamily="2" charset="-78"/>
              </a:rPr>
              <a:t> needs a partner.</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مِنْ نَاحِيَةٍ المَدِينَةُ مُزْدَحِمَةٌ، وَمِنْ نَاحِيَةٍ هِيَ مُمْتِعَةٌ.</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The second half needs one more word.</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23</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TC-L11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5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Spot and fix: corrections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practice room · TC-L11</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lnSpc>
                <a:spcPct val="120000"/>
              </a:lnSpc>
              <a:buNone/>
            </a:pPr>
            <a:r>
              <a:rPr lang="ar-SA" altLang="en-US" sz="1800" b="1" dirty="0">
                <a:solidFill>
                  <a:srgbClr val="B83227"/>
                </a:solidFill>
                <a:latin typeface="Amiri" pitchFamily="2" charset="-78"/>
                <a:ea typeface="Amiri" pitchFamily="2" charset="-78"/>
                <a:cs typeface="Amiri" pitchFamily="2" charset="-78"/>
              </a:rPr>
              <a:t>عِنْدَمَا كُنْتُ صَغِيرًا كُنْتُ لَعِبْتُ فِي الشَّارِعِ.</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عِنْدَمَا كُنْتُ صَغِيرًا كُنْتُ أَلْعَبُ فِي الشَّارِعِ.</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كُنْتُ</a:t>
            </a:r>
            <a:pPr algn="l" indent="0" marL="0">
              <a:buNone/>
            </a:pPr>
            <a:r>
              <a:rPr lang="en-US" sz="1150" b="1" dirty="0">
                <a:solidFill>
                  <a:srgbClr val="1B3B6F"/>
                </a:solidFill>
                <a:latin typeface="Calibri" pitchFamily="34" charset="0"/>
                <a:cs typeface="Amiri" pitchFamily="2" charset="-78"/>
              </a:rPr>
              <a:t> + PRESENT verb: </a:t>
            </a:r>
            <a:pPr algn="l" indent="0" marL="0">
              <a:buNone/>
            </a:pPr>
            <a:r>
              <a:rPr lang="ar-SA" altLang="en-US" sz="1500" b="1" dirty="0">
                <a:solidFill>
                  <a:srgbClr val="1B3B6F"/>
                </a:solidFill>
                <a:latin typeface="Amiri" pitchFamily="2" charset="-78"/>
                <a:ea typeface="Amiri" pitchFamily="2" charset="-78"/>
                <a:cs typeface="Amiri" pitchFamily="2" charset="-78"/>
              </a:rPr>
              <a:t>كُنْتُ أَلْعَبُ</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لَوْ كُنْتُ رَئِيسًا، أَبْنِي مَسْبَحًا.</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لَوْ كُنْتُ رَئِيسًا، لَبَنَيْتُ مَسْبَحًا.</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لَوْ</a:t>
            </a:r>
            <a:pPr algn="l" indent="0" marL="0">
              <a:buNone/>
            </a:pPr>
            <a:r>
              <a:rPr lang="en-US" sz="1150" b="1" dirty="0">
                <a:solidFill>
                  <a:srgbClr val="1B3B6F"/>
                </a:solidFill>
                <a:latin typeface="Calibri" pitchFamily="34" charset="0"/>
                <a:cs typeface="Amiri" pitchFamily="2" charset="-78"/>
              </a:rPr>
              <a:t> … then la- + past verb: </a:t>
            </a:r>
            <a:pPr algn="l" indent="0" marL="0">
              <a:buNone/>
            </a:pPr>
            <a:r>
              <a:rPr lang="ar-SA" altLang="en-US" sz="1500" b="1" dirty="0">
                <a:solidFill>
                  <a:srgbClr val="1B3B6F"/>
                </a:solidFill>
                <a:latin typeface="Amiri" pitchFamily="2" charset="-78"/>
                <a:ea typeface="Amiri" pitchFamily="2" charset="-78"/>
                <a:cs typeface="Amiri" pitchFamily="2" charset="-78"/>
              </a:rPr>
              <a:t>لَبَنَيْتُ</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lnSpc>
                <a:spcPct val="120000"/>
              </a:lnSpc>
              <a:buNone/>
            </a:pPr>
            <a:r>
              <a:rPr lang="ar-SA" altLang="en-US" sz="1800" b="1" dirty="0">
                <a:solidFill>
                  <a:srgbClr val="B83227"/>
                </a:solidFill>
                <a:latin typeface="Amiri" pitchFamily="2" charset="-78"/>
                <a:ea typeface="Amiri" pitchFamily="2" charset="-78"/>
                <a:cs typeface="Amiri" pitchFamily="2" charset="-78"/>
              </a:rPr>
              <a:t>مِنْ نَاحِيَةٍ المَدِينَةُ مُزْدَحِمَةٌ، وَمِنْ نَاحِيَةٍ هِيَ مُمْتِعَةٌ.</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lnSpc>
                <a:spcPct val="120000"/>
              </a:lnSpc>
              <a:buNone/>
            </a:pPr>
            <a:r>
              <a:rPr lang="ar-SA" altLang="en-US" sz="2100" b="1" dirty="0">
                <a:solidFill>
                  <a:srgbClr val="1E6B52"/>
                </a:solidFill>
                <a:latin typeface="Amiri" pitchFamily="2" charset="-78"/>
                <a:ea typeface="Amiri" pitchFamily="2" charset="-78"/>
                <a:cs typeface="Amiri" pitchFamily="2" charset="-78"/>
              </a:rPr>
              <a:t>مِنْ نَاحِيَةٍ المَدِينَةُ مُزْدَحِمَةٌ، وَمِنْ نَاحِيَةٍ أُخْرَى هِيَ مُمْتِعَةٌ.</a:t>
            </a:r>
            <a:endParaRPr lang="ar-SA" sz="21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The pair is </a:t>
            </a:r>
            <a:pPr algn="l" indent="0" marL="0">
              <a:buNone/>
            </a:pPr>
            <a:r>
              <a:rPr lang="ar-SA" altLang="en-US" sz="1500" b="1" dirty="0">
                <a:solidFill>
                  <a:srgbClr val="1B3B6F"/>
                </a:solidFill>
                <a:latin typeface="Amiri" pitchFamily="2" charset="-78"/>
                <a:ea typeface="Amiri" pitchFamily="2" charset="-78"/>
                <a:cs typeface="Amiri" pitchFamily="2" charset="-78"/>
              </a:rPr>
              <a:t>مِنْ نَاحِيَةٍ … وَمِنْ نَاحِيَةٍ أُخْرَى</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23</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TC-L11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5 · BUDDY CHECK · READ YOUR BUDDY’S Q2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Buddy check: five points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رَاجِعْ مَعَ زَمِيلِكَ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practice room · TC-L11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Line / example</a:t>
            </a:r>
            <a:endParaRPr lang="en-US" sz="1100" dirty="0"/>
          </a:p>
        </p:txBody>
      </p:sp>
      <p:sp>
        <p:nvSpPr>
          <p:cNvPr id="17" name="Text 14"/>
          <p:cNvSpPr txBox="1"/>
          <p:nvPr/>
        </p:nvSpPr>
        <p:spPr>
          <a:xfrm>
            <a:off x="78455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 / ✗</a:t>
            </a:r>
            <a:endParaRPr lang="en-US" sz="1100" dirty="0"/>
          </a:p>
        </p:txBody>
      </p:sp>
      <p:sp>
        <p:nvSpPr>
          <p:cNvPr id="18" name="Text 15"/>
          <p:cNvSpPr txBox="1"/>
          <p:nvPr/>
        </p:nvSpPr>
        <p:spPr>
          <a:xfrm>
            <a:off x="656539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Route</a:t>
            </a:r>
            <a:endParaRPr lang="en-US" sz="1100" dirty="0"/>
          </a:p>
        </p:txBody>
      </p:sp>
      <p:sp>
        <p:nvSpPr>
          <p:cNvPr id="19" name="Text 16"/>
          <p:cNvSpPr txBox="1"/>
          <p:nvPr/>
        </p:nvSpPr>
        <p:spPr>
          <a:xfrm>
            <a:off x="5303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Did the writer …</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96528" y="2267712"/>
            <a:ext cx="2862072" cy="682142"/>
          </a:xfrm>
          <a:prstGeom prst="rect">
            <a:avLst/>
          </a:prstGeom>
          <a:noFill/>
          <a:ln/>
        </p:spPr>
        <p:txBody>
          <a:bodyPr wrap="square" lIns="0" tIns="0" rIns="0" bIns="0" rtlCol="0" anchor="ctr"/>
          <a:lstStyle/>
          <a:p>
            <a:pPr algn="l" indent="0" marL="0">
              <a:buNone/>
            </a:pPr>
            <a:endParaRPr lang="en-US" sz="1100" dirty="0"/>
          </a:p>
        </p:txBody>
      </p:sp>
      <p:sp>
        <p:nvSpPr>
          <p:cNvPr id="22" name="Text 19"/>
          <p:cNvSpPr txBox="1"/>
          <p:nvPr/>
        </p:nvSpPr>
        <p:spPr>
          <a:xfrm>
            <a:off x="7882128" y="2267712"/>
            <a:ext cx="731520" cy="682142"/>
          </a:xfrm>
          <a:prstGeom prst="rect">
            <a:avLst/>
          </a:prstGeom>
          <a:noFill/>
          <a:ln/>
        </p:spPr>
        <p:txBody>
          <a:bodyPr wrap="square" lIns="0" tIns="0" rIns="0" bIns="0" rtlCol="0" anchor="ctr"/>
          <a:lstStyle/>
          <a:p>
            <a:pPr algn="l" indent="0" marL="0">
              <a:buNone/>
            </a:pPr>
            <a:endParaRPr lang="en-US" sz="1100" dirty="0"/>
          </a:p>
        </p:txBody>
      </p:sp>
      <p:sp>
        <p:nvSpPr>
          <p:cNvPr id="23" name="Text 20"/>
          <p:cNvSpPr txBox="1"/>
          <p:nvPr/>
        </p:nvSpPr>
        <p:spPr>
          <a:xfrm>
            <a:off x="6601968" y="2267712"/>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24" name="Text 21"/>
          <p:cNvSpPr txBox="1"/>
          <p:nvPr/>
        </p:nvSpPr>
        <p:spPr>
          <a:xfrm>
            <a:off x="566928" y="2267712"/>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ALL four bullets (one paragraph each)?</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796528" y="3004718"/>
            <a:ext cx="2862072" cy="682142"/>
          </a:xfrm>
          <a:prstGeom prst="rect">
            <a:avLst/>
          </a:prstGeom>
          <a:noFill/>
          <a:ln/>
        </p:spPr>
        <p:txBody>
          <a:bodyPr wrap="square" lIns="0" tIns="0" rIns="0" bIns="0" rtlCol="0" anchor="ctr"/>
          <a:lstStyle/>
          <a:p>
            <a:pPr algn="l" indent="0" marL="0">
              <a:buNone/>
            </a:pPr>
            <a:endParaRPr lang="en-US" sz="1100" dirty="0"/>
          </a:p>
        </p:txBody>
      </p:sp>
      <p:sp>
        <p:nvSpPr>
          <p:cNvPr id="29" name="Text 26"/>
          <p:cNvSpPr txBox="1"/>
          <p:nvPr/>
        </p:nvSpPr>
        <p:spPr>
          <a:xfrm>
            <a:off x="7882128" y="3004718"/>
            <a:ext cx="731520" cy="682142"/>
          </a:xfrm>
          <a:prstGeom prst="rect">
            <a:avLst/>
          </a:prstGeom>
          <a:noFill/>
          <a:ln/>
        </p:spPr>
        <p:txBody>
          <a:bodyPr wrap="square" lIns="0" tIns="0" rIns="0" bIns="0" rtlCol="0" anchor="ctr"/>
          <a:lstStyle/>
          <a:p>
            <a:pPr algn="l" indent="0" marL="0">
              <a:buNone/>
            </a:pPr>
            <a:endParaRPr lang="en-US" sz="1100" dirty="0"/>
          </a:p>
        </p:txBody>
      </p:sp>
      <p:sp>
        <p:nvSpPr>
          <p:cNvPr id="30" name="Text 27"/>
          <p:cNvSpPr txBox="1"/>
          <p:nvPr/>
        </p:nvSpPr>
        <p:spPr>
          <a:xfrm>
            <a:off x="6601968" y="300471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31" name="Text 28"/>
          <p:cNvSpPr txBox="1"/>
          <p:nvPr/>
        </p:nvSpPr>
        <p:spPr>
          <a:xfrm>
            <a:off x="566928" y="300471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the right verb ending (I · we) and the right tense for each bullet?</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796528" y="3741725"/>
            <a:ext cx="2862072" cy="682142"/>
          </a:xfrm>
          <a:prstGeom prst="rect">
            <a:avLst/>
          </a:prstGeom>
          <a:noFill/>
          <a:ln/>
        </p:spPr>
        <p:txBody>
          <a:bodyPr wrap="square" lIns="0" tIns="0" rIns="0" bIns="0" rtlCol="0" anchor="ctr"/>
          <a:lstStyle/>
          <a:p>
            <a:pPr algn="l" indent="0" marL="0">
              <a:buNone/>
            </a:pPr>
            <a:endParaRPr lang="en-US" sz="1100" dirty="0"/>
          </a:p>
        </p:txBody>
      </p:sp>
      <p:sp>
        <p:nvSpPr>
          <p:cNvPr id="36" name="Text 33"/>
          <p:cNvSpPr txBox="1"/>
          <p:nvPr/>
        </p:nvSpPr>
        <p:spPr>
          <a:xfrm>
            <a:off x="7882128" y="3741725"/>
            <a:ext cx="731520" cy="682142"/>
          </a:xfrm>
          <a:prstGeom prst="rect">
            <a:avLst/>
          </a:prstGeom>
          <a:noFill/>
          <a:ln/>
        </p:spPr>
        <p:txBody>
          <a:bodyPr wrap="square" lIns="0" tIns="0" rIns="0" bIns="0" rtlCol="0" anchor="ctr"/>
          <a:lstStyle/>
          <a:p>
            <a:pPr algn="l" indent="0" marL="0">
              <a:buNone/>
            </a:pPr>
            <a:endParaRPr lang="en-US" sz="1100" dirty="0"/>
          </a:p>
        </p:txBody>
      </p:sp>
      <p:sp>
        <p:nvSpPr>
          <p:cNvPr id="37" name="Text 34"/>
          <p:cNvSpPr txBox="1"/>
          <p:nvPr/>
        </p:nvSpPr>
        <p:spPr>
          <a:xfrm>
            <a:off x="6601968" y="3741725"/>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38" name="Text 35"/>
          <p:cNvSpPr txBox="1"/>
          <p:nvPr/>
        </p:nvSpPr>
        <p:spPr>
          <a:xfrm>
            <a:off x="566928" y="3741725"/>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make adjectives agree (m. / f. / non-human plural)?</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796528" y="4478731"/>
            <a:ext cx="2862072" cy="682142"/>
          </a:xfrm>
          <a:prstGeom prst="rect">
            <a:avLst/>
          </a:prstGeom>
          <a:noFill/>
          <a:ln/>
        </p:spPr>
        <p:txBody>
          <a:bodyPr wrap="square" lIns="0" tIns="0" rIns="0" bIns="0" rtlCol="0" anchor="ctr"/>
          <a:lstStyle/>
          <a:p>
            <a:pPr algn="l" indent="0" marL="0">
              <a:buNone/>
            </a:pPr>
            <a:endParaRPr lang="en-US" sz="1100" dirty="0"/>
          </a:p>
        </p:txBody>
      </p:sp>
      <p:sp>
        <p:nvSpPr>
          <p:cNvPr id="41" name="Text 38"/>
          <p:cNvSpPr txBox="1"/>
          <p:nvPr/>
        </p:nvSpPr>
        <p:spPr>
          <a:xfrm>
            <a:off x="7882128" y="4478731"/>
            <a:ext cx="731520" cy="682142"/>
          </a:xfrm>
          <a:prstGeom prst="rect">
            <a:avLst/>
          </a:prstGeom>
          <a:noFill/>
          <a:ln/>
        </p:spPr>
        <p:txBody>
          <a:bodyPr wrap="square" lIns="0" tIns="0" rIns="0" bIns="0" rtlCol="0" anchor="ctr"/>
          <a:lstStyle/>
          <a:p>
            <a:pPr algn="l" indent="0" marL="0">
              <a:buNone/>
            </a:pPr>
            <a:endParaRPr lang="en-US" sz="1100" dirty="0"/>
          </a:p>
        </p:txBody>
      </p:sp>
      <p:sp>
        <p:nvSpPr>
          <p:cNvPr id="42" name="Text 39"/>
          <p:cNvSpPr txBox="1"/>
          <p:nvPr/>
        </p:nvSpPr>
        <p:spPr>
          <a:xfrm>
            <a:off x="6601968" y="4478731"/>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43" name="Text 40"/>
          <p:cNvSpPr txBox="1"/>
          <p:nvPr/>
        </p:nvSpPr>
        <p:spPr>
          <a:xfrm>
            <a:off x="566928" y="4478731"/>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linking words and give at least two reasons?</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796528" y="5215738"/>
            <a:ext cx="2862072" cy="682142"/>
          </a:xfrm>
          <a:prstGeom prst="rect">
            <a:avLst/>
          </a:prstGeom>
          <a:noFill/>
          <a:ln/>
        </p:spPr>
        <p:txBody>
          <a:bodyPr wrap="square" lIns="0" tIns="0" rIns="0" bIns="0" rtlCol="0" anchor="ctr"/>
          <a:lstStyle/>
          <a:p>
            <a:pPr algn="l" indent="0" marL="0">
              <a:buNone/>
            </a:pPr>
            <a:endParaRPr lang="en-US" sz="1100" dirty="0"/>
          </a:p>
        </p:txBody>
      </p:sp>
      <p:sp>
        <p:nvSpPr>
          <p:cNvPr id="46" name="Text 43"/>
          <p:cNvSpPr txBox="1"/>
          <p:nvPr/>
        </p:nvSpPr>
        <p:spPr>
          <a:xfrm>
            <a:off x="7882128" y="5215738"/>
            <a:ext cx="731520" cy="682142"/>
          </a:xfrm>
          <a:prstGeom prst="rect">
            <a:avLst/>
          </a:prstGeom>
          <a:noFill/>
          <a:ln/>
        </p:spPr>
        <p:txBody>
          <a:bodyPr wrap="square" lIns="0" tIns="0" rIns="0" bIns="0" rtlCol="0" anchor="ctr"/>
          <a:lstStyle/>
          <a:p>
            <a:pPr algn="l" indent="0" marL="0">
              <a:buNone/>
            </a:pPr>
            <a:endParaRPr lang="en-US" sz="1100" dirty="0"/>
          </a:p>
        </p:txBody>
      </p:sp>
      <p:sp>
        <p:nvSpPr>
          <p:cNvPr id="47" name="Text 44"/>
          <p:cNvSpPr txBox="1"/>
          <p:nvPr/>
        </p:nvSpPr>
        <p:spPr>
          <a:xfrm>
            <a:off x="6601968" y="521573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Stretch</a:t>
            </a:r>
            <a:endParaRPr lang="en-US" sz="1100" dirty="0"/>
          </a:p>
        </p:txBody>
      </p:sp>
      <p:sp>
        <p:nvSpPr>
          <p:cNvPr id="48" name="Text 45"/>
          <p:cNvSpPr txBox="1"/>
          <p:nvPr/>
        </p:nvSpPr>
        <p:spPr>
          <a:xfrm>
            <a:off x="566928" y="521573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past, present AND future, and give an opinion?</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Give back: one WWW + one EBI. The writer fixes ONE thing straight away.</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23</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TC-L11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6 · QUESTION 3 · HOW TO BUILD ONE STRONG PARAGRAPH</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00" b="1" dirty="0">
                <a:solidFill>
                  <a:srgbClr val="1B3B6F"/>
                </a:solidFill>
                <a:latin typeface="Cambria" pitchFamily="34" charset="0"/>
                <a:cs typeface="Amiri" pitchFamily="2" charset="-78"/>
              </a:rPr>
              <a:t>The paragraph formula: T · D · R · F</a:t>
            </a:r>
            <a:endParaRPr lang="en-US" sz="26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كَيْفَ تَكْتُبُ فِقْرَةً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practice room · TC-L11</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FOUR PARTS</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T — TOPIC sentence: say what the paragraph is about.</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D — DETAILS: what, when, where, with whom (two sentences).</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R — REASON: why? (</a:t>
            </a:r>
            <a:pPr algn="l" indent="0" marL="0">
              <a:buNone/>
            </a:pPr>
            <a:r>
              <a:rPr lang="ar-SA" altLang="en-US" sz="1700" dirty="0">
                <a:solidFill>
                  <a:srgbClr val="1F2A37"/>
                </a:solidFill>
                <a:latin typeface="Amiri" pitchFamily="2" charset="-78"/>
                <a:ea typeface="Amiri" pitchFamily="2" charset="-78"/>
                <a:cs typeface="Amiri" pitchFamily="2" charset="-78"/>
              </a:rPr>
              <a:t>لِأَنَّ … / لِذٰلِكَ</a:t>
            </a:r>
            <a:pPr algn="l" indent="0" marL="0">
              <a:buNone/>
            </a:pPr>
            <a:r>
              <a:rPr lang="en-US" sz="1300" dirty="0">
                <a:solidFill>
                  <a:srgbClr val="1F2A37"/>
                </a:solidFill>
                <a:latin typeface="Calibri" pitchFamily="34" charset="0"/>
                <a:cs typeface="Amiri" pitchFamily="2" charset="-78"/>
              </a:rPr>
              <a:t> …)</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F — FEELING or opinion, and (Stretch) a link to the future.</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FORMULA IN ACTION</a:t>
            </a:r>
            <a:endParaRPr lang="en-US" sz="1000" dirty="0"/>
          </a:p>
        </p:txBody>
      </p:sp>
      <p:sp>
        <p:nvSpPr>
          <p:cNvPr id="31" name="Text 28"/>
          <p:cNvSpPr txBox="1"/>
          <p:nvPr/>
        </p:nvSpPr>
        <p:spPr>
          <a:xfrm>
            <a:off x="6949440" y="2194560"/>
            <a:ext cx="4645152" cy="570951"/>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ea typeface="Amiri" pitchFamily="2" charset="-78"/>
                <a:cs typeface="Amiri" pitchFamily="2" charset="-78"/>
              </a:rPr>
              <a:t>عِنْدَمَا كُنْتُ صَغِيرًا، كَانَ الشَّاطِئُ قُرْبَ بَيْتِ خَالِي نَظِيفًا.</a:t>
            </a:r>
            <a:endParaRPr lang="ar-SA" sz="1950" dirty="0"/>
          </a:p>
        </p:txBody>
      </p:sp>
      <p:sp>
        <p:nvSpPr>
          <p:cNvPr id="32" name="Text 29"/>
          <p:cNvSpPr txBox="1"/>
          <p:nvPr/>
        </p:nvSpPr>
        <p:spPr>
          <a:xfrm>
            <a:off x="6949440" y="2765511"/>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T · When I was little, the beach near my uncle’s house was clean.</a:t>
            </a:r>
            <a:endParaRPr lang="en-US" sz="1100" dirty="0"/>
          </a:p>
        </p:txBody>
      </p:sp>
      <p:sp>
        <p:nvSpPr>
          <p:cNvPr id="33" name="Shape 30"/>
          <p:cNvSpPr/>
          <p:nvPr/>
        </p:nvSpPr>
        <p:spPr>
          <a:xfrm>
            <a:off x="6995160" y="3195828"/>
            <a:ext cx="4553712" cy="0"/>
          </a:xfrm>
          <a:prstGeom prst="line">
            <a:avLst/>
          </a:prstGeom>
          <a:noFill/>
          <a:ln w="9525">
            <a:solidFill>
              <a:srgbClr val="E4DCCB"/>
            </a:solidFill>
            <a:prstDash val="dash"/>
          </a:ln>
        </p:spPr>
      </p:sp>
      <p:sp>
        <p:nvSpPr>
          <p:cNvPr id="34" name="Text 31"/>
          <p:cNvSpPr txBox="1"/>
          <p:nvPr/>
        </p:nvSpPr>
        <p:spPr>
          <a:xfrm>
            <a:off x="6949440" y="3214116"/>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كُنَّا نَسْبَحُ فِيهِ، وَنَجْمَعُ الأَصْدَافَ.</a:t>
            </a:r>
            <a:endParaRPr lang="ar-SA" sz="2650" dirty="0"/>
          </a:p>
        </p:txBody>
      </p:sp>
      <p:sp>
        <p:nvSpPr>
          <p:cNvPr id="35" name="Text 32"/>
          <p:cNvSpPr txBox="1"/>
          <p:nvPr/>
        </p:nvSpPr>
        <p:spPr>
          <a:xfrm>
            <a:off x="6949440" y="3785067"/>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D · We used to swim there and collect shells.</a:t>
            </a:r>
            <a:endParaRPr lang="en-US" sz="1100" dirty="0"/>
          </a:p>
        </p:txBody>
      </p:sp>
      <p:sp>
        <p:nvSpPr>
          <p:cNvPr id="36" name="Shape 33"/>
          <p:cNvSpPr/>
          <p:nvPr/>
        </p:nvSpPr>
        <p:spPr>
          <a:xfrm>
            <a:off x="6995160" y="4215384"/>
            <a:ext cx="4553712" cy="0"/>
          </a:xfrm>
          <a:prstGeom prst="line">
            <a:avLst/>
          </a:prstGeom>
          <a:noFill/>
          <a:ln w="9525">
            <a:solidFill>
              <a:srgbClr val="E4DCCB"/>
            </a:solidFill>
            <a:prstDash val="dash"/>
          </a:ln>
        </p:spPr>
      </p:sp>
      <p:sp>
        <p:nvSpPr>
          <p:cNvPr id="37" name="Text 34"/>
          <p:cNvSpPr txBox="1"/>
          <p:nvPr/>
        </p:nvSpPr>
        <p:spPr>
          <a:xfrm>
            <a:off x="6949440" y="4233672"/>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تَغَيَّرَ بِسَبَبِ الفَنَادِقِ الجَدِيدَةِ.</a:t>
            </a:r>
            <a:endParaRPr lang="ar-SA" sz="2650" dirty="0"/>
          </a:p>
        </p:txBody>
      </p:sp>
      <p:sp>
        <p:nvSpPr>
          <p:cNvPr id="38" name="Text 35"/>
          <p:cNvSpPr txBox="1"/>
          <p:nvPr/>
        </p:nvSpPr>
        <p:spPr>
          <a:xfrm>
            <a:off x="6949440" y="4804623"/>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R · It changed because of the new hotels.</a:t>
            </a:r>
            <a:endParaRPr lang="en-US" sz="1100" dirty="0"/>
          </a:p>
        </p:txBody>
      </p:sp>
      <p:sp>
        <p:nvSpPr>
          <p:cNvPr id="39" name="Shape 36"/>
          <p:cNvSpPr/>
          <p:nvPr/>
        </p:nvSpPr>
        <p:spPr>
          <a:xfrm>
            <a:off x="6995160" y="5234940"/>
            <a:ext cx="4553712" cy="0"/>
          </a:xfrm>
          <a:prstGeom prst="line">
            <a:avLst/>
          </a:prstGeom>
          <a:noFill/>
          <a:ln w="9525">
            <a:solidFill>
              <a:srgbClr val="E4DCCB"/>
            </a:solidFill>
            <a:prstDash val="dash"/>
          </a:ln>
        </p:spPr>
      </p:sp>
      <p:sp>
        <p:nvSpPr>
          <p:cNvPr id="40" name="Text 37"/>
          <p:cNvSpPr txBox="1"/>
          <p:nvPr/>
        </p:nvSpPr>
        <p:spPr>
          <a:xfrm>
            <a:off x="6949440" y="5253228"/>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مَعَ ذٰلِكَ، مَا زِلْتُ أُحِبُّهُ.</a:t>
            </a:r>
            <a:endParaRPr lang="ar-SA" sz="2650" dirty="0"/>
          </a:p>
        </p:txBody>
      </p:sp>
      <p:sp>
        <p:nvSpPr>
          <p:cNvPr id="41" name="Text 38"/>
          <p:cNvSpPr txBox="1"/>
          <p:nvPr/>
        </p:nvSpPr>
        <p:spPr>
          <a:xfrm>
            <a:off x="6949440" y="5824179"/>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F · Even so, I still love it.</a:t>
            </a:r>
            <a:endParaRPr lang="en-US" sz="11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23</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TC-L11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8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6 · WRITE ONE PARAGRAPH OF QUESTION 3 · ABOUT 50–70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Question 3, one paragraph: a place that changed</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مَكَانٌ تَغَيَّرَ</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practice room · TC-L11</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673352"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1673352"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Q3 · ONE PARAGRAPH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200" b="1" dirty="0">
                <a:solidFill>
                  <a:srgbClr val="1F2A37"/>
                </a:solidFill>
                <a:latin typeface="Calibri" pitchFamily="34" charset="0"/>
                <a:cs typeface="Amiri" pitchFamily="2" charset="-78"/>
              </a:rPr>
              <a:t>Full Q3 title: “The world around us is changing”. Today write ONLY the past paragraph: a place you know well that has changed (a park, a beach, a village…) — how it was, what you used to do there, what happened, and how you feel about it. Use at least three linking words.</a:t>
            </a:r>
            <a:endParaRPr lang="en-US" sz="120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 — a topic sentence.</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D — two details (when, where, who, what).</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R — a reason with </a:t>
            </a:r>
            <a:pPr algn="l" indent="0" marL="0">
              <a:buNone/>
            </a:pPr>
            <a:r>
              <a:rPr lang="ar-SA" altLang="en-US" sz="1550" dirty="0">
                <a:solidFill>
                  <a:srgbClr val="1F2A37"/>
                </a:solidFill>
                <a:latin typeface="Amiri" pitchFamily="2" charset="-78"/>
                <a:ea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 or </a:t>
            </a:r>
            <a:pPr algn="l" indent="0" marL="0">
              <a:buNone/>
            </a:pPr>
            <a:r>
              <a:rPr lang="ar-SA" altLang="en-US" sz="1550" dirty="0">
                <a:solidFill>
                  <a:srgbClr val="1F2A37"/>
                </a:solidFill>
                <a:latin typeface="Amiri" pitchFamily="2" charset="-78"/>
                <a:ea typeface="Amiri" pitchFamily="2" charset="-78"/>
                <a:cs typeface="Amiri" pitchFamily="2" charset="-78"/>
              </a:rPr>
              <a:t>لِذٰلِكَ</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F — a feeling or opinion (Stretch: + a future sentence).</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Buddy check: past verbs with the right ending?</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 FOR THIS PARAGRAPH</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عِنْدَمَا كُنْتُ صَغِيرًا …</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when I was little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كُنَّا نَسْبَحُ · كُنْتُ أَلْعَبُ</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we used to swim · I used to play</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بِسَبَبِ … ، أَصْبَحَ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because of …, it became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مَعَ ذٰلِكَ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even so …</a:t>
            </a:r>
            <a:endParaRPr lang="en-US" sz="1050" dirty="0"/>
          </a:p>
        </p:txBody>
      </p:sp>
      <p:sp>
        <p:nvSpPr>
          <p:cNvPr id="34" name="Text 31"/>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لَوْ كُنْتُ … لَسَاعَدْتُ …</a:t>
            </a:r>
            <a:endParaRPr lang="ar-SA" sz="1800" dirty="0"/>
          </a:p>
        </p:txBody>
      </p:sp>
      <p:sp>
        <p:nvSpPr>
          <p:cNvPr id="35" name="Text 32"/>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if I were … I would help …</a:t>
            </a:r>
            <a:endParaRPr lang="en-US" sz="105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23</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TC-L11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QUESTION 2 · A STRONG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Q2: compare with a strong answer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practice room · TC-L11</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1900" dirty="0">
                <a:solidFill>
                  <a:srgbClr val="1F2A37"/>
                </a:solidFill>
                <a:latin typeface="Amiri" pitchFamily="2" charset="-78"/>
                <a:ea typeface="Amiri" pitchFamily="2" charset="-78"/>
                <a:cs typeface="Amiri" pitchFamily="2" charset="-78"/>
              </a:rPr>
              <a:t>مِنْطَقَتِي بَيْنَ الأَمْسِ وَاليَوْمِ</a:t>
            </a:r>
            <a:endParaRPr lang="ar-SA" sz="1900" dirty="0"/>
          </a:p>
          <a:p>
            <a:pPr rtl="1" algn="r" indent="0" marL="0">
              <a:lnSpc>
                <a:spcPct val="120000"/>
              </a:lnSpc>
              <a:buNone/>
            </a:pPr>
            <a:r>
              <a:rPr lang="ar-SA" altLang="en-US" sz="1900" dirty="0">
                <a:solidFill>
                  <a:srgbClr val="1F2A37"/>
                </a:solidFill>
                <a:latin typeface="Amiri" pitchFamily="2" charset="-78"/>
                <a:ea typeface="Amiri" pitchFamily="2" charset="-78"/>
                <a:cs typeface="Amiri" pitchFamily="2" charset="-78"/>
              </a:rPr>
              <a:t>تَقَعُ مِنْطَقَتِي فِي شَمَالِ مَدِينَةِ مَانْشِسْتَرَ، وَفِيهَا الآنَ مَرْكَزٌ تِجَارِيٌّ ضَخْمٌ وَمَحَطَّةُ تْرَامٍ حَدِيثَةٌ. عِنْدَمَا كُنْتُ صَغِيرًا، كَانَتْ هُنَاكَ حُقُولٌ خَضْرَاءُ خَلْفَ بَيْتِنَا، وَكُنَّا نَلْعَبُ فِيهَا كُلَّ مَسَاءٍ، وَلَمْ يَكُنْ هُنَاكَ إِلَّا دُكَّانٌ صَغِيرٌ. مِنْ نَاحِيَةٍ، أَصْبَحَتِ الحَيَاةُ أَسْهَلَ، لِأَنَّ المُوَاصَلَاتِ أَسْرَعُ وَالخِدْمَاتِ أَكْثَرُ، وَمِنْ نَاحِيَةٍ أُخْرَى، أَصْبَحَ الهَوَاءُ أَكْثَرَ تَلَوُّثًا بِسَبَبِ زَحْمَةِ المُرُورِ. مَعَ ذٰلِكَ، أُحِبُّ مِنْطَقَتِي. لَوْ كُنْتُ مَسْؤُولًا، لَزَرَعْتُ أَشْجَارًا فِي كُلِّ شَارِعٍ، وَلَبَنَيْتُ حَدِيقَةً لِلْأَطْفَالِ، لِكَيْ يَلْعَبُوا كَمَا كُنَّا نَلْعَبُ.</a:t>
            </a:r>
            <a:endParaRPr lang="ar-SA" sz="1900" dirty="0"/>
          </a:p>
          <a:p>
            <a:pPr rtl="1" algn="r" indent="0" marL="0">
              <a:lnSpc>
                <a:spcPct val="120000"/>
              </a:lnSpc>
              <a:buNone/>
            </a:pPr>
            <a:r>
              <a:rPr lang="ar-SA" altLang="en-US" sz="1900" dirty="0">
                <a:solidFill>
                  <a:srgbClr val="1F2A37"/>
                </a:solidFill>
                <a:latin typeface="Amiri" pitchFamily="2" charset="-78"/>
                <a:ea typeface="Amiri" pitchFamily="2" charset="-78"/>
                <a:cs typeface="Amiri" pitchFamily="2" charset="-78"/>
              </a:rPr>
              <a:t>إِبْرَاهِيمُ</a:t>
            </a:r>
            <a:endParaRPr lang="ar-SA" sz="19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“My area — then and now. My area is in the north of Manchester, and now it has a huge shopping centre and a modern tram stop. When I was little there were green fields behind our house where we played every evening, and there was only a small corner shop. On one hand, life has become easier, because transport is faster and there are more services; on the other, the air has become more polluted because of the traffic. Even so, I love my area. If I were in charge, I would plant trees in every street and build a children’s park, so they could play as we used to. Ibrahim.”</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كَانَتْ هُنَاكَ حُقُولٌ … وَكُنَّا نَلْعَبُ</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مِنْ نَاحِيَةٍ … وَمِنْ نَاحِيَةٍ أُخْرَى</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بِسَبَبِ زَحْمَةِ المُرُورِ</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لَوْ كُنْتُ مَسْؤُولًا، لَزَرَعْتُ</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23</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TC-L11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QUESTION 3 · ONE PARAGRAPH</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50" b="1" dirty="0">
                <a:solidFill>
                  <a:srgbClr val="1B3B6F"/>
                </a:solidFill>
                <a:latin typeface="Cambria" pitchFamily="34" charset="0"/>
                <a:cs typeface="Amiri" pitchFamily="2" charset="-78"/>
              </a:rPr>
              <a:t>Q3 paragraph: T · D · R · F in a model</a:t>
            </a:r>
            <a:endParaRPr lang="en-US" sz="25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الفِقْرَةِ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practice room · TC-L11</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عِنْدَمَا كُنْتُ صَغِيرًا، كَانَتْ قَرْيَةُ جَدَّتِي فِي جَنُوبِ تُونُسَ هَادِئَةً وَخَضْرَاءَ. كُنَّا نَقْضِي فِيهَا كُلَّ صَيْفٍ، وَكُنْتُ أَجْمَعُ التَّمْرَ مَعَ أَبْنَاءِ خَالَتِي تَحْتَ النَّخِيلِ. لٰكِنْ فِي السَّنَوَاتِ الأَخِيرَةِ، قَلَّتِ الأَمْطَارُ كَثِيرًا، وَأَصْبَحَ الجَوُّ أَحَرَّ، لِذٰلِكَ جَفَّتْ بِئْرُ القَرْيَةِ، وَانْتَقَلَ كَثِيرٌ مِنَ الشَّبَابِ إِلَى المُدُنِ. بِالإِضَافَةِ إِلَى ذٰلِكَ، مَاتَتْ نَخَلَاتٌ كَثِيرَةٌ. مَعَ ذٰلِكَ، مَا زِلْتُ أُحِبُّ القَرْيَةَ، وَلَوْ كُنْتُ مُهَنْدِسًا، لَسَاعَدْتُ أَهْلَهَا.</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T: when I was little, my grandmother’s village in southern Tunisia was calm and green · D: we spent every summer there, and I used to pick dates with my cousins under the palm trees; but in recent years the rain has fallen much less and it has become hotter, so the village well dried up and many young people moved to the cities; in addition, many palm trees died · F: even so, I still love the village, and if I were an engineer, I would help its people.</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وَكُنْتُ أَجْمَعُ</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لِذٰلِكَ جَفَّتْ</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بِالإِضَافَةِ إِلَى ذٰلِكَ</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لَوْ كُنْتُ مُهَنْدِسًا، لَسَاعَدْتُ</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23</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TC-L11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practice room · TC-L11</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decoded every bullet: question word and tense.</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Q2 answers all four bullets, with a greeting and a closing.</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upgraded my sentences: detail + reason in every bullet.</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buddy checked my work and I fixed one mistake.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Q3 paragraph has T, D, R and F, with past and future.</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23</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TC-L11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you wrote it yourself!</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700" b="1" dirty="0">
                <a:solidFill>
                  <a:srgbClr val="FFFFFF"/>
                </a:solidFill>
                <a:latin typeface="Cambria" pitchFamily="34" charset="0"/>
                <a:cs typeface="Amiri" pitchFamily="2" charset="-78"/>
              </a:rPr>
              <a:t>TC-L12 · The next lesson in the topic</a:t>
            </a:r>
            <a:endParaRPr lang="en-US" sz="27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الدَّرْسُ التَّالِي</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decode → plan → write → check. Every bullet, every time.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TC-L11 · Writing Practice Room — Integrated Communication Workshop</dc:title>
  <dc:subject>PptxGenJS Presentation</dc:subject>
  <dc:creator>Al Madina Online School · Arabic Department</dc:creator>
  <cp:lastModifiedBy>Al Madina Online School · Arabic Department</cp:lastModifiedBy>
  <cp:revision>1</cp:revision>
  <dcterms:created xsi:type="dcterms:W3CDTF">2026-10-25T15:06:38Z</dcterms:created>
  <dcterms:modified xsi:type="dcterms:W3CDTF">2026-10-25T15:06:38Z</dcterms:modified>
</cp:coreProperties>
</file>