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PRACTICE ROOM AT A GLANCE — 55–60 minutes; about 8 minutes in the main room, about 40 minutes in breakout rooms of three, about 8 minutes back together.
0–2 Welcome · 2–6 How the room works (roles, rules) · then ROOMS: Step 1 Word warm-up (5) · Step 2 The answer ladder (8) · Step 3 Role plays 1 and 2 (14) · Step 4 Topic conversation with A-R-E-T (8) · Step 5 One-minute talk (5) · back in the main room: Check yourself (6) · Self-check + close (3).
PURPOSE: students practise ON THEIR OWN with a clear structure. The teacher visits each room (about 3 minutes per room), listens, and gives one live correction per student.
CONTENT: Advanced Topic C · The World Around Us, Lesson 7 (Documents, texts and digital information, TC-L07) — new role plays and questions (not the ones in the Exam Practice workshop), using the lesson’s language (relative pronouns (alladhī · allatī · alladhīna); imperatives on forms (sajjil · aḥḍir · iktub); the passive (yursalu · tursalu · muʾakkadun); booking verbs (aḥjizu · uqīmu fī); dates and times).
SET-UP: rooms of three (same-level rooms keep the routes simple). Share this deck or its PDF in the chat so every room can follow the steps. Post the step timings in the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show the route through the steps. Students keep this slide in mind: the step number is always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ROOM WORKS (3 min, main room). Model the three roles quickly with two volunteers using one question. Stress: the Coach is not a judge — one WWW, one EBI, kind and specific. Then open the breakout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(5 min in rooms). The vocab slides that follow are the reference. Teacher: visit the first room straight away to model the 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the Leader picks the English, the Speaker gives the Arabic.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(read together for 2 min). Each level ADDS one thing. Core aims for level 2, Develop for level 3, Stretch for level 4.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(6 min). The cells are STARTERS, not full answers. Core: questions 1–2 to level 2. Develop: all four to level 3. Stretch: level 4 with an opinion or another time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introduction (2 min). Role play 1 shows the plan column filled in; for role play 2 students write it themselves. This is the fading: by the exam, they plan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1 (Core · Develop) — SUPPORTED: the plan column models the thinking (question word → tense → first words), NOT the full answer.
ROOM ROUTINE: Leader reads the left column in order · Speaker answers · Coach ticks the checklist (step 5 slide) and gives one WWW + one EBI · swap so that everyone is Speaker once.
To a girl the Leader says: عِنْدَكِ · فَضْلِكِ · اكْتُبِي · هَاتِفِكِ · حَجَزْتِهَا — and the Speaker says تَفَضَّلِي to a female receptionist.
Language: ḥajaztu ghurfatan bi-smi · li- + number + layālin · tafaḍḍal · numbers for phones · allatī ḥajaztahā (relative + -hā).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2 (Develop · Stretch) — FADED SUPPORT: students now write their own plan column — exactly what they will do in the exam in their preparation time.
ROOM ROUTINE: Leader reads the left column in order · Speaker answers · Coach ticks the checklist (step 5 slide) and gives one WWW + one EBI · swap so that everyone is Speaker once.
To a girl the Leader says: رِحْلَتُكِ · امْلَئِي · فَضْلِكِ · كُنْتِ · تَنْصَحِينَ.
Stretch language: allatī kānat maʿī · colour agreement (zarqāʾu) · ay (that is) · passive tursalu / lam yūjad · law kuntu makānaka la- · an / allā + verb.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introduction (2 min). Show one answer growing link by link, then open the conversation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min). Leaders choose questions that suit the Speaker: Core questions first, then move up. The follow-up column trains extended answers — exactly what the conversation part of the exam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(5 min). A monologue builds fluency for the conversation.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Coach keeps this slide open during Steps 2–5. Back in the main room, ask each room for its best WWW.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Read one aloud together; students say which A-R-E-T link they will add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C · GUIDED PRACTICE  ·  TC-L07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TC-L07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Practice Room — Documents, Texts and Digital Information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التَّحَدُّثِ — الوَثَائِقُ وَالمَعْلُومَاتُ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run their own speaking practice in breakout rooms: a word warm-up on bookings, forms and documents, the answer ladder, two new role plays (checking in at a hotel, a lost-passport problem at the airport), a topic conversation with A-R-E-T, and a one-minute talk about organising a trip.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Advanced Topic C · The World Around Us · guided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C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C › TC-L07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ROOM PLAN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Five steps — you run them yourselves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14223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4223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1: word warm-up.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الكَلِمَاتُ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357628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467356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503932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503932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042666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042666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485644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2: climb the answer ladder.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449068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السُّلَّمُ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4258056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67784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04360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404360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9430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430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386072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3: two role plays (planned, then you plan).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349496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6158484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268212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304788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304788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8435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435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6286500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4: topic conversation, A-R-E-T.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6249924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8058912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168640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05216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8205216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743950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4395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8186928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5: one-minute talk.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8150352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دَقِيقَةٌ وَاحِدَةٌ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995934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1006906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10564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1010564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1064437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64437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1008735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1005078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Text 61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ROOM RUNS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Everybody speaks in every step. Swap roles each time: Leader → Speaker → Coach. If you finish early, do the step again with the Stretch route.</a:t>
            </a:r>
            <a:endParaRPr lang="en-US" sz="125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BEFORE THE ROOMS · HOW YOUR ROOM WORKS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Three roles, four rules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نَعْمَلُ فِي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ROLES (SWAP AFTER EVERY TASK)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 — opens the next step, keeps the time, and reads the examiner’s questions.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— answers in full Arabic sentences. Plan for a few seconds, then speak.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— listens with the checklist, then gives one WWW (what went well) and one EBI (even better if).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RULES: Arabic only in the tasks · full sentences · no silence (use a repair phrase) · everyone speaks in every step.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ROOM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1 · WORD WARM-UP · 5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Say it — then use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قُلْهَا وَاسْتَعْمِلْهَا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🔤  Word ping-pong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Leader says a word in ENGLISH from the next two slides. The Speaker says it in ARABIC, then uses it in a short sentence about themselves. The Coach checks the Arabic on the slide.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Leader: say 4 English words; Speaker answers in Arabic + one sentence each.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checks the word and the ending (I / he / she / they).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roles — new words each time.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say the he / she form of each verb.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word, then a simple sentence: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when or how often: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كُلَّ يَوْمٍ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مَرَّتَيْنِ فِي الأُسْبُوعِ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Use two words in one sentence with a reason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أَعِدْ مِنْ فَضْلِكَ / أَعِيدِي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repeat please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 / تَكَلَّمِي أَكْثَرَ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(1)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Bookings and documents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الحَجْزُ وَالوَثَائِقُ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all tenses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أَحْجِزُ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book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aḥ-ji-zu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booking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حَجْزٌ · حُجُوزَاتٌ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future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سَأَحْجِزُ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</a:t>
            </a:r>
            <a:endParaRPr lang="en-US" sz="70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حَجَزْتُ</a:t>
            </a:r>
            <a:endParaRPr lang="ar-SA" sz="135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verb + fī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أُقِيمُ فِي …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stay in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u-qī-mu fī …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stay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إِقَامَةٌ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future</a:t>
            </a:r>
            <a:endParaRPr lang="en-US" sz="70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سَأُقِيمُ</a:t>
            </a:r>
            <a:endParaRPr lang="ar-SA" sz="135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</a:t>
            </a:r>
            <a:endParaRPr lang="en-US" sz="70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أَقَمْتُ</a:t>
            </a:r>
            <a:endParaRPr lang="ar-SA" sz="135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102047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return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تَذْكِرَةٌ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ticket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tadh-ki-ra-tun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return</a:t>
            </a:r>
            <a:endParaRPr lang="en-US" sz="700" dirty="0"/>
          </a:p>
        </p:txBody>
      </p:sp>
      <p:sp>
        <p:nvSpPr>
          <p:cNvPr id="62" name="Text 59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ذَهَابٌ وَإِيَابٌ</a:t>
            </a:r>
            <a:endParaRPr lang="ar-SA" sz="1350" dirty="0"/>
          </a:p>
        </p:txBody>
      </p:sp>
      <p:sp>
        <p:nvSpPr>
          <p:cNvPr id="63" name="Shape 60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تَذَاكِرُ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8604504" y="4279392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8604504" y="4279392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an ID card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3" name="Text 70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جَوَازُ السَّفَرِ</a:t>
            </a:r>
            <a:endParaRPr lang="ar-SA" sz="3000" dirty="0"/>
          </a:p>
        </p:txBody>
      </p:sp>
      <p:sp>
        <p:nvSpPr>
          <p:cNvPr id="74" name="Text 71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passport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ja-wā-zu as-sa-fa-ri</a:t>
            </a:r>
            <a:endParaRPr lang="en-US" sz="1350" dirty="0"/>
          </a:p>
        </p:txBody>
      </p:sp>
      <p:sp>
        <p:nvSpPr>
          <p:cNvPr id="75" name="Shape 72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an ID card</a:t>
            </a:r>
            <a:endParaRPr lang="en-US" sz="700" dirty="0"/>
          </a:p>
        </p:txBody>
      </p:sp>
      <p:sp>
        <p:nvSpPr>
          <p:cNvPr id="77" name="Text 74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بِطَاقَةُ الهُوِيَّةِ</a:t>
            </a:r>
            <a:endParaRPr lang="ar-SA" sz="1350" dirty="0"/>
          </a:p>
        </p:txBody>
      </p:sp>
      <p:sp>
        <p:nvSpPr>
          <p:cNvPr id="78" name="Shape 75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جَوَازَاتُ السَّفَرِ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2" name="Shape 79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4782312" y="4279392"/>
            <a:ext cx="176662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4782312" y="4279392"/>
            <a:ext cx="176662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fill in! (m. · f.)</a:t>
            </a:r>
            <a:endParaRPr lang="en-US" sz="800" dirty="0"/>
          </a:p>
        </p:txBody>
      </p:sp>
      <p:sp>
        <p:nvSpPr>
          <p:cNvPr id="86" name="Shape 83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8" name="Text 85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اسْتِمَارَةٌ</a:t>
            </a:r>
            <a:endParaRPr lang="ar-SA" sz="3000" dirty="0"/>
          </a:p>
        </p:txBody>
      </p:sp>
      <p:sp>
        <p:nvSpPr>
          <p:cNvPr id="89" name="Text 86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form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as-ti-mā-ra-tun</a:t>
            </a:r>
            <a:endParaRPr lang="en-US" sz="1350" dirty="0"/>
          </a:p>
        </p:txBody>
      </p:sp>
      <p:sp>
        <p:nvSpPr>
          <p:cNvPr id="90" name="Shape 87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fill in! (m. · f.)</a:t>
            </a:r>
            <a:endParaRPr lang="en-US" sz="700" dirty="0"/>
          </a:p>
        </p:txBody>
      </p:sp>
      <p:sp>
        <p:nvSpPr>
          <p:cNvPr id="92" name="Text 89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امْلَأْ · امْلَئِي</a:t>
            </a:r>
            <a:endParaRPr lang="ar-SA" sz="1350" dirty="0"/>
          </a:p>
        </p:txBody>
      </p:sp>
      <p:sp>
        <p:nvSpPr>
          <p:cNvPr id="93" name="Shape 90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95" name="Text 92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اسْتِمَارَاتٌ</a:t>
            </a:r>
            <a:endParaRPr lang="ar-SA" sz="1500" dirty="0"/>
          </a:p>
        </p:txBody>
      </p:sp>
      <p:sp>
        <p:nvSpPr>
          <p:cNvPr id="96" name="Shape 93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7" name="Shape 94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9" name="Shape 96"/>
          <p:cNvSpPr/>
          <p:nvPr/>
        </p:nvSpPr>
        <p:spPr>
          <a:xfrm>
            <a:off x="960120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960120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imperative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2" name="Text 99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3" name="Text 100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سَجِّلْ</a:t>
            </a:r>
            <a:endParaRPr lang="ar-SA" sz="3000" dirty="0"/>
          </a:p>
        </p:txBody>
      </p:sp>
      <p:sp>
        <p:nvSpPr>
          <p:cNvPr id="104" name="Text 101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register!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saj-jil</a:t>
            </a:r>
            <a:endParaRPr lang="en-US" sz="1350" dirty="0"/>
          </a:p>
        </p:txBody>
      </p:sp>
      <p:sp>
        <p:nvSpPr>
          <p:cNvPr id="105" name="Shape 102"/>
          <p:cNvSpPr/>
          <p:nvPr/>
        </p:nvSpPr>
        <p:spPr>
          <a:xfrm>
            <a:off x="289864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295351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registration</a:t>
            </a:r>
            <a:endParaRPr lang="en-US" sz="700" dirty="0"/>
          </a:p>
        </p:txBody>
      </p:sp>
      <p:sp>
        <p:nvSpPr>
          <p:cNvPr id="107" name="Text 104"/>
          <p:cNvSpPr txBox="1"/>
          <p:nvPr/>
        </p:nvSpPr>
        <p:spPr>
          <a:xfrm>
            <a:off x="2944368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التَّسْجِيلُ</a:t>
            </a:r>
            <a:endParaRPr lang="ar-SA" sz="1350" dirty="0"/>
          </a:p>
        </p:txBody>
      </p:sp>
      <p:sp>
        <p:nvSpPr>
          <p:cNvPr id="108" name="Shape 105"/>
          <p:cNvSpPr/>
          <p:nvPr/>
        </p:nvSpPr>
        <p:spPr>
          <a:xfrm>
            <a:off x="174650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180136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10" name="Text 107"/>
          <p:cNvSpPr txBox="1"/>
          <p:nvPr/>
        </p:nvSpPr>
        <p:spPr>
          <a:xfrm>
            <a:off x="179222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سَجِّلُوا</a:t>
            </a:r>
            <a:endParaRPr lang="ar-SA" sz="1500" dirty="0"/>
          </a:p>
        </p:txBody>
      </p:sp>
      <p:sp>
        <p:nvSpPr>
          <p:cNvPr id="111" name="Shape 108"/>
          <p:cNvSpPr/>
          <p:nvPr/>
        </p:nvSpPr>
        <p:spPr>
          <a:xfrm>
            <a:off x="59436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2" name="Text 109"/>
          <p:cNvSpPr txBox="1"/>
          <p:nvPr/>
        </p:nvSpPr>
        <p:spPr>
          <a:xfrm>
            <a:off x="64922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13" name="Text 110"/>
          <p:cNvSpPr txBox="1"/>
          <p:nvPr/>
        </p:nvSpPr>
        <p:spPr>
          <a:xfrm>
            <a:off x="64008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سَجِّلِي</a:t>
            </a:r>
            <a:endParaRPr lang="ar-SA" sz="1500" dirty="0"/>
          </a:p>
        </p:txBody>
      </p:sp>
      <p:sp>
        <p:nvSpPr>
          <p:cNvPr id="114" name="Text 11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(2)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Forms, instructions and messages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الاسْتِمَارَاتُ وَالتَّعْلِيمَاتُ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imperative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أَحْضِرْ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bring!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aḥ-ḍir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أَحْضِرُوا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أَحْضِرِي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2139696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an email message · the address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البَرِيدُ الإِلِكْتْرُونِيُّ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email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al-ba-rī-du al-i-likt-rū-niy-yu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address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العُنْوَانُ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an email message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رِسَالَةٌ إِلِكْتْرُونِيَّةٌ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195315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19531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date of birth · nationality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رَقْمُ الهَاتِفِ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phone number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raq-mu al-hā-ti-fi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nationality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الجِنْسِيَّةُ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date of birth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تَارِيخُ المِيلَادِ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passive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يُرْسَلُ · تُرْسَلُ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is sent (m. · f.)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yur-sa-lu · tur-sa-lu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is accepted (f.)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تُقْبَلُ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active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يُرْسِلُ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1331366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13313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confirmation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مُؤَكَّدٌ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confirmed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mu-ʾak-ka-dun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confirmation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تَأْكِيدٌ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مُؤَكَّدَةٌ</a:t>
            </a:r>
            <a:endParaRPr lang="ar-SA" sz="150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relatives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الَّذِي · الَّتِي · الَّذِينَ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 / which (m. · f. · pl.)</a:t>
            </a:r>
            <a:endParaRPr lang="en-US" sz="1350" dirty="0"/>
          </a:p>
          <a:p>
            <a:pPr indent="0" marL="0">
              <a:buNone/>
            </a:pPr>
            <a:r>
              <a:rPr lang="ar-SA" sz="1100" i="1" dirty="0">
                <a:solidFill>
                  <a:srgbClr val="5A6472"/>
                </a:solidFill>
                <a:latin typeface="Calibri" pitchFamily="34" charset="0"/>
                <a:ea typeface="Amiri" pitchFamily="2" charset="-78"/>
                <a:cs typeface="Amiri" pitchFamily="2" charset="-78"/>
              </a:rPr>
              <a:t>al-َ-dhī · al-َ-tī · al-َ-dhī-na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594360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649224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room which I booked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640080" y="591616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الغُرْفَةُ الَّتِي حَجَزْتُهَا</a:t>
            </a:r>
            <a:endParaRPr lang="ar-SA" sz="1350" dirty="0"/>
          </a:p>
        </p:txBody>
      </p:sp>
      <p:sp>
        <p:nvSpPr>
          <p:cNvPr id="102" name="Text 9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2 · THE ANSWER LADDER · HOW A SHORT ANSWER BECOMES A STRONG ONE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Climb the ladder: “How do you book a trip?”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تَحْجِزُ رِحْلَةً؟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201400" y="2123694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201400" y="21236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847088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أَحْجِزُ التَّذَاكِرَ عَلَى الإِنْتَرْنِتِ.</a:t>
            </a:r>
            <a:endParaRPr lang="ar-SA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1856232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1 · Answer in a full sentence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book the tickets online.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2967228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201400" y="3280410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201400" y="328041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3003804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أَحْجِزُ التَّذَاكِرَ عَلَى الإِنْتَرْنِتِ، لِأَنَّهَا أَرْخَصُ وَأَسْرَعُ.</a:t>
            </a:r>
            <a:endParaRPr lang="ar-SA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3012948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2 · + a reason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because it is cheaper and quicker.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57200" y="4123944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201400" y="4437126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201400" y="44371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160520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أَوَّلًا أَمْلَأُ الاسْتِمَارَةَ، ثُمَّ أَدْفَعُ، وَبَعْدَ ذٰلِكَ تُرْسَلُ التَّذْكِرَةُ إِلَى بَرِيدِي الإِلِكْتْرُونِيِّ.</a:t>
            </a:r>
            <a:endParaRPr lang="ar-SA" sz="185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4169664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3 · + a detail (time, frequency, example)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first I fill in the form, then I pay, and then the ticket is sent to my email.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57200" y="5280660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1201400" y="5593842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201400" y="5593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5317236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مَرَّةً كَتَبْتُ تَارِيخًا خَطَأً، فَوَصَلْنَا إِلَى الفُنْدُقِ قَبْلَ الحَجْزِ بِيَوْمٍ! لِذٰلِكَ أَتَأَكَّدُ الآنَ مَرَّتَيْنِ.</a:t>
            </a:r>
            <a:endParaRPr lang="ar-SA" sz="185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5326380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4 · + another time frame or an opinion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once I typed a wrong date and we arrived a day before the booking! So now I check twice.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2 · YOUR TURN · CLIMB THE LADDER FOR EACH QUESTION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ladder: build each answer level by level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اصْعَدِ السُّلَّمَ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45752" y="18105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3–4 · + detail / time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06831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2 · + reason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1 · answer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64040" y="2267712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وَفِي آخِرِ رِحْلَةٍ نَسِيتُ …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2267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وَ… الَّذِي …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617720" y="22677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أَحْتَاجُ إِلَى …</a:t>
            </a:r>
            <a:endParaRPr lang="ar-SA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تَحْتَاجُ عِنْدَمَا تُسَافِرُ إِلَى الخَارِجِ؟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464040" y="3054096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مَثَلًا أَمْسِ …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086600" y="305409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17720" y="30540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 / لَا، …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05409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تَمْلَأُ الاسْتِمَارَاتِ بِنَفْسِكَ؟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309981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30998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464040" y="384048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وَفِي المَاضِي كَانَ الطُّلَّابُ …</a:t>
            </a:r>
            <a:endParaRPr lang="ar-SA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708660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461772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أُرْسِلُهَا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تُرْسِلُ الوَاجِبَاتِ إِلَى المُعَلِّمِ؟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626864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464040" y="4626864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وَفِي العُطْلَةِ القَادِمَةِ …</a:t>
            </a:r>
            <a:endParaRPr lang="ar-SA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7086600" y="462686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الَّذِي / الَّتِي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4617720" y="462686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أَقَمْتُ فِي …</a:t>
            </a:r>
            <a:endParaRPr lang="ar-SA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62686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أَقَمْتَ فِي آخِرِ عُطْلَةٍ؟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626864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Leader asks · Speaker climbs as high as they can · Coach says which level they reached. Swap for each question.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3 · ROLE PLAY · HOW TO USE YOUR 1 MINUTE OF PREPARATION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Plan a role-play card in one minute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خَطِّطْ فِي دَقِيقَةٍ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FOUR MOVES IN ONE MINUTE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 am I and WHO is the examiner? (formal or friendly · a man or a woman → your endings).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For each task, find the QUESTION WORD and the TENSE (past · present · future).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Plan only your FIRST 2–3 words for each task — not whole sentences.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Task ! is unexpected: listen for the question word, then answer in a full sentence.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QUESTION WORD → HOW TO START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…؟ ← رَقْمٌ + اسْمٌ</a:t>
            </a:r>
            <a:endParaRPr lang="ar-SA" sz="265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5511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→ a number + a noun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9582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14116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…؟ ← فِي السَّاعَةِ … / يَوْمَ …</a:t>
            </a:r>
            <a:endParaRPr lang="ar-SA" sz="265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85067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→ at … o’clock / on …day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1538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33672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…؟ ← لِأَنَّ …</a:t>
            </a:r>
            <a:endParaRPr lang="ar-SA" sz="265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804623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→ because …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995160" y="523494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40" name="Text 37"/>
          <p:cNvSpPr txBox="1"/>
          <p:nvPr/>
        </p:nvSpPr>
        <p:spPr>
          <a:xfrm>
            <a:off x="6949440" y="5253228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…؟ ← نَعَمْ / لَا + جُمْلَةٌ كَامِلَةٌ</a:t>
            </a:r>
            <a:endParaRPr lang="ar-SA" sz="2650" dirty="0"/>
          </a:p>
        </p:txBody>
      </p:sp>
      <p:sp>
        <p:nvSpPr>
          <p:cNvPr id="41" name="Text 38"/>
          <p:cNvSpPr txBox="1"/>
          <p:nvPr/>
        </p:nvSpPr>
        <p:spPr>
          <a:xfrm>
            <a:off x="6949440" y="5824179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yes/no question → yes / no + a full sentence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1 · CORE · DEVELOP · THE PLAN IS GIVEN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 — Checking in at a hotel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اسْتِقْبَالِ الفُنْدُقِ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حَجْزٌ ← نَعَمْ، حَجَزْتُ … بِاسْمِ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you have a booking and give your name.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مَسَاءَ الخَيْرِ! هَلْ عِنْدَكَ حَجْزٌ؟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← لِثَلَاثِ لَيَالٍ، مِنْ … إِلَى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many nights.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لِكَمْ لَيْلَةً؟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جَوَازٌ ← تَفَضَّلْ، هٰذَا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Hand it over politely.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جَوَازُ السَّفَرِ، مِنْ فَضْلِكَ.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رَقْمٌ ← رَقْمِي … ؛ مَتَى … الفُطُورُ؟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your number and ASK about breakfast.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اكْتُبْ رَقْمَ هَاتِفِكَ هُنَا.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75320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مُشْكِلَةٌ ← لَا بَأْسَ، هَلْ يُمْكِنُ أَنْ …؟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problem.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لِلْأَسَفِ الغُرْفَةُ الَّتِي حَجَزْتَهَا غَيْرُ جَاهِزَةٍ.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guest · Leader = the receptionist. Use the plan column in your 1 minute of preparation, then hide it and speak. Then swap roles.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2 · DEVELOP · STRETCH · PLAN IT YOURSELF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 — My passport is lost!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ضَاعَ جَوَازُ سَفَرِي!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 it: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what happened (past).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المُشْكِلَةُ؟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93608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the bag and its contents.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صِفِ الحَقِيبَةَ.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the flight details and explain the urgency.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رِحْلَتُكَ؟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Agree and ASK two questions.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امْلَأْ هٰذِهِ الاسْتِمَارَةَ مِنْ فَضْلِكَ.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(advice + 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كُنْتَ مَكَانِي، مَاذَا تَنْصَحُ المُسَافِرِينَ؟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traveller · Leader = an airport officer. In your 1 minute, write the plan column in your book. Task ! : the Leader reads it without warning. Then swap roles.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4 · TOPIC CONVERSATION · KEEP THE ANSWER GOING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A-R-E-T: four links in every answer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سِلْسِلَةُ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3456432"/>
          </a:xfrm>
          <a:prstGeom prst="roundRect">
            <a:avLst>
              <a:gd name="adj" fmla="val 211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 · R · E · 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— ANSWER the question in a full sentence.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035808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292608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 — give a REASON: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/ لِذٰلِكَ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378561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367588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 — add an EXAMPLE or a detail: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 … / كُلَّ يَوْمٍ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45354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442569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 — change the TIME: past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أَمْسِ / فِي المَاضِي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future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سَوْفَ / فِي المُسْتَقْبَلِ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COACH PUSHES WITH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1244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8820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06496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مِثْلَ مَاذَا؟</a:t>
            </a:r>
            <a:endParaRPr lang="ar-SA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73180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Like what?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0014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18432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المَاضِي؟ / وَفِي المُسْتَقْبَلِ؟</a:t>
            </a:r>
            <a:endParaRPr lang="ar-SA" sz="26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785116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in the past? / And in the future?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949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658368" y="546811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ROUTES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2606040" y="5449824"/>
            <a:ext cx="8961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Core: A + R. Develop: A + R + E. Stretch: all four, plus an opinion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a contrast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CONVERSATION CARD · THE LEADER ASKS, THE COACH PUSHES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Conversation: answer, then keep going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الحَجْزُ وَالوَثَائِقُ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177272" y="181051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91272" y="181051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Coach’s follow-up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23951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13848" y="226771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909560" y="226771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جِنْسِيَّتُهُ؟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276088" y="226771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have a passport?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جَوَازُ سَفَرٍ؟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213848" y="2881884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909560" y="2881884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لِمَنْ؟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276088" y="2881884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emails do you send a day?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رِسَالَةً إِلِكْتْرُونِيَّةً تُرْسِلُ فِي اليَوْمِ؟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213848" y="3496056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909560" y="3496056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كَانَ سَهْلًا؟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5276088" y="3496056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the last time you booked something.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آخِرَ مَرَّةٍ حَجَزْتَ فِيهَا شَيْئًا.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213848" y="4110228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7909560" y="4110228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276088" y="4110228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prefer paper or e-books?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110228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الكُتُبَ الوَرَقِيَّةَ أَمِ الإِلِكْتْرُونِيَّةَ؟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213848" y="4724400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909560" y="4724400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نَحْمِيهَا؟</a:t>
            </a:r>
            <a:endParaRPr lang="ar-SA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5276088" y="4724400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it safe to give our personal information online?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1051560" y="4724400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مِنَ الآمِنِ أَنْ نُعْطِيَ مَعْلُومَاتِنَا الشَّخْصِيَّةَ عَلَى الإِنْتَرْنِتِ؟</a:t>
            </a:r>
            <a:endParaRPr lang="ar-SA" sz="1550" dirty="0"/>
          </a:p>
        </p:txBody>
      </p:sp>
      <p:sp>
        <p:nvSpPr>
          <p:cNvPr id="54" name="Text 51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213848" y="533857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7909560" y="533857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هٰذَا جَيِّدٌ؟</a:t>
            </a:r>
            <a:endParaRPr lang="ar-SA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5276088" y="533857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Will paper documents disappear in future?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1051560" y="533857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سَتَخْتَفِي الوَثَائِقُ الوَرَقِيَّةُ فِي المُسْتَقْبَلِ؟</a:t>
            </a:r>
            <a:endParaRPr lang="ar-SA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Each Speaker answers three questions (one per route if you can), using A-R-E-T. The Coach asks the follow-up. Swap.</a:t>
            </a:r>
            <a:endParaRPr lang="en-US" sz="1150" dirty="0"/>
          </a:p>
        </p:txBody>
      </p:sp>
      <p:sp>
        <p:nvSpPr>
          <p:cNvPr id="62" name="Text 5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THE ONE-MINUTE TALK · RECORD AND REVIEW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One minute: organising a trip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أُنَظِّمُ رِحْلَةً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5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one minute — no stopping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Talk for one minute about how you organise a trip: what you book and how, the documents you need, a form you filled in — and a problem that happened once.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jot 4 key words (one per bullet) —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Leader times it (record it on your phone or in Teams if you can).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Coach: tick the checklist on the next slide, then WWW + EBI.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Swap. Listen back to your recording at home and fix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three things you book or take, with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أَحْتَاجُ إِلَى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60 seconds: add the steps in order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ثُمَّ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and a past problem.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90 seconds: add a passive verb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تُرْسَلُ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يُؤَكَّدُ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and advice with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سَأَتَكَلَّمُ عَنْ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going to talk about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ثُمَّ …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 … then …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بِالإِضَافَةِ إِلَى ذٰلِكَ …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addition …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الخِتَامِ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 finish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COACH · CHECKLIST FOR EVERY STEP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Coach: tick, then give WWW + EBI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المُدَرِّبِ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54112" y="181051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82512" y="1810512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705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Speaker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790688" y="226771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19088" y="226771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question / task in a FULL sentence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790688" y="2881884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19088" y="2881884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الَّذِي / الَّتِي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correctly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790688" y="3496056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19088" y="3496056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and a detail (time, frequency, example)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790688" y="4110228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419088" y="4110228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a passive verb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تُرْسَلُ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مُؤَكَّدٌ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790688" y="4724400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419088" y="4724400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changed the time frame (past or future) or gave an opinion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790688" y="533857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419088" y="533857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is kind and specific: “WWW: you used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twice. EBI: add a past sentence.”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حَجَزْتُ غُرْفَةً بِاسْمِ أَحْمَدَ خَانٍ.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booked a room in the name of Ahmed Khan.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مَسَاءَ الخَيْرِ! هَلْ عِنْدَكَ حَجْزٌ؟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لِثَلَاثِ لَيَالٍ، مِنَ الأَحَدِ إِلَى الأَرْبِعَاءِ.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For three nights, from Sunday to Wednesday.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لِكَمْ لَيْلَةً؟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تَفَضَّلْ، هٰذَا جَوَازُ سَفَرِي.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Here you are, this is my passport.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جَوَازُ السَّفَرِ، مِنْ فَضْلِكَ.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رَقْمِي صِفْرٌ سَبْعَةٌ سَبْعَةٌ. مَتَى يَبْدَأُ الفُطُورُ؟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number is 077… When does breakfast start?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اكْتُبْ رَقْمَ هَاتِفِكَ هُنَا.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بَأْسَ، هَلْ يُمْكِنُ أَنْ أَتْرُكَ حَقِيبَتِي هُنَا؟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 problem, can I leave my bag here?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لِلْأَسَفِ الغُرْفَةُ الَّتِي حَجَزْتَهَا غَيْرُ جَاهِزَةٍ.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ضَاعَ جَوَازُ سَفَرِي! وَضَعْتُهُ فِي الحَقِيبَةِ الصَّغِيرَةِ الَّتِي كَانَتْ مَعِي فِي المَقْهَى.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passport is lost! I put it in the small bag that was with me in the café.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المُشْكِلَةُ؟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هِيَ حَقِيبَةٌ زَرْقَاءُ مِنَ الجِلْدِ، وَفِيهَا جَوَازُ السَّفَرِ وَتَذْكِرَةُ الطَّائِرَةِ وَهَاتِفِي.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It’s a blue leather bag with my passport, plane ticket and phone in it.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صِفِ الحَقِيبَةَ.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رِحْلَتِي إِلَى لَنْدَنَ فِي السَّاعَةِ الثَّامِنَةِ مَسَاءً، أَيْ بَعْدَ ثَلَاثِ سَاعَاتٍ فَقَطْ.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flight to London is at 8 p.m., only three hours from now.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رِحْلَتُكَ؟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طَبْعًا. هَلْ تُرْسَلُ الاسْتِمَارَةُ إِلَى الشُّرْطَةِ؟ وَمَاذَا أَفْعَلُ إِذَا لَمْ يُوجَدِ الجَوَازُ؟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Of course. Is the form sent to the police? And what do I do if the passport isn’t found?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امْلَأْ هٰذِهِ الاسْتِمَارَةَ مِنْ فَضْلِكَ.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مَكَانَكَ، لَنَصَحْتُهُمْ بِأَنْ يُصَوِّرُوا جَوَازَاتِهِمْ عَلَى الهَاتِفِ، وَأَلَّا يَتْرُكُوا حَقَائِبَهُمْ أَبَدًا.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were you, I would advise them to photograph their passports on their phone and never leave their bags.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كُنْتَ مَكَانِي، مَاذَا تَنْصَحُ المُسَافِرِينَ؟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CONVERSATION AND ONE-MINUTE TALK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Strong answers to compare with yours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نَمَاذِجُ لِلْمُقَارَنَةِ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الشَّهْرِ المَاضِي حَجَزْتُ تَذَاكِرَ لِمُبَارَاةِ كُرَةِ القَدَمِ، لِأَنَّ أَبِي أَرَادَ مُفَاجَأَةَ أَخِي؛ مَلَأْتُ الاسْتِمَارَةَ وَدَفَعْنَا بِالبِطَاقَةِ، وَسَنَذْهَبُ يَوْمَ السَّبْتِ القَادِمِ.</a:t>
            </a:r>
            <a:endParaRPr lang="ar-SA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last month I booked football tickets · R: dad wanted to surprise my brother · E: I filled in the form and we paid by card · T: we go next Saturday.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آخِرَ مَرَّةٍ حَجَزْتَ فِيهَا شَيْئًا.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الكُتُبَ الوَرَقِيَّةَ، لِأَنَّ الشَّاشَةَ تُتْعِبُ عَيْنَيَّ؛ لٰكِنْ فِي السَّفَرِ أَسْتَعْمِلُ الكِتَابَ الإِلِكْتْرُونِيَّ، لِأَنَّهُ أَخَفُّ، وَفِيهِ مِئَاتُ الكُتُبِ.</a:t>
            </a:r>
            <a:endParaRPr lang="ar-SA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paper books · R: screens tire my eyes · contrast/E: but when travelling I use an e-reader — lighter, with hundreds of books.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الكُتُبَ الوَرَقِيَّةَ أَمِ الإِلِكْتْرُونِيَّةَ؟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المَوَاقِعَ الرَّسْمِيَّةَ آمِنَةٌ عَادَةً، غَيْرَ أَنَّ هُنَاكَ رَسَائِلَ مُزَيَّفَةً كَثِيرَةً؛ مَثَلًا، وَصَلَتْ أُمِّي رِسَالَةٌ تَطْلُبُ رَقْمَ بِطَاقَتِهَا، فَحَذَفْتُهَا فَوْرًا.</a:t>
            </a:r>
            <a:endParaRPr lang="ar-SA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Concession: official sites are usually safe, but there are many fake messages · E: mum got a message asking for her card number, so I deleted it at once.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مِنَ الآمِنِ أَنْ نُعْطِيَ مَعْلُومَاتِنَا الشَّخْصِيَّةَ عَلَى الإِنْتَرْنِتِ؟</a:t>
            </a:r>
            <a:endParaRPr lang="ar-SA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Find the A, R, E and T in each answer. Which link do you usually forget?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planned my first words from the question word.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climbed to level 3: answer + reason + detail.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today’s key structure correctly when I spoke.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all four A-R-E-T links and spoke for 90 seconds.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TC-L07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ran your own speaking practice!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TC-L07 · Writing practice room · Decode, plan, write and check — step by step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answer + reason + detail + another time frame — every time you speak.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TC-L07 · Speaking Practice Room — Documents, Texts and Digital Information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2026-10-25T15:00:00Z</dcterms:created>
  <dcterms:modified xsi:type="dcterms:W3CDTF">2026-10-25T15:00:00Z</dcterms:modified>
</cp:coreProperties>
</file>