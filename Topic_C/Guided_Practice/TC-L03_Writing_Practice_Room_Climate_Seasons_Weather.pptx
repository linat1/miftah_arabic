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3 (Climate, seasons and weather, TC-L03)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Climate, Seasons and Weather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المُنَاخُ وَالفُصُولُ وَالطَّقْسُ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(an email about the weather on a trip),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TC-L03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Holiday weather diary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مُذَكِّرَةُ الطَّقْسِ فِي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18120" y="226771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دُبَيُّ · إِدِنْبَرَةُ</a:t>
            </a:r>
            <a:endParaRPr lang="ar-SA" sz="20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الصَّيْفُ · الشِّتَاءُ</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Season</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الفَصْلُ</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مُشْمِسٌ · مُمْطِرٌ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Weather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الطَّقْسُ</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ثَلَاثُونَ دَرَجَةً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Temperature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دَرَجَةُ الحَرَارَةِ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قُبَّعَةٌ · مِعْطَفٌ</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Clothes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المَلَابِسُ</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عِنْدَمَا يَكُونُ الجَوُّ … أَذْهَبُ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an activity that suits this weather</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نَشَاطٌ مُنَاسِبٌ لِهٰذَا الطَّقْسِ</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Question 2: the weather on my trip</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الطَّقْسُ فِي رِحْلَتِي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on a trip to another country. Write an email in Arabic to your family of about 80–90 words. You must include: • where you are and what the weather is like • a comparison with the weather at home • what you did yesterday because of the weather • what the weather will be like tomorrow and your plans.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الآنَ فِي … ، وَالجَوُّ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now in …, and the weather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الجَوُّ هُنَا أَحَرُّ / أَبْرَدُ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here is hotter / colder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كَانَ الجَوُّ … ، لِذٰلِكَ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it was …, so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سَيَكُونُ الجَوُّ … ، فَسَنَذْهَبُ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it will be …, so we will go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عَائِلَتِكَ مِنْ رِحْلَتِكَ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أَنْتَ؟ وَكَيْفَ الطَّقْسُ؟</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بِالطَّقْسِ فِي بَلَدِكَ.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بِسَبَبِ الطَّقْسِ؟</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سَيَكُونُ الطَّقْسُ غَدًا؟ وَمَا خُطَطُكَ؟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family from your trip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your FAMILY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عَائِلَتِكَ مِنْ رِحْلَتِكَ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the weather</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 أَنْتَ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الطَّقْسُ</a:t>
            </a:r>
            <a:pPr algn="l" indent="0" marL="0">
              <a:buNone/>
            </a:pPr>
            <a:r>
              <a:rPr lang="en-US" sz="1100" dirty="0">
                <a:solidFill>
                  <a:srgbClr val="5A6472"/>
                </a:solidFill>
                <a:latin typeface="Calibri" pitchFamily="34" charset="0"/>
                <a:cs typeface="Amiri" pitchFamily="2" charset="-78"/>
              </a:rPr>
              <a:t> → PRESENT + weather adjectives</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أَنْتَ؟ وَكَيْفَ الطَّقْسُ؟</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home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قَارِنْ</a:t>
            </a:r>
            <a:pPr algn="l" indent="0" marL="0">
              <a:buNone/>
            </a:pPr>
            <a:r>
              <a:rPr lang="en-US" sz="1100" dirty="0">
                <a:solidFill>
                  <a:srgbClr val="5A6472"/>
                </a:solidFill>
                <a:latin typeface="Calibri" pitchFamily="34" charset="0"/>
                <a:cs typeface="Amiri" pitchFamily="2" charset="-78"/>
              </a:rPr>
              <a:t> → comparative + </a:t>
            </a:r>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أَحَرُّ مِنْ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أَبْرَدُ مِنْ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قَارِنْ بِالطَّقْسِ فِي بَلَدِكَ.</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because of the weather</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 أَمْسِ</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كَانَ الجَوُّ … ، لِذٰلِكَ</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أَمْسِ بِسَبَبِ الطَّقْسِ؟</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Tomorrow’s weather and plans</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سَيَكُونُ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خُطَطُكَ</a:t>
            </a:r>
            <a:pPr algn="l" indent="0" marL="0">
              <a:buNone/>
            </a:pPr>
            <a:r>
              <a:rPr lang="en-US" sz="1100" dirty="0">
                <a:solidFill>
                  <a:srgbClr val="5A6472"/>
                </a:solidFill>
                <a:latin typeface="Calibri" pitchFamily="34" charset="0"/>
                <a:cs typeface="Amiri" pitchFamily="2" charset="-78"/>
              </a:rPr>
              <a:t> → FUTURE (</a:t>
            </a:r>
            <a:pPr algn="l" indent="0" marL="0">
              <a:buNone/>
            </a:pPr>
            <a:r>
              <a:rPr lang="ar-SA" altLang="en-US" sz="1450" dirty="0">
                <a:solidFill>
                  <a:srgbClr val="5A6472"/>
                </a:solidFill>
                <a:latin typeface="Amiri" pitchFamily="2" charset="-78"/>
                <a:ea typeface="Amiri" pitchFamily="2" charset="-78"/>
                <a:cs typeface="Amiri" pitchFamily="2" charset="-78"/>
              </a:rPr>
              <a:t>سَيَكُونُ</a:t>
            </a:r>
            <a:pPr algn="l" indent="0" marL="0">
              <a:buNone/>
            </a:pPr>
            <a:r>
              <a:rPr lang="en-US" sz="1100" dirty="0">
                <a:solidFill>
                  <a:srgbClr val="5A6472"/>
                </a:solidFill>
                <a:latin typeface="Calibri" pitchFamily="34" charset="0"/>
                <a:cs typeface="Amiri" pitchFamily="2" charset="-78"/>
              </a:rPr>
              <a:t> + accusative)</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سَيَكُونُ الطَّقْسُ غَدًا؟ وَمَا خُطَطُكَ؟</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الجَوُّ بَارِدٌ.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It is cold.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الجَوُّ بَارِدٌ وَغَائِمٌ، وَدَرَجَةُ الحَرَارَةِ ثَلَاثُ دَرَجَاتٍ فَقَطْ.</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It is cold and cloudy, and only three degrees.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الجَوُّ بَارِدٌ وَغَائِمٌ، لِذٰلِكَ لَبِسْتُ مِعْطَفِي الثَّقِيلَ وَقُفَّازَيْنِ.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so I wore my heavy coat and gloves.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وَإِذَا سَقَطَ الثَّلْجُ غَدًا، فَسَنَصْنَعُ رَجُلَ ثَلْجٍ فِي الحَدِيقَةِ!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and if it snows tomorrow, we will make a snowman in the garden!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Strong winds blew yesterday.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هَبَّتْ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تَهُبُّ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Tomorrow the weather will be sunny.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سَيَكُونُ الجَوُّ</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الجَوُّ</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مُشْمِسًا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مُشْمِسٌ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Winter in Scotland is colder than in London.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الشِّتَاءُ فِي اسْكُتْلَنْدَا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الشِّتَاءِ اسْكُتْلَنْدَا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أَبْرَدُ</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بَارِدٌ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مِنْهُ فِي لَنْدَنَ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لَنْدَنَ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Strong winds blew yesterday.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 past </a:t>
            </a:r>
            <a:pPr algn="l" indent="0" marL="0">
              <a:buNone/>
            </a:pPr>
            <a:r>
              <a:rPr lang="ar-SA" altLang="en-US" sz="1350" dirty="0">
                <a:solidFill>
                  <a:srgbClr val="5A6472"/>
                </a:solidFill>
                <a:latin typeface="Amiri" pitchFamily="2" charset="-78"/>
                <a:ea typeface="Amiri" pitchFamily="2" charset="-78"/>
                <a:cs typeface="Amiri" pitchFamily="2" charset="-78"/>
              </a:rPr>
              <a:t>هَبَّتْ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رِيَاحٌ</a:t>
            </a:r>
            <a:pPr algn="l" indent="0" marL="0">
              <a:buNone/>
            </a:pPr>
            <a:r>
              <a:rPr lang="en-US" sz="1050" i="1" dirty="0">
                <a:solidFill>
                  <a:srgbClr val="5A6472"/>
                </a:solidFill>
                <a:latin typeface="Calibri" pitchFamily="34" charset="0"/>
                <a:cs typeface="Amiri" pitchFamily="2" charset="-78"/>
              </a:rPr>
              <a:t> (non-human plural) → feminine </a:t>
            </a:r>
            <a:pPr algn="l" indent="0" marL="0">
              <a:buNone/>
            </a:pPr>
            <a:r>
              <a:rPr lang="ar-SA" altLang="en-US" sz="1350" dirty="0">
                <a:solidFill>
                  <a:srgbClr val="5A6472"/>
                </a:solidFill>
                <a:latin typeface="Amiri" pitchFamily="2" charset="-78"/>
                <a:ea typeface="Amiri" pitchFamily="2" charset="-78"/>
                <a:cs typeface="Amiri" pitchFamily="2" charset="-78"/>
              </a:rPr>
              <a:t>قَوِيَّةٌ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هَبَّتْ رِيَاحٌ قَوِيَّةٌ أَمْسِ</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Tomorrow the weather will be sunny.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يَكُونُ / سَيَكُونُ</a:t>
            </a:r>
            <a:pPr algn="l" indent="0" marL="0">
              <a:buNone/>
            </a:pPr>
            <a:r>
              <a:rPr lang="en-US" sz="1050" i="1" dirty="0">
                <a:solidFill>
                  <a:srgbClr val="5A6472"/>
                </a:solidFill>
                <a:latin typeface="Calibri" pitchFamily="34" charset="0"/>
                <a:cs typeface="Amiri" pitchFamily="2" charset="-78"/>
              </a:rPr>
              <a:t> the adjective is accusative: </a:t>
            </a:r>
            <a:pPr algn="l" indent="0" marL="0">
              <a:buNone/>
            </a:pPr>
            <a:r>
              <a:rPr lang="ar-SA" altLang="en-US" sz="1350" dirty="0">
                <a:solidFill>
                  <a:srgbClr val="5A6472"/>
                </a:solidFill>
                <a:latin typeface="Amiri" pitchFamily="2" charset="-78"/>
                <a:ea typeface="Amiri" pitchFamily="2" charset="-78"/>
                <a:cs typeface="Amiri" pitchFamily="2" charset="-78"/>
              </a:rPr>
              <a:t>مُشْمِسًا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غَدًا سَيَكُونُ الجَوُّ مُشْمِسًا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Winter in Scotland is colder than in London.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Comparative </a:t>
            </a:r>
            <a:pPr algn="l" indent="0" marL="0">
              <a:buNone/>
            </a:pPr>
            <a:r>
              <a:rPr lang="ar-SA" altLang="en-US" sz="1350" dirty="0">
                <a:solidFill>
                  <a:srgbClr val="5A6472"/>
                </a:solidFill>
                <a:latin typeface="Amiri" pitchFamily="2" charset="-78"/>
                <a:ea typeface="Amiri" pitchFamily="2" charset="-78"/>
                <a:cs typeface="Amiri" pitchFamily="2" charset="-78"/>
              </a:rPr>
              <a:t>أَبْرَدُ</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الشِّتَاءُ فِي اسْكُتْلَنْدَا أَبْرَدُ مِنْهُ فِي لَنْدَنَ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دَرَجَةُ الحَرَارَةِ ______ دَرَجَةً،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temperature is … degrees,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 غَيْرَ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 is true that …, but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______ ، قَرَّرْنَا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Because of …, we decided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إِذَا كَانَ الجَوُّ ______ غَدًا، فَسَنَذْهَبُ ______ .</a:t>
            </a:r>
            <a:endParaRPr lang="ar-SA" sz="16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the weather is … tomorrow, we will go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عَائِلَتِي العَزِيزَةُ،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dear family,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أَنَا الآنَ فِي ______ ، وَالجَوُّ ______ وَ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am now in …, and the weather is … 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الجَوُّ هُنَا ______ مِنَ الجَوِّ فِي بِرِيطَانِيَا.</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weather here is … than in Britain.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كَانَ الجَوُّ ______ ، لِذٰلِكَ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Yesterday it was …, so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غَدًا سَيَكُونُ الجَوُّ ______ ، وَسَنَذْهَبُ إِلَى ______ .</a:t>
            </a:r>
            <a:endParaRPr lang="ar-SA" sz="155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Tomorrow it will be …, and we will go to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مُشْمِسٌ · غَائِمٌ  ·  تَسْقُطُ الأَمْطَارُ  ·  تَهُبُّ رِيَاحٌ  ·  دَرَجَةُ الحَرَارَةِ  ·  أَحَرُّ · أَبْرَدُ مِنْ  ·  رُطُوبَةٌ  ·  سَيَكُونُ  ·  بِسَبَبِ</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السَّمَاءُ غَائِمٌ.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السَّمَاءُ</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الجَوُّ كَانَ مُمْطِرٌ.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دَرَجَةُ الحَرَارَةِ خَمْسَةُ دَرَجَةٍ.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Numbers 3–10 + which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السَّمَاءُ غَائِمٌ.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السَّمَاءُ غَائِمَةٌ.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feminine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الجَوُّ كَانَ مُمْطِرٌ.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كَانَ الجَوُّ مُمْطِرًا.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accusative: </a:t>
            </a:r>
            <a:pPr algn="l" indent="0" marL="0">
              <a:buNone/>
            </a:pPr>
            <a:r>
              <a:rPr lang="ar-SA" altLang="en-US" sz="1500" b="1" dirty="0">
                <a:solidFill>
                  <a:srgbClr val="1B3B6F"/>
                </a:solidFill>
                <a:latin typeface="Amiri" pitchFamily="2" charset="-78"/>
                <a:ea typeface="Amiri" pitchFamily="2" charset="-78"/>
                <a:cs typeface="Amiri" pitchFamily="2" charset="-78"/>
              </a:rPr>
              <a:t>مُمْطِرًا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دَرَجَةُ الحَرَارَةِ خَمْسَةُ دَرَجَةٍ.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دَرَجَةُ الحَرَارَةِ خَمْسُ دَرَجَاتٍ.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3–10 + plural, and the number takes the opposite gender: </a:t>
            </a:r>
            <a:pPr algn="l" indent="0" marL="0">
              <a:buNone/>
            </a:pPr>
            <a:r>
              <a:rPr lang="ar-SA" altLang="en-US" sz="1500" b="1" dirty="0">
                <a:solidFill>
                  <a:srgbClr val="1B3B6F"/>
                </a:solidFill>
                <a:latin typeface="Amiri" pitchFamily="2" charset="-78"/>
                <a:ea typeface="Amiri" pitchFamily="2" charset="-78"/>
                <a:cs typeface="Amiri" pitchFamily="2" charset="-78"/>
              </a:rPr>
              <a:t>خَمْسُ دَرَجَاتٍ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فِي الشِّتَاءِ المَاضِي، غَيَّرَ الثَّلْجُ كُلَّ خُطَطِنَا.</a:t>
            </a:r>
            <a:endParaRPr lang="ar-SA" sz="24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winter the snow changed all our plans.</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كُنَّا سَنُسَافِرُ، لٰكِنْ سَقَطَ الثَّلْجُ طُولَ اللَّيْلِ.</a:t>
            </a:r>
            <a:endParaRPr lang="ar-SA" sz="25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were going to travel, but it snowed all night.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بَقِينَا فِي البَيْتِ لِأَنَّ الطُّرُقَ أُغْلِقَتْ.</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We stayed at home because the roads were closed.</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فِي النِّهَايَةِ كَانَ يَوْمًا جَمِيلًا.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In the end it was a lovely day.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day the weather changed my plans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غَيَّرَ فِيهِ الطَّقْسُ خُطَطِي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“Weather and the seasons”. Today write ONLY the past paragraph: a day the weather changed your plans — what you planned, what the weather did, what you did instead,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نُرِيدُ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wanted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تَغَيَّرَ الجَوُّ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suddenly the weather changed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المَطَرِ / الثَّلْجِ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the rain / snow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بَدَلًا مِنْ ذٰلِكَ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instead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عَائِلَتِي العَزِيزَةُ،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السَّلَامُ عَلَيْكُمْ! أَنَا الآنَ فِي مَدِينَةِ دُبَيَّ، وَالجَوُّ حَارٌّ وَمُشْمِسٌ جِدًّا، وَدَرَجَةُ الحَرَارَةِ أَرْبَعُونَ دَرَجَةً فِي الظُّهْرِ. الجَوُّ هُنَا أَحَرُّ بِكَثِيرٍ مِنْ مَانْشِسْتَرَ، وَلَا تَسْقُطُ الأَمْطَارُ أَبَدًا، لٰكِنَّ الرُّطُوبَةَ عَالِيَةٌ. أَمْسِ هَبَّتْ رِيَاحٌ قَوِيَّةٌ مَعَ الغُبَارِ، لِذٰلِكَ بَقِينَا فِي المَرْكَزِ التِّجَارِيِّ طُولَ اليَوْمِ، وَزُرْنَا حَدِيقَةَ الأَسْمَاكِ هُنَاكَ، وَرَأَيْنَا أَسْمَاكَ القِرْشِ الكَبِيرَةَ. تَقُولُ النَّشْرَةُ الجَوِّيَّةُ إِنَّ الجَوَّ سَيَكُونُ أَهْدَأَ غَدًا، فَإِذَا كَانَ الجَوُّ صَافِيًا، فَسَنَذْهَبُ إِلَى الشَّاطِئِ فِي الصَّبَاحِ البَاكِرِ، ثُمَّ إِلَى الصَّحْرَاءِ فِي المَسَاءِ.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أَشْتَاقُ إِلَيْكُمْ،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خَالِدٌ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dear family, peace be upon you! I am now in Dubai, and the weather is very hot and sunny — forty degrees at midday. The weather here is much hotter than Manchester and it never rains, but the humidity is high. Yesterday strong winds blew with dust, so we stayed in the shopping centre all day and visited the aquarium there, where we saw the big sharks. The forecast says the weather will be calmer tomorrow, so if it is clear, we will go to the beach early in the morning, then to the desert in the evening. I miss you, Khalid.”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وَدَرَجَةُ الحَرَارَةِ أَرْبَعُونَ دَرَجَةً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أَحَرُّ بِكَثِيرٍ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هَبَّتْ رِيَاحٌ قَوِيَّةٌ … لِذٰلِكَ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سَيَكُونُ أَهْدَأَ غَدًا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كُنَّا نُرِيدُ أَنْ نَقْضِيَ يَوْمًا كَامِلًا عَلَى شَاطِئِ بْرَايْتُونَ، لِأَنَّ النَّشْرَةَ الجَوِّيَّةَ قَالَتْ إِنَّ الجَوَّ سَيَكُونُ مُشْمِسًا. لٰكِنْ بَعْدَ سَاعَةٍ تَغَيَّرَ الجَوُّ فَجْأَةً، فَأَصْبَحَتِ السَّمَاءُ رَمَادِيَّةً، وَهَبَّتْ رِيَاحٌ بَارِدَةٌ، ثُمَّ سَقَطَتِ الأَمْطَارُ بِغَزَارَةٍ. بَدَلًا مِنْ ذٰلِكَ، دَخَلْنَا مَقْهًى صَغِيرًا، وَشَرِبْنَا الشُّوكُولَاتَةَ السَّاخِنَةَ، وَلَعِبْنَا الوَرَقَ سَاعَتَيْنِ. فِي النِّهَايَةِ ضَحِكْنَا كَثِيرًا، وَكَانَ يَوْمًا أَجْمَلَ مِمَّا تَوَقَّعْتُ.</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we wanted to spend a whole day on Brighton beach, because the forecast said it would be sunny · D: an hour later the weather suddenly changed — the sky turned grey, cold winds blew and then it poured; instead we went into a small café, drank hot chocolate and played cards for two hours · F: in the end we laughed a lot, and it was a nicer day than I expected.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نُرِيدُ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سَيَكُونُ مُشْمِسًا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تَغَيَّرَ الجَوُّ فَجْأَةً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ذٰلِكَ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TC-L04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TC-L03 · Writing Practice Room — Climate, Seasons and Weather</dc:title>
  <dc:subject>PptxGenJS Presentation</dc:subject>
  <dc:creator>Al Madina Online School · Arabic Department</dc:creator>
  <cp:lastModifiedBy>Al Madina Online School · Arabic Department</cp:lastModifiedBy>
  <cp:revision>1</cp:revision>
  <dcterms:created xsi:type="dcterms:W3CDTF">2026-10-25T14:54:16Z</dcterms:created>
  <dcterms:modified xsi:type="dcterms:W3CDTF">2026-10-25T14:54:16Z</dcterms:modified>
</cp:coreProperties>
</file>