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1 (People, places and compass points, TC-L01)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People, Places and Compass Points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النَّاسُ وَالأَمَاكِنُ وَالجِهَاتُ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(an email about a pen-friend’s country),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TC-L01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International youth camp: registration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المُخَيَّمُ الدَّوْلِيُّ لِلشَّبَابِ: التَّسْجِيلُ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بِرِيطَانِيٌّ / بِرِيطَانِيَّةٌ</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لِيدْزُ · كَارْدِيفُ</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شَمَالِ إِنْجِلْتِرَا</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city is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 مَدِينَتُكَ؟</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العَرَبِيَّةُ · الإِنْجِلِيزِيَّةُ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أَزُورَ …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a country you want to visit and why</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بَلَدٌ تُرِيدُ أَنْ تَزُورَهُ وَلِمَاذَا</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Question 2: my country and my city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بَلَدِي وَمَدِينَتِي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new pen-friend in Jordan wants to know about where you live. Write an email in Arabic of about 80–90 words. You must include: • where your city is in your country • a comparison between your city and another place • the people who live there (nationalities) • a place in the Arab world you would like to visit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مَدِينَتِي فِي … بَرِيطَانِيَا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city is in the … of Britain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أَكْبَرُ / أَصْغَرُ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bigger / smaller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يَسْكُنُ فِيهَا نَاسٌ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 from … live there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أَزُورَ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to visit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فِي الأُرْدُنِّ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 مَدِينَتُكَ؟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بَيْنَ مَدِينَتِكَ وَمَكَانٍ آخَرَ.</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يَسْكُنُ فِيهَا؟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تُرِيدُ أَنْ تُسَافِرَ فِي العَالَمِ العَرَبِيِّ؟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pen-friend in Jordan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PEN-FRIEND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فِي الأُرْدُنِّ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city is</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 تَقَعُ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تَقَعُ</a:t>
            </a:r>
            <a:pPr algn="l" indent="0" marL="0">
              <a:buNone/>
            </a:pPr>
            <a:r>
              <a:rPr lang="en-US" sz="1100" dirty="0">
                <a:solidFill>
                  <a:srgbClr val="5A6472"/>
                </a:solidFill>
                <a:latin typeface="Calibri" pitchFamily="34" charset="0"/>
                <a:cs typeface="Amiri" pitchFamily="2" charset="-78"/>
              </a:rPr>
              <a:t> (a city is feminine) + compass point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تَقَعُ مَدِينَتُكَ؟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comparison with another place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قَارِنْ</a:t>
            </a:r>
            <a:pPr algn="l" indent="0" marL="0">
              <a:buNone/>
            </a:pPr>
            <a:r>
              <a:rPr lang="en-US" sz="1100" dirty="0">
                <a:solidFill>
                  <a:srgbClr val="5A6472"/>
                </a:solidFill>
                <a:latin typeface="Calibri" pitchFamily="34" charset="0"/>
                <a:cs typeface="Amiri" pitchFamily="2" charset="-78"/>
              </a:rPr>
              <a:t> → comparative + </a:t>
            </a:r>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أَكْبَرُ مِنْ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قَارِنْ بَيْنَ مَدِينَتِكَ وَمَكَانٍ آخَرَ.</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people who live there</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يَسْكُنُ</a:t>
            </a:r>
            <a:pPr algn="l" indent="0" marL="0">
              <a:buNone/>
            </a:pPr>
            <a:r>
              <a:rPr lang="en-US" sz="1100" dirty="0">
                <a:solidFill>
                  <a:srgbClr val="5A6472"/>
                </a:solidFill>
                <a:latin typeface="Calibri" pitchFamily="34" charset="0"/>
                <a:cs typeface="Amiri" pitchFamily="2" charset="-78"/>
              </a:rPr>
              <a:t> → PRESENT + PLURAL nisba (</a:t>
            </a:r>
            <a:pPr algn="l" indent="0" marL="0">
              <a:buNone/>
            </a:pPr>
            <a:r>
              <a:rPr lang="ar-SA" altLang="en-US" sz="1450" dirty="0">
                <a:solidFill>
                  <a:srgbClr val="5A6472"/>
                </a:solidFill>
                <a:latin typeface="Amiri" pitchFamily="2" charset="-78"/>
                <a:ea typeface="Amiri" pitchFamily="2" charset="-78"/>
                <a:cs typeface="Amiri" pitchFamily="2" charset="-78"/>
              </a:rPr>
              <a:t>مِصْرِيُّونَ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صُومَالِيُّونَ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يَسْكُنُ فِيهَا؟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you would like to visit and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تُرِيدُ … وَلِمَاذَا</a:t>
            </a:r>
            <a:pPr algn="l" indent="0" marL="0">
              <a:buNone/>
            </a:pPr>
            <a:r>
              <a:rPr lang="en-US" sz="1100" dirty="0">
                <a:solidFill>
                  <a:srgbClr val="5A6472"/>
                </a:solidFill>
                <a:latin typeface="Calibri" pitchFamily="34" charset="0"/>
                <a:cs typeface="Amiri" pitchFamily="2" charset="-78"/>
              </a:rPr>
              <a:t> → FUTURE / wish + </a:t>
            </a:r>
            <a:pPr algn="l" indent="0" marL="0">
              <a:buNone/>
            </a:pPr>
            <a:r>
              <a:rPr lang="ar-SA" altLang="en-US" sz="1450" dirty="0">
                <a:solidFill>
                  <a:srgbClr val="5A6472"/>
                </a:solidFill>
                <a:latin typeface="Amiri" pitchFamily="2" charset="-78"/>
                <a:ea typeface="Amiri" pitchFamily="2" charset="-78"/>
                <a:cs typeface="Amiri" pitchFamily="2" charset="-78"/>
              </a:rPr>
              <a:t>لِأَنَّ</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تُرِيدُ أَنْ تُسَافِرَ فِي العَالَمِ العَرَبِيِّ؟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تَقَعُ مِصْرُ فِي إِفْرِيقْيَا.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Egypt is in Africa.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تَقَعُ مِصْرُ فِي شَمَالِ شَرْقِ إِفْرِيقْيَا، وَعَاصِمَتُهَا القَاهِرَةُ.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in the north-east of Africa, and its capital is Cairo.</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تَقَعُ مِصْرُ فِي شَمَالِ شَرْقِ إِفْرِيقْيَا عَلَى حُدُودِ لِيبْيَا، وَهِيَ أَكْبَرُ مِنْ بِرِيطَانِيَا بِأَرْبَعِ مَرَّاتٍ.</a:t>
            </a:r>
            <a:endParaRPr lang="ar-SA" sz="18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on the border of Libya, and it is four times bigger than Britain.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2" charset="-78"/>
                <a:ea typeface="Amiri" pitchFamily="2" charset="-78"/>
                <a:cs typeface="Amiri" pitchFamily="2" charset="-78"/>
              </a:rPr>
              <a:t>… لِذٰلِكَ سَافَرْنَا مِنَ الشَّمَالِ إِلَى الجَنُوبِ بِالقِطَارِ فِي يَوْمٍ كَامِلٍ!</a:t>
            </a:r>
            <a:endParaRPr lang="ar-SA" sz="23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so we travelled from north to south by train in a whole day!</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Morocco is in the west of North Africa.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يَقَعُ المَغْرِبُ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تَقَعُ المَغْرِبُ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غَرْبِيٌّ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شَمَالِ إِفْرِيقْيَا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شَمَالِيٌّ إِفْرِيقْيَا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is Saudi.</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خَالَتِي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خَالِي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سُعُودِيَّةٌ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سُعُودِيٌّ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الرِّيَاضِ</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الرِّيَاضِ مِنْ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London is bigger than Leeds.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لَنْدَنُ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لَنْدَنَ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أَكْبَرُ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لِيدْزُ</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Morocco is in the west of North Africa.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المَغْرِبُ</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يَقَعُ</a:t>
            </a:r>
            <a:pPr algn="l" indent="0" marL="0">
              <a:buNone/>
            </a:pPr>
            <a:r>
              <a:rPr lang="en-US" sz="1050" i="1" dirty="0">
                <a:solidFill>
                  <a:srgbClr val="5A6472"/>
                </a:solidFill>
                <a:latin typeface="Calibri" pitchFamily="34" charset="0"/>
                <a:cs typeface="Amiri" pitchFamily="2" charset="-78"/>
              </a:rPr>
              <a:t>; “in the west of” = </a:t>
            </a:r>
            <a:pPr algn="l" indent="0" marL="0">
              <a:buNone/>
            </a:pPr>
            <a:r>
              <a:rPr lang="ar-SA" altLang="en-US" sz="1350" dirty="0">
                <a:solidFill>
                  <a:srgbClr val="5A6472"/>
                </a:solidFill>
                <a:latin typeface="Amiri" pitchFamily="2" charset="-78"/>
                <a:ea typeface="Amiri" pitchFamily="2" charset="-78"/>
                <a:cs typeface="Amiri" pitchFamily="2" charset="-78"/>
              </a:rPr>
              <a:t>فِي غَرْبِ</a:t>
            </a:r>
            <a:pPr algn="l" indent="0" marL="0">
              <a:buNone/>
            </a:pPr>
            <a:r>
              <a:rPr lang="en-US" sz="1050" i="1" dirty="0">
                <a:solidFill>
                  <a:srgbClr val="5A6472"/>
                </a:solidFill>
                <a:latin typeface="Calibri" pitchFamily="34" charset="0"/>
                <a:cs typeface="Amiri" pitchFamily="2" charset="-78"/>
              </a:rPr>
              <a:t> + iḍāfa.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يَقَعُ المَغْرِبُ فِي غَرْبِ شَمَالِ إِفْرِيقْيَا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is Saudi.</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woman → feminine nisba: </a:t>
            </a:r>
            <a:pPr algn="l" indent="0" marL="0">
              <a:buNone/>
            </a:pPr>
            <a:r>
              <a:rPr lang="ar-SA" altLang="en-US" sz="1350" dirty="0">
                <a:solidFill>
                  <a:srgbClr val="5A6472"/>
                </a:solidFill>
                <a:latin typeface="Amiri" pitchFamily="2" charset="-78"/>
                <a:ea typeface="Amiri" pitchFamily="2" charset="-78"/>
                <a:cs typeface="Amiri" pitchFamily="2" charset="-78"/>
              </a:rPr>
              <a:t>سُعُودِيَّةٌ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خَالَتِي سُعُودِيَّةٌ مِنَ الرِّيَاضِ</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London is bigger than Leeds.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Comparative </a:t>
            </a:r>
            <a:pPr algn="l" indent="0" marL="0">
              <a:buNone/>
            </a:pPr>
            <a:r>
              <a:rPr lang="ar-SA" altLang="en-US" sz="1350" dirty="0">
                <a:solidFill>
                  <a:srgbClr val="5A6472"/>
                </a:solidFill>
                <a:latin typeface="Amiri" pitchFamily="2" charset="-78"/>
                <a:ea typeface="Amiri" pitchFamily="2" charset="-78"/>
                <a:cs typeface="Amiri" pitchFamily="2" charset="-78"/>
              </a:rPr>
              <a:t>أَكْبَرُ</a:t>
            </a:r>
            <a:pPr algn="l" indent="0" marL="0">
              <a:buNone/>
            </a:pPr>
            <a:r>
              <a:rPr lang="en-US" sz="1050" i="1" dirty="0">
                <a:solidFill>
                  <a:srgbClr val="5A6472"/>
                </a:solidFill>
                <a:latin typeface="Calibri" pitchFamily="34" charset="0"/>
                <a:cs typeface="Amiri" pitchFamily="2" charset="-78"/>
              </a:rPr>
              <a:t> never changes for feminine; it needs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لَنْدَنُ أَكْبَرُ مِنْ لِيدْزَ</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تَقَعُ ______ فِي ______ ، عَلَى بُعْدِ ______ مِنْ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 is in the …, … away from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صَحِيحٌ أَنَّهَا أَصْغَرُ مِنْ ______ ، غَيْرَ أَنَّهَا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 is true it is smaller than …, but it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حَيِّي جِيرَانٌ ______ وَ ______ ، لِذٰلِكَ ______ .</a:t>
            </a:r>
            <a:endParaRPr lang="ar-SA" sz="15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In my area there are … and … neighbours, so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سَافَرْتُ إِلَى ______ ، لَزُرْتُ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I travelled to …, I would visit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أَسْكُنُ فِي ______ ، وَهِيَ تَقَعُ فِي ______ بَرِيطَانِيَا.</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live in …, which is in the … of Britain.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مَدِينَتِي ______ مِنْ لَنْدَنَ.</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My city is … than London.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يَسْكُنُ فِيهَا ______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 and … live there.</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أَزُورَ ______ ، لِأَنَّ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want to visit …,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شَمَالِ · فِي جَنُوبِ  ·  فِي شَرْقِ · فِي غَرْبِ  ·  تَقَعُ · يَقَعُ  ·  عَلَى حُدُودِ  ·  أَكْبَرُ مِنْ · أَصْغَرُ مِنْ  ·  سُكَّانٌ  ·  مِصْرِيُّونَ · بَاكِسْتَانِيُّونَ  ·  عَاصِمَةٌ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يَقَعُ سُورِيَا فِي غَرْبِ آسِيَا.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سُورِيَا</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جِيرَانِي مِصْرِيٌّ.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neighbours?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القَاهِرَةُ أَكْبَرَةٌ مِنْ لَنْدَنَ.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Comparatives don’t take a feminine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يَقَعُ سُورِيَا فِي غَرْبِ آسِيَا.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تَقَعُ سُورِيَا فِي غَرْبِ آسِيَا.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Most countries are feminine → </a:t>
            </a:r>
            <a:pPr algn="l" indent="0" marL="0">
              <a:buNone/>
            </a:pPr>
            <a:r>
              <a:rPr lang="ar-SA" altLang="en-US" sz="1500" b="1" dirty="0">
                <a:solidFill>
                  <a:srgbClr val="1B3B6F"/>
                </a:solidFill>
                <a:latin typeface="Amiri" pitchFamily="2" charset="-78"/>
                <a:ea typeface="Amiri" pitchFamily="2" charset="-78"/>
                <a:cs typeface="Amiri" pitchFamily="2" charset="-78"/>
              </a:rPr>
              <a:t>تَقَعُ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جِيرَانِي مِصْرِيٌّ.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جِيرَانِي مِصْرِيُّونَ.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Human plural → plural nisba: </a:t>
            </a:r>
            <a:pPr algn="l" indent="0" marL="0">
              <a:buNone/>
            </a:pPr>
            <a:r>
              <a:rPr lang="ar-SA" altLang="en-US" sz="1500" b="1" dirty="0">
                <a:solidFill>
                  <a:srgbClr val="1B3B6F"/>
                </a:solidFill>
                <a:latin typeface="Amiri" pitchFamily="2" charset="-78"/>
                <a:ea typeface="Amiri" pitchFamily="2" charset="-78"/>
                <a:cs typeface="Amiri" pitchFamily="2" charset="-78"/>
              </a:rPr>
              <a:t>مِصْرِيُّونَ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القَاهِرَةُ أَكْبَرَةٌ مِنْ لَنْدَنَ.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القَاهِرَةُ أَكْبَرُ مِنْ لَنْدَنَ.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stays the same: </a:t>
            </a:r>
            <a:pPr algn="l" indent="0" marL="0">
              <a:buNone/>
            </a:pPr>
            <a:r>
              <a:rPr lang="ar-SA" altLang="en-US" sz="1500" b="1" dirty="0">
                <a:solidFill>
                  <a:srgbClr val="1B3B6F"/>
                </a:solidFill>
                <a:latin typeface="Amiri" pitchFamily="2" charset="-78"/>
                <a:ea typeface="Amiri" pitchFamily="2" charset="-78"/>
                <a:cs typeface="Amiri" pitchFamily="2" charset="-78"/>
              </a:rPr>
              <a:t>أَكْبَرُ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الصَّيْفِ المَاضِي سَافَرْنَا مِنْ شَمَالِ المَغْرِبِ إِلَى جَنُوبِهِ.</a:t>
            </a:r>
            <a:endParaRPr lang="ar-SA" sz="19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summer we travelled from the north of Morocco to the south.</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بَدَأْنَا فِي طَنْجَةَ، ثُمَّ زُرْنَا مُرَّاكُشَ.</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started in Tangier, then visited Marrakesh.</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أَتَذَكَّرُهَا لِأَنَّ النَّاسَ كَانُوا كُرَمَاءَ جِدًّا.</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 remember it because the people were very generous.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كَانَتْ أَجْمَلَ رِحْلَةٍ، وَسَأَرْجِعُ يَوْمًا مَا.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It was the best trip, and I will go back one day.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journey across a country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عَبْرَ بَلَدٍ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Full Q3 title: “Places and people around the world”. Today write ONLY the past paragraph: a journey you made through a country — where you went (north, south…), what the places and people were like, one thing that happened, and why you remember it.</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سَافَرْنَا مِنْ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travelled from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شَمَالِ / جَنُوبِ البَلَدِ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north / south of the country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النَّاسُ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people were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هٰذِهِ الرِّحْلَةَ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remember this trip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 أَكْثَرَ مِنْ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more … than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مَرْحَبًا يَا سَلْمَى،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كَيْفَ حَالُكِ؟ أَسْكُنُ فِي مَدِينَةِ لِيدْزَ، وَهِيَ تَقَعُ فِي شَمَالِ إِنْجِلْتِرَا، عَلَى بُعْدِ ثَلَاثِ سَاعَاتٍ بِالقِطَارِ مِنْ لَنْدَنَ. صَحِيحٌ أَنَّ لِيدْزَ أَصْغَرُ مِنْ لَنْدَنَ بِكَثِيرٍ، غَيْرَ أَنَّهَا أَهْدَأُ وَأَرْخَصُ، وَحَوْلَهَا جِبَالٌ خَضْرَاءُ جَمِيلَةٌ. يَسْكُنُ فِيهَا نَاسٌ مِنْ بُلْدَانٍ كَثِيرَةٍ؛ جِيرَانُنَا بَاكِسْتَانِيُّونَ وَبُولَنْدِيُّونَ، وَصَدِيقَتِي المُفَضَّلَةُ صُومَالِيَّةٌ. لِذٰلِكَ أَسْمَعُ لُغَاتٍ مُخْتَلِفَةً كُلَّ يَوْمٍ فِي الشَّارِعِ. أَتَمَنَّى أَنْ أَزُورَ الأُرْدُنَّ فِي الصَّيْفِ القَادِمِ، لِأَنِّي أُرِيدُ أَنْ أَرَى البَتْرَاءَ فِي الجَنُوبِ، وَأَنْ أَسْبَحَ فِي البَحْرِ المَيِّتِ مَعَكِ.</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مَعَ تَحِيَّاتِي،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مَرْيَمُ</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Salma, how are you? I live in Leeds, which is in the north of England, three hours by train from London. It’s true Leeds is much smaller than London, but it is calmer and cheaper, and there are beautiful green hills around it. People from many countries live there: our neighbours are Pakistani and Polish, and my best friend is Somali, so I hear different languages in the street every day. I hope to visit Jordan next summer, because I want to see Petra in the south and swim in the Dead Sea with you. Best wishes,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تَقَعُ فِي شَمَالِ إِنْجِلْتِرَا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أَصْغَرُ مِنْ لَنْدَنَ بِكَثِيرٍ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بَاكِسْتَانِيُّونَ وَبُولَنْدِيُّونَ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أَتَمَنَّى أَنْ أَزُورَ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سَافَرْتُ مَعَ عَائِلَتِي مِنْ شَمَالِ مِصْرَ إِلَى جَنُوبِهَا. بَدَأْنَا فِي الإِسْكَنْدَرِيَّةِ عَلَى البَحْرِ، ثُمَّ رَكِبْنَا القِطَارَ إِلَى القَاهِرَةِ، وَبَعْدَ ذٰلِكَ إِلَى أَسْوَانَ. كَانَ الجَوُّ فِي الجَنُوبِ أَحَرَّ بِكَثِيرٍ مِنَ الشَّمَالِ، وَكَانَ النَّاسُ هُنَاكَ هَادِئِينَ وَكُرَمَاءَ. فِي أَسْوَانَ دَعَتْنَا عَائِلَةٌ نُوبِيَّةٌ إِلَى بَيْتِهَا، وَشَرِبْنَا الشَّايَ مَعَهَا عَلَى ضِفَّةِ النِّيلِ. أَتَذَكَّرُ هٰذِهِ الرِّحْلَةَ لِأَنِّي رَأَيْتُ بَلَدَ جَدَّتِي لِأَوَّلِ مَرَّةٍ.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I travelled with my family from the north of Egypt to the south · D: we started in Alexandria on the sea, then took the train to Cairo and then Aswan; the south was much hotter than the north, and the people there were calm and generous; in Aswan a Nubian family invited us home and we drank tea with them on the bank of the Nile · R/F: I remember this trip because I saw my grandmother’s country for the first time.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شَمَالِ مِصْرَ إِلَى جَنُوبِهَا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أَحَرَّ بِكَثِيرٍ مِنَ الشَّمَالِ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عَائِلَةٌ نُوبِيَّةٌ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أَتَذَكَّرُ هٰذِهِ الرِّحْلَةَ لِأَنِّي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TC-L01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TC-L02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TC-L01 · Writing Practice Room — People, Places and Compass Points</dc:title>
  <dc:subject>PptxGenJS Presentation</dc:subject>
  <dc:creator>Al Madina Online School · Arabic Department</dc:creator>
  <cp:lastModifiedBy>Al Madina Online School · Arabic Department</cp:lastModifiedBy>
  <cp:revision>1</cp:revision>
  <dcterms:created xsi:type="dcterms:W3CDTF">2026-10-25T14:48:47Z</dcterms:created>
  <dcterms:modified xsi:type="dcterms:W3CDTF">2026-10-25T14:48:47Z</dcterms:modified>
</cp:coreProperties>
</file>