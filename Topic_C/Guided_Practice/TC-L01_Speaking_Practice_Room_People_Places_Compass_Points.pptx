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PRACTICE ROOM AT A GLANCE — 55–60 minutes; about 8 minutes in the main room, about 40 minutes in breakout rooms of three, about 8 minutes back together.
0–2 Welcome · 2–6 How the room works (roles, rules) · then ROOMS: Step 1 Word warm-up (5) · Step 2 The answer ladder (8) · Step 3 Role plays 1 and 2 (14) · Step 4 Topic conversation with A-R-E-T (8) · Step 5 One-minute talk (5) · back in the main room: Check yourself (6) · Self-check + close (3).
PURPOSE: students practise ON THEIR OWN with a clear structure. The teacher visits each room (about 3 minutes per room), listens, and gives one live correction per student.
CONTENT: Advanced Topic C · The World Around Us, Lesson 1 (People, places and compass points, TC-L01) — new role plays and questions (not the ones in the Exam Practice workshop), using the lesson’s language (compass points (fī shamāli … · shamāliyyun); yaqaʿu / taqaʿu (m. / f. countries); nisba adjectives (m. · f. · pl.); ʿalā ḥudūdi; comparatives (akbaru min)).
SET-UP: rooms of three (same-level rooms keep the routes simple). Share this deck or its PDF in the chat so every room can follow the steps. Post the step timings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show the route through the steps. Students keep this slide in mind: the step number is always in the top-left of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ROOM WORKS (3 min, main room). Model the three roles quickly with two volunteers using one question. Stress: the Coach is not a judge — one WWW, one EBI, kind and specific. Then open the breakout rooms.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(5 min in rooms). The vocab slides that follow are the reference. Teacher: visit the first room straight away to model the 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 — the Leader picks the English, the Speaker gives the Arabic.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(read together for 2 min). Each level ADDS one thing. Core aims for level 2, Develop for level 3, Stretch for level 4.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(6 min). The cells are STARTERS, not full answers. Core: questions 1–2 to level 2. Develop: all four to level 3. Stretch: level 4 with an opinion or another time 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introduction (2 min). Role play 1 shows the plan column filled in; for role play 2 students write it themselves. This is the fading: by the exam, they plan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1 (Core · Develop) — SUPPORTED: the plan column models the thinking (question word → tense → first words), NOT the full answer.
ROOM ROUTINE: Leader reads the left column in order · Speaker answers · Coach ticks the checklist (step 5 slide) and gives one WWW + one EBI · swap so that everyone is Speaker once.
To a girl the Leader says: أَنْتِ · تُرِيدِينَ · زُرْتِ — and the Speaker says بِرِيطَانِيَّةٌ.
Language: nisba (barīṭāniyyun / -iyyatun) · taqaʿu fī shamāli … · urīdu an azūra · kam + accusative singular (kīlūmitran) · past zurtu.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2 (Develop · Stretch) — FADED SUPPORT: students now write their own plan column — exactly what they will do in the exam in their preparation time.
ROOM ROUTINE: Leader reads the left column in order · Speaker answers · Coach ticks the checklist (step 5 slide) and gives one WWW + one EBI · swap so that everyone is Speaker once.
To a girl the Leader says: عَائِلَتِكِ · زُرْتِهِ · سَكَنْتِ · تَسْكُنِينَ.
Stretch language: yaqaʿu fī gharbi … ʿalā ḥudūdi · aṣgharu min … bi-kathīrin · plural nisba (al-lubnāniyyūna) + broken plural adjective (kuramāʾu) · law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introduction (2 min). Show one answer growing link by link, then open the conversation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(6 min). Leaders choose questions that suit the Speaker: Core questions first, then move up. The follow-up column trains extended answers — exactly what the conversation part of the exam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(5 min). A monologue builds fluency for the conversation.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Coach keeps this slide open during Steps 2–5. Back in the main room, ask each room for its best WWW.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— only AFTER the room has performed both cards. Each student finds one task they answered less fully and re-says it using the model.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YOURSELF (2 min, main room). Read one aloud together; students say which A-R-E-T link they will add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C · GUIDED PRACTICE  ·  TC-L01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TC-L01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Practice Room — People, Places and Compass Points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التَّحَدُّثِ — النَّاسُ وَالأَمَاكِنُ وَالجِهَاتُ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Students run their own speaking practice in breakout rooms: a word warm-up on countries and compass points, the answer ladder, two new role plays (a tourist information desk, a geography podcast about your family’s country), a topic conversation with A-R-E-T, and a one-minute talk about a country they know.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Advanced Topic C · The World Around Us · guided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C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C › TC-L01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ROOM PLAN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Five steps — you run them yourselves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خُطُوَاتُ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14223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223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1: word warm-up.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الكَلِمَاتُ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357628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467356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03932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503932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042666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42666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485644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2: climb the answer ladder.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449068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2F6FB0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السُّلَّمُ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4258056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367784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04360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404360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9430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430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386072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3: two role plays (planned, then you plan).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4349496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6158484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268212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304788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304788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435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8435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6286500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4: topic conversation, A-R-E-T.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6249924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8058912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8168640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05216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8205216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5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743950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74395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8186928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Step 5: one-minute talk.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8150352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 وَاحِدَةٌ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9959340" y="1828800"/>
            <a:ext cx="1772412" cy="3246120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10069068" y="1938528"/>
            <a:ext cx="1552956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0105644" y="1956816"/>
            <a:ext cx="14798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10105644" y="2249424"/>
            <a:ext cx="14798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6 min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1064437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064437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300" dirty="0"/>
          </a:p>
        </p:txBody>
      </p:sp>
      <p:sp>
        <p:nvSpPr>
          <p:cNvPr id="61" name="Text 58"/>
          <p:cNvSpPr txBox="1"/>
          <p:nvPr/>
        </p:nvSpPr>
        <p:spPr>
          <a:xfrm>
            <a:off x="10087356" y="3145536"/>
            <a:ext cx="15163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Check yourself with the models.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10050780" y="4526280"/>
            <a:ext cx="15895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Text 61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HOW THE ROOM RUNS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Everybody speaks in every step. Swap roles each time: Leader → Speaker → Coach. If you finish early, do the step again with the Stretch route.</a:t>
            </a:r>
            <a:endParaRPr lang="en-US" sz="1250" dirty="0"/>
          </a:p>
        </p:txBody>
      </p:sp>
      <p:sp>
        <p:nvSpPr>
          <p:cNvPr id="66" name="Text 6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BEFORE THE ROOMS · HOW YOUR ROOM WORKS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Three roles, four rules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نَعْمَلُ فِي الغُرْفَةِ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ROLES (SWAP AFTER EVERY TASK)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 — opens the next step, keeps the time, and reads the examiner’s questions.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— answers in full Arabic sentences. Plan for a few seconds, then speak.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— listens with the checklist, then gives one WWW (what went well) and one EBI (even better if).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RULES: Arabic only in the tasks · full sentences · no silence (use a repair phrase) · everyone speaks in every step.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ROOM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 / دَوْرُكِ!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 (m. / f.)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1 · WORD WARM-UP · 5 MINUTES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Say it — then use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قُلْهَا وَاسْتَعْمِلْهَا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1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🔤  Word ping-pong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 Leader says a word in ENGLISH from the next two slides. The Speaker says it in ARABIC, then uses it in a short sentence about themselves. The Coach checks the Arabic on the slide.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Leader: say 4 English words; Speaker answers in Arabic + one sentence each.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 checks the word and the ending (I / he / she / they).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roles — new words each time.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Last round: say the he / she form of each verb.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Say the Arabic word, then a simple sentence: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Add when or how often: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كُلَّ يَوْمٍ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مَرَّتَيْنِ فِي الأُسْبُوعِ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Use two words in one sentence with a reason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أَعِدْ مِنْ فَضْلِكَ / أَعِيدِي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please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 / تَكَلَّمِي أَكْثَرَ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 (m. / f.)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(1)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Compass points and countries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الجِهَاتُ وَالبُلْدَانُ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compass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شَمَالٌ · جَنُوبٌ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north · south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sha-mā-lun · ja-nū-bun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adj.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شَمَالِيٌّ · جَنُوبِيٌّ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in the north of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شَمَالِ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compass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شَرْقٌ · غَرْبٌ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east · west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shar-qun · ghar-bun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adj.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شَرْقِيٌّ · غَرْبِيٌّ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in the east of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شَرْقِ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 · my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بَلَدٌ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country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ba-la-dun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my</a:t>
            </a:r>
            <a:endParaRPr lang="en-US" sz="750" dirty="0"/>
          </a:p>
        </p:txBody>
      </p:sp>
      <p:sp>
        <p:nvSpPr>
          <p:cNvPr id="56" name="Text 53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بَلَدِي</a:t>
            </a:r>
            <a:endParaRPr lang="ar-SA" sz="1500" dirty="0"/>
          </a:p>
        </p:txBody>
      </p:sp>
      <p:sp>
        <p:nvSpPr>
          <p:cNvPr id="57" name="Shape 54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بُلْدَانٌ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بَلَدٌ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8604504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604504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0" name="Text 67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قَارَّةٌ</a:t>
            </a:r>
            <a:endParaRPr lang="ar-SA" sz="3000" dirty="0"/>
          </a:p>
        </p:txBody>
      </p:sp>
      <p:sp>
        <p:nvSpPr>
          <p:cNvPr id="71" name="Text 68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continent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qār-ra-tun</a:t>
            </a:r>
            <a:endParaRPr lang="en-US" sz="1350" dirty="0"/>
          </a:p>
        </p:txBody>
      </p:sp>
      <p:sp>
        <p:nvSpPr>
          <p:cNvPr id="72" name="Shape 69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100126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قَارَّاتٌ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قَارَّةٌ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4782312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782312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عَاصِمَةٌ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capital city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ʿā-ṣi-ma-tun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عَوَاصِمُ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عَاصِمَةٌ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960120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960120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location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0" name="Text 97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يَقَعُ · تَقَعُ</a:t>
            </a:r>
            <a:endParaRPr lang="ar-SA" sz="3000" dirty="0"/>
          </a:p>
        </p:txBody>
      </p:sp>
      <p:sp>
        <p:nvSpPr>
          <p:cNvPr id="101" name="Text 98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is located (m.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ya-qa-ʿu · ta-qa-ʿu</a:t>
            </a:r>
            <a:endParaRPr lang="en-US" sz="1350" dirty="0"/>
          </a:p>
        </p:txBody>
      </p:sp>
      <p:sp>
        <p:nvSpPr>
          <p:cNvPr id="102" name="Shape 99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4" name="Text 101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تَقَعُ مِصْرُ</a:t>
            </a:r>
            <a:endParaRPr lang="ar-SA" sz="150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يَقَعُ لُبْنَانُ</a:t>
            </a:r>
            <a:endParaRPr lang="ar-SA" sz="150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1 · WORD BANK (2)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Nationalities and comparing places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الجِنْسِيَّاتُ وَالمُقَارَنَةُ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nisba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مِصْرِيٌّ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Egyptian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miṣ-riy-yun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مِصْرِيُّونَ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مِصْرِيَّةٌ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مِصْرِيٌّ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nisba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مَغْرِبِيٌّ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Moroccan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magh-ri-biy-yun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مَغَارِبَةٌ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مَغْرِبِيَّةٌ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مَغْرِبِيٌّ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nisba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سُعُودِيٌّ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Saudi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su-ʿū-diy-yun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سُعُودِيُّونَ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سُعُودِيَّةٌ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سُعُودِيٌّ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location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عَلَى حُدُودِ …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on the border of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ʿa-lā ḥu-dū-di …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near</a:t>
            </a:r>
            <a:endParaRPr lang="en-US" sz="700" dirty="0"/>
          </a:p>
        </p:txBody>
      </p:sp>
      <p:sp>
        <p:nvSpPr>
          <p:cNvPr id="80" name="Text 77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قَرِيبٌ مِنْ</a:t>
            </a:r>
            <a:endParaRPr lang="ar-SA" sz="1350" dirty="0"/>
          </a:p>
        </p:txBody>
      </p:sp>
      <p:sp>
        <p:nvSpPr>
          <p:cNvPr id="81" name="Shape 78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between</a:t>
            </a:r>
            <a:endParaRPr lang="en-US" sz="700" dirty="0"/>
          </a:p>
        </p:txBody>
      </p:sp>
      <p:sp>
        <p:nvSpPr>
          <p:cNvPr id="83" name="Text 80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بَيْنَ … وَ…</a:t>
            </a:r>
            <a:endParaRPr lang="ar-SA" sz="1350" dirty="0"/>
          </a:p>
        </p:txBody>
      </p:sp>
      <p:sp>
        <p:nvSpPr>
          <p:cNvPr id="84" name="Shape 81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5" name="Shape 82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87" name="Shape 84"/>
          <p:cNvSpPr/>
          <p:nvPr/>
        </p:nvSpPr>
        <p:spPr>
          <a:xfrm>
            <a:off x="4782312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782312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comparison</a:t>
            </a:r>
            <a:endParaRPr lang="en-US" sz="800" dirty="0"/>
          </a:p>
        </p:txBody>
      </p:sp>
      <p:sp>
        <p:nvSpPr>
          <p:cNvPr id="89" name="Shape 86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1" name="Text 88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أَكْبَرُ مِنْ · أَصْغَرُ مِنْ</a:t>
            </a:r>
            <a:endParaRPr lang="ar-SA" sz="3000" dirty="0"/>
          </a:p>
        </p:txBody>
      </p:sp>
      <p:sp>
        <p:nvSpPr>
          <p:cNvPr id="92" name="Text 89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bigger than · smaller than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ak-ba-ru min · aṣ-gha-ru min</a:t>
            </a:r>
            <a:endParaRPr lang="en-US" sz="1350" dirty="0"/>
          </a:p>
        </p:txBody>
      </p:sp>
      <p:sp>
        <p:nvSpPr>
          <p:cNvPr id="93" name="Shape 90"/>
          <p:cNvSpPr/>
          <p:nvPr/>
        </p:nvSpPr>
        <p:spPr>
          <a:xfrm>
            <a:off x="4416552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4471416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biggest</a:t>
            </a:r>
            <a:endParaRPr lang="en-US" sz="700" dirty="0"/>
          </a:p>
        </p:txBody>
      </p:sp>
      <p:sp>
        <p:nvSpPr>
          <p:cNvPr id="95" name="Text 92"/>
          <p:cNvSpPr txBox="1"/>
          <p:nvPr/>
        </p:nvSpPr>
        <p:spPr>
          <a:xfrm>
            <a:off x="4462272" y="591616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أَكْبَرُ بَلَدٍ</a:t>
            </a:r>
            <a:endParaRPr lang="ar-SA" sz="1350" dirty="0"/>
          </a:p>
        </p:txBody>
      </p:sp>
      <p:sp>
        <p:nvSpPr>
          <p:cNvPr id="96" name="Shape 93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7" name="Shape 94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960120" y="4279392"/>
            <a:ext cx="164226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960120" y="4279392"/>
            <a:ext cx="16422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number of · its people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3" name="Text 100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سُكَّانٌ</a:t>
            </a:r>
            <a:endParaRPr lang="ar-SA" sz="3000" dirty="0"/>
          </a:p>
        </p:txBody>
      </p:sp>
      <p:sp>
        <p:nvSpPr>
          <p:cNvPr id="104" name="Text 101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inhabitants, population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suk-kā-nun</a:t>
            </a:r>
            <a:endParaRPr lang="en-US" sz="1350" dirty="0"/>
          </a:p>
        </p:txBody>
      </p:sp>
      <p:sp>
        <p:nvSpPr>
          <p:cNvPr id="105" name="Shape 102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its people</a:t>
            </a:r>
            <a:endParaRPr lang="en-US" sz="700" dirty="0"/>
          </a:p>
        </p:txBody>
      </p:sp>
      <p:sp>
        <p:nvSpPr>
          <p:cNvPr id="107" name="Text 104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سُكَّانُهَا</a:t>
            </a:r>
            <a:endParaRPr lang="ar-SA" sz="1350" dirty="0"/>
          </a:p>
        </p:txBody>
      </p:sp>
      <p:sp>
        <p:nvSpPr>
          <p:cNvPr id="108" name="Shape 105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number of</a:t>
            </a:r>
            <a:endParaRPr lang="en-US" sz="700" dirty="0"/>
          </a:p>
        </p:txBody>
      </p:sp>
      <p:sp>
        <p:nvSpPr>
          <p:cNvPr id="110" name="Text 107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عَدَدُ السُّكَّانِ</a:t>
            </a:r>
            <a:endParaRPr lang="ar-SA" sz="1350" dirty="0"/>
          </a:p>
        </p:txBody>
      </p:sp>
      <p:sp>
        <p:nvSpPr>
          <p:cNvPr id="111" name="Text 108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2 · THE ANSWER LADDER · HOW A SHORT ANSWER BECOMES A STRONG ONE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Climb the ladder: “Where is your family’s country located?”</a:t>
            </a:r>
            <a:endParaRPr lang="en-US" sz="1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يَقَعُ بَلَدُ عَائِلَتِكَ؟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1201400" y="2123694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201400" y="212369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847088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تَقَعُ مِصْرُ فِي شَمَالِ إِفْرِيقْيَا.</a:t>
            </a:r>
            <a:endParaRPr lang="ar-SA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1856232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1 · Answer in a full sentence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Egypt is in North Africa.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57200" y="2967228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1201400" y="3280410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201400" y="328041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3003804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تَقَعُ مِصْرُ فِي شَمَالِ إِفْرِيقْيَا، عَلَى حُدُودِ لِيبْيَا وَالسُّودَانِ.</a:t>
            </a:r>
            <a:endParaRPr lang="ar-SA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3012948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2 · + a reason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on the border of Libya and Sudan.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57200" y="4123944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11201400" y="4437126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201400" y="443712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4160520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عَاصِمَتُهَا القَاهِرَةُ، وَهِيَ أَكْبَرُ مَدِينَةٍ فِي العَالَمِ العَرَبِيِّ.</a:t>
            </a:r>
            <a:endParaRPr lang="ar-SA" sz="250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4169664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3 · + a detail (time, frequency, example)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its capital is Cairo, the biggest city in the Arab world.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57200" y="5280660"/>
            <a:ext cx="11274552" cy="1028700"/>
          </a:xfrm>
          <a:prstGeom prst="roundRect">
            <a:avLst>
              <a:gd name="adj" fmla="val 7111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11201400" y="5593842"/>
            <a:ext cx="402336" cy="40233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201400" y="559384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5317236"/>
            <a:ext cx="649224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1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جَدِّي مِصْرِيٌّ مِنَ الجَنُوبِ، وَفِي الصَّيْفِ القَادِمِ سَنَزُورُ قَرْيَتَهُ فِي أَسْوَانَ.</a:t>
            </a:r>
            <a:endParaRPr lang="ar-SA" sz="2100" dirty="0"/>
          </a:p>
        </p:txBody>
      </p:sp>
      <p:sp>
        <p:nvSpPr>
          <p:cNvPr id="34" name="Text 31"/>
          <p:cNvSpPr txBox="1"/>
          <p:nvPr/>
        </p:nvSpPr>
        <p:spPr>
          <a:xfrm>
            <a:off x="685800" y="5326380"/>
            <a:ext cx="3749040" cy="937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Level 4 · + another time frame or an opinion</a:t>
            </a:r>
            <a:endParaRPr lang="en-US" sz="12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… my grandad is Egyptian from the south, and next summer we will visit his village in Aswan.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70978" y="274320"/>
            <a:ext cx="1388974" cy="329184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 w="12700">
            <a:solidFill>
              <a:srgbClr val="2F6FB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70978" y="274320"/>
            <a:ext cx="13889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2F6FB0"/>
                </a:solidFill>
                <a:latin typeface="Calibri" pitchFamily="34" charset="0"/>
                <a:cs typeface="Amiri" pitchFamily="2" charset="-78"/>
              </a:rPr>
              <a:t>STEP 2 · YOUR TURN · CLIMB THE LADDER FOR EACH QUESTION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Your ladder: build each answer level by level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اصْعَدِ السُّلَّمَ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45752" y="1810512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3–4 · + detail / time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068312" y="18105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2 · + reason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99432" y="181051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Level 1 · answer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464040" y="2267712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وَلِذٰلِكَ أَتَكَلَّمُ …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2267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وَأَصْلُ عَائِلَتِي …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617720" y="226771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… مِنْ …</a:t>
            </a:r>
            <a:endParaRPr lang="ar-SA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أَيِّ بَلَدٍ أَنْتَ؟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464040" y="3054096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وَهِيَ أَصْغَرُ مِنْ …</a:t>
            </a:r>
            <a:endParaRPr lang="ar-SA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7086600" y="3054096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قَرِيبَةٌ مِنْ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4617720" y="3054096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تَقَعُ فِي … بَرِيطَانِيَا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054096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تَقَعُ مَدِينَتُكَ؟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3099816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30998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464040" y="3840480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وَلَوْ زُرْتُهُ لَرَأَيْتُ …</a:t>
            </a:r>
            <a:endParaRPr lang="ar-SA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8404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لِأَنَّ …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4617720" y="38404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أَزُورَ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840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بَلَدٍ عَرَبِيٍّ تُرِيدُ أَنْ تَزُورَ؟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626864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464040" y="4626864"/>
            <a:ext cx="2176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تَعَرَّفْتُ عَلَيْهِمْ …</a:t>
            </a:r>
            <a:endParaRPr lang="ar-SA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7086600" y="46268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وَصَدِيقَتِي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4617720" y="4626864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صَدِيقِي …</a:t>
            </a:r>
            <a:endParaRPr lang="ar-SA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626864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أَصْدِقَاءُ مِنْ بُلْدَانٍ أُخْرَى؟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626864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Leader asks · Speaker climbs as high as they can · Coach says which level they reached. Swap for each question.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3 · ROLE PLAY · HOW TO USE YOUR 1 MINUTE OF PREPARATION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Plan a role-play card in one minute</a:t>
            </a:r>
            <a:endParaRPr lang="en-US" sz="27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خَطِّطْ فِي دَقِيقَةٍ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FOUR MOVES IN ONE MINUTE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am I and WHO is the examiner? (formal or friendly · a man or a woman → your endings).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For each task, find the QUESTION WORD and the TENSE (past · present · future).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Plan only your FIRST 2–3 words for each task — not whole sentences.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Task ! is unexpected: listen for the question word, then answer in a full sentence.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QUESTION WORD → HOW TO START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…؟ ← رَقْمٌ + اسْمٌ</a:t>
            </a:r>
            <a:endParaRPr lang="ar-SA" sz="265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5511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→ a number + a noun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9582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14116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 ← فِي السَّاعَةِ … / يَوْمَ …</a:t>
            </a:r>
            <a:endParaRPr lang="ar-SA" sz="265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85067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→ at … o’clock / on …day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1538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33672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…؟ ← لِأَنَّ …</a:t>
            </a:r>
            <a:endParaRPr lang="ar-SA" sz="265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804623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→ because 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995160" y="523494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40" name="Text 37"/>
          <p:cNvSpPr txBox="1"/>
          <p:nvPr/>
        </p:nvSpPr>
        <p:spPr>
          <a:xfrm>
            <a:off x="6949440" y="5253228"/>
            <a:ext cx="4645152" cy="570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…؟ ← نَعَمْ / لَا + جُمْلَةٌ كَامِلَةٌ</a:t>
            </a:r>
            <a:endParaRPr lang="ar-SA" sz="2650" dirty="0"/>
          </a:p>
        </p:txBody>
      </p:sp>
      <p:sp>
        <p:nvSpPr>
          <p:cNvPr id="41" name="Text 38"/>
          <p:cNvSpPr txBox="1"/>
          <p:nvPr/>
        </p:nvSpPr>
        <p:spPr>
          <a:xfrm>
            <a:off x="6949440" y="5824179"/>
            <a:ext cx="4645152" cy="4078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yes/no question → yes / no + a full sentence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1 · CORE · DEVELOP · THE PLAN IS GIVEN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 — At the tourist information desk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مَكْتَبِ السِّيَاحَةِ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75320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أَيْنَ ← أَنَا بِرِيطَانِيٌّ مِنْ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nationality and city.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مِنْ أَيْنَ أَنْتَ؟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75320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← تَقَعُ فِي شَمَالِ … إِنْجِلْتِرَا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your city is (compass point).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تَقَعُ مَانْشِسْتَرُ؟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275320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← أُرِيدُ أَنْ أَزُورَ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a place you want to visit.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تُرِيدُ أَنْ تَزُورَ فِي الأُرْدُنِّ؟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275320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اسْأَلْ ← كَمْ كِيلُومِتْرًا … 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how far it is.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البَتْرَاءُ فِي الجَنُوبِ.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75320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← نَعَمْ، زُرْتُ … / لَا، لٰكِنْ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زُرْتَ بَلَدًا عَرَبِيًّا آخَرَ؟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visitor from Britain · Leader = the tourist information officer. Use the plan column in your 1 minute of preparation, then hide it and speak. Then swap roles.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8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3 · ROLE PLAY 2 · DEVELOP · STRETCH · PLAN IT YOURSELF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 — A podcast about your family’s country</a:t>
            </a:r>
            <a:endParaRPr lang="en-US" sz="18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بُودْكَاسْتُ الجُغْرَافِيَا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57032" y="1810512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Plan it: question word → my first words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96519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Speaker’s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785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 (the examiner)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267712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5001768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Locate the country (region + two borders).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حَدِّثْنَا عَنْ بَلَدِ عَائِلَتِكَ: أَيْنَ يَقَعُ؟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93608" y="300471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001768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its size with Britain.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هُوَ بَلَدٌ كَبِيرٌ؟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741725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001768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people (plural nisba + adjective).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يُمَيِّزُ النَّاسَ هُنَاكَ؟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93608" y="4478731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001768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Tell a past visit (two details).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زُرْتَهُ؟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293608" y="5215738"/>
            <a:ext cx="336499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______________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5001768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 + reason).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749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سَكَنْتَ هُنَاكَ، أَيْنَ تَسْكُنُ: فِي الشَّمَالِ أَمْ فِي الجَنُوبِ؟</a:t>
            </a:r>
            <a:endParaRPr lang="ar-SA" sz="155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Speaker = a guest on the podcast · Leader = the podcast presenter. In your 1 minute, write the plan column in your book. Task ! : the Leader reads it without warning. Then swap roles.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STEP 4 · TOPIC CONVERSATION · KEEP THE ANSWER GOING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A-R-E-T: four links in every answer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سِلْسِلَةُ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3456432"/>
          </a:xfrm>
          <a:prstGeom prst="roundRect">
            <a:avLst>
              <a:gd name="adj" fmla="val 211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 · R · E · T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— ANSWER the question in a full sentence.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035808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292608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 — give a REASON: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/ لِذٰلِكَ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378561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36758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 — add an EXAMPLE or a detail: 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مَثَلًا … / كُلَّ يَوْمٍ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45354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4535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442569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 — change the TIME: past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أَمْسِ / فِي المَاضِي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future (</a:t>
            </a:r>
            <a:pPr algn="l" indent="0" marL="0">
              <a:buNone/>
            </a:pPr>
            <a:r>
              <a:rPr lang="ar-SA" altLang="en-US" sz="17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سَوْفَ / فِي المُسْتَقْبَلِ</a:t>
            </a:r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3456432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COACH PUSHES WITH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26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761244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18820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206496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مِثْلَ مَاذَا؟</a:t>
            </a:r>
            <a:endParaRPr lang="ar-SA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3773180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Like what?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200144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218432"/>
            <a:ext cx="4645152" cy="566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وَفِي المَاضِي؟ / وَفِي المُسْتَقْبَلِ؟</a:t>
            </a:r>
            <a:endParaRPr lang="ar-SA" sz="26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4785116"/>
            <a:ext cx="4645152" cy="404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And in the past? / And in the future?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394960"/>
            <a:ext cx="11274552" cy="9144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658368" y="5468112"/>
            <a:ext cx="19202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ROUTES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2606040" y="5449824"/>
            <a:ext cx="8961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Core: A + R. Develop: A + R + E. Stretch: all four, plus an opinion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or a contrast (</a:t>
            </a:r>
            <a:pPr algn="l" indent="0" marL="0">
              <a:buNone/>
            </a:pPr>
            <a:r>
              <a:rPr lang="ar-SA" altLang="en-US" sz="165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لٰكِنَّ</a:t>
            </a:r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4 · CONVERSATION CARD · THE LEADER ASKS, THE COACH PUSHES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Conversation: answer, then keep going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النَّاسُ وَالأَمَاكِنُ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0177272" y="1810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891272" y="1810512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Coach’s follow-up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23951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33272" y="1810512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asks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213848" y="226771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7909560" y="226771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وَجِنْسِيَّةُ وَالِدَيْكَ؟</a:t>
            </a:r>
            <a:endParaRPr lang="ar-SA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276088" y="226771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nationality?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51560" y="226771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جِنْسِيَّتُكَ؟</a:t>
            </a:r>
            <a:endParaRPr lang="ar-SA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226771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9" name="Shape 26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213848" y="2881884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7909560" y="2881884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زُرْتَهَا؟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276088" y="2881884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country’s capital?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2881884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عَاصِمَةُ بَلَدِكَ؟</a:t>
            </a:r>
            <a:endParaRPr lang="ar-SA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2881884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7" name="Shape 34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213848" y="3496056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7909560" y="3496056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القَرِيبُ مِنْهَا؟</a:t>
            </a:r>
            <a:endParaRPr lang="ar-SA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5276088" y="3496056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where your town is on the map.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1051560" y="3496056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مَكَانَ مَدِينَتِكَ عَلَى الخَرِيطَةِ.</a:t>
            </a:r>
            <a:endParaRPr lang="ar-SA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566928" y="3496056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10213848" y="4110228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7909560" y="4110228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276088" y="4110228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country you have visited did you like most?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4110228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بَلَدٍ زُرْتَهُ أَعْجَبَكَ أَكْثَرَ؟</a:t>
            </a:r>
            <a:endParaRPr lang="ar-SA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110228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10213848" y="4724400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909560" y="4724400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500" dirty="0"/>
          </a:p>
        </p:txBody>
      </p:sp>
      <p:sp>
        <p:nvSpPr>
          <p:cNvPr id="52" name="Text 49"/>
          <p:cNvSpPr txBox="1"/>
          <p:nvPr/>
        </p:nvSpPr>
        <p:spPr>
          <a:xfrm>
            <a:off x="5276088" y="4724400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it important to know our grandparents’ country?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1051560" y="4724400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مِنَ المُهِمِّ أَنْ نَعْرِفَ بَلَدَ أَجْدَادِنَا؟</a:t>
            </a:r>
            <a:endParaRPr lang="ar-SA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566928" y="4724400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10213848" y="5338572"/>
            <a:ext cx="144475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7909560" y="5338572"/>
            <a:ext cx="21031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وَالصُّعُوبَاتُ؟</a:t>
            </a:r>
            <a:endParaRPr lang="ar-SA" sz="1500" dirty="0"/>
          </a:p>
        </p:txBody>
      </p:sp>
      <p:sp>
        <p:nvSpPr>
          <p:cNvPr id="58" name="Text 55"/>
          <p:cNvSpPr txBox="1"/>
          <p:nvPr/>
        </p:nvSpPr>
        <p:spPr>
          <a:xfrm>
            <a:off x="5276088" y="5338572"/>
            <a:ext cx="24688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are the benefits of living in a city with people from many countries?</a:t>
            </a:r>
            <a:endParaRPr lang="en-US" sz="1100" dirty="0"/>
          </a:p>
        </p:txBody>
      </p:sp>
      <p:sp>
        <p:nvSpPr>
          <p:cNvPr id="59" name="Text 56"/>
          <p:cNvSpPr txBox="1"/>
          <p:nvPr/>
        </p:nvSpPr>
        <p:spPr>
          <a:xfrm>
            <a:off x="1051560" y="5338572"/>
            <a:ext cx="40233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فَوَائِدُ العَيْشِ فِي مَدِينَةٍ فِيهَا نَاسٌ مِنْ بُلْدَانٍ كَثِيرَةٍ؟</a:t>
            </a:r>
            <a:endParaRPr lang="ar-SA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566928" y="5338572"/>
            <a:ext cx="32004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100" dirty="0"/>
          </a:p>
        </p:txBody>
      </p:sp>
      <p:sp>
        <p:nvSpPr>
          <p:cNvPr id="61" name="Text 58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Each Speaker answers three questions (one per route if you can), using A-R-E-T. The Coach asks the follow-up. Swap.</a:t>
            </a:r>
            <a:endParaRPr lang="en-US" sz="1150" dirty="0"/>
          </a:p>
        </p:txBody>
      </p:sp>
      <p:sp>
        <p:nvSpPr>
          <p:cNvPr id="62" name="Text 5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STEP 5 · THE ONE-MINUTE TALK · RECORD AND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One minute: a country I know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بَلَدٌ أَعْرِفُهُ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STEP 5 · IN YOUR ROOM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⏱  Talk for one minute — no stopping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Talk for one minute about a country you know: where it is (compass points and borders), its capital, its size compared with Britain, the people — and a visit you made or would like to make.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jot 4 key words (one per bullet) — no sentences.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Speaker talks; the Leader times it (record it on your phone or in Teams if you can).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Coach: tick the checklist on the next slide, then WWW + EBI.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Swap. Listen back to your recording at home and fix one sentence.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30 seconds: where it is, the capital, one adjective for the people.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60 seconds: add borders, a comparison (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أَكْبَرُ مِنْ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أَصْغَرُ مِنْ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) and a past visit.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90 seconds: add an opinion and a </a:t>
            </a:r>
            <a:pPr algn="l" indent="0" marL="0">
              <a:buNone/>
            </a:pPr>
            <a:r>
              <a:rPr lang="ar-SA" altLang="en-US" sz="1500" dirty="0">
                <a:solidFill>
                  <a:srgbClr val="1F2A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</a:t>
            </a:r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 … sentence about living there.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سَأَتَكَلَّمُ عَنْ …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going to talk about …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ثُمَّ …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 … then …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 …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addition …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الخِتَامِ …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 finish …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COACH · CHECKLIST FOR EVERY STEP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Coach: tick, then give WWW + EBI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المُدَرِّبِ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754112" y="1810512"/>
            <a:ext cx="859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382512" y="1810512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705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Speaker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226771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419088" y="226771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question / task in a FULL sentence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790688" y="2881884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419088" y="2881884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يَقَعُ / تَقَعُ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correctly (m. / f. country)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790688" y="3496056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419088" y="3496056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 and a detail (time, frequency, example)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790688" y="4110228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419088" y="4110228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made nisba adjectives agree (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مِصْرِيٌّ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مِصْرِيَّةٌ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450" dirty="0">
                <a:solidFill>
                  <a:srgbClr val="5A647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مِصْرِيُّونَ</a:t>
            </a:r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790688" y="4724400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419088" y="4724400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changed the time frame (past or future) or gave an opinion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790688" y="5338572"/>
            <a:ext cx="8229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419088" y="5338572"/>
            <a:ext cx="118872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66928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is kind and specific: “WWW: you used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</a:t>
            </a:r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 twice. EBI: add a past sentence.”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1: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بِرِيطَانِيٌّ مِنْ مَانْشِسْتَرَ.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British, from Manchester.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مِنْ أَيْنَ أَنْتَ؟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تَقَعُ فِي شَمَالِ غَرْبِ إِنْجِلْتِرَا.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in the north-west of England.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تَقَعُ مَانْشِسْتَرُ؟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أَزُورَ البَتْرَاءَ وَالبَحْرَ المَيِّتَ.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visit Petra and the Dead Sea.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تُرِيدُ أَنْ تَزُورَ فِي الأُرْدُنِّ؟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كِيلُومِتْرًا بَيْنَ عَمَّانَ وَالبَتْرَاءِ؟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kilometres between Amman and Petra?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البَتْرَاءُ فِي الجَنُوبِ.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زُرْتُ المَغْرِبَ، وَهُوَ يَقَعُ فِي غَرْبِ شَمَالِ إِفْرِيقْيَا.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visited Morocco, which is in the west of North Africa.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زُرْتَ بَلَدًا عَرَبِيًّا آخَرَ؟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ROLE PLAY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2: compare with a strong answer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إِجَابَتَكَ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Leader reads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يَقَعُ لُبْنَانُ فِي غَرْبِ آسِيَا عَلَى البَحْرِ الأَبْيَضِ المُتَوَسِّطِ، وَعَلَى حُدُودِ سُورِيَا وَفِلَسْطِينَ.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Lebanon is in western Asia on the Mediterranean, on the border of Syria and Palestine.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حَدِّثْنَا عَنْ بَلَدِ عَائِلَتِكَ: أَيْنَ يَقَعُ؟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هُوَ أَصْغَرُ مِنْ بِرِيطَانِيَا بِكَثِيرٍ، وَسُكَّانُهُ أَقَلُّ مِنْ سُكَّانِ لَنْدَنَ.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it is much smaller than Britain, and its population is smaller than London’s.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هُوَ بَلَدٌ كَبِيرٌ؟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اللُّبْنَانِيُّونَ كُرَمَاءُ وَيُحِبُّونَ الضُّيُوفَ، وَيَتَكَلَّمُ كَثِيرٌ مِنْهُمْ ثَلَاثَ لُغَاتٍ.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Lebanese are generous and love guests, and many speak three languages.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يُمَيِّزُ النَّاسَ هُنَاكَ؟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زُرْتُ بَيْرُوتَ قَبْلَ سَنَتَيْنِ، وَصَعِدْنَا إِلَى الجِبَالِ فِي الشَّمَالِ، فَرَأَيْنَا الثَّلْجَ فِي الرَّبِيعِ!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visited Beirut two years ago and we went up to the mountains in the north — we saw snow in spring!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زُرْتَهُ؟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سَكَنْتُ هُنَاكَ، لَاخْتَرْتُ الشَّمَالَ، لِأَنَّ الجَوَّ أَبْرَدُ، وَلِأَنَّ عَائِلَةَ أُمِّي تَسْكُنُ فِي طَرَابُلُسَ.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lived there, I would choose the north, because it is cooler and my mum’s family live in Tripoli.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سَكَنْتَ هُنَاكَ، أَيْنَ تَسْكُنُ: فِي الشَّمَالِ أَمْ فِي الجَنُوبِ؟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Compare: did you answer EVERY task with a full sentence? Steal one phrase you did not use and say it aloud.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CHECK YOURSELF · CONVERSATION AND ONE-MINUTE TALK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Strong answers to compare with yours</a:t>
            </a:r>
            <a:endParaRPr lang="en-US" sz="23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نَمَاذِجُ لِلْمُقَارَنَةِ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 strong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تَقَعُ بِرْمِنْغْهَامُ فِي وَسَطِ إِنْجِلْتِرَا، شَمَالَ غَرْبِ لَنْدَنَ؛ هِيَ ثَانِي أَكْبَرِ مَدِينَةٍ فِي بِرِيطَانِيَا، لِذٰلِكَ فِيهَا مَحَطَّاتٌ كَثِيرَةٌ، وَسَأَدْرُسُ فِي جَامِعَتِهَا إِنْ شَاءَ اللّٰهُ.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Birmingham is in central England, north-west of London · R/E: the second-biggest city in Britain, so it has many stations · T: I will study at its university, God willing.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مَكَانَ مَدِينَتِكَ عَلَى الخَرِيطَةِ.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أَعْجَبَتْنِي تُونُسُ أَكْثَرَ، لِأَنَّ النَّاسَ هُنَاكَ لُطَفَاءُ؛ تَقَعُ فِي شَمَالِ إِفْرِيقْيَا عَلَى البَحْرِ، وَسَبَحْنَا فِيهِ كُلَّ يَوْمٍ، وَأَتَمَنَّى أَنْ أَرْجِعَ إِلَيْهَا قَرِيبًا.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A: Tunisia · R: the people are kind · E: in North Africa on the sea, we swam every day · T: I hope to go back soon.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بَلَدٍ زُرْتَهُ أَعْجَبَكَ أَكْثَرَ؟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رَأْيِي نَعَمْ، لِأَنَّهُ جُزْءٌ مِنْ هُوِيَّتِنَا؛ مَثَلًا، عِنْدَمَا زُرْتُ قَرْيَةَ جَدِّي فِي جَنُوبِ المَغْرِبِ، فَهِمْتُ لِمَاذَا يُحِبُّ الشَّايَ وَالضُّيُوفَ كَثِيرًا.</a:t>
            </a:r>
            <a:endParaRPr lang="ar-SA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Opinion: yes · R: it is part of our identity · E: when I visited grandad’s village in southern Morocco I understood why he loves tea and guests so much.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مِنَ المُهِمِّ أَنْ نَعْرِفَ بَلَدَ أَجْدَادِنَا؟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Find the A, R, E and T in each answer. Which link do you usually forget?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TC-L01 · Speaking practice room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practice room · TC-L01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every role-play task in a full sentence.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planned my first words from the question word.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climbed to level 3: answer + reason + detail.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today’s key structure correctly when I spoke.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all four A-R-E-T links and spoke for 90 seconds.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TC-L01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you ran your own speaking practice!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TC-L01 · Writing practice room · Decode, plan, write and check — step by step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غُرْفَةُ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answer + reason + detail + another time frame — every time you speak.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TC-L01 · Speaking Practice Room — People, Places and Compass Points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2026-10-25T14:48:39Z</dcterms:created>
  <dcterms:modified xsi:type="dcterms:W3CDTF">2026-10-25T14:48:39Z</dcterms:modified>
</cp:coreProperties>
</file>