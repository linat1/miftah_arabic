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C · The World Around Us, Lesson 6 (The digital world and communication, TC-L06)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(78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GUIDED PRACTICE  ·  TC-L06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Digital World and Communication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العَالَمُ الرَّقْمِيُّ وَالتَّوَاصُلُ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form, decoding a new Q2 task (a blog post about a digital detox),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TC-L06 · Advanced Topic C · The World Around Us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New app: create your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تَطْبِيقٌ جَدِيدٌ: أَنْشِئْ مَلَفَّكَ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made-up name — never your full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Username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اسْمُ المُسْتَخْدِمِ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خَمْسَ عَشْرَةَ سَنَةً</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العُمْرُ</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هَاتِفٌ ذَكِيٌّ · حَاسُوبٌ</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Device</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الجِهَازُ</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الأَلْعَابُ · الطَّبْخُ</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Interests</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الاهْتِمَامَاتُ</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سَاعَتَانِ</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Hours per day</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سَاعَةً يَوْمِيًّا؟</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أُرِيدُهُ لِكَيْ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want this app</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تُرِيدُ هٰذَا التَّطْبِيقَ؟</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Question 2: my week without a phone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أُسْبُوعِي بِدُونِ هَاتِفٍ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took part in a “digital detox” week. Write a blog post in Arabic of about 80–90 words. You must include: • how you normally use technology • what you did during the week without your phone • one advantage and one disadvantage of the experience • how you will use technology in the future.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عَادَةً أَسْتَعْمِلُ … لِكَيْ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normally I use …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خِلَالَ الأُسْبُوعِ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during the week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فَوَائِدِ التَّجْرِبَةِ … ، وَمِنْ عُيُوبِهَا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benefit of the experience … and one drawback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المُسْتَقْبَلِ سَأَسْتَعْمِلُ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future I will 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مُدَوَّنَةً عَنْ أُسْبُوعِكَ بِدُونِ هَاتِفٍ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تَسْتَعْمِلُ التِّكْنُولُوجْيَا عَادَةً؟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خِلَالَ الأُسْبُوعِ؟</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فَائِدَةٌ وَعَيْبٌ لِلتَّجْرِبَةِ.</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سَتَسْتَعْمِلُ التِّكْنُولُوجْيَا فِي المُسْتَقْبَلِ؟</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 blog post about your week without a phone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BLOG POST → a title, a chatty tone, speak to readers</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مُدَوَّنَةً عَنْ أُسْبُوعِكَ بِدُونِ هَاتِفٍ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normally use technology</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عَادَةً</a:t>
            </a:r>
            <a:pPr algn="l" indent="0" marL="0">
              <a:buNone/>
            </a:pPr>
            <a:r>
              <a:rPr lang="en-US" sz="1100" dirty="0">
                <a:solidFill>
                  <a:srgbClr val="5A6472"/>
                </a:solidFill>
                <a:latin typeface="Calibri" pitchFamily="34" charset="0"/>
                <a:cs typeface="Amiri" pitchFamily="2" charset="-78"/>
              </a:rPr>
              <a:t> → PRESENT habits + frequency</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تَسْتَعْمِلُ التِّكْنُولُوجْيَا عَادَةً؟</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during the week</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فَعَلْتَ خِلَالَ الأُسْبُوعِ</a:t>
            </a:r>
            <a:pPr algn="l" indent="0" marL="0">
              <a:buNone/>
            </a:pPr>
            <a:r>
              <a:rPr lang="en-US" sz="1100" dirty="0">
                <a:solidFill>
                  <a:srgbClr val="5A6472"/>
                </a:solidFill>
                <a:latin typeface="Calibri" pitchFamily="34" charset="0"/>
                <a:cs typeface="Amiri" pitchFamily="2" charset="-78"/>
              </a:rPr>
              <a:t> → PAST, in order</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فَعَلْتَ خِلَالَ الأُسْبُوعِ؟</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advantage and one disadvantage</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فَائِدَةٌ وَعَيْبٌ</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مِنْ فَوَائِدِ</a:t>
            </a:r>
            <a:pPr algn="l" indent="0" marL="0">
              <a:buNone/>
            </a:pPr>
            <a:r>
              <a:rPr lang="en-US" sz="1100" dirty="0">
                <a:solidFill>
                  <a:srgbClr val="5A6472"/>
                </a:solidFill>
                <a:latin typeface="Calibri" pitchFamily="34" charset="0"/>
                <a:cs typeface="Amiri" pitchFamily="2" charset="-78"/>
              </a:rPr>
              <a:t> … · </a:t>
            </a:r>
            <a:pPr algn="l" indent="0" marL="0">
              <a:buNone/>
            </a:pPr>
            <a:r>
              <a:rPr lang="ar-SA" altLang="en-US" sz="1450" dirty="0">
                <a:solidFill>
                  <a:srgbClr val="5A6472"/>
                </a:solidFill>
                <a:latin typeface="Amiri" pitchFamily="2" charset="-78"/>
                <a:ea typeface="Amiri" pitchFamily="2" charset="-78"/>
                <a:cs typeface="Amiri" pitchFamily="2" charset="-78"/>
              </a:rPr>
              <a:t>مِنْ عُيُوبِ</a:t>
            </a:r>
            <a:pPr algn="l" indent="0" marL="0">
              <a:buNone/>
            </a:pPr>
            <a:r>
              <a:rPr lang="en-US" sz="1100" dirty="0">
                <a:solidFill>
                  <a:srgbClr val="5A6472"/>
                </a:solidFill>
                <a:latin typeface="Calibri" pitchFamily="34" charset="0"/>
                <a:cs typeface="Amiri" pitchFamily="2" charset="-78"/>
              </a:rPr>
              <a:t> … (balance)</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فَائِدَةٌ وَعَيْبٌ لِلتَّجْرِبَةِ.</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will use technology in future</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سَتَسْتَعْمِلُ</a:t>
            </a:r>
            <a:pPr algn="l" indent="0" marL="0">
              <a:buNone/>
            </a:pPr>
            <a:r>
              <a:rPr lang="en-US" sz="1100" dirty="0">
                <a:solidFill>
                  <a:srgbClr val="5A6472"/>
                </a:solidFill>
                <a:latin typeface="Calibri" pitchFamily="34" charset="0"/>
                <a:cs typeface="Amiri" pitchFamily="2" charset="-78"/>
              </a:rPr>
              <a:t> → FUTURE (sa- + verb: </a:t>
            </a:r>
            <a:pPr algn="l" indent="0" marL="0">
              <a:buNone/>
            </a:pPr>
            <a:r>
              <a:rPr lang="ar-SA" altLang="en-US" sz="1450" dirty="0">
                <a:solidFill>
                  <a:srgbClr val="5A6472"/>
                </a:solidFill>
                <a:latin typeface="Amiri" pitchFamily="2" charset="-78"/>
                <a:ea typeface="Amiri" pitchFamily="2" charset="-78"/>
                <a:cs typeface="Amiri" pitchFamily="2" charset="-78"/>
              </a:rPr>
              <a:t>سَأُغْلِقُ</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سَأَحْذِفُ</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سَتَسْتَعْمِلُ التِّكْنُولُوجْيَا فِي المُسْتَقْبَلِ؟</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أُحِبُّ الإِنْتَرْنِتَ.</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like the internet.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أُحِبُّ الإِنْتَرْنِتَ، لِأَنِّي أَتَعَلَّمُ مِنْهُ أَشْيَاءَ جَدِيدَةً كُلَّ يَوْمٍ.</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because I learn new things from it every day.</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2" charset="-78"/>
                <a:ea typeface="Amiri" pitchFamily="2" charset="-78"/>
                <a:cs typeface="Amiri" pitchFamily="2" charset="-78"/>
              </a:rPr>
              <a:t>… مَثَلًا، تَعَلَّمْتُ البَرْمَجَةَ مِنْ فِيدْيُوهَاتٍ مَجَّانِيَّةٍ فِي الصَّيْفِ المَاضِي.</a:t>
            </a:r>
            <a:endParaRPr lang="ar-SA" sz="22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for example, I learnt coding from free videos last summer.</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صَحِيحٌ أَنَّ الإِنْتَرْنِتَ مُفِيدٌ، غَيْرَ أَنَّ بَعْضَ المَعْلُومَاتِ فِيهِ غَيْرُ صَحِيحَةٍ، لِذٰلِكَ أَتَأَكَّدُ دَائِمًا.</a:t>
            </a:r>
            <a:endParaRPr lang="ar-SA" sz="185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it’s true the internet is useful, but some information on it is wrong, so I always check.</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keep in touch with my cousins.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أَتَوَاصَلُ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أَتَوَاصَلْتُ</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أَبْنَاءِ عَمِّي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أَبْنَاءُ عَمِّي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comment on my friend’s photos.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أُعَلِّقُ</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أُعَلِّمُ</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صُوَرِ صَدِيقِي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الصُّوَرِ صَدِيقِي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One of the drawbacks of phones is addiction.</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عُيُوبِ</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فَوَائِدِ</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الهَوَاتِفِ</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الهَوَاتِفُ</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الإِدْمَانُ</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الإِدْمَانَ</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keep in touch with my cousins.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أَتَوَاصَلُ مَعَ</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أَتَوَاصَلُ مَعَ أَبْنَاءِ عَمِّي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comment on my friend’s photos.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أُعَلِّقُ عَلَى</a:t>
            </a:r>
            <a:pPr algn="l" indent="0" marL="0">
              <a:buNone/>
            </a:pPr>
            <a:r>
              <a:rPr lang="en-US" sz="1050" i="1" dirty="0">
                <a:solidFill>
                  <a:srgbClr val="5A6472"/>
                </a:solidFill>
                <a:latin typeface="Calibri" pitchFamily="34" charset="0"/>
                <a:cs typeface="Amiri" pitchFamily="2" charset="-78"/>
              </a:rPr>
              <a:t>; “my friend’s photos” = iḍāfa </a:t>
            </a:r>
            <a:pPr algn="l" indent="0" marL="0">
              <a:buNone/>
            </a:pPr>
            <a:r>
              <a:rPr lang="ar-SA" altLang="en-US" sz="1350" dirty="0">
                <a:solidFill>
                  <a:srgbClr val="5A6472"/>
                </a:solidFill>
                <a:latin typeface="Amiri" pitchFamily="2" charset="-78"/>
                <a:ea typeface="Amiri" pitchFamily="2" charset="-78"/>
                <a:cs typeface="Amiri" pitchFamily="2" charset="-78"/>
              </a:rPr>
              <a:t>صُوَرِ صَدِيقِي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أُعَلِّقُ عَلَى صُوَرِ صَدِيقِي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One of the drawbacks of phones is addiction.</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مِنْ عُيُوبِ</a:t>
            </a:r>
            <a:pPr algn="l" indent="0" marL="0">
              <a:buNone/>
            </a:pPr>
            <a:r>
              <a:rPr lang="en-US" sz="1050" i="1" dirty="0">
                <a:solidFill>
                  <a:srgbClr val="5A6472"/>
                </a:solidFill>
                <a:latin typeface="Calibri" pitchFamily="34" charset="0"/>
                <a:cs typeface="Amiri" pitchFamily="2" charset="-78"/>
              </a:rPr>
              <a:t> + genitive; the subject </a:t>
            </a:r>
            <a:pPr algn="l" indent="0" marL="0">
              <a:buNone/>
            </a:pPr>
            <a:r>
              <a:rPr lang="ar-SA" altLang="en-US" sz="1350" dirty="0">
                <a:solidFill>
                  <a:srgbClr val="5A6472"/>
                </a:solidFill>
                <a:latin typeface="Amiri" pitchFamily="2" charset="-78"/>
                <a:ea typeface="Amiri" pitchFamily="2" charset="-78"/>
                <a:cs typeface="Amiri" pitchFamily="2" charset="-78"/>
              </a:rPr>
              <a:t>الإِدْمَانُ</a:t>
            </a:r>
            <a:pPr algn="l" indent="0" marL="0">
              <a:buNone/>
            </a:pPr>
            <a:r>
              <a:rPr lang="en-US" sz="1050" i="1" dirty="0">
                <a:solidFill>
                  <a:srgbClr val="5A6472"/>
                </a:solidFill>
                <a:latin typeface="Calibri" pitchFamily="34" charset="0"/>
                <a:cs typeface="Amiri" pitchFamily="2" charset="-78"/>
              </a:rPr>
              <a:t> comes last.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مِنْ عُيُوبِ الهَوَاتِفِ الإِدْمَانُ</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أَتَوَاصَلُ مَعَ ______ ، وَأَبْحَثُ عَنْ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keep in touch with …, and I search for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بَدَلًا مِنَ الهَاتِفِ ______ ، ثُمَّ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Instead of the phone I …, then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مِنْ فَوَائِدِ التَّجْرِبَةِ ______ ، وَمِنْ عُيُوبِهَا ______ .</a:t>
            </a:r>
            <a:endParaRPr lang="ar-SA" sz="14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One benefit was …, and one drawback was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قَرَّرْتُ أَنْ ______ ، لِكَيْ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decided to …, so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أُسْبُوعِي بِدُونِ هَاتِفٍ</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Title: My week without a phone</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عَادَةً أَسْتَعْمِلُ هَاتِفِي ______ سَاعَاتٍ كُلَّ يَوْمٍ لِكَيْ ______ .</a:t>
            </a:r>
            <a:endParaRPr lang="ar-SA" sz="13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Normally I use my phone … hours a day to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خِلَالَ الأُسْبُوعِ ______ وَ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During the week I … and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كَانَتِ التَّجْرِبَةُ مُفِيدَةً لِأَنَّ ______ ، لٰكِنَّ ______ .</a:t>
            </a:r>
            <a:endParaRPr lang="ar-SA" sz="15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The experience was useful because …, but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المُسْتَقْبَلِ سَأُغْلِقُ هَاتِفِي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In the future I will switch off my phone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هَاتِفٌ ذَكِيٌّ  ·  تَطْبِيقٌ  ·  وَسَائِلُ التَّوَاصُلِ الاجْتِمَاعِيِّ  ·  أَتَوَاصَلُ مَعَ  ·  أَتَصَفَّحُ  ·  إِدْمَانٌ  ·  مِنْ فَوَائِدِ  ·  مِنْ عُيُوبِ</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أَبْحَثُ المَعْلُومَاتِ عَلَى الإِنْتَرْنِتِ.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This verb needs a small word.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أَقْضِي ثَلَاثَةَ سَاعَاتٍ عَلَى هَاتِفِي.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سَاعَةٌ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الهَاتِفُ الذَّكِيُّ مُفِيدَةٌ.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Agreement.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أَبْحَثُ المَعْلُومَاتِ عَلَى الإِنْتَرْنِتِ.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أَبْحَثُ عَنِ المَعْلُومَاتِ عَلَى الإِنْتَرْنِتِ.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أَبْحَثُ عَنْ</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أَقْضِي ثَلَاثَةَ سَاعَاتٍ عَلَى هَاتِفِي.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أَقْضِي ثَلَاثَ سَاعَاتٍ عَلَى هَاتِفِي.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3–10: the number takes the opposite gender → </a:t>
            </a:r>
            <a:pPr algn="l" indent="0" marL="0">
              <a:buNone/>
            </a:pPr>
            <a:r>
              <a:rPr lang="ar-SA" altLang="en-US" sz="1500" b="1" dirty="0">
                <a:solidFill>
                  <a:srgbClr val="1B3B6F"/>
                </a:solidFill>
                <a:latin typeface="Amiri" pitchFamily="2" charset="-78"/>
                <a:ea typeface="Amiri" pitchFamily="2" charset="-78"/>
                <a:cs typeface="Amiri" pitchFamily="2" charset="-78"/>
              </a:rPr>
              <a:t>ثَلَاثُ سَاعَاتٍ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الهَاتِفُ الذَّكِيُّ مُفِيدَةٌ.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الهَاتِفُ الذَّكِيُّ مُفِيدٌ.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هَاتِفٌ</a:t>
            </a:r>
            <a:pPr algn="l" indent="0" marL="0">
              <a:buNone/>
            </a:pPr>
            <a:r>
              <a:rPr lang="en-US" sz="1150" b="1" dirty="0">
                <a:solidFill>
                  <a:srgbClr val="1B3B6F"/>
                </a:solidFill>
                <a:latin typeface="Calibri" pitchFamily="34" charset="0"/>
                <a:cs typeface="Amiri" pitchFamily="2" charset="-78"/>
              </a:rPr>
              <a:t> is masculine → </a:t>
            </a:r>
            <a:pPr algn="l" indent="0" marL="0">
              <a:buNone/>
            </a:pPr>
            <a:r>
              <a:rPr lang="ar-SA" altLang="en-US" sz="1500" b="1" dirty="0">
                <a:solidFill>
                  <a:srgbClr val="1B3B6F"/>
                </a:solidFill>
                <a:latin typeface="Amiri" pitchFamily="2" charset="-78"/>
                <a:ea typeface="Amiri" pitchFamily="2" charset="-78"/>
                <a:cs typeface="Amiri" pitchFamily="2" charset="-78"/>
              </a:rPr>
              <a:t>مُفِيدٌ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ea typeface="Amiri" pitchFamily="2" charset="-78"/>
                <a:cs typeface="Amiri" pitchFamily="2" charset="-78"/>
              </a:rPr>
              <a:t>فِي السَّنَةِ المَاضِيَةِ سَاعَدَنِي هَاتِفِي فِي مَوْقِفٍ صَعْبٍ.</a:t>
            </a:r>
            <a:endParaRPr lang="ar-SA" sz="21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Last year my phone helped me in a difficult situation.</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250" b="1" dirty="0">
                <a:solidFill>
                  <a:srgbClr val="1B3B6F"/>
                </a:solidFill>
                <a:latin typeface="Amiri" pitchFamily="2" charset="-78"/>
                <a:ea typeface="Amiri" pitchFamily="2" charset="-78"/>
                <a:cs typeface="Amiri" pitchFamily="2" charset="-78"/>
              </a:rPr>
              <a:t>ضِعْتُ فِي مَدِينَةٍ جَدِيدَةٍ، فَفَتَحْتُ تَطْبِيقَ الخَرَائِطِ.</a:t>
            </a:r>
            <a:endParaRPr lang="ar-SA" sz="22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I got lost in a new city, so I opened the maps app.</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كَانَ مُهِمًّا لِأَنَّ اللَّيْلَ كَانَ قَرِيبًا.</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It mattered because night was close.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شَعَرْتُ بِالرَّاحَةِ عِنْدَمَا وَصَلْتُ.</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felt relieved when I arrived.</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when technology helped me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عِنْدَمَا سَاعَدَتْنِي التِّكْنُولُوجْيَا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“Technology: friend or enemy?”. Today write ONLY the past paragraph: a time technology really helped you (or caused a problem) — what happened, which device or app, why it mattered,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يَوْمٍ مِنَ الأَيَّامِ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day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فَتَحْتُ تَطْبِيقَ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opened the … app</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بِفَضْلِ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thanks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لَوْلَا هَاتِفِي لَضِعْتُ</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without my phone I would have got lost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شَعَرْتُ بِالرَّاحَةِ / بِالقَلَقِ</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felt relieved / anxious</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أُسْبُوعِي بِدُونِ هَاتِفٍ</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عَادَةً أَسْتَعْمِلُ هَاتِفِي حَوَالَيْ خَمْسِ سَاعَاتٍ كُلَّ يَوْمٍ، لِكَيْ أَتَوَاصَلَ مَعَ أَصْدِقَائِي، وَأَتَصَفَّحَ الفِيدْيُوهَاتِ، وَأَبْحَثَ عَنْ مَعْلُومَاتٍ لِلْوَاجِبَاتِ. فِي الأُسْبُوعِ المَاضِي أَعْطَيْتُ هَاتِفِي لِأُمِّي سَبْعَةَ أَيَّامٍ! بَدَلًا مِنْهُ قَرَأْتُ رِوَايَتَيْنِ، وَلَعِبْتُ كُرَةَ القَدَمِ مَعَ جِيرَانِي، وَطَبَخْتُ العَشَاءَ مَعَ جَدَّتِي مَرَّتَيْنِ. مِنْ فَوَائِدِ التَّجْرِبَةِ أَنِّي نِمْتُ أَفْضَلَ، وَشَعَرْتُ بِهُدُوءٍ أَكْثَرَ، وَمِنْ عُيُوبِهَا أَنِّي لَمْ أَعْرِفْ أَخْبَارَ أَصْدِقَائِي، فَشَعَرْتُ بِالوَحْدَةِ قَلِيلًا. فِي المُسْتَقْبَلِ سَأُغْلِقُ هَاتِفِي سَاعَةً قَبْلَ النَّوْمِ، وَسَأَحْذِفُ تَطْبِيقَيْنِ، لِكَيْ أَقْضِيَ وَقْتًا أَطْوَلَ مَعَ عَائِلَتِي.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نُورٌ</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week without a phone. Normally I use my phone about five hours a day, to keep in touch with my friends, browse videos and search for homework information. Last week I gave my phone to my mum for seven days! Instead I read two novels, played football with my neighbours and cooked dinner with my grandmother twice. One benefit was that I slept better and felt calmer; one drawback was that I didn’t know my friends’ news, so I felt a bit lonely. In future I will switch off my phone an hour before bed and delete two apps, so that I spend longer with my family. Nour.”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أَتَوَاصَلَ مَعَ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بَدَلًا مِنْهُ قَرَأْتُ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فَوَائِدِ … وَمِنْ عُيُوبِهَا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سَأُغْلِقُ هَاتِفِي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الشِّتَاءِ المَاضِي، كَانَتْ جَدَّتِي فِي المُسْتَشْفَى فِي بَغْدَادَ، وَلَمْ نَسْتَطِعْ أَنْ نُسَافِرَ إِلَيْهَا بِسَبَبِ الامْتِحَانَاتِ. لِذٰلِكَ اتَّصَلْنَا بِهَا كُلَّ مَسَاءٍ بِالفِيدْيُو، وَكُنْتُ أَقْرَأُ لَهَا القُرْآنَ، وَأُرِيهَا صُوَرَ قِطَّتِنَا الجَدِيدَةِ. كَانَتْ تَضْحَكُ كَثِيرًا، وَقَالَ الطَّبِيبُ إِنَّ ذٰلِكَ سَاعَدَهَا. كَانَتْ هٰذِهِ المُكَالَمَاتُ مُهِمَّةً جِدًّا، لِأَنَّهَا جَعَلَتْنَا قَرِيبِينَ مِنْهَا. شَعَرْتُ بِالامْتِنَانِ لِلتِّكْنُولُوجْيَا، لِأَنَّهُ لَوْلَا الهَاتِفُ، لَمَا رَأَيْتُ وَجْهَهَا شَهْرَيْنِ.</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last winter my grandmother was in hospital in Baghdad, and we couldn’t travel to her because of exams · D: so we video-called her every evening; I used to read Qur’an to her and show her photos of our new cat; she laughed a lot, and the doctor said it helped her · R: these calls mattered because they kept us close to her · F: I felt grateful for technology — without the phone, I wouldn’t have seen her face for two months.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نَسْتَطِعْ أَنْ نُسَافِرَ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اتَّصَلْنَا بِهَا كُلَّ مَسَاءٍ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كُنْتُ أَقْرَأُ … وَأُرِيهَا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لَوْلَا الهَاتِفُ، لَمَا رَأَيْتُ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TC-L07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TC-L06 · Writing Practice Room — Digital World and Communication</dc:title>
  <dc:subject>PptxGenJS Presentation</dc:subject>
  <dc:creator>Al Madina Online School · Arabic Department</dc:creator>
  <cp:lastModifiedBy>Al Madina Online School · Arabic Department</cp:lastModifiedBy>
  <cp:revision>1</cp:revision>
  <dcterms:created xsi:type="dcterms:W3CDTF">2026-10-25T14:55:03Z</dcterms:created>
  <dcterms:modified xsi:type="dcterms:W3CDTF">2026-10-25T14:55:03Z</dcterms:modified>
</cp:coreProperties>
</file>