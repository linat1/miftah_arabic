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C · The World Around Us, Lesson 12 (Topic C Review — mock exam practice, TC-L12)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(85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(64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GUIDED PRACTICE  ·  TC-L12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750" b="1" dirty="0">
                <a:solidFill>
                  <a:srgbClr val="FFFFFF"/>
                </a:solidFill>
                <a:latin typeface="Cambria" pitchFamily="34" charset="0"/>
                <a:cs typeface="Amiri" pitchFamily="2" charset="-78"/>
              </a:rPr>
              <a:t>Writing Practice Room — Topic C Review</a:t>
            </a:r>
            <a:endParaRPr lang="en-US" sz="27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مُرَاجَعَةُ المِحْوَرِ الثَّالِثِ</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The last Topic C writing room before the mock: a Q1 warm-up form, decoding a new Q2 task (a report on an eco-trip), upgrading sentences, writing with a buddy, spotting and fixing the most common Topic C errors, and one Q3 paragraph with the T-D-R-F formula.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TC-L12 · Advanced Topic C · The World Around Us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TC-L12</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Eco-trip: registration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50" b="1" dirty="0">
                <a:solidFill>
                  <a:srgbClr val="8A6D1E"/>
                </a:solidFill>
                <a:latin typeface="Amiri" pitchFamily="2" charset="-78"/>
                <a:ea typeface="Amiri" pitchFamily="2" charset="-78"/>
                <a:cs typeface="Amiri" pitchFamily="2" charset="-78"/>
              </a:rPr>
              <a:t>الرِّحْلَةُ البِيئِيَّةُ: اسْتِمَارَةُ التَّسْجِيلِ</a:t>
            </a:r>
            <a:endParaRPr lang="ar-SA" sz="265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36408" y="2267712"/>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name + family name.</a:t>
            </a:r>
            <a:endParaRPr lang="en-US" sz="11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36408" y="2881884"/>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Agree: </a:t>
            </a:r>
            <a:pPr algn="l" indent="0" marL="0">
              <a:buNone/>
            </a:pPr>
            <a:r>
              <a:rPr lang="ar-SA" altLang="en-US" sz="1450" dirty="0">
                <a:solidFill>
                  <a:srgbClr val="5A6472"/>
                </a:solidFill>
                <a:latin typeface="Amiri" pitchFamily="2" charset="-78"/>
                <a:ea typeface="Amiri" pitchFamily="2" charset="-78"/>
                <a:cs typeface="Amiri" pitchFamily="2" charset="-78"/>
              </a:rPr>
              <a:t>بِرِيطَانِيٌّ / بِرِيطَانِيَّةٌ</a:t>
            </a:r>
            <a:endParaRPr lang="en-US" sz="11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Nationality</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الجِنْسِيَّةُ</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18120" y="3496056"/>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المَغْرِبُ · الأُرْدُنُّ</a:t>
            </a:r>
            <a:endParaRPr lang="ar-SA" sz="20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country you want to visit</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البَلَدُ الَّذِي تُرِيدُ أَنْ تَزُورَهُ</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18120" y="4110228"/>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الرَّبِيعُ</a:t>
            </a:r>
            <a:endParaRPr lang="ar-SA" sz="20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Favourite season to travel</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الفَصْلُ المُفَضَّلُ لِلسَّفَرِ</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18120" y="4724400"/>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تَنْظِيفُ الشَّاطِئِ</a:t>
            </a:r>
            <a:endParaRPr lang="ar-SA" sz="20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eco-activity</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نَشَاطٌ بِيئِيٌّ</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18120" y="533857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أَحْمِلُ زُجَاجَةً مَعْدِنِيَّةً لِكَيْ …</a:t>
            </a:r>
            <a:endParaRPr lang="ar-SA" sz="20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what you carry in your bag</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مَاذَا تَحْمِلُ فِي حَقِيبَتِكَ؟</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Question 2: a report on our eco-trip</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تَقْرِيرٌ عَنْ رِحْلَتِنَا البِيئِيَّةِ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Your class went on an eco-trip. Write a report in Arabic for the school website of about 80–90 words. You must include: • where you went (location, landscape, weather) • an environmental problem you saw and its cause • what you did to help • what people should do in future, and your opinion.</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ذَهَبَ صَفُّنَا إِلَى … الَّذِي / الَّتِي يَقَعُ / تَقَعُ فِي …</a:t>
            </a:r>
            <a:endParaRPr lang="ar-SA" sz="15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our class went to …, which is in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الجَوُّ … ، وَكَانَتِ المَنَاظِرُ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weather was … and the scenery was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رَأَيْنَا … بِسَبَبِ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saw … because of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عَلَى النَّاسِ أَنْ … لِكَيْ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people must … so that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تَقْرِيرًا لِمَوْقِعِ المَدْرَسَةِ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ذَهَبْتُمْ؟ صِفِ المَكَانَ وَالطَّقْسَ.</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المُشْكِلَةُ البِيئِيَّةُ الَّتِي رَأَيْتُمُوهَا؟ وَمَا سَبَبُهَا؟</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فَعَلْتُمْ لِتُسَاعِدُوا؟</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يَجِبُ أَنْ يَفْعَلَ النَّاسُ؟ وَمَا رَأْيُكَ؟</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a report for the school website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REPORT → a title, factual tone, </a:t>
            </a:r>
            <a:pPr algn="l" indent="0" marL="0">
              <a:buNone/>
            </a:pPr>
            <a:r>
              <a:rPr lang="ar-SA" altLang="en-US" sz="1450" dirty="0">
                <a:solidFill>
                  <a:srgbClr val="5A6472"/>
                </a:solidFill>
                <a:latin typeface="Amiri" pitchFamily="2" charset="-78"/>
                <a:ea typeface="Amiri" pitchFamily="2" charset="-78"/>
                <a:cs typeface="Amiri" pitchFamily="2" charset="-78"/>
              </a:rPr>
              <a:t>نَحْنُ</a:t>
            </a:r>
            <a:pPr algn="l" indent="0" marL="0">
              <a:buNone/>
            </a:pPr>
            <a:r>
              <a:rPr lang="en-US" sz="1100" dirty="0">
                <a:solidFill>
                  <a:srgbClr val="5A6472"/>
                </a:solidFill>
                <a:latin typeface="Calibri" pitchFamily="34" charset="0"/>
                <a:cs typeface="Amiri" pitchFamily="2" charset="-78"/>
              </a:rPr>
              <a:t> (we)</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اكْتُبْ تَقْرِيرًا لِمَوْقِعِ المَدْرَسَةِ (٨٠–٩٠ كَلِمَةً).</a:t>
            </a:r>
            <a:endParaRPr lang="ar-SA" sz="16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the place and weather</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أَيْنَ ذَهَبْتُمْ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صِفْ</a:t>
            </a:r>
            <a:pPr algn="l" indent="0" marL="0">
              <a:buNone/>
            </a:pPr>
            <a:r>
              <a:rPr lang="en-US" sz="1100" dirty="0">
                <a:solidFill>
                  <a:srgbClr val="5A6472"/>
                </a:solidFill>
                <a:latin typeface="Calibri" pitchFamily="34" charset="0"/>
                <a:cs typeface="Amiri" pitchFamily="2" charset="-78"/>
              </a:rPr>
              <a:t> → PAST + </a:t>
            </a:r>
            <a:pPr algn="l" indent="0" marL="0">
              <a:buNone/>
            </a:pPr>
            <a:r>
              <a:rPr lang="ar-SA" altLang="en-US" sz="1450" dirty="0">
                <a:solidFill>
                  <a:srgbClr val="5A6472"/>
                </a:solidFill>
                <a:latin typeface="Amiri" pitchFamily="2" charset="-78"/>
                <a:ea typeface="Amiri" pitchFamily="2" charset="-78"/>
                <a:cs typeface="Amiri" pitchFamily="2" charset="-78"/>
              </a:rPr>
              <a:t>يَقَعُ / تَقَعُ</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كَانَ الجَوُّ</a:t>
            </a:r>
            <a:pPr algn="l" indent="0" marL="0">
              <a:buNone/>
            </a:pPr>
            <a:r>
              <a:rPr lang="en-US" sz="1100" dirty="0">
                <a:solidFill>
                  <a:srgbClr val="5A6472"/>
                </a:solidFill>
                <a:latin typeface="Calibri" pitchFamily="34" charset="0"/>
                <a:cs typeface="Amiri" pitchFamily="2" charset="-78"/>
              </a:rPr>
              <a:t> + accusative</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ذَهَبْتُمْ؟ صِفِ المَكَانَ وَالطَّقْسَ.</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problem you saw and its cause</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 المُشْكِلَةُ</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مَا سَبَبُهَا</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بِسَبَبِ</a:t>
            </a:r>
            <a:pPr algn="l" indent="0" marL="0">
              <a:buNone/>
            </a:pPr>
            <a:r>
              <a:rPr lang="en-US" sz="1100" dirty="0">
                <a:solidFill>
                  <a:srgbClr val="5A6472"/>
                </a:solidFill>
                <a:latin typeface="Calibri" pitchFamily="34" charset="0"/>
                <a:cs typeface="Amiri" pitchFamily="2" charset="-78"/>
              </a:rPr>
              <a:t> + genitive · </a:t>
            </a:r>
            <a:pPr algn="l" indent="0" marL="0">
              <a:buNone/>
            </a:pPr>
            <a:r>
              <a:rPr lang="ar-SA" altLang="en-US" sz="1450" dirty="0">
                <a:solidFill>
                  <a:srgbClr val="5A6472"/>
                </a:solidFill>
                <a:latin typeface="Amiri" pitchFamily="2" charset="-78"/>
                <a:ea typeface="Amiri" pitchFamily="2" charset="-78"/>
                <a:cs typeface="Amiri" pitchFamily="2" charset="-78"/>
              </a:rPr>
              <a:t>مِمَّا يُسَبِّبُ</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المُشْكِلَةُ البِيئِيَّةُ الَّتِي رَأَيْتُمُوهَا؟ وَمَا سَبَبُهَا؟</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did to help</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مَاذَا فَعَلْتُمْ</a:t>
            </a:r>
            <a:pPr algn="l" indent="0" marL="0">
              <a:buNone/>
            </a:pPr>
            <a:r>
              <a:rPr lang="en-US" sz="1100" dirty="0">
                <a:solidFill>
                  <a:srgbClr val="5A6472"/>
                </a:solidFill>
                <a:latin typeface="Calibri" pitchFamily="34" charset="0"/>
                <a:cs typeface="Amiri" pitchFamily="2" charset="-78"/>
              </a:rPr>
              <a:t> → PAST (we) + </a:t>
            </a:r>
            <a:pPr algn="l" indent="0" marL="0">
              <a:buNone/>
            </a:pPr>
            <a:r>
              <a:rPr lang="ar-SA" altLang="en-US" sz="1450" dirty="0">
                <a:solidFill>
                  <a:srgbClr val="5A6472"/>
                </a:solidFill>
                <a:latin typeface="Amiri" pitchFamily="2" charset="-78"/>
                <a:ea typeface="Amiri" pitchFamily="2" charset="-78"/>
                <a:cs typeface="Amiri" pitchFamily="2" charset="-78"/>
              </a:rPr>
              <a:t>لِكَيْ</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فَعَلْتُمْ لِتُسَاعِدُوا؟</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people should do; your opinion</a:t>
            </a:r>
            <a:endParaRPr lang="en-US" sz="1100" dirty="0"/>
          </a:p>
        </p:txBody>
      </p:sp>
      <p:sp>
        <p:nvSpPr>
          <p:cNvPr id="42" name="Text 39"/>
          <p:cNvSpPr txBox="1"/>
          <p:nvPr/>
        </p:nvSpPr>
        <p:spPr>
          <a:xfrm>
            <a:off x="5623560" y="5215738"/>
            <a:ext cx="29260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يَجِبُ · رَأْيُكَ → يَجِبُ عَلَى … أَنْ + فِي رَأْيِي / صَحِيحٌ أَنَّ … غَيْرَ أَنَّ</a:t>
            </a:r>
            <a:endParaRPr lang="ar-SA" sz="13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يَجِبُ أَنْ يَفْعَلَ النَّاسُ؟ وَمَا رَأْيُكَ؟</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TC-L12</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زُرْتُ المَغْرِبَ.</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I visited Morocco.</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250" b="1" dirty="0">
                <a:solidFill>
                  <a:srgbClr val="1B3B6F"/>
                </a:solidFill>
                <a:latin typeface="Amiri" pitchFamily="2" charset="-78"/>
                <a:ea typeface="Amiri" pitchFamily="2" charset="-78"/>
                <a:cs typeface="Amiri" pitchFamily="2" charset="-78"/>
              </a:rPr>
              <a:t>زُرْتُ المَغْرِبَ الَّذِي يَقَعُ فِي شَمَالِ غَرْبِ إِفْرِيقْيَا، وَكَانَ الجَوُّ حَارًّا.</a:t>
            </a:r>
            <a:endParaRPr lang="ar-SA" sz="225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 which is in north-west Africa, and it was hot.</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رَأَيْنَا جِبَالًا عَالِيَةً وَصَحْرَاءَ وَاسِعَةً، وَاشْتَرَيْتُ حَقِيبَةً جِلْدِيَّةً بِمِئَتَيْ دِرْهَمٍ.</a:t>
            </a:r>
            <a:endParaRPr lang="ar-SA" sz="195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we saw high mountains and a vast desert, and I bought a leather bag for 200 dirhams.</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B3B6F"/>
                </a:solidFill>
                <a:latin typeface="Amiri" pitchFamily="2" charset="-78"/>
                <a:ea typeface="Amiri" pitchFamily="2" charset="-78"/>
                <a:cs typeface="Amiri" pitchFamily="2" charset="-78"/>
              </a:rPr>
              <a:t>… صَحِيحٌ أَنَّ النُّفَايَاتِ كَانَتْ مُشْكِلَةً فِي بَعْضِ الأَمَاكِنِ، غَيْرَ أَنَّ النَّاسَ كَانُوا يُنَظِّفُونَ الشَّوَارِعَ كُلَّ صَبَاحٍ.</a:t>
            </a:r>
            <a:endParaRPr lang="ar-SA" sz="185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it’s true rubbish was a problem in some places, but people cleaned the streets every morning.</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TC-L12</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Lebanon is in the west of Asia.</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يَقَعُ لُبْنَانُ</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تَقَعُ لُبْنَانُ</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غَرْبِ</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غَرْبِيٌّ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آسِيَا</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آسِيَا فِي</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Many trees were cut down.</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قُطِعَتْ</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قَطَعَتْ</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أَشْجَارٌ</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أَشْجَارًا</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كَثِيرَةٌ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كَثِيرُونَ</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must save energy to protect the planet.</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 أَنْ</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 أَنَّ</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نُوَفِّرَ الطَّاقَةَ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نُوَفِّرُ الطَّاقَةُ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لِكَيْ نَحْمِيَ الأَرْضَ</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 نَحْمِي الأَرْضَ</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TC-L12</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Lebanon is in the west of Asia.</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لُبْنَانُ</a:t>
            </a:r>
            <a:pPr algn="l" indent="0" marL="0">
              <a:buNone/>
            </a:pPr>
            <a:r>
              <a:rPr lang="en-US" sz="1050" i="1" dirty="0">
                <a:solidFill>
                  <a:srgbClr val="5A6472"/>
                </a:solidFill>
                <a:latin typeface="Calibri" pitchFamily="34" charset="0"/>
                <a:cs typeface="Amiri" pitchFamily="2" charset="-78"/>
              </a:rPr>
              <a:t> is masculine → </a:t>
            </a:r>
            <a:pPr algn="l" indent="0" marL="0">
              <a:buNone/>
            </a:pPr>
            <a:r>
              <a:rPr lang="ar-SA" altLang="en-US" sz="1350" dirty="0">
                <a:solidFill>
                  <a:srgbClr val="5A6472"/>
                </a:solidFill>
                <a:latin typeface="Amiri" pitchFamily="2" charset="-78"/>
                <a:ea typeface="Amiri" pitchFamily="2" charset="-78"/>
                <a:cs typeface="Amiri" pitchFamily="2" charset="-78"/>
              </a:rPr>
              <a:t>يَقَعُ</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فِي غَرْبِ</a:t>
            </a:r>
            <a:pPr algn="l" indent="0" marL="0">
              <a:buNone/>
            </a:pPr>
            <a:r>
              <a:rPr lang="en-US" sz="1050" i="1" dirty="0">
                <a:solidFill>
                  <a:srgbClr val="5A6472"/>
                </a:solidFill>
                <a:latin typeface="Calibri" pitchFamily="34" charset="0"/>
                <a:cs typeface="Amiri" pitchFamily="2" charset="-78"/>
              </a:rPr>
              <a:t> + iḍāfa.</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يَقَعُ لُبْنَانُ فِي غَرْبِ آسِيَا</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Many trees were cut down.</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Passive past </a:t>
            </a:r>
            <a:pPr algn="l" indent="0" marL="0">
              <a:buNone/>
            </a:pPr>
            <a:r>
              <a:rPr lang="ar-SA" altLang="en-US" sz="1350" dirty="0">
                <a:solidFill>
                  <a:srgbClr val="5A6472"/>
                </a:solidFill>
                <a:latin typeface="Amiri" pitchFamily="2" charset="-78"/>
                <a:ea typeface="Amiri" pitchFamily="2" charset="-78"/>
                <a:cs typeface="Amiri" pitchFamily="2" charset="-78"/>
              </a:rPr>
              <a:t>قُطِعَتْ</a:t>
            </a:r>
            <a:pPr algn="l" indent="0" marL="0">
              <a:buNone/>
            </a:pPr>
            <a:r>
              <a:rPr lang="en-US" sz="1050" i="1" dirty="0">
                <a:solidFill>
                  <a:srgbClr val="5A6472"/>
                </a:solidFill>
                <a:latin typeface="Calibri" pitchFamily="34" charset="0"/>
                <a:cs typeface="Amiri" pitchFamily="2" charset="-78"/>
              </a:rPr>
              <a:t>; non-human plural → feminine singular </a:t>
            </a:r>
            <a:pPr algn="l" indent="0" marL="0">
              <a:buNone/>
            </a:pPr>
            <a:r>
              <a:rPr lang="ar-SA" altLang="en-US" sz="1350" dirty="0">
                <a:solidFill>
                  <a:srgbClr val="5A6472"/>
                </a:solidFill>
                <a:latin typeface="Amiri" pitchFamily="2" charset="-78"/>
                <a:ea typeface="Amiri" pitchFamily="2" charset="-78"/>
                <a:cs typeface="Amiri" pitchFamily="2" charset="-78"/>
              </a:rPr>
              <a:t>كَثِيرَةٌ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قُطِعَتْ أَشْجَارٌ كَثِيرَةٌ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must save energy to protect the planet.</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أَنْ / لِكَيْ</a:t>
            </a:r>
            <a:pPr algn="l" indent="0" marL="0">
              <a:buNone/>
            </a:pPr>
            <a:r>
              <a:rPr lang="en-US" sz="1050" i="1" dirty="0">
                <a:solidFill>
                  <a:srgbClr val="5A6472"/>
                </a:solidFill>
                <a:latin typeface="Calibri" pitchFamily="34" charset="0"/>
                <a:cs typeface="Amiri" pitchFamily="2" charset="-78"/>
              </a:rPr>
              <a:t> + verb in -a; the object is accusative.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يَجِبُ أَنْ نُوَفِّرَ الطَّاقَةَ لِكَيْ نَحْمِيَ الأَرْضَ</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المَكَانُ خَلَّابٌ: فِيهِ ______ عَالِيَةٌ وَ ______ .</a:t>
            </a:r>
            <a:endParaRPr lang="ar-SA" sz="16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The place is stunning: it has high … and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لِلْأَسَفِ ______ ، مِمَّا يُسَبِّبُ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Unfortunately …, which causes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أَوَّلًا ______ ، ثُمَّ ______ ، وَبِالإِضَافَةِ إِلَى ذٰلِكَ ______ .</a:t>
            </a:r>
            <a:endParaRPr lang="ar-SA" sz="125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First …, then …, and in addition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صَحِيحٌ أَنَّ ______ ، غَيْرَ 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It is true that …, but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رِحْلَتُنَا إِلَى ______</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Title: Our trip to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lnSpc>
                <a:spcPct val="120000"/>
              </a:lnSpc>
              <a:buNone/>
            </a:pPr>
            <a:r>
              <a:rPr lang="ar-SA" altLang="en-US" sz="1100" b="1" dirty="0">
                <a:solidFill>
                  <a:srgbClr val="1B3B6F"/>
                </a:solidFill>
                <a:latin typeface="Amiri" pitchFamily="2" charset="-78"/>
                <a:ea typeface="Amiri" pitchFamily="2" charset="-78"/>
                <a:cs typeface="Amiri" pitchFamily="2" charset="-78"/>
              </a:rPr>
              <a:t>ذَهَبَ صَفُّنَا إِلَى ______ الَّتِي تَقَعُ فِي ______ ، وَكَانَ الجَوُّ ______ .</a:t>
            </a:r>
            <a:endParaRPr lang="ar-SA" sz="11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Our class went to …, which is in …, and the weather was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رَأَيْنَا ______ ، بِسَبَبِ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We saw …, because of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جَمَعْنَا ______ ، وَ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We collected …, and …</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يَجِبُ عَلَى النَّاسِ أَنْ ______ ، لِكَيْ ______ .</a:t>
            </a:r>
            <a:endParaRPr lang="ar-SA" sz="175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People must …, so that …</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يَقَعُ · تَقَعُ فِي  ·  جِبَالٌ عَالِيَةٌ  ·  كَانَ الجَوُّ مُشْمِسًا  ·  بِسَبَبِ · مِمَّا يُسَبِّبُ  ·  تُرْمَى النُّفَايَاتُ  ·  يَجِبُ عَلَى … أَنْ  ·  لِكَيْ  ·  صَحِيحٌ أَنَّ … غَيْرَ أَنَّ</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الجِبَالُ عَالُونَ وَالأَنْهَارُ طَوِيلُونَ.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Mountains and rivers are not people.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أَمْسِ كَانَ الجَوُّ بَارِدٌ بِسَبَبِ الرِّيَاحُ.</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mistakes: after </a:t>
            </a:r>
            <a:pPr algn="l" indent="0" marL="0">
              <a:buNone/>
            </a:pPr>
            <a:r>
              <a:rPr lang="ar-SA" altLang="en-US" sz="1700" dirty="0">
                <a:solidFill>
                  <a:srgbClr val="5A6472"/>
                </a:solidFill>
                <a:latin typeface="Amiri" pitchFamily="2" charset="-78"/>
                <a:ea typeface="Amiri" pitchFamily="2" charset="-78"/>
                <a:cs typeface="Amiri" pitchFamily="2" charset="-78"/>
              </a:rPr>
              <a:t>كَانَ</a:t>
            </a:r>
            <a:pPr algn="l" indent="0" marL="0">
              <a:buNone/>
            </a:pPr>
            <a:r>
              <a:rPr lang="en-US" sz="1300" i="1" dirty="0">
                <a:solidFill>
                  <a:srgbClr val="5A6472"/>
                </a:solidFill>
                <a:latin typeface="Calibri" pitchFamily="34" charset="0"/>
                <a:cs typeface="Amiri" pitchFamily="2" charset="-78"/>
              </a:rPr>
              <a:t> and after </a:t>
            </a:r>
            <a:pPr algn="l" indent="0" marL="0">
              <a:buNone/>
            </a:pPr>
            <a:r>
              <a:rPr lang="ar-SA" altLang="en-US" sz="1700" dirty="0">
                <a:solidFill>
                  <a:srgbClr val="5A6472"/>
                </a:solidFill>
                <a:latin typeface="Amiri" pitchFamily="2" charset="-78"/>
                <a:ea typeface="Amiri" pitchFamily="2" charset="-78"/>
                <a:cs typeface="Amiri" pitchFamily="2" charset="-78"/>
              </a:rPr>
              <a:t>بِسَبَبِ</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الحَقِيبَةُ مَصْنُوعٌ مِنَ الجِلْدِ.</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words must agree with </a:t>
            </a:r>
            <a:pPr algn="l" indent="0" marL="0">
              <a:buNone/>
            </a:pPr>
            <a:r>
              <a:rPr lang="ar-SA" altLang="en-US" sz="1700" dirty="0">
                <a:solidFill>
                  <a:srgbClr val="5A6472"/>
                </a:solidFill>
                <a:latin typeface="Amiri" pitchFamily="2" charset="-78"/>
                <a:ea typeface="Amiri" pitchFamily="2" charset="-78"/>
                <a:cs typeface="Amiri" pitchFamily="2" charset="-78"/>
              </a:rPr>
              <a:t>حَقِيبَةٌ</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الجِبَالُ عَالُونَ وَالأَنْهَارُ طَوِيلُونَ.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الجِبَالُ عَالِيَةٌ وَالأَنْهَارُ طَوِيلَةٌ.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Non-human plural → feminine singular adjective.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أَمْسِ كَانَ الجَوُّ بَارِدٌ بِسَبَبِ الرِّيَاحُ.</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أَمْسِ كَانَ الجَوُّ بَارِدًا بِسَبَبِ الرِّيَاحِ.</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كَانَ</a:t>
            </a:r>
            <a:pPr algn="l" indent="0" marL="0">
              <a:buNone/>
            </a:pPr>
            <a:r>
              <a:rPr lang="en-US" sz="1150" b="1" dirty="0">
                <a:solidFill>
                  <a:srgbClr val="1B3B6F"/>
                </a:solidFill>
                <a:latin typeface="Calibri" pitchFamily="34" charset="0"/>
                <a:cs typeface="Amiri" pitchFamily="2" charset="-78"/>
              </a:rPr>
              <a:t> → accusative (</a:t>
            </a:r>
            <a:pPr algn="l" indent="0" marL="0">
              <a:buNone/>
            </a:pPr>
            <a:r>
              <a:rPr lang="ar-SA" altLang="en-US" sz="1500" b="1" dirty="0">
                <a:solidFill>
                  <a:srgbClr val="1B3B6F"/>
                </a:solidFill>
                <a:latin typeface="Amiri" pitchFamily="2" charset="-78"/>
                <a:ea typeface="Amiri" pitchFamily="2" charset="-78"/>
                <a:cs typeface="Amiri" pitchFamily="2" charset="-78"/>
              </a:rPr>
              <a:t>بَارِدًا</a:t>
            </a:r>
            <a:pPr algn="l" indent="0" marL="0">
              <a:buNone/>
            </a:pPr>
            <a:r>
              <a:rPr lang="en-US" sz="1150" b="1" dirty="0">
                <a:solidFill>
                  <a:srgbClr val="1B3B6F"/>
                </a:solidFill>
                <a:latin typeface="Calibri" pitchFamily="34" charset="0"/>
                <a:cs typeface="Amiri" pitchFamily="2" charset="-78"/>
              </a:rPr>
              <a:t>); </a:t>
            </a:r>
            <a:pPr algn="l" indent="0" marL="0">
              <a:buNone/>
            </a:pPr>
            <a:r>
              <a:rPr lang="ar-SA" altLang="en-US" sz="1500" b="1" dirty="0">
                <a:solidFill>
                  <a:srgbClr val="1B3B6F"/>
                </a:solidFill>
                <a:latin typeface="Amiri" pitchFamily="2" charset="-78"/>
                <a:ea typeface="Amiri" pitchFamily="2" charset="-78"/>
                <a:cs typeface="Amiri" pitchFamily="2" charset="-78"/>
              </a:rPr>
              <a:t>بِسَبَبِ</a:t>
            </a:r>
            <a:pPr algn="l" indent="0" marL="0">
              <a:buNone/>
            </a:pPr>
            <a:r>
              <a:rPr lang="en-US" sz="1150" b="1" dirty="0">
                <a:solidFill>
                  <a:srgbClr val="1B3B6F"/>
                </a:solidFill>
                <a:latin typeface="Calibri" pitchFamily="34" charset="0"/>
                <a:cs typeface="Amiri" pitchFamily="2" charset="-78"/>
              </a:rPr>
              <a:t> → genitive (</a:t>
            </a:r>
            <a:pPr algn="l" indent="0" marL="0">
              <a:buNone/>
            </a:pPr>
            <a:r>
              <a:rPr lang="ar-SA" altLang="en-US" sz="1500" b="1" dirty="0">
                <a:solidFill>
                  <a:srgbClr val="1B3B6F"/>
                </a:solidFill>
                <a:latin typeface="Amiri" pitchFamily="2" charset="-78"/>
                <a:ea typeface="Amiri" pitchFamily="2" charset="-78"/>
                <a:cs typeface="Amiri" pitchFamily="2" charset="-78"/>
              </a:rPr>
              <a:t>الرِّيَاحِ</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الحَقِيبَةُ مَصْنُوعٌ مِنَ الجِلْدِ.</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الحَقِيبَةُ مَصْنُوعَةٌ مِنَ الجِلْدِ.</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noun → </a:t>
            </a:r>
            <a:pPr algn="l" indent="0" marL="0">
              <a:buNone/>
            </a:pPr>
            <a:r>
              <a:rPr lang="ar-SA" altLang="en-US" sz="1500" b="1" dirty="0">
                <a:solidFill>
                  <a:srgbClr val="1B3B6F"/>
                </a:solidFill>
                <a:latin typeface="Amiri" pitchFamily="2" charset="-78"/>
                <a:ea typeface="Amiri" pitchFamily="2" charset="-78"/>
                <a:cs typeface="Amiri" pitchFamily="2" charset="-78"/>
              </a:rPr>
              <a:t>هٰذِهِ … مَصْنُوعَةٌ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250" b="1" dirty="0">
                <a:solidFill>
                  <a:srgbClr val="1B3B6F"/>
                </a:solidFill>
                <a:latin typeface="Amiri" pitchFamily="2" charset="-78"/>
                <a:ea typeface="Amiri" pitchFamily="2" charset="-78"/>
                <a:cs typeface="Amiri" pitchFamily="2" charset="-78"/>
              </a:rPr>
              <a:t>فِي الصَّيْفِ المَاضِي زُرْتُ قَرْيَةً فِي جَنُوبِ المَغْرِبِ.</a:t>
            </a:r>
            <a:endParaRPr lang="ar-SA" sz="22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Last summer I visited a village in southern Morocco.</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كَانَ الجَوُّ حَارًّا جِدًّا، وَكَانَتِ البِئْرُ جَافَّةً.</a:t>
            </a:r>
            <a:endParaRPr lang="ar-SA" sz="25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It was very hot, and the well was dry.</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حَدَثَ ذٰلِكَ بِسَبَبِ قِلَّةِ الأَمْطَارِ.</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That happened because of the lack of rain.</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تَعَلَّمْتُ أَنَّ المَاءَ أَغْلَى شَيْءٍ.</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I learnt that water is the most precious thing.</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Question 3, one paragraph: a journey that opened my eyes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رِحْلَةٌ فَتَحَتْ عَيْنَيَّ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Full Q3 title: “Our world: places, people and the planet”. Today write ONLY the past paragraph: a journey that taught you something about the world — where it was, the landscape and weather, what you saw (good or bad), and what you learnt. Use Topic C language.</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زُرْتُ … الَّتِي تَقَعُ فِي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visited …, which is in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الجَوُّ … وَكَانَتِ المَنَاظِرُ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weather was … and the scenery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بِسَبَبِ … ، مِمَّا يُسَبِّبُ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of …, which causes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صَحِيحٌ أَنَّ … غَيْرَ 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true that … but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تَعَلَّمْتُ أَنَّ …</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learnt that …</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رِحْلَتُنَا إِلَى شَاطِئِ كُورْنْوُولَ</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فِي الأُسْبُوعِ المَاضِي، ذَهَبَ صَفُّنَا إِلَى كُورْنْوُولَ الَّتِي تَقَعُ فِي جَنُوبِ غَرْبِ إِنْجِلْتِرَا. المَكَانُ خَلَّابٌ: فِيهِ صُخُورٌ عَالِيَةٌ وَشَوَاطِئُ رَمْلِيَّةٌ وَاسِعَةٌ، وَكَانَ الجَوُّ مُشْمِسًا لٰكِنَّ الرِّيَاحَ كَانَتْ بَارِدَةً. لِلْأَسَفِ، رَأَيْنَا نُفَايَاتٍ بْلَاسْتِيكِيَّةً كَثِيرَةً عَلَى الرَّمْلِ، بِسَبَبِ السُّيَّاحِ وَالسُّفُنِ، مِمَّا يُسَبِّبُ مَوْتَ الطُّيُورِ وَالأَسْمَاكِ. أَوَّلًا، جَمَعْنَا أَرْبَعِينَ كِيسًا مِنَ النُّفَايَاتِ فِي ثَلَاثِ سَاعَاتٍ، ثُمَّ وَضَعْنَا لَافِتَاتٍ تَطْلُبُ مِنَ الزُّوَّارِ أَنْ يَأْخُذُوا نُفَايَاتِهِمْ مَعَهُمْ. فِي رَأْيِي، يَجِبُ عَلَى النَّاسِ أَنْ يَسْتَعْمِلُوا زُجَاجَاتٍ مَعْدِنِيَّةً، لِكَيْ يَبْقَى البَحْرُ نَظِيفًا لِلْأَجْيَالِ القَادِمَةِ.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مَرْيَمُ، الصَّفُّ الحَادِيَ عَشَرَ</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“Our trip to the Cornish coast. Last week our class went to Cornwall, in the south-west of England. The place is stunning: high cliffs and wide sandy beaches; it was sunny, but the wind was cold. Unfortunately we saw a lot of plastic rubbish on the sand, because of tourists and ships, which causes birds and fish to die. First we collected forty bags of rubbish in three hours, then we put up signs asking visitors to take their rubbish with them. In my opinion people must use metal bottles, so the sea stays clean for future generations. Maryam, Year 11.”</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الَّتِي تَقَعُ فِي جَنُوبِ غَرْبِ</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صُخُورٌ عَالِيَةٌ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بِسَبَبِ … مِمَّا يُسَبِّبُ</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يَجِبُ عَلَى النَّاسِ أَنْ … لِكَيْ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الصَّيْفِ المَاضِي، سَافَرْتُ مَعَ أَبِي إِلَى قَرْيَةٍ صَغِيرَةٍ فِي جِبَالِ الأَطْلَسِ الَّتِي تَقَعُ فِي وَسَطِ المَغْرِبِ. كَانَتِ المَنَاظِرُ خَلَّابَةً، لٰكِنَّ الجَوَّ كَانَ حَارًّا وَجَافًّا جِدًّا. لَاحَظْتُ أَنَّ النِّسَاءَ يَمْشِينَ سَاعَتَيْنِ كُلَّ يَوْمٍ لِكَيْ يُحْضِرْنَ المَاءَ، لِأَنَّ النَّهْرَ القَرِيبَ جَفَّ بِسَبَبِ قِلَّةِ الأَمْطَارِ. صَحِيحٌ أَنَّ النَّاسَ كَانُوا فُقَرَاءَ، غَيْرَ أَنَّهُمْ كَانُوا كُرَمَاءَ جِدًّا مَعَنَا. تَعَلَّمْتُ أَنَّ المَاءَ أَغْلَى مِنَ الذَّهَبِ، فَأَصْبَحْتُ أُغْلِقُ الصُّنْبُورَ دَائِمًا.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last summer I travelled with my father to a small village in the Atlas Mountains, in central Morocco · D: the scenery was stunning, but it was very hot and dry; I noticed that women walked two hours every day to fetch water, because the nearby river had dried up through lack of rain; the people were poor, but they were very generous with us · F: I learnt that water is more precious than gold, so now I always turn off the tap.</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الَّتِي تَقَعُ فِي وَسَطِ المَغْرِبِ</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لِكَيْ يُحْضِرْنَ المَاءَ</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بِسَبَبِ قِلَّةِ الأَمْطَارِ</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صَحِيحٌ أَنَّ … غَيْرَ أَنَّهُمْ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Topic D · The next topic</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المِحْوَرُ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TC-L12 · Writing Practice Room — Topic C Review</dc:title>
  <dc:subject>PptxGenJS Presentation</dc:subject>
  <dc:creator>Al Madina Online School · Arabic Department</dc:creator>
  <cp:lastModifiedBy>Al Madina Online School · Arabic Department</cp:lastModifiedBy>
  <cp:revision>1</cp:revision>
  <dcterms:created xsi:type="dcterms:W3CDTF">2026-10-25T15:06:20Z</dcterms:created>
  <dcterms:modified xsi:type="dcterms:W3CDTF">2026-10-25T15:06:20Z</dcterms:modified>
</cp:coreProperties>
</file>