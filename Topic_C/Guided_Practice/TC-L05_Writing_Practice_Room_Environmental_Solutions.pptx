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PRACTICE ROOM AT A GLANCE — 55–60 minutes; short launch in the main room, then writing pairs in breakout rooms (each student writes their OWN text; the buddy checks), back together to compare.
0–2 Welcome · 2–5 How the room works · ROOMS: Step 1 Q1 warm-up (4) · Step 2 Decode the Q2 task (6) · Step 3 Upgrade sentences (6) · Step 4 Write Q2 + buddy swap (14) · Step 5 Spot and fix + buddy check (6) · Step 6 One Q3 paragraph (10) · back together: Check yourself (5) · Self-check + close (2).
PURPOSE: students learn a REPEATABLE PROCESS for Paper 4 (decode → plan → write → check) and write independently, with support that fades.
CONTENT: Advanced Topic C · The World Around Us, Lesson 5 (Environmental solutions, TC-L05) — new writing tasks (not the Exam Practice workshop tasks).
WHERE TO WRITE: a page in the class notebook / a shared document (each student their own), or paper + a photo to the teacher. Buddies read each other’s page in Step 4 and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(2 min). Show where students write. Then open the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Personal answers, so no single model: the buddy checks meaning and spelling. Core: boxes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(2 min). Missing a bullet is the most common way to lose marks in Q2 — decoding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read the task. Then decode it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(3 min). Students decode in pairs; Core students may use the English on the task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answers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(2 min). Each line adds ONE thing. Students will do the same with their own sentences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support. Core: use the Core frames for every bullet. Develop: use the Develop frames only if stuck. Stretch: no frames — add a contrast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(14 min). Teacher visits each room and reads ONE paragraph per student: one correction, one praise.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(2 min). One paragraph done well is the building block of Q3: four paragraphs like this = a full Q3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(8 min). Core: 3–4 sentences using the bank. Develop: the full formula. Stretch: the formula + a contrast and a future link. Homework: write the other three paragraphs.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(79 words). CHECK YOURSELF (3 min, main room or rooms). Find the four bullets. Then each student copies ONE phrase from the model into their own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(61 words). CHECK YOURSELF (2 min). Students label T, D, R and F in the model, then in their own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C · GUIDED PRACTICE  ·  TC-L05</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TC-L05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Practice Room — Environmental Solutions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الكِتَابَةِ — حُلُولٌ لِلْبِيئَةِ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practise the writing process in breakout rooms: a Q1 warm-up form, decoding a new Q2 task (a letter to the council with green ideas), upgrading sentences, writing with a buddy, spotting and fixing errors, and one Q3 paragraph with the T-D-R-F formula.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TC-L05 · Advanced Topic C · The World Around Us · guided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C › TC-L05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TC-L05</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steps to a strong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TC-L05</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1: Q1 form warm-up.</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الاسْتِمَارَةُ</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2: decode the question.</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افْهَمِ السُّؤَالَ</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3: upgrade your sentences.</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حَسِّنْ جُمَلَكَ</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4: write Q2, then swap with your buddy.</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5: spot and fix · buddy check.</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صَحِّحْ</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1E6B52"/>
          </a:solidFill>
          <a:ln w="12700">
            <a:solidFill>
              <a:srgbClr val="1E6B52"/>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6: one Q3 paragraph.</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فِقْرَةٌ</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Everyone writes their own answer. Your buddy reads it and checks it with the checklist. The models come at the very end — try first!</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WRITING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alone, check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TC-L05</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IT WORKS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Rooms of two or three. Each person writes their OWN answer on their own page.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keeps the time for each step and moves the room on.</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BUDDY — after each writing step, swap pages and check with the checklist (Step 5).</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Try every step BEFORE you look at a model. The models are at the end.</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PROCESS YOU WILL USE IN THE EXAM</a:t>
            </a:r>
            <a:endParaRPr lang="en-US" sz="1000" dirty="0"/>
          </a:p>
        </p:txBody>
      </p:sp>
      <p:sp>
        <p:nvSpPr>
          <p:cNvPr id="31" name="Text 28"/>
          <p:cNvSpPr txBox="1"/>
          <p:nvPr/>
        </p:nvSpPr>
        <p:spPr>
          <a:xfrm>
            <a:off x="6949440" y="2194560"/>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افْهَمْ ← خَطِّطْ ← اكْتُبْ ← رَاجِعْ</a:t>
            </a:r>
            <a:endParaRPr lang="ar-SA" sz="2800" dirty="0"/>
          </a:p>
        </p:txBody>
      </p:sp>
      <p:sp>
        <p:nvSpPr>
          <p:cNvPr id="32" name="Text 29"/>
          <p:cNvSpPr txBox="1"/>
          <p:nvPr/>
        </p:nvSpPr>
        <p:spPr>
          <a:xfrm>
            <a:off x="6949440" y="3336463"/>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decode → plan → write → check</a:t>
            </a:r>
            <a:endParaRPr lang="en-US" sz="1100" dirty="0"/>
          </a:p>
        </p:txBody>
      </p:sp>
      <p:sp>
        <p:nvSpPr>
          <p:cNvPr id="33" name="Shape 30"/>
          <p:cNvSpPr/>
          <p:nvPr/>
        </p:nvSpPr>
        <p:spPr>
          <a:xfrm>
            <a:off x="6995160" y="4215384"/>
            <a:ext cx="4553712" cy="0"/>
          </a:xfrm>
          <a:prstGeom prst="line">
            <a:avLst/>
          </a:prstGeom>
          <a:noFill/>
          <a:ln w="9525">
            <a:solidFill>
              <a:srgbClr val="E4DCCB"/>
            </a:solidFill>
            <a:prstDash val="dash"/>
          </a:ln>
        </p:spPr>
      </p:sp>
      <p:sp>
        <p:nvSpPr>
          <p:cNvPr id="34" name="Text 31"/>
          <p:cNvSpPr txBox="1"/>
          <p:nvPr/>
        </p:nvSpPr>
        <p:spPr>
          <a:xfrm>
            <a:off x="6949440" y="4233672"/>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نُقْطَةٌ وَاحِدَةٌ = فِقْرَةٌ وَاحِدَةٌ</a:t>
            </a:r>
            <a:endParaRPr lang="ar-SA" sz="2800" dirty="0"/>
          </a:p>
        </p:txBody>
      </p:sp>
      <p:sp>
        <p:nvSpPr>
          <p:cNvPr id="35" name="Text 32"/>
          <p:cNvSpPr txBox="1"/>
          <p:nvPr/>
        </p:nvSpPr>
        <p:spPr>
          <a:xfrm>
            <a:off x="6949440" y="5375575"/>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bullet point = one paragraph</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1 · Q1 WARM-UP · 4 MINUTES · A SHORT ANSWER IN EACH BOX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Green Week: volunteer sign-up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650" b="1" dirty="0">
                <a:solidFill>
                  <a:srgbClr val="8A6D1E"/>
                </a:solidFill>
                <a:latin typeface="Amiri" pitchFamily="2" charset="-78"/>
                <a:ea typeface="Amiri" pitchFamily="2" charset="-78"/>
                <a:cs typeface="Amiri" pitchFamily="2" charset="-78"/>
              </a:rPr>
              <a:t>الأُسْبُوعُ الأَخْضَرُ: تَسْجِيلُ المُتَطَوِّعِينَ</a:t>
            </a:r>
            <a:endParaRPr lang="ar-SA" sz="265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99832" y="1810512"/>
            <a:ext cx="3858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Tip</a:t>
            </a:r>
            <a:endParaRPr lang="en-US" sz="1100" dirty="0"/>
          </a:p>
        </p:txBody>
      </p:sp>
      <p:sp>
        <p:nvSpPr>
          <p:cNvPr id="17" name="Text 14"/>
          <p:cNvSpPr txBox="1"/>
          <p:nvPr/>
        </p:nvSpPr>
        <p:spPr>
          <a:xfrm>
            <a:off x="48737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836408" y="2267712"/>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name + family name.</a:t>
            </a:r>
            <a:endParaRPr lang="en-US" sz="1100" dirty="0"/>
          </a:p>
        </p:txBody>
      </p:sp>
      <p:sp>
        <p:nvSpPr>
          <p:cNvPr id="22" name="Text 19"/>
          <p:cNvSpPr txBox="1"/>
          <p:nvPr/>
        </p:nvSpPr>
        <p:spPr>
          <a:xfrm>
            <a:off x="49103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818120" y="2881884"/>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الصَّفُّ العَاشِرُ</a:t>
            </a:r>
            <a:endParaRPr lang="ar-SA" sz="2000" dirty="0"/>
          </a:p>
        </p:txBody>
      </p:sp>
      <p:sp>
        <p:nvSpPr>
          <p:cNvPr id="29" name="Text 26"/>
          <p:cNvSpPr txBox="1"/>
          <p:nvPr/>
        </p:nvSpPr>
        <p:spPr>
          <a:xfrm>
            <a:off x="49103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Class</a:t>
            </a:r>
            <a:endParaRPr lang="en-US" sz="1100" dirty="0"/>
          </a:p>
        </p:txBody>
      </p:sp>
      <p:sp>
        <p:nvSpPr>
          <p:cNvPr id="30" name="Text 27"/>
          <p:cNvSpPr txBox="1"/>
          <p:nvPr/>
        </p:nvSpPr>
        <p:spPr>
          <a:xfrm>
            <a:off x="1051560" y="2881884"/>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الصَّفُّ</a:t>
            </a:r>
            <a:endParaRPr lang="ar-SA" sz="1700" dirty="0"/>
          </a:p>
        </p:txBody>
      </p:sp>
      <p:sp>
        <p:nvSpPr>
          <p:cNvPr id="31" name="Text 28"/>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818120" y="3496056"/>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زِرَاعَةُ الأَشْجَارِ</a:t>
            </a:r>
            <a:endParaRPr lang="ar-SA" sz="2000" dirty="0"/>
          </a:p>
        </p:txBody>
      </p:sp>
      <p:sp>
        <p:nvSpPr>
          <p:cNvPr id="36" name="Text 33"/>
          <p:cNvSpPr txBox="1"/>
          <p:nvPr/>
        </p:nvSpPr>
        <p:spPr>
          <a:xfrm>
            <a:off x="49103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Activity</a:t>
            </a:r>
            <a:endParaRPr lang="en-US" sz="1100" dirty="0"/>
          </a:p>
        </p:txBody>
      </p:sp>
      <p:sp>
        <p:nvSpPr>
          <p:cNvPr id="37" name="Text 34"/>
          <p:cNvSpPr txBox="1"/>
          <p:nvPr/>
        </p:nvSpPr>
        <p:spPr>
          <a:xfrm>
            <a:off x="1051560" y="3496056"/>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النَّشَاطُ</a:t>
            </a:r>
            <a:endParaRPr lang="ar-SA" sz="1700" dirty="0"/>
          </a:p>
        </p:txBody>
      </p:sp>
      <p:sp>
        <p:nvSpPr>
          <p:cNvPr id="38" name="Text 35"/>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818120" y="4110228"/>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يَوْمَ الأَرْبِعَاءِ</a:t>
            </a:r>
            <a:endParaRPr lang="ar-SA" sz="2000" dirty="0"/>
          </a:p>
        </p:txBody>
      </p:sp>
      <p:sp>
        <p:nvSpPr>
          <p:cNvPr id="43" name="Text 40"/>
          <p:cNvSpPr txBox="1"/>
          <p:nvPr/>
        </p:nvSpPr>
        <p:spPr>
          <a:xfrm>
            <a:off x="49103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Day</a:t>
            </a:r>
            <a:endParaRPr lang="en-US" sz="1100" dirty="0"/>
          </a:p>
        </p:txBody>
      </p:sp>
      <p:sp>
        <p:nvSpPr>
          <p:cNvPr id="44" name="Text 41"/>
          <p:cNvSpPr txBox="1"/>
          <p:nvPr/>
        </p:nvSpPr>
        <p:spPr>
          <a:xfrm>
            <a:off x="1051560" y="4110228"/>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اليَوْمُ</a:t>
            </a:r>
            <a:endParaRPr lang="ar-SA" sz="1700" dirty="0"/>
          </a:p>
        </p:txBody>
      </p:sp>
      <p:sp>
        <p:nvSpPr>
          <p:cNvPr id="45" name="Text 42"/>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7818120" y="4724400"/>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قُفَّازَاتٌ · كِيسٌ</a:t>
            </a:r>
            <a:endParaRPr lang="ar-SA" sz="2000" dirty="0"/>
          </a:p>
        </p:txBody>
      </p:sp>
      <p:sp>
        <p:nvSpPr>
          <p:cNvPr id="50" name="Text 47"/>
          <p:cNvSpPr txBox="1"/>
          <p:nvPr/>
        </p:nvSpPr>
        <p:spPr>
          <a:xfrm>
            <a:off x="49103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will bring</a:t>
            </a:r>
            <a:endParaRPr lang="en-US" sz="1100" dirty="0"/>
          </a:p>
        </p:txBody>
      </p:sp>
      <p:sp>
        <p:nvSpPr>
          <p:cNvPr id="51" name="Text 48"/>
          <p:cNvSpPr txBox="1"/>
          <p:nvPr/>
        </p:nvSpPr>
        <p:spPr>
          <a:xfrm>
            <a:off x="1051560" y="4724400"/>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سَتُحْضِرُ؟</a:t>
            </a:r>
            <a:endParaRPr lang="ar-SA" sz="1700" dirty="0"/>
          </a:p>
        </p:txBody>
      </p:sp>
      <p:sp>
        <p:nvSpPr>
          <p:cNvPr id="52" name="Text 49"/>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7818120" y="5338572"/>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أَتَطَوَّعُ لِكَيْ …</a:t>
            </a:r>
            <a:endParaRPr lang="ar-SA" sz="2000" dirty="0"/>
          </a:p>
        </p:txBody>
      </p:sp>
      <p:sp>
        <p:nvSpPr>
          <p:cNvPr id="57" name="Text 54"/>
          <p:cNvSpPr txBox="1"/>
          <p:nvPr/>
        </p:nvSpPr>
        <p:spPr>
          <a:xfrm>
            <a:off x="49103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you are volunteering</a:t>
            </a:r>
            <a:endParaRPr lang="en-US" sz="1100" dirty="0"/>
          </a:p>
        </p:txBody>
      </p:sp>
      <p:sp>
        <p:nvSpPr>
          <p:cNvPr id="58" name="Text 55"/>
          <p:cNvSpPr txBox="1"/>
          <p:nvPr/>
        </p:nvSpPr>
        <p:spPr>
          <a:xfrm>
            <a:off x="1051560" y="533857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لِمَاذَا تَتَطَوَّعُ؟</a:t>
            </a:r>
            <a:endParaRPr lang="ar-SA" sz="1700" dirty="0"/>
          </a:p>
        </p:txBody>
      </p:sp>
      <p:sp>
        <p:nvSpPr>
          <p:cNvPr id="59" name="Text 56"/>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a word or a short phrase — about yourself. Buddy check: does each answer match exactly what the box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2 · DECODE THE QUESTION BEFORE YOU WRITE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moves to decode a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افْهَمِ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TC-L05</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DECODE IN TWO MINUTES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do I write (an email, a message, a blog) and to WHOM (a friend → informal)?</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NUMBER the bullet points 1–4. Each one = one short paragraph.</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UNDERLINE the question word in each bullet and decide the TENSE it needs.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Write ONE idea (in English or Arabic) next to each bullet. That is your plan.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VERB IN THE BULLET TELLS YOU THE TENSE</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فَعَلْتَ؟ ← فَعَلْتُ (المَاضِي)</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did you do? → past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تَفْعَلُ عَادَةً؟ ← أَفْعَلُ (الحَاضِرُ)</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do you usually do? → present</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سَتَفْعَلُ؟ ← سَأَفْعَلُ (المُسْتَقْبَلُ)</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will you do? → future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 رَأْيُكَ؟ ← فِي رَأْيِي … لِأَنَّ …</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opinion? → in my opinion … because …</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TODAY’S QUESTION 2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a greener town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مَدِينَةٌ أَكْثَرُ خُضْرَةً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TC-L05</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letter in Arabic to your town council of about 80–90 words. You must include: • an environmental problem in your town • what people should do • what the council must do, and why • something you did recently to help.</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أَكْتُبُ إِلَيْكُمْ لِأَنَّ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writing to you because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يَنْبَغِي عَلَى النَّاسِ أَنْ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people should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عَلَى البَلَدِيَّةِ أَنْ … لِكَيْ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council must … so that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الشَّهْرِ المَاضِي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last month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YOUR TURN · DECODE EACH BULLET (IN YOUR BOOK)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Decode it: question word · tense · my idea</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حَلِّلِ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idea</a:t>
            </a:r>
            <a:endParaRPr lang="en-US" sz="1100" dirty="0"/>
          </a:p>
        </p:txBody>
      </p:sp>
      <p:sp>
        <p:nvSpPr>
          <p:cNvPr id="17" name="Text 14"/>
          <p:cNvSpPr txBox="1"/>
          <p:nvPr/>
        </p:nvSpPr>
        <p:spPr>
          <a:xfrm>
            <a:off x="61539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933688" y="2267712"/>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619048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3" name="Text 20"/>
          <p:cNvSpPr txBox="1"/>
          <p:nvPr/>
        </p:nvSpPr>
        <p:spPr>
          <a:xfrm>
            <a:off x="1051560" y="2267712"/>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اكْتُبْ رِسَالَةً إِلَى البَلَدِيَّةِ (٨٠–٩٠ كَلِمَةً).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933688" y="300471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619048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0" name="Text 27"/>
          <p:cNvSpPr txBox="1"/>
          <p:nvPr/>
        </p:nvSpPr>
        <p:spPr>
          <a:xfrm>
            <a:off x="1051560" y="300471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المُشْكِلَةُ فِي مَدِينَتِكَ؟</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933688" y="3741725"/>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619048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1051560" y="3741725"/>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يَنْبَغِي أَنْ يَفْعَلَ النَّاسُ؟</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933688" y="4478731"/>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619048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2" name="Text 39"/>
          <p:cNvSpPr txBox="1"/>
          <p:nvPr/>
        </p:nvSpPr>
        <p:spPr>
          <a:xfrm>
            <a:off x="1051560" y="4478731"/>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يَجِبُ عَلَى البَلَدِيَّةِ أَنْ تَفْعَلَ؟ وَلِمَاذَا؟</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933688" y="521573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619048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7" name="Text 44"/>
          <p:cNvSpPr txBox="1"/>
          <p:nvPr/>
        </p:nvSpPr>
        <p:spPr>
          <a:xfrm>
            <a:off x="1051560" y="521573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فَعَلْتَ مُؤَخَّرًا لِتُسَاعِدَ؟</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Copy the two empty columns into your book and fill them in. Then check with your buddy on the next slide.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CHECK YOUR DECODING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Decoded: what each bullet needs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14232" y="1810512"/>
            <a:ext cx="2944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560527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50808" y="2267712"/>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a letter to the council (80–90 words).</a:t>
            </a:r>
            <a:endParaRPr lang="en-US" sz="1100" dirty="0"/>
          </a:p>
        </p:txBody>
      </p:sp>
      <p:sp>
        <p:nvSpPr>
          <p:cNvPr id="22" name="Text 19"/>
          <p:cNvSpPr txBox="1"/>
          <p:nvPr/>
        </p:nvSpPr>
        <p:spPr>
          <a:xfrm>
            <a:off x="564184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FORMAL letter → </a:t>
            </a:r>
            <a:pPr algn="l" indent="0" marL="0">
              <a:buNone/>
            </a:pPr>
            <a:r>
              <a:rPr lang="ar-SA" altLang="en-US" sz="1450" dirty="0">
                <a:solidFill>
                  <a:srgbClr val="5A6472"/>
                </a:solidFill>
                <a:latin typeface="Amiri" pitchFamily="2" charset="-78"/>
                <a:ea typeface="Amiri" pitchFamily="2" charset="-78"/>
                <a:cs typeface="Amiri" pitchFamily="2" charset="-78"/>
              </a:rPr>
              <a:t>السَّادَةُ … المُحْتَرَمُونَ</a:t>
            </a:r>
            <a:pPr algn="l" indent="0" marL="0">
              <a:buNone/>
            </a:pPr>
            <a:r>
              <a:rPr lang="en-US" sz="1100" dirty="0">
                <a:solidFill>
                  <a:srgbClr val="5A6472"/>
                </a:solidFill>
                <a:latin typeface="Calibri" pitchFamily="34" charset="0"/>
                <a:cs typeface="Amiri" pitchFamily="2" charset="-78"/>
              </a:rPr>
              <a:t> and a formal closing</a:t>
            </a:r>
            <a:endParaRPr lang="en-US" sz="1100" dirty="0"/>
          </a:p>
        </p:txBody>
      </p:sp>
      <p:sp>
        <p:nvSpPr>
          <p:cNvPr id="23" name="Text 20"/>
          <p:cNvSpPr txBox="1"/>
          <p:nvPr/>
        </p:nvSpPr>
        <p:spPr>
          <a:xfrm>
            <a:off x="1051560" y="2267712"/>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اكْتُبْ رِسَالَةً إِلَى البَلَدِيَّةِ (٨٠–٩٠ كَلِمَةً).</a:t>
            </a:r>
            <a:endParaRPr lang="ar-SA" sz="16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750808" y="300471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problem in your town</a:t>
            </a:r>
            <a:endParaRPr lang="en-US" sz="1100" dirty="0"/>
          </a:p>
        </p:txBody>
      </p:sp>
      <p:sp>
        <p:nvSpPr>
          <p:cNvPr id="27" name="Text 24"/>
          <p:cNvSpPr txBox="1"/>
          <p:nvPr/>
        </p:nvSpPr>
        <p:spPr>
          <a:xfrm>
            <a:off x="5641848" y="300471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 المُشْكِلَةُ</a:t>
            </a:r>
            <a:pPr algn="l" indent="0" marL="0">
              <a:buNone/>
            </a:pPr>
            <a:r>
              <a:rPr lang="en-US" sz="1100" dirty="0">
                <a:solidFill>
                  <a:srgbClr val="5A6472"/>
                </a:solidFill>
                <a:latin typeface="Calibri" pitchFamily="34" charset="0"/>
                <a:cs typeface="Amiri" pitchFamily="2" charset="-78"/>
              </a:rPr>
              <a:t> → PRESENT + </a:t>
            </a:r>
            <a:pPr algn="l" indent="0" marL="0">
              <a:buNone/>
            </a:pPr>
            <a:r>
              <a:rPr lang="ar-SA" altLang="en-US" sz="1450" dirty="0">
                <a:solidFill>
                  <a:srgbClr val="5A6472"/>
                </a:solidFill>
                <a:latin typeface="Amiri" pitchFamily="2" charset="-78"/>
                <a:ea typeface="Amiri" pitchFamily="2" charset="-78"/>
                <a:cs typeface="Amiri" pitchFamily="2" charset="-78"/>
              </a:rPr>
              <a:t>بِسَبَبِ</a:t>
            </a:r>
            <a:endParaRPr lang="en-US" sz="1100" dirty="0"/>
          </a:p>
        </p:txBody>
      </p:sp>
      <p:sp>
        <p:nvSpPr>
          <p:cNvPr id="28" name="Text 25"/>
          <p:cNvSpPr txBox="1"/>
          <p:nvPr/>
        </p:nvSpPr>
        <p:spPr>
          <a:xfrm>
            <a:off x="1051560" y="300471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المُشْكِلَةُ فِي مَدِينَتِكَ؟</a:t>
            </a:r>
            <a:endParaRPr lang="ar-SA" sz="16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750808" y="3741725"/>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people should do</a:t>
            </a:r>
            <a:endParaRPr lang="en-US" sz="1100" dirty="0"/>
          </a:p>
        </p:txBody>
      </p:sp>
      <p:sp>
        <p:nvSpPr>
          <p:cNvPr id="32" name="Text 29"/>
          <p:cNvSpPr txBox="1"/>
          <p:nvPr/>
        </p:nvSpPr>
        <p:spPr>
          <a:xfrm>
            <a:off x="5641848" y="3741725"/>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يَنْبَغِي أَنْ يَفْعَلَ النَّاسُ</a:t>
            </a:r>
            <a:pPr algn="l" indent="0" marL="0">
              <a:buNone/>
            </a:pPr>
            <a:r>
              <a:rPr lang="en-US" sz="1100" dirty="0">
                <a:solidFill>
                  <a:srgbClr val="5A6472"/>
                </a:solidFill>
                <a:latin typeface="Calibri" pitchFamily="34" charset="0"/>
                <a:cs typeface="Amiri" pitchFamily="2" charset="-78"/>
              </a:rPr>
              <a:t> → advice + verb in -a</a:t>
            </a:r>
            <a:endParaRPr lang="en-US" sz="1100" dirty="0"/>
          </a:p>
        </p:txBody>
      </p:sp>
      <p:sp>
        <p:nvSpPr>
          <p:cNvPr id="33" name="Text 30"/>
          <p:cNvSpPr txBox="1"/>
          <p:nvPr/>
        </p:nvSpPr>
        <p:spPr>
          <a:xfrm>
            <a:off x="1051560" y="3741725"/>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يَنْبَغِي أَنْ يَفْعَلَ النَّاسُ؟</a:t>
            </a:r>
            <a:endParaRPr lang="ar-SA" sz="16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750808" y="4478731"/>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the council must do and why</a:t>
            </a:r>
            <a:endParaRPr lang="en-US" sz="1100" dirty="0"/>
          </a:p>
        </p:txBody>
      </p:sp>
      <p:sp>
        <p:nvSpPr>
          <p:cNvPr id="37" name="Text 34"/>
          <p:cNvSpPr txBox="1"/>
          <p:nvPr/>
        </p:nvSpPr>
        <p:spPr>
          <a:xfrm>
            <a:off x="5641848" y="4478731"/>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يَجِبُ عَلَى … وَلِمَاذَا</a:t>
            </a:r>
            <a:pPr algn="l" indent="0" marL="0">
              <a:buNone/>
            </a:pPr>
            <a:r>
              <a:rPr lang="en-US" sz="1100" dirty="0">
                <a:solidFill>
                  <a:srgbClr val="5A6472"/>
                </a:solidFill>
                <a:latin typeface="Calibri" pitchFamily="34" charset="0"/>
                <a:cs typeface="Amiri" pitchFamily="2" charset="-78"/>
              </a:rPr>
              <a:t> → obligation + </a:t>
            </a:r>
            <a:pPr algn="l" indent="0" marL="0">
              <a:buNone/>
            </a:pPr>
            <a:r>
              <a:rPr lang="ar-SA" altLang="en-US" sz="1450" dirty="0">
                <a:solidFill>
                  <a:srgbClr val="5A6472"/>
                </a:solidFill>
                <a:latin typeface="Amiri" pitchFamily="2" charset="-78"/>
                <a:ea typeface="Amiri" pitchFamily="2" charset="-78"/>
                <a:cs typeface="Amiri" pitchFamily="2" charset="-78"/>
              </a:rPr>
              <a:t>لِكَيْ / لِأَنَّ</a:t>
            </a:r>
            <a:endParaRPr lang="en-US" sz="1100" dirty="0"/>
          </a:p>
        </p:txBody>
      </p:sp>
      <p:sp>
        <p:nvSpPr>
          <p:cNvPr id="38" name="Text 35"/>
          <p:cNvSpPr txBox="1"/>
          <p:nvPr/>
        </p:nvSpPr>
        <p:spPr>
          <a:xfrm>
            <a:off x="1051560" y="4478731"/>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يَجِبُ عَلَى البَلَدِيَّةِ أَنْ تَفْعَلَ؟ وَلِمَاذَا؟</a:t>
            </a:r>
            <a:endParaRPr lang="ar-SA" sz="16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750808" y="521573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Something you did recently</a:t>
            </a:r>
            <a:endParaRPr lang="en-US" sz="1100" dirty="0"/>
          </a:p>
        </p:txBody>
      </p:sp>
      <p:sp>
        <p:nvSpPr>
          <p:cNvPr id="42" name="Text 39"/>
          <p:cNvSpPr txBox="1"/>
          <p:nvPr/>
        </p:nvSpPr>
        <p:spPr>
          <a:xfrm>
            <a:off x="5641848" y="521573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مَاذَا فَعَلْتَ</a:t>
            </a:r>
            <a:pPr algn="l" indent="0" marL="0">
              <a:buNone/>
            </a:pPr>
            <a:r>
              <a:rPr lang="en-US" sz="1100" dirty="0">
                <a:solidFill>
                  <a:srgbClr val="5A6472"/>
                </a:solidFill>
                <a:latin typeface="Calibri" pitchFamily="34" charset="0"/>
                <a:cs typeface="Amiri" pitchFamily="2" charset="-78"/>
              </a:rPr>
              <a:t> → PAST (first person)</a:t>
            </a:r>
            <a:endParaRPr lang="en-US" sz="1100" dirty="0"/>
          </a:p>
        </p:txBody>
      </p:sp>
      <p:sp>
        <p:nvSpPr>
          <p:cNvPr id="43" name="Text 40"/>
          <p:cNvSpPr txBox="1"/>
          <p:nvPr/>
        </p:nvSpPr>
        <p:spPr>
          <a:xfrm>
            <a:off x="1051560" y="521573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فَعَلْتَ مُؤَخَّرًا لِتُسَاعِدَ؟</a:t>
            </a:r>
            <a:endParaRPr lang="ar-SA" sz="16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get the tense right for every bullet? Fix your plan before you write.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3 · UPGRADE A SENTENCE · WATCH IT GROW</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From a simple sentence to a strong one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حَسِّنِ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TC-L05</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أَمْشِي إِلَى المَدْرَسَةِ.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Simple</a:t>
            </a:r>
            <a:endParaRPr lang="en-US" sz="1250" dirty="0"/>
          </a:p>
          <a:p>
            <a:pPr indent="0" marL="0">
              <a:buNone/>
            </a:pPr>
            <a:r>
              <a:rPr lang="en-US" sz="1050" i="1" dirty="0">
                <a:solidFill>
                  <a:srgbClr val="8A6D1E"/>
                </a:solidFill>
                <a:latin typeface="Calibri" pitchFamily="34" charset="0"/>
                <a:cs typeface="Amiri" pitchFamily="2" charset="-78"/>
              </a:rPr>
              <a:t>I walk to school.</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550" b="1" dirty="0">
                <a:solidFill>
                  <a:srgbClr val="1B3B6F"/>
                </a:solidFill>
                <a:latin typeface="Amiri" pitchFamily="2" charset="-78"/>
                <a:ea typeface="Amiri" pitchFamily="2" charset="-78"/>
                <a:cs typeface="Amiri" pitchFamily="2" charset="-78"/>
              </a:rPr>
              <a:t>أَمْشِي إِلَى المَدْرَسَةِ كُلَّ يَوْمٍ، بَدَلًا مِنْ أَنْ أَذْهَبَ بِالسَّيَّارَةِ.</a:t>
            </a:r>
            <a:endParaRPr lang="ar-SA" sz="255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detail (time, frequency, how much)</a:t>
            </a:r>
            <a:endParaRPr lang="en-US" sz="1250" dirty="0"/>
          </a:p>
          <a:p>
            <a:pPr indent="0" marL="0">
              <a:buNone/>
            </a:pPr>
            <a:r>
              <a:rPr lang="en-US" sz="1050" i="1" dirty="0">
                <a:solidFill>
                  <a:srgbClr val="8A6D1E"/>
                </a:solidFill>
                <a:latin typeface="Calibri" pitchFamily="34" charset="0"/>
                <a:cs typeface="Amiri" pitchFamily="2" charset="-78"/>
              </a:rPr>
              <a:t>… every day, instead of going by car.</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 لِكَيْ أُقَلِّلَ مِنْ تَلَوُّثِ الهَوَاءِ، وَلِأَنَّ المَشْيَ مُفِيدٌ لِلصِّحَّةِ.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 reason</a:t>
            </a:r>
            <a:endParaRPr lang="en-US" sz="1250" dirty="0"/>
          </a:p>
          <a:p>
            <a:pPr indent="0" marL="0">
              <a:buNone/>
            </a:pPr>
            <a:r>
              <a:rPr lang="en-US" sz="1050" i="1" dirty="0">
                <a:solidFill>
                  <a:srgbClr val="8A6D1E"/>
                </a:solidFill>
                <a:latin typeface="Calibri" pitchFamily="34" charset="0"/>
                <a:cs typeface="Amiri" pitchFamily="2" charset="-78"/>
              </a:rPr>
              <a:t>… to reduce air pollution, and because walking is good for health.</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 وَلَوْ مَشَى كُلُّ الطُّلَّابِ، لَأَصْبَحَ الهَوَاءُ أَمَامَ المَدْرَسَةِ أَنْظَفَ بِكَثِيرٍ.</a:t>
            </a:r>
            <a:endParaRPr lang="ar-SA" sz="22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an opinion or a contrast</a:t>
            </a:r>
            <a:endParaRPr lang="en-US" sz="1250" dirty="0"/>
          </a:p>
          <a:p>
            <a:pPr indent="0" marL="0">
              <a:buNone/>
            </a:pPr>
            <a:r>
              <a:rPr lang="en-US" sz="1050" i="1" dirty="0">
                <a:solidFill>
                  <a:srgbClr val="8A6D1E"/>
                </a:solidFill>
                <a:latin typeface="Calibri" pitchFamily="34" charset="0"/>
                <a:cs typeface="Amiri" pitchFamily="2" charset="-78"/>
              </a:rPr>
              <a:t>… and if all students walked, the air outside school would be much cleaner.</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3 · YOUR TURN · BUILD THREE STRONG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Sentence builder: choose A or B in each column</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TC-L05</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We must save water.</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يَجِبُ</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يَجِبُ أَنَّ</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نُوَفِّرَ</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نُوَفِّرُ</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المَاءَ</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المَاءُ</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plant trees to protect nature.</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أَزْرَعُ أَشْجَارًا</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أَزْرَعُ أَشْجَارٌ</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لِكَيْ</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أَحْمِيَ الطَّبِيعَةَ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أَحْمِي الطَّبِيعَةُ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government is responsible for transport.</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الحُكُومَةُ</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الحُكُومَةَ</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مَسْؤُولَةٌ</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مَسْؤُولٌ</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 المُوَاصَلَاتِ</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لِلْمُوَاصَلَاتِ</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3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TC-L05</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We must save water.</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يَجِبُ أَنْ</a:t>
            </a:r>
            <a:pPr algn="l" indent="0" marL="0">
              <a:buNone/>
            </a:pPr>
            <a:r>
              <a:rPr lang="en-US" sz="1050" i="1" dirty="0">
                <a:solidFill>
                  <a:srgbClr val="5A6472"/>
                </a:solidFill>
                <a:latin typeface="Calibri" pitchFamily="34" charset="0"/>
                <a:cs typeface="Amiri" pitchFamily="2" charset="-78"/>
              </a:rPr>
              <a:t> + verb in -a (</a:t>
            </a:r>
            <a:pPr algn="l" indent="0" marL="0">
              <a:buNone/>
            </a:pPr>
            <a:r>
              <a:rPr lang="ar-SA" altLang="en-US" sz="1350" dirty="0">
                <a:solidFill>
                  <a:srgbClr val="5A6472"/>
                </a:solidFill>
                <a:latin typeface="Amiri" pitchFamily="2" charset="-78"/>
                <a:ea typeface="Amiri" pitchFamily="2" charset="-78"/>
                <a:cs typeface="Amiri" pitchFamily="2" charset="-78"/>
              </a:rPr>
              <a:t>نُوَفِّرَ</a:t>
            </a:r>
            <a:pPr algn="l" indent="0" marL="0">
              <a:buNone/>
            </a:pPr>
            <a:r>
              <a:rPr lang="en-US" sz="1050" i="1" dirty="0">
                <a:solidFill>
                  <a:srgbClr val="5A6472"/>
                </a:solidFill>
                <a:latin typeface="Calibri" pitchFamily="34" charset="0"/>
                <a:cs typeface="Amiri" pitchFamily="2" charset="-78"/>
              </a:rPr>
              <a:t>); the object is accusative.</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يَجِبُ أَنْ نُوَفِّرَ المَاءَ</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plant trees to protect nature.</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Purpose = </a:t>
            </a:r>
            <a:pPr algn="l" indent="0" marL="0">
              <a:buNone/>
            </a:pPr>
            <a:r>
              <a:rPr lang="ar-SA" altLang="en-US" sz="1350" dirty="0">
                <a:solidFill>
                  <a:srgbClr val="5A6472"/>
                </a:solidFill>
                <a:latin typeface="Amiri" pitchFamily="2" charset="-78"/>
                <a:ea typeface="Amiri" pitchFamily="2" charset="-78"/>
                <a:cs typeface="Amiri" pitchFamily="2" charset="-78"/>
              </a:rPr>
              <a:t>لِكَيْ</a:t>
            </a:r>
            <a:pPr algn="l" indent="0" marL="0">
              <a:buNone/>
            </a:pPr>
            <a:r>
              <a:rPr lang="en-US" sz="1050" i="1" dirty="0">
                <a:solidFill>
                  <a:srgbClr val="5A6472"/>
                </a:solidFill>
                <a:latin typeface="Calibri" pitchFamily="34" charset="0"/>
                <a:cs typeface="Amiri" pitchFamily="2" charset="-78"/>
              </a:rPr>
              <a:t> + verb in -a: </a:t>
            </a:r>
            <a:pPr algn="l" indent="0" marL="0">
              <a:buNone/>
            </a:pPr>
            <a:r>
              <a:rPr lang="ar-SA" altLang="en-US" sz="1350" dirty="0">
                <a:solidFill>
                  <a:srgbClr val="5A6472"/>
                </a:solidFill>
                <a:latin typeface="Amiri" pitchFamily="2" charset="-78"/>
                <a:ea typeface="Amiri" pitchFamily="2" charset="-78"/>
                <a:cs typeface="Amiri" pitchFamily="2" charset="-78"/>
              </a:rPr>
              <a:t>أَحْمِيَ</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أَزْرَعُ أَشْجَارًا لِكَيْ أَحْمِيَ الطَّبِيعَةَ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government is responsible for transport.</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Feminine subject → </a:t>
            </a:r>
            <a:pPr algn="l" indent="0" marL="0">
              <a:buNone/>
            </a:pPr>
            <a:r>
              <a:rPr lang="ar-SA" altLang="en-US" sz="1350" dirty="0">
                <a:solidFill>
                  <a:srgbClr val="5A6472"/>
                </a:solidFill>
                <a:latin typeface="Amiri" pitchFamily="2" charset="-78"/>
                <a:ea typeface="Amiri" pitchFamily="2" charset="-78"/>
                <a:cs typeface="Amiri" pitchFamily="2" charset="-78"/>
              </a:rPr>
              <a:t>مَسْؤُولَةٌ</a:t>
            </a:r>
            <a:pPr algn="l" indent="0" marL="0">
              <a:buNone/>
            </a:pPr>
            <a:r>
              <a:rPr lang="en-US" sz="1050" i="1" dirty="0">
                <a:solidFill>
                  <a:srgbClr val="5A6472"/>
                </a:solidFill>
                <a:latin typeface="Calibri" pitchFamily="34" charset="0"/>
                <a:cs typeface="Amiri" pitchFamily="2" charset="-78"/>
              </a:rPr>
              <a:t>; the preposition is </a:t>
            </a:r>
            <a:pPr algn="l" indent="0" marL="0">
              <a:buNone/>
            </a:pPr>
            <a:r>
              <a:rPr lang="ar-SA" altLang="en-US" sz="1350" dirty="0">
                <a:solidFill>
                  <a:srgbClr val="5A6472"/>
                </a:solidFill>
                <a:latin typeface="Amiri" pitchFamily="2" charset="-78"/>
                <a:ea typeface="Amiri" pitchFamily="2" charset="-78"/>
                <a:cs typeface="Amiri" pitchFamily="2" charset="-78"/>
              </a:rPr>
              <a:t>عَنْ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الحُكُومَةُ مَسْؤُولَةٌ عَنِ المُوَاصَلَاتِ</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QUESTION 2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frames for Question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TC-L05</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تُعَانِي مَدِينَتُنَا مِنْ ______ بِسَبَبِ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Our town suffers from … because of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بُدَّ مِنْ أَنْ ______ ، بَدَلًا مِنْ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We have to …, instead of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نَقْتَرِحُ أَنْ ______ ، لِأَنَّ ذٰلِكَ سَيُسَاعِدُ ______ .</a:t>
            </a:r>
            <a:endParaRPr lang="ar-SA" sz="16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We suggest …, because that will help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نَظَّمْتُ مَعَ ______ ______ ، فَجَمَعْنَا ______ .</a:t>
            </a:r>
            <a:endParaRPr lang="ar-SA" sz="17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With … I organised …, and we collected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السَّادَةُ فِي البَلَدِيَّةِ المُحْتَرَمُونَ،</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Dear Sirs and Madams at the council,</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أَكْتُبُ إِلَيْكُمْ لِأَنَّ ______ فِي مَدِينَتِنَا.</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I am writing because … in our town.</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يَنْبَغِي أَنْ ______ النَّاسُ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People should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يَجِبُ عَلَى البَلَدِيَّةِ أَنْ ______ ، لِكَيْ ______ .</a:t>
            </a:r>
            <a:endParaRPr lang="ar-SA" sz="165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The council must …, so that …</a:t>
            </a:r>
            <a:endParaRPr lang="en-US" sz="1050" dirty="0"/>
          </a:p>
        </p:txBody>
      </p:sp>
      <p:sp>
        <p:nvSpPr>
          <p:cNvPr id="37" name="Text 34"/>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الشَّهْرِ المَاضِي ______ .</a:t>
            </a:r>
            <a:endParaRPr lang="ar-SA" sz="1800" dirty="0"/>
          </a:p>
        </p:txBody>
      </p:sp>
      <p:sp>
        <p:nvSpPr>
          <p:cNvPr id="38" name="Text 35"/>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Last month I …</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إِعَادَةُ التَّدْوِيرِ  ·  المُوَاصَلَاتُ العَامَّةُ  ·  يُوَفِّرُ الطَّاقَةَ  ·  يُقَلِّلُ مِنَ التَّلَوُّثِ  ·  يَجِبُ عَلَى … أَنْ  ·  يَنْبَغِي أَنْ  ·  لِكَيْ  ·  حَمْلَةٌ</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THEN SWAP · 14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Question 2 — bullet by bullet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 ثُمَّ بَادِلْ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TC-L05</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4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Two rounds of writing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Round 1 (6 min): write bullets 1 and 2. SWAP: your buddy reads and ticks “bullet covered?”. Round 2 (6 min): write bullets 3 and 4 and your closing. SWAP again.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with a greeting; end with a closing and a question.</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short paragraph per bullet — tick it off your plan.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at least one upgrade from Step 3 in every paragraph.</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 your words: about 80–90.</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the Core frames. Aim for 60–70 words, every bullet covered.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Develop frames only if stuck. Add a reason and a time word to every bullet. 80–90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frames. Add a contrast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and a future plan. Up to 90 words, with no errors.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 بَعْدَ ذٰلِكَ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 after that</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لِذٰلِكَ</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so</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لٰكِنَّ · وَلٰكِنْ</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but</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SPOT AND FIX · MISTAKES STUDENTS OFTEN MAKE IN THIS TOPIC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يَجِبُ أَنْ نَزْرَعُ أَشْجَارًا.</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at the verb after </a:t>
            </a:r>
            <a:pPr algn="l" indent="0" marL="0">
              <a:buNone/>
            </a:pPr>
            <a:r>
              <a:rPr lang="ar-SA" altLang="en-US" sz="1700" dirty="0">
                <a:solidFill>
                  <a:srgbClr val="5A6472"/>
                </a:solidFill>
                <a:latin typeface="Amiri" pitchFamily="2" charset="-78"/>
                <a:ea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أُعِيدُ التَّدْوِيرَ لِكَيْ أُسَاعِدُ البِيئَةَ.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لِكَيْ</a:t>
            </a:r>
            <a:pPr algn="l" indent="0" marL="0">
              <a:buNone/>
            </a:pPr>
            <a:r>
              <a:rPr lang="en-US" sz="1300" i="1" dirty="0">
                <a:solidFill>
                  <a:srgbClr val="5A6472"/>
                </a:solidFill>
                <a:latin typeface="Calibri" pitchFamily="34" charset="0"/>
                <a:cs typeface="Amiri" pitchFamily="2" charset="-78"/>
              </a:rPr>
              <a:t> changes the verb.</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يَجِبُ عَلَى الحُكُومَةِ أَنْ يَمْنَعَ البْلَاسْتِيكَ.</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 must? Masculine or feminine?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5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يَجِبُ أَنْ نَزْرَعُ أَشْجَارًا.</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يَجِبُ أَنْ نَزْرَعَ أَشْجَارًا.</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 verb in -a: </a:t>
            </a:r>
            <a:pPr algn="l" indent="0" marL="0">
              <a:buNone/>
            </a:pPr>
            <a:r>
              <a:rPr lang="ar-SA" altLang="en-US" sz="1500" b="1" dirty="0">
                <a:solidFill>
                  <a:srgbClr val="1B3B6F"/>
                </a:solidFill>
                <a:latin typeface="Amiri" pitchFamily="2" charset="-78"/>
                <a:ea typeface="Amiri" pitchFamily="2" charset="-78"/>
                <a:cs typeface="Amiri" pitchFamily="2" charset="-78"/>
              </a:rPr>
              <a:t>نَزْرَعَ</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أُعِيدُ التَّدْوِيرَ لِكَيْ أُسَاعِدُ البِيئَةَ.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أُعِيدُ التَّدْوِيرَ لِكَيْ أُسَاعِدَ البِيئَةَ.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لِكَيْ</a:t>
            </a:r>
            <a:pPr algn="l" indent="0" marL="0">
              <a:buNone/>
            </a:pPr>
            <a:r>
              <a:rPr lang="en-US" sz="1150" b="1" dirty="0">
                <a:solidFill>
                  <a:srgbClr val="1B3B6F"/>
                </a:solidFill>
                <a:latin typeface="Calibri" pitchFamily="34" charset="0"/>
                <a:cs typeface="Amiri" pitchFamily="2" charset="-78"/>
              </a:rPr>
              <a:t> + verb in -a: </a:t>
            </a:r>
            <a:pPr algn="l" indent="0" marL="0">
              <a:buNone/>
            </a:pPr>
            <a:r>
              <a:rPr lang="ar-SA" altLang="en-US" sz="1500" b="1" dirty="0">
                <a:solidFill>
                  <a:srgbClr val="1B3B6F"/>
                </a:solidFill>
                <a:latin typeface="Amiri" pitchFamily="2" charset="-78"/>
                <a:ea typeface="Amiri" pitchFamily="2" charset="-78"/>
                <a:cs typeface="Amiri" pitchFamily="2" charset="-78"/>
              </a:rPr>
              <a:t>أُسَاعِدَ</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يَجِبُ عَلَى الحُكُومَةِ أَنْ يَمْنَعَ البْلَاسْتِيكَ.</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يَجِبُ عَلَى الحُكُومَةِ أَنْ تَمْنَعَ البْلَاسْتِيكَ.</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الحُكُومَةُ</a:t>
            </a:r>
            <a:pPr algn="l" indent="0" marL="0">
              <a:buNone/>
            </a:pPr>
            <a:r>
              <a:rPr lang="en-US" sz="1150" b="1" dirty="0">
                <a:solidFill>
                  <a:srgbClr val="1B3B6F"/>
                </a:solidFill>
                <a:latin typeface="Calibri" pitchFamily="34" charset="0"/>
                <a:cs typeface="Amiri" pitchFamily="2" charset="-78"/>
              </a:rPr>
              <a:t> is feminine → </a:t>
            </a:r>
            <a:pPr algn="l" indent="0" marL="0">
              <a:buNone/>
            </a:pPr>
            <a:r>
              <a:rPr lang="ar-SA" altLang="en-US" sz="1500" b="1" dirty="0">
                <a:solidFill>
                  <a:srgbClr val="1B3B6F"/>
                </a:solidFill>
                <a:latin typeface="Amiri" pitchFamily="2" charset="-78"/>
                <a:ea typeface="Amiri" pitchFamily="2" charset="-78"/>
                <a:cs typeface="Amiri" pitchFamily="2" charset="-78"/>
              </a:rPr>
              <a:t>تَمْنَعَ</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BUDDY CHECK · READ YOUR BUDDY’S Q2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(one paragraph each)?</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verb ending (I · we) and the right tense for each bullet?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adjectives agree (m. / f. / non-human plural)?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and give at least two reasons?</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past, present AND future, and give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WWW + one EBI.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6 · QUESTION 3 · HOW TO BUILD ONE STRONG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 paragraph formula: T · D · R · F</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تَكْتُبُ 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TC-L05</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FOUR PARTS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 — TOPIC sentence: say what the paragraph is about.</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 — DETAILS: what, when, where, with whom (two sentences).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 — REASON: why? (</a:t>
            </a:r>
            <a:pPr algn="l" indent="0" marL="0">
              <a:buNone/>
            </a:pPr>
            <a:r>
              <a:rPr lang="ar-SA" altLang="en-US" sz="1700" dirty="0">
                <a:solidFill>
                  <a:srgbClr val="1F2A37"/>
                </a:solidFill>
                <a:latin typeface="Amiri" pitchFamily="2" charset="-78"/>
                <a:ea typeface="Amiri" pitchFamily="2" charset="-78"/>
                <a:cs typeface="Amiri" pitchFamily="2" charset="-78"/>
              </a:rPr>
              <a:t>لِأَنَّ … / لِذٰلِكَ</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 — FEELING or opinion, and (Stretch) a link to the future.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FORMULA IN ACTION</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فِي الرَّبِيعِ شَارَكْتُ فِي زِرَاعَةِ الأَشْجَارِ مَعَ مَدْرَسَتِي.</a:t>
            </a:r>
            <a:endParaRPr lang="ar-SA" sz="210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 · In spring I took part in planting trees with my school.</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زَرَعْنَا مِئَةَ شَجَرَةٍ فِي يَوْمٍ وَاحِدٍ.</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 · We planted a hundred trees in one day.</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فَعَلْنَا ذٰلِكَ لِكَيْ نُقَلِّلَ مِنَ التَّلَوُّثِ.</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 · We did it to reduce pollution.</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شَعَرْتُ بِالفَخْرِ، وَسَأُشَارِكُ مَرَّةً أُخْرَى.</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 · I felt proud, and I will take part again.</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6 · WRITE ONE PARAGRAPH OF QUESTION 3 · ABOUT 50–70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Question 3, one paragraph: a green project I took part in</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مَشْرُوعٌ أَخْضَرُ شَارَكْتُ فِيهِ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TC-L05</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67335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67335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Q3 · ONE PARAGRAPH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Full Q3 title: “Protecting our planet”. Today write ONLY the past paragraph: a green project you took part in (or imagine one) — what it was, who took part, what you did, the result, and how you felt.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 — a topic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 — two details (when, where, who, what).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 — a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لِذٰلِكَ</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 — a feeling or opinion (Stretch: +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past verbs with the right ending?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FOR THIS PARAGRAPH</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شَارَكْتُ فِي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took part in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أَوَّلًا … ثُمَّ … وَفِي النِّهَايَةِ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first … then … finally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لِكَيْ نُوَفِّرَ / نَحْمِيَ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order to save / protect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كَانَتِ النَّتِيجَةُ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result was …</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شَعَرْتُ بِالفَخْرِ</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felt proud</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2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Q2: compare with a strong answer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السَّادَةُ فِي البَلَدِيَّةِ المُحْتَرَمُونَ،</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أَكْتُبُ إِلَيْكُمْ لِأَنَّ حَدِيقَةَ مَدِينَتِنَا أَصْبَحَتْ مَلِيئَةً بِالنُّفَايَاتِ، بِسَبَبِ قِلَّةِ السِّلَالِ وَكَثْرَةِ الزُّوَّارِ فِي الصَّيْفِ. فِي رَأْيِي، يَنْبَغِي أَنْ يَحْمِلَ النَّاسُ نُفَايَاتِهِمْ إِلَى البَيْتِ، وَأَنْ يَسْتَعْمِلُوا زُجَاجَاتٍ يُمْكِنُ اسْتِعْمَالُهَا مَرَّةً ثَانِيَةً. وَيَجِبُ عَلَى البَلَدِيَّةِ أَنْ تَضَعَ سِلَالًا لِإِعَادَةِ التَّدْوِيرِ عِنْدَ كُلِّ بَابٍ، لِكَيْ تَبْقَى الحَدِيقَةُ نَظِيفَةً، وَلِأَنَّ الأَطْفَالَ يَلْعَبُونَ فِيهَا كُلَّ يَوْمٍ. فِي الشَّهْرِ المَاضِي، نَظَّمْتُ مَعَ نَادِي البِيئَةِ فِي مَدْرَسَتِي حَمْلَةَ تَنْظِيفٍ، فَجَمَعْنَا أَكْثَرَ مِنْ ثَلَاثِينَ كِيسًا فِي سَاعَتَيْنِ فَقَطْ.</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مَعَ الاحْتِرَامِ،</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فَاطِمَةُ أَحْمَدُ</a:t>
            </a:r>
            <a:endParaRPr lang="ar-SA" sz="17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Sirs and Madams at the council, I am writing to you because our town park has become full of rubbish, because there are too few bins and too many visitors in summer. In my opinion people should take their rubbish home and use bottles that can be used again. The council must put recycling bins at every gate, so that the park stays clean, and because children play there every day. Last month I organised a clean-up with my school eco-club, and we collected more than thirty bags in only two hours. Yours respectfully, Fatima Ahmed.”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بِسَبَبِ قِلَّةِ السِّلَالِ</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يَنْبَغِي أَنْ يَحْمِلَ النَّاسُ</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يَجِبُ عَلَى البَلَدِيَّةِ أَنْ تَضَعَ</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لِكَيْ تَبْقَى الحَدِيقَةُ نَظِيفَةً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3 · ONE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Q3 paragraph: T · D · R · F in a model</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الصَّيْفِ المَاضِي شَارَكْتُ فِي مَشْرُوعٍ رَائِعٍ مَعَ نَادِي البِيئَةِ فِي مَدْرَسَتِي. لَاحَظْنَا أَنَّ الطُّلَّابَ يَرْمُونَ مِئَاتِ الزُّجَاجَاتِ البْلَاسْتِيكِيَّةِ كُلَّ أُسْبُوعٍ، لِذٰلِكَ قَرَّرْنَا أَنْ نُغَيِّرَ ذٰلِكَ. أَوَّلًا صَمَّمْنَا مُلْصَقَاتٍ مُلَوَّنَةً، ثُمَّ جَمَعْنَا المَالَ لِكَيْ نَشْتَرِيَ نَافُورَةَ مَاءٍ جَدِيدَةً، وَبَعْدَ ذٰلِكَ أَعْطَيْنَا كُلَّ طَالِبٍ زُجَاجَةً مَعْدِنِيَّةً. بَعْدَ شَهْرٍ وَاحِدٍ، قَلَّتِ النُّفَايَاتُ إِلَى النِّصْفِ. شَعَرْتُ بِالفَخْرِ، لِأَنِّي فَهِمْتُ أَنَّنَا نَسْتَطِيعُ أَنْ نُغَيِّرَ الأَشْيَاءَ.</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 last summer I took part in a great project with my school eco-club · D: we noticed students threw away hundreds of plastic bottles every week, so we decided to change that; first we designed colourful posters, then raised money to buy a new water fountain, and then gave every student a metal bottle; after one month the rubbish fell by half · F/R: I felt proud, because I understood we can change things.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شَارَكْتُ فِي مَشْرُوعٍ</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لِذٰلِكَ قَرَّرْنَا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لِكَيْ نَشْتَرِيَ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شَعَرْتُ بِالفَخْرِ</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TC-L05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TC-L05</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decoded every bullet: question word and tense.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Q2 answers all four bullets,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upgraded my sentences: detail + reason in every bullet.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work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Q3 paragraph has T, D, R and F, with past and future.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TC-L05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wrote it yourself!</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700" b="1" dirty="0">
                <a:solidFill>
                  <a:srgbClr val="FFFFFF"/>
                </a:solidFill>
                <a:latin typeface="Cambria" pitchFamily="34" charset="0"/>
                <a:cs typeface="Amiri" pitchFamily="2" charset="-78"/>
              </a:rPr>
              <a:t>TC-L06 · The next lesson in the topic</a:t>
            </a:r>
            <a:endParaRPr lang="en-US" sz="2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الدَّرْسُ التَّالِي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decode → plan → write → check. Every bullet,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TC-L05 · Writing Practice Room — Environmental Solutions</dc:title>
  <dc:subject>PptxGenJS Presentation</dc:subject>
  <dc:creator>Al Madina Online School · Arabic Department</dc:creator>
  <cp:lastModifiedBy>Al Madina Online School · Arabic Department</cp:lastModifiedBy>
  <cp:revision>1</cp:revision>
  <dcterms:created xsi:type="dcterms:W3CDTF">2026-10-25T14:54:35Z</dcterms:created>
  <dcterms:modified xsi:type="dcterms:W3CDTF">2026-10-25T14:54:35Z</dcterms:modified>
</cp:coreProperties>
</file>