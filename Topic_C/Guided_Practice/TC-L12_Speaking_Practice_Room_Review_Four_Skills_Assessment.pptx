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PRACTICE ROOM AT A GLANCE — 55–60 minutes; about 8 minutes in the main room, about 40 minutes in breakout rooms of three, about 8 minutes back together.
0–2 Welcome · 2–6 How the room works (roles, rules) · then ROOMS: Step 1 Word warm-up (5) · Step 2 The answer ladder (8) · Step 3 Role plays 1 and 2 (14) · Step 4 Topic conversation with A-R-E-T (8) · Step 5 One-minute talk (5) · back in the main room: Check yourself (6) · Self-check + close (3).
PURPOSE: students practise ON THEIR OWN with a clear structure. The teacher visits each room (about 3 minutes per room), listens, and gives one live correction per student.
CONTENT: Advanced Topic C · The World Around Us, Lesson 12 (Topic C Review — mock exam practice, TC-L12) — new role plays and questions (not the ones in the Exam Practice workshop), using the lesson’s language (all of Topic C: yaqaʿu / taqaʿu + compass points; non-human plurals; weather + kāna; bi-sababi · mimmā yusabbibu; yajibu ʿalā … an · li-kay; verbs + prepositions; the passive; yūjadu / tūjadu; prices and numbers; measurements; ṣaḥīḥun anna … ghayra anna).
SET-UP: rooms of three (same-level rooms keep the routes simple). Share this deck or its PDF in the chat so every room can follow the steps. Post the step timings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show the route through the steps. Students keep this slide in mind: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three roles quickly with two volunteers using one question. Stress: the Coach is not a judge — one WWW, one EBI,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vocab slides that follow are the reference.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(read together for 2 min). Each level ADDS one thing. Core aims for level 2, Develop for level 3, Stretch for level 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(6 min). The cells are STARTERS, not full answers. Core: questions 1–2 to level 2. Develop: all four to level 3. Stretch: level 4 with an opinion or another time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introduction (2 min). Role play 1 shows the plan column filled in; for role play 2 students write it themselves. This is the fading: by the exam, they plan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ROLE PLAY 1 (Core · Develop) — SUPPORTED: the plan column models the thinking (question word → tense → first words), NOT the full answer.
ROOM ROUTINE: Leader reads the left column in order · Speaker answers · Coach ticks the checklist (step 5 slide) and gives one WWW + one EBI · swap so that everyone is Speaker once.
To a girl the Leader says: تُرِيدِينَ · تُسَافِرِي · تَرَيْ · تَتَنَقَّلِي · تَدْفَعِي.
Topic C mix: allatī taqaʿu fī + compass (L01) · weather + li-anna (L03) · non-human plural al-jibāla (L02) · li-kay (L05) · prices (L09).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ROLE PLAY 2 (Develop · Stretch) — FADED SUPPORT: students now write their own plan column — exactly what they will do in the exam in their preparation time.
ROOM ROUTINE: Leader reads the left column in order · Speaker answers · Coach ticks the checklist (step 5 slide) and gives one WWW + one EBI · swap so that everyone is Speaker once.
To a girl the Leader says: مَدِينَتِكِ · عِنْدَكِ · زُرْتِنَا · تَشْتَرِينَ · لِعَائِلَتِكِ.
Topic C mix at Stretch level: taqaʿu + lā yūjadu (L08) · bi-sababi … mimmā yusabbibu (L04) · passive past ughliqat / buniyat (L04, L08) · suggestions (L05) · law … la- + materials and bargaining (L09–L10).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introduction (2 min). Show one answer growing link by link, then open the conversation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Leaders choose questions that suit the Speaker: Core questions first, then move up. The follow-up column trains extended answers — exactly what the conversation part of the exam rewards.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(5 min). A monologue builds fluency for the conversation.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Coach keeps this slide open during Steps 2–5. Back in the main room, ask each room for its best WWW.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 only AFTER the room has performed both cards. Each student finds one task they answered less fully and re-says it using the model.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 only AFTER the room has performed both cards. Each student finds one task they answered less fully and re-says it using the model.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Read one aloud together; students say which A-R-E-T link they will add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GUIDED PRACTICE  ·  TC-L12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Speaking Practice Room — Topic C Review</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التَّحَدُّثِ — مُرَاجَعَةُ المِحْوَرِ الثَّالِثِ</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The last Topic C practice room before the mock: students run their own speaking practice using everything from the topic — a word warm-up, the answer ladder, two mixed role plays (planning an eco-holiday, a town-twinning video call), a conversation with A-R-E-T across all of Topic C, and a one-minute talk.</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TC-L12 · Advanced Topic C · The World Around Us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Five steps — you run them yourselves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word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climb the answer ladder.</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السُّلَّمُ</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two role plays (planned, then you plan).</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تَمْثِيلُ الدَّوْرِ</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topic conversation, A-R-E-T.</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المُحَادَثَةُ</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one-minute talk.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دَقِيقَةٌ وَاحِدَةٌ</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Swap roles each time: Leader → Speaker → Coach. If you finish early, do the step again with the Stretch route.</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roles, four rules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examiner’s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full Arabic sentences. Plan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with the checklist, then gives one WWW (what went well) and one EBI (even better if).</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RULES: Arabic only in the tasks · full sentences · no silence (use a repair phrase) · everyone speaks in every step.</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هَلْ يُمْكِنُ أَنْ تُعِيدَ السُّؤَالَ؟</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could you repeat the question?</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دَعْنِي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let me think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then uses it in a short sentence about themselves. The Coach checks the Arabic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 + one sentence each.</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and the ending (I / he / she / they).</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say the he / she form of each verb.</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then a simple sentence: </a:t>
            </a:r>
            <a:pPr algn="l" indent="0" marL="0">
              <a:buNone/>
            </a:pPr>
            <a:r>
              <a:rPr lang="ar-SA" altLang="en-US" sz="1500" dirty="0">
                <a:solidFill>
                  <a:srgbClr val="1F2A37"/>
                </a:solidFill>
                <a:latin typeface="Amiri" pitchFamily="2" charset="-78"/>
                <a:ea typeface="Amiri" pitchFamily="2" charset="-78"/>
                <a:cs typeface="Amiri" pitchFamily="2" charset="-78"/>
              </a:rPr>
              <a:t>أَنَا</a:t>
            </a:r>
            <a:pPr algn="l" indent="0" marL="0">
              <a:buNone/>
            </a:pPr>
            <a:r>
              <a:rPr lang="en-US" sz="1150" dirty="0">
                <a:solidFill>
                  <a:srgbClr val="1F2A37"/>
                </a:solidFill>
                <a:latin typeface="Calibri" pitchFamily="34" charset="0"/>
                <a:cs typeface="Amiri" pitchFamily="2" charset="-78"/>
              </a:rPr>
              <a:t> …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when or how often: </a:t>
            </a:r>
            <a:pPr algn="l" indent="0" marL="0">
              <a:buNone/>
            </a:pPr>
            <a:r>
              <a:rPr lang="ar-SA" altLang="en-US" sz="1500" dirty="0">
                <a:solidFill>
                  <a:srgbClr val="1F2A37"/>
                </a:solidFill>
                <a:latin typeface="Amiri" pitchFamily="2" charset="-78"/>
                <a:ea typeface="Amiri" pitchFamily="2" charset="-78"/>
                <a:cs typeface="Amiri" pitchFamily="2" charset="-78"/>
              </a:rPr>
              <a:t>كُلَّ يَوْمٍ</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أَحْيَانًا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مَرَّتَيْنِ فِي الأُسْبُوعِ</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two words in one sentence with a reason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تَكَلَّمْ أَكْثَرَ / تَكَلَّمِي أَكْثَرَ</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say more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21</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Topic C: places, nature, weather, environment</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الأَمَاكِنُ وَالطَّبِيعَةُ وَالطَّقْسُ وَالبِيئَةُ</a:t>
            </a:r>
            <a:endParaRPr lang="ar-SA" sz="26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L01</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يَقَعُ · تَقَعُ فِي …</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located in (m. · f.)</a:t>
            </a:r>
            <a:endParaRPr lang="en-US" sz="1350" dirty="0"/>
          </a:p>
          <a:p>
            <a:pPr indent="0" marL="0">
              <a:buNone/>
            </a:pPr>
            <a:r>
              <a:rPr lang="en-US" sz="1100" i="1" dirty="0">
                <a:solidFill>
                  <a:srgbClr val="5A6472"/>
                </a:solidFill>
                <a:latin typeface="Calibri" pitchFamily="34" charset="0"/>
                <a:cs typeface="Amiri" pitchFamily="2" charset="-78"/>
              </a:rPr>
              <a:t>ya-qa-ʿu · ta-qa-ʿu fī …</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nisba</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مِصْرِيٌّ · مِصْرِيَّةٌ</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in the north of</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فِي شَمَالِ</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L02</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جِبَالٌ عَالِيَةٌ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high mountains</a:t>
            </a:r>
            <a:endParaRPr lang="en-US" sz="1350" dirty="0"/>
          </a:p>
          <a:p>
            <a:pPr indent="0" marL="0">
              <a:buNone/>
            </a:pPr>
            <a:r>
              <a:rPr lang="en-US" sz="1100" i="1" dirty="0">
                <a:solidFill>
                  <a:srgbClr val="5A6472"/>
                </a:solidFill>
                <a:latin typeface="Calibri" pitchFamily="34" charset="0"/>
                <a:cs typeface="Amiri" pitchFamily="2" charset="-78"/>
              </a:rPr>
              <a:t>ji-bā-lun ʿā-li-ya-tun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live (f.)</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تَعِيشُ</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non-hum. pl. → f. sg.</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غَابَاتٌ كَثِيفَةٌ</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L03</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تَسْقُطُ الأَمْطَارُ</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rains (rain falls)</a:t>
            </a:r>
            <a:endParaRPr lang="en-US" sz="1350" dirty="0"/>
          </a:p>
          <a:p>
            <a:pPr indent="0" marL="0">
              <a:buNone/>
            </a:pPr>
            <a:r>
              <a:rPr lang="en-US" sz="1100" i="1" dirty="0">
                <a:solidFill>
                  <a:srgbClr val="5A6472"/>
                </a:solidFill>
                <a:latin typeface="Calibri" pitchFamily="34" charset="0"/>
                <a:cs typeface="Amiri" pitchFamily="2" charset="-78"/>
              </a:rPr>
              <a:t>tas-qu-ṭu al-am-ṭā-ru</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it will be</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سَيَكُونُ الجَوُّ …</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colder than</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أَبْرَدُ مِنْ</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L04</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بِسَبَبِ … مِمَّا يُسَبِّبُ …</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 of … which causes …</a:t>
            </a:r>
            <a:endParaRPr lang="en-US" sz="1350" dirty="0"/>
          </a:p>
          <a:p>
            <a:pPr indent="0" marL="0">
              <a:buNone/>
            </a:pPr>
            <a:r>
              <a:rPr lang="en-US" sz="1100" i="1" dirty="0">
                <a:solidFill>
                  <a:srgbClr val="5A6472"/>
                </a:solidFill>
                <a:latin typeface="Calibri" pitchFamily="34" charset="0"/>
                <a:cs typeface="Amiri" pitchFamily="2" charset="-78"/>
              </a:rPr>
              <a:t>bi-sa-ba-bi … mim-mā yu-sab-bi-bu …</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passive</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تُرْمَى · يُلَوَّثُ</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leads to</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يُؤَدِّي إِلَى</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L05</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عَلَى … أَنْ</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 must …</a:t>
            </a:r>
            <a:endParaRPr lang="en-US" sz="1350" dirty="0"/>
          </a:p>
          <a:p>
            <a:pPr indent="0" marL="0">
              <a:buNone/>
            </a:pPr>
            <a:r>
              <a:rPr lang="en-US" sz="1100" i="1" dirty="0">
                <a:solidFill>
                  <a:srgbClr val="5A6472"/>
                </a:solidFill>
                <a:latin typeface="Calibri" pitchFamily="34" charset="0"/>
                <a:cs typeface="Amiri" pitchFamily="2" charset="-78"/>
              </a:rPr>
              <a:t>ya-ji-bu ʿa-lā … an</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so that</a:t>
            </a:r>
            <a:endParaRPr lang="en-US" sz="700" dirty="0"/>
          </a:p>
        </p:txBody>
      </p:sp>
      <p:sp>
        <p:nvSpPr>
          <p:cNvPr id="86" name="Text 83"/>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لِكَيْ</a:t>
            </a:r>
            <a:endParaRPr lang="ar-SA" sz="135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we should</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يَنْبَغِي أَنْ</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L06</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أَتَوَاصَلُ مَعَ …</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keep in touch with …</a:t>
            </a:r>
            <a:endParaRPr lang="en-US" sz="1350" dirty="0"/>
          </a:p>
          <a:p>
            <a:pPr indent="0" marL="0">
              <a:buNone/>
            </a:pPr>
            <a:r>
              <a:rPr lang="en-US" sz="1100" i="1" dirty="0">
                <a:solidFill>
                  <a:srgbClr val="5A6472"/>
                </a:solidFill>
                <a:latin typeface="Calibri" pitchFamily="34" charset="0"/>
                <a:cs typeface="Amiri" pitchFamily="2" charset="-78"/>
              </a:rPr>
              <a:t>a-ta-wā-ṣa-lu ma-ʿa …</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 search for</a:t>
            </a:r>
            <a:endParaRPr lang="en-US" sz="700" dirty="0"/>
          </a:p>
        </p:txBody>
      </p:sp>
      <p:sp>
        <p:nvSpPr>
          <p:cNvPr id="101" name="Text 98"/>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أَبْحَثُ عَنْ</a:t>
            </a:r>
            <a:endParaRPr lang="ar-SA" sz="135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 comment on</a:t>
            </a:r>
            <a:endParaRPr lang="en-US" sz="700" dirty="0"/>
          </a:p>
        </p:txBody>
      </p:sp>
      <p:sp>
        <p:nvSpPr>
          <p:cNvPr id="104" name="Text 101"/>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أُعَلِّقُ عَلَى</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Topic C: technology, town, shopping, objects</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التِّكْنُولُوجْيَا وَالمَدِينَةُ وَالتَّسَوُّقُ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L07</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حَجَزْتُ · سَأَحْجِزُ</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booked · I will book</a:t>
            </a:r>
            <a:endParaRPr lang="en-US" sz="1350" dirty="0"/>
          </a:p>
          <a:p>
            <a:pPr indent="0" marL="0">
              <a:buNone/>
            </a:pPr>
            <a:r>
              <a:rPr lang="en-US" sz="1100" i="1" dirty="0">
                <a:solidFill>
                  <a:srgbClr val="5A6472"/>
                </a:solidFill>
                <a:latin typeface="Calibri" pitchFamily="34" charset="0"/>
                <a:cs typeface="Amiri" pitchFamily="2" charset="-78"/>
              </a:rPr>
              <a:t>ḥa-jaz-tu · sa-ʾaḥ-ji-zu</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was sent</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أُرْسِلَ</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 stay in</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أُقِيمُ فِي</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L08</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يُوجَدُ · تُوجَدُ</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 is (m. · f.)</a:t>
            </a:r>
            <a:endParaRPr lang="en-US" sz="1350" dirty="0"/>
          </a:p>
          <a:p>
            <a:pPr indent="0" marL="0">
              <a:buNone/>
            </a:pPr>
            <a:r>
              <a:rPr lang="en-US" sz="1100" i="1" dirty="0">
                <a:solidFill>
                  <a:srgbClr val="5A6472"/>
                </a:solidFill>
                <a:latin typeface="Calibri" pitchFamily="34" charset="0"/>
                <a:cs typeface="Amiri" pitchFamily="2" charset="-78"/>
              </a:rPr>
              <a:t>yū-ja-du · tū-ja-du</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built of</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مَبْنِيٌّ مِنْ</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opposite</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مُقَابِلَ</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L09</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ثَمَنُهُ / ثَمَنُهَا؟</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is it? (m. · f.)</a:t>
            </a:r>
            <a:endParaRPr lang="en-US" sz="1350" dirty="0"/>
          </a:p>
          <a:p>
            <a:pPr indent="0" marL="0">
              <a:buNone/>
            </a:pPr>
            <a:r>
              <a:rPr lang="en-US" sz="1100" i="1" dirty="0">
                <a:solidFill>
                  <a:srgbClr val="5A6472"/>
                </a:solidFill>
                <a:latin typeface="Calibri" pitchFamily="34" charset="0"/>
                <a:cs typeface="Amiri" pitchFamily="2" charset="-78"/>
              </a:rPr>
              <a:t>kam tha-ma-nu-hu / tha-ma-nu-hā?</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20 pounds</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عِشْرُونَ جُنَيْهًا</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cheaper</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أَرْخَصُ</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L10</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طُولُهُ مِتْرَانِ</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two metres long</a:t>
            </a:r>
            <a:endParaRPr lang="en-US" sz="1350" dirty="0"/>
          </a:p>
          <a:p>
            <a:pPr indent="0" marL="0">
              <a:buNone/>
            </a:pPr>
            <a:r>
              <a:rPr lang="en-US" sz="1100" i="1" dirty="0">
                <a:solidFill>
                  <a:srgbClr val="5A6472"/>
                </a:solidFill>
                <a:latin typeface="Calibri" pitchFamily="34" charset="0"/>
                <a:cs typeface="Amiri" pitchFamily="2" charset="-78"/>
              </a:rPr>
              <a:t>ṭū-lu-hu mit-rā-ni</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round (f.)</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دَائِرِيَّةٌ</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made of (f.)</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مَصْنُوعَةٌ مِنْ</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L11</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ea typeface="Amiri" pitchFamily="2" charset="-78"/>
                <a:cs typeface="Amiri" pitchFamily="2" charset="-78"/>
              </a:rPr>
              <a:t>أَوَّلًا · بِالإِضَافَةِ إِلَى ذٰلِكَ</a:t>
            </a:r>
            <a:endParaRPr lang="ar-SA" sz="29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firstly · in addition</a:t>
            </a:r>
            <a:endParaRPr lang="en-US" sz="1350" dirty="0"/>
          </a:p>
          <a:p>
            <a:pPr indent="0" marL="0">
              <a:buNone/>
            </a:pPr>
            <a:r>
              <a:rPr lang="en-US" sz="1100" i="1" dirty="0">
                <a:solidFill>
                  <a:srgbClr val="5A6472"/>
                </a:solidFill>
                <a:latin typeface="Calibri" pitchFamily="34" charset="0"/>
                <a:cs typeface="Amiri" pitchFamily="2" charset="-78"/>
              </a:rPr>
              <a:t>aw-wa-lan · bil-ʾi-ḍā-fa-ti i-lā dhā-li-ka</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therefore</a:t>
            </a:r>
            <a:endParaRPr lang="en-US" sz="700" dirty="0"/>
          </a:p>
        </p:txBody>
      </p:sp>
      <p:sp>
        <p:nvSpPr>
          <p:cNvPr id="86" name="Text 83"/>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لِذٰلِكَ</a:t>
            </a:r>
            <a:endParaRPr lang="ar-SA" sz="135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however</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مَعَ ذٰلِكَ</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3" name="Shape 90"/>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top band</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صَحِيحٌ أَنَّ … غَيْرَ أَنَّ …</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true that … but …</a:t>
            </a:r>
            <a:endParaRPr lang="en-US" sz="1350" dirty="0"/>
          </a:p>
          <a:p>
            <a:pPr indent="0" marL="0">
              <a:buNone/>
            </a:pPr>
            <a:r>
              <a:rPr lang="en-US" sz="1100" i="1" dirty="0">
                <a:solidFill>
                  <a:srgbClr val="5A6472"/>
                </a:solidFill>
                <a:latin typeface="Calibri" pitchFamily="34" charset="0"/>
                <a:cs typeface="Amiri" pitchFamily="2" charset="-78"/>
              </a:rPr>
              <a:t>ṣa-ḥī-ḥun an-na … ghay-ra an-na …</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if … will</a:t>
            </a:r>
            <a:endParaRPr lang="en-US" sz="700" dirty="0"/>
          </a:p>
        </p:txBody>
      </p:sp>
      <p:sp>
        <p:nvSpPr>
          <p:cNvPr id="101" name="Text 98"/>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إِذَا … فَسَوْفَ</a:t>
            </a:r>
            <a:endParaRPr lang="ar-SA" sz="135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if … would</a:t>
            </a:r>
            <a:endParaRPr lang="en-US" sz="700" dirty="0"/>
          </a:p>
        </p:txBody>
      </p:sp>
      <p:sp>
        <p:nvSpPr>
          <p:cNvPr id="104" name="Text 101"/>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لَوْ كُنْتُ … لَاخْتَرْتُ</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21</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STEP 2 · THE ANSWER LADDER · HOW A SHORT ANSWER BECOMES A STRONG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Climb the ladder: “Describe a place you love in the world.”</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 مَكَانًا تُحِبُّهُ فِي العَالَمِ.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أُحِبُّ مَدِينَةَ إِسْطَنْبُولَ.</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Level 1 · Answer in a full sentence</a:t>
            </a:r>
            <a:endParaRPr lang="en-US" sz="1250" dirty="0"/>
          </a:p>
          <a:p>
            <a:pPr indent="0" marL="0">
              <a:buNone/>
            </a:pPr>
            <a:r>
              <a:rPr lang="en-US" sz="1050" i="1" dirty="0">
                <a:solidFill>
                  <a:srgbClr val="8A6D1E"/>
                </a:solidFill>
                <a:latin typeface="Calibri" pitchFamily="34" charset="0"/>
                <a:cs typeface="Amiri" pitchFamily="2" charset="-78"/>
              </a:rPr>
              <a:t>I love Istanbul.</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أُحِبُّ مَدِينَةَ إِسْطَنْبُولَ الَّتِي تَقَعُ بَيْنَ آسِيَا وَأُورُوبَّا.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Level 2 · + a reason</a:t>
            </a:r>
            <a:endParaRPr lang="en-US" sz="1250" dirty="0"/>
          </a:p>
          <a:p>
            <a:pPr indent="0" marL="0">
              <a:buNone/>
            </a:pPr>
            <a:r>
              <a:rPr lang="en-US" sz="1050" i="1" dirty="0">
                <a:solidFill>
                  <a:srgbClr val="8A6D1E"/>
                </a:solidFill>
                <a:latin typeface="Calibri" pitchFamily="34" charset="0"/>
                <a:cs typeface="Amiri" pitchFamily="2" charset="-78"/>
              </a:rPr>
              <a:t>… which lies between Asia and Europe.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 فِيهَا مَسَاجِدُ قَدِيمَةٌ وَأَسْوَاقٌ مُلَوَّنَةٌ، وَالجَوُّ فِيهَا مُعْتَدِلٌ فِي الرَّبِيعِ.</a:t>
            </a:r>
            <a:endParaRPr lang="ar-SA" sz="21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Level 3 · + a detail (time, frequency, example)</a:t>
            </a:r>
            <a:endParaRPr lang="en-US" sz="1250" dirty="0"/>
          </a:p>
          <a:p>
            <a:pPr indent="0" marL="0">
              <a:buNone/>
            </a:pPr>
            <a:r>
              <a:rPr lang="en-US" sz="1050" i="1" dirty="0">
                <a:solidFill>
                  <a:srgbClr val="8A6D1E"/>
                </a:solidFill>
                <a:latin typeface="Calibri" pitchFamily="34" charset="0"/>
                <a:cs typeface="Amiri" pitchFamily="2" charset="-78"/>
              </a:rPr>
              <a:t>… it has old mosques and colourful markets, and the weather is mild in spring.</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صَحِيحٌ أَنَّهَا مُزْدَحِمَةٌ جِدًّا، غَيْرَ أَنِّي لَوْ زُرْتُهَا مَرَّةً أُخْرَى، لَرَكِبْتُ القَارِبَ عَلَى البُوسْفُورِ مَرَّةً ثَانِيَةً.</a:t>
            </a:r>
            <a:endParaRPr lang="ar-SA" sz="185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Level 4 · + another time frame or an opinion</a:t>
            </a:r>
            <a:endParaRPr lang="en-US" sz="1250" dirty="0"/>
          </a:p>
          <a:p>
            <a:pPr indent="0" marL="0">
              <a:buNone/>
            </a:pPr>
            <a:r>
              <a:rPr lang="en-US" sz="1050" i="1" dirty="0">
                <a:solidFill>
                  <a:srgbClr val="8A6D1E"/>
                </a:solidFill>
                <a:latin typeface="Calibri" pitchFamily="34" charset="0"/>
                <a:cs typeface="Amiri" pitchFamily="2" charset="-78"/>
              </a:rPr>
              <a:t>… it’s true it’s very crowded, but if I visited again, I would take the boat on the Bosphorus once more.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CLIMB THE LADDER FOR EACH QUESTION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Your ladder: build each answer level by level</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اصْعَدِ السُّلَّمَ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45752" y="1810512"/>
            <a:ext cx="2212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Level 3–4 · + detail / time</a:t>
            </a:r>
            <a:endParaRPr lang="en-US" sz="1100" dirty="0"/>
          </a:p>
        </p:txBody>
      </p:sp>
      <p:sp>
        <p:nvSpPr>
          <p:cNvPr id="17" name="Text 14"/>
          <p:cNvSpPr txBox="1"/>
          <p:nvPr/>
        </p:nvSpPr>
        <p:spPr>
          <a:xfrm>
            <a:off x="706831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Level 2 · + reason</a:t>
            </a:r>
            <a:endParaRPr lang="en-US" sz="1100" dirty="0"/>
          </a:p>
        </p:txBody>
      </p:sp>
      <p:sp>
        <p:nvSpPr>
          <p:cNvPr id="18" name="Text 15"/>
          <p:cNvSpPr txBox="1"/>
          <p:nvPr/>
        </p:nvSpPr>
        <p:spPr>
          <a:xfrm>
            <a:off x="4599432"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Level 1 · answer</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464040" y="2267712"/>
            <a:ext cx="21762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وَفِي العُطْلَةِ القَادِمَةِ …</a:t>
            </a:r>
            <a:endParaRPr lang="ar-SA" sz="1500" dirty="0"/>
          </a:p>
        </p:txBody>
      </p:sp>
      <p:sp>
        <p:nvSpPr>
          <p:cNvPr id="23" name="Text 20"/>
          <p:cNvSpPr txBox="1"/>
          <p:nvPr/>
        </p:nvSpPr>
        <p:spPr>
          <a:xfrm>
            <a:off x="7086600" y="2267712"/>
            <a:ext cx="21945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لِذٰلِكَ …</a:t>
            </a:r>
            <a:endParaRPr lang="ar-SA" sz="1500" dirty="0"/>
          </a:p>
        </p:txBody>
      </p:sp>
      <p:sp>
        <p:nvSpPr>
          <p:cNvPr id="24" name="Text 21"/>
          <p:cNvSpPr txBox="1"/>
          <p:nvPr/>
        </p:nvSpPr>
        <p:spPr>
          <a:xfrm>
            <a:off x="4617720" y="2267712"/>
            <a:ext cx="228600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كَانَ الجَوُّ …</a:t>
            </a:r>
            <a:endParaRPr lang="ar-SA" sz="1500" dirty="0"/>
          </a:p>
        </p:txBody>
      </p:sp>
      <p:sp>
        <p:nvSpPr>
          <p:cNvPr id="25" name="Text 22"/>
          <p:cNvSpPr txBox="1"/>
          <p:nvPr/>
        </p:nvSpPr>
        <p:spPr>
          <a:xfrm>
            <a:off x="1051560" y="2267712"/>
            <a:ext cx="338328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كَانَ الطَّقْسُ فِي آخِرِ عُطْلَةٍ؟</a:t>
            </a:r>
            <a:endParaRPr lang="ar-SA" sz="1600" dirty="0"/>
          </a:p>
        </p:txBody>
      </p:sp>
      <p:sp>
        <p:nvSpPr>
          <p:cNvPr id="26" name="Text 23"/>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464040" y="3054096"/>
            <a:ext cx="21762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فِي مَدْرَسَتِي …</a:t>
            </a:r>
            <a:endParaRPr lang="ar-SA" sz="1500" dirty="0"/>
          </a:p>
        </p:txBody>
      </p:sp>
      <p:sp>
        <p:nvSpPr>
          <p:cNvPr id="31" name="Text 28"/>
          <p:cNvSpPr txBox="1"/>
          <p:nvPr/>
        </p:nvSpPr>
        <p:spPr>
          <a:xfrm>
            <a:off x="7086600" y="3054096"/>
            <a:ext cx="21945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32" name="Text 29"/>
          <p:cNvSpPr txBox="1"/>
          <p:nvPr/>
        </p:nvSpPr>
        <p:spPr>
          <a:xfrm>
            <a:off x="4617720" y="3054096"/>
            <a:ext cx="228600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يَجِبُ أَنْ …</a:t>
            </a:r>
            <a:endParaRPr lang="ar-SA" sz="1500" dirty="0"/>
          </a:p>
        </p:txBody>
      </p:sp>
      <p:sp>
        <p:nvSpPr>
          <p:cNvPr id="33" name="Text 30"/>
          <p:cNvSpPr txBox="1"/>
          <p:nvPr/>
        </p:nvSpPr>
        <p:spPr>
          <a:xfrm>
            <a:off x="1051560" y="3054096"/>
            <a:ext cx="338328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الَّذِي يَجِبُ أَنْ نَفْعَلَهُ لِنَحْمِيَ البِيئَةَ؟</a:t>
            </a:r>
            <a:endParaRPr lang="ar-SA" sz="1600" dirty="0"/>
          </a:p>
        </p:txBody>
      </p:sp>
      <p:sp>
        <p:nvSpPr>
          <p:cNvPr id="34" name="Text 31"/>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464040" y="3840480"/>
            <a:ext cx="21762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صَحِيحٌ أَنَّ … غَيْرَ أَنَّ …</a:t>
            </a:r>
            <a:endParaRPr lang="ar-SA" sz="1500" dirty="0"/>
          </a:p>
        </p:txBody>
      </p:sp>
      <p:sp>
        <p:nvSpPr>
          <p:cNvPr id="39" name="Text 36"/>
          <p:cNvSpPr txBox="1"/>
          <p:nvPr/>
        </p:nvSpPr>
        <p:spPr>
          <a:xfrm>
            <a:off x="7086600" y="3840480"/>
            <a:ext cx="21945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مِنْ فَوَائِدِهَا … وَمِنْ عُيُوبِهَا …</a:t>
            </a:r>
            <a:endParaRPr lang="ar-SA" sz="1500" dirty="0"/>
          </a:p>
        </p:txBody>
      </p:sp>
      <p:sp>
        <p:nvSpPr>
          <p:cNvPr id="40" name="Text 37"/>
          <p:cNvSpPr txBox="1"/>
          <p:nvPr/>
        </p:nvSpPr>
        <p:spPr>
          <a:xfrm>
            <a:off x="4617720" y="3840480"/>
            <a:ext cx="228600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فِي رَأْيِي …</a:t>
            </a:r>
            <a:endParaRPr lang="ar-SA" sz="1500" dirty="0"/>
          </a:p>
        </p:txBody>
      </p:sp>
      <p:sp>
        <p:nvSpPr>
          <p:cNvPr id="41" name="Text 38"/>
          <p:cNvSpPr txBox="1"/>
          <p:nvPr/>
        </p:nvSpPr>
        <p:spPr>
          <a:xfrm>
            <a:off x="1051560" y="3840480"/>
            <a:ext cx="338328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رَأْيُكَ فِي وَسَائِلِ التَّوَاصُلِ؟</a:t>
            </a:r>
            <a:endParaRPr lang="ar-SA" sz="1600" dirty="0"/>
          </a:p>
        </p:txBody>
      </p:sp>
      <p:sp>
        <p:nvSpPr>
          <p:cNvPr id="42" name="Text 39"/>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4" name="Text 41"/>
          <p:cNvSpPr txBox="1"/>
          <p:nvPr/>
        </p:nvSpPr>
        <p:spPr>
          <a:xfrm>
            <a:off x="9464040" y="4626864"/>
            <a:ext cx="21762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وَكَانَ أَرْخَصَ / أَغْلَى مِنْ …</a:t>
            </a:r>
            <a:endParaRPr lang="ar-SA" sz="1500" dirty="0"/>
          </a:p>
        </p:txBody>
      </p:sp>
      <p:sp>
        <p:nvSpPr>
          <p:cNvPr id="45" name="Text 42"/>
          <p:cNvSpPr txBox="1"/>
          <p:nvPr/>
        </p:nvSpPr>
        <p:spPr>
          <a:xfrm>
            <a:off x="7086600" y="4626864"/>
            <a:ext cx="21945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مَصْنُوعٌ مِنْ … وَثَمَنُهُ …</a:t>
            </a:r>
            <a:endParaRPr lang="ar-SA" sz="1500" dirty="0"/>
          </a:p>
        </p:txBody>
      </p:sp>
      <p:sp>
        <p:nvSpPr>
          <p:cNvPr id="46" name="Text 43"/>
          <p:cNvSpPr txBox="1"/>
          <p:nvPr/>
        </p:nvSpPr>
        <p:spPr>
          <a:xfrm>
            <a:off x="4617720" y="4626864"/>
            <a:ext cx="228600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اشْتَرَيْتُ …</a:t>
            </a:r>
            <a:endParaRPr lang="ar-SA" sz="1500" dirty="0"/>
          </a:p>
        </p:txBody>
      </p:sp>
      <p:sp>
        <p:nvSpPr>
          <p:cNvPr id="47" name="Text 44"/>
          <p:cNvSpPr txBox="1"/>
          <p:nvPr/>
        </p:nvSpPr>
        <p:spPr>
          <a:xfrm>
            <a:off x="1051560" y="4626864"/>
            <a:ext cx="338328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شَيْئًا اشْتَرَيْتَهُ مُؤَخَّرًا.</a:t>
            </a:r>
            <a:endParaRPr lang="ar-SA" sz="1600" dirty="0"/>
          </a:p>
        </p:txBody>
      </p:sp>
      <p:sp>
        <p:nvSpPr>
          <p:cNvPr id="48" name="Text 4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Leader asks · Speaker climbs as high as they can · Coach says which level they reached. Swap for each question.</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STEP 3 · ROLE PLAY · HOW TO USE YOUR 1 MINUTE OF PREPARATION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Plan a role-play card in one minute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خَطِّطْ فِي دَقِيقَةٍ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MOVES IN ONE MINUTE</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WHO am I and WHO is the examiner? (formal or friendly · a man or a woman → your endings).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For each task, find the QUESTION WORD and the TENSE (past · present · future).</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Plan only your FIRST 2–3 words for each task — not whole sentences.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Task ! is unexpected: listen for the question word, then answer in a full sentence.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QUESTION WORD → HOW TO START</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كَمْ …؟ ← رَقْمٌ + اسْمٌ</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how many → a number + a noun</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مَتَى …؟ ← فِي السَّاعَةِ … / يَوْمَ …</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when → at … o’clock / on …day</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لِمَاذَا …؟ ← لِأَنَّ …</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why → because …</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هَلْ …؟ ← نَعَمْ / لَا + جُمْلَةٌ كَامِلَةٌ</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yes/no question → yes / no + a full sentence</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21</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3 · ROLE PLAY 1 · CORE · DEVELOP · THE PLAN IS GIVEN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Role play 1 — Planning an eco-holiday</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نُخَطِّطُ لِعُطْلَةٍ صَدِيقَةٍ لِلْبِيئَةِ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question word → my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 (the examiner)</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أَيْنَ ← إِلَى … الَّتِي تَقَعُ فِي …</a:t>
            </a:r>
            <a:endParaRPr lang="ar-SA" sz="15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 country and say where it is.</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أَيْنَ تُرِيدُ أَنْ تُسَافِرَ؟</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مَتَى ← فِي … لِأَنَّ الجَوَّ …</a:t>
            </a:r>
            <a:endParaRPr lang="ar-SA" sz="15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a season and give a reason.</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تُرِيدُ أَنْ تُسَافِرَ؟</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 أُرِيدُ أَنْ أَرَى … وَ…</a:t>
            </a:r>
            <a:endParaRPr lang="ar-SA" sz="15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two natural places.</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تُرِيدُ أَنْ تَرَى؟</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 ← بِالحَافِلَةِ … لِكَيْ …</a:t>
            </a:r>
            <a:endParaRPr lang="ar-SA" sz="15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green transport.</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تُرِيدُ أَنْ تَتَنَقَّلَ هُنَاكَ؟</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كَمْ ← أَلْفَ جُنَيْهٍ تَقْرِيبًا</a:t>
            </a:r>
            <a:endParaRPr lang="ar-SA" sz="15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unexpected question.</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تُرِيدُ أَنْ تَدْفَعَ؟</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customer · Leader = the travel agent. Use the plan column in your 1 minute of preparation, then hide it and speak.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3 · ROLE PLAY 2 · DEVELOP · STRETCH · PLAN IT YOURSELF</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Role play 2 — A town-twinning video call</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مُكَالَمَةٌ بَيْنَ مَدِينَتَيْنِ تَوْأَمَيْنِ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it: question word → my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 (the examiner)</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93608" y="2267712"/>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town (location, services, what is missing).</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حَدِّثْنَا عَنْ مَدِينَتِكَ وَخِدْمَاتِهَا.</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293608" y="300471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problem, cause and effect.</a:t>
            </a:r>
            <a:endParaRPr lang="en-US" sz="1100" dirty="0"/>
          </a:p>
        </p:txBody>
      </p:sp>
      <p:sp>
        <p:nvSpPr>
          <p:cNvPr id="28" name="Text 25"/>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أَكْبَرُ مُشْكِلَةٍ بِيئِيَّةٍ عِنْدَكُمْ؟</a:t>
            </a:r>
            <a:endParaRPr lang="ar-SA" sz="17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2" name="Text 29"/>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past and present (passive + kāna).</a:t>
            </a:r>
            <a:endParaRPr lang="en-US" sz="1100" dirty="0"/>
          </a:p>
        </p:txBody>
      </p:sp>
      <p:sp>
        <p:nvSpPr>
          <p:cNvPr id="33" name="Text 30"/>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تَغَيَّرَتْ مَدِينَتُكُمْ؟</a:t>
            </a:r>
            <a:endParaRPr lang="ar-SA" sz="17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React, suggest a joint project and ASK a question.</a:t>
            </a:r>
            <a:endParaRPr lang="en-US" sz="1100" dirty="0"/>
          </a:p>
        </p:txBody>
      </p:sp>
      <p:sp>
        <p:nvSpPr>
          <p:cNvPr id="38" name="Text 35"/>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عِنْدَنَا فِي عَمَّانَ مُشْكِلَةُ قِلَّةِ المَاءِ.</a:t>
            </a:r>
            <a:endParaRPr lang="ar-SA" sz="17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unexpected question (law … la- + description + price).</a:t>
            </a:r>
            <a:endParaRPr lang="en-US" sz="1100" dirty="0"/>
          </a:p>
        </p:txBody>
      </p:sp>
      <p:sp>
        <p:nvSpPr>
          <p:cNvPr id="43" name="Text 40"/>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لَوْ زُرْتَنَا، مَاذَا تَشْتَرِي هَدِيَّةً لِعَائِلَتِكَ؟</a:t>
            </a:r>
            <a:endParaRPr lang="ar-SA" sz="17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student representing your town · Leader = a student from your twin town in Jordan. In your 1 minute, write the plan column in your book. Task ! : the Leader reads it without warning. Then swap roles.</a:t>
            </a:r>
            <a:endParaRPr lang="en-US" sz="11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4 · TOPIC CONVERSATION · KEEP THE ANSWER GOING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A-R-E-T: four links in every answer</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سِلْسِلَةُ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A · R · E · 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 ANSWER the question in a full sentence.</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give a REASON: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E — add an EXAMPLE or a detail: </a:t>
            </a:r>
            <a:pPr algn="l" indent="0" marL="0">
              <a:buNone/>
            </a:pPr>
            <a:r>
              <a:rPr lang="ar-SA" altLang="en-US" sz="1700" dirty="0">
                <a:solidFill>
                  <a:srgbClr val="1F2A37"/>
                </a:solidFill>
                <a:latin typeface="Amiri" pitchFamily="2" charset="-78"/>
                <a:ea typeface="Amiri" pitchFamily="2" charset="-78"/>
                <a:cs typeface="Amiri" pitchFamily="2" charset="-78"/>
              </a:rPr>
              <a:t>مَثَلًا … / كُلَّ يَوْمٍ</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change the TIME: past (</a:t>
            </a:r>
            <a:pPr algn="l" indent="0" marL="0">
              <a:buNone/>
            </a:pPr>
            <a:r>
              <a:rPr lang="ar-SA" altLang="en-US" sz="1700" dirty="0">
                <a:solidFill>
                  <a:srgbClr val="1F2A37"/>
                </a:solidFill>
                <a:latin typeface="Amiri" pitchFamily="2" charset="-78"/>
                <a:ea typeface="Amiri" pitchFamily="2" charset="-78"/>
                <a:cs typeface="Amiri" pitchFamily="2" charset="-78"/>
              </a:rPr>
              <a:t>أَمْسِ / فِي المَاضِي</a:t>
            </a:r>
            <a:pPr algn="l" indent="0" marL="0">
              <a:buNone/>
            </a:pPr>
            <a:r>
              <a:rPr lang="en-US" sz="1300" dirty="0">
                <a:solidFill>
                  <a:srgbClr val="1F2A37"/>
                </a:solidFill>
                <a:latin typeface="Calibri" pitchFamily="34" charset="0"/>
                <a:cs typeface="Amiri" pitchFamily="2" charset="-78"/>
              </a:rPr>
              <a:t>) or future (</a:t>
            </a:r>
            <a:pPr algn="l" indent="0" marL="0">
              <a:buNone/>
            </a:pPr>
            <a:r>
              <a:rPr lang="ar-SA" altLang="en-US" sz="1700" dirty="0">
                <a:solidFill>
                  <a:srgbClr val="1F2A37"/>
                </a:solidFill>
                <a:latin typeface="Amiri" pitchFamily="2" charset="-78"/>
                <a:ea typeface="Amiri" pitchFamily="2" charset="-78"/>
                <a:cs typeface="Amiri" pitchFamily="2" charset="-78"/>
              </a:rPr>
              <a:t>سَوْفَ / فِي المُسْتَقْبَلِ</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COACH PUSHES WITH</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لِمَاذَا؟</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Why?</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مِثْلَ مَاذَا؟</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Like what?</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وَفِي المَاضِي؟ / وَفِي المُسْتَقْبَلِ؟</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And in the past? / And in the future?</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A + R. Develop: A + R + E. Stretch: all four, plus an opinion (</a:t>
            </a:r>
            <a:pPr algn="l" indent="0" marL="0">
              <a:buNone/>
            </a:pPr>
            <a:r>
              <a:rPr lang="ar-SA" altLang="en-US" sz="1650" dirty="0">
                <a:solidFill>
                  <a:srgbClr val="1F2A37"/>
                </a:solidFill>
                <a:latin typeface="Amiri" pitchFamily="2" charset="-78"/>
                <a:ea typeface="Amiri" pitchFamily="2" charset="-78"/>
                <a:cs typeface="Amiri" pitchFamily="2" charset="-78"/>
              </a:rPr>
              <a:t>فِي رَأْيِي</a:t>
            </a:r>
            <a:pPr algn="l" indent="0" marL="0">
              <a:buNone/>
            </a:pPr>
            <a:r>
              <a:rPr lang="en-US" sz="1250" dirty="0">
                <a:solidFill>
                  <a:srgbClr val="1F2A37"/>
                </a:solidFill>
                <a:latin typeface="Calibri" pitchFamily="34" charset="0"/>
                <a:cs typeface="Amiri" pitchFamily="2" charset="-78"/>
              </a:rPr>
              <a:t>) or a contrast (</a:t>
            </a:r>
            <a:pPr algn="l" indent="0" marL="0">
              <a:buNone/>
            </a:pPr>
            <a:r>
              <a:rPr lang="ar-SA" altLang="en-US" sz="1650" dirty="0">
                <a:solidFill>
                  <a:srgbClr val="1F2A37"/>
                </a:solidFill>
                <a:latin typeface="Amiri" pitchFamily="2" charset="-78"/>
                <a:ea typeface="Amiri" pitchFamily="2" charset="-78"/>
                <a:cs typeface="Amiri" pitchFamily="2" charset="-78"/>
              </a:rPr>
              <a:t>لٰكِنَّ</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21</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CONVERSATION CARD · THE LEADER ASKS, THE COACH PUSHES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Conversation: answer, then keep going</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مُحَادَثَةٌ عَنْ كُلِّ المِحْوَرِ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177272" y="1810512"/>
            <a:ext cx="1481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7" name="Text 14"/>
          <p:cNvSpPr txBox="1"/>
          <p:nvPr/>
        </p:nvSpPr>
        <p:spPr>
          <a:xfrm>
            <a:off x="789127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Coach’s follow-up</a:t>
            </a:r>
            <a:endParaRPr lang="en-US" sz="1100" dirty="0"/>
          </a:p>
        </p:txBody>
      </p:sp>
      <p:sp>
        <p:nvSpPr>
          <p:cNvPr id="18" name="Text 15"/>
          <p:cNvSpPr txBox="1"/>
          <p:nvPr/>
        </p:nvSpPr>
        <p:spPr>
          <a:xfrm>
            <a:off x="523951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10213848" y="2267712"/>
            <a:ext cx="1444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3" name="Text 20"/>
          <p:cNvSpPr txBox="1"/>
          <p:nvPr/>
        </p:nvSpPr>
        <p:spPr>
          <a:xfrm>
            <a:off x="7909560" y="2267712"/>
            <a:ext cx="2103120"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وَمَاذَا يُوجَدُ فِيهَا؟</a:t>
            </a:r>
            <a:endParaRPr lang="ar-SA" sz="1500" dirty="0"/>
          </a:p>
        </p:txBody>
      </p:sp>
      <p:sp>
        <p:nvSpPr>
          <p:cNvPr id="24" name="Text 21"/>
          <p:cNvSpPr txBox="1"/>
          <p:nvPr/>
        </p:nvSpPr>
        <p:spPr>
          <a:xfrm>
            <a:off x="5276088" y="2267712"/>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your town?</a:t>
            </a:r>
            <a:endParaRPr lang="en-US" sz="1100" dirty="0"/>
          </a:p>
        </p:txBody>
      </p:sp>
      <p:sp>
        <p:nvSpPr>
          <p:cNvPr id="25" name="Text 22"/>
          <p:cNvSpPr txBox="1"/>
          <p:nvPr/>
        </p:nvSpPr>
        <p:spPr>
          <a:xfrm>
            <a:off x="1051560" y="2267712"/>
            <a:ext cx="402336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تَقَعُ مَدِينَتُكَ؟</a:t>
            </a:r>
            <a:endParaRPr lang="ar-SA" sz="16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10213848" y="2881884"/>
            <a:ext cx="1444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7909560" y="2881884"/>
            <a:ext cx="2103120"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وَغَدًا؟</a:t>
            </a:r>
            <a:endParaRPr lang="ar-SA" sz="1500" dirty="0"/>
          </a:p>
        </p:txBody>
      </p:sp>
      <p:sp>
        <p:nvSpPr>
          <p:cNvPr id="32" name="Text 29"/>
          <p:cNvSpPr txBox="1"/>
          <p:nvPr/>
        </p:nvSpPr>
        <p:spPr>
          <a:xfrm>
            <a:off x="5276088" y="2881884"/>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weather like today?</a:t>
            </a:r>
            <a:endParaRPr lang="en-US" sz="1100" dirty="0"/>
          </a:p>
        </p:txBody>
      </p:sp>
      <p:sp>
        <p:nvSpPr>
          <p:cNvPr id="33" name="Text 30"/>
          <p:cNvSpPr txBox="1"/>
          <p:nvPr/>
        </p:nvSpPr>
        <p:spPr>
          <a:xfrm>
            <a:off x="1051560" y="2881884"/>
            <a:ext cx="402336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الطَّقْسُ اليَوْمَ؟</a:t>
            </a:r>
            <a:endParaRPr lang="ar-SA" sz="16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10213848" y="3496056"/>
            <a:ext cx="1444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9" name="Text 36"/>
          <p:cNvSpPr txBox="1"/>
          <p:nvPr/>
        </p:nvSpPr>
        <p:spPr>
          <a:xfrm>
            <a:off x="7909560" y="3496056"/>
            <a:ext cx="2103120"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وَعَائِلَتُكَ؟</a:t>
            </a:r>
            <a:endParaRPr lang="ar-SA" sz="1500" dirty="0"/>
          </a:p>
        </p:txBody>
      </p:sp>
      <p:sp>
        <p:nvSpPr>
          <p:cNvPr id="40" name="Text 37"/>
          <p:cNvSpPr txBox="1"/>
          <p:nvPr/>
        </p:nvSpPr>
        <p:spPr>
          <a:xfrm>
            <a:off x="5276088" y="3496056"/>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have you done recently to protect the environment?</a:t>
            </a:r>
            <a:endParaRPr lang="en-US" sz="1100" dirty="0"/>
          </a:p>
        </p:txBody>
      </p:sp>
      <p:sp>
        <p:nvSpPr>
          <p:cNvPr id="41" name="Text 38"/>
          <p:cNvSpPr txBox="1"/>
          <p:nvPr/>
        </p:nvSpPr>
        <p:spPr>
          <a:xfrm>
            <a:off x="1051560" y="3496056"/>
            <a:ext cx="402336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فَعَلْتَ مُؤَخَّرًا لِتَحْمِيَ البِيئَةَ؟</a:t>
            </a:r>
            <a:endParaRPr lang="ar-SA" sz="16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10213848" y="4110228"/>
            <a:ext cx="1444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5" name="Text 42"/>
          <p:cNvSpPr txBox="1"/>
          <p:nvPr/>
        </p:nvSpPr>
        <p:spPr>
          <a:xfrm>
            <a:off x="7909560" y="4110228"/>
            <a:ext cx="2103120"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 أَيْنَ هُوَ؟</a:t>
            </a:r>
            <a:endParaRPr lang="ar-SA" sz="1500" dirty="0"/>
          </a:p>
        </p:txBody>
      </p:sp>
      <p:sp>
        <p:nvSpPr>
          <p:cNvPr id="46" name="Text 43"/>
          <p:cNvSpPr txBox="1"/>
          <p:nvPr/>
        </p:nvSpPr>
        <p:spPr>
          <a:xfrm>
            <a:off x="5276088" y="4110228"/>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an important object: its shape and material.</a:t>
            </a:r>
            <a:endParaRPr lang="en-US" sz="1100" dirty="0"/>
          </a:p>
        </p:txBody>
      </p:sp>
      <p:sp>
        <p:nvSpPr>
          <p:cNvPr id="47" name="Text 44"/>
          <p:cNvSpPr txBox="1"/>
          <p:nvPr/>
        </p:nvSpPr>
        <p:spPr>
          <a:xfrm>
            <a:off x="1051560" y="4110228"/>
            <a:ext cx="402336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شَيْئًا مُهِمًّا عِنْدَكَ: شَكْلَهُ وَمَادَّتَهُ.</a:t>
            </a:r>
            <a:endParaRPr lang="ar-SA" sz="1600" dirty="0"/>
          </a:p>
        </p:txBody>
      </p:sp>
      <p:sp>
        <p:nvSpPr>
          <p:cNvPr id="48" name="Text 45"/>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Shape 4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0" name="Text 47"/>
          <p:cNvSpPr txBox="1"/>
          <p:nvPr/>
        </p:nvSpPr>
        <p:spPr>
          <a:xfrm>
            <a:off x="10213848" y="4724400"/>
            <a:ext cx="1444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51" name="Text 48"/>
          <p:cNvSpPr txBox="1"/>
          <p:nvPr/>
        </p:nvSpPr>
        <p:spPr>
          <a:xfrm>
            <a:off x="7909560" y="4724400"/>
            <a:ext cx="2103120"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وَلٰكِنْ …؟</a:t>
            </a:r>
            <a:endParaRPr lang="ar-SA" sz="1500" dirty="0"/>
          </a:p>
        </p:txBody>
      </p:sp>
      <p:sp>
        <p:nvSpPr>
          <p:cNvPr id="52" name="Text 49"/>
          <p:cNvSpPr txBox="1"/>
          <p:nvPr/>
        </p:nvSpPr>
        <p:spPr>
          <a:xfrm>
            <a:off x="5276088" y="4724400"/>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Has technology made our lives better?</a:t>
            </a:r>
            <a:endParaRPr lang="en-US" sz="1100" dirty="0"/>
          </a:p>
        </p:txBody>
      </p:sp>
      <p:sp>
        <p:nvSpPr>
          <p:cNvPr id="53" name="Text 50"/>
          <p:cNvSpPr txBox="1"/>
          <p:nvPr/>
        </p:nvSpPr>
        <p:spPr>
          <a:xfrm>
            <a:off x="1051560" y="4724400"/>
            <a:ext cx="402336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التِّكْنُولُوجْيَا جَعَلَتْ حَيَاتَنَا أَفْضَلَ؟</a:t>
            </a:r>
            <a:endParaRPr lang="ar-SA" sz="1600" dirty="0"/>
          </a:p>
        </p:txBody>
      </p:sp>
      <p:sp>
        <p:nvSpPr>
          <p:cNvPr id="54" name="Text 51"/>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10213848" y="5338572"/>
            <a:ext cx="1444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57" name="Text 54"/>
          <p:cNvSpPr txBox="1"/>
          <p:nvPr/>
        </p:nvSpPr>
        <p:spPr>
          <a:xfrm>
            <a:off x="7909560" y="5338572"/>
            <a:ext cx="2103120"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وَلِمَاذَا لَيْسَ هُنَا؟</a:t>
            </a:r>
            <a:endParaRPr lang="ar-SA" sz="1500" dirty="0"/>
          </a:p>
        </p:txBody>
      </p:sp>
      <p:sp>
        <p:nvSpPr>
          <p:cNvPr id="58" name="Text 55"/>
          <p:cNvSpPr txBox="1"/>
          <p:nvPr/>
        </p:nvSpPr>
        <p:spPr>
          <a:xfrm>
            <a:off x="5276088" y="5338572"/>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you could live in any country, where would you live?</a:t>
            </a:r>
            <a:endParaRPr lang="en-US" sz="1100" dirty="0"/>
          </a:p>
        </p:txBody>
      </p:sp>
      <p:sp>
        <p:nvSpPr>
          <p:cNvPr id="59" name="Text 56"/>
          <p:cNvSpPr txBox="1"/>
          <p:nvPr/>
        </p:nvSpPr>
        <p:spPr>
          <a:xfrm>
            <a:off x="1051560" y="5338572"/>
            <a:ext cx="402336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لَوِ اسْتَطَعْتَ أَنْ تَعِيشَ فِي أَيِّ بَلَدٍ، أَيْنَ تَعِيشُ؟</a:t>
            </a:r>
            <a:endParaRPr lang="ar-SA" sz="1600" dirty="0"/>
          </a:p>
        </p:txBody>
      </p:sp>
      <p:sp>
        <p:nvSpPr>
          <p:cNvPr id="60" name="Text 57"/>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1" name="Text 5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Each Speaker answers three questions (one per route if you can), using A-R-E-T. The Coach asks the follow-up. Swap.</a:t>
            </a:r>
            <a:endParaRPr lang="en-US" sz="11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21</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THE ONE-MINUTE TALK · RECORD AND REVIEW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the world around 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العَالَمُ حَوْلِي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linking all of Topic C: where you live, the landscape and weather, an environmental problem and a solution, how you use technology — and a place in the world you want to visit.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30 seconds: jot 4 key words (one per bullet) —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 (record it on your phone or in Teams if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tick the checklist on the next slide, then WWW + EBI.</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Listen back to your recording at home and fix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30 seconds: one sentence for each of four themes (place · weather · environment · technology).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60 seconds: add a cause (</a:t>
            </a:r>
            <a:pPr algn="l" indent="0" marL="0">
              <a:buNone/>
            </a:pPr>
            <a:r>
              <a:rPr lang="ar-SA" altLang="en-US" sz="1500" dirty="0">
                <a:solidFill>
                  <a:srgbClr val="1F2A37"/>
                </a:solidFill>
                <a:latin typeface="Amiri" pitchFamily="2" charset="-78"/>
                <a:ea typeface="Amiri" pitchFamily="2" charset="-78"/>
                <a:cs typeface="Amiri" pitchFamily="2" charset="-78"/>
              </a:rPr>
              <a:t>بِسَبَبِ</a:t>
            </a:r>
            <a:pPr algn="l" indent="0" marL="0">
              <a:buNone/>
            </a:pPr>
            <a:r>
              <a:rPr lang="en-US" sz="1150" dirty="0">
                <a:solidFill>
                  <a:srgbClr val="1F2A37"/>
                </a:solidFill>
                <a:latin typeface="Calibri" pitchFamily="34" charset="0"/>
                <a:cs typeface="Amiri" pitchFamily="2" charset="-78"/>
              </a:rPr>
              <a:t> …), a solution (</a:t>
            </a:r>
            <a:pPr algn="l" indent="0" marL="0">
              <a:buNone/>
            </a:pPr>
            <a:r>
              <a:rPr lang="ar-SA" altLang="en-US" sz="1500" dirty="0">
                <a:solidFill>
                  <a:srgbClr val="1F2A37"/>
                </a:solidFill>
                <a:latin typeface="Amiri" pitchFamily="2" charset="-78"/>
                <a:ea typeface="Amiri" pitchFamily="2" charset="-78"/>
                <a:cs typeface="Amiri" pitchFamily="2" charset="-78"/>
              </a:rPr>
              <a:t>يَجِبُ … لِكَيْ</a:t>
            </a:r>
            <a:pPr algn="l" indent="0" marL="0">
              <a:buNone/>
            </a:pPr>
            <a:r>
              <a:rPr lang="en-US" sz="1150" dirty="0">
                <a:solidFill>
                  <a:srgbClr val="1F2A37"/>
                </a:solidFill>
                <a:latin typeface="Calibri" pitchFamily="34" charset="0"/>
                <a:cs typeface="Amiri" pitchFamily="2" charset="-78"/>
              </a:rPr>
              <a:t> …) and a past example.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90 seconds: add a passive verb, a concession and a </a:t>
            </a:r>
            <a:pPr algn="l" indent="0" marL="0">
              <a:buNone/>
            </a:pPr>
            <a:r>
              <a:rPr lang="ar-SA" altLang="en-US" sz="1500" dirty="0">
                <a:solidFill>
                  <a:srgbClr val="1F2A37"/>
                </a:solidFill>
                <a:latin typeface="Amiri" pitchFamily="2" charset="-78"/>
                <a:ea typeface="Amiri" pitchFamily="2" charset="-78"/>
                <a:cs typeface="Amiri" pitchFamily="2" charset="-78"/>
              </a:rPr>
              <a:t>لَوْ</a:t>
            </a:r>
            <a:pPr algn="l" indent="0" marL="0">
              <a:buNone/>
            </a:pPr>
            <a:r>
              <a:rPr lang="en-US" sz="1150" dirty="0">
                <a:solidFill>
                  <a:srgbClr val="1F2A37"/>
                </a:solidFill>
                <a:latin typeface="Calibri" pitchFamily="34" charset="0"/>
                <a:cs typeface="Amiri" pitchFamily="2" charset="-78"/>
              </a:rPr>
              <a:t> … sentence.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سَأَتَكَلَّمُ عَنْ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going to talk about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بِالإِضَافَةِ إِلَى ذٰلِكَ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addition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21</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COACH · CHECKLIST FOR EVERY STEP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Coach: tick, then give WWW + EBI</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وَرَقَةُ المُدَرِّبِ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you heard</a:t>
            </a:r>
            <a:endParaRPr lang="en-US" sz="1100" dirty="0"/>
          </a:p>
        </p:txBody>
      </p:sp>
      <p:sp>
        <p:nvSpPr>
          <p:cNvPr id="17" name="Text 14"/>
          <p:cNvSpPr txBox="1"/>
          <p:nvPr/>
        </p:nvSpPr>
        <p:spPr>
          <a:xfrm>
            <a:off x="775411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382512" y="1810512"/>
            <a:ext cx="1225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705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Speaker …</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796528" y="2267712"/>
            <a:ext cx="2862072" cy="559308"/>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790688" y="2267712"/>
            <a:ext cx="822960" cy="559308"/>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419088" y="2267712"/>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669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answered every question / task in a FULL sentence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796528" y="2881884"/>
            <a:ext cx="2862072" cy="559308"/>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790688" y="2881884"/>
            <a:ext cx="822960" cy="559308"/>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419088" y="2881884"/>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2881884"/>
            <a:ext cx="5669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used Topic C vocabulary with correct agreement (including non-human plurals)</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796528" y="3496056"/>
            <a:ext cx="2862072" cy="559308"/>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790688" y="3496056"/>
            <a:ext cx="822960" cy="559308"/>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419088" y="3496056"/>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496056"/>
            <a:ext cx="5669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gave a reason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and a detail (time, frequency, example)</a:t>
            </a:r>
            <a:endParaRPr lang="en-US" sz="11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8796528" y="4110228"/>
            <a:ext cx="2862072" cy="559308"/>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790688" y="4110228"/>
            <a:ext cx="822960" cy="559308"/>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419088" y="4110228"/>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110228"/>
            <a:ext cx="5669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used the past, present and future in the same conversation</a:t>
            </a:r>
            <a:endParaRPr lang="en-US" sz="11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8796528" y="4724400"/>
            <a:ext cx="2862072" cy="559308"/>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790688" y="4724400"/>
            <a:ext cx="822960" cy="559308"/>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419088" y="4724400"/>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4724400"/>
            <a:ext cx="5669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changed the time frame (past or future) or gave an opinion</a:t>
            </a:r>
            <a:endParaRPr lang="en-US" sz="110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796528" y="5338572"/>
            <a:ext cx="2862072" cy="559308"/>
          </a:xfrm>
          <a:prstGeom prst="rect">
            <a:avLst/>
          </a:prstGeom>
          <a:noFill/>
          <a:ln/>
        </p:spPr>
        <p:txBody>
          <a:bodyPr wrap="square" lIns="0" tIns="0" rIns="0" bIns="0" rtlCol="0" anchor="ctr"/>
          <a:lstStyle/>
          <a:p>
            <a:pPr algn="l" indent="0" marL="0">
              <a:buNone/>
            </a:pPr>
            <a:endParaRPr lang="en-US" sz="1100" dirty="0"/>
          </a:p>
        </p:txBody>
      </p:sp>
      <p:sp>
        <p:nvSpPr>
          <p:cNvPr id="51" name="Text 48"/>
          <p:cNvSpPr txBox="1"/>
          <p:nvPr/>
        </p:nvSpPr>
        <p:spPr>
          <a:xfrm>
            <a:off x="7790688" y="5338572"/>
            <a:ext cx="822960" cy="559308"/>
          </a:xfrm>
          <a:prstGeom prst="rect">
            <a:avLst/>
          </a:prstGeom>
          <a:noFill/>
          <a:ln/>
        </p:spPr>
        <p:txBody>
          <a:bodyPr wrap="square" lIns="0" tIns="0" rIns="0" bIns="0" rtlCol="0" anchor="ctr"/>
          <a:lstStyle/>
          <a:p>
            <a:pPr algn="l" indent="0" marL="0">
              <a:buNone/>
            </a:pPr>
            <a:endParaRPr lang="en-US" sz="1100" dirty="0"/>
          </a:p>
        </p:txBody>
      </p:sp>
      <p:sp>
        <p:nvSpPr>
          <p:cNvPr id="52" name="Text 49"/>
          <p:cNvSpPr txBox="1"/>
          <p:nvPr/>
        </p:nvSpPr>
        <p:spPr>
          <a:xfrm>
            <a:off x="6419088" y="5338572"/>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All</a:t>
            </a:r>
            <a:endParaRPr lang="en-US" sz="1100" dirty="0"/>
          </a:p>
        </p:txBody>
      </p:sp>
      <p:sp>
        <p:nvSpPr>
          <p:cNvPr id="53" name="Text 50"/>
          <p:cNvSpPr txBox="1"/>
          <p:nvPr/>
        </p:nvSpPr>
        <p:spPr>
          <a:xfrm>
            <a:off x="566928" y="5338572"/>
            <a:ext cx="5669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kept going with a repair phrase instead of silence</a:t>
            </a:r>
            <a:endParaRPr lang="en-US" sz="1100" dirty="0"/>
          </a:p>
        </p:txBody>
      </p:sp>
      <p:sp>
        <p:nvSpPr>
          <p:cNvPr id="54" name="Text 5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Feedback is kind and specific: “WWW: you used </a:t>
            </a:r>
            <a:pPr algn="l" indent="0" marL="0">
              <a:buNone/>
            </a:pPr>
            <a:r>
              <a:rPr lang="ar-SA" altLang="en-US" sz="1500" b="1" dirty="0">
                <a:solidFill>
                  <a:srgbClr val="1B3B6F"/>
                </a:solidFill>
                <a:latin typeface="Amiri" pitchFamily="2" charset="-78"/>
                <a:ea typeface="Amiri" pitchFamily="2" charset="-78"/>
                <a:cs typeface="Amiri" pitchFamily="2" charset="-78"/>
              </a:rPr>
              <a:t>لِأَنَّ</a:t>
            </a:r>
            <a:pPr algn="l" indent="0" marL="0">
              <a:buNone/>
            </a:pPr>
            <a:r>
              <a:rPr lang="en-US" sz="1150" b="1" dirty="0">
                <a:solidFill>
                  <a:srgbClr val="1B3B6F"/>
                </a:solidFill>
                <a:latin typeface="Calibri" pitchFamily="34" charset="0"/>
                <a:cs typeface="Amiri" pitchFamily="2" charset="-78"/>
              </a:rPr>
              <a:t> twice. EBI: add a past sentence.”</a:t>
            </a:r>
            <a:endParaRPr lang="en-US" sz="11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21</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 PLAY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Role play 1: compare with a strong answer</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أُسَافِرَ إِلَى عُمَانَ الَّتِي تَقَعُ فِي جَنُوبِ شَرْقِ الجَزِيرَةِ العَرَبِيَّةِ.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to travel to Oman, which is in the south-east of the Arabian Peninsula.</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أَيْنَ تُرِيدُ أَنْ تُسَافِرَ؟</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الشِّتَاءِ، لِأَنَّ الجَوَّ مُعْتَدِلٌ وَلَيْسَ حَارًّا.</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winter, because the weather is mild, not hot.</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تُرِيدُ أَنْ تُسَافِرَ؟</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أَرَى الجِبَالَ وَالشَّوَاطِئَ.</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to see the mountains and the beaches.</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تُرِيدُ أَنْ تَرَى؟</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بِالحَافِلَةِ، لِكَيْ نُقَلِّلَ مِنَ التَّلَوُّثِ.</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By bus, to reduce pollution.</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تُرِيدُ أَنْ تَتَنَقَّلَ هُنَاكَ؟</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حَوَالَيْ أَلْفِ جُنَيْهٍ لِكُلِّ شَخْصٍ.</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About a thousand pounds per person.</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تُرِيدُ أَنْ تَدْفَعَ؟</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Compare: did you answer EVERY task with a full sentence? Steal one phrase you did not use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21</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 PLAY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Role play 2: compare with a strong answer</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تَقَعُ مَدِينَتِي فِي شَمَالِ إِنْجِلْتِرَا، وَفِيهَا مُسْتَشْفًى كَبِيرٌ وَمَكْتَبَةٌ حَدِيثَةٌ، لٰكِنْ لَا يُوجَدُ فِيهَا مَرْكَزٌ لِلشَّبَابِ.</a:t>
            </a:r>
            <a:endParaRPr lang="ar-SA" sz="15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town is in the north of England, with a big hospital and a modern library, but no youth centre.</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حَدِّثْنَا عَنْ مَدِينَتِكَ وَخِدْمَاتِهَا.</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الفَيَضَانَاتُ، بِسَبَبِ الأَمْطَارِ الغَزِيرَةِ وَقَطْعِ الأَشْجَارِ، مِمَّا يُسَبِّبُ أَضْرَارًا فِي البُيُوتِ كُلَّ شِتَاءٍ.</a:t>
            </a:r>
            <a:endParaRPr lang="ar-SA" sz="165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Floods, because of heavy rain and tree-cutting, which damage homes every winter.</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أَكْبَرُ مُشْكِلَةٍ بِيئِيَّةٍ عِنْدَكُمْ؟</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فِي المَاضِي كَانَتْ فِيهَا مَصَانِعُ كَثِيرَةٌ، أَمَّا الآنَ فَقَدْ أُغْلِقَتْ، وَبُنِيَتْ مَكَانَهَا شُقَقٌ وَمَحَلَّاتٌ.</a:t>
            </a:r>
            <a:endParaRPr lang="ar-SA" sz="175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the past it had many factories; now they have been closed, and flats and shops were built in their place.</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تَغَيَّرَتْ مَدِينَتُكُمْ؟</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صَعْبٌ! يُمْكِنُ أَنْ نَعْمَلَ مَشْرُوعًا مُشْتَرَكًا عَلَى الإِنْتَرْنِتِ عَنْ تَوْفِيرِ المَاءِ. مَا رَأْيُكُمْ؟</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That’s hard! We could do a joint online project about saving water. What do you think?</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عِنْدَنَا فِي عَمَّانَ مُشْكِلَةُ قِلَّةِ المَاءِ.</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لَوْ زُرْتُكُمْ، لَاشْتَرَيْتُ صُنْدُوقًا خَشَبِيًّا صَغِيرًا مِنَ السُّوقِ القَدِيمِ لِأُمِّي، وَلَفَاصَلْتُ عَلَى السِّعْرِ قَلِيلًا!</a:t>
            </a:r>
            <a:endParaRPr lang="ar-SA" sz="16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If I visited you, I would buy my mum a small wooden box from the old souq — and bargain a bit on the price!</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لَوْ زُرْتَنَا، مَاذَا تَشْتَرِي هَدِيَّةً لِعَائِلَتِكَ؟</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Compare: did you answer EVERY task with a full sentence? Steal one phrase you did not use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21</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CONVERSATION AND ONE-MINUTE TALK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Strong answers to compare with yours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نَمَاذِجُ لِلْمُقَارَنَةِ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325112" y="1810512"/>
            <a:ext cx="7333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343400" y="2286000"/>
            <a:ext cx="7296912" cy="453542"/>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فِي الأُسْبُوعِ المَاضِي بَدَأْتُ أَذْهَبُ إِلَى المَدْرَسَةِ بِالدَّرَّاجَةِ، لِأَنَّ زَحْمَةَ المُرُورِ تُلَوِّثُ الهَوَاءَ؛ بِالإِضَافَةِ إِلَى ذٰلِكَ أُعِيدُ تَدْوِيرَ العُلَبِ، وَسَأُقْنِعُ أَبِي بِأَنْ يَشْتَرِيَ سَيَّارَةً كَهْرَبَائِيَّةً.</a:t>
            </a:r>
            <a:endParaRPr lang="ar-SA" sz="1200" dirty="0"/>
          </a:p>
        </p:txBody>
      </p:sp>
      <p:sp>
        <p:nvSpPr>
          <p:cNvPr id="21" name="Text 18"/>
          <p:cNvSpPr txBox="1"/>
          <p:nvPr/>
        </p:nvSpPr>
        <p:spPr>
          <a:xfrm>
            <a:off x="4297680" y="2706624"/>
            <a:ext cx="7388352" cy="277978"/>
          </a:xfrm>
          <a:prstGeom prst="rect">
            <a:avLst/>
          </a:prstGeom>
          <a:noFill/>
          <a:ln/>
        </p:spPr>
        <p:txBody>
          <a:bodyPr wrap="square" lIns="0" tIns="0" rIns="0" bIns="0" rtlCol="0" anchor="ctr"/>
          <a:lstStyle/>
          <a:p>
            <a:pPr algn="ctr" indent="0" marL="0">
              <a:buNone/>
            </a:pPr>
            <a:r>
              <a:rPr lang="en-US" sz="900" i="1" dirty="0">
                <a:solidFill>
                  <a:srgbClr val="5A6472"/>
                </a:solidFill>
                <a:latin typeface="Calibri" pitchFamily="34" charset="0"/>
                <a:cs typeface="Amiri" pitchFamily="2" charset="-78"/>
              </a:rPr>
              <a:t>A: last week I started cycling to school · R: traffic pollutes the air · E: I also recycle cans · T: I’ll persuade dad to buy an electric car.</a:t>
            </a:r>
            <a:endParaRPr lang="en-US" sz="900" dirty="0"/>
          </a:p>
        </p:txBody>
      </p:sp>
      <p:sp>
        <p:nvSpPr>
          <p:cNvPr id="22" name="Text 19"/>
          <p:cNvSpPr txBox="1"/>
          <p:nvPr/>
        </p:nvSpPr>
        <p:spPr>
          <a:xfrm>
            <a:off x="1051560" y="2267712"/>
            <a:ext cx="31089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فَعَلْتَ مُؤَخَّرًا لِتَحْمِيَ البِيئَةَ؟</a:t>
            </a:r>
            <a:endParaRPr lang="ar-SA" sz="15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343400" y="3072384"/>
            <a:ext cx="7296912" cy="453542"/>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عِنْدِي سَجَّادَةُ صَلَاةٍ مُسْتَطِيلَةٌ مَصْنُوعَةٌ مِنَ الصُّوفِ، طُولُهَا مِتْرٌ وَعِشْرُونَ سَنْتِيمِتْرًا؛ هِيَ مُهِمَّةٌ لِأَنَّ جَدِّي اشْتَرَاهَا لِي فِي مَكَّةَ، وَسَأُعْطِيهَا لِابْنِي يَوْمًا مَا.</a:t>
            </a:r>
            <a:endParaRPr lang="ar-SA" sz="1200" dirty="0"/>
          </a:p>
        </p:txBody>
      </p:sp>
      <p:sp>
        <p:nvSpPr>
          <p:cNvPr id="26" name="Text 23"/>
          <p:cNvSpPr txBox="1"/>
          <p:nvPr/>
        </p:nvSpPr>
        <p:spPr>
          <a:xfrm>
            <a:off x="4297680" y="3493008"/>
            <a:ext cx="73883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a rectangular wool prayer mat, 1.2 m long · R: grandad bought it for me in Makkah · T: I’ll give it to my son one day.</a:t>
            </a:r>
            <a:endParaRPr lang="en-US" sz="950" dirty="0"/>
          </a:p>
        </p:txBody>
      </p:sp>
      <p:sp>
        <p:nvSpPr>
          <p:cNvPr id="27" name="Text 24"/>
          <p:cNvSpPr txBox="1"/>
          <p:nvPr/>
        </p:nvSpPr>
        <p:spPr>
          <a:xfrm>
            <a:off x="1051560" y="3054096"/>
            <a:ext cx="31089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صِفْ شَيْئًا مُهِمًّا عِنْدَكَ: شَكْلَهُ وَمَادَّتَهُ.</a:t>
            </a:r>
            <a:endParaRPr lang="ar-SA" sz="15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343400" y="3858768"/>
            <a:ext cx="7296912" cy="453542"/>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صَحِيحٌ أَنَّهَا جَعَلَتِ التَّوَاصُلَ وَالتَّسَوُّقَ أَسْهَلَ، غَيْرَ أَنَّنَا أَصْبَحْنَا نَتَكَلَّمُ وَجْهًا لِوَجْهٍ أَقَلَّ؛ مَثَلًا، فِي العَشَاءِ كَانَ كُلُّ وَاحِدٍ فِي عَائِلَتِي يَنْظُرُ إِلَى هَاتِفِهِ، لِذٰلِكَ قَرَّرْنَا أَنْ نَضَعَ الهَوَاتِفَ فِي صُنْدُوقٍ.</a:t>
            </a:r>
            <a:endParaRPr lang="ar-SA" sz="1200" dirty="0"/>
          </a:p>
        </p:txBody>
      </p:sp>
      <p:sp>
        <p:nvSpPr>
          <p:cNvPr id="31" name="Text 28"/>
          <p:cNvSpPr txBox="1"/>
          <p:nvPr/>
        </p:nvSpPr>
        <p:spPr>
          <a:xfrm>
            <a:off x="4297680" y="4279392"/>
            <a:ext cx="7388352" cy="277978"/>
          </a:xfrm>
          <a:prstGeom prst="rect">
            <a:avLst/>
          </a:prstGeom>
          <a:noFill/>
          <a:ln/>
        </p:spPr>
        <p:txBody>
          <a:bodyPr wrap="square" lIns="0" tIns="0" rIns="0" bIns="0" rtlCol="0" anchor="ctr"/>
          <a:lstStyle/>
          <a:p>
            <a:pPr algn="ctr" indent="0" marL="0">
              <a:buNone/>
            </a:pPr>
            <a:r>
              <a:rPr lang="en-US" sz="850" i="1" dirty="0">
                <a:solidFill>
                  <a:srgbClr val="5A6472"/>
                </a:solidFill>
                <a:latin typeface="Calibri" pitchFamily="34" charset="0"/>
                <a:cs typeface="Amiri" pitchFamily="2" charset="-78"/>
              </a:rPr>
              <a:t>Concession: it made communication and shopping easier, but we talk face to face less · E: at dinner everyone in my family looked at their phone, so we decided to put phones in a box.</a:t>
            </a:r>
            <a:endParaRPr lang="en-US" sz="850" dirty="0"/>
          </a:p>
        </p:txBody>
      </p:sp>
      <p:sp>
        <p:nvSpPr>
          <p:cNvPr id="32" name="Text 29"/>
          <p:cNvSpPr txBox="1"/>
          <p:nvPr/>
        </p:nvSpPr>
        <p:spPr>
          <a:xfrm>
            <a:off x="1051560" y="3840480"/>
            <a:ext cx="31089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هَلِ التِّكْنُولُوجْيَا جَعَلَتْ حَيَاتَنَا أَفْضَلَ؟</a:t>
            </a:r>
            <a:endParaRPr lang="ar-SA" sz="15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Text 3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Find the A, R, E and T in each answer. Which link do you usually forget?</a:t>
            </a:r>
            <a:endParaRPr lang="en-US" sz="11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21</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Speaking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Speaking practice room · TC-L12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every role-play task in a full sentence.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planned my first words from the question word.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climbed to level 3: answer + reason + detail.</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correctly when I spoke.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all four A-R-E-T links and spoke for 90 seconds.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21</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ran your own speaking practice!</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TC-L12 · Writing practice room · Decode, plan, write and check — step by step</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غُرْفَةُ الكِتَابَةِ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answer + reason + detail + another time frame — every time you speak.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TC-L12 · Speaking Practice Room — Topic C Review</dc:title>
  <dc:subject>PptxGenJS Presentation</dc:subject>
  <dc:creator>Al Madina Online School · Arabic Department</dc:creator>
  <cp:lastModifiedBy>Al Madina Online School · Arabic Department</cp:lastModifiedBy>
  <cp:revision>1</cp:revision>
  <dcterms:created xsi:type="dcterms:W3CDTF">2026-10-25T15:06:15Z</dcterms:created>
  <dcterms:modified xsi:type="dcterms:W3CDTF">2026-10-25T15:06:15Z</dcterms:modified>
</cp:coreProperties>
</file>