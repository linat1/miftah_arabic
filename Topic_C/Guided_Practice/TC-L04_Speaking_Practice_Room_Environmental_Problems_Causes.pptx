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notesMasterIdLst>
    <p:notesMasterId r:id="rId23"/>
  </p:notesMasterIdLst>
  <p:sldSz cx="12192000" cy="6858000"/>
  <p:notesSz cx="6858000" cy="12192000"/>
  <p:embeddedFontLst>
    <p:embeddedFont>
      <p:font typeface="Amiri" pitchFamily="2" charset="-78"/>
      <p:regular r:id="rIdFont1"/>
      <p:bold r:id="rIdFont2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notesMaster" Target="notesMasters/notesMaster1.xml"/><Relationship Id="rId24" Type="http://schemas.openxmlformats.org/officeDocument/2006/relationships/presProps" Target="presProps.xml"/><Relationship Id="rId25" Type="http://schemas.openxmlformats.org/officeDocument/2006/relationships/viewProps" Target="viewProps.xml"/><Relationship Id="rId26" Type="http://schemas.openxmlformats.org/officeDocument/2006/relationships/theme" Target="theme/theme1.xml"/><Relationship Id="rId27" Type="http://schemas.openxmlformats.org/officeDocument/2006/relationships/tableStyles" Target="tableStyles.xml"/><Relationship Id="rIdFont1" Type="http://schemas.openxmlformats.org/officeDocument/2006/relationships/font" Target="fonts/font1.fntdata"/><Relationship Id="rIdFont2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cs typeface="Amiri" pitchFamily="2" charset="-78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cs typeface="Amiri" pitchFamily="2" charset="-78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cs typeface="Amiri" pitchFamily="2" charset="-78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cs typeface="Amiri" pitchFamily="2" charset="-78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cs typeface="Amiri" pitchFamily="2" charset="-78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cs typeface="Amiri" pitchFamily="2" charset="-78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cs typeface="Amiri" pitchFamily="2" charset="-78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cs typeface="Amiri" pitchFamily="2" charset="-78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cs typeface="Amiri" pitchFamily="2" charset="-78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SPEAKING PRACTICE ROOM AT A GLANCE — 55–60 minutes; about 8 minutes in the main room, about 40 minutes in breakout rooms of three, about 8 minutes back together.
0–2 Welcome · 2–6 How the room works (roles, rules) · then ROOMS: Step 1 Word warm-up (5) · Step 2 The answer ladder (8) · Step 3 Role plays 1 and 2 (14) · Step 4 Topic conversation with A-R-E-T (8) · Step 5 One-minute talk (5) · back in the main room: Check yourself (6) · Self-check + close (3).
PURPOSE: students practise ON THEIR OWN with a clear structure. The teacher visits each room (about 3 minutes per room), listens, and gives one live correction per student.
CONTENT: Advanced Topic C · The World Around Us, Lesson 4 (Environmental problems and causes, TC-L04) — new role plays and questions (not the ones in the Exam Practice workshop), using the lesson’s language (cause and effect (bi-sababi + genitive · li-anna · yuʾaddī ilā · mimmā yusabbibu); the passive (tuqṭaʿu · yulawwathu · turmā); verbal nouns (qaṭʿ, talawwuth); opinions with fī raʾyī).
SET-UP: rooms of three (same-level rooms keep the routes simple). Share this deck or its PDF in the chat so every room can follow the steps. Post the step timings in the chat.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ar-SA" dirty="0">
                <a:latin typeface="Amiri" pitchFamily="2" charset="-78"/>
                <a:ea typeface="Amiri" pitchFamily="2" charset="-78"/>
                <a:cs typeface="Amiri" pitchFamily="2" charset="-78"/>
              </a:rPr>
              <a:t>WELCOME (1 min) — while students join.
• Greet each student by name as they arrive: السَّلَامُ عَلَيْكُمْ. Take the register (Pastoral Tracker: attendance 0/1).
• 2-MINUTE CHECK-IN (SEND training): a private chat to any student who seemed unsettled last lesson — “Are you okay today? 👍 / 👎”.
• Point to the four expectations — brief and positive: this is our class agreement.
• Talk code: “I will always give you thinking and practice time before I ask anyone.” Reading aloud is by invitation — a student may say “pass” and you return to them later.
• Follow-up on preparation: who learnt the five words? Quick private reminder to anyone who did not (Flipped Learning: follow up every time).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MAP (1 min) — show the route through the steps. Students keep this slide in mind: the step number is always in the top-left of each slide.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HOW THE ROOM WORKS (3 min, main room). Model the three roles quickly with two volunteers using one question. Stress: the Coach is not a judge — one WWW, one EBI, kind and specific. Then open the breakout rooms.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STEP 1 (5 min in rooms). The vocab slides that follow are the reference. Teacher: visit the first room straight away to model the pace.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Step 1 reference — the Leader picks the English, the Speaker gives the Arabic.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Step 1 reference.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STEP 2 (read together for 2 min). Each level ADDS one thing. Core aims for level 2, Develop for level 3, Stretch for level 4.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STEP 2 (6 min). The cells are STARTERS, not full answers. Core: questions 1–2 to level 2. Develop: all four to level 3. Stretch: level 4 with an opinion or another time frame.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STEP 3 introduction (2 min). Role play 1 shows the plan column filled in; for role play 2 students write it themselves. This is the fading: by the exam, they plan alone.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ar-SA" dirty="0">
                <a:latin typeface="Amiri" pitchFamily="2" charset="-78"/>
                <a:ea typeface="Amiri" pitchFamily="2" charset="-78"/>
                <a:cs typeface="Amiri" pitchFamily="2" charset="-78"/>
              </a:rPr>
              <a:t>ROLE PLAY 1 (Core · Develop) — SUPPORTED: the plan column models the thinking (question word → tense → first words), NOT the full answer.
ROOM ROUTINE: Leader reads the left column in order · Speaker answers · Coach ticks the checklist (step 5 slide) and gives one WWW + one EBI · swap so that everyone is Speaker once.
To a girl the Leader says: تَفَضَّلِي · رَأْيِكِ.
Language: tūjadu nufāyātun · taqaʿu fī … bi-jānibi · mundhu + genitive · bi-sababi + genitive · masʾūlūna (human plural).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ar-SA" dirty="0">
                <a:latin typeface="Amiri" pitchFamily="2" charset="-78"/>
                <a:ea typeface="Amiri" pitchFamily="2" charset="-78"/>
                <a:cs typeface="Amiri" pitchFamily="2" charset="-78"/>
              </a:rPr>
              <a:t>ROLE PLAY 2 (Develop · Stretch) — FADED SUPPORT: students now write their own plan column — exactly what they will do in the exam in their preparation time.
ROOM ROUTINE: Leader reads the left column in order · Speaker answers · Coach ticks the checklist (step 5 slide) and gives one WWW + one EBI · swap so that everyone is Speaker once.
To a girl the Leader says: رَأْيُكِ — and the Speaker stays the same.
Stretch language: passive past rumiyat · fa- for result · mimmā yuʾaddī ilā · kāna … wa-kunnā naṣṭādu (past habit) vs ammā al-āna fa- · ṣaḥīḥun anna … ghayra anna · comparative ahammu.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STEP 4 introduction (2 min). Show one answer growing link by link, then open the conversation card.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STEP 4 (6 min). Leaders choose questions that suit the Speaker: Core questions first, then move up. The follow-up column trains extended answers — exactly what the conversation part of the exam rewards.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STEP 5 (5 min). A monologue builds fluency for the conversation.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Coach keeps this slide open during Steps 2–5. Back in the main room, ask each room for its best WWW.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CHECK YOURSELF — only AFTER the room has performed both cards. Each student finds one task they answered less fully and re-says it using the model.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CHECK YOURSELF — only AFTER the room has performed both cards. Each student finds one task they answered less fully and re-says it using the model.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CHECK YOURSELF (2 min, main room). Read one aloud together; students say which A-R-E-T link they will add next time.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SELF-CHECK (1 min) against the website success criteria. Students tick privately, then type one WWW and one EBI in the chat (English is fine).
Teacher: one whole-class feedback point from live feedback. Pastoral: Curiosity &amp; Growth for honest reflection and a harder target next lesson.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— thank students, dismiss calmly. After the lesson: complete the Pastoral Tracker (attendance, character, self-management, curiosity; demerits only for the five listed concerns). Note any student below 2/3 on the exit ticket for a Do Now check-in next lesson.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cs typeface="Amiri" pitchFamily="2" charset="-78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cs typeface="Amiri" pitchFamily="2" charset="-78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cs typeface="Amiri" pitchFamily="2" charset="-78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cs typeface="Amiri" pitchFamily="2" charset="-78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cs typeface="Amiri" pitchFamily="2" charset="-78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cs typeface="Amiri" pitchFamily="2" charset="-78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cs typeface="Amiri" pitchFamily="2" charset="-78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cs typeface="Amiri" pitchFamily="2" charset="-78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cs typeface="Amiri" pitchFamily="2" charset="-78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cs typeface="Amiri" pitchFamily="2" charset="-78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cs typeface="Amiri" pitchFamily="2" charset="-78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cs typeface="Amiri" pitchFamily="2" charset="-78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cs typeface="Amiri" pitchFamily="2" charset="-78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cs typeface="Amiri" pitchFamily="2" charset="-78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cs typeface="Amiri" pitchFamily="2" charset="-78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cs typeface="Amiri" pitchFamily="2" charset="-78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cs typeface="Amiri" pitchFamily="2" charset="-78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cs typeface="Amiri" pitchFamily="2" charset="-78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cs typeface="Amiri" pitchFamily="2" charset="-78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F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863840" y="-1463040"/>
            <a:ext cx="5852160" cy="5852160"/>
          </a:xfrm>
          <a:prstGeom prst="ellipse">
            <a:avLst/>
          </a:prstGeom>
          <a:solidFill>
            <a:srgbClr val="14315C"/>
          </a:solidFill>
          <a:ln w="12700">
            <a:solidFill>
              <a:srgbClr val="1431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778240" y="-548640"/>
            <a:ext cx="4023360" cy="402336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12680" y="685800"/>
            <a:ext cx="1554480" cy="155448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57200" y="411480"/>
            <a:ext cx="502920" cy="502920"/>
          </a:xfrm>
          <a:prstGeom prst="ellipse">
            <a:avLst/>
          </a:prstGeom>
          <a:solidFill>
            <a:srgbClr val="1B3B6F"/>
          </a:solidFill>
          <a:ln w="15875">
            <a:solidFill>
              <a:srgbClr val="D4AF37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457200" y="39319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2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2200" dirty="0"/>
          </a:p>
        </p:txBody>
      </p:sp>
      <p:sp>
        <p:nvSpPr>
          <p:cNvPr id="7" name="Text 4"/>
          <p:cNvSpPr txBox="1"/>
          <p:nvPr/>
        </p:nvSpPr>
        <p:spPr>
          <a:xfrm>
            <a:off x="1078992" y="384048"/>
            <a:ext cx="5486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400" dirty="0"/>
          </a:p>
          <a:p>
            <a:pPr indent="0" marL="0">
              <a:buNone/>
            </a:pPr>
            <a:r>
              <a:rPr lang="en-US" sz="800" b="1" spc="200" kern="0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ARABIC DEPARTMENT · MIFTAH ARABIC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457200" y="160020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CAMBRIDGE IGCSE ARABIC 0544  ·  ADVANCED TOPIC C · GUIDED PRACTICE  ·  TC-L04</a:t>
            </a:r>
            <a:endParaRPr lang="en-US" sz="1100" dirty="0"/>
          </a:p>
        </p:txBody>
      </p:sp>
      <p:sp>
        <p:nvSpPr>
          <p:cNvPr id="9" name="Text 6"/>
          <p:cNvSpPr txBox="1"/>
          <p:nvPr/>
        </p:nvSpPr>
        <p:spPr>
          <a:xfrm>
            <a:off x="457200" y="196596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9FB3D1"/>
                </a:solidFill>
                <a:latin typeface="Cambria" pitchFamily="34" charset="0"/>
                <a:cs typeface="Amiri" pitchFamily="2" charset="-78"/>
              </a:rPr>
              <a:t>TC-L04</a:t>
            </a:r>
            <a:endParaRPr lang="en-US" sz="2600" dirty="0"/>
          </a:p>
        </p:txBody>
      </p:sp>
      <p:sp>
        <p:nvSpPr>
          <p:cNvPr id="10" name="Text 7"/>
          <p:cNvSpPr txBox="1"/>
          <p:nvPr/>
        </p:nvSpPr>
        <p:spPr>
          <a:xfrm>
            <a:off x="457200" y="2487168"/>
            <a:ext cx="8046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50" b="1" dirty="0">
                <a:solidFill>
                  <a:srgbClr val="FFFFFF"/>
                </a:solidFill>
                <a:latin typeface="Cambria" pitchFamily="34" charset="0"/>
                <a:cs typeface="Amiri" pitchFamily="2" charset="-78"/>
              </a:rPr>
              <a:t>Speaking Practice Room — Environmental Problems and Causes</a:t>
            </a:r>
            <a:endParaRPr lang="en-US" sz="2650" dirty="0"/>
          </a:p>
        </p:txBody>
      </p:sp>
      <p:sp>
        <p:nvSpPr>
          <p:cNvPr id="11" name="Text 8"/>
          <p:cNvSpPr txBox="1"/>
          <p:nvPr/>
        </p:nvSpPr>
        <p:spPr>
          <a:xfrm>
            <a:off x="457200" y="3310128"/>
            <a:ext cx="8046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l" indent="0" marL="0">
              <a:buNone/>
            </a:pPr>
            <a:r>
              <a:rPr lang="ar-SA" altLang="en-US" sz="36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غُرْفَةُ التَّحَدُّثِ — مَشَاكِلُ البِيئَةِ وَأَسْبَابُهَا</a:t>
            </a:r>
            <a:endParaRPr lang="ar-SA" sz="3600" dirty="0"/>
          </a:p>
        </p:txBody>
      </p:sp>
      <p:sp>
        <p:nvSpPr>
          <p:cNvPr id="12" name="Text 9"/>
          <p:cNvSpPr txBox="1"/>
          <p:nvPr/>
        </p:nvSpPr>
        <p:spPr>
          <a:xfrm>
            <a:off x="457200" y="4224528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C6D2E6"/>
                </a:solidFill>
                <a:latin typeface="Calibri" pitchFamily="34" charset="0"/>
                <a:cs typeface="Amiri" pitchFamily="2" charset="-78"/>
              </a:rPr>
              <a:t>Students run their own speaking practice in breakout rooms: a word warm-up on environmental problems, the answer ladder, two new role plays (reporting rubbish to the council, a TV interview about a polluted river), a topic conversation with A-R-E-T, and a one-minute talk about the biggest problem in their area.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457200" y="5166360"/>
            <a:ext cx="2651760" cy="868680"/>
          </a:xfrm>
          <a:prstGeom prst="roundRect">
            <a:avLst>
              <a:gd name="adj" fmla="val 8421"/>
            </a:avLst>
          </a:prstGeom>
          <a:solidFill>
            <a:srgbClr val="16335F"/>
          </a:solidFill>
          <a:ln w="12700">
            <a:solidFill>
              <a:srgbClr val="2A4B7C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621792" y="521208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LESSON</a:t>
            </a:r>
            <a:endParaRPr lang="en-US" sz="850" dirty="0"/>
          </a:p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TC-L04 · Advanced Topic C · The World Around Us · guided practice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3273552" y="5166360"/>
            <a:ext cx="2651760" cy="868680"/>
          </a:xfrm>
          <a:prstGeom prst="roundRect">
            <a:avLst>
              <a:gd name="adj" fmla="val 8421"/>
            </a:avLst>
          </a:prstGeom>
          <a:solidFill>
            <a:srgbClr val="16335F"/>
          </a:solidFill>
          <a:ln w="12700">
            <a:solidFill>
              <a:srgbClr val="2A4B7C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3438144" y="521208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DURATION</a:t>
            </a:r>
            <a:endParaRPr lang="en-US" sz="850" dirty="0"/>
          </a:p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60 minutes · Teams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6089904" y="5166360"/>
            <a:ext cx="2651760" cy="868680"/>
          </a:xfrm>
          <a:prstGeom prst="roundRect">
            <a:avLst>
              <a:gd name="adj" fmla="val 8421"/>
            </a:avLst>
          </a:prstGeom>
          <a:solidFill>
            <a:srgbClr val="16335F"/>
          </a:solidFill>
          <a:ln w="12700">
            <a:solidFill>
              <a:srgbClr val="2A4B7C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6254496" y="521208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LEVEL</a:t>
            </a:r>
            <a:endParaRPr lang="en-US" sz="850" dirty="0"/>
          </a:p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Topic C · A1+ → B1</a:t>
            </a:r>
            <a:endParaRPr lang="en-US" sz="850" dirty="0"/>
          </a:p>
        </p:txBody>
      </p:sp>
      <p:sp>
        <p:nvSpPr>
          <p:cNvPr id="19" name="Shape 16"/>
          <p:cNvSpPr/>
          <p:nvPr/>
        </p:nvSpPr>
        <p:spPr>
          <a:xfrm>
            <a:off x="8906256" y="5166360"/>
            <a:ext cx="2651760" cy="868680"/>
          </a:xfrm>
          <a:prstGeom prst="roundRect">
            <a:avLst>
              <a:gd name="adj" fmla="val 8421"/>
            </a:avLst>
          </a:prstGeom>
          <a:solidFill>
            <a:srgbClr val="16335F"/>
          </a:solidFill>
          <a:ln w="12700">
            <a:solidFill>
              <a:srgbClr val="2A4B7C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9070848" y="521208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ON THE WEBSITE</a:t>
            </a:r>
            <a:endParaRPr lang="en-US" sz="850" dirty="0"/>
          </a:p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Advanced Topics › Topic C › TC-L04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TC-L04 · Speaking practice room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219188" y="274320"/>
            <a:ext cx="1540764" cy="329184"/>
          </a:xfrm>
          <a:prstGeom prst="roundRect">
            <a:avLst>
              <a:gd name="adj" fmla="val 50000"/>
            </a:avLst>
          </a:prstGeom>
          <a:solidFill>
            <a:srgbClr val="5A6472"/>
          </a:solidFill>
          <a:ln w="12700">
            <a:solidFill>
              <a:srgbClr val="5A647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219188" y="274320"/>
            <a:ext cx="15407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WELCOME · 1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BEFORE WE BEGIN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Our online classroom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آدَابُ الصَّفِّ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C · Speaking practice room · TC-L04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28800"/>
            <a:ext cx="5394960" cy="932688"/>
          </a:xfrm>
          <a:prstGeom prst="roundRect">
            <a:avLst>
              <a:gd name="adj" fmla="val 7843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640080" y="2002536"/>
            <a:ext cx="585216" cy="585216"/>
          </a:xfrm>
          <a:prstGeom prst="ellipse">
            <a:avLst/>
          </a:prstGeom>
          <a:solidFill>
            <a:srgbClr val="EEF3FA"/>
          </a:solidFill>
          <a:ln w="12700">
            <a:solidFill>
              <a:srgbClr val="EEF3FA"/>
            </a:solidFill>
            <a:prstDash val="solid"/>
          </a:ln>
        </p:spPr>
      </p:sp>
      <p:pic>
        <p:nvPicPr>
          <p:cNvPr id="1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2139696"/>
            <a:ext cx="310896" cy="310896"/>
          </a:xfrm>
          <a:prstGeom prst="rect">
            <a:avLst/>
          </a:prstGeom>
        </p:spPr>
      </p:pic>
      <p:sp>
        <p:nvSpPr>
          <p:cNvPr id="18" name="Text 14"/>
          <p:cNvSpPr txBox="1"/>
          <p:nvPr/>
        </p:nvSpPr>
        <p:spPr>
          <a:xfrm>
            <a:off x="1371600" y="1901952"/>
            <a:ext cx="438912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Camera on</a:t>
            </a:r>
            <a:endParaRPr lang="en-US" sz="1500" dirty="0"/>
          </a:p>
          <a:p>
            <a:pPr indent="0" marL="0">
              <a:buNone/>
            </a:pPr>
            <a:r>
              <a:rPr lang="en-US" sz="115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So I can see you learning and help you quickly.</a:t>
            </a:r>
            <a:endParaRPr lang="en-US" sz="1500" dirty="0"/>
          </a:p>
        </p:txBody>
      </p:sp>
      <p:sp>
        <p:nvSpPr>
          <p:cNvPr id="19" name="Shape 15"/>
          <p:cNvSpPr/>
          <p:nvPr/>
        </p:nvSpPr>
        <p:spPr>
          <a:xfrm>
            <a:off x="457200" y="2907792"/>
            <a:ext cx="5394960" cy="932688"/>
          </a:xfrm>
          <a:prstGeom prst="roundRect">
            <a:avLst>
              <a:gd name="adj" fmla="val 7843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640080" y="3081528"/>
            <a:ext cx="585216" cy="585216"/>
          </a:xfrm>
          <a:prstGeom prst="ellipse">
            <a:avLst/>
          </a:prstGeom>
          <a:solidFill>
            <a:srgbClr val="EEF3FA"/>
          </a:solidFill>
          <a:ln w="12700">
            <a:solidFill>
              <a:srgbClr val="EEF3FA"/>
            </a:solidFill>
            <a:prstDash val="solid"/>
          </a:ln>
        </p:spPr>
      </p:sp>
      <p:pic>
        <p:nvPicPr>
          <p:cNvPr id="2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3218688"/>
            <a:ext cx="310896" cy="310896"/>
          </a:xfrm>
          <a:prstGeom prst="rect">
            <a:avLst/>
          </a:prstGeom>
        </p:spPr>
      </p:pic>
      <p:sp>
        <p:nvSpPr>
          <p:cNvPr id="22" name="Text 17"/>
          <p:cNvSpPr txBox="1"/>
          <p:nvPr/>
        </p:nvSpPr>
        <p:spPr>
          <a:xfrm>
            <a:off x="1371600" y="2980944"/>
            <a:ext cx="438912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Mic muted</a:t>
            </a:r>
            <a:endParaRPr lang="en-US" sz="1500" dirty="0"/>
          </a:p>
          <a:p>
            <a:pPr indent="0" marL="0">
              <a:buNone/>
            </a:pPr>
            <a:r>
              <a:rPr lang="en-US" sz="115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Unmute only when invited to speak.</a:t>
            </a:r>
            <a:endParaRPr lang="en-US" sz="1500" dirty="0"/>
          </a:p>
        </p:txBody>
      </p:sp>
      <p:sp>
        <p:nvSpPr>
          <p:cNvPr id="23" name="Shape 18"/>
          <p:cNvSpPr/>
          <p:nvPr/>
        </p:nvSpPr>
        <p:spPr>
          <a:xfrm>
            <a:off x="457200" y="3986784"/>
            <a:ext cx="5394960" cy="932688"/>
          </a:xfrm>
          <a:prstGeom prst="roundRect">
            <a:avLst>
              <a:gd name="adj" fmla="val 7843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24" name="Shape 19"/>
          <p:cNvSpPr/>
          <p:nvPr/>
        </p:nvSpPr>
        <p:spPr>
          <a:xfrm>
            <a:off x="640080" y="4160520"/>
            <a:ext cx="585216" cy="585216"/>
          </a:xfrm>
          <a:prstGeom prst="ellipse">
            <a:avLst/>
          </a:prstGeom>
          <a:solidFill>
            <a:srgbClr val="EEF3FA"/>
          </a:solidFill>
          <a:ln w="12700">
            <a:solidFill>
              <a:srgbClr val="EEF3FA"/>
            </a:solidFill>
            <a:prstDash val="solid"/>
          </a:ln>
        </p:spPr>
      </p:sp>
      <p:pic>
        <p:nvPicPr>
          <p:cNvPr id="2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4297680"/>
            <a:ext cx="310896" cy="310896"/>
          </a:xfrm>
          <a:prstGeom prst="rect">
            <a:avLst/>
          </a:prstGeom>
        </p:spPr>
      </p:pic>
      <p:sp>
        <p:nvSpPr>
          <p:cNvPr id="26" name="Text 20"/>
          <p:cNvSpPr txBox="1"/>
          <p:nvPr/>
        </p:nvSpPr>
        <p:spPr>
          <a:xfrm>
            <a:off x="1371600" y="4059936"/>
            <a:ext cx="438912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Chat for learning</a:t>
            </a:r>
            <a:endParaRPr lang="en-US" sz="1500" dirty="0"/>
          </a:p>
          <a:p>
            <a:pPr indent="0" marL="0">
              <a:buNone/>
            </a:pPr>
            <a:r>
              <a:rPr lang="en-US" sz="115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Answers, questions and Arabic only.</a:t>
            </a:r>
            <a:endParaRPr lang="en-US" sz="1500" dirty="0"/>
          </a:p>
        </p:txBody>
      </p:sp>
      <p:sp>
        <p:nvSpPr>
          <p:cNvPr id="27" name="Shape 21"/>
          <p:cNvSpPr/>
          <p:nvPr/>
        </p:nvSpPr>
        <p:spPr>
          <a:xfrm>
            <a:off x="457200" y="5065776"/>
            <a:ext cx="5394960" cy="932688"/>
          </a:xfrm>
          <a:prstGeom prst="roundRect">
            <a:avLst>
              <a:gd name="adj" fmla="val 7843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28" name="Shape 22"/>
          <p:cNvSpPr/>
          <p:nvPr/>
        </p:nvSpPr>
        <p:spPr>
          <a:xfrm>
            <a:off x="640080" y="5239512"/>
            <a:ext cx="585216" cy="585216"/>
          </a:xfrm>
          <a:prstGeom prst="ellipse">
            <a:avLst/>
          </a:prstGeom>
          <a:solidFill>
            <a:srgbClr val="EEF3FA"/>
          </a:solidFill>
          <a:ln w="12700">
            <a:solidFill>
              <a:srgbClr val="EEF3FA"/>
            </a:solidFill>
            <a:prstDash val="solid"/>
          </a:ln>
        </p:spPr>
      </p:sp>
      <p:pic>
        <p:nvPicPr>
          <p:cNvPr id="2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5376672"/>
            <a:ext cx="310896" cy="310896"/>
          </a:xfrm>
          <a:prstGeom prst="rect">
            <a:avLst/>
          </a:prstGeom>
        </p:spPr>
      </p:pic>
      <p:sp>
        <p:nvSpPr>
          <p:cNvPr id="30" name="Text 23"/>
          <p:cNvSpPr txBox="1"/>
          <p:nvPr/>
        </p:nvSpPr>
        <p:spPr>
          <a:xfrm>
            <a:off x="1371600" y="5138928"/>
            <a:ext cx="438912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Raise your hand</a:t>
            </a:r>
            <a:endParaRPr lang="en-US" sz="1500" dirty="0"/>
          </a:p>
          <a:p>
            <a:pPr indent="0" marL="0">
              <a:buNone/>
            </a:pPr>
            <a:r>
              <a:rPr lang="en-US" sz="115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Use the hand button to ask for help.</a:t>
            </a:r>
            <a:endParaRPr lang="en-US" sz="1500" dirty="0"/>
          </a:p>
        </p:txBody>
      </p:sp>
      <p:sp>
        <p:nvSpPr>
          <p:cNvPr id="31" name="Shape 24"/>
          <p:cNvSpPr/>
          <p:nvPr/>
        </p:nvSpPr>
        <p:spPr>
          <a:xfrm>
            <a:off x="6172200" y="1828800"/>
            <a:ext cx="5559552" cy="4169664"/>
          </a:xfrm>
          <a:prstGeom prst="roundRect">
            <a:avLst>
              <a:gd name="adj" fmla="val 1754"/>
            </a:avLst>
          </a:prstGeom>
          <a:solidFill>
            <a:srgbClr val="F7F9FC"/>
          </a:solidFill>
          <a:ln w="9525">
            <a:solidFill>
              <a:srgbClr val="C9D6EA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32" name="Text 25"/>
          <p:cNvSpPr txBox="1"/>
          <p:nvPr/>
        </p:nvSpPr>
        <p:spPr>
          <a:xfrm>
            <a:off x="6400800" y="1938528"/>
            <a:ext cx="51023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HOW WE TALK — THE ORACY CODE</a:t>
            </a:r>
            <a:endParaRPr lang="en-US" sz="1100" dirty="0"/>
          </a:p>
        </p:txBody>
      </p:sp>
      <p:sp>
        <p:nvSpPr>
          <p:cNvPr id="33" name="Shape 26"/>
          <p:cNvSpPr/>
          <p:nvPr/>
        </p:nvSpPr>
        <p:spPr>
          <a:xfrm>
            <a:off x="6400800" y="2450592"/>
            <a:ext cx="548640" cy="54864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34" name="Text 27"/>
          <p:cNvSpPr txBox="1"/>
          <p:nvPr/>
        </p:nvSpPr>
        <p:spPr>
          <a:xfrm>
            <a:off x="6400800" y="245059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4AF37"/>
                </a:solidFill>
                <a:latin typeface="Arial" pitchFamily="34" charset="0"/>
                <a:cs typeface="Amiri" pitchFamily="2" charset="-78"/>
              </a:rPr>
              <a:t>●</a:t>
            </a:r>
            <a:endParaRPr lang="en-US" sz="1800" dirty="0"/>
          </a:p>
        </p:txBody>
      </p:sp>
      <p:sp>
        <p:nvSpPr>
          <p:cNvPr id="35" name="Text 28"/>
          <p:cNvSpPr txBox="1"/>
          <p:nvPr/>
        </p:nvSpPr>
        <p:spPr>
          <a:xfrm>
            <a:off x="7059168" y="2377440"/>
            <a:ext cx="20116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Think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silent preparation</a:t>
            </a:r>
            <a:endParaRPr lang="en-US" sz="1400" dirty="0"/>
          </a:p>
        </p:txBody>
      </p:sp>
      <p:sp>
        <p:nvSpPr>
          <p:cNvPr id="36" name="Shape 29"/>
          <p:cNvSpPr/>
          <p:nvPr/>
        </p:nvSpPr>
        <p:spPr>
          <a:xfrm>
            <a:off x="8997696" y="2450592"/>
            <a:ext cx="548640" cy="54864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37" name="Text 30"/>
          <p:cNvSpPr txBox="1"/>
          <p:nvPr/>
        </p:nvSpPr>
        <p:spPr>
          <a:xfrm>
            <a:off x="8997696" y="245059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4AF37"/>
                </a:solidFill>
                <a:latin typeface="Arial" pitchFamily="34" charset="0"/>
                <a:cs typeface="Amiri" pitchFamily="2" charset="-78"/>
              </a:rPr>
              <a:t>↔</a:t>
            </a:r>
            <a:endParaRPr lang="en-US" sz="1800" dirty="0"/>
          </a:p>
        </p:txBody>
      </p:sp>
      <p:sp>
        <p:nvSpPr>
          <p:cNvPr id="38" name="Text 31"/>
          <p:cNvSpPr txBox="1"/>
          <p:nvPr/>
        </p:nvSpPr>
        <p:spPr>
          <a:xfrm>
            <a:off x="9656064" y="2377440"/>
            <a:ext cx="20116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Rehearse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both partners speak</a:t>
            </a:r>
            <a:endParaRPr lang="en-US" sz="1400" dirty="0"/>
          </a:p>
        </p:txBody>
      </p:sp>
      <p:sp>
        <p:nvSpPr>
          <p:cNvPr id="39" name="Shape 32"/>
          <p:cNvSpPr/>
          <p:nvPr/>
        </p:nvSpPr>
        <p:spPr>
          <a:xfrm>
            <a:off x="6400800" y="3364992"/>
            <a:ext cx="548640" cy="54864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40" name="Text 33"/>
          <p:cNvSpPr txBox="1"/>
          <p:nvPr/>
        </p:nvSpPr>
        <p:spPr>
          <a:xfrm>
            <a:off x="6400800" y="336499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4AF37"/>
                </a:solidFill>
                <a:latin typeface="Arial" pitchFamily="34" charset="0"/>
                <a:cs typeface="Amiri" pitchFamily="2" charset="-78"/>
              </a:rPr>
              <a:t>+</a:t>
            </a:r>
            <a:endParaRPr lang="en-US" sz="1800" dirty="0"/>
          </a:p>
        </p:txBody>
      </p:sp>
      <p:sp>
        <p:nvSpPr>
          <p:cNvPr id="41" name="Text 34"/>
          <p:cNvSpPr txBox="1"/>
          <p:nvPr/>
        </p:nvSpPr>
        <p:spPr>
          <a:xfrm>
            <a:off x="7059168" y="3291840"/>
            <a:ext cx="20116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Build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add a reason or detail</a:t>
            </a:r>
            <a:endParaRPr lang="en-US" sz="1400" dirty="0"/>
          </a:p>
        </p:txBody>
      </p:sp>
      <p:sp>
        <p:nvSpPr>
          <p:cNvPr id="42" name="Shape 35"/>
          <p:cNvSpPr/>
          <p:nvPr/>
        </p:nvSpPr>
        <p:spPr>
          <a:xfrm>
            <a:off x="8997696" y="3364992"/>
            <a:ext cx="548640" cy="54864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43" name="Text 36"/>
          <p:cNvSpPr txBox="1"/>
          <p:nvPr/>
        </p:nvSpPr>
        <p:spPr>
          <a:xfrm>
            <a:off x="8997696" y="336499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4AF37"/>
                </a:solidFill>
                <a:latin typeface="Arial" pitchFamily="34" charset="0"/>
                <a:cs typeface="Amiri" pitchFamily="2" charset="-78"/>
              </a:rPr>
              <a:t>?</a:t>
            </a:r>
            <a:endParaRPr lang="en-US" sz="1800" dirty="0"/>
          </a:p>
        </p:txBody>
      </p:sp>
      <p:sp>
        <p:nvSpPr>
          <p:cNvPr id="44" name="Text 37"/>
          <p:cNvSpPr txBox="1"/>
          <p:nvPr/>
        </p:nvSpPr>
        <p:spPr>
          <a:xfrm>
            <a:off x="9656064" y="3291840"/>
            <a:ext cx="20116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Challenge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question respectfully</a:t>
            </a:r>
            <a:endParaRPr lang="en-US" sz="1400" dirty="0"/>
          </a:p>
        </p:txBody>
      </p:sp>
      <p:sp>
        <p:nvSpPr>
          <p:cNvPr id="45" name="Shape 38"/>
          <p:cNvSpPr/>
          <p:nvPr/>
        </p:nvSpPr>
        <p:spPr>
          <a:xfrm>
            <a:off x="6400800" y="4279392"/>
            <a:ext cx="548640" cy="54864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46" name="Text 39"/>
          <p:cNvSpPr txBox="1"/>
          <p:nvPr/>
        </p:nvSpPr>
        <p:spPr>
          <a:xfrm>
            <a:off x="6400800" y="427939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4AF37"/>
                </a:solidFill>
                <a:latin typeface="Arial" pitchFamily="34" charset="0"/>
                <a:cs typeface="Amiri" pitchFamily="2" charset="-78"/>
              </a:rPr>
              <a:t>◎</a:t>
            </a:r>
            <a:endParaRPr lang="en-US" sz="1800" dirty="0"/>
          </a:p>
        </p:txBody>
      </p:sp>
      <p:sp>
        <p:nvSpPr>
          <p:cNvPr id="47" name="Text 40"/>
          <p:cNvSpPr txBox="1"/>
          <p:nvPr/>
        </p:nvSpPr>
        <p:spPr>
          <a:xfrm>
            <a:off x="7059168" y="4206240"/>
            <a:ext cx="20116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Share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anyone may be invited</a:t>
            </a:r>
            <a:endParaRPr lang="en-US" sz="1400" dirty="0"/>
          </a:p>
        </p:txBody>
      </p:sp>
      <p:sp>
        <p:nvSpPr>
          <p:cNvPr id="48" name="Shape 41"/>
          <p:cNvSpPr/>
          <p:nvPr/>
        </p:nvSpPr>
        <p:spPr>
          <a:xfrm>
            <a:off x="8997696" y="4279392"/>
            <a:ext cx="548640" cy="54864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49" name="Text 42"/>
          <p:cNvSpPr txBox="1"/>
          <p:nvPr/>
        </p:nvSpPr>
        <p:spPr>
          <a:xfrm>
            <a:off x="8997696" y="427939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4AF37"/>
                </a:solidFill>
                <a:latin typeface="Arial" pitchFamily="34" charset="0"/>
                <a:cs typeface="Amiri" pitchFamily="2" charset="-78"/>
              </a:rPr>
              <a:t>↺</a:t>
            </a:r>
            <a:endParaRPr lang="en-US" sz="1800" dirty="0"/>
          </a:p>
        </p:txBody>
      </p:sp>
      <p:sp>
        <p:nvSpPr>
          <p:cNvPr id="50" name="Text 43"/>
          <p:cNvSpPr txBox="1"/>
          <p:nvPr/>
        </p:nvSpPr>
        <p:spPr>
          <a:xfrm>
            <a:off x="9656064" y="4206240"/>
            <a:ext cx="20116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Summarise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say it more precisely</a:t>
            </a:r>
            <a:endParaRPr lang="en-US" sz="1400" dirty="0"/>
          </a:p>
        </p:txBody>
      </p:sp>
      <p:sp>
        <p:nvSpPr>
          <p:cNvPr id="51" name="Text 44"/>
          <p:cNvSpPr txBox="1"/>
          <p:nvPr/>
        </p:nvSpPr>
        <p:spPr>
          <a:xfrm>
            <a:off x="6400800" y="5230368"/>
            <a:ext cx="510235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i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I will always give you thinking and practice time before I ask anyone. Reading aloud is by invitation — you can always say “pass, please come back to me”.</a:t>
            </a:r>
            <a:endParaRPr lang="en-US" sz="1150" dirty="0"/>
          </a:p>
        </p:txBody>
      </p:sp>
      <p:sp>
        <p:nvSpPr>
          <p:cNvPr id="52" name="Text 45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2 / 21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TC-L04 · Speaking practice room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388352" y="274320"/>
            <a:ext cx="1371600" cy="329184"/>
          </a:xfrm>
          <a:prstGeom prst="roundRect">
            <a:avLst>
              <a:gd name="adj" fmla="val 50000"/>
            </a:avLst>
          </a:prstGeom>
          <a:solidFill>
            <a:srgbClr val="5A6472"/>
          </a:solidFill>
          <a:ln w="12700">
            <a:solidFill>
              <a:srgbClr val="5A647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388352" y="274320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WELCOME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TODAY’S ROOM PLAN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Five steps — you run them yourselves</a:t>
            </a:r>
            <a:endParaRPr lang="en-US" sz="255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خُطُوَاتُ الغُرْفَةِ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C · Speaking practice room · TC-L04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28800"/>
            <a:ext cx="1772412" cy="3246120"/>
          </a:xfrm>
          <a:prstGeom prst="roundRect">
            <a:avLst>
              <a:gd name="adj" fmla="val 4127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566928" y="1938528"/>
            <a:ext cx="1552956" cy="566928"/>
          </a:xfrm>
          <a:prstGeom prst="roundRect">
            <a:avLst>
              <a:gd name="adj" fmla="val 9677"/>
            </a:avLst>
          </a:prstGeom>
          <a:solidFill>
            <a:srgbClr val="2F6FB0"/>
          </a:solidFill>
          <a:ln w="12700">
            <a:solidFill>
              <a:srgbClr val="2F6FB0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603504" y="1956816"/>
            <a:ext cx="14798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WE DO</a:t>
            </a:r>
            <a:endParaRPr lang="en-US" sz="1000" dirty="0"/>
          </a:p>
        </p:txBody>
      </p:sp>
      <p:sp>
        <p:nvSpPr>
          <p:cNvPr id="18" name="Text 15"/>
          <p:cNvSpPr txBox="1"/>
          <p:nvPr/>
        </p:nvSpPr>
        <p:spPr>
          <a:xfrm>
            <a:off x="603504" y="2249424"/>
            <a:ext cx="14798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EDF5"/>
                </a:solidFill>
                <a:latin typeface="Calibri" pitchFamily="34" charset="0"/>
                <a:cs typeface="Amiri" pitchFamily="2" charset="-78"/>
              </a:rPr>
              <a:t>5 min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1142238" y="2651760"/>
            <a:ext cx="402336" cy="40233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1142238" y="26517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300" dirty="0"/>
          </a:p>
        </p:txBody>
      </p:sp>
      <p:sp>
        <p:nvSpPr>
          <p:cNvPr id="21" name="Text 18"/>
          <p:cNvSpPr txBox="1"/>
          <p:nvPr/>
        </p:nvSpPr>
        <p:spPr>
          <a:xfrm>
            <a:off x="585216" y="3145536"/>
            <a:ext cx="15163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Step 1: word warm-up.</a:t>
            </a:r>
            <a:endParaRPr lang="en-US" sz="1200" dirty="0"/>
          </a:p>
        </p:txBody>
      </p:sp>
      <p:sp>
        <p:nvSpPr>
          <p:cNvPr id="22" name="Text 19"/>
          <p:cNvSpPr txBox="1"/>
          <p:nvPr/>
        </p:nvSpPr>
        <p:spPr>
          <a:xfrm>
            <a:off x="548640" y="4526280"/>
            <a:ext cx="158953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2F6FB0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الكَلِمَاتُ</a:t>
            </a:r>
            <a:endParaRPr lang="ar-SA" sz="1500" dirty="0"/>
          </a:p>
        </p:txBody>
      </p:sp>
      <p:sp>
        <p:nvSpPr>
          <p:cNvPr id="23" name="Shape 20"/>
          <p:cNvSpPr/>
          <p:nvPr/>
        </p:nvSpPr>
        <p:spPr>
          <a:xfrm>
            <a:off x="2357628" y="1828800"/>
            <a:ext cx="1772412" cy="3246120"/>
          </a:xfrm>
          <a:prstGeom prst="roundRect">
            <a:avLst>
              <a:gd name="adj" fmla="val 4127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24" name="Shape 21"/>
          <p:cNvSpPr/>
          <p:nvPr/>
        </p:nvSpPr>
        <p:spPr>
          <a:xfrm>
            <a:off x="2467356" y="1938528"/>
            <a:ext cx="1552956" cy="566928"/>
          </a:xfrm>
          <a:prstGeom prst="roundRect">
            <a:avLst>
              <a:gd name="adj" fmla="val 9677"/>
            </a:avLst>
          </a:prstGeom>
          <a:solidFill>
            <a:srgbClr val="2F6FB0"/>
          </a:solidFill>
          <a:ln w="12700">
            <a:solidFill>
              <a:srgbClr val="2F6FB0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2503932" y="1956816"/>
            <a:ext cx="14798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WE DO</a:t>
            </a:r>
            <a:endParaRPr lang="en-US" sz="1000" dirty="0"/>
          </a:p>
        </p:txBody>
      </p:sp>
      <p:sp>
        <p:nvSpPr>
          <p:cNvPr id="26" name="Text 23"/>
          <p:cNvSpPr txBox="1"/>
          <p:nvPr/>
        </p:nvSpPr>
        <p:spPr>
          <a:xfrm>
            <a:off x="2503932" y="2249424"/>
            <a:ext cx="14798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EDF5"/>
                </a:solidFill>
                <a:latin typeface="Calibri" pitchFamily="34" charset="0"/>
                <a:cs typeface="Amiri" pitchFamily="2" charset="-78"/>
              </a:rPr>
              <a:t>8 min</a:t>
            </a:r>
            <a:endParaRPr lang="en-US" sz="1000" dirty="0"/>
          </a:p>
        </p:txBody>
      </p:sp>
      <p:sp>
        <p:nvSpPr>
          <p:cNvPr id="27" name="Shape 24"/>
          <p:cNvSpPr/>
          <p:nvPr/>
        </p:nvSpPr>
        <p:spPr>
          <a:xfrm>
            <a:off x="3042666" y="2651760"/>
            <a:ext cx="402336" cy="40233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3042666" y="26517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300" dirty="0"/>
          </a:p>
        </p:txBody>
      </p:sp>
      <p:sp>
        <p:nvSpPr>
          <p:cNvPr id="29" name="Text 26"/>
          <p:cNvSpPr txBox="1"/>
          <p:nvPr/>
        </p:nvSpPr>
        <p:spPr>
          <a:xfrm>
            <a:off x="2485644" y="3145536"/>
            <a:ext cx="15163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Step 2: climb the answer ladder.</a:t>
            </a:r>
            <a:endParaRPr lang="en-US" sz="1200" dirty="0"/>
          </a:p>
        </p:txBody>
      </p:sp>
      <p:sp>
        <p:nvSpPr>
          <p:cNvPr id="30" name="Text 27"/>
          <p:cNvSpPr txBox="1"/>
          <p:nvPr/>
        </p:nvSpPr>
        <p:spPr>
          <a:xfrm>
            <a:off x="2449068" y="4526280"/>
            <a:ext cx="158953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2F6FB0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السُّلَّمُ</a:t>
            </a:r>
            <a:endParaRPr lang="ar-SA" sz="1500" dirty="0"/>
          </a:p>
        </p:txBody>
      </p:sp>
      <p:sp>
        <p:nvSpPr>
          <p:cNvPr id="31" name="Shape 28"/>
          <p:cNvSpPr/>
          <p:nvPr/>
        </p:nvSpPr>
        <p:spPr>
          <a:xfrm>
            <a:off x="4258056" y="1828800"/>
            <a:ext cx="1772412" cy="3246120"/>
          </a:xfrm>
          <a:prstGeom prst="roundRect">
            <a:avLst>
              <a:gd name="adj" fmla="val 4127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32" name="Shape 29"/>
          <p:cNvSpPr/>
          <p:nvPr/>
        </p:nvSpPr>
        <p:spPr>
          <a:xfrm>
            <a:off x="4367784" y="1938528"/>
            <a:ext cx="1552956" cy="566928"/>
          </a:xfrm>
          <a:prstGeom prst="roundRect">
            <a:avLst>
              <a:gd name="adj" fmla="val 9677"/>
            </a:avLst>
          </a:prstGeom>
          <a:solidFill>
            <a:srgbClr val="1E6B52"/>
          </a:solidFill>
          <a:ln w="12700">
            <a:solidFill>
              <a:srgbClr val="1E6B52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4404360" y="1956816"/>
            <a:ext cx="14798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 DO</a:t>
            </a:r>
            <a:endParaRPr lang="en-US" sz="1000" dirty="0"/>
          </a:p>
        </p:txBody>
      </p:sp>
      <p:sp>
        <p:nvSpPr>
          <p:cNvPr id="34" name="Text 31"/>
          <p:cNvSpPr txBox="1"/>
          <p:nvPr/>
        </p:nvSpPr>
        <p:spPr>
          <a:xfrm>
            <a:off x="4404360" y="2249424"/>
            <a:ext cx="14798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EDF5"/>
                </a:solidFill>
                <a:latin typeface="Calibri" pitchFamily="34" charset="0"/>
                <a:cs typeface="Amiri" pitchFamily="2" charset="-78"/>
              </a:rPr>
              <a:t>14 min</a:t>
            </a:r>
            <a:endParaRPr lang="en-US" sz="1000" dirty="0"/>
          </a:p>
        </p:txBody>
      </p:sp>
      <p:sp>
        <p:nvSpPr>
          <p:cNvPr id="35" name="Shape 32"/>
          <p:cNvSpPr/>
          <p:nvPr/>
        </p:nvSpPr>
        <p:spPr>
          <a:xfrm>
            <a:off x="4943094" y="2651760"/>
            <a:ext cx="402336" cy="40233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4943094" y="26517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300" dirty="0"/>
          </a:p>
        </p:txBody>
      </p:sp>
      <p:sp>
        <p:nvSpPr>
          <p:cNvPr id="37" name="Text 34"/>
          <p:cNvSpPr txBox="1"/>
          <p:nvPr/>
        </p:nvSpPr>
        <p:spPr>
          <a:xfrm>
            <a:off x="4386072" y="3145536"/>
            <a:ext cx="15163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Step 3: two role plays (planned, then you plan).</a:t>
            </a:r>
            <a:endParaRPr lang="en-US" sz="1200" dirty="0"/>
          </a:p>
        </p:txBody>
      </p:sp>
      <p:sp>
        <p:nvSpPr>
          <p:cNvPr id="38" name="Text 35"/>
          <p:cNvSpPr txBox="1"/>
          <p:nvPr/>
        </p:nvSpPr>
        <p:spPr>
          <a:xfrm>
            <a:off x="4349496" y="4526280"/>
            <a:ext cx="158953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E6B52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تَمْثِيلُ الدَّوْرِ</a:t>
            </a:r>
            <a:endParaRPr lang="ar-SA" sz="1500" dirty="0"/>
          </a:p>
        </p:txBody>
      </p:sp>
      <p:sp>
        <p:nvSpPr>
          <p:cNvPr id="39" name="Shape 36"/>
          <p:cNvSpPr/>
          <p:nvPr/>
        </p:nvSpPr>
        <p:spPr>
          <a:xfrm>
            <a:off x="6158484" y="1828800"/>
            <a:ext cx="1772412" cy="3246120"/>
          </a:xfrm>
          <a:prstGeom prst="roundRect">
            <a:avLst>
              <a:gd name="adj" fmla="val 4127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40" name="Shape 37"/>
          <p:cNvSpPr/>
          <p:nvPr/>
        </p:nvSpPr>
        <p:spPr>
          <a:xfrm>
            <a:off x="6268212" y="1938528"/>
            <a:ext cx="1552956" cy="566928"/>
          </a:xfrm>
          <a:prstGeom prst="roundRect">
            <a:avLst>
              <a:gd name="adj" fmla="val 9677"/>
            </a:avLst>
          </a:prstGeom>
          <a:solidFill>
            <a:srgbClr val="1E6B52"/>
          </a:solidFill>
          <a:ln w="12700">
            <a:solidFill>
              <a:srgbClr val="1E6B52"/>
            </a:solidFill>
            <a:prstDash val="solid"/>
          </a:ln>
        </p:spPr>
      </p:sp>
      <p:sp>
        <p:nvSpPr>
          <p:cNvPr id="41" name="Text 38"/>
          <p:cNvSpPr txBox="1"/>
          <p:nvPr/>
        </p:nvSpPr>
        <p:spPr>
          <a:xfrm>
            <a:off x="6304788" y="1956816"/>
            <a:ext cx="14798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 DO</a:t>
            </a:r>
            <a:endParaRPr lang="en-US" sz="1000" dirty="0"/>
          </a:p>
        </p:txBody>
      </p:sp>
      <p:sp>
        <p:nvSpPr>
          <p:cNvPr id="42" name="Text 39"/>
          <p:cNvSpPr txBox="1"/>
          <p:nvPr/>
        </p:nvSpPr>
        <p:spPr>
          <a:xfrm>
            <a:off x="6304788" y="2249424"/>
            <a:ext cx="14798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EDF5"/>
                </a:solidFill>
                <a:latin typeface="Calibri" pitchFamily="34" charset="0"/>
                <a:cs typeface="Amiri" pitchFamily="2" charset="-78"/>
              </a:rPr>
              <a:t>8 min</a:t>
            </a:r>
            <a:endParaRPr lang="en-US" sz="1000" dirty="0"/>
          </a:p>
        </p:txBody>
      </p:sp>
      <p:sp>
        <p:nvSpPr>
          <p:cNvPr id="43" name="Shape 40"/>
          <p:cNvSpPr/>
          <p:nvPr/>
        </p:nvSpPr>
        <p:spPr>
          <a:xfrm>
            <a:off x="6843522" y="2651760"/>
            <a:ext cx="402336" cy="40233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44" name="Text 41"/>
          <p:cNvSpPr txBox="1"/>
          <p:nvPr/>
        </p:nvSpPr>
        <p:spPr>
          <a:xfrm>
            <a:off x="6843522" y="26517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300" dirty="0"/>
          </a:p>
        </p:txBody>
      </p:sp>
      <p:sp>
        <p:nvSpPr>
          <p:cNvPr id="45" name="Text 42"/>
          <p:cNvSpPr txBox="1"/>
          <p:nvPr/>
        </p:nvSpPr>
        <p:spPr>
          <a:xfrm>
            <a:off x="6286500" y="3145536"/>
            <a:ext cx="15163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Step 4: topic conversation, A-R-E-T.</a:t>
            </a:r>
            <a:endParaRPr lang="en-US" sz="1200" dirty="0"/>
          </a:p>
        </p:txBody>
      </p:sp>
      <p:sp>
        <p:nvSpPr>
          <p:cNvPr id="46" name="Text 43"/>
          <p:cNvSpPr txBox="1"/>
          <p:nvPr/>
        </p:nvSpPr>
        <p:spPr>
          <a:xfrm>
            <a:off x="6249924" y="4526280"/>
            <a:ext cx="158953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E6B52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المُحَادَثَةُ</a:t>
            </a:r>
            <a:endParaRPr lang="ar-SA" sz="1500" dirty="0"/>
          </a:p>
        </p:txBody>
      </p:sp>
      <p:sp>
        <p:nvSpPr>
          <p:cNvPr id="47" name="Shape 44"/>
          <p:cNvSpPr/>
          <p:nvPr/>
        </p:nvSpPr>
        <p:spPr>
          <a:xfrm>
            <a:off x="8058912" y="1828800"/>
            <a:ext cx="1772412" cy="3246120"/>
          </a:xfrm>
          <a:prstGeom prst="roundRect">
            <a:avLst>
              <a:gd name="adj" fmla="val 4127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48" name="Shape 45"/>
          <p:cNvSpPr/>
          <p:nvPr/>
        </p:nvSpPr>
        <p:spPr>
          <a:xfrm>
            <a:off x="8168640" y="1938528"/>
            <a:ext cx="1552956" cy="566928"/>
          </a:xfrm>
          <a:prstGeom prst="roundRect">
            <a:avLst>
              <a:gd name="adj" fmla="val 9677"/>
            </a:avLst>
          </a:prstGeom>
          <a:solidFill>
            <a:srgbClr val="1E6B52"/>
          </a:solidFill>
          <a:ln w="12700">
            <a:solidFill>
              <a:srgbClr val="1E6B52"/>
            </a:solidFill>
            <a:prstDash val="solid"/>
          </a:ln>
        </p:spPr>
      </p:sp>
      <p:sp>
        <p:nvSpPr>
          <p:cNvPr id="49" name="Text 46"/>
          <p:cNvSpPr txBox="1"/>
          <p:nvPr/>
        </p:nvSpPr>
        <p:spPr>
          <a:xfrm>
            <a:off x="8205216" y="1956816"/>
            <a:ext cx="14798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 DO</a:t>
            </a:r>
            <a:endParaRPr lang="en-US" sz="1000" dirty="0"/>
          </a:p>
        </p:txBody>
      </p:sp>
      <p:sp>
        <p:nvSpPr>
          <p:cNvPr id="50" name="Text 47"/>
          <p:cNvSpPr txBox="1"/>
          <p:nvPr/>
        </p:nvSpPr>
        <p:spPr>
          <a:xfrm>
            <a:off x="8205216" y="2249424"/>
            <a:ext cx="14798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EDF5"/>
                </a:solidFill>
                <a:latin typeface="Calibri" pitchFamily="34" charset="0"/>
                <a:cs typeface="Amiri" pitchFamily="2" charset="-78"/>
              </a:rPr>
              <a:t>5 min</a:t>
            </a:r>
            <a:endParaRPr lang="en-US" sz="1000" dirty="0"/>
          </a:p>
        </p:txBody>
      </p:sp>
      <p:sp>
        <p:nvSpPr>
          <p:cNvPr id="51" name="Shape 48"/>
          <p:cNvSpPr/>
          <p:nvPr/>
        </p:nvSpPr>
        <p:spPr>
          <a:xfrm>
            <a:off x="8743950" y="2651760"/>
            <a:ext cx="402336" cy="40233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52" name="Text 49"/>
          <p:cNvSpPr txBox="1"/>
          <p:nvPr/>
        </p:nvSpPr>
        <p:spPr>
          <a:xfrm>
            <a:off x="8743950" y="26517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5</a:t>
            </a:r>
            <a:endParaRPr lang="en-US" sz="1300" dirty="0"/>
          </a:p>
        </p:txBody>
      </p:sp>
      <p:sp>
        <p:nvSpPr>
          <p:cNvPr id="53" name="Text 50"/>
          <p:cNvSpPr txBox="1"/>
          <p:nvPr/>
        </p:nvSpPr>
        <p:spPr>
          <a:xfrm>
            <a:off x="8186928" y="3145536"/>
            <a:ext cx="15163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Step 5: one-minute talk.</a:t>
            </a:r>
            <a:endParaRPr lang="en-US" sz="1200" dirty="0"/>
          </a:p>
        </p:txBody>
      </p:sp>
      <p:sp>
        <p:nvSpPr>
          <p:cNvPr id="54" name="Text 51"/>
          <p:cNvSpPr txBox="1"/>
          <p:nvPr/>
        </p:nvSpPr>
        <p:spPr>
          <a:xfrm>
            <a:off x="8150352" y="4526280"/>
            <a:ext cx="158953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E6B52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دَقِيقَةٌ وَاحِدَةٌ</a:t>
            </a:r>
            <a:endParaRPr lang="ar-SA" sz="1500" dirty="0"/>
          </a:p>
        </p:txBody>
      </p:sp>
      <p:sp>
        <p:nvSpPr>
          <p:cNvPr id="55" name="Shape 52"/>
          <p:cNvSpPr/>
          <p:nvPr/>
        </p:nvSpPr>
        <p:spPr>
          <a:xfrm>
            <a:off x="9959340" y="1828800"/>
            <a:ext cx="1772412" cy="3246120"/>
          </a:xfrm>
          <a:prstGeom prst="roundRect">
            <a:avLst>
              <a:gd name="adj" fmla="val 4127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56" name="Shape 53"/>
          <p:cNvSpPr/>
          <p:nvPr/>
        </p:nvSpPr>
        <p:spPr>
          <a:xfrm>
            <a:off x="10069068" y="1938528"/>
            <a:ext cx="1552956" cy="566928"/>
          </a:xfrm>
          <a:prstGeom prst="roundRect">
            <a:avLst>
              <a:gd name="adj" fmla="val 9677"/>
            </a:avLst>
          </a:prstGeom>
          <a:solidFill>
            <a:srgbClr val="8A6D1E"/>
          </a:solidFill>
          <a:ln w="12700">
            <a:solidFill>
              <a:srgbClr val="8A6D1E"/>
            </a:solidFill>
            <a:prstDash val="solid"/>
          </a:ln>
        </p:spPr>
      </p:sp>
      <p:sp>
        <p:nvSpPr>
          <p:cNvPr id="57" name="Text 54"/>
          <p:cNvSpPr txBox="1"/>
          <p:nvPr/>
        </p:nvSpPr>
        <p:spPr>
          <a:xfrm>
            <a:off x="10105644" y="1956816"/>
            <a:ext cx="14798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FEEDBACK</a:t>
            </a:r>
            <a:endParaRPr lang="en-US" sz="1000" dirty="0"/>
          </a:p>
        </p:txBody>
      </p:sp>
      <p:sp>
        <p:nvSpPr>
          <p:cNvPr id="58" name="Text 55"/>
          <p:cNvSpPr txBox="1"/>
          <p:nvPr/>
        </p:nvSpPr>
        <p:spPr>
          <a:xfrm>
            <a:off x="10105644" y="2249424"/>
            <a:ext cx="14798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EDF5"/>
                </a:solidFill>
                <a:latin typeface="Calibri" pitchFamily="34" charset="0"/>
                <a:cs typeface="Amiri" pitchFamily="2" charset="-78"/>
              </a:rPr>
              <a:t>6 min</a:t>
            </a:r>
            <a:endParaRPr lang="en-US" sz="1000" dirty="0"/>
          </a:p>
        </p:txBody>
      </p:sp>
      <p:sp>
        <p:nvSpPr>
          <p:cNvPr id="59" name="Shape 56"/>
          <p:cNvSpPr/>
          <p:nvPr/>
        </p:nvSpPr>
        <p:spPr>
          <a:xfrm>
            <a:off x="10644378" y="2651760"/>
            <a:ext cx="402336" cy="40233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60" name="Text 57"/>
          <p:cNvSpPr txBox="1"/>
          <p:nvPr/>
        </p:nvSpPr>
        <p:spPr>
          <a:xfrm>
            <a:off x="10644378" y="26517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6</a:t>
            </a:r>
            <a:endParaRPr lang="en-US" sz="1300" dirty="0"/>
          </a:p>
        </p:txBody>
      </p:sp>
      <p:sp>
        <p:nvSpPr>
          <p:cNvPr id="61" name="Text 58"/>
          <p:cNvSpPr txBox="1"/>
          <p:nvPr/>
        </p:nvSpPr>
        <p:spPr>
          <a:xfrm>
            <a:off x="10087356" y="3145536"/>
            <a:ext cx="15163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Check yourself with the models.</a:t>
            </a:r>
            <a:endParaRPr lang="en-US" sz="1200" dirty="0"/>
          </a:p>
        </p:txBody>
      </p:sp>
      <p:sp>
        <p:nvSpPr>
          <p:cNvPr id="62" name="Text 59"/>
          <p:cNvSpPr txBox="1"/>
          <p:nvPr/>
        </p:nvSpPr>
        <p:spPr>
          <a:xfrm>
            <a:off x="10050780" y="4526280"/>
            <a:ext cx="158953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قَارِنْ</a:t>
            </a:r>
            <a:endParaRPr lang="ar-SA" sz="1500" dirty="0"/>
          </a:p>
        </p:txBody>
      </p:sp>
      <p:sp>
        <p:nvSpPr>
          <p:cNvPr id="63" name="Shape 60"/>
          <p:cNvSpPr/>
          <p:nvPr/>
        </p:nvSpPr>
        <p:spPr>
          <a:xfrm>
            <a:off x="457200" y="5285232"/>
            <a:ext cx="11274552" cy="1024128"/>
          </a:xfrm>
          <a:prstGeom prst="roundRect">
            <a:avLst>
              <a:gd name="adj" fmla="val 7143"/>
            </a:avLst>
          </a:prstGeom>
          <a:solidFill>
            <a:srgbClr val="E9F5EE"/>
          </a:solidFill>
          <a:ln w="9525">
            <a:solidFill>
              <a:srgbClr val="9CCFB0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64" name="Text 61"/>
          <p:cNvSpPr txBox="1"/>
          <p:nvPr/>
        </p:nvSpPr>
        <p:spPr>
          <a:xfrm>
            <a:off x="685800" y="5358384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1E6B52"/>
                </a:solidFill>
                <a:latin typeface="Calibri" pitchFamily="34" charset="0"/>
                <a:cs typeface="Amiri" pitchFamily="2" charset="-78"/>
              </a:rPr>
              <a:t>HOW THE ROOM RUNS</a:t>
            </a:r>
            <a:endParaRPr lang="en-US" sz="1000" dirty="0"/>
          </a:p>
        </p:txBody>
      </p:sp>
      <p:sp>
        <p:nvSpPr>
          <p:cNvPr id="65" name="Text 62"/>
          <p:cNvSpPr txBox="1"/>
          <p:nvPr/>
        </p:nvSpPr>
        <p:spPr>
          <a:xfrm>
            <a:off x="685800" y="5632704"/>
            <a:ext cx="108813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Everybody speaks in every step. Swap roles each time: Leader → Speaker → Coach. If you finish early, do the step again with the Stretch route.</a:t>
            </a:r>
            <a:endParaRPr lang="en-US" sz="1250" dirty="0"/>
          </a:p>
        </p:txBody>
      </p:sp>
      <p:sp>
        <p:nvSpPr>
          <p:cNvPr id="66" name="Text 63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3 / 21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TC-L04 · Speaking practice room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6308446" y="274320"/>
            <a:ext cx="2451506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308446" y="274320"/>
            <a:ext cx="245150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TEACHER INSTRUCTION · 3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BEFORE THE ROOMS · HOW YOUR ROOM WORKS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Three roles, four rules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كَيْفَ نَعْمَلُ فِي الغُرْفَةِ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C · Speaking practice room · TC-L04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6172200" cy="4498848"/>
          </a:xfrm>
          <a:prstGeom prst="roundRect">
            <a:avLst>
              <a:gd name="adj" fmla="val 1626"/>
            </a:avLst>
          </a:prstGeom>
          <a:solidFill>
            <a:srgbClr val="F7F9FC"/>
          </a:solidFill>
          <a:ln w="9525">
            <a:solidFill>
              <a:srgbClr val="C9D6EA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16" name="Text 13"/>
          <p:cNvSpPr txBox="1"/>
          <p:nvPr/>
        </p:nvSpPr>
        <p:spPr>
          <a:xfrm>
            <a:off x="658368" y="1883664"/>
            <a:ext cx="5806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ROLES (SWAP AFTER EVERY TASK)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658368" y="2286000"/>
            <a:ext cx="310896" cy="310896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658368" y="22860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1078992" y="2176272"/>
            <a:ext cx="5394960" cy="9738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LEADER — opens the next step, keeps the time, and reads the examiner’s questions.</a:t>
            </a:r>
            <a:endParaRPr lang="en-US" sz="1300" dirty="0"/>
          </a:p>
        </p:txBody>
      </p:sp>
      <p:sp>
        <p:nvSpPr>
          <p:cNvPr id="20" name="Shape 17"/>
          <p:cNvSpPr/>
          <p:nvPr/>
        </p:nvSpPr>
        <p:spPr>
          <a:xfrm>
            <a:off x="658368" y="3296412"/>
            <a:ext cx="310896" cy="310896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658368" y="329641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22" name="Text 19"/>
          <p:cNvSpPr txBox="1"/>
          <p:nvPr/>
        </p:nvSpPr>
        <p:spPr>
          <a:xfrm>
            <a:off x="1078992" y="3186684"/>
            <a:ext cx="5394960" cy="9738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SPEAKER — answers in full Arabic sentences. Plan for a few seconds, then speak.</a:t>
            </a:r>
            <a:endParaRPr lang="en-US" sz="1300" dirty="0"/>
          </a:p>
        </p:txBody>
      </p:sp>
      <p:sp>
        <p:nvSpPr>
          <p:cNvPr id="23" name="Shape 20"/>
          <p:cNvSpPr/>
          <p:nvPr/>
        </p:nvSpPr>
        <p:spPr>
          <a:xfrm>
            <a:off x="658368" y="4306824"/>
            <a:ext cx="310896" cy="310896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658368" y="430682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25" name="Text 22"/>
          <p:cNvSpPr txBox="1"/>
          <p:nvPr/>
        </p:nvSpPr>
        <p:spPr>
          <a:xfrm>
            <a:off x="1078992" y="4197096"/>
            <a:ext cx="5394960" cy="9738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COACH — listens with the checklist, then gives one WWW (what went well) and one EBI (even better if).</a:t>
            </a:r>
            <a:endParaRPr lang="en-US" sz="1300" dirty="0"/>
          </a:p>
        </p:txBody>
      </p:sp>
      <p:sp>
        <p:nvSpPr>
          <p:cNvPr id="26" name="Shape 23"/>
          <p:cNvSpPr/>
          <p:nvPr/>
        </p:nvSpPr>
        <p:spPr>
          <a:xfrm>
            <a:off x="658368" y="5317236"/>
            <a:ext cx="310896" cy="310896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658368" y="531723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28" name="Text 25"/>
          <p:cNvSpPr txBox="1"/>
          <p:nvPr/>
        </p:nvSpPr>
        <p:spPr>
          <a:xfrm>
            <a:off x="1078992" y="5207508"/>
            <a:ext cx="5394960" cy="9738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RULES: Arabic only in the tasks · full sentences · no silence (use a repair phrase) · everyone speaks in every step.</a:t>
            </a:r>
            <a:endParaRPr lang="en-US" sz="1300" dirty="0"/>
          </a:p>
        </p:txBody>
      </p:sp>
      <p:sp>
        <p:nvSpPr>
          <p:cNvPr id="29" name="Shape 26"/>
          <p:cNvSpPr/>
          <p:nvPr/>
        </p:nvSpPr>
        <p:spPr>
          <a:xfrm>
            <a:off x="6812280" y="1810512"/>
            <a:ext cx="4919472" cy="4498848"/>
          </a:xfrm>
          <a:prstGeom prst="roundRect">
            <a:avLst>
              <a:gd name="adj" fmla="val 1626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30" name="Text 27"/>
          <p:cNvSpPr txBox="1"/>
          <p:nvPr/>
        </p:nvSpPr>
        <p:spPr>
          <a:xfrm>
            <a:off x="6995160" y="1883664"/>
            <a:ext cx="45537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USEFUL ROOM PHRASES</a:t>
            </a:r>
            <a:endParaRPr lang="en-US" sz="1000" dirty="0"/>
          </a:p>
        </p:txBody>
      </p:sp>
      <p:sp>
        <p:nvSpPr>
          <p:cNvPr id="31" name="Text 28"/>
          <p:cNvSpPr txBox="1"/>
          <p:nvPr/>
        </p:nvSpPr>
        <p:spPr>
          <a:xfrm>
            <a:off x="6949440" y="2194560"/>
            <a:ext cx="4645152" cy="7612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دَوْرُكَ! / دَوْرُكِ!</a:t>
            </a:r>
            <a:endParaRPr lang="ar-SA" sz="2800" dirty="0"/>
          </a:p>
        </p:txBody>
      </p:sp>
      <p:sp>
        <p:nvSpPr>
          <p:cNvPr id="32" name="Text 29"/>
          <p:cNvSpPr txBox="1"/>
          <p:nvPr/>
        </p:nvSpPr>
        <p:spPr>
          <a:xfrm>
            <a:off x="6949440" y="2955828"/>
            <a:ext cx="4645152" cy="543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Your turn! (m. / f.)</a:t>
            </a:r>
            <a:endParaRPr lang="en-US" sz="1100" dirty="0"/>
          </a:p>
        </p:txBody>
      </p:sp>
      <p:sp>
        <p:nvSpPr>
          <p:cNvPr id="33" name="Shape 30"/>
          <p:cNvSpPr/>
          <p:nvPr/>
        </p:nvSpPr>
        <p:spPr>
          <a:xfrm>
            <a:off x="6995160" y="3535680"/>
            <a:ext cx="4553712" cy="0"/>
          </a:xfrm>
          <a:prstGeom prst="line">
            <a:avLst/>
          </a:prstGeom>
          <a:noFill/>
          <a:ln w="9525">
            <a:solidFill>
              <a:srgbClr val="E4DCCB"/>
            </a:solidFill>
            <a:prstDash val="dash"/>
          </a:ln>
        </p:spPr>
      </p:sp>
      <p:sp>
        <p:nvSpPr>
          <p:cNvPr id="34" name="Text 31"/>
          <p:cNvSpPr txBox="1"/>
          <p:nvPr/>
        </p:nvSpPr>
        <p:spPr>
          <a:xfrm>
            <a:off x="6949440" y="3553968"/>
            <a:ext cx="4645152" cy="7612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عَفْوًا، هَلْ يُمْكِنُ أَنْ تُعِيدَ السُّؤَالَ؟</a:t>
            </a:r>
            <a:endParaRPr lang="ar-SA" sz="2800" dirty="0"/>
          </a:p>
        </p:txBody>
      </p:sp>
      <p:sp>
        <p:nvSpPr>
          <p:cNvPr id="35" name="Text 32"/>
          <p:cNvSpPr txBox="1"/>
          <p:nvPr/>
        </p:nvSpPr>
        <p:spPr>
          <a:xfrm>
            <a:off x="6949440" y="4315236"/>
            <a:ext cx="4645152" cy="543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Sorry, could you repeat the question?</a:t>
            </a:r>
            <a:endParaRPr lang="en-US" sz="1100" dirty="0"/>
          </a:p>
        </p:txBody>
      </p:sp>
      <p:sp>
        <p:nvSpPr>
          <p:cNvPr id="36" name="Shape 33"/>
          <p:cNvSpPr/>
          <p:nvPr/>
        </p:nvSpPr>
        <p:spPr>
          <a:xfrm>
            <a:off x="6995160" y="4895088"/>
            <a:ext cx="4553712" cy="0"/>
          </a:xfrm>
          <a:prstGeom prst="line">
            <a:avLst/>
          </a:prstGeom>
          <a:noFill/>
          <a:ln w="9525">
            <a:solidFill>
              <a:srgbClr val="E4DCCB"/>
            </a:solidFill>
            <a:prstDash val="dash"/>
          </a:ln>
        </p:spPr>
      </p:sp>
      <p:sp>
        <p:nvSpPr>
          <p:cNvPr id="37" name="Text 34"/>
          <p:cNvSpPr txBox="1"/>
          <p:nvPr/>
        </p:nvSpPr>
        <p:spPr>
          <a:xfrm>
            <a:off x="6949440" y="4913376"/>
            <a:ext cx="4645152" cy="7612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لَحْظَةً، دَعْنِي أُفَكِّرُ …</a:t>
            </a:r>
            <a:endParaRPr lang="ar-SA" sz="2800" dirty="0"/>
          </a:p>
        </p:txBody>
      </p:sp>
      <p:sp>
        <p:nvSpPr>
          <p:cNvPr id="38" name="Text 35"/>
          <p:cNvSpPr txBox="1"/>
          <p:nvPr/>
        </p:nvSpPr>
        <p:spPr>
          <a:xfrm>
            <a:off x="6949440" y="5674644"/>
            <a:ext cx="4645152" cy="543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One moment, let me think …</a:t>
            </a:r>
            <a:endParaRPr lang="en-US" sz="1100" dirty="0"/>
          </a:p>
        </p:txBody>
      </p:sp>
      <p:sp>
        <p:nvSpPr>
          <p:cNvPr id="39" name="Text 36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4 / 21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TC-L04 · Speaking practice room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370978" y="274320"/>
            <a:ext cx="1388974" cy="329184"/>
          </a:xfrm>
          <a:prstGeom prst="roundRect">
            <a:avLst>
              <a:gd name="adj" fmla="val 50000"/>
            </a:avLst>
          </a:prstGeom>
          <a:solidFill>
            <a:srgbClr val="2F6FB0"/>
          </a:solidFill>
          <a:ln w="12700">
            <a:solidFill>
              <a:srgbClr val="2F6FB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370978" y="274320"/>
            <a:ext cx="138897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WE DO · 5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2F6FB0"/>
                </a:solidFill>
                <a:latin typeface="Calibri" pitchFamily="34" charset="0"/>
                <a:cs typeface="Amiri" pitchFamily="2" charset="-78"/>
              </a:rPr>
              <a:t>STEP 1 · WORD WARM-UP · 5 MINUTES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Say it — then use it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قُلْهَا وَاسْتَعْمِلْهَا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C · Speaking practice room · TC-L04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5715000" cy="4498848"/>
          </a:xfrm>
          <a:prstGeom prst="roundRect">
            <a:avLst>
              <a:gd name="adj" fmla="val 1626"/>
            </a:avLst>
          </a:prstGeom>
          <a:solidFill>
            <a:srgbClr val="F4F1EA"/>
          </a:solidFill>
          <a:ln w="9525">
            <a:solidFill>
              <a:srgbClr val="E8D49A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640080" y="1920240"/>
            <a:ext cx="3108960" cy="292608"/>
          </a:xfrm>
          <a:prstGeom prst="roundRect">
            <a:avLst>
              <a:gd name="adj" fmla="val 50000"/>
            </a:avLst>
          </a:prstGeom>
          <a:solidFill>
            <a:srgbClr val="8A6D1E"/>
          </a:solidFill>
          <a:ln w="12700">
            <a:solidFill>
              <a:srgbClr val="8A6D1E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640080" y="1920240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STEP 1 · IN YOUR ROOM</a:t>
            </a:r>
            <a:endParaRPr lang="en-US" sz="900" dirty="0"/>
          </a:p>
        </p:txBody>
      </p:sp>
      <p:sp>
        <p:nvSpPr>
          <p:cNvPr id="18" name="Text 15"/>
          <p:cNvSpPr txBox="1"/>
          <p:nvPr/>
        </p:nvSpPr>
        <p:spPr>
          <a:xfrm>
            <a:off x="640080" y="2286000"/>
            <a:ext cx="5349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🔤  Word ping-pong</a:t>
            </a:r>
            <a:endParaRPr lang="en-US" sz="2200" dirty="0"/>
          </a:p>
        </p:txBody>
      </p:sp>
      <p:sp>
        <p:nvSpPr>
          <p:cNvPr id="19" name="Text 16"/>
          <p:cNvSpPr txBox="1"/>
          <p:nvPr/>
        </p:nvSpPr>
        <p:spPr>
          <a:xfrm>
            <a:off x="640080" y="2816352"/>
            <a:ext cx="5349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The Leader says a word in ENGLISH from the next two slides. The Speaker says it in ARABIC, then uses it in a short sentence about themselves. The Coach checks the Arabic on the slide.</a:t>
            </a:r>
            <a:endParaRPr lang="en-US" sz="1350" dirty="0"/>
          </a:p>
        </p:txBody>
      </p:sp>
      <p:sp>
        <p:nvSpPr>
          <p:cNvPr id="20" name="Text 17"/>
          <p:cNvSpPr txBox="1"/>
          <p:nvPr/>
        </p:nvSpPr>
        <p:spPr>
          <a:xfrm>
            <a:off x="640080" y="4041648"/>
            <a:ext cx="5303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HOW WE RUN IT ONLINE</a:t>
            </a:r>
            <a:endParaRPr lang="en-US" sz="950" dirty="0"/>
          </a:p>
        </p:txBody>
      </p:sp>
      <p:sp>
        <p:nvSpPr>
          <p:cNvPr id="21" name="Shape 18"/>
          <p:cNvSpPr/>
          <p:nvPr/>
        </p:nvSpPr>
        <p:spPr>
          <a:xfrm>
            <a:off x="658368" y="4407408"/>
            <a:ext cx="274320" cy="27432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658368" y="44074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000" dirty="0"/>
          </a:p>
        </p:txBody>
      </p:sp>
      <p:sp>
        <p:nvSpPr>
          <p:cNvPr id="23" name="Text 20"/>
          <p:cNvSpPr txBox="1"/>
          <p:nvPr/>
        </p:nvSpPr>
        <p:spPr>
          <a:xfrm>
            <a:off x="1024128" y="4334256"/>
            <a:ext cx="4983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Leader: say 4 English words; Speaker answers in Arabic + one sentence each.</a:t>
            </a:r>
            <a:endParaRPr lang="en-US" sz="1150" dirty="0"/>
          </a:p>
        </p:txBody>
      </p:sp>
      <p:sp>
        <p:nvSpPr>
          <p:cNvPr id="24" name="Shape 21"/>
          <p:cNvSpPr/>
          <p:nvPr/>
        </p:nvSpPr>
        <p:spPr>
          <a:xfrm>
            <a:off x="658368" y="4864608"/>
            <a:ext cx="274320" cy="27432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658368" y="48646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000" dirty="0"/>
          </a:p>
        </p:txBody>
      </p:sp>
      <p:sp>
        <p:nvSpPr>
          <p:cNvPr id="26" name="Text 23"/>
          <p:cNvSpPr txBox="1"/>
          <p:nvPr/>
        </p:nvSpPr>
        <p:spPr>
          <a:xfrm>
            <a:off x="1024128" y="4791456"/>
            <a:ext cx="4983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Coach checks the word and the ending (I / he / she / they).</a:t>
            </a:r>
            <a:endParaRPr lang="en-US" sz="1150" dirty="0"/>
          </a:p>
        </p:txBody>
      </p:sp>
      <p:sp>
        <p:nvSpPr>
          <p:cNvPr id="27" name="Shape 24"/>
          <p:cNvSpPr/>
          <p:nvPr/>
        </p:nvSpPr>
        <p:spPr>
          <a:xfrm>
            <a:off x="658368" y="5321808"/>
            <a:ext cx="274320" cy="27432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658368" y="53218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000" dirty="0"/>
          </a:p>
        </p:txBody>
      </p:sp>
      <p:sp>
        <p:nvSpPr>
          <p:cNvPr id="29" name="Text 26"/>
          <p:cNvSpPr txBox="1"/>
          <p:nvPr/>
        </p:nvSpPr>
        <p:spPr>
          <a:xfrm>
            <a:off x="1024128" y="5248656"/>
            <a:ext cx="4983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Swap roles — new words each time.</a:t>
            </a:r>
            <a:endParaRPr lang="en-US" sz="1150" dirty="0"/>
          </a:p>
        </p:txBody>
      </p:sp>
      <p:sp>
        <p:nvSpPr>
          <p:cNvPr id="30" name="Shape 27"/>
          <p:cNvSpPr/>
          <p:nvPr/>
        </p:nvSpPr>
        <p:spPr>
          <a:xfrm>
            <a:off x="658368" y="5779008"/>
            <a:ext cx="274320" cy="27432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658368" y="57790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000" dirty="0"/>
          </a:p>
        </p:txBody>
      </p:sp>
      <p:sp>
        <p:nvSpPr>
          <p:cNvPr id="32" name="Text 29"/>
          <p:cNvSpPr txBox="1"/>
          <p:nvPr/>
        </p:nvSpPr>
        <p:spPr>
          <a:xfrm>
            <a:off x="1024128" y="5705856"/>
            <a:ext cx="4983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Last round: say the he / she form of each verb.</a:t>
            </a:r>
            <a:endParaRPr lang="en-US" sz="1150" dirty="0"/>
          </a:p>
        </p:txBody>
      </p:sp>
      <p:sp>
        <p:nvSpPr>
          <p:cNvPr id="33" name="Shape 30"/>
          <p:cNvSpPr/>
          <p:nvPr/>
        </p:nvSpPr>
        <p:spPr>
          <a:xfrm>
            <a:off x="6355080" y="1810512"/>
            <a:ext cx="5376672" cy="896112"/>
          </a:xfrm>
          <a:prstGeom prst="roundRect">
            <a:avLst>
              <a:gd name="adj" fmla="val 8163"/>
            </a:avLst>
          </a:prstGeom>
          <a:solidFill>
            <a:srgbClr val="E9F5EE"/>
          </a:solidFill>
          <a:ln w="9525">
            <a:solidFill>
              <a:srgbClr val="2E8B57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34" name="Shape 31"/>
          <p:cNvSpPr/>
          <p:nvPr/>
        </p:nvSpPr>
        <p:spPr>
          <a:xfrm>
            <a:off x="6473952" y="1901952"/>
            <a:ext cx="105156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6473952" y="1901952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50" dirty="0"/>
          </a:p>
        </p:txBody>
      </p:sp>
      <p:sp>
        <p:nvSpPr>
          <p:cNvPr id="36" name="Text 33"/>
          <p:cNvSpPr txBox="1"/>
          <p:nvPr/>
        </p:nvSpPr>
        <p:spPr>
          <a:xfrm>
            <a:off x="6473952" y="2176272"/>
            <a:ext cx="5120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Say the Arabic word, then a simple sentence: </a:t>
            </a:r>
            <a:pPr algn="l" indent="0" marL="0">
              <a:buNone/>
            </a:pPr>
            <a:r>
              <a:rPr lang="ar-SA" altLang="en-US" sz="1500" dirty="0">
                <a:solidFill>
                  <a:srgbClr val="1F2A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أَنَا</a:t>
            </a:r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 … </a:t>
            </a:r>
            <a:endParaRPr lang="en-US" sz="1150" dirty="0"/>
          </a:p>
        </p:txBody>
      </p:sp>
      <p:sp>
        <p:nvSpPr>
          <p:cNvPr id="37" name="Shape 34"/>
          <p:cNvSpPr/>
          <p:nvPr/>
        </p:nvSpPr>
        <p:spPr>
          <a:xfrm>
            <a:off x="6355080" y="2816352"/>
            <a:ext cx="5376672" cy="896112"/>
          </a:xfrm>
          <a:prstGeom prst="roundRect">
            <a:avLst>
              <a:gd name="adj" fmla="val 8163"/>
            </a:avLst>
          </a:prstGeom>
          <a:solidFill>
            <a:srgbClr val="FCF1E0"/>
          </a:solidFill>
          <a:ln w="9525">
            <a:solidFill>
              <a:srgbClr val="C9780A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38" name="Shape 35"/>
          <p:cNvSpPr/>
          <p:nvPr/>
        </p:nvSpPr>
        <p:spPr>
          <a:xfrm>
            <a:off x="6473952" y="2907792"/>
            <a:ext cx="1051560" cy="256032"/>
          </a:xfrm>
          <a:prstGeom prst="roundRect">
            <a:avLst>
              <a:gd name="adj" fmla="val 50000"/>
            </a:avLst>
          </a:prstGeom>
          <a:solidFill>
            <a:srgbClr val="C9780A"/>
          </a:solidFill>
          <a:ln w="12700">
            <a:solidFill>
              <a:srgbClr val="C9780A"/>
            </a:solidFill>
            <a:prstDash val="solid"/>
          </a:ln>
        </p:spPr>
      </p:sp>
      <p:sp>
        <p:nvSpPr>
          <p:cNvPr id="39" name="Text 36"/>
          <p:cNvSpPr txBox="1"/>
          <p:nvPr/>
        </p:nvSpPr>
        <p:spPr>
          <a:xfrm>
            <a:off x="6473952" y="2907792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DEVELOP</a:t>
            </a:r>
            <a:endParaRPr lang="en-US" sz="850" dirty="0"/>
          </a:p>
        </p:txBody>
      </p:sp>
      <p:sp>
        <p:nvSpPr>
          <p:cNvPr id="40" name="Text 37"/>
          <p:cNvSpPr txBox="1"/>
          <p:nvPr/>
        </p:nvSpPr>
        <p:spPr>
          <a:xfrm>
            <a:off x="6473952" y="3182112"/>
            <a:ext cx="5120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Add when or how often: </a:t>
            </a:r>
            <a:pPr algn="l" indent="0" marL="0">
              <a:buNone/>
            </a:pPr>
            <a:r>
              <a:rPr lang="ar-SA" altLang="en-US" sz="1500" dirty="0">
                <a:solidFill>
                  <a:srgbClr val="1F2A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كُلَّ يَوْمٍ</a:t>
            </a:r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 · </a:t>
            </a:r>
            <a:pPr algn="l" indent="0" marL="0">
              <a:buNone/>
            </a:pPr>
            <a:r>
              <a:rPr lang="ar-SA" altLang="en-US" sz="1500" dirty="0">
                <a:solidFill>
                  <a:srgbClr val="1F2A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أَحْيَانًا</a:t>
            </a:r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 · </a:t>
            </a:r>
            <a:pPr algn="l" indent="0" marL="0">
              <a:buNone/>
            </a:pPr>
            <a:r>
              <a:rPr lang="ar-SA" altLang="en-US" sz="1500" dirty="0">
                <a:solidFill>
                  <a:srgbClr val="1F2A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مَرَّتَيْنِ فِي الأُسْبُوعِ</a:t>
            </a:r>
            <a:endParaRPr lang="en-US" sz="1150" dirty="0"/>
          </a:p>
        </p:txBody>
      </p:sp>
      <p:sp>
        <p:nvSpPr>
          <p:cNvPr id="41" name="Shape 38"/>
          <p:cNvSpPr/>
          <p:nvPr/>
        </p:nvSpPr>
        <p:spPr>
          <a:xfrm>
            <a:off x="6355080" y="3822192"/>
            <a:ext cx="5376672" cy="896112"/>
          </a:xfrm>
          <a:prstGeom prst="roundRect">
            <a:avLst>
              <a:gd name="adj" fmla="val 8163"/>
            </a:avLst>
          </a:prstGeom>
          <a:solidFill>
            <a:srgbClr val="FBEAEA"/>
          </a:solidFill>
          <a:ln w="9525">
            <a:solidFill>
              <a:srgbClr val="B83227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42" name="Shape 39"/>
          <p:cNvSpPr/>
          <p:nvPr/>
        </p:nvSpPr>
        <p:spPr>
          <a:xfrm>
            <a:off x="6473952" y="3913632"/>
            <a:ext cx="1051560" cy="256032"/>
          </a:xfrm>
          <a:prstGeom prst="roundRect">
            <a:avLst>
              <a:gd name="adj" fmla="val 50000"/>
            </a:avLst>
          </a:prstGeom>
          <a:solidFill>
            <a:srgbClr val="B83227"/>
          </a:solidFill>
          <a:ln w="12700">
            <a:solidFill>
              <a:srgbClr val="B83227"/>
            </a:solidFill>
            <a:prstDash val="solid"/>
          </a:ln>
        </p:spPr>
      </p:sp>
      <p:sp>
        <p:nvSpPr>
          <p:cNvPr id="43" name="Text 40"/>
          <p:cNvSpPr txBox="1"/>
          <p:nvPr/>
        </p:nvSpPr>
        <p:spPr>
          <a:xfrm>
            <a:off x="6473952" y="3913632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STRETCH</a:t>
            </a:r>
            <a:endParaRPr lang="en-US" sz="850" dirty="0"/>
          </a:p>
        </p:txBody>
      </p:sp>
      <p:sp>
        <p:nvSpPr>
          <p:cNvPr id="44" name="Text 41"/>
          <p:cNvSpPr txBox="1"/>
          <p:nvPr/>
        </p:nvSpPr>
        <p:spPr>
          <a:xfrm>
            <a:off x="6473952" y="4187952"/>
            <a:ext cx="5120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Use two words in one sentence with a reason (</a:t>
            </a:r>
            <a:pPr algn="l" indent="0" marL="0">
              <a:buNone/>
            </a:pPr>
            <a:r>
              <a:rPr lang="ar-SA" altLang="en-US" sz="1500" dirty="0">
                <a:solidFill>
                  <a:srgbClr val="1F2A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لِأَنَّ</a:t>
            </a:r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 …).</a:t>
            </a:r>
            <a:endParaRPr lang="en-US" sz="1150" dirty="0"/>
          </a:p>
        </p:txBody>
      </p:sp>
      <p:sp>
        <p:nvSpPr>
          <p:cNvPr id="45" name="Shape 42"/>
          <p:cNvSpPr/>
          <p:nvPr/>
        </p:nvSpPr>
        <p:spPr>
          <a:xfrm>
            <a:off x="6355080" y="4828032"/>
            <a:ext cx="5376672" cy="1481328"/>
          </a:xfrm>
          <a:prstGeom prst="roundRect">
            <a:avLst>
              <a:gd name="adj" fmla="val 4938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46" name="Text 43"/>
          <p:cNvSpPr txBox="1"/>
          <p:nvPr/>
        </p:nvSpPr>
        <p:spPr>
          <a:xfrm>
            <a:off x="6492240" y="4882896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USEFUL LANGUAGE</a:t>
            </a:r>
            <a:endParaRPr lang="en-US" sz="950" dirty="0"/>
          </a:p>
        </p:txBody>
      </p:sp>
      <p:sp>
        <p:nvSpPr>
          <p:cNvPr id="47" name="Text 44"/>
          <p:cNvSpPr txBox="1"/>
          <p:nvPr/>
        </p:nvSpPr>
        <p:spPr>
          <a:xfrm>
            <a:off x="8732520" y="5138928"/>
            <a:ext cx="28803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3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دَوْرُكَ!</a:t>
            </a:r>
            <a:endParaRPr lang="ar-SA" sz="1300" dirty="0"/>
          </a:p>
        </p:txBody>
      </p:sp>
      <p:sp>
        <p:nvSpPr>
          <p:cNvPr id="48" name="Text 45"/>
          <p:cNvSpPr txBox="1"/>
          <p:nvPr/>
        </p:nvSpPr>
        <p:spPr>
          <a:xfrm>
            <a:off x="6492240" y="5138928"/>
            <a:ext cx="21945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your turn!</a:t>
            </a:r>
            <a:endParaRPr lang="en-US" sz="1000" dirty="0"/>
          </a:p>
        </p:txBody>
      </p:sp>
      <p:sp>
        <p:nvSpPr>
          <p:cNvPr id="49" name="Text 46"/>
          <p:cNvSpPr txBox="1"/>
          <p:nvPr/>
        </p:nvSpPr>
        <p:spPr>
          <a:xfrm>
            <a:off x="8732520" y="5422392"/>
            <a:ext cx="28803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3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أَعِدْ مِنْ فَضْلِكَ / أَعِيدِي</a:t>
            </a:r>
            <a:endParaRPr lang="ar-SA" sz="1300" dirty="0"/>
          </a:p>
        </p:txBody>
      </p:sp>
      <p:sp>
        <p:nvSpPr>
          <p:cNvPr id="50" name="Text 47"/>
          <p:cNvSpPr txBox="1"/>
          <p:nvPr/>
        </p:nvSpPr>
        <p:spPr>
          <a:xfrm>
            <a:off x="6492240" y="5422392"/>
            <a:ext cx="21945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repeat please (m. / f.)</a:t>
            </a:r>
            <a:endParaRPr lang="en-US" sz="1000" dirty="0"/>
          </a:p>
        </p:txBody>
      </p:sp>
      <p:sp>
        <p:nvSpPr>
          <p:cNvPr id="51" name="Text 48"/>
          <p:cNvSpPr txBox="1"/>
          <p:nvPr/>
        </p:nvSpPr>
        <p:spPr>
          <a:xfrm>
            <a:off x="8732520" y="5705856"/>
            <a:ext cx="28803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3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أَحْسَنْتَ! / أَحْسَنْتِ!</a:t>
            </a:r>
            <a:endParaRPr lang="ar-SA" sz="1300" dirty="0"/>
          </a:p>
        </p:txBody>
      </p:sp>
      <p:sp>
        <p:nvSpPr>
          <p:cNvPr id="52" name="Text 49"/>
          <p:cNvSpPr txBox="1"/>
          <p:nvPr/>
        </p:nvSpPr>
        <p:spPr>
          <a:xfrm>
            <a:off x="6492240" y="5705856"/>
            <a:ext cx="21945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well done! (m. / f.)</a:t>
            </a:r>
            <a:endParaRPr lang="en-US" sz="1000" dirty="0"/>
          </a:p>
        </p:txBody>
      </p:sp>
      <p:sp>
        <p:nvSpPr>
          <p:cNvPr id="53" name="Text 50"/>
          <p:cNvSpPr txBox="1"/>
          <p:nvPr/>
        </p:nvSpPr>
        <p:spPr>
          <a:xfrm>
            <a:off x="8732520" y="5989320"/>
            <a:ext cx="28803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3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تَكَلَّمْ أَكْثَرَ / تَكَلَّمِي أَكْثَرَ</a:t>
            </a:r>
            <a:endParaRPr lang="ar-SA" sz="1300" dirty="0"/>
          </a:p>
        </p:txBody>
      </p:sp>
      <p:sp>
        <p:nvSpPr>
          <p:cNvPr id="54" name="Text 51"/>
          <p:cNvSpPr txBox="1"/>
          <p:nvPr/>
        </p:nvSpPr>
        <p:spPr>
          <a:xfrm>
            <a:off x="6492240" y="5989320"/>
            <a:ext cx="21945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say more (m. / f.)</a:t>
            </a:r>
            <a:endParaRPr lang="en-US" sz="1000" dirty="0"/>
          </a:p>
        </p:txBody>
      </p:sp>
      <p:sp>
        <p:nvSpPr>
          <p:cNvPr id="55" name="Text 52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5 / 21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TC-L04 · Speaking practice room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6308446" y="274320"/>
            <a:ext cx="2451506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308446" y="274320"/>
            <a:ext cx="245150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TEACHER INSTRUCTION · 2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STEP 1 · WORD BANK (1)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Environmental problems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مَشَاكِلُ البِيئَةِ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C · Speaking practice room · TC-L04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8101584" y="1810512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8211312" y="1920240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8211312" y="19202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8604504" y="1938528"/>
            <a:ext cx="1331366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8604504" y="1938528"/>
            <a:ext cx="133136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adj. m. · adj. f.</a:t>
            </a:r>
            <a:endParaRPr lang="en-US" sz="800" dirty="0"/>
          </a:p>
        </p:txBody>
      </p:sp>
      <p:sp>
        <p:nvSpPr>
          <p:cNvPr id="20" name="Shape 17"/>
          <p:cNvSpPr/>
          <p:nvPr/>
        </p:nvSpPr>
        <p:spPr>
          <a:xfrm>
            <a:off x="10872216" y="1938528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10872216" y="1938528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22" name="Text 19"/>
          <p:cNvSpPr txBox="1"/>
          <p:nvPr/>
        </p:nvSpPr>
        <p:spPr>
          <a:xfrm>
            <a:off x="8211312" y="2212848"/>
            <a:ext cx="34015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البِيئَةُ</a:t>
            </a:r>
            <a:endParaRPr lang="ar-SA" sz="3000" dirty="0"/>
          </a:p>
        </p:txBody>
      </p:sp>
      <p:sp>
        <p:nvSpPr>
          <p:cNvPr id="23" name="Text 20"/>
          <p:cNvSpPr txBox="1"/>
          <p:nvPr/>
        </p:nvSpPr>
        <p:spPr>
          <a:xfrm>
            <a:off x="8238744" y="2907792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the environment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al-bī-ʾa-tu</a:t>
            </a:r>
            <a:endParaRPr lang="en-US" sz="1350" dirty="0"/>
          </a:p>
        </p:txBody>
      </p:sp>
      <p:sp>
        <p:nvSpPr>
          <p:cNvPr id="24" name="Shape 21"/>
          <p:cNvSpPr/>
          <p:nvPr/>
        </p:nvSpPr>
        <p:spPr>
          <a:xfrm>
            <a:off x="9966960" y="3438144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10021824" y="3447288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adj. f.</a:t>
            </a:r>
            <a:endParaRPr lang="en-US" sz="700" dirty="0"/>
          </a:p>
        </p:txBody>
      </p:sp>
      <p:sp>
        <p:nvSpPr>
          <p:cNvPr id="26" name="Text 23"/>
          <p:cNvSpPr txBox="1"/>
          <p:nvPr/>
        </p:nvSpPr>
        <p:spPr>
          <a:xfrm>
            <a:off x="10012680" y="3575304"/>
            <a:ext cx="1545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بِيئِيَّةٌ</a:t>
            </a:r>
            <a:endParaRPr lang="ar-SA" sz="1350" dirty="0"/>
          </a:p>
        </p:txBody>
      </p:sp>
      <p:sp>
        <p:nvSpPr>
          <p:cNvPr id="27" name="Shape 24"/>
          <p:cNvSpPr/>
          <p:nvPr/>
        </p:nvSpPr>
        <p:spPr>
          <a:xfrm>
            <a:off x="8238744" y="3438144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8293608" y="3447288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adj. m.</a:t>
            </a:r>
            <a:endParaRPr lang="en-US" sz="700" dirty="0"/>
          </a:p>
        </p:txBody>
      </p:sp>
      <p:sp>
        <p:nvSpPr>
          <p:cNvPr id="29" name="Text 26"/>
          <p:cNvSpPr txBox="1"/>
          <p:nvPr/>
        </p:nvSpPr>
        <p:spPr>
          <a:xfrm>
            <a:off x="8284464" y="3575304"/>
            <a:ext cx="1545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بِيئِيٌّ</a:t>
            </a:r>
            <a:endParaRPr lang="ar-SA" sz="1350" dirty="0"/>
          </a:p>
        </p:txBody>
      </p:sp>
      <p:sp>
        <p:nvSpPr>
          <p:cNvPr id="30" name="Shape 27"/>
          <p:cNvSpPr/>
          <p:nvPr/>
        </p:nvSpPr>
        <p:spPr>
          <a:xfrm>
            <a:off x="4279392" y="1810512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31" name="Shape 28"/>
          <p:cNvSpPr/>
          <p:nvPr/>
        </p:nvSpPr>
        <p:spPr>
          <a:xfrm>
            <a:off x="4389120" y="1920240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4389120" y="19202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000" dirty="0"/>
          </a:p>
        </p:txBody>
      </p:sp>
      <p:sp>
        <p:nvSpPr>
          <p:cNvPr id="33" name="Shape 30"/>
          <p:cNvSpPr/>
          <p:nvPr/>
        </p:nvSpPr>
        <p:spPr>
          <a:xfrm>
            <a:off x="4782312" y="1938528"/>
            <a:ext cx="1766621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34" name="Text 31"/>
          <p:cNvSpPr txBox="1"/>
          <p:nvPr/>
        </p:nvSpPr>
        <p:spPr>
          <a:xfrm>
            <a:off x="4782312" y="1938528"/>
            <a:ext cx="1766621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air pollution · polluted</a:t>
            </a:r>
            <a:endParaRPr lang="en-US" sz="800" dirty="0"/>
          </a:p>
        </p:txBody>
      </p:sp>
      <p:sp>
        <p:nvSpPr>
          <p:cNvPr id="35" name="Shape 32"/>
          <p:cNvSpPr/>
          <p:nvPr/>
        </p:nvSpPr>
        <p:spPr>
          <a:xfrm>
            <a:off x="7050024" y="1938528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7050024" y="1938528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37" name="Text 34"/>
          <p:cNvSpPr txBox="1"/>
          <p:nvPr/>
        </p:nvSpPr>
        <p:spPr>
          <a:xfrm>
            <a:off x="4389120" y="2212848"/>
            <a:ext cx="34015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تَلَوُّثٌ</a:t>
            </a:r>
            <a:endParaRPr lang="ar-SA" sz="3000" dirty="0"/>
          </a:p>
        </p:txBody>
      </p:sp>
      <p:sp>
        <p:nvSpPr>
          <p:cNvPr id="38" name="Text 35"/>
          <p:cNvSpPr txBox="1"/>
          <p:nvPr/>
        </p:nvSpPr>
        <p:spPr>
          <a:xfrm>
            <a:off x="4416552" y="2907792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pollution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ta-law-wu-thun</a:t>
            </a:r>
            <a:endParaRPr lang="en-US" sz="1350" dirty="0"/>
          </a:p>
        </p:txBody>
      </p:sp>
      <p:sp>
        <p:nvSpPr>
          <p:cNvPr id="39" name="Shape 36"/>
          <p:cNvSpPr/>
          <p:nvPr/>
        </p:nvSpPr>
        <p:spPr>
          <a:xfrm>
            <a:off x="6144768" y="3438144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6199632" y="3447288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polluted</a:t>
            </a:r>
            <a:endParaRPr lang="en-US" sz="700" dirty="0"/>
          </a:p>
        </p:txBody>
      </p:sp>
      <p:sp>
        <p:nvSpPr>
          <p:cNvPr id="41" name="Text 38"/>
          <p:cNvSpPr txBox="1"/>
          <p:nvPr/>
        </p:nvSpPr>
        <p:spPr>
          <a:xfrm>
            <a:off x="6190488" y="3575304"/>
            <a:ext cx="1545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مُلَوَّثٌ · مُلَوَّثَةٌ</a:t>
            </a:r>
            <a:endParaRPr lang="ar-SA" sz="1350" dirty="0"/>
          </a:p>
        </p:txBody>
      </p:sp>
      <p:sp>
        <p:nvSpPr>
          <p:cNvPr id="42" name="Shape 39"/>
          <p:cNvSpPr/>
          <p:nvPr/>
        </p:nvSpPr>
        <p:spPr>
          <a:xfrm>
            <a:off x="4416552" y="3438144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43" name="Text 40"/>
          <p:cNvSpPr txBox="1"/>
          <p:nvPr/>
        </p:nvSpPr>
        <p:spPr>
          <a:xfrm>
            <a:off x="4471416" y="3447288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air pollution</a:t>
            </a:r>
            <a:endParaRPr lang="en-US" sz="700" dirty="0"/>
          </a:p>
        </p:txBody>
      </p:sp>
      <p:sp>
        <p:nvSpPr>
          <p:cNvPr id="44" name="Text 41"/>
          <p:cNvSpPr txBox="1"/>
          <p:nvPr/>
        </p:nvSpPr>
        <p:spPr>
          <a:xfrm>
            <a:off x="4462272" y="3575304"/>
            <a:ext cx="1545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تَلَوُّثُ الهَوَاءِ</a:t>
            </a:r>
            <a:endParaRPr lang="ar-SA" sz="1350" dirty="0"/>
          </a:p>
        </p:txBody>
      </p:sp>
      <p:sp>
        <p:nvSpPr>
          <p:cNvPr id="45" name="Shape 42"/>
          <p:cNvSpPr/>
          <p:nvPr/>
        </p:nvSpPr>
        <p:spPr>
          <a:xfrm>
            <a:off x="457200" y="1810512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46" name="Shape 43"/>
          <p:cNvSpPr/>
          <p:nvPr/>
        </p:nvSpPr>
        <p:spPr>
          <a:xfrm>
            <a:off x="566928" y="1920240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47" name="Text 44"/>
          <p:cNvSpPr txBox="1"/>
          <p:nvPr/>
        </p:nvSpPr>
        <p:spPr>
          <a:xfrm>
            <a:off x="566928" y="19202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000" dirty="0"/>
          </a:p>
        </p:txBody>
      </p:sp>
      <p:sp>
        <p:nvSpPr>
          <p:cNvPr id="48" name="Shape 45"/>
          <p:cNvSpPr/>
          <p:nvPr/>
        </p:nvSpPr>
        <p:spPr>
          <a:xfrm>
            <a:off x="960120" y="1938528"/>
            <a:ext cx="1269187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49" name="Text 46"/>
          <p:cNvSpPr txBox="1"/>
          <p:nvPr/>
        </p:nvSpPr>
        <p:spPr>
          <a:xfrm>
            <a:off x="960120" y="1938528"/>
            <a:ext cx="1269187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active / passive</a:t>
            </a:r>
            <a:endParaRPr lang="en-US" sz="800" dirty="0"/>
          </a:p>
        </p:txBody>
      </p:sp>
      <p:sp>
        <p:nvSpPr>
          <p:cNvPr id="50" name="Shape 47"/>
          <p:cNvSpPr/>
          <p:nvPr/>
        </p:nvSpPr>
        <p:spPr>
          <a:xfrm>
            <a:off x="3227832" y="1938528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51" name="Text 48"/>
          <p:cNvSpPr txBox="1"/>
          <p:nvPr/>
        </p:nvSpPr>
        <p:spPr>
          <a:xfrm>
            <a:off x="3227832" y="1938528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52" name="Text 49"/>
          <p:cNvSpPr txBox="1"/>
          <p:nvPr/>
        </p:nvSpPr>
        <p:spPr>
          <a:xfrm>
            <a:off x="566928" y="2212848"/>
            <a:ext cx="34015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يُلَوِّثُ</a:t>
            </a:r>
            <a:endParaRPr lang="ar-SA" sz="3000" dirty="0"/>
          </a:p>
        </p:txBody>
      </p:sp>
      <p:sp>
        <p:nvSpPr>
          <p:cNvPr id="53" name="Text 50"/>
          <p:cNvSpPr txBox="1"/>
          <p:nvPr/>
        </p:nvSpPr>
        <p:spPr>
          <a:xfrm>
            <a:off x="594360" y="2907792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pollutes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yu-law-wi-thu</a:t>
            </a:r>
            <a:endParaRPr lang="en-US" sz="1350" dirty="0"/>
          </a:p>
        </p:txBody>
      </p:sp>
      <p:sp>
        <p:nvSpPr>
          <p:cNvPr id="54" name="Shape 51"/>
          <p:cNvSpPr/>
          <p:nvPr/>
        </p:nvSpPr>
        <p:spPr>
          <a:xfrm>
            <a:off x="2322576" y="3438144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55" name="Text 52"/>
          <p:cNvSpPr txBox="1"/>
          <p:nvPr/>
        </p:nvSpPr>
        <p:spPr>
          <a:xfrm>
            <a:off x="2377440" y="3447288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passive</a:t>
            </a:r>
            <a:endParaRPr lang="en-US" sz="700" dirty="0"/>
          </a:p>
        </p:txBody>
      </p:sp>
      <p:sp>
        <p:nvSpPr>
          <p:cNvPr id="56" name="Text 53"/>
          <p:cNvSpPr txBox="1"/>
          <p:nvPr/>
        </p:nvSpPr>
        <p:spPr>
          <a:xfrm>
            <a:off x="2368296" y="3575304"/>
            <a:ext cx="1545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يُلَوَّثُ · تُلَوَّثُ</a:t>
            </a:r>
            <a:endParaRPr lang="ar-SA" sz="1350" dirty="0"/>
          </a:p>
        </p:txBody>
      </p:sp>
      <p:sp>
        <p:nvSpPr>
          <p:cNvPr id="57" name="Shape 54"/>
          <p:cNvSpPr/>
          <p:nvPr/>
        </p:nvSpPr>
        <p:spPr>
          <a:xfrm>
            <a:off x="594360" y="3438144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58" name="Text 55"/>
          <p:cNvSpPr txBox="1"/>
          <p:nvPr/>
        </p:nvSpPr>
        <p:spPr>
          <a:xfrm>
            <a:off x="649224" y="3447288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f.</a:t>
            </a:r>
            <a:endParaRPr lang="en-US" sz="750" dirty="0"/>
          </a:p>
        </p:txBody>
      </p:sp>
      <p:sp>
        <p:nvSpPr>
          <p:cNvPr id="59" name="Text 56"/>
          <p:cNvSpPr txBox="1"/>
          <p:nvPr/>
        </p:nvSpPr>
        <p:spPr>
          <a:xfrm>
            <a:off x="640080" y="3483864"/>
            <a:ext cx="15453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تُلَوِّثُ</a:t>
            </a:r>
            <a:endParaRPr lang="ar-SA" sz="1500" dirty="0"/>
          </a:p>
        </p:txBody>
      </p:sp>
      <p:sp>
        <p:nvSpPr>
          <p:cNvPr id="60" name="Shape 57"/>
          <p:cNvSpPr/>
          <p:nvPr/>
        </p:nvSpPr>
        <p:spPr>
          <a:xfrm>
            <a:off x="8101584" y="4151376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61" name="Shape 58"/>
          <p:cNvSpPr/>
          <p:nvPr/>
        </p:nvSpPr>
        <p:spPr>
          <a:xfrm>
            <a:off x="8211312" y="4261104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62" name="Text 59"/>
          <p:cNvSpPr txBox="1"/>
          <p:nvPr/>
        </p:nvSpPr>
        <p:spPr>
          <a:xfrm>
            <a:off x="8211312" y="426110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000" dirty="0"/>
          </a:p>
        </p:txBody>
      </p:sp>
      <p:sp>
        <p:nvSpPr>
          <p:cNvPr id="63" name="Shape 60"/>
          <p:cNvSpPr/>
          <p:nvPr/>
        </p:nvSpPr>
        <p:spPr>
          <a:xfrm>
            <a:off x="8604504" y="4279392"/>
            <a:ext cx="1580083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64" name="Text 61"/>
          <p:cNvSpPr txBox="1"/>
          <p:nvPr/>
        </p:nvSpPr>
        <p:spPr>
          <a:xfrm>
            <a:off x="8604504" y="4279392"/>
            <a:ext cx="1580083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plastic waste · a bin</a:t>
            </a:r>
            <a:endParaRPr lang="en-US" sz="800" dirty="0"/>
          </a:p>
        </p:txBody>
      </p:sp>
      <p:sp>
        <p:nvSpPr>
          <p:cNvPr id="65" name="Shape 62"/>
          <p:cNvSpPr/>
          <p:nvPr/>
        </p:nvSpPr>
        <p:spPr>
          <a:xfrm>
            <a:off x="10872216" y="4279392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66" name="Text 63"/>
          <p:cNvSpPr txBox="1"/>
          <p:nvPr/>
        </p:nvSpPr>
        <p:spPr>
          <a:xfrm>
            <a:off x="10872216" y="4279392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67" name="Text 64"/>
          <p:cNvSpPr txBox="1"/>
          <p:nvPr/>
        </p:nvSpPr>
        <p:spPr>
          <a:xfrm>
            <a:off x="8211312" y="4553712"/>
            <a:ext cx="34015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نُفَايَاتٌ</a:t>
            </a:r>
            <a:endParaRPr lang="ar-SA" sz="3000" dirty="0"/>
          </a:p>
        </p:txBody>
      </p:sp>
      <p:sp>
        <p:nvSpPr>
          <p:cNvPr id="68" name="Text 65"/>
          <p:cNvSpPr txBox="1"/>
          <p:nvPr/>
        </p:nvSpPr>
        <p:spPr>
          <a:xfrm>
            <a:off x="8238744" y="5248656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rubbish, waste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nu-fā-yā-tun</a:t>
            </a:r>
            <a:endParaRPr lang="en-US" sz="1350" dirty="0"/>
          </a:p>
        </p:txBody>
      </p:sp>
      <p:sp>
        <p:nvSpPr>
          <p:cNvPr id="69" name="Shape 66"/>
          <p:cNvSpPr/>
          <p:nvPr/>
        </p:nvSpPr>
        <p:spPr>
          <a:xfrm>
            <a:off x="9966960" y="5779008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70" name="Text 67"/>
          <p:cNvSpPr txBox="1"/>
          <p:nvPr/>
        </p:nvSpPr>
        <p:spPr>
          <a:xfrm>
            <a:off x="10021824" y="5788152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 bin</a:t>
            </a:r>
            <a:endParaRPr lang="en-US" sz="700" dirty="0"/>
          </a:p>
        </p:txBody>
      </p:sp>
      <p:sp>
        <p:nvSpPr>
          <p:cNvPr id="71" name="Text 68"/>
          <p:cNvSpPr txBox="1"/>
          <p:nvPr/>
        </p:nvSpPr>
        <p:spPr>
          <a:xfrm>
            <a:off x="10012680" y="5916168"/>
            <a:ext cx="1545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سَلَّةُ مُهْمَلَاتٍ</a:t>
            </a:r>
            <a:endParaRPr lang="ar-SA" sz="1350" dirty="0"/>
          </a:p>
        </p:txBody>
      </p:sp>
      <p:sp>
        <p:nvSpPr>
          <p:cNvPr id="72" name="Shape 69"/>
          <p:cNvSpPr/>
          <p:nvPr/>
        </p:nvSpPr>
        <p:spPr>
          <a:xfrm>
            <a:off x="8238744" y="5779008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73" name="Text 70"/>
          <p:cNvSpPr txBox="1"/>
          <p:nvPr/>
        </p:nvSpPr>
        <p:spPr>
          <a:xfrm>
            <a:off x="8293608" y="5788152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plastic waste</a:t>
            </a:r>
            <a:endParaRPr lang="en-US" sz="700" dirty="0"/>
          </a:p>
        </p:txBody>
      </p:sp>
      <p:sp>
        <p:nvSpPr>
          <p:cNvPr id="74" name="Text 71"/>
          <p:cNvSpPr txBox="1"/>
          <p:nvPr/>
        </p:nvSpPr>
        <p:spPr>
          <a:xfrm>
            <a:off x="8284464" y="5916168"/>
            <a:ext cx="1545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نُفَايَاتٌ بْلَاسْتِيكِيَّةٌ</a:t>
            </a:r>
            <a:endParaRPr lang="ar-SA" sz="1350" dirty="0"/>
          </a:p>
        </p:txBody>
      </p:sp>
      <p:sp>
        <p:nvSpPr>
          <p:cNvPr id="75" name="Shape 72"/>
          <p:cNvSpPr/>
          <p:nvPr/>
        </p:nvSpPr>
        <p:spPr>
          <a:xfrm>
            <a:off x="4279392" y="4151376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76" name="Shape 73"/>
          <p:cNvSpPr/>
          <p:nvPr/>
        </p:nvSpPr>
        <p:spPr>
          <a:xfrm>
            <a:off x="4389120" y="4261104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77" name="Text 74"/>
          <p:cNvSpPr txBox="1"/>
          <p:nvPr/>
        </p:nvSpPr>
        <p:spPr>
          <a:xfrm>
            <a:off x="4389120" y="426110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5</a:t>
            </a:r>
            <a:endParaRPr lang="en-US" sz="1000" dirty="0"/>
          </a:p>
        </p:txBody>
      </p:sp>
      <p:sp>
        <p:nvSpPr>
          <p:cNvPr id="78" name="Shape 75"/>
          <p:cNvSpPr/>
          <p:nvPr/>
        </p:nvSpPr>
        <p:spPr>
          <a:xfrm>
            <a:off x="4782312" y="4279392"/>
            <a:ext cx="1580083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79" name="Text 76"/>
          <p:cNvSpPr txBox="1"/>
          <p:nvPr/>
        </p:nvSpPr>
        <p:spPr>
          <a:xfrm>
            <a:off x="4782312" y="4279392"/>
            <a:ext cx="1580083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car fumes · factories</a:t>
            </a:r>
            <a:endParaRPr lang="en-US" sz="800" dirty="0"/>
          </a:p>
        </p:txBody>
      </p:sp>
      <p:sp>
        <p:nvSpPr>
          <p:cNvPr id="80" name="Shape 77"/>
          <p:cNvSpPr/>
          <p:nvPr/>
        </p:nvSpPr>
        <p:spPr>
          <a:xfrm>
            <a:off x="7050024" y="4279392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81" name="Text 78"/>
          <p:cNvSpPr txBox="1"/>
          <p:nvPr/>
        </p:nvSpPr>
        <p:spPr>
          <a:xfrm>
            <a:off x="7050024" y="4279392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82" name="Text 79"/>
          <p:cNvSpPr txBox="1"/>
          <p:nvPr/>
        </p:nvSpPr>
        <p:spPr>
          <a:xfrm>
            <a:off x="4389120" y="4553712"/>
            <a:ext cx="34015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دُخَانٌ</a:t>
            </a:r>
            <a:endParaRPr lang="ar-SA" sz="3000" dirty="0"/>
          </a:p>
        </p:txBody>
      </p:sp>
      <p:sp>
        <p:nvSpPr>
          <p:cNvPr id="83" name="Text 80"/>
          <p:cNvSpPr txBox="1"/>
          <p:nvPr/>
        </p:nvSpPr>
        <p:spPr>
          <a:xfrm>
            <a:off x="4416552" y="5248656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smoke, fumes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du-khā-nun</a:t>
            </a:r>
            <a:endParaRPr lang="en-US" sz="1350" dirty="0"/>
          </a:p>
        </p:txBody>
      </p:sp>
      <p:sp>
        <p:nvSpPr>
          <p:cNvPr id="84" name="Shape 81"/>
          <p:cNvSpPr/>
          <p:nvPr/>
        </p:nvSpPr>
        <p:spPr>
          <a:xfrm>
            <a:off x="6144768" y="5779008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85" name="Text 82"/>
          <p:cNvSpPr txBox="1"/>
          <p:nvPr/>
        </p:nvSpPr>
        <p:spPr>
          <a:xfrm>
            <a:off x="6199632" y="5788152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factories</a:t>
            </a:r>
            <a:endParaRPr lang="en-US" sz="700" dirty="0"/>
          </a:p>
        </p:txBody>
      </p:sp>
      <p:sp>
        <p:nvSpPr>
          <p:cNvPr id="86" name="Text 83"/>
          <p:cNvSpPr txBox="1"/>
          <p:nvPr/>
        </p:nvSpPr>
        <p:spPr>
          <a:xfrm>
            <a:off x="6190488" y="5916168"/>
            <a:ext cx="1545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مَصَانِعُ</a:t>
            </a:r>
            <a:endParaRPr lang="ar-SA" sz="1350" dirty="0"/>
          </a:p>
        </p:txBody>
      </p:sp>
      <p:sp>
        <p:nvSpPr>
          <p:cNvPr id="87" name="Shape 84"/>
          <p:cNvSpPr/>
          <p:nvPr/>
        </p:nvSpPr>
        <p:spPr>
          <a:xfrm>
            <a:off x="4416552" y="5779008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88" name="Text 85"/>
          <p:cNvSpPr txBox="1"/>
          <p:nvPr/>
        </p:nvSpPr>
        <p:spPr>
          <a:xfrm>
            <a:off x="4471416" y="5788152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car fumes</a:t>
            </a:r>
            <a:endParaRPr lang="en-US" sz="700" dirty="0"/>
          </a:p>
        </p:txBody>
      </p:sp>
      <p:sp>
        <p:nvSpPr>
          <p:cNvPr id="89" name="Text 86"/>
          <p:cNvSpPr txBox="1"/>
          <p:nvPr/>
        </p:nvSpPr>
        <p:spPr>
          <a:xfrm>
            <a:off x="4462272" y="5916168"/>
            <a:ext cx="1545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دُخَانُ السَّيَّارَاتِ</a:t>
            </a:r>
            <a:endParaRPr lang="ar-SA" sz="1350" dirty="0"/>
          </a:p>
        </p:txBody>
      </p:sp>
      <p:sp>
        <p:nvSpPr>
          <p:cNvPr id="90" name="Shape 87"/>
          <p:cNvSpPr/>
          <p:nvPr/>
        </p:nvSpPr>
        <p:spPr>
          <a:xfrm>
            <a:off x="457200" y="4151376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91" name="Shape 88"/>
          <p:cNvSpPr/>
          <p:nvPr/>
        </p:nvSpPr>
        <p:spPr>
          <a:xfrm>
            <a:off x="566928" y="4261104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92" name="Text 89"/>
          <p:cNvSpPr txBox="1"/>
          <p:nvPr/>
        </p:nvSpPr>
        <p:spPr>
          <a:xfrm>
            <a:off x="566928" y="426110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6</a:t>
            </a:r>
            <a:endParaRPr lang="en-US" sz="1000" dirty="0"/>
          </a:p>
        </p:txBody>
      </p:sp>
      <p:sp>
        <p:nvSpPr>
          <p:cNvPr id="93" name="Shape 90"/>
          <p:cNvSpPr/>
          <p:nvPr/>
        </p:nvSpPr>
        <p:spPr>
          <a:xfrm>
            <a:off x="960120" y="4279392"/>
            <a:ext cx="1953158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94" name="Text 91"/>
          <p:cNvSpPr txBox="1"/>
          <p:nvPr/>
        </p:nvSpPr>
        <p:spPr>
          <a:xfrm>
            <a:off x="960120" y="4279392"/>
            <a:ext cx="195315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crowded (f.) · crowded (m.)</a:t>
            </a:r>
            <a:endParaRPr lang="en-US" sz="800" dirty="0"/>
          </a:p>
        </p:txBody>
      </p:sp>
      <p:sp>
        <p:nvSpPr>
          <p:cNvPr id="95" name="Shape 92"/>
          <p:cNvSpPr/>
          <p:nvPr/>
        </p:nvSpPr>
        <p:spPr>
          <a:xfrm>
            <a:off x="3227832" y="4279392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96" name="Text 93"/>
          <p:cNvSpPr txBox="1"/>
          <p:nvPr/>
        </p:nvSpPr>
        <p:spPr>
          <a:xfrm>
            <a:off x="3227832" y="4279392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97" name="Text 94"/>
          <p:cNvSpPr txBox="1"/>
          <p:nvPr/>
        </p:nvSpPr>
        <p:spPr>
          <a:xfrm>
            <a:off x="566928" y="4553712"/>
            <a:ext cx="34015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زَحْمَةُ المُرُورِ</a:t>
            </a:r>
            <a:endParaRPr lang="ar-SA" sz="3000" dirty="0"/>
          </a:p>
        </p:txBody>
      </p:sp>
      <p:sp>
        <p:nvSpPr>
          <p:cNvPr id="98" name="Text 95"/>
          <p:cNvSpPr txBox="1"/>
          <p:nvPr/>
        </p:nvSpPr>
        <p:spPr>
          <a:xfrm>
            <a:off x="594360" y="5248656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traffic congestion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zaḥ-ma-tu al-mu-rū-ri</a:t>
            </a:r>
            <a:endParaRPr lang="en-US" sz="1350" dirty="0"/>
          </a:p>
        </p:txBody>
      </p:sp>
      <p:sp>
        <p:nvSpPr>
          <p:cNvPr id="99" name="Shape 96"/>
          <p:cNvSpPr/>
          <p:nvPr/>
        </p:nvSpPr>
        <p:spPr>
          <a:xfrm>
            <a:off x="2322576" y="5779008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100" name="Text 97"/>
          <p:cNvSpPr txBox="1"/>
          <p:nvPr/>
        </p:nvSpPr>
        <p:spPr>
          <a:xfrm>
            <a:off x="2377440" y="5788152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crowded (m.)</a:t>
            </a:r>
            <a:endParaRPr lang="en-US" sz="700" dirty="0"/>
          </a:p>
        </p:txBody>
      </p:sp>
      <p:sp>
        <p:nvSpPr>
          <p:cNvPr id="101" name="Text 98"/>
          <p:cNvSpPr txBox="1"/>
          <p:nvPr/>
        </p:nvSpPr>
        <p:spPr>
          <a:xfrm>
            <a:off x="2368296" y="5916168"/>
            <a:ext cx="1545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مُزْدَحِمٌ</a:t>
            </a:r>
            <a:endParaRPr lang="ar-SA" sz="1350" dirty="0"/>
          </a:p>
        </p:txBody>
      </p:sp>
      <p:sp>
        <p:nvSpPr>
          <p:cNvPr id="102" name="Shape 99"/>
          <p:cNvSpPr/>
          <p:nvPr/>
        </p:nvSpPr>
        <p:spPr>
          <a:xfrm>
            <a:off x="594360" y="5779008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103" name="Text 100"/>
          <p:cNvSpPr txBox="1"/>
          <p:nvPr/>
        </p:nvSpPr>
        <p:spPr>
          <a:xfrm>
            <a:off x="649224" y="5788152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crowded (f.)</a:t>
            </a:r>
            <a:endParaRPr lang="en-US" sz="700" dirty="0"/>
          </a:p>
        </p:txBody>
      </p:sp>
      <p:sp>
        <p:nvSpPr>
          <p:cNvPr id="104" name="Text 101"/>
          <p:cNvSpPr txBox="1"/>
          <p:nvPr/>
        </p:nvSpPr>
        <p:spPr>
          <a:xfrm>
            <a:off x="640080" y="5916168"/>
            <a:ext cx="1545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مُزْدَحِمَةٌ</a:t>
            </a:r>
            <a:endParaRPr lang="ar-SA" sz="1350" dirty="0"/>
          </a:p>
        </p:txBody>
      </p:sp>
      <p:sp>
        <p:nvSpPr>
          <p:cNvPr id="105" name="Text 102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6 / 21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TC-L04 · Speaking practice room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6308446" y="274320"/>
            <a:ext cx="2451506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308446" y="274320"/>
            <a:ext cx="245150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TEACHER INSTRUCTION · 2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STEP 1 · WORD BANK (2)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Causes and effects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الأَسْبَابُ وَالنَّتَائِجُ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C · Speaking practice room · TC-L04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8101584" y="1810512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8211312" y="1920240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8211312" y="19202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7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8604504" y="1938528"/>
            <a:ext cx="1207008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8604504" y="1938528"/>
            <a:ext cx="12070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forests are cut</a:t>
            </a:r>
            <a:endParaRPr lang="en-US" sz="800" dirty="0"/>
          </a:p>
        </p:txBody>
      </p:sp>
      <p:sp>
        <p:nvSpPr>
          <p:cNvPr id="20" name="Shape 17"/>
          <p:cNvSpPr/>
          <p:nvPr/>
        </p:nvSpPr>
        <p:spPr>
          <a:xfrm>
            <a:off x="10872216" y="1938528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10872216" y="1938528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22" name="Text 19"/>
          <p:cNvSpPr txBox="1"/>
          <p:nvPr/>
        </p:nvSpPr>
        <p:spPr>
          <a:xfrm>
            <a:off x="8211312" y="2212848"/>
            <a:ext cx="34015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قَطْعُ الأَشْجَارِ</a:t>
            </a:r>
            <a:endParaRPr lang="ar-SA" sz="3000" dirty="0"/>
          </a:p>
        </p:txBody>
      </p:sp>
      <p:sp>
        <p:nvSpPr>
          <p:cNvPr id="23" name="Text 20"/>
          <p:cNvSpPr txBox="1"/>
          <p:nvPr/>
        </p:nvSpPr>
        <p:spPr>
          <a:xfrm>
            <a:off x="8238744" y="2907792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cutting down trees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qaṭ-ʿu al-ash-jā-ri</a:t>
            </a:r>
            <a:endParaRPr lang="en-US" sz="1350" dirty="0"/>
          </a:p>
        </p:txBody>
      </p:sp>
      <p:sp>
        <p:nvSpPr>
          <p:cNvPr id="24" name="Shape 21"/>
          <p:cNvSpPr/>
          <p:nvPr/>
        </p:nvSpPr>
        <p:spPr>
          <a:xfrm>
            <a:off x="8238744" y="3438144"/>
            <a:ext cx="3364992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8293608" y="3447288"/>
            <a:ext cx="325526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forests are cut</a:t>
            </a:r>
            <a:endParaRPr lang="en-US" sz="700" dirty="0"/>
          </a:p>
        </p:txBody>
      </p:sp>
      <p:sp>
        <p:nvSpPr>
          <p:cNvPr id="26" name="Text 23"/>
          <p:cNvSpPr txBox="1"/>
          <p:nvPr/>
        </p:nvSpPr>
        <p:spPr>
          <a:xfrm>
            <a:off x="8284464" y="3575304"/>
            <a:ext cx="32735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تُقْطَعُ الغَابَاتُ</a:t>
            </a:r>
            <a:endParaRPr lang="ar-SA" sz="1350" dirty="0"/>
          </a:p>
        </p:txBody>
      </p:sp>
      <p:sp>
        <p:nvSpPr>
          <p:cNvPr id="27" name="Shape 24"/>
          <p:cNvSpPr/>
          <p:nvPr/>
        </p:nvSpPr>
        <p:spPr>
          <a:xfrm>
            <a:off x="4279392" y="1810512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28" name="Shape 25"/>
          <p:cNvSpPr/>
          <p:nvPr/>
        </p:nvSpPr>
        <p:spPr>
          <a:xfrm>
            <a:off x="4389120" y="1920240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4389120" y="19202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8</a:t>
            </a:r>
            <a:endParaRPr lang="en-US" sz="1000" dirty="0"/>
          </a:p>
        </p:txBody>
      </p:sp>
      <p:sp>
        <p:nvSpPr>
          <p:cNvPr id="30" name="Shape 27"/>
          <p:cNvSpPr/>
          <p:nvPr/>
        </p:nvSpPr>
        <p:spPr>
          <a:xfrm>
            <a:off x="4782312" y="1938528"/>
            <a:ext cx="1144829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4782312" y="1938528"/>
            <a:ext cx="114482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climate change</a:t>
            </a:r>
            <a:endParaRPr lang="en-US" sz="800" dirty="0"/>
          </a:p>
        </p:txBody>
      </p:sp>
      <p:sp>
        <p:nvSpPr>
          <p:cNvPr id="32" name="Shape 29"/>
          <p:cNvSpPr/>
          <p:nvPr/>
        </p:nvSpPr>
        <p:spPr>
          <a:xfrm>
            <a:off x="7050024" y="1938528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7050024" y="1938528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34" name="Text 31"/>
          <p:cNvSpPr txBox="1"/>
          <p:nvPr/>
        </p:nvSpPr>
        <p:spPr>
          <a:xfrm>
            <a:off x="4389120" y="2212848"/>
            <a:ext cx="34015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الاحْتِبَاسُ الحَرَارِيُّ</a:t>
            </a:r>
            <a:endParaRPr lang="ar-SA" sz="3000" dirty="0"/>
          </a:p>
        </p:txBody>
      </p:sp>
      <p:sp>
        <p:nvSpPr>
          <p:cNvPr id="35" name="Text 32"/>
          <p:cNvSpPr txBox="1"/>
          <p:nvPr/>
        </p:nvSpPr>
        <p:spPr>
          <a:xfrm>
            <a:off x="4416552" y="2907792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global warming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alḥ-ti-bā-su al-ḥa-rā-riy-yu</a:t>
            </a:r>
            <a:endParaRPr lang="en-US" sz="1350" dirty="0"/>
          </a:p>
        </p:txBody>
      </p:sp>
      <p:sp>
        <p:nvSpPr>
          <p:cNvPr id="36" name="Shape 33"/>
          <p:cNvSpPr/>
          <p:nvPr/>
        </p:nvSpPr>
        <p:spPr>
          <a:xfrm>
            <a:off x="4416552" y="3438144"/>
            <a:ext cx="3364992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37" name="Text 34"/>
          <p:cNvSpPr txBox="1"/>
          <p:nvPr/>
        </p:nvSpPr>
        <p:spPr>
          <a:xfrm>
            <a:off x="4471416" y="3447288"/>
            <a:ext cx="325526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climate change</a:t>
            </a:r>
            <a:endParaRPr lang="en-US" sz="700" dirty="0"/>
          </a:p>
        </p:txBody>
      </p:sp>
      <p:sp>
        <p:nvSpPr>
          <p:cNvPr id="38" name="Text 35"/>
          <p:cNvSpPr txBox="1"/>
          <p:nvPr/>
        </p:nvSpPr>
        <p:spPr>
          <a:xfrm>
            <a:off x="4462272" y="3575304"/>
            <a:ext cx="32735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تَغَيُّرُ المُنَاخِ</a:t>
            </a:r>
            <a:endParaRPr lang="ar-SA" sz="1350" dirty="0"/>
          </a:p>
        </p:txBody>
      </p:sp>
      <p:sp>
        <p:nvSpPr>
          <p:cNvPr id="39" name="Shape 36"/>
          <p:cNvSpPr/>
          <p:nvPr/>
        </p:nvSpPr>
        <p:spPr>
          <a:xfrm>
            <a:off x="457200" y="1810512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40" name="Shape 37"/>
          <p:cNvSpPr/>
          <p:nvPr/>
        </p:nvSpPr>
        <p:spPr>
          <a:xfrm>
            <a:off x="566928" y="1920240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41" name="Text 38"/>
          <p:cNvSpPr txBox="1"/>
          <p:nvPr/>
        </p:nvSpPr>
        <p:spPr>
          <a:xfrm>
            <a:off x="566928" y="19202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9</a:t>
            </a:r>
            <a:endParaRPr lang="en-US" sz="1000" dirty="0"/>
          </a:p>
        </p:txBody>
      </p:sp>
      <p:sp>
        <p:nvSpPr>
          <p:cNvPr id="42" name="Shape 39"/>
          <p:cNvSpPr/>
          <p:nvPr/>
        </p:nvSpPr>
        <p:spPr>
          <a:xfrm>
            <a:off x="960120" y="1938528"/>
            <a:ext cx="704088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43" name="Text 40"/>
          <p:cNvSpPr txBox="1"/>
          <p:nvPr/>
        </p:nvSpPr>
        <p:spPr>
          <a:xfrm>
            <a:off x="960120" y="1938528"/>
            <a:ext cx="7040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cause</a:t>
            </a:r>
            <a:endParaRPr lang="en-US" sz="800" dirty="0"/>
          </a:p>
        </p:txBody>
      </p:sp>
      <p:sp>
        <p:nvSpPr>
          <p:cNvPr id="44" name="Shape 41"/>
          <p:cNvSpPr/>
          <p:nvPr/>
        </p:nvSpPr>
        <p:spPr>
          <a:xfrm>
            <a:off x="3227832" y="1938528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5" name="Text 42"/>
          <p:cNvSpPr txBox="1"/>
          <p:nvPr/>
        </p:nvSpPr>
        <p:spPr>
          <a:xfrm>
            <a:off x="3227832" y="1938528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46" name="Text 43"/>
          <p:cNvSpPr txBox="1"/>
          <p:nvPr/>
        </p:nvSpPr>
        <p:spPr>
          <a:xfrm>
            <a:off x="566928" y="2212848"/>
            <a:ext cx="34015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بِسَبَبِ …</a:t>
            </a:r>
            <a:endParaRPr lang="ar-SA" sz="3000" dirty="0"/>
          </a:p>
        </p:txBody>
      </p:sp>
      <p:sp>
        <p:nvSpPr>
          <p:cNvPr id="47" name="Text 44"/>
          <p:cNvSpPr txBox="1"/>
          <p:nvPr/>
        </p:nvSpPr>
        <p:spPr>
          <a:xfrm>
            <a:off x="594360" y="2907792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because of …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bi-sa-ba-bi …</a:t>
            </a:r>
            <a:endParaRPr lang="en-US" sz="1350" dirty="0"/>
          </a:p>
        </p:txBody>
      </p:sp>
      <p:sp>
        <p:nvSpPr>
          <p:cNvPr id="48" name="Shape 45"/>
          <p:cNvSpPr/>
          <p:nvPr/>
        </p:nvSpPr>
        <p:spPr>
          <a:xfrm>
            <a:off x="2322576" y="3438144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49" name="Text 46"/>
          <p:cNvSpPr txBox="1"/>
          <p:nvPr/>
        </p:nvSpPr>
        <p:spPr>
          <a:xfrm>
            <a:off x="2377440" y="3447288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pl.</a:t>
            </a:r>
            <a:endParaRPr lang="en-US" sz="750" dirty="0"/>
          </a:p>
        </p:txBody>
      </p:sp>
      <p:sp>
        <p:nvSpPr>
          <p:cNvPr id="50" name="Text 47"/>
          <p:cNvSpPr txBox="1"/>
          <p:nvPr/>
        </p:nvSpPr>
        <p:spPr>
          <a:xfrm>
            <a:off x="2368296" y="3483864"/>
            <a:ext cx="15453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أَسْبَابٌ</a:t>
            </a:r>
            <a:endParaRPr lang="ar-SA" sz="1500" dirty="0"/>
          </a:p>
        </p:txBody>
      </p:sp>
      <p:sp>
        <p:nvSpPr>
          <p:cNvPr id="51" name="Shape 48"/>
          <p:cNvSpPr/>
          <p:nvPr/>
        </p:nvSpPr>
        <p:spPr>
          <a:xfrm>
            <a:off x="594360" y="3438144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52" name="Text 49"/>
          <p:cNvSpPr txBox="1"/>
          <p:nvPr/>
        </p:nvSpPr>
        <p:spPr>
          <a:xfrm>
            <a:off x="649224" y="3447288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the cause</a:t>
            </a:r>
            <a:endParaRPr lang="en-US" sz="700" dirty="0"/>
          </a:p>
        </p:txBody>
      </p:sp>
      <p:sp>
        <p:nvSpPr>
          <p:cNvPr id="53" name="Text 50"/>
          <p:cNvSpPr txBox="1"/>
          <p:nvPr/>
        </p:nvSpPr>
        <p:spPr>
          <a:xfrm>
            <a:off x="640080" y="3575304"/>
            <a:ext cx="1545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السَّبَبُ</a:t>
            </a:r>
            <a:endParaRPr lang="ar-SA" sz="1350" dirty="0"/>
          </a:p>
        </p:txBody>
      </p:sp>
      <p:sp>
        <p:nvSpPr>
          <p:cNvPr id="54" name="Shape 51"/>
          <p:cNvSpPr/>
          <p:nvPr/>
        </p:nvSpPr>
        <p:spPr>
          <a:xfrm>
            <a:off x="8101584" y="4151376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55" name="Shape 52"/>
          <p:cNvSpPr/>
          <p:nvPr/>
        </p:nvSpPr>
        <p:spPr>
          <a:xfrm>
            <a:off x="8211312" y="4261104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56" name="Text 53"/>
          <p:cNvSpPr txBox="1"/>
          <p:nvPr/>
        </p:nvSpPr>
        <p:spPr>
          <a:xfrm>
            <a:off x="8211312" y="426110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10</a:t>
            </a:r>
            <a:endParaRPr lang="en-US" sz="1000" dirty="0"/>
          </a:p>
        </p:txBody>
      </p:sp>
      <p:sp>
        <p:nvSpPr>
          <p:cNvPr id="57" name="Shape 54"/>
          <p:cNvSpPr/>
          <p:nvPr/>
        </p:nvSpPr>
        <p:spPr>
          <a:xfrm>
            <a:off x="8604504" y="4279392"/>
            <a:ext cx="704088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58" name="Text 55"/>
          <p:cNvSpPr txBox="1"/>
          <p:nvPr/>
        </p:nvSpPr>
        <p:spPr>
          <a:xfrm>
            <a:off x="8604504" y="4279392"/>
            <a:ext cx="7040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effect</a:t>
            </a:r>
            <a:endParaRPr lang="en-US" sz="800" dirty="0"/>
          </a:p>
        </p:txBody>
      </p:sp>
      <p:sp>
        <p:nvSpPr>
          <p:cNvPr id="59" name="Shape 56"/>
          <p:cNvSpPr/>
          <p:nvPr/>
        </p:nvSpPr>
        <p:spPr>
          <a:xfrm>
            <a:off x="10872216" y="4279392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60" name="Text 57"/>
          <p:cNvSpPr txBox="1"/>
          <p:nvPr/>
        </p:nvSpPr>
        <p:spPr>
          <a:xfrm>
            <a:off x="10872216" y="4279392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61" name="Text 58"/>
          <p:cNvSpPr txBox="1"/>
          <p:nvPr/>
        </p:nvSpPr>
        <p:spPr>
          <a:xfrm>
            <a:off x="8211312" y="4553712"/>
            <a:ext cx="34015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يُؤَدِّي إِلَى …</a:t>
            </a:r>
            <a:endParaRPr lang="ar-SA" sz="3000" dirty="0"/>
          </a:p>
        </p:txBody>
      </p:sp>
      <p:sp>
        <p:nvSpPr>
          <p:cNvPr id="62" name="Text 59"/>
          <p:cNvSpPr txBox="1"/>
          <p:nvPr/>
        </p:nvSpPr>
        <p:spPr>
          <a:xfrm>
            <a:off x="8238744" y="5248656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leads to …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yu-ʾad-dī i-lā …</a:t>
            </a:r>
            <a:endParaRPr lang="en-US" sz="1350" dirty="0"/>
          </a:p>
        </p:txBody>
      </p:sp>
      <p:sp>
        <p:nvSpPr>
          <p:cNvPr id="63" name="Shape 60"/>
          <p:cNvSpPr/>
          <p:nvPr/>
        </p:nvSpPr>
        <p:spPr>
          <a:xfrm>
            <a:off x="9966960" y="5779008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64" name="Text 61"/>
          <p:cNvSpPr txBox="1"/>
          <p:nvPr/>
        </p:nvSpPr>
        <p:spPr>
          <a:xfrm>
            <a:off x="10021824" y="5788152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which causes</a:t>
            </a:r>
            <a:endParaRPr lang="en-US" sz="700" dirty="0"/>
          </a:p>
        </p:txBody>
      </p:sp>
      <p:sp>
        <p:nvSpPr>
          <p:cNvPr id="65" name="Text 62"/>
          <p:cNvSpPr txBox="1"/>
          <p:nvPr/>
        </p:nvSpPr>
        <p:spPr>
          <a:xfrm>
            <a:off x="10012680" y="5916168"/>
            <a:ext cx="1545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مِمَّا يُسَبِّبُ</a:t>
            </a:r>
            <a:endParaRPr lang="ar-SA" sz="1350" dirty="0"/>
          </a:p>
        </p:txBody>
      </p:sp>
      <p:sp>
        <p:nvSpPr>
          <p:cNvPr id="66" name="Shape 63"/>
          <p:cNvSpPr/>
          <p:nvPr/>
        </p:nvSpPr>
        <p:spPr>
          <a:xfrm>
            <a:off x="8238744" y="5779008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67" name="Text 64"/>
          <p:cNvSpPr txBox="1"/>
          <p:nvPr/>
        </p:nvSpPr>
        <p:spPr>
          <a:xfrm>
            <a:off x="8293608" y="5788152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f.</a:t>
            </a:r>
            <a:endParaRPr lang="en-US" sz="750" dirty="0"/>
          </a:p>
        </p:txBody>
      </p:sp>
      <p:sp>
        <p:nvSpPr>
          <p:cNvPr id="68" name="Text 65"/>
          <p:cNvSpPr txBox="1"/>
          <p:nvPr/>
        </p:nvSpPr>
        <p:spPr>
          <a:xfrm>
            <a:off x="8284464" y="5824728"/>
            <a:ext cx="15453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تُؤَدِّي إِلَى</a:t>
            </a:r>
            <a:endParaRPr lang="ar-SA" sz="1500" dirty="0"/>
          </a:p>
        </p:txBody>
      </p:sp>
      <p:sp>
        <p:nvSpPr>
          <p:cNvPr id="69" name="Shape 66"/>
          <p:cNvSpPr/>
          <p:nvPr/>
        </p:nvSpPr>
        <p:spPr>
          <a:xfrm>
            <a:off x="4279392" y="4151376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70" name="Shape 67"/>
          <p:cNvSpPr/>
          <p:nvPr/>
        </p:nvSpPr>
        <p:spPr>
          <a:xfrm>
            <a:off x="4389120" y="4261104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71" name="Text 68"/>
          <p:cNvSpPr txBox="1"/>
          <p:nvPr/>
        </p:nvSpPr>
        <p:spPr>
          <a:xfrm>
            <a:off x="4389120" y="426110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11</a:t>
            </a:r>
            <a:endParaRPr lang="en-US" sz="1000" dirty="0"/>
          </a:p>
        </p:txBody>
      </p:sp>
      <p:sp>
        <p:nvSpPr>
          <p:cNvPr id="72" name="Shape 69"/>
          <p:cNvSpPr/>
          <p:nvPr/>
        </p:nvSpPr>
        <p:spPr>
          <a:xfrm>
            <a:off x="4782312" y="4279392"/>
            <a:ext cx="896112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73" name="Text 70"/>
          <p:cNvSpPr txBox="1"/>
          <p:nvPr/>
        </p:nvSpPr>
        <p:spPr>
          <a:xfrm>
            <a:off x="4782312" y="4279392"/>
            <a:ext cx="8961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f. · harms</a:t>
            </a:r>
            <a:endParaRPr lang="en-US" sz="800" dirty="0"/>
          </a:p>
        </p:txBody>
      </p:sp>
      <p:sp>
        <p:nvSpPr>
          <p:cNvPr id="74" name="Shape 71"/>
          <p:cNvSpPr/>
          <p:nvPr/>
        </p:nvSpPr>
        <p:spPr>
          <a:xfrm>
            <a:off x="7050024" y="4279392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75" name="Text 72"/>
          <p:cNvSpPr txBox="1"/>
          <p:nvPr/>
        </p:nvSpPr>
        <p:spPr>
          <a:xfrm>
            <a:off x="7050024" y="4279392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76" name="Text 73"/>
          <p:cNvSpPr txBox="1"/>
          <p:nvPr/>
        </p:nvSpPr>
        <p:spPr>
          <a:xfrm>
            <a:off x="4389120" y="4553712"/>
            <a:ext cx="34015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خَطِيرٌ · ضَارٌّ</a:t>
            </a:r>
            <a:endParaRPr lang="ar-SA" sz="3000" dirty="0"/>
          </a:p>
        </p:txBody>
      </p:sp>
      <p:sp>
        <p:nvSpPr>
          <p:cNvPr id="77" name="Text 74"/>
          <p:cNvSpPr txBox="1"/>
          <p:nvPr/>
        </p:nvSpPr>
        <p:spPr>
          <a:xfrm>
            <a:off x="4416552" y="5248656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dangerous · harmful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kha-ṭī-run · ḍār-run</a:t>
            </a:r>
            <a:endParaRPr lang="en-US" sz="1350" dirty="0"/>
          </a:p>
        </p:txBody>
      </p:sp>
      <p:sp>
        <p:nvSpPr>
          <p:cNvPr id="78" name="Shape 75"/>
          <p:cNvSpPr/>
          <p:nvPr/>
        </p:nvSpPr>
        <p:spPr>
          <a:xfrm>
            <a:off x="6144768" y="5779008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79" name="Text 76"/>
          <p:cNvSpPr txBox="1"/>
          <p:nvPr/>
        </p:nvSpPr>
        <p:spPr>
          <a:xfrm>
            <a:off x="6199632" y="5788152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harms</a:t>
            </a:r>
            <a:endParaRPr lang="en-US" sz="700" dirty="0"/>
          </a:p>
        </p:txBody>
      </p:sp>
      <p:sp>
        <p:nvSpPr>
          <p:cNvPr id="80" name="Text 77"/>
          <p:cNvSpPr txBox="1"/>
          <p:nvPr/>
        </p:nvSpPr>
        <p:spPr>
          <a:xfrm>
            <a:off x="6190488" y="5916168"/>
            <a:ext cx="1545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يَضُرُّ بِالبِيئَةِ</a:t>
            </a:r>
            <a:endParaRPr lang="ar-SA" sz="1350" dirty="0"/>
          </a:p>
        </p:txBody>
      </p:sp>
      <p:sp>
        <p:nvSpPr>
          <p:cNvPr id="81" name="Shape 78"/>
          <p:cNvSpPr/>
          <p:nvPr/>
        </p:nvSpPr>
        <p:spPr>
          <a:xfrm>
            <a:off x="4416552" y="5779008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82" name="Text 79"/>
          <p:cNvSpPr txBox="1"/>
          <p:nvPr/>
        </p:nvSpPr>
        <p:spPr>
          <a:xfrm>
            <a:off x="4471416" y="5788152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f.</a:t>
            </a:r>
            <a:endParaRPr lang="en-US" sz="750" dirty="0"/>
          </a:p>
        </p:txBody>
      </p:sp>
      <p:sp>
        <p:nvSpPr>
          <p:cNvPr id="83" name="Text 80"/>
          <p:cNvSpPr txBox="1"/>
          <p:nvPr/>
        </p:nvSpPr>
        <p:spPr>
          <a:xfrm>
            <a:off x="4462272" y="5824728"/>
            <a:ext cx="15453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خَطِيرَةٌ · ضَارَّةٌ</a:t>
            </a:r>
            <a:endParaRPr lang="ar-SA" sz="1500" dirty="0"/>
          </a:p>
        </p:txBody>
      </p:sp>
      <p:sp>
        <p:nvSpPr>
          <p:cNvPr id="84" name="Shape 81"/>
          <p:cNvSpPr/>
          <p:nvPr/>
        </p:nvSpPr>
        <p:spPr>
          <a:xfrm>
            <a:off x="457200" y="4151376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85" name="Shape 82"/>
          <p:cNvSpPr/>
          <p:nvPr/>
        </p:nvSpPr>
        <p:spPr>
          <a:xfrm>
            <a:off x="566928" y="4261104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86" name="Text 83"/>
          <p:cNvSpPr txBox="1"/>
          <p:nvPr/>
        </p:nvSpPr>
        <p:spPr>
          <a:xfrm>
            <a:off x="566928" y="426110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12</a:t>
            </a:r>
            <a:endParaRPr lang="en-US" sz="1000" dirty="0"/>
          </a:p>
        </p:txBody>
      </p:sp>
      <p:sp>
        <p:nvSpPr>
          <p:cNvPr id="87" name="Shape 84"/>
          <p:cNvSpPr/>
          <p:nvPr/>
        </p:nvSpPr>
        <p:spPr>
          <a:xfrm>
            <a:off x="960120" y="4279392"/>
            <a:ext cx="1082650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88" name="Text 85"/>
          <p:cNvSpPr txBox="1"/>
          <p:nvPr/>
        </p:nvSpPr>
        <p:spPr>
          <a:xfrm>
            <a:off x="960120" y="4279392"/>
            <a:ext cx="108265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pl. · serious</a:t>
            </a:r>
            <a:endParaRPr lang="en-US" sz="800" dirty="0"/>
          </a:p>
        </p:txBody>
      </p:sp>
      <p:sp>
        <p:nvSpPr>
          <p:cNvPr id="89" name="Shape 86"/>
          <p:cNvSpPr/>
          <p:nvPr/>
        </p:nvSpPr>
        <p:spPr>
          <a:xfrm>
            <a:off x="3227832" y="4279392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90" name="Text 87"/>
          <p:cNvSpPr txBox="1"/>
          <p:nvPr/>
        </p:nvSpPr>
        <p:spPr>
          <a:xfrm>
            <a:off x="3227832" y="4279392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91" name="Text 88"/>
          <p:cNvSpPr txBox="1"/>
          <p:nvPr/>
        </p:nvSpPr>
        <p:spPr>
          <a:xfrm>
            <a:off x="566928" y="4553712"/>
            <a:ext cx="34015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مُشْكِلَةٌ</a:t>
            </a:r>
            <a:endParaRPr lang="ar-SA" sz="3000" dirty="0"/>
          </a:p>
        </p:txBody>
      </p:sp>
      <p:sp>
        <p:nvSpPr>
          <p:cNvPr id="92" name="Text 89"/>
          <p:cNvSpPr txBox="1"/>
          <p:nvPr/>
        </p:nvSpPr>
        <p:spPr>
          <a:xfrm>
            <a:off x="594360" y="5248656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a problem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mush-ki-la-tun</a:t>
            </a:r>
            <a:endParaRPr lang="en-US" sz="1350" dirty="0"/>
          </a:p>
        </p:txBody>
      </p:sp>
      <p:sp>
        <p:nvSpPr>
          <p:cNvPr id="93" name="Shape 90"/>
          <p:cNvSpPr/>
          <p:nvPr/>
        </p:nvSpPr>
        <p:spPr>
          <a:xfrm>
            <a:off x="2322576" y="5779008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94" name="Text 91"/>
          <p:cNvSpPr txBox="1"/>
          <p:nvPr/>
        </p:nvSpPr>
        <p:spPr>
          <a:xfrm>
            <a:off x="2377440" y="5788152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serious</a:t>
            </a:r>
            <a:endParaRPr lang="en-US" sz="700" dirty="0"/>
          </a:p>
        </p:txBody>
      </p:sp>
      <p:sp>
        <p:nvSpPr>
          <p:cNvPr id="95" name="Text 92"/>
          <p:cNvSpPr txBox="1"/>
          <p:nvPr/>
        </p:nvSpPr>
        <p:spPr>
          <a:xfrm>
            <a:off x="2368296" y="5916168"/>
            <a:ext cx="1545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مُشْكِلَةٌ كَبِيرَةٌ</a:t>
            </a:r>
            <a:endParaRPr lang="ar-SA" sz="1350" dirty="0"/>
          </a:p>
        </p:txBody>
      </p:sp>
      <p:sp>
        <p:nvSpPr>
          <p:cNvPr id="96" name="Shape 93"/>
          <p:cNvSpPr/>
          <p:nvPr/>
        </p:nvSpPr>
        <p:spPr>
          <a:xfrm>
            <a:off x="594360" y="5779008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97" name="Text 94"/>
          <p:cNvSpPr txBox="1"/>
          <p:nvPr/>
        </p:nvSpPr>
        <p:spPr>
          <a:xfrm>
            <a:off x="649224" y="5788152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pl.</a:t>
            </a:r>
            <a:endParaRPr lang="en-US" sz="750" dirty="0"/>
          </a:p>
        </p:txBody>
      </p:sp>
      <p:sp>
        <p:nvSpPr>
          <p:cNvPr id="98" name="Text 95"/>
          <p:cNvSpPr txBox="1"/>
          <p:nvPr/>
        </p:nvSpPr>
        <p:spPr>
          <a:xfrm>
            <a:off x="640080" y="5824728"/>
            <a:ext cx="15453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مَشَاكِلُ · مُشْكِلَاتٌ</a:t>
            </a:r>
            <a:endParaRPr lang="ar-SA" sz="1500" dirty="0"/>
          </a:p>
        </p:txBody>
      </p:sp>
      <p:sp>
        <p:nvSpPr>
          <p:cNvPr id="99" name="Text 96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7 / 21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TC-L04 · Speaking practice room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6308446" y="274320"/>
            <a:ext cx="2451506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308446" y="274320"/>
            <a:ext cx="245150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TEACHER INSTRUCTION · 2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150" kern="0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STEP 2 · THE ANSWER LADDER · HOW A SHORT ANSWER BECOMES A STRONG ONE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5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Climb the ladder: “What is the biggest environmental problem in your city?”</a:t>
            </a:r>
            <a:endParaRPr lang="en-US" sz="175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75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مَا أَكْبَرُ مُشْكِلَةٍ بِيئِيَّةٍ فِي مَدِينَتِكَ؟</a:t>
            </a:r>
            <a:endParaRPr lang="ar-SA" sz="275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C · Speaking practice room · TC-L04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1028700"/>
          </a:xfrm>
          <a:prstGeom prst="roundRect">
            <a:avLst>
              <a:gd name="adj" fmla="val 7111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11201400" y="2123694"/>
            <a:ext cx="402336" cy="402336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11201400" y="212369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300" dirty="0"/>
          </a:p>
        </p:txBody>
      </p:sp>
      <p:sp>
        <p:nvSpPr>
          <p:cNvPr id="18" name="Text 15"/>
          <p:cNvSpPr txBox="1"/>
          <p:nvPr/>
        </p:nvSpPr>
        <p:spPr>
          <a:xfrm>
            <a:off x="4572000" y="1847088"/>
            <a:ext cx="6492240" cy="9555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أَكْبَرُ مُشْكِلَةٍ هِيَ تَلَوُّثُ الهَوَاءِ.</a:t>
            </a:r>
            <a:endParaRPr lang="ar-SA" sz="2600" dirty="0"/>
          </a:p>
        </p:txBody>
      </p:sp>
      <p:sp>
        <p:nvSpPr>
          <p:cNvPr id="19" name="Text 16"/>
          <p:cNvSpPr txBox="1"/>
          <p:nvPr/>
        </p:nvSpPr>
        <p:spPr>
          <a:xfrm>
            <a:off x="685800" y="1856232"/>
            <a:ext cx="3749040" cy="9372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Level 1 · Answer in a full sentence</a:t>
            </a:r>
            <a:endParaRPr lang="en-US" sz="1250" dirty="0"/>
          </a:p>
          <a:p>
            <a:pPr indent="0" marL="0">
              <a:buNone/>
            </a:pPr>
            <a:r>
              <a:rPr lang="en-US" sz="1050" i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The biggest problem is air pollution.</a:t>
            </a:r>
            <a:endParaRPr lang="en-US" sz="1250" dirty="0"/>
          </a:p>
        </p:txBody>
      </p:sp>
      <p:sp>
        <p:nvSpPr>
          <p:cNvPr id="20" name="Shape 17"/>
          <p:cNvSpPr/>
          <p:nvPr/>
        </p:nvSpPr>
        <p:spPr>
          <a:xfrm>
            <a:off x="457200" y="2967228"/>
            <a:ext cx="11274552" cy="1028700"/>
          </a:xfrm>
          <a:prstGeom prst="roundRect">
            <a:avLst>
              <a:gd name="adj" fmla="val 7111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11201400" y="3280410"/>
            <a:ext cx="402336" cy="402336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11201400" y="328041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300" dirty="0"/>
          </a:p>
        </p:txBody>
      </p:sp>
      <p:sp>
        <p:nvSpPr>
          <p:cNvPr id="23" name="Text 20"/>
          <p:cNvSpPr txBox="1"/>
          <p:nvPr/>
        </p:nvSpPr>
        <p:spPr>
          <a:xfrm>
            <a:off x="4572000" y="3003804"/>
            <a:ext cx="6492240" cy="9555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أَكْبَرُ مُشْكِلَةٍ هِيَ تَلَوُّثُ الهَوَاءِ بِسَبَبِ زَحْمَةِ المُرُورِ.</a:t>
            </a:r>
            <a:endParaRPr lang="ar-SA" sz="2600" dirty="0"/>
          </a:p>
        </p:txBody>
      </p:sp>
      <p:sp>
        <p:nvSpPr>
          <p:cNvPr id="24" name="Text 21"/>
          <p:cNvSpPr txBox="1"/>
          <p:nvPr/>
        </p:nvSpPr>
        <p:spPr>
          <a:xfrm>
            <a:off x="685800" y="3012948"/>
            <a:ext cx="3749040" cy="9372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Level 2 · + a reason</a:t>
            </a:r>
            <a:endParaRPr lang="en-US" sz="1250" dirty="0"/>
          </a:p>
          <a:p>
            <a:pPr indent="0" marL="0">
              <a:buNone/>
            </a:pPr>
            <a:r>
              <a:rPr lang="en-US" sz="1050" i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… because of traffic congestion.</a:t>
            </a:r>
            <a:endParaRPr lang="en-US" sz="1250" dirty="0"/>
          </a:p>
        </p:txBody>
      </p:sp>
      <p:sp>
        <p:nvSpPr>
          <p:cNvPr id="25" name="Shape 22"/>
          <p:cNvSpPr/>
          <p:nvPr/>
        </p:nvSpPr>
        <p:spPr>
          <a:xfrm>
            <a:off x="457200" y="4123944"/>
            <a:ext cx="11274552" cy="1028700"/>
          </a:xfrm>
          <a:prstGeom prst="roundRect">
            <a:avLst>
              <a:gd name="adj" fmla="val 7111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26" name="Shape 23"/>
          <p:cNvSpPr/>
          <p:nvPr/>
        </p:nvSpPr>
        <p:spPr>
          <a:xfrm>
            <a:off x="11201400" y="4437126"/>
            <a:ext cx="402336" cy="402336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11201400" y="443712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300" dirty="0"/>
          </a:p>
        </p:txBody>
      </p:sp>
      <p:sp>
        <p:nvSpPr>
          <p:cNvPr id="28" name="Text 25"/>
          <p:cNvSpPr txBox="1"/>
          <p:nvPr/>
        </p:nvSpPr>
        <p:spPr>
          <a:xfrm>
            <a:off x="4572000" y="4160520"/>
            <a:ext cx="6492240" cy="9555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2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… فَدُخَانُ السَّيَّارَاتِ يُلَوِّثُ الهَوَاءَ، مِمَّا يُسَبِّبُ أَمْرَاضًا مِثْلَ الرَّبْوِ.</a:t>
            </a:r>
            <a:endParaRPr lang="ar-SA" sz="2250" dirty="0"/>
          </a:p>
        </p:txBody>
      </p:sp>
      <p:sp>
        <p:nvSpPr>
          <p:cNvPr id="29" name="Text 26"/>
          <p:cNvSpPr txBox="1"/>
          <p:nvPr/>
        </p:nvSpPr>
        <p:spPr>
          <a:xfrm>
            <a:off x="685800" y="4169664"/>
            <a:ext cx="3749040" cy="9372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Level 3 · + a detail (time, frequency, example)</a:t>
            </a:r>
            <a:endParaRPr lang="en-US" sz="1250" dirty="0"/>
          </a:p>
          <a:p>
            <a:pPr indent="0" marL="0">
              <a:buNone/>
            </a:pPr>
            <a:r>
              <a:rPr lang="en-US" sz="1050" i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… car fumes pollute the air, which causes illnesses like asthma.</a:t>
            </a:r>
            <a:endParaRPr lang="en-US" sz="1250" dirty="0"/>
          </a:p>
        </p:txBody>
      </p:sp>
      <p:sp>
        <p:nvSpPr>
          <p:cNvPr id="30" name="Shape 27"/>
          <p:cNvSpPr/>
          <p:nvPr/>
        </p:nvSpPr>
        <p:spPr>
          <a:xfrm>
            <a:off x="457200" y="5280660"/>
            <a:ext cx="11274552" cy="1028700"/>
          </a:xfrm>
          <a:prstGeom prst="roundRect">
            <a:avLst>
              <a:gd name="adj" fmla="val 7111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31" name="Shape 28"/>
          <p:cNvSpPr/>
          <p:nvPr/>
        </p:nvSpPr>
        <p:spPr>
          <a:xfrm>
            <a:off x="11201400" y="5593842"/>
            <a:ext cx="402336" cy="402336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11201400" y="559384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300" dirty="0"/>
          </a:p>
        </p:txBody>
      </p:sp>
      <p:sp>
        <p:nvSpPr>
          <p:cNvPr id="33" name="Text 30"/>
          <p:cNvSpPr txBox="1"/>
          <p:nvPr/>
        </p:nvSpPr>
        <p:spPr>
          <a:xfrm>
            <a:off x="4572000" y="5317236"/>
            <a:ext cx="6492240" cy="9555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ct val="120000"/>
              </a:lnSpc>
              <a:buNone/>
            </a:pPr>
            <a:r>
              <a:rPr lang="ar-SA" altLang="en-US" sz="21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… أَخِي الصَّغِيرُ مُصَابٌ بِالرَّبْوِ، لِذٰلِكَ أَرَى أَنَّ هٰذِهِ المُشْكِلَةَ خَطِيرَةٌ جِدًّا.</a:t>
            </a:r>
            <a:endParaRPr lang="ar-SA" sz="2100" dirty="0"/>
          </a:p>
        </p:txBody>
      </p:sp>
      <p:sp>
        <p:nvSpPr>
          <p:cNvPr id="34" name="Text 31"/>
          <p:cNvSpPr txBox="1"/>
          <p:nvPr/>
        </p:nvSpPr>
        <p:spPr>
          <a:xfrm>
            <a:off x="685800" y="5326380"/>
            <a:ext cx="3749040" cy="9372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Level 4 · + another time frame or an opinion</a:t>
            </a:r>
            <a:endParaRPr lang="en-US" sz="1250" dirty="0"/>
          </a:p>
          <a:p>
            <a:pPr indent="0" marL="0">
              <a:buNone/>
            </a:pPr>
            <a:r>
              <a:rPr lang="en-US" sz="1050" i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… my little brother has asthma, so I think this problem is very serious.</a:t>
            </a:r>
            <a:endParaRPr lang="en-US" sz="1250" dirty="0"/>
          </a:p>
        </p:txBody>
      </p:sp>
      <p:sp>
        <p:nvSpPr>
          <p:cNvPr id="35" name="Text 32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8 / 21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TC-L04 · Speaking practice room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370978" y="274320"/>
            <a:ext cx="1388974" cy="329184"/>
          </a:xfrm>
          <a:prstGeom prst="roundRect">
            <a:avLst>
              <a:gd name="adj" fmla="val 50000"/>
            </a:avLst>
          </a:prstGeom>
          <a:solidFill>
            <a:srgbClr val="2F6FB0"/>
          </a:solidFill>
          <a:ln w="12700">
            <a:solidFill>
              <a:srgbClr val="2F6FB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370978" y="274320"/>
            <a:ext cx="138897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WE DO · 6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2F6FB0"/>
                </a:solidFill>
                <a:latin typeface="Calibri" pitchFamily="34" charset="0"/>
                <a:cs typeface="Amiri" pitchFamily="2" charset="-78"/>
              </a:rPr>
              <a:t>STEP 2 · YOUR TURN · CLIMB THE LADDER FOR EACH QUESTION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Your ladder: build each answer level by level</a:t>
            </a:r>
            <a:endParaRPr lang="en-US" sz="22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اصْعَدِ السُّلَّمَ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C · Speaking practice room · TC-L04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9445752" y="1810512"/>
            <a:ext cx="22128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Level 3–4 · + detail / time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7068312" y="1810512"/>
            <a:ext cx="22311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Level 2 · + reason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4599432" y="1810512"/>
            <a:ext cx="23225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Level 1 · answer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1033272" y="1810512"/>
            <a:ext cx="34198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Question</a:t>
            </a:r>
            <a:endParaRPr lang="en-US" sz="1100" dirty="0"/>
          </a:p>
        </p:txBody>
      </p:sp>
      <p:sp>
        <p:nvSpPr>
          <p:cNvPr id="20" name="Text 17"/>
          <p:cNvSpPr txBox="1"/>
          <p:nvPr/>
        </p:nvSpPr>
        <p:spPr>
          <a:xfrm>
            <a:off x="530352" y="1810512"/>
            <a:ext cx="356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#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457200" y="2267712"/>
            <a:ext cx="11274552" cy="73152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9464040" y="2267712"/>
            <a:ext cx="21762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… مَثَلًا فِي لَنْدَنَ …</a:t>
            </a:r>
            <a:endParaRPr lang="ar-SA" sz="1500" dirty="0"/>
          </a:p>
        </p:txBody>
      </p:sp>
      <p:sp>
        <p:nvSpPr>
          <p:cNvPr id="23" name="Text 20"/>
          <p:cNvSpPr txBox="1"/>
          <p:nvPr/>
        </p:nvSpPr>
        <p:spPr>
          <a:xfrm>
            <a:off x="7086600" y="2267712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… مِمَّا يُسَبِّبُ …</a:t>
            </a:r>
            <a:endParaRPr lang="ar-SA" sz="1500" dirty="0"/>
          </a:p>
        </p:txBody>
      </p:sp>
      <p:sp>
        <p:nvSpPr>
          <p:cNvPr id="24" name="Text 21"/>
          <p:cNvSpPr txBox="1"/>
          <p:nvPr/>
        </p:nvSpPr>
        <p:spPr>
          <a:xfrm>
            <a:off x="4617720" y="2267712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بِسَبَبِ …</a:t>
            </a:r>
            <a:endParaRPr lang="ar-SA" sz="1500" dirty="0"/>
          </a:p>
        </p:txBody>
      </p:sp>
      <p:sp>
        <p:nvSpPr>
          <p:cNvPr id="25" name="Text 22"/>
          <p:cNvSpPr txBox="1"/>
          <p:nvPr/>
        </p:nvSpPr>
        <p:spPr>
          <a:xfrm>
            <a:off x="1051560" y="2267712"/>
            <a:ext cx="3383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لِمَاذَا الهَوَاءُ مُلَوَّثٌ فِي المُدُنِ الكَبِيرَةِ؟</a:t>
            </a:r>
            <a:endParaRPr lang="ar-SA" sz="1600" dirty="0"/>
          </a:p>
        </p:txBody>
      </p:sp>
      <p:sp>
        <p:nvSpPr>
          <p:cNvPr id="26" name="Text 23"/>
          <p:cNvSpPr txBox="1"/>
          <p:nvPr/>
        </p:nvSpPr>
        <p:spPr>
          <a:xfrm>
            <a:off x="566928" y="2267712"/>
            <a:ext cx="320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27" name="Shape 24"/>
          <p:cNvSpPr/>
          <p:nvPr/>
        </p:nvSpPr>
        <p:spPr>
          <a:xfrm>
            <a:off x="11091672" y="2313432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11091672" y="2313432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29" name="Shape 26"/>
          <p:cNvSpPr/>
          <p:nvPr/>
        </p:nvSpPr>
        <p:spPr>
          <a:xfrm>
            <a:off x="457200" y="3054096"/>
            <a:ext cx="11274552" cy="731520"/>
          </a:xfrm>
          <a:prstGeom prst="roundRect">
            <a:avLst>
              <a:gd name="adj" fmla="val 6250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9464040" y="3054096"/>
            <a:ext cx="21762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… وَفِي رَأْيِي …</a:t>
            </a:r>
            <a:endParaRPr lang="ar-SA" sz="1500" dirty="0"/>
          </a:p>
        </p:txBody>
      </p:sp>
      <p:sp>
        <p:nvSpPr>
          <p:cNvPr id="31" name="Text 28"/>
          <p:cNvSpPr txBox="1"/>
          <p:nvPr/>
        </p:nvSpPr>
        <p:spPr>
          <a:xfrm>
            <a:off x="7086600" y="3054096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… وَيُؤَدِّي ذٰلِكَ إِلَى …</a:t>
            </a:r>
            <a:endParaRPr lang="ar-SA" sz="1500" dirty="0"/>
          </a:p>
        </p:txBody>
      </p:sp>
      <p:sp>
        <p:nvSpPr>
          <p:cNvPr id="32" name="Text 29"/>
          <p:cNvSpPr txBox="1"/>
          <p:nvPr/>
        </p:nvSpPr>
        <p:spPr>
          <a:xfrm>
            <a:off x="4617720" y="3054096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تَفْقِدُ الحَيَوَانَاتُ …</a:t>
            </a:r>
            <a:endParaRPr lang="ar-SA" sz="1500" dirty="0"/>
          </a:p>
        </p:txBody>
      </p:sp>
      <p:sp>
        <p:nvSpPr>
          <p:cNvPr id="33" name="Text 30"/>
          <p:cNvSpPr txBox="1"/>
          <p:nvPr/>
        </p:nvSpPr>
        <p:spPr>
          <a:xfrm>
            <a:off x="1051560" y="3054096"/>
            <a:ext cx="3383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مَاذَا يَحْدُثُ عِنْدَمَا تُقْطَعُ الغَابَاتُ؟</a:t>
            </a:r>
            <a:endParaRPr lang="ar-SA" sz="1600" dirty="0"/>
          </a:p>
        </p:txBody>
      </p:sp>
      <p:sp>
        <p:nvSpPr>
          <p:cNvPr id="34" name="Text 31"/>
          <p:cNvSpPr txBox="1"/>
          <p:nvPr/>
        </p:nvSpPr>
        <p:spPr>
          <a:xfrm>
            <a:off x="566928" y="3054096"/>
            <a:ext cx="320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35" name="Shape 32"/>
          <p:cNvSpPr/>
          <p:nvPr/>
        </p:nvSpPr>
        <p:spPr>
          <a:xfrm>
            <a:off x="11091672" y="3099816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11091672" y="3099816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37" name="Shape 34"/>
          <p:cNvSpPr/>
          <p:nvPr/>
        </p:nvSpPr>
        <p:spPr>
          <a:xfrm>
            <a:off x="457200" y="3840480"/>
            <a:ext cx="11274552" cy="73152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8" name="Text 35"/>
          <p:cNvSpPr txBox="1"/>
          <p:nvPr/>
        </p:nvSpPr>
        <p:spPr>
          <a:xfrm>
            <a:off x="9464040" y="3840480"/>
            <a:ext cx="21762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… وَأَمْسِ رَأَيْتُ …</a:t>
            </a:r>
            <a:endParaRPr lang="ar-SA" sz="1500" dirty="0"/>
          </a:p>
        </p:txBody>
      </p:sp>
      <p:sp>
        <p:nvSpPr>
          <p:cNvPr id="39" name="Text 36"/>
          <p:cNvSpPr txBox="1"/>
          <p:nvPr/>
        </p:nvSpPr>
        <p:spPr>
          <a:xfrm>
            <a:off x="7086600" y="384048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… لِأَنَّ النَّاسَ …</a:t>
            </a:r>
            <a:endParaRPr lang="ar-SA" sz="1500" dirty="0"/>
          </a:p>
        </p:txBody>
      </p:sp>
      <p:sp>
        <p:nvSpPr>
          <p:cNvPr id="40" name="Text 37"/>
          <p:cNvSpPr txBox="1"/>
          <p:nvPr/>
        </p:nvSpPr>
        <p:spPr>
          <a:xfrm>
            <a:off x="4617720" y="3840480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نَعَمْ / لَا، …</a:t>
            </a:r>
            <a:endParaRPr lang="ar-SA" sz="1500" dirty="0"/>
          </a:p>
        </p:txBody>
      </p:sp>
      <p:sp>
        <p:nvSpPr>
          <p:cNvPr id="41" name="Text 38"/>
          <p:cNvSpPr txBox="1"/>
          <p:nvPr/>
        </p:nvSpPr>
        <p:spPr>
          <a:xfrm>
            <a:off x="1051560" y="3840480"/>
            <a:ext cx="3383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هَلْ تُوجَدُ نُفَايَاتٌ فِي شَوَارِعِ حَيِّكَ؟</a:t>
            </a:r>
            <a:endParaRPr lang="ar-SA" sz="1600" dirty="0"/>
          </a:p>
        </p:txBody>
      </p:sp>
      <p:sp>
        <p:nvSpPr>
          <p:cNvPr id="42" name="Text 39"/>
          <p:cNvSpPr txBox="1"/>
          <p:nvPr/>
        </p:nvSpPr>
        <p:spPr>
          <a:xfrm>
            <a:off x="566928" y="3840480"/>
            <a:ext cx="320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43" name="Shape 40"/>
          <p:cNvSpPr/>
          <p:nvPr/>
        </p:nvSpPr>
        <p:spPr>
          <a:xfrm>
            <a:off x="457200" y="4626864"/>
            <a:ext cx="11274552" cy="731520"/>
          </a:xfrm>
          <a:prstGeom prst="roundRect">
            <a:avLst>
              <a:gd name="adj" fmla="val 6250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4" name="Text 41"/>
          <p:cNvSpPr txBox="1"/>
          <p:nvPr/>
        </p:nvSpPr>
        <p:spPr>
          <a:xfrm>
            <a:off x="9464040" y="4626864"/>
            <a:ext cx="21762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… وَلَوْ … لَكَانَ …</a:t>
            </a:r>
            <a:endParaRPr lang="ar-SA" sz="1500" dirty="0"/>
          </a:p>
        </p:txBody>
      </p:sp>
      <p:sp>
        <p:nvSpPr>
          <p:cNvPr id="45" name="Text 42"/>
          <p:cNvSpPr txBox="1"/>
          <p:nvPr/>
        </p:nvSpPr>
        <p:spPr>
          <a:xfrm>
            <a:off x="7086600" y="4626864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… لِأَنَّهُ …</a:t>
            </a:r>
            <a:endParaRPr lang="ar-SA" sz="1500" dirty="0"/>
          </a:p>
        </p:txBody>
      </p:sp>
      <p:sp>
        <p:nvSpPr>
          <p:cNvPr id="46" name="Text 43"/>
          <p:cNvSpPr txBox="1"/>
          <p:nvPr/>
        </p:nvSpPr>
        <p:spPr>
          <a:xfrm>
            <a:off x="4617720" y="4626864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فِي رَأْيِي البْلَاسْتِيكُ …</a:t>
            </a:r>
            <a:endParaRPr lang="ar-SA" sz="1500" dirty="0"/>
          </a:p>
        </p:txBody>
      </p:sp>
      <p:sp>
        <p:nvSpPr>
          <p:cNvPr id="47" name="Text 44"/>
          <p:cNvSpPr txBox="1"/>
          <p:nvPr/>
        </p:nvSpPr>
        <p:spPr>
          <a:xfrm>
            <a:off x="1051560" y="4626864"/>
            <a:ext cx="3383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مَا رَأْيُكَ فِي البْلَاسْتِيكِ؟</a:t>
            </a:r>
            <a:endParaRPr lang="ar-SA" sz="1600" dirty="0"/>
          </a:p>
        </p:txBody>
      </p:sp>
      <p:sp>
        <p:nvSpPr>
          <p:cNvPr id="48" name="Text 45"/>
          <p:cNvSpPr txBox="1"/>
          <p:nvPr/>
        </p:nvSpPr>
        <p:spPr>
          <a:xfrm>
            <a:off x="566928" y="4626864"/>
            <a:ext cx="320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49" name="Text 46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Leader asks · Speaker climbs as high as they can · Coach says which level they reached. Swap for each question.</a:t>
            </a:r>
            <a:endParaRPr lang="en-US" sz="1150" dirty="0"/>
          </a:p>
        </p:txBody>
      </p:sp>
      <p:sp>
        <p:nvSpPr>
          <p:cNvPr id="50" name="Text 47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9 / 21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TC-L04 · Speaking practice room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6308446" y="274320"/>
            <a:ext cx="2451506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308446" y="274320"/>
            <a:ext cx="245150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TEACHER INSTRUCTION · 2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150" kern="0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STEP 3 · ROLE PLAY · HOW TO USE YOUR 1 MINUTE OF PREPARATION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5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Plan a role-play card in one minute</a:t>
            </a:r>
            <a:endParaRPr lang="en-US" sz="275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خَطِّطْ فِي دَقِيقَةٍ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C · Speaking practice room · TC-L04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6172200" cy="4498848"/>
          </a:xfrm>
          <a:prstGeom prst="roundRect">
            <a:avLst>
              <a:gd name="adj" fmla="val 1626"/>
            </a:avLst>
          </a:prstGeom>
          <a:solidFill>
            <a:srgbClr val="F7F9FC"/>
          </a:solidFill>
          <a:ln w="9525">
            <a:solidFill>
              <a:srgbClr val="C9D6EA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16" name="Text 13"/>
          <p:cNvSpPr txBox="1"/>
          <p:nvPr/>
        </p:nvSpPr>
        <p:spPr>
          <a:xfrm>
            <a:off x="658368" y="1883664"/>
            <a:ext cx="5806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FOUR MOVES IN ONE MINUTE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658368" y="2286000"/>
            <a:ext cx="310896" cy="310896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658368" y="22860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1078992" y="2176272"/>
            <a:ext cx="5394960" cy="9738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WHO am I and WHO is the examiner? (formal or friendly · a man or a woman → your endings).</a:t>
            </a:r>
            <a:endParaRPr lang="en-US" sz="1300" dirty="0"/>
          </a:p>
        </p:txBody>
      </p:sp>
      <p:sp>
        <p:nvSpPr>
          <p:cNvPr id="20" name="Shape 17"/>
          <p:cNvSpPr/>
          <p:nvPr/>
        </p:nvSpPr>
        <p:spPr>
          <a:xfrm>
            <a:off x="658368" y="3296412"/>
            <a:ext cx="310896" cy="310896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658368" y="329641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22" name="Text 19"/>
          <p:cNvSpPr txBox="1"/>
          <p:nvPr/>
        </p:nvSpPr>
        <p:spPr>
          <a:xfrm>
            <a:off x="1078992" y="3186684"/>
            <a:ext cx="5394960" cy="9738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For each task, find the QUESTION WORD and the TENSE (past · present · future).</a:t>
            </a:r>
            <a:endParaRPr lang="en-US" sz="1300" dirty="0"/>
          </a:p>
        </p:txBody>
      </p:sp>
      <p:sp>
        <p:nvSpPr>
          <p:cNvPr id="23" name="Shape 20"/>
          <p:cNvSpPr/>
          <p:nvPr/>
        </p:nvSpPr>
        <p:spPr>
          <a:xfrm>
            <a:off x="658368" y="4306824"/>
            <a:ext cx="310896" cy="310896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658368" y="430682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25" name="Text 22"/>
          <p:cNvSpPr txBox="1"/>
          <p:nvPr/>
        </p:nvSpPr>
        <p:spPr>
          <a:xfrm>
            <a:off x="1078992" y="4197096"/>
            <a:ext cx="5394960" cy="9738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Plan only your FIRST 2–3 words for each task — not whole sentences.</a:t>
            </a:r>
            <a:endParaRPr lang="en-US" sz="1300" dirty="0"/>
          </a:p>
        </p:txBody>
      </p:sp>
      <p:sp>
        <p:nvSpPr>
          <p:cNvPr id="26" name="Shape 23"/>
          <p:cNvSpPr/>
          <p:nvPr/>
        </p:nvSpPr>
        <p:spPr>
          <a:xfrm>
            <a:off x="658368" y="5317236"/>
            <a:ext cx="310896" cy="310896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658368" y="531723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28" name="Text 25"/>
          <p:cNvSpPr txBox="1"/>
          <p:nvPr/>
        </p:nvSpPr>
        <p:spPr>
          <a:xfrm>
            <a:off x="1078992" y="5207508"/>
            <a:ext cx="5394960" cy="9738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Task ! is unexpected: listen for the question word, then answer in a full sentence.</a:t>
            </a:r>
            <a:endParaRPr lang="en-US" sz="1300" dirty="0"/>
          </a:p>
        </p:txBody>
      </p:sp>
      <p:sp>
        <p:nvSpPr>
          <p:cNvPr id="29" name="Shape 26"/>
          <p:cNvSpPr/>
          <p:nvPr/>
        </p:nvSpPr>
        <p:spPr>
          <a:xfrm>
            <a:off x="6812280" y="1810512"/>
            <a:ext cx="4919472" cy="4498848"/>
          </a:xfrm>
          <a:prstGeom prst="roundRect">
            <a:avLst>
              <a:gd name="adj" fmla="val 1626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30" name="Text 27"/>
          <p:cNvSpPr txBox="1"/>
          <p:nvPr/>
        </p:nvSpPr>
        <p:spPr>
          <a:xfrm>
            <a:off x="6995160" y="1883664"/>
            <a:ext cx="45537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QUESTION WORD → HOW TO START</a:t>
            </a:r>
            <a:endParaRPr lang="en-US" sz="1000" dirty="0"/>
          </a:p>
        </p:txBody>
      </p:sp>
      <p:sp>
        <p:nvSpPr>
          <p:cNvPr id="31" name="Text 28"/>
          <p:cNvSpPr txBox="1"/>
          <p:nvPr/>
        </p:nvSpPr>
        <p:spPr>
          <a:xfrm>
            <a:off x="6949440" y="2194560"/>
            <a:ext cx="4645152" cy="5709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6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كَمْ …؟ ← رَقْمٌ + اسْمٌ</a:t>
            </a:r>
            <a:endParaRPr lang="ar-SA" sz="2650" dirty="0"/>
          </a:p>
        </p:txBody>
      </p:sp>
      <p:sp>
        <p:nvSpPr>
          <p:cNvPr id="32" name="Text 29"/>
          <p:cNvSpPr txBox="1"/>
          <p:nvPr/>
        </p:nvSpPr>
        <p:spPr>
          <a:xfrm>
            <a:off x="6949440" y="2765511"/>
            <a:ext cx="4645152" cy="4078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how many → a number + a noun</a:t>
            </a:r>
            <a:endParaRPr lang="en-US" sz="1100" dirty="0"/>
          </a:p>
        </p:txBody>
      </p:sp>
      <p:sp>
        <p:nvSpPr>
          <p:cNvPr id="33" name="Shape 30"/>
          <p:cNvSpPr/>
          <p:nvPr/>
        </p:nvSpPr>
        <p:spPr>
          <a:xfrm>
            <a:off x="6995160" y="3195828"/>
            <a:ext cx="4553712" cy="0"/>
          </a:xfrm>
          <a:prstGeom prst="line">
            <a:avLst/>
          </a:prstGeom>
          <a:noFill/>
          <a:ln w="9525">
            <a:solidFill>
              <a:srgbClr val="E4DCCB"/>
            </a:solidFill>
            <a:prstDash val="dash"/>
          </a:ln>
        </p:spPr>
      </p:sp>
      <p:sp>
        <p:nvSpPr>
          <p:cNvPr id="34" name="Text 31"/>
          <p:cNvSpPr txBox="1"/>
          <p:nvPr/>
        </p:nvSpPr>
        <p:spPr>
          <a:xfrm>
            <a:off x="6949440" y="3214116"/>
            <a:ext cx="4645152" cy="5709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6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مَتَى …؟ ← فِي السَّاعَةِ … / يَوْمَ …</a:t>
            </a:r>
            <a:endParaRPr lang="ar-SA" sz="2650" dirty="0"/>
          </a:p>
        </p:txBody>
      </p:sp>
      <p:sp>
        <p:nvSpPr>
          <p:cNvPr id="35" name="Text 32"/>
          <p:cNvSpPr txBox="1"/>
          <p:nvPr/>
        </p:nvSpPr>
        <p:spPr>
          <a:xfrm>
            <a:off x="6949440" y="3785067"/>
            <a:ext cx="4645152" cy="4078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when → at … o’clock / on …day</a:t>
            </a:r>
            <a:endParaRPr lang="en-US" sz="1100" dirty="0"/>
          </a:p>
        </p:txBody>
      </p:sp>
      <p:sp>
        <p:nvSpPr>
          <p:cNvPr id="36" name="Shape 33"/>
          <p:cNvSpPr/>
          <p:nvPr/>
        </p:nvSpPr>
        <p:spPr>
          <a:xfrm>
            <a:off x="6995160" y="4215384"/>
            <a:ext cx="4553712" cy="0"/>
          </a:xfrm>
          <a:prstGeom prst="line">
            <a:avLst/>
          </a:prstGeom>
          <a:noFill/>
          <a:ln w="9525">
            <a:solidFill>
              <a:srgbClr val="E4DCCB"/>
            </a:solidFill>
            <a:prstDash val="dash"/>
          </a:ln>
        </p:spPr>
      </p:sp>
      <p:sp>
        <p:nvSpPr>
          <p:cNvPr id="37" name="Text 34"/>
          <p:cNvSpPr txBox="1"/>
          <p:nvPr/>
        </p:nvSpPr>
        <p:spPr>
          <a:xfrm>
            <a:off x="6949440" y="4233672"/>
            <a:ext cx="4645152" cy="5709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6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لِمَاذَا …؟ ← لِأَنَّ …</a:t>
            </a:r>
            <a:endParaRPr lang="ar-SA" sz="2650" dirty="0"/>
          </a:p>
        </p:txBody>
      </p:sp>
      <p:sp>
        <p:nvSpPr>
          <p:cNvPr id="38" name="Text 35"/>
          <p:cNvSpPr txBox="1"/>
          <p:nvPr/>
        </p:nvSpPr>
        <p:spPr>
          <a:xfrm>
            <a:off x="6949440" y="4804623"/>
            <a:ext cx="4645152" cy="4078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why → because …</a:t>
            </a:r>
            <a:endParaRPr lang="en-US" sz="1100" dirty="0"/>
          </a:p>
        </p:txBody>
      </p:sp>
      <p:sp>
        <p:nvSpPr>
          <p:cNvPr id="39" name="Shape 36"/>
          <p:cNvSpPr/>
          <p:nvPr/>
        </p:nvSpPr>
        <p:spPr>
          <a:xfrm>
            <a:off x="6995160" y="5234940"/>
            <a:ext cx="4553712" cy="0"/>
          </a:xfrm>
          <a:prstGeom prst="line">
            <a:avLst/>
          </a:prstGeom>
          <a:noFill/>
          <a:ln w="9525">
            <a:solidFill>
              <a:srgbClr val="E4DCCB"/>
            </a:solidFill>
            <a:prstDash val="dash"/>
          </a:ln>
        </p:spPr>
      </p:sp>
      <p:sp>
        <p:nvSpPr>
          <p:cNvPr id="40" name="Text 37"/>
          <p:cNvSpPr txBox="1"/>
          <p:nvPr/>
        </p:nvSpPr>
        <p:spPr>
          <a:xfrm>
            <a:off x="6949440" y="5253228"/>
            <a:ext cx="4645152" cy="5709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6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هَلْ …؟ ← نَعَمْ / لَا + جُمْلَةٌ كَامِلَةٌ</a:t>
            </a:r>
            <a:endParaRPr lang="ar-SA" sz="2650" dirty="0"/>
          </a:p>
        </p:txBody>
      </p:sp>
      <p:sp>
        <p:nvSpPr>
          <p:cNvPr id="41" name="Text 38"/>
          <p:cNvSpPr txBox="1"/>
          <p:nvPr/>
        </p:nvSpPr>
        <p:spPr>
          <a:xfrm>
            <a:off x="6949440" y="5824179"/>
            <a:ext cx="4645152" cy="4078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yes/no question → yes / no + a full sentence</a:t>
            </a:r>
            <a:endParaRPr lang="en-US" sz="1100" dirty="0"/>
          </a:p>
        </p:txBody>
      </p:sp>
      <p:sp>
        <p:nvSpPr>
          <p:cNvPr id="42" name="Text 39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10 / 21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TC-L04 · Speaking practice room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295083" y="274320"/>
            <a:ext cx="1464869" cy="329184"/>
          </a:xfrm>
          <a:prstGeom prst="roundRect">
            <a:avLst>
              <a:gd name="adj" fmla="val 50000"/>
            </a:avLst>
          </a:prstGeom>
          <a:solidFill>
            <a:srgbClr val="1E6B52"/>
          </a:solidFill>
          <a:ln w="12700">
            <a:solidFill>
              <a:srgbClr val="1E6B5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295083" y="274320"/>
            <a:ext cx="146486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 DO · 8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1E6B52"/>
                </a:solidFill>
                <a:latin typeface="Calibri" pitchFamily="34" charset="0"/>
                <a:cs typeface="Amiri" pitchFamily="2" charset="-78"/>
              </a:rPr>
              <a:t>STEP 3 · ROLE PLAY 1 · CORE · DEVELOP · THE PLAN IS GIVEN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Role play 1 — Reporting a rubbish problem</a:t>
            </a:r>
            <a:endParaRPr lang="en-US" sz="23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الاتِّصَالُ بِالبَلَدِيَّةِ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C · Speaking practice room · TC-L04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8257032" y="1810512"/>
            <a:ext cx="34015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Plan: question word → my first words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4965192" y="1810512"/>
            <a:ext cx="31455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Speaker’s task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1033272" y="1810512"/>
            <a:ext cx="3785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Leader reads (the examiner)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530352" y="1810512"/>
            <a:ext cx="356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#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457200" y="2267712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8275320" y="2267712"/>
            <a:ext cx="336499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المُشْكِلَةُ ← تُوجَدُ نُفَايَاتٌ كَثِيرَةٌ فِي …</a:t>
            </a:r>
            <a:endParaRPr lang="ar-SA" sz="1500" dirty="0"/>
          </a:p>
        </p:txBody>
      </p:sp>
      <p:sp>
        <p:nvSpPr>
          <p:cNvPr id="22" name="Text 19"/>
          <p:cNvSpPr txBox="1"/>
          <p:nvPr/>
        </p:nvSpPr>
        <p:spPr>
          <a:xfrm>
            <a:off x="5001768" y="2267712"/>
            <a:ext cx="31089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Describe the problem.</a:t>
            </a:r>
            <a:endParaRPr lang="en-US" sz="1100" dirty="0"/>
          </a:p>
        </p:txBody>
      </p:sp>
      <p:sp>
        <p:nvSpPr>
          <p:cNvPr id="23" name="Text 20"/>
          <p:cNvSpPr txBox="1"/>
          <p:nvPr/>
        </p:nvSpPr>
        <p:spPr>
          <a:xfrm>
            <a:off x="1051560" y="2267712"/>
            <a:ext cx="3749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البَلَدِيَّةُ، تَفَضَّلْ. مَا المُشْكِلَةُ؟</a:t>
            </a:r>
            <a:endParaRPr lang="ar-SA" sz="1700" dirty="0"/>
          </a:p>
        </p:txBody>
      </p:sp>
      <p:sp>
        <p:nvSpPr>
          <p:cNvPr id="24" name="Text 21"/>
          <p:cNvSpPr txBox="1"/>
          <p:nvPr/>
        </p:nvSpPr>
        <p:spPr>
          <a:xfrm>
            <a:off x="566928" y="2267712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11091672" y="2313432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11091672" y="2313432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27" name="Shape 24"/>
          <p:cNvSpPr/>
          <p:nvPr/>
        </p:nvSpPr>
        <p:spPr>
          <a:xfrm>
            <a:off x="457200" y="300471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8275320" y="3004718"/>
            <a:ext cx="336499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أَيْنَ ← تَقَعُ فِي شَارِعِ … بِجَانِبِ …</a:t>
            </a:r>
            <a:endParaRPr lang="ar-SA" sz="1500" dirty="0"/>
          </a:p>
        </p:txBody>
      </p:sp>
      <p:sp>
        <p:nvSpPr>
          <p:cNvPr id="29" name="Text 26"/>
          <p:cNvSpPr txBox="1"/>
          <p:nvPr/>
        </p:nvSpPr>
        <p:spPr>
          <a:xfrm>
            <a:off x="5001768" y="3004718"/>
            <a:ext cx="31089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Give the location.</a:t>
            </a:r>
            <a:endParaRPr lang="en-US" sz="1100" dirty="0"/>
          </a:p>
        </p:txBody>
      </p:sp>
      <p:sp>
        <p:nvSpPr>
          <p:cNvPr id="30" name="Text 27"/>
          <p:cNvSpPr txBox="1"/>
          <p:nvPr/>
        </p:nvSpPr>
        <p:spPr>
          <a:xfrm>
            <a:off x="1051560" y="3004718"/>
            <a:ext cx="3749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أَيْنَ تَقَعُ الحَدِيقَةُ؟</a:t>
            </a:r>
            <a:endParaRPr lang="ar-SA" sz="1700" dirty="0"/>
          </a:p>
        </p:txBody>
      </p:sp>
      <p:sp>
        <p:nvSpPr>
          <p:cNvPr id="31" name="Text 28"/>
          <p:cNvSpPr txBox="1"/>
          <p:nvPr/>
        </p:nvSpPr>
        <p:spPr>
          <a:xfrm>
            <a:off x="566928" y="300471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32" name="Shape 29"/>
          <p:cNvSpPr/>
          <p:nvPr/>
        </p:nvSpPr>
        <p:spPr>
          <a:xfrm>
            <a:off x="11091672" y="3050438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11091672" y="3050438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34" name="Shape 31"/>
          <p:cNvSpPr/>
          <p:nvPr/>
        </p:nvSpPr>
        <p:spPr>
          <a:xfrm>
            <a:off x="457200" y="3741725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8275320" y="3741725"/>
            <a:ext cx="336499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مُنْذُ مَتَى ← مُنْذُ … أَسَابِيعَ</a:t>
            </a:r>
            <a:endParaRPr lang="ar-SA" sz="1500" dirty="0"/>
          </a:p>
        </p:txBody>
      </p:sp>
      <p:sp>
        <p:nvSpPr>
          <p:cNvPr id="36" name="Text 33"/>
          <p:cNvSpPr txBox="1"/>
          <p:nvPr/>
        </p:nvSpPr>
        <p:spPr>
          <a:xfrm>
            <a:off x="5001768" y="3741725"/>
            <a:ext cx="31089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Say how long.</a:t>
            </a:r>
            <a:endParaRPr lang="en-US" sz="1100" dirty="0"/>
          </a:p>
        </p:txBody>
      </p:sp>
      <p:sp>
        <p:nvSpPr>
          <p:cNvPr id="37" name="Text 34"/>
          <p:cNvSpPr txBox="1"/>
          <p:nvPr/>
        </p:nvSpPr>
        <p:spPr>
          <a:xfrm>
            <a:off x="1051560" y="3741725"/>
            <a:ext cx="3749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مُنْذُ مَتَى؟</a:t>
            </a:r>
            <a:endParaRPr lang="ar-SA" sz="1700" dirty="0"/>
          </a:p>
        </p:txBody>
      </p:sp>
      <p:sp>
        <p:nvSpPr>
          <p:cNvPr id="38" name="Text 35"/>
          <p:cNvSpPr txBox="1"/>
          <p:nvPr/>
        </p:nvSpPr>
        <p:spPr>
          <a:xfrm>
            <a:off x="566928" y="3741725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39" name="Shape 36"/>
          <p:cNvSpPr/>
          <p:nvPr/>
        </p:nvSpPr>
        <p:spPr>
          <a:xfrm>
            <a:off x="11091672" y="3787445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11091672" y="3787445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41" name="Shape 38"/>
          <p:cNvSpPr/>
          <p:nvPr/>
        </p:nvSpPr>
        <p:spPr>
          <a:xfrm>
            <a:off x="457200" y="4478731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2" name="Text 39"/>
          <p:cNvSpPr txBox="1"/>
          <p:nvPr/>
        </p:nvSpPr>
        <p:spPr>
          <a:xfrm>
            <a:off x="8275320" y="4478731"/>
            <a:ext cx="336499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أُخْرَى ← بِسَبَبِ النُّفَايَاتِ …</a:t>
            </a:r>
            <a:endParaRPr lang="ar-SA" sz="1500" dirty="0"/>
          </a:p>
        </p:txBody>
      </p:sp>
      <p:sp>
        <p:nvSpPr>
          <p:cNvPr id="43" name="Text 40"/>
          <p:cNvSpPr txBox="1"/>
          <p:nvPr/>
        </p:nvSpPr>
        <p:spPr>
          <a:xfrm>
            <a:off x="5001768" y="4478731"/>
            <a:ext cx="31089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Give a result of the problem.</a:t>
            </a:r>
            <a:endParaRPr lang="en-US" sz="1100" dirty="0"/>
          </a:p>
        </p:txBody>
      </p:sp>
      <p:sp>
        <p:nvSpPr>
          <p:cNvPr id="44" name="Text 41"/>
          <p:cNvSpPr txBox="1"/>
          <p:nvPr/>
        </p:nvSpPr>
        <p:spPr>
          <a:xfrm>
            <a:off x="1051560" y="4478731"/>
            <a:ext cx="3749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هَلْ هُنَاكَ مُشْكِلَةٌ أُخْرَى؟</a:t>
            </a:r>
            <a:endParaRPr lang="ar-SA" sz="1700" dirty="0"/>
          </a:p>
        </p:txBody>
      </p:sp>
      <p:sp>
        <p:nvSpPr>
          <p:cNvPr id="45" name="Text 42"/>
          <p:cNvSpPr txBox="1"/>
          <p:nvPr/>
        </p:nvSpPr>
        <p:spPr>
          <a:xfrm>
            <a:off x="566928" y="4478731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46" name="Shape 43"/>
          <p:cNvSpPr/>
          <p:nvPr/>
        </p:nvSpPr>
        <p:spPr>
          <a:xfrm>
            <a:off x="11091672" y="4524451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7" name="Text 44"/>
          <p:cNvSpPr txBox="1"/>
          <p:nvPr/>
        </p:nvSpPr>
        <p:spPr>
          <a:xfrm>
            <a:off x="11091672" y="4524451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48" name="Shape 45"/>
          <p:cNvSpPr/>
          <p:nvPr/>
        </p:nvSpPr>
        <p:spPr>
          <a:xfrm>
            <a:off x="457200" y="521573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9" name="Text 46"/>
          <p:cNvSpPr txBox="1"/>
          <p:nvPr/>
        </p:nvSpPr>
        <p:spPr>
          <a:xfrm>
            <a:off x="8275320" y="5215738"/>
            <a:ext cx="336499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مَنْ ← فِي رَأْيِي … لِأَنَّ …</a:t>
            </a:r>
            <a:endParaRPr lang="ar-SA" sz="1500" dirty="0"/>
          </a:p>
        </p:txBody>
      </p:sp>
      <p:sp>
        <p:nvSpPr>
          <p:cNvPr id="50" name="Text 47"/>
          <p:cNvSpPr txBox="1"/>
          <p:nvPr/>
        </p:nvSpPr>
        <p:spPr>
          <a:xfrm>
            <a:off x="5001768" y="5215738"/>
            <a:ext cx="31089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Answer the unexpected question.</a:t>
            </a:r>
            <a:endParaRPr lang="en-US" sz="1100" dirty="0"/>
          </a:p>
        </p:txBody>
      </p:sp>
      <p:sp>
        <p:nvSpPr>
          <p:cNvPr id="51" name="Text 48"/>
          <p:cNvSpPr txBox="1"/>
          <p:nvPr/>
        </p:nvSpPr>
        <p:spPr>
          <a:xfrm>
            <a:off x="1051560" y="5215738"/>
            <a:ext cx="3749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مَنِ المَسْؤُولُ فِي رَأْيِكَ؟</a:t>
            </a:r>
            <a:endParaRPr lang="ar-SA" sz="1700" dirty="0"/>
          </a:p>
        </p:txBody>
      </p:sp>
      <p:sp>
        <p:nvSpPr>
          <p:cNvPr id="52" name="Text 49"/>
          <p:cNvSpPr txBox="1"/>
          <p:nvPr/>
        </p:nvSpPr>
        <p:spPr>
          <a:xfrm>
            <a:off x="566928" y="521573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5 !</a:t>
            </a:r>
            <a:endParaRPr lang="en-US" sz="1100" dirty="0"/>
          </a:p>
        </p:txBody>
      </p:sp>
      <p:sp>
        <p:nvSpPr>
          <p:cNvPr id="53" name="Shape 50"/>
          <p:cNvSpPr/>
          <p:nvPr/>
        </p:nvSpPr>
        <p:spPr>
          <a:xfrm>
            <a:off x="11091672" y="5261458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54" name="Text 51"/>
          <p:cNvSpPr txBox="1"/>
          <p:nvPr/>
        </p:nvSpPr>
        <p:spPr>
          <a:xfrm>
            <a:off x="11091672" y="5261458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55" name="Text 52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Speaker = a resident · Leader = the council officer. Use the plan column in your 1 minute of preparation, then hide it and speak. Then swap roles.</a:t>
            </a:r>
            <a:endParaRPr lang="en-US" sz="1150" dirty="0"/>
          </a:p>
        </p:txBody>
      </p:sp>
      <p:sp>
        <p:nvSpPr>
          <p:cNvPr id="56" name="Text 53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11 / 21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TC-L04 · Speaking practice room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295083" y="274320"/>
            <a:ext cx="1464869" cy="329184"/>
          </a:xfrm>
          <a:prstGeom prst="roundRect">
            <a:avLst>
              <a:gd name="adj" fmla="val 50000"/>
            </a:avLst>
          </a:prstGeom>
          <a:solidFill>
            <a:srgbClr val="1E6B52"/>
          </a:solidFill>
          <a:ln w="12700">
            <a:solidFill>
              <a:srgbClr val="1E6B5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295083" y="274320"/>
            <a:ext cx="146486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 DO · 8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1E6B52"/>
                </a:solidFill>
                <a:latin typeface="Calibri" pitchFamily="34" charset="0"/>
                <a:cs typeface="Amiri" pitchFamily="2" charset="-78"/>
              </a:rPr>
              <a:t>STEP 3 · ROLE PLAY 2 · DEVELOP · STRETCH · PLAN IT YOURSELF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Role play 2 — Interview about a polluted river</a:t>
            </a:r>
            <a:endParaRPr lang="en-US" sz="21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مُقَابَلَةٌ عَنْ نَهْرٍ مُلَوَّثٍ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C · Speaking practice room · TC-L04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8257032" y="1810512"/>
            <a:ext cx="34015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Plan it: question word → my first words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4965192" y="1810512"/>
            <a:ext cx="31455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Speaker’s task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1033272" y="1810512"/>
            <a:ext cx="3785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Leader reads (the examiner)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530352" y="1810512"/>
            <a:ext cx="356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#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457200" y="2267712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8293608" y="2267712"/>
            <a:ext cx="336499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______________</a:t>
            </a:r>
            <a:endParaRPr lang="en-US" sz="1100" dirty="0"/>
          </a:p>
        </p:txBody>
      </p:sp>
      <p:sp>
        <p:nvSpPr>
          <p:cNvPr id="22" name="Text 19"/>
          <p:cNvSpPr txBox="1"/>
          <p:nvPr/>
        </p:nvSpPr>
        <p:spPr>
          <a:xfrm>
            <a:off x="5001768" y="2267712"/>
            <a:ext cx="31089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Explain what happened (past + passive).</a:t>
            </a:r>
            <a:endParaRPr lang="en-US" sz="1100" dirty="0"/>
          </a:p>
        </p:txBody>
      </p:sp>
      <p:sp>
        <p:nvSpPr>
          <p:cNvPr id="23" name="Text 20"/>
          <p:cNvSpPr txBox="1"/>
          <p:nvPr/>
        </p:nvSpPr>
        <p:spPr>
          <a:xfrm>
            <a:off x="1051560" y="2267712"/>
            <a:ext cx="3749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مَاذَا حَدَثَ لِلنَّهْرِ؟</a:t>
            </a:r>
            <a:endParaRPr lang="ar-SA" sz="1700" dirty="0"/>
          </a:p>
        </p:txBody>
      </p:sp>
      <p:sp>
        <p:nvSpPr>
          <p:cNvPr id="24" name="Text 21"/>
          <p:cNvSpPr txBox="1"/>
          <p:nvPr/>
        </p:nvSpPr>
        <p:spPr>
          <a:xfrm>
            <a:off x="566928" y="2267712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457200" y="300471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8293608" y="3004718"/>
            <a:ext cx="336499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______________</a:t>
            </a:r>
            <a:endParaRPr lang="en-US" sz="1100" dirty="0"/>
          </a:p>
        </p:txBody>
      </p:sp>
      <p:sp>
        <p:nvSpPr>
          <p:cNvPr id="27" name="Text 24"/>
          <p:cNvSpPr txBox="1"/>
          <p:nvPr/>
        </p:nvSpPr>
        <p:spPr>
          <a:xfrm>
            <a:off x="5001768" y="3004718"/>
            <a:ext cx="31089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Give two effects.</a:t>
            </a:r>
            <a:endParaRPr lang="en-US" sz="1100" dirty="0"/>
          </a:p>
        </p:txBody>
      </p:sp>
      <p:sp>
        <p:nvSpPr>
          <p:cNvPr id="28" name="Text 25"/>
          <p:cNvSpPr txBox="1"/>
          <p:nvPr/>
        </p:nvSpPr>
        <p:spPr>
          <a:xfrm>
            <a:off x="1051560" y="3004718"/>
            <a:ext cx="3749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مَا نَتَائِجُ ذٰلِكَ عَلَى النَّاسِ؟</a:t>
            </a:r>
            <a:endParaRPr lang="ar-SA" sz="1700" dirty="0"/>
          </a:p>
        </p:txBody>
      </p:sp>
      <p:sp>
        <p:nvSpPr>
          <p:cNvPr id="29" name="Text 26"/>
          <p:cNvSpPr txBox="1"/>
          <p:nvPr/>
        </p:nvSpPr>
        <p:spPr>
          <a:xfrm>
            <a:off x="566928" y="300471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30" name="Shape 27"/>
          <p:cNvSpPr/>
          <p:nvPr/>
        </p:nvSpPr>
        <p:spPr>
          <a:xfrm>
            <a:off x="457200" y="3741725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8293608" y="3741725"/>
            <a:ext cx="336499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______________</a:t>
            </a:r>
            <a:endParaRPr lang="en-US" sz="1100" dirty="0"/>
          </a:p>
        </p:txBody>
      </p:sp>
      <p:sp>
        <p:nvSpPr>
          <p:cNvPr id="32" name="Text 29"/>
          <p:cNvSpPr txBox="1"/>
          <p:nvPr/>
        </p:nvSpPr>
        <p:spPr>
          <a:xfrm>
            <a:off x="5001768" y="3741725"/>
            <a:ext cx="31089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Compare past and present.</a:t>
            </a:r>
            <a:endParaRPr lang="en-US" sz="1100" dirty="0"/>
          </a:p>
        </p:txBody>
      </p:sp>
      <p:sp>
        <p:nvSpPr>
          <p:cNvPr id="33" name="Text 30"/>
          <p:cNvSpPr txBox="1"/>
          <p:nvPr/>
        </p:nvSpPr>
        <p:spPr>
          <a:xfrm>
            <a:off x="1051560" y="3741725"/>
            <a:ext cx="3749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كَيْفَ كَانَ النَّهْرُ قَبْلَ ذٰلِكَ؟</a:t>
            </a:r>
            <a:endParaRPr lang="ar-SA" sz="1700" dirty="0"/>
          </a:p>
        </p:txBody>
      </p:sp>
      <p:sp>
        <p:nvSpPr>
          <p:cNvPr id="34" name="Text 31"/>
          <p:cNvSpPr txBox="1"/>
          <p:nvPr/>
        </p:nvSpPr>
        <p:spPr>
          <a:xfrm>
            <a:off x="566928" y="3741725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35" name="Shape 32"/>
          <p:cNvSpPr/>
          <p:nvPr/>
        </p:nvSpPr>
        <p:spPr>
          <a:xfrm>
            <a:off x="457200" y="4478731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8293608" y="4478731"/>
            <a:ext cx="336499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______________</a:t>
            </a:r>
            <a:endParaRPr lang="en-US" sz="1100" dirty="0"/>
          </a:p>
        </p:txBody>
      </p:sp>
      <p:sp>
        <p:nvSpPr>
          <p:cNvPr id="37" name="Text 34"/>
          <p:cNvSpPr txBox="1"/>
          <p:nvPr/>
        </p:nvSpPr>
        <p:spPr>
          <a:xfrm>
            <a:off x="5001768" y="4478731"/>
            <a:ext cx="31089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Answer and ASK the reporter something.</a:t>
            </a:r>
            <a:endParaRPr lang="en-US" sz="1100" dirty="0"/>
          </a:p>
        </p:txBody>
      </p:sp>
      <p:sp>
        <p:nvSpPr>
          <p:cNvPr id="38" name="Text 35"/>
          <p:cNvSpPr txBox="1"/>
          <p:nvPr/>
        </p:nvSpPr>
        <p:spPr>
          <a:xfrm>
            <a:off x="1051560" y="4478731"/>
            <a:ext cx="3749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هَلْ تَكَلَّمْتُمْ مَعَ المَصْنَعِ؟</a:t>
            </a:r>
            <a:endParaRPr lang="ar-SA" sz="1700" dirty="0"/>
          </a:p>
        </p:txBody>
      </p:sp>
      <p:sp>
        <p:nvSpPr>
          <p:cNvPr id="39" name="Text 36"/>
          <p:cNvSpPr txBox="1"/>
          <p:nvPr/>
        </p:nvSpPr>
        <p:spPr>
          <a:xfrm>
            <a:off x="566928" y="4478731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40" name="Shape 37"/>
          <p:cNvSpPr/>
          <p:nvPr/>
        </p:nvSpPr>
        <p:spPr>
          <a:xfrm>
            <a:off x="457200" y="521573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1" name="Text 38"/>
          <p:cNvSpPr txBox="1"/>
          <p:nvPr/>
        </p:nvSpPr>
        <p:spPr>
          <a:xfrm>
            <a:off x="8293608" y="5215738"/>
            <a:ext cx="336499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______________</a:t>
            </a:r>
            <a:endParaRPr lang="en-US" sz="1100" dirty="0"/>
          </a:p>
        </p:txBody>
      </p:sp>
      <p:sp>
        <p:nvSpPr>
          <p:cNvPr id="42" name="Text 39"/>
          <p:cNvSpPr txBox="1"/>
          <p:nvPr/>
        </p:nvSpPr>
        <p:spPr>
          <a:xfrm>
            <a:off x="5001768" y="5215738"/>
            <a:ext cx="31089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Answer the unexpected question (concession).</a:t>
            </a:r>
            <a:endParaRPr lang="en-US" sz="1100" dirty="0"/>
          </a:p>
        </p:txBody>
      </p:sp>
      <p:sp>
        <p:nvSpPr>
          <p:cNvPr id="43" name="Text 40"/>
          <p:cNvSpPr txBox="1"/>
          <p:nvPr/>
        </p:nvSpPr>
        <p:spPr>
          <a:xfrm>
            <a:off x="1051560" y="5215738"/>
            <a:ext cx="3749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لَوْ أُغْلِقَ المَصْنَعُ، سَيَفْقِدُ النَّاسُ عَمَلَهُمْ. مَا رَأْيُكَ؟</a:t>
            </a:r>
            <a:endParaRPr lang="ar-SA" sz="1700" dirty="0"/>
          </a:p>
        </p:txBody>
      </p:sp>
      <p:sp>
        <p:nvSpPr>
          <p:cNvPr id="44" name="Text 41"/>
          <p:cNvSpPr txBox="1"/>
          <p:nvPr/>
        </p:nvSpPr>
        <p:spPr>
          <a:xfrm>
            <a:off x="566928" y="521573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5 !</a:t>
            </a:r>
            <a:endParaRPr lang="en-US" sz="1100" dirty="0"/>
          </a:p>
        </p:txBody>
      </p:sp>
      <p:sp>
        <p:nvSpPr>
          <p:cNvPr id="45" name="Text 42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Speaker = a young local campaigner · Leader = a TV reporter. In your 1 minute, write the plan column in your book. Task ! : the Leader reads it without warning. Then swap roles.</a:t>
            </a:r>
            <a:endParaRPr lang="en-US" sz="1100" dirty="0"/>
          </a:p>
        </p:txBody>
      </p:sp>
      <p:sp>
        <p:nvSpPr>
          <p:cNvPr id="46" name="Text 43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12 / 21</a:t>
            </a:r>
            <a:endParaRPr lang="en-US" sz="8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TC-L04 · Speaking practice room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6308446" y="274320"/>
            <a:ext cx="2451506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308446" y="274320"/>
            <a:ext cx="245150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TEACHER INSTRUCTION · 2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STEP 4 · TOPIC CONVERSATION · KEEP THE ANSWER GOING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A-R-E-T: four links in every answer</a:t>
            </a:r>
            <a:endParaRPr lang="en-US" sz="26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سِلْسِلَةُ الإِجَابَةِ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C · Speaking practice room · TC-L04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6172200" cy="3456432"/>
          </a:xfrm>
          <a:prstGeom prst="roundRect">
            <a:avLst>
              <a:gd name="adj" fmla="val 2116"/>
            </a:avLst>
          </a:prstGeom>
          <a:solidFill>
            <a:srgbClr val="F7F9FC"/>
          </a:solidFill>
          <a:ln w="9525">
            <a:solidFill>
              <a:srgbClr val="C9D6EA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16" name="Text 13"/>
          <p:cNvSpPr txBox="1"/>
          <p:nvPr/>
        </p:nvSpPr>
        <p:spPr>
          <a:xfrm>
            <a:off x="658368" y="1883664"/>
            <a:ext cx="5806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A · R · E · T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658368" y="2286000"/>
            <a:ext cx="310896" cy="310896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658368" y="22860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1078992" y="2176272"/>
            <a:ext cx="5394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A — ANSWER the question in a full sentence.</a:t>
            </a:r>
            <a:endParaRPr lang="en-US" sz="1300" dirty="0"/>
          </a:p>
        </p:txBody>
      </p:sp>
      <p:sp>
        <p:nvSpPr>
          <p:cNvPr id="20" name="Shape 17"/>
          <p:cNvSpPr/>
          <p:nvPr/>
        </p:nvSpPr>
        <p:spPr>
          <a:xfrm>
            <a:off x="658368" y="3035808"/>
            <a:ext cx="310896" cy="310896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658368" y="303580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22" name="Text 19"/>
          <p:cNvSpPr txBox="1"/>
          <p:nvPr/>
        </p:nvSpPr>
        <p:spPr>
          <a:xfrm>
            <a:off x="1078992" y="2926080"/>
            <a:ext cx="5394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R — give a REASON: </a:t>
            </a:r>
            <a:pPr algn="l" indent="0" marL="0">
              <a:buNone/>
            </a:pPr>
            <a:r>
              <a:rPr lang="ar-SA" altLang="en-US" sz="1700" dirty="0">
                <a:solidFill>
                  <a:srgbClr val="1F2A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لِأَنَّ … / لِذٰلِكَ</a:t>
            </a:r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 …</a:t>
            </a:r>
            <a:endParaRPr lang="en-US" sz="1300" dirty="0"/>
          </a:p>
        </p:txBody>
      </p:sp>
      <p:sp>
        <p:nvSpPr>
          <p:cNvPr id="23" name="Shape 20"/>
          <p:cNvSpPr/>
          <p:nvPr/>
        </p:nvSpPr>
        <p:spPr>
          <a:xfrm>
            <a:off x="658368" y="3785616"/>
            <a:ext cx="310896" cy="310896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658368" y="378561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25" name="Text 22"/>
          <p:cNvSpPr txBox="1"/>
          <p:nvPr/>
        </p:nvSpPr>
        <p:spPr>
          <a:xfrm>
            <a:off x="1078992" y="3675888"/>
            <a:ext cx="5394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E — add an EXAMPLE or a detail: </a:t>
            </a:r>
            <a:pPr algn="l" indent="0" marL="0">
              <a:buNone/>
            </a:pPr>
            <a:r>
              <a:rPr lang="ar-SA" altLang="en-US" sz="1700" dirty="0">
                <a:solidFill>
                  <a:srgbClr val="1F2A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مَثَلًا … / كُلَّ يَوْمٍ</a:t>
            </a:r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 …</a:t>
            </a:r>
            <a:endParaRPr lang="en-US" sz="1300" dirty="0"/>
          </a:p>
        </p:txBody>
      </p:sp>
      <p:sp>
        <p:nvSpPr>
          <p:cNvPr id="26" name="Shape 23"/>
          <p:cNvSpPr/>
          <p:nvPr/>
        </p:nvSpPr>
        <p:spPr>
          <a:xfrm>
            <a:off x="658368" y="4535424"/>
            <a:ext cx="310896" cy="310896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658368" y="453542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28" name="Text 25"/>
          <p:cNvSpPr txBox="1"/>
          <p:nvPr/>
        </p:nvSpPr>
        <p:spPr>
          <a:xfrm>
            <a:off x="1078992" y="4425696"/>
            <a:ext cx="5394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T — change the TIME: past (</a:t>
            </a:r>
            <a:pPr algn="l" indent="0" marL="0">
              <a:buNone/>
            </a:pPr>
            <a:r>
              <a:rPr lang="ar-SA" altLang="en-US" sz="1700" dirty="0">
                <a:solidFill>
                  <a:srgbClr val="1F2A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أَمْسِ / فِي المَاضِي</a:t>
            </a:r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) or future (</a:t>
            </a:r>
            <a:pPr algn="l" indent="0" marL="0">
              <a:buNone/>
            </a:pPr>
            <a:r>
              <a:rPr lang="ar-SA" altLang="en-US" sz="1700" dirty="0">
                <a:solidFill>
                  <a:srgbClr val="1F2A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سَوْفَ / فِي المُسْتَقْبَلِ</a:t>
            </a:r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).</a:t>
            </a:r>
            <a:endParaRPr lang="en-US" sz="1300" dirty="0"/>
          </a:p>
        </p:txBody>
      </p:sp>
      <p:sp>
        <p:nvSpPr>
          <p:cNvPr id="29" name="Shape 26"/>
          <p:cNvSpPr/>
          <p:nvPr/>
        </p:nvSpPr>
        <p:spPr>
          <a:xfrm>
            <a:off x="6812280" y="1810512"/>
            <a:ext cx="4919472" cy="3456432"/>
          </a:xfrm>
          <a:prstGeom prst="roundRect">
            <a:avLst>
              <a:gd name="adj" fmla="val 2116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30" name="Text 27"/>
          <p:cNvSpPr txBox="1"/>
          <p:nvPr/>
        </p:nvSpPr>
        <p:spPr>
          <a:xfrm>
            <a:off x="6995160" y="1883664"/>
            <a:ext cx="45537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THE COACH PUSHES WITH</a:t>
            </a:r>
            <a:endParaRPr lang="en-US" sz="1000" dirty="0"/>
          </a:p>
        </p:txBody>
      </p:sp>
      <p:sp>
        <p:nvSpPr>
          <p:cNvPr id="31" name="Text 28"/>
          <p:cNvSpPr txBox="1"/>
          <p:nvPr/>
        </p:nvSpPr>
        <p:spPr>
          <a:xfrm>
            <a:off x="6949440" y="2194560"/>
            <a:ext cx="4645152" cy="5666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لِمَاذَا؟</a:t>
            </a:r>
            <a:endParaRPr lang="ar-SA" sz="2600" dirty="0"/>
          </a:p>
        </p:txBody>
      </p:sp>
      <p:sp>
        <p:nvSpPr>
          <p:cNvPr id="32" name="Text 29"/>
          <p:cNvSpPr txBox="1"/>
          <p:nvPr/>
        </p:nvSpPr>
        <p:spPr>
          <a:xfrm>
            <a:off x="6949440" y="2761244"/>
            <a:ext cx="4645152" cy="4047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Why?</a:t>
            </a:r>
            <a:endParaRPr lang="en-US" sz="1100" dirty="0"/>
          </a:p>
        </p:txBody>
      </p:sp>
      <p:sp>
        <p:nvSpPr>
          <p:cNvPr id="33" name="Shape 30"/>
          <p:cNvSpPr/>
          <p:nvPr/>
        </p:nvSpPr>
        <p:spPr>
          <a:xfrm>
            <a:off x="6995160" y="3188208"/>
            <a:ext cx="4553712" cy="0"/>
          </a:xfrm>
          <a:prstGeom prst="line">
            <a:avLst/>
          </a:prstGeom>
          <a:noFill/>
          <a:ln w="9525">
            <a:solidFill>
              <a:srgbClr val="E4DCCB"/>
            </a:solidFill>
            <a:prstDash val="dash"/>
          </a:ln>
        </p:spPr>
      </p:sp>
      <p:sp>
        <p:nvSpPr>
          <p:cNvPr id="34" name="Text 31"/>
          <p:cNvSpPr txBox="1"/>
          <p:nvPr/>
        </p:nvSpPr>
        <p:spPr>
          <a:xfrm>
            <a:off x="6949440" y="3206496"/>
            <a:ext cx="4645152" cy="5666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مِثْلَ مَاذَا؟</a:t>
            </a:r>
            <a:endParaRPr lang="ar-SA" sz="2600" dirty="0"/>
          </a:p>
        </p:txBody>
      </p:sp>
      <p:sp>
        <p:nvSpPr>
          <p:cNvPr id="35" name="Text 32"/>
          <p:cNvSpPr txBox="1"/>
          <p:nvPr/>
        </p:nvSpPr>
        <p:spPr>
          <a:xfrm>
            <a:off x="6949440" y="3773180"/>
            <a:ext cx="4645152" cy="4047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Like what?</a:t>
            </a:r>
            <a:endParaRPr lang="en-US" sz="1100" dirty="0"/>
          </a:p>
        </p:txBody>
      </p:sp>
      <p:sp>
        <p:nvSpPr>
          <p:cNvPr id="36" name="Shape 33"/>
          <p:cNvSpPr/>
          <p:nvPr/>
        </p:nvSpPr>
        <p:spPr>
          <a:xfrm>
            <a:off x="6995160" y="4200144"/>
            <a:ext cx="4553712" cy="0"/>
          </a:xfrm>
          <a:prstGeom prst="line">
            <a:avLst/>
          </a:prstGeom>
          <a:noFill/>
          <a:ln w="9525">
            <a:solidFill>
              <a:srgbClr val="E4DCCB"/>
            </a:solidFill>
            <a:prstDash val="dash"/>
          </a:ln>
        </p:spPr>
      </p:sp>
      <p:sp>
        <p:nvSpPr>
          <p:cNvPr id="37" name="Text 34"/>
          <p:cNvSpPr txBox="1"/>
          <p:nvPr/>
        </p:nvSpPr>
        <p:spPr>
          <a:xfrm>
            <a:off x="6949440" y="4218432"/>
            <a:ext cx="4645152" cy="5666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وَفِي المَاضِي؟ / وَفِي المُسْتَقْبَلِ؟</a:t>
            </a:r>
            <a:endParaRPr lang="ar-SA" sz="2600" dirty="0"/>
          </a:p>
        </p:txBody>
      </p:sp>
      <p:sp>
        <p:nvSpPr>
          <p:cNvPr id="38" name="Text 35"/>
          <p:cNvSpPr txBox="1"/>
          <p:nvPr/>
        </p:nvSpPr>
        <p:spPr>
          <a:xfrm>
            <a:off x="6949440" y="4785116"/>
            <a:ext cx="4645152" cy="4047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And in the past? / And in the future?</a:t>
            </a:r>
            <a:endParaRPr lang="en-US" sz="1100" dirty="0"/>
          </a:p>
        </p:txBody>
      </p:sp>
      <p:sp>
        <p:nvSpPr>
          <p:cNvPr id="39" name="Shape 36"/>
          <p:cNvSpPr/>
          <p:nvPr/>
        </p:nvSpPr>
        <p:spPr>
          <a:xfrm>
            <a:off x="457200" y="5394960"/>
            <a:ext cx="11274552" cy="914400"/>
          </a:xfrm>
          <a:prstGeom prst="roundRect">
            <a:avLst>
              <a:gd name="adj" fmla="val 8000"/>
            </a:avLst>
          </a:prstGeom>
          <a:solidFill>
            <a:srgbClr val="FFF4E0"/>
          </a:solidFill>
          <a:ln w="9525">
            <a:solidFill>
              <a:srgbClr val="E8D49A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40" name="Text 37"/>
          <p:cNvSpPr txBox="1"/>
          <p:nvPr/>
        </p:nvSpPr>
        <p:spPr>
          <a:xfrm>
            <a:off x="658368" y="5468112"/>
            <a:ext cx="192024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ROUTES</a:t>
            </a:r>
            <a:endParaRPr lang="en-US" sz="1100" dirty="0"/>
          </a:p>
        </p:txBody>
      </p:sp>
      <p:sp>
        <p:nvSpPr>
          <p:cNvPr id="41" name="Text 38"/>
          <p:cNvSpPr txBox="1"/>
          <p:nvPr/>
        </p:nvSpPr>
        <p:spPr>
          <a:xfrm>
            <a:off x="2606040" y="5449824"/>
            <a:ext cx="89611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Core: A + R. Develop: A + R + E. Stretch: all four, plus an opinion (</a:t>
            </a:r>
            <a:pPr algn="l" indent="0" marL="0">
              <a:buNone/>
            </a:pPr>
            <a:r>
              <a:rPr lang="ar-SA" altLang="en-US" sz="1650" dirty="0">
                <a:solidFill>
                  <a:srgbClr val="1F2A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فِي رَأْيِي</a:t>
            </a:r>
            <a:pPr algn="l" indent="0" marL="0">
              <a:buNone/>
            </a:pPr>
            <a:r>
              <a:rPr lang="en-US" sz="12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) or a contrast (</a:t>
            </a:r>
            <a:pPr algn="l" indent="0" marL="0">
              <a:buNone/>
            </a:pPr>
            <a:r>
              <a:rPr lang="ar-SA" altLang="en-US" sz="1650" dirty="0">
                <a:solidFill>
                  <a:srgbClr val="1F2A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لٰكِنَّ</a:t>
            </a:r>
            <a:pPr algn="l" indent="0" marL="0">
              <a:buNone/>
            </a:pPr>
            <a:r>
              <a:rPr lang="en-US" sz="12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).</a:t>
            </a:r>
            <a:endParaRPr lang="en-US" sz="1250" dirty="0"/>
          </a:p>
        </p:txBody>
      </p:sp>
      <p:sp>
        <p:nvSpPr>
          <p:cNvPr id="42" name="Text 39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13 / 21</a:t>
            </a:r>
            <a:endParaRPr lang="en-US" sz="8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TC-L04 · Speaking practice room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295083" y="274320"/>
            <a:ext cx="1464869" cy="329184"/>
          </a:xfrm>
          <a:prstGeom prst="roundRect">
            <a:avLst>
              <a:gd name="adj" fmla="val 50000"/>
            </a:avLst>
          </a:prstGeom>
          <a:solidFill>
            <a:srgbClr val="1E6B52"/>
          </a:solidFill>
          <a:ln w="12700">
            <a:solidFill>
              <a:srgbClr val="1E6B5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295083" y="274320"/>
            <a:ext cx="146486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 DO · 6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150" kern="0" dirty="0">
                <a:solidFill>
                  <a:srgbClr val="1E6B52"/>
                </a:solidFill>
                <a:latin typeface="Calibri" pitchFamily="34" charset="0"/>
                <a:cs typeface="Amiri" pitchFamily="2" charset="-78"/>
              </a:rPr>
              <a:t>STEP 4 · CONVERSATION CARD · THE LEADER ASKS, THE COACH PUSHES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5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Conversation: answer, then keep going</a:t>
            </a:r>
            <a:endParaRPr lang="en-US" sz="245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مَشَاكِلُ البِيئَةِ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C · Speaking practice room · TC-L04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10177272" y="1810512"/>
            <a:ext cx="14813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Route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7891272" y="1810512"/>
            <a:ext cx="21396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Coach’s follow-up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5239512" y="1810512"/>
            <a:ext cx="25054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Meaning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1033272" y="1810512"/>
            <a:ext cx="40599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Leader asks</a:t>
            </a:r>
            <a:endParaRPr lang="en-US" sz="1100" dirty="0"/>
          </a:p>
        </p:txBody>
      </p:sp>
      <p:sp>
        <p:nvSpPr>
          <p:cNvPr id="20" name="Text 17"/>
          <p:cNvSpPr txBox="1"/>
          <p:nvPr/>
        </p:nvSpPr>
        <p:spPr>
          <a:xfrm>
            <a:off x="530352" y="1810512"/>
            <a:ext cx="356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#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457200" y="2267712"/>
            <a:ext cx="11274552" cy="559308"/>
          </a:xfrm>
          <a:prstGeom prst="roundRect">
            <a:avLst>
              <a:gd name="adj" fmla="val 8174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10213848" y="2267712"/>
            <a:ext cx="1444752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1100" dirty="0"/>
          </a:p>
        </p:txBody>
      </p:sp>
      <p:sp>
        <p:nvSpPr>
          <p:cNvPr id="23" name="Text 20"/>
          <p:cNvSpPr txBox="1"/>
          <p:nvPr/>
        </p:nvSpPr>
        <p:spPr>
          <a:xfrm>
            <a:off x="7909560" y="2267712"/>
            <a:ext cx="210312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لِمَاذَا؟</a:t>
            </a:r>
            <a:endParaRPr lang="ar-SA" sz="1500" dirty="0"/>
          </a:p>
        </p:txBody>
      </p:sp>
      <p:sp>
        <p:nvSpPr>
          <p:cNvPr id="24" name="Text 21"/>
          <p:cNvSpPr txBox="1"/>
          <p:nvPr/>
        </p:nvSpPr>
        <p:spPr>
          <a:xfrm>
            <a:off x="5276088" y="2267712"/>
            <a:ext cx="246888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Is your city clean?</a:t>
            </a:r>
            <a:endParaRPr lang="en-US" sz="1100" dirty="0"/>
          </a:p>
        </p:txBody>
      </p:sp>
      <p:sp>
        <p:nvSpPr>
          <p:cNvPr id="25" name="Text 22"/>
          <p:cNvSpPr txBox="1"/>
          <p:nvPr/>
        </p:nvSpPr>
        <p:spPr>
          <a:xfrm>
            <a:off x="1051560" y="2267712"/>
            <a:ext cx="402336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هَلْ مَدِينَتُكَ نَظِيفَةٌ؟</a:t>
            </a:r>
            <a:endParaRPr lang="ar-SA" sz="1600" dirty="0"/>
          </a:p>
        </p:txBody>
      </p:sp>
      <p:sp>
        <p:nvSpPr>
          <p:cNvPr id="26" name="Text 23"/>
          <p:cNvSpPr txBox="1"/>
          <p:nvPr/>
        </p:nvSpPr>
        <p:spPr>
          <a:xfrm>
            <a:off x="566928" y="2267712"/>
            <a:ext cx="32004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27" name="Shape 24"/>
          <p:cNvSpPr/>
          <p:nvPr/>
        </p:nvSpPr>
        <p:spPr>
          <a:xfrm>
            <a:off x="11091672" y="2313432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11091672" y="2313432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29" name="Shape 26"/>
          <p:cNvSpPr/>
          <p:nvPr/>
        </p:nvSpPr>
        <p:spPr>
          <a:xfrm>
            <a:off x="457200" y="2881884"/>
            <a:ext cx="11274552" cy="559308"/>
          </a:xfrm>
          <a:prstGeom prst="roundRect">
            <a:avLst>
              <a:gd name="adj" fmla="val 8174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10213848" y="2881884"/>
            <a:ext cx="1444752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1100" dirty="0"/>
          </a:p>
        </p:txBody>
      </p:sp>
      <p:sp>
        <p:nvSpPr>
          <p:cNvPr id="31" name="Text 28"/>
          <p:cNvSpPr txBox="1"/>
          <p:nvPr/>
        </p:nvSpPr>
        <p:spPr>
          <a:xfrm>
            <a:off x="7909560" y="2881884"/>
            <a:ext cx="210312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هَلْ هٰذَا يُلَوِّثُ؟</a:t>
            </a:r>
            <a:endParaRPr lang="ar-SA" sz="1500" dirty="0"/>
          </a:p>
        </p:txBody>
      </p:sp>
      <p:sp>
        <p:nvSpPr>
          <p:cNvPr id="32" name="Text 29"/>
          <p:cNvSpPr txBox="1"/>
          <p:nvPr/>
        </p:nvSpPr>
        <p:spPr>
          <a:xfrm>
            <a:off x="5276088" y="2881884"/>
            <a:ext cx="246888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How do you get to school?</a:t>
            </a:r>
            <a:endParaRPr lang="en-US" sz="1100" dirty="0"/>
          </a:p>
        </p:txBody>
      </p:sp>
      <p:sp>
        <p:nvSpPr>
          <p:cNvPr id="33" name="Text 30"/>
          <p:cNvSpPr txBox="1"/>
          <p:nvPr/>
        </p:nvSpPr>
        <p:spPr>
          <a:xfrm>
            <a:off x="1051560" y="2881884"/>
            <a:ext cx="402336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كَيْفَ تَذْهَبُ إِلَى المَدْرَسَةِ؟</a:t>
            </a:r>
            <a:endParaRPr lang="ar-SA" sz="1600" dirty="0"/>
          </a:p>
        </p:txBody>
      </p:sp>
      <p:sp>
        <p:nvSpPr>
          <p:cNvPr id="34" name="Text 31"/>
          <p:cNvSpPr txBox="1"/>
          <p:nvPr/>
        </p:nvSpPr>
        <p:spPr>
          <a:xfrm>
            <a:off x="566928" y="2881884"/>
            <a:ext cx="32004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35" name="Shape 32"/>
          <p:cNvSpPr/>
          <p:nvPr/>
        </p:nvSpPr>
        <p:spPr>
          <a:xfrm>
            <a:off x="11091672" y="2927604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11091672" y="2927604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37" name="Shape 34"/>
          <p:cNvSpPr/>
          <p:nvPr/>
        </p:nvSpPr>
        <p:spPr>
          <a:xfrm>
            <a:off x="457200" y="3496056"/>
            <a:ext cx="11274552" cy="559308"/>
          </a:xfrm>
          <a:prstGeom prst="roundRect">
            <a:avLst>
              <a:gd name="adj" fmla="val 8174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8" name="Text 35"/>
          <p:cNvSpPr txBox="1"/>
          <p:nvPr/>
        </p:nvSpPr>
        <p:spPr>
          <a:xfrm>
            <a:off x="10213848" y="3496056"/>
            <a:ext cx="1444752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Develop</a:t>
            </a:r>
            <a:endParaRPr lang="en-US" sz="1100" dirty="0"/>
          </a:p>
        </p:txBody>
      </p:sp>
      <p:sp>
        <p:nvSpPr>
          <p:cNvPr id="39" name="Text 36"/>
          <p:cNvSpPr txBox="1"/>
          <p:nvPr/>
        </p:nvSpPr>
        <p:spPr>
          <a:xfrm>
            <a:off x="7909560" y="3496056"/>
            <a:ext cx="210312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مَا سَبَبُهَا؟</a:t>
            </a:r>
            <a:endParaRPr lang="ar-SA" sz="1500" dirty="0"/>
          </a:p>
        </p:txBody>
      </p:sp>
      <p:sp>
        <p:nvSpPr>
          <p:cNvPr id="40" name="Text 37"/>
          <p:cNvSpPr txBox="1"/>
          <p:nvPr/>
        </p:nvSpPr>
        <p:spPr>
          <a:xfrm>
            <a:off x="5276088" y="3496056"/>
            <a:ext cx="246888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Which environmental problem worries you most?</a:t>
            </a:r>
            <a:endParaRPr lang="en-US" sz="1100" dirty="0"/>
          </a:p>
        </p:txBody>
      </p:sp>
      <p:sp>
        <p:nvSpPr>
          <p:cNvPr id="41" name="Text 38"/>
          <p:cNvSpPr txBox="1"/>
          <p:nvPr/>
        </p:nvSpPr>
        <p:spPr>
          <a:xfrm>
            <a:off x="1051560" y="3496056"/>
            <a:ext cx="402336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مَا المُشْكِلَةُ البِيئِيَّةُ الَّتِي تُقْلِقُكَ أَكْثَرَ؟</a:t>
            </a:r>
            <a:endParaRPr lang="ar-SA" sz="1600" dirty="0"/>
          </a:p>
        </p:txBody>
      </p:sp>
      <p:sp>
        <p:nvSpPr>
          <p:cNvPr id="42" name="Text 39"/>
          <p:cNvSpPr txBox="1"/>
          <p:nvPr/>
        </p:nvSpPr>
        <p:spPr>
          <a:xfrm>
            <a:off x="566928" y="3496056"/>
            <a:ext cx="32004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43" name="Shape 40"/>
          <p:cNvSpPr/>
          <p:nvPr/>
        </p:nvSpPr>
        <p:spPr>
          <a:xfrm>
            <a:off x="457200" y="4110228"/>
            <a:ext cx="11274552" cy="559308"/>
          </a:xfrm>
          <a:prstGeom prst="roundRect">
            <a:avLst>
              <a:gd name="adj" fmla="val 8174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4" name="Text 41"/>
          <p:cNvSpPr txBox="1"/>
          <p:nvPr/>
        </p:nvSpPr>
        <p:spPr>
          <a:xfrm>
            <a:off x="10213848" y="4110228"/>
            <a:ext cx="1444752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Develop</a:t>
            </a:r>
            <a:endParaRPr lang="en-US" sz="1100" dirty="0"/>
          </a:p>
        </p:txBody>
      </p:sp>
      <p:sp>
        <p:nvSpPr>
          <p:cNvPr id="45" name="Text 42"/>
          <p:cNvSpPr txBox="1"/>
          <p:nvPr/>
        </p:nvSpPr>
        <p:spPr>
          <a:xfrm>
            <a:off x="7909560" y="4110228"/>
            <a:ext cx="210312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صِفْهُ.</a:t>
            </a:r>
            <a:endParaRPr lang="ar-SA" sz="1500" dirty="0"/>
          </a:p>
        </p:txBody>
      </p:sp>
      <p:sp>
        <p:nvSpPr>
          <p:cNvPr id="46" name="Text 43"/>
          <p:cNvSpPr txBox="1"/>
          <p:nvPr/>
        </p:nvSpPr>
        <p:spPr>
          <a:xfrm>
            <a:off x="5276088" y="4110228"/>
            <a:ext cx="246888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Have you seen pollution somewhere you visited?</a:t>
            </a:r>
            <a:endParaRPr lang="en-US" sz="1100" dirty="0"/>
          </a:p>
        </p:txBody>
      </p:sp>
      <p:sp>
        <p:nvSpPr>
          <p:cNvPr id="47" name="Text 44"/>
          <p:cNvSpPr txBox="1"/>
          <p:nvPr/>
        </p:nvSpPr>
        <p:spPr>
          <a:xfrm>
            <a:off x="1051560" y="4110228"/>
            <a:ext cx="402336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هَلْ رَأَيْتَ تَلَوُّثًا فِي مَكَانٍ زُرْتَهُ؟</a:t>
            </a:r>
            <a:endParaRPr lang="ar-SA" sz="1600" dirty="0"/>
          </a:p>
        </p:txBody>
      </p:sp>
      <p:sp>
        <p:nvSpPr>
          <p:cNvPr id="48" name="Text 45"/>
          <p:cNvSpPr txBox="1"/>
          <p:nvPr/>
        </p:nvSpPr>
        <p:spPr>
          <a:xfrm>
            <a:off x="566928" y="4110228"/>
            <a:ext cx="32004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49" name="Shape 46"/>
          <p:cNvSpPr/>
          <p:nvPr/>
        </p:nvSpPr>
        <p:spPr>
          <a:xfrm>
            <a:off x="457200" y="4724400"/>
            <a:ext cx="11274552" cy="559308"/>
          </a:xfrm>
          <a:prstGeom prst="roundRect">
            <a:avLst>
              <a:gd name="adj" fmla="val 8174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50" name="Text 47"/>
          <p:cNvSpPr txBox="1"/>
          <p:nvPr/>
        </p:nvSpPr>
        <p:spPr>
          <a:xfrm>
            <a:off x="10213848" y="4724400"/>
            <a:ext cx="1444752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Stretch</a:t>
            </a:r>
            <a:endParaRPr lang="en-US" sz="1100" dirty="0"/>
          </a:p>
        </p:txBody>
      </p:sp>
      <p:sp>
        <p:nvSpPr>
          <p:cNvPr id="51" name="Text 48"/>
          <p:cNvSpPr txBox="1"/>
          <p:nvPr/>
        </p:nvSpPr>
        <p:spPr>
          <a:xfrm>
            <a:off x="7909560" y="4724400"/>
            <a:ext cx="210312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وَالحُكُومَاتُ؟</a:t>
            </a:r>
            <a:endParaRPr lang="ar-SA" sz="1500" dirty="0"/>
          </a:p>
        </p:txBody>
      </p:sp>
      <p:sp>
        <p:nvSpPr>
          <p:cNvPr id="52" name="Text 49"/>
          <p:cNvSpPr txBox="1"/>
          <p:nvPr/>
        </p:nvSpPr>
        <p:spPr>
          <a:xfrm>
            <a:off x="5276088" y="4724400"/>
            <a:ext cx="246888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Are factories or people responsible for pollution?</a:t>
            </a:r>
            <a:endParaRPr lang="en-US" sz="1100" dirty="0"/>
          </a:p>
        </p:txBody>
      </p:sp>
      <p:sp>
        <p:nvSpPr>
          <p:cNvPr id="53" name="Text 50"/>
          <p:cNvSpPr txBox="1"/>
          <p:nvPr/>
        </p:nvSpPr>
        <p:spPr>
          <a:xfrm>
            <a:off x="1051560" y="4724400"/>
            <a:ext cx="402336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هَلِ المَصَانِعُ أَمِ النَّاسُ مَسْؤُولُونَ عَنِ التَّلَوُّثِ؟</a:t>
            </a:r>
            <a:endParaRPr lang="ar-SA" sz="1600" dirty="0"/>
          </a:p>
        </p:txBody>
      </p:sp>
      <p:sp>
        <p:nvSpPr>
          <p:cNvPr id="54" name="Text 51"/>
          <p:cNvSpPr txBox="1"/>
          <p:nvPr/>
        </p:nvSpPr>
        <p:spPr>
          <a:xfrm>
            <a:off x="566928" y="4724400"/>
            <a:ext cx="32004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5</a:t>
            </a:r>
            <a:endParaRPr lang="en-US" sz="1100" dirty="0"/>
          </a:p>
        </p:txBody>
      </p:sp>
      <p:sp>
        <p:nvSpPr>
          <p:cNvPr id="55" name="Shape 52"/>
          <p:cNvSpPr/>
          <p:nvPr/>
        </p:nvSpPr>
        <p:spPr>
          <a:xfrm>
            <a:off x="457200" y="5338572"/>
            <a:ext cx="11274552" cy="559308"/>
          </a:xfrm>
          <a:prstGeom prst="roundRect">
            <a:avLst>
              <a:gd name="adj" fmla="val 8174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56" name="Text 53"/>
          <p:cNvSpPr txBox="1"/>
          <p:nvPr/>
        </p:nvSpPr>
        <p:spPr>
          <a:xfrm>
            <a:off x="10213848" y="5338572"/>
            <a:ext cx="1444752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Stretch</a:t>
            </a:r>
            <a:endParaRPr lang="en-US" sz="1100" dirty="0"/>
          </a:p>
        </p:txBody>
      </p:sp>
      <p:sp>
        <p:nvSpPr>
          <p:cNvPr id="57" name="Text 54"/>
          <p:cNvSpPr txBox="1"/>
          <p:nvPr/>
        </p:nvSpPr>
        <p:spPr>
          <a:xfrm>
            <a:off x="7909560" y="5338572"/>
            <a:ext cx="210312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وَإِذَا تَغَيَّرْنَا؟</a:t>
            </a:r>
            <a:endParaRPr lang="ar-SA" sz="1500" dirty="0"/>
          </a:p>
        </p:txBody>
      </p:sp>
      <p:sp>
        <p:nvSpPr>
          <p:cNvPr id="58" name="Text 55"/>
          <p:cNvSpPr txBox="1"/>
          <p:nvPr/>
        </p:nvSpPr>
        <p:spPr>
          <a:xfrm>
            <a:off x="5276088" y="5338572"/>
            <a:ext cx="246888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What will the world be like in fifty years if we don’t change?</a:t>
            </a:r>
            <a:endParaRPr lang="en-US" sz="1100" dirty="0"/>
          </a:p>
        </p:txBody>
      </p:sp>
      <p:sp>
        <p:nvSpPr>
          <p:cNvPr id="59" name="Text 56"/>
          <p:cNvSpPr txBox="1"/>
          <p:nvPr/>
        </p:nvSpPr>
        <p:spPr>
          <a:xfrm>
            <a:off x="1051560" y="5338572"/>
            <a:ext cx="402336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كَيْفَ سَيَكُونُ العَالَمُ بَعْدَ خَمْسِينَ سَنَةً إِذَا لَمْ نَتَغَيَّرْ؟</a:t>
            </a:r>
            <a:endParaRPr lang="ar-SA" sz="1600" dirty="0"/>
          </a:p>
        </p:txBody>
      </p:sp>
      <p:sp>
        <p:nvSpPr>
          <p:cNvPr id="60" name="Text 57"/>
          <p:cNvSpPr txBox="1"/>
          <p:nvPr/>
        </p:nvSpPr>
        <p:spPr>
          <a:xfrm>
            <a:off x="566928" y="5338572"/>
            <a:ext cx="32004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6</a:t>
            </a:r>
            <a:endParaRPr lang="en-US" sz="1100" dirty="0"/>
          </a:p>
        </p:txBody>
      </p:sp>
      <p:sp>
        <p:nvSpPr>
          <p:cNvPr id="61" name="Text 58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Each Speaker answers three questions (one per route if you can), using A-R-E-T. The Coach asks the follow-up. Swap.</a:t>
            </a:r>
            <a:endParaRPr lang="en-US" sz="1150" dirty="0"/>
          </a:p>
        </p:txBody>
      </p:sp>
      <p:sp>
        <p:nvSpPr>
          <p:cNvPr id="62" name="Text 59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14 / 21</a:t>
            </a:r>
            <a:endParaRPr lang="en-US" sz="8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TC-L04 · Speaking practice room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295083" y="274320"/>
            <a:ext cx="1464869" cy="329184"/>
          </a:xfrm>
          <a:prstGeom prst="roundRect">
            <a:avLst>
              <a:gd name="adj" fmla="val 50000"/>
            </a:avLst>
          </a:prstGeom>
          <a:solidFill>
            <a:srgbClr val="1E6B52"/>
          </a:solidFill>
          <a:ln w="12700">
            <a:solidFill>
              <a:srgbClr val="1E6B5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295083" y="274320"/>
            <a:ext cx="146486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 DO · 5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1E6B52"/>
                </a:solidFill>
                <a:latin typeface="Calibri" pitchFamily="34" charset="0"/>
                <a:cs typeface="Amiri" pitchFamily="2" charset="-78"/>
              </a:rPr>
              <a:t>STEP 5 · THE ONE-MINUTE TALK · RECORD AND REVIEW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5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One minute: the biggest problem where I live</a:t>
            </a:r>
            <a:endParaRPr lang="en-US" sz="215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أَكْبَرُ مُشْكِلَةٍ فِي مِنْطَقَتِي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C · Speaking practice room · TC-L04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5715000" cy="4498848"/>
          </a:xfrm>
          <a:prstGeom prst="roundRect">
            <a:avLst>
              <a:gd name="adj" fmla="val 1626"/>
            </a:avLst>
          </a:prstGeom>
          <a:solidFill>
            <a:srgbClr val="F4F1EA"/>
          </a:solidFill>
          <a:ln w="9525">
            <a:solidFill>
              <a:srgbClr val="E8D49A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640080" y="1920240"/>
            <a:ext cx="3108960" cy="292608"/>
          </a:xfrm>
          <a:prstGeom prst="roundRect">
            <a:avLst>
              <a:gd name="adj" fmla="val 50000"/>
            </a:avLst>
          </a:prstGeom>
          <a:solidFill>
            <a:srgbClr val="8A6D1E"/>
          </a:solidFill>
          <a:ln w="12700">
            <a:solidFill>
              <a:srgbClr val="8A6D1E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640080" y="1920240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STEP 5 · IN YOUR ROOM</a:t>
            </a:r>
            <a:endParaRPr lang="en-US" sz="900" dirty="0"/>
          </a:p>
        </p:txBody>
      </p:sp>
      <p:sp>
        <p:nvSpPr>
          <p:cNvPr id="18" name="Text 15"/>
          <p:cNvSpPr txBox="1"/>
          <p:nvPr/>
        </p:nvSpPr>
        <p:spPr>
          <a:xfrm>
            <a:off x="640080" y="2286000"/>
            <a:ext cx="5349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⏱  Talk for one minute — no stopping</a:t>
            </a:r>
            <a:endParaRPr lang="en-US" sz="2200" dirty="0"/>
          </a:p>
        </p:txBody>
      </p:sp>
      <p:sp>
        <p:nvSpPr>
          <p:cNvPr id="19" name="Text 16"/>
          <p:cNvSpPr txBox="1"/>
          <p:nvPr/>
        </p:nvSpPr>
        <p:spPr>
          <a:xfrm>
            <a:off x="640080" y="2816352"/>
            <a:ext cx="5349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Talk for one minute about an environmental problem where you live: what it is, its causes, its effects on people and animals — something you saw — and who is responsible.</a:t>
            </a:r>
            <a:endParaRPr lang="en-US" sz="1350" dirty="0"/>
          </a:p>
        </p:txBody>
      </p:sp>
      <p:sp>
        <p:nvSpPr>
          <p:cNvPr id="20" name="Text 17"/>
          <p:cNvSpPr txBox="1"/>
          <p:nvPr/>
        </p:nvSpPr>
        <p:spPr>
          <a:xfrm>
            <a:off x="640080" y="4041648"/>
            <a:ext cx="5303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HOW WE RUN IT ONLINE</a:t>
            </a:r>
            <a:endParaRPr lang="en-US" sz="950" dirty="0"/>
          </a:p>
        </p:txBody>
      </p:sp>
      <p:sp>
        <p:nvSpPr>
          <p:cNvPr id="21" name="Shape 18"/>
          <p:cNvSpPr/>
          <p:nvPr/>
        </p:nvSpPr>
        <p:spPr>
          <a:xfrm>
            <a:off x="658368" y="4407408"/>
            <a:ext cx="274320" cy="27432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658368" y="44074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000" dirty="0"/>
          </a:p>
        </p:txBody>
      </p:sp>
      <p:sp>
        <p:nvSpPr>
          <p:cNvPr id="23" name="Text 20"/>
          <p:cNvSpPr txBox="1"/>
          <p:nvPr/>
        </p:nvSpPr>
        <p:spPr>
          <a:xfrm>
            <a:off x="1024128" y="4334256"/>
            <a:ext cx="4983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30 seconds: jot 4 key words (one per bullet) — no sentences.</a:t>
            </a:r>
            <a:endParaRPr lang="en-US" sz="1150" dirty="0"/>
          </a:p>
        </p:txBody>
      </p:sp>
      <p:sp>
        <p:nvSpPr>
          <p:cNvPr id="24" name="Shape 21"/>
          <p:cNvSpPr/>
          <p:nvPr/>
        </p:nvSpPr>
        <p:spPr>
          <a:xfrm>
            <a:off x="658368" y="4864608"/>
            <a:ext cx="274320" cy="27432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658368" y="48646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000" dirty="0"/>
          </a:p>
        </p:txBody>
      </p:sp>
      <p:sp>
        <p:nvSpPr>
          <p:cNvPr id="26" name="Text 23"/>
          <p:cNvSpPr txBox="1"/>
          <p:nvPr/>
        </p:nvSpPr>
        <p:spPr>
          <a:xfrm>
            <a:off x="1024128" y="4791456"/>
            <a:ext cx="4983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Speaker talks; the Leader times it (record it on your phone or in Teams if you can).</a:t>
            </a:r>
            <a:endParaRPr lang="en-US" sz="1150" dirty="0"/>
          </a:p>
        </p:txBody>
      </p:sp>
      <p:sp>
        <p:nvSpPr>
          <p:cNvPr id="27" name="Shape 24"/>
          <p:cNvSpPr/>
          <p:nvPr/>
        </p:nvSpPr>
        <p:spPr>
          <a:xfrm>
            <a:off x="658368" y="5321808"/>
            <a:ext cx="274320" cy="27432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658368" y="53218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000" dirty="0"/>
          </a:p>
        </p:txBody>
      </p:sp>
      <p:sp>
        <p:nvSpPr>
          <p:cNvPr id="29" name="Text 26"/>
          <p:cNvSpPr txBox="1"/>
          <p:nvPr/>
        </p:nvSpPr>
        <p:spPr>
          <a:xfrm>
            <a:off x="1024128" y="5248656"/>
            <a:ext cx="4983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Coach: tick the checklist on the next slide, then WWW + EBI.</a:t>
            </a:r>
            <a:endParaRPr lang="en-US" sz="1150" dirty="0"/>
          </a:p>
        </p:txBody>
      </p:sp>
      <p:sp>
        <p:nvSpPr>
          <p:cNvPr id="30" name="Shape 27"/>
          <p:cNvSpPr/>
          <p:nvPr/>
        </p:nvSpPr>
        <p:spPr>
          <a:xfrm>
            <a:off x="658368" y="5779008"/>
            <a:ext cx="274320" cy="27432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658368" y="57790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000" dirty="0"/>
          </a:p>
        </p:txBody>
      </p:sp>
      <p:sp>
        <p:nvSpPr>
          <p:cNvPr id="32" name="Text 29"/>
          <p:cNvSpPr txBox="1"/>
          <p:nvPr/>
        </p:nvSpPr>
        <p:spPr>
          <a:xfrm>
            <a:off x="1024128" y="5705856"/>
            <a:ext cx="4983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Swap. Listen back to your recording at home and fix one sentence.</a:t>
            </a:r>
            <a:endParaRPr lang="en-US" sz="1150" dirty="0"/>
          </a:p>
        </p:txBody>
      </p:sp>
      <p:sp>
        <p:nvSpPr>
          <p:cNvPr id="33" name="Shape 30"/>
          <p:cNvSpPr/>
          <p:nvPr/>
        </p:nvSpPr>
        <p:spPr>
          <a:xfrm>
            <a:off x="6355080" y="1810512"/>
            <a:ext cx="5376672" cy="896112"/>
          </a:xfrm>
          <a:prstGeom prst="roundRect">
            <a:avLst>
              <a:gd name="adj" fmla="val 8163"/>
            </a:avLst>
          </a:prstGeom>
          <a:solidFill>
            <a:srgbClr val="E9F5EE"/>
          </a:solidFill>
          <a:ln w="9525">
            <a:solidFill>
              <a:srgbClr val="2E8B57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34" name="Shape 31"/>
          <p:cNvSpPr/>
          <p:nvPr/>
        </p:nvSpPr>
        <p:spPr>
          <a:xfrm>
            <a:off x="6473952" y="1901952"/>
            <a:ext cx="105156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6473952" y="1901952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50" dirty="0"/>
          </a:p>
        </p:txBody>
      </p:sp>
      <p:sp>
        <p:nvSpPr>
          <p:cNvPr id="36" name="Text 33"/>
          <p:cNvSpPr txBox="1"/>
          <p:nvPr/>
        </p:nvSpPr>
        <p:spPr>
          <a:xfrm>
            <a:off x="6473952" y="2176272"/>
            <a:ext cx="5120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30 seconds: the problem, one cause (</a:t>
            </a:r>
            <a:pPr algn="l" indent="0" marL="0">
              <a:buNone/>
            </a:pPr>
            <a:r>
              <a:rPr lang="ar-SA" altLang="en-US" sz="1500" dirty="0">
                <a:solidFill>
                  <a:srgbClr val="1F2A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بِسَبَبِ</a:t>
            </a:r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 …), one effect.</a:t>
            </a:r>
            <a:endParaRPr lang="en-US" sz="1150" dirty="0"/>
          </a:p>
        </p:txBody>
      </p:sp>
      <p:sp>
        <p:nvSpPr>
          <p:cNvPr id="37" name="Shape 34"/>
          <p:cNvSpPr/>
          <p:nvPr/>
        </p:nvSpPr>
        <p:spPr>
          <a:xfrm>
            <a:off x="6355080" y="2816352"/>
            <a:ext cx="5376672" cy="896112"/>
          </a:xfrm>
          <a:prstGeom prst="roundRect">
            <a:avLst>
              <a:gd name="adj" fmla="val 8163"/>
            </a:avLst>
          </a:prstGeom>
          <a:solidFill>
            <a:srgbClr val="FCF1E0"/>
          </a:solidFill>
          <a:ln w="9525">
            <a:solidFill>
              <a:srgbClr val="C9780A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38" name="Shape 35"/>
          <p:cNvSpPr/>
          <p:nvPr/>
        </p:nvSpPr>
        <p:spPr>
          <a:xfrm>
            <a:off x="6473952" y="2907792"/>
            <a:ext cx="1051560" cy="256032"/>
          </a:xfrm>
          <a:prstGeom prst="roundRect">
            <a:avLst>
              <a:gd name="adj" fmla="val 50000"/>
            </a:avLst>
          </a:prstGeom>
          <a:solidFill>
            <a:srgbClr val="C9780A"/>
          </a:solidFill>
          <a:ln w="12700">
            <a:solidFill>
              <a:srgbClr val="C9780A"/>
            </a:solidFill>
            <a:prstDash val="solid"/>
          </a:ln>
        </p:spPr>
      </p:sp>
      <p:sp>
        <p:nvSpPr>
          <p:cNvPr id="39" name="Text 36"/>
          <p:cNvSpPr txBox="1"/>
          <p:nvPr/>
        </p:nvSpPr>
        <p:spPr>
          <a:xfrm>
            <a:off x="6473952" y="2907792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DEVELOP</a:t>
            </a:r>
            <a:endParaRPr lang="en-US" sz="850" dirty="0"/>
          </a:p>
        </p:txBody>
      </p:sp>
      <p:sp>
        <p:nvSpPr>
          <p:cNvPr id="40" name="Text 37"/>
          <p:cNvSpPr txBox="1"/>
          <p:nvPr/>
        </p:nvSpPr>
        <p:spPr>
          <a:xfrm>
            <a:off x="6473952" y="3182112"/>
            <a:ext cx="5120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60 seconds: add </a:t>
            </a:r>
            <a:pPr algn="l" indent="0" marL="0">
              <a:buNone/>
            </a:pPr>
            <a:r>
              <a:rPr lang="ar-SA" altLang="en-US" sz="1500" dirty="0">
                <a:solidFill>
                  <a:srgbClr val="1F2A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مِمَّا يُسَبِّبُ</a:t>
            </a:r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 …, a passive verb and something you saw.</a:t>
            </a:r>
            <a:endParaRPr lang="en-US" sz="1150" dirty="0"/>
          </a:p>
        </p:txBody>
      </p:sp>
      <p:sp>
        <p:nvSpPr>
          <p:cNvPr id="41" name="Shape 38"/>
          <p:cNvSpPr/>
          <p:nvPr/>
        </p:nvSpPr>
        <p:spPr>
          <a:xfrm>
            <a:off x="6355080" y="3822192"/>
            <a:ext cx="5376672" cy="896112"/>
          </a:xfrm>
          <a:prstGeom prst="roundRect">
            <a:avLst>
              <a:gd name="adj" fmla="val 8163"/>
            </a:avLst>
          </a:prstGeom>
          <a:solidFill>
            <a:srgbClr val="FBEAEA"/>
          </a:solidFill>
          <a:ln w="9525">
            <a:solidFill>
              <a:srgbClr val="B83227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42" name="Shape 39"/>
          <p:cNvSpPr/>
          <p:nvPr/>
        </p:nvSpPr>
        <p:spPr>
          <a:xfrm>
            <a:off x="6473952" y="3913632"/>
            <a:ext cx="1051560" cy="256032"/>
          </a:xfrm>
          <a:prstGeom prst="roundRect">
            <a:avLst>
              <a:gd name="adj" fmla="val 50000"/>
            </a:avLst>
          </a:prstGeom>
          <a:solidFill>
            <a:srgbClr val="B83227"/>
          </a:solidFill>
          <a:ln w="12700">
            <a:solidFill>
              <a:srgbClr val="B83227"/>
            </a:solidFill>
            <a:prstDash val="solid"/>
          </a:ln>
        </p:spPr>
      </p:sp>
      <p:sp>
        <p:nvSpPr>
          <p:cNvPr id="43" name="Text 40"/>
          <p:cNvSpPr txBox="1"/>
          <p:nvPr/>
        </p:nvSpPr>
        <p:spPr>
          <a:xfrm>
            <a:off x="6473952" y="3913632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STRETCH</a:t>
            </a:r>
            <a:endParaRPr lang="en-US" sz="850" dirty="0"/>
          </a:p>
        </p:txBody>
      </p:sp>
      <p:sp>
        <p:nvSpPr>
          <p:cNvPr id="44" name="Text 41"/>
          <p:cNvSpPr txBox="1"/>
          <p:nvPr/>
        </p:nvSpPr>
        <p:spPr>
          <a:xfrm>
            <a:off x="6473952" y="4187952"/>
            <a:ext cx="5120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90 seconds: add an opinion on who is responsible and a concession.</a:t>
            </a:r>
            <a:endParaRPr lang="en-US" sz="1150" dirty="0"/>
          </a:p>
        </p:txBody>
      </p:sp>
      <p:sp>
        <p:nvSpPr>
          <p:cNvPr id="45" name="Shape 42"/>
          <p:cNvSpPr/>
          <p:nvPr/>
        </p:nvSpPr>
        <p:spPr>
          <a:xfrm>
            <a:off x="6355080" y="4828032"/>
            <a:ext cx="5376672" cy="1481328"/>
          </a:xfrm>
          <a:prstGeom prst="roundRect">
            <a:avLst>
              <a:gd name="adj" fmla="val 4938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46" name="Text 43"/>
          <p:cNvSpPr txBox="1"/>
          <p:nvPr/>
        </p:nvSpPr>
        <p:spPr>
          <a:xfrm>
            <a:off x="6492240" y="4882896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USEFUL LANGUAGE</a:t>
            </a:r>
            <a:endParaRPr lang="en-US" sz="950" dirty="0"/>
          </a:p>
        </p:txBody>
      </p:sp>
      <p:sp>
        <p:nvSpPr>
          <p:cNvPr id="47" name="Text 44"/>
          <p:cNvSpPr txBox="1"/>
          <p:nvPr/>
        </p:nvSpPr>
        <p:spPr>
          <a:xfrm>
            <a:off x="8732520" y="5138928"/>
            <a:ext cx="28803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3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سَأَتَكَلَّمُ عَنْ …</a:t>
            </a:r>
            <a:endParaRPr lang="ar-SA" sz="1300" dirty="0"/>
          </a:p>
        </p:txBody>
      </p:sp>
      <p:sp>
        <p:nvSpPr>
          <p:cNvPr id="48" name="Text 45"/>
          <p:cNvSpPr txBox="1"/>
          <p:nvPr/>
        </p:nvSpPr>
        <p:spPr>
          <a:xfrm>
            <a:off x="6492240" y="5138928"/>
            <a:ext cx="21945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 am going to talk about …</a:t>
            </a:r>
            <a:endParaRPr lang="en-US" sz="1000" dirty="0"/>
          </a:p>
        </p:txBody>
      </p:sp>
      <p:sp>
        <p:nvSpPr>
          <p:cNvPr id="49" name="Text 46"/>
          <p:cNvSpPr txBox="1"/>
          <p:nvPr/>
        </p:nvSpPr>
        <p:spPr>
          <a:xfrm>
            <a:off x="8732520" y="5422392"/>
            <a:ext cx="28803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3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أَوَّلًا … ثُمَّ …</a:t>
            </a:r>
            <a:endParaRPr lang="ar-SA" sz="1300" dirty="0"/>
          </a:p>
        </p:txBody>
      </p:sp>
      <p:sp>
        <p:nvSpPr>
          <p:cNvPr id="50" name="Text 47"/>
          <p:cNvSpPr txBox="1"/>
          <p:nvPr/>
        </p:nvSpPr>
        <p:spPr>
          <a:xfrm>
            <a:off x="6492240" y="5422392"/>
            <a:ext cx="21945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first … then …</a:t>
            </a:r>
            <a:endParaRPr lang="en-US" sz="1000" dirty="0"/>
          </a:p>
        </p:txBody>
      </p:sp>
      <p:sp>
        <p:nvSpPr>
          <p:cNvPr id="51" name="Text 48"/>
          <p:cNvSpPr txBox="1"/>
          <p:nvPr/>
        </p:nvSpPr>
        <p:spPr>
          <a:xfrm>
            <a:off x="8732520" y="5705856"/>
            <a:ext cx="28803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3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بِالإِضَافَةِ إِلَى ذٰلِكَ …</a:t>
            </a:r>
            <a:endParaRPr lang="ar-SA" sz="1300" dirty="0"/>
          </a:p>
        </p:txBody>
      </p:sp>
      <p:sp>
        <p:nvSpPr>
          <p:cNvPr id="52" name="Text 49"/>
          <p:cNvSpPr txBox="1"/>
          <p:nvPr/>
        </p:nvSpPr>
        <p:spPr>
          <a:xfrm>
            <a:off x="6492240" y="5705856"/>
            <a:ext cx="21945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in addition …</a:t>
            </a:r>
            <a:endParaRPr lang="en-US" sz="1000" dirty="0"/>
          </a:p>
        </p:txBody>
      </p:sp>
      <p:sp>
        <p:nvSpPr>
          <p:cNvPr id="53" name="Text 50"/>
          <p:cNvSpPr txBox="1"/>
          <p:nvPr/>
        </p:nvSpPr>
        <p:spPr>
          <a:xfrm>
            <a:off x="8732520" y="5989320"/>
            <a:ext cx="28803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3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فِي الخِتَامِ …</a:t>
            </a:r>
            <a:endParaRPr lang="ar-SA" sz="1300" dirty="0"/>
          </a:p>
        </p:txBody>
      </p:sp>
      <p:sp>
        <p:nvSpPr>
          <p:cNvPr id="54" name="Text 51"/>
          <p:cNvSpPr txBox="1"/>
          <p:nvPr/>
        </p:nvSpPr>
        <p:spPr>
          <a:xfrm>
            <a:off x="6492240" y="5989320"/>
            <a:ext cx="21945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to finish …</a:t>
            </a:r>
            <a:endParaRPr lang="en-US" sz="1000" dirty="0"/>
          </a:p>
        </p:txBody>
      </p:sp>
      <p:sp>
        <p:nvSpPr>
          <p:cNvPr id="55" name="Text 52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15 / 21</a:t>
            </a:r>
            <a:endParaRPr lang="en-US" sz="8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TC-L04 · Speaking practice room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295083" y="274320"/>
            <a:ext cx="1464869" cy="329184"/>
          </a:xfrm>
          <a:prstGeom prst="roundRect">
            <a:avLst>
              <a:gd name="adj" fmla="val 50000"/>
            </a:avLst>
          </a:prstGeom>
          <a:solidFill>
            <a:srgbClr val="1E6B52"/>
          </a:solidFill>
          <a:ln w="12700">
            <a:solidFill>
              <a:srgbClr val="1E6B5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295083" y="274320"/>
            <a:ext cx="146486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 DO · 1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1E6B52"/>
                </a:solidFill>
                <a:latin typeface="Calibri" pitchFamily="34" charset="0"/>
                <a:cs typeface="Amiri" pitchFamily="2" charset="-78"/>
              </a:rPr>
              <a:t>COACH · CHECKLIST FOR EVERY STEP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Coach: tick, then give WWW + EBI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وَرَقَةُ المُدَرِّبِ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C · Speaking practice room · TC-L04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8759952" y="1810512"/>
            <a:ext cx="28986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Example you heard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7754112" y="1810512"/>
            <a:ext cx="8595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✓ / ✗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6382512" y="1810512"/>
            <a:ext cx="12252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Route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530352" y="1810512"/>
            <a:ext cx="57058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The Speaker …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457200" y="2267712"/>
            <a:ext cx="11274552" cy="559308"/>
          </a:xfrm>
          <a:prstGeom prst="roundRect">
            <a:avLst>
              <a:gd name="adj" fmla="val 8174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8796528" y="2267712"/>
            <a:ext cx="2862072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22" name="Text 19"/>
          <p:cNvSpPr txBox="1"/>
          <p:nvPr/>
        </p:nvSpPr>
        <p:spPr>
          <a:xfrm>
            <a:off x="7790688" y="2267712"/>
            <a:ext cx="82296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23" name="Text 20"/>
          <p:cNvSpPr txBox="1"/>
          <p:nvPr/>
        </p:nvSpPr>
        <p:spPr>
          <a:xfrm>
            <a:off x="6419088" y="2267712"/>
            <a:ext cx="118872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1100" dirty="0"/>
          </a:p>
        </p:txBody>
      </p:sp>
      <p:sp>
        <p:nvSpPr>
          <p:cNvPr id="24" name="Text 21"/>
          <p:cNvSpPr txBox="1"/>
          <p:nvPr/>
        </p:nvSpPr>
        <p:spPr>
          <a:xfrm>
            <a:off x="566928" y="2267712"/>
            <a:ext cx="566928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answered every question / task in a FULL sentence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11091672" y="2313432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11091672" y="2313432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27" name="Shape 24"/>
          <p:cNvSpPr/>
          <p:nvPr/>
        </p:nvSpPr>
        <p:spPr>
          <a:xfrm>
            <a:off x="457200" y="2881884"/>
            <a:ext cx="11274552" cy="559308"/>
          </a:xfrm>
          <a:prstGeom prst="roundRect">
            <a:avLst>
              <a:gd name="adj" fmla="val 8174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8796528" y="2881884"/>
            <a:ext cx="2862072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29" name="Text 26"/>
          <p:cNvSpPr txBox="1"/>
          <p:nvPr/>
        </p:nvSpPr>
        <p:spPr>
          <a:xfrm>
            <a:off x="7790688" y="2881884"/>
            <a:ext cx="82296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30" name="Text 27"/>
          <p:cNvSpPr txBox="1"/>
          <p:nvPr/>
        </p:nvSpPr>
        <p:spPr>
          <a:xfrm>
            <a:off x="6419088" y="2881884"/>
            <a:ext cx="118872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1100" dirty="0"/>
          </a:p>
        </p:txBody>
      </p:sp>
      <p:sp>
        <p:nvSpPr>
          <p:cNvPr id="31" name="Text 28"/>
          <p:cNvSpPr txBox="1"/>
          <p:nvPr/>
        </p:nvSpPr>
        <p:spPr>
          <a:xfrm>
            <a:off x="566928" y="2881884"/>
            <a:ext cx="566928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linked a cause with </a:t>
            </a:r>
            <a:pPr algn="l" indent="0" marL="0">
              <a:buNone/>
            </a:pPr>
            <a:r>
              <a:rPr lang="ar-SA" altLang="en-US" sz="1450" dirty="0">
                <a:solidFill>
                  <a:srgbClr val="5A6472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بِسَبَبِ / لِأَنَّ</a:t>
            </a:r>
            <a:endParaRPr lang="en-US" sz="1100" dirty="0"/>
          </a:p>
        </p:txBody>
      </p:sp>
      <p:sp>
        <p:nvSpPr>
          <p:cNvPr id="32" name="Shape 29"/>
          <p:cNvSpPr/>
          <p:nvPr/>
        </p:nvSpPr>
        <p:spPr>
          <a:xfrm>
            <a:off x="11091672" y="2927604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11091672" y="2927604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34" name="Shape 31"/>
          <p:cNvSpPr/>
          <p:nvPr/>
        </p:nvSpPr>
        <p:spPr>
          <a:xfrm>
            <a:off x="457200" y="3496056"/>
            <a:ext cx="11274552" cy="559308"/>
          </a:xfrm>
          <a:prstGeom prst="roundRect">
            <a:avLst>
              <a:gd name="adj" fmla="val 8174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8796528" y="3496056"/>
            <a:ext cx="2862072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36" name="Text 33"/>
          <p:cNvSpPr txBox="1"/>
          <p:nvPr/>
        </p:nvSpPr>
        <p:spPr>
          <a:xfrm>
            <a:off x="7790688" y="3496056"/>
            <a:ext cx="82296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37" name="Text 34"/>
          <p:cNvSpPr txBox="1"/>
          <p:nvPr/>
        </p:nvSpPr>
        <p:spPr>
          <a:xfrm>
            <a:off x="6419088" y="3496056"/>
            <a:ext cx="118872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Develop</a:t>
            </a:r>
            <a:endParaRPr lang="en-US" sz="1100" dirty="0"/>
          </a:p>
        </p:txBody>
      </p:sp>
      <p:sp>
        <p:nvSpPr>
          <p:cNvPr id="38" name="Text 35"/>
          <p:cNvSpPr txBox="1"/>
          <p:nvPr/>
        </p:nvSpPr>
        <p:spPr>
          <a:xfrm>
            <a:off x="566928" y="3496056"/>
            <a:ext cx="566928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gave a reason (</a:t>
            </a:r>
            <a:pPr algn="l" indent="0" marL="0">
              <a:buNone/>
            </a:pPr>
            <a:r>
              <a:rPr lang="ar-SA" altLang="en-US" sz="1450" dirty="0">
                <a:solidFill>
                  <a:srgbClr val="5A6472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لِأَنَّ</a:t>
            </a:r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) and a detail (time, frequency, example)</a:t>
            </a:r>
            <a:endParaRPr lang="en-US" sz="1100" dirty="0"/>
          </a:p>
        </p:txBody>
      </p:sp>
      <p:sp>
        <p:nvSpPr>
          <p:cNvPr id="39" name="Shape 36"/>
          <p:cNvSpPr/>
          <p:nvPr/>
        </p:nvSpPr>
        <p:spPr>
          <a:xfrm>
            <a:off x="457200" y="4110228"/>
            <a:ext cx="11274552" cy="559308"/>
          </a:xfrm>
          <a:prstGeom prst="roundRect">
            <a:avLst>
              <a:gd name="adj" fmla="val 8174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8796528" y="4110228"/>
            <a:ext cx="2862072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41" name="Text 38"/>
          <p:cNvSpPr txBox="1"/>
          <p:nvPr/>
        </p:nvSpPr>
        <p:spPr>
          <a:xfrm>
            <a:off x="7790688" y="4110228"/>
            <a:ext cx="82296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42" name="Text 39"/>
          <p:cNvSpPr txBox="1"/>
          <p:nvPr/>
        </p:nvSpPr>
        <p:spPr>
          <a:xfrm>
            <a:off x="6419088" y="4110228"/>
            <a:ext cx="118872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Develop</a:t>
            </a:r>
            <a:endParaRPr lang="en-US" sz="1100" dirty="0"/>
          </a:p>
        </p:txBody>
      </p:sp>
      <p:sp>
        <p:nvSpPr>
          <p:cNvPr id="43" name="Text 40"/>
          <p:cNvSpPr txBox="1"/>
          <p:nvPr/>
        </p:nvSpPr>
        <p:spPr>
          <a:xfrm>
            <a:off x="566928" y="4110228"/>
            <a:ext cx="566928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linked an effect with </a:t>
            </a:r>
            <a:pPr algn="l" indent="0" marL="0">
              <a:buNone/>
            </a:pPr>
            <a:r>
              <a:rPr lang="ar-SA" altLang="en-US" sz="1450" dirty="0">
                <a:solidFill>
                  <a:srgbClr val="5A6472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يُؤَدِّي إِلَى / مِمَّا يُسَبِّبُ</a:t>
            </a:r>
            <a:endParaRPr lang="en-US" sz="1100" dirty="0"/>
          </a:p>
        </p:txBody>
      </p:sp>
      <p:sp>
        <p:nvSpPr>
          <p:cNvPr id="44" name="Shape 41"/>
          <p:cNvSpPr/>
          <p:nvPr/>
        </p:nvSpPr>
        <p:spPr>
          <a:xfrm>
            <a:off x="457200" y="4724400"/>
            <a:ext cx="11274552" cy="559308"/>
          </a:xfrm>
          <a:prstGeom prst="roundRect">
            <a:avLst>
              <a:gd name="adj" fmla="val 8174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5" name="Text 42"/>
          <p:cNvSpPr txBox="1"/>
          <p:nvPr/>
        </p:nvSpPr>
        <p:spPr>
          <a:xfrm>
            <a:off x="8796528" y="4724400"/>
            <a:ext cx="2862072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46" name="Text 43"/>
          <p:cNvSpPr txBox="1"/>
          <p:nvPr/>
        </p:nvSpPr>
        <p:spPr>
          <a:xfrm>
            <a:off x="7790688" y="4724400"/>
            <a:ext cx="82296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47" name="Text 44"/>
          <p:cNvSpPr txBox="1"/>
          <p:nvPr/>
        </p:nvSpPr>
        <p:spPr>
          <a:xfrm>
            <a:off x="6419088" y="4724400"/>
            <a:ext cx="118872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Stretch</a:t>
            </a:r>
            <a:endParaRPr lang="en-US" sz="1100" dirty="0"/>
          </a:p>
        </p:txBody>
      </p:sp>
      <p:sp>
        <p:nvSpPr>
          <p:cNvPr id="48" name="Text 45"/>
          <p:cNvSpPr txBox="1"/>
          <p:nvPr/>
        </p:nvSpPr>
        <p:spPr>
          <a:xfrm>
            <a:off x="566928" y="4724400"/>
            <a:ext cx="566928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changed the time frame (past or future) or gave an opinion</a:t>
            </a:r>
            <a:endParaRPr lang="en-US" sz="1100" dirty="0"/>
          </a:p>
        </p:txBody>
      </p:sp>
      <p:sp>
        <p:nvSpPr>
          <p:cNvPr id="49" name="Shape 46"/>
          <p:cNvSpPr/>
          <p:nvPr/>
        </p:nvSpPr>
        <p:spPr>
          <a:xfrm>
            <a:off x="457200" y="5338572"/>
            <a:ext cx="11274552" cy="559308"/>
          </a:xfrm>
          <a:prstGeom prst="roundRect">
            <a:avLst>
              <a:gd name="adj" fmla="val 8174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50" name="Text 47"/>
          <p:cNvSpPr txBox="1"/>
          <p:nvPr/>
        </p:nvSpPr>
        <p:spPr>
          <a:xfrm>
            <a:off x="8796528" y="5338572"/>
            <a:ext cx="2862072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51" name="Text 48"/>
          <p:cNvSpPr txBox="1"/>
          <p:nvPr/>
        </p:nvSpPr>
        <p:spPr>
          <a:xfrm>
            <a:off x="7790688" y="5338572"/>
            <a:ext cx="82296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52" name="Text 49"/>
          <p:cNvSpPr txBox="1"/>
          <p:nvPr/>
        </p:nvSpPr>
        <p:spPr>
          <a:xfrm>
            <a:off x="6419088" y="5338572"/>
            <a:ext cx="118872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All</a:t>
            </a:r>
            <a:endParaRPr lang="en-US" sz="1100" dirty="0"/>
          </a:p>
        </p:txBody>
      </p:sp>
      <p:sp>
        <p:nvSpPr>
          <p:cNvPr id="53" name="Text 50"/>
          <p:cNvSpPr txBox="1"/>
          <p:nvPr/>
        </p:nvSpPr>
        <p:spPr>
          <a:xfrm>
            <a:off x="566928" y="5338572"/>
            <a:ext cx="566928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kept going with a repair phrase instead of silence</a:t>
            </a:r>
            <a:endParaRPr lang="en-US" sz="1100" dirty="0"/>
          </a:p>
        </p:txBody>
      </p:sp>
      <p:sp>
        <p:nvSpPr>
          <p:cNvPr id="54" name="Text 51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Feedback is kind and specific: “WWW: you used </a:t>
            </a:r>
            <a:pPr algn="l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لِأَنَّ</a:t>
            </a:r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 twice. EBI: add a past sentence.”</a:t>
            </a:r>
            <a:endParaRPr lang="en-US" sz="1150" dirty="0"/>
          </a:p>
        </p:txBody>
      </p:sp>
      <p:sp>
        <p:nvSpPr>
          <p:cNvPr id="55" name="Text 52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16 / 21</a:t>
            </a:r>
            <a:endParaRPr lang="en-US" sz="8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TC-L04 · Speaking practice room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143293" y="274320"/>
            <a:ext cx="1616659" cy="329184"/>
          </a:xfrm>
          <a:prstGeom prst="roundRect">
            <a:avLst>
              <a:gd name="adj" fmla="val 50000"/>
            </a:avLst>
          </a:prstGeom>
          <a:solidFill>
            <a:srgbClr val="8A6D1E"/>
          </a:solidFill>
          <a:ln w="12700">
            <a:solidFill>
              <a:srgbClr val="8A6D1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143293" y="274320"/>
            <a:ext cx="161665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FEEDBACK · 2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CHECK YOURSELF · ROLE PLAY 1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Role play 1: compare with a strong answer</a:t>
            </a:r>
            <a:endParaRPr lang="en-US" sz="22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قَارِنْ إِجَابَتَكَ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C · Speaking practice room · TC-L04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4782312" y="1810512"/>
            <a:ext cx="68762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A strong answer (with English)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1033272" y="1810512"/>
            <a:ext cx="36027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Leader reads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530352" y="1810512"/>
            <a:ext cx="356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#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457200" y="2267712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4800600" y="2286000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تُوجَدُ نُفَايَاتٌ كَثِيرَةٌ فِي الحَدِيقَةِ العَامَّةِ.</a:t>
            </a:r>
            <a:endParaRPr lang="ar-SA" sz="1800" dirty="0"/>
          </a:p>
        </p:txBody>
      </p:sp>
      <p:sp>
        <p:nvSpPr>
          <p:cNvPr id="21" name="Text 18"/>
          <p:cNvSpPr txBox="1"/>
          <p:nvPr/>
        </p:nvSpPr>
        <p:spPr>
          <a:xfrm>
            <a:off x="4754880" y="2676997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There is a lot of rubbish in the public park.</a:t>
            </a:r>
            <a:endParaRPr lang="en-US" sz="950" dirty="0"/>
          </a:p>
        </p:txBody>
      </p:sp>
      <p:sp>
        <p:nvSpPr>
          <p:cNvPr id="22" name="Text 19"/>
          <p:cNvSpPr txBox="1"/>
          <p:nvPr/>
        </p:nvSpPr>
        <p:spPr>
          <a:xfrm>
            <a:off x="1051560" y="2267712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البَلَدِيَّةُ، تَفَضَّلْ. مَا المُشْكِلَةُ؟</a:t>
            </a:r>
            <a:endParaRPr lang="ar-SA" sz="1600" dirty="0"/>
          </a:p>
        </p:txBody>
      </p:sp>
      <p:sp>
        <p:nvSpPr>
          <p:cNvPr id="23" name="Text 20"/>
          <p:cNvSpPr txBox="1"/>
          <p:nvPr/>
        </p:nvSpPr>
        <p:spPr>
          <a:xfrm>
            <a:off x="566928" y="2267712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457200" y="300471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4800600" y="3023006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تَقَعُ فِي شَارِعِ المَحَطَّةِ، بِجَانِبِ المَدْرَسَةِ.</a:t>
            </a:r>
            <a:endParaRPr lang="ar-SA" sz="1800" dirty="0"/>
          </a:p>
        </p:txBody>
      </p:sp>
      <p:sp>
        <p:nvSpPr>
          <p:cNvPr id="26" name="Text 23"/>
          <p:cNvSpPr txBox="1"/>
          <p:nvPr/>
        </p:nvSpPr>
        <p:spPr>
          <a:xfrm>
            <a:off x="4754880" y="3414004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It is on Station Road, next to the school.</a:t>
            </a:r>
            <a:endParaRPr lang="en-US" sz="950" dirty="0"/>
          </a:p>
        </p:txBody>
      </p:sp>
      <p:sp>
        <p:nvSpPr>
          <p:cNvPr id="27" name="Text 24"/>
          <p:cNvSpPr txBox="1"/>
          <p:nvPr/>
        </p:nvSpPr>
        <p:spPr>
          <a:xfrm>
            <a:off x="1051560" y="3004718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أَيْنَ تَقَعُ الحَدِيقَةُ؟</a:t>
            </a:r>
            <a:endParaRPr lang="ar-SA" sz="1600" dirty="0"/>
          </a:p>
        </p:txBody>
      </p:sp>
      <p:sp>
        <p:nvSpPr>
          <p:cNvPr id="28" name="Text 25"/>
          <p:cNvSpPr txBox="1"/>
          <p:nvPr/>
        </p:nvSpPr>
        <p:spPr>
          <a:xfrm>
            <a:off x="566928" y="300471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29" name="Shape 26"/>
          <p:cNvSpPr/>
          <p:nvPr/>
        </p:nvSpPr>
        <p:spPr>
          <a:xfrm>
            <a:off x="457200" y="3741725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4800600" y="3760013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مُنْذُ ثَلَاثَةِ أَسَابِيعَ.</a:t>
            </a:r>
            <a:endParaRPr lang="ar-SA" sz="1800" dirty="0"/>
          </a:p>
        </p:txBody>
      </p:sp>
      <p:sp>
        <p:nvSpPr>
          <p:cNvPr id="31" name="Text 28"/>
          <p:cNvSpPr txBox="1"/>
          <p:nvPr/>
        </p:nvSpPr>
        <p:spPr>
          <a:xfrm>
            <a:off x="4754880" y="4151010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For three weeks.</a:t>
            </a:r>
            <a:endParaRPr lang="en-US" sz="950" dirty="0"/>
          </a:p>
        </p:txBody>
      </p:sp>
      <p:sp>
        <p:nvSpPr>
          <p:cNvPr id="32" name="Text 29"/>
          <p:cNvSpPr txBox="1"/>
          <p:nvPr/>
        </p:nvSpPr>
        <p:spPr>
          <a:xfrm>
            <a:off x="1051560" y="3741725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مُنْذُ مَتَى؟</a:t>
            </a:r>
            <a:endParaRPr lang="ar-SA" sz="1600" dirty="0"/>
          </a:p>
        </p:txBody>
      </p:sp>
      <p:sp>
        <p:nvSpPr>
          <p:cNvPr id="33" name="Text 30"/>
          <p:cNvSpPr txBox="1"/>
          <p:nvPr/>
        </p:nvSpPr>
        <p:spPr>
          <a:xfrm>
            <a:off x="566928" y="3741725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34" name="Shape 31"/>
          <p:cNvSpPr/>
          <p:nvPr/>
        </p:nvSpPr>
        <p:spPr>
          <a:xfrm>
            <a:off x="457200" y="4478731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4800600" y="4497019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نَعَمْ، بِسَبَبِ النُّفَايَاتِ، تَأْتِي الفِئْرَانُ إِلَى البُيُوتِ.</a:t>
            </a:r>
            <a:endParaRPr lang="ar-SA" sz="1800" dirty="0"/>
          </a:p>
        </p:txBody>
      </p:sp>
      <p:sp>
        <p:nvSpPr>
          <p:cNvPr id="36" name="Text 33"/>
          <p:cNvSpPr txBox="1"/>
          <p:nvPr/>
        </p:nvSpPr>
        <p:spPr>
          <a:xfrm>
            <a:off x="4754880" y="4888017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Yes, because of the rubbish, rats come to the houses.</a:t>
            </a:r>
            <a:endParaRPr lang="en-US" sz="950" dirty="0"/>
          </a:p>
        </p:txBody>
      </p:sp>
      <p:sp>
        <p:nvSpPr>
          <p:cNvPr id="37" name="Text 34"/>
          <p:cNvSpPr txBox="1"/>
          <p:nvPr/>
        </p:nvSpPr>
        <p:spPr>
          <a:xfrm>
            <a:off x="1051560" y="4478731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هَلْ هُنَاكَ مُشْكِلَةٌ أُخْرَى؟</a:t>
            </a:r>
            <a:endParaRPr lang="ar-SA" sz="1600" dirty="0"/>
          </a:p>
        </p:txBody>
      </p:sp>
      <p:sp>
        <p:nvSpPr>
          <p:cNvPr id="38" name="Text 35"/>
          <p:cNvSpPr txBox="1"/>
          <p:nvPr/>
        </p:nvSpPr>
        <p:spPr>
          <a:xfrm>
            <a:off x="566928" y="4478731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39" name="Shape 36"/>
          <p:cNvSpPr/>
          <p:nvPr/>
        </p:nvSpPr>
        <p:spPr>
          <a:xfrm>
            <a:off x="457200" y="521573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4800600" y="5234026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فِي رَأْيِي النَّاسُ مَسْؤُولُونَ، لِأَنَّهُمْ يَرْمُونَ النُّفَايَاتِ عَلَى الأَرْضِ.</a:t>
            </a:r>
            <a:endParaRPr lang="ar-SA" sz="1800" dirty="0"/>
          </a:p>
        </p:txBody>
      </p:sp>
      <p:sp>
        <p:nvSpPr>
          <p:cNvPr id="41" name="Text 38"/>
          <p:cNvSpPr txBox="1"/>
          <p:nvPr/>
        </p:nvSpPr>
        <p:spPr>
          <a:xfrm>
            <a:off x="4754880" y="5625023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In my opinion people are responsible, because they throw rubbish on the ground.</a:t>
            </a:r>
            <a:endParaRPr lang="en-US" sz="950" dirty="0"/>
          </a:p>
        </p:txBody>
      </p:sp>
      <p:sp>
        <p:nvSpPr>
          <p:cNvPr id="42" name="Text 39"/>
          <p:cNvSpPr txBox="1"/>
          <p:nvPr/>
        </p:nvSpPr>
        <p:spPr>
          <a:xfrm>
            <a:off x="1051560" y="5215738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مَنِ المَسْؤُولُ فِي رَأْيِكَ؟</a:t>
            </a:r>
            <a:endParaRPr lang="ar-SA" sz="1600" dirty="0"/>
          </a:p>
        </p:txBody>
      </p:sp>
      <p:sp>
        <p:nvSpPr>
          <p:cNvPr id="43" name="Text 40"/>
          <p:cNvSpPr txBox="1"/>
          <p:nvPr/>
        </p:nvSpPr>
        <p:spPr>
          <a:xfrm>
            <a:off x="566928" y="521573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5</a:t>
            </a:r>
            <a:endParaRPr lang="en-US" sz="1100" dirty="0"/>
          </a:p>
        </p:txBody>
      </p:sp>
      <p:sp>
        <p:nvSpPr>
          <p:cNvPr id="44" name="Text 41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Compare: did you answer EVERY task with a full sentence? Steal one phrase you did not use and say it aloud.</a:t>
            </a:r>
            <a:endParaRPr lang="en-US" sz="1150" dirty="0"/>
          </a:p>
        </p:txBody>
      </p:sp>
      <p:sp>
        <p:nvSpPr>
          <p:cNvPr id="45" name="Text 42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17 / 21</a:t>
            </a:r>
            <a:endParaRPr lang="en-US" sz="8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TC-L04 · Speaking practice room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143293" y="274320"/>
            <a:ext cx="1616659" cy="329184"/>
          </a:xfrm>
          <a:prstGeom prst="roundRect">
            <a:avLst>
              <a:gd name="adj" fmla="val 50000"/>
            </a:avLst>
          </a:prstGeom>
          <a:solidFill>
            <a:srgbClr val="8A6D1E"/>
          </a:solidFill>
          <a:ln w="12700">
            <a:solidFill>
              <a:srgbClr val="8A6D1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143293" y="274320"/>
            <a:ext cx="161665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FEEDBACK · 2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CHECK YOURSELF · ROLE PLAY 2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Role play 2: compare with a strong answer</a:t>
            </a:r>
            <a:endParaRPr lang="en-US" sz="22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قَارِنْ إِجَابَتَكَ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C · Speaking practice room · TC-L04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4782312" y="1810512"/>
            <a:ext cx="68762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A strong answer (with English)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1033272" y="1810512"/>
            <a:ext cx="36027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Leader reads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530352" y="1810512"/>
            <a:ext cx="356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#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457200" y="2267712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4800600" y="2286000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فِي الشَّهْرِ المَاضِي، رُمِيَتْ مَوَادُّ كِيمْيَائِيَّةٌ مِنْ مَصْنَعٍ قَرِيبٍ فِي النَّهْرِ، فَمَاتَتْ أَسْمَاكٌ كَثِيرَةٌ.</a:t>
            </a:r>
            <a:endParaRPr lang="ar-SA" sz="1750" dirty="0"/>
          </a:p>
        </p:txBody>
      </p:sp>
      <p:sp>
        <p:nvSpPr>
          <p:cNvPr id="21" name="Text 18"/>
          <p:cNvSpPr txBox="1"/>
          <p:nvPr/>
        </p:nvSpPr>
        <p:spPr>
          <a:xfrm>
            <a:off x="4754880" y="2676997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Last month, chemicals from a nearby factory were dumped in the river, and many fish died.</a:t>
            </a:r>
            <a:endParaRPr lang="en-US" sz="950" dirty="0"/>
          </a:p>
        </p:txBody>
      </p:sp>
      <p:sp>
        <p:nvSpPr>
          <p:cNvPr id="22" name="Text 19"/>
          <p:cNvSpPr txBox="1"/>
          <p:nvPr/>
        </p:nvSpPr>
        <p:spPr>
          <a:xfrm>
            <a:off x="1051560" y="2267712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مَاذَا حَدَثَ لِلنَّهْرِ؟</a:t>
            </a:r>
            <a:endParaRPr lang="ar-SA" sz="1600" dirty="0"/>
          </a:p>
        </p:txBody>
      </p:sp>
      <p:sp>
        <p:nvSpPr>
          <p:cNvPr id="23" name="Text 20"/>
          <p:cNvSpPr txBox="1"/>
          <p:nvPr/>
        </p:nvSpPr>
        <p:spPr>
          <a:xfrm>
            <a:off x="566928" y="2267712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457200" y="300471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4800600" y="3023006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لَا يَسْتَطِيعُ الأَطْفَالُ أَنْ يَلْعَبُوا بِجَانِبِهِ، وَالرَّائِحَةُ كَرِيهَةٌ، مِمَّا يُؤَدِّي إِلَى مَشَاكِلَ صِحِّيَّةٍ.</a:t>
            </a:r>
            <a:endParaRPr lang="ar-SA" sz="1750" dirty="0"/>
          </a:p>
        </p:txBody>
      </p:sp>
      <p:sp>
        <p:nvSpPr>
          <p:cNvPr id="26" name="Text 23"/>
          <p:cNvSpPr txBox="1"/>
          <p:nvPr/>
        </p:nvSpPr>
        <p:spPr>
          <a:xfrm>
            <a:off x="4754880" y="3414004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Children can’t play by it, and the smell is awful, which leads to health problems.</a:t>
            </a:r>
            <a:endParaRPr lang="en-US" sz="950" dirty="0"/>
          </a:p>
        </p:txBody>
      </p:sp>
      <p:sp>
        <p:nvSpPr>
          <p:cNvPr id="27" name="Text 24"/>
          <p:cNvSpPr txBox="1"/>
          <p:nvPr/>
        </p:nvSpPr>
        <p:spPr>
          <a:xfrm>
            <a:off x="1051560" y="3004718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مَا نَتَائِجُ ذٰلِكَ عَلَى النَّاسِ؟</a:t>
            </a:r>
            <a:endParaRPr lang="ar-SA" sz="1600" dirty="0"/>
          </a:p>
        </p:txBody>
      </p:sp>
      <p:sp>
        <p:nvSpPr>
          <p:cNvPr id="28" name="Text 25"/>
          <p:cNvSpPr txBox="1"/>
          <p:nvPr/>
        </p:nvSpPr>
        <p:spPr>
          <a:xfrm>
            <a:off x="566928" y="300471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29" name="Shape 26"/>
          <p:cNvSpPr/>
          <p:nvPr/>
        </p:nvSpPr>
        <p:spPr>
          <a:xfrm>
            <a:off x="457200" y="3741725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4800600" y="3760013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كَانَ نَظِيفًا وَأَزْرَقَ، وَكُنَّا نَصْطَادُ فِيهِ مَعَ أَبِي، أَمَّا الآنَ فَهُوَ أَسْوَدُ وَمَهْجُورٌ.</a:t>
            </a:r>
            <a:endParaRPr lang="ar-SA" sz="1800" dirty="0"/>
          </a:p>
        </p:txBody>
      </p:sp>
      <p:sp>
        <p:nvSpPr>
          <p:cNvPr id="31" name="Text 28"/>
          <p:cNvSpPr txBox="1"/>
          <p:nvPr/>
        </p:nvSpPr>
        <p:spPr>
          <a:xfrm>
            <a:off x="4754880" y="4151010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It was clean and blue, and we used to fish there with dad — now it is black and deserted.</a:t>
            </a:r>
            <a:endParaRPr lang="en-US" sz="950" dirty="0"/>
          </a:p>
        </p:txBody>
      </p:sp>
      <p:sp>
        <p:nvSpPr>
          <p:cNvPr id="32" name="Text 29"/>
          <p:cNvSpPr txBox="1"/>
          <p:nvPr/>
        </p:nvSpPr>
        <p:spPr>
          <a:xfrm>
            <a:off x="1051560" y="3741725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كَيْفَ كَانَ النَّهْرُ قَبْلَ ذٰلِكَ؟</a:t>
            </a:r>
            <a:endParaRPr lang="ar-SA" sz="1600" dirty="0"/>
          </a:p>
        </p:txBody>
      </p:sp>
      <p:sp>
        <p:nvSpPr>
          <p:cNvPr id="33" name="Text 30"/>
          <p:cNvSpPr txBox="1"/>
          <p:nvPr/>
        </p:nvSpPr>
        <p:spPr>
          <a:xfrm>
            <a:off x="566928" y="3741725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34" name="Shape 31"/>
          <p:cNvSpPr/>
          <p:nvPr/>
        </p:nvSpPr>
        <p:spPr>
          <a:xfrm>
            <a:off x="457200" y="4478731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4800600" y="4497019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كَتَبْنَا رِسَالَةً، لٰكِنَّهُمْ لَمْ يَرُدُّوا. هَلْ يُمْكِنُ أَنْ تَسْأَلُوهُمْ أَنْتُمْ فِي التِّلْفَازِ؟</a:t>
            </a:r>
            <a:endParaRPr lang="ar-SA" sz="1800" dirty="0"/>
          </a:p>
        </p:txBody>
      </p:sp>
      <p:sp>
        <p:nvSpPr>
          <p:cNvPr id="36" name="Text 33"/>
          <p:cNvSpPr txBox="1"/>
          <p:nvPr/>
        </p:nvSpPr>
        <p:spPr>
          <a:xfrm>
            <a:off x="4754880" y="4888017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We wrote a letter but they didn’t reply. Could you ask them on TV?</a:t>
            </a:r>
            <a:endParaRPr lang="en-US" sz="950" dirty="0"/>
          </a:p>
        </p:txBody>
      </p:sp>
      <p:sp>
        <p:nvSpPr>
          <p:cNvPr id="37" name="Text 34"/>
          <p:cNvSpPr txBox="1"/>
          <p:nvPr/>
        </p:nvSpPr>
        <p:spPr>
          <a:xfrm>
            <a:off x="1051560" y="4478731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هَلْ تَكَلَّمْتُمْ مَعَ المَصْنَعِ؟</a:t>
            </a:r>
            <a:endParaRPr lang="ar-SA" sz="1600" dirty="0"/>
          </a:p>
        </p:txBody>
      </p:sp>
      <p:sp>
        <p:nvSpPr>
          <p:cNvPr id="38" name="Text 35"/>
          <p:cNvSpPr txBox="1"/>
          <p:nvPr/>
        </p:nvSpPr>
        <p:spPr>
          <a:xfrm>
            <a:off x="566928" y="4478731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39" name="Shape 36"/>
          <p:cNvSpPr/>
          <p:nvPr/>
        </p:nvSpPr>
        <p:spPr>
          <a:xfrm>
            <a:off x="457200" y="521573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4800600" y="5234026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صَحِيحٌ أَنَّ المَصْنَعَ مُهِمٌّ لِلْعَمَلِ، غَيْرَ أَنَّ صِحَّةَ النَّاسِ أَهَمُّ؛ يَجِبُ أَنْ يُنَظِّفَ النَّهْرَ، لَا أَنْ يُغْلَقَ.</a:t>
            </a:r>
            <a:endParaRPr lang="ar-SA" sz="1700" dirty="0"/>
          </a:p>
        </p:txBody>
      </p:sp>
      <p:sp>
        <p:nvSpPr>
          <p:cNvPr id="41" name="Text 38"/>
          <p:cNvSpPr txBox="1"/>
          <p:nvPr/>
        </p:nvSpPr>
        <p:spPr>
          <a:xfrm>
            <a:off x="4754880" y="5625023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It’s true the factory matters for jobs, but people’s health matters more — it must clean the river, not be closed.</a:t>
            </a:r>
            <a:endParaRPr lang="en-US" sz="950" dirty="0"/>
          </a:p>
        </p:txBody>
      </p:sp>
      <p:sp>
        <p:nvSpPr>
          <p:cNvPr id="42" name="Text 39"/>
          <p:cNvSpPr txBox="1"/>
          <p:nvPr/>
        </p:nvSpPr>
        <p:spPr>
          <a:xfrm>
            <a:off x="1051560" y="5215738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لَوْ أُغْلِقَ المَصْنَعُ، سَيَفْقِدُ النَّاسُ عَمَلَهُمْ. مَا رَأْيُكَ؟</a:t>
            </a:r>
            <a:endParaRPr lang="ar-SA" sz="1600" dirty="0"/>
          </a:p>
        </p:txBody>
      </p:sp>
      <p:sp>
        <p:nvSpPr>
          <p:cNvPr id="43" name="Text 40"/>
          <p:cNvSpPr txBox="1"/>
          <p:nvPr/>
        </p:nvSpPr>
        <p:spPr>
          <a:xfrm>
            <a:off x="566928" y="521573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5</a:t>
            </a:r>
            <a:endParaRPr lang="en-US" sz="1100" dirty="0"/>
          </a:p>
        </p:txBody>
      </p:sp>
      <p:sp>
        <p:nvSpPr>
          <p:cNvPr id="44" name="Text 41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Compare: did you answer EVERY task with a full sentence? Steal one phrase you did not use and say it aloud.</a:t>
            </a:r>
            <a:endParaRPr lang="en-US" sz="1150" dirty="0"/>
          </a:p>
        </p:txBody>
      </p:sp>
      <p:sp>
        <p:nvSpPr>
          <p:cNvPr id="45" name="Text 42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18 / 21</a:t>
            </a:r>
            <a:endParaRPr lang="en-US" sz="8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TC-L04 · Speaking practice room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143293" y="274320"/>
            <a:ext cx="1616659" cy="329184"/>
          </a:xfrm>
          <a:prstGeom prst="roundRect">
            <a:avLst>
              <a:gd name="adj" fmla="val 50000"/>
            </a:avLst>
          </a:prstGeom>
          <a:solidFill>
            <a:srgbClr val="8A6D1E"/>
          </a:solidFill>
          <a:ln w="12700">
            <a:solidFill>
              <a:srgbClr val="8A6D1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143293" y="274320"/>
            <a:ext cx="161665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FEEDBACK · 2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CHECK YOURSELF · CONVERSATION AND ONE-MINUTE TALK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35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Strong answers to compare with yours</a:t>
            </a:r>
            <a:endParaRPr lang="en-US" sz="235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نَمَاذِجُ لِلْمُقَارَنَةِ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C · Speaking practice room · TC-L04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4325112" y="1810512"/>
            <a:ext cx="73334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A strong answer (with English)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1033272" y="1810512"/>
            <a:ext cx="31455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Question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530352" y="1810512"/>
            <a:ext cx="356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#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457200" y="2267712"/>
            <a:ext cx="11274552" cy="73152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4343400" y="2286000"/>
            <a:ext cx="7296912" cy="4535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lnSpc>
                <a:spcPct val="120000"/>
              </a:lnSpc>
              <a:buNone/>
            </a:pPr>
            <a:r>
              <a:rPr lang="ar-SA" altLang="en-US" sz="12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يُقْلِقُنِي الاحْتِبَاسُ الحَرَارِيُّ أَكْثَرَ، لِأَنَّهُ يُؤَدِّي إِلَى ذَوَبَانِ الجَلِيدِ؛ مَثَلًا، رَأَيْتُ فِيلْمًا عَنِ الدِّبَبَةِ القُطْبِيَّةِ الَّتِي فَقَدَتْ بَيْتَهَا، وَسَأُشَارِكُ فِي حَمْلَةٍ فِي مَدْرَسَتِي.</a:t>
            </a:r>
            <a:endParaRPr lang="ar-SA" sz="1200" dirty="0"/>
          </a:p>
        </p:txBody>
      </p:sp>
      <p:sp>
        <p:nvSpPr>
          <p:cNvPr id="21" name="Text 18"/>
          <p:cNvSpPr txBox="1"/>
          <p:nvPr/>
        </p:nvSpPr>
        <p:spPr>
          <a:xfrm>
            <a:off x="4297680" y="2706624"/>
            <a:ext cx="7388352" cy="2779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A: global warming · R: it leads to ice melting · E: I saw a film about polar bears losing their home · T: I’ll join a campaign at school.</a:t>
            </a:r>
            <a:endParaRPr lang="en-US" sz="900" dirty="0"/>
          </a:p>
        </p:txBody>
      </p:sp>
      <p:sp>
        <p:nvSpPr>
          <p:cNvPr id="22" name="Text 19"/>
          <p:cNvSpPr txBox="1"/>
          <p:nvPr/>
        </p:nvSpPr>
        <p:spPr>
          <a:xfrm>
            <a:off x="1051560" y="2267712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مَا المُشْكِلَةُ البِيئِيَّةُ الَّتِي تُقْلِقُكَ أَكْثَرَ؟</a:t>
            </a:r>
            <a:endParaRPr lang="ar-SA" sz="1500" dirty="0"/>
          </a:p>
        </p:txBody>
      </p:sp>
      <p:sp>
        <p:nvSpPr>
          <p:cNvPr id="23" name="Text 20"/>
          <p:cNvSpPr txBox="1"/>
          <p:nvPr/>
        </p:nvSpPr>
        <p:spPr>
          <a:xfrm>
            <a:off x="566928" y="2267712"/>
            <a:ext cx="320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457200" y="3054096"/>
            <a:ext cx="11274552" cy="731520"/>
          </a:xfrm>
          <a:prstGeom prst="roundRect">
            <a:avLst>
              <a:gd name="adj" fmla="val 6250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4343400" y="3072384"/>
            <a:ext cx="7296912" cy="4535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lnSpc>
                <a:spcPct val="120000"/>
              </a:lnSpc>
              <a:buNone/>
            </a:pPr>
            <a:r>
              <a:rPr lang="ar-SA" altLang="en-US" sz="12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نَعَمْ، فِي الصَّيْفِ المَاضِي زُرْتُ شَاطِئًا فِي مِصْرَ، وَكَانَتْ عَلَيْهِ زُجَاجَاتٌ بْلَاسْتِيكِيَّةٌ كَثِيرَةٌ، لِأَنَّ السُّيَّاحَ تَرَكُوهَا؛ لِذٰلِكَ جَمَعْنَاهَا مَعَ أَبِي فِي أَكْيَاسٍ.</a:t>
            </a:r>
            <a:endParaRPr lang="ar-SA" sz="1200" dirty="0"/>
          </a:p>
        </p:txBody>
      </p:sp>
      <p:sp>
        <p:nvSpPr>
          <p:cNvPr id="26" name="Text 23"/>
          <p:cNvSpPr txBox="1"/>
          <p:nvPr/>
        </p:nvSpPr>
        <p:spPr>
          <a:xfrm>
            <a:off x="4297680" y="3493008"/>
            <a:ext cx="7388352" cy="2779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A: yes, a beach in Egypt last summer · E: lots of plastic bottles on it · R: tourists left them · T/result: so we collected them in bags with dad.</a:t>
            </a:r>
            <a:endParaRPr lang="en-US" sz="850" dirty="0"/>
          </a:p>
        </p:txBody>
      </p:sp>
      <p:sp>
        <p:nvSpPr>
          <p:cNvPr id="27" name="Text 24"/>
          <p:cNvSpPr txBox="1"/>
          <p:nvPr/>
        </p:nvSpPr>
        <p:spPr>
          <a:xfrm>
            <a:off x="1051560" y="3054096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هَلْ رَأَيْتَ تَلَوُّثًا فِي مَكَانٍ زُرْتَهُ؟</a:t>
            </a:r>
            <a:endParaRPr lang="ar-SA" sz="1500" dirty="0"/>
          </a:p>
        </p:txBody>
      </p:sp>
      <p:sp>
        <p:nvSpPr>
          <p:cNvPr id="28" name="Text 25"/>
          <p:cNvSpPr txBox="1"/>
          <p:nvPr/>
        </p:nvSpPr>
        <p:spPr>
          <a:xfrm>
            <a:off x="566928" y="3054096"/>
            <a:ext cx="320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29" name="Shape 26"/>
          <p:cNvSpPr/>
          <p:nvPr/>
        </p:nvSpPr>
        <p:spPr>
          <a:xfrm>
            <a:off x="457200" y="3840480"/>
            <a:ext cx="11274552" cy="73152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4343400" y="3858768"/>
            <a:ext cx="7296912" cy="4535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2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فِي رَأْيِي كِلَاهُمَا مَسْؤُولٌ؛ صَحِيحٌ أَنَّ المَصَانِعَ تُلَوِّثُ الهَوَاءَ وَالمَاءَ أَكْثَرَ، غَيْرَ أَنَّنَا نَشْتَرِي مُنْتَجَاتِهَا، فَإِذَا اشْتَرَيْنَا أَقَلَّ، أَنْتَجَتْ أَقَلَّ.</a:t>
            </a:r>
            <a:endParaRPr lang="ar-SA" sz="1200" dirty="0"/>
          </a:p>
        </p:txBody>
      </p:sp>
      <p:sp>
        <p:nvSpPr>
          <p:cNvPr id="31" name="Text 28"/>
          <p:cNvSpPr txBox="1"/>
          <p:nvPr/>
        </p:nvSpPr>
        <p:spPr>
          <a:xfrm>
            <a:off x="4297680" y="4279392"/>
            <a:ext cx="7388352" cy="2779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Opinion: both · concession: factories pollute air and water more, but we buy their products — if we buy less, they produce less.</a:t>
            </a:r>
            <a:endParaRPr lang="en-US" sz="950" dirty="0"/>
          </a:p>
        </p:txBody>
      </p:sp>
      <p:sp>
        <p:nvSpPr>
          <p:cNvPr id="32" name="Text 29"/>
          <p:cNvSpPr txBox="1"/>
          <p:nvPr/>
        </p:nvSpPr>
        <p:spPr>
          <a:xfrm>
            <a:off x="1051560" y="3840480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هَلِ المَصَانِعُ أَمِ النَّاسُ مَسْؤُولُونَ عَنِ التَّلَوُّثِ؟</a:t>
            </a:r>
            <a:endParaRPr lang="ar-SA" sz="1500" dirty="0"/>
          </a:p>
        </p:txBody>
      </p:sp>
      <p:sp>
        <p:nvSpPr>
          <p:cNvPr id="33" name="Text 30"/>
          <p:cNvSpPr txBox="1"/>
          <p:nvPr/>
        </p:nvSpPr>
        <p:spPr>
          <a:xfrm>
            <a:off x="566928" y="3840480"/>
            <a:ext cx="320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34" name="Text 31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Find the A, R, E and T in each answer. Which link do you usually forget?</a:t>
            </a:r>
            <a:endParaRPr lang="en-US" sz="1150" dirty="0"/>
          </a:p>
        </p:txBody>
      </p:sp>
      <p:sp>
        <p:nvSpPr>
          <p:cNvPr id="35" name="Text 32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19 / 21</a:t>
            </a:r>
            <a:endParaRPr lang="en-US" sz="8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TC-L04 · Speaking practice room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143293" y="274320"/>
            <a:ext cx="1616659" cy="329184"/>
          </a:xfrm>
          <a:prstGeom prst="roundRect">
            <a:avLst>
              <a:gd name="adj" fmla="val 50000"/>
            </a:avLst>
          </a:prstGeom>
          <a:solidFill>
            <a:srgbClr val="8A6D1E"/>
          </a:solidFill>
          <a:ln w="12700">
            <a:solidFill>
              <a:srgbClr val="8A6D1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143293" y="274320"/>
            <a:ext cx="161665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FEEDBACK · 1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FEEDBACK · SUCCESS CRITERIA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Check your work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قَيِّمْ عَمَلَكَ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C · Speaking practice room · TC-L04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7406640" cy="771754"/>
          </a:xfrm>
          <a:prstGeom prst="roundRect">
            <a:avLst>
              <a:gd name="adj" fmla="val 9479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685800" y="2086661"/>
            <a:ext cx="219456" cy="219456"/>
          </a:xfrm>
          <a:prstGeom prst="rect">
            <a:avLst/>
          </a:prstGeom>
          <a:solidFill>
            <a:srgbClr val="FFFFFF"/>
          </a:solidFill>
          <a:ln w="19050">
            <a:solidFill>
              <a:srgbClr val="2E8B57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1097280" y="1810512"/>
            <a:ext cx="5394960" cy="7717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I answered every role-play task in a full sentence.</a:t>
            </a:r>
            <a:endParaRPr lang="en-US" sz="1300" dirty="0"/>
          </a:p>
        </p:txBody>
      </p:sp>
      <p:sp>
        <p:nvSpPr>
          <p:cNvPr id="18" name="Shape 15"/>
          <p:cNvSpPr/>
          <p:nvPr/>
        </p:nvSpPr>
        <p:spPr>
          <a:xfrm>
            <a:off x="6583680" y="2068373"/>
            <a:ext cx="109728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6583680" y="2068373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20" name="Shape 17"/>
          <p:cNvSpPr/>
          <p:nvPr/>
        </p:nvSpPr>
        <p:spPr>
          <a:xfrm>
            <a:off x="457200" y="2710282"/>
            <a:ext cx="7406640" cy="771754"/>
          </a:xfrm>
          <a:prstGeom prst="roundRect">
            <a:avLst>
              <a:gd name="adj" fmla="val 9479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685800" y="2986430"/>
            <a:ext cx="219456" cy="219456"/>
          </a:xfrm>
          <a:prstGeom prst="rect">
            <a:avLst/>
          </a:prstGeom>
          <a:solidFill>
            <a:srgbClr val="FFFFFF"/>
          </a:solidFill>
          <a:ln w="19050">
            <a:solidFill>
              <a:srgbClr val="2E8B57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1097280" y="2710282"/>
            <a:ext cx="5394960" cy="7717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I planned my first words from the question word.</a:t>
            </a:r>
            <a:endParaRPr lang="en-US" sz="1300" dirty="0"/>
          </a:p>
        </p:txBody>
      </p:sp>
      <p:sp>
        <p:nvSpPr>
          <p:cNvPr id="23" name="Shape 20"/>
          <p:cNvSpPr/>
          <p:nvPr/>
        </p:nvSpPr>
        <p:spPr>
          <a:xfrm>
            <a:off x="6583680" y="2968142"/>
            <a:ext cx="109728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6583680" y="2968142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25" name="Shape 22"/>
          <p:cNvSpPr/>
          <p:nvPr/>
        </p:nvSpPr>
        <p:spPr>
          <a:xfrm>
            <a:off x="457200" y="3610051"/>
            <a:ext cx="7406640" cy="771754"/>
          </a:xfrm>
          <a:prstGeom prst="roundRect">
            <a:avLst>
              <a:gd name="adj" fmla="val 9479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26" name="Shape 23"/>
          <p:cNvSpPr/>
          <p:nvPr/>
        </p:nvSpPr>
        <p:spPr>
          <a:xfrm>
            <a:off x="685800" y="3886200"/>
            <a:ext cx="219456" cy="219456"/>
          </a:xfrm>
          <a:prstGeom prst="rect">
            <a:avLst/>
          </a:prstGeom>
          <a:solidFill>
            <a:srgbClr val="FFFFFF"/>
          </a:solidFill>
          <a:ln w="19050">
            <a:solidFill>
              <a:srgbClr val="C9780A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1097280" y="3610051"/>
            <a:ext cx="5394960" cy="7717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I climbed to level 3: answer + reason + detail.</a:t>
            </a:r>
            <a:endParaRPr lang="en-US" sz="1300" dirty="0"/>
          </a:p>
        </p:txBody>
      </p:sp>
      <p:sp>
        <p:nvSpPr>
          <p:cNvPr id="28" name="Shape 25"/>
          <p:cNvSpPr/>
          <p:nvPr/>
        </p:nvSpPr>
        <p:spPr>
          <a:xfrm>
            <a:off x="6583680" y="3867912"/>
            <a:ext cx="1097280" cy="256032"/>
          </a:xfrm>
          <a:prstGeom prst="roundRect">
            <a:avLst>
              <a:gd name="adj" fmla="val 50000"/>
            </a:avLst>
          </a:prstGeom>
          <a:solidFill>
            <a:srgbClr val="C9780A"/>
          </a:solidFill>
          <a:ln w="12700">
            <a:solidFill>
              <a:srgbClr val="C9780A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6583680" y="3867912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DEVELOP</a:t>
            </a:r>
            <a:endParaRPr lang="en-US" sz="800" dirty="0"/>
          </a:p>
        </p:txBody>
      </p:sp>
      <p:sp>
        <p:nvSpPr>
          <p:cNvPr id="30" name="Shape 27"/>
          <p:cNvSpPr/>
          <p:nvPr/>
        </p:nvSpPr>
        <p:spPr>
          <a:xfrm>
            <a:off x="457200" y="4509821"/>
            <a:ext cx="7406640" cy="771754"/>
          </a:xfrm>
          <a:prstGeom prst="roundRect">
            <a:avLst>
              <a:gd name="adj" fmla="val 9479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31" name="Shape 28"/>
          <p:cNvSpPr/>
          <p:nvPr/>
        </p:nvSpPr>
        <p:spPr>
          <a:xfrm>
            <a:off x="685800" y="4785970"/>
            <a:ext cx="219456" cy="219456"/>
          </a:xfrm>
          <a:prstGeom prst="rect">
            <a:avLst/>
          </a:prstGeom>
          <a:solidFill>
            <a:srgbClr val="FFFFFF"/>
          </a:solidFill>
          <a:ln w="19050">
            <a:solidFill>
              <a:srgbClr val="C9780A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1097280" y="4509821"/>
            <a:ext cx="5394960" cy="7717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I used today’s key structure correctly when I spoke.</a:t>
            </a:r>
            <a:endParaRPr lang="en-US" sz="1300" dirty="0"/>
          </a:p>
        </p:txBody>
      </p:sp>
      <p:sp>
        <p:nvSpPr>
          <p:cNvPr id="33" name="Shape 30"/>
          <p:cNvSpPr/>
          <p:nvPr/>
        </p:nvSpPr>
        <p:spPr>
          <a:xfrm>
            <a:off x="6583680" y="4767682"/>
            <a:ext cx="1097280" cy="256032"/>
          </a:xfrm>
          <a:prstGeom prst="roundRect">
            <a:avLst>
              <a:gd name="adj" fmla="val 50000"/>
            </a:avLst>
          </a:prstGeom>
          <a:solidFill>
            <a:srgbClr val="C9780A"/>
          </a:solidFill>
          <a:ln w="12700">
            <a:solidFill>
              <a:srgbClr val="C9780A"/>
            </a:solidFill>
            <a:prstDash val="solid"/>
          </a:ln>
        </p:spPr>
      </p:sp>
      <p:sp>
        <p:nvSpPr>
          <p:cNvPr id="34" name="Text 31"/>
          <p:cNvSpPr txBox="1"/>
          <p:nvPr/>
        </p:nvSpPr>
        <p:spPr>
          <a:xfrm>
            <a:off x="6583680" y="4767682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DEVELOP</a:t>
            </a:r>
            <a:endParaRPr lang="en-US" sz="800" dirty="0"/>
          </a:p>
        </p:txBody>
      </p:sp>
      <p:sp>
        <p:nvSpPr>
          <p:cNvPr id="35" name="Shape 32"/>
          <p:cNvSpPr/>
          <p:nvPr/>
        </p:nvSpPr>
        <p:spPr>
          <a:xfrm>
            <a:off x="457200" y="5409590"/>
            <a:ext cx="7406640" cy="771754"/>
          </a:xfrm>
          <a:prstGeom prst="roundRect">
            <a:avLst>
              <a:gd name="adj" fmla="val 9479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36" name="Shape 33"/>
          <p:cNvSpPr/>
          <p:nvPr/>
        </p:nvSpPr>
        <p:spPr>
          <a:xfrm>
            <a:off x="685800" y="5685739"/>
            <a:ext cx="219456" cy="219456"/>
          </a:xfrm>
          <a:prstGeom prst="rect">
            <a:avLst/>
          </a:prstGeom>
          <a:solidFill>
            <a:srgbClr val="FFFFFF"/>
          </a:solidFill>
          <a:ln w="19050">
            <a:solidFill>
              <a:srgbClr val="B83227"/>
            </a:solidFill>
            <a:prstDash val="solid"/>
          </a:ln>
        </p:spPr>
      </p:sp>
      <p:sp>
        <p:nvSpPr>
          <p:cNvPr id="37" name="Text 34"/>
          <p:cNvSpPr txBox="1"/>
          <p:nvPr/>
        </p:nvSpPr>
        <p:spPr>
          <a:xfrm>
            <a:off x="1097280" y="5409590"/>
            <a:ext cx="5394960" cy="7717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I used all four A-R-E-T links and spoke for 90 seconds.</a:t>
            </a:r>
            <a:endParaRPr lang="en-US" sz="1300" dirty="0"/>
          </a:p>
        </p:txBody>
      </p:sp>
      <p:sp>
        <p:nvSpPr>
          <p:cNvPr id="38" name="Shape 35"/>
          <p:cNvSpPr/>
          <p:nvPr/>
        </p:nvSpPr>
        <p:spPr>
          <a:xfrm>
            <a:off x="6583680" y="5667451"/>
            <a:ext cx="1097280" cy="256032"/>
          </a:xfrm>
          <a:prstGeom prst="roundRect">
            <a:avLst>
              <a:gd name="adj" fmla="val 50000"/>
            </a:avLst>
          </a:prstGeom>
          <a:solidFill>
            <a:srgbClr val="B83227"/>
          </a:solidFill>
          <a:ln w="12700">
            <a:solidFill>
              <a:srgbClr val="B83227"/>
            </a:solidFill>
            <a:prstDash val="solid"/>
          </a:ln>
        </p:spPr>
      </p:sp>
      <p:sp>
        <p:nvSpPr>
          <p:cNvPr id="39" name="Text 36"/>
          <p:cNvSpPr txBox="1"/>
          <p:nvPr/>
        </p:nvSpPr>
        <p:spPr>
          <a:xfrm>
            <a:off x="6583680" y="5667451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STRETCH</a:t>
            </a:r>
            <a:endParaRPr lang="en-US" sz="800" dirty="0"/>
          </a:p>
        </p:txBody>
      </p:sp>
      <p:sp>
        <p:nvSpPr>
          <p:cNvPr id="40" name="Shape 37"/>
          <p:cNvSpPr/>
          <p:nvPr/>
        </p:nvSpPr>
        <p:spPr>
          <a:xfrm>
            <a:off x="8092440" y="1810512"/>
            <a:ext cx="3639312" cy="2084832"/>
          </a:xfrm>
          <a:prstGeom prst="roundRect">
            <a:avLst>
              <a:gd name="adj" fmla="val 3509"/>
            </a:avLst>
          </a:prstGeom>
          <a:solidFill>
            <a:srgbClr val="E9F5EE"/>
          </a:solidFill>
          <a:ln w="9525">
            <a:solidFill>
              <a:srgbClr val="9CCFB0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41" name="Text 38"/>
          <p:cNvSpPr txBox="1"/>
          <p:nvPr/>
        </p:nvSpPr>
        <p:spPr>
          <a:xfrm>
            <a:off x="8275320" y="1920240"/>
            <a:ext cx="3273552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E8B57"/>
                </a:solidFill>
                <a:latin typeface="Calibri" pitchFamily="34" charset="0"/>
                <a:cs typeface="Amiri" pitchFamily="2" charset="-78"/>
              </a:rPr>
              <a:t>WWW</a:t>
            </a:r>
            <a:endParaRPr lang="en-US" sz="1800" dirty="0"/>
          </a:p>
          <a:p>
            <a:pPr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What went well? One thing you did accurately.</a:t>
            </a:r>
            <a:endParaRPr lang="en-US" sz="1800" dirty="0"/>
          </a:p>
        </p:txBody>
      </p:sp>
      <p:sp>
        <p:nvSpPr>
          <p:cNvPr id="42" name="Shape 39"/>
          <p:cNvSpPr/>
          <p:nvPr/>
        </p:nvSpPr>
        <p:spPr>
          <a:xfrm>
            <a:off x="8092440" y="4041648"/>
            <a:ext cx="3639312" cy="2084832"/>
          </a:xfrm>
          <a:prstGeom prst="roundRect">
            <a:avLst>
              <a:gd name="adj" fmla="val 3509"/>
            </a:avLst>
          </a:prstGeom>
          <a:solidFill>
            <a:srgbClr val="FFF4E0"/>
          </a:solidFill>
          <a:ln w="9525">
            <a:solidFill>
              <a:srgbClr val="E8D49A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43" name="Text 40"/>
          <p:cNvSpPr txBox="1"/>
          <p:nvPr/>
        </p:nvSpPr>
        <p:spPr>
          <a:xfrm>
            <a:off x="8275320" y="4151376"/>
            <a:ext cx="3273552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9780A"/>
                </a:solidFill>
                <a:latin typeface="Calibri" pitchFamily="34" charset="0"/>
                <a:cs typeface="Amiri" pitchFamily="2" charset="-78"/>
              </a:rPr>
              <a:t>EBI</a:t>
            </a:r>
            <a:endParaRPr lang="en-US" sz="1800" dirty="0"/>
          </a:p>
          <a:p>
            <a:pPr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Even better if… One thing you will fix or add.</a:t>
            </a:r>
            <a:endParaRPr lang="en-US" sz="1800" dirty="0"/>
          </a:p>
        </p:txBody>
      </p:sp>
      <p:sp>
        <p:nvSpPr>
          <p:cNvPr id="44" name="Text 41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20 / 21</a:t>
            </a:r>
            <a:endParaRPr lang="en-US" sz="8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D1F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863840" y="1097280"/>
            <a:ext cx="5852160" cy="5852160"/>
          </a:xfrm>
          <a:prstGeom prst="ellipse">
            <a:avLst/>
          </a:prstGeom>
          <a:solidFill>
            <a:srgbClr val="14315C"/>
          </a:solidFill>
          <a:ln w="12700">
            <a:solidFill>
              <a:srgbClr val="1431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372600" y="2606040"/>
            <a:ext cx="1737360" cy="1737360"/>
          </a:xfrm>
          <a:prstGeom prst="ellipse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10928" y="2944368"/>
            <a:ext cx="1060704" cy="1060704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12801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TC-L04 COMPLETE</a:t>
            </a:r>
            <a:endParaRPr lang="en-US" sz="11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69164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l" indent="0" marL="0">
              <a:buNone/>
            </a:pPr>
            <a:r>
              <a:rPr lang="ar-SA" altLang="en-US" sz="4000" b="1" dirty="0">
                <a:solidFill>
                  <a:srgbClr val="FFFFF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أَحْسَنْتُمْ! إِلَى اللِّقَاءِ</a:t>
            </a:r>
            <a:endParaRPr lang="ar-SA" sz="4000" dirty="0"/>
          </a:p>
        </p:txBody>
      </p:sp>
      <p:sp>
        <p:nvSpPr>
          <p:cNvPr id="7" name="Text 4"/>
          <p:cNvSpPr txBox="1"/>
          <p:nvPr/>
        </p:nvSpPr>
        <p:spPr>
          <a:xfrm>
            <a:off x="457200" y="260604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i="1" dirty="0">
                <a:solidFill>
                  <a:srgbClr val="C6D2E6"/>
                </a:solidFill>
                <a:latin typeface="Calibri" pitchFamily="34" charset="0"/>
                <a:cs typeface="Amiri" pitchFamily="2" charset="-78"/>
              </a:rPr>
              <a:t>Well done — you ran your own speaking practice!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457200" y="35661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NEXT</a:t>
            </a:r>
            <a:endParaRPr lang="en-US" sz="1100" dirty="0"/>
          </a:p>
        </p:txBody>
      </p:sp>
      <p:sp>
        <p:nvSpPr>
          <p:cNvPr id="9" name="Text 6"/>
          <p:cNvSpPr txBox="1"/>
          <p:nvPr/>
        </p:nvSpPr>
        <p:spPr>
          <a:xfrm>
            <a:off x="457200" y="388620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Cambria" pitchFamily="34" charset="0"/>
                <a:cs typeface="Amiri" pitchFamily="2" charset="-78"/>
              </a:rPr>
              <a:t>TC-L04 · Writing practice room · Decode, plan, write and check — step by step</a:t>
            </a:r>
            <a:endParaRPr lang="en-US" sz="1650" dirty="0"/>
          </a:p>
        </p:txBody>
      </p:sp>
      <p:sp>
        <p:nvSpPr>
          <p:cNvPr id="10" name="Text 7"/>
          <p:cNvSpPr txBox="1"/>
          <p:nvPr/>
        </p:nvSpPr>
        <p:spPr>
          <a:xfrm>
            <a:off x="457200" y="443484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l" indent="0" marL="0">
              <a:buNone/>
            </a:pPr>
            <a:r>
              <a:rPr lang="ar-SA" altLang="en-US" sz="24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غُرْفَةُ الكِتَابَةِ</a:t>
            </a:r>
            <a:endParaRPr lang="ar-SA" sz="2400" dirty="0"/>
          </a:p>
        </p:txBody>
      </p:sp>
      <p:sp>
        <p:nvSpPr>
          <p:cNvPr id="11" name="Text 8"/>
          <p:cNvSpPr txBox="1"/>
          <p:nvPr/>
        </p:nvSpPr>
        <p:spPr>
          <a:xfrm>
            <a:off x="457200" y="53035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Remember: answer + reason + detail + another time frame — every time you speak.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Amiri" pitchFamily="2" charset="-78"/>
        <a:cs typeface="Amiri" pitchFamily="2" charset="-78"/>
        <a:font script="Arab" typeface="Amiri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Amiri" pitchFamily="2" charset="-78"/>
        <a:cs typeface="Amiri" pitchFamily="2" charset="-78"/>
        <a:font script="Arab" typeface="Amir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</vt:vector>
  </TitlesOfParts>
  <Company>Al Madina Online School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TC-L04 · Speaking Practice Room — Environmental Problems and Causes</dc:title>
  <dc:subject>PptxGenJS Presentation</dc:subject>
  <dc:creator>Al Madina Online School · Arabic Department</dc:creator>
  <cp:lastModifiedBy>Al Madina Online School · Arabic Department</cp:lastModifiedBy>
  <cp:revision>1</cp:revision>
  <dcterms:created xsi:type="dcterms:W3CDTF">2026-10-25T14:54:21Z</dcterms:created>
  <dcterms:modified xsi:type="dcterms:W3CDTF">2026-10-25T14:54:21Z</dcterms:modified>
</cp:coreProperties>
</file>