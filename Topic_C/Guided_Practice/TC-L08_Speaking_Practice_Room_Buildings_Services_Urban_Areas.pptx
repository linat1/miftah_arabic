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SPEAKING PRACTICE ROOM AT A GLANCE — 55–60 minutes; about 8 minutes in the main room, about 40 minutes in breakout rooms of three, about 8 minutes back together.
0–2 Welcome · 2–6 How the room works (roles, rules) · then ROOMS: Step 1 Word warm-up (5) · Step 2 The answer ladder (8) · Step 3 Role plays 1 and 2 (14) · Step 4 Topic conversation with A-R-E-T (8) · Step 5 One-minute talk (5) · back in the main room: Check yourself (6) · Self-check + close (3).
PURPOSE: students practise ON THEIR OWN with a clear structure. The teacher visits each room (about 3 minutes per room), listens, and gives one live correction per student.
CONTENT: Advanced Topic C · The World Around Us, Lesson 8 (Buildings, services and urban areas, TC-L08) — new role plays and questions (not the ones in the Exam Practice workshop), using the lesson’s language (yūjadu / tūjadu and lā yūjadu; prepositions of place (muqābila · khalfa · amāma · bayna); directions (imperatives); mabniyyun min; comparatives city vs countryside; kāna fīhā … + past).
SET-UP: rooms of three (same-level rooms keep the routes simple). Share this deck or its PDF in the chat so every room can follow the steps. Post the step timings in the chat.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show the route through the steps. Students keep this slide in mind: the step number is always in the top-left of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THE ROOM WORKS (3 min, main room). Model the three roles quickly with two volunteers using one question. Stress: the Coach is not a judge — one WWW, one EBI, kind and specific. Then open the breakout rooms.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(5 min in rooms). The vocab slides that follow are the reference. Teacher: visit the first room straight away to model the 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 — the Leader picks the English, the Speaker gives the Arabic.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(read together for 2 min). Each level ADDS one thing. Core aims for level 2, Develop for level 3, Stretch for level 4.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(6 min). The cells are STARTERS, not full answers. Core: questions 1–2 to level 2. Develop: all four to level 3. Stretch: level 4 with an opinion or another time frame.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3 introduction (2 min). Role play 1 shows the plan column filled in; for role play 2 students write it themselves. This is the fading: by the exam, they plan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1 (Core · Develop) — SUPPORTED: the plan column models the thinking (question word → tense → first words), NOT the full answer.
ROOM ROUTINE: Leader reads the left column in order · Speaker answers · Coach ticks the checklist (step 5 slide) and gives one WWW + one EBI · swap so that everyone is Speaker once.
To a girl the Leader says: to a female visitor: امْشِي · خُذِي · مَدِينَتِكِ.
Language: muqābila · khalfa (+ genitive) · imperatives imshi / khudh · ʿashru daqāʾiqa mashyan · tūjadu ṣaydaliyyatun · superlative ajmalu makānin.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2 (Develop · Stretch) — FADED SUPPORT: students now write their own plan column — exactly what they will do in the exam in their preparation time.
ROOM ROUTINE: Leader reads the left column in order · Speaker answers · Coach ticks the checklist (step 5 slide) and gives one WWW + one EBI · swap so that everyone is Speaker once.
To a girl the Leader says: بِكِ · صِفِي · عِنْدَكِ · تَبْنِينَ.
Stretch language: mabānin mabniyyatun min · kāna anshaṭa + kānat fīhi · lā yūjadu … li-annanā … wa-li-anna · polite disagreement · law kāna ʿindī … la- + li-kay.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introduction (2 min). Show one answer growing link by link, then open the conversation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(6 min). Leaders choose questions that suit the Speaker: Core questions first, then move up. The follow-up column trains extended answers — exactly what the conversation part of the exam rewards.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5 (5 min). A monologue builds fluency for the conversation.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Coach keeps this slide open during Steps 2–5. Back in the main room, ask each room for its best WWW.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— only AFTER the room has performed both cards. Each student finds one task they answered less fully and re-says it using the model.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— only AFTER the room has performed both cards. Each student finds one task they answered less fully and re-says it using the model.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(2 min, main room). Read one aloud together; students say which A-R-E-T link they will add next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ADVANCED TOPIC C · GUIDED PRACTICE  ·  TC-L08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TC-L08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Practice Room — Buildings, Services and Urban Areas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غُرْفَةُ التَّحَدُّثِ — المَبَانِي وَالخِدْمَاتُ فِي المَدِينَةِ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Students run their own speaking practice in breakout rooms: a word warm-up on buildings and services, the answer ladder, two new role plays (giving directions to a visitor, a radio phone-in about the town centre), a topic conversation with A-R-E-T, and a one-minute talk about their town.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TC-L08 · Advanced Topic C · The World Around Us · guided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 C · A1+ → B1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Topic C › TC-L08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TC-L08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TC-L08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ROOM PLAN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Five steps — you run them yourselves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خُطُوَاتُ الغُرْفَةِ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5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14223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14223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1: word warm-up.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2F6FB0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الكَلِمَاتُ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357628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467356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503932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503932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042666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042666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485644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2: climb the answer ladder.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449068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2F6FB0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السُّلَّمُ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4258056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367784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404360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4404360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9430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9430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4386072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3: two role plays (planned, then you plan).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4349496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6158484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6268212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304788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6304788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68435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8435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6286500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4: topic conversation, A-R-E-T.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6249924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8058912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8168640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205216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8205216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5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8743950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743950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8186928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5: one-minute talk.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8150352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دَقِيقَةٌ وَاحِدَةٌ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9959340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Shape 53"/>
          <p:cNvSpPr/>
          <p:nvPr/>
        </p:nvSpPr>
        <p:spPr>
          <a:xfrm>
            <a:off x="10069068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10105644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8" name="Text 55"/>
          <p:cNvSpPr txBox="1"/>
          <p:nvPr/>
        </p:nvSpPr>
        <p:spPr>
          <a:xfrm>
            <a:off x="10105644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6 min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1064437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1064437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300" dirty="0"/>
          </a:p>
        </p:txBody>
      </p:sp>
      <p:sp>
        <p:nvSpPr>
          <p:cNvPr id="61" name="Text 58"/>
          <p:cNvSpPr txBox="1"/>
          <p:nvPr/>
        </p:nvSpPr>
        <p:spPr>
          <a:xfrm>
            <a:off x="10087356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Check yourself with the models.</a:t>
            </a:r>
            <a:endParaRPr lang="en-US" sz="1200" dirty="0"/>
          </a:p>
        </p:txBody>
      </p:sp>
      <p:sp>
        <p:nvSpPr>
          <p:cNvPr id="62" name="Text 59"/>
          <p:cNvSpPr txBox="1"/>
          <p:nvPr/>
        </p:nvSpPr>
        <p:spPr>
          <a:xfrm>
            <a:off x="10050780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</a:t>
            </a:r>
            <a:endParaRPr lang="ar-SA" sz="1500" dirty="0"/>
          </a:p>
        </p:txBody>
      </p:sp>
      <p:sp>
        <p:nvSpPr>
          <p:cNvPr id="63" name="Shape 60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4" name="Text 61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HOW THE ROOM RUNS</a:t>
            </a:r>
            <a:endParaRPr lang="en-US" sz="1000" dirty="0"/>
          </a:p>
        </p:txBody>
      </p:sp>
      <p:sp>
        <p:nvSpPr>
          <p:cNvPr id="65" name="Text 62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Everybody speaks in every step. Swap roles each time: Leader → Speaker → Coach. If you finish early, do the step again with the Stretch route.</a:t>
            </a:r>
            <a:endParaRPr lang="en-US" sz="1250" dirty="0"/>
          </a:p>
        </p:txBody>
      </p:sp>
      <p:sp>
        <p:nvSpPr>
          <p:cNvPr id="66" name="Text 6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21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TC-L08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BEFORE THE ROOMS · HOW YOUR ROOM WORKS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Three roles, four rules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نَعْمَلُ فِي الغُرْفَةِ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ROLES (SWAP AFTER EVERY TASK)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LEADER — opens the next step, keeps the time, and reads the examiner’s questions.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SPEAKER — answers in full Arabic sentences. Plan for a few seconds, then speak.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 — listens with the checklist, then gives one WWW (what went well) and one EBI (even better if).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RULES: Arabic only in the tasks · full sentences · no silence (use a repair phrase) · everyone speaks in every step.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ROOM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 / دَوْرُكِ!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 (m. / f.)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21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TC-L08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STEP 1 · WORD WARM-UP · 5 MINUTES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Say it — then use it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قُلْهَا وَاسْتَعْمِلْهَا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1 · IN YOUR ROOM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🔤  Word ping-pong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Leader says a word in ENGLISH from the next two slides. The Speaker says it in ARABIC, then uses it in a short sentence about themselves. The Coach checks the Arabic on the slide.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Leader: say 4 English words; Speaker answers in Arabic + one sentence each.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 checks the word and the ending (I / he / she / they).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roles — new words each time.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Last round: say the he / she form of each verb.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Say the Arabic word, then a simple sentence: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 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Add when or how often: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كُلَّ يَوْمٍ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أَحْيَانًا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مَرَّتَيْنِ فِي الأُسْبُوعِ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Use two words in one sentence with a reason (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…).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أَعِدْ مِنْ فَضْلِكَ / أَعِيدِي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repeat please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 أَكْثَرَ / تَكَلَّمِي أَكْثَرَ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 (m. / f.)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21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TC-L08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 BANK (1)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Buildings and services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المَبَانِي وَالخِدْمَاتُ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agreement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يُوجَدُ · تُوجَدُ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there is (m. · f.)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yū-ja-du · tū-ja-du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1054303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59789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there isn’t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588752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 يُوجَدُ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939088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44575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there is a museum</a:t>
            </a:r>
            <a:endParaRPr lang="en-US" sz="700" dirty="0"/>
          </a:p>
        </p:txBody>
      </p:sp>
      <p:sp>
        <p:nvSpPr>
          <p:cNvPr id="29" name="Text 26"/>
          <p:cNvSpPr txBox="1"/>
          <p:nvPr/>
        </p:nvSpPr>
        <p:spPr>
          <a:xfrm>
            <a:off x="9436608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يُوجَدُ مَتْحَفٌ</a:t>
            </a:r>
            <a:endParaRPr lang="ar-SA" sz="1350" dirty="0"/>
          </a:p>
        </p:txBody>
      </p:sp>
      <p:sp>
        <p:nvSpPr>
          <p:cNvPr id="30" name="Shape 27"/>
          <p:cNvSpPr/>
          <p:nvPr/>
        </p:nvSpPr>
        <p:spPr>
          <a:xfrm>
            <a:off x="823874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there is a park</a:t>
            </a:r>
            <a:endParaRPr lang="en-US" sz="700" dirty="0"/>
          </a:p>
        </p:txBody>
      </p:sp>
      <p:sp>
        <p:nvSpPr>
          <p:cNvPr id="32" name="Text 29"/>
          <p:cNvSpPr txBox="1"/>
          <p:nvPr/>
        </p:nvSpPr>
        <p:spPr>
          <a:xfrm>
            <a:off x="8284464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تُوجَدُ حَدِيقَةٌ</a:t>
            </a:r>
            <a:endParaRPr lang="ar-SA" sz="1350" dirty="0"/>
          </a:p>
        </p:txBody>
      </p:sp>
      <p:sp>
        <p:nvSpPr>
          <p:cNvPr id="33" name="Shape 30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782312" y="1938528"/>
            <a:ext cx="1269187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782312" y="1938528"/>
            <a:ext cx="12691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 · pl. · tall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مَبْنًى</a:t>
            </a:r>
            <a:endParaRPr lang="ar-SA" sz="3000" dirty="0"/>
          </a:p>
        </p:txBody>
      </p:sp>
      <p:sp>
        <p:nvSpPr>
          <p:cNvPr id="41" name="Text 38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building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mab-nan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672084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77570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tall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6766560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مَبَانٍ عَالِيَةٌ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5568696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623560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47" name="Text 44"/>
          <p:cNvSpPr txBox="1"/>
          <p:nvPr/>
        </p:nvSpPr>
        <p:spPr>
          <a:xfrm>
            <a:off x="5614416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مَبَانٍ · المَبَانِي</a:t>
            </a:r>
            <a:endParaRPr lang="ar-SA" sz="1350" dirty="0"/>
          </a:p>
        </p:txBody>
      </p:sp>
      <p:sp>
        <p:nvSpPr>
          <p:cNvPr id="48" name="Shape 45"/>
          <p:cNvSpPr/>
          <p:nvPr/>
        </p:nvSpPr>
        <p:spPr>
          <a:xfrm>
            <a:off x="441655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447141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</a:t>
            </a:r>
            <a:endParaRPr lang="en-US" sz="750" dirty="0"/>
          </a:p>
        </p:txBody>
      </p:sp>
      <p:sp>
        <p:nvSpPr>
          <p:cNvPr id="50" name="Text 47"/>
          <p:cNvSpPr txBox="1"/>
          <p:nvPr/>
        </p:nvSpPr>
        <p:spPr>
          <a:xfrm>
            <a:off x="446227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المَبْنَى</a:t>
            </a:r>
            <a:endParaRPr lang="ar-SA" sz="1500" dirty="0"/>
          </a:p>
        </p:txBody>
      </p:sp>
      <p:sp>
        <p:nvSpPr>
          <p:cNvPr id="51" name="Shape 48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960120" y="1938528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960120" y="1938528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 · pl.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8" name="Text 55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مُسْتَشْفًى</a:t>
            </a:r>
            <a:endParaRPr lang="ar-SA" sz="3000" dirty="0"/>
          </a:p>
        </p:txBody>
      </p:sp>
      <p:sp>
        <p:nvSpPr>
          <p:cNvPr id="59" name="Text 56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hospital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mus-tash-fan</a:t>
            </a:r>
            <a:endParaRPr lang="en-US" sz="1350" dirty="0"/>
          </a:p>
        </p:txBody>
      </p:sp>
      <p:sp>
        <p:nvSpPr>
          <p:cNvPr id="60" name="Shape 57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62" name="Text 59"/>
          <p:cNvSpPr txBox="1"/>
          <p:nvPr/>
        </p:nvSpPr>
        <p:spPr>
          <a:xfrm>
            <a:off x="2368296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مُسْتَشْفَيَاتٌ</a:t>
            </a:r>
            <a:endParaRPr lang="ar-SA" sz="1500" dirty="0"/>
          </a:p>
        </p:txBody>
      </p:sp>
      <p:sp>
        <p:nvSpPr>
          <p:cNvPr id="63" name="Shape 60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</a:t>
            </a:r>
            <a:endParaRPr lang="en-US" sz="750" dirty="0"/>
          </a:p>
        </p:txBody>
      </p:sp>
      <p:sp>
        <p:nvSpPr>
          <p:cNvPr id="65" name="Text 62"/>
          <p:cNvSpPr txBox="1"/>
          <p:nvPr/>
        </p:nvSpPr>
        <p:spPr>
          <a:xfrm>
            <a:off x="640080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المُسْتَشْفَى</a:t>
            </a:r>
            <a:endParaRPr lang="ar-SA" sz="1500" dirty="0"/>
          </a:p>
        </p:txBody>
      </p:sp>
      <p:sp>
        <p:nvSpPr>
          <p:cNvPr id="66" name="Shape 63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7" name="Shape 64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69" name="Shape 66"/>
          <p:cNvSpPr/>
          <p:nvPr/>
        </p:nvSpPr>
        <p:spPr>
          <a:xfrm>
            <a:off x="8604504" y="4279392"/>
            <a:ext cx="1455725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8604504" y="4279392"/>
            <a:ext cx="145572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 · a post office</a:t>
            </a:r>
            <a:endParaRPr lang="en-US" sz="800" dirty="0"/>
          </a:p>
        </p:txBody>
      </p:sp>
      <p:sp>
        <p:nvSpPr>
          <p:cNvPr id="71" name="Shape 68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2" name="Text 69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3" name="Text 70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مَكْتَبَةٌ عَامَّةٌ</a:t>
            </a:r>
            <a:endParaRPr lang="ar-SA" sz="3000" dirty="0"/>
          </a:p>
        </p:txBody>
      </p:sp>
      <p:sp>
        <p:nvSpPr>
          <p:cNvPr id="74" name="Text 71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public library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mak-ta-ba-tun ʿām-ma-tun</a:t>
            </a:r>
            <a:endParaRPr lang="en-US" sz="1350" dirty="0"/>
          </a:p>
        </p:txBody>
      </p:sp>
      <p:sp>
        <p:nvSpPr>
          <p:cNvPr id="75" name="Shape 72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 post office</a:t>
            </a:r>
            <a:endParaRPr lang="en-US" sz="700" dirty="0"/>
          </a:p>
        </p:txBody>
      </p:sp>
      <p:sp>
        <p:nvSpPr>
          <p:cNvPr id="77" name="Text 74"/>
          <p:cNvSpPr txBox="1"/>
          <p:nvPr/>
        </p:nvSpPr>
        <p:spPr>
          <a:xfrm>
            <a:off x="100126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مَكْتَبُ البَرِيدِ</a:t>
            </a:r>
            <a:endParaRPr lang="ar-SA" sz="1350" dirty="0"/>
          </a:p>
        </p:txBody>
      </p:sp>
      <p:sp>
        <p:nvSpPr>
          <p:cNvPr id="78" name="Shape 75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80" name="Text 77"/>
          <p:cNvSpPr txBox="1"/>
          <p:nvPr/>
        </p:nvSpPr>
        <p:spPr>
          <a:xfrm>
            <a:off x="8284464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مَكْتَبَاتٌ عَامَّةٌ</a:t>
            </a:r>
            <a:endParaRPr lang="ar-SA" sz="1500" dirty="0"/>
          </a:p>
        </p:txBody>
      </p:sp>
      <p:sp>
        <p:nvSpPr>
          <p:cNvPr id="81" name="Shape 78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82" name="Shape 79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3" name="Text 80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84" name="Shape 81"/>
          <p:cNvSpPr/>
          <p:nvPr/>
        </p:nvSpPr>
        <p:spPr>
          <a:xfrm>
            <a:off x="4782312" y="4279392"/>
            <a:ext cx="1144829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4782312" y="4279392"/>
            <a:ext cx="11448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 · a market</a:t>
            </a:r>
            <a:endParaRPr lang="en-US" sz="800" dirty="0"/>
          </a:p>
        </p:txBody>
      </p:sp>
      <p:sp>
        <p:nvSpPr>
          <p:cNvPr id="86" name="Shape 83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7" name="Text 84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8" name="Text 85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مَرْكَزٌ تِجَارِيٌّ</a:t>
            </a:r>
            <a:endParaRPr lang="ar-SA" sz="3000" dirty="0"/>
          </a:p>
        </p:txBody>
      </p:sp>
      <p:sp>
        <p:nvSpPr>
          <p:cNvPr id="89" name="Text 86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shopping centre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mar-ka-zun ti-jā-riy-yun</a:t>
            </a:r>
            <a:endParaRPr lang="en-US" sz="1350" dirty="0"/>
          </a:p>
        </p:txBody>
      </p:sp>
      <p:sp>
        <p:nvSpPr>
          <p:cNvPr id="90" name="Shape 87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 market</a:t>
            </a:r>
            <a:endParaRPr lang="en-US" sz="700" dirty="0"/>
          </a:p>
        </p:txBody>
      </p:sp>
      <p:sp>
        <p:nvSpPr>
          <p:cNvPr id="92" name="Text 89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سُوقٌ · أَسْوَاقٌ</a:t>
            </a:r>
            <a:endParaRPr lang="ar-SA" sz="1350" dirty="0"/>
          </a:p>
        </p:txBody>
      </p:sp>
      <p:sp>
        <p:nvSpPr>
          <p:cNvPr id="93" name="Shape 90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95" name="Text 92"/>
          <p:cNvSpPr txBox="1"/>
          <p:nvPr/>
        </p:nvSpPr>
        <p:spPr>
          <a:xfrm>
            <a:off x="4462272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مَرَاكِزُ تِجَارِيَّةٌ</a:t>
            </a:r>
            <a:endParaRPr lang="ar-SA" sz="1500" dirty="0"/>
          </a:p>
        </p:txBody>
      </p:sp>
      <p:sp>
        <p:nvSpPr>
          <p:cNvPr id="96" name="Shape 93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7" name="Shape 94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8" name="Text 95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99" name="Shape 96"/>
          <p:cNvSpPr/>
          <p:nvPr/>
        </p:nvSpPr>
        <p:spPr>
          <a:xfrm>
            <a:off x="960120" y="4279392"/>
            <a:ext cx="170444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960120" y="4279392"/>
            <a:ext cx="17044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 · the train station</a:t>
            </a:r>
            <a:endParaRPr lang="en-US" sz="800" dirty="0"/>
          </a:p>
        </p:txBody>
      </p:sp>
      <p:sp>
        <p:nvSpPr>
          <p:cNvPr id="101" name="Shape 98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02" name="Text 99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103" name="Text 100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مَحَطَّةٌ</a:t>
            </a:r>
            <a:endParaRPr lang="ar-SA" sz="3000" dirty="0"/>
          </a:p>
        </p:txBody>
      </p:sp>
      <p:sp>
        <p:nvSpPr>
          <p:cNvPr id="104" name="Text 101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station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ma-ḥaṭ-ṭa-tun</a:t>
            </a:r>
            <a:endParaRPr lang="en-US" sz="1350" dirty="0"/>
          </a:p>
        </p:txBody>
      </p:sp>
      <p:sp>
        <p:nvSpPr>
          <p:cNvPr id="105" name="Shape 102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6" name="Text 103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 train station</a:t>
            </a:r>
            <a:endParaRPr lang="en-US" sz="700" dirty="0"/>
          </a:p>
        </p:txBody>
      </p:sp>
      <p:sp>
        <p:nvSpPr>
          <p:cNvPr id="107" name="Text 104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مَحَطَّةُ القِطَارِ</a:t>
            </a:r>
            <a:endParaRPr lang="ar-SA" sz="1350" dirty="0"/>
          </a:p>
        </p:txBody>
      </p:sp>
      <p:sp>
        <p:nvSpPr>
          <p:cNvPr id="108" name="Shape 105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9" name="Text 106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110" name="Text 107"/>
          <p:cNvSpPr txBox="1"/>
          <p:nvPr/>
        </p:nvSpPr>
        <p:spPr>
          <a:xfrm>
            <a:off x="640080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مَحَطَّاتٌ</a:t>
            </a:r>
            <a:endParaRPr lang="ar-SA" sz="1500" dirty="0"/>
          </a:p>
        </p:txBody>
      </p:sp>
      <p:sp>
        <p:nvSpPr>
          <p:cNvPr id="111" name="Text 108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21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TC-L08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 BANK (2)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Where things are and what they are like</a:t>
            </a:r>
            <a:endParaRPr lang="en-US" sz="23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الأَمَاكِنُ وَالوَصْفُ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locatives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مُقَابِلَ …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opposite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mu-qā-bi-la …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between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بَيْنَ … وَ…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next to</a:t>
            </a:r>
            <a:endParaRPr lang="en-US" sz="70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بِجَانِبِ</a:t>
            </a:r>
            <a:endParaRPr lang="ar-SA" sz="135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locatives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خَلْفَ · أَمَامَ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behind · in front of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khal-fa · a-mā-ma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far from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6190488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بَعِيدٌ عَنْ</a:t>
            </a:r>
            <a:endParaRPr lang="ar-SA" sz="1350" dirty="0"/>
          </a:p>
        </p:txBody>
      </p:sp>
      <p:sp>
        <p:nvSpPr>
          <p:cNvPr id="42" name="Shape 39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near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4462272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قُرْبَ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60120" y="1938528"/>
            <a:ext cx="1331366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" y="1938528"/>
            <a:ext cx="13313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 · residential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حَيٌّ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neighbourhood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ḥay-yun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residential</a:t>
            </a:r>
            <a:endParaRPr lang="en-US" sz="700" dirty="0"/>
          </a:p>
        </p:txBody>
      </p:sp>
      <p:sp>
        <p:nvSpPr>
          <p:cNvPr id="56" name="Text 53"/>
          <p:cNvSpPr txBox="1"/>
          <p:nvPr/>
        </p:nvSpPr>
        <p:spPr>
          <a:xfrm>
            <a:off x="2368296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حَيٌّ سَكَنِيٌّ</a:t>
            </a:r>
            <a:endParaRPr lang="ar-SA" sz="1350" dirty="0"/>
          </a:p>
        </p:txBody>
      </p:sp>
      <p:sp>
        <p:nvSpPr>
          <p:cNvPr id="57" name="Shape 54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59" name="Text 56"/>
          <p:cNvSpPr txBox="1"/>
          <p:nvPr/>
        </p:nvSpPr>
        <p:spPr>
          <a:xfrm>
            <a:off x="640080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أَحْيَاءٌ</a:t>
            </a:r>
            <a:endParaRPr lang="ar-SA" sz="1500" dirty="0"/>
          </a:p>
        </p:txBody>
      </p:sp>
      <p:sp>
        <p:nvSpPr>
          <p:cNvPr id="60" name="Shape 57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604504" y="4279392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604504" y="4279392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 · comp.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مُزْدَحِمٌ · هَادِئٌ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crowded · quiet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muz-da-ḥi-mun · hā-di-ʾun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comp.</a:t>
            </a:r>
            <a:endParaRPr lang="en-US" sz="700" dirty="0"/>
          </a:p>
        </p:txBody>
      </p:sp>
      <p:sp>
        <p:nvSpPr>
          <p:cNvPr id="71" name="Text 68"/>
          <p:cNvSpPr txBox="1"/>
          <p:nvPr/>
        </p:nvSpPr>
        <p:spPr>
          <a:xfrm>
            <a:off x="100126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أَكْثَرُ ازْدِحَامًا · أَهْدَأُ</a:t>
            </a:r>
            <a:endParaRPr lang="ar-SA" sz="1350" dirty="0"/>
          </a:p>
        </p:txBody>
      </p:sp>
      <p:sp>
        <p:nvSpPr>
          <p:cNvPr id="72" name="Shape 69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74" name="Text 71"/>
          <p:cNvSpPr txBox="1"/>
          <p:nvPr/>
        </p:nvSpPr>
        <p:spPr>
          <a:xfrm>
            <a:off x="8284464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مُزْدَحِمَةٌ · هَادِئَةٌ</a:t>
            </a:r>
            <a:endParaRPr lang="ar-SA" sz="1500" dirty="0"/>
          </a:p>
        </p:txBody>
      </p:sp>
      <p:sp>
        <p:nvSpPr>
          <p:cNvPr id="75" name="Shape 72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782312" y="4279392"/>
            <a:ext cx="1393546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782312" y="4279392"/>
            <a:ext cx="139354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passive participle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2" name="Text 79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مَبْنِيٌّ مِنْ …</a:t>
            </a:r>
            <a:endParaRPr lang="ar-SA" sz="3000" dirty="0"/>
          </a:p>
        </p:txBody>
      </p:sp>
      <p:sp>
        <p:nvSpPr>
          <p:cNvPr id="83" name="Text 80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built of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mab-niy-yun min …</a:t>
            </a:r>
            <a:endParaRPr lang="en-US" sz="1350" dirty="0"/>
          </a:p>
        </p:txBody>
      </p:sp>
      <p:sp>
        <p:nvSpPr>
          <p:cNvPr id="84" name="Shape 81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stone · brick · glass</a:t>
            </a:r>
            <a:endParaRPr lang="en-US" sz="700" dirty="0"/>
          </a:p>
        </p:txBody>
      </p:sp>
      <p:sp>
        <p:nvSpPr>
          <p:cNvPr id="86" name="Text 83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الحَجَرُ · الطُّوبُ · الزُّجَاجُ</a:t>
            </a:r>
            <a:endParaRPr lang="ar-SA" sz="1350" dirty="0"/>
          </a:p>
        </p:txBody>
      </p:sp>
      <p:sp>
        <p:nvSpPr>
          <p:cNvPr id="87" name="Shape 84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89" name="Text 86"/>
          <p:cNvSpPr txBox="1"/>
          <p:nvPr/>
        </p:nvSpPr>
        <p:spPr>
          <a:xfrm>
            <a:off x="4462272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مَبْنِيَّةٌ مِنْ</a:t>
            </a:r>
            <a:endParaRPr lang="ar-SA" sz="1500" dirty="0"/>
          </a:p>
        </p:txBody>
      </p:sp>
      <p:sp>
        <p:nvSpPr>
          <p:cNvPr id="90" name="Shape 87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1" name="Shape 88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93" name="Shape 90"/>
          <p:cNvSpPr/>
          <p:nvPr/>
        </p:nvSpPr>
        <p:spPr>
          <a:xfrm>
            <a:off x="960120" y="4279392"/>
            <a:ext cx="1766621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960120" y="4279392"/>
            <a:ext cx="176662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public · transport</a:t>
            </a:r>
            <a:endParaRPr lang="en-US" sz="800" dirty="0"/>
          </a:p>
        </p:txBody>
      </p:sp>
      <p:sp>
        <p:nvSpPr>
          <p:cNvPr id="95" name="Shape 92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7" name="Text 94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خِدْمَاتٌ</a:t>
            </a:r>
            <a:endParaRPr lang="ar-SA" sz="3000" dirty="0"/>
          </a:p>
        </p:txBody>
      </p:sp>
      <p:sp>
        <p:nvSpPr>
          <p:cNvPr id="98" name="Text 95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services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khid-mā-tun</a:t>
            </a:r>
            <a:endParaRPr lang="en-US" sz="1350" dirty="0"/>
          </a:p>
        </p:txBody>
      </p:sp>
      <p:sp>
        <p:nvSpPr>
          <p:cNvPr id="99" name="Shape 96"/>
          <p:cNvSpPr/>
          <p:nvPr/>
        </p:nvSpPr>
        <p:spPr>
          <a:xfrm>
            <a:off x="2898648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2953512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transport</a:t>
            </a:r>
            <a:endParaRPr lang="en-US" sz="700" dirty="0"/>
          </a:p>
        </p:txBody>
      </p:sp>
      <p:sp>
        <p:nvSpPr>
          <p:cNvPr id="101" name="Text 98"/>
          <p:cNvSpPr txBox="1"/>
          <p:nvPr/>
        </p:nvSpPr>
        <p:spPr>
          <a:xfrm>
            <a:off x="2944368" y="59161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المُوَاصَلَاتُ</a:t>
            </a:r>
            <a:endParaRPr lang="ar-SA" sz="1350" dirty="0"/>
          </a:p>
        </p:txBody>
      </p:sp>
      <p:sp>
        <p:nvSpPr>
          <p:cNvPr id="102" name="Shape 99"/>
          <p:cNvSpPr/>
          <p:nvPr/>
        </p:nvSpPr>
        <p:spPr>
          <a:xfrm>
            <a:off x="1746504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1801368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public</a:t>
            </a:r>
            <a:endParaRPr lang="en-US" sz="700" dirty="0"/>
          </a:p>
        </p:txBody>
      </p:sp>
      <p:sp>
        <p:nvSpPr>
          <p:cNvPr id="104" name="Text 101"/>
          <p:cNvSpPr txBox="1"/>
          <p:nvPr/>
        </p:nvSpPr>
        <p:spPr>
          <a:xfrm>
            <a:off x="1792224" y="59161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خِدْمَاتٌ عَامَّةٌ</a:t>
            </a:r>
            <a:endParaRPr lang="ar-SA" sz="1350" dirty="0"/>
          </a:p>
        </p:txBody>
      </p:sp>
      <p:sp>
        <p:nvSpPr>
          <p:cNvPr id="105" name="Shape 102"/>
          <p:cNvSpPr/>
          <p:nvPr/>
        </p:nvSpPr>
        <p:spPr>
          <a:xfrm>
            <a:off x="594360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6" name="Text 103"/>
          <p:cNvSpPr txBox="1"/>
          <p:nvPr/>
        </p:nvSpPr>
        <p:spPr>
          <a:xfrm>
            <a:off x="649224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107" name="Text 104"/>
          <p:cNvSpPr txBox="1"/>
          <p:nvPr/>
        </p:nvSpPr>
        <p:spPr>
          <a:xfrm>
            <a:off x="640080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خِدْمَةٌ</a:t>
            </a:r>
            <a:endParaRPr lang="ar-SA" sz="1500" dirty="0"/>
          </a:p>
        </p:txBody>
      </p:sp>
      <p:sp>
        <p:nvSpPr>
          <p:cNvPr id="108" name="Text 10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21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TC-L08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2 · THE ANSWER LADDER · HOW A SHORT ANSWER BECOMES A STRONG ONE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Climb the ladder: “What is there in your town?”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يُوجَدُ فِي مَدِينَتِكَ؟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1201400" y="2123694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1201400" y="212369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0" y="1847088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يُوجَدُ فِي مَدِينَتِي مَرْكَزٌ تِجَارِيٌّ كَبِيرٌ.</a:t>
            </a:r>
            <a:endParaRPr lang="ar-SA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1856232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1 · Answer in a full sentence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There is a big shopping centre in my town.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57200" y="2967228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11201400" y="3280410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1201400" y="328041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0" y="3003804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2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يُوجَدُ فِي مَدِينَتِي مَرْكَزٌ تِجَارِيٌّ كَبِيرٌ، وَتُوجَدُ مَكْتَبَةٌ عَامَّةٌ مُقَابِلَهُ.</a:t>
            </a:r>
            <a:endParaRPr lang="ar-SA" sz="2250" dirty="0"/>
          </a:p>
        </p:txBody>
      </p:sp>
      <p:sp>
        <p:nvSpPr>
          <p:cNvPr id="24" name="Text 21"/>
          <p:cNvSpPr txBox="1"/>
          <p:nvPr/>
        </p:nvSpPr>
        <p:spPr>
          <a:xfrm>
            <a:off x="685800" y="3012948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2 · + a reason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and there is a public library opposite it.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457200" y="4123944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11201400" y="4437126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1201400" y="443712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0" y="4160520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1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لٰكِنْ لَا يُوجَدُ مَرْكَزٌ لِلشَّبَابِ، لِذٰلِكَ نَلْتَقِي فِي المَقْهَى أَوْ فِي الشَّارِعِ.</a:t>
            </a:r>
            <a:endParaRPr lang="ar-SA" sz="2100" dirty="0"/>
          </a:p>
        </p:txBody>
      </p:sp>
      <p:sp>
        <p:nvSpPr>
          <p:cNvPr id="29" name="Text 26"/>
          <p:cNvSpPr txBox="1"/>
          <p:nvPr/>
        </p:nvSpPr>
        <p:spPr>
          <a:xfrm>
            <a:off x="685800" y="4169664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3 · + a detail (time, frequency, example)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but there is no youth centre, so we meet in the café or in the street.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457200" y="5280660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11201400" y="5593842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1201400" y="5593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4572000" y="5317236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فِي المَاضِي كَانَتْ هُنَاكَ سِينِمَا قَدِيمَةٌ، أَمَّا الآنَ فَهِيَ مَوْقِفُ سَيَّارَاتٍ؛ وَأَتَمَنَّى أَنْ يَبْنُوا مَسْبَحًا جَدِيدًا.</a:t>
            </a:r>
            <a:endParaRPr lang="ar-SA" sz="1850" dirty="0"/>
          </a:p>
        </p:txBody>
      </p:sp>
      <p:sp>
        <p:nvSpPr>
          <p:cNvPr id="34" name="Text 31"/>
          <p:cNvSpPr txBox="1"/>
          <p:nvPr/>
        </p:nvSpPr>
        <p:spPr>
          <a:xfrm>
            <a:off x="685800" y="5326380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4 · + another time frame or an opinion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there used to be an old cinema, but now it’s a car park — I hope they build a new pool.</a:t>
            </a:r>
            <a:endParaRPr lang="en-US" sz="12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21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TC-L08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STEP 2 · YOUR TURN · CLIMB THE LADDER FOR EACH QUESTION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Your ladder: build each answer level by level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اصْعَدِ السُّلَّمَ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445752" y="1810512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3–4 · + detail / time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068312" y="1810512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2 · + reason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99432" y="1810512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1 · answer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464040" y="2267712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وَأَذْهَبُ إِلَيْهَا …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7086600" y="226771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بَيْنَ … وَ…</a:t>
            </a:r>
            <a:endParaRPr lang="ar-SA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4617720" y="226771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تَقَعُ فِي …</a:t>
            </a:r>
            <a:endParaRPr lang="ar-SA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226771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تَقَعُ مَدْرَسَتُكَ؟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464040" y="3054096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وَفِي نِهَايَةِ الأُسْبُوعِ المَاضِي …</a:t>
            </a:r>
            <a:endParaRPr lang="ar-SA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7086600" y="3054096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لِأَنَّهُ مُزْدَحِمٌ / هَادِئٌ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4617720" y="3054096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 / لَا، …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054096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تُحِبُّ وَسَطَ المَدِينَةِ؟</a:t>
            </a:r>
            <a:endParaRPr lang="ar-SA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1091672" y="3099816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1091672" y="309981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464040" y="3840480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وَلَوْ كُنْتُ رَئِيسَ البَلَدِيَّةِ لَبَنَيْتُ …</a:t>
            </a:r>
            <a:endParaRPr lang="ar-SA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7086600" y="3840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لِأَنَّ …</a:t>
            </a:r>
            <a:endParaRPr lang="ar-SA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4617720" y="38404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تَحْتَاجُ إِلَى …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1051560" y="38404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الخِدْمَاتُ الَّتِي تَحْتَاجُهَا مَدِينَتُكَ؟</a:t>
            </a:r>
            <a:endParaRPr lang="ar-SA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457200" y="4626864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9464040" y="4626864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صَحِيحٌ أَنَّ … غَيْرَ أَنَّ …</a:t>
            </a:r>
            <a:endParaRPr lang="ar-SA" sz="1500" dirty="0"/>
          </a:p>
        </p:txBody>
      </p:sp>
      <p:sp>
        <p:nvSpPr>
          <p:cNvPr id="45" name="Text 42"/>
          <p:cNvSpPr txBox="1"/>
          <p:nvPr/>
        </p:nvSpPr>
        <p:spPr>
          <a:xfrm>
            <a:off x="7086600" y="4626864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لِأَنَّ … أَكْثَرُ 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4617720" y="4626864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أُفَضِّلُ …</a:t>
            </a:r>
            <a:endParaRPr lang="ar-SA" sz="15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4626864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تُفَضِّلُ المَدِينَةَ أَمِ الرِّيفَ؟</a:t>
            </a:r>
            <a:endParaRPr lang="ar-SA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626864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Leader asks · Speaker climbs as high as they can · Coach says which level they reached. Swap for each question.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TC-L08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3 · ROLE PLAY · HOW TO USE YOUR 1 MINUTE OF PREPARATION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Plan a role-play card in one minute</a:t>
            </a:r>
            <a:endParaRPr lang="en-US" sz="2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خَطِّطْ فِي دَقِيقَةٍ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FOUR MOVES IN ONE MINUTE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WHO am I and WHO is the examiner? (formal or friendly · a man or a woman → your endings).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For each task, find the QUESTION WORD and the TENSE (past · present · future).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Plan only your FIRST 2–3 words for each task — not whole sentences.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Task ! is unexpected: listen for the question word, then answer in a full sentence.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QUESTION WORD → HOW TO START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…؟ ← رَقْمٌ + اسْمٌ</a:t>
            </a:r>
            <a:endParaRPr lang="ar-SA" sz="265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765511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many → a number + a noun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19582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214116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…؟ ← فِي السَّاعَةِ … / يَوْمَ …</a:t>
            </a:r>
            <a:endParaRPr lang="ar-SA" sz="265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3785067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→ at … o’clock / on …day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215384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233672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…؟ ← لِأَنَّ …</a:t>
            </a:r>
            <a:endParaRPr lang="ar-SA" sz="265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4804623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 → because …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6995160" y="523494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40" name="Text 37"/>
          <p:cNvSpPr txBox="1"/>
          <p:nvPr/>
        </p:nvSpPr>
        <p:spPr>
          <a:xfrm>
            <a:off x="6949440" y="5253228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…؟ ← نَعَمْ / لَا + جُمْلَةٌ كَامِلَةٌ</a:t>
            </a:r>
            <a:endParaRPr lang="ar-SA" sz="2650" dirty="0"/>
          </a:p>
        </p:txBody>
      </p:sp>
      <p:sp>
        <p:nvSpPr>
          <p:cNvPr id="41" name="Text 38"/>
          <p:cNvSpPr txBox="1"/>
          <p:nvPr/>
        </p:nvSpPr>
        <p:spPr>
          <a:xfrm>
            <a:off x="6949440" y="5824179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yes/no question → yes / no + a full sentence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21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TC-L08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8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3 · ROLE PLAY 1 · CORE · DEVELOP · THE PLAN IS GIVEN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1 — Helping a lost visitor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أُسَاعِدُ زَائِرًا ضَائِعًا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57032" y="181051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Plan: question word → my first words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96519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Speaker’s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 (the examiner)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75320" y="2267712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← المُسْتَشْفَى … مُقَابِلَ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01768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where the hospital is.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أَيْنَ المُسْتَشْفَى؟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75320" y="300471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← امْشِ … ثُمَّ خُذِ … عَلَى اليَمِينِ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01768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directions (two steps).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أَذْهَبُ إِلَى هُنَاكَ؟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275320" y="3741725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بَعِيدٌ ← لَا، … دَقَائِقَ مَشْيًا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01768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how far.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هُوَ بَعِيدٌ؟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75320" y="4478731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صَيْدَلِيَّةٌ ← نَعَمْ، تُوجَدُ … خَلْفَ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01768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and say where.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تُوجَدُ صَيْدَلِيَّةٌ قَرِيبَةٌ؟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275320" y="521573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أَجْمَلُ ← أَجْمَلُ مَكَانٍ … لِأَنَّ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01768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with a reason.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أَجْمَلُ مَكَانٍ فِي مَدِينَتِكَ؟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Speaker = a local teenager · Leader = a visitor from Jordan. Use the plan column in your 1 minute of preparation, then hide it and speak. Then swap roles.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TC-L08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8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3 · ROLE PLAY 2 · DEVELOP · STRETCH · PLAN IT YOURSELF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2 — What should change in our town centre?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5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وَسَطُ مَدِينَتِنَا: مَاذَا يَجِبُ أَنْ يَتَغَيَّرَ؟</a:t>
            </a:r>
            <a:endParaRPr lang="ar-SA" sz="26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57032" y="181051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Plan it: question word → my first words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96519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Speaker’s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 (the examiner)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93608" y="2267712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5001768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the centre (buildings + adjectives).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 بِكَ عَلَى الهَوَاءِ! صِفْ لَنَا وَسَطَ المَدِينَةِ.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93608" y="300471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5001768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Compare past and present.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كَانَ قَبْلَ عَشْرِ سَنَوَاتٍ؟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741725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5001768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Name a missing service and give two reasons.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الخِدْمَةُ النَّاقِصَةُ لِلشَّبَابِ؟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293608" y="4478731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5001768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Disagree politely and ASK a question.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تُرِيدُ البَلَدِيَّةُ أَنْ تَبْنِيَ مَوْقِفًا كَبِيرًا لِلسَّيَّارَاتِ.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293608" y="521573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5001768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(law … la- + purpose).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كَانَ عِنْدَكَ مِلْيُونُ جُنَيْهٍ لِلْمَدِينَةِ، مَاذَا تَبْنِي؟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Speaker = a young caller · Leader = the radio presenter. In your 1 minute, write the plan column in your book. Task ! : the Leader reads it without warning. Then swap roles.</a:t>
            </a: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21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TC-L08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4 · TOPIC CONVERSATION · KEEP THE ANSWER GOING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A-R-E-T: four links in every answer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سِلْسِلَةُ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3456432"/>
          </a:xfrm>
          <a:prstGeom prst="roundRect">
            <a:avLst>
              <a:gd name="adj" fmla="val 211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A · R · E · 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— ANSWER the question in a full sentence.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035808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035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2926080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 — give a REASON: 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 … / لِذٰلِكَ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378561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3785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3675888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 — add an EXAMPLE or a detail: 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مَثَلًا … / كُلَّ يَوْمٍ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45354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4535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4425696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 — change the TIME: past (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أَمْسِ / فِي المَاضِي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 or future (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سَوْفَ / فِي المُسْتَقْبَلِ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3456432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 COACH PUSHES WITH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26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761244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18820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206496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مِثْلَ مَاذَا؟</a:t>
            </a:r>
            <a:endParaRPr lang="ar-SA" sz="26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3773180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Like what?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200144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218432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وَفِي المَاضِي؟ / وَفِي المُسْتَقْبَلِ؟</a:t>
            </a:r>
            <a:endParaRPr lang="ar-SA" sz="26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4785116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And in the past? / And in the future?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39496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Text 37"/>
          <p:cNvSpPr txBox="1"/>
          <p:nvPr/>
        </p:nvSpPr>
        <p:spPr>
          <a:xfrm>
            <a:off x="658368" y="5468112"/>
            <a:ext cx="1920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ROUTES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2606040" y="5449824"/>
            <a:ext cx="8961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Core: A + R. Develop: A + R + E. Stretch: all four, plus an opinion (</a:t>
            </a:r>
            <a:pPr algn="l" indent="0" marL="0">
              <a:buNone/>
            </a:pPr>
            <a:r>
              <a:rPr lang="ar-SA" altLang="en-US" sz="16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رَأْيِي</a:t>
            </a:r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 or a contrast (</a:t>
            </a:r>
            <a:pPr algn="l" indent="0" marL="0">
              <a:buNone/>
            </a:pPr>
            <a:r>
              <a:rPr lang="ar-SA" altLang="en-US" sz="16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</a:t>
            </a:r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250" dirty="0"/>
          </a:p>
        </p:txBody>
      </p:sp>
      <p:sp>
        <p:nvSpPr>
          <p:cNvPr id="42" name="Text 3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21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TC-L08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4 · CONVERSATION CARD · THE LEADER ASKS, THE COACH PUSHES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Conversation: answer, then keep going</a:t>
            </a:r>
            <a:endParaRPr lang="en-US" sz="24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مَدِينَتِي وَخِدْمَاتُهَا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177272" y="1810512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891272" y="1810512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Coach’s follow-up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23951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" y="1810512"/>
            <a:ext cx="4059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asks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213848" y="2267712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7909560" y="2267712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بِالضَّبْطِ؟</a:t>
            </a:r>
            <a:endParaRPr lang="ar-SA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276088" y="2267712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Is there a mosque near your home?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2267712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يُوجَدُ مَسْجِدٌ قُرْبَ بَيْتِكَ؟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26771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0213848" y="2881884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7909560" y="2881884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دَقِيقَةً؟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276088" y="2881884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do you get to the town centre?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2881884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تَذْهَبُ إِلَى وَسَطِ المَدِينَةِ؟</a:t>
            </a:r>
            <a:endParaRPr lang="ar-SA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2881884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10213848" y="3496056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7909560" y="3496056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دَخَلْتَهُ؟</a:t>
            </a:r>
            <a:endParaRPr lang="ar-SA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5276088" y="3496056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a famous building in your town.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1051560" y="3496056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مَبْنًى مَشْهُورًا فِي مَدِينَتِكَ.</a:t>
            </a:r>
            <a:endParaRPr lang="ar-SA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3496056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10213848" y="4110228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7909560" y="4110228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مَثَلًا الأُسْبُوعَ المَاضِي؟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276088" y="4110228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services does your family use?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4110228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الخِدْمَاتُ الَّتِي تَسْتَعْمِلُهَا عَائِلَتُكَ؟</a:t>
            </a:r>
            <a:endParaRPr lang="ar-SA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110228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10213848" y="4724400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909560" y="4724400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وَلِكِبَارِ السِّنِّ؟</a:t>
            </a:r>
            <a:endParaRPr lang="ar-SA" sz="1500" dirty="0"/>
          </a:p>
        </p:txBody>
      </p:sp>
      <p:sp>
        <p:nvSpPr>
          <p:cNvPr id="52" name="Text 49"/>
          <p:cNvSpPr txBox="1"/>
          <p:nvPr/>
        </p:nvSpPr>
        <p:spPr>
          <a:xfrm>
            <a:off x="5276088" y="4724400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Is city life better for young people?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1051560" y="4724400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الحَيَاةُ فِي المَدِينَةِ أَفْضَلُ لِلشَّبَابِ؟</a:t>
            </a:r>
            <a:endParaRPr lang="ar-SA" sz="1600" dirty="0"/>
          </a:p>
        </p:txBody>
      </p:sp>
      <p:sp>
        <p:nvSpPr>
          <p:cNvPr id="54" name="Text 51"/>
          <p:cNvSpPr txBox="1"/>
          <p:nvPr/>
        </p:nvSpPr>
        <p:spPr>
          <a:xfrm>
            <a:off x="566928" y="4724400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10213848" y="5338572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57" name="Text 54"/>
          <p:cNvSpPr txBox="1"/>
          <p:nvPr/>
        </p:nvSpPr>
        <p:spPr>
          <a:xfrm>
            <a:off x="7909560" y="5338572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تُرِيدُ أَنْ تَعِيشَ فِيهَا؟</a:t>
            </a:r>
            <a:endParaRPr lang="ar-SA" sz="1500" dirty="0"/>
          </a:p>
        </p:txBody>
      </p:sp>
      <p:sp>
        <p:nvSpPr>
          <p:cNvPr id="58" name="Text 55"/>
          <p:cNvSpPr txBox="1"/>
          <p:nvPr/>
        </p:nvSpPr>
        <p:spPr>
          <a:xfrm>
            <a:off x="5276088" y="5338572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will cities be like in twenty years?</a:t>
            </a:r>
            <a:endParaRPr lang="en-US" sz="1100" dirty="0"/>
          </a:p>
        </p:txBody>
      </p:sp>
      <p:sp>
        <p:nvSpPr>
          <p:cNvPr id="59" name="Text 56"/>
          <p:cNvSpPr txBox="1"/>
          <p:nvPr/>
        </p:nvSpPr>
        <p:spPr>
          <a:xfrm>
            <a:off x="1051560" y="5338572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سَتَكُونُ المُدُنُ بَعْدَ عِشْرِينَ سَنَةً؟</a:t>
            </a:r>
            <a:endParaRPr lang="ar-SA" sz="1600" dirty="0"/>
          </a:p>
        </p:txBody>
      </p:sp>
      <p:sp>
        <p:nvSpPr>
          <p:cNvPr id="60" name="Text 57"/>
          <p:cNvSpPr txBox="1"/>
          <p:nvPr/>
        </p:nvSpPr>
        <p:spPr>
          <a:xfrm>
            <a:off x="566928" y="533857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100" dirty="0"/>
          </a:p>
        </p:txBody>
      </p:sp>
      <p:sp>
        <p:nvSpPr>
          <p:cNvPr id="61" name="Text 58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Each Speaker answers three questions (one per route if you can), using A-R-E-T. The Coach asks the follow-up. Swap.</a:t>
            </a:r>
            <a:endParaRPr lang="en-US" sz="1150" dirty="0"/>
          </a:p>
        </p:txBody>
      </p:sp>
      <p:sp>
        <p:nvSpPr>
          <p:cNvPr id="62" name="Text 5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21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TC-L08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5 · THE ONE-MINUTE TALK · RECORD AND REVIEW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One minute: my town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مَدِينَتِي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5 · IN YOUR ROOM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⏱  Talk for one minute — no stopping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Talk for one minute about your town: where it is, the buildings and services, where things are, what is missing — how it has changed — and what you would like to see in the future.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30 seconds: jot 4 key words (one per bullet) — no sentences.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Speaker talks; the Leader times it (record it on your phone or in Teams if you can).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Coach: tick the checklist on the next slide, then WWW + EBI.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Swap. Listen back to your recording at home and fix one sentence.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30 seconds: three places with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يُوجَدُ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تُوجَدُ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and one preposition (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مُقَابِلَ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خَلْفَ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60 seconds: add what is missing (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 يُوجَدُ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…) and how it was in the past.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90 seconds: add a city / countryside comparison and a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 sentence.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سَأَتَكَلَّمُ عَنْ …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am going to talk about …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… ثُمَّ …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first … then …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بِالإِضَافَةِ إِلَى ذٰلِكَ …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 addition …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الخِتَامِ …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 finish …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21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TC-L08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COACH · CHECKLIST FOR EVERY STEP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Coach: tick, then give WWW + EBI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وَرَقَةُ المُدَرِّبِ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754112" y="1810512"/>
            <a:ext cx="859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382512" y="1810512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705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Speaker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790688" y="2267712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419088" y="2267712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question / task in a FULL sentence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790688" y="2881884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419088" y="2881884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يُوجَدُ / تُوجَدُ / لَا يُوجَدُ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correctly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790688" y="3496056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419088" y="3496056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) and a detail (time, frequency, example)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790688" y="4110228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419088" y="4110228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locations with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مُقَابِلَ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خَلْفَ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أَمَامَ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بَيْنَ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790688" y="4724400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419088" y="4724400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changed the time frame (past or future) or gave an opinion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790688" y="5338572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419088" y="5338572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is kind and specific: “WWW: you used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 twice. EBI: add a past sentence.”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21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TC-L08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ROLE PLAY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1: compare with a strong answer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المُسْتَشْفَى فِي شَارِعِ المَلِكِ، مُقَابِلَ المَحَطَّةِ.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hospital is on King Street, opposite the station.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أَيْنَ المُسْتَشْفَى؟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امْشِ مُسْتَقِيمًا، ثُمَّ خُذِ الشَّارِعَ الثَّانِيَ عَلَى اليَمِينِ.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Walk straight on, then take the second street on the right.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أَذْهَبُ إِلَى هُنَاكَ؟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لَا، عَشْرُ دَقَائِقَ مَشْيًا فَقَطْ.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No, only ten minutes’ walk.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هُوَ بَعِيدٌ؟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تُوجَدُ صَيْدَلِيَّةٌ خَلْفَ المَسْجِدِ.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there is a pharmacy behind the mosque.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تُوجَدُ صَيْدَلِيَّةٌ قَرِيبَةٌ؟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أَجْمَلُ مَكَانٍ هُوَ الحَدِيقَةُ الكَبِيرَةُ، لِأَنَّ فِيهَا بُحَيْرَةً وَطُيُورًا.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most beautiful place is the big park, because it has a lake and birds.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أَجْمَلُ مَكَانٍ فِي مَدِينَتِكَ؟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Compare: did you answer EVERY task with a full sentence? Steal one phrase you did not use and say it aloud.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21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TC-L08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ROLE PLAY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2: compare with a strong answer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وَسَطُ المَدِينَةِ مُزْدَحِمٌ وَقَدِيمٌ؛ تُوجَدُ فِيهِ مَحَلَّاتٌ كَثِيرَةٌ مُغْلَقَةٌ، وَمَبَانٍ مَبْنِيَّةٌ مِنَ الطُّوبِ الأَحْمَرِ.</a:t>
            </a:r>
            <a:endParaRPr lang="ar-SA" sz="165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centre is crowded and old; there are many closed shops, and buildings made of red brick.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 بِكَ عَلَى الهَوَاءِ! صِفْ لَنَا وَسَطَ المَدِينَةِ.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 أَنْشَطَ بِكَثِيرٍ، وَكَانَتْ فِيهِ سِينِمَا وَسُوقٌ كُلَّ يَوْمِ سَبْتٍ، أَمَّا الآنَ فَيَتَسَوَّقُ النَّاسُ عَلَى الإِنْتَرْنِتِ.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was much livelier, with a cinema and a Saturday market — now people shop online.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كَانَ قَبْلَ عَشْرِ سَنَوَاتٍ؟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 يُوجَدُ مَرْكَزٌ لِلشَّبَابِ، وَهٰذَا مُهِمٌّ لِأَنَّنَا نَحْتَاجُ إِلَى مَكَانٍ آمِنٍ، وَلِأَنَّ المَقَاهِيَ غَالِيَةٌ.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There is no youth centre — important because we need a safe place, and cafés are expensive.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الخِدْمَةُ النَّاقِصَةُ لِلشَّبَابِ؟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مَعَ احْتِرَامِي، لَا أُوَافِقُ، لِأَنَّ ذٰلِكَ سَيَزِيدُ التَّلَوُّثَ. لِمَاذَا لَا تُحَسِّنُونَ الحَافِلَاتِ بَدَلًا مِنْ ذٰلِكَ؟</a:t>
            </a:r>
            <a:endParaRPr lang="ar-SA" sz="165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With respect, I disagree, because that will increase pollution. Why not improve the buses instead?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تُرِيدُ البَلَدِيَّةُ أَنْ تَبْنِيَ مَوْقِفًا كَبِيرًا لِلسَّيَّارَاتِ.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كَانَ عِنْدِي مِلْيُونُ جُنَيْهٍ، لَبَنَيْتُ مَرْكَزًا ثَقَافِيًّا فِيهِ مَكْتَبَةٌ وَمَلْعَبٌ، لِكَيْ يَلْتَقِيَ فِيهِ الصِّغَارُ وَالكِبَارُ.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I had a million pounds, I would build a cultural centre with a library and a pitch, so young and old could meet there.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كَانَ عِنْدَكَ مِلْيُونُ جُنَيْهٍ لِلْمَدِينَةِ، مَاذَا تَبْنِي؟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Compare: did you answer EVERY task with a full sentence? Steal one phrase you did not use and say it aloud.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21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TC-L08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CONVERSATION AND ONE-MINUTE TALK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Strong answers to compare with yours</a:t>
            </a:r>
            <a:endParaRPr lang="en-US" sz="23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نَمَاذِجُ لِلْمُقَارَنَةِ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أَشْهَرُ مَبْنًى فِي مَدِينَتِي هُوَ المَكْتَبَةُ الجَدِيدَةُ، لِأَنَّهَا مَبْنِيَّةٌ مِنَ الزُّجَاجِ وَالمَعْدِنِ، وَشَكْلُهَا غَرِيبٌ؛ دَخَلْتُهَا مَعَ صَفِّي، وَسَأَدْرُسُ فِيهَا لِلِامْتِحَانَاتِ.</a:t>
            </a:r>
            <a:endParaRPr lang="ar-SA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A: the new library · R: made of glass and metal, with an unusual shape · E: I went in with my class · T: I’ll revise there for exams.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مَبْنًى مَشْهُورًا فِي مَدِينَتِكَ.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نَسْتَعْمِلُ العِيَادَةَ وَالمَكْتَبَةَ وَالحَافِلَاتِ، لِأَنَّ أُمِّي لَا تَقُودُ السَّيَّارَةَ؛ الأُسْبُوعَ المَاضِي أَخَذْتُ جَدِّي إِلَى العِيَادَةِ الَّتِي تَقَعُ خَلْفَ السُّوقِ، فَانْتَظَرْنَا سَاعَةً كَامِلَةً!</a:t>
            </a:r>
            <a:endParaRPr lang="ar-SA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A: the clinic, library and buses · R: mum doesn’t drive · E: last week I took grandad to the clinic behind the market — we waited a whole hour!</a:t>
            </a:r>
            <a:endParaRPr lang="en-US" sz="8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الخِدْمَاتُ الَّتِي تَسْتَعْمِلُهَا عَائِلَتُكَ؟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المَدِينَةَ فِيهَا جَامِعَاتٌ وَوَظَائِفُ أَكْثَرُ، غَيْرَ أَنَّهَا أَغْلَى وَأَكْثَرُ تَلَوُّثًا؛ مَثَلًا، ابْنُ عَمِّي انْتَقَلَ إِلَى لَنْدَنَ لِلْعَمَلِ، لٰكِنَّهُ يَدْفَعُ نِصْفَ رَاتِبِهِ لِلشَّقَّةِ.</a:t>
            </a:r>
            <a:endParaRPr lang="ar-SA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Concession: cities have more universities and jobs, but are dearer and more polluted · E: my cousin moved to London for work, but pays half his salary on rent.</a:t>
            </a:r>
            <a:endParaRPr lang="en-US" sz="8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الحَيَاةُ فِي المَدِينَةِ أَفْضَلُ لِلشَّبَابِ؟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Find the A, R, E and T in each answer. Which link do you usually forget?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21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TC-L08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answered every role-play task in a full sentence.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planned my first words from the question word.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climbed to level 3: answer + reason + detail.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today’s key structure correctly when I spoke.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all four A-R-E-T links and spoke for 90 seconds.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21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TC-L08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you ran your own speaking practice!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TC-L08 · Writing practice room · Decode, plan, write and check — step by step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answer + reason + detail + another time frame — every time you speak.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TC-L08 · Speaking Practice Room — Buildings, Services and Urban Areas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2026-10-25T15:00:12Z</dcterms:created>
  <dcterms:modified xsi:type="dcterms:W3CDTF">2026-10-25T15:00:12Z</dcterms:modified>
</cp:coreProperties>
</file>