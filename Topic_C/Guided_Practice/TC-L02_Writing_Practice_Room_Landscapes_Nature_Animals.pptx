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2 (Landscapes, nature and animals, TC-L02)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(55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Landscapes, Nature and Animals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الطَّبِيعَةُ وَالحَيَوَانَاتُ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(an email about a trip to the countryside),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TC-L02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Nature reserve: visitor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00" b="1" dirty="0">
                <a:solidFill>
                  <a:srgbClr val="8A6D1E"/>
                </a:solidFill>
                <a:latin typeface="Amiri" pitchFamily="2" charset="-78"/>
                <a:ea typeface="Amiri" pitchFamily="2" charset="-78"/>
                <a:cs typeface="Amiri" pitchFamily="2" charset="-78"/>
              </a:rPr>
              <a:t>المَحْمِيَّةُ الطَّبِيعِيَّةُ: اسْتِمَارَةُ الزَّائِرِ</a:t>
            </a:r>
            <a:endParaRPr lang="ar-SA" sz="26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ثَلَاثَةُ أَشْخَاصٍ</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visitors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الزُّوَّارِ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الغَابَةُ · البُحَيْرَةُ</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place</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المَكَانُ المُفَضَّلُ</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الغَزَالُ · النَّسْرُ</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animal you want to see</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حَيَوَانٌ تُرِيدُ أَنْ تَرَاهُ</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المَشْيُ · التَّصْوِيرُ</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الطَّبِيعَةَ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like nature</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تُحِبُّ الطَّبِيعَةَ؟</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Question 2: a weekend in the countryside</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عُطْلَةُ نِهَايَةِ الأُسْبُوعِ فِي الرِّيفِ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 spent a weekend in the countryside. Write an email in Arabic to a friend of about 80–90 words. You must include: • where you went and with whom • a description of the landscape • the animals you saw • whether you would like to live in the countryside, and why.</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ذَهَبْتُ مَعَ … إِلَى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went with …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هُنَاكَ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are … and … there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 الَّتِي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saw … which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أَنْ أَسْكُنَ فِي الرِّيفِ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would like to live in the countryside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عُطْلَتِكَ فِي الرِّيفِ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ذَهَبْتَ؟ وَمَعَ مَنْ؟</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المَنَاظِرَ الطَّبِيعِيَّةَ.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الحَيَوَانَاتُ الَّتِي رَأَيْتَهَا؟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أَنْ تَسْكُنَ فِي الرِّيفِ؟ وَلِمَاذَا؟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a friend about your weekend in the countryside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رِسَالَةً إِلَى صَدِيقِكَ عَنْ عُطْلَتِكَ فِي الرِّيفِ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went; with whom</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 ذَهَبْتَ</a:t>
            </a:r>
            <a:pPr algn="l" indent="0" marL="0">
              <a:buNone/>
            </a:pPr>
            <a:r>
              <a:rPr lang="en-US" sz="1100" dirty="0">
                <a:solidFill>
                  <a:srgbClr val="5A6472"/>
                </a:solidFill>
                <a:latin typeface="Calibri" pitchFamily="34" charset="0"/>
                <a:cs typeface="Amiri" pitchFamily="2" charset="-78"/>
              </a:rPr>
              <a:t> → PAST (</a:t>
            </a:r>
            <a:pPr algn="l" indent="0" marL="0">
              <a:buNone/>
            </a:pPr>
            <a:r>
              <a:rPr lang="ar-SA" altLang="en-US" sz="1450" dirty="0">
                <a:solidFill>
                  <a:srgbClr val="5A6472"/>
                </a:solidFill>
                <a:latin typeface="Amiri" pitchFamily="2" charset="-78"/>
                <a:ea typeface="Amiri" pitchFamily="2" charset="-78"/>
                <a:cs typeface="Amiri" pitchFamily="2" charset="-78"/>
              </a:rPr>
              <a:t>ذَهَبْتُ</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سَافَرْنَا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ذَهَبْتَ؟ وَمَعَ مَنْ؟</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landscape</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a:t>
            </a:r>
            <a:pPr algn="l" indent="0" marL="0">
              <a:buNone/>
            </a:pPr>
            <a:r>
              <a:rPr lang="en-US" sz="1100" dirty="0">
                <a:solidFill>
                  <a:srgbClr val="5A6472"/>
                </a:solidFill>
                <a:latin typeface="Calibri" pitchFamily="34" charset="0"/>
                <a:cs typeface="Amiri" pitchFamily="2" charset="-78"/>
              </a:rPr>
              <a:t> → adjectives; non-human plural + feminine singular (</a:t>
            </a:r>
            <a:pPr algn="l" indent="0" marL="0">
              <a:buNone/>
            </a:pPr>
            <a:r>
              <a:rPr lang="ar-SA" altLang="en-US" sz="1450" dirty="0">
                <a:solidFill>
                  <a:srgbClr val="5A6472"/>
                </a:solidFill>
                <a:latin typeface="Amiri" pitchFamily="2" charset="-78"/>
                <a:ea typeface="Amiri" pitchFamily="2" charset="-78"/>
                <a:cs typeface="Amiri" pitchFamily="2" charset="-78"/>
              </a:rPr>
              <a:t>أَشْجَارٌ عَالِيَةٌ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المَنَاظِرَ الطَّبِيعِيَّةَ.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animals you saw</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الحَيَوَانَاتُ الَّتِي رَأَيْتَهَا</a:t>
            </a:r>
            <a:pPr algn="l" indent="0" marL="0">
              <a:buNone/>
            </a:pPr>
            <a:r>
              <a:rPr lang="en-US" sz="1100" dirty="0">
                <a:solidFill>
                  <a:srgbClr val="5A6472"/>
                </a:solidFill>
                <a:latin typeface="Calibri" pitchFamily="34" charset="0"/>
                <a:cs typeface="Amiri" pitchFamily="2" charset="-78"/>
              </a:rPr>
              <a:t> → PAST +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الحَيَوَانَاتُ الَّتِي رَأَيْتَهَا؟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to live there? Why?</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هَلْ تُرِيدُ … لِمَاذَا</a:t>
            </a:r>
            <a:pPr algn="l" indent="0" marL="0">
              <a:buNone/>
            </a:pPr>
            <a:r>
              <a:rPr lang="en-US" sz="1100" dirty="0">
                <a:solidFill>
                  <a:srgbClr val="5A6472"/>
                </a:solidFill>
                <a:latin typeface="Calibri" pitchFamily="34" charset="0"/>
                <a:cs typeface="Amiri" pitchFamily="2" charset="-78"/>
              </a:rPr>
              <a:t> → OPINION +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تُرِيدُ أَنْ تَسْكُنَ فِي الرِّيفِ؟ وَلِمَاذَا؟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رَأَيْتُ طُيُورًا.</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saw birds.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رَأَيْتُ طُيُورًا مُلَوَّنَةً فِي الغَابَةِ.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saw colourful birds in the forest.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رَأَيْتُ طُيُورًا مُلَوَّنَةً فِي الغَابَةِ الَّتِي تَقَعُ بِجَانِبِ البُحَيْرَةِ، لِأَنَّنَا قُمْنَا بَاكِرًا.</a:t>
            </a:r>
            <a:endParaRPr lang="ar-SA" sz="18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in the forest which is next to the lake, because we got up early.</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لِذٰلِكَ أُرِيدُ أَنْ أُصْبِحَ مُصَوِّرًا لِلْحَيَاةِ البَرِّيَّةِ، لِكَيْ يَعْرِفَ النَّاسُ جَمَالَهَا.</a:t>
            </a:r>
            <a:endParaRPr lang="ar-SA" sz="20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so I want to become a wildlife photographer, so that people know its beauty.</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mountains are high.</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الجِبَالُ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الجَبَلُ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عَالِيَةٌ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عَالُونَ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big lake near the village.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بُحَيْرَةٌ كَبِيرَةٌ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بُحَيْرَةٌ كَبِيرٌ</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قُرْبَ القَرْيَةِ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القَرْيَةَ قُرْبَ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camel, which lives in the desert, is strong.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الجَمَلُ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الجِمَالُ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الَّذِي يَعِيشُ فِي الصَّحْرَاءِ</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الَّتِي تَعِيشُ فِي الصَّحْرَاءِ</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قَوِيٌّ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قَوِيَّةٌ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mountains are high.</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 → feminine singular adjective: </a:t>
            </a:r>
            <a:pPr algn="l" indent="0" marL="0">
              <a:buNone/>
            </a:pPr>
            <a:r>
              <a:rPr lang="ar-SA" altLang="en-US" sz="1350" dirty="0">
                <a:solidFill>
                  <a:srgbClr val="5A6472"/>
                </a:solidFill>
                <a:latin typeface="Amiri" pitchFamily="2" charset="-78"/>
                <a:ea typeface="Amiri" pitchFamily="2" charset="-78"/>
                <a:cs typeface="Amiri" pitchFamily="2" charset="-78"/>
              </a:rPr>
              <a:t>عَالِيَةٌ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الجِبَالُ عَالِيَةٌ جِدًّا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big lake near the village.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بُحَيْرَةٌ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تُوجَدُ … كَبِيرَةٌ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بُحَيْرَةٌ كَبِيرَةٌ قُرْبَ القَرْيَةِ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camel, which lives in the desert, is strong.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masculine singular noun → </a:t>
            </a:r>
            <a:pPr algn="l" indent="0" marL="0">
              <a:buNone/>
            </a:pPr>
            <a:r>
              <a:rPr lang="ar-SA" altLang="en-US" sz="1350" dirty="0">
                <a:solidFill>
                  <a:srgbClr val="5A6472"/>
                </a:solidFill>
                <a:latin typeface="Amiri" pitchFamily="2" charset="-78"/>
                <a:ea typeface="Amiri" pitchFamily="2" charset="-78"/>
                <a:cs typeface="Amiri" pitchFamily="2" charset="-78"/>
              </a:rPr>
              <a:t>الَّذِي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قَوِيٌّ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الجَمَلُ الَّذِي يَعِيشُ فِي الصَّحْرَاءِ قَوِيٌّ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سَافَرْنَا بِالسَّيَّارَةِ إِلَى ______ الَّتِي تَقَعُ فِي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We travelled by car to …, which is in the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كَانَتِ الجِبَالُ ______ ، وَكَانَ النَّهْرُ ______ .</a:t>
            </a:r>
            <a:endParaRPr lang="ar-SA" sz="16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 mountains were …, and the river was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أَعْجَبَتْنِي ______ الَّتِي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liked the … which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صَحِيحٌ أَنَّ الرِّيفَ ______ ، غَيْرَ أَنَّ ______ .</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It is true the countryside is …, but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فِي نِهَايَةِ الأُسْبُوعِ ذَهَبْتُ مَعَ ______ إِلَى ______ .</a:t>
            </a:r>
            <a:endParaRPr lang="ar-SA" sz="15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At the weekend I went with …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تُوجَدُ هُنَاكَ ______ ، 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There are … and … there.</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______ 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We saw … and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أُرِيدُ / لَا أُرِيدُ أَنْ أَسْكُنَ فِي الرِّيفِ، لِأَنَّ ______ .</a:t>
            </a:r>
            <a:endParaRPr lang="ar-SA" sz="145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want / don’t want to live in the countryside, because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جِبَالٌ عَالِيَةٌ  ·  غَابَةٌ كَثِيفَةٌ  ·  بُحَيْرَةٌ هَادِئَةٌ  ·  وَادٍ أَخْضَرُ  ·  طُيُورٌ نَادِرَةٌ  ·  خِرَافٌ · أَبْقَارٌ  ·  خَلَّابٌ  ·  الَّذِي · الَّتِي</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الأَشْجَارُ طَوِيلُونَ.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Trees are not people.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غَابَةٌ قُرْبَ بَيْتِي.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a:t>
            </a:r>
            <a:pPr algn="l" indent="0" marL="0">
              <a:buNone/>
            </a:pPr>
            <a:r>
              <a:rPr lang="ar-SA" altLang="en-US" sz="1700" dirty="0">
                <a:solidFill>
                  <a:srgbClr val="5A6472"/>
                </a:solidFill>
                <a:latin typeface="Amiri" pitchFamily="2" charset="-78"/>
                <a:ea typeface="Amiri" pitchFamily="2" charset="-78"/>
                <a:cs typeface="Amiri" pitchFamily="2" charset="-78"/>
              </a:rPr>
              <a:t>غَابَةٌ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رَأَيْتُ الطَّائِرَ الَّتِي تَعِيشُ فِي الجَبَلِ.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Check the relative pronoun.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الأَشْجَارُ طَوِيلُونَ.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الأَشْجَارُ طَوِيلَةٌ.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t>
            </a:r>
            <a:pPr algn="l" indent="0" marL="0">
              <a:buNone/>
            </a:pPr>
            <a:r>
              <a:rPr lang="ar-SA" altLang="en-US" sz="1500" b="1" dirty="0">
                <a:solidFill>
                  <a:srgbClr val="1B3B6F"/>
                </a:solidFill>
                <a:latin typeface="Amiri" pitchFamily="2" charset="-78"/>
                <a:ea typeface="Amiri" pitchFamily="2" charset="-78"/>
                <a:cs typeface="Amiri" pitchFamily="2" charset="-78"/>
              </a:rPr>
              <a:t>طَوِيلَةٌ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غَابَةٌ قُرْبَ بَيْتِي.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غَابَةٌ قُرْبَ بَيْتِي.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رَأَيْتُ الطَّائِرَ الَّتِي تَعِيشُ فِي الجَبَلِ.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رَأَيْتُ الطَّائِرَ الَّذِي يَعِيشُ فِي الجَبَلِ.</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الطَّائِرُ</a:t>
            </a:r>
            <a:pPr algn="l" indent="0" marL="0">
              <a:buNone/>
            </a:pPr>
            <a:r>
              <a:rPr lang="en-US" sz="1150" b="1" dirty="0">
                <a:solidFill>
                  <a:srgbClr val="1B3B6F"/>
                </a:solidFill>
                <a:latin typeface="Calibri" pitchFamily="34" charset="0"/>
                <a:cs typeface="Amiri" pitchFamily="2" charset="-78"/>
              </a:rPr>
              <a:t> is masculine → </a:t>
            </a:r>
            <a:pPr algn="l" indent="0" marL="0">
              <a:buNone/>
            </a:pPr>
            <a:r>
              <a:rPr lang="ar-SA" altLang="en-US" sz="1500" b="1" dirty="0">
                <a:solidFill>
                  <a:srgbClr val="1B3B6F"/>
                </a:solidFill>
                <a:latin typeface="Amiri" pitchFamily="2" charset="-78"/>
                <a:ea typeface="Amiri" pitchFamily="2" charset="-78"/>
                <a:cs typeface="Amiri" pitchFamily="2" charset="-78"/>
              </a:rPr>
              <a:t>الَّذِي يَعِيشُ</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فِي العُطْلَةِ رَأَيْتُ دُلْفِينًا فِي البَحْرِ الأَحْمَرِ.</a:t>
            </a:r>
            <a:endParaRPr lang="ar-SA" sz="240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In the holiday I saw a dolphin in the Red Sea.</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350" b="1" dirty="0">
                <a:solidFill>
                  <a:srgbClr val="1B3B6F"/>
                </a:solidFill>
                <a:latin typeface="Amiri" pitchFamily="2" charset="-78"/>
                <a:ea typeface="Amiri" pitchFamily="2" charset="-78"/>
                <a:cs typeface="Amiri" pitchFamily="2" charset="-78"/>
              </a:rPr>
              <a:t>كُنَّا فِي قَارِبٍ صَغِيرٍ، فَقَفَزَ الدُّلْفِينُ بِجَانِبِنَا.</a:t>
            </a:r>
            <a:endParaRPr lang="ar-SA" sz="23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We were in a small boat, and the dolphin jumped next to us.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كَانَ مُمَيَّزًا لِأَنِّي رَأَيْتُهُ حُرًّا، لَا فِي حَدِيقَةٍ.</a:t>
            </a:r>
            <a:endParaRPr lang="ar-SA" sz="240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was special because I saw it free, not in a zoo.</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بِالسَّعَادَةِ، وَلَنْ أَنْسَى ذٰلِكَ اليَوْمَ.</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happy, and I will never forget that day.</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Question 3, one paragraph: an encounter with an animal</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لِقَاءٌ مَعَ حَيَوَانٍ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“Nature and the animals around us”. Today write ONLY the past paragraph: a time you saw an animal in nature — where you were, what the place and animal were like, what happened,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رَأَيْتُ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suddenly I saw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 كَبِيرًا / صَغِيرًا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big / small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يَعِيشُ هٰذَا الحَيَوَانُ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animal lives in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بِالخَوْفِ / بِالدَّهْشَةِ</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fear / amazement</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never forget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زَيْنَبُ،</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فِي نِهَايَةِ الأُسْبُوعِ المَاضِي سَافَرْتُ مَعَ عَائِلَتِي بِالسَّيَّارَةِ إِلَى مِنْطَقَةِ البُحَيْرَاتِ الَّتِي تَقَعُ فِي شَمَالِ غَرْبِ إِنْجِلْتِرَا. المَنَاظِرُ هُنَاكَ خَلَّابَةٌ: جِبَالٌ عَالِيَةٌ وَخَضْرَاءُ، وَبُحَيْرَاتٌ هَادِئَةٌ، وَغَابَاتٌ كَثِيفَةٌ. مَشَيْنَا ثَلَاثَ سَاعَاتٍ بِجَانِبِ النَّهْرِ، وَرَأَيْنَا خِرَافًا كَثِيرَةً وَسِنْجَابًا أَحْمَرَ نَادِرًا، وَطُيُورًا تَسْبَحُ فِي المَاءِ. أَعْجَبَنِي الهُدُوءُ كَثِيرًا، لِأَنَّ مَدِينَتَنَا مُزْدَحِمَةٌ. صَحِيحٌ أَنَّ الرِّيفَ جَمِيلٌ وَالهَوَاءَ نَظِيفٌ، غَيْرَ أَنِّي لَا أُرِيدُ أَنْ أَسْكُنَ فِيهِ، لِأَنَّ المَدْرَسَةَ وَالمَحَلَّاتِ بَعِيدَةٌ جِدًّا، وَلَيْسَ هُنَاكَ مُوَاصَلَاتٌ.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مَحَبَّتِي،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لَيْلَى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Zainab, how are you? Last weekend I travelled by car with my family to the Lake District, which is in the north-west of England. The scenery there is stunning: high green mountains, calm lakes and thick forests. We walked for three hours beside the river and saw lots of sheep, a rare red squirrel and birds swimming in the water. I loved the quiet, because our city is crowded. It’s true the countryside is beautiful and the air is clean, but I don’t want to live there, because school and the shops are very far and there is no transport. Love,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الَّتِي تَقَعُ فِي شَمَالِ 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جِبَالٌ عَالِيَةٌ وَخَضْرَاءُ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سِنْجَابًا أَحْمَرَ نَادِرًا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صَحِيحٌ أَنَّ … غَيْرَ أَنِّي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خِلَالَ رِحْلَةٍ إِلَى صَحْرَاءِ عُمَانَ، رَأَيْتُ حَيَوَانًا نَادِرًا لِأَوَّلِ مَرَّةٍ. كُنَّا نَمْشِي مَعَ الدَّلِيلِ بَيْنَ الرِّمَالِ الذَّهَبِيَّةِ فِي الصَّبَاحِ البَاكِرِ، فَجْأَةً رَأَيْنَا مَجْمُوعَةً مِنَ المَهَا العَرَبِيِّ. كَانَتْ بَيْضَاءَ وَقُرُونُهَا طَوِيلَةٌ جِدًّا، وَكَانَتْ تَقِفُ هَادِئَةً تَحْتَ شَجَرَةٍ صَغِيرَةٍ. قَالَ الدَّلِيلُ إِنَّ هٰذَا الحَيَوَانَ كَانَ مُهَدَّدًا بِالانْقِرَاضِ. شَعَرْتُ بِالدَّهْشَةِ، لِأَنِّي رَأَيْتُهُ فِي بَيْتِهِ الطَّبِيعِيِّ.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last summer, on a trip to the Omani desert, I saw a rare animal for the first time · D: we were walking with the guide among the golden sand early in the morning; suddenly we saw a group of Arabian oryx — white with very long horns, standing calmly under a small tree; the guide said this animal had been endangered · R/F: I felt amazed, because I saw it in its natural home.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رَأَيْتُ حَيَوَانًا نَادِرًا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فَجْأَةً رَأَيْنَا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بَيْضَاءَ وَقُرُونُهَا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مُهَدَّدًا بِالانْقِرَاضِ</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TC-L02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TC-L03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TC-L02 · Writing Practice Room — Landscapes, Nature and Animals</dc:title>
  <dc:subject>PptxGenJS Presentation</dc:subject>
  <dc:creator>Al Madina Online School · Arabic Department</dc:creator>
  <cp:lastModifiedBy>Al Madina Online School · Arabic Department</cp:lastModifiedBy>
  <cp:revision>1</cp:revision>
  <dcterms:created xsi:type="dcterms:W3CDTF">2026-10-25T14:48:58Z</dcterms:created>
  <dcterms:modified xsi:type="dcterms:W3CDTF">2026-10-25T14:48:58Z</dcterms:modified>
</cp:coreProperties>
</file>