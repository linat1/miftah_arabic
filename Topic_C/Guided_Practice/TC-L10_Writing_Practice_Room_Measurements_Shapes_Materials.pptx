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C · The World Around Us, Lesson 10 (Measurements, shapes and materials, TC-L10)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(77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(56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GUIDED PRACTICE  ·  TC-L10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Measurements, Shapes and Materials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المَقَايِيسُ وَالأَشْكَالُ وَالمَوَادُّ</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form, decoding a new Q2 task (an advert to sell something second-hand),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TC-L10 · Advanced Topic C · The World Around Us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TC-L10</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TC-L10</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Lost property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المَفْقُودَاتِ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حَقِيبَةٌ · مِظَلَّةٌ</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Lost item</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الشَّيْءُ المَفْقُودُ</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36408" y="3496056"/>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 </a:t>
            </a:r>
            <a:pPr algn="l" indent="0" marL="0">
              <a:buNone/>
            </a:pPr>
            <a:r>
              <a:rPr lang="ar-SA" altLang="en-US" sz="1450" dirty="0">
                <a:solidFill>
                  <a:srgbClr val="5A6472"/>
                </a:solidFill>
                <a:latin typeface="Amiri" pitchFamily="2" charset="-78"/>
                <a:ea typeface="Amiri" pitchFamily="2" charset="-78"/>
                <a:cs typeface="Amiri" pitchFamily="2" charset="-78"/>
              </a:rPr>
              <a:t>أَسْوَدُ / سَوْدَاءُ</a:t>
            </a:r>
            <a:endParaRPr lang="en-US" sz="11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Colour</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اللَّوْنُ</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جِلْدٌ · قُمَاشٌ</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Material</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المَادَّةُ</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صَغِيرٌ · طُولُهُ …</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Size</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الحَجْمُ</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فَقَدْتُهُ فِي … يَوْمَ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where and when you lost it</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أَيْنَ وَمَتَى فَقَدْتَهُ؟</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TC-L10</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Question 2: an advert to sell something</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إِعْلَانٌ لِبَيْعِ شَيْءٍ مُسْتَعْمَلٍ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want to sell something you no longer need on a second-hand website. Write an advert in Arabic of about 80–90 words. You must include: • what the object is and a full description (size, shape, material) • how long you have had it and why you bought it • why you are selling it now • the price, and why it is a good choice for the buyer.</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لِلْبَيْعِ: … مُسْتَعْمَلٌ / مُسْتَعْمَلَةٌ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sale: a used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طُولُهُ … وَعَرْضُهُ … ، وَهُوَ مَصْنُوعٌ مِنْ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 long and … wide, and made of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اشْتَرَيْتُهُ قَبْلَ … لِأَنَّ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bought it … ago because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ثَمَنُهُ … فَقَطْ</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its price is only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إِعْلَانًا لِمَوْقِعِ الأَشْيَاءِ المُسْتَعْمَلَةِ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الشَّيْءُ؟ صِفْهُ (الحَجْمُ، الشَّكْلُ، المَادَّةُ).</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مُنْذُ مَتَى عِنْدَكَ؟ وَلِمَاذَا اشْتَرَيْتَهُ؟</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تَبِيعُهُ الآنَ؟</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الثَّمَنُ، وَلِمَاذَا هُوَ اخْتِيَارٌ جَيِّدٌ؟</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an advert for a second-hand website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ADVERT → a title (</a:t>
            </a:r>
            <a:pPr algn="l" indent="0" marL="0">
              <a:buNone/>
            </a:pPr>
            <a:r>
              <a:rPr lang="ar-SA" altLang="en-US" sz="1450" dirty="0">
                <a:solidFill>
                  <a:srgbClr val="5A6472"/>
                </a:solidFill>
                <a:latin typeface="Amiri" pitchFamily="2" charset="-78"/>
                <a:ea typeface="Amiri" pitchFamily="2" charset="-78"/>
                <a:cs typeface="Amiri" pitchFamily="2" charset="-78"/>
              </a:rPr>
              <a:t>لِلْبَيْعِ</a:t>
            </a:r>
            <a:pPr algn="l" indent="0" marL="0">
              <a:buNone/>
            </a:pPr>
            <a:r>
              <a:rPr lang="en-US" sz="1100" dirty="0">
                <a:solidFill>
                  <a:srgbClr val="5A6472"/>
                </a:solidFill>
                <a:latin typeface="Calibri" pitchFamily="34" charset="0"/>
                <a:cs typeface="Amiri" pitchFamily="2" charset="-78"/>
              </a:rPr>
              <a:t>), speak to the buyer</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إِعْلَانًا لِمَوْقِعِ الأَشْيَاءِ المُسْتَعْمَلَةِ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it is; describe it</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صِفْهُ</a:t>
            </a:r>
            <a:pPr algn="l" indent="0" marL="0">
              <a:buNone/>
            </a:pPr>
            <a:r>
              <a:rPr lang="en-US" sz="1100" dirty="0">
                <a:solidFill>
                  <a:srgbClr val="5A6472"/>
                </a:solidFill>
                <a:latin typeface="Calibri" pitchFamily="34" charset="0"/>
                <a:cs typeface="Amiri" pitchFamily="2" charset="-78"/>
              </a:rPr>
              <a:t> → shape + material + measurements (</a:t>
            </a:r>
            <a:pPr algn="l" indent="0" marL="0">
              <a:buNone/>
            </a:pPr>
            <a:r>
              <a:rPr lang="ar-SA" altLang="en-US" sz="1450" dirty="0">
                <a:solidFill>
                  <a:srgbClr val="5A6472"/>
                </a:solidFill>
                <a:latin typeface="Amiri" pitchFamily="2" charset="-78"/>
                <a:ea typeface="Amiri" pitchFamily="2" charset="-78"/>
                <a:cs typeface="Amiri" pitchFamily="2" charset="-78"/>
              </a:rPr>
              <a:t>طُولُهُ</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وَزْنُهُ</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الشَّيْءُ؟ صِفْهُ (الحَجْمُ، الشَّكْلُ، المَادَّةُ).</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long you’ve had it; why you bought it</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مُنْذُ مَتَى</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لِمَاذَا اشْتَرَيْتَهُ</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مُنْذُ</a:t>
            </a:r>
            <a:pPr algn="l" indent="0" marL="0">
              <a:buNone/>
            </a:pPr>
            <a:r>
              <a:rPr lang="en-US" sz="1100" dirty="0">
                <a:solidFill>
                  <a:srgbClr val="5A6472"/>
                </a:solidFill>
                <a:latin typeface="Calibri" pitchFamily="34" charset="0"/>
                <a:cs typeface="Amiri" pitchFamily="2" charset="-78"/>
              </a:rPr>
              <a:t> + PAST + </a:t>
            </a:r>
            <a:pPr algn="l" indent="0" marL="0">
              <a:buNone/>
            </a:pPr>
            <a:r>
              <a:rPr lang="ar-SA" altLang="en-US" sz="1450" dirty="0">
                <a:solidFill>
                  <a:srgbClr val="5A6472"/>
                </a:solidFill>
                <a:latin typeface="Amiri" pitchFamily="2" charset="-78"/>
                <a:ea typeface="Amiri" pitchFamily="2" charset="-78"/>
                <a:cs typeface="Amiri" pitchFamily="2" charset="-78"/>
              </a:rPr>
              <a:t>لِأَنَّ</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مُنْذُ مَتَى عِنْدَكَ؟ وَلِمَاذَا اشْتَرَيْتَهُ؟</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you are selling it</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لِمَاذَا تَبِيعُهُ الآنَ</a:t>
            </a:r>
            <a:pPr algn="l" indent="0" marL="0">
              <a:buNone/>
            </a:pPr>
            <a:r>
              <a:rPr lang="en-US" sz="1100" dirty="0">
                <a:solidFill>
                  <a:srgbClr val="5A6472"/>
                </a:solidFill>
                <a:latin typeface="Calibri" pitchFamily="34" charset="0"/>
                <a:cs typeface="Amiri" pitchFamily="2" charset="-78"/>
              </a:rPr>
              <a:t> → PRESENT reason (</a:t>
            </a:r>
            <a:pPr algn="l" indent="0" marL="0">
              <a:buNone/>
            </a:pPr>
            <a:r>
              <a:rPr lang="ar-SA" altLang="en-US" sz="1450" dirty="0">
                <a:solidFill>
                  <a:srgbClr val="5A6472"/>
                </a:solidFill>
                <a:latin typeface="Amiri" pitchFamily="2" charset="-78"/>
                <a:ea typeface="Amiri" pitchFamily="2" charset="-78"/>
                <a:cs typeface="Amiri" pitchFamily="2" charset="-78"/>
              </a:rPr>
              <a:t>لَمْ أَعُدْ أَحْتَاجُهُ</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تَبِيعُهُ الآنَ؟</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price; why it’s a good buy</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الثَّمَنُ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اخْتِيَارٌ جَيِّدٌ</a:t>
            </a:r>
            <a:pPr algn="l" indent="0" marL="0">
              <a:buNone/>
            </a:pPr>
            <a:r>
              <a:rPr lang="en-US" sz="1100" dirty="0">
                <a:solidFill>
                  <a:srgbClr val="5A6472"/>
                </a:solidFill>
                <a:latin typeface="Calibri" pitchFamily="34" charset="0"/>
                <a:cs typeface="Amiri" pitchFamily="2" charset="-78"/>
              </a:rPr>
              <a:t> → number + currency + comparative (</a:t>
            </a:r>
            <a:pPr algn="l" indent="0" marL="0">
              <a:buNone/>
            </a:pPr>
            <a:r>
              <a:rPr lang="ar-SA" altLang="en-US" sz="1450" dirty="0">
                <a:solidFill>
                  <a:srgbClr val="5A6472"/>
                </a:solidFill>
                <a:latin typeface="Amiri" pitchFamily="2" charset="-78"/>
                <a:ea typeface="Amiri" pitchFamily="2" charset="-78"/>
                <a:cs typeface="Amiri" pitchFamily="2" charset="-78"/>
              </a:rPr>
              <a:t>أَرْخَصُ مِنْ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الثَّمَنُ، وَلِمَاذَا هُوَ اخْتِيَارٌ جَيِّدٌ؟</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TC-L10</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عِنْدِي طَاوِلَةٌ.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I have a table.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عِنْدِي طَاوِلَةٌ دَائِرِيَّةٌ مَصْنُوعَةٌ مِنَ الخَشَبِ.</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I have a round table made of wood.</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 قُطْرُهَا مِتْرٌ، وَهِيَ ثَقِيلَةٌ جِدًّا، لِذٰلِكَ لَا أَسْتَطِيعُ أَنْ أُحَرِّكَهَا وَحْدِي.</a:t>
            </a:r>
            <a:endParaRPr lang="ar-SA" sz="22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a metre across, and very heavy, so I can’t move it alone.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 صَنَعَهَا جَدِّي بِيَدَيْهِ قَبْلَ أَرْبَعِينَ سَنَةً، فَهِيَ أَقْوَى مِنْ أَيِّ طَاوِلَةٍ حَدِيثَةٍ.</a:t>
            </a:r>
            <a:endParaRPr lang="ar-SA" sz="21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my grandad made it by hand forty years ago, so it’s stronger than any modern table.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TC-L10</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box is made of metal.</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الصُّنْدُوقُ</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الصُّنْدُوقَ</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مَصْنُوعٌ</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مَصْنُوعَةٌ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المَعْدِنِ</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بِالمَعْدِنِ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table is two metres long.</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طُولُ</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طَوِيلٌ</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الطَّاوِلَةِ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الطَّاوِلَةُ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مِتْرَانِ</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اثْنَانِ مِتْرٌ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Glass is heavier than plastic.</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الزُّجَاجُ</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زُجَاجٌ</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أَثْقَلُ</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ثَقِيلٌ</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البْلَاسْتِيكِ</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البْلَاسْتِيكَ</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TC-L10</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box is made of metal.</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Masculine noun → </a:t>
            </a:r>
            <a:pPr algn="l" indent="0" marL="0">
              <a:buNone/>
            </a:pPr>
            <a:r>
              <a:rPr lang="ar-SA" altLang="en-US" sz="1350" dirty="0">
                <a:solidFill>
                  <a:srgbClr val="5A6472"/>
                </a:solidFill>
                <a:latin typeface="Amiri" pitchFamily="2" charset="-78"/>
                <a:ea typeface="Amiri" pitchFamily="2" charset="-78"/>
                <a:cs typeface="Amiri" pitchFamily="2" charset="-78"/>
              </a:rPr>
              <a:t>مَصْنُوعٌ مِنْ</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الصُّنْدُوقُ مَصْنُوعٌ مِنَ المَعْدِنِ</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table is two metres long.</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طُولُ</a:t>
            </a:r>
            <a:pPr algn="l" indent="0" marL="0">
              <a:buNone/>
            </a:pPr>
            <a:r>
              <a:rPr lang="en-US" sz="1050" i="1" dirty="0">
                <a:solidFill>
                  <a:srgbClr val="5A6472"/>
                </a:solidFill>
                <a:latin typeface="Calibri" pitchFamily="34" charset="0"/>
                <a:cs typeface="Amiri" pitchFamily="2" charset="-78"/>
              </a:rPr>
              <a:t> + noun (iḍāfa); two metres = the dual </a:t>
            </a:r>
            <a:pPr algn="l" indent="0" marL="0">
              <a:buNone/>
            </a:pPr>
            <a:r>
              <a:rPr lang="ar-SA" altLang="en-US" sz="1350" dirty="0">
                <a:solidFill>
                  <a:srgbClr val="5A6472"/>
                </a:solidFill>
                <a:latin typeface="Amiri" pitchFamily="2" charset="-78"/>
                <a:ea typeface="Amiri" pitchFamily="2" charset="-78"/>
                <a:cs typeface="Amiri" pitchFamily="2" charset="-78"/>
              </a:rPr>
              <a:t>مِتْرَانِ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طُولُ الطَّاوِلَةِ مِتْرَانِ</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Glass is heavier than plastic.</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Comparative </a:t>
            </a:r>
            <a:pPr algn="l" indent="0" marL="0">
              <a:buNone/>
            </a:pPr>
            <a:r>
              <a:rPr lang="ar-SA" altLang="en-US" sz="1350" dirty="0">
                <a:solidFill>
                  <a:srgbClr val="5A6472"/>
                </a:solidFill>
                <a:latin typeface="Amiri" pitchFamily="2" charset="-78"/>
                <a:ea typeface="Amiri" pitchFamily="2" charset="-78"/>
                <a:cs typeface="Amiri" pitchFamily="2" charset="-78"/>
              </a:rPr>
              <a:t>أَثْقَلُ</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الزُّجَاجُ أَثْقَلُ مِنَ البْلَاسْتِيكِ</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طُولُهُ ______ ، وَعَرْضُهُ ______ ، وَوَزْنُهُ ______ .</a:t>
            </a:r>
            <a:endParaRPr lang="ar-SA" sz="15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It is … long, … wide and weighs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هَدِيَّةً مِنْ ______ عِنْدَمَا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It was a present from … when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 أَعُدْ أَحْتَاجُهُ، لِأَنَّ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I no longer need it, because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أَرْخَصُ مِنَ الجَدِيدِ بِالنِّصْفِ، وَ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It is half the price of a new one, and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لِلْبَيْعِ: ______ مُسْتَعْمَلٌ</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Title: For sale: a used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هُوَ ______ وَ ______ ، وَمَصْنُوعٌ مِنَ ______ .</a:t>
            </a:r>
            <a:endParaRPr lang="ar-SA" sz="17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It is … and …, and made of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اشْتَرَيْتُهُ قَبْلَ ______ ، لِأَنَّ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I bought it … ago, because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أَبِيعُهُ الآنَ لِأَنَّ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I am selling it now because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ثَمَنُهُ ______ جُنَيْهًا فَقَطْ.</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Its price is only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مُسْتَعْمَلٌ · بِحَالَةٍ جَيِّدَةٍ  ·  طُولُهُ · عَرْضُهُ · وَزْنُهُ  ·  مِتْرٌ · سَنْتِيمِتْرٌ  ·  مُسْتَطِيلٌ · دَائِرِيٌّ  ·  مَصْنُوعٌ مِنْ  ·  خَشَبٌ · مَعْدِنٌ  ·  خَفِيفٌ · ثَقِيلٌ  ·  أَرْخَصُ مِنْ</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TC-L10</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الحَقِيبَةُ مَصْنُوعٌ مِنَ الجِلْدِ.</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Agreement.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طُولُهَا اثْنَانِ مِتْرٌ.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of something → one word.</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وَزْنُهُ خَمْسَةَ عَشَرَ كِيلُوغْرَامَاتٍ.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11–99 + which form?</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الحَقِيبَةُ مَصْنُوعٌ مِنَ الجِلْدِ.</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الحَقِيبَةُ مَصْنُوعَةٌ مِنَ الجِلْدِ.</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noun → </a:t>
            </a:r>
            <a:pPr algn="l" indent="0" marL="0">
              <a:buNone/>
            </a:pPr>
            <a:r>
              <a:rPr lang="ar-SA" altLang="en-US" sz="1500" b="1" dirty="0">
                <a:solidFill>
                  <a:srgbClr val="1B3B6F"/>
                </a:solidFill>
                <a:latin typeface="Amiri" pitchFamily="2" charset="-78"/>
                <a:ea typeface="Amiri" pitchFamily="2" charset="-78"/>
                <a:cs typeface="Amiri" pitchFamily="2" charset="-78"/>
              </a:rPr>
              <a:t>مَصْنُوعَةٌ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طُولُهَا اثْنَانِ مِتْرٌ.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طُولُهَا مِتْرَانِ.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Two = the dual: </a:t>
            </a:r>
            <a:pPr algn="l" indent="0" marL="0">
              <a:buNone/>
            </a:pPr>
            <a:r>
              <a:rPr lang="ar-SA" altLang="en-US" sz="1500" b="1" dirty="0">
                <a:solidFill>
                  <a:srgbClr val="1B3B6F"/>
                </a:solidFill>
                <a:latin typeface="Amiri" pitchFamily="2" charset="-78"/>
                <a:ea typeface="Amiri" pitchFamily="2" charset="-78"/>
                <a:cs typeface="Amiri" pitchFamily="2" charset="-78"/>
              </a:rPr>
              <a:t>مِتْرَانِ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وَزْنُهُ خَمْسَةَ عَشَرَ كِيلُوغْرَامَاتٍ.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وَزْنُهُ خَمْسَةَ عَشَرَ كِيلُوغْرَامًا.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11–99 + singular accusative: </a:t>
            </a:r>
            <a:pPr algn="l" indent="0" marL="0">
              <a:buNone/>
            </a:pPr>
            <a:r>
              <a:rPr lang="ar-SA" altLang="en-US" sz="1500" b="1" dirty="0">
                <a:solidFill>
                  <a:srgbClr val="1B3B6F"/>
                </a:solidFill>
                <a:latin typeface="Amiri" pitchFamily="2" charset="-78"/>
                <a:ea typeface="Amiri" pitchFamily="2" charset="-78"/>
                <a:cs typeface="Amiri" pitchFamily="2" charset="-78"/>
              </a:rPr>
              <a:t>كِيلُوغْرَامًا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TC-L10</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فِي السَّنَةِ المَاضِيَةِ صَنَعْتُ صُنْدُوقًا لِلطُّيُورِ.</a:t>
            </a:r>
            <a:endParaRPr lang="ar-SA" sz="25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Last year I made a bird box.</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كَانَ مَصْنُوعًا مِنَ الخَشَبِ، وَطُولُهُ ثَلَاثُونَ سَنْتِيمِتْرًا.</a:t>
            </a:r>
            <a:endParaRPr lang="ar-SA" sz="210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It was made of wood and 30 cm long.</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صَنَعْتُهُ لِأَنَّ الطُّيُورَ تَحْتَاجُ إِلَى بُيُوتٍ.</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I made it because birds need homes.</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شَعَرْتُ بِالفَخْرِ عِنْدَمَا سَكَنَهُ طَائِرٌ.</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 felt proud when a bird moved in.</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Question 3, one paragraph: something I made</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شَيْءٌ صَنَعْتُهُ بِيَدِي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“Objects in our lives”. Today write ONLY the past paragraph: something you made (in DT, art, at home…) — what it was, its size, shape and materials, how you made it, and how you felt about the result.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صَنَعْتُ … فِي حِصَّةِ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made … in … lesson</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مَصْنُوعًا مِنْ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was made of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طُولُهُ … وَعَرْضُهُ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was … long and … wide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قِسْتُ … ثُمَّ قَطَعْتُ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first I measured … then I cut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شَعَرْتُ بِالفَخْرِ</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felt proud</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لِلْبَيْعِ: دَرَّاجَةٌ جَبَلِيَّةٌ زَرْقَاءُ</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أَبِيعُ دَرَّاجَتِي الزَّرْقَاءَ، وَهِيَ بِحَالَةٍ مُمْتَازَةٍ. هِيَ مَصْنُوعَةٌ مِنَ المَعْدِنِ الخَفِيفِ، وَوَزْنُهَا اثْنَا عَشَرَ كِيلُوغْرَامًا فَقَطْ، وَطُولُهَا مِتْرٌ وَسَبْعُونَ سَنْتِيمِتْرًا، وَعَجَلَاتُهَا دَائِرِيَّةٌ كَبِيرَةٌ مَصْنُوعَةٌ مِنَ المَطَّاطِ القَوِيِّ. اشْتَرَيْتُهَا قَبْلَ ثَلَاثِ سَنَوَاتٍ، لِأَنِّي كُنْتُ أَذْهَبُ إِلَى المَدْرَسَةِ بِهَا كُلَّ يَوْمٍ. لٰكِنِّي الآنَ أَطْوَلُ بِكَثِيرٍ، وَالدَّرَّاجَةُ أَصْبَحَتْ صَغِيرَةً عَلَيَّ، لِذٰلِكَ لَمْ أَعُدْ أَسْتَعْمِلُهَا. ثَمَنُهَا مِئَةٌ وَعِشْرُونَ جُنَيْهًا فَقَطْ، أَيْ أَرْخَصُ مِنَ الجَدِيدَةِ بِالنِّصْفِ، وَهِيَ مُنَاسِبَةٌ لِطَالِبٍ عُمْرُهُ بَيْنَ عَشْرِ سَنَوَاتٍ وَثَلَاثَ عَشْرَةَ سَنَةً.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اتَّصِلُوا بِزَيْدٍ</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“For sale: a blue mountain bike. I am selling my blue bike, which is in excellent condition. It is made of light metal, weighs only 12 kg and is 1.7 m long, and its wheels are big and round, made of strong rubber. I bought it three years ago, because I used to ride it to school every day. But now I am much taller and the bike has become too small for me, so I no longer use it. Its price is only £120 — half the price of a new one — and it suits a student aged between ten and thirteen. Contact Zaid.”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مَصْنُوعَةٌ مِنَ المَعْدِنِ الخَفِيفِ</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وَوَزْنُهَا اثْنَا عَشَرَ كِيلُوغْرَامًا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اشْتَرَيْتُهَا قَبْلَ ثَلَاثِ سَنَوَاتٍ</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أَرْخَصُ مِنَ الجَدِيدَةِ بِالنِّصْفِ</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الفَصْلِ المَاضِي، صَنَعْتُ مِصْبَاحًا صَغِيرًا فِي حِصَّةِ التَّصْمِيمِ وَالتِّكْنُولُوجْيَا. كَانَ شَكْلُهُ أُسْطُوَانِيًّا، وَطُولُهُ خَمْسَةٌ وَعِشْرُونَ سَنْتِيمِتْرًا، وَكَانَ مَصْنُوعًا مِنَ الخَشَبِ وَالزُّجَاجِ المُعَادِ تَدْوِيرُهُ. أَوَّلًا رَسَمْتُ التَّصْمِيمَ، ثُمَّ قِسْتُ الخَشَبَ وَقَطَعْتُهُ بِحَذَرٍ، وَبَعْدَ ذٰلِكَ وَضَعْتُ زُجَاجَةً قَدِيمَةً فِي الوَسَطِ. كَانَ العَمَلُ صَعْبًا، لِأَنَّ الزُّجَاجَ قَابِلٌ لِلْكَسْرِ، فَكَسَرْتُ زُجَاجَتَيْنِ! فِي النِّهَايَةِ شَعَرْتُ بِالفَخْرِ، وَالمِصْبَاحُ الآنَ بِجَانِبِ سَرِيرِي.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last term I made a small lamp in Design and Technology · D: it was cylindrical, 25 cm tall, made of wood and recycled glass; first I drew the design, then measured and carefully cut the wood, then put an old bottle in the middle · R: the work was hard because glass breaks easily — I broke two bottles! · F: in the end I felt proud, and the lamp is now next to my bed.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 شَكْلُهُ أُسْطُوَانِيًّا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وَكَانَ مَصْنُوعًا مِنَ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أَوَّلًا رَسَمْتُ … ثُمَّ قِسْتُ</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قَابِلٌ لِلْكَسْرِ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TC-L10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TC-L11 · The next lesson in the topic</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TC-L10 · Writing Practice Room — Measurements, Shapes and Materials</dc:title>
  <dc:subject>PptxGenJS Presentation</dc:subject>
  <dc:creator>Al Madina Online School · Arabic Department</dc:creator>
  <cp:lastModifiedBy>Al Madina Online School · Arabic Department</cp:lastModifiedBy>
  <cp:revision>1</cp:revision>
  <dcterms:created xsi:type="dcterms:W3CDTF">2026-10-25T15:06:01Z</dcterms:created>
  <dcterms:modified xsi:type="dcterms:W3CDTF">2026-10-25T15:06:01Z</dcterms:modified>
</cp:coreProperties>
</file>