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C · The World Around Us, Lesson 10 (Measurements, shapes and materials, TC-L10) — new role plays and questions (not the ones in the Exam Practice workshop), using the lesson’s language (maṣnūʿun min + material; ṭūluhu / ʿarḍuhā / waznuhu + number + unit (the dual mitrāni); shapes as adjectives (murabbaʿun · dāʾiriyyun · mustaṭīlun); comparatives athqalu / akhaffu; qābilun li-).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no change for the Speaker — the suitcase (حَقِيبَةٌ) is feminine, so keep -hā and -a endings.
Language: lam taṣil (jussive after lam) · colour + size agreement with a feminine noun · ṭūluhā ḥawālay mitrin · maṣnūʿatun min · 11–99 + singular accusative (kīlūghrāman).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تُرِيدِينَ · تَحْتَاجِينَ · تَخْتَارِينَ.
Stretch language: ṭūluhu mitrun wa-niṣfun · ʿarḍuhu sittūna · li-annahu … wa-li-annī lā urīdu an tuqṭaʿa (passive) · dual durjayni · ṣaḥīḥun anna … ghayra anna + ammā … fa-.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C · GUIDED PRACTICE  ·  TC-L10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TC-L10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Measurements, Shapes and Materials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المَقَايِيسُ وَالأَشْكَالُ وَالمَوَادُّ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 on sizes, shapes and materials, the answer ladder, two new role plays (describing a lost suitcase, ordering custom furniture), a topic conversation with A-R-E-T, and a one-minute talk describing an object that matters to them.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Advanced Topic C · The World Around Us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C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C › TC-L10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Size, weight and shape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الحَجْمُ وَالوَزْنُ وَالشَّكْلُ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282366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28236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its length (m.) · its width (f.) · weight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طُولٌ · عَرْضٌ · ارْتِفَاعٌ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length · width · height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ṭū-lun · ʿar-ḍun · ar-ti-fā-ʿun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weight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وَزْنٌ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its width (f.)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عَرْضُهَا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its length (m.)</a:t>
            </a:r>
            <a:endParaRPr lang="en-US" sz="70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طُولُهُ</a:t>
            </a:r>
            <a:endParaRPr lang="ar-SA" sz="135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70444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704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 · pl. · centimetre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مِتْرٌ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metre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mit-run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centimetre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سَنْتِيمِتْرٌ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أَمْتَارٌ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مِتْرَانِ</a:t>
            </a:r>
            <a:endParaRPr lang="ar-SA" sz="135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 · 5 kg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كِيلُوغْرَامٌ · غْرَامٌ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kilogram · a gram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kī-lūgh-rā-mun · gh-rā-mun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5 kg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خَمْسَةُ كِيلُوغْرَامَاتٍ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كِيلُوغْرَامَانِ</a:t>
            </a:r>
            <a:endParaRPr lang="ar-SA" sz="135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a square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مُرَبَّعٌ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square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mu-rab-ba-ʿun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square</a:t>
            </a:r>
            <a:endParaRPr lang="en-US" sz="700" dirty="0"/>
          </a:p>
        </p:txBody>
      </p:sp>
      <p:sp>
        <p:nvSpPr>
          <p:cNvPr id="77" name="Text 74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مُرَبَّعٌ · مُرَبَّعَاتٌ</a:t>
            </a:r>
            <a:endParaRPr lang="ar-SA" sz="1350" dirty="0"/>
          </a:p>
        </p:txBody>
      </p:sp>
      <p:sp>
        <p:nvSpPr>
          <p:cNvPr id="78" name="Shape 75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مُرَبَّعَةٌ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4782312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782312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a circle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8" name="Text 85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دَائِرِيٌّ · مُسْتَطِيلٌ</a:t>
            </a:r>
            <a:endParaRPr lang="ar-SA" sz="3000" dirty="0"/>
          </a:p>
        </p:txBody>
      </p:sp>
      <p:sp>
        <p:nvSpPr>
          <p:cNvPr id="89" name="Text 86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round · rectangular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dā-ʾi-riy-yun · mus-ta-ṭī-lun</a:t>
            </a:r>
            <a:endParaRPr lang="en-US" sz="1350" dirty="0"/>
          </a:p>
        </p:txBody>
      </p:sp>
      <p:sp>
        <p:nvSpPr>
          <p:cNvPr id="90" name="Shape 87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circle</a:t>
            </a:r>
            <a:endParaRPr lang="en-US" sz="700" dirty="0"/>
          </a:p>
        </p:txBody>
      </p:sp>
      <p:sp>
        <p:nvSpPr>
          <p:cNvPr id="92" name="Text 89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دَائِرَةٌ</a:t>
            </a:r>
            <a:endParaRPr lang="ar-SA" sz="1350" dirty="0"/>
          </a:p>
        </p:txBody>
      </p:sp>
      <p:sp>
        <p:nvSpPr>
          <p:cNvPr id="93" name="Shape 90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دَائِرِيَّةٌ · مُسْتَطِيلَةٌ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960120" y="4279392"/>
            <a:ext cx="139354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60120" y="4279392"/>
            <a:ext cx="13935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passive participle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3" name="Text 100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مَصْنُوعٌ مِنْ …</a:t>
            </a:r>
            <a:endParaRPr lang="ar-SA" sz="3000" dirty="0"/>
          </a:p>
        </p:txBody>
      </p:sp>
      <p:sp>
        <p:nvSpPr>
          <p:cNvPr id="104" name="Text 101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made of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maṣ-nū-ʿun min …</a:t>
            </a:r>
            <a:endParaRPr lang="en-US" sz="1350" dirty="0"/>
          </a:p>
        </p:txBody>
      </p:sp>
      <p:sp>
        <p:nvSpPr>
          <p:cNvPr id="105" name="Shape 102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what is it made of?</a:t>
            </a:r>
            <a:endParaRPr lang="en-US" sz="700" dirty="0"/>
          </a:p>
        </p:txBody>
      </p:sp>
      <p:sp>
        <p:nvSpPr>
          <p:cNvPr id="107" name="Text 104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 هُوَ مَصْنُوعٌ؟</a:t>
            </a:r>
            <a:endParaRPr lang="ar-SA" sz="1350" dirty="0"/>
          </a:p>
        </p:txBody>
      </p:sp>
      <p:sp>
        <p:nvSpPr>
          <p:cNvPr id="108" name="Shape 105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10" name="Text 107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مَصْنُوعَةٌ مِنْ</a:t>
            </a:r>
            <a:endParaRPr lang="ar-SA" sz="1500" dirty="0"/>
          </a:p>
        </p:txBody>
      </p:sp>
      <p:sp>
        <p:nvSpPr>
          <p:cNvPr id="111" name="Text 108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Materials and qualities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المَوَادُّ وَالصِّفَاتُ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 m. · adj. f.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خَشَبٌ · مَعْدِنٌ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wood · metal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kha-sha-bun · maʿ-di-nun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 f.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خَشَبِيَّةٌ · مَعْدِنِيَّةٌ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 m.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خَشَبِيٌّ · مَعْدِنِيٌّ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 m. · adj. f.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زُجَاجٌ · بْلَاسْتِيكٌ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glass · plastic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zu-jā-jun · b-lās-tī-kun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 f.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زُجَاجِيَّةٌ · بْلَاسْتِيكِيَّةٌ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 m.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زُجَاجِيٌّ · بْلَاسْتِيكِيٌّ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قُطْنٌ · جِلْدٌ · صُوفٌ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cotton · leather · wool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quṭ-nun · jil-dun · ṣū-fun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594360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49224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640080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قُطْنِيٌّ · جِلْدِيٌّ · صُوفِيٌّ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604504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604504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comp.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4" name="Text 61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ثَقِيلٌ · خَفِيفٌ</a:t>
            </a:r>
            <a:endParaRPr lang="ar-SA" sz="3000" dirty="0"/>
          </a:p>
        </p:txBody>
      </p:sp>
      <p:sp>
        <p:nvSpPr>
          <p:cNvPr id="65" name="Text 62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heavy · light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tha-qī-lun · kha-fī-fun</a:t>
            </a:r>
            <a:endParaRPr lang="en-US" sz="1350" dirty="0"/>
          </a:p>
        </p:txBody>
      </p:sp>
      <p:sp>
        <p:nvSpPr>
          <p:cNvPr id="66" name="Shape 63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comp.</a:t>
            </a:r>
            <a:endParaRPr lang="en-US" sz="700" dirty="0"/>
          </a:p>
        </p:txBody>
      </p:sp>
      <p:sp>
        <p:nvSpPr>
          <p:cNvPr id="68" name="Text 65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أَثْقَلُ · أَخَفُّ</a:t>
            </a:r>
            <a:endParaRPr lang="ar-SA" sz="1350" dirty="0"/>
          </a:p>
        </p:txBody>
      </p:sp>
      <p:sp>
        <p:nvSpPr>
          <p:cNvPr id="69" name="Shape 66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ثَقِيلَةٌ · خَفِيفَةٌ</a:t>
            </a:r>
            <a:endParaRPr lang="ar-SA" sz="1500" dirty="0"/>
          </a:p>
        </p:txBody>
      </p:sp>
      <p:sp>
        <p:nvSpPr>
          <p:cNvPr id="72" name="Shape 69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3" name="Shape 70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4782312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4782312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new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9" name="Text 76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مُسْتَعْمَلٌ</a:t>
            </a:r>
            <a:endParaRPr lang="ar-SA" sz="3000" dirty="0"/>
          </a:p>
        </p:txBody>
      </p:sp>
      <p:sp>
        <p:nvSpPr>
          <p:cNvPr id="80" name="Text 77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used, second-hand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mus-taʿ-ma-lun</a:t>
            </a:r>
            <a:endParaRPr lang="en-US" sz="1350" dirty="0"/>
          </a:p>
        </p:txBody>
      </p:sp>
      <p:sp>
        <p:nvSpPr>
          <p:cNvPr id="81" name="Shape 78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new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جَدِيدٌ · جَدِيدَةٌ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مُسْتَعْمَلَةٌ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960120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960120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recyclable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قَابِلٌ لِلْكَسْرِ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breakable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qā-bi-lun lil-kas-ri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recyclable</a:t>
            </a:r>
            <a:endParaRPr lang="en-US" sz="700" dirty="0"/>
          </a:p>
        </p:txBody>
      </p:sp>
      <p:sp>
        <p:nvSpPr>
          <p:cNvPr id="98" name="Text 95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قَابِلٌ لِإِعَادَةِ التَّدْوِيرِ</a:t>
            </a:r>
            <a:endParaRPr lang="ar-SA" sz="1350" dirty="0"/>
          </a:p>
        </p:txBody>
      </p:sp>
      <p:sp>
        <p:nvSpPr>
          <p:cNvPr id="99" name="Shape 96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قَابِلَةٌ لِلْكَسْرِ</a:t>
            </a:r>
            <a:endParaRPr lang="ar-SA" sz="1500" dirty="0"/>
          </a:p>
        </p:txBody>
      </p:sp>
      <p:sp>
        <p:nvSpPr>
          <p:cNvPr id="102" name="Text 9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“Describe an important object in your room.”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شَيْئًا مُهِمًّا فِي غُرْفَتِكَ.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صُنْدُوقٌ خَشَبِيٌّ.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have a wooden box.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صُنْدُوقٌ خَشَبِيٌّ مُرَبَّعٌ، طُولُهُ ثَلَاثُونَ سَنْتِيمِتْرًا.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square, thirty centimetres long.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هُوَ مَصْنُوعٌ مِنْ خَشَبِ الزَّيْتُونِ، وَعَلَيْهِ زَخَارِفُ مِنَ الصَّدَفِ، وَأَضَعُ فِيهِ رَسَائِلَ قَدِيمَةً.</a:t>
            </a:r>
            <a:endParaRPr lang="ar-SA" sz="185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made of olive wood with mother-of-pearl patterns, and I keep old letters in it.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أَعْطَتْنِي إِيَّاهُ جَدَّتِي فِي دِمَشْقَ، لِذٰلِكَ هُوَ أَغْلَى شَيْءٍ عِنْدِي، وَإِنْ كَانَ ثَمَنُهُ رَخِيصًا.</a:t>
            </a:r>
            <a:endParaRPr lang="ar-SA" sz="185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my grandmother in Damascus gave it to me, so it’s my most precious thing, even if its price is cheap.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وَعِنْدَمَا كُنْتُ صَغِيرًا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وَأَنَا أَطْوَلُ / أَقْصَرُ مِنْ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طُولِي مِتْرٌ وَ… سَنْتِيمِتْرًا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طُولُكَ؟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وَأُرِيدُ حَقِيبَةً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وَهِيَ ثَقِيلَةٌ / خَفِيفَةٌ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حَقِيبَتِي مَصْنُوعَةٌ مِنْ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 صُنِعَتْ حَقِيبَتُكَ المَدْرَسِيَّةُ؟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مَثَلًا اشْتَرَيْتُ مَرَّةً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لِأَنَّهَا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تَشْتَرِي أَشْيَاءَ مُسْتَعْمَلَةً؟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صَحِيحٌ أَنَّ … غَيْرَ أَنَّ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لِأَنَّهُ قَابِلٌ لِإِعَادَةِ التَّدْوِيرِ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أَفْضَلُ: البْلَاسْتِيكُ أَمِ الزُّجَاجُ؟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My suitcase didn’t arrive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لَمْ تَصِلْ حَقِيبَتِي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المُشْكِلَةُ ← لَمْ تَصِلْ … مِنْ لَنْدَنَ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is missing.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لَوْنٌ وَحَجْمٌ ← هِيَ … وَكَبِيرَةٌ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colour and size.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لَوْنُهَا وَحَجْمُهَا؟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 ← هِيَ مَصْنُوعَةٌ مِنَ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the material.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 هِيَ مَصْنُوعَةٌ؟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← وَزْنُهَا … كِيلُوغْرَامًا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weight.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وَزْنُهَا؟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← فِيهَا … وَ…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فِيهَا؟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passenger · Leader = the airport employee.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Ordering a custom desk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أَطْلُبُ مَكْتَبًا خَاصًّا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shape and size you want.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نَوْعٍ مِنَ المَكَاتِبِ تُرِيدُ؟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Choose a material and give a reason.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أَيِّ مَادَّةٍ؟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with a past problem.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تَحْتَاجُ مَكْتَبًا جَدِيدًا؟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and ASK about price and time.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دُرْجًا؟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(comparison + concession).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الخَشَبُ أَثْقَلُ مِنَ المَعْدِنِ. لِمَاذَا لَا تَخْتَارُ المَعْدِنَ؟</a:t>
            </a:r>
            <a:endParaRPr lang="ar-SA" sz="165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customer · Leader = the carpenter.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الأَشْيَاءُ حَوْلَنَا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وَمِمَّ هِيَ؟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colour and shape is your table?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لَوْنُ وَشَكْلُ طَاوِلَتِكَ؟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وَزْنُهُ؟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your phone heavy or light?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هَاتِفُكَ ثَقِيلٌ أَمْ خَفِيفٌ؟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اشْتَرَيْتَهُ؟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strangest thing you have bought.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أَغْرَبَ شَيْءٍ اشْتَرَيْتَهُ.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تُفَضِّلُ؟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difference between cotton and woollen clothes?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 المَلَابِسِ القُطْنِيَّةِ وَالصُّوفِيَّةِ؟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we ban single-use items?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نَمْنَعَ الأَشْيَاءَ الَّتِي تُسْتَعْمَلُ مَرَّةً وَاحِدَةً؟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old things stronger than modern ones?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الأَشْيَاءُ القَدِيمَةُ أَقْوَى مِنَ الحَدِيثَةِ؟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an object that matters to me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شَيْءٌ لَهُ قِيمَةٌ عِنْدِي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an object that matters to you: what it is, its size, shape, weight and material, where it came from — and why it matters more than its price.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what it is, its colour, shape and material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مَصْنُوعٌ مِنْ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measurements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طُولُهُ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وَزْنُهُ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and its story.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add a comparison with a newer object and a concession.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سَأَتَكَلَّمُ عَنْ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going to talk about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… then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addition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finish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مَصْنُوعٌ / مَصْنُوعَةٌ مِنْ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correctly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measurements with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طُولُهُ / عَرْضُهُ / وَزْنُهُ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number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لَمْ تَصِلْ حَقِيبَتِي مِنْ لَنْدَنَ.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suitcase didn’t arrive from London.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هِيَ حَمْرَاءُ وَكَبِيرَةٌ، طُولُهَا حَوَالَيْ مِتْرٍ.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red and big, about a metre long.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لَوْنُهَا وَحَجْمُهَا؟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هِيَ مَصْنُوعَةٌ مِنَ البْلَاسْتِيكِ القَوِيِّ.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made of strong plastic.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 هِيَ مَصْنُوعَةٌ؟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وَزْنُهَا عِشْرُونَ كِيلُوغْرَامًا تَقْرِيبًا.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weighs about twenty kilos.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وَزْنُهَا؟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فِيهَا مَلَابِسِي وَهَدَايَا لِعَائِلَتِي.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clothes and presents for my family are in it.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فِيهَا؟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مَكْتَبًا مُسْتَطِيلًا، طُولُهُ مِتْرٌ وَنِصْفٌ، وَعَرْضُهُ سِتُّونَ سَنْتِيمِتْرًا.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a rectangular desk, one and a half metres long and sixty centimetres wide.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نَوْعٍ مِنَ المَكَاتِبِ تُرِيدُ؟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الخَشَبِ المُسْتَعْمَلِ، لِأَنَّهُ أَرْخَصُ، وَلِأَنِّي لَا أُرِيدُ أَنْ تُقْطَعَ أَشْجَارٌ جَدِيدَةٌ.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From reclaimed wood, because it’s cheaper and I don’t want new trees cut down.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أَيِّ مَادَّةٍ؟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مَكْتَبِي القَدِيمُ صَغِيرٌ جِدًّا، وَفِي الشَّهْرِ المَاضِي انْكَسَرَتْ رِجْلُهُ وَأَنَا أَدْرُسُ!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old desk is too small, and last month its leg broke while I was studying!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تَحْتَاجُ مَكْتَبًا جَدِيدًا؟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دُرْجَيْنِ مِنْ فَضْلِكَ. كَمْ سَيَكُونُ الثَّمَنُ؟ وَمَتَى يَكُونُ جَاهِزًا؟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two drawers please. What will the price be? And when will it be ready?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دُرْجًا؟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المَعْدِنَ أَخَفُّ وَأَقْوَى، غَيْرَ أَنَّهُ بَارِدٌ وَشَكْلُهُ عَادِيٌّ، أَمَّا الخَشَبُ فَدَافِئٌ وَجَمِيلٌ، وَسَيَبْقَى سَنَوَاتٍ طَوِيلَةً.</a:t>
            </a:r>
            <a:endParaRPr lang="ar-SA" sz="14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true metal is lighter and stronger, but it’s cold and plain, whereas wood is warm and beautiful and will last many years.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الخَشَبُ أَثْقَلُ مِنَ المَعْدِنِ. لِمَاذَا لَا تَخْتَارُ المَعْدِنَ؟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أَغْرَبُ شَيْءٍ اشْتَرَيْتُهُ كُرَةٌ زُجَاجِيَّةٌ دَائِرِيَّةٌ فِيهَا ثَلْجٌ، لِأَنَّهَا ذَكَّرَتْنِي بِرِحْلَتِنَا إِلَى اسْكُتْلَنْدَا؛ قُطْرُهَا عَشَرَةُ سَنْتِيمِتْرَاتٍ فَقَطْ، وَسَأُعْطِيهَا لِأُخْتِي الصَّغِيرَةِ.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a round glass snow globe · R: it reminded me of our trip to Scotland · E: only ten centimetres across · T: I’ll give it to my little sister.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أَغْرَبَ شَيْءٍ اشْتَرَيْتَهُ.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القُطْنُ أَخَفُّ وَأَبْرَدُ، لِذٰلِكَ نَلْبَسُهُ فِي الصَّيْفِ؛ أَمَّا الصُّوفُ فَأَثْقَلُ وَأَدْفَأُ، وَأُمِّي صَنَعَتْ لِي سُتْرَةً صُوفِيَّةً زَرْقَاءَ أَلْبَسُهَا كُلَّ شِتَاءٍ.</a:t>
            </a:r>
            <a:endParaRPr lang="ar-SA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cotton is lighter and cooler, so we wear it in summer · contrast: wool is heavier and warmer · E: mum made me a blue wool jumper I wear every winter.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 المَلَابِسِ القُطْنِيَّةِ وَالصُّوفِيَّةِ؟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نَعَمْ، لِأَنَّ أَغْلَبَهَا مَصْنُوعٌ مِنَ البْلَاسْتِيكِ غَيْرِ القَابِلِ لِلتَّدْوِيرِ؛ مَثَلًا، مَنَعَتْ مَدْرَسَتِي الكُؤُوسَ البْلَاسْتِيكِيَّةَ، فَقَلَّتِ النُّفَايَاتُ كَثِيرًا.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Opinion: yes · R: most are made of non-recyclable plastic · E: my school banned plastic cups and rubbish fell a lot.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نَمْنَعَ الأَشْيَاءَ الَّتِي تُسْتَعْمَلُ مَرَّةً وَاحِدَةً؟</a:t>
            </a:r>
            <a:endParaRPr lang="ar-SA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TC-L10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TC-L10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TC-L10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TC-L10 · Speaking Practice Room — Measurements, Shapes and Materials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2026-10-25T15:05:53Z</dcterms:created>
  <dcterms:modified xsi:type="dcterms:W3CDTF">2026-10-25T15:05:53Z</dcterms:modified>
</cp:coreProperties>
</file>