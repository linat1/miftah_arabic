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C · The World Around Us, Lesson 8 (Buildings, services and urban areas, TC-L08)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(77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(62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GUIDED PRACTICE  ·  TC-L08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Buildings, Services and Urban Areas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المَبَانِي وَالخِدْمَاتُ فِي المَدِينَةِ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a Q1 warm-up form, decoding a new Q2 task (a guide to your town for exchange students), upgrading sentences, writing with a buddy, spotting and fixing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TC-L08 · Advanced Topic C · The World Around Us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TC-L08</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TC-L08</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Library membership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الاشْتِرَاكِ فِي المَكْتَبَةِ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18120" y="2881884"/>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شَارِعُ … ، رَقْمُ …</a:t>
            </a:r>
            <a:endParaRPr lang="ar-SA" sz="20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Address</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العُنْوَانُ</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مَدْرَسَةُ …</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School</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المَدْرَسَةُ</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بِالحَافِلَةِ · مَشْيًا</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get to the library</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تَأْتِي إِلَى المَكْتَبَةِ؟</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الحَاسُوبُ · الكُتُبُ</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service you want</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الخِدْمَةُ الَّتِي تُرِيدُهَا</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قُرْبَ بَيْتِي يُوجَدُ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what is near your home?</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مَاذَا يُوجَدُ قُرْبَ بَيْتِكَ؟</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TC-L08</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a guide to my town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دَلِيلٌ إِلَى مَدِينَتِي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Exchange students from Morocco are coming to your town. Write a short guide in Arabic of about 80–90 words. You must include: • where your town is and what it is like • the important buildings and services, and where they are • a place you visited recently and what you did there • what is missing for young people and your opinion.</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تَقَعُ مَدِينَتُنَا فِي … ، وَهِيَ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our town is in …, and it is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يُوجَدُ … مُقَابِلَ / خَلْفَ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there is … opposite / behind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الأُسْبُوعِ المَاضِي زُرْتُ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week I visited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يُوجَدُ … ، وَفِي رَأْيِي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there is no …, and in my opinion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دَلِيلًا قَصِيرًا لِلطُّلَّابِ الزَّائِرِينَ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تَقَعُ مَدِينَتُكَ؟ وَكَيْفَ هِيَ؟</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المَبَانِي وَالخِدْمَاتُ المُهِمَّةُ وَأَيْنَ هِيَ.</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مَكَانٌ زُرْتَهُ مُؤَخَّرًا.</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النَّاقِصُ لِلشَّبَابِ؟ وَمَا رَأْيُكَ؟</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a short guide for visiting students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GUIDE → a title, speak to visitors (</a:t>
            </a:r>
            <a:pPr algn="l" indent="0" marL="0">
              <a:buNone/>
            </a:pPr>
            <a:r>
              <a:rPr lang="ar-SA" altLang="en-US" sz="1450" dirty="0">
                <a:solidFill>
                  <a:srgbClr val="5A6472"/>
                </a:solidFill>
                <a:latin typeface="Amiri" pitchFamily="2" charset="-78"/>
                <a:ea typeface="Amiri" pitchFamily="2" charset="-78"/>
                <a:cs typeface="Amiri" pitchFamily="2" charset="-78"/>
              </a:rPr>
              <a:t>سَتَجِدُونَ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زُورُوا</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اكْتُبْ دَلِيلًا قَصِيرًا لِلطُّلَّابِ الزَّائِرِينَ (٨٠–٩٠ كَلِمَةً).</a:t>
            </a:r>
            <a:endParaRPr lang="ar-SA" sz="16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your town is; what it is like</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أَيْنَ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كَيْفَ هِيَ</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تَقَعُ</a:t>
            </a:r>
            <a:pPr algn="l" indent="0" marL="0">
              <a:buNone/>
            </a:pPr>
            <a:r>
              <a:rPr lang="en-US" sz="1100" dirty="0">
                <a:solidFill>
                  <a:srgbClr val="5A6472"/>
                </a:solidFill>
                <a:latin typeface="Calibri" pitchFamily="34" charset="0"/>
                <a:cs typeface="Amiri" pitchFamily="2" charset="-78"/>
              </a:rPr>
              <a:t> + adjectives (f.)</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تَقَعُ مَدِينَتُكَ؟ وَكَيْفَ هِيَ؟</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Important buildings and services; where</a:t>
            </a:r>
            <a:endParaRPr lang="en-US" sz="1100" dirty="0"/>
          </a:p>
        </p:txBody>
      </p:sp>
      <p:sp>
        <p:nvSpPr>
          <p:cNvPr id="32" name="Text 29"/>
          <p:cNvSpPr txBox="1"/>
          <p:nvPr/>
        </p:nvSpPr>
        <p:spPr>
          <a:xfrm>
            <a:off x="5623560" y="3741725"/>
            <a:ext cx="292608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المَبَانِي وَأَيْنَ → يُوجَدُ / تُوجَدُ + مُقَابِلَ · خَلْفَ · بَيْنَ</a:t>
            </a:r>
            <a:endParaRPr lang="ar-SA" sz="13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المَبَانِي وَالخِدْمَاتُ المُهِمَّةُ وَأَيْنَ هِيَ.</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place you visited recently</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زُرْتَهُ مُؤَخَّرًا</a:t>
            </a:r>
            <a:pPr algn="l" indent="0" marL="0">
              <a:buNone/>
            </a:pPr>
            <a:r>
              <a:rPr lang="en-US" sz="1100" dirty="0">
                <a:solidFill>
                  <a:srgbClr val="5A6472"/>
                </a:solidFill>
                <a:latin typeface="Calibri" pitchFamily="34" charset="0"/>
                <a:cs typeface="Amiri" pitchFamily="2" charset="-78"/>
              </a:rPr>
              <a:t> → PAST</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مَكَانٌ زُرْتَهُ مُؤَخَّرًا.</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missing; your opinion</a:t>
            </a:r>
            <a:endParaRPr lang="en-US" sz="1100" dirty="0"/>
          </a:p>
        </p:txBody>
      </p:sp>
      <p:sp>
        <p:nvSpPr>
          <p:cNvPr id="42" name="Text 39"/>
          <p:cNvSpPr txBox="1"/>
          <p:nvPr/>
        </p:nvSpPr>
        <p:spPr>
          <a:xfrm>
            <a:off x="5623560" y="5215738"/>
            <a:ext cx="2926080" cy="682142"/>
          </a:xfrm>
          <a:prstGeom prst="rect">
            <a:avLst/>
          </a:prstGeom>
          <a:noFill/>
          <a:ln/>
        </p:spPr>
        <p:txBody>
          <a:bodyPr wrap="square" lIns="0" tIns="0" rIns="0" bIns="0" rtlCol="0" anchor="ctr"/>
          <a:lstStyle/>
          <a:p>
            <a:pPr rtl="1" algn="ctr" indent="0" marL="0">
              <a:lnSpc>
                <a:spcPct val="120000"/>
              </a:lnSpc>
              <a:buNone/>
            </a:pPr>
            <a:r>
              <a:rPr lang="ar-SA" altLang="en-US" sz="1350" b="1" dirty="0">
                <a:solidFill>
                  <a:srgbClr val="1B3B6F"/>
                </a:solidFill>
                <a:latin typeface="Amiri" pitchFamily="2" charset="-78"/>
                <a:ea typeface="Amiri" pitchFamily="2" charset="-78"/>
                <a:cs typeface="Amiri" pitchFamily="2" charset="-78"/>
              </a:rPr>
              <a:t>النَّاقِصُ · رَأْيُكَ → لَا يُوجَدُ + فِي رَأْيِي / يَجِبُ أَنْ</a:t>
            </a:r>
            <a:endParaRPr lang="ar-SA" sz="135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النَّاقِصُ لِلشَّبَابِ؟ وَمَا رَأْيُكَ؟</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TC-L08</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يُوجَدُ مُسْتَشْفًى.</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There is a hospital.</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يُوجَدُ مُسْتَشْفًى كَبِيرٌ وَحَدِيثٌ فِي شَرْقِ المَدِينَةِ.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There is a big modern hospital in the east of the town.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 مُقَابِلَ الحَدِيقَةِ العَامَّةِ، وَقَدْ بُنِيَ قَبْلَ خَمْسِ سَنَوَاتٍ.</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opposite the public park, and it was built five years ago.</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صَحِيحٌ أَنَّهُ حَدِيثٌ، غَيْرَ أَنَّ المَرْضَى يَنْتَظِرُونَ سَاعَاتٍ، لِأَنَّ الأَطِبَّاءَ قَلِيلُونَ.</a:t>
            </a:r>
            <a:endParaRPr lang="ar-SA" sz="195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it’s true it’s modern, but patients wait for hours, because there are few doctors.</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TC-L08</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There is a public library opposite the station.</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تُوجَدُ</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يُوجَدُ</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مَكْتَبَةٌ عَامَّةٌ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مَكْتَبَةٌ عَامٌّ</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مُقَابِلَ المَحَطَّةِ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مُقَابِلَ المَحَطَّةُ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There is no cinema in my town.</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لَا تُوجَدُ</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لَيْسَ تُوجَدُ</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سِينِمَا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السِّينِمَا</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مَدِينَتِي</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مَدِينَتِي فِي</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building is made of glass.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المَبْنَى</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مَبْنًى</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مَبْنِيٌّ</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مَبْنِيَّةٌ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الزُّجَاجِ</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بِالزُّجَاجِ</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TC-L08</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There is a public library opposite the station.</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مَكْتَبَةٌ</a:t>
            </a:r>
            <a:pPr algn="l" indent="0" marL="0">
              <a:buNone/>
            </a:pPr>
            <a:r>
              <a:rPr lang="en-US" sz="1050" i="1" dirty="0">
                <a:solidFill>
                  <a:srgbClr val="5A6472"/>
                </a:solidFill>
                <a:latin typeface="Calibri" pitchFamily="34" charset="0"/>
                <a:cs typeface="Amiri" pitchFamily="2" charset="-78"/>
              </a:rPr>
              <a:t> is feminine → </a:t>
            </a:r>
            <a:pPr algn="l" indent="0" marL="0">
              <a:buNone/>
            </a:pPr>
            <a:r>
              <a:rPr lang="ar-SA" altLang="en-US" sz="1350" dirty="0">
                <a:solidFill>
                  <a:srgbClr val="5A6472"/>
                </a:solidFill>
                <a:latin typeface="Amiri" pitchFamily="2" charset="-78"/>
                <a:ea typeface="Amiri" pitchFamily="2" charset="-78"/>
                <a:cs typeface="Amiri" pitchFamily="2" charset="-78"/>
              </a:rPr>
              <a:t>تُوجَدُ … عَامَّةٌ</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مُقَابِلَ</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تُوجَدُ مَكْتَبَةٌ عَامَّةٌ مُقَابِلَ المَحَطَّةِ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There is no cinema in my town.</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Negative = </a:t>
            </a:r>
            <a:pPr algn="l" indent="0" marL="0">
              <a:buNone/>
            </a:pPr>
            <a:r>
              <a:rPr lang="ar-SA" altLang="en-US" sz="1350" dirty="0">
                <a:solidFill>
                  <a:srgbClr val="5A6472"/>
                </a:solidFill>
                <a:latin typeface="Amiri" pitchFamily="2" charset="-78"/>
                <a:ea typeface="Amiri" pitchFamily="2" charset="-78"/>
                <a:cs typeface="Amiri" pitchFamily="2" charset="-78"/>
              </a:rPr>
              <a:t>لَا</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تُوجَدُ</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سِينِمَا</a:t>
            </a:r>
            <a:pPr algn="l" indent="0" marL="0">
              <a:buNone/>
            </a:pPr>
            <a:r>
              <a:rPr lang="en-US" sz="1050" i="1" dirty="0">
                <a:solidFill>
                  <a:srgbClr val="5A6472"/>
                </a:solidFill>
                <a:latin typeface="Calibri" pitchFamily="34" charset="0"/>
                <a:cs typeface="Amiri" pitchFamily="2" charset="-78"/>
              </a:rPr>
              <a:t> is feminine).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لَا تُوجَدُ سِينِمَا فِي مَدِينَتِي</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building is made of glass.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مَبْنًى</a:t>
            </a:r>
            <a:pPr algn="l" indent="0" marL="0">
              <a:buNone/>
            </a:pPr>
            <a:r>
              <a:rPr lang="en-US" sz="1050" i="1" dirty="0">
                <a:solidFill>
                  <a:srgbClr val="5A6472"/>
                </a:solidFill>
                <a:latin typeface="Calibri" pitchFamily="34" charset="0"/>
                <a:cs typeface="Amiri" pitchFamily="2" charset="-78"/>
              </a:rPr>
              <a:t> is masculine → </a:t>
            </a:r>
            <a:pPr algn="l" indent="0" marL="0">
              <a:buNone/>
            </a:pPr>
            <a:r>
              <a:rPr lang="ar-SA" altLang="en-US" sz="1350" dirty="0">
                <a:solidFill>
                  <a:srgbClr val="5A6472"/>
                </a:solidFill>
                <a:latin typeface="Amiri" pitchFamily="2" charset="-78"/>
                <a:ea typeface="Amiri" pitchFamily="2" charset="-78"/>
                <a:cs typeface="Amiri" pitchFamily="2" charset="-78"/>
              </a:rPr>
              <a:t>مَبْنِيٌّ مِنْ</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المَبْنَى مَبْنِيٌّ مِنَ الزُّجَاجِ</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مَدِينَتُنَا ______ مِنْ ______ ، لٰكِنَّهَا ______ .</a:t>
            </a:r>
            <a:endParaRPr lang="ar-SA" sz="16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Our town is … than …, but it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بَيْنَ ______ وَ ______ سَتَجِدُونَ ______ الَّذِي ______ .</a:t>
            </a:r>
            <a:endParaRPr lang="ar-SA" sz="14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Between … and … you will find the … which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زُرْتُ ______ الَّذِي بُنِيَ ______ ، فَ ______ .</a:t>
            </a:r>
            <a:endParaRPr lang="ar-SA" sz="17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I visited the … that was built …, and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يَجِبُ عَلَى البَلَدِيَّةِ أَنْ ______ ، لِكَيْ ______ .</a:t>
            </a:r>
            <a:endParaRPr lang="ar-SA" sz="165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The council must …, so that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أَهْلًا وَسَهْلًا فِي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Title: Welcome to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تَقَعُ مَدِينَتُنَا فِي ______ ، وَهِيَ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Our town is in …, and it is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يُوجَدُ ______ ، وَتُوجَدُ ______ مُقَابِلَ ______ .</a:t>
            </a:r>
            <a:endParaRPr lang="ar-SA" sz="16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There is …, and there is … opposite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فِي الأُسْبُوعِ المَاضِي زُرْتُ ______ وَ ______ .</a:t>
            </a:r>
            <a:endParaRPr lang="ar-SA" sz="17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Last week I visited … and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يُوجَدُ ______ ، وَفِي رَأْيِي ______ .</a:t>
            </a:r>
            <a:endParaRPr lang="ar-SA" sz="18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There is no …, and in my opinion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يُوجَدُ · تُوجَدُ · لَا يُوجَدُ  ·  مُقَابِلَ · خَلْفَ · أَمَامَ  ·  بَيْنَ … وَ…  ·  مَكْتَبَةٌ عَامَّةٌ  ·  مَرْكَزٌ تِجَارِيٌّ  ·  مَحَطَّةُ القِطَارِ  ·  مُزْدَحِمٌ · هَادِئٌ  ·  مَبْنِيٌّ مِنْ</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TC-L08</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يُوجَدُ مَحَطَّةٌ قُرْبَ بَيْتِي.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Masculine or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المَسْجِدُ خَلْفَ المَدْرَسَةُ.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after </a:t>
            </a:r>
            <a:pPr algn="l" indent="0" marL="0">
              <a:buNone/>
            </a:pPr>
            <a:r>
              <a:rPr lang="ar-SA" altLang="en-US" sz="1700" dirty="0">
                <a:solidFill>
                  <a:srgbClr val="5A6472"/>
                </a:solidFill>
                <a:latin typeface="Amiri" pitchFamily="2" charset="-78"/>
                <a:ea typeface="Amiri" pitchFamily="2" charset="-78"/>
                <a:cs typeface="Amiri" pitchFamily="2" charset="-78"/>
              </a:rPr>
              <a:t>خَلْفَ</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فِي المَاضِي يُوجَدُ سِينِمَا هُنَا.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In the past…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يُوجَدُ مَحَطَّةٌ قُرْبَ بَيْتِي.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تُوجَدُ مَحَطَّةٌ قُرْبَ بَيْتِي.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noun → </a:t>
            </a:r>
            <a:pPr algn="l" indent="0" marL="0">
              <a:buNone/>
            </a:pPr>
            <a:r>
              <a:rPr lang="ar-SA" altLang="en-US" sz="1500" b="1" dirty="0">
                <a:solidFill>
                  <a:srgbClr val="1B3B6F"/>
                </a:solidFill>
                <a:latin typeface="Amiri" pitchFamily="2" charset="-78"/>
                <a:ea typeface="Amiri" pitchFamily="2" charset="-78"/>
                <a:cs typeface="Amiri" pitchFamily="2" charset="-78"/>
              </a:rPr>
              <a:t>تُوجَدُ</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المَسْجِدُ خَلْفَ المَدْرَسَةُ.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المَسْجِدُ خَلْفَ المَدْرَسَةِ.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Place words (</a:t>
            </a:r>
            <a:pPr algn="l" indent="0" marL="0">
              <a:buNone/>
            </a:pPr>
            <a:r>
              <a:rPr lang="ar-SA" altLang="en-US" sz="1500" b="1" dirty="0">
                <a:solidFill>
                  <a:srgbClr val="1B3B6F"/>
                </a:solidFill>
                <a:latin typeface="Amiri" pitchFamily="2" charset="-78"/>
                <a:ea typeface="Amiri" pitchFamily="2" charset="-78"/>
                <a:cs typeface="Amiri" pitchFamily="2" charset="-78"/>
              </a:rPr>
              <a:t>خَلْفَ</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أَمَامَ</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مُقَابِلَ</a:t>
            </a:r>
            <a:pPr algn="l" indent="0" marL="0">
              <a:buNone/>
            </a:pPr>
            <a:r>
              <a:rPr lang="en-US" sz="1150" b="1" dirty="0">
                <a:solidFill>
                  <a:srgbClr val="1B3B6F"/>
                </a:solidFill>
                <a:latin typeface="Calibri" pitchFamily="34" charset="0"/>
                <a:cs typeface="Amiri" pitchFamily="2" charset="-78"/>
              </a:rPr>
              <a:t>) + genitive.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فِي المَاضِي يُوجَدُ سِينِمَا هُنَا.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فِي المَاضِي كَانَتْ هُنَاكَ سِينِمَا.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Past “there was” → </a:t>
            </a:r>
            <a:pPr algn="l" indent="0" marL="0">
              <a:buNone/>
            </a:pPr>
            <a:r>
              <a:rPr lang="ar-SA" altLang="en-US" sz="1500" b="1" dirty="0">
                <a:solidFill>
                  <a:srgbClr val="1B3B6F"/>
                </a:solidFill>
                <a:latin typeface="Amiri" pitchFamily="2" charset="-78"/>
                <a:ea typeface="Amiri" pitchFamily="2" charset="-78"/>
                <a:cs typeface="Amiri" pitchFamily="2" charset="-78"/>
              </a:rPr>
              <a:t>كَانَتْ هُنَاكَ</a:t>
            </a:r>
            <a:pPr algn="l" indent="0" marL="0">
              <a:buNone/>
            </a:pPr>
            <a:r>
              <a:rPr lang="en-US" sz="1150" b="1" dirty="0">
                <a:solidFill>
                  <a:srgbClr val="1B3B6F"/>
                </a:solidFill>
                <a:latin typeface="Calibri" pitchFamily="34" charset="0"/>
                <a:cs typeface="Amiri" pitchFamily="2" charset="-78"/>
              </a:rPr>
              <a:t> (feminine noun).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TC-L08</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قَبْلَ عَشْرِ سَنَوَاتٍ كَانَ حَيُّنَا مُخْتَلِفًا جِدًّا.</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Ten years ago our area was very different.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كَانَتْ فِيهِ حَدِيقَةٌ كَبِيرَةٌ، وَلَمْ يَكُنْ فِيهِ مَرْكَزٌ تِجَارِيٌّ.</a:t>
            </a:r>
            <a:endParaRPr lang="ar-SA" sz="200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There was a big park, and no shopping centre.</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تَغَيَّرَ لِأَنَّ النَّاسَ احْتَاجُوا إِلَى بُيُوتٍ.</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It changed because people needed homes.</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أَشْتَاقُ إِلَى الحَدِيقَةِ القَدِيمَةِ.</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 miss the old park.</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Question 3, one paragraph: how my area has changed</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تَغَيَّرَ حَيِّي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“Where I live: the past and the future”. Today write ONLY the past paragraph: how your area (or a family member’s area) was in the past — what there was, what was missing, one memory, and what has changed.</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المَاضِي كَانَ / كَانَتْ هُنَاكَ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the past there was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لَمْ يَكُنْ هُنَاكَ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there was no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كُنَّا نَلْعَبُ / نَذْهَبُ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used to play / go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الآنَ فَالحَيُّ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now the area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بُنِيَ · هُدِمَ</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was built · was demolished</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أَهْلًا وَسَهْلًا فِي يُورْكَ!</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تَقَعُ مَدِينَتُنَا فِي شَمَالِ إِنْجِلْتِرَا، وَهِيَ مَدِينَةٌ قَدِيمَةٌ وَهَادِئَةٌ، لٰكِنَّهَا مُزْدَحِمَةٌ بِالسُّيَّاحِ فِي الصَّيْفِ. فِي الوَسَطِ تُوجَدُ كَاتِدْرَائِيَّةٌ ضَخْمَةٌ مَبْنِيَّةٌ مِنَ الحَجَرِ، وَمُقَابِلَهَا سَتَجِدُونَ مَكْتَبَةً عَامَّةً فِيهَا حَوَاسِيبُ مَجَّانِيَّةٌ. يُوجَدُ مَسْجِدٌ صَغِيرٌ بَيْنَ المَحَطَّةِ وَالمُسْتَشْفَى. فِي الأُسْبُوعِ المَاضِي زُرْتُ مَتْحَفَ القِطَارَاتِ الَّذِي يَقَعُ خَلْفَ المَحَطَّةِ، فَرَأَيْتُ قِطَارَاتٍ عُمْرُهَا مِئَتَا سَنَةٍ. لِلْأَسَفِ لَا يُوجَدُ مَرْكَزٌ لِلشَّبَابِ، وَفِي رَأْيِي يَجِبُ أَنْ تَبْنِيَ البَلَدِيَّةُ مَرْكَزًا رَخِيصًا، لِكَيْ يَلْتَقِيَ فِيهِ الشَّبَابُ بَعْدَ المَدْرَسَةِ بَدَلًا مِنَ الشَّارِعِ.</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آدَمُ</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“Welcome to York! Our city is in the north of England; it is old and calm, but crowded with tourists in summer. In the centre there is a huge cathedral built of stone, and opposite it you will find a public library with free computers. There is a small mosque between the station and the hospital. Last week I visited the railway museum behind the station, and saw trains two hundred years old. Unfortunately there is no youth centre, and in my opinion the council must build a cheap one, so young people can meet there after school instead of in the street. Adam.”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مَبْنِيَّةٌ مِنَ الحَجَرِ</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وَمُقَابِلَهَا سَتَجِدُونَ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بَيْنَ المَحَطَّةِ وَالمُسْتَشْفَى</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لَا يُوجَدُ مَرْكَزٌ لِلشَّبَابِ</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عِنْدَمَا كُنْتُ فِي المَدْرَسَةِ الابْتِدَائِيَّةِ، كَانَ حَيُّنَا فِي شَرْقِ لَنْدَنَ هَادِئًا وَأَخْضَرَ. كَانَتْ هُنَاكَ حَدِيقَةٌ وَاسِعَةٌ مُقَابِلَ بَيْتِنَا، وَكُنَّا نَلْعَبُ فِيهَا كُرَةَ القَدَمِ كُلَّ مَسَاءٍ، وَلَمْ يَكُنْ هُنَاكَ مَرْكَزٌ تِجَارِيٌّ وَلَا مَحَطَّةٌ قَرِيبَةٌ. قَبْلَ ثَلَاثِ سَنَوَاتٍ، هُدِمَتِ المَصَانِعُ القَدِيمَةُ، وَبُنِيَتْ مَكَانَهَا عِمَارَاتٌ عَالِيَةٌ مِنَ الزُّجَاجِ، لِأَنَّ النَّاسَ احْتَاجُوا إِلَى شُقَقٍ. أَمَّا الآنَ فَالحَيُّ مُزْدَحِمٌ، لٰكِنَّ فِيهِ خِدْمَاتٍ أَكْثَرَ. أَشْتَاقُ إِلَى هُدُوئِهِ القَدِيمِ.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when I was at primary school, our area in east London was calm and green · D: there was a wide park opposite our house where we played football every evening, and there was no shopping centre or nearby station; three years ago the old factories were demolished and tall glass blocks were built in their place · R: because people needed flats · F: now the area is crowded, but it has more services; I miss its old calm.</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كَانَتْ هُنَاكَ حَدِيقَةٌ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وَكُنَّا نَلْعَبُ</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لَمْ يَكُنْ هُنَاكَ</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هُدِمَتِ … وَبُنِيَتْ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TC-L08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practice room · TC-L08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700" b="1" dirty="0">
                <a:solidFill>
                  <a:srgbClr val="FFFFFF"/>
                </a:solidFill>
                <a:latin typeface="Cambria" pitchFamily="34" charset="0"/>
                <a:cs typeface="Amiri" pitchFamily="2" charset="-78"/>
              </a:rPr>
              <a:t>TC-L09 · The next lesson in the topic</a:t>
            </a:r>
            <a:endParaRPr lang="en-US" sz="27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TC-L08 · Writing Practice Room — Buildings, Services and Urban Areas</dc:title>
  <dc:subject>PptxGenJS Presentation</dc:subject>
  <dc:creator>Al Madina Online School · Arabic Department</dc:creator>
  <cp:lastModifiedBy>Al Madina Online School · Arabic Department</cp:lastModifiedBy>
  <cp:revision>1</cp:revision>
  <dcterms:created xsi:type="dcterms:W3CDTF">2026-10-25T15:00:17Z</dcterms:created>
  <dcterms:modified xsi:type="dcterms:W3CDTF">2026-10-25T15:00:17Z</dcterms:modified>
</cp:coreProperties>
</file>