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7 (Documents, texts and digital information, TC-L07)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Documents, Texts and Digital Information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الوَثَائِقُ وَالمَعْلُومَاتُ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booking form, decoding a new Q2 task (an email to a hotel),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TC-L07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Hotel booking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حَجْزِ الفُنْدُقِ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in your passport.</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الجُمُعَةِ ١٢ يُولْيُو</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 date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الوُصُولِ</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أَرْبَعُ لَيَالٍ</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nights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اللَّيَالِي</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غُرْفَةٌ لِشَخْصَيْنِ</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type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الغُرْفَةِ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36408" y="4724400"/>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it carefully.</a:t>
            </a:r>
            <a:endParaRPr lang="en-US" sz="11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Email</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البَرِيدُ الإِلِكْتْرُونِيُّ</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غُرْفَةً تُطِلُّ عَلَى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special request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طَلَبٌ خَاصٌّ</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an email to a hotel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فُنْدُقٍ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stayed in a hotel last month and left something behind. Write an email in Arabic to the hotel of about 80–90 words. You must include: • when you stayed and in which room • what you left and a description of it • why it is important to you • how they should send it back, and a question.</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أَقَمْتُ فِي فُنْدُقِكُمْ مِنْ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stayed in your hotel from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نَسِيتُ … الَّذِي / الَّتِي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forgot the … which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مُهِمٌّ / مُهِمَّةٌ لِي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important to me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أَرْجُو أَنْ تُرْسِلُوهُ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please send it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الفُنْدُقِ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أَقَمْتَ فِي الفُنْدُقِ؟ وَفِي أَيِّ غُرْفَةٍ؟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نَسِيتَ؟ صِفْهُ.</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هُوَ مُهِمٌّ لَكَ؟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يُرْسِلُونَهُ؟ وَاسْأَلْ سُؤَالًا.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an email to the hotel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FORMAL email → </a:t>
            </a:r>
            <a:pPr algn="l" indent="0" marL="0">
              <a:buNone/>
            </a:pPr>
            <a:r>
              <a:rPr lang="ar-SA" altLang="en-US" sz="1450" dirty="0">
                <a:solidFill>
                  <a:srgbClr val="5A6472"/>
                </a:solidFill>
                <a:latin typeface="Amiri" pitchFamily="2" charset="-78"/>
                <a:ea typeface="Amiri" pitchFamily="2" charset="-78"/>
                <a:cs typeface="Amiri" pitchFamily="2" charset="-78"/>
              </a:rPr>
              <a:t>السَّادَةُ … المُحْتَرَمُونَ</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مَعَ الشُّكْرِ</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الفُنْدُقِ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stayed; which room</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مَتَى أَقَمْتَ</a:t>
            </a:r>
            <a:pPr algn="l" indent="0" marL="0">
              <a:buNone/>
            </a:pPr>
            <a:r>
              <a:rPr lang="en-US" sz="1100" dirty="0">
                <a:solidFill>
                  <a:srgbClr val="5A6472"/>
                </a:solidFill>
                <a:latin typeface="Calibri" pitchFamily="34" charset="0"/>
                <a:cs typeface="Amiri" pitchFamily="2" charset="-78"/>
              </a:rPr>
              <a:t> → PAST + dates (</a:t>
            </a:r>
            <a:pPr algn="l" indent="0" marL="0">
              <a:buNone/>
            </a:pPr>
            <a:r>
              <a:rPr lang="ar-SA" altLang="en-US" sz="1450" dirty="0">
                <a:solidFill>
                  <a:srgbClr val="5A6472"/>
                </a:solidFill>
                <a:latin typeface="Amiri" pitchFamily="2" charset="-78"/>
                <a:ea typeface="Amiri" pitchFamily="2" charset="-78"/>
                <a:cs typeface="Amiri" pitchFamily="2" charset="-78"/>
              </a:rPr>
              <a:t>مِنْ … إِلَى</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أَقَمْتَ فِي الفُنْدُقِ؟ وَفِي أَيِّ غُرْفَةٍ؟</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left; describe it</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صِفْهُ</a:t>
            </a:r>
            <a:pPr algn="l" indent="0" marL="0">
              <a:buNone/>
            </a:pPr>
            <a:r>
              <a:rPr lang="en-US" sz="1100" dirty="0">
                <a:solidFill>
                  <a:srgbClr val="5A6472"/>
                </a:solidFill>
                <a:latin typeface="Calibri" pitchFamily="34" charset="0"/>
                <a:cs typeface="Amiri" pitchFamily="2" charset="-78"/>
              </a:rPr>
              <a:t> → colour / material + </a:t>
            </a:r>
            <a:pPr algn="l" indent="0" marL="0">
              <a:buNone/>
            </a:pPr>
            <a:r>
              <a:rPr lang="ar-SA" altLang="en-US" sz="1450" dirty="0">
                <a:solidFill>
                  <a:srgbClr val="5A6472"/>
                </a:solidFill>
                <a:latin typeface="Amiri" pitchFamily="2" charset="-78"/>
                <a:ea typeface="Amiri" pitchFamily="2" charset="-78"/>
                <a:cs typeface="Amiri" pitchFamily="2" charset="-78"/>
              </a:rPr>
              <a:t>الَّذِي / الَّتِي</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نَسِيتَ؟ صِفْهُ.</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it matters</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 مُهِمٌّ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 past story (</a:t>
            </a:r>
            <a:pPr algn="l" indent="0" marL="0">
              <a:buNone/>
            </a:pPr>
            <a:r>
              <a:rPr lang="ar-SA" altLang="en-US" sz="1450" dirty="0">
                <a:solidFill>
                  <a:srgbClr val="5A6472"/>
                </a:solidFill>
                <a:latin typeface="Amiri" pitchFamily="2" charset="-78"/>
                <a:ea typeface="Amiri" pitchFamily="2" charset="-78"/>
                <a:cs typeface="Amiri" pitchFamily="2" charset="-78"/>
              </a:rPr>
              <a:t>هَدِيَّةٌ مِنْ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هُوَ مُهِمٌّ لَكَ؟</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to send it; a question</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يُرْسِلُونَهُ</a:t>
            </a:r>
            <a:pPr algn="l" indent="0" marL="0">
              <a:buNone/>
            </a:pPr>
            <a:r>
              <a:rPr lang="en-US" sz="1100" dirty="0">
                <a:solidFill>
                  <a:srgbClr val="5A6472"/>
                </a:solidFill>
                <a:latin typeface="Calibri" pitchFamily="34" charset="0"/>
                <a:cs typeface="Amiri" pitchFamily="2" charset="-78"/>
              </a:rPr>
              <a:t> → polite request (</a:t>
            </a:r>
            <a:pPr algn="l" indent="0" marL="0">
              <a:buNone/>
            </a:pPr>
            <a:r>
              <a:rPr lang="ar-SA" altLang="en-US" sz="1450" dirty="0">
                <a:solidFill>
                  <a:srgbClr val="5A6472"/>
                </a:solidFill>
                <a:latin typeface="Amiri" pitchFamily="2" charset="-78"/>
                <a:ea typeface="Amiri" pitchFamily="2" charset="-78"/>
                <a:cs typeface="Amiri" pitchFamily="2" charset="-78"/>
              </a:rPr>
              <a:t>أَرْجُو أَنْ</a:t>
            </a:r>
            <a:pPr algn="l" indent="0" marL="0">
              <a:buNone/>
            </a:pPr>
            <a:r>
              <a:rPr lang="en-US" sz="1100" dirty="0">
                <a:solidFill>
                  <a:srgbClr val="5A6472"/>
                </a:solidFill>
                <a:latin typeface="Calibri" pitchFamily="34" charset="0"/>
                <a:cs typeface="Amiri" pitchFamily="2" charset="-78"/>
              </a:rPr>
              <a:t> …) + a question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يُرْسِلُونَهُ؟ وَاسْأَلْ سُؤَالًا.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حَجَزْتُ تَذْكِرَةً.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booked a ticket.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حَجَزْتُ تَذْكِرَةَ قِطَارٍ إِلَى إِدِنْبَرَةَ عَلَى الإِنْتَرْنِتِ.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 booked a train ticket to Edinburgh online.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 وَأُرْسِلَتِ التَّذْكِرَةُ إِلَى بَرِيدِي الإِلِكْتْرُونِيِّ بَعْدَ دَقِيقَةٍ، فَطَبَعْتُهَا.</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and the ticket was sent to my email a minute later, so I printed it.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لٰكِنَّ القِطَارَ الَّذِي حَجَزْتُهُ أُلْغِيَ، لِذٰلِكَ تَعَلَّمْتُ أَنْ أَتَأَكَّدَ مِنَ المَوْقِعِ قَبْلَ السَّفَرِ.</a:t>
            </a:r>
            <a:endParaRPr lang="ar-SA" sz="18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but the train I booked was cancelled, so I learnt to check the website before travelling.</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ticket that I booked is confirmed.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التَّذْكِرَةُ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تَذْكِرَةٌ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الَّتِي حَجَزْتُهَا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الَّذِي حَجَزْتُهُ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مُؤَكَّدَةٌ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مُؤَكَّدٌ</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form is sent by email.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تُرْسَلُ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تُرْسِلُ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الاسْتِمَارَةُ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الاسْتِمَارَةَ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بِالبَرِيدِ الإِلِكْتْرُونِيِّ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البَرِيدَ الإِلِكْتْرُونِيَّ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Bring your passport, please.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جَوَازَ سَفَرِكَ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جَوَازُ سَفَرِكَ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ticket that I booked is confirmed.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definite feminine noun → </a:t>
            </a:r>
            <a:pPr algn="l" indent="0" marL="0">
              <a:buNone/>
            </a:pPr>
            <a:r>
              <a:rPr lang="ar-SA" altLang="en-US" sz="1350" dirty="0">
                <a:solidFill>
                  <a:srgbClr val="5A6472"/>
                </a:solidFill>
                <a:latin typeface="Amiri" pitchFamily="2" charset="-78"/>
                <a:ea typeface="Amiri" pitchFamily="2" charset="-78"/>
                <a:cs typeface="Amiri" pitchFamily="2" charset="-78"/>
              </a:rPr>
              <a:t>الَّتِي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هَا</a:t>
            </a:r>
            <a:pPr algn="l" indent="0" marL="0">
              <a:buNone/>
            </a:pPr>
            <a:r>
              <a:rPr lang="en-US" sz="1050" i="1" dirty="0">
                <a:solidFill>
                  <a:srgbClr val="5A6472"/>
                </a:solidFill>
                <a:latin typeface="Calibri" pitchFamily="34" charset="0"/>
                <a:cs typeface="Amiri" pitchFamily="2" charset="-78"/>
              </a:rPr>
              <a:t>, and the adjective agrees: </a:t>
            </a:r>
            <a:pPr algn="l" indent="0" marL="0">
              <a:buNone/>
            </a:pPr>
            <a:r>
              <a:rPr lang="ar-SA" altLang="en-US" sz="1350" dirty="0">
                <a:solidFill>
                  <a:srgbClr val="5A6472"/>
                </a:solidFill>
                <a:latin typeface="Amiri" pitchFamily="2" charset="-78"/>
                <a:ea typeface="Amiri" pitchFamily="2" charset="-78"/>
                <a:cs typeface="Amiri" pitchFamily="2" charset="-78"/>
              </a:rPr>
              <a:t>مُؤَكَّدَةٌ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التَّذْكِرَةُ الَّتِي حَجَزْتُهَا مُؤَكَّدَةٌ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form is sent by email.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tursalu (tu-…-a-); the form becomes the subject.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تُرْسَلُ الاسْتِمَارَةُ بِالبَرِيدِ الإِلِكْتْرُونِيِّ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Bring your passport, please.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instruction → imperative </a:t>
            </a:r>
            <a:pPr algn="l" indent="0" marL="0">
              <a:buNone/>
            </a:pPr>
            <a:r>
              <a:rPr lang="ar-SA" altLang="en-US" sz="1350" dirty="0">
                <a:solidFill>
                  <a:srgbClr val="5A6472"/>
                </a:solidFill>
                <a:latin typeface="Amiri" pitchFamily="2" charset="-78"/>
                <a:ea typeface="Amiri" pitchFamily="2" charset="-78"/>
                <a:cs typeface="Amiri" pitchFamily="2" charset="-78"/>
              </a:rPr>
              <a:t>أَحْضِرْ</a:t>
            </a:r>
            <a:pPr algn="l" indent="0" marL="0">
              <a:buNone/>
            </a:pPr>
            <a:r>
              <a:rPr lang="en-US" sz="1050" i="1" dirty="0">
                <a:solidFill>
                  <a:srgbClr val="5A6472"/>
                </a:solidFill>
                <a:latin typeface="Calibri" pitchFamily="34" charset="0"/>
                <a:cs typeface="Amiri" pitchFamily="2" charset="-78"/>
              </a:rPr>
              <a:t>; the object is accusative.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أَحْضِرْ جَوَازَ سَفَرِكَ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حَجَزْتُ غُرْفَةً ______ ، وَكَانَتْ إِقَامَتِي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booked a … room, and my stay was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نَسِيتُ ______ الَّتِي ______ ، وَهِيَ مَصْنُوعَةٌ مِنْ ______ .</a:t>
            </a:r>
            <a:endParaRPr lang="ar-SA" sz="13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forgot the … which …, and it is made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أَعْطَتْنِي جَدَّتِي ______ قَبْلَ ______ ، لِذٰلِكَ ______ .</a:t>
            </a:r>
            <a:endParaRPr lang="ar-SA" sz="14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My grandmother gave me … before …, so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إِذَا وَجَدْتُمُوهَا، فَأَرْجُو ______ . هَلْ ______ ؟</a:t>
            </a:r>
            <a:endParaRPr lang="ar-SA" sz="16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you find it, please … Do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السَّادَةُ فِي فُنْدُقِ ______ المُحْتَرَمُونَ،</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 Hotel,</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أَقَمْتُ فِي فُنْدُقِكُمْ مِنْ ______ إِلَى ______ فِي الغُرْفَةِ رَقْمِ ______ .</a:t>
            </a:r>
            <a:endParaRPr lang="ar-SA" sz="11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stayed in your hotel from … to … in room number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نَسِيتُ ______ ______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left a … (colour) in the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مُهِمَّةٌ لِي،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It is important to me,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أَرْجُو أَنْ تُرْسِلُوهَا إِلَى عُنْوَانِي. كَمْ ______ ؟</a:t>
            </a:r>
            <a:endParaRPr lang="ar-SA" sz="17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Please send it to my address. How much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أَقَمْتُ فِي  ·  حَجَزْتُ  ·  الغُرْفَةُ رَقْمُ  ·  الَّذِي · الَّتِي  ·  مَصْنُوعٌ مِنْ  ·  أَرْجُو أَنْ  ·  تُرْسَلُ بِالبَرِيدِ  ·  مَعَ الشُّكْرِ</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الفُنْدُقُ الَّتِي أَقَمْتُ فِيهِ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فُنْدُقٌ</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حَجَزْتُ غُرْفَةً الَّتِي تُطِلُّ عَلَى البَحْرِ.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غُرْفَةً</a:t>
            </a:r>
            <a:pPr algn="l" indent="0" marL="0">
              <a:buNone/>
            </a:pPr>
            <a:r>
              <a:rPr lang="en-US" sz="1300" i="1" dirty="0">
                <a:solidFill>
                  <a:srgbClr val="5A6472"/>
                </a:solidFill>
                <a:latin typeface="Calibri" pitchFamily="34" charset="0"/>
                <a:cs typeface="Amiri" pitchFamily="2" charset="-78"/>
              </a:rPr>
              <a:t> is indefinite.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التَّذْكِرَةُ يُرْسَلُ إِلَى هَاتِفِكَ.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 in the passive.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الفُنْدُقُ الَّتِي أَقَمْتُ فِيهِ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الفُنْدُقُ الَّذِي أَقَمْتُ فِيهِ جَمِيلٌ.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noun → </a:t>
            </a:r>
            <a:pPr algn="l" indent="0" marL="0">
              <a:buNone/>
            </a:pPr>
            <a:r>
              <a:rPr lang="ar-SA" altLang="en-US" sz="1500" b="1" dirty="0">
                <a:solidFill>
                  <a:srgbClr val="1B3B6F"/>
                </a:solidFill>
                <a:latin typeface="Amiri" pitchFamily="2" charset="-78"/>
                <a:ea typeface="Amiri" pitchFamily="2" charset="-78"/>
                <a:cs typeface="Amiri" pitchFamily="2" charset="-78"/>
              </a:rPr>
              <a:t>الَّذِي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حَجَزْتُ غُرْفَةً الَّتِي تُطِلُّ عَلَى البَحْرِ.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حَجَزْتُ غُرْفَةً تُطِلُّ عَلَى البَحْرِ.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Indefinite noun → no </a:t>
            </a:r>
            <a:pPr algn="l" indent="0" marL="0">
              <a:buNone/>
            </a:pPr>
            <a:r>
              <a:rPr lang="ar-SA" altLang="en-US" sz="1500" b="1" dirty="0">
                <a:solidFill>
                  <a:srgbClr val="1B3B6F"/>
                </a:solidFill>
                <a:latin typeface="Amiri" pitchFamily="2" charset="-78"/>
                <a:ea typeface="Amiri" pitchFamily="2" charset="-78"/>
                <a:cs typeface="Amiri" pitchFamily="2" charset="-78"/>
              </a:rPr>
              <a:t>الَّذِي / الَّتِي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التَّذْكِرَةُ يُرْسَلُ إِلَى هَاتِفِكَ.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التَّذْكِرَةُ تُرْسَلُ إِلَى هَاتِفِكَ.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تُرْسَلُ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فِي العُطْلَةِ المَاضِيَةِ أُلْغِيَتْ رِحْلَتُنَا فَجْأَةً.</a:t>
            </a:r>
            <a:endParaRPr lang="ar-SA" sz="25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holiday our flight was suddenly cancelled.</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انْتَظَرْنَا فِي المَطَارِ، ثُمَّ حَجَزْنَا فُنْدُقًا قَرِيبًا.</a:t>
            </a:r>
            <a:endParaRPr lang="ar-SA" sz="22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waited at the airport, then booked a nearby hotel.</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كَانَ صَعْبًا لِأَنَّ أُخْتِي الصَّغِيرَةَ كَانَتْ مَرِيضَةً.</a:t>
            </a:r>
            <a:endParaRPr lang="ar-SA" sz="24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was hard because my little sister was ill.</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تَعَلَّمْتُ أَنْ أَبْقَى هَادِئًا.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learnt to stay calm.</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Question 3, one paragraph: a travel problem I solved</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مُشْكِلَةٌ فِي السَّفَرِ حَلَلْتُهَا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“Planning and travelling”. Today write ONLY the past paragraph: a problem with a booking, ticket or document — what happened, what you did, who helped, and what you learnt.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أُلْغِيَتْ · تَأَخَّرَتْ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was cancelled · was delayed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اكْتَشَفْتُ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discovered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سَاعَدَنِي … الَّذِي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who … helped 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تَعَلَّمْتُ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learnt to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السَّادَةُ فِي فُنْدُقِ النَّخِيلِ المُحْتَرَمُونَ،</a:t>
            </a:r>
            <a:endParaRPr lang="ar-SA" sz="1850" dirty="0"/>
          </a:p>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أَقَمْتُ مَعَ عَائِلَتِي فِي فُنْدُقِكُمْ مِنْ ٣ إِلَى ٧ أَغُسْطُسَ، فِي الغُرْفَةِ رَقْمِ ٢١٤ الَّتِي تُطِلُّ عَلَى البَحْرِ، وَكَانَتْ إِقَامَتُنَا مُمْتَازَةً. لِلْأَسَفِ نَسِيتُ سَاعَةً فِضِّيَّةً صَغِيرَةً فِي دُرْجِ الطَّاوِلَةِ الَّتِي بِجَانِبِ السَّرِيرِ. هٰذِهِ السَّاعَةُ مُهِمَّةٌ جِدًّا لِي، لِأَنَّ جَدِّي أَعْطَانِي إِيَّاهَا قَبْلَ وَفَاتِهِ، وَمَكْتُوبٌ عَلَيْهَا اسْمِي بِالعَرَبِيَّةِ. إِذَا وَجَدْتُمُوهَا، فَأَرْجُو أَنْ تُرْسِلُوهَا بِالبَرِيدِ المُسَجَّلِ إِلَى عُنْوَانِي فِي بِرْمِنْغْهَامَ، وَسَأَدْفَعُ ثَمَنَ البَرِيدِ طَبْعًا. كَمْ يَوْمًا تَحْتَاجُ الرِّسَالَةُ لِكَيْ تَصِلَ؟</a:t>
            </a:r>
            <a:endParaRPr lang="ar-SA" sz="1850" dirty="0"/>
          </a:p>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مَعَ الشُّكْرِ،</a:t>
            </a:r>
            <a:endParaRPr lang="ar-SA" sz="1850" dirty="0"/>
          </a:p>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يُوسُفُ عَلِيٌّ</a:t>
            </a:r>
            <a:endParaRPr lang="ar-SA" sz="18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Palm Hotel, I stayed with my family in your hotel from 3 to 7 August, in room 214 overlooking the sea, and our stay was excellent. Unfortunately I left a small silver watch in the drawer of the bedside table. This watch is very important to me, because my grandfather gave it to me before he passed away, and my name is written on it in Arabic. If you find it, please send it by registered post to my address in Birmingham — I will of course pay the postage. How many days does it take to arrive? With thanks, Yusuf Ali.”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تُطِلُّ عَلَى البَحْرِ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سَاعَةً فِضِّيَّةً صَغِيرَةً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وَمَكْتُوبٌ عَلَيْهَا اسْمِي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أَرْجُو أَنْ تُرْسِلُوهَا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عِنْدَمَا وَصَلْنَا إِلَى مَطَارِ القَاهِرَةِ، اكْتَشَفْتُ أَنَّ تَذْكِرَتِي لَمْ تُطْبَعْ، وَأَنَّ هَاتِفِي بِدُونِ شَحْنٍ. شَعَرْتُ بِالخَوْفِ، لِأَنَّ الرِّحْلَةَ كَانَتْ بَعْدَ سَاعَةٍ وَاحِدَةٍ. ذَهَبْتُ إِلَى مَكْتَبِ الشَّرِكَةِ، فَسَاعَدَتْنِي مُوَظَّفَةٌ لَطِيفَةٌ؛ طَلَبَتْ جَوَازَ سَفَرِي، وَوَجَدَتِ الحَجْزَ بِاسْمِي، ثُمَّ طَبَعَتْ لِي تَذْكِرَةً جَدِيدَةً. فِي النِّهَايَةِ وَصَلْتُ إِلَى الطَّائِرَةِ قَبْلَ إِغْلَاقِ البَابِ بِدَقَائِقَ. تَعَلَّمْتُ أَنْ أَحْمِلَ نُسْخَةً وَرَقِيَّةً دَائِمًا.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when we got to Cairo airport, I discovered my ticket hadn’t been printed and my phone was dead · D: I was scared, because the flight was in one hour; I went to the airline desk and a kind employee helped me — she asked for my passport, found the booking in my name and printed me a new ticket; in the end I reached the plane minutes before the door closed · F: I learnt always to carry a paper copy.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اكْتَشَفْتُ أَنَّ تَذْكِرَتِي لَمْ تُطْبَعْ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فَسَاعَدَتْنِي مُوَظَّفَةٌ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النِّهَايَةِ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تَعَلَّمْتُ أَنْ أَحْمِلَ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TC-L08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TC-L07 · Writing Practice Room — Documents, Texts and Digital Information</dc:title>
  <dc:subject>PptxGenJS Presentation</dc:subject>
  <dc:creator>Al Madina Online School · Arabic Department</dc:creator>
  <cp:lastModifiedBy>Al Madina Online School · Arabic Department</cp:lastModifiedBy>
  <cp:revision>1</cp:revision>
  <dcterms:created xsi:type="dcterms:W3CDTF">2026-10-25T15:00:08Z</dcterms:created>
  <dcterms:modified xsi:type="dcterms:W3CDTF">2026-10-25T15:00:08Z</dcterms:modified>
</cp:coreProperties>
</file>