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4 (Environmental problems and causes, TC-L04)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(78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Environmental Problems and Causes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مَشَاكِلُ البِيئَةِ وَأَسْبَابُهَا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practise the writing process in breakout rooms: a Q1 warm-up form, decoding a new Q2 task (an article for the school magazine about pollution), upgrading sentences, writing with a buddy, spotting and fixing errors, and one Q3 paragraph with the T-D-R-F formula.</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TC-L04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 an environmental problem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بَلِّغْ عَنْ مُشْكِلَةٍ 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النَّهْرُ · الشَّاطِئُ</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Place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المَكَانُ</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نُفَايَاتٌ · دُخَانٌ</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problem</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المُشْكِلَةِ</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يَوْمَ الإِثْنَيْنِ</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التَّارِيخُ</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بِسَبَبِ المَصْنَعِ</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Cause</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السَّبَبُ</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مِمَّا يُسَبِّبُ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is the result of the problem?</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 نَتِيجَةُ المُشْكِلَةِ؟</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pollution in my area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التَّلَوُّثُ فِي مِنْطَقَتِي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article in Arabic for your school magazine of about 80–90 words. You must include: • an environmental problem in your area • its causes • its effects on people or animals • something that happened recently because of it.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أَكْبَرِ المَشَاكِلِ فِي مِنْطَقَتِنَا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of the biggest problems in our area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 / لِأَنَّ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 / because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يُؤَدِّي ذٰلِكَ إِلَى … ، مِمَّا يُسَبِّبُ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leads to …, which causes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مَقَالَةً لِمَجَلَّةِ المَدْرَسَةِ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 البِيئِيَّةُ فِي مِنْطَقَتِكَ؟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أَسْبَابُهَا؟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نَتَائِجُهَا عَلَى النَّاسِ أَوِ الحَيَوَانَاتِ؟</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مُؤَخَّرًا بِسَبَبِهَا؟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an article for the school magazine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ARTICLE → a title, no “Dear …”, speak to the reader (</a:t>
            </a:r>
            <a:pPr algn="l" indent="0" marL="0">
              <a:buNone/>
            </a:pPr>
            <a:r>
              <a:rPr lang="ar-SA" altLang="en-US" sz="1450" dirty="0">
                <a:solidFill>
                  <a:srgbClr val="5A6472"/>
                </a:solidFill>
                <a:latin typeface="Amiri" pitchFamily="2" charset="-78"/>
                <a:ea typeface="Amiri" pitchFamily="2" charset="-78"/>
                <a:cs typeface="Amiri" pitchFamily="2" charset="-78"/>
              </a:rPr>
              <a:t>نَحْنُ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مَقَالَةً لِمَجَلَّةِ المَدْرَسَةِ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problem in your area</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المُشْكِلَةُ</a:t>
            </a:r>
            <a:pPr algn="l" indent="0" marL="0">
              <a:buNone/>
            </a:pPr>
            <a:r>
              <a:rPr lang="en-US" sz="1100" dirty="0">
                <a:solidFill>
                  <a:srgbClr val="5A6472"/>
                </a:solidFill>
                <a:latin typeface="Calibri" pitchFamily="34" charset="0"/>
                <a:cs typeface="Amiri" pitchFamily="2" charset="-78"/>
              </a:rPr>
              <a:t> → PRESENT + a noun (</a:t>
            </a:r>
            <a:pPr algn="l" indent="0" marL="0">
              <a:buNone/>
            </a:pPr>
            <a:r>
              <a:rPr lang="ar-SA" altLang="en-US" sz="1450" dirty="0">
                <a:solidFill>
                  <a:srgbClr val="5A6472"/>
                </a:solidFill>
                <a:latin typeface="Amiri" pitchFamily="2" charset="-78"/>
                <a:ea typeface="Amiri" pitchFamily="2" charset="-78"/>
                <a:cs typeface="Amiri" pitchFamily="2" charset="-78"/>
              </a:rPr>
              <a:t>تَلَوُّثٌ</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نُفَايَاتٌ</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 البِيئِيَّةُ فِي مِنْطَقَتِكَ؟</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Its causes</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أَسْبَابُهَا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بِسَبَبِ</a:t>
            </a:r>
            <a:pPr algn="l" indent="0" marL="0">
              <a:buNone/>
            </a:pPr>
            <a:r>
              <a:rPr lang="en-US" sz="1100" dirty="0">
                <a:solidFill>
                  <a:srgbClr val="5A6472"/>
                </a:solidFill>
                <a:latin typeface="Calibri" pitchFamily="34" charset="0"/>
                <a:cs typeface="Amiri" pitchFamily="2" charset="-78"/>
              </a:rPr>
              <a:t> + genitive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noun / pronoun</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أَسْبَابُهَا؟</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Its effects</a:t>
            </a:r>
            <a:endParaRPr lang="en-US" sz="1100" dirty="0"/>
          </a:p>
        </p:txBody>
      </p:sp>
      <p:sp>
        <p:nvSpPr>
          <p:cNvPr id="37" name="Text 34"/>
          <p:cNvSpPr txBox="1"/>
          <p:nvPr/>
        </p:nvSpPr>
        <p:spPr>
          <a:xfrm>
            <a:off x="5623560" y="4478731"/>
            <a:ext cx="29260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نَتَائِجُهَا → يُؤَدِّي إِلَى · مِمَّا يُسَبِّبُ</a:t>
            </a:r>
            <a:endParaRPr lang="ar-SA" sz="18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نَتَائِجُهَا عَلَى النَّاسِ أَوِ الحَيَوَانَاتِ؟</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that happened recently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حَدَثَ</a:t>
            </a:r>
            <a:pPr algn="l" indent="0" marL="0">
              <a:buNone/>
            </a:pPr>
            <a:r>
              <a:rPr lang="en-US" sz="1100" dirty="0">
                <a:solidFill>
                  <a:srgbClr val="5A6472"/>
                </a:solidFill>
                <a:latin typeface="Calibri" pitchFamily="34" charset="0"/>
                <a:cs typeface="Amiri" pitchFamily="2" charset="-78"/>
              </a:rPr>
              <a:t> → PAST (+ a passive verb for extra marks)</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حَدَثَ مُؤَخَّرًا بِسَبَبِهَا؟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البْلَاسْتِيكُ مُشْكِلَةٌ.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Plastic is a problem.</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البْلَاسْتِيكُ مُشْكِلَةٌ خَطِيرَةٌ، لِأَنَّهُ لَا يَتَحَلَّلُ بِسُرْعَةٍ.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Plastic is a serious problem, because it doesn’t break down quickly.</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 تُرْمَى مَلَايِينُ الأَكْيَاسِ فِي البَحْرِ كُلَّ سَنَةٍ، مِمَّا يُسَبِّبُ مَوْتَ السَّلَاحِفِ.</a:t>
            </a:r>
            <a:endParaRPr lang="ar-SA" sz="21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millions of bags are thrown into the sea every year, which causes turtles to die.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 صَحِيحٌ أَنَّ البْلَاسْتِيكَ رَخِيصٌ، غَيْرَ أَنَّ ثَمَنَهُ الحَقِيقِيَّ تَدْفَعُهُ الطَّبِيعَةُ.</a:t>
            </a:r>
            <a:endParaRPr lang="ar-SA" sz="21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it’s true plastic is cheap, but nature pays its real price.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Because of the traffic, the air is polluted.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بِسَبَبِ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زَحْمَةِ المُرُورِ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زَحْمَةُ المُرُورِ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الهَوَاءُ مُلَوَّثٌ</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الهَوَاءُ يُلَوِّثُ</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Forests are cut down every year.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تُقْطَعُ</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تَقْطَعُ</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الغَابَاتُ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الغَابَاتِ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سَنَةٍ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Smoke leads to illnesses.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يُؤَدِّي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تُؤَدِّي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الدُّخَانُ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الدُّخَانَ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أَمْرَاضٍ</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أَمْرَاضًا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Because of the traffic, the air is polluted.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بِسَبَبِ</a:t>
            </a:r>
            <a:pPr algn="l" indent="0" marL="0">
              <a:buNone/>
            </a:pPr>
            <a:r>
              <a:rPr lang="en-US" sz="1050" i="1" dirty="0">
                <a:solidFill>
                  <a:srgbClr val="5A6472"/>
                </a:solidFill>
                <a:latin typeface="Calibri" pitchFamily="34" charset="0"/>
                <a:cs typeface="Amiri" pitchFamily="2" charset="-78"/>
              </a:rPr>
              <a:t> + genitive (</a:t>
            </a:r>
            <a:pPr algn="l" indent="0" marL="0">
              <a:buNone/>
            </a:pPr>
            <a:r>
              <a:rPr lang="ar-SA" altLang="en-US" sz="1350" dirty="0">
                <a:solidFill>
                  <a:srgbClr val="5A6472"/>
                </a:solidFill>
                <a:latin typeface="Amiri" pitchFamily="2" charset="-78"/>
                <a:ea typeface="Amiri" pitchFamily="2" charset="-78"/>
                <a:cs typeface="Amiri" pitchFamily="2" charset="-78"/>
              </a:rPr>
              <a:t>زَحْمَةِ</a:t>
            </a:r>
            <a:pPr algn="l" indent="0" marL="0">
              <a:buNone/>
            </a:pPr>
            <a:r>
              <a:rPr lang="en-US" sz="1050" i="1" dirty="0">
                <a:solidFill>
                  <a:srgbClr val="5A6472"/>
                </a:solidFill>
                <a:latin typeface="Calibri" pitchFamily="34" charset="0"/>
                <a:cs typeface="Amiri" pitchFamily="2" charset="-78"/>
              </a:rPr>
              <a:t>); “polluted” = </a:t>
            </a:r>
            <a:pPr algn="l" indent="0" marL="0">
              <a:buNone/>
            </a:pPr>
            <a:r>
              <a:rPr lang="ar-SA" altLang="en-US" sz="1350" dirty="0">
                <a:solidFill>
                  <a:srgbClr val="5A6472"/>
                </a:solidFill>
                <a:latin typeface="Amiri" pitchFamily="2" charset="-78"/>
                <a:ea typeface="Amiri" pitchFamily="2" charset="-78"/>
                <a:cs typeface="Amiri" pitchFamily="2" charset="-78"/>
              </a:rPr>
              <a:t>مُلَوَّثٌ</a:t>
            </a:r>
            <a:pPr algn="l" indent="0" marL="0">
              <a:buNone/>
            </a:pPr>
            <a:r>
              <a:rPr lang="en-US" sz="1050" i="1" dirty="0">
                <a:solidFill>
                  <a:srgbClr val="5A6472"/>
                </a:solidFill>
                <a:latin typeface="Calibri" pitchFamily="34" charset="0"/>
                <a:cs typeface="Amiri" pitchFamily="2" charset="-78"/>
              </a:rPr>
              <a:t> (a description).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بِسَبَبِ زَحْمَةِ المُرُورِ الهَوَاءُ مُلَوَّثٌ</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Forests are cut down every year.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present: </a:t>
            </a:r>
            <a:pPr algn="l" indent="0" marL="0">
              <a:buNone/>
            </a:pPr>
            <a:r>
              <a:rPr lang="ar-SA" altLang="en-US" sz="1350" dirty="0">
                <a:solidFill>
                  <a:srgbClr val="5A6472"/>
                </a:solidFill>
                <a:latin typeface="Amiri" pitchFamily="2" charset="-78"/>
                <a:ea typeface="Amiri" pitchFamily="2" charset="-78"/>
                <a:cs typeface="Amiri" pitchFamily="2" charset="-78"/>
              </a:rPr>
              <a:t>تُقْطَعُ</a:t>
            </a:r>
            <a:pPr algn="l" indent="0" marL="0">
              <a:buNone/>
            </a:pPr>
            <a:r>
              <a:rPr lang="en-US" sz="1050" i="1" dirty="0">
                <a:solidFill>
                  <a:srgbClr val="5A6472"/>
                </a:solidFill>
                <a:latin typeface="Calibri" pitchFamily="34" charset="0"/>
                <a:cs typeface="Amiri" pitchFamily="2" charset="-78"/>
              </a:rPr>
              <a:t> (tu-…-a-); the forests become the subject (-u).</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تُقْطَعُ الغَابَاتُ كُلَّ سَنَةٍ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Smoke leads to illnesses.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يُؤَدِّي</a:t>
            </a:r>
            <a:pPr algn="l" indent="0" marL="0">
              <a:buNone/>
            </a:pPr>
            <a:r>
              <a:rPr lang="en-US" sz="1050" i="1" dirty="0">
                <a:solidFill>
                  <a:srgbClr val="5A6472"/>
                </a:solidFill>
                <a:latin typeface="Calibri" pitchFamily="34" charset="0"/>
                <a:cs typeface="Amiri" pitchFamily="2" charset="-78"/>
              </a:rPr>
              <a:t> (m. subject </a:t>
            </a:r>
            <a:pPr algn="l" indent="0" marL="0">
              <a:buNone/>
            </a:pPr>
            <a:r>
              <a:rPr lang="ar-SA" altLang="en-US" sz="1350" dirty="0">
                <a:solidFill>
                  <a:srgbClr val="5A6472"/>
                </a:solidFill>
                <a:latin typeface="Amiri" pitchFamily="2" charset="-78"/>
                <a:ea typeface="Amiri" pitchFamily="2" charset="-78"/>
                <a:cs typeface="Amiri" pitchFamily="2" charset="-78"/>
              </a:rPr>
              <a:t>الدُّخَانُ</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يُؤَدِّي الدُّخَانُ إِلَى أَمْرَاضٍ</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يُعَانِي حَيُّنَا مِنْ ______ مُنْذُ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Our area has suffered from … since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______ وَ ______ ، أَصْبَحَ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Because of … and …, … has become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يُؤَدِّي ذٰلِكَ إِلَى ______ ، مِمَّا يُسَبِّبُ ______ .</a:t>
            </a:r>
            <a:endParaRPr lang="ar-SA" sz="17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This leads to …, which causes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مُؤَخَّرًا ______ ، لِذٰلِكَ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Recently …, so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التَّلَوُّثُ فِي مِنْطَقَتِنَا</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Title: Pollution in our area</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أَكْبَرِ المَشَاكِلِ فِي مِنْطَقَتِنَا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One of the biggest problems in our area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السَّبَبُ هُوَ ______ ، لِأَنَّ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cause is …, because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هٰذِهِ المُشْكِلَةُ خَطِيرَةٌ عَلَى ______ ، لِأَنَّ ______ .</a:t>
            </a:r>
            <a:endParaRPr lang="ar-SA" sz="15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This problem is dangerous for …, because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Last week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تَلَوُّثُ الهَوَاءِ  ·  دُخَانُ السَّيَّارَاتِ  ·  زَحْمَةُ المُرُورِ  ·  نُفَايَاتٌ بْلَاسْتِيكِيَّةٌ  ·  بِسَبَبِ  ·  يُؤَدِّي إِلَى  ·  مِمَّا يُسَبِّبُ  ·  ضَارٌّ · خَطِيرٌ</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الهَوَاءُ مُلَوَّثٌ بِسَبَبِ المَصَانِعُ.</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word after </a:t>
            </a:r>
            <a:pPr algn="l" indent="0" marL="0">
              <a:buNone/>
            </a:pPr>
            <a:r>
              <a:rPr lang="ar-SA" altLang="en-US" sz="1700" dirty="0">
                <a:solidFill>
                  <a:srgbClr val="5A6472"/>
                </a:solidFill>
                <a:latin typeface="Amiri" pitchFamily="2" charset="-78"/>
                <a:ea typeface="Amiri" pitchFamily="2" charset="-78"/>
                <a:cs typeface="Amiri" pitchFamily="2" charset="-78"/>
              </a:rPr>
              <a:t>بِسَبَبِ</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لِأَنَّ السَّيَّارَاتُ تُلَوِّثُ الهَوَاءَ.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word after </a:t>
            </a:r>
            <a:pPr algn="l" indent="0" marL="0">
              <a:buNone/>
            </a:pPr>
            <a:r>
              <a:rPr lang="ar-SA" altLang="en-US" sz="1700" dirty="0">
                <a:solidFill>
                  <a:srgbClr val="5A6472"/>
                </a:solidFill>
                <a:latin typeface="Amiri" pitchFamily="2" charset="-78"/>
                <a:ea typeface="Amiri" pitchFamily="2" charset="-78"/>
                <a:cs typeface="Amiri" pitchFamily="2" charset="-78"/>
              </a:rPr>
              <a:t>لِأَنَّ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يُؤَدِّي التَّلَوُّثُ الأَمْرَاضَ.</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This verb needs a small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الهَوَاءُ مُلَوَّثٌ بِسَبَبِ المَصَانِعُ.</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الهَوَاءُ مُلَوَّثٌ بِسَبَبِ المَصَانِعِ.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بِسَبَبِ</a:t>
            </a:r>
            <a:pPr algn="l" indent="0" marL="0">
              <a:buNone/>
            </a:pPr>
            <a:r>
              <a:rPr lang="en-US" sz="1150" b="1" dirty="0">
                <a:solidFill>
                  <a:srgbClr val="1B3B6F"/>
                </a:solidFill>
                <a:latin typeface="Calibri" pitchFamily="34" charset="0"/>
                <a:cs typeface="Amiri" pitchFamily="2" charset="-78"/>
              </a:rPr>
              <a:t> + genitive: </a:t>
            </a:r>
            <a:pPr algn="l" indent="0" marL="0">
              <a:buNone/>
            </a:pPr>
            <a:r>
              <a:rPr lang="ar-SA" altLang="en-US" sz="1500" b="1" dirty="0">
                <a:solidFill>
                  <a:srgbClr val="1B3B6F"/>
                </a:solidFill>
                <a:latin typeface="Amiri" pitchFamily="2" charset="-78"/>
                <a:ea typeface="Amiri" pitchFamily="2" charset="-78"/>
                <a:cs typeface="Amiri" pitchFamily="2" charset="-78"/>
              </a:rPr>
              <a:t>المَصَانِعِ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لِأَنَّ السَّيَّارَاتُ تُلَوِّثُ الهَوَاءَ.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لِأَنَّ السَّيَّارَاتِ تُلَوِّثُ الهَوَاءَ.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noun after </a:t>
            </a:r>
            <a:pPr algn="l" indent="0" marL="0">
              <a:buNone/>
            </a:pPr>
            <a:r>
              <a:rPr lang="ar-SA" altLang="en-US" sz="1500" b="1" dirty="0">
                <a:solidFill>
                  <a:srgbClr val="1B3B6F"/>
                </a:solidFill>
                <a:latin typeface="Amiri" pitchFamily="2" charset="-78"/>
                <a:ea typeface="Amiri" pitchFamily="2" charset="-78"/>
                <a:cs typeface="Amiri" pitchFamily="2" charset="-78"/>
              </a:rPr>
              <a:t>لِأَنَّ / أَنَّ</a:t>
            </a:r>
            <a:pPr algn="l" indent="0" marL="0">
              <a:buNone/>
            </a:pPr>
            <a:r>
              <a:rPr lang="en-US" sz="1150" b="1" dirty="0">
                <a:solidFill>
                  <a:srgbClr val="1B3B6F"/>
                </a:solidFill>
                <a:latin typeface="Calibri" pitchFamily="34" charset="0"/>
                <a:cs typeface="Amiri" pitchFamily="2" charset="-78"/>
              </a:rPr>
              <a:t> is accusative: </a:t>
            </a:r>
            <a:pPr algn="l" indent="0" marL="0">
              <a:buNone/>
            </a:pPr>
            <a:r>
              <a:rPr lang="ar-SA" altLang="en-US" sz="1500" b="1" dirty="0">
                <a:solidFill>
                  <a:srgbClr val="1B3B6F"/>
                </a:solidFill>
                <a:latin typeface="Amiri" pitchFamily="2" charset="-78"/>
                <a:ea typeface="Amiri" pitchFamily="2" charset="-78"/>
                <a:cs typeface="Amiri" pitchFamily="2" charset="-78"/>
              </a:rPr>
              <a:t>السَّيَّارَاتِ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يُؤَدِّي التَّلَوُّثُ الأَمْرَاضَ.</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يُؤَدِّي التَّلَوُّثُ إِلَى الأَمْرَاضِ.</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يُؤَدِّي إِلَى</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فِي العُطْلَةِ رَأَيْتُ شَاطِئًا مَلِيئًا بِالنُّفَايَاتِ.</a:t>
            </a:r>
            <a:endParaRPr lang="ar-SA" sz="24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In the holiday I saw a beach full of rubbish.</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كَانَتْ هُنَاكَ زُجَاجَاتٌ وَأَكْيَاسٌ فِي كُلِّ مَكَانٍ.</a:t>
            </a:r>
            <a:endParaRPr lang="ar-SA" sz="260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There were bottles and bags everywhere.</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حَدَثَ ذٰلِكَ لِأَنَّ السُّيَّاحَ لَمْ يُنَظِّفُوا.</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happened because the tourists didn’t clean up.</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بِالحُزْنِ وَالغَضَبِ.</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sad and angry.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time I saw nature damaged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رَأَيْتُ الطَّبِيعَةَ تَتَضَرَّرُ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“Our environment in danger”. Today write ONLY the past paragraph: a time you saw pollution or damage to nature — where you were, what you saw, the cause,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وَصَلْنَا رَأَيْنَا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we arrived we saw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 كَانَتْ مُلَوَّثًا / مُلَوَّثَةً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polluted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قُطِعَتْ · رُمِيَتْ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were cut down · were thrown</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بِالحُزْنِ / بِالغَضَبِ</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sad / angry</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الهَوَاءُ فِي حَيِّنَا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مِنْ أَكْبَرِ المَشَاكِلِ فِي حَيِّنَا تَلَوُّثُ الهَوَاءِ، فَشَارِعُنَا الرَّئِيسِيُّ مُزْدَحِمٌ دَائِمًا. السَّبَبُ الأَوَّلُ زَحْمَةُ المُرُورِ، لِأَنَّ كَثِيرًا مِنَ النَّاسِ يَذْهَبُونَ إِلَى العَمَلِ بِالسَّيَّارَةِ، وَالسَّبَبُ الثَّانِي المَصْنَعُ الكَبِيرُ الَّذِي بُنِيَ قَبْلَ سَنَتَيْنِ. يُؤَدِّي دُخَانُ السَّيَّارَاتِ وَالمَصْنَعِ إِلَى هَوَاءٍ ضَارٍّ، مِمَّا يُسَبِّبُ أَمْرَاضًا مِثْلَ الرَّبْوِ عِنْدَ الأَطْفَالِ وَكِبَارِ السِّنِّ. بِالإِضَافَةِ إِلَى ذٰلِكَ، قُطِعَتْ أَشْجَارٌ كَثِيرَةٌ لِكَيْ يُبْنَى مَوْقِفٌ لِلسَّيَّارَاتِ. فِي الأُسْبُوعِ المَاضِي، أُغْلِقَتْ مَدْرَسَةٌ ابْتِدَائِيَّةٌ قَرِيبَةٌ يَوْمًا كَامِلًا بِسَبَبِ التَّلَوُّثِ، فَبَقِيَ الأَطْفَالُ فِي بُيُوتِهِمْ.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عُمَرُ، الصَّفُّ العَاشِرُ</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air in our area. One of the biggest problems in our area is air pollution: our main road is always crowded. The first cause is traffic, because many people drive to work, and the second is the big factory that was built two years ago. Fumes from the cars and the factory lead to harmful air, which causes illnesses like asthma in children and the elderly. In addition, many trees were cut down so that a car park could be built. Last week a nearby primary school was closed for a whole day because of the pollution, so the children stayed at home. Omar, Year 10.”</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أَكْبَرِ المَشَاكِلِ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الَّذِي بُنِيَ قَبْلَ سَنَتَيْنِ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يُؤَدِّي … إِلَى … مِمَّا يُسَبِّبُ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أُغْلِقَتْ … بِسَبَبِ التَّلَوُّثِ</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قَبْلَ سَنَةٍ زُرْتُ قَرْيَةَ جَدِّي فِي جِبَالِ لُبْنَانَ، وَرَأَيْتُ شَيْئًا لَنْ أَنْسَاهُ. عِنْدَمَا كُنْتُ صَغِيرًا، كَانَتْ هُنَاكَ غَابَةٌ كَبِيرَةٌ خَلْفَ بَيْتِهِ، وَكُنْتُ أَلْعَبُ فِيهَا مَعَ أَبْنَاءِ عَمِّي. لٰكِنْ فِي هٰذِهِ الزِّيَارَةِ، وَجَدْتُ أَنَّ أَشْجَارًا كَثِيرَةً قُطِعَتْ، لِأَنَّ شَرِكَةً بَنَتْ فُنْدُقًا جَدِيدًا هُنَاكَ. بِسَبَبِ ذٰلِكَ، هَرَبَتِ الطُّيُورُ، وَأَصْبَحَ الجَوُّ أَحَرَّ. شَعَرْتُ بِحُزْنٍ كَبِيرٍ، لِأَنَّ جُزْءًا مِنْ طُفُولَتِي اخْتَفَى.</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a year ago I visited my grandfather’s village in the mountains of Lebanon and saw something I won’t forget · D: when I was little there was a big forest behind his house where I played with my cousins; this visit I found many trees had been cut down, because a company built a new hotel there; because of that the birds fled and it became hotter · F/R: I felt very sad, because part of my childhood had disappeared.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هُنَاكَ غَابَةٌ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أَشْجَارًا كَثِيرَةً قُطِعَتْ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بِسَبَبِ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شَعَرْتُ بِحُزْنٍ كَبِيرٍ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TC-L05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TC-L04 · Writing Practice Room — Environmental Problems and Causes</dc:title>
  <dc:subject>PptxGenJS Presentation</dc:subject>
  <dc:creator>Al Madina Online School · Arabic Department</dc:creator>
  <cp:lastModifiedBy>Al Madina Online School · Arabic Department</cp:lastModifiedBy>
  <cp:revision>1</cp:revision>
  <dcterms:created xsi:type="dcterms:W3CDTF">2026-10-25T14:54:26Z</dcterms:created>
  <dcterms:modified xsi:type="dcterms:W3CDTF">2026-10-25T14:54:26Z</dcterms:modified>
</cp:coreProperties>
</file>