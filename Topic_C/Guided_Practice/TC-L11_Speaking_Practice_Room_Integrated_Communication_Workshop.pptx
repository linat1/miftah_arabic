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11 (Integrated communication workshop — the world around us, TC-L11) — new role plays and questions (not the ones in the Exam Practice workshop), using the lesson’s language (cohesion for extended answers (awwalan · thāniyan · bi-l-iḍāfati ilā dhālika · maʿa dhālika · min nāḥiyatin … wa-min nāḥiyatin ukhrā); kuntu + present (used to); law kuntu … la-; ṣaḥīḥun anna … ghayra anna; mixing tenses).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تَسْكُنِينَ · مَدِينَتِكِ · تُرِيدِينَ · تَسْكُنِي.
Topic C mix: allatī taqaʿu fī (L01) · yūjadu / tūjadu (L08) · weather (L03) · bi-sababi (L04) · urīdu an + verb in -a.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بَلَدِكِ · رَأْيِكِ · فَعَلْتِ · كُنْتِ رَئِيسَةَ الوُزَرَاءِ · تَفْعَلِينَ.
Integrated Stretch: kunnā narā (used to) + ammā al-āna fa- · awwalan … thāniyan … mimmā yuʾaddī ilā · min nāḥiyatin … wa-min nāḥiyatin ukhrā · law kuntu … la- + ṣaḥīḥun anna … ghayra 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TC-L11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TC-L11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Integrated Communication Workshop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وَرْشَةُ التَّوَاصُلِ المُتَكَامِلِ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rooms, linking all of Topic C in extended answers: a word warm-up on linking words, the answer ladder, two new role plays (a city-vs-countryside interview, a youth climate panel), a mixed-topic conversation with A-R-E-T, and a one-minute talk with balanced arguments.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Linking and balancing words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الرَّبْطِ وَالمُوَازَنَةِ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ثَانِيًا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firstly · secondly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thā-ni-yan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· بَعْدَ ذٰلِكَ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finally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أَخِيرًا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adding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addition to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bil-ʾi-ḍā-fa-ti i-lā dhā-li-ka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moreover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فَضْلًا عَنْ ذٰلِكَ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also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كَمَا أَنَّ …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nevertheless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ma-ʿa dhā-li-ka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although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أَنَّ …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however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غَيْرَ أَنَّ …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result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therefore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li-dhā-li-ka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which leads to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 يُؤَدِّي إِلَى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 (result)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فَذَهَبْنَا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balance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 one hand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min nā-ḥi-ya-tin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the other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وَمِنْ نَاحِيَةٍ أُخْرَى …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opinion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my opinion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raʾ-yī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see that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think that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</a:t>
            </a:r>
            <a:endParaRPr lang="ar-SA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 themes and top-band structures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مَوَاضِيعُ المِحْوَرِ الثَّالِثِ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rains (f.) · comp.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الطَّقْسُ · المُنَاخُ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weather · climate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aṭ-ṭaq-su · al-mu-nā-khu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أَبْرَدُ · أَحَرُّ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rains (f.)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تَسْقُطُ الأَمْطَارُ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pollution · recycling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البِيئَةُ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environment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al-bī-ʾa-tu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recycling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إِعَادَةُ التَّدْوِيرِ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pollution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التَّلَوُّثُ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keep in touch with · apps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التِّكْنُولُوجْيَا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technology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at-tik-nū-lūj-yā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apps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تَطْبِيقَاتٌ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keep in touch with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207751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2077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(m. · f.) · services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المَدِينَةُ · الرِّيفُ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city · the countryside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al-ma-dī-na-tu · ar-rī-fu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services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خِدْمَاتٌ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habit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3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3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+ present</a:t>
            </a:r>
            <a:endParaRPr lang="en-US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kun-tu + present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 used to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تَلْعَبُ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e.g.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hypothetical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لَاخْتَرْتُ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were … I would choose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kun-tu … lākh-tar-tu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would choose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لَاخْتَرْتُ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I were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“Do you prefer life in the city or the countryside?”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الحَيَاةَ فِي المَدِينَةِ أَمْ فِي الرِّيفِ؟</a:t>
            </a:r>
            <a:endParaRPr lang="ar-SA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الحَيَاةَ فِي المَدِينَةِ.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prefer city life.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الحَيَاةَ فِي المَدِينَةِ، لِأَنَّ فِيهَا خِدْمَاتٍ وَمُوَاصَلَاتٍ أَكْثَرَ.</a:t>
            </a:r>
            <a:endParaRPr lang="ar-SA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there are more services and transport.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مِنْ نَاحِيَةٍ، المَدِينَةُ مُزْدَحِمَةٌ وَمُلَوَّثَةٌ، وَمِنْ نَاحِيَةٍ أُخْرَى، فِيهَا جَامِعَاتٌ وَمَتَاحِفُ وَمَلَاعِبُ.</a:t>
            </a:r>
            <a:endParaRPr lang="ar-SA" sz="18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on one hand it’s crowded and polluted, on the other it has universities, museums and pitches.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كُنْتُ أَزُورُ قَرْيَةَ جَدِّي كُلَّ صَيْفٍ وَأُحِبُّ هُدُوءَهَا؛ وَمَعَ ذٰلِكَ، لَوْ كُنْتُ أَسْكُنُ هُنَاكَ، لَشَعَرْتُ بِالمَلَلِ بَعْدَ أُسْبُوعٍ!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used to visit grandad’s village every summer and loved its calm; even so, if I lived there, I’d be bored after a week!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مَعَ ذٰلِكَ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بِالإِضَافَةِ إِلَى ذٰلِكَ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يُؤَثِّرُ الطَّقْسُ فِي حَيَاتِكَ؟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رَأْيِي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التِّكْنُولُوجْيَا تُسَاعِدُ البِيئَةَ؟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أَمَّا الآنَ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كُنْتُ أَذْهَبُ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مَدِينَتُكَ عِنْدَمَا كُنْتَ صَغِيرًا؟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لَوْ كُنْتُ غَنِيًّا لَاخْتَرْتُ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 وَ…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أَعِيشَ فِي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 أَنْ تَعِيشَ فِي المُسْتَقْبَلِ؟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City or countryside? A podcast interview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المَدِينَةُ أَمِ الرِّيفُ؟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أَسْكُنُ فِي … الَّتِي تَقَعُ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live and locate it.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يُوجَدُ … وَتُوجَدُ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places.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مَدِينَتِكَ؟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الطَّقْسُ ← الجَوُّ … وَتَسْقُطُ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weather.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هُنَاكَ؟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← … بِسَبَبِ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problem with a cause.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فِيهَا؟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لَا،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تَسْكُنَ فِي الرِّيفِ يَوْمًا مَا؟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guest student · Leader = the podcast host.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The youth climate panel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لَجْنَةُ الشَّبَابِ لِلْمُنَاخِ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 (kāna / kuntu + present).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 المُنَاخُ فِي بَلَدِكَ؟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causes with linking words.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الأَسْبَابُ فِي رَأْيِكَ؟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answer.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التِّكْنُولُوجْيَا أَمْ تَزِيدُ المُشْكِلَةَ؟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past action and ASK the panel a question.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أَنْتَ؟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 + concession).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رَئِيسَ الوُزَرَاءِ لِيَوْمٍ وَاحِدٍ،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panellist · Leader = the TV presenter.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مُحَادَثَةٌ مُتَكَامِلَةٌ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season?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فَصْلُكَ المُفَضَّلُ؟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النَّاقِصُ؟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near your home?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قُرْبَ بَيْتِكَ؟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الطَّقْسُ؟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trip to a natural place.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إِلَى مَكَانٍ طَبِيعِيٍّ.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use your phone to organise your life?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تَسْتَعْمِلُ هَاتِفَكَ لِتُنَظِّمَ حَيَاتَكَ؟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الحَلُّ؟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online shopping harm the environment?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التَّسَوُّقُ عَلَى الإِنْتَرْنِتِ يَضُرُّ البِيئَةَ؟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مُتَفَائِلٌ؟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the world around us be like in thirty years?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العَالَمُ حَوْلَنَا بَعْدَ ثَلَاثِينَ سَنَةً؟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the world around me — then and now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5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العَالَمُ حَوْلِي بَيْنَ المَاضِي وَالحَاضِرِ</a:t>
            </a:r>
            <a:endParaRPr lang="ar-SA" sz="27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linking Topic C: where you live, the weather and nature, an environmental problem, technology and shopping — how things were (</a:t>
            </a:r>
            <a:pPr algn="l" indent="0" marL="0">
              <a:buNone/>
            </a:pPr>
            <a:r>
              <a:rPr lang="ar-SA" altLang="en-US" sz="17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/ كَانَ</a:t>
            </a:r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 and how they are now — with a balanced opinion.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four facts linked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ثَانِيًا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+ present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and a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sentence.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ثَانِيًا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second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even so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 … on the other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conclude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linked ideas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ثَانِيًا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balanced an answer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بِرِسْتُولَ الَّتِي تَقَعُ فِي جَنُوبِ غَرْبِ إِنْجِلْتِرَا.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live in Bristol, which is in the south-west of England.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مِينَاءٌ قَدِيمٌ، وَتُوجَدُ حَدَائِقُ كَثِيرَةٌ.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an old harbour, and there are many parks.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مَدِينَتِكَ؟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مُعْتَدِلٌ، وَتَسْقُطُ الأَمْطَارُ كَثِيرًا.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weather is mild, and it rains a lot.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هُنَاكَ؟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زَحْمَةُ المُرُورِ، بِسَبَبِ السَّيَّارَاتِ الكَثِيرَةِ.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Traffic, because of the many cars.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فِيهَا؟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لِأَنَّ الرِّيفَ هَادِئٌ جِدًّا، وَأُحِبُّ الحَرَكَةَ.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because the countryside is too quiet, and I like activity.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تَسْكُنَ فِي الرِّيفِ يَوْمًا مَا؟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كُنَّا نَرَى الثَّلْجَ كُلَّ شِتَاءٍ عِنْدَمَا كُنْتُ صَغِيرًا، أَمَّا الآنَ فَالشِّتَاءُ أَدْفَأُ، وَالفَيَضَانَاتُ أَكْثَرُ.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used to see snow every winter when I was little, but now winters are warmer and floods are more common.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 المُنَاخُ فِي بَلَدِكَ؟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دُخَانُ المَصَانِعِ وَالسَّيَّارَاتِ، وَثَانِيًا، قَطْعُ الغَابَاتِ، مِمَّا يُؤَدِّي إِلَى الاحْتِبَاسِ الحَرَارِيِّ.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First, factory and car fumes; second, cutting down forests — which leads to global warming.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الأَسْبَابُ فِي رَأْيِكَ؟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تُسَاعِدُنَا الطَّاقَةُ الشَّمْسِيَّةُ، وَمِنْ نَاحِيَةٍ أُخْرَى، نَشْتَرِي هَوَاتِفَ جَدِيدَةً كُلَّ سَنَةٍ، وَهٰذَا يَزِيدُ النُّفَايَاتِ.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 solar energy helps; on the other, we buy new phones every year, which adds to waste.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التِّكْنُولُوجْيَا أَمْ تَزِيدُ المُشْكِلَةَ؟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السَّنَةِ المَاضِيَةِ نَظَّمْتُ حَمْلَةً لِلدَّرَّاجَاتِ فِي مَدْرَسَتِي. وَأَنْتُمْ، كَيْفَ تَسْتَطِيعُ البَلَدِيَّةُ أَنْ تُسَاعِدَنَا؟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year I organised a cycling campaign at school. And you — how can the council help us?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أَنْتَ؟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رَئِيسَ الوُزَرَاءِ، لَجَعَلْتُ المُوَاصَلَاتِ العَامَّةَ مَجَّانِيَّةً؛ صَحِيحٌ أَنَّ ذٰلِكَ غَالٍ، غَيْرَ أَنَّهُ سَيُقَلِّلُ مِنَ التَّلَوُّثِ كَثِيرًا.</a:t>
            </a:r>
            <a:endParaRPr lang="ar-SA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PM, I would make public transport free — it’s expensive, but it would greatly reduce pollution.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رَئِيسَ الوُزَرَاءِ لِيَوْمٍ وَاحِدٍ،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الرَّبِيعِ ذَهَبْنَا إِلَى جِبَالِ وِيلْزَ، لِأَنَّ أَبِي يُحِبُّ المَشْيَ؛ أَوَّلًا كَانَ الجَوُّ مُشْمِسًا، وَمَعَ ذٰلِكَ هَبَّتْ رِيَاحٌ قَوِيَّةٌ عَلَى القِمَّةِ، وَسَنَرْجِعُ فِي الصَّيْفِ لِنُخَيِّمَ هُنَاكَ.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the Welsh mountains in spring · R: dad loves walking · E: sunny at first, yet strong winds on the summit · T: we’ll go back to camp in summer.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إِلَى مَكَانٍ طَبِيعِيٍّ.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أَسْتَعْمِلُهُ لِكَيْ أَحْجِزَ التَّذَاكِرَ وَأَعْرِفَ النَّشْرَةَ الجَوِّيَّةَ، لِأَنَّهُ أَسْرَعُ؛ بِالإِضَافَةِ إِلَى ذٰلِكَ، عِنْدِي تَطْبِيقٌ لِلْوَاجِبَاتِ، فَلَمْ أَنْسَ أَيَّ وَاجِبٍ هٰذَا الفَصْلَ.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booking tickets and checking the forecast · R: it’s faster · E: in addition a homework app — I haven’t forgotten any homework this term.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تَسْتَعْمِلُ هَاتِفَكَ لِتُنَظِّمَ حَيَاتَكَ؟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يُوَفِّرُ الوَقْتَ وَالبَنْزِينَ، وَمِنْ نَاحِيَةٍ أُخْرَى، تُرْسَلُ الطَّلَبَاتُ فِي عُلَبٍ كَبِيرَةٍ وَبْلَاسْتِيكٍ كَثِيرٍ؛ مَثَلًا، طَلَبْتُ قَلَمًا فَوَصَلَ فِي عُلْبَةٍ بِحَجْمِ الحِذَاءِ! لِذٰلِكَ يَجِبُ أَنْ تُغَيِّرَ الشَّرِكَاتُ ذٰلِكَ.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Balance: it saves time and fuel, but orders are sent in big boxes with lots of plastic · E: I ordered a pen and it came in a shoe-sized box! · so companies must change.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التَّسَوُّقُ عَلَى الإِنْتَرْنِتِ يَضُرُّ البِيئَةَ؟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TC-L11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TC-L11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TC-L11 · Speaking Practice Room — Integrated Communication Workshop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2026-10-25T15:06:33Z</dcterms:created>
  <dcterms:modified xsi:type="dcterms:W3CDTF">2026-10-25T15:06:33Z</dcterms:modified>
</cp:coreProperties>
</file>