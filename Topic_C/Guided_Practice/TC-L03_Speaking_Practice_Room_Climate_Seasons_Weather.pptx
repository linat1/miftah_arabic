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C · The World Around Us, Lesson 3 (Climate, seasons and weather, TC-L03) — new role plays and questions (not the ones in the Exam Practice workshop), using the lesson’s language (weather adjectives (m. / f.); tasquṭu al-amṭār · tahubbu riyāḥ; temperatures (daraja + numbers); comparatives (aḥarru, abradu); kāna + past weather; idhā … fa-).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تَنْصَحِينَ — and the Speaker stays the same (weather words don’t change).
Language: weather adjectives (ghāʾimun, bāridun) · numbers 3–10 + plural (khamsu darajātin) · future sa- + tasquṭu / tahubbu · anṣaḥukum bi-an · sa-yakūnu + accusative (mushmisan).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زُرْتِ · تَكُونِينَ سَعِيدَةً — and the Speaker says أَتْعَبُ · اشْتَقْتُ (no change).
Stretch language: yakūnu + accusative (muʿtadilan) · comparatives + bi-kathīrin · kānat al-ḥarāratu + lam nastaṭiʿ · passive tughlaqu · ṣaḥīḥun anna … ghayra anna + law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C · GUIDED PRACTICE  ·  TC-L03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TC-L03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Climate, Seasons and Weather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المُنَاخُ وَالفُصُولُ وَالطَّقْسُ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 on weather and seasons, the answer ladder, two new role plays (a radio weather report, planning a trip around the weather), a topic conversation with A-R-E-T, and a one-minute talk about their favourite season.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Advanced Topic C · The World Around Us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C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C › TC-L03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Weather words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كَلِمَاتُ الطَّقْسِ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76662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76662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is it? · the climate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الطَّقْسُ · الجَوُّ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weather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aṭ-ṭaq-su · al-jaw-wu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climate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المُنَاخُ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is it?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الجَوُّ؟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455725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4557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the sun shines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مُشْمِسٌ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sunny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mush-mi-sun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sun shines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تُشْرِقُ الشَّمْسُ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مُشْمِسَةٌ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it rains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مُمْطِرٌ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rainy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mum-ṭi-run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 rains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تَسْقُطُ الأَمْطَارُ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مُمْطِرَةٌ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clouds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غَائِمٌ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cloudy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ghā-ʾi-mun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clouds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غُيُومٌ · سُحُبٌ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غَائِمَةٌ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comp.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حَارٌّ · بَارِدٌ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hot · cold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ḥār-run · bā-ri-dun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comp.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أَحَرُّ · أَبْرَدُ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حَارَّةٌ · بَارِدَةٌ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1455725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14557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pl. (non-hum.)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مُعْتَدِلٌ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mild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muʿ-ta-di-lun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(non-hum.)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مُعْتَدِلَةٌ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مُعْتَدِلَةٌ</a:t>
            </a:r>
            <a:endParaRPr lang="ar-SA" sz="150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Seasons, temperatures and forecasts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الفُصُولُ وَالحَرَارَةُ وَالنَّشْرَةُ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it snows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ثَلْجٌ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snow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thal-jun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 snows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تَسْقُطُ الثُّلُوجُ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ثُلُوجٌ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70444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704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strong winds blow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رِيحٌ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wind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rī-ḥun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strong winds blow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تَهُبُّ رِيَاحٌ قَوِيَّةٌ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رِيَاحٌ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30 degrees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دَرَجَةُ الحَرَارَةِ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temperature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da-ra-ja-tu al-ḥa-rā-ra-ti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30 degrees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ثَلَاثُونَ دَرَجَةً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دَرَجَاتُ الحَرَارَةِ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164226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16422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the four seasons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فَصْلٌ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season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faṣ-lun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four seasons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الفُصُولُ الأَرْبَعَةُ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فُصُولٌ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spring · autumn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الصَّيْفُ · الشِّتَاءُ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summer · winter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aṣ-ṣay-fu · ash-shi-tā-ʾu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4416552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471416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spring · autumn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4462272" y="591616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الرَّبِيعُ · الخَرِيفُ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960120" y="4279392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960120" y="4279392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expected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النَّشْرَةُ الجَوِّيَّةُ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weather forecast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an-nash-ra-tu al-jaw-wiy-ya-tu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expected</a:t>
            </a:r>
            <a:endParaRPr lang="en-US" sz="700" dirty="0"/>
          </a:p>
        </p:txBody>
      </p:sp>
      <p:sp>
        <p:nvSpPr>
          <p:cNvPr id="98" name="Text 95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المُتَوَقَّعِ أَنْ …</a:t>
            </a:r>
            <a:endParaRPr lang="ar-SA" sz="1350" dirty="0"/>
          </a:p>
        </p:txBody>
      </p:sp>
      <p:sp>
        <p:nvSpPr>
          <p:cNvPr id="99" name="Shape 96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النَّشَرَاتُ الجَوِّيَّةُ</a:t>
            </a:r>
            <a:endParaRPr lang="ar-SA" sz="1500" dirty="0"/>
          </a:p>
        </p:txBody>
      </p:sp>
      <p:sp>
        <p:nvSpPr>
          <p:cNvPr id="102" name="Text 9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“What is your favourite season?”</a:t>
            </a:r>
            <a:endParaRPr lang="en-US" sz="18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فَصْلُكَ المُفَضَّلُ؟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فَصْلِي المُفَضَّلُ هُوَ الرَّبِيعُ.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 favourite season is spring.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فَصْلِي المُفَضَّلُ هُوَ الرَّبِيعُ، لِأَنَّ الجَوَّ مُعْتَدِلٌ وَمُشْمِسٌ.</a:t>
            </a:r>
            <a:endParaRPr lang="ar-SA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because the weather is mild and sunny.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تَكُونُ دَرَجَةُ الحَرَارَةِ حَوَالَيْ ثَمَانِي عَشْرَةَ دَرَجَةً، فَأَلْعَبُ فِي الحَدِيقَةِ بَعْدَ المَدْرَسَةِ.</a:t>
            </a:r>
            <a:endParaRPr lang="ar-SA" sz="185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the temperature is about 18 degrees, so I play in the park after school.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0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أَمَّا الشِّتَاءُ فَبَارِدٌ وَمُظْلِمٌ؛ وَلَوْ كَانَ الرَّبِيعُ طُولَ السَّنَةِ، لَكُنْتُ أَسْعَدَ!</a:t>
            </a:r>
            <a:endParaRPr lang="ar-SA" sz="205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winter, though, is cold and dark — if it were spring all year, I would be happier!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وَغَدًا سَيَكُونُ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وَدَرَجَةُ الحَرَارَةِ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الجَوُّ اليَوْمَ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الطَّقْسُ اليَوْمَ؟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وَأَمْسِ نَسِيتُ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أَلْبَسُ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تَلْبَسُ عِنْدَمَا تَسْقُطُ الأَمْطَارُ؟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 الشِّتَاءِ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أَحَرُّ مِنْ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المُنَاخُ هُنَاكَ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المُنَاخُ فِي بَلَدِ عَائِلَتِكَ؟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مَثَلًا يَوْمَ السَّبْتِ المَاضِي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أَبْقَى فِي البَيْتِ وَ…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عِنْدَمَا يَكُونُ الجَوُّ سَيِّئًا؟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The school weather report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75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النَّشْرَةُ الجَوِّيَّةُ فِي إِذَاعَةِ المَدْرَسَةِ</a:t>
            </a:r>
            <a:endParaRPr lang="ar-SA" sz="27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← الجَوُّ اليَوْمَ 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today’s weather.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صَبَاحَ الخَيْرِ! كَيْفَ الجَوُّ اليَوْمَ؟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← دَرَجَةُ الحَرَارَةِ … دَرَجَاتٍ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the temperature.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دَرَجَةُ الحَرَارَةِ؟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نَعَمْ، سَتَسْقُطُ … بَعْدَ الظُّهْرِ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Forecast the afternoon.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سَتَسْقُطُ الأَمْطَارُ؟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تَنْصَحُ ← أَنْصَحُكُمْ بِأَنْ تَلْبَسُوا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advice.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تَنْصَحُ الطُّلَّابَ؟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نِهَايَةُ الأُسْبُوعِ ← سَيَكُونُ الجَوُّ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وَكَيْفَ سَيَكُونُ الجَوُّ فِي نِهَايَةِ الأُسْبُوعِ؟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the weather presenter · Leader = the radio host. Use the plan column in your 1 minute of preparation, then hide it and speak.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Choosing when to visit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نُسَافِرُ؟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 a season and give a reason.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تُرِيدُونَ أَنْ تَزُورُونَا؟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weather in Britain now and compare.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الطَّقْسُ عِنْدَكُمُ الآنَ؟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Tell a past experience of the weather.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زُرْتَ الأُرْدُنَّ فِي الصَّيْفِ مِنْ قَبْلُ؟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React with surprise and ASK a question.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الشِّتَاءِ يَسْقُطُ الثَّلْجُ أَحْيَانًا فِي عَمَّانَ.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 + concession).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الجَوُّ فِي بِرِيطَانِيَا حَارًّا دَائِمًا، هَلْ تَكُونُ سَعِيدًا؟</a:t>
            </a:r>
            <a:endParaRPr lang="ar-SA" sz="145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teenager helping to plan · Leader = your cousin in Jordan (on a video call).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الطَّقْسُ وَالمُنَاخُ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season don’t you like?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الفَصْلُ الَّذِي لَا تُحِبُّهُ؟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فَعَلْتَ؟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was the weather like yesterday?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الطَّقْسُ أَمْسِ؟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وَالصَّيْفُ المَاضِي؟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do in summer when it is hot?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فِي الصَّيْفِ عِنْدَمَا يَكُونُ الجَوُّ حَارًّا؟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تُفَضِّلُ؟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the weather in Britain with an Arab country.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قَارِنِ الطَّقْسَ فِي بِرِيطَانِيَا بِالطَّقْسِ فِي بَلَدٍ عَرَبِيٍّ.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Does the weather affect people’s mood?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يُؤَثِّرُ الطَّقْسُ فِي مِزَاجِ النَّاسِ؟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السَّبَبُ؟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Has the climate changed in recent years?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تَغَيَّرَ المُنَاخُ فِي السَّنَوَاتِ الأَخِيرَةِ؟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my favourite season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فَصْلِي المُفَضَّلُ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about your favourite season: what the weather is like, the temperature, what you wear and do — a memory from last year — and a comparison with another season or country.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the season, two weather words, what you wear.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the temperature, an activity and a past memory.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add a comparison, an opinion on climate change and a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sentence.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سَأَتَكَلَّمُ عَنْ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going to talk about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… then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addition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finish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weather adjectives with the right gender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مُشْمِسٌ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مُشْمِسَةٌ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past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الجَوُّ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…) and future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سَيَكُونُ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…) weather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صَبَاحَ النُّورِ! الجَوُّ اليَوْمَ غَائِمٌ وَبَارِدٌ.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Good morning! Today it is cloudy and cold.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صَبَاحَ الخَيْرِ! كَيْفَ الجَوُّ اليَوْمَ؟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دَرَجَةُ الحَرَارَةِ خَمْسُ دَرَجَاتٍ فَقَطْ.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temperature is only five degrees.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دَرَجَةُ الحَرَارَةِ؟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سَتَسْقُطُ الأَمْطَارُ بَعْدَ الظُّهْرِ، وَسَتَهُبُّ رِيَاحٌ قَوِيَّةٌ.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it will rain in the afternoon, and strong winds will blow.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سَتَسْقُطُ الأَمْطَارُ؟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أَنْصَحُكُمْ بِأَنْ تَلْبَسُوا مِعْطَفًا وَتَأْخُذُوا مِظَلَّةً.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advise you to wear a coat and take an umbrella.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تَنْصَحُ الطُّلَّابَ؟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سَيَكُونُ الجَوُّ مُشْمِسًا وَأَدْفَأَ قَلِيلًا.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will be sunny and a little warmer.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وَكَيْفَ سَيَكُونُ الجَوُّ فِي نِهَايَةِ الأُسْبُوعِ؟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نُرِيدُ أَنْ نَزُورَكُمْ فِي الرَّبِيعِ، لِأَنَّ الجَوَّ يَكُونُ مُعْتَدِلًا، وَلَيْسَ حَارًّا مِثْلَ الصَّيْفِ.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want to visit in spring, because the weather is mild and not hot like summer.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تُرِيدُونَ أَنْ تَزُورُونَا؟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الجَوُّ مُمْطِرٌ كَالعَادَةِ! دَرَجَةُ الحَرَارَةِ عَشْرُ دَرَجَاتٍ، أَيْ أَبْرَدُ مِنْ عِنْدِكُمْ بِكَثِيرٍ.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rainy as usual! It is ten degrees — much colder than with you.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الطَّقْسُ عِنْدَكُمُ الآنَ؟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قَبْلَ سَنَتَيْنِ، وَكَانَتِ الحَرَارَةُ أَرْبَعِينَ دَرَجَةً، فَلَمْ نَسْتَطِعْ أَنْ نَخْرُجَ فِي الظُّهْرِ.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two years ago — it was forty degrees, so we couldn’t go out at midday.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زُرْتَ الأُرْدُنَّ فِي الصَّيْفِ مِنْ قَبْلُ؟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حَقًّا؟ لَمْ أَعْرِفْ ذٰلِكَ! هَلْ تُغْلَقُ المَدَارِسُ عِنْدَمَا يَسْقُطُ الثَّلْجُ؟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Really? I didn’t know that! Do schools close when it snows?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الشِّتَاءِ يَسْقُطُ الثَّلْجُ أَحْيَانًا فِي عَمَّانَ.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أَنِّي أَتْعَبُ مِنَ المَطَرِ، غَيْرَ أَنِّي لَوْ عِشْتُ فِي الحَرِّ دَائِمًا، لَاشْتَقْتُ إِلَى الخَرِيفِ وَأَلْوَانِهِ.</a:t>
            </a:r>
            <a:endParaRPr lang="ar-SA" sz="16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It’s true I get tired of the rain, but if I lived in the heat all the time, I would miss autumn and its colours.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الجَوُّ فِي بِرِيطَانِيَا حَارًّا دَائِمًا، هَلْ تَكُونُ سَعِيدًا؟</a:t>
            </a:r>
            <a:endParaRPr lang="ar-SA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يَكُونُ الجَوُّ حَارًّا، أَذْهَبُ إِلَى المَسْبَحِ مَعَ أَصْدِقَائِي، لِأَنَّ بَيْتَنَا لَيْسَ فِيهِ مُكَيِّفٌ؛ فِي الصَّيْفِ المَاضِي وَصَلَتِ الحَرَارَةُ إِلَى خَمْسٍ وَثَلَاثِينَ دَرَجَةً، فَسَبَحْنَا كُلَّ يَوْمٍ.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I go to the pool with friends · R: our house has no air-conditioning · E: last summer it reached 35 degrees, so we swam every day.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تَفْعَلُ فِي الصَّيْفِ عِنْدَمَا يَكُونُ الجَوُّ حَارًّا؟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بِرِيطَانِيَا تَسْقُطُ الأَمْطَارُ كَثِيرًا، وَالشِّتَاءُ بَارِدٌ وَطَوِيلٌ؛ أَمَّا فِي السُّعُودِيَّةِ فَالجَوُّ أَحَرُّ وَأَجَفُّ، لِذٰلِكَ يَخْرُجُ النَّاسُ فِي المَسَاءِ، وَأَنَا أُفَضِّلُ الشِّتَاءَ هُنَاكَ.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in Britain lots of rain, long cold winter · contrast: in Saudi it is hotter and drier · R/E: so people go out in the evening · I prefer winter there.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قَارِنِ الطَّقْسَ فِي بِرِيطَانِيَا بِالطَّقْسِ فِي بَلَدٍ عَرَبِيٍّ.</a:t>
            </a:r>
            <a:endParaRPr lang="ar-SA" sz="145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نَعَمْ، لِأَنَّ الشَّمْسَ تَجْعَلُنَا أَكْثَرَ نَشَاطًا؛ مَثَلًا، فِي الشِّتَاءِ يَكُونُ الجَوُّ مُظْلِمًا فِي الرَّابِعَةِ، فَأَشْعُرُ بِالتَّعَبِ، أَمَّا فِي الصَّيْفِ فَأَخْرُجُ وَأَضْحَكُ أَكْثَرَ.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Opinion: yes · R: the sun makes us more active · E: in winter it’s dark at four and I feel tired, but in summer I go out and laugh more.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يُؤَثِّرُ الطَّقْسُ فِي مِزَاجِ النَّاسِ؟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TC-L03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TC-L03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TC-L03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TC-L03 · Speaking Practice Room — Climate, Seasons and Weather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2026-10-25T14:54:08Z</dcterms:created>
  <dcterms:modified xsi:type="dcterms:W3CDTF">2026-10-25T14:54:08Z</dcterms:modified>
</cp:coreProperties>
</file>