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4 (TC-L04). The website lesson reuses D4-L03 (Environmental Problems — Causes and Effects) with the Topic C focus “Explain pollution, climate change and habitat loss through cause and effect” (grammar: passive voice; cause/effect connectors). The picture match is the website lesson game “Cause &amp; Effect”; the “cause–effect chain” task is the website’s advanced application challenge.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D4-L03 is B1 language. CORE: the problem words (most are iḍāfa phrases like TC-L02: تَلَوُّثُ الهَوَاءِ = pollution of the air) + two connectors: بِسَبَبِ (because of) and يُؤَدِّي إِلَى (leads to). The three website game sentences are the Core models. DEVELOP: active vs passive (تُلَوِّثُ المَصَانِعُ الهَوَاءَ / يُلَوَّثُ الهَوَاءُ). STRETCH: مِمَّا يُسَبِّبُ, نَتِيجَةً لِـ and the passive/process-verb distinction.
• Each problem card breaks the phrase into its two words with English; read-along listening with English; picture match with icons.
• Urdu bridge words (سبب، نتیجہ، مشکل، خطرہ، مرض).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(Flipped Learning follow-up). Questions 3–5 retrieve TC-L03 and TC-L02.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Today we link a CAUSE to an EFFECT: بِسَبَبِ + cause, or cause + يُؤَدِّي إِلَى +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general website objectives into this lesson’s concrete targets (website grammar rules 1–4 and the Topic C focus).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سبب (cause), نتیجہ (result), مشکل (difficulty), خطرہ (danger — the listening says أَخْطَرِ المُشْكِلَاتِ “the most dangerous problems”), مرض (illness — أَمْرَاضُ التَّنَفُّسِ).
All four groups are the website D4-L03 vocabulary; Group 2 also adds الدُّخَانُ and المَصَانِعُ from the website lesson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Environmental problems (website D4-L03). Hear → Say → See → Use.
The small boxes break each phrase into its two words (English label above). Most are iḍāfa — “the pollution OF the air” — exactly the structure from TC-L02. Two are noun + nisba adjective (pink ending): البِلَاسْتِيكِيَّةُ، الحَرَارِيُّ.
Link to TC-L02: التَّصَحُّرُ comes from صَحْرَاء (desert), and إِزَالَةُ الغَابَاتِ uses غَابَة (forest).
Quick check: “Type the NUMBER of the problem you think is worst in your city” (personal response, English reason allowed).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more problems (website D4-L03 + website lesson game for الدُّخَانُ / المَصَانِعُ). Core: الدُّخَانُ and المَصَانِعُ; Develop / Stretch: all six.
Link to TC-L03: ارْتِفَاع (a rise) is the noun from تَرْتَفِعُ (it rises).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Cause and effect (website D4-L03). Teal = key connector.
Core: learn cards 1–2 today. Develop: 1–5. Stretch: all six.
Gesture: point backwards over your shoulder for بِسَبَبِ (the cause came before), point forwards for يُؤَدِّي إِلَى (the effect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Active and passive processes (website D4-L03). Develop / Stretch; Core students learn row 1 only.
Listen to the vowels: ACTIVE يُلَوِّثُ (yu-law-WI-thu) → PASSIVE يُلَوَّثُ (yu-law-WA-thu). The passive sounds “u … a”.
Website common error: “Do not label every English ‘is/are + verb’ translation as an Arabic passive. Distinguish true passive forms such as يُلَوَّثُ from intransitive process verbs such as يَنْبَعِثُ.”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“Result with يُؤَدِّي إِلَى”: cause + يُؤَدِّي إِلَى + verbal noun / noun. Keep the preposition إِلَى after يُؤَدِّي.
Sentences: website lesson game (row 1), website pattern (row 2), mission (row 3), website common mistake corrected (row 4).
Read each row in three beats; students tap the three beats. Arabic often puts the verb FIRST: “causes — factory smoke — air pollution”.
Core: learn rows 1–2 as chunks.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“Cause phrases” (بِسَبَبِ / نَتِيجَةً لِـ + genitive noun: these expressions are followed by a noun phrase, not a complete finite clause) and “Linking a whole clause to a consequence” (مِمَّا refers back to the whole previous idea).
Examples: website pattern and rule examples.
• CORE: بِسَبَبِ and يُؤَدِّي إِلَى. • DEVELOP: add نَتِيجَةً لِـ. • STRETCH: مِمَّا يُسَبِّبُ.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“Active and passive”: تُلَوِّثُ Xُ Yَ ↔ يُلَوَّثُ Yُ. The active sentence names the agent. The passive focuses on the affected thing; the passive subject is nominative.
Sentences: website grammar examples, quiz and listening script.
Develop focus — Core students listen and notice only: the active sentence tells you WHO (blue).
Stretch: explain why row 5 is not a passive (website: “ينبعث is not a passive form of لوّث; it describes smoke or gas emanating”).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“Study each structure in context, compare accurate and inaccurate forms, then apply it in meaningful Arabic.”
Website common error: “Do not label every English “is/are + verb” translation as an Arabic passive. Distinguish true passive forms such as يُلَوَّثُ from intransitive process verbs such as يَنْبَعِثُ.”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4, 5, 3 and 1.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with a think-aloud; students watch, then COPY the chain into their books.
Step 1 — “I name the problem: تَلَوُّثُ الهَوَاءِ. يَزْدَادُ means it is increasing.”
Step 2 — “Why? بِسَبَبِ + nouns: السَّيَّارَاتِ وَالمَصَانِعِ.”
Step 3 — “What happens? وَهٰذَا يُؤَدِّي إِلَى أَمْرَاضٍ — I must keep إِلَى.”
Step 4 — “My judgement: فِي رَأْيِي، هٰذِهِ مُشْكِلَةٌ خَطِيرَةٌ.”
Built from website language: listening script (السَّيَّارَاتُ وَالمَصَانِعُ … تَزْدَادُ أَمْرَاضُ التَّنَفُّسِ), website speaking model (فِي رَأْيِي، تَلَوُّثُ الهَوَاءِ خَطِيرٌ …) and the corrected website mistake (يُؤَدِّي التَّلَوُّثُ إِلَى أَمْرَاضٍ).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lesson game, patterns and rules. Students copy TWO that are useful for them.
• Core: copy 1 and 2. • Develop: copy 3 and change the cause. • Stretch: copy 4 and write another chain with مِمَّا.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(“Cause &amp; Effect”)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دُخَانُ المَصَانِعِ (factory smoke), النُّفَايَاتِ فِي البَحْرِ (waste in the sea), قَطْعُ الأَشْجَارِ (cutting trees). Develop: find يُؤَدِّي … إِلَى in sentences 2 and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(“Cause &amp; Effect”)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دُخَانُ المَصَانِعِ (factory smoke), النُّفَايَاتِ فِي البَحْرِ (waste in the sea), قَطْعُ الأَشْجَارِ (cutting trees). Develop: find يُؤَدِّي … إِلَى in sentences 2 and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(listening script, website pattern, website common mistake).
Students choose ONE box per column (start from Column 1 on the right) and type the letters, e.g. “1: B A B”. ↔ Rehearse 30s first.
Core: sentences 2–3 (connectors). Develop / Stretch: sentence 1 (active + object ending) and explain the wrong options.
Website “Advanced application — Cause–effect chain”: after the builder, pairs build a four-step chain from a cause to a problem and two effects in the chat; a partner must challenge or improve one link (?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(listening script, website pattern, website common mistake).
Students choose ONE box per column (start from Column 1 on the right) and type the letters, e.g. “1: B A B”. ↔ Rehearse 30s first.
Core: sentences 2–3 (connectors). Develop / Stretch: sentence 1 (active + object ending) and explain the wrong options.
Website “Advanced application — Cause–effect chain”: after the builder, pairs build a four-step chain from a cause to a problem and two effects in the chat; a partner must challenge or improve one link (?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(FLEX, 2 min). Clue for Core: a tile with a VERB (يُـ / تُـ at the start) is a process; a tile that starts with تَلَوُّث / النُّفَايَات is a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(FLEX, 2 min). Clue for Core: a tile with a VERB (يُـ / تُـ at the start) is a process; a tile that starts with تَلَوُّث / النُّفَايَات is a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6, 7, 8 (Stretch)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6.
Listen 1: just listen. Listen 2: note answers. Then chat the letters.
Support: after the second listening, show the read-along slide (Arabic + English, line by line) for Core students.
SCRIPT (read aloud):
يُعَدُّ تَلَوُّثُ الهَوَاءِ مِنْ أَخْطَرِ المُشْكِلَاتِ فِي المَدِينَةِ. تُلَوِّثُ السَّيَّارَاتُ وَالمَصَانِعُ الهَوَاءَ، وَيَنْبَعِثُ مِنْهَا دُخَانٌ كَثِيفٌ. نَتِيجَةً لِذٰلِكَ، تَزْدَادُ أَمْرَاضُ التَّنَفُّسِ. كَمَا تُرْمَى نُفَايَاتٌ بِلَاسْتِيكِيَّةٌ فِي النَّهْرِ، مِمَّا يُؤَدِّي إِلَى تَلَوُّثِ المِيَاهِ وَنُفُوقِ بَعْضِ الأَسْمَاكِ.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it is the preparation question): “What is an environmental problem in your city?” — answered with the Core stem, e.g. تَلَوُّثُ الهَوَاءِ مُشْكِلَةٌ خَطِيرَةٌ بِسَبَبِ السَّيَّارَاتِ.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120–140 Arabic words explaining two environmental problems, their causes and consequences.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passives يُلَوَّثُ الهَوَاءُ · تُرْمَى النُّفَايَاتُ · تُقْطَعُ الأَشْجَارُ; connectors فَبِسَبَبِ · مِمَّا يَضُرُّ · فَيُؤَدِّي ذٰلِكَ إِلَى; judgement لَا بُدَّ مِنْ فَهْمِ الأَسْبَابِ.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(TC-L05 · Environmental Solutions and Responsibility) will spend class time USING this language, so students prepare it tonight — short, simple, easy to access (school guidance: “Simple, Short, Interesting, Relevant, Easy to access”). The five words come from the website D4-L04 vocabulary (Environmental solutions; Action verbs; Advice).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ADVANCED TOPIC C  ·  WEEK 2  ·  LESSON 1 OF 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TC-L04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Environmental Problems and Their Causes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المُشْكِلَاتُ البِيئِيَّةُ وَأَسْبَابُهَا</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Explain pollution, climate change and habitat loss through cause and effect: </a:t>
            </a:r>
            <a:pPr algn="l" indent="0" marL="0">
              <a:buNone/>
            </a:pPr>
            <a:r>
              <a:rPr lang="ar-SA" altLang="en-US" sz="1800" dirty="0">
                <a:solidFill>
                  <a:srgbClr val="C6D2E6"/>
                </a:solidFill>
                <a:latin typeface="Amiri" pitchFamily="34" charset="0"/>
                <a:ea typeface="Amiri" pitchFamily="34" charset="-122"/>
                <a:cs typeface="Amiri" pitchFamily="34" charset="-120"/>
              </a:rPr>
              <a:t>بِسَبَبِ</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يُؤَدِّي إِلَى</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مِمَّا يُسَبِّبُ</a:t>
            </a:r>
            <a:pPr algn="l" indent="0" marL="0">
              <a:buNone/>
            </a:pPr>
            <a:r>
              <a:rPr lang="en-US" sz="1400" dirty="0">
                <a:solidFill>
                  <a:srgbClr val="C6D2E6"/>
                </a:solidFill>
                <a:latin typeface="Calibri" pitchFamily="34" charset="0"/>
                <a:ea typeface="Calibri" pitchFamily="34" charset="-122"/>
                <a:cs typeface="Calibri" pitchFamily="34" charset="-120"/>
              </a:rPr>
              <a:t>, and active or passive verbs (</a:t>
            </a:r>
            <a:pPr algn="l" indent="0" marL="0">
              <a:buNone/>
            </a:pPr>
            <a:r>
              <a:rPr lang="ar-SA" altLang="en-US" sz="1800" dirty="0">
                <a:solidFill>
                  <a:srgbClr val="C6D2E6"/>
                </a:solidFill>
                <a:latin typeface="Amiri" pitchFamily="34" charset="0"/>
                <a:ea typeface="Amiri" pitchFamily="34" charset="-122"/>
                <a:cs typeface="Amiri" pitchFamily="34" charset="-120"/>
              </a:rPr>
              <a:t>تُلَوِّثُ / يُلَوَّثُ</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TC-L04 · Week 2, lesson 1</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C › Lesson 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Problem words, then “because of” and “leads to”.</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build a chain, sort,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TC-L05.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“pollution”?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تَلَوُّثٌ</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شَجَرَةٌ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بِسَبَبِ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of</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between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order to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يَسْقُطُ الثُّلُوجُ فِي الشِّتَاءِ.</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تَسْقُطُ الثُّلُوجِ فِي الشِّتَاءِ.</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تَسْقُطُ الثُّلُوجُ فِي الشِّتَاءِ.</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“hotter than”?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أَكْثَرُ حَارٌّ مِنْ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حَرَارَةً أَكْثَرُ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أَكْثَرُ حَرَارَةً مِنْ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mean?</a:t>
            </a:r>
            <a:endParaRPr lang="en-US" sz="1200" dirty="0"/>
          </a:p>
        </p:txBody>
      </p:sp>
      <p:sp>
        <p:nvSpPr>
          <p:cNvPr id="71" name="Text 6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تَضُمُّ الغَابَةُ آلَافَ الأَنْوَاعِ.</a:t>
            </a:r>
            <a:endParaRPr lang="ar-SA"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forest includes thousands of species.</a:t>
            </a:r>
            <a:endParaRPr lang="en-US" sz="12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forest is a natural habitat.</a:t>
            </a:r>
            <a:endParaRPr lang="en-US" sz="12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sea includes coral reefs.</a:t>
            </a:r>
            <a:endParaRPr lang="en-US" sz="12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“pollution”?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هَوَاءٌ</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تَلَوُّثٌ</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شَجَرَةٌ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تَلَوُّثٌ</a:t>
            </a:r>
            <a:pPr algn="l" indent="0" marL="0">
              <a:buNone/>
            </a:pPr>
            <a:r>
              <a:rPr lang="en-US" sz="1050" i="1" dirty="0">
                <a:solidFill>
                  <a:srgbClr val="8A6D1E"/>
                </a:solidFill>
                <a:latin typeface="Calibri" pitchFamily="34" charset="0"/>
                <a:ea typeface="Calibri" pitchFamily="34" charset="-122"/>
                <a:cs typeface="Calibri" pitchFamily="34" charset="-120"/>
              </a:rPr>
              <a:t> = pollution · </a:t>
            </a:r>
            <a:pPr algn="l" indent="0" marL="0">
              <a:buNone/>
            </a:pPr>
            <a:r>
              <a:rPr lang="ar-SA" altLang="en-US" sz="1350" dirty="0">
                <a:solidFill>
                  <a:srgbClr val="8A6D1E"/>
                </a:solidFill>
                <a:latin typeface="Amiri" pitchFamily="34" charset="0"/>
                <a:ea typeface="Amiri" pitchFamily="34" charset="-122"/>
                <a:cs typeface="Amiri" pitchFamily="34" charset="-120"/>
              </a:rPr>
              <a:t>هَوَاءٌ</a:t>
            </a:r>
            <a:pPr algn="l" indent="0" marL="0">
              <a:buNone/>
            </a:pPr>
            <a:r>
              <a:rPr lang="en-US" sz="1050" i="1" dirty="0">
                <a:solidFill>
                  <a:srgbClr val="8A6D1E"/>
                </a:solidFill>
                <a:latin typeface="Calibri" pitchFamily="34" charset="0"/>
                <a:ea typeface="Calibri" pitchFamily="34" charset="-122"/>
                <a:cs typeface="Calibri" pitchFamily="34" charset="-120"/>
              </a:rPr>
              <a:t> = air · </a:t>
            </a:r>
            <a:pPr algn="l" indent="0" marL="0">
              <a:buNone/>
            </a:pPr>
            <a:r>
              <a:rPr lang="ar-SA" altLang="en-US" sz="1350" dirty="0">
                <a:solidFill>
                  <a:srgbClr val="8A6D1E"/>
                </a:solidFill>
                <a:latin typeface="Amiri" pitchFamily="34" charset="0"/>
                <a:ea typeface="Amiri" pitchFamily="34" charset="-122"/>
                <a:cs typeface="Amiri" pitchFamily="34" charset="-120"/>
              </a:rPr>
              <a:t>شَجَرَةٌ</a:t>
            </a:r>
            <a:pPr algn="l" indent="0" marL="0">
              <a:buNone/>
            </a:pPr>
            <a:r>
              <a:rPr lang="en-US" sz="1050" i="1" dirty="0">
                <a:solidFill>
                  <a:srgbClr val="8A6D1E"/>
                </a:solidFill>
                <a:latin typeface="Calibri" pitchFamily="34" charset="0"/>
                <a:ea typeface="Calibri" pitchFamily="34" charset="-122"/>
                <a:cs typeface="Calibri" pitchFamily="34" charset="-120"/>
              </a:rPr>
              <a:t> = tree.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بِسَبَبِ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because of</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between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order to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بِسَبَبِ</a:t>
            </a:r>
            <a:pPr algn="l" indent="0" marL="0">
              <a:buNone/>
            </a:pPr>
            <a:r>
              <a:rPr lang="en-US" sz="1050" i="1" dirty="0">
                <a:solidFill>
                  <a:srgbClr val="8A6D1E"/>
                </a:solidFill>
                <a:latin typeface="Calibri" pitchFamily="34" charset="0"/>
                <a:ea typeface="Calibri" pitchFamily="34" charset="-122"/>
                <a:cs typeface="Calibri" pitchFamily="34" charset="-120"/>
              </a:rPr>
              <a:t> = because of (Urdu: </a:t>
            </a:r>
            <a:pPr algn="l" indent="0" marL="0">
              <a:buNone/>
            </a:pPr>
            <a:r>
              <a:rPr lang="ar-SA" altLang="en-US" sz="1350" dirty="0">
                <a:solidFill>
                  <a:srgbClr val="8A6D1E"/>
                </a:solidFill>
                <a:latin typeface="Amiri" pitchFamily="34" charset="0"/>
                <a:ea typeface="Amiri" pitchFamily="34" charset="-122"/>
                <a:cs typeface="Amiri" pitchFamily="34" charset="-120"/>
              </a:rPr>
              <a:t>سبب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يَسْقُطُ الثُّلُوجُ فِي الشِّتَاءِ.</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تَسْقُطُ الثُّلُوجِ فِي الشِّتَاءِ.</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تَسْقُطُ الثُّلُوجُ فِي الشِّتَاءِ.</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TC-L03: </a:t>
            </a:r>
            <a:pPr algn="l" indent="0" marL="0">
              <a:buNone/>
            </a:pPr>
            <a:r>
              <a:rPr lang="ar-SA" altLang="en-US" sz="1350" dirty="0">
                <a:solidFill>
                  <a:srgbClr val="8A6D1E"/>
                </a:solidFill>
                <a:latin typeface="Amiri" pitchFamily="34" charset="0"/>
                <a:ea typeface="Amiri" pitchFamily="34" charset="-122"/>
                <a:cs typeface="Amiri" pitchFamily="34" charset="-120"/>
              </a:rPr>
              <a:t>الثُّلُوجُ</a:t>
            </a:r>
            <a:pPr algn="l" indent="0" marL="0">
              <a:buNone/>
            </a:pPr>
            <a:r>
              <a:rPr lang="en-US" sz="1050" i="1" dirty="0">
                <a:solidFill>
                  <a:srgbClr val="8A6D1E"/>
                </a:solidFill>
                <a:latin typeface="Calibri" pitchFamily="34" charset="0"/>
                <a:ea typeface="Calibri" pitchFamily="34" charset="-122"/>
                <a:cs typeface="Calibri" pitchFamily="34" charset="-120"/>
              </a:rPr>
              <a:t> is treated as feminine →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“hotter than”?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أَكْثَرُ حَارٌّ مِنْ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حَرَارَةً أَكْثَرُ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أَكْثَرُ حَرَارَةً مِنْ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TC-L03: </a:t>
            </a:r>
            <a:pPr algn="l" indent="0" marL="0">
              <a:buNone/>
            </a:pPr>
            <a:r>
              <a:rPr lang="ar-SA" altLang="en-US" sz="1350" dirty="0">
                <a:solidFill>
                  <a:srgbClr val="8A6D1E"/>
                </a:solidFill>
                <a:latin typeface="Amiri" pitchFamily="34" charset="0"/>
                <a:ea typeface="Amiri" pitchFamily="34" charset="-122"/>
                <a:cs typeface="Amiri" pitchFamily="34" charset="-120"/>
              </a:rPr>
              <a:t>أَكْثَرُ</a:t>
            </a:r>
            <a:pPr algn="l" indent="0" marL="0">
              <a:buNone/>
            </a:pPr>
            <a:r>
              <a:rPr lang="en-US" sz="1050" i="1" dirty="0">
                <a:solidFill>
                  <a:srgbClr val="8A6D1E"/>
                </a:solidFill>
                <a:latin typeface="Calibri" pitchFamily="34" charset="0"/>
                <a:ea typeface="Calibri" pitchFamily="34" charset="-122"/>
                <a:cs typeface="Calibri" pitchFamily="34" charset="-120"/>
              </a:rPr>
              <a:t> + noun (</a:t>
            </a:r>
            <a:pPr algn="l" indent="0" marL="0">
              <a:buNone/>
            </a:pPr>
            <a:r>
              <a:rPr lang="ar-SA" altLang="en-US" sz="1350" dirty="0">
                <a:solidFill>
                  <a:srgbClr val="8A6D1E"/>
                </a:solidFill>
                <a:latin typeface="Amiri" pitchFamily="34" charset="0"/>
                <a:ea typeface="Amiri" pitchFamily="34" charset="-122"/>
                <a:cs typeface="Amiri" pitchFamily="34" charset="-120"/>
              </a:rPr>
              <a:t>ـًا</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mean?</a:t>
            </a:r>
            <a:endParaRPr lang="en-US" sz="1200" dirty="0"/>
          </a:p>
        </p:txBody>
      </p:sp>
      <p:sp>
        <p:nvSpPr>
          <p:cNvPr id="79" name="Text 7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تَضُمُّ الغَابَةُ آلَافَ الأَنْوَاعِ.</a:t>
            </a:r>
            <a:endParaRPr lang="ar-SA"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forest includes thousands of species.</a:t>
            </a:r>
            <a:endParaRPr lang="en-US" sz="115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forest is a natural habitat.</a:t>
            </a:r>
            <a:endParaRPr lang="en-US" sz="125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sea includes coral reefs.</a:t>
            </a:r>
            <a:endParaRPr lang="en-US" sz="125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TC-L02: </a:t>
            </a:r>
            <a:pPr algn="l" indent="0" marL="0">
              <a:buNone/>
            </a:pPr>
            <a:r>
              <a:rPr lang="ar-SA" altLang="en-US" sz="1350" dirty="0">
                <a:solidFill>
                  <a:srgbClr val="8A6D1E"/>
                </a:solidFill>
                <a:latin typeface="Amiri" pitchFamily="34" charset="0"/>
                <a:ea typeface="Amiri" pitchFamily="34" charset="-122"/>
                <a:cs typeface="Amiri" pitchFamily="34" charset="-120"/>
              </a:rPr>
              <a:t>يَضُمُّ</a:t>
            </a:r>
            <a:pPr algn="l" indent="0" marL="0">
              <a:buNone/>
            </a:pPr>
            <a:r>
              <a:rPr lang="en-US" sz="1050" i="1" dirty="0">
                <a:solidFill>
                  <a:srgbClr val="8A6D1E"/>
                </a:solidFill>
                <a:latin typeface="Calibri" pitchFamily="34" charset="0"/>
                <a:ea typeface="Calibri" pitchFamily="34" charset="-122"/>
                <a:cs typeface="Calibri" pitchFamily="34" charset="-120"/>
              </a:rPr>
              <a:t> = includes.</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Today we link a CAUSE to an EFFECT: </a:t>
            </a:r>
            <a:pPr algn="l" indent="0" marL="0">
              <a:buNone/>
            </a:pPr>
            <a:r>
              <a:rPr lang="ar-SA" altLang="en-US" sz="1700" b="1" dirty="0">
                <a:solidFill>
                  <a:srgbClr val="1F2A37"/>
                </a:solidFill>
                <a:latin typeface="Amiri" pitchFamily="34" charset="0"/>
                <a:ea typeface="Amiri" pitchFamily="34" charset="-122"/>
                <a:cs typeface="Amiri" pitchFamily="34" charset="-120"/>
              </a:rPr>
              <a:t>بِسَبَبِ</a:t>
            </a:r>
            <a:pPr algn="l" indent="0" marL="0">
              <a:buNone/>
            </a:pPr>
            <a:r>
              <a:rPr lang="en-US" sz="1300" b="1" dirty="0">
                <a:solidFill>
                  <a:srgbClr val="1F2A37"/>
                </a:solidFill>
                <a:latin typeface="Calibri" pitchFamily="34" charset="0"/>
                <a:ea typeface="Calibri" pitchFamily="34" charset="-122"/>
                <a:cs typeface="Calibri" pitchFamily="34" charset="-120"/>
              </a:rPr>
              <a:t> + cause, or cause + </a:t>
            </a:r>
            <a:pPr algn="l" indent="0" marL="0">
              <a:buNone/>
            </a:pPr>
            <a:r>
              <a:rPr lang="ar-SA" altLang="en-US" sz="1700" b="1" dirty="0">
                <a:solidFill>
                  <a:srgbClr val="1F2A37"/>
                </a:solidFill>
                <a:latin typeface="Amiri" pitchFamily="34" charset="0"/>
                <a:ea typeface="Amiri" pitchFamily="34" charset="-122"/>
                <a:cs typeface="Amiri" pitchFamily="34" charset="-120"/>
              </a:rPr>
              <a:t>يُؤَدِّي إِلَى</a:t>
            </a:r>
            <a:pPr algn="l" indent="0" marL="0">
              <a:buNone/>
            </a:pPr>
            <a:r>
              <a:rPr lang="en-US" sz="1300" b="1" dirty="0">
                <a:solidFill>
                  <a:srgbClr val="1F2A37"/>
                </a:solidFill>
                <a:latin typeface="Calibri" pitchFamily="34" charset="0"/>
                <a:ea typeface="Calibri" pitchFamily="34" charset="-122"/>
                <a:cs typeface="Calibri" pitchFamily="34" charset="-120"/>
              </a:rPr>
              <a:t> + effect.</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بِسَبَبِ  ·  يُؤَدِّي إِلَى</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1 OF 3 THIS WEEK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and use the full lesson vocabulary in connected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and apply the target grammar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Extract exact information from listening and reading texts.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Produce a developed intermediate spoken and written response.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250" b="1" dirty="0">
                <a:solidFill>
                  <a:srgbClr val="2E8B57"/>
                </a:solidFill>
                <a:latin typeface="Calibri" pitchFamily="34" charset="0"/>
                <a:ea typeface="Calibri" pitchFamily="34" charset="-122"/>
                <a:cs typeface="Calibri" pitchFamily="34" charset="-120"/>
              </a:rPr>
              <a:t>☐  I can name 6 environmental problems (</a:t>
            </a:r>
            <a:pPr algn="l" indent="0" marL="0">
              <a:buNone/>
            </a:pPr>
            <a:r>
              <a:rPr lang="ar-SA" altLang="en-US" sz="1650" b="1" dirty="0">
                <a:solidFill>
                  <a:srgbClr val="2E8B57"/>
                </a:solidFill>
                <a:latin typeface="Amiri" pitchFamily="34" charset="0"/>
                <a:ea typeface="Amiri" pitchFamily="34" charset="-122"/>
                <a:cs typeface="Amiri" pitchFamily="34" charset="-120"/>
              </a:rPr>
              <a:t>تَلَوُّثُ الهَوَاءِ، إِزَالَةُ الغَابَاتِ</a:t>
            </a:r>
            <a:pPr algn="l" indent="0" marL="0">
              <a:buNone/>
            </a:pPr>
            <a:r>
              <a:rPr lang="en-US" sz="1250" b="1" dirty="0">
                <a:solidFill>
                  <a:srgbClr val="2E8B57"/>
                </a:solidFill>
                <a:latin typeface="Calibri" pitchFamily="34" charset="0"/>
                <a:ea typeface="Calibri" pitchFamily="34" charset="-122"/>
                <a:cs typeface="Calibri" pitchFamily="34" charset="-120"/>
              </a:rPr>
              <a:t> …).</a:t>
            </a:r>
            <a:endParaRPr lang="en-US" sz="125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give a cause with </a:t>
            </a:r>
            <a:pPr algn="l" indent="0" marL="0">
              <a:buNone/>
            </a:pPr>
            <a:r>
              <a:rPr lang="ar-SA" altLang="en-US" sz="1700" b="1" dirty="0">
                <a:solidFill>
                  <a:srgbClr val="2E8B57"/>
                </a:solidFill>
                <a:latin typeface="Amiri" pitchFamily="34" charset="0"/>
                <a:ea typeface="Amiri" pitchFamily="34" charset="-122"/>
                <a:cs typeface="Amiri" pitchFamily="34" charset="-120"/>
              </a:rPr>
              <a:t>بِسَبَبِ</a:t>
            </a:r>
            <a:pPr algn="l" indent="0" marL="0">
              <a:buNone/>
            </a:pPr>
            <a:r>
              <a:rPr lang="en-US" sz="1300" b="1" dirty="0">
                <a:solidFill>
                  <a:srgbClr val="2E8B57"/>
                </a:solidFill>
                <a:latin typeface="Calibri" pitchFamily="34" charset="0"/>
                <a:ea typeface="Calibri" pitchFamily="34" charset="-122"/>
                <a:cs typeface="Calibri" pitchFamily="34" charset="-120"/>
              </a:rPr>
              <a:t> and an effect with </a:t>
            </a:r>
            <a:pPr algn="l" indent="0" marL="0">
              <a:buNone/>
            </a:pPr>
            <a:r>
              <a:rPr lang="ar-SA" altLang="en-US" sz="1700" b="1" dirty="0">
                <a:solidFill>
                  <a:srgbClr val="2E8B57"/>
                </a:solidFill>
                <a:latin typeface="Amiri" pitchFamily="34" charset="0"/>
                <a:ea typeface="Amiri" pitchFamily="34" charset="-122"/>
                <a:cs typeface="Amiri" pitchFamily="34" charset="-120"/>
              </a:rPr>
              <a:t>يُؤَدِّي إِلَى</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tell an active sentence from a passive one: </a:t>
            </a:r>
            <a:pPr algn="l" indent="0" marL="0">
              <a:buNone/>
            </a:pPr>
            <a:r>
              <a:rPr lang="ar-SA" altLang="en-US" sz="1700" b="1" dirty="0">
                <a:solidFill>
                  <a:srgbClr val="C9780A"/>
                </a:solidFill>
                <a:latin typeface="Amiri" pitchFamily="34" charset="0"/>
                <a:ea typeface="Amiri" pitchFamily="34" charset="-122"/>
                <a:cs typeface="Amiri" pitchFamily="34" charset="-120"/>
              </a:rPr>
              <a:t>تُلَوِّثُ / يُلَوَّثُ</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build a chain of two causes and effects.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link a whole idea to its result with </a:t>
            </a:r>
            <a:pPr algn="l" indent="0" marL="0">
              <a:buNone/>
            </a:pPr>
            <a:r>
              <a:rPr lang="ar-SA" altLang="en-US" sz="1700" b="1" dirty="0">
                <a:solidFill>
                  <a:srgbClr val="B83227"/>
                </a:solidFill>
                <a:latin typeface="Amiri" pitchFamily="34" charset="0"/>
                <a:ea typeface="Amiri" pitchFamily="34" charset="-122"/>
                <a:cs typeface="Amiri" pitchFamily="34" charset="-120"/>
              </a:rPr>
              <a:t>مِمَّا يُسَبِّبُ</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120–140 words about two problems.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26 words from the website in 4 groups. Learn the CORE words first. Hear it → say it → see it → use it.</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Problems · 6</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More problems · 6</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Cause and effect · 6</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4</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Active or passive? · 8</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سَبَبٌ</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‎سبب‎ </a:t>
            </a:r>
            <a:pPr indent="0" marL="0">
              <a:buNone/>
            </a:pPr>
            <a:r>
              <a:rPr lang="en-US" sz="950" b="1" dirty="0">
                <a:solidFill>
                  <a:srgbClr val="2E8B57"/>
                </a:solidFill>
                <a:latin typeface="Calibri" pitchFamily="34" charset="0"/>
                <a:ea typeface="Calibri" pitchFamily="34" charset="-122"/>
                <a:cs typeface="Calibri" pitchFamily="34" charset="-120"/>
              </a:rPr>
              <a:t> sabab · cause</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نَتِيجَةٌ</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‎نتیجہ‎ </a:t>
            </a:r>
            <a:pPr indent="0" marL="0">
              <a:buNone/>
            </a:pPr>
            <a:r>
              <a:rPr lang="en-US" sz="950" b="1" dirty="0">
                <a:solidFill>
                  <a:srgbClr val="2E8B57"/>
                </a:solidFill>
                <a:latin typeface="Calibri" pitchFamily="34" charset="0"/>
                <a:ea typeface="Calibri" pitchFamily="34" charset="-122"/>
                <a:cs typeface="Calibri" pitchFamily="34" charset="-120"/>
              </a:rPr>
              <a:t> natīja · result</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مُشْكِلَةٌ</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‎مشکل‎ </a:t>
            </a:r>
            <a:pPr indent="0" marL="0">
              <a:buNone/>
            </a:pPr>
            <a:r>
              <a:rPr lang="en-US" sz="950" b="1" dirty="0">
                <a:solidFill>
                  <a:srgbClr val="2E8B57"/>
                </a:solidFill>
                <a:latin typeface="Calibri" pitchFamily="34" charset="0"/>
                <a:ea typeface="Calibri" pitchFamily="34" charset="-122"/>
                <a:cs typeface="Calibri" pitchFamily="34" charset="-120"/>
              </a:rPr>
              <a:t> mushkil · problem</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خَطَرٌ</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‎خطرہ‎ </a:t>
            </a:r>
            <a:pPr indent="0" marL="0">
              <a:buNone/>
            </a:pPr>
            <a:r>
              <a:rPr lang="en-US" sz="950" b="1" dirty="0">
                <a:solidFill>
                  <a:srgbClr val="2E8B57"/>
                </a:solidFill>
                <a:latin typeface="Calibri" pitchFamily="34" charset="0"/>
                <a:ea typeface="Calibri" pitchFamily="34" charset="-122"/>
                <a:cs typeface="Calibri" pitchFamily="34" charset="-120"/>
              </a:rPr>
              <a:t> khatra · danger</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مَرَضٌ</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‎مرض‎ </a:t>
            </a:r>
            <a:pPr indent="0" marL="0">
              <a:buNone/>
            </a:pPr>
            <a:r>
              <a:rPr lang="en-US" sz="950" b="1" dirty="0">
                <a:solidFill>
                  <a:srgbClr val="2E8B57"/>
                </a:solidFill>
                <a:latin typeface="Calibri" pitchFamily="34" charset="0"/>
                <a:ea typeface="Calibri" pitchFamily="34" charset="-122"/>
                <a:cs typeface="Calibri" pitchFamily="34" charset="-120"/>
              </a:rPr>
              <a:t> marz · illness</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Environmental problems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المُشْكِلَاتُ البِيئِيَّةُ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تَلَوُّثُ الهَوَاءِ</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air pollution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ta-law-wuth al-ha-wāʾ</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pollution</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تَلَوُّثٌ</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 air</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الهَوَاءُ</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تَلَوُّثُ المِيَاهِ</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water pollution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ta-law-wuth al-mi-yāh</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pollution</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تَلَوُّثٌ</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 water</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المِيَاهُ</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1269187"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adjective</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النُّفَايَاتُ </a:t>
            </a:r>
            <a:pPr rtl="1" algn="r" indent="0" marL="0">
              <a:buNone/>
            </a:pPr>
            <a:r>
              <a:rPr lang="ar-SA" altLang="en-US" sz="3000" b="1" dirty="0">
                <a:solidFill>
                  <a:srgbClr val="7B3FA0"/>
                </a:solidFill>
                <a:latin typeface="Amiri" pitchFamily="34" charset="0"/>
                <a:ea typeface="Amiri" pitchFamily="34" charset="-122"/>
                <a:cs typeface="Amiri" pitchFamily="34" charset="-120"/>
              </a:rPr>
              <a:t>البِلَاسْتِيكِ</a:t>
            </a:r>
            <a:pPr rtl="1" algn="r" indent="0" marL="0">
              <a:buNone/>
            </a:pPr>
            <a:r>
              <a:rPr lang="ar-SA" altLang="en-US" sz="3000" b="1" dirty="0">
                <a:solidFill>
                  <a:srgbClr val="D6336C"/>
                </a:solidFill>
                <a:latin typeface="Amiri" pitchFamily="34" charset="0"/>
                <a:ea typeface="Amiri" pitchFamily="34" charset="-122"/>
                <a:cs typeface="Amiri" pitchFamily="34" charset="-120"/>
              </a:rPr>
              <a:t>يَّةُ</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plastic waste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an-nu-fā-yāt al-bi-lās-tī-kiy-ya</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waste</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نُفَايَاتٌ</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plastic</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بِلَاسْتِيكِيَّةٌ</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إِزَالَةُ الغَابَاتِ</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deforestation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i-zā-lat al-ghā-bāt</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removal</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إِزَالَةٌ</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 forests</a:t>
            </a:r>
            <a:endParaRPr lang="en-US" sz="700" dirty="0"/>
          </a:p>
        </p:txBody>
      </p:sp>
      <p:sp>
        <p:nvSpPr>
          <p:cNvPr id="74" name="Text 7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الغَابَاتُ</a:t>
            </a:r>
            <a:endParaRPr lang="ar-SA" sz="135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8" name="Shape 75"/>
          <p:cNvSpPr/>
          <p:nvPr/>
        </p:nvSpPr>
        <p:spPr>
          <a:xfrm>
            <a:off x="4782312" y="4279392"/>
            <a:ext cx="1269187"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adjective</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الاحْتِبَاسُ </a:t>
            </a:r>
            <a:pPr rtl="1" algn="r" indent="0" marL="0">
              <a:buNone/>
            </a:pPr>
            <a:r>
              <a:rPr lang="ar-SA" altLang="en-US" sz="3000" b="1" dirty="0">
                <a:solidFill>
                  <a:srgbClr val="7B3FA0"/>
                </a:solidFill>
                <a:latin typeface="Amiri" pitchFamily="34" charset="0"/>
                <a:ea typeface="Amiri" pitchFamily="34" charset="-122"/>
                <a:cs typeface="Amiri" pitchFamily="34" charset="-120"/>
              </a:rPr>
              <a:t>الحَرَارِ</a:t>
            </a:r>
            <a:pPr rtl="1" algn="r" indent="0" marL="0">
              <a:buNone/>
            </a:pPr>
            <a:r>
              <a:rPr lang="ar-SA" altLang="en-US" sz="3000" b="1" dirty="0">
                <a:solidFill>
                  <a:srgbClr val="D6336C"/>
                </a:solidFill>
                <a:latin typeface="Amiri" pitchFamily="34" charset="0"/>
                <a:ea typeface="Amiri" pitchFamily="34" charset="-122"/>
                <a:cs typeface="Amiri" pitchFamily="34" charset="-120"/>
              </a:rPr>
              <a:t>يُّ</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global warming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al-iḥ-ti-bās al-ḥa-rā-riyy</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trapping</a:t>
            </a:r>
            <a:endParaRPr lang="en-US" sz="700" dirty="0"/>
          </a:p>
        </p:txBody>
      </p:sp>
      <p:sp>
        <p:nvSpPr>
          <p:cNvPr id="86" name="Text 83"/>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احْتِبَاسٌ</a:t>
            </a:r>
            <a:endParaRPr lang="ar-SA" sz="135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heat (adj.)</a:t>
            </a:r>
            <a:endParaRPr lang="en-US" sz="700" dirty="0"/>
          </a:p>
        </p:txBody>
      </p:sp>
      <p:sp>
        <p:nvSpPr>
          <p:cNvPr id="89" name="Text 86"/>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حَرَارِيٌّ</a:t>
            </a:r>
            <a:endParaRPr lang="ar-SA" sz="135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93" name="Shape 90"/>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7" name="Text 9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التَّصَحُّرُ</a:t>
            </a:r>
            <a:endParaRPr lang="ar-SA" sz="3000" dirty="0"/>
          </a:p>
        </p:txBody>
      </p:sp>
      <p:sp>
        <p:nvSpPr>
          <p:cNvPr id="98" name="Text 9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desertification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at-ta-ṣaḥ-ḥur</a:t>
            </a:r>
            <a:endParaRPr lang="en-US" sz="1350" dirty="0"/>
          </a:p>
        </p:txBody>
      </p:sp>
      <p:sp>
        <p:nvSpPr>
          <p:cNvPr id="99" name="Shape 9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desert</a:t>
            </a:r>
            <a:endParaRPr lang="en-US" sz="700" dirty="0"/>
          </a:p>
        </p:txBody>
      </p:sp>
      <p:sp>
        <p:nvSpPr>
          <p:cNvPr id="101" name="Text 98"/>
          <p:cNvSpPr txBox="1"/>
          <p:nvPr/>
        </p:nvSpPr>
        <p:spPr>
          <a:xfrm>
            <a:off x="2368296"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صَحْرَاءُ</a:t>
            </a:r>
            <a:endParaRPr lang="ar-SA" sz="1350" dirty="0"/>
          </a:p>
        </p:txBody>
      </p:sp>
      <p:sp>
        <p:nvSpPr>
          <p:cNvPr id="102" name="Shape 9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 becoming desert</a:t>
            </a:r>
            <a:endParaRPr lang="en-US" sz="700" dirty="0"/>
          </a:p>
        </p:txBody>
      </p:sp>
      <p:sp>
        <p:nvSpPr>
          <p:cNvPr id="104" name="Text 101"/>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التَّصَحُّرُ</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Environmental problems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المُشْكِلَاتُ البِيئِيَّةُ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الدُّخَانُ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smoke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ad-du-khān</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Website game: </a:t>
            </a:r>
            <a:pPr algn="l" indent="0" marL="0">
              <a:buNone/>
            </a:pPr>
            <a:r>
              <a:rPr lang="ar-SA" altLang="en-US" sz="1300" dirty="0">
                <a:solidFill>
                  <a:srgbClr val="8A6D1E"/>
                </a:solidFill>
                <a:latin typeface="Amiri" pitchFamily="34" charset="0"/>
                <a:ea typeface="Amiri" pitchFamily="34" charset="-122"/>
                <a:cs typeface="Amiri" pitchFamily="34" charset="-120"/>
              </a:rPr>
              <a:t>دُخَانُ المَصَانِعِ</a:t>
            </a:r>
            <a:pPr algn="l" indent="0" marL="0">
              <a:buNone/>
            </a:pPr>
            <a:r>
              <a:rPr lang="en-US" sz="1000" i="1" dirty="0">
                <a:solidFill>
                  <a:srgbClr val="8A6D1E"/>
                </a:solidFill>
                <a:latin typeface="Calibri" pitchFamily="34" charset="0"/>
                <a:ea typeface="Calibri" pitchFamily="34" charset="-122"/>
                <a:cs typeface="Calibri" pitchFamily="34" charset="-120"/>
              </a:rPr>
              <a:t> (factory smoke).</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8" name="Shape 25"/>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pl.</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المَصَانِعُ</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factories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al-ma-ṣā-niʿ · sg. maṣ-naʿ</a:t>
            </a:r>
            <a:endParaRPr lang="en-US" sz="1350" dirty="0"/>
          </a:p>
        </p:txBody>
      </p:sp>
      <p:sp>
        <p:nvSpPr>
          <p:cNvPr id="34" name="Shape 31"/>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36" name="Text 33"/>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مَصْنَعٌ</a:t>
            </a:r>
            <a:endParaRPr lang="ar-SA" sz="1500" dirty="0"/>
          </a:p>
        </p:txBody>
      </p:sp>
      <p:sp>
        <p:nvSpPr>
          <p:cNvPr id="37" name="Shape 34"/>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9" name="Text 36"/>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مَصَانِعُ</a:t>
            </a:r>
            <a:endParaRPr lang="ar-SA" sz="150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3" name="Shape 40"/>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45" name="Text 4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ذَوَبَانُ الجَلِيدِ</a:t>
            </a:r>
            <a:endParaRPr lang="ar-SA" sz="3000" dirty="0"/>
          </a:p>
        </p:txBody>
      </p:sp>
      <p:sp>
        <p:nvSpPr>
          <p:cNvPr id="46" name="Text 4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melting 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dha-wa-bān al-ja-līd</a:t>
            </a:r>
            <a:endParaRPr lang="en-US" sz="1350" dirty="0"/>
          </a:p>
        </p:txBody>
      </p:sp>
      <p:sp>
        <p:nvSpPr>
          <p:cNvPr id="47" name="Shape 44"/>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melting</a:t>
            </a:r>
            <a:endParaRPr lang="en-US" sz="700" dirty="0"/>
          </a:p>
        </p:txBody>
      </p:sp>
      <p:sp>
        <p:nvSpPr>
          <p:cNvPr id="49" name="Text 46"/>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ذَوَبَانٌ</a:t>
            </a:r>
            <a:endParaRPr lang="ar-SA" sz="1350" dirty="0"/>
          </a:p>
        </p:txBody>
      </p:sp>
      <p:sp>
        <p:nvSpPr>
          <p:cNvPr id="50" name="Shape 47"/>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 ice</a:t>
            </a:r>
            <a:endParaRPr lang="en-US" sz="700" dirty="0"/>
          </a:p>
        </p:txBody>
      </p:sp>
      <p:sp>
        <p:nvSpPr>
          <p:cNvPr id="52" name="Text 49"/>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الجَلِيدُ</a:t>
            </a:r>
            <a:endParaRPr lang="ar-SA" sz="135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6" name="Shape 53"/>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58" name="Text 5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ارْتِفَاعُ مُسْتَوَى البَحْرِ</a:t>
            </a:r>
            <a:endParaRPr lang="ar-SA" sz="3000" dirty="0"/>
          </a:p>
        </p:txBody>
      </p:sp>
      <p:sp>
        <p:nvSpPr>
          <p:cNvPr id="59" name="Text 5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sea-level rise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ir-ti-fāʿ mus-ta-wā l-baḥr</a:t>
            </a:r>
            <a:endParaRPr lang="en-US" sz="1350" dirty="0"/>
          </a:p>
        </p:txBody>
      </p:sp>
      <p:sp>
        <p:nvSpPr>
          <p:cNvPr id="60" name="Text 57"/>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ارْتِفَاع</a:t>
            </a:r>
            <a:pPr algn="l" indent="0" marL="0">
              <a:buNone/>
            </a:pPr>
            <a:r>
              <a:rPr lang="en-US" sz="1000" i="1" dirty="0">
                <a:solidFill>
                  <a:srgbClr val="8A6D1E"/>
                </a:solidFill>
                <a:latin typeface="Calibri" pitchFamily="34" charset="0"/>
                <a:ea typeface="Calibri" pitchFamily="34" charset="-122"/>
                <a:cs typeface="Calibri" pitchFamily="34" charset="-120"/>
              </a:rPr>
              <a:t> = rise (TC-L03: </a:t>
            </a:r>
            <a:pPr algn="l" indent="0" marL="0">
              <a:buNone/>
            </a:pPr>
            <a:r>
              <a:rPr lang="ar-SA" altLang="en-US" sz="1300" dirty="0">
                <a:solidFill>
                  <a:srgbClr val="8A6D1E"/>
                </a:solidFill>
                <a:latin typeface="Amiri" pitchFamily="34" charset="0"/>
                <a:ea typeface="Amiri" pitchFamily="34" charset="-122"/>
                <a:cs typeface="Amiri" pitchFamily="34" charset="-120"/>
              </a:rPr>
              <a:t>تَرْتَفِعُ</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64" name="Shape 61"/>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66" name="Text 6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فَقْدُ المَوَائِلِ</a:t>
            </a:r>
            <a:endParaRPr lang="ar-SA" sz="3000" dirty="0"/>
          </a:p>
        </p:txBody>
      </p:sp>
      <p:sp>
        <p:nvSpPr>
          <p:cNvPr id="67" name="Text 6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habitat loss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faqd al-ma-wā-ʾil</a:t>
            </a:r>
            <a:endParaRPr lang="en-US" sz="1350" dirty="0"/>
          </a:p>
        </p:txBody>
      </p:sp>
      <p:sp>
        <p:nvSpPr>
          <p:cNvPr id="68" name="Shape 65"/>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loss</a:t>
            </a:r>
            <a:endParaRPr lang="en-US" sz="700" dirty="0"/>
          </a:p>
        </p:txBody>
      </p:sp>
      <p:sp>
        <p:nvSpPr>
          <p:cNvPr id="70" name="Text 67"/>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فَقْدٌ</a:t>
            </a:r>
            <a:endParaRPr lang="ar-SA" sz="1350" dirty="0"/>
          </a:p>
        </p:txBody>
      </p:sp>
      <p:sp>
        <p:nvSpPr>
          <p:cNvPr id="71" name="Shape 68"/>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habitats</a:t>
            </a:r>
            <a:endParaRPr lang="en-US" sz="700" dirty="0"/>
          </a:p>
        </p:txBody>
      </p:sp>
      <p:sp>
        <p:nvSpPr>
          <p:cNvPr id="73" name="Text 70"/>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المَوَائِلُ</a:t>
            </a:r>
            <a:endParaRPr lang="ar-SA" sz="1350" dirty="0"/>
          </a:p>
        </p:txBody>
      </p:sp>
      <p:sp>
        <p:nvSpPr>
          <p:cNvPr id="74" name="Shape 7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5" name="Shape 72"/>
          <p:cNvSpPr/>
          <p:nvPr/>
        </p:nvSpPr>
        <p:spPr>
          <a:xfrm>
            <a:off x="566928" y="4261104"/>
            <a:ext cx="310896" cy="310896"/>
          </a:xfrm>
          <a:prstGeom prst="ellipse">
            <a:avLst/>
          </a:prstGeom>
          <a:solidFill>
            <a:srgbClr val="F4F1EA"/>
          </a:solidFill>
          <a:ln w="12700">
            <a:solidFill>
              <a:srgbClr val="F4F1EA"/>
            </a:solidFill>
            <a:prstDash val="solid"/>
          </a:ln>
        </p:spPr>
      </p:sp>
      <p:sp>
        <p:nvSpPr>
          <p:cNvPr id="76" name="Text 7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77" name="Shape 74"/>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8" name="Text 75"/>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79" name="Text 7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انْقِرَاضُ الأَنْوَاعِ</a:t>
            </a:r>
            <a:endParaRPr lang="ar-SA" sz="3000" dirty="0"/>
          </a:p>
        </p:txBody>
      </p:sp>
      <p:sp>
        <p:nvSpPr>
          <p:cNvPr id="80" name="Text 7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species extinction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in-qi-rāḍ al-an-wāʿ</a:t>
            </a:r>
            <a:endParaRPr lang="en-US" sz="1350" dirty="0"/>
          </a:p>
        </p:txBody>
      </p:sp>
      <p:sp>
        <p:nvSpPr>
          <p:cNvPr id="81" name="Text 78"/>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TC-L02: </a:t>
            </a:r>
            <a:pPr algn="l" indent="0" marL="0">
              <a:buNone/>
            </a:pPr>
            <a:r>
              <a:rPr lang="ar-SA" altLang="en-US" sz="1300" dirty="0">
                <a:solidFill>
                  <a:srgbClr val="8A6D1E"/>
                </a:solidFill>
                <a:latin typeface="Amiri" pitchFamily="34" charset="0"/>
                <a:ea typeface="Amiri" pitchFamily="34" charset="-122"/>
                <a:cs typeface="Amiri" pitchFamily="34" charset="-120"/>
              </a:rPr>
              <a:t>الانْقِرَاضُ</a:t>
            </a:r>
            <a:pPr algn="l" indent="0" marL="0">
              <a:buNone/>
            </a:pPr>
            <a:r>
              <a:rPr lang="en-US" sz="1000" i="1" dirty="0">
                <a:solidFill>
                  <a:srgbClr val="8A6D1E"/>
                </a:solidFill>
                <a:latin typeface="Calibri" pitchFamily="34" charset="0"/>
                <a:ea typeface="Calibri" pitchFamily="34" charset="-122"/>
                <a:cs typeface="Calibri" pitchFamily="34" charset="-120"/>
              </a:rPr>
              <a:t> = extinction.</a:t>
            </a:r>
            <a:endParaRPr lang="en-US" sz="1000" dirty="0"/>
          </a:p>
        </p:txBody>
      </p:sp>
      <p:sp>
        <p:nvSpPr>
          <p:cNvPr id="82" name="Text 7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CAUSE AND EFFECT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Cause and effect connectors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السَّبَبُ وَالنَّتِيجَةُ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 noun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بِسَبَبِ</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because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bi-sa-ba-bi</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Followed by a NOUN, not a whole sentence.</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8" name="Shape 25"/>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verb + إِلَى</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يُؤَدِّي إِلَى</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leads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yu-ʾad-dī i-lā</a:t>
            </a:r>
            <a:endParaRPr lang="en-US" sz="1350" dirty="0"/>
          </a:p>
        </p:txBody>
      </p:sp>
      <p:sp>
        <p:nvSpPr>
          <p:cNvPr id="34" name="Text 31"/>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Always </a:t>
            </a:r>
            <a:pPr algn="l" indent="0" marL="0">
              <a:buNone/>
            </a:pPr>
            <a:r>
              <a:rPr lang="ar-SA" altLang="en-US" sz="1300" dirty="0">
                <a:solidFill>
                  <a:srgbClr val="8A6D1E"/>
                </a:solidFill>
                <a:latin typeface="Amiri" pitchFamily="34" charset="0"/>
                <a:ea typeface="Amiri" pitchFamily="34" charset="-122"/>
                <a:cs typeface="Amiri" pitchFamily="34" charset="-120"/>
              </a:rPr>
              <a:t>إِلَى</a:t>
            </a:r>
            <a:pPr algn="l" indent="0" marL="0">
              <a:buNone/>
            </a:pPr>
            <a:r>
              <a:rPr lang="en-US" sz="1000" i="1" dirty="0">
                <a:solidFill>
                  <a:srgbClr val="8A6D1E"/>
                </a:solidFill>
                <a:latin typeface="Calibri" pitchFamily="34" charset="0"/>
                <a:ea typeface="Calibri" pitchFamily="34" charset="-122"/>
                <a:cs typeface="Calibri" pitchFamily="34" charset="-120"/>
              </a:rPr>
              <a:t> after </a:t>
            </a:r>
            <a:pPr algn="l" indent="0" marL="0">
              <a:buNone/>
            </a:pPr>
            <a:r>
              <a:rPr lang="ar-SA" altLang="en-US" sz="1300" dirty="0">
                <a:solidFill>
                  <a:srgbClr val="8A6D1E"/>
                </a:solidFill>
                <a:latin typeface="Amiri" pitchFamily="34" charset="0"/>
                <a:ea typeface="Amiri" pitchFamily="34" charset="-122"/>
                <a:cs typeface="Amiri" pitchFamily="34" charset="-120"/>
              </a:rPr>
              <a:t>يُؤَدِّي</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8" name="Shape 3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 noun</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نَتِيجَةً لِـ</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a result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na-tī-ja-tan li</a:t>
            </a:r>
            <a:endParaRPr lang="en-US" sz="1350" dirty="0"/>
          </a:p>
        </p:txBody>
      </p:sp>
      <p:sp>
        <p:nvSpPr>
          <p:cNvPr id="42" name="Text 39"/>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Followed by a noun in the genitive.</a:t>
            </a:r>
            <a:endParaRPr lang="en-US" sz="1000" dirty="0"/>
          </a:p>
        </p:txBody>
      </p:sp>
      <p:sp>
        <p:nvSpPr>
          <p:cNvPr id="43" name="Shape 4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11312"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6" name="Shape 43"/>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after a comma</a:t>
            </a:r>
            <a:endParaRPr lang="en-US" sz="8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مِمَّا يُسَبِّبُ</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which causes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mim-mā yu-sab-bi-bu</a:t>
            </a:r>
            <a:endParaRPr lang="en-US" sz="1350" dirty="0"/>
          </a:p>
        </p:txBody>
      </p:sp>
      <p:sp>
        <p:nvSpPr>
          <p:cNvPr id="50" name="Text 47"/>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مِمَّا</a:t>
            </a:r>
            <a:pPr algn="l" indent="0" marL="0">
              <a:buNone/>
            </a:pPr>
            <a:r>
              <a:rPr lang="en-US" sz="1000" i="1" dirty="0">
                <a:solidFill>
                  <a:srgbClr val="8A6D1E"/>
                </a:solidFill>
                <a:latin typeface="Calibri" pitchFamily="34" charset="0"/>
                <a:ea typeface="Calibri" pitchFamily="34" charset="-122"/>
                <a:cs typeface="Calibri" pitchFamily="34" charset="-120"/>
              </a:rPr>
              <a:t> refers back to the whole idea before it.</a:t>
            </a:r>
            <a:endParaRPr lang="en-US" sz="1000" dirty="0"/>
          </a:p>
        </p:txBody>
      </p:sp>
      <p:sp>
        <p:nvSpPr>
          <p:cNvPr id="51" name="Shape 4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4389120"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4" name="Shape 51"/>
          <p:cNvSpPr/>
          <p:nvPr/>
        </p:nvSpPr>
        <p:spPr>
          <a:xfrm>
            <a:off x="4782312" y="4279392"/>
            <a:ext cx="1331366"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4782312"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starts a sentence</a:t>
            </a:r>
            <a:endParaRPr lang="en-US" sz="800" dirty="0"/>
          </a:p>
        </p:txBody>
      </p:sp>
      <p:sp>
        <p:nvSpPr>
          <p:cNvPr id="56" name="Text 5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نَتِيجَةً لِذٰلِكَ</a:t>
            </a:r>
            <a:endParaRPr lang="ar-SA" sz="3000" dirty="0"/>
          </a:p>
        </p:txBody>
      </p:sp>
      <p:sp>
        <p:nvSpPr>
          <p:cNvPr id="57" name="Text 5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a result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na-tī-ja-tan li-dhā-lik</a:t>
            </a:r>
            <a:endParaRPr lang="en-US" sz="1350" dirty="0"/>
          </a:p>
        </p:txBody>
      </p:sp>
      <p:sp>
        <p:nvSpPr>
          <p:cNvPr id="58" name="Shape 5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66928"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61" name="Shape 58"/>
          <p:cNvSpPr/>
          <p:nvPr/>
        </p:nvSpPr>
        <p:spPr>
          <a:xfrm>
            <a:off x="960120" y="4279392"/>
            <a:ext cx="958291"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960120"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time phrase</a:t>
            </a:r>
            <a:endParaRPr lang="en-US" sz="800" dirty="0"/>
          </a:p>
        </p:txBody>
      </p:sp>
      <p:sp>
        <p:nvSpPr>
          <p:cNvPr id="63" name="Text 6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المَدَى الطَّوِيلِ</a:t>
            </a:r>
            <a:endParaRPr lang="ar-SA" sz="3000" dirty="0"/>
          </a:p>
        </p:txBody>
      </p:sp>
      <p:sp>
        <p:nvSpPr>
          <p:cNvPr id="64" name="Text 6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the long term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l-ma-dā ṭ-ṭa-wīl</a:t>
            </a:r>
            <a:endParaRPr lang="en-US" sz="13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4 · DEVELOP ·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Active or passive? Processes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المَعْلُومُ وَالمَجْهُولُ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81544"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Phrase (website)</a:t>
            </a:r>
            <a:endParaRPr lang="en-US" sz="1100" dirty="0"/>
          </a:p>
        </p:txBody>
      </p:sp>
      <p:sp>
        <p:nvSpPr>
          <p:cNvPr id="17" name="Text 14"/>
          <p:cNvSpPr txBox="1"/>
          <p:nvPr/>
        </p:nvSpPr>
        <p:spPr>
          <a:xfrm>
            <a:off x="467258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8" name="Text 15"/>
          <p:cNvSpPr txBox="1"/>
          <p:nvPr/>
        </p:nvSpPr>
        <p:spPr>
          <a:xfrm>
            <a:off x="53035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Active, passive or process?</a:t>
            </a:r>
            <a:endParaRPr lang="en-US" sz="1100" dirty="0"/>
          </a:p>
        </p:txBody>
      </p:sp>
      <p:sp>
        <p:nvSpPr>
          <p:cNvPr id="19" name="Shape 16"/>
          <p:cNvSpPr/>
          <p:nvPr/>
        </p:nvSpPr>
        <p:spPr>
          <a:xfrm>
            <a:off x="457200" y="2267712"/>
            <a:ext cx="11274552" cy="457200"/>
          </a:xfrm>
          <a:prstGeom prst="roundRect">
            <a:avLst>
              <a:gd name="adj" fmla="val 10000"/>
            </a:avLst>
          </a:prstGeom>
          <a:solidFill>
            <a:srgbClr val="FFFFFF"/>
          </a:solidFill>
          <a:ln w="9525">
            <a:solidFill>
              <a:srgbClr val="D8D0BF"/>
            </a:solidFill>
            <a:prstDash val="solid"/>
          </a:ln>
        </p:spPr>
      </p:sp>
      <p:sp>
        <p:nvSpPr>
          <p:cNvPr id="20" name="Text 17"/>
          <p:cNvSpPr txBox="1"/>
          <p:nvPr/>
        </p:nvSpPr>
        <p:spPr>
          <a:xfrm>
            <a:off x="7799832" y="2286000"/>
            <a:ext cx="384048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تُلَوِّثُ المَصَانِعُ الهَوَاءَ</a:t>
            </a:r>
            <a:endParaRPr lang="ar-SA" sz="1300" dirty="0"/>
          </a:p>
        </p:txBody>
      </p:sp>
      <p:sp>
        <p:nvSpPr>
          <p:cNvPr id="21" name="Text 18"/>
          <p:cNvSpPr txBox="1"/>
          <p:nvPr/>
        </p:nvSpPr>
        <p:spPr>
          <a:xfrm>
            <a:off x="7754112" y="2542032"/>
            <a:ext cx="393192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tu-law-wi-thu l-ma-ṣā-niʿ al-ha-wāʾ</a:t>
            </a:r>
            <a:endParaRPr lang="en-US" sz="950" dirty="0"/>
          </a:p>
        </p:txBody>
      </p:sp>
      <p:sp>
        <p:nvSpPr>
          <p:cNvPr id="22" name="Text 19"/>
          <p:cNvSpPr txBox="1"/>
          <p:nvPr/>
        </p:nvSpPr>
        <p:spPr>
          <a:xfrm>
            <a:off x="4709160" y="2267712"/>
            <a:ext cx="292608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factories pollute the air</a:t>
            </a:r>
            <a:endParaRPr lang="en-US" sz="1100" dirty="0"/>
          </a:p>
        </p:txBody>
      </p:sp>
      <p:sp>
        <p:nvSpPr>
          <p:cNvPr id="23" name="Text 20"/>
          <p:cNvSpPr txBox="1"/>
          <p:nvPr/>
        </p:nvSpPr>
        <p:spPr>
          <a:xfrm>
            <a:off x="566928" y="2267712"/>
            <a:ext cx="395935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ACTIVE — names who does it</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2779776"/>
            <a:ext cx="11274552" cy="457200"/>
          </a:xfrm>
          <a:prstGeom prst="roundRect">
            <a:avLst>
              <a:gd name="adj" fmla="val 10000"/>
            </a:avLst>
          </a:prstGeom>
          <a:solidFill>
            <a:srgbClr val="F4F1EA"/>
          </a:solidFill>
          <a:ln w="9525">
            <a:solidFill>
              <a:srgbClr val="D8D0BF"/>
            </a:solidFill>
            <a:prstDash val="solid"/>
          </a:ln>
        </p:spPr>
      </p:sp>
      <p:sp>
        <p:nvSpPr>
          <p:cNvPr id="27" name="Text 24"/>
          <p:cNvSpPr txBox="1"/>
          <p:nvPr/>
        </p:nvSpPr>
        <p:spPr>
          <a:xfrm>
            <a:off x="7799832" y="2798064"/>
            <a:ext cx="384048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يُلَوَّثُ الهَوَاءُ</a:t>
            </a:r>
            <a:endParaRPr lang="ar-SA" sz="1300" dirty="0"/>
          </a:p>
        </p:txBody>
      </p:sp>
      <p:sp>
        <p:nvSpPr>
          <p:cNvPr id="28" name="Text 25"/>
          <p:cNvSpPr txBox="1"/>
          <p:nvPr/>
        </p:nvSpPr>
        <p:spPr>
          <a:xfrm>
            <a:off x="7754112" y="3054096"/>
            <a:ext cx="393192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yu-law-wa-thu l-ha-wāʾ</a:t>
            </a:r>
            <a:endParaRPr lang="en-US" sz="950" dirty="0"/>
          </a:p>
        </p:txBody>
      </p:sp>
      <p:sp>
        <p:nvSpPr>
          <p:cNvPr id="29" name="Text 26"/>
          <p:cNvSpPr txBox="1"/>
          <p:nvPr/>
        </p:nvSpPr>
        <p:spPr>
          <a:xfrm>
            <a:off x="4709160" y="2779776"/>
            <a:ext cx="292608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air is polluted</a:t>
            </a:r>
            <a:endParaRPr lang="en-US" sz="1100" dirty="0"/>
          </a:p>
        </p:txBody>
      </p:sp>
      <p:sp>
        <p:nvSpPr>
          <p:cNvPr id="30" name="Text 27"/>
          <p:cNvSpPr txBox="1"/>
          <p:nvPr/>
        </p:nvSpPr>
        <p:spPr>
          <a:xfrm>
            <a:off x="566928" y="2779776"/>
            <a:ext cx="395935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PASSIVE — yu-…-wa-: “is …-ed”</a:t>
            </a:r>
            <a:endParaRPr lang="en-US" sz="1100" dirty="0"/>
          </a:p>
        </p:txBody>
      </p:sp>
      <p:sp>
        <p:nvSpPr>
          <p:cNvPr id="31" name="Shape 28"/>
          <p:cNvSpPr/>
          <p:nvPr/>
        </p:nvSpPr>
        <p:spPr>
          <a:xfrm>
            <a:off x="457200" y="3291840"/>
            <a:ext cx="11274552" cy="457200"/>
          </a:xfrm>
          <a:prstGeom prst="roundRect">
            <a:avLst>
              <a:gd name="adj" fmla="val 10000"/>
            </a:avLst>
          </a:prstGeom>
          <a:solidFill>
            <a:srgbClr val="FFFFFF"/>
          </a:solidFill>
          <a:ln w="9525">
            <a:solidFill>
              <a:srgbClr val="D8D0BF"/>
            </a:solidFill>
            <a:prstDash val="solid"/>
          </a:ln>
        </p:spPr>
      </p:sp>
      <p:sp>
        <p:nvSpPr>
          <p:cNvPr id="32" name="Text 29"/>
          <p:cNvSpPr txBox="1"/>
          <p:nvPr/>
        </p:nvSpPr>
        <p:spPr>
          <a:xfrm>
            <a:off x="7799832" y="3310128"/>
            <a:ext cx="384048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تُقْطَعُ الأَشْجَارُ</a:t>
            </a:r>
            <a:endParaRPr lang="ar-SA" sz="1300" dirty="0"/>
          </a:p>
        </p:txBody>
      </p:sp>
      <p:sp>
        <p:nvSpPr>
          <p:cNvPr id="33" name="Text 30"/>
          <p:cNvSpPr txBox="1"/>
          <p:nvPr/>
        </p:nvSpPr>
        <p:spPr>
          <a:xfrm>
            <a:off x="7754112" y="3566160"/>
            <a:ext cx="393192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tuq-ṭa-ʿu l-ash-jār</a:t>
            </a:r>
            <a:endParaRPr lang="en-US" sz="950" dirty="0"/>
          </a:p>
        </p:txBody>
      </p:sp>
      <p:sp>
        <p:nvSpPr>
          <p:cNvPr id="34" name="Text 31"/>
          <p:cNvSpPr txBox="1"/>
          <p:nvPr/>
        </p:nvSpPr>
        <p:spPr>
          <a:xfrm>
            <a:off x="4709160" y="3291840"/>
            <a:ext cx="292608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trees are cut down</a:t>
            </a:r>
            <a:endParaRPr lang="en-US" sz="1100" dirty="0"/>
          </a:p>
        </p:txBody>
      </p:sp>
      <p:sp>
        <p:nvSpPr>
          <p:cNvPr id="35" name="Text 32"/>
          <p:cNvSpPr txBox="1"/>
          <p:nvPr/>
        </p:nvSpPr>
        <p:spPr>
          <a:xfrm>
            <a:off x="566928" y="3291840"/>
            <a:ext cx="395935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PASSIVE — </a:t>
            </a:r>
            <a:pPr algn="l" indent="0" marL="0">
              <a:buNone/>
            </a:pPr>
            <a:r>
              <a:rPr lang="ar-SA" altLang="en-US" sz="1450" dirty="0">
                <a:solidFill>
                  <a:srgbClr val="5A6472"/>
                </a:solidFill>
                <a:latin typeface="Amiri" pitchFamily="34" charset="0"/>
                <a:ea typeface="Amiri" pitchFamily="34" charset="-122"/>
                <a:cs typeface="Amiri" pitchFamily="34" charset="-120"/>
              </a:rPr>
              <a:t>الأَشْجَار</a:t>
            </a:r>
            <a:pPr algn="l" indent="0" marL="0">
              <a:buNone/>
            </a:pPr>
            <a:r>
              <a:rPr lang="en-US" sz="1100" i="1" dirty="0">
                <a:solidFill>
                  <a:srgbClr val="5A6472"/>
                </a:solidFill>
                <a:latin typeface="Calibri" pitchFamily="34" charset="0"/>
                <a:ea typeface="Calibri" pitchFamily="34" charset="-122"/>
                <a:cs typeface="Calibri" pitchFamily="34" charset="-120"/>
              </a:rPr>
              <a:t> → feminine </a:t>
            </a:r>
            <a:pPr algn="l" indent="0" marL="0">
              <a:buNone/>
            </a:pPr>
            <a:r>
              <a:rPr lang="ar-SA" altLang="en-US" sz="1450" dirty="0">
                <a:solidFill>
                  <a:srgbClr val="5A6472"/>
                </a:solidFill>
                <a:latin typeface="Amiri" pitchFamily="34" charset="0"/>
                <a:ea typeface="Amiri" pitchFamily="34" charset="-122"/>
                <a:cs typeface="Amiri" pitchFamily="34" charset="-120"/>
              </a:rPr>
              <a:t>تُـ</a:t>
            </a:r>
            <a:endParaRPr lang="en-US" sz="1100" dirty="0"/>
          </a:p>
        </p:txBody>
      </p:sp>
      <p:sp>
        <p:nvSpPr>
          <p:cNvPr id="36" name="Shape 33"/>
          <p:cNvSpPr/>
          <p:nvPr/>
        </p:nvSpPr>
        <p:spPr>
          <a:xfrm>
            <a:off x="457200" y="3803904"/>
            <a:ext cx="11274552" cy="457200"/>
          </a:xfrm>
          <a:prstGeom prst="roundRect">
            <a:avLst>
              <a:gd name="adj" fmla="val 10000"/>
            </a:avLst>
          </a:prstGeom>
          <a:solidFill>
            <a:srgbClr val="F4F1EA"/>
          </a:solidFill>
          <a:ln w="9525">
            <a:solidFill>
              <a:srgbClr val="D8D0BF"/>
            </a:solidFill>
            <a:prstDash val="solid"/>
          </a:ln>
        </p:spPr>
      </p:sp>
      <p:sp>
        <p:nvSpPr>
          <p:cNvPr id="37" name="Text 34"/>
          <p:cNvSpPr txBox="1"/>
          <p:nvPr/>
        </p:nvSpPr>
        <p:spPr>
          <a:xfrm>
            <a:off x="7799832" y="3822192"/>
            <a:ext cx="384048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تُرْمَى النُّفَايَاتُ</a:t>
            </a:r>
            <a:endParaRPr lang="ar-SA" sz="1300" dirty="0"/>
          </a:p>
        </p:txBody>
      </p:sp>
      <p:sp>
        <p:nvSpPr>
          <p:cNvPr id="38" name="Text 35"/>
          <p:cNvSpPr txBox="1"/>
          <p:nvPr/>
        </p:nvSpPr>
        <p:spPr>
          <a:xfrm>
            <a:off x="7754112" y="4078224"/>
            <a:ext cx="393192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tur-mā n-nu-fā-yāt</a:t>
            </a:r>
            <a:endParaRPr lang="en-US" sz="950" dirty="0"/>
          </a:p>
        </p:txBody>
      </p:sp>
      <p:sp>
        <p:nvSpPr>
          <p:cNvPr id="39" name="Text 36"/>
          <p:cNvSpPr txBox="1"/>
          <p:nvPr/>
        </p:nvSpPr>
        <p:spPr>
          <a:xfrm>
            <a:off x="4709160" y="3803904"/>
            <a:ext cx="292608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waste is thrown</a:t>
            </a:r>
            <a:endParaRPr lang="en-US" sz="1100" dirty="0"/>
          </a:p>
        </p:txBody>
      </p:sp>
      <p:sp>
        <p:nvSpPr>
          <p:cNvPr id="40" name="Text 37"/>
          <p:cNvSpPr txBox="1"/>
          <p:nvPr/>
        </p:nvSpPr>
        <p:spPr>
          <a:xfrm>
            <a:off x="566928" y="3803904"/>
            <a:ext cx="395935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PASSIVE</a:t>
            </a:r>
            <a:endParaRPr lang="en-US" sz="1100" dirty="0"/>
          </a:p>
        </p:txBody>
      </p:sp>
      <p:sp>
        <p:nvSpPr>
          <p:cNvPr id="41" name="Shape 38"/>
          <p:cNvSpPr/>
          <p:nvPr/>
        </p:nvSpPr>
        <p:spPr>
          <a:xfrm>
            <a:off x="457200" y="4315968"/>
            <a:ext cx="11274552" cy="457200"/>
          </a:xfrm>
          <a:prstGeom prst="roundRect">
            <a:avLst>
              <a:gd name="adj" fmla="val 10000"/>
            </a:avLst>
          </a:prstGeom>
          <a:solidFill>
            <a:srgbClr val="FFFFFF"/>
          </a:solidFill>
          <a:ln w="9525">
            <a:solidFill>
              <a:srgbClr val="D8D0BF"/>
            </a:solidFill>
            <a:prstDash val="solid"/>
          </a:ln>
        </p:spPr>
      </p:sp>
      <p:sp>
        <p:nvSpPr>
          <p:cNvPr id="42" name="Text 39"/>
          <p:cNvSpPr txBox="1"/>
          <p:nvPr/>
        </p:nvSpPr>
        <p:spPr>
          <a:xfrm>
            <a:off x="7799832" y="4334256"/>
            <a:ext cx="384048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يَنْبَعِثُ الدُّخَانُ</a:t>
            </a:r>
            <a:endParaRPr lang="ar-SA" sz="1300" dirty="0"/>
          </a:p>
        </p:txBody>
      </p:sp>
      <p:sp>
        <p:nvSpPr>
          <p:cNvPr id="43" name="Text 40"/>
          <p:cNvSpPr txBox="1"/>
          <p:nvPr/>
        </p:nvSpPr>
        <p:spPr>
          <a:xfrm>
            <a:off x="7754112" y="4590288"/>
            <a:ext cx="393192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yan-ba-ʿi-thu d-du-khān</a:t>
            </a:r>
            <a:endParaRPr lang="en-US" sz="950" dirty="0"/>
          </a:p>
        </p:txBody>
      </p:sp>
      <p:sp>
        <p:nvSpPr>
          <p:cNvPr id="44" name="Text 41"/>
          <p:cNvSpPr txBox="1"/>
          <p:nvPr/>
        </p:nvSpPr>
        <p:spPr>
          <a:xfrm>
            <a:off x="4709160" y="4315968"/>
            <a:ext cx="292608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smoke is emitted</a:t>
            </a:r>
            <a:endParaRPr lang="en-US" sz="1100" dirty="0"/>
          </a:p>
        </p:txBody>
      </p:sp>
      <p:sp>
        <p:nvSpPr>
          <p:cNvPr id="45" name="Text 42"/>
          <p:cNvSpPr txBox="1"/>
          <p:nvPr/>
        </p:nvSpPr>
        <p:spPr>
          <a:xfrm>
            <a:off x="566928" y="4315968"/>
            <a:ext cx="395935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PROCESS verb — not a passive</a:t>
            </a:r>
            <a:endParaRPr lang="en-US" sz="1100" dirty="0"/>
          </a:p>
        </p:txBody>
      </p:sp>
      <p:sp>
        <p:nvSpPr>
          <p:cNvPr id="46" name="Shape 43"/>
          <p:cNvSpPr/>
          <p:nvPr/>
        </p:nvSpPr>
        <p:spPr>
          <a:xfrm>
            <a:off x="457200" y="4828032"/>
            <a:ext cx="11274552" cy="457200"/>
          </a:xfrm>
          <a:prstGeom prst="roundRect">
            <a:avLst>
              <a:gd name="adj" fmla="val 10000"/>
            </a:avLst>
          </a:prstGeom>
          <a:solidFill>
            <a:srgbClr val="F4F1EA"/>
          </a:solidFill>
          <a:ln w="9525">
            <a:solidFill>
              <a:srgbClr val="D8D0BF"/>
            </a:solidFill>
            <a:prstDash val="solid"/>
          </a:ln>
        </p:spPr>
      </p:sp>
      <p:sp>
        <p:nvSpPr>
          <p:cNvPr id="47" name="Text 44"/>
          <p:cNvSpPr txBox="1"/>
          <p:nvPr/>
        </p:nvSpPr>
        <p:spPr>
          <a:xfrm>
            <a:off x="7799832" y="4846320"/>
            <a:ext cx="384048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يَتَرَاكَمُ البِلَاسْتِيكُ</a:t>
            </a:r>
            <a:endParaRPr lang="ar-SA" sz="1300" dirty="0"/>
          </a:p>
        </p:txBody>
      </p:sp>
      <p:sp>
        <p:nvSpPr>
          <p:cNvPr id="48" name="Text 45"/>
          <p:cNvSpPr txBox="1"/>
          <p:nvPr/>
        </p:nvSpPr>
        <p:spPr>
          <a:xfrm>
            <a:off x="7754112" y="5102352"/>
            <a:ext cx="393192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ya-ta-rā-ka-mu l-bi-lās-tīk</a:t>
            </a:r>
            <a:endParaRPr lang="en-US" sz="950" dirty="0"/>
          </a:p>
        </p:txBody>
      </p:sp>
      <p:sp>
        <p:nvSpPr>
          <p:cNvPr id="49" name="Text 46"/>
          <p:cNvSpPr txBox="1"/>
          <p:nvPr/>
        </p:nvSpPr>
        <p:spPr>
          <a:xfrm>
            <a:off x="4709160" y="4828032"/>
            <a:ext cx="292608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plastic accumulates</a:t>
            </a:r>
            <a:endParaRPr lang="en-US" sz="1100" dirty="0"/>
          </a:p>
        </p:txBody>
      </p:sp>
      <p:sp>
        <p:nvSpPr>
          <p:cNvPr id="50" name="Text 47"/>
          <p:cNvSpPr txBox="1"/>
          <p:nvPr/>
        </p:nvSpPr>
        <p:spPr>
          <a:xfrm>
            <a:off x="566928" y="4828032"/>
            <a:ext cx="395935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PROCESS verb</a:t>
            </a:r>
            <a:endParaRPr lang="en-US" sz="1100" dirty="0"/>
          </a:p>
        </p:txBody>
      </p:sp>
      <p:sp>
        <p:nvSpPr>
          <p:cNvPr id="51" name="Shape 48"/>
          <p:cNvSpPr/>
          <p:nvPr/>
        </p:nvSpPr>
        <p:spPr>
          <a:xfrm>
            <a:off x="457200" y="5340096"/>
            <a:ext cx="11274552" cy="457200"/>
          </a:xfrm>
          <a:prstGeom prst="roundRect">
            <a:avLst>
              <a:gd name="adj" fmla="val 10000"/>
            </a:avLst>
          </a:prstGeom>
          <a:solidFill>
            <a:srgbClr val="FFFFFF"/>
          </a:solidFill>
          <a:ln w="9525">
            <a:solidFill>
              <a:srgbClr val="D8D0BF"/>
            </a:solidFill>
            <a:prstDash val="solid"/>
          </a:ln>
        </p:spPr>
      </p:sp>
      <p:sp>
        <p:nvSpPr>
          <p:cNvPr id="52" name="Text 49"/>
          <p:cNvSpPr txBox="1"/>
          <p:nvPr/>
        </p:nvSpPr>
        <p:spPr>
          <a:xfrm>
            <a:off x="7799832" y="5358384"/>
            <a:ext cx="384048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يُهَدِّدُ</a:t>
            </a:r>
            <a:endParaRPr lang="ar-SA" sz="1300" dirty="0"/>
          </a:p>
        </p:txBody>
      </p:sp>
      <p:sp>
        <p:nvSpPr>
          <p:cNvPr id="53" name="Text 50"/>
          <p:cNvSpPr txBox="1"/>
          <p:nvPr/>
        </p:nvSpPr>
        <p:spPr>
          <a:xfrm>
            <a:off x="7754112" y="5614416"/>
            <a:ext cx="393192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yu-had-di-du</a:t>
            </a:r>
            <a:endParaRPr lang="en-US" sz="950" dirty="0"/>
          </a:p>
        </p:txBody>
      </p:sp>
      <p:sp>
        <p:nvSpPr>
          <p:cNvPr id="54" name="Text 51"/>
          <p:cNvSpPr txBox="1"/>
          <p:nvPr/>
        </p:nvSpPr>
        <p:spPr>
          <a:xfrm>
            <a:off x="4709160" y="5340096"/>
            <a:ext cx="292608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threatens</a:t>
            </a:r>
            <a:endParaRPr lang="en-US" sz="1100" dirty="0"/>
          </a:p>
        </p:txBody>
      </p:sp>
      <p:sp>
        <p:nvSpPr>
          <p:cNvPr id="55" name="Text 52"/>
          <p:cNvSpPr txBox="1"/>
          <p:nvPr/>
        </p:nvSpPr>
        <p:spPr>
          <a:xfrm>
            <a:off x="566928" y="5340096"/>
            <a:ext cx="395935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ACTIVE + object (TC-L02)</a:t>
            </a:r>
            <a:endParaRPr lang="en-US" sz="1100" dirty="0"/>
          </a:p>
        </p:txBody>
      </p:sp>
      <p:sp>
        <p:nvSpPr>
          <p:cNvPr id="56" name="Shape 53"/>
          <p:cNvSpPr/>
          <p:nvPr/>
        </p:nvSpPr>
        <p:spPr>
          <a:xfrm>
            <a:off x="457200" y="5852160"/>
            <a:ext cx="11274552" cy="457200"/>
          </a:xfrm>
          <a:prstGeom prst="roundRect">
            <a:avLst>
              <a:gd name="adj" fmla="val 10000"/>
            </a:avLst>
          </a:prstGeom>
          <a:solidFill>
            <a:srgbClr val="F4F1EA"/>
          </a:solidFill>
          <a:ln w="9525">
            <a:solidFill>
              <a:srgbClr val="D8D0BF"/>
            </a:solidFill>
            <a:prstDash val="solid"/>
          </a:ln>
        </p:spPr>
      </p:sp>
      <p:sp>
        <p:nvSpPr>
          <p:cNvPr id="57" name="Text 54"/>
          <p:cNvSpPr txBox="1"/>
          <p:nvPr/>
        </p:nvSpPr>
        <p:spPr>
          <a:xfrm>
            <a:off x="7799832" y="5870448"/>
            <a:ext cx="384048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يَضُرُّ بِـ</a:t>
            </a:r>
            <a:endParaRPr lang="ar-SA" sz="1300" dirty="0"/>
          </a:p>
        </p:txBody>
      </p:sp>
      <p:sp>
        <p:nvSpPr>
          <p:cNvPr id="58" name="Text 55"/>
          <p:cNvSpPr txBox="1"/>
          <p:nvPr/>
        </p:nvSpPr>
        <p:spPr>
          <a:xfrm>
            <a:off x="7754112" y="6126480"/>
            <a:ext cx="393192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ya-ḍur-ru bi</a:t>
            </a:r>
            <a:endParaRPr lang="en-US" sz="950" dirty="0"/>
          </a:p>
        </p:txBody>
      </p:sp>
      <p:sp>
        <p:nvSpPr>
          <p:cNvPr id="59" name="Text 56"/>
          <p:cNvSpPr txBox="1"/>
          <p:nvPr/>
        </p:nvSpPr>
        <p:spPr>
          <a:xfrm>
            <a:off x="4709160" y="5852160"/>
            <a:ext cx="292608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harms</a:t>
            </a:r>
            <a:endParaRPr lang="en-US" sz="1100" dirty="0"/>
          </a:p>
        </p:txBody>
      </p:sp>
      <p:sp>
        <p:nvSpPr>
          <p:cNvPr id="60" name="Text 57"/>
          <p:cNvSpPr txBox="1"/>
          <p:nvPr/>
        </p:nvSpPr>
        <p:spPr>
          <a:xfrm>
            <a:off x="566928" y="5852160"/>
            <a:ext cx="395935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ACTIVE + </a:t>
            </a:r>
            <a:pPr algn="l" indent="0" marL="0">
              <a:buNone/>
            </a:pPr>
            <a:r>
              <a:rPr lang="ar-SA" altLang="en-US" sz="1450" dirty="0">
                <a:solidFill>
                  <a:srgbClr val="5A6472"/>
                </a:solidFill>
                <a:latin typeface="Amiri" pitchFamily="34" charset="0"/>
                <a:ea typeface="Amiri" pitchFamily="34" charset="-122"/>
                <a:cs typeface="Amiri" pitchFamily="34" charset="-120"/>
              </a:rPr>
              <a:t>بِـ</a:t>
            </a:r>
            <a:endParaRPr lang="en-US" sz="110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CAUSE → EFFECT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Cause and effect in three beats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السَّبَبُ ← النَّتِيجَةُ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ea typeface="Calibri" pitchFamily="34" charset="-122"/>
                <a:cs typeface="Calibri" pitchFamily="34" charset="-120"/>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يُسَبِّبُ / يُؤَدِّي</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connector verb (key word)</a:t>
            </a:r>
            <a:endParaRPr lang="en-US" sz="900" dirty="0"/>
          </a:p>
        </p:txBody>
      </p:sp>
      <p:sp>
        <p:nvSpPr>
          <p:cNvPr id="19" name="Shape 16"/>
          <p:cNvSpPr/>
          <p:nvPr/>
        </p:nvSpPr>
        <p:spPr>
          <a:xfrm>
            <a:off x="6336792" y="1810512"/>
            <a:ext cx="2642616" cy="566928"/>
          </a:xfrm>
          <a:prstGeom prst="roundRect">
            <a:avLst>
              <a:gd name="adj" fmla="val 9677"/>
            </a:avLst>
          </a:prstGeom>
          <a:solidFill>
            <a:srgbClr val="1B3B6F"/>
          </a:solidFill>
          <a:ln w="12700">
            <a:solidFill>
              <a:srgbClr val="1B3B6F"/>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السَّبَبُ</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cause</a:t>
            </a:r>
            <a:endParaRPr lang="en-US" sz="900" dirty="0"/>
          </a:p>
        </p:txBody>
      </p:sp>
      <p:sp>
        <p:nvSpPr>
          <p:cNvPr id="22" name="Shape 19"/>
          <p:cNvSpPr/>
          <p:nvPr/>
        </p:nvSpPr>
        <p:spPr>
          <a:xfrm>
            <a:off x="3584448" y="1810512"/>
            <a:ext cx="2642616" cy="566928"/>
          </a:xfrm>
          <a:prstGeom prst="roundRect">
            <a:avLst>
              <a:gd name="adj" fmla="val 9677"/>
            </a:avLst>
          </a:prstGeom>
          <a:solidFill>
            <a:srgbClr val="8A6D1E"/>
          </a:solidFill>
          <a:ln w="12700">
            <a:solidFill>
              <a:srgbClr val="8A6D1E"/>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النَّتِيجَةُ</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effect</a:t>
            </a:r>
            <a:endParaRPr lang="en-US" sz="900" dirty="0"/>
          </a:p>
        </p:txBody>
      </p:sp>
      <p:sp>
        <p:nvSpPr>
          <p:cNvPr id="25" name="Text 22"/>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Factory smoke causes air pollution.</a:t>
            </a:r>
            <a:endParaRPr lang="en-US" sz="1200" dirty="0"/>
          </a:p>
        </p:txBody>
      </p:sp>
      <p:sp>
        <p:nvSpPr>
          <p:cNvPr id="26" name="Shape 23"/>
          <p:cNvSpPr/>
          <p:nvPr/>
        </p:nvSpPr>
        <p:spPr>
          <a:xfrm>
            <a:off x="9089136" y="2487168"/>
            <a:ext cx="2642616" cy="768096"/>
          </a:xfrm>
          <a:prstGeom prst="roundRect">
            <a:avLst>
              <a:gd name="adj" fmla="val 7143"/>
            </a:avLst>
          </a:prstGeom>
          <a:solidFill>
            <a:srgbClr val="E3F2F3"/>
          </a:solidFill>
          <a:ln w="9525">
            <a:solidFill>
              <a:srgbClr val="E3F2F3"/>
            </a:solidFill>
            <a:prstDash val="solid"/>
          </a:ln>
        </p:spPr>
      </p:sp>
      <p:sp>
        <p:nvSpPr>
          <p:cNvPr id="27" name="Text 24"/>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يُسَبِّبُ</a:t>
            </a:r>
            <a:endParaRPr lang="ar-SA" sz="2400" dirty="0"/>
          </a:p>
        </p:txBody>
      </p:sp>
      <p:sp>
        <p:nvSpPr>
          <p:cNvPr id="28" name="Shape 25"/>
          <p:cNvSpPr/>
          <p:nvPr/>
        </p:nvSpPr>
        <p:spPr>
          <a:xfrm>
            <a:off x="6336792" y="2487168"/>
            <a:ext cx="2642616" cy="768096"/>
          </a:xfrm>
          <a:prstGeom prst="roundRect">
            <a:avLst>
              <a:gd name="adj" fmla="val 7143"/>
            </a:avLst>
          </a:prstGeom>
          <a:solidFill>
            <a:srgbClr val="EEF3FA"/>
          </a:solidFill>
          <a:ln w="9525">
            <a:solidFill>
              <a:srgbClr val="EEF3FA"/>
            </a:solidFill>
            <a:prstDash val="solid"/>
          </a:ln>
        </p:spPr>
      </p:sp>
      <p:sp>
        <p:nvSpPr>
          <p:cNvPr id="29" name="Text 26"/>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دُخَانُ المَصَانِعِ</a:t>
            </a:r>
            <a:endParaRPr lang="ar-SA" sz="2400" dirty="0"/>
          </a:p>
        </p:txBody>
      </p:sp>
      <p:sp>
        <p:nvSpPr>
          <p:cNvPr id="30" name="Shape 27"/>
          <p:cNvSpPr/>
          <p:nvPr/>
        </p:nvSpPr>
        <p:spPr>
          <a:xfrm>
            <a:off x="3584448" y="2487168"/>
            <a:ext cx="2642616" cy="768096"/>
          </a:xfrm>
          <a:prstGeom prst="roundRect">
            <a:avLst>
              <a:gd name="adj" fmla="val 7143"/>
            </a:avLst>
          </a:prstGeom>
          <a:solidFill>
            <a:srgbClr val="F8F0DC"/>
          </a:solidFill>
          <a:ln w="9525">
            <a:solidFill>
              <a:srgbClr val="F8F0DC"/>
            </a:solidFill>
            <a:prstDash val="solid"/>
          </a:ln>
        </p:spPr>
      </p:sp>
      <p:sp>
        <p:nvSpPr>
          <p:cNvPr id="31" name="Text 28"/>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تَلَوُّثَ الهَوَاءِ.</a:t>
            </a:r>
            <a:endParaRPr lang="ar-SA" sz="2400" dirty="0"/>
          </a:p>
        </p:txBody>
      </p:sp>
      <p:sp>
        <p:nvSpPr>
          <p:cNvPr id="32" name="Text 29"/>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Cutting down trees leads to habitat loss.</a:t>
            </a:r>
            <a:endParaRPr lang="en-US" sz="1200" dirty="0"/>
          </a:p>
        </p:txBody>
      </p:sp>
      <p:sp>
        <p:nvSpPr>
          <p:cNvPr id="33" name="Shape 30"/>
          <p:cNvSpPr/>
          <p:nvPr/>
        </p:nvSpPr>
        <p:spPr>
          <a:xfrm>
            <a:off x="9089136" y="3364992"/>
            <a:ext cx="2642616" cy="768096"/>
          </a:xfrm>
          <a:prstGeom prst="roundRect">
            <a:avLst>
              <a:gd name="adj" fmla="val 7143"/>
            </a:avLst>
          </a:prstGeom>
          <a:solidFill>
            <a:srgbClr val="E3F2F3"/>
          </a:solidFill>
          <a:ln w="9525">
            <a:solidFill>
              <a:srgbClr val="E3F2F3"/>
            </a:solidFill>
            <a:prstDash val="solid"/>
          </a:ln>
        </p:spPr>
      </p:sp>
      <p:sp>
        <p:nvSpPr>
          <p:cNvPr id="34" name="Text 31"/>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يُؤَدِّي</a:t>
            </a:r>
            <a:endParaRPr lang="ar-SA" sz="2400" dirty="0"/>
          </a:p>
        </p:txBody>
      </p:sp>
      <p:sp>
        <p:nvSpPr>
          <p:cNvPr id="35" name="Shape 32"/>
          <p:cNvSpPr/>
          <p:nvPr/>
        </p:nvSpPr>
        <p:spPr>
          <a:xfrm>
            <a:off x="6336792" y="3364992"/>
            <a:ext cx="2642616" cy="768096"/>
          </a:xfrm>
          <a:prstGeom prst="roundRect">
            <a:avLst>
              <a:gd name="adj" fmla="val 7143"/>
            </a:avLst>
          </a:prstGeom>
          <a:solidFill>
            <a:srgbClr val="EEF3FA"/>
          </a:solidFill>
          <a:ln w="9525">
            <a:solidFill>
              <a:srgbClr val="EEF3FA"/>
            </a:solidFill>
            <a:prstDash val="solid"/>
          </a:ln>
        </p:spPr>
      </p:sp>
      <p:sp>
        <p:nvSpPr>
          <p:cNvPr id="36" name="Text 33"/>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قَطْعُ الأَشْجَارِ</a:t>
            </a:r>
            <a:endParaRPr lang="ar-SA" sz="2400" dirty="0"/>
          </a:p>
        </p:txBody>
      </p:sp>
      <p:sp>
        <p:nvSpPr>
          <p:cNvPr id="37" name="Shape 34"/>
          <p:cNvSpPr/>
          <p:nvPr/>
        </p:nvSpPr>
        <p:spPr>
          <a:xfrm>
            <a:off x="3584448" y="3364992"/>
            <a:ext cx="2642616" cy="768096"/>
          </a:xfrm>
          <a:prstGeom prst="roundRect">
            <a:avLst>
              <a:gd name="adj" fmla="val 7143"/>
            </a:avLst>
          </a:prstGeom>
          <a:solidFill>
            <a:srgbClr val="F8F0DC"/>
          </a:solidFill>
          <a:ln w="9525">
            <a:solidFill>
              <a:srgbClr val="F8F0DC"/>
            </a:solidFill>
            <a:prstDash val="solid"/>
          </a:ln>
        </p:spPr>
      </p:sp>
      <p:sp>
        <p:nvSpPr>
          <p:cNvPr id="38" name="Text 35"/>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إِلَى فَقْدِ المَوَائِلِ.</a:t>
            </a:r>
            <a:endParaRPr lang="ar-SA" sz="2400" dirty="0"/>
          </a:p>
        </p:txBody>
      </p:sp>
      <p:sp>
        <p:nvSpPr>
          <p:cNvPr id="39" name="Text 36"/>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Global warming leads to the ice melting.</a:t>
            </a:r>
            <a:endParaRPr lang="en-US" sz="1200" dirty="0"/>
          </a:p>
        </p:txBody>
      </p:sp>
      <p:sp>
        <p:nvSpPr>
          <p:cNvPr id="40" name="Shape 37"/>
          <p:cNvSpPr/>
          <p:nvPr/>
        </p:nvSpPr>
        <p:spPr>
          <a:xfrm>
            <a:off x="9089136" y="4242816"/>
            <a:ext cx="2642616" cy="768096"/>
          </a:xfrm>
          <a:prstGeom prst="roundRect">
            <a:avLst>
              <a:gd name="adj" fmla="val 7143"/>
            </a:avLst>
          </a:prstGeom>
          <a:solidFill>
            <a:srgbClr val="E3F2F3"/>
          </a:solidFill>
          <a:ln w="9525">
            <a:solidFill>
              <a:srgbClr val="E3F2F3"/>
            </a:solidFill>
            <a:prstDash val="solid"/>
          </a:ln>
        </p:spPr>
      </p:sp>
      <p:sp>
        <p:nvSpPr>
          <p:cNvPr id="41" name="Text 38"/>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يُؤَدِّي</a:t>
            </a:r>
            <a:endParaRPr lang="ar-SA" sz="2400" dirty="0"/>
          </a:p>
        </p:txBody>
      </p:sp>
      <p:sp>
        <p:nvSpPr>
          <p:cNvPr id="42" name="Shape 39"/>
          <p:cNvSpPr/>
          <p:nvPr/>
        </p:nvSpPr>
        <p:spPr>
          <a:xfrm>
            <a:off x="6336792" y="4242816"/>
            <a:ext cx="2642616" cy="768096"/>
          </a:xfrm>
          <a:prstGeom prst="roundRect">
            <a:avLst>
              <a:gd name="adj" fmla="val 7143"/>
            </a:avLst>
          </a:prstGeom>
          <a:solidFill>
            <a:srgbClr val="EEF3FA"/>
          </a:solidFill>
          <a:ln w="9525">
            <a:solidFill>
              <a:srgbClr val="EEF3FA"/>
            </a:solidFill>
            <a:prstDash val="solid"/>
          </a:ln>
        </p:spPr>
      </p:sp>
      <p:sp>
        <p:nvSpPr>
          <p:cNvPr id="43" name="Text 40"/>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الاحْتِبَاسُ الحَرَارِيُّ</a:t>
            </a:r>
            <a:endParaRPr lang="ar-SA" sz="2400" dirty="0"/>
          </a:p>
        </p:txBody>
      </p:sp>
      <p:sp>
        <p:nvSpPr>
          <p:cNvPr id="44" name="Shape 41"/>
          <p:cNvSpPr/>
          <p:nvPr/>
        </p:nvSpPr>
        <p:spPr>
          <a:xfrm>
            <a:off x="3584448" y="4242816"/>
            <a:ext cx="2642616" cy="768096"/>
          </a:xfrm>
          <a:prstGeom prst="roundRect">
            <a:avLst>
              <a:gd name="adj" fmla="val 7143"/>
            </a:avLst>
          </a:prstGeom>
          <a:solidFill>
            <a:srgbClr val="F8F0DC"/>
          </a:solidFill>
          <a:ln w="9525">
            <a:solidFill>
              <a:srgbClr val="F8F0DC"/>
            </a:solidFill>
            <a:prstDash val="solid"/>
          </a:ln>
        </p:spPr>
      </p:sp>
      <p:sp>
        <p:nvSpPr>
          <p:cNvPr id="45" name="Text 42"/>
          <p:cNvSpPr txBox="1"/>
          <p:nvPr/>
        </p:nvSpPr>
        <p:spPr>
          <a:xfrm>
            <a:off x="3657600"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إِلَى ذَوَبَانِ الجَلِيدِ.</a:t>
            </a:r>
            <a:endParaRPr lang="ar-SA" sz="2400" dirty="0"/>
          </a:p>
        </p:txBody>
      </p:sp>
      <p:sp>
        <p:nvSpPr>
          <p:cNvPr id="46" name="Text 43"/>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Pollution leads to illnesses.</a:t>
            </a:r>
            <a:endParaRPr lang="en-US" sz="1200" dirty="0"/>
          </a:p>
        </p:txBody>
      </p:sp>
      <p:sp>
        <p:nvSpPr>
          <p:cNvPr id="47" name="Shape 44"/>
          <p:cNvSpPr/>
          <p:nvPr/>
        </p:nvSpPr>
        <p:spPr>
          <a:xfrm>
            <a:off x="9089136" y="5120640"/>
            <a:ext cx="2642616" cy="768096"/>
          </a:xfrm>
          <a:prstGeom prst="roundRect">
            <a:avLst>
              <a:gd name="adj" fmla="val 7143"/>
            </a:avLst>
          </a:prstGeom>
          <a:solidFill>
            <a:srgbClr val="E3F2F3"/>
          </a:solidFill>
          <a:ln w="9525">
            <a:solidFill>
              <a:srgbClr val="E3F2F3"/>
            </a:solidFill>
            <a:prstDash val="solid"/>
          </a:ln>
        </p:spPr>
      </p:sp>
      <p:sp>
        <p:nvSpPr>
          <p:cNvPr id="48" name="Text 45"/>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يُؤَدِّي</a:t>
            </a:r>
            <a:endParaRPr lang="ar-SA" sz="2400" dirty="0"/>
          </a:p>
        </p:txBody>
      </p:sp>
      <p:sp>
        <p:nvSpPr>
          <p:cNvPr id="49" name="Shape 46"/>
          <p:cNvSpPr/>
          <p:nvPr/>
        </p:nvSpPr>
        <p:spPr>
          <a:xfrm>
            <a:off x="6336792" y="5120640"/>
            <a:ext cx="2642616" cy="768096"/>
          </a:xfrm>
          <a:prstGeom prst="roundRect">
            <a:avLst>
              <a:gd name="adj" fmla="val 7143"/>
            </a:avLst>
          </a:prstGeom>
          <a:solidFill>
            <a:srgbClr val="EEF3FA"/>
          </a:solidFill>
          <a:ln w="9525">
            <a:solidFill>
              <a:srgbClr val="EEF3FA"/>
            </a:solidFill>
            <a:prstDash val="solid"/>
          </a:ln>
        </p:spPr>
      </p:sp>
      <p:sp>
        <p:nvSpPr>
          <p:cNvPr id="50" name="Text 47"/>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التَّلَوُّثُ</a:t>
            </a:r>
            <a:endParaRPr lang="ar-SA" sz="2400" dirty="0"/>
          </a:p>
        </p:txBody>
      </p:sp>
      <p:sp>
        <p:nvSpPr>
          <p:cNvPr id="51" name="Shape 48"/>
          <p:cNvSpPr/>
          <p:nvPr/>
        </p:nvSpPr>
        <p:spPr>
          <a:xfrm>
            <a:off x="3584448" y="5120640"/>
            <a:ext cx="2642616" cy="768096"/>
          </a:xfrm>
          <a:prstGeom prst="roundRect">
            <a:avLst>
              <a:gd name="adj" fmla="val 7143"/>
            </a:avLst>
          </a:prstGeom>
          <a:solidFill>
            <a:srgbClr val="F8F0DC"/>
          </a:solidFill>
          <a:ln w="9525">
            <a:solidFill>
              <a:srgbClr val="F8F0DC"/>
            </a:solidFill>
            <a:prstDash val="solid"/>
          </a:ln>
        </p:spPr>
      </p:sp>
      <p:sp>
        <p:nvSpPr>
          <p:cNvPr id="52" name="Text 49"/>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إِلَى أَمْرَاضٍ.</a:t>
            </a:r>
            <a:endParaRPr lang="ar-SA" sz="2400" dirty="0"/>
          </a:p>
        </p:txBody>
      </p:sp>
      <p:sp>
        <p:nvSpPr>
          <p:cNvPr id="53" name="Text 50"/>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ea typeface="Calibri" pitchFamily="34" charset="-122"/>
                <a:cs typeface="Calibri" pitchFamily="34" charset="-120"/>
              </a:rPr>
              <a:t>Pattern: </a:t>
            </a:r>
            <a:pPr algn="l" indent="0" marL="0">
              <a:buNone/>
            </a:pPr>
            <a:r>
              <a:rPr lang="ar-SA" altLang="en-US" sz="1550" b="1" dirty="0">
                <a:solidFill>
                  <a:srgbClr val="8A6D1E"/>
                </a:solidFill>
                <a:latin typeface="Amiri" pitchFamily="34" charset="0"/>
                <a:ea typeface="Amiri" pitchFamily="34" charset="-122"/>
                <a:cs typeface="Amiri" pitchFamily="34" charset="-120"/>
              </a:rPr>
              <a:t>يُسَبِّبُ</a:t>
            </a:r>
            <a:pPr algn="l" indent="0" marL="0">
              <a:buNone/>
            </a:pPr>
            <a:r>
              <a:rPr lang="en-US" sz="1200" b="1" dirty="0">
                <a:solidFill>
                  <a:srgbClr val="8A6D1E"/>
                </a:solidFill>
                <a:latin typeface="Calibri" pitchFamily="34" charset="0"/>
                <a:ea typeface="Calibri" pitchFamily="34" charset="-122"/>
                <a:cs typeface="Calibri" pitchFamily="34" charset="-120"/>
              </a:rPr>
              <a:t> + cause + effect, or </a:t>
            </a:r>
            <a:pPr algn="l" indent="0" marL="0">
              <a:buNone/>
            </a:pPr>
            <a:r>
              <a:rPr lang="ar-SA" altLang="en-US" sz="1550" b="1" dirty="0">
                <a:solidFill>
                  <a:srgbClr val="8A6D1E"/>
                </a:solidFill>
                <a:latin typeface="Amiri" pitchFamily="34" charset="0"/>
                <a:ea typeface="Amiri" pitchFamily="34" charset="-122"/>
                <a:cs typeface="Amiri" pitchFamily="34" charset="-120"/>
              </a:rPr>
              <a:t>يُؤَدِّي</a:t>
            </a:r>
            <a:pPr algn="l" indent="0" marL="0">
              <a:buNone/>
            </a:pPr>
            <a:r>
              <a:rPr lang="en-US" sz="1200" b="1" dirty="0">
                <a:solidFill>
                  <a:srgbClr val="8A6D1E"/>
                </a:solidFill>
                <a:latin typeface="Calibri" pitchFamily="34" charset="0"/>
                <a:ea typeface="Calibri" pitchFamily="34" charset="-122"/>
                <a:cs typeface="Calibri" pitchFamily="34" charset="-120"/>
              </a:rPr>
              <a:t> + cause + </a:t>
            </a:r>
            <a:pPr algn="l" indent="0" marL="0">
              <a:buNone/>
            </a:pPr>
            <a:r>
              <a:rPr lang="ar-SA" altLang="en-US" sz="1550" b="1" dirty="0">
                <a:solidFill>
                  <a:srgbClr val="8A6D1E"/>
                </a:solidFill>
                <a:latin typeface="Amiri" pitchFamily="34" charset="0"/>
                <a:ea typeface="Amiri" pitchFamily="34" charset="-122"/>
                <a:cs typeface="Amiri" pitchFamily="34" charset="-120"/>
              </a:rPr>
              <a:t>إِلَى</a:t>
            </a:r>
            <a:pPr algn="l" indent="0" marL="0">
              <a:buNone/>
            </a:pPr>
            <a:r>
              <a:rPr lang="en-US" sz="1200" b="1" dirty="0">
                <a:solidFill>
                  <a:srgbClr val="8A6D1E"/>
                </a:solidFill>
                <a:latin typeface="Calibri" pitchFamily="34" charset="0"/>
                <a:ea typeface="Calibri" pitchFamily="34" charset="-122"/>
                <a:cs typeface="Calibri" pitchFamily="34" charset="-120"/>
              </a:rPr>
              <a:t> + effect. Never </a:t>
            </a:r>
            <a:pPr algn="l" indent="0" marL="0">
              <a:buNone/>
            </a:pPr>
            <a:r>
              <a:rPr lang="ar-SA" altLang="en-US" sz="1550" b="1" dirty="0">
                <a:solidFill>
                  <a:srgbClr val="8A6D1E"/>
                </a:solidFill>
                <a:latin typeface="Amiri" pitchFamily="34" charset="0"/>
                <a:ea typeface="Amiri" pitchFamily="34" charset="-122"/>
                <a:cs typeface="Amiri" pitchFamily="34" charset="-120"/>
              </a:rPr>
              <a:t>يُؤَدِّي فِي</a:t>
            </a:r>
            <a:pPr algn="l" indent="0" marL="0">
              <a:buNone/>
            </a:pPr>
            <a:r>
              <a:rPr lang="en-US" sz="1200" b="1" dirty="0">
                <a:solidFill>
                  <a:srgbClr val="8A6D1E"/>
                </a:solidFill>
                <a:latin typeface="Calibri" pitchFamily="34" charset="0"/>
                <a:ea typeface="Calibri" pitchFamily="34" charset="-122"/>
                <a:cs typeface="Calibri" pitchFamily="34" charset="-120"/>
              </a:rPr>
              <a:t> ✗</a:t>
            </a:r>
            <a:endParaRPr lang="en-US" sz="12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THREE CONNECTORS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Because of · leads to · which causes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أَدَوَاتُ الرَّبْطِ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 · because of</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algn="l" indent="0" marL="0">
              <a:buNone/>
            </a:pPr>
            <a:r>
              <a:rPr lang="ar-SA" altLang="en-US" sz="2100" b="1" dirty="0">
                <a:solidFill>
                  <a:srgbClr val="8A6D1E"/>
                </a:solidFill>
                <a:latin typeface="Amiri" pitchFamily="34" charset="0"/>
                <a:ea typeface="Amiri" pitchFamily="34" charset="-122"/>
                <a:cs typeface="Amiri" pitchFamily="34" charset="-120"/>
              </a:rPr>
              <a:t>بِسَبَبِ</a:t>
            </a:r>
            <a:pPr algn="l" indent="0" marL="0">
              <a:buNone/>
            </a:pPr>
            <a:r>
              <a:rPr lang="en-US" sz="1600" b="1" dirty="0">
                <a:solidFill>
                  <a:srgbClr val="8A6D1E"/>
                </a:solidFill>
                <a:latin typeface="Calibri" pitchFamily="34" charset="0"/>
                <a:ea typeface="Calibri" pitchFamily="34" charset="-122"/>
                <a:cs typeface="Calibri" pitchFamily="34" charset="-120"/>
              </a:rPr>
              <a:t> + noun</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يَتَلَوَّثُ البَحْرُ بِسَبَبِ النُّفَايَاتِ</a:t>
            </a:r>
            <a:endParaRPr lang="ar-SA" sz="26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sea gets polluted because of waste.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بِسَبَبِ / نَتِيجَةً لِـ</a:t>
            </a:r>
            <a:pPr algn="l" indent="0" marL="0">
              <a:buNone/>
            </a:pPr>
            <a:r>
              <a:rPr lang="en-US" sz="1100" dirty="0">
                <a:solidFill>
                  <a:srgbClr val="1F2A37"/>
                </a:solidFill>
                <a:latin typeface="Calibri" pitchFamily="34" charset="0"/>
                <a:ea typeface="Calibri" pitchFamily="34" charset="-122"/>
                <a:cs typeface="Calibri" pitchFamily="34" charset="-120"/>
              </a:rPr>
              <a:t> + a NOUN phrase, not a whole sentence.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0E7C86"/>
          </a:solidFill>
          <a:ln w="12700">
            <a:solidFill>
              <a:srgbClr val="0E7C86"/>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 · leads to</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يُؤَدِّي إِلَى</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يُؤَدِّي التَّلَوُّثُ إِلَى أَمْرَاضٍ</a:t>
            </a:r>
            <a:endParaRPr lang="ar-SA" sz="31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Pollution leads to illnesses.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Always </a:t>
            </a:r>
            <a:pPr algn="l" indent="0" marL="0">
              <a:buNone/>
            </a:pPr>
            <a:r>
              <a:rPr lang="ar-SA" altLang="en-US" sz="1450" dirty="0">
                <a:solidFill>
                  <a:srgbClr val="1F2A37"/>
                </a:solidFill>
                <a:latin typeface="Amiri" pitchFamily="34" charset="0"/>
                <a:ea typeface="Amiri" pitchFamily="34" charset="-122"/>
                <a:cs typeface="Amiri" pitchFamily="34" charset="-120"/>
              </a:rPr>
              <a:t>إِلَى</a:t>
            </a:r>
            <a:pPr algn="l" indent="0" marL="0">
              <a:buNone/>
            </a:pPr>
            <a:r>
              <a:rPr lang="en-US" sz="1100" dirty="0">
                <a:solidFill>
                  <a:srgbClr val="1F2A37"/>
                </a:solidFill>
                <a:latin typeface="Calibri" pitchFamily="34" charset="0"/>
                <a:ea typeface="Calibri" pitchFamily="34" charset="-122"/>
                <a:cs typeface="Calibri" pitchFamily="34" charset="-120"/>
              </a:rPr>
              <a:t> after </a:t>
            </a:r>
            <a:pPr algn="l" indent="0" marL="0">
              <a:buNone/>
            </a:pPr>
            <a:r>
              <a:rPr lang="ar-SA" altLang="en-US" sz="1450" dirty="0">
                <a:solidFill>
                  <a:srgbClr val="1F2A37"/>
                </a:solidFill>
                <a:latin typeface="Amiri" pitchFamily="34" charset="0"/>
                <a:ea typeface="Amiri" pitchFamily="34" charset="-122"/>
                <a:cs typeface="Amiri" pitchFamily="34" charset="-120"/>
              </a:rPr>
              <a:t>يُؤَدِّي</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78308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 · which causes</a:t>
            </a:r>
            <a:endParaRPr lang="en-US" sz="850" dirty="0"/>
          </a:p>
        </p:txBody>
      </p:sp>
      <p:sp>
        <p:nvSpPr>
          <p:cNvPr id="34" name="Text 31"/>
          <p:cNvSpPr txBox="1"/>
          <p:nvPr/>
        </p:nvSpPr>
        <p:spPr>
          <a:xfrm>
            <a:off x="2423160"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مِمَّا يُسَبِّبُ</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تَرْتَفِعُ الحَرَارَةُ، مِمَّا يُسَبِّبُ ذَوَبَانَ الجَلِيدِ</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temperature rises, which causes the ice to melt.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مِمَّا</a:t>
            </a:r>
            <a:pPr algn="l" indent="0" marL="0">
              <a:buNone/>
            </a:pPr>
            <a:r>
              <a:rPr lang="en-US" sz="1100" dirty="0">
                <a:solidFill>
                  <a:srgbClr val="1F2A37"/>
                </a:solidFill>
                <a:latin typeface="Calibri" pitchFamily="34" charset="0"/>
                <a:ea typeface="Calibri" pitchFamily="34" charset="-122"/>
                <a:cs typeface="Calibri" pitchFamily="34" charset="-120"/>
              </a:rPr>
              <a:t> refers back to the WHOLE idea before the comma.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The website’s common mistakes: the wrong preposition after </a:t>
            </a:r>
            <a:pPr algn="l" indent="0" marL="0">
              <a:buNone/>
            </a:pPr>
            <a:r>
              <a:rPr lang="ar-SA" altLang="en-US" sz="1500" dirty="0">
                <a:solidFill>
                  <a:srgbClr val="1F2A37"/>
                </a:solidFill>
                <a:latin typeface="Amiri" pitchFamily="34" charset="0"/>
                <a:ea typeface="Amiri" pitchFamily="34" charset="-122"/>
                <a:cs typeface="Amiri" pitchFamily="34" charset="-120"/>
              </a:rPr>
              <a:t>يُؤَدِّي</a:t>
            </a:r>
            <a:pPr algn="l" indent="0" marL="0">
              <a:buNone/>
            </a:pPr>
            <a:r>
              <a:rPr lang="en-US" sz="1150" dirty="0">
                <a:solidFill>
                  <a:srgbClr val="1F2A37"/>
                </a:solidFill>
                <a:latin typeface="Calibri" pitchFamily="34" charset="0"/>
                <a:ea typeface="Calibri" pitchFamily="34" charset="-122"/>
                <a:cs typeface="Calibri" pitchFamily="34" charset="-120"/>
              </a:rPr>
              <a:t>, and a masculine verb with </a:t>
            </a:r>
            <a:pPr algn="l" indent="0" marL="0">
              <a:buNone/>
            </a:pPr>
            <a:r>
              <a:rPr lang="ar-SA" altLang="en-US" sz="1500" dirty="0">
                <a:solidFill>
                  <a:srgbClr val="1F2A37"/>
                </a:solidFill>
                <a:latin typeface="Amiri" pitchFamily="34" charset="0"/>
                <a:ea typeface="Amiri" pitchFamily="34" charset="-122"/>
                <a:cs typeface="Amiri" pitchFamily="34" charset="-120"/>
              </a:rPr>
              <a:t>الأَشْجَار</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يُؤَدِّي إِلَى</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يُؤَدِّي فِي</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تُقْطَعُ الأَشْجَارُ</a:t>
            </a:r>
            <a:endParaRPr lang="ar-SA" sz="2600" dirty="0"/>
          </a:p>
        </p:txBody>
      </p:sp>
      <p:sp>
        <p:nvSpPr>
          <p:cNvPr id="47" name="Text 44"/>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8" name="Text 45"/>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يُقْطَعُ الأَشْجَارُ</a:t>
            </a:r>
            <a:endParaRPr lang="ar-SA" sz="2600" dirty="0"/>
          </a:p>
        </p:txBody>
      </p:sp>
      <p:sp>
        <p:nvSpPr>
          <p:cNvPr id="49" name="Shape 46"/>
          <p:cNvSpPr/>
          <p:nvPr/>
        </p:nvSpPr>
        <p:spPr>
          <a:xfrm>
            <a:off x="4434840" y="5669280"/>
            <a:ext cx="1371600" cy="0"/>
          </a:xfrm>
          <a:prstGeom prst="line">
            <a:avLst/>
          </a:prstGeom>
          <a:noFill/>
          <a:ln w="25400">
            <a:solidFill>
              <a:srgbClr val="B83227"/>
            </a:solidFill>
            <a:prstDash val="solid"/>
          </a:ln>
        </p:spPr>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3 · DEVELOP · WEBSITE RULE “ACTIVE AND PASSIVE”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does it? Active or passive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يَفْعَلُ؟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10512"/>
            <a:ext cx="11274552" cy="420624"/>
          </a:xfrm>
          <a:prstGeom prst="rect">
            <a:avLst/>
          </a:prstGeom>
          <a:solidFill>
            <a:srgbClr val="1B3B6F"/>
          </a:solidFill>
          <a:ln w="12700">
            <a:solidFill>
              <a:srgbClr val="1B3B6F"/>
            </a:solidFill>
            <a:prstDash val="solid"/>
          </a:ln>
        </p:spPr>
      </p:sp>
      <p:sp>
        <p:nvSpPr>
          <p:cNvPr id="16" name="Text 13"/>
          <p:cNvSpPr txBox="1"/>
          <p:nvPr/>
        </p:nvSpPr>
        <p:spPr>
          <a:xfrm>
            <a:off x="9674352" y="1810512"/>
            <a:ext cx="19202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Type</a:t>
            </a:r>
            <a:endParaRPr lang="en-US" sz="1200" dirty="0"/>
          </a:p>
        </p:txBody>
      </p:sp>
      <p:sp>
        <p:nvSpPr>
          <p:cNvPr id="17" name="Text 14"/>
          <p:cNvSpPr txBox="1"/>
          <p:nvPr/>
        </p:nvSpPr>
        <p:spPr>
          <a:xfrm>
            <a:off x="6565392" y="1810512"/>
            <a:ext cx="28346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Verb</a:t>
            </a:r>
            <a:endParaRPr lang="en-US" sz="1200" dirty="0"/>
          </a:p>
        </p:txBody>
      </p:sp>
      <p:sp>
        <p:nvSpPr>
          <p:cNvPr id="18" name="Text 15"/>
          <p:cNvSpPr txBox="1"/>
          <p:nvPr/>
        </p:nvSpPr>
        <p:spPr>
          <a:xfrm>
            <a:off x="594360" y="1810512"/>
            <a:ext cx="5696712"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Website sentence</a:t>
            </a:r>
            <a:endParaRPr lang="en-US" sz="1200" dirty="0"/>
          </a:p>
        </p:txBody>
      </p:sp>
      <p:sp>
        <p:nvSpPr>
          <p:cNvPr id="19" name="Shape 16"/>
          <p:cNvSpPr/>
          <p:nvPr/>
        </p:nvSpPr>
        <p:spPr>
          <a:xfrm>
            <a:off x="457200" y="2322576"/>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085832" y="232257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مَعْلُومٌ</a:t>
            </a:r>
            <a:endParaRPr lang="ar-SA" sz="2400" dirty="0"/>
          </a:p>
        </p:txBody>
      </p:sp>
      <p:sp>
        <p:nvSpPr>
          <p:cNvPr id="21" name="Text 18"/>
          <p:cNvSpPr txBox="1"/>
          <p:nvPr/>
        </p:nvSpPr>
        <p:spPr>
          <a:xfrm>
            <a:off x="9509760" y="232257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active</a:t>
            </a:r>
            <a:endParaRPr lang="en-US" sz="1150" dirty="0"/>
          </a:p>
        </p:txBody>
      </p:sp>
      <p:sp>
        <p:nvSpPr>
          <p:cNvPr id="22" name="Text 19"/>
          <p:cNvSpPr txBox="1"/>
          <p:nvPr/>
        </p:nvSpPr>
        <p:spPr>
          <a:xfrm>
            <a:off x="6565392" y="232257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تُلَوِّثُ</a:t>
            </a:r>
            <a:endParaRPr lang="ar-SA" sz="3000" dirty="0"/>
          </a:p>
        </p:txBody>
      </p:sp>
      <p:sp>
        <p:nvSpPr>
          <p:cNvPr id="23" name="Text 20"/>
          <p:cNvSpPr txBox="1"/>
          <p:nvPr/>
        </p:nvSpPr>
        <p:spPr>
          <a:xfrm>
            <a:off x="594360" y="234086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تُلَوِّثُ </a:t>
            </a:r>
            <a:pPr rtl="1" algn="r" indent="0" marL="0">
              <a:buNone/>
            </a:pPr>
            <a:r>
              <a:rPr lang="ar-SA" altLang="en-US" sz="2000" dirty="0">
                <a:solidFill>
                  <a:srgbClr val="1D5FBF"/>
                </a:solidFill>
                <a:latin typeface="Amiri" pitchFamily="34" charset="0"/>
                <a:ea typeface="Amiri" pitchFamily="34" charset="-122"/>
                <a:cs typeface="Amiri" pitchFamily="34" charset="-120"/>
              </a:rPr>
              <a:t>المَصَانِعُ</a:t>
            </a:r>
            <a:pPr rtl="1" algn="r" indent="0" marL="0">
              <a:buNone/>
            </a:pPr>
            <a:r>
              <a:rPr lang="ar-SA" altLang="en-US" sz="2000" dirty="0">
                <a:solidFill>
                  <a:srgbClr val="1F2A37"/>
                </a:solidFill>
                <a:latin typeface="Amiri" pitchFamily="34" charset="0"/>
                <a:ea typeface="Amiri" pitchFamily="34" charset="-122"/>
                <a:cs typeface="Amiri" pitchFamily="34" charset="-120"/>
              </a:rPr>
              <a:t> الهَوَاءَ.</a:t>
            </a:r>
            <a:endParaRPr lang="ar-SA" sz="2000" dirty="0"/>
          </a:p>
        </p:txBody>
      </p:sp>
      <p:sp>
        <p:nvSpPr>
          <p:cNvPr id="24" name="Text 21"/>
          <p:cNvSpPr txBox="1"/>
          <p:nvPr/>
        </p:nvSpPr>
        <p:spPr>
          <a:xfrm>
            <a:off x="594360" y="274685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Factories pollute the air. (who: the factories)</a:t>
            </a:r>
            <a:endParaRPr lang="en-US" sz="1100" dirty="0"/>
          </a:p>
        </p:txBody>
      </p:sp>
      <p:sp>
        <p:nvSpPr>
          <p:cNvPr id="25" name="Shape 22"/>
          <p:cNvSpPr/>
          <p:nvPr/>
        </p:nvSpPr>
        <p:spPr>
          <a:xfrm>
            <a:off x="457200" y="314553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085832" y="314553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مَجْهُولٌ</a:t>
            </a:r>
            <a:endParaRPr lang="ar-SA" sz="2400" dirty="0"/>
          </a:p>
        </p:txBody>
      </p:sp>
      <p:sp>
        <p:nvSpPr>
          <p:cNvPr id="27" name="Text 24"/>
          <p:cNvSpPr txBox="1"/>
          <p:nvPr/>
        </p:nvSpPr>
        <p:spPr>
          <a:xfrm>
            <a:off x="9509760" y="314553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passive</a:t>
            </a:r>
            <a:endParaRPr lang="en-US" sz="1150" dirty="0"/>
          </a:p>
        </p:txBody>
      </p:sp>
      <p:sp>
        <p:nvSpPr>
          <p:cNvPr id="28" name="Text 25"/>
          <p:cNvSpPr txBox="1"/>
          <p:nvPr/>
        </p:nvSpPr>
        <p:spPr>
          <a:xfrm>
            <a:off x="6565392" y="314553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يُلَوَّثُ</a:t>
            </a:r>
            <a:endParaRPr lang="ar-SA" sz="3000" dirty="0"/>
          </a:p>
        </p:txBody>
      </p:sp>
      <p:sp>
        <p:nvSpPr>
          <p:cNvPr id="29" name="Text 26"/>
          <p:cNvSpPr txBox="1"/>
          <p:nvPr/>
        </p:nvSpPr>
        <p:spPr>
          <a:xfrm>
            <a:off x="594360" y="316382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يُلَوَّثُ الهَوَاءُ بِدُخَانِ المَصَانِعِ.</a:t>
            </a:r>
            <a:endParaRPr lang="ar-SA" sz="2000" dirty="0"/>
          </a:p>
        </p:txBody>
      </p:sp>
      <p:sp>
        <p:nvSpPr>
          <p:cNvPr id="30" name="Text 27"/>
          <p:cNvSpPr txBox="1"/>
          <p:nvPr/>
        </p:nvSpPr>
        <p:spPr>
          <a:xfrm>
            <a:off x="594360" y="356981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air is polluted by factory smoke.</a:t>
            </a:r>
            <a:endParaRPr lang="en-US" sz="1100" dirty="0"/>
          </a:p>
        </p:txBody>
      </p:sp>
      <p:sp>
        <p:nvSpPr>
          <p:cNvPr id="31" name="Shape 28"/>
          <p:cNvSpPr/>
          <p:nvPr/>
        </p:nvSpPr>
        <p:spPr>
          <a:xfrm>
            <a:off x="457200" y="3968496"/>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085832" y="396849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مَجْهُولٌ</a:t>
            </a:r>
            <a:endParaRPr lang="ar-SA" sz="2400" dirty="0"/>
          </a:p>
        </p:txBody>
      </p:sp>
      <p:sp>
        <p:nvSpPr>
          <p:cNvPr id="33" name="Text 30"/>
          <p:cNvSpPr txBox="1"/>
          <p:nvPr/>
        </p:nvSpPr>
        <p:spPr>
          <a:xfrm>
            <a:off x="9509760" y="396849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passive</a:t>
            </a:r>
            <a:endParaRPr lang="en-US" sz="1150" dirty="0"/>
          </a:p>
        </p:txBody>
      </p:sp>
      <p:sp>
        <p:nvSpPr>
          <p:cNvPr id="34" name="Text 31"/>
          <p:cNvSpPr txBox="1"/>
          <p:nvPr/>
        </p:nvSpPr>
        <p:spPr>
          <a:xfrm>
            <a:off x="6565392" y="396849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تُقْطَعُ</a:t>
            </a:r>
            <a:endParaRPr lang="ar-SA" sz="3000" dirty="0"/>
          </a:p>
        </p:txBody>
      </p:sp>
      <p:sp>
        <p:nvSpPr>
          <p:cNvPr id="35" name="Text 32"/>
          <p:cNvSpPr txBox="1"/>
          <p:nvPr/>
        </p:nvSpPr>
        <p:spPr>
          <a:xfrm>
            <a:off x="594360" y="398678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تُقْطَعُ الأَشْجَارُ فِي بَعْضِ المَنَاطِقِ.</a:t>
            </a:r>
            <a:endParaRPr lang="ar-SA" sz="2000" dirty="0"/>
          </a:p>
        </p:txBody>
      </p:sp>
      <p:sp>
        <p:nvSpPr>
          <p:cNvPr id="36" name="Text 33"/>
          <p:cNvSpPr txBox="1"/>
          <p:nvPr/>
        </p:nvSpPr>
        <p:spPr>
          <a:xfrm>
            <a:off x="594360" y="439277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Trees are cut down in some areas.</a:t>
            </a:r>
            <a:endParaRPr lang="en-US" sz="1100" dirty="0"/>
          </a:p>
        </p:txBody>
      </p:sp>
      <p:sp>
        <p:nvSpPr>
          <p:cNvPr id="37" name="Shape 34"/>
          <p:cNvSpPr/>
          <p:nvPr/>
        </p:nvSpPr>
        <p:spPr>
          <a:xfrm>
            <a:off x="457200" y="4791456"/>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085832" y="479145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مَجْهُولٌ</a:t>
            </a:r>
            <a:endParaRPr lang="ar-SA" sz="2400" dirty="0"/>
          </a:p>
        </p:txBody>
      </p:sp>
      <p:sp>
        <p:nvSpPr>
          <p:cNvPr id="39" name="Text 36"/>
          <p:cNvSpPr txBox="1"/>
          <p:nvPr/>
        </p:nvSpPr>
        <p:spPr>
          <a:xfrm>
            <a:off x="9509760" y="479145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passive</a:t>
            </a:r>
            <a:endParaRPr lang="en-US" sz="1150" dirty="0"/>
          </a:p>
        </p:txBody>
      </p:sp>
      <p:sp>
        <p:nvSpPr>
          <p:cNvPr id="40" name="Text 37"/>
          <p:cNvSpPr txBox="1"/>
          <p:nvPr/>
        </p:nvSpPr>
        <p:spPr>
          <a:xfrm>
            <a:off x="6565392" y="479145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تُرْمَى</a:t>
            </a:r>
            <a:endParaRPr lang="ar-SA" sz="3000" dirty="0"/>
          </a:p>
        </p:txBody>
      </p:sp>
      <p:sp>
        <p:nvSpPr>
          <p:cNvPr id="41" name="Text 38"/>
          <p:cNvSpPr txBox="1"/>
          <p:nvPr/>
        </p:nvSpPr>
        <p:spPr>
          <a:xfrm>
            <a:off x="594360" y="480974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تُرْمَى نُفَايَاتٌ بِلَاسْتِيكِيَّةٌ فِي النَّهْرِ.</a:t>
            </a:r>
            <a:endParaRPr lang="ar-SA" sz="2000" dirty="0"/>
          </a:p>
        </p:txBody>
      </p:sp>
      <p:sp>
        <p:nvSpPr>
          <p:cNvPr id="42" name="Text 39"/>
          <p:cNvSpPr txBox="1"/>
          <p:nvPr/>
        </p:nvSpPr>
        <p:spPr>
          <a:xfrm>
            <a:off x="594360" y="521573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Plastic waste is thrown into the river.</a:t>
            </a:r>
            <a:endParaRPr lang="en-US" sz="1100" dirty="0"/>
          </a:p>
        </p:txBody>
      </p:sp>
      <p:sp>
        <p:nvSpPr>
          <p:cNvPr id="43" name="Shape 40"/>
          <p:cNvSpPr/>
          <p:nvPr/>
        </p:nvSpPr>
        <p:spPr>
          <a:xfrm>
            <a:off x="457200" y="5614416"/>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10085832" y="561441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لَازِمٌ</a:t>
            </a:r>
            <a:endParaRPr lang="ar-SA" sz="2400" dirty="0"/>
          </a:p>
        </p:txBody>
      </p:sp>
      <p:sp>
        <p:nvSpPr>
          <p:cNvPr id="45" name="Text 42"/>
          <p:cNvSpPr txBox="1"/>
          <p:nvPr/>
        </p:nvSpPr>
        <p:spPr>
          <a:xfrm>
            <a:off x="9509760" y="561441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process</a:t>
            </a:r>
            <a:endParaRPr lang="en-US" sz="1150" dirty="0"/>
          </a:p>
        </p:txBody>
      </p:sp>
      <p:sp>
        <p:nvSpPr>
          <p:cNvPr id="46" name="Text 43"/>
          <p:cNvSpPr txBox="1"/>
          <p:nvPr/>
        </p:nvSpPr>
        <p:spPr>
          <a:xfrm>
            <a:off x="6565392" y="561441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يَنْبَعِثُ</a:t>
            </a:r>
            <a:endParaRPr lang="ar-SA" sz="3000" dirty="0"/>
          </a:p>
        </p:txBody>
      </p:sp>
      <p:sp>
        <p:nvSpPr>
          <p:cNvPr id="47" name="Text 44"/>
          <p:cNvSpPr txBox="1"/>
          <p:nvPr/>
        </p:nvSpPr>
        <p:spPr>
          <a:xfrm>
            <a:off x="594360" y="563270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يَنْبَعِثُ مِنْهَا دُخَانٌ كَثِيفٌ.</a:t>
            </a:r>
            <a:endParaRPr lang="ar-SA" sz="2000" dirty="0"/>
          </a:p>
        </p:txBody>
      </p:sp>
      <p:sp>
        <p:nvSpPr>
          <p:cNvPr id="48" name="Text 45"/>
          <p:cNvSpPr txBox="1"/>
          <p:nvPr/>
        </p:nvSpPr>
        <p:spPr>
          <a:xfrm>
            <a:off x="594360" y="603869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Thick smoke comes out of them.</a:t>
            </a:r>
            <a:endParaRPr lang="en-US" sz="11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4 · WEBSITE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The four website rules with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Active and passive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تُلَوِّثُ</a:t>
            </a:r>
            <a:pPr algn="l" indent="0" marL="0">
              <a:buNone/>
            </a:pPr>
            <a:r>
              <a:rPr lang="en-US" sz="1050" dirty="0">
                <a:solidFill>
                  <a:srgbClr val="5A6472"/>
                </a:solidFill>
                <a:latin typeface="Calibri" pitchFamily="34" charset="0"/>
                <a:ea typeface="Calibri" pitchFamily="34" charset="-122"/>
                <a:cs typeface="Calibri" pitchFamily="34" charset="-120"/>
              </a:rPr>
              <a:t> X</a:t>
            </a:r>
            <a:pPr algn="l" indent="0" marL="0">
              <a:buNone/>
            </a:pPr>
            <a:r>
              <a:rPr lang="ar-SA" altLang="en-US" sz="1350" dirty="0">
                <a:solidFill>
                  <a:srgbClr val="5A6472"/>
                </a:solidFill>
                <a:latin typeface="Amiri" pitchFamily="34" charset="0"/>
                <a:ea typeface="Amiri" pitchFamily="34" charset="-122"/>
                <a:cs typeface="Amiri" pitchFamily="34" charset="-120"/>
              </a:rPr>
              <a:t>ُ</a:t>
            </a:r>
            <a:pPr algn="l" indent="0" marL="0">
              <a:buNone/>
            </a:pPr>
            <a:r>
              <a:rPr lang="en-US" sz="1050" dirty="0">
                <a:solidFill>
                  <a:srgbClr val="5A6472"/>
                </a:solidFill>
                <a:latin typeface="Calibri" pitchFamily="34" charset="0"/>
                <a:ea typeface="Calibri" pitchFamily="34" charset="-122"/>
                <a:cs typeface="Calibri" pitchFamily="34" charset="-120"/>
              </a:rPr>
              <a:t> Y</a:t>
            </a:r>
            <a:pPr algn="l" indent="0" marL="0">
              <a:buNone/>
            </a:pPr>
            <a:r>
              <a:rPr lang="ar-SA" altLang="en-US" sz="1350" dirty="0">
                <a:solidFill>
                  <a:srgbClr val="5A6472"/>
                </a:solidFill>
                <a:latin typeface="Amiri" pitchFamily="34" charset="0"/>
                <a:ea typeface="Amiri" pitchFamily="34" charset="-122"/>
                <a:cs typeface="Amiri" pitchFamily="34" charset="-120"/>
              </a:rPr>
              <a:t>َ</a:t>
            </a:r>
            <a:pPr algn="l" indent="0" marL="0">
              <a:buNone/>
            </a:pPr>
            <a:r>
              <a:rPr lang="en-US" sz="1050" dirty="0">
                <a:solidFill>
                  <a:srgbClr val="5A6472"/>
                </a:solidFill>
                <a:latin typeface="Calibri" pitchFamily="34" charset="0"/>
                <a:ea typeface="Calibri" pitchFamily="34" charset="-122"/>
                <a:cs typeface="Calibri" pitchFamily="34" charset="-120"/>
              </a:rPr>
              <a:t> ↔ </a:t>
            </a:r>
            <a:pPr algn="l" indent="0" marL="0">
              <a:buNone/>
            </a:pPr>
            <a:r>
              <a:rPr lang="ar-SA" altLang="en-US" sz="1350" dirty="0">
                <a:solidFill>
                  <a:srgbClr val="5A6472"/>
                </a:solidFill>
                <a:latin typeface="Amiri" pitchFamily="34" charset="0"/>
                <a:ea typeface="Amiri" pitchFamily="34" charset="-122"/>
                <a:cs typeface="Amiri" pitchFamily="34" charset="-120"/>
              </a:rPr>
              <a:t>يُلَوَّثُ</a:t>
            </a:r>
            <a:pPr algn="l" indent="0" marL="0">
              <a:buNone/>
            </a:pPr>
            <a:r>
              <a:rPr lang="en-US" sz="1050" dirty="0">
                <a:solidFill>
                  <a:srgbClr val="5A6472"/>
                </a:solidFill>
                <a:latin typeface="Calibri" pitchFamily="34" charset="0"/>
                <a:ea typeface="Calibri" pitchFamily="34" charset="-122"/>
                <a:cs typeface="Calibri" pitchFamily="34" charset="-120"/>
              </a:rPr>
              <a:t> Y</a:t>
            </a:r>
            <a:pPr algn="l" indent="0" marL="0">
              <a:buNone/>
            </a:pPr>
            <a:r>
              <a:rPr lang="ar-SA" altLang="en-US" sz="1350" dirty="0">
                <a:solidFill>
                  <a:srgbClr val="5A6472"/>
                </a:solidFill>
                <a:latin typeface="Amiri" pitchFamily="34" charset="0"/>
                <a:ea typeface="Amiri" pitchFamily="34" charset="-122"/>
                <a:cs typeface="Amiri" pitchFamily="34" charset="-120"/>
              </a:rPr>
              <a: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تُلَوِّثُ المَصَانِعُ الهَوَاءَ.   ·   يُلَوَّثُ الهَوَاءُ بِدُخَانِ المَصَانِعِ.</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Cause phrases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بِسَبَبِ / نَتِيجَةً لِـ</a:t>
            </a:r>
            <a:pPr algn="l" indent="0" marL="0">
              <a:buNone/>
            </a:pPr>
            <a:r>
              <a:rPr lang="en-US" sz="1050" dirty="0">
                <a:solidFill>
                  <a:srgbClr val="5A6472"/>
                </a:solidFill>
                <a:latin typeface="Calibri" pitchFamily="34" charset="0"/>
                <a:ea typeface="Calibri" pitchFamily="34" charset="-122"/>
                <a:cs typeface="Calibri" pitchFamily="34" charset="-120"/>
              </a:rPr>
              <a:t> + genitive noun</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يَتَلَوَّثُ البَحْرُ بِسَبَبِ النُّفَايَاتِ البِلَاسْتِيكِيَّةِ.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Result with </a:t>
            </a:r>
            <a:pPr algn="l" indent="0" marL="0">
              <a:buNone/>
            </a:pPr>
            <a:r>
              <a:rPr lang="ar-SA" altLang="en-US" sz="1650" b="1" dirty="0">
                <a:solidFill>
                  <a:srgbClr val="1B3B6F"/>
                </a:solidFill>
                <a:latin typeface="Amiri" pitchFamily="34" charset="0"/>
                <a:ea typeface="Amiri" pitchFamily="34" charset="-122"/>
                <a:cs typeface="Amiri" pitchFamily="34" charset="-120"/>
              </a:rPr>
              <a:t>يُؤَدِّي إِلَى</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cause + </a:t>
            </a:r>
            <a:pPr algn="l" indent="0" marL="0">
              <a:buNone/>
            </a:pPr>
            <a:r>
              <a:rPr lang="ar-SA" altLang="en-US" sz="1350" dirty="0">
                <a:solidFill>
                  <a:srgbClr val="5A6472"/>
                </a:solidFill>
                <a:latin typeface="Amiri" pitchFamily="34" charset="0"/>
                <a:ea typeface="Amiri" pitchFamily="34" charset="-122"/>
                <a:cs typeface="Amiri" pitchFamily="34" charset="-120"/>
              </a:rPr>
              <a:t>يُؤَدِّي إِلَى</a:t>
            </a:r>
            <a:pPr algn="l" indent="0" marL="0">
              <a:buNone/>
            </a:pPr>
            <a:r>
              <a:rPr lang="en-US" sz="1050" dirty="0">
                <a:solidFill>
                  <a:srgbClr val="5A6472"/>
                </a:solidFill>
                <a:latin typeface="Calibri" pitchFamily="34" charset="0"/>
                <a:ea typeface="Calibri" pitchFamily="34" charset="-122"/>
                <a:cs typeface="Calibri" pitchFamily="34" charset="-120"/>
              </a:rPr>
              <a:t> + verbal noun / noun</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يُؤَدِّي قَطْعُ الأَشْجَارِ إِلَى فَقْدِ المَوَائِلِ.</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Linking a whole clause to a consequence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clause</a:t>
            </a:r>
            <a:pPr algn="l" indent="0" marL="0">
              <a:buNone/>
            </a:pPr>
            <a:r>
              <a:rPr lang="ar-SA" altLang="en-US" sz="1350" dirty="0">
                <a:solidFill>
                  <a:srgbClr val="5A6472"/>
                </a:solidFill>
                <a:latin typeface="Amiri" pitchFamily="34" charset="0"/>
                <a:ea typeface="Amiri" pitchFamily="34" charset="-122"/>
                <a:cs typeface="Amiri" pitchFamily="34" charset="-120"/>
              </a:rPr>
              <a:t>، مِمَّا يُسَبِّبُ / مِمَّا يُؤَدِّي إِلَى</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تَرْتَفِعُ دَرَجَةُ الحَرَارَةِ، مِمَّا يُسَبِّبُ ذَوَبَانَ الجَلِيدِ.</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يَتَلَوَّثُ البَحْرُ ___ النُّفَايَاتِ.</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 إِلَى</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مِمَّا</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بِسَبَبِ</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result structure.</a:t>
            </a:r>
            <a:endParaRPr lang="en-US" sz="12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 التَّصَحُّرُ إِلَى فَقْدِ الأَرَاضِي الزِّرَاعِيَّةِ.</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 التَّصَحُّرُ مِنْ فَقْدِ الأَرَاضِي.</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 التَّصَحُّرُ فِي فَقْدِ الأَرَاضِي.</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about trees.</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يُقْطَعُ الأَشْجَارُ فِي بَعْضِ المَنَاطِقِ.</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تُقْطَعُ الأَشْجَارُ فِي بَعْضِ المَنَاطِقِ.</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تَقْطَعُ الأَشْجَارَ فِي بَعْضِ المَنَاطِقِ.</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active sentence.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تُلَوِّثُ المَصَانِعُ الهَوَاءَ.</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يُلَوَّثُ الهَوَاءُ بِالدُّخَانِ.</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تُقْطَعُ الأَشْجَارُ.</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يَتَلَوَّثُ البَحْرُ ___ النُّفَايَاتِ.</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يُؤَدِّي إِلَى</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مِمَّا</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بِسَبَبِ</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بسبب</a:t>
            </a:r>
            <a:pPr algn="l" indent="0" marL="0">
              <a:buNone/>
            </a:pPr>
            <a:r>
              <a:rPr lang="en-US" sz="1050" i="1" dirty="0">
                <a:solidFill>
                  <a:srgbClr val="8A6D1E"/>
                </a:solidFill>
                <a:latin typeface="Calibri" pitchFamily="34" charset="0"/>
                <a:ea typeface="Calibri" pitchFamily="34" charset="-122"/>
                <a:cs typeface="Calibri" pitchFamily="34" charset="-120"/>
              </a:rPr>
              <a:t> is followed by the cause noun.</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result structure.</a:t>
            </a:r>
            <a:endParaRPr lang="en-US" sz="12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يُؤَدِّي التَّصَحُّرُ إِلَى فَقْدِ الأَرَاضِي الزِّرَاعِيَّةِ.</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يُؤَدِّي التَّصَحُّرُ مِنْ فَقْدِ الأَرَاضِي.</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يُؤَدِّي التَّصَحُّرُ فِي فَقْدِ الأَرَاضِي.</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يؤدي</a:t>
            </a:r>
            <a:pPr algn="l" indent="0" marL="0">
              <a:buNone/>
            </a:pPr>
            <a:r>
              <a:rPr lang="en-US" sz="1050" i="1" dirty="0">
                <a:solidFill>
                  <a:srgbClr val="8A6D1E"/>
                </a:solidFill>
                <a:latin typeface="Calibri" pitchFamily="34" charset="0"/>
                <a:ea typeface="Calibri" pitchFamily="34" charset="-122"/>
                <a:cs typeface="Calibri" pitchFamily="34" charset="-120"/>
              </a:rPr>
              <a:t> requires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about trees.</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يُقْطَعُ الأَشْجَارُ فِي بَعْضِ المَنَاطِقِ.</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تُقْطَعُ الأَشْجَارُ فِي بَعْضِ المَنَاطِقِ.</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تَقْطَعُ الأَشْجَارَ فِي بَعْضِ المَنَاطِقِ.</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الأشجار</a:t>
            </a:r>
            <a:pPr algn="l" indent="0" marL="0">
              <a:buNone/>
            </a:pPr>
            <a:r>
              <a:rPr lang="en-US" sz="1050" i="1" dirty="0">
                <a:solidFill>
                  <a:srgbClr val="8A6D1E"/>
                </a:solidFill>
                <a:latin typeface="Calibri" pitchFamily="34" charset="0"/>
                <a:ea typeface="Calibri" pitchFamily="34" charset="-122"/>
                <a:cs typeface="Calibri" pitchFamily="34" charset="-120"/>
              </a:rPr>
              <a:t> is a non-human plural treated as feminine, so use </a:t>
            </a:r>
            <a:pPr algn="l" indent="0" marL="0">
              <a:buNone/>
            </a:pPr>
            <a:r>
              <a:rPr lang="ar-SA" altLang="en-US" sz="1350" dirty="0">
                <a:solidFill>
                  <a:srgbClr val="8A6D1E"/>
                </a:solidFill>
                <a:latin typeface="Amiri" pitchFamily="34" charset="0"/>
                <a:ea typeface="Amiri" pitchFamily="34" charset="-122"/>
                <a:cs typeface="Amiri" pitchFamily="34" charset="-120"/>
              </a:rPr>
              <a:t>تُقْطَعُ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active sentence.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تُلَوِّثُ المَصَانِعُ الهَوَاءَ.</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يُلَوَّثُ الهَوَاءُ بِالدُّخَانِ.</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تُقْطَعُ الأَشْجَارُ.</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active sentence names factories as the agent.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Watch me build a cause–effect chain</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Name the problem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يَزْدَادُ </a:t>
            </a:r>
            <a:pPr rtl="1" algn="ctr" indent="0" marL="0">
              <a:buNone/>
            </a:pPr>
            <a:r>
              <a:rPr lang="ar-SA" altLang="en-US" sz="2800" b="1" dirty="0">
                <a:solidFill>
                  <a:srgbClr val="0E7C86"/>
                </a:solidFill>
                <a:latin typeface="Amiri" pitchFamily="34" charset="0"/>
                <a:ea typeface="Amiri" pitchFamily="34" charset="-122"/>
                <a:cs typeface="Amiri" pitchFamily="34" charset="-120"/>
              </a:rPr>
              <a:t>تَلَوُّثُ الهَوَاءِ</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يَزْدَادُ</a:t>
            </a:r>
            <a:pPr algn="l" indent="0" marL="0">
              <a:buNone/>
            </a:pPr>
            <a:r>
              <a:rPr lang="en-US" sz="1150" dirty="0">
                <a:solidFill>
                  <a:srgbClr val="1F2A37"/>
                </a:solidFill>
                <a:latin typeface="Calibri" pitchFamily="34" charset="0"/>
                <a:ea typeface="Calibri" pitchFamily="34" charset="-122"/>
                <a:cs typeface="Calibri" pitchFamily="34" charset="-120"/>
              </a:rPr>
              <a:t> = increases. An iḍāfa: pollution of the air.</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Give the cause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بِسَبَبِ</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السَّيَّارَاتِ وَالمَصَانِعِ</a:t>
            </a:r>
            <a:endParaRPr lang="ar-SA" sz="22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بِسَبَبِ</a:t>
            </a:r>
            <a:pPr algn="l" indent="0" marL="0">
              <a:buNone/>
            </a:pPr>
            <a:r>
              <a:rPr lang="en-US" sz="1150" dirty="0">
                <a:solidFill>
                  <a:srgbClr val="1F2A37"/>
                </a:solidFill>
                <a:latin typeface="Calibri" pitchFamily="34" charset="0"/>
                <a:ea typeface="Calibri" pitchFamily="34" charset="-122"/>
                <a:cs typeface="Calibri" pitchFamily="34" charset="-120"/>
              </a:rPr>
              <a:t> + noun. Two causes joined with </a:t>
            </a:r>
            <a:pPr algn="l" indent="0" marL="0">
              <a:buNone/>
            </a:pPr>
            <a:r>
              <a:rPr lang="ar-SA" altLang="en-US" sz="1500" dirty="0">
                <a:solidFill>
                  <a:srgbClr val="1F2A37"/>
                </a:solidFill>
                <a:latin typeface="Amiri" pitchFamily="34" charset="0"/>
                <a:ea typeface="Amiri" pitchFamily="34" charset="-122"/>
                <a:cs typeface="Amiri" pitchFamily="34" charset="-120"/>
              </a:rPr>
              <a:t>وَ</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Give the effect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وَهٰذَا </a:t>
            </a:r>
            <a:pPr rtl="1" algn="ctr" indent="0" marL="0">
              <a:buNone/>
            </a:pPr>
            <a:r>
              <a:rPr lang="ar-SA" altLang="en-US" sz="2550" b="1" dirty="0">
                <a:solidFill>
                  <a:srgbClr val="1D5FBF"/>
                </a:solidFill>
                <a:latin typeface="Amiri" pitchFamily="34" charset="0"/>
                <a:ea typeface="Amiri" pitchFamily="34" charset="-122"/>
                <a:cs typeface="Amiri" pitchFamily="34" charset="-120"/>
              </a:rPr>
              <a:t>يُؤَدِّي إِلَى</a:t>
            </a:r>
            <a:pPr rtl="1" algn="ctr" indent="0" marL="0">
              <a:buNone/>
            </a:pPr>
            <a:r>
              <a:rPr lang="ar-SA" altLang="en-US" sz="2550" b="1" dirty="0">
                <a:solidFill>
                  <a:srgbClr val="1B3B6F"/>
                </a:solidFill>
                <a:latin typeface="Amiri" pitchFamily="34" charset="0"/>
                <a:ea typeface="Amiri" pitchFamily="34" charset="-122"/>
                <a:cs typeface="Amiri" pitchFamily="34" charset="-120"/>
              </a:rPr>
              <a:t> أَمْرَاضٍ</a:t>
            </a:r>
            <a:endParaRPr lang="ar-SA" sz="25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يُؤَدِّي</a:t>
            </a:r>
            <a:pPr algn="l" indent="0" marL="0">
              <a:buNone/>
            </a:pPr>
            <a:r>
              <a:rPr lang="en-US" sz="1150" dirty="0">
                <a:solidFill>
                  <a:srgbClr val="1F2A37"/>
                </a:solidFill>
                <a:latin typeface="Calibri" pitchFamily="34" charset="0"/>
                <a:ea typeface="Calibri" pitchFamily="34" charset="-122"/>
                <a:cs typeface="Calibri" pitchFamily="34" charset="-120"/>
              </a:rPr>
              <a:t> + </a:t>
            </a:r>
            <a:pPr algn="l" indent="0" marL="0">
              <a:buNone/>
            </a:pPr>
            <a:r>
              <a:rPr lang="ar-SA" altLang="en-US" sz="1500" dirty="0">
                <a:solidFill>
                  <a:srgbClr val="1F2A37"/>
                </a:solidFill>
                <a:latin typeface="Amiri" pitchFamily="34" charset="0"/>
                <a:ea typeface="Amiri" pitchFamily="34" charset="-122"/>
                <a:cs typeface="Amiri" pitchFamily="34" charset="-120"/>
              </a:rPr>
              <a:t>إِلَى</a:t>
            </a:r>
            <a:pPr algn="l" indent="0" marL="0">
              <a:buNone/>
            </a:pPr>
            <a:r>
              <a:rPr lang="en-US" sz="1150" dirty="0">
                <a:solidFill>
                  <a:srgbClr val="1F2A37"/>
                </a:solidFill>
                <a:latin typeface="Calibri" pitchFamily="34" charset="0"/>
                <a:ea typeface="Calibri" pitchFamily="34" charset="-122"/>
                <a:cs typeface="Calibri" pitchFamily="34" charset="-120"/>
              </a:rPr>
              <a:t> — never </a:t>
            </a:r>
            <a:pPr algn="l" indent="0" marL="0">
              <a:buNone/>
            </a:pPr>
            <a:r>
              <a:rPr lang="ar-SA" altLang="en-US" sz="1500" dirty="0">
                <a:solidFill>
                  <a:srgbClr val="1F2A37"/>
                </a:solidFill>
                <a:latin typeface="Amiri" pitchFamily="34" charset="0"/>
                <a:ea typeface="Amiri" pitchFamily="34" charset="-122"/>
                <a:cs typeface="Amiri" pitchFamily="34" charset="-120"/>
              </a:rPr>
              <a:t>فِي</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Add your opinion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فِي رَأْيِي، هٰذِهِ مُشْكِلَةٌ خَطِيرَةٌ</a:t>
            </a:r>
            <a:endParaRPr lang="ar-SA" sz="20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فِي رَأْيِي</a:t>
            </a:r>
            <a:pPr algn="l" indent="0" marL="0">
              <a:buNone/>
            </a:pPr>
            <a:r>
              <a:rPr lang="en-US" sz="1150" dirty="0">
                <a:solidFill>
                  <a:srgbClr val="1F2A37"/>
                </a:solidFill>
                <a:latin typeface="Calibri" pitchFamily="34" charset="0"/>
                <a:ea typeface="Calibri" pitchFamily="34" charset="-122"/>
                <a:cs typeface="Calibri" pitchFamily="34" charset="-120"/>
              </a:rPr>
              <a:t> = in my opinion (website model).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PROBLEM</a:t>
            </a:r>
            <a:endParaRPr lang="en-US" sz="800" dirty="0"/>
          </a:p>
        </p:txBody>
      </p:sp>
      <p:sp>
        <p:nvSpPr>
          <p:cNvPr id="47" name="Shape 43"/>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CONNECTOR</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400" b="1" dirty="0">
                <a:solidFill>
                  <a:srgbClr val="1B3B6F"/>
                </a:solidFill>
                <a:latin typeface="Amiri" pitchFamily="34" charset="0"/>
                <a:ea typeface="Amiri" pitchFamily="34" charset="-122"/>
                <a:cs typeface="Amiri" pitchFamily="34" charset="-120"/>
              </a:rPr>
              <a:t>يَزْدَادُ </a:t>
            </a:r>
            <a:pPr rtl="1" algn="r" indent="0" marL="0">
              <a:buNone/>
            </a:pPr>
            <a:r>
              <a:rPr lang="ar-SA" altLang="en-US" sz="2400" b="1" dirty="0">
                <a:solidFill>
                  <a:srgbClr val="0E7C86"/>
                </a:solidFill>
                <a:latin typeface="Amiri" pitchFamily="34" charset="0"/>
                <a:ea typeface="Amiri" pitchFamily="34" charset="-122"/>
                <a:cs typeface="Amiri" pitchFamily="34" charset="-120"/>
              </a:rPr>
              <a:t>تَلَوُّثُ الهَوَاءِ</a:t>
            </a:r>
            <a:pPr rtl="1" algn="r" indent="0" marL="0">
              <a:buNone/>
            </a:pPr>
            <a:r>
              <a:rPr lang="ar-SA" altLang="en-US" sz="2400" b="1" dirty="0">
                <a:solidFill>
                  <a:srgbClr val="1B3B6F"/>
                </a:solidFill>
                <a:latin typeface="Amiri" pitchFamily="34" charset="0"/>
                <a:ea typeface="Amiri" pitchFamily="34" charset="-122"/>
                <a:cs typeface="Amiri" pitchFamily="34" charset="-120"/>
              </a:rPr>
              <a:t> </a:t>
            </a:r>
            <a:pPr rtl="1" algn="r" indent="0" marL="0">
              <a:buNone/>
            </a:pPr>
            <a:r>
              <a:rPr lang="ar-SA" altLang="en-US" sz="2400" b="1" dirty="0">
                <a:solidFill>
                  <a:srgbClr val="1D5FBF"/>
                </a:solidFill>
                <a:latin typeface="Amiri" pitchFamily="34" charset="0"/>
                <a:ea typeface="Amiri" pitchFamily="34" charset="-122"/>
                <a:cs typeface="Amiri" pitchFamily="34" charset="-120"/>
              </a:rPr>
              <a:t>بِسَبَبِ</a:t>
            </a:r>
            <a:pPr rtl="1" algn="r" indent="0" marL="0">
              <a:buNone/>
            </a:pPr>
            <a:r>
              <a:rPr lang="ar-SA" altLang="en-US" sz="2400" b="1" dirty="0">
                <a:solidFill>
                  <a:srgbClr val="1B3B6F"/>
                </a:solidFill>
                <a:latin typeface="Amiri" pitchFamily="34" charset="0"/>
                <a:ea typeface="Amiri" pitchFamily="34" charset="-122"/>
                <a:cs typeface="Amiri" pitchFamily="34" charset="-120"/>
              </a:rPr>
              <a:t> السَّيَّارَاتِ وَالمَصَانِعِ، وَهٰذَا </a:t>
            </a:r>
            <a:pPr rtl="1" algn="r" indent="0" marL="0">
              <a:buNone/>
            </a:pPr>
            <a:r>
              <a:rPr lang="ar-SA" altLang="en-US" sz="2400" b="1" dirty="0">
                <a:solidFill>
                  <a:srgbClr val="1D5FBF"/>
                </a:solidFill>
                <a:latin typeface="Amiri" pitchFamily="34" charset="0"/>
                <a:ea typeface="Amiri" pitchFamily="34" charset="-122"/>
                <a:cs typeface="Amiri" pitchFamily="34" charset="-120"/>
              </a:rPr>
              <a:t>يُؤَدِّي إِلَى</a:t>
            </a:r>
            <a:pPr rtl="1" algn="r" indent="0" marL="0">
              <a:buNone/>
            </a:pPr>
            <a:r>
              <a:rPr lang="ar-SA" altLang="en-US" sz="2400" b="1" dirty="0">
                <a:solidFill>
                  <a:srgbClr val="1B3B6F"/>
                </a:solidFill>
                <a:latin typeface="Amiri" pitchFamily="34" charset="0"/>
                <a:ea typeface="Amiri" pitchFamily="34" charset="-122"/>
                <a:cs typeface="Amiri" pitchFamily="34" charset="-120"/>
              </a:rPr>
              <a:t> أَمْرَاضٍ. فِي رَأْيِي، هٰذِهِ مُشْكِلَةٌ خَطِيرَةٌ.</a:t>
            </a:r>
            <a:endParaRPr lang="ar-SA" sz="2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Air pollution is increasing because of cars and factories, and this leads to illnesses. In my opinion, this is a serious problem.</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يُسَبِّبُ دُخَانُ الْمَصَانِعِ تَلَوُّثَ الْهَوَاءِ.</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Factory smoke causes air pollution.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game — a Core sentence.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يَتَلَوَّثُ البَحْرُ بِسَبَبِ النُّفَايَاتِ البِلَاسْتِيكِيَّةِ.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sea gets polluted because of plastic waste.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بِسَبَبِ + noun.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يُؤَدِّي قَطْعُ الأَشْجَارِ إِلَى فَقْدِ المَوَائِلِ.</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Cutting down trees leads to habitat loss.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Keep إِلَى after يُؤَدِّي.</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تَرْتَفِعُ دَرَجَةُ الحَرَارَةِ، مِمَّا يُسَبِّبُ ذَوَبَانَ الجَلِيدِ.</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temperature rises, which causes the ice to melt.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Stretch: مِمَّا refers back to the whole idea.</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 WEBSITE GAME “CAUSE &amp; EFFECT”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Match the picture to the cause and effect</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السَّبَبُ وَالنَّتِيجَةُ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Text 16"/>
          <p:cNvSpPr txBox="1"/>
          <p:nvPr/>
        </p:nvSpPr>
        <p:spPr>
          <a:xfrm>
            <a:off x="9771888" y="2267712"/>
            <a:ext cx="283464" cy="457200"/>
          </a:xfrm>
          <a:prstGeom prst="rect">
            <a:avLst/>
          </a:prstGeom>
          <a:noFill/>
          <a:ln/>
        </p:spPr>
        <p:txBody>
          <a:bodyPr wrap="square" lIns="0" tIns="0" rIns="0" bIns="0" rtlCol="0" anchor="ctr"/>
          <a:lstStyle/>
          <a:p>
            <a:pPr algn="ctr" indent="0" marL="0">
              <a:buNone/>
            </a:pPr>
            <a:r>
              <a:rPr lang="en-US" sz="1600" b="1" dirty="0">
                <a:solidFill>
                  <a:srgbClr val="5A6472"/>
                </a:solidFill>
                <a:latin typeface="Calibri" pitchFamily="34" charset="0"/>
                <a:ea typeface="Calibri" pitchFamily="34" charset="-122"/>
                <a:cs typeface="Calibri" pitchFamily="34" charset="-120"/>
              </a:rPr>
              <a:t>→</a:t>
            </a:r>
            <a:endParaRPr lang="en-US" sz="1600" dirty="0"/>
          </a:p>
        </p:txBody>
      </p:sp>
      <p:sp>
        <p:nvSpPr>
          <p:cNvPr id="21" name="Shape 17"/>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2"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Text 22"/>
          <p:cNvSpPr txBox="1"/>
          <p:nvPr/>
        </p:nvSpPr>
        <p:spPr>
          <a:xfrm>
            <a:off x="5952744" y="2267712"/>
            <a:ext cx="283464" cy="457200"/>
          </a:xfrm>
          <a:prstGeom prst="rect">
            <a:avLst/>
          </a:prstGeom>
          <a:noFill/>
          <a:ln/>
        </p:spPr>
        <p:txBody>
          <a:bodyPr wrap="square" lIns="0" tIns="0" rIns="0" bIns="0" rtlCol="0" anchor="ctr"/>
          <a:lstStyle/>
          <a:p>
            <a:pPr algn="ctr" indent="0" marL="0">
              <a:buNone/>
            </a:pPr>
            <a:r>
              <a:rPr lang="en-US" sz="1600" b="1" dirty="0">
                <a:solidFill>
                  <a:srgbClr val="5A6472"/>
                </a:solidFill>
                <a:latin typeface="Calibri" pitchFamily="34" charset="0"/>
                <a:ea typeface="Calibri" pitchFamily="34" charset="-122"/>
                <a:cs typeface="Calibri" pitchFamily="34" charset="-120"/>
              </a:rPr>
              <a:t>→</a:t>
            </a:r>
            <a:endParaRPr lang="en-US" sz="1600" dirty="0"/>
          </a:p>
        </p:txBody>
      </p:sp>
      <p:sp>
        <p:nvSpPr>
          <p:cNvPr id="29" name="Shape 23"/>
          <p:cNvSpPr/>
          <p:nvPr/>
        </p:nvSpPr>
        <p:spPr>
          <a:xfrm>
            <a:off x="6181344" y="2066544"/>
            <a:ext cx="1014984" cy="1014984"/>
          </a:xfrm>
          <a:prstGeom prst="ellipse">
            <a:avLst/>
          </a:prstGeom>
          <a:solidFill>
            <a:srgbClr val="F4F1EA"/>
          </a:solidFill>
          <a:ln w="12700">
            <a:solidFill>
              <a:srgbClr val="F4F1EA"/>
            </a:solidFill>
            <a:prstDash val="solid"/>
          </a:ln>
        </p:spPr>
      </p:sp>
      <p:pic>
        <p:nvPicPr>
          <p:cNvPr id="30"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Text 28"/>
          <p:cNvSpPr txBox="1"/>
          <p:nvPr/>
        </p:nvSpPr>
        <p:spPr>
          <a:xfrm>
            <a:off x="2133600" y="2267712"/>
            <a:ext cx="283464" cy="457200"/>
          </a:xfrm>
          <a:prstGeom prst="rect">
            <a:avLst/>
          </a:prstGeom>
          <a:noFill/>
          <a:ln/>
        </p:spPr>
        <p:txBody>
          <a:bodyPr wrap="square" lIns="0" tIns="0" rIns="0" bIns="0" rtlCol="0" anchor="ctr"/>
          <a:lstStyle/>
          <a:p>
            <a:pPr algn="ctr" indent="0" marL="0">
              <a:buNone/>
            </a:pPr>
            <a:r>
              <a:rPr lang="en-US" sz="1600" b="1" dirty="0">
                <a:solidFill>
                  <a:srgbClr val="5A6472"/>
                </a:solidFill>
                <a:latin typeface="Calibri" pitchFamily="34" charset="0"/>
                <a:ea typeface="Calibri" pitchFamily="34" charset="-122"/>
                <a:cs typeface="Calibri" pitchFamily="34" charset="-120"/>
              </a:rPr>
              <a:t>→</a:t>
            </a:r>
            <a:endParaRPr lang="en-US" sz="1600" dirty="0"/>
          </a:p>
        </p:txBody>
      </p:sp>
      <p:sp>
        <p:nvSpPr>
          <p:cNvPr id="37" name="Shape 29"/>
          <p:cNvSpPr/>
          <p:nvPr/>
        </p:nvSpPr>
        <p:spPr>
          <a:xfrm>
            <a:off x="2362200" y="2066544"/>
            <a:ext cx="1014984" cy="1014984"/>
          </a:xfrm>
          <a:prstGeom prst="ellipse">
            <a:avLst/>
          </a:prstGeom>
          <a:solidFill>
            <a:srgbClr val="F4F1EA"/>
          </a:solidFill>
          <a:ln w="12700">
            <a:solidFill>
              <a:srgbClr val="F4F1EA"/>
            </a:solidFill>
            <a:prstDash val="solid"/>
          </a:ln>
        </p:spPr>
      </p:sp>
      <p:pic>
        <p:nvPicPr>
          <p:cNvPr id="38"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يُؤَدِّي قَطْعُ الأَشْجَارِ إِلَى فَقْدَانِ مَوَائِلِ الْحَيَوَانَاتِ.</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يُسَبِّبُ دُخَانُ الْمَصَانِعِ تَلَوُّثَ الْهَوَاءِ.</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يُؤَدِّي رَمْيُ النُّفَايَاتِ فِي الْبَحْرِ إِلَى إِضْرَارِ الْحَيَاةِ الْبَحْرِيَّةِ.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السَّبَبُ وَالنَّتِيجَةُ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Text 16"/>
          <p:cNvSpPr txBox="1"/>
          <p:nvPr/>
        </p:nvSpPr>
        <p:spPr>
          <a:xfrm>
            <a:off x="9771888" y="2267712"/>
            <a:ext cx="283464" cy="457200"/>
          </a:xfrm>
          <a:prstGeom prst="rect">
            <a:avLst/>
          </a:prstGeom>
          <a:noFill/>
          <a:ln/>
        </p:spPr>
        <p:txBody>
          <a:bodyPr wrap="square" lIns="0" tIns="0" rIns="0" bIns="0" rtlCol="0" anchor="ctr"/>
          <a:lstStyle/>
          <a:p>
            <a:pPr algn="ctr" indent="0" marL="0">
              <a:buNone/>
            </a:pPr>
            <a:r>
              <a:rPr lang="en-US" sz="1600" b="1" dirty="0">
                <a:solidFill>
                  <a:srgbClr val="5A6472"/>
                </a:solidFill>
                <a:latin typeface="Calibri" pitchFamily="34" charset="0"/>
                <a:ea typeface="Calibri" pitchFamily="34" charset="-122"/>
                <a:cs typeface="Calibri" pitchFamily="34" charset="-120"/>
              </a:rPr>
              <a:t>→</a:t>
            </a:r>
            <a:endParaRPr lang="en-US" sz="1600" dirty="0"/>
          </a:p>
        </p:txBody>
      </p:sp>
      <p:sp>
        <p:nvSpPr>
          <p:cNvPr id="21" name="Shape 17"/>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2"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يُسَبِّبُ دُخَانُ الْمَصَانِعِ تَلَوُّثَ الْهَوَاءِ.</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Factory smoke causes air pollution.</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Text 27"/>
          <p:cNvSpPr txBox="1"/>
          <p:nvPr/>
        </p:nvSpPr>
        <p:spPr>
          <a:xfrm>
            <a:off x="5952744" y="2267712"/>
            <a:ext cx="283464" cy="457200"/>
          </a:xfrm>
          <a:prstGeom prst="rect">
            <a:avLst/>
          </a:prstGeom>
          <a:noFill/>
          <a:ln/>
        </p:spPr>
        <p:txBody>
          <a:bodyPr wrap="square" lIns="0" tIns="0" rIns="0" bIns="0" rtlCol="0" anchor="ctr"/>
          <a:lstStyle/>
          <a:p>
            <a:pPr algn="ctr" indent="0" marL="0">
              <a:buNone/>
            </a:pPr>
            <a:r>
              <a:rPr lang="en-US" sz="1600" b="1" dirty="0">
                <a:solidFill>
                  <a:srgbClr val="5A6472"/>
                </a:solidFill>
                <a:latin typeface="Calibri" pitchFamily="34" charset="0"/>
                <a:ea typeface="Calibri" pitchFamily="34" charset="-122"/>
                <a:cs typeface="Calibri" pitchFamily="34" charset="-120"/>
              </a:rPr>
              <a:t>→</a:t>
            </a:r>
            <a:endParaRPr lang="en-US" sz="1600" dirty="0"/>
          </a:p>
        </p:txBody>
      </p:sp>
      <p:sp>
        <p:nvSpPr>
          <p:cNvPr id="34" name="Shape 28"/>
          <p:cNvSpPr/>
          <p:nvPr/>
        </p:nvSpPr>
        <p:spPr>
          <a:xfrm>
            <a:off x="6181344" y="2066544"/>
            <a:ext cx="1014984" cy="1014984"/>
          </a:xfrm>
          <a:prstGeom prst="ellipse">
            <a:avLst/>
          </a:prstGeom>
          <a:solidFill>
            <a:srgbClr val="F4F1EA"/>
          </a:solidFill>
          <a:ln w="12700">
            <a:solidFill>
              <a:srgbClr val="F4F1EA"/>
            </a:solidFill>
            <a:prstDash val="solid"/>
          </a:ln>
        </p:spPr>
      </p:sp>
      <p:pic>
        <p:nvPicPr>
          <p:cNvPr id="35"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يُؤَدِّي رَمْيُ النُّفَايَاتِ فِي الْبَحْرِ إِلَى إِضْرَارِ الْحَيَاةِ الْبَحْرِيَّةِ.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Throwing waste into the sea harms marine life.</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Text 38"/>
          <p:cNvSpPr txBox="1"/>
          <p:nvPr/>
        </p:nvSpPr>
        <p:spPr>
          <a:xfrm>
            <a:off x="2133600" y="2267712"/>
            <a:ext cx="283464" cy="457200"/>
          </a:xfrm>
          <a:prstGeom prst="rect">
            <a:avLst/>
          </a:prstGeom>
          <a:noFill/>
          <a:ln/>
        </p:spPr>
        <p:txBody>
          <a:bodyPr wrap="square" lIns="0" tIns="0" rIns="0" bIns="0" rtlCol="0" anchor="ctr"/>
          <a:lstStyle/>
          <a:p>
            <a:pPr algn="ctr" indent="0" marL="0">
              <a:buNone/>
            </a:pPr>
            <a:r>
              <a:rPr lang="en-US" sz="1600" b="1" dirty="0">
                <a:solidFill>
                  <a:srgbClr val="5A6472"/>
                </a:solidFill>
                <a:latin typeface="Calibri" pitchFamily="34" charset="0"/>
                <a:ea typeface="Calibri" pitchFamily="34" charset="-122"/>
                <a:cs typeface="Calibri" pitchFamily="34" charset="-120"/>
              </a:rPr>
              <a:t>→</a:t>
            </a:r>
            <a:endParaRPr lang="en-US" sz="1600" dirty="0"/>
          </a:p>
        </p:txBody>
      </p:sp>
      <p:sp>
        <p:nvSpPr>
          <p:cNvPr id="47" name="Shape 39"/>
          <p:cNvSpPr/>
          <p:nvPr/>
        </p:nvSpPr>
        <p:spPr>
          <a:xfrm>
            <a:off x="2362200" y="2066544"/>
            <a:ext cx="1014984" cy="1014984"/>
          </a:xfrm>
          <a:prstGeom prst="ellipse">
            <a:avLst/>
          </a:prstGeom>
          <a:solidFill>
            <a:srgbClr val="F4F1EA"/>
          </a:solidFill>
          <a:ln w="12700">
            <a:solidFill>
              <a:srgbClr val="F4F1EA"/>
            </a:solidFill>
            <a:prstDash val="solid"/>
          </a:ln>
        </p:spPr>
      </p:sp>
      <p:pic>
        <p:nvPicPr>
          <p:cNvPr id="48"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يُؤَدِّي قَطْعُ الأَشْجَارِ إِلَى فَقْدَانِ مَوَائِلِ الْحَيَوَانَاتِ.</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Cutting down trees leads to the loss of animal habitats.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Build the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Cars pollute the air.</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يُلَوَّثُ</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تُلَوِّثُ</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السَّيَّارَاتُ</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الأَشْجَارُ</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الهَوَاءُ.</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الهَوَاءَ.</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The sea gets polluted because of plastic waste.</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يَتَلَوَّثُ</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يُؤَدِّي</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الهَوَاءُ</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البَحْرُ</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بِسَبَبِ النُّفَايَاتِ البِلَاسْتِيكِيَّةِ.</a:t>
            </a:r>
            <a:endParaRPr lang="ar-SA" sz="15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إِلَى النُّفَايَاتِ البِلَاسْتِيكِيَّةِ.</a:t>
            </a:r>
            <a:endParaRPr lang="ar-SA" sz="155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Pollution leads to illnesses.</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يُؤَدِّي</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يَتَرَاكَمُ</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التَّلَوُّثُ</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الجَلِيدُ</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فِي أَمْرَاضٍ.</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إِلَى أَمْرَاضٍ.</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Cars pollute the air.</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B · A · B</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Active: the cars do it; the air is the object → </a:t>
            </a:r>
            <a:pPr algn="l" indent="0" marL="0">
              <a:buNone/>
            </a:pPr>
            <a:r>
              <a:rPr lang="ar-SA" altLang="en-US" sz="1350" dirty="0">
                <a:solidFill>
                  <a:srgbClr val="5A6472"/>
                </a:solidFill>
                <a:latin typeface="Amiri" pitchFamily="34" charset="0"/>
                <a:ea typeface="Amiri" pitchFamily="34" charset="-122"/>
                <a:cs typeface="Amiri" pitchFamily="34" charset="-120"/>
              </a:rPr>
              <a:t>الهَوَاءَ</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تُلَوِّثُ السَّيَّارَاتُ الهَوَاءَ.</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The sea gets polluted because of plastic waste.</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B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بِسَبَبِ</a:t>
            </a:r>
            <a:pPr algn="l" indent="0" marL="0">
              <a:buNone/>
            </a:pPr>
            <a:r>
              <a:rPr lang="en-US" sz="1050" i="1" dirty="0">
                <a:solidFill>
                  <a:srgbClr val="5A6472"/>
                </a:solidFill>
                <a:latin typeface="Calibri" pitchFamily="34" charset="0"/>
                <a:ea typeface="Calibri" pitchFamily="34" charset="-122"/>
                <a:cs typeface="Calibri" pitchFamily="34" charset="-120"/>
              </a:rPr>
              <a:t> + the cause (a noun).</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يَتَلَوَّثُ البَحْرُ بِسَبَبِ النُّفَايَاتِ البِلَاسْتِيكِيَّةِ.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Pollution leads to illnesses.</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A · B</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Always </a:t>
            </a:r>
            <a:pPr algn="l" indent="0" marL="0">
              <a:buNone/>
            </a:pPr>
            <a:r>
              <a:rPr lang="ar-SA" altLang="en-US" sz="1350" dirty="0">
                <a:solidFill>
                  <a:srgbClr val="5A6472"/>
                </a:solidFill>
                <a:latin typeface="Amiri" pitchFamily="34" charset="0"/>
                <a:ea typeface="Amiri" pitchFamily="34" charset="-122"/>
                <a:cs typeface="Amiri" pitchFamily="34" charset="-120"/>
              </a:rPr>
              <a:t>إِلَى</a:t>
            </a:r>
            <a:pPr algn="l" indent="0" marL="0">
              <a:buNone/>
            </a:pPr>
            <a:r>
              <a:rPr lang="en-US" sz="1050" i="1" dirty="0">
                <a:solidFill>
                  <a:srgbClr val="5A6472"/>
                </a:solidFill>
                <a:latin typeface="Calibri" pitchFamily="34" charset="0"/>
                <a:ea typeface="Calibri" pitchFamily="34" charset="-122"/>
                <a:cs typeface="Calibri" pitchFamily="34" charset="-120"/>
              </a:rPr>
              <a:t> after </a:t>
            </a:r>
            <a:pPr algn="l" indent="0" marL="0">
              <a:buNone/>
            </a:pPr>
            <a:r>
              <a:rPr lang="ar-SA" altLang="en-US" sz="1350" dirty="0">
                <a:solidFill>
                  <a:srgbClr val="5A6472"/>
                </a:solidFill>
                <a:latin typeface="Amiri" pitchFamily="34" charset="0"/>
                <a:ea typeface="Amiri" pitchFamily="34" charset="-122"/>
                <a:cs typeface="Amiri" pitchFamily="34" charset="-120"/>
              </a:rPr>
              <a:t>يُؤَدِّي</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يُؤَدِّي التَّلَوُّثُ إِلَى أَمْرَاضٍ.</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Problem, process or connector?</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7" name="Shape 14"/>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بِسَبَبِ</a:t>
            </a:r>
            <a:endParaRPr lang="ar-SA" sz="1800" dirty="0"/>
          </a:p>
        </p:txBody>
      </p:sp>
      <p:sp>
        <p:nvSpPr>
          <p:cNvPr id="19" name="Shape 16"/>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تَلَوُّثُ الهَوَاءِ</a:t>
            </a:r>
            <a:endParaRPr lang="ar-SA" sz="1800" dirty="0"/>
          </a:p>
        </p:txBody>
      </p:sp>
      <p:sp>
        <p:nvSpPr>
          <p:cNvPr id="21" name="Shape 18"/>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يُلَوَّثُ الهَوَاءُ</a:t>
            </a:r>
            <a:endParaRPr lang="ar-SA" sz="1800" dirty="0"/>
          </a:p>
        </p:txBody>
      </p:sp>
      <p:sp>
        <p:nvSpPr>
          <p:cNvPr id="23" name="Shape 20"/>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يُؤَدِّي إِلَى</a:t>
            </a:r>
            <a:endParaRPr lang="ar-SA" sz="1800" dirty="0"/>
          </a:p>
        </p:txBody>
      </p:sp>
      <p:sp>
        <p:nvSpPr>
          <p:cNvPr id="25" name="Shape 22"/>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النُّفَايَاتُ البِلَاسْتِيكِيَّةُ</a:t>
            </a:r>
            <a:endParaRPr lang="ar-SA" sz="1800" dirty="0"/>
          </a:p>
        </p:txBody>
      </p:sp>
      <p:sp>
        <p:nvSpPr>
          <p:cNvPr id="27" name="Shape 24"/>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تُقْطَعُ الأَشْجَارُ</a:t>
            </a:r>
            <a:endParaRPr lang="ar-SA" sz="1800" dirty="0"/>
          </a:p>
        </p:txBody>
      </p:sp>
      <p:sp>
        <p:nvSpPr>
          <p:cNvPr id="29" name="Shape 26"/>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تَلَوُّثُ المِيَاهِ</a:t>
            </a:r>
            <a:endParaRPr lang="ar-SA" sz="1800" dirty="0"/>
          </a:p>
        </p:txBody>
      </p:sp>
      <p:sp>
        <p:nvSpPr>
          <p:cNvPr id="31" name="Shape 28"/>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نَتِيجَةً لِـ</a:t>
            </a:r>
            <a:endParaRPr lang="ar-SA" sz="1800" dirty="0"/>
          </a:p>
        </p:txBody>
      </p:sp>
      <p:sp>
        <p:nvSpPr>
          <p:cNvPr id="33" name="Shape 30"/>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تُلَوِّثُ المَصَانِعُ الهَوَاءَ</a:t>
            </a:r>
            <a:endParaRPr lang="ar-SA" sz="1800" dirty="0"/>
          </a:p>
        </p:txBody>
      </p:sp>
      <p:sp>
        <p:nvSpPr>
          <p:cNvPr id="35" name="Shape 32"/>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Environmental problems</a:t>
            </a:r>
            <a:endParaRPr lang="en-US" sz="950" dirty="0"/>
          </a:p>
        </p:txBody>
      </p:sp>
      <p:sp>
        <p:nvSpPr>
          <p:cNvPr id="38" name="Shape 35"/>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Active and passive processes</a:t>
            </a:r>
            <a:endParaRPr lang="en-US" sz="950" dirty="0"/>
          </a:p>
        </p:txBody>
      </p:sp>
      <p:sp>
        <p:nvSpPr>
          <p:cNvPr id="41" name="Shape 38"/>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2" name="Shape 39"/>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3" name="Text 40"/>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Cause and effect</a:t>
            </a:r>
            <a:endParaRPr lang="en-US" sz="9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7" name="Shape 14"/>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8" name="Shape 15"/>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9" name="Text 16"/>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Environmental problems</a:t>
            </a:r>
            <a:endParaRPr lang="en-US" sz="950" dirty="0"/>
          </a:p>
        </p:txBody>
      </p:sp>
      <p:sp>
        <p:nvSpPr>
          <p:cNvPr id="20" name="Shape 17"/>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تَلَوُّثُ الهَوَاءِ</a:t>
            </a:r>
            <a:endParaRPr lang="ar-SA" sz="1800" dirty="0"/>
          </a:p>
        </p:txBody>
      </p:sp>
      <p:sp>
        <p:nvSpPr>
          <p:cNvPr id="22" name="Shape 19"/>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النُّفَايَاتُ البِلَاسْتِيكِيَّةُ</a:t>
            </a:r>
            <a:endParaRPr lang="ar-SA" sz="1800" dirty="0"/>
          </a:p>
        </p:txBody>
      </p:sp>
      <p:sp>
        <p:nvSpPr>
          <p:cNvPr id="24" name="Shape 21"/>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تَلَوُّثُ المِيَاهِ</a:t>
            </a:r>
            <a:endParaRPr lang="ar-SA" sz="1800" dirty="0"/>
          </a:p>
        </p:txBody>
      </p:sp>
      <p:sp>
        <p:nvSpPr>
          <p:cNvPr id="26" name="Shape 23"/>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7" name="Shape 24"/>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Active and passive processes</a:t>
            </a:r>
            <a:endParaRPr lang="en-US" sz="950" dirty="0"/>
          </a:p>
        </p:txBody>
      </p:sp>
      <p:sp>
        <p:nvSpPr>
          <p:cNvPr id="29" name="Shape 26"/>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يُلَوَّثُ الهَوَاءُ</a:t>
            </a:r>
            <a:endParaRPr lang="ar-SA" sz="1800" dirty="0"/>
          </a:p>
        </p:txBody>
      </p:sp>
      <p:sp>
        <p:nvSpPr>
          <p:cNvPr id="31" name="Shape 28"/>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تُقْطَعُ الأَشْجَارُ</a:t>
            </a:r>
            <a:endParaRPr lang="ar-SA" sz="1800" dirty="0"/>
          </a:p>
        </p:txBody>
      </p:sp>
      <p:sp>
        <p:nvSpPr>
          <p:cNvPr id="33" name="Shape 30"/>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تُلَوِّثُ المَصَانِعُ الهَوَاءَ</a:t>
            </a:r>
            <a:endParaRPr lang="ar-SA" sz="1800" dirty="0"/>
          </a:p>
        </p:txBody>
      </p:sp>
      <p:sp>
        <p:nvSpPr>
          <p:cNvPr id="35" name="Shape 32"/>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6" name="Shape 33"/>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Cause and effect</a:t>
            </a:r>
            <a:endParaRPr lang="en-US" sz="950" dirty="0"/>
          </a:p>
        </p:txBody>
      </p:sp>
      <p:sp>
        <p:nvSpPr>
          <p:cNvPr id="38" name="Shape 35"/>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بِسَبَبِ</a:t>
            </a:r>
            <a:endParaRPr lang="ar-SA" sz="1800" dirty="0"/>
          </a:p>
        </p:txBody>
      </p:sp>
      <p:sp>
        <p:nvSpPr>
          <p:cNvPr id="40" name="Shape 37"/>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يُؤَدِّي إِلَى</a:t>
            </a:r>
            <a:endParaRPr lang="ar-SA" sz="1800" dirty="0"/>
          </a:p>
        </p:txBody>
      </p:sp>
      <p:sp>
        <p:nvSpPr>
          <p:cNvPr id="42" name="Shape 39"/>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3" name="Text 40"/>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نَتِيجَةً لِـ</a:t>
            </a:r>
            <a:endParaRPr lang="ar-SA"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GUIDED PRACTICE · WEBSITE QUIZ QUESTIONS 2, 6, 7, 8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 sentence.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تُلَوَّثُ الهَوَاءُ بِالدُّخَانِ.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يُلَوِّثُ الهَوَاءَ بِدُخَانِ المَصَانِعِ.</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يُلَوَّثُ الهَوَاءُ بِدُخَانِ المَصَانِعِ.</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links a complete cause to its consequence?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تَرْتَفِعُ الحَرَارَةُ بِسَبَبِ يُسَبِّبُ الجَلِيدَ.</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تَرْتَفِعُ الحَرَارَةُ، مِمَّا يُسَبِّبُ ذَوَبَانَ الجَلِيدِ.</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تَرْتَفِعُ الحَرَارَةُ إِلَى مِمَّا الجَلِيدِ.</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about </a:t>
            </a:r>
            <a:pPr algn="l" indent="0" marL="0">
              <a:buNone/>
            </a:pPr>
            <a:r>
              <a:rPr lang="ar-SA" altLang="en-US" sz="1650" b="1" dirty="0">
                <a:solidFill>
                  <a:srgbClr val="1B3B6F"/>
                </a:solidFill>
                <a:latin typeface="Amiri" pitchFamily="34" charset="0"/>
                <a:ea typeface="Amiri" pitchFamily="34" charset="-122"/>
                <a:cs typeface="Amiri" pitchFamily="34" charset="-120"/>
              </a:rPr>
              <a:t>يَنْبَعِثُ</a:t>
            </a:r>
            <a:pPr algn="l" indent="0" marL="0">
              <a:buNone/>
            </a:pPr>
            <a:r>
              <a:rPr lang="en-US" sz="1250" b="1" dirty="0">
                <a:solidFill>
                  <a:srgbClr val="1B3B6F"/>
                </a:solidFill>
                <a:latin typeface="Calibri" pitchFamily="34" charset="0"/>
                <a:ea typeface="Calibri" pitchFamily="34" charset="-122"/>
                <a:cs typeface="Calibri" pitchFamily="34" charset="-120"/>
              </a:rPr>
              <a:t> is accurate?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the regular passive of </a:t>
            </a:r>
            <a:pPr algn="l" indent="0" marL="0">
              <a:buNone/>
            </a:pPr>
            <a:r>
              <a:rPr lang="ar-SA" altLang="en-US" sz="1650" dirty="0">
                <a:solidFill>
                  <a:srgbClr val="1F2A37"/>
                </a:solidFill>
                <a:latin typeface="Amiri" pitchFamily="34" charset="0"/>
                <a:ea typeface="Amiri" pitchFamily="34" charset="-122"/>
                <a:cs typeface="Amiri" pitchFamily="34" charset="-120"/>
              </a:rPr>
              <a:t>يُلَوِّثُ</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an intransitive process verb meaning “emanates/is emitted”.</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must always take a direct object.</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cause phrase.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نَتِيجَةُ لِحَرَقَ الوَقُودَ</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نَتِيجَةً إِلَى حَرْقُ الوَقُودِ</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نَتِيجَةً لِحَرْقِ الوَقُودِ الأُحْفُورِيِّ</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 sentence.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تُلَوَّثُ الهَوَاءُ بِالدُّخَانِ.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يُلَوِّثُ الهَوَاءَ بِدُخَانِ المَصَانِعِ.</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يُلَوَّثُ الهَوَاءُ بِدُخَانِ المَصَانِعِ.</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الهواء</a:t>
            </a:r>
            <a:pPr algn="l" indent="0" marL="0">
              <a:buNone/>
            </a:pPr>
            <a:r>
              <a:rPr lang="en-US" sz="1050" i="1" dirty="0">
                <a:solidFill>
                  <a:srgbClr val="8A6D1E"/>
                </a:solidFill>
                <a:latin typeface="Calibri" pitchFamily="34" charset="0"/>
                <a:ea typeface="Calibri" pitchFamily="34" charset="-122"/>
                <a:cs typeface="Calibri" pitchFamily="34" charset="-120"/>
              </a:rPr>
              <a:t> is masculine; the passive is </a:t>
            </a:r>
            <a:pPr algn="l" indent="0" marL="0">
              <a:buNone/>
            </a:pPr>
            <a:r>
              <a:rPr lang="ar-SA" altLang="en-US" sz="1350" dirty="0">
                <a:solidFill>
                  <a:srgbClr val="8A6D1E"/>
                </a:solidFill>
                <a:latin typeface="Amiri" pitchFamily="34" charset="0"/>
                <a:ea typeface="Amiri" pitchFamily="34" charset="-122"/>
                <a:cs typeface="Amiri" pitchFamily="34" charset="-120"/>
              </a:rPr>
              <a:t>يُلَوَّثُ</a:t>
            </a:r>
            <a:pPr algn="l" indent="0" marL="0">
              <a:buNone/>
            </a:pPr>
            <a:r>
              <a:rPr lang="en-US" sz="1050" i="1" dirty="0">
                <a:solidFill>
                  <a:srgbClr val="8A6D1E"/>
                </a:solidFill>
                <a:latin typeface="Calibri" pitchFamily="34" charset="0"/>
                <a:ea typeface="Calibri" pitchFamily="34" charset="-122"/>
                <a:cs typeface="Calibri" pitchFamily="34" charset="-120"/>
              </a:rPr>
              <a:t> and the passive subject is nominative.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links a complete cause to its consequence?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تَرْتَفِعُ الحَرَارَةُ بِسَبَبِ يُسَبِّبُ الجَلِيدَ.</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تَرْتَفِعُ الحَرَارَةُ، مِمَّا يُسَبِّبُ ذَوَبَانَ الجَلِيدِ.</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تَرْتَفِعُ الحَرَارَةُ إِلَى مِمَّا الجَلِيدِ.</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مما يسبب</a:t>
            </a:r>
            <a:pPr algn="l" indent="0" marL="0">
              <a:buNone/>
            </a:pPr>
            <a:r>
              <a:rPr lang="en-US" sz="1050" i="1" dirty="0">
                <a:solidFill>
                  <a:srgbClr val="8A6D1E"/>
                </a:solidFill>
                <a:latin typeface="Calibri" pitchFamily="34" charset="0"/>
                <a:ea typeface="Calibri" pitchFamily="34" charset="-122"/>
                <a:cs typeface="Calibri" pitchFamily="34" charset="-120"/>
              </a:rPr>
              <a:t> refers to the whole preceding clause.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about </a:t>
            </a:r>
            <a:pPr algn="l" indent="0" marL="0">
              <a:buNone/>
            </a:pPr>
            <a:r>
              <a:rPr lang="ar-SA" altLang="en-US" sz="1650" b="1" dirty="0">
                <a:solidFill>
                  <a:srgbClr val="1B3B6F"/>
                </a:solidFill>
                <a:latin typeface="Amiri" pitchFamily="34" charset="0"/>
                <a:ea typeface="Amiri" pitchFamily="34" charset="-122"/>
                <a:cs typeface="Amiri" pitchFamily="34" charset="-120"/>
              </a:rPr>
              <a:t>يَنْبَعِثُ</a:t>
            </a:r>
            <a:pPr algn="l" indent="0" marL="0">
              <a:buNone/>
            </a:pPr>
            <a:r>
              <a:rPr lang="en-US" sz="1250" b="1" dirty="0">
                <a:solidFill>
                  <a:srgbClr val="1B3B6F"/>
                </a:solidFill>
                <a:latin typeface="Calibri" pitchFamily="34" charset="0"/>
                <a:ea typeface="Calibri" pitchFamily="34" charset="-122"/>
                <a:cs typeface="Calibri" pitchFamily="34" charset="-120"/>
              </a:rPr>
              <a:t> is accurate?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the regular passive of </a:t>
            </a:r>
            <a:pPr algn="l" indent="0" marL="0">
              <a:buNone/>
            </a:pPr>
            <a:r>
              <a:rPr lang="ar-SA" altLang="en-US" sz="1650" dirty="0">
                <a:solidFill>
                  <a:srgbClr val="9AA1AB"/>
                </a:solidFill>
                <a:latin typeface="Amiri" pitchFamily="34" charset="0"/>
                <a:ea typeface="Amiri" pitchFamily="34" charset="-122"/>
                <a:cs typeface="Amiri" pitchFamily="34" charset="-120"/>
              </a:rPr>
              <a:t>يُلَوِّثُ</a:t>
            </a:r>
            <a:pPr algn="l" indent="0" marL="0">
              <a:buNone/>
            </a:pPr>
            <a:r>
              <a:rPr lang="en-US" sz="1250" dirty="0">
                <a:solidFill>
                  <a:srgbClr val="9AA1AB"/>
                </a:solidFill>
                <a:latin typeface="Calibri" pitchFamily="34" charset="0"/>
                <a:ea typeface="Calibri" pitchFamily="34" charset="-122"/>
                <a:cs typeface="Calibri" pitchFamily="34" charset="-120"/>
              </a:rPr>
              <a:t>.</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It is an intransitive process verb meaning “emanates/is emitted”.</a:t>
            </a:r>
            <a:endParaRPr lang="en-US" sz="12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must always take a direct object.</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ينبعث</a:t>
            </a:r>
            <a:pPr algn="l" indent="0" marL="0">
              <a:buNone/>
            </a:pPr>
            <a:r>
              <a:rPr lang="en-US" sz="1050" i="1" dirty="0">
                <a:solidFill>
                  <a:srgbClr val="8A6D1E"/>
                </a:solidFill>
                <a:latin typeface="Calibri" pitchFamily="34" charset="0"/>
                <a:ea typeface="Calibri" pitchFamily="34" charset="-122"/>
                <a:cs typeface="Calibri" pitchFamily="34" charset="-120"/>
              </a:rPr>
              <a:t> is not a passive form of </a:t>
            </a:r>
            <a:pPr algn="l" indent="0" marL="0">
              <a:buNone/>
            </a:pPr>
            <a:r>
              <a:rPr lang="ar-SA" altLang="en-US" sz="1350" dirty="0">
                <a:solidFill>
                  <a:srgbClr val="8A6D1E"/>
                </a:solidFill>
                <a:latin typeface="Amiri" pitchFamily="34" charset="0"/>
                <a:ea typeface="Amiri" pitchFamily="34" charset="-122"/>
                <a:cs typeface="Amiri" pitchFamily="34" charset="-120"/>
              </a:rPr>
              <a:t>لوّث</a:t>
            </a:r>
            <a:pPr algn="l" indent="0" marL="0">
              <a:buNone/>
            </a:pPr>
            <a:r>
              <a:rPr lang="en-US" sz="1050" i="1" dirty="0">
                <a:solidFill>
                  <a:srgbClr val="8A6D1E"/>
                </a:solidFill>
                <a:latin typeface="Calibri" pitchFamily="34" charset="0"/>
                <a:ea typeface="Calibri" pitchFamily="34" charset="-122"/>
                <a:cs typeface="Calibri" pitchFamily="34" charset="-120"/>
              </a:rPr>
              <a:t>; it describes smoke or gas emanating.</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cause phrase.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نَتِيجَةُ لِحَرَقَ الوَقُودَ</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نَتِيجَةً إِلَى حَرْقُ الوَقُودِ</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نَتِيجَةً لِحَرْقِ الوَقُودِ الأُحْفُورِيِّ</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نتيجةً لـ</a:t>
            </a:r>
            <a:pPr algn="l" indent="0" marL="0">
              <a:buNone/>
            </a:pPr>
            <a:r>
              <a:rPr lang="en-US" sz="1050" i="1" dirty="0">
                <a:solidFill>
                  <a:srgbClr val="8A6D1E"/>
                </a:solidFill>
                <a:latin typeface="Calibri" pitchFamily="34" charset="0"/>
                <a:ea typeface="Calibri" pitchFamily="34" charset="-122"/>
                <a:cs typeface="Calibri" pitchFamily="34" charset="-120"/>
              </a:rPr>
              <a:t> is followed by a genitive noun phrase.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يُلَوِّثُ الهَوَاءُ بِالدُّخَانِ.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Is the air doing the polluting, or being polluted?</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يُؤَدِّي التَّلَوُّثُ فِي أَمْرَاضٍ.</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Which preposition always follows </a:t>
            </a:r>
            <a:pPr algn="l" indent="0" marL="0">
              <a:buNone/>
            </a:pPr>
            <a:r>
              <a:rPr lang="ar-SA" altLang="en-US" sz="1700" dirty="0">
                <a:solidFill>
                  <a:srgbClr val="5A6472"/>
                </a:solidFill>
                <a:latin typeface="Amiri" pitchFamily="34" charset="0"/>
                <a:ea typeface="Amiri" pitchFamily="34" charset="-122"/>
                <a:cs typeface="Amiri" pitchFamily="34" charset="-120"/>
              </a:rPr>
              <a:t>يُؤَدِّي</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يُقْطَعُ الأَشْجَارُ.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Is </a:t>
            </a:r>
            <a:pPr algn="l" indent="0" marL="0">
              <a:buNone/>
            </a:pPr>
            <a:r>
              <a:rPr lang="ar-SA" altLang="en-US" sz="1700" dirty="0">
                <a:solidFill>
                  <a:srgbClr val="5A6472"/>
                </a:solidFill>
                <a:latin typeface="Amiri" pitchFamily="34" charset="0"/>
                <a:ea typeface="Amiri" pitchFamily="34" charset="-122"/>
                <a:cs typeface="Amiri" pitchFamily="34" charset="-120"/>
              </a:rPr>
              <a:t>الأَشْجَار</a:t>
            </a:r>
            <a:pPr algn="l" indent="0" marL="0">
              <a:buNone/>
            </a:pPr>
            <a:r>
              <a:rPr lang="en-US" sz="1300" i="1" dirty="0">
                <a:solidFill>
                  <a:srgbClr val="5A6472"/>
                </a:solidFill>
                <a:latin typeface="Calibri" pitchFamily="34" charset="0"/>
                <a:ea typeface="Calibri" pitchFamily="34" charset="-122"/>
                <a:cs typeface="Calibri" pitchFamily="34" charset="-120"/>
              </a:rPr>
              <a:t> treated as masculine or feminine?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يُلَوِّثُ الهَوَاءُ بِالدُّخَانِ.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يُلَوَّثُ الهَوَاءُ بِالدُّخَانِ.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passive present of </a:t>
            </a:r>
            <a:pPr algn="l" indent="0" marL="0">
              <a:buNone/>
            </a:pPr>
            <a:r>
              <a:rPr lang="ar-SA" altLang="en-US" sz="1500" b="1" dirty="0">
                <a:solidFill>
                  <a:srgbClr val="1B3B6F"/>
                </a:solidFill>
                <a:latin typeface="Amiri" pitchFamily="34" charset="0"/>
                <a:ea typeface="Amiri" pitchFamily="34" charset="-122"/>
                <a:cs typeface="Amiri" pitchFamily="34" charset="-120"/>
              </a:rPr>
              <a:t>لوّث</a:t>
            </a:r>
            <a:pPr algn="l" indent="0" marL="0">
              <a:buNone/>
            </a:pPr>
            <a:r>
              <a:rPr lang="en-US" sz="1150" b="1" dirty="0">
                <a:solidFill>
                  <a:srgbClr val="1B3B6F"/>
                </a:solidFill>
                <a:latin typeface="Calibri" pitchFamily="34" charset="0"/>
                <a:ea typeface="Calibri" pitchFamily="34" charset="-122"/>
                <a:cs typeface="Calibri" pitchFamily="34" charset="-120"/>
              </a:rPr>
              <a:t> is </a:t>
            </a:r>
            <a:pPr algn="l" indent="0" marL="0">
              <a:buNone/>
            </a:pPr>
            <a:r>
              <a:rPr lang="ar-SA" altLang="en-US" sz="1500" b="1" dirty="0">
                <a:solidFill>
                  <a:srgbClr val="1B3B6F"/>
                </a:solidFill>
                <a:latin typeface="Amiri" pitchFamily="34" charset="0"/>
                <a:ea typeface="Amiri" pitchFamily="34" charset="-122"/>
                <a:cs typeface="Amiri" pitchFamily="34" charset="-120"/>
              </a:rPr>
              <a:t>يُلَوَّثُ</a:t>
            </a:r>
            <a:pPr algn="l" indent="0" marL="0">
              <a:buNone/>
            </a:pPr>
            <a:r>
              <a:rPr lang="en-US" sz="1150" b="1" dirty="0">
                <a:solidFill>
                  <a:srgbClr val="1B3B6F"/>
                </a:solidFill>
                <a:latin typeface="Calibri" pitchFamily="34" charset="0"/>
                <a:ea typeface="Calibri" pitchFamily="34" charset="-122"/>
                <a:cs typeface="Calibri" pitchFamily="34" charset="-120"/>
              </a:rPr>
              <a:t>; the air is the passive subject.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يُؤَدِّي التَّلَوُّثُ فِي أَمْرَاضٍ.</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يُؤَدِّي التَّلَوُّثُ إِلَى أَمْرَاضٍ.</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يؤدي</a:t>
            </a:r>
            <a:pPr algn="l" indent="0" marL="0">
              <a:buNone/>
            </a:pPr>
            <a:r>
              <a:rPr lang="en-US" sz="1150" b="1" dirty="0">
                <a:solidFill>
                  <a:srgbClr val="1B3B6F"/>
                </a:solidFill>
                <a:latin typeface="Calibri" pitchFamily="34" charset="0"/>
                <a:ea typeface="Calibri" pitchFamily="34" charset="-122"/>
                <a:cs typeface="Calibri" pitchFamily="34" charset="-120"/>
              </a:rPr>
              <a:t> takes the preposition </a:t>
            </a:r>
            <a:pPr algn="l" indent="0" marL="0">
              <a:buNone/>
            </a:pPr>
            <a:r>
              <a:rPr lang="ar-SA" altLang="en-US" sz="1500" b="1" dirty="0">
                <a:solidFill>
                  <a:srgbClr val="1B3B6F"/>
                </a:solidFill>
                <a:latin typeface="Amiri" pitchFamily="34" charset="0"/>
                <a:ea typeface="Amiri" pitchFamily="34" charset="-122"/>
                <a:cs typeface="Amiri" pitchFamily="34" charset="-120"/>
              </a:rPr>
              <a:t>إلى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يُقْطَعُ الأَشْجَارُ.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تُقْطَعُ الأَشْجَارُ.</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الأشجار</a:t>
            </a:r>
            <a:pPr algn="l" indent="0" marL="0">
              <a:buNone/>
            </a:pPr>
            <a:r>
              <a:rPr lang="en-US" sz="1150" b="1" dirty="0">
                <a:solidFill>
                  <a:srgbClr val="1B3B6F"/>
                </a:solidFill>
                <a:latin typeface="Calibri" pitchFamily="34" charset="0"/>
                <a:ea typeface="Calibri" pitchFamily="34" charset="-122"/>
                <a:cs typeface="Calibri" pitchFamily="34" charset="-120"/>
              </a:rPr>
              <a:t> is a non-human plural treated as feminine.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Listening: pollution and its consequences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ea typeface="Calibri" pitchFamily="34" charset="-122"/>
                <a:cs typeface="Calibri" pitchFamily="34" charset="-120"/>
              </a:rPr>
              <a:t>What is described as one of the city’s most serious problems?</a:t>
            </a:r>
            <a:endParaRPr lang="en-US" sz="10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Air pollution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Lack of schools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Cold weather</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sources pollute the air?</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Rain and wind</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Farms and hospitals</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Cars and factories</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emanates from them?</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Fresh water</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Snow</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Thick smoke</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health effect increases?</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Respiratory illnesses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Broken bones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Food allergies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plastic waste thrown?</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recycling centre</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river</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mountains</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What are the two water-related consequences?</a:t>
            </a:r>
            <a:endParaRPr lang="en-US" sz="110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Water pollution and the death of some fish</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drinking water and cleaner beaches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Lower sea levels and more forests</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5 — listen for </a:t>
            </a:r>
            <a:pPr algn="l" indent="0" marL="0">
              <a:buNone/>
            </a:pPr>
            <a:r>
              <a:rPr lang="ar-SA" altLang="en-US" sz="1650" dirty="0">
                <a:solidFill>
                  <a:srgbClr val="1E6B52"/>
                </a:solidFill>
                <a:latin typeface="Amiri" pitchFamily="34" charset="0"/>
                <a:ea typeface="Amiri" pitchFamily="34" charset="-122"/>
                <a:cs typeface="Amiri" pitchFamily="34" charset="-120"/>
              </a:rPr>
              <a:t>تَلَوُّثُ الهَوَاءِ</a:t>
            </a:r>
            <a:pPr algn="l" indent="0" marL="0">
              <a:buNone/>
            </a:pPr>
            <a:r>
              <a:rPr lang="en-US" sz="1250" dirty="0">
                <a:solidFill>
                  <a:srgbClr val="1E6B52"/>
                </a:solidFill>
                <a:latin typeface="Calibri" pitchFamily="34" charset="0"/>
                <a:ea typeface="Calibri" pitchFamily="34" charset="-122"/>
                <a:cs typeface="Calibri" pitchFamily="34" charset="-120"/>
              </a:rPr>
              <a:t>, </a:t>
            </a:r>
            <a:pPr algn="l" indent="0" marL="0">
              <a:buNone/>
            </a:pPr>
            <a:r>
              <a:rPr lang="ar-SA" altLang="en-US" sz="1650" dirty="0">
                <a:solidFill>
                  <a:srgbClr val="1E6B52"/>
                </a:solidFill>
                <a:latin typeface="Amiri" pitchFamily="34" charset="0"/>
                <a:ea typeface="Amiri" pitchFamily="34" charset="-122"/>
                <a:cs typeface="Amiri" pitchFamily="34" charset="-120"/>
              </a:rPr>
              <a:t>السَّيَّارَاتُ وَالمَصَانِعُ</a:t>
            </a:r>
            <a:pPr algn="l" indent="0" marL="0">
              <a:buNone/>
            </a:pPr>
            <a:r>
              <a:rPr lang="en-US" sz="1250" dirty="0">
                <a:solidFill>
                  <a:srgbClr val="1E6B52"/>
                </a:solidFill>
                <a:latin typeface="Calibri" pitchFamily="34" charset="0"/>
                <a:ea typeface="Calibri" pitchFamily="34" charset="-122"/>
                <a:cs typeface="Calibri" pitchFamily="34" charset="-120"/>
              </a:rPr>
              <a:t> and </a:t>
            </a:r>
            <a:pPr algn="l" indent="0" marL="0">
              <a:buNone/>
            </a:pPr>
            <a:r>
              <a:rPr lang="ar-SA" altLang="en-US" sz="1650" dirty="0">
                <a:solidFill>
                  <a:srgbClr val="1E6B52"/>
                </a:solidFill>
                <a:latin typeface="Amiri" pitchFamily="34" charset="0"/>
                <a:ea typeface="Amiri" pitchFamily="34" charset="-122"/>
                <a:cs typeface="Amiri" pitchFamily="34" charset="-120"/>
              </a:rPr>
              <a:t>النَّهْرِ</a:t>
            </a:r>
            <a:pPr algn="l" indent="0" marL="0">
              <a:buNone/>
            </a:pPr>
            <a:r>
              <a:rPr lang="en-US" sz="1250" dirty="0">
                <a:solidFill>
                  <a:srgbClr val="1E6B52"/>
                </a:solidFill>
                <a:latin typeface="Calibri" pitchFamily="34" charset="0"/>
                <a:ea typeface="Calibri" pitchFamily="34" charset="-122"/>
                <a:cs typeface="Calibri" pitchFamily="34" charset="-120"/>
              </a:rPr>
              <a:t> (river).</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يُعَدُّ تَلَوُّثُ الهَوَاءِ مِنْ أَخْطَرِ المُشْكِلَاتِ فِي المَدِينَةِ.</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Air pollution is considered one of the most serious problems in the city.</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تُلَوِّثُ السَّيَّارَاتُ وَالمَصَانِعُ الهَوَاءَ، وَيَنْبَعِثُ مِنْهَا دُخَانٌ كَثِيفٌ.</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Cars and factories pollute the air, and thick smoke comes out of them.</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نَتِيجَةً لِذٰلِكَ، تَزْدَادُ أَمْرَاضُ التَّنَفُّسِ.</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a result, breathing (respiratory) illnesses increase.</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كَمَا تُرْمَى نُفَايَاتٌ بِلَاسْتِيكِيَّةٌ فِي النَّهْرِ، مِمَّا يُؤَدِّي إِلَى تَلَوُّثِ المِيَاهِ وَنُفُوقِ بَعْضِ الأَسْمَاكِ.</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Plastic waste is also thrown into the river, which leads to water pollution and the death of some fish.</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ea typeface="Calibri" pitchFamily="34" charset="-122"/>
                <a:cs typeface="Calibri" pitchFamily="34" charset="-120"/>
              </a:rPr>
              <a:t>What is described as one of the city’s most serious problems?</a:t>
            </a:r>
            <a:endParaRPr lang="en-US" sz="10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Air pollution</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Lack of schools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Cold weather</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تلوث الهواء</a:t>
            </a:r>
            <a:pPr algn="l" indent="0" marL="0">
              <a:buNone/>
            </a:pPr>
            <a:r>
              <a:rPr lang="en-US" sz="1050" i="1" dirty="0">
                <a:solidFill>
                  <a:srgbClr val="8A6D1E"/>
                </a:solidFill>
                <a:latin typeface="Calibri" pitchFamily="34" charset="0"/>
                <a:ea typeface="Calibri" pitchFamily="34" charset="-122"/>
                <a:cs typeface="Calibri" pitchFamily="34" charset="-120"/>
              </a:rPr>
              <a:t> is named.</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sources pollute the air?</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Rain and wind</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Farms and hospitals</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Cars and factories</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السيارات والمصانع.</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emanates from them?</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Fresh water</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Snow</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Thick smoke</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دخان كثيف.</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health effect increases?</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Respiratory illnesses</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Broken bones</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Food allergies</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أمراض التنفس.</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plastic waste thrown?</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recycling centre</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the river</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mountains</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النهر.</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What are the two water-related consequences?</a:t>
            </a:r>
            <a:endParaRPr lang="en-US" sz="110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Water pollution and the death of some fish</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More drinking water and cleaner beaches</a:t>
            </a:r>
            <a:endParaRPr lang="en-US" sz="11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Lower sea levels and more forests</a:t>
            </a:r>
            <a:endParaRPr lang="en-US" sz="11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clause names both consequences.</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5 — listen for </a:t>
            </a:r>
            <a:pPr algn="l" indent="0" marL="0">
              <a:buNone/>
            </a:pPr>
            <a:r>
              <a:rPr lang="ar-SA" altLang="en-US" sz="1650" dirty="0">
                <a:solidFill>
                  <a:srgbClr val="1E6B52"/>
                </a:solidFill>
                <a:latin typeface="Amiri" pitchFamily="34" charset="0"/>
                <a:ea typeface="Amiri" pitchFamily="34" charset="-122"/>
                <a:cs typeface="Amiri" pitchFamily="34" charset="-120"/>
              </a:rPr>
              <a:t>تَلَوُّثُ الهَوَاءِ</a:t>
            </a:r>
            <a:pPr algn="l" indent="0" marL="0">
              <a:buNone/>
            </a:pPr>
            <a:r>
              <a:rPr lang="en-US" sz="1250" dirty="0">
                <a:solidFill>
                  <a:srgbClr val="1E6B52"/>
                </a:solidFill>
                <a:latin typeface="Calibri" pitchFamily="34" charset="0"/>
                <a:ea typeface="Calibri" pitchFamily="34" charset="-122"/>
                <a:cs typeface="Calibri" pitchFamily="34" charset="-120"/>
              </a:rPr>
              <a:t>, </a:t>
            </a:r>
            <a:pPr algn="l" indent="0" marL="0">
              <a:buNone/>
            </a:pPr>
            <a:r>
              <a:rPr lang="ar-SA" altLang="en-US" sz="1650" dirty="0">
                <a:solidFill>
                  <a:srgbClr val="1E6B52"/>
                </a:solidFill>
                <a:latin typeface="Amiri" pitchFamily="34" charset="0"/>
                <a:ea typeface="Amiri" pitchFamily="34" charset="-122"/>
                <a:cs typeface="Amiri" pitchFamily="34" charset="-120"/>
              </a:rPr>
              <a:t>السَّيَّارَاتُ وَالمَصَانِعُ</a:t>
            </a:r>
            <a:pPr algn="l" indent="0" marL="0">
              <a:buNone/>
            </a:pPr>
            <a:r>
              <a:rPr lang="en-US" sz="1250" dirty="0">
                <a:solidFill>
                  <a:srgbClr val="1E6B52"/>
                </a:solidFill>
                <a:latin typeface="Calibri" pitchFamily="34" charset="0"/>
                <a:ea typeface="Calibri" pitchFamily="34" charset="-122"/>
                <a:cs typeface="Calibri" pitchFamily="34" charset="-120"/>
              </a:rPr>
              <a:t> and </a:t>
            </a:r>
            <a:pPr algn="l" indent="0" marL="0">
              <a:buNone/>
            </a:pPr>
            <a:r>
              <a:rPr lang="ar-SA" altLang="en-US" sz="1650" dirty="0">
                <a:solidFill>
                  <a:srgbClr val="1E6B52"/>
                </a:solidFill>
                <a:latin typeface="Amiri" pitchFamily="34" charset="0"/>
                <a:ea typeface="Amiri" pitchFamily="34" charset="-122"/>
                <a:cs typeface="Amiri" pitchFamily="34" charset="-120"/>
              </a:rPr>
              <a:t>النَّهْرِ</a:t>
            </a:r>
            <a:pPr algn="l" indent="0" marL="0">
              <a:buNone/>
            </a:pPr>
            <a:r>
              <a:rPr lang="en-US" sz="1250" dirty="0">
                <a:solidFill>
                  <a:srgbClr val="1E6B52"/>
                </a:solidFill>
                <a:latin typeface="Calibri" pitchFamily="34" charset="0"/>
                <a:ea typeface="Calibri" pitchFamily="34" charset="-122"/>
                <a:cs typeface="Calibri" pitchFamily="34" charset="-120"/>
              </a:rPr>
              <a:t> (river).</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Speaking: explain a problem and its consequences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مُشْكِلَةٌ بِيئِيَّةٌ فِي مَدِينَتِكَ؟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أَخْطَرُ مُشْكِلَةٍ بِيئِيَّةٍ؟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سَبَبُهَا؟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نَتَائِجُهَا عَلَى المَدَى الطَّوِيلِ؟</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___ مُشْكِلَةٌ خَطِيرَةٌ بِسَبَبِ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يُؤَدِّي ___ إِلَى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 مِمَّا يُسَبِّبُ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قَالَ / قَالَتْ إِنَّ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أَخْطَرُ مُشْكِلَةٍ بِيئِيَّةٍ فِي رَأْيِكَ؟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ea typeface="Calibri" pitchFamily="34" charset="-122"/>
                <a:cs typeface="Calibri" pitchFamily="34" charset="-120"/>
              </a:rPr>
              <a:t>What is the most serious environmental problem, in your opinion?</a:t>
            </a:r>
            <a:endParaRPr lang="en-US" sz="90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فِي رَأْيِي، تَلَوُّثُ الهَوَاءِ خَطِيرٌ لِأَنَّ السَّيَّارَاتِ وَالمَصَانِعَ تُطْلِقُ دُخَانًا يُؤَدِّي إِلَى أَمْرَاضٍ تَنَفُّسِيَّةٍ.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Developed answer</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Frames + word bank (next slide): a problem + بِسَبَبِ + cause; يُؤَدِّي … إِلَى + effect.</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active and one passive sentence (يُلَوَّثُ / تُقْطَعُ) and at least two different connectors.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writing task: explain two problems, their causes and consequences. Checklist and phrase bank on the Stretch slide.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يُلَوَّثُ الهَوَاءُ بِـ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air is polluted by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تُقْطَعُ الأَشْجَارُ فِي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Trees are cut down in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نَتِيجَةً لِـ ______ ،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a result of …,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 مِمَّا يُسَبِّبُ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which causes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المَدَى الطَّوِيلِ،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long term,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تَلَوُّثُ ______ مُشْكِلَةٌ خَطِيرَةٌ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Air pollution is a serious problem.</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يَتَلَوَّثُ البَحْرُ بِسَبَبِ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sea is polluted because of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يُؤَدِّي ______ إِلَى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leads to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تُلَوِّثُ ______ الهَوَاءَ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Factories pollute the air.</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رَأْيِي، ______ خَطِيرٌ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opinion, … is serious.</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34" charset="0"/>
                <a:ea typeface="Amiri" pitchFamily="34" charset="-122"/>
                <a:cs typeface="Amiri" pitchFamily="34" charset="-120"/>
              </a:rPr>
              <a:t>تَلَوُّثُ الهَوَاءِ  ·  تَلَوُّثُ المِيَاهِ  ·  النُّفَايَاتُ  ·  الدُّخَانُ  ·  المَصَانِعُ  ·  السَّيَّارَاتُ  ·  قَطْعُ الأَشْجَارِ  ·  الاحْتِبَاسُ الحَرَارِيُّ  ·  ذَوَبَانُ الجَلِيدِ  ·  أَمْرَاضٌ  ·  بِسَبَبِ  ·  يُؤَدِّي إِلَى</a:t>
            </a:r>
            <a:endParaRPr lang="ar-SA" sz="15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120–140 Arabic words explaining two environmental problems, their causes and consequences.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one accurate active sentence and one passive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three different cause–effect connectors.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Develop two chains with precise consequences.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Finish with a justified judgement.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تُوَاجِهُ مُدُنٌ كَثِيرَةٌ مُشْكِلَاتٍ بِيئِيَّةً مُتَرَابِطَةً</a:t>
            </a:r>
            <a:endParaRPr lang="ar-SA" sz="17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many cities face linked environmental problems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فَبِسَبَبِ كَثْرَةِ السَّيَّارَاتِ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because of the large number of cars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مِمَّا يَضُرُّ بِالأَسْمَاكِ وَالطُّيُورِ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which harms fish and birds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فَيُؤَدِّي ذٰلِكَ إِلَى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this leads to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المَدَى الطَّوِيلِ</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the long term</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بُدَّ مِنْ فَهْمِ الأَسْبَابِ قَبْلَ اخْتِيَارِ الحُلُولِ</a:t>
            </a:r>
            <a:endParaRPr lang="ar-SA" sz="16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 must understand the causes before choosing solutions</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34" charset="0"/>
                <a:ea typeface="Amiri" pitchFamily="34" charset="-122"/>
                <a:cs typeface="Amiri" pitchFamily="34" charset="-120"/>
              </a:rPr>
              <a:t>تُوَاجِهُ مُدُنٌ كَثِيرَةٌ مُشْكِلَاتٍ بِيئِيَّةً مُتَرَابِطَةً. فَبِسَبَبِ كَثْرَةِ السَّيَّارَاتِ وَحَرْقِ الوَقُودِ الأُحْفُورِيِّ، يُلَوَّثُ الهَوَاءُ وَتَزْدَادُ أَمْرَاضُ التَّنَفُّسِ. كَمَا تُرْمَى النُّفَايَاتُ البِلَاسْتِيكِيَّةُ فِي البِحَارِ، مِمَّا يَضُرُّ بِالأَسْمَاكِ وَالطُّيُورِ. وَتُقْطَعُ الأَشْجَارُ فِي بَعْضِ المَنَاطِقِ، فَيُؤَدِّي ذٰلِكَ إِلَى فَقْدِ المَوَائِلِ وَالتَّصَحُّرِ. عَلَى المَدَى الطَّوِيلِ، سَتُؤَثِّرُ هٰذِهِ المَشَاكِلُ فِي صِحَّةِ النَّاسِ وَالاقْتِصَادِ. لِذٰلِكَ، لَا بُدَّ مِنْ فَهْمِ الأَسْبَابِ قَبْلَ اخْتِيَارِ الحُلُولِ.</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Many cities face linked environmental problems. Because of the large number of cars and the burning of fossil fuels, the air is polluted and breathing illnesses increase. Plastic waste is also thrown into the seas, which harms fish and birds. In some areas trees are cut down, and this leads to habitat loss and desertification. In the long term, these problems will affect people’s health and the economy. So we must understand the causes before choosing solutions.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active sentence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passive sentence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بِسَبَبِ / مِمَّا / يُؤَدِّي إِلَى</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judgement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name environmental problems and give a cause with </a:t>
            </a:r>
            <a:pPr algn="l" indent="0" marL="0">
              <a:buNone/>
            </a:pPr>
            <a:r>
              <a:rPr lang="ar-SA" altLang="en-US" sz="1700" dirty="0">
                <a:solidFill>
                  <a:srgbClr val="1F2A37"/>
                </a:solidFill>
                <a:latin typeface="Amiri" pitchFamily="34" charset="0"/>
                <a:ea typeface="Amiri" pitchFamily="34" charset="-122"/>
                <a:cs typeface="Amiri" pitchFamily="34" charset="-120"/>
              </a:rPr>
              <a:t>بِسَبَبِ</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 </a:t>
            </a:r>
            <a:pPr algn="l" indent="0" marL="0">
              <a:buNone/>
            </a:pPr>
            <a:r>
              <a:rPr lang="ar-SA" altLang="en-US" sz="1700" dirty="0">
                <a:solidFill>
                  <a:srgbClr val="1F2A37"/>
                </a:solidFill>
                <a:latin typeface="Amiri" pitchFamily="34" charset="0"/>
                <a:ea typeface="Amiri" pitchFamily="34" charset="-122"/>
                <a:cs typeface="Amiri" pitchFamily="34" charset="-120"/>
              </a:rPr>
              <a:t>يُؤَدِّي إِلَى</a:t>
            </a:r>
            <a:pPr algn="l" indent="0" marL="0">
              <a:buNone/>
            </a:pPr>
            <a:r>
              <a:rPr lang="en-US" sz="1300" dirty="0">
                <a:solidFill>
                  <a:srgbClr val="1F2A37"/>
                </a:solidFill>
                <a:latin typeface="Calibri" pitchFamily="34" charset="0"/>
                <a:ea typeface="Calibri" pitchFamily="34" charset="-122"/>
                <a:cs typeface="Calibri" pitchFamily="34" charset="-120"/>
              </a:rPr>
              <a:t> — never </a:t>
            </a:r>
            <a:pPr algn="l" indent="0" marL="0">
              <a:buNone/>
            </a:pPr>
            <a:r>
              <a:rPr lang="ar-SA" altLang="en-US" sz="1700" dirty="0">
                <a:solidFill>
                  <a:srgbClr val="1F2A37"/>
                </a:solidFill>
                <a:latin typeface="Amiri" pitchFamily="34" charset="0"/>
                <a:ea typeface="Amiri" pitchFamily="34" charset="-122"/>
                <a:cs typeface="Amiri" pitchFamily="34" charset="-120"/>
              </a:rPr>
              <a:t>يُؤَدِّي فِي</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tell an active sentence (</a:t>
            </a:r>
            <a:pPr algn="l" indent="0" marL="0">
              <a:buNone/>
            </a:pPr>
            <a:r>
              <a:rPr lang="ar-SA" altLang="en-US" sz="1700" dirty="0">
                <a:solidFill>
                  <a:srgbClr val="1F2A37"/>
                </a:solidFill>
                <a:latin typeface="Amiri" pitchFamily="34" charset="0"/>
                <a:ea typeface="Amiri" pitchFamily="34" charset="-122"/>
                <a:cs typeface="Amiri" pitchFamily="34" charset="-120"/>
              </a:rPr>
              <a:t>تُلَوِّثُ المَصَانِعُ الهَوَاءَ</a:t>
            </a:r>
            <a:pPr algn="l" indent="0" marL="0">
              <a:buNone/>
            </a:pPr>
            <a:r>
              <a:rPr lang="en-US" sz="1300" dirty="0">
                <a:solidFill>
                  <a:srgbClr val="1F2A37"/>
                </a:solidFill>
                <a:latin typeface="Calibri" pitchFamily="34" charset="0"/>
                <a:ea typeface="Calibri" pitchFamily="34" charset="-122"/>
                <a:cs typeface="Calibri" pitchFamily="34" charset="-120"/>
              </a:rPr>
              <a:t>) from a passive one (</a:t>
            </a:r>
            <a:pPr algn="l" indent="0" marL="0">
              <a:buNone/>
            </a:pPr>
            <a:r>
              <a:rPr lang="ar-SA" altLang="en-US" sz="1700" dirty="0">
                <a:solidFill>
                  <a:srgbClr val="1F2A37"/>
                </a:solidFill>
                <a:latin typeface="Amiri" pitchFamily="34" charset="0"/>
                <a:ea typeface="Amiri" pitchFamily="34" charset="-122"/>
                <a:cs typeface="Amiri" pitchFamily="34" charset="-120"/>
              </a:rPr>
              <a:t>يُلَوَّثُ الهَوَاءُ</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support an answer with exact Arabic evidence.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produce an organised response with relevant detail.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accurate passive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تُقْطَعُ الأَشْجَارُ بِصُورَةٍ غَيْرِ قَانُونِيَّةٍ.</a:t>
            </a:r>
            <a:endParaRPr lang="ar-SA" sz="18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يُقْطَعُ الأَشْجَارُ بِصُورَةٍ غَيْرِ قَانُونِيَّةٍ.</a:t>
            </a:r>
            <a:endParaRPr lang="ar-SA" sz="18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تَقْطَعُ الأَشْجَارَ بِصُورَةٍ غَيْرِ قَانُونِيَّةٍ.</a:t>
            </a:r>
            <a:endParaRPr lang="ar-SA" sz="18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must be followed by </a:t>
            </a:r>
            <a:pPr algn="l" indent="0" marL="0">
              <a:buNone/>
            </a:pPr>
            <a:r>
              <a:rPr lang="ar-SA" altLang="en-US" sz="1650" b="1" dirty="0">
                <a:solidFill>
                  <a:srgbClr val="1B3B6F"/>
                </a:solidFill>
                <a:latin typeface="Amiri" pitchFamily="34" charset="0"/>
                <a:ea typeface="Amiri" pitchFamily="34" charset="-122"/>
                <a:cs typeface="Amiri" pitchFamily="34" charset="-120"/>
              </a:rPr>
              <a:t>إِلَى</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نَتِيجَةً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بِسَبَبِ</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coherent cause–effect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يَتَرَاكَمُ البِلَاسْتِيكُ فِي البَحْرِ، مِمَّا يَضُرُّ بِالحَيَوَانَاتِ.</a:t>
            </a:r>
            <a:endParaRPr lang="ar-SA"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يَتَرَاكَمُ البِلَاسْتِيكُ فِي البَحْرِ، مِمَّا يَزْرَعُ الغَابَاتِ.</a:t>
            </a:r>
            <a:endParaRPr lang="ar-SA"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يَتَرَاكَمُ البِلَاسْتِيكُ فِي البَحْرِ، مِمَّا يُبَرِّدُ الصَّحْرَاءَ.</a:t>
            </a:r>
            <a:endParaRPr lang="ar-SA"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accurate passive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850" b="1" dirty="0">
                <a:solidFill>
                  <a:srgbClr val="1F2A37"/>
                </a:solidFill>
                <a:latin typeface="Amiri" pitchFamily="34" charset="0"/>
                <a:ea typeface="Amiri" pitchFamily="34" charset="-122"/>
                <a:cs typeface="Amiri" pitchFamily="34" charset="-120"/>
              </a:rPr>
              <a:t>تُقْطَعُ الأَشْجَارُ بِصُورَةٍ غَيْرِ قَانُونِيَّةٍ.</a:t>
            </a:r>
            <a:endParaRPr lang="ar-SA" sz="18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34" charset="0"/>
                <a:ea typeface="Amiri" pitchFamily="34" charset="-122"/>
                <a:cs typeface="Amiri" pitchFamily="34" charset="-120"/>
              </a:rPr>
              <a:t>يُقْطَعُ الأَشْجَارُ بِصُورَةٍ غَيْرِ قَانُونِيَّةٍ.</a:t>
            </a:r>
            <a:endParaRPr lang="ar-SA" sz="18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34" charset="0"/>
                <a:ea typeface="Amiri" pitchFamily="34" charset="-122"/>
                <a:cs typeface="Amiri" pitchFamily="34" charset="-120"/>
              </a:rPr>
              <a:t>تَقْطَعُ الأَشْجَارَ بِصُورَةٍ غَيْرِ قَانُونِيَّةٍ.</a:t>
            </a:r>
            <a:endParaRPr lang="ar-SA" sz="18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الأشجار</a:t>
            </a:r>
            <a:pPr algn="l" indent="0" marL="0">
              <a:buNone/>
            </a:pPr>
            <a:r>
              <a:rPr lang="en-US" sz="1050" i="1" dirty="0">
                <a:solidFill>
                  <a:srgbClr val="8A6D1E"/>
                </a:solidFill>
                <a:latin typeface="Calibri" pitchFamily="34" charset="0"/>
                <a:ea typeface="Calibri" pitchFamily="34" charset="-122"/>
                <a:cs typeface="Calibri" pitchFamily="34" charset="-120"/>
              </a:rPr>
              <a:t> is treated as feminine in agreement.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must be followed by </a:t>
            </a:r>
            <a:pPr algn="l" indent="0" marL="0">
              <a:buNone/>
            </a:pPr>
            <a:r>
              <a:rPr lang="ar-SA" altLang="en-US" sz="1650" b="1" dirty="0">
                <a:solidFill>
                  <a:srgbClr val="1B3B6F"/>
                </a:solidFill>
                <a:latin typeface="Amiri" pitchFamily="34" charset="0"/>
                <a:ea typeface="Amiri" pitchFamily="34" charset="-122"/>
                <a:cs typeface="Amiri" pitchFamily="34" charset="-120"/>
              </a:rPr>
              <a:t>إِلَى</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نَتِيجَةً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يُؤَدِّي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بِسَبَبِ</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fixed pattern is </a:t>
            </a:r>
            <a:pPr algn="l" indent="0" marL="0">
              <a:buNone/>
            </a:pPr>
            <a:r>
              <a:rPr lang="ar-SA" altLang="en-US" sz="1350" dirty="0">
                <a:solidFill>
                  <a:srgbClr val="8A6D1E"/>
                </a:solidFill>
                <a:latin typeface="Amiri" pitchFamily="34" charset="0"/>
                <a:ea typeface="Amiri" pitchFamily="34" charset="-122"/>
                <a:cs typeface="Amiri" pitchFamily="34" charset="-120"/>
              </a:rPr>
              <a:t>يؤدي 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coherent cause–effect sentence.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يَتَرَاكَمُ البِلَاسْتِيكُ فِي البَحْرِ، مِمَّا يَضُرُّ بِالحَيَوَانَاتِ.</a:t>
            </a:r>
            <a:endParaRPr lang="ar-SA"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34" charset="0"/>
                <a:ea typeface="Amiri" pitchFamily="34" charset="-122"/>
                <a:cs typeface="Amiri" pitchFamily="34" charset="-120"/>
              </a:rPr>
              <a:t>يَتَرَاكَمُ البِلَاسْتِيكُ فِي البَحْرِ، مِمَّا يَزْرَعُ الغَابَاتِ.</a:t>
            </a:r>
            <a:endParaRPr lang="ar-SA"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34" charset="0"/>
                <a:ea typeface="Amiri" pitchFamily="34" charset="-122"/>
                <a:cs typeface="Amiri" pitchFamily="34" charset="-120"/>
              </a:rPr>
              <a:t>يَتَرَاكَمُ البِلَاسْتِيكُ فِي البَحْرِ، مِمَّا يُبَرِّدُ الصَّحْرَاءَ.</a:t>
            </a:r>
            <a:endParaRPr lang="ar-SA"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Plastic accumulation harms animals.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 cause–effect chain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بِسَبَبِ حَرْقِ الوَقُودِ الأُحْفُورِيِّ، تَرْتَفِعُ نِسْبَةُ ثَانِي أُكْسِيدِ الكَرْبُونِ فِي الهَوَاءِ. يُؤَدِّي ذٰلِكَ إِلَى الاحْتِبَاسِ الحَرَارِيِّ، مِمَّا يُسَبِّبُ ذَوَبَانَ الجَلِيدِ وَارْتِفَاعَ مُسْتَوَى البَحْرِ. وَفِي مَنَاطِقَ أُخْرَى تُقْطَعُ الأَشْجَارُ، فَتَفْقِدُ الحَيَوَانَاتُ مَوَائِلَهَا. وَإِذَا اسْتَمَرَّتْ هٰذِهِ المَشَاكِلُ، فَسَتَكُونُ نَتَائِجُهَا طَوِيلَةَ الأَمَدِ.</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حَرْقٌ</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burning</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الوَقُودُ الأُحْفُورِيُّ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fossil fuel</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نِسْبَةٌ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level, proportion</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ثَانِي أُكْسِيدِ الكَرْبُونِ</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carbon dioxide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الاحْتِبَاسُ الحَرَارِيُّ</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global warming</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ذَوَبَانُ الجَلِيدِ</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melting ice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مُسْتَوَى البَحْرِ</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sea level</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تَفْقِدُ</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loses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مَوَائِلُ</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habitats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طَوِيلَةُ الأَمَدِ</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long-term</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causes carbon dioxide levels to rise?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Planting trees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Burning fossil fuels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Recycling paper</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higher carbon dioxide lead to?</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habitats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Lower temperatures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Global warming</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effects of global warming are named?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Melting ice and rising sea level</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forests and fresh water</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Less wind and more soil</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when trees are cut down?</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Sea levels fall</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Animals lose their habitats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Air becomes colder</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هٰذِهِ المَشَاكِلُ</a:t>
            </a:r>
            <a:pPr algn="l" indent="0" marL="0">
              <a:buNone/>
            </a:pPr>
            <a:r>
              <a:rPr lang="en-US" sz="1250" b="1" dirty="0">
                <a:solidFill>
                  <a:srgbClr val="1B3B6F"/>
                </a:solidFill>
                <a:latin typeface="Calibri" pitchFamily="34" charset="0"/>
                <a:ea typeface="Calibri" pitchFamily="34" charset="-122"/>
                <a:cs typeface="Calibri" pitchFamily="34" charset="-120"/>
              </a:rPr>
              <a:t> refer to?</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environmental problems already described</a:t>
            </a:r>
            <a:endParaRPr lang="en-US" sz="120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new transport plan</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the trees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the future consequences described?</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Temporary and harmless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Unrelated</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Long-term</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causes carbon dioxide levels to rise?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Planting trees</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Burning fossil fuels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Recycling paper</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begins </a:t>
            </a:r>
            <a:pPr algn="l" indent="0" marL="0">
              <a:buNone/>
            </a:pPr>
            <a:r>
              <a:rPr lang="ar-SA" altLang="en-US" sz="1350" dirty="0">
                <a:solidFill>
                  <a:srgbClr val="8A6D1E"/>
                </a:solidFill>
                <a:latin typeface="Amiri" pitchFamily="34" charset="0"/>
                <a:ea typeface="Amiri" pitchFamily="34" charset="-122"/>
                <a:cs typeface="Amiri" pitchFamily="34" charset="-120"/>
              </a:rPr>
              <a:t>بسبب حرق الوقود الأحفوري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higher carbon dioxide lead to?</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More habitats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Lower temperatures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Global warming</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يؤدي ذلك إلى الاحتباس الحراري.</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effects of global warming are named?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Melting ice and rising sea level</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More forests and fresh water</a:t>
            </a:r>
            <a:endParaRPr lang="en-US" sz="11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Less wind and more soil</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are in the correct sentence.</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when trees are cut down?</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Sea levels fall</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Animals lose their habitats</a:t>
            </a:r>
            <a:endParaRPr lang="en-US" sz="120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Air becomes colder</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فتفقد الحيوانات موائلها.</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هٰذِهِ المَشَاكِلُ</a:t>
            </a:r>
            <a:pPr algn="l" indent="0" marL="0">
              <a:buNone/>
            </a:pPr>
            <a:r>
              <a:rPr lang="en-US" sz="1250" b="1" dirty="0">
                <a:solidFill>
                  <a:srgbClr val="1B3B6F"/>
                </a:solidFill>
                <a:latin typeface="Calibri" pitchFamily="34" charset="0"/>
                <a:ea typeface="Calibri" pitchFamily="34" charset="-122"/>
                <a:cs typeface="Calibri" pitchFamily="34" charset="-120"/>
              </a:rPr>
              <a:t> refer to?</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environmental problems already described</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new transport plan</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the trees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refers back to the chain of problems.</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the future consequences described?</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Temporary and harmless</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Unrelated</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Long-term</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طويلة الأمد.</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TC-L05: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TC-L05 · Environmental Solutions and Responsibility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إِعَادَةُ التَّدْوِيرِ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recycling</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نَزْرَعُ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we plant</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نُوَفِّرُ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we save, conserve</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يَجِبُ أَنْ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must</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النَّقْلُ العَامُّ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public transport</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one Arabic sentence: what can you do to help the environment?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مَاذَا تَسْتَطِيعُ أَنْ تَفْعَلَ لِحِمَايَةِ البِيئَةِ؟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TC-L04 · play “Cause &amp; Effect”, then the vocabulary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four-step cause–effect chain about one problem (website application task).</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TC-L04 · the application mission and the reading “A cause–effect chain” (6 questions).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TC-L04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TC-L05 · Environmental Solutions and Responsibility</a:t>
            </a:r>
            <a:endParaRPr lang="en-US" sz="19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الحُلُولُ البِيئِيَّةُ وَالمَسْؤُولِيَّةُ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TC-L04 · Environmental Problems and Their Causes</dc:title>
  <dc:subject>PptxGenJS Presentation</dc:subject>
  <dc:creator>Al Madina Online School · Arabic Department</dc:creator>
  <cp:lastModifiedBy>Al Madina Online School · Arabic Department</cp:lastModifiedBy>
  <cp:revision>1</cp:revision>
  <dcterms:created xsi:type="dcterms:W3CDTF">2026-09-27T08:24:08Z</dcterms:created>
  <dcterms:modified xsi:type="dcterms:W3CDTF">2026-09-27T08:24:08Z</dcterms:modified>
</cp:coreProperties>
</file>